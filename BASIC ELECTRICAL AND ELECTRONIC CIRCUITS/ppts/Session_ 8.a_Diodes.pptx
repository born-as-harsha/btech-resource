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71" r:id="rId2"/>
    <p:sldId id="300" r:id="rId3"/>
    <p:sldId id="315" r:id="rId4"/>
    <p:sldId id="317" r:id="rId5"/>
    <p:sldId id="288" r:id="rId6"/>
    <p:sldId id="318" r:id="rId7"/>
    <p:sldId id="319" r:id="rId8"/>
    <p:sldId id="320" r:id="rId9"/>
    <p:sldId id="321" r:id="rId10"/>
    <p:sldId id="322" r:id="rId11"/>
    <p:sldId id="323" r:id="rId12"/>
    <p:sldId id="301" r:id="rId13"/>
    <p:sldId id="314" r:id="rId14"/>
    <p:sldId id="302" r:id="rId15"/>
    <p:sldId id="30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pPr/>
              <a:t>24-02-2025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pPr/>
              <a:t>24-02-2025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40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038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electronicspost.com/solved-problems-on-semiconductor-diode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electronicspost.com/solved-problems-on-semiconductor-diode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43062" y="3131884"/>
            <a:ext cx="7948938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cs typeface="Poppins" pitchFamily="2" charset="77"/>
              </a:rPr>
              <a:t>BASIC ELECTRICAL AND ELECTRONIC CIRCUITS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cs typeface="Poppins" pitchFamily="2" charset="77"/>
              </a:rPr>
              <a:t>COURSE CODE : 23EC1203</a:t>
            </a:r>
            <a:r>
              <a:rPr lang="en-US" sz="3200" b="1" dirty="0">
                <a:solidFill>
                  <a:srgbClr val="C00000"/>
                </a:solidFill>
                <a:cs typeface="Poppins" pitchFamily="2" charset="77"/>
                <a:sym typeface="BioRhyme ExtraBold"/>
              </a:rPr>
              <a:t> 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rgbClr val="0070C0"/>
                </a:solidFill>
              </a:rPr>
              <a:t>Operation of the diode, Diode as switch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BES-II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60215" y="5511484"/>
            <a:ext cx="2741859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No. 08a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284755" y="240279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42344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Diodes and  it’s applications.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3573380" y="1805794"/>
            <a:ext cx="4982792" cy="39196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914400" y="2438605"/>
            <a:ext cx="10731286" cy="16004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 Session is designed to:</a:t>
            </a:r>
          </a:p>
          <a:p>
            <a:pPr marL="342900" indent="-342900">
              <a:buAutoNum type="arabicPeriod"/>
            </a:pPr>
            <a:r>
              <a:rPr lang="en-IN" sz="1600" dirty="0">
                <a:latin typeface="Poppins"/>
                <a:cs typeface="Poppins"/>
              </a:rPr>
              <a:t>Demonstrate the Operation of Diodes</a:t>
            </a:r>
            <a:endParaRPr lang="en-US" sz="1600" dirty="0">
              <a:latin typeface="Poppins"/>
              <a:cs typeface="Poppins"/>
            </a:endParaRPr>
          </a:p>
          <a:p>
            <a:pPr marL="342900" indent="-342900">
              <a:buAutoNum type="arabicPeriod"/>
            </a:pPr>
            <a:r>
              <a:rPr lang="en-IN" sz="1600" dirty="0">
                <a:latin typeface="Poppins"/>
                <a:cs typeface="Poppins"/>
              </a:rPr>
              <a:t>Describe the  working principle of Diode with differnt biasing conditions.</a:t>
            </a:r>
            <a:endParaRPr lang="en-US" sz="1600" dirty="0">
              <a:latin typeface="Poppins"/>
              <a:cs typeface="Poppins"/>
            </a:endParaRPr>
          </a:p>
          <a:p>
            <a:pPr marL="342900" indent="-342900">
              <a:buAutoNum type="arabicPeriod"/>
            </a:pPr>
            <a:r>
              <a:rPr lang="en-IN" sz="1600" dirty="0">
                <a:latin typeface="Poppins"/>
                <a:cs typeface="Poppins"/>
              </a:rPr>
              <a:t>List Out Various Types of Diodes</a:t>
            </a:r>
            <a:endParaRPr lang="en-US" sz="1600" dirty="0">
              <a:latin typeface="Poppins"/>
              <a:cs typeface="Poppins"/>
            </a:endParaRPr>
          </a:p>
          <a:p>
            <a:pPr marL="342900" indent="-342900">
              <a:buAutoNum type="arabicPeriod"/>
            </a:pPr>
            <a:r>
              <a:rPr lang="en-IN" sz="1600" dirty="0">
                <a:latin typeface="Poppins"/>
                <a:cs typeface="Poppins"/>
              </a:rPr>
              <a:t>Describe the Application of Diodes as Switches</a:t>
            </a:r>
            <a:endParaRPr lang="en-US" sz="1600" dirty="0"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13213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315975" y="4170483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511016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914400" y="4692621"/>
            <a:ext cx="10731286" cy="13542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At the end of this session,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Poppins"/>
                <a:cs typeface="Poppins"/>
              </a:rPr>
              <a:t>Define diodes and its  characterstics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Poppins"/>
                <a:cs typeface="Poppins"/>
              </a:rPr>
              <a:t>Describe </a:t>
            </a:r>
            <a:r>
              <a:rPr lang="en-IN" sz="1600" dirty="0">
                <a:latin typeface="Poppins"/>
                <a:cs typeface="Poppins"/>
              </a:rPr>
              <a:t>Principles of Diode</a:t>
            </a:r>
            <a:endParaRPr lang="en-US" sz="1600" dirty="0">
              <a:latin typeface="Poppins"/>
              <a:cs typeface="Poppins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Poppins"/>
                <a:cs typeface="Poppins"/>
              </a:rPr>
              <a:t>Summarize </a:t>
            </a:r>
            <a:r>
              <a:rPr lang="en-IN" sz="1600" dirty="0">
                <a:latin typeface="Poppins"/>
                <a:cs typeface="Poppins"/>
              </a:rPr>
              <a:t>Advantages and Considerations of Diode Switches</a:t>
            </a:r>
            <a:endParaRPr lang="en-US" sz="1600" dirty="0"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81149" y="1176354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Insulator, Semiconductor &amp; Conductor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10747" y="1921565"/>
            <a:ext cx="996563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Conductors – Insulators – Semiconductors - Fundamentals - Semiconductor  Technology from A to Z - Halbleiter.org">
            <a:extLst>
              <a:ext uri="{FF2B5EF4-FFF2-40B4-BE49-F238E27FC236}">
                <a16:creationId xmlns:a16="http://schemas.microsoft.com/office/drawing/2014/main" id="{72CE1E7A-249F-4DBD-A827-7BEB0298DF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121" y="2100090"/>
            <a:ext cx="9117349" cy="310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p:transition spd="slow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81149" y="1176354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Semiconductors &amp;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D21B20-C07B-4092-B6E1-3003A1D66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15094" t="9502" r="14430" b="6380"/>
          <a:stretch/>
        </p:blipFill>
        <p:spPr>
          <a:xfrm>
            <a:off x="1440197" y="2134459"/>
            <a:ext cx="5053369" cy="328568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FC02CF8-48E0-4B4F-B654-5BA7853A8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2835" y="2024962"/>
            <a:ext cx="4921501" cy="2808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lang="en-US" sz="2000" dirty="0">
                <a:latin typeface="+mj-lt"/>
              </a:rPr>
              <a:t>Form the core of diodes, transistors, and integrated circuits (ICs).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Used for switching, amplification, and signal processing.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Basis of modern electronics (transistors, ICs, etc.). </a:t>
            </a:r>
          </a:p>
        </p:txBody>
      </p:sp>
    </p:spTree>
    <p:extLst>
      <p:ext uri="{BB962C8B-B14F-4D97-AF65-F5344CB8AC3E}">
        <p14:creationId xmlns:p14="http://schemas.microsoft.com/office/powerpoint/2010/main" val="3074209461"/>
      </p:ext>
    </p:extLst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152441" y="11387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PN Junction Diode 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074" name="Picture 2" descr="PN junction diode and diode ...">
            <a:extLst>
              <a:ext uri="{FF2B5EF4-FFF2-40B4-BE49-F238E27FC236}">
                <a16:creationId xmlns:a16="http://schemas.microsoft.com/office/drawing/2014/main" id="{8853C3C6-96EA-4536-854D-42DE86221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" t="17441" r="3195" b="8534"/>
          <a:stretch/>
        </p:blipFill>
        <p:spPr bwMode="auto">
          <a:xfrm>
            <a:off x="7575076" y="1994852"/>
            <a:ext cx="3181958" cy="120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PN Junction? Forward-Biased | Reverse-Biased - The Engineering  Projects">
            <a:extLst>
              <a:ext uri="{FF2B5EF4-FFF2-40B4-BE49-F238E27FC236}">
                <a16:creationId xmlns:a16="http://schemas.microsoft.com/office/drawing/2014/main" id="{E645DD43-66F1-4D69-89CE-F74791857A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5" t="7399" r="3369" b="6413"/>
          <a:stretch/>
        </p:blipFill>
        <p:spPr bwMode="auto">
          <a:xfrm>
            <a:off x="542460" y="2047859"/>
            <a:ext cx="6852784" cy="351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1EFEAC-69C4-451D-91C3-1FF6660B3447}"/>
              </a:ext>
            </a:extLst>
          </p:cNvPr>
          <p:cNvSpPr/>
          <p:nvPr/>
        </p:nvSpPr>
        <p:spPr>
          <a:xfrm>
            <a:off x="7575076" y="3346322"/>
            <a:ext cx="4107408" cy="253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semiconductor diode</a:t>
            </a:r>
            <a:r>
              <a:rPr lang="en-US" dirty="0"/>
              <a:t> that allows current flow in only one direction.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Types of diodes: PN Junction, Zener, LED, Schottky, etc.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Barrier potential: Typically 0.7V for Silicon, 0.3V for Germanium.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B89B31-BD2A-4958-9AF1-793F9747B9CB}"/>
              </a:ext>
            </a:extLst>
          </p:cNvPr>
          <p:cNvSpPr/>
          <p:nvPr/>
        </p:nvSpPr>
        <p:spPr>
          <a:xfrm>
            <a:off x="1035387" y="5539409"/>
            <a:ext cx="30996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P-Type: Silicon doped with trivalent impurities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643535-6C03-450A-931D-0B759EA85457}"/>
              </a:ext>
            </a:extLst>
          </p:cNvPr>
          <p:cNvSpPr/>
          <p:nvPr/>
        </p:nvSpPr>
        <p:spPr>
          <a:xfrm>
            <a:off x="4546153" y="5544455"/>
            <a:ext cx="28490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N-Type: Silicon doped with pentavalent impurities</a:t>
            </a:r>
          </a:p>
        </p:txBody>
      </p: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152441" y="11387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Diode Forward and Reverse Bias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1EFEAC-69C4-451D-91C3-1FF6660B3447}"/>
              </a:ext>
            </a:extLst>
          </p:cNvPr>
          <p:cNvSpPr/>
          <p:nvPr/>
        </p:nvSpPr>
        <p:spPr>
          <a:xfrm>
            <a:off x="4123972" y="4853166"/>
            <a:ext cx="6802235" cy="87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 Forward bias, diode acts as low resistance (closed circuit) path.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 Reverse bias, diode acts as high resistance (open circuit) path. </a:t>
            </a:r>
          </a:p>
        </p:txBody>
      </p:sp>
      <p:pic>
        <p:nvPicPr>
          <p:cNvPr id="4098" name="Picture 2" descr="Ideal diode">
            <a:extLst>
              <a:ext uri="{FF2B5EF4-FFF2-40B4-BE49-F238E27FC236}">
                <a16:creationId xmlns:a16="http://schemas.microsoft.com/office/drawing/2014/main" id="{9BC775E5-E73D-4844-A4D2-9218DB4A2C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06" b="18052"/>
          <a:stretch/>
        </p:blipFill>
        <p:spPr bwMode="auto">
          <a:xfrm>
            <a:off x="1430616" y="1932401"/>
            <a:ext cx="2527235" cy="204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33C07EB-4F26-4D65-B2AA-58F56611C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436" y="2004834"/>
            <a:ext cx="6985305" cy="2750122"/>
          </a:xfrm>
          <a:prstGeom prst="rect">
            <a:avLst/>
          </a:prstGeom>
        </p:spPr>
      </p:pic>
      <p:pic>
        <p:nvPicPr>
          <p:cNvPr id="4102" name="Picture 6" descr="Ideal diode">
            <a:extLst>
              <a:ext uri="{FF2B5EF4-FFF2-40B4-BE49-F238E27FC236}">
                <a16:creationId xmlns:a16="http://schemas.microsoft.com/office/drawing/2014/main" id="{6163F030-3CE9-4150-976E-420D197C7D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16945"/>
          <a:stretch/>
        </p:blipFill>
        <p:spPr bwMode="auto">
          <a:xfrm>
            <a:off x="1430616" y="4145116"/>
            <a:ext cx="2527235" cy="204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64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152441" y="11387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VI Characteristics of Diode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122" name="Picture 2" descr="What is Diode - Definition, Types of Diode, V-I Characteristics &amp;  Application">
            <a:extLst>
              <a:ext uri="{FF2B5EF4-FFF2-40B4-BE49-F238E27FC236}">
                <a16:creationId xmlns:a16="http://schemas.microsoft.com/office/drawing/2014/main" id="{D828F1D4-2CF1-4405-81AB-88F069D645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7" t="42189" r="18179" b="10248"/>
          <a:stretch/>
        </p:blipFill>
        <p:spPr bwMode="auto">
          <a:xfrm>
            <a:off x="58647" y="1996366"/>
            <a:ext cx="6802235" cy="4063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FE78D24-13C0-454E-AFFE-ADF23F5F01A0}"/>
              </a:ext>
            </a:extLst>
          </p:cNvPr>
          <p:cNvSpPr/>
          <p:nvPr/>
        </p:nvSpPr>
        <p:spPr>
          <a:xfrm>
            <a:off x="7056519" y="1996366"/>
            <a:ext cx="424382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Graph of Current (I) vs. Voltage (V):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Forward Bias: </a:t>
            </a:r>
            <a:r>
              <a:rPr lang="en-US" dirty="0"/>
              <a:t>Rapid increase in current after threshold voltage. Threshold Voltage: 0.7V (Si) and 0.3V (Ge).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Reverse Bias: </a:t>
            </a:r>
            <a:r>
              <a:rPr lang="en-US" dirty="0"/>
              <a:t>Minimal leakage current until breakdown voltage (Avalanche or Zener breakdown)is reached. </a:t>
            </a:r>
          </a:p>
        </p:txBody>
      </p:sp>
    </p:spTree>
    <p:extLst>
      <p:ext uri="{BB962C8B-B14F-4D97-AF65-F5344CB8AC3E}">
        <p14:creationId xmlns:p14="http://schemas.microsoft.com/office/powerpoint/2010/main" val="82829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152441" y="11387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Diode Applications &amp; Diode acts as switch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E78D24-13C0-454E-AFFE-ADF23F5F01A0}"/>
              </a:ext>
            </a:extLst>
          </p:cNvPr>
          <p:cNvSpPr/>
          <p:nvPr/>
        </p:nvSpPr>
        <p:spPr>
          <a:xfrm>
            <a:off x="1351754" y="1928128"/>
            <a:ext cx="356143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Basic application: </a:t>
            </a:r>
            <a:r>
              <a:rPr lang="en-US" dirty="0"/>
              <a:t>Diode acts as a Switch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Rectification:</a:t>
            </a:r>
            <a:r>
              <a:rPr lang="en-US" dirty="0"/>
              <a:t> Converts AC to DC (e.g., Full-Wave and Half-Wave Rectifiers).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Clipping/Clamping:</a:t>
            </a:r>
            <a:r>
              <a:rPr lang="en-US" dirty="0"/>
              <a:t> Modifies waveform shapes.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b="1" dirty="0"/>
              <a:t>Voltage </a:t>
            </a:r>
            <a:r>
              <a:rPr lang="fr-FR" b="1" dirty="0" err="1"/>
              <a:t>Regulation</a:t>
            </a:r>
            <a:r>
              <a:rPr lang="fr-FR" b="1" dirty="0"/>
              <a:t>:</a:t>
            </a:r>
            <a:r>
              <a:rPr lang="fr-FR" dirty="0"/>
              <a:t> Zener diodes </a:t>
            </a:r>
            <a:r>
              <a:rPr lang="fr-FR" dirty="0" err="1"/>
              <a:t>maintain</a:t>
            </a:r>
            <a:r>
              <a:rPr lang="fr-FR" dirty="0"/>
              <a:t> constant voltage.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Signal Mixing/Demodulation:</a:t>
            </a:r>
            <a:r>
              <a:rPr lang="en-US" dirty="0"/>
              <a:t> Used in communication circuits.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1C6AAC-8D4D-4683-8621-4F86156987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6" t="7827" r="3578" b="7767"/>
          <a:stretch/>
        </p:blipFill>
        <p:spPr>
          <a:xfrm>
            <a:off x="5295331" y="2115403"/>
            <a:ext cx="5745707" cy="362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3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152441" y="11387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Diode Current Equation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E78D24-13C0-454E-AFFE-ADF23F5F01A0}"/>
              </a:ext>
            </a:extLst>
          </p:cNvPr>
          <p:cNvSpPr/>
          <p:nvPr/>
        </p:nvSpPr>
        <p:spPr>
          <a:xfrm>
            <a:off x="1351754" y="1928128"/>
            <a:ext cx="3561439" cy="1290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It describes how the current through a diode responds to the voltage applied across it.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AB8852-4D7F-476B-86FE-68ED5B0EC2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686"/>
          <a:stretch/>
        </p:blipFill>
        <p:spPr>
          <a:xfrm>
            <a:off x="1617815" y="3381774"/>
            <a:ext cx="3069251" cy="101327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C579BE0-B04E-4B3B-A7EF-71870FC58588}"/>
              </a:ext>
            </a:extLst>
          </p:cNvPr>
          <p:cNvSpPr/>
          <p:nvPr/>
        </p:nvSpPr>
        <p:spPr>
          <a:xfrm>
            <a:off x="5498089" y="1928128"/>
            <a:ext cx="5229051" cy="2952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 is the current flowing through the diode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</a:t>
            </a:r>
            <a:r>
              <a:rPr lang="en-US" baseline="-25000" dirty="0"/>
              <a:t>0</a:t>
            </a:r>
            <a:r>
              <a:rPr lang="en-US" dirty="0"/>
              <a:t> is the dark saturation current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q is the charge on the electron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V is the voltage applied across the diode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η is the (exponential) ideality factor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K is Boltzmann constant 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 is the absolute temperature in kelvin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E3C16A-C241-45E4-82E0-33F3908F2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770" y="4148580"/>
            <a:ext cx="2231932" cy="24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152441" y="11387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Practice problems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E78D24-13C0-454E-AFFE-ADF23F5F01A0}"/>
              </a:ext>
            </a:extLst>
          </p:cNvPr>
          <p:cNvSpPr/>
          <p:nvPr/>
        </p:nvSpPr>
        <p:spPr>
          <a:xfrm>
            <a:off x="1209065" y="1928128"/>
            <a:ext cx="10719078" cy="46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Q1. An </a:t>
            </a:r>
            <a:r>
              <a:rPr lang="en-US" dirty="0" err="1"/>
              <a:t>a.c</a:t>
            </a:r>
            <a:r>
              <a:rPr lang="en-US" dirty="0"/>
              <a:t>. voltage of peak value 20 V is connected in series with a silicon diode and load resistance of  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     500 Ω. If the forward resistance of diode is 10 Ω, find :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	(</a:t>
            </a:r>
            <a:r>
              <a:rPr lang="en-US" dirty="0" err="1"/>
              <a:t>i</a:t>
            </a:r>
            <a:r>
              <a:rPr lang="en-US" dirty="0"/>
              <a:t>) peak current through diode  (ii) peak output voltage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	What will be these values if the diode is assumed to be ideal ?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Q2. Find the current through the diode in the circuit shown in Fig. (</a:t>
            </a:r>
            <a:r>
              <a:rPr lang="en-US" dirty="0" err="1"/>
              <a:t>i</a:t>
            </a:r>
            <a:r>
              <a:rPr lang="en-US" dirty="0"/>
              <a:t>). Assume the diode to be ideal.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Solutions: </a:t>
            </a:r>
            <a:r>
              <a:rPr lang="en-US" dirty="0">
                <a:hlinkClick r:id="rId2"/>
              </a:rPr>
              <a:t>https://electronicspost.com/solved-problems-on-semiconductor-diode/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3BA8A1-955E-41AF-987A-19DBBEAA8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782" y="4023783"/>
            <a:ext cx="680085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28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1A7E2-8732-150E-FF82-C97EA1671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31F165E-05D3-ED5E-0546-BC8DCE1DB2AA}"/>
              </a:ext>
            </a:extLst>
          </p:cNvPr>
          <p:cNvSpPr/>
          <p:nvPr/>
        </p:nvSpPr>
        <p:spPr>
          <a:xfrm>
            <a:off x="3152441" y="11387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Practice problems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955FE7-C654-038B-2A85-D8474D9E98B8}"/>
              </a:ext>
            </a:extLst>
          </p:cNvPr>
          <p:cNvSpPr/>
          <p:nvPr/>
        </p:nvSpPr>
        <p:spPr>
          <a:xfrm>
            <a:off x="1419367" y="1928128"/>
            <a:ext cx="9758149" cy="3921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spcAft>
                <a:spcPts val="900"/>
              </a:spcAft>
            </a:pPr>
            <a:r>
              <a:rPr lang="en-US" dirty="0"/>
              <a:t>Q3. Calculate the current through 48 Ω resistor in the circuit shown in Fig. 3 (</a:t>
            </a:r>
            <a:r>
              <a:rPr lang="en-US" dirty="0" err="1"/>
              <a:t>i</a:t>
            </a:r>
            <a:r>
              <a:rPr lang="en-US" dirty="0"/>
              <a:t>).</a:t>
            </a:r>
            <a:br>
              <a:rPr lang="en-US" dirty="0"/>
            </a:br>
            <a:r>
              <a:rPr lang="en-US" dirty="0"/>
              <a:t>Assume the diodes to be of silicon and forward resistance of each diode is 1 Ω.</a:t>
            </a:r>
          </a:p>
          <a:p>
            <a:pPr algn="just" fontAlgn="base">
              <a:spcAft>
                <a:spcPts val="900"/>
              </a:spcAft>
            </a:pPr>
            <a:endParaRPr lang="en-US" dirty="0"/>
          </a:p>
          <a:p>
            <a:pPr algn="just" fontAlgn="base">
              <a:spcAft>
                <a:spcPts val="900"/>
              </a:spcAft>
            </a:pPr>
            <a:endParaRPr lang="en-US" dirty="0"/>
          </a:p>
          <a:p>
            <a:pPr algn="just" fontAlgn="base">
              <a:spcAft>
                <a:spcPts val="900"/>
              </a:spcAft>
            </a:pPr>
            <a:endParaRPr lang="en-US" dirty="0"/>
          </a:p>
          <a:p>
            <a:pPr algn="just" fontAlgn="base">
              <a:spcAft>
                <a:spcPts val="900"/>
              </a:spcAft>
            </a:pPr>
            <a:endParaRPr lang="en-US" dirty="0"/>
          </a:p>
          <a:p>
            <a:pPr algn="just" fontAlgn="base">
              <a:spcAft>
                <a:spcPts val="900"/>
              </a:spcAft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Solutions: </a:t>
            </a:r>
            <a:r>
              <a:rPr lang="en-US" dirty="0">
                <a:hlinkClick r:id="rId2"/>
              </a:rPr>
              <a:t>https://electronicspost.com/solved-problems-on-semiconductor-diode/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F5DBE8-69B3-B8CC-9BF8-7E9D27CA4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361" y="2609069"/>
            <a:ext cx="6135589" cy="21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4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What is the primary function of a diode in an electronic circuit?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</a:pPr>
            <a:r>
              <a:rPr lang="en-IN" sz="1600" dirty="0"/>
              <a:t>      a) Signal amplification</a:t>
            </a:r>
            <a:br>
              <a:rPr lang="en-IN" sz="1600" dirty="0"/>
            </a:br>
            <a:r>
              <a:rPr lang="en-IN" sz="1600" dirty="0"/>
              <a:t>b) Voltage regulation</a:t>
            </a:r>
            <a:br>
              <a:rPr lang="en-IN" sz="1600" dirty="0"/>
            </a:br>
            <a:r>
              <a:rPr lang="en-IN" sz="1600" dirty="0"/>
              <a:t>c) Current multiplication</a:t>
            </a:r>
            <a:br>
              <a:rPr lang="en-IN" sz="1600" dirty="0"/>
            </a:br>
            <a:r>
              <a:rPr lang="en-IN" sz="1600" dirty="0">
                <a:solidFill>
                  <a:srgbClr val="FF0000"/>
                </a:solidFill>
              </a:rPr>
              <a:t>d) Rectification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IN" sz="1600" dirty="0"/>
              <a:t>In which biasing condition does a diode allow current flow?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</a:pPr>
            <a:r>
              <a:rPr lang="en-IN" dirty="0"/>
              <a:t>     </a:t>
            </a:r>
            <a:r>
              <a:rPr lang="en-IN" dirty="0">
                <a:solidFill>
                  <a:srgbClr val="FF0000"/>
                </a:solidFill>
              </a:rPr>
              <a:t>a) Forward bias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/>
              <a:t>b) Reverse bias</a:t>
            </a:r>
            <a:br>
              <a:rPr lang="en-IN" dirty="0"/>
            </a:br>
            <a:r>
              <a:rPr lang="en-IN" dirty="0"/>
              <a:t>c) No bias</a:t>
            </a:r>
            <a:br>
              <a:rPr lang="en-IN" dirty="0"/>
            </a:br>
            <a:r>
              <a:rPr lang="en-IN" dirty="0"/>
              <a:t>d) Variable bias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/>
            <a:r>
              <a:rPr lang="en-IN" sz="1600" dirty="0"/>
              <a:t>3. What is the typical forward voltage drop of a silicon diode?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</a:pPr>
            <a:r>
              <a:rPr lang="en-IN" sz="1600" dirty="0"/>
              <a:t>     a) 0.1 V</a:t>
            </a:r>
            <a:br>
              <a:rPr lang="en-IN" sz="1600" dirty="0"/>
            </a:br>
            <a:r>
              <a:rPr lang="en-IN" sz="1600" dirty="0"/>
              <a:t>b) 0.5 V</a:t>
            </a:r>
            <a:br>
              <a:rPr lang="en-IN" sz="1600" dirty="0"/>
            </a:br>
            <a:r>
              <a:rPr lang="en-IN" sz="1600" dirty="0"/>
              <a:t>c) 1.2 V</a:t>
            </a:r>
            <a:br>
              <a:rPr lang="en-IN" sz="1600" dirty="0"/>
            </a:br>
            <a:r>
              <a:rPr lang="en-IN" sz="1600" dirty="0"/>
              <a:t>d) </a:t>
            </a:r>
            <a:r>
              <a:rPr lang="en-IN" sz="1600" dirty="0">
                <a:solidFill>
                  <a:srgbClr val="FF0000"/>
                </a:solidFill>
              </a:rPr>
              <a:t>0.7 V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/>
            <a:r>
              <a:rPr lang="en-IN" sz="1600" dirty="0"/>
              <a:t>4. What happens when a diode is in reverse bias?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3128968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</a:pPr>
            <a:r>
              <a:rPr lang="en-IN" sz="1600" dirty="0"/>
              <a:t>      a) It conducts heavily</a:t>
            </a:r>
            <a:br>
              <a:rPr lang="en-IN" sz="1600" dirty="0"/>
            </a:br>
            <a:r>
              <a:rPr lang="en-IN" sz="1600" dirty="0"/>
              <a:t>b) It acts as a closed switch</a:t>
            </a:r>
            <a:br>
              <a:rPr lang="en-IN" sz="1600" dirty="0"/>
            </a:br>
            <a:r>
              <a:rPr lang="en-IN" sz="1600" dirty="0">
                <a:solidFill>
                  <a:srgbClr val="FF0000"/>
                </a:solidFill>
              </a:rPr>
              <a:t>c) It blocks current</a:t>
            </a:r>
            <a:br>
              <a:rPr lang="en-IN" sz="1600" dirty="0"/>
            </a:br>
            <a:r>
              <a:rPr lang="en-IN" sz="1600" dirty="0"/>
              <a:t>d) It amplifies the signal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1883" y="2179304"/>
            <a:ext cx="9608234" cy="212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1. </a:t>
            </a:r>
            <a:r>
              <a:rPr lang="en-IN" dirty="0"/>
              <a:t>Describe the formation and characteristics of a PN junction in a diode.</a:t>
            </a:r>
          </a:p>
          <a:p>
            <a:pPr>
              <a:lnSpc>
                <a:spcPct val="150000"/>
              </a:lnSpc>
            </a:pPr>
            <a:r>
              <a:rPr lang="en-IN" dirty="0"/>
              <a:t>2. List out the factors influencing the depletion region width in a PN junction diode.</a:t>
            </a:r>
          </a:p>
          <a:p>
            <a:pPr>
              <a:lnSpc>
                <a:spcPct val="150000"/>
              </a:lnSpc>
            </a:pPr>
            <a:r>
              <a:rPr lang="en-IN" dirty="0"/>
              <a:t>3. Analyze the behavior of a PN junction diode under forward biasing conditions.</a:t>
            </a:r>
          </a:p>
          <a:p>
            <a:pPr>
              <a:lnSpc>
                <a:spcPct val="150000"/>
              </a:lnSpc>
            </a:pPr>
            <a:r>
              <a:rPr lang="en-IN" dirty="0"/>
              <a:t>4. . Analyze the behavior of a PN junction diode under Reverse biasing conditions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5684" y="950495"/>
            <a:ext cx="7902188" cy="634021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9789" y="2156663"/>
            <a:ext cx="9608234" cy="4060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lvl="0"/>
            <a:r>
              <a:rPr lang="en-US" dirty="0"/>
              <a:t>1. </a:t>
            </a:r>
            <a:r>
              <a:rPr lang="en-IN" dirty="0"/>
              <a:t>John Bird. Electrical Circuit Theory and Technology, Routledgepublishers, 6th edition, 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2. </a:t>
            </a:r>
            <a:r>
              <a:rPr lang="en-IN" dirty="0"/>
              <a:t>ElectronicDevices and CircuitTheory 12th Edition-Robert L. Boylestad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dirty="0"/>
              <a:t>1. https://www.electrical4u.com/pn-junction/#google_vignette</a:t>
            </a:r>
          </a:p>
          <a:p>
            <a:pPr>
              <a:lnSpc>
                <a:spcPct val="150000"/>
              </a:lnSpc>
            </a:pPr>
            <a:r>
              <a:rPr lang="en-US" dirty="0"/>
              <a:t>2. https://www.physics-and-radio-electronics.com/electronic-devices-and-circuits/semiconductor-diodes/barrier-voltage.html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204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1510748" y="2332796"/>
            <a:ext cx="9568069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  <a:cs typeface="Poppins" pitchFamily="2" charset="77"/>
              </a:endParaRPr>
            </a:p>
            <a:p>
              <a:pPr algn="ctr"/>
              <a:endParaRPr lang="en-US" b="1" dirty="0">
                <a:latin typeface="+mj-lt"/>
                <a:cs typeface="Poppins" pitchFamily="2" charset="77"/>
              </a:endParaRPr>
            </a:p>
            <a:p>
              <a:pPr algn="ctr"/>
              <a:r>
                <a:rPr lang="en-US" b="1" dirty="0">
                  <a:latin typeface="+mj-lt"/>
                  <a:cs typeface="Poppins" pitchFamily="2" charset="77"/>
                </a:rPr>
                <a:t>THANK YOU</a:t>
              </a:r>
            </a:p>
            <a:p>
              <a:pPr algn="ctr"/>
              <a:endParaRPr lang="en-US" dirty="0">
                <a:latin typeface="+mj-lt"/>
                <a:cs typeface="Poppins" pitchFamily="2" charset="77"/>
              </a:endParaRPr>
            </a:p>
            <a:p>
              <a:pPr algn="ctr"/>
              <a:endParaRPr lang="en-US" dirty="0">
                <a:latin typeface="+mj-lt"/>
                <a:cs typeface="Poppins" pitchFamily="2" charset="77"/>
              </a:endParaRPr>
            </a:p>
            <a:p>
              <a:pPr algn="ctr"/>
              <a:endParaRPr lang="en-US" dirty="0">
                <a:latin typeface="+mj-lt"/>
                <a:cs typeface="Poppins" pitchFamily="2" charset="77"/>
              </a:endParaRPr>
            </a:p>
            <a:p>
              <a:pPr algn="ctr"/>
              <a:endParaRPr lang="en-US" dirty="0">
                <a:latin typeface="+mj-lt"/>
                <a:cs typeface="Poppins" pitchFamily="2" charset="77"/>
              </a:endParaRPr>
            </a:p>
            <a:p>
              <a:pPr algn="ctr"/>
              <a:r>
                <a:rPr lang="en-US" b="1" dirty="0">
                  <a:latin typeface="+mj-lt"/>
                  <a:cs typeface="Poppins" pitchFamily="2" charset="77"/>
                </a:rPr>
                <a:t>Team – </a:t>
              </a:r>
              <a:r>
                <a:rPr lang="en-US" b="1" dirty="0">
                  <a:solidFill>
                    <a:schemeClr val="bg1"/>
                  </a:solidFill>
                  <a:latin typeface="+mj-lt"/>
                  <a:cs typeface="Poppins" pitchFamily="2" charset="77"/>
                </a:rPr>
                <a:t>BASIC ELECTRICAL &amp; ELCTRONIC CIRCUITS </a:t>
              </a:r>
            </a:p>
            <a:p>
              <a:pPr algn="ctr"/>
              <a:endParaRPr lang="en-US" dirty="0">
                <a:solidFill>
                  <a:schemeClr val="bg1"/>
                </a:solidFill>
                <a:latin typeface="+mj-lt"/>
                <a:cs typeface="Poppins" pitchFamily="2" charset="77"/>
              </a:endParaRPr>
            </a:p>
            <a:p>
              <a:pPr algn="ctr"/>
              <a:endParaRPr lang="en-US" dirty="0">
                <a:solidFill>
                  <a:schemeClr val="bg1"/>
                </a:solidFill>
                <a:latin typeface="+mj-lt"/>
                <a:cs typeface="Poppins" pitchFamily="2" charset="77"/>
              </a:endParaRPr>
            </a:p>
            <a:p>
              <a:pPr algn="ctr"/>
              <a:endParaRPr lang="en-US" dirty="0">
                <a:solidFill>
                  <a:schemeClr val="bg1"/>
                </a:solidFill>
                <a:latin typeface="+mj-lt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 rotWithShape="1">
            <a:blip r:embed="rId2"/>
            <a:srcRect r="28367"/>
            <a:stretch/>
          </p:blipFill>
          <p:spPr bwMode="auto">
            <a:xfrm>
              <a:off x="5483011" y="3237939"/>
              <a:ext cx="1745186" cy="81722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7147</TotalTime>
  <Words>877</Words>
  <Application>Microsoft Office PowerPoint</Application>
  <PresentationFormat>Widescreen</PresentationFormat>
  <Paragraphs>127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BioRhyme ExtraBold</vt:lpstr>
      <vt:lpstr>Calibri</vt:lpstr>
      <vt:lpstr>Gill Sans MT</vt:lpstr>
      <vt:lpstr>Poppins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Tammineni Sreelatha</dc:creator>
  <cp:lastModifiedBy>Sivaprasad Lebaka</cp:lastModifiedBy>
  <cp:revision>112</cp:revision>
  <dcterms:created xsi:type="dcterms:W3CDTF">2023-05-11T04:21:37Z</dcterms:created>
  <dcterms:modified xsi:type="dcterms:W3CDTF">2025-02-24T06:56:01Z</dcterms:modified>
</cp:coreProperties>
</file>