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26" r:id="rId2"/>
    <p:sldId id="300" r:id="rId3"/>
    <p:sldId id="257" r:id="rId4"/>
    <p:sldId id="256" r:id="rId5"/>
    <p:sldId id="258" r:id="rId6"/>
    <p:sldId id="259" r:id="rId7"/>
    <p:sldId id="260" r:id="rId8"/>
    <p:sldId id="301" r:id="rId9"/>
    <p:sldId id="346" r:id="rId10"/>
    <p:sldId id="347" r:id="rId11"/>
    <p:sldId id="304" r:id="rId1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061" autoAdjust="0"/>
  </p:normalViewPr>
  <p:slideViewPr>
    <p:cSldViewPr snapToGrid="0" snapToObjects="1">
      <p:cViewPr varScale="1">
        <p:scale>
          <a:sx n="58" d="100"/>
          <a:sy n="58" d="100"/>
        </p:scale>
        <p:origin x="8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453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71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D40A8C-F4C8-EE96-E680-8DAA682F6DA7}"/>
              </a:ext>
            </a:extLst>
          </p:cNvPr>
          <p:cNvCxnSpPr/>
          <p:nvPr/>
        </p:nvCxnSpPr>
        <p:spPr>
          <a:xfrm>
            <a:off x="1744980" y="2217420"/>
            <a:ext cx="1152906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0EB003C-4D6F-E098-4183-A40EF363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F9D54-7118-1D2E-7668-E98397BFB4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01986-F51F-4C5B-BF24-E4FBCDBF5E42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8581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6560820" cy="718558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rtlCol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33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8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endParaRPr noProof="0"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22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1" y="201541"/>
            <a:ext cx="7405026" cy="7334014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091674" y="3758261"/>
            <a:ext cx="9538726" cy="2105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 algn="ctr"/>
            <a:r>
              <a:rPr lang="en-US" sz="3360" b="1" dirty="0">
                <a:solidFill>
                  <a:srgbClr val="C00000"/>
                </a:solidFill>
                <a:cs typeface="Poppins" pitchFamily="2" charset="77"/>
              </a:rPr>
              <a:t>BASIC ELECTRICAL AND ELECTRONIC CIRCUITS</a:t>
            </a:r>
          </a:p>
          <a:p>
            <a:pPr algn="ctr"/>
            <a:r>
              <a:rPr lang="en-US" sz="3360" b="1" dirty="0">
                <a:solidFill>
                  <a:srgbClr val="C00000"/>
                </a:solidFill>
                <a:cs typeface="Poppins" pitchFamily="2" charset="77"/>
              </a:rPr>
              <a:t>COURSE CODE : 23EC1203</a:t>
            </a:r>
            <a:r>
              <a:rPr lang="en-US" sz="3840" b="1" dirty="0">
                <a:solidFill>
                  <a:srgbClr val="C00000"/>
                </a:solidFill>
                <a:cs typeface="Poppins" pitchFamily="2" charset="77"/>
                <a:sym typeface="BioRhyme ExtraBold"/>
              </a:rPr>
              <a:t> 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algn="ctr"/>
            <a:r>
              <a:rPr lang="en-US" sz="3360" b="1" dirty="0">
                <a:solidFill>
                  <a:srgbClr val="0070C0"/>
                </a:solidFill>
              </a:rPr>
              <a:t>Transistor as a switch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7545369" y="2296448"/>
            <a:ext cx="5383597" cy="689718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475" name="Google Shape;475;p16"/>
          <p:cNvSpPr txBox="1"/>
          <p:nvPr/>
        </p:nvSpPr>
        <p:spPr>
          <a:xfrm>
            <a:off x="7479901" y="2256565"/>
            <a:ext cx="5514536" cy="77554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 algn="ctr"/>
            <a:r>
              <a:rPr lang="en-US" sz="4320" dirty="0">
                <a:solidFill>
                  <a:srgbClr val="C00000"/>
                </a:solidFill>
                <a:cs typeface="Poppins" pitchFamily="2" charset="77"/>
              </a:rPr>
              <a:t>Department of BES-II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8360941" y="6462106"/>
            <a:ext cx="3290231" cy="54366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/>
            <a:r>
              <a:rPr lang="en-US" sz="288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No. 10a</a:t>
            </a:r>
            <a:endParaRPr sz="288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8174738"/>
            <a:ext cx="14630400" cy="54863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1"/>
            <a:ext cx="14630400" cy="54863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B317BBB2-0CD7-F489-DA13-95122B2AC843}"/>
              </a:ext>
            </a:extLst>
          </p:cNvPr>
          <p:cNvSpPr/>
          <p:nvPr/>
        </p:nvSpPr>
        <p:spPr>
          <a:xfrm>
            <a:off x="5366386" y="100966"/>
            <a:ext cx="4271010" cy="46863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8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451F1-CA1C-960C-0D61-104DD79B46EB}"/>
              </a:ext>
            </a:extLst>
          </p:cNvPr>
          <p:cNvSpPr txBox="1"/>
          <p:nvPr/>
        </p:nvSpPr>
        <p:spPr>
          <a:xfrm>
            <a:off x="1097280" y="821363"/>
            <a:ext cx="12877543" cy="46487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/>
              <a:t>To understand the principles, characteristics, and applications of Zener diodes.</a:t>
            </a:r>
            <a:endParaRPr lang="en-US" sz="1920" dirty="0">
              <a:latin typeface="+mj-lt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3BD96E94-1515-807A-5A2D-894B5923951A}"/>
              </a:ext>
            </a:extLst>
          </p:cNvPr>
          <p:cNvSpPr/>
          <p:nvPr/>
        </p:nvSpPr>
        <p:spPr>
          <a:xfrm>
            <a:off x="4867276" y="1981201"/>
            <a:ext cx="5274944" cy="46863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8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11FFFA-61E9-9A71-799A-26474B0B02CB}"/>
              </a:ext>
            </a:extLst>
          </p:cNvPr>
          <p:cNvSpPr txBox="1"/>
          <p:nvPr/>
        </p:nvSpPr>
        <p:spPr>
          <a:xfrm>
            <a:off x="1144308" y="2534436"/>
            <a:ext cx="12775474" cy="125572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>
            <a:spAutoFit/>
          </a:bodyPr>
          <a:lstStyle/>
          <a:p>
            <a:pPr marL="411480" indent="-411480" algn="just">
              <a:defRPr/>
            </a:pPr>
            <a:r>
              <a:rPr lang="en-US" sz="2160" dirty="0">
                <a:latin typeface="+mj-lt"/>
                <a:cs typeface="Poppins"/>
              </a:rPr>
              <a:t>This Session is designed to:</a:t>
            </a:r>
          </a:p>
          <a:p>
            <a:r>
              <a:rPr lang="en-US" dirty="0"/>
              <a:t>1. Identify the operating principles of a Zener diode.</a:t>
            </a:r>
          </a:p>
          <a:p>
            <a:r>
              <a:rPr lang="en-US" dirty="0"/>
              <a:t>2. Differentiate between forward and reverse biasing in a Zener diode.</a:t>
            </a:r>
          </a:p>
          <a:p>
            <a:r>
              <a:rPr lang="en-US" dirty="0"/>
              <a:t>3. Explain the applications and usage of Zener diodes in electronic circuits.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5787035D-5CDD-2ACA-B81B-A816A8BCA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0570"/>
            <a:ext cx="1097280" cy="109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4D9A25C2-AD03-0C8F-B702-CEFC86D9E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6" y="2926080"/>
            <a:ext cx="874394" cy="109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483ACDEB-803D-BCA8-CAD2-51AADB37E47F}"/>
              </a:ext>
            </a:extLst>
          </p:cNvPr>
          <p:cNvSpPr/>
          <p:nvPr/>
        </p:nvSpPr>
        <p:spPr>
          <a:xfrm>
            <a:off x="5244466" y="4653916"/>
            <a:ext cx="4644390" cy="46863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8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1A92FEF2-8218-4D1C-E518-E69FA942C2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6" y="5718810"/>
            <a:ext cx="1097280" cy="109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E0591C3-FC95-C686-C3F8-F8FEB2959352}"/>
              </a:ext>
            </a:extLst>
          </p:cNvPr>
          <p:cNvSpPr txBox="1"/>
          <p:nvPr/>
        </p:nvSpPr>
        <p:spPr>
          <a:xfrm>
            <a:off x="1222682" y="5310216"/>
            <a:ext cx="12806123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20" dirty="0">
                <a:latin typeface="+mj-lt"/>
                <a:cs typeface="Arial"/>
              </a:rPr>
              <a:t>At the end of this session, you should be able to:</a:t>
            </a:r>
          </a:p>
          <a:p>
            <a:r>
              <a:rPr lang="en-IN" dirty="0"/>
              <a:t>1. Describe the breakdown </a:t>
            </a:r>
            <a:r>
              <a:rPr lang="en-IN" dirty="0" err="1"/>
              <a:t>behavior</a:t>
            </a:r>
            <a:r>
              <a:rPr lang="en-IN" dirty="0"/>
              <a:t> and voltage regulation of a Zener diode.</a:t>
            </a:r>
          </a:p>
          <a:p>
            <a:r>
              <a:rPr lang="en-IN" dirty="0"/>
              <a:t>2. Demonstrate the ability to </a:t>
            </a:r>
            <a:r>
              <a:rPr lang="en-IN" dirty="0" err="1"/>
              <a:t>analyze</a:t>
            </a:r>
            <a:r>
              <a:rPr lang="en-IN" dirty="0"/>
              <a:t> circuits incorporating Zener diodes for specific voltage regulation purposes.</a:t>
            </a:r>
          </a:p>
          <a:p>
            <a:r>
              <a:rPr lang="en-IN" dirty="0"/>
              <a:t>3. Apply knowledge of Zener diodes to troubleshoot and design circuits involving voltage stabilization and regulation.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94DC1E-FC08-AED8-55BA-D122CCDA9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036619" cy="8146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024370-77AE-424A-978D-284B06D702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402340"/>
            <a:ext cx="14630400" cy="83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162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3034725" y="592075"/>
            <a:ext cx="5333524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87" dirty="0">
                <a:solidFill>
                  <a:srgbClr val="000000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What is a Zener Diode?</a:t>
            </a:r>
            <a:endParaRPr lang="en-US" sz="4374" dirty="0"/>
          </a:p>
        </p:txBody>
      </p:sp>
      <p:sp>
        <p:nvSpPr>
          <p:cNvPr id="6" name="Shape 2"/>
          <p:cNvSpPr/>
          <p:nvPr/>
        </p:nvSpPr>
        <p:spPr>
          <a:xfrm>
            <a:off x="833200" y="1907410"/>
            <a:ext cx="4542115" cy="2373987"/>
          </a:xfrm>
          <a:prstGeom prst="roundRect">
            <a:avLst>
              <a:gd name="adj" fmla="val 4212"/>
            </a:avLst>
          </a:prstGeom>
          <a:solidFill>
            <a:srgbClr val="F0D4F7"/>
          </a:solidFill>
          <a:ln w="13811">
            <a:solidFill>
              <a:srgbClr val="E1A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029005" y="2117472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44" dirty="0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Definition</a:t>
            </a:r>
            <a:endParaRPr lang="en-US" sz="2187" dirty="0"/>
          </a:p>
        </p:txBody>
      </p:sp>
      <p:sp>
        <p:nvSpPr>
          <p:cNvPr id="8" name="Text 4"/>
          <p:cNvSpPr/>
          <p:nvPr/>
        </p:nvSpPr>
        <p:spPr>
          <a:xfrm>
            <a:off x="999649" y="2668255"/>
            <a:ext cx="4070152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Zener diode is a semiconductor device that allows current to flow in the reverse direction when a certain voltage is applied, effectively acting as a voltage regulator.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833199" y="4472934"/>
            <a:ext cx="4542115" cy="2373987"/>
          </a:xfrm>
          <a:prstGeom prst="roundRect">
            <a:avLst>
              <a:gd name="adj" fmla="val 4212"/>
            </a:avLst>
          </a:prstGeom>
          <a:solidFill>
            <a:srgbClr val="F0D4F7"/>
          </a:solidFill>
          <a:ln w="13811">
            <a:solidFill>
              <a:srgbClr val="E1A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25647" y="4970849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44" dirty="0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Operation</a:t>
            </a:r>
            <a:endParaRPr lang="en-US" sz="2187" dirty="0"/>
          </a:p>
        </p:txBody>
      </p:sp>
      <p:sp>
        <p:nvSpPr>
          <p:cNvPr id="11" name="Text 7"/>
          <p:cNvSpPr/>
          <p:nvPr/>
        </p:nvSpPr>
        <p:spPr>
          <a:xfrm>
            <a:off x="925647" y="5452067"/>
            <a:ext cx="4070152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When voltage across a Zener diode exceeds its breakdown voltage, the diode begins to conduct and regulate the voltage, maintaining a constant level.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057548-0091-5146-F6E3-7CC6168ED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120" y="1878522"/>
            <a:ext cx="8427514" cy="53322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9DEE47-B4A7-CC72-EBA3-FBE91C1E4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036619" cy="8146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72BAB6-E40D-A404-F795-011EF91815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402340"/>
            <a:ext cx="14630400" cy="8358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3177388" y="127646"/>
            <a:ext cx="7477601" cy="1666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561"/>
              </a:lnSpc>
              <a:buNone/>
            </a:pPr>
            <a:r>
              <a:rPr lang="en-US" sz="5249" b="1" kern="0" spc="-105" dirty="0">
                <a:solidFill>
                  <a:srgbClr val="000000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Zener Diode as Voltage Regulator</a:t>
            </a:r>
            <a:endParaRPr lang="en-US" sz="5249" dirty="0"/>
          </a:p>
        </p:txBody>
      </p:sp>
      <p:sp>
        <p:nvSpPr>
          <p:cNvPr id="7" name="Shape 3"/>
          <p:cNvSpPr/>
          <p:nvPr/>
        </p:nvSpPr>
        <p:spPr>
          <a:xfrm>
            <a:off x="833199" y="5417225"/>
            <a:ext cx="355402" cy="355402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89F89A-B869-F220-3A58-304541AC4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2340"/>
            <a:ext cx="14630400" cy="8358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88B327-217C-4DEE-B7E6-FCE54B7EB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036619" cy="814647"/>
          </a:xfrm>
          <a:prstGeom prst="rect">
            <a:avLst/>
          </a:prstGeom>
        </p:spPr>
      </p:pic>
      <p:pic>
        <p:nvPicPr>
          <p:cNvPr id="12" name="Picture 11" descr="A diagram of a voltage&#10;&#10;AI-generated content may be incorrect.">
            <a:extLst>
              <a:ext uri="{FF2B5EF4-FFF2-40B4-BE49-F238E27FC236}">
                <a16:creationId xmlns:a16="http://schemas.microsoft.com/office/drawing/2014/main" id="{0AE89BB4-C145-CE59-C003-871E62D03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9250" y="2118544"/>
            <a:ext cx="10249594" cy="471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23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0470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74217" y="131017"/>
            <a:ext cx="8057674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87" dirty="0">
                <a:solidFill>
                  <a:srgbClr val="000000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Zener Diode as a Voltage Regulator</a:t>
            </a:r>
            <a:endParaRPr lang="en-US" sz="4374" dirty="0"/>
          </a:p>
        </p:txBody>
      </p:sp>
      <p:sp>
        <p:nvSpPr>
          <p:cNvPr id="6" name="Shape 2"/>
          <p:cNvSpPr/>
          <p:nvPr/>
        </p:nvSpPr>
        <p:spPr>
          <a:xfrm>
            <a:off x="5109567" y="293620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13811">
            <a:solidFill>
              <a:srgbClr val="E1A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280516" y="2952095"/>
            <a:ext cx="18395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kern="0" spc="-52" dirty="0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4"/>
          <p:cNvSpPr/>
          <p:nvPr/>
        </p:nvSpPr>
        <p:spPr>
          <a:xfrm>
            <a:off x="5630853" y="2983751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44" dirty="0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Voltage Regulation</a:t>
            </a:r>
            <a:endParaRPr lang="en-US" sz="2187" dirty="0"/>
          </a:p>
        </p:txBody>
      </p:sp>
      <p:sp>
        <p:nvSpPr>
          <p:cNvPr id="9" name="Text 5"/>
          <p:cNvSpPr/>
          <p:nvPr/>
        </p:nvSpPr>
        <p:spPr>
          <a:xfrm>
            <a:off x="5718483" y="3527247"/>
            <a:ext cx="38200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Zener diodes regulate voltage by maintaining a constant voltage across themselves even when the input voltage varies, ensuring a stable output.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9921656" y="2874885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13811">
            <a:solidFill>
              <a:srgbClr val="E1A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0079652" y="2901553"/>
            <a:ext cx="18395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kern="0" spc="-52" dirty="0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2</a:t>
            </a:r>
            <a:endParaRPr lang="en-US" sz="2624" dirty="0"/>
          </a:p>
        </p:txBody>
      </p:sp>
      <p:sp>
        <p:nvSpPr>
          <p:cNvPr id="12" name="Text 8"/>
          <p:cNvSpPr/>
          <p:nvPr/>
        </p:nvSpPr>
        <p:spPr>
          <a:xfrm>
            <a:off x="10464284" y="2936200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44" dirty="0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Working Principle</a:t>
            </a:r>
            <a:endParaRPr lang="en-US" sz="2187" dirty="0"/>
          </a:p>
        </p:txBody>
      </p:sp>
      <p:sp>
        <p:nvSpPr>
          <p:cNvPr id="13" name="Text 9"/>
          <p:cNvSpPr/>
          <p:nvPr/>
        </p:nvSpPr>
        <p:spPr>
          <a:xfrm>
            <a:off x="10464959" y="3527247"/>
            <a:ext cx="38200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 the input voltage rises beyond the Zener diode's breakdown voltage, it starts conducting, diverting the excess current and preventing voltage spikes.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5130910" y="531988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13811">
            <a:solidFill>
              <a:srgbClr val="E1A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291421" y="5361617"/>
            <a:ext cx="18395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kern="0" spc="-52" dirty="0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3</a:t>
            </a:r>
            <a:endParaRPr lang="en-US" sz="2624" dirty="0"/>
          </a:p>
        </p:txBody>
      </p:sp>
      <p:sp>
        <p:nvSpPr>
          <p:cNvPr id="16" name="Text 12"/>
          <p:cNvSpPr/>
          <p:nvPr/>
        </p:nvSpPr>
        <p:spPr>
          <a:xfrm>
            <a:off x="5718483" y="5379602"/>
            <a:ext cx="262723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44" dirty="0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Stability and Reliability</a:t>
            </a:r>
            <a:endParaRPr lang="en-US" sz="2187" dirty="0"/>
          </a:p>
        </p:txBody>
      </p:sp>
      <p:sp>
        <p:nvSpPr>
          <p:cNvPr id="17" name="Text 13"/>
          <p:cNvSpPr/>
          <p:nvPr/>
        </p:nvSpPr>
        <p:spPr>
          <a:xfrm>
            <a:off x="5685055" y="5936001"/>
            <a:ext cx="8584287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Due to their precise voltage regulation, Zener diodes provide stable and reliable power supply for various electronic circuits and systems.</a:t>
            </a:r>
            <a:endParaRPr lang="en-US" sz="1750" dirty="0"/>
          </a:p>
        </p:txBody>
      </p:sp>
      <p:pic>
        <p:nvPicPr>
          <p:cNvPr id="1026" name="Picture 2" descr="Zener Diodes">
            <a:extLst>
              <a:ext uri="{FF2B5EF4-FFF2-40B4-BE49-F238E27FC236}">
                <a16:creationId xmlns:a16="http://schemas.microsoft.com/office/drawing/2014/main" id="{18C2529D-5B3C-094E-D847-2A9635C02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" y="2599399"/>
            <a:ext cx="4364947" cy="436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8FC14D-42C9-DA6D-743A-0A290BF522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036619" cy="8146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4152DA-4962-3847-4D24-68317A6E01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7402340"/>
            <a:ext cx="15047000" cy="835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348389" y="1869519"/>
            <a:ext cx="9933503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87" dirty="0">
                <a:solidFill>
                  <a:srgbClr val="000000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Benefits of Using Zener Diodes as Voltage Regulators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348389" y="3813691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44" dirty="0">
                <a:solidFill>
                  <a:srgbClr val="000000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Stability</a:t>
            </a:r>
            <a:endParaRPr lang="en-US" sz="2187" dirty="0"/>
          </a:p>
        </p:txBody>
      </p:sp>
      <p:sp>
        <p:nvSpPr>
          <p:cNvPr id="6" name="Text 3"/>
          <p:cNvSpPr/>
          <p:nvPr/>
        </p:nvSpPr>
        <p:spPr>
          <a:xfrm>
            <a:off x="2348389" y="4383048"/>
            <a:ext cx="2949416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Zener diodes offer consistent voltage regulation, minimizing fluctuations in the output voltage despite changes in the input voltage or load.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847398" y="3813691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44" dirty="0">
                <a:solidFill>
                  <a:srgbClr val="000000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Reliability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5847398" y="4383048"/>
            <a:ext cx="2949416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With their rugged construction, Zener diodes are resistant to temperature variations and able to withstand high currents, ensuring long-term reliability.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346406" y="3813691"/>
            <a:ext cx="2729746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44" dirty="0">
                <a:solidFill>
                  <a:srgbClr val="000000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Low Cost and Simplicity</a:t>
            </a:r>
            <a:endParaRPr lang="en-US" sz="2187" dirty="0"/>
          </a:p>
        </p:txBody>
      </p:sp>
      <p:sp>
        <p:nvSpPr>
          <p:cNvPr id="10" name="Text 7"/>
          <p:cNvSpPr/>
          <p:nvPr/>
        </p:nvSpPr>
        <p:spPr>
          <a:xfrm>
            <a:off x="9346406" y="4383048"/>
            <a:ext cx="2949416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Zener diodes are readily available and cost-effective compared to other voltage regulation solutions, making them popular in various applications.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21CCE5-E149-3DE6-246D-785AA32DC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036619" cy="8146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DF650B-E9AC-F025-4241-CD1E25003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402340"/>
            <a:ext cx="14630400" cy="8358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348389" y="802719"/>
            <a:ext cx="9933503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87" dirty="0">
                <a:solidFill>
                  <a:srgbClr val="000000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Applications of Zener Diode Voltage Regulators</a:t>
            </a:r>
            <a:endParaRPr lang="en-US" sz="437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389" y="2324695"/>
            <a:ext cx="4800124" cy="2966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48389" y="5880140"/>
            <a:ext cx="3592116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44" dirty="0">
                <a:solidFill>
                  <a:srgbClr val="000000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Electronic Circuits and Systems</a:t>
            </a:r>
            <a:endParaRPr lang="en-US" sz="2187" dirty="0"/>
          </a:p>
        </p:txBody>
      </p:sp>
      <p:sp>
        <p:nvSpPr>
          <p:cNvPr id="7" name="Text 3"/>
          <p:cNvSpPr/>
          <p:nvPr/>
        </p:nvSpPr>
        <p:spPr>
          <a:xfrm>
            <a:off x="2348389" y="6360557"/>
            <a:ext cx="4800124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Zener diodes find wide applications in voltage regulation for microcontrollers, sensors, amplifiers, and other electronic components.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768" y="2324695"/>
            <a:ext cx="4800124" cy="29666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81768" y="5880140"/>
            <a:ext cx="42633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44" dirty="0">
                <a:solidFill>
                  <a:srgbClr val="000000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Power Supplies and Battery Chargers</a:t>
            </a:r>
            <a:endParaRPr lang="en-US" sz="2187" dirty="0"/>
          </a:p>
        </p:txBody>
      </p:sp>
      <p:sp>
        <p:nvSpPr>
          <p:cNvPr id="10" name="Text 5"/>
          <p:cNvSpPr/>
          <p:nvPr/>
        </p:nvSpPr>
        <p:spPr>
          <a:xfrm>
            <a:off x="7481768" y="6360557"/>
            <a:ext cx="4800124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They are commonly used in power supplies and battery charging circuits to maintain stable voltage levels and protect sensitive components.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C566AB-48EA-7A09-086D-6D6C43304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036619" cy="8146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F222AA-864E-E328-57C4-FA3D3BE24F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7402340"/>
            <a:ext cx="14630400" cy="835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4068763" y="521188"/>
            <a:ext cx="6492874" cy="49475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8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211874" y="1323979"/>
            <a:ext cx="12206652" cy="85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lvl="0"/>
            <a:r>
              <a:rPr lang="en-US" b="1" dirty="0"/>
              <a:t>1. What is the primary function of a Zener diode? ©</a:t>
            </a:r>
            <a:endParaRPr sz="192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232194" y="2373486"/>
            <a:ext cx="4532621" cy="1974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UcParenR"/>
            </a:pPr>
            <a:r>
              <a:rPr lang="en-IN" dirty="0"/>
              <a:t>Amplification </a:t>
            </a:r>
          </a:p>
          <a:p>
            <a:r>
              <a:rPr lang="en-IN" dirty="0"/>
              <a:t>B) Rectification </a:t>
            </a:r>
          </a:p>
          <a:p>
            <a:r>
              <a:rPr lang="en-IN" dirty="0"/>
              <a:t>C) Voltage regulation </a:t>
            </a:r>
          </a:p>
          <a:p>
            <a:r>
              <a:rPr lang="en-IN" dirty="0"/>
              <a:t>D) Current regulation</a:t>
            </a:r>
            <a:endParaRPr lang="en-US" sz="216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194434" y="4545694"/>
            <a:ext cx="12206652" cy="85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411480" indent="-411480">
              <a:buFont typeface="+mj-lt"/>
              <a:buAutoNum type="arabicPeriod" startAt="2"/>
            </a:pPr>
            <a:r>
              <a:rPr lang="en-IN" b="1" dirty="0"/>
              <a:t>Zener breakdown occurs when: (B)</a:t>
            </a:r>
            <a:endParaRPr sz="192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232194" y="5595201"/>
            <a:ext cx="6753566" cy="164684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UcParenR"/>
            </a:pPr>
            <a:r>
              <a:rPr lang="en-IN" dirty="0"/>
              <a:t>Increase voltage </a:t>
            </a:r>
          </a:p>
          <a:p>
            <a:pPr marL="342900" indent="-342900">
              <a:buAutoNum type="alphaUcParenR"/>
            </a:pPr>
            <a:r>
              <a:rPr lang="en-IN" dirty="0"/>
              <a:t>Decrease voltage </a:t>
            </a:r>
          </a:p>
          <a:p>
            <a:pPr marL="342900" indent="-342900">
              <a:buAutoNum type="alphaUcParenR"/>
            </a:pPr>
            <a:r>
              <a:rPr lang="en-IN" dirty="0"/>
              <a:t>Regulate voltage </a:t>
            </a:r>
          </a:p>
          <a:p>
            <a:pPr marL="342900" indent="-342900">
              <a:buAutoNum type="alphaUcParenR"/>
            </a:pPr>
            <a:r>
              <a:rPr lang="en-IN" dirty="0"/>
              <a:t>Stabilize current</a:t>
            </a:r>
            <a:endParaRPr lang="en-IN" sz="216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2388870" cy="720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4068763" y="521188"/>
            <a:ext cx="6492874" cy="49475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8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211874" y="1323979"/>
            <a:ext cx="12206652" cy="85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lvl="0"/>
            <a:r>
              <a:rPr lang="en-US" sz="1920" b="1" dirty="0"/>
              <a:t>3. </a:t>
            </a:r>
            <a:r>
              <a:rPr lang="en-IN" b="1" dirty="0"/>
              <a:t>Zener breakdown occurs when: (B)</a:t>
            </a:r>
            <a:endParaRPr sz="192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232194" y="2373486"/>
            <a:ext cx="4532621" cy="1974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UcParenR"/>
            </a:pPr>
            <a:r>
              <a:rPr lang="en-US" dirty="0"/>
              <a:t>Forward biased </a:t>
            </a:r>
          </a:p>
          <a:p>
            <a:pPr marL="342900" indent="-342900">
              <a:buAutoNum type="alphaUcParenR"/>
            </a:pPr>
            <a:r>
              <a:rPr lang="en-US" dirty="0"/>
              <a:t>Reverse biased </a:t>
            </a:r>
          </a:p>
          <a:p>
            <a:pPr marL="342900" indent="-342900">
              <a:buAutoNum type="alphaUcParenR"/>
            </a:pPr>
            <a:r>
              <a:rPr lang="en-US" dirty="0"/>
              <a:t>Used in amplification circuits </a:t>
            </a:r>
          </a:p>
          <a:p>
            <a:pPr marL="342900" indent="-342900">
              <a:buAutoNum type="alphaUcParenR"/>
            </a:pPr>
            <a:r>
              <a:rPr lang="en-US" dirty="0"/>
              <a:t>Connected in series</a:t>
            </a:r>
            <a:endParaRPr lang="en-US" sz="216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194434" y="4545694"/>
            <a:ext cx="12206652" cy="85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lvl="0"/>
            <a:r>
              <a:rPr lang="en-US" sz="2160" b="1" dirty="0"/>
              <a:t>4. </a:t>
            </a:r>
            <a:r>
              <a:rPr lang="en-US" b="1" dirty="0"/>
              <a:t>Zener diodes are often used in circuits to: ©</a:t>
            </a:r>
            <a:endParaRPr sz="192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232194" y="5436705"/>
            <a:ext cx="6083006" cy="195416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UcParenR"/>
            </a:pPr>
            <a:r>
              <a:rPr lang="en-IN" dirty="0"/>
              <a:t>Increase voltage </a:t>
            </a:r>
          </a:p>
          <a:p>
            <a:pPr marL="342900" indent="-342900">
              <a:buAutoNum type="alphaUcParenR"/>
            </a:pPr>
            <a:r>
              <a:rPr lang="en-IN" dirty="0"/>
              <a:t>Decrease voltage </a:t>
            </a:r>
          </a:p>
          <a:p>
            <a:pPr marL="342900" indent="-342900">
              <a:buAutoNum type="alphaUcParenR"/>
            </a:pPr>
            <a:r>
              <a:rPr lang="en-IN" dirty="0"/>
              <a:t>Regulate voltage </a:t>
            </a:r>
          </a:p>
          <a:p>
            <a:pPr marL="342900" indent="-342900">
              <a:buAutoNum type="alphaUcParenR"/>
            </a:pPr>
            <a:r>
              <a:rPr lang="en-IN" dirty="0"/>
              <a:t>Stabilize current</a:t>
            </a:r>
            <a:endParaRPr lang="en-US" sz="216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2388870" cy="720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63459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4068763" y="1401142"/>
            <a:ext cx="6492874" cy="49475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8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988" y="2640232"/>
            <a:ext cx="1411941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i="0" dirty="0">
                <a:solidFill>
                  <a:srgbClr val="374151"/>
                </a:solidFill>
                <a:effectLst/>
                <a:latin typeface="Söhne"/>
              </a:rPr>
              <a:t>1. Explain the operating principle of a Zener diode and highlight its differences from a regular diode.</a:t>
            </a:r>
          </a:p>
          <a:p>
            <a:pPr marL="742950" indent="-742950" algn="l">
              <a:buAutoNum type="arabicPeriod"/>
            </a:pPr>
            <a:endParaRPr lang="en-US" sz="280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indent="-742950" algn="l">
              <a:buAutoNum type="arabicPeriod"/>
            </a:pPr>
            <a:endParaRPr lang="en-US" sz="280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n-US" sz="2800" i="0" dirty="0">
                <a:solidFill>
                  <a:srgbClr val="374151"/>
                </a:solidFill>
                <a:effectLst/>
                <a:latin typeface="Söhne"/>
              </a:rPr>
              <a:t>2. Discuss two practical applications of Zener diodes in electronic circuits. Explain how the Zener diode functions in each application.</a:t>
            </a:r>
          </a:p>
          <a:p>
            <a:pPr algn="l"/>
            <a:endParaRPr lang="en-US" sz="2800" dirty="0">
              <a:solidFill>
                <a:srgbClr val="374151"/>
              </a:solidFill>
              <a:latin typeface="Söhne"/>
            </a:endParaRPr>
          </a:p>
          <a:p>
            <a:pPr algn="l"/>
            <a:endParaRPr lang="en-US" sz="2800" dirty="0">
              <a:solidFill>
                <a:srgbClr val="374151"/>
              </a:solidFill>
              <a:latin typeface="Söhne"/>
            </a:endParaRPr>
          </a:p>
          <a:p>
            <a:pPr algn="l"/>
            <a:r>
              <a:rPr lang="en-US" sz="2800" i="0" dirty="0">
                <a:solidFill>
                  <a:srgbClr val="374151"/>
                </a:solidFill>
                <a:effectLst/>
                <a:latin typeface="Söhne"/>
              </a:rPr>
              <a:t>3.</a:t>
            </a:r>
            <a:r>
              <a:rPr lang="en-US" sz="2800" i="0" dirty="0">
                <a:effectLst/>
                <a:latin typeface="Söhne"/>
              </a:rPr>
              <a:t> Compare and contrast Zener diodes with avalanche diodes, highlighting their similarities and differences in operation and applications.</a:t>
            </a:r>
            <a:endParaRPr lang="en-US" sz="280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2388870" cy="720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544517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1">
            <a:extLst>
              <a:ext uri="{FF2B5EF4-FFF2-40B4-BE49-F238E27FC236}">
                <a16:creationId xmlns:a16="http://schemas.microsoft.com/office/drawing/2014/main" id="{631BA936-5985-F645-4858-086F5EF2D42A}"/>
              </a:ext>
            </a:extLst>
          </p:cNvPr>
          <p:cNvGrpSpPr>
            <a:grpSpLocks/>
          </p:cNvGrpSpPr>
          <p:nvPr/>
        </p:nvGrpSpPr>
        <p:grpSpPr bwMode="auto">
          <a:xfrm>
            <a:off x="2713857" y="3027728"/>
            <a:ext cx="9504046" cy="3461384"/>
            <a:chOff x="2261608" y="2482889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B45003AE-DC24-2EBF-D539-36B09E24DEBB}"/>
                </a:ext>
              </a:extLst>
            </p:cNvPr>
            <p:cNvSpPr/>
            <p:nvPr/>
          </p:nvSpPr>
          <p:spPr>
            <a:xfrm>
              <a:off x="2261608" y="2482889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80" dirty="0">
                <a:latin typeface="Poppins" pitchFamily="2" charset="77"/>
                <a:cs typeface="Poppins" pitchFamily="2" charset="77"/>
              </a:endParaRPr>
            </a:p>
            <a:p>
              <a:pPr algn="ctr">
                <a:defRPr/>
              </a:pPr>
              <a:endParaRPr lang="en-US" sz="2880" b="1" dirty="0">
                <a:latin typeface="Poppins" pitchFamily="2" charset="77"/>
                <a:cs typeface="Poppins" pitchFamily="2" charset="77"/>
              </a:endParaRPr>
            </a:p>
            <a:p>
              <a:pPr algn="ctr">
                <a:defRPr/>
              </a:pPr>
              <a:r>
                <a:rPr lang="en-US" sz="2880" b="1" dirty="0">
                  <a:latin typeface="Poppins" pitchFamily="2" charset="77"/>
                  <a:cs typeface="Poppins" pitchFamily="2" charset="77"/>
                </a:rPr>
                <a:t>THANK YOU</a:t>
              </a:r>
            </a:p>
            <a:p>
              <a:pPr algn="ctr">
                <a:defRPr/>
              </a:pPr>
              <a:endParaRPr lang="en-US" sz="2880" dirty="0">
                <a:latin typeface="Poppins" pitchFamily="2" charset="77"/>
                <a:cs typeface="Poppins" pitchFamily="2" charset="77"/>
              </a:endParaRPr>
            </a:p>
            <a:p>
              <a:pPr algn="ctr">
                <a:defRPr/>
              </a:pPr>
              <a:endParaRPr lang="en-US" sz="2880" dirty="0">
                <a:latin typeface="Poppins" pitchFamily="2" charset="77"/>
                <a:cs typeface="Poppins" pitchFamily="2" charset="77"/>
              </a:endParaRPr>
            </a:p>
            <a:p>
              <a:pPr algn="ctr">
                <a:defRPr/>
              </a:pPr>
              <a:endParaRPr lang="en-US" sz="2880" dirty="0">
                <a:latin typeface="Poppins" pitchFamily="2" charset="77"/>
                <a:cs typeface="Poppins" pitchFamily="2" charset="77"/>
              </a:endParaRPr>
            </a:p>
            <a:p>
              <a:pPr algn="ctr">
                <a:defRPr/>
              </a:pPr>
              <a:endParaRPr lang="en-US" sz="2880" dirty="0">
                <a:latin typeface="Poppins" pitchFamily="2" charset="77"/>
                <a:cs typeface="Poppins" pitchFamily="2" charset="77"/>
              </a:endParaRPr>
            </a:p>
            <a:p>
              <a:pPr algn="ctr">
                <a:defRPr/>
              </a:pPr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Team – </a:t>
              </a:r>
              <a:r>
                <a:rPr lang="en-US" sz="2400" b="1" dirty="0">
                  <a:latin typeface="Poppins" pitchFamily="2" charset="77"/>
                  <a:cs typeface="Poppins" pitchFamily="2" charset="77"/>
                  <a:sym typeface="BioRhyme ExtraBold"/>
                </a:rPr>
                <a:t>BASIC ELECTRICAL &amp; ELECTRONIC CIRCUIT</a:t>
              </a:r>
            </a:p>
            <a:p>
              <a:pPr algn="ctr">
                <a:defRPr/>
              </a:pPr>
              <a:endParaRPr lang="en-US" sz="2880" b="1" dirty="0">
                <a:latin typeface="Poppins" pitchFamily="2" charset="77"/>
                <a:cs typeface="Poppins" pitchFamily="2" charset="77"/>
              </a:endParaRPr>
            </a:p>
            <a:p>
              <a:pPr algn="ctr">
                <a:defRPr/>
              </a:pPr>
              <a:endParaRPr lang="en-US" sz="288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>
                <a:defRPr/>
              </a:pPr>
              <a:endParaRPr lang="en-US" sz="288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>
                <a:defRPr/>
              </a:pPr>
              <a:endParaRPr lang="en-US" sz="288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43012" name="Picture 2" descr="KL Deemed to be University Logo">
              <a:extLst>
                <a:ext uri="{FF2B5EF4-FFF2-40B4-BE49-F238E27FC236}">
                  <a16:creationId xmlns:a16="http://schemas.microsoft.com/office/drawing/2014/main" id="{B58239FC-95A0-21C8-26CB-CAF9FFDD59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1980" y="3010297"/>
              <a:ext cx="3235570" cy="1083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606</Words>
  <Application>Microsoft Office PowerPoint</Application>
  <PresentationFormat>Custom</PresentationFormat>
  <Paragraphs>91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adonis-web</vt:lpstr>
      <vt:lpstr>Arial</vt:lpstr>
      <vt:lpstr>BioRhyme ExtraBold</vt:lpstr>
      <vt:lpstr>Calibri</vt:lpstr>
      <vt:lpstr>Poppins</vt:lpstr>
      <vt:lpstr>Söhne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Sivaprasad Lebaka</cp:lastModifiedBy>
  <cp:revision>7</cp:revision>
  <dcterms:created xsi:type="dcterms:W3CDTF">2024-01-03T13:01:03Z</dcterms:created>
  <dcterms:modified xsi:type="dcterms:W3CDTF">2025-03-23T15:10:16Z</dcterms:modified>
</cp:coreProperties>
</file>