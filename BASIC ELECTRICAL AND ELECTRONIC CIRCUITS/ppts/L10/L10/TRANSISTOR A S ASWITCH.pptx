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handoutMasterIdLst>
    <p:handoutMasterId r:id="rId14"/>
  </p:handoutMasterIdLst>
  <p:sldIdLst>
    <p:sldId id="326" r:id="rId2"/>
    <p:sldId id="300" r:id="rId3"/>
    <p:sldId id="258" r:id="rId4"/>
    <p:sldId id="290" r:id="rId5"/>
    <p:sldId id="330" r:id="rId6"/>
    <p:sldId id="318" r:id="rId7"/>
    <p:sldId id="329" r:id="rId8"/>
    <p:sldId id="317" r:id="rId9"/>
    <p:sldId id="331" r:id="rId10"/>
    <p:sldId id="305" r:id="rId11"/>
    <p:sldId id="32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4" d="100"/>
          <a:sy n="104" d="100"/>
        </p:scale>
        <p:origin x="780"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18-03-2025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18-03-2025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00380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instrumentationtools.com/how-a-transistor-switch-work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243062" y="3131884"/>
            <a:ext cx="7948938" cy="2185173"/>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dirty="0">
                <a:solidFill>
                  <a:srgbClr val="C00000"/>
                </a:solidFill>
                <a:cs typeface="Poppins" pitchFamily="2" charset="77"/>
              </a:rPr>
              <a:t>BASIC ELECTRICAL AND ELECTRONIC CIRCUITS</a:t>
            </a:r>
          </a:p>
          <a:p>
            <a:pPr marR="0" lvl="0" indent="0" algn="ctr">
              <a:spcBef>
                <a:spcPts val="0"/>
              </a:spcBef>
              <a:spcAft>
                <a:spcPts val="0"/>
              </a:spcAft>
              <a:buNone/>
            </a:pPr>
            <a:r>
              <a:rPr lang="en-US" sz="2800" b="1" dirty="0">
                <a:solidFill>
                  <a:srgbClr val="C00000"/>
                </a:solidFill>
                <a:cs typeface="Poppins" pitchFamily="2" charset="77"/>
              </a:rPr>
              <a:t>COURSE CODE : 23EC1203</a:t>
            </a:r>
            <a:r>
              <a:rPr lang="en-US" sz="3200" b="1" dirty="0">
                <a:solidFill>
                  <a:srgbClr val="C00000"/>
                </a:solidFill>
                <a:cs typeface="Poppins" pitchFamily="2" charset="77"/>
                <a:sym typeface="BioRhyme ExtraBold"/>
              </a:rPr>
              <a:t> </a:t>
            </a: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2800" b="1" dirty="0">
                <a:solidFill>
                  <a:srgbClr val="0070C0"/>
                </a:solidFill>
              </a:rPr>
              <a:t>Transistor as a switch</a:t>
            </a: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BES-II</a:t>
            </a:r>
          </a:p>
        </p:txBody>
      </p:sp>
      <p:sp>
        <p:nvSpPr>
          <p:cNvPr id="8" name="Google Shape;502;p17">
            <a:extLst>
              <a:ext uri="{FF2B5EF4-FFF2-40B4-BE49-F238E27FC236}">
                <a16:creationId xmlns:a16="http://schemas.microsoft.com/office/drawing/2014/main" id="{7153E61F-4441-DBE3-3DFF-6E9EF6C48D23}"/>
              </a:ext>
            </a:extLst>
          </p:cNvPr>
          <p:cNvSpPr/>
          <p:nvPr/>
        </p:nvSpPr>
        <p:spPr>
          <a:xfrm>
            <a:off x="6967450" y="5385088"/>
            <a:ext cx="2741859"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No. 08b</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885748" y="810127"/>
            <a:ext cx="10731286" cy="423449"/>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TRANSISTOR AS A SWITCH</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885748" y="2330182"/>
            <a:ext cx="10731286"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 Session is designed to:</a:t>
            </a:r>
          </a:p>
          <a:p>
            <a:pPr marL="342900" indent="-342900">
              <a:buAutoNum type="arabicPeriod"/>
            </a:pPr>
            <a:r>
              <a:rPr lang="en-US" sz="1600" dirty="0">
                <a:latin typeface="Poppins"/>
                <a:cs typeface="Poppins"/>
              </a:rPr>
              <a:t>Demonstrate the process of TRANSISTOR WORKING</a:t>
            </a:r>
          </a:p>
          <a:p>
            <a:pPr marL="342900" indent="-342900">
              <a:buAutoNum type="arabicPeriod"/>
            </a:pPr>
            <a:r>
              <a:rPr lang="en-US" sz="1600" dirty="0">
                <a:latin typeface="Poppins"/>
                <a:cs typeface="Poppins"/>
              </a:rPr>
              <a:t>Describe working of TRANSISTOR AS A SWITCH</a:t>
            </a:r>
          </a:p>
          <a:p>
            <a:pPr marL="342900" indent="-342900">
              <a:buAutoNum type="arabicPeriod"/>
            </a:pPr>
            <a:r>
              <a:rPr lang="en-US" sz="1600" dirty="0">
                <a:latin typeface="Poppins"/>
                <a:cs typeface="Poppins"/>
              </a:rPr>
              <a:t>Describe the applications of TRANSISTORS </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652" y="2514600"/>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471371" y="4024196"/>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652" y="4539248"/>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885748" y="4539248"/>
            <a:ext cx="10731286"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At the end of this session, you should be able to:</a:t>
            </a:r>
          </a:p>
          <a:p>
            <a:pPr marL="342900" indent="-342900">
              <a:buAutoNum type="arabicPeriod"/>
            </a:pPr>
            <a:r>
              <a:rPr lang="en-US" sz="1600" dirty="0">
                <a:latin typeface="Poppins"/>
                <a:cs typeface="Poppins"/>
              </a:rPr>
              <a:t>Describe the working </a:t>
            </a:r>
            <a:r>
              <a:rPr lang="en-US" sz="1600" dirty="0" err="1">
                <a:latin typeface="Poppins"/>
                <a:cs typeface="Poppins"/>
              </a:rPr>
              <a:t>ofSWITCH</a:t>
            </a:r>
            <a:endParaRPr lang="en-US" sz="1600" dirty="0">
              <a:latin typeface="Poppins"/>
              <a:cs typeface="Poppins"/>
            </a:endParaRPr>
          </a:p>
          <a:p>
            <a:pPr marL="342900" indent="-342900">
              <a:buAutoNum type="arabicPeriod"/>
            </a:pPr>
            <a:r>
              <a:rPr lang="en-US" sz="1600" dirty="0">
                <a:latin typeface="Poppins"/>
                <a:cs typeface="Poppins"/>
              </a:rPr>
              <a:t>Summarize the working, applications </a:t>
            </a:r>
            <a:r>
              <a:rPr lang="en-US" sz="1600" dirty="0" err="1">
                <a:latin typeface="Poppins"/>
                <a:cs typeface="Poppins"/>
              </a:rPr>
              <a:t>ofTRANSISTOR</a:t>
            </a:r>
            <a:endParaRPr lang="en-US" sz="1600" dirty="0">
              <a:latin typeface="Poppins"/>
              <a:cs typeface="Poppins"/>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881149" y="117635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sp>
        <p:nvSpPr>
          <p:cNvPr id="53" name="TextBox 52"/>
          <p:cNvSpPr txBox="1"/>
          <p:nvPr/>
        </p:nvSpPr>
        <p:spPr>
          <a:xfrm>
            <a:off x="1034473" y="1773381"/>
            <a:ext cx="10135275" cy="5078313"/>
          </a:xfrm>
          <a:prstGeom prst="rect">
            <a:avLst/>
          </a:prstGeom>
          <a:noFill/>
        </p:spPr>
        <p:txBody>
          <a:bodyPr wrap="square" rtlCol="0">
            <a:spAutoFit/>
          </a:bodyPr>
          <a:lstStyle/>
          <a:p>
            <a:endParaRPr lang="en-US" b="0" i="0" dirty="0">
              <a:solidFill>
                <a:srgbClr val="040C28"/>
              </a:solidFill>
              <a:effectLst/>
              <a:latin typeface="Google Sans"/>
            </a:endParaRPr>
          </a:p>
          <a:p>
            <a:r>
              <a:rPr lang="en-US" b="0" i="0" dirty="0">
                <a:solidFill>
                  <a:srgbClr val="040C28"/>
                </a:solidFill>
                <a:effectLst/>
                <a:latin typeface="Google Sans"/>
              </a:rPr>
              <a:t>The transistor can be used as a switch if biased in the saturation and cut-off regions</a:t>
            </a:r>
            <a:r>
              <a:rPr lang="en-US" b="0" i="0" dirty="0">
                <a:solidFill>
                  <a:srgbClr val="1F1F1F"/>
                </a:solidFill>
                <a:effectLst/>
                <a:latin typeface="Google Sans"/>
              </a:rPr>
              <a:t>. This allows current to flow (or not) in other parts of a circuit. Because a transistor's collector current is proportionally limited by its base current </a:t>
            </a:r>
          </a:p>
          <a:p>
            <a:r>
              <a:rPr lang="en-US" b="0" i="0" dirty="0">
                <a:solidFill>
                  <a:srgbClr val="1F1F1F"/>
                </a:solidFill>
                <a:effectLst/>
                <a:latin typeface="Google Sans"/>
              </a:rPr>
              <a:t>it can be used as a sort of current-controlled switch</a:t>
            </a:r>
          </a:p>
          <a:p>
            <a:endParaRPr lang="en-US" dirty="0">
              <a:solidFill>
                <a:srgbClr val="1F1F1F"/>
              </a:solidFill>
              <a:latin typeface="Google Sans"/>
            </a:endParaRPr>
          </a:p>
          <a:p>
            <a:r>
              <a:rPr lang="en-US" b="0" i="0" dirty="0">
                <a:solidFill>
                  <a:srgbClr val="233343"/>
                </a:solidFill>
                <a:effectLst/>
                <a:latin typeface="-apple-system"/>
              </a:rPr>
              <a:t>A relatively small flow of electrons sent through the base of the transistor has the ability to exert control over a much larger flow of electrons through the collector.</a:t>
            </a:r>
            <a:endParaRPr lang="en-US" dirty="0">
              <a:solidFill>
                <a:srgbClr val="1F1F1F"/>
              </a:solidFill>
              <a:latin typeface="Google Sans"/>
            </a:endParaRPr>
          </a:p>
          <a:p>
            <a:endParaRPr lang="en-US" dirty="0">
              <a:solidFill>
                <a:srgbClr val="1F1F1F"/>
              </a:solidFill>
              <a:latin typeface="Google Sans"/>
            </a:endParaRPr>
          </a:p>
          <a:p>
            <a:r>
              <a:rPr lang="en-US" b="0" i="0" dirty="0">
                <a:solidFill>
                  <a:srgbClr val="233343"/>
                </a:solidFill>
                <a:effectLst/>
                <a:latin typeface="-apple-system"/>
              </a:rPr>
              <a:t>A relatively small flow of electrons sent through the base of the transistor has the ability to exert control over a much larger flow of electrons through the collector.</a:t>
            </a:r>
            <a:endParaRPr lang="en-US" dirty="0">
              <a:solidFill>
                <a:srgbClr val="1F1F1F"/>
              </a:solidFill>
              <a:latin typeface="Google Sans"/>
            </a:endParaRPr>
          </a:p>
          <a:p>
            <a:endParaRPr lang="en-US" dirty="0">
              <a:solidFill>
                <a:srgbClr val="1F1F1F"/>
              </a:solidFill>
              <a:latin typeface="Google Sans"/>
            </a:endParaRPr>
          </a:p>
          <a:p>
            <a:endParaRPr lang="en-US" dirty="0">
              <a:solidFill>
                <a:srgbClr val="1F1F1F"/>
              </a:solidFill>
              <a:latin typeface="Google Sans"/>
            </a:endParaRPr>
          </a:p>
          <a:p>
            <a:endParaRPr lang="en-US" dirty="0">
              <a:solidFill>
                <a:srgbClr val="1F1F1F"/>
              </a:solidFill>
              <a:latin typeface="Google Sans"/>
            </a:endParaRPr>
          </a:p>
          <a:p>
            <a:endParaRPr lang="en-US" dirty="0">
              <a:solidFill>
                <a:srgbClr val="1F1F1F"/>
              </a:solidFill>
              <a:latin typeface="Google Sans"/>
            </a:endParaRPr>
          </a:p>
          <a:p>
            <a:endParaRPr lang="en-US" dirty="0">
              <a:solidFill>
                <a:srgbClr val="1F1F1F"/>
              </a:solidFill>
              <a:latin typeface="Google Sans"/>
            </a:endParaRPr>
          </a:p>
          <a:p>
            <a:endParaRPr lang="en-US" dirty="0">
              <a:solidFill>
                <a:srgbClr val="1F1F1F"/>
              </a:solidFill>
              <a:latin typeface="Google Sans"/>
            </a:endParaRPr>
          </a:p>
          <a:p>
            <a:endParaRPr lang="en-US" dirty="0"/>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95352" y="794826"/>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TRANSISTOR</a:t>
            </a:r>
          </a:p>
        </p:txBody>
      </p:sp>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0243" name="Rectangle 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48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0" name="Picture 2" descr="Transistor As a Switch - Concept ...">
            <a:extLst>
              <a:ext uri="{FF2B5EF4-FFF2-40B4-BE49-F238E27FC236}">
                <a16:creationId xmlns:a16="http://schemas.microsoft.com/office/drawing/2014/main" id="{9B798CFA-ACE0-0A6D-3FE2-950EE54E22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9346" y="1782618"/>
            <a:ext cx="9649442" cy="4082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F67AE-ADF6-E8C6-4359-180C08E220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DF4A87-DAE9-AD11-45E3-116B141D83E9}"/>
              </a:ext>
            </a:extLst>
          </p:cNvPr>
          <p:cNvSpPr>
            <a:spLocks noGrp="1"/>
          </p:cNvSpPr>
          <p:nvPr>
            <p:ph idx="1"/>
          </p:nvPr>
        </p:nvSpPr>
        <p:spPr/>
        <p:txBody>
          <a:bodyPr>
            <a:normAutofit fontScale="92500" lnSpcReduction="10000"/>
          </a:bodyPr>
          <a:lstStyle/>
          <a:p>
            <a:pPr algn="l"/>
            <a:r>
              <a:rPr lang="en-US" b="0" i="0" dirty="0">
                <a:solidFill>
                  <a:srgbClr val="233343"/>
                </a:solidFill>
                <a:effectLst/>
                <a:latin typeface="-apple-system"/>
              </a:rPr>
              <a:t> let’s insert a transistor in place of the switch to show how it can control the flow of current through the lamp. </a:t>
            </a:r>
          </a:p>
          <a:p>
            <a:pPr algn="l"/>
            <a:r>
              <a:rPr lang="en-US" b="0" i="0" dirty="0">
                <a:solidFill>
                  <a:srgbClr val="233343"/>
                </a:solidFill>
                <a:effectLst/>
                <a:latin typeface="-apple-system"/>
              </a:rPr>
              <a:t>Remember that the controlled current through a transistor must go between the collector and the emitter.</a:t>
            </a:r>
          </a:p>
          <a:p>
            <a:pPr algn="l"/>
            <a:r>
              <a:rPr lang="en-US" b="0" i="0" dirty="0">
                <a:solidFill>
                  <a:srgbClr val="233343"/>
                </a:solidFill>
                <a:effectLst/>
                <a:latin typeface="-apple-system"/>
              </a:rPr>
              <a:t>Since it is the current through the lamp that we want to control, we must position the collector and emitter of our transistor where the two contacts of the switch were. </a:t>
            </a:r>
          </a:p>
          <a:p>
            <a:pPr algn="l"/>
            <a:r>
              <a:rPr lang="en-US" b="0" i="0" dirty="0">
                <a:solidFill>
                  <a:srgbClr val="233343"/>
                </a:solidFill>
                <a:effectLst/>
                <a:latin typeface="-apple-system"/>
              </a:rPr>
              <a:t>IT must also make sure that the lamp’s current will flow in the direction of the emitter arrow symbol to ensure that the transistor’s junction bias will be correct as in the figure below (b) using an NPN transistor</a:t>
            </a:r>
            <a:endParaRPr lang="en-IN" dirty="0"/>
          </a:p>
        </p:txBody>
      </p:sp>
      <p:sp>
        <p:nvSpPr>
          <p:cNvPr id="4" name="Slide Number Placeholder 3">
            <a:extLst>
              <a:ext uri="{FF2B5EF4-FFF2-40B4-BE49-F238E27FC236}">
                <a16:creationId xmlns:a16="http://schemas.microsoft.com/office/drawing/2014/main" id="{0B641B6B-B113-51DA-83E4-22E36BC626A1}"/>
              </a:ext>
            </a:extLst>
          </p:cNvPr>
          <p:cNvSpPr>
            <a:spLocks noGrp="1"/>
          </p:cNvSpPr>
          <p:nvPr>
            <p:ph type="sldNum" sz="quarter" idx="12"/>
          </p:nvPr>
        </p:nvSpPr>
        <p:spPr/>
        <p:txBody>
          <a:bodyPr/>
          <a:lstStyle/>
          <a:p>
            <a:fld id="{CBABCCC1-BF11-4F37-963E-1BCD5B23FD72}" type="slidenum">
              <a:rPr lang="en-IN" smtClean="0"/>
              <a:pPr/>
              <a:t>5</a:t>
            </a:fld>
            <a:endParaRPr lang="en-IN"/>
          </a:p>
        </p:txBody>
      </p:sp>
    </p:spTree>
    <p:extLst>
      <p:ext uri="{BB962C8B-B14F-4D97-AF65-F5344CB8AC3E}">
        <p14:creationId xmlns:p14="http://schemas.microsoft.com/office/powerpoint/2010/main" val="2517317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51246" y="784713"/>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TRANSISTOR ACTION </a:t>
            </a:r>
          </a:p>
        </p:txBody>
      </p:sp>
      <p:sp>
        <p:nvSpPr>
          <p:cNvPr id="13" name="TextBox 12"/>
          <p:cNvSpPr txBox="1"/>
          <p:nvPr/>
        </p:nvSpPr>
        <p:spPr>
          <a:xfrm>
            <a:off x="1535380" y="1246379"/>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0243" name="Rectangle 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48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 name="Content Placeholder 11"/>
          <p:cNvSpPr>
            <a:spLocks noGrp="1"/>
          </p:cNvSpPr>
          <p:nvPr>
            <p:ph idx="1"/>
          </p:nvPr>
        </p:nvSpPr>
        <p:spPr>
          <a:xfrm>
            <a:off x="1395663" y="2015732"/>
            <a:ext cx="9659191" cy="4024121"/>
          </a:xfrm>
        </p:spPr>
        <p:txBody>
          <a:bodyPr>
            <a:noAutofit/>
          </a:bodyPr>
          <a:lstStyle/>
          <a:p>
            <a:endParaRPr lang="en-US" dirty="0">
              <a:solidFill>
                <a:srgbClr val="002060"/>
              </a:solidFill>
            </a:endParaRPr>
          </a:p>
        </p:txBody>
      </p:sp>
      <p:sp>
        <p:nvSpPr>
          <p:cNvPr id="5837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2"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6" name="Rectangle 8"/>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8" name="Rectangle 10"/>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7F165A3B-C549-334D-6607-46018CDC193A}"/>
              </a:ext>
            </a:extLst>
          </p:cNvPr>
          <p:cNvSpPr txBox="1"/>
          <p:nvPr/>
        </p:nvSpPr>
        <p:spPr>
          <a:xfrm>
            <a:off x="1671782" y="2225964"/>
            <a:ext cx="8349673" cy="2031325"/>
          </a:xfrm>
          <a:prstGeom prst="rect">
            <a:avLst/>
          </a:prstGeom>
          <a:noFill/>
        </p:spPr>
        <p:txBody>
          <a:bodyPr wrap="square">
            <a:spAutoFit/>
          </a:bodyPr>
          <a:lstStyle/>
          <a:p>
            <a:pPr algn="l"/>
            <a:r>
              <a:rPr lang="en-US" b="0" i="0" dirty="0">
                <a:solidFill>
                  <a:srgbClr val="233343"/>
                </a:solidFill>
                <a:effectLst/>
                <a:latin typeface="-apple-system"/>
              </a:rPr>
              <a:t>Suppose we have a lamp that we want to turn on and off with a switch. Such a circuit would be extremely simple, as in the figure below (a).</a:t>
            </a:r>
          </a:p>
          <a:p>
            <a:pPr algn="l"/>
            <a:endParaRPr lang="en-US" dirty="0">
              <a:solidFill>
                <a:srgbClr val="233343"/>
              </a:solidFill>
              <a:latin typeface="-apple-system"/>
            </a:endParaRPr>
          </a:p>
          <a:p>
            <a:pPr algn="l"/>
            <a:endParaRPr lang="en-US" b="0" i="0" dirty="0">
              <a:solidFill>
                <a:srgbClr val="233343"/>
              </a:solidFill>
              <a:effectLst/>
              <a:latin typeface="-apple-system"/>
            </a:endParaRPr>
          </a:p>
          <a:p>
            <a:pPr algn="l"/>
            <a:endParaRPr lang="en-US" dirty="0">
              <a:solidFill>
                <a:srgbClr val="233343"/>
              </a:solidFill>
              <a:latin typeface="-apple-system"/>
            </a:endParaRPr>
          </a:p>
          <a:p>
            <a:pPr algn="l"/>
            <a:endParaRPr lang="en-US" b="0" i="0" dirty="0">
              <a:solidFill>
                <a:srgbClr val="233343"/>
              </a:solidFill>
              <a:effectLst/>
              <a:latin typeface="-apple-system"/>
            </a:endParaRPr>
          </a:p>
          <a:p>
            <a:pPr algn="l"/>
            <a:r>
              <a:rPr lang="en-US" b="0" i="0" dirty="0">
                <a:solidFill>
                  <a:srgbClr val="233343"/>
                </a:solidFill>
                <a:effectLst/>
                <a:latin typeface="-apple-system"/>
              </a:rPr>
              <a:t>.</a:t>
            </a:r>
          </a:p>
        </p:txBody>
      </p:sp>
      <p:pic>
        <p:nvPicPr>
          <p:cNvPr id="5122" name="Picture 2">
            <a:extLst>
              <a:ext uri="{FF2B5EF4-FFF2-40B4-BE49-F238E27FC236}">
                <a16:creationId xmlns:a16="http://schemas.microsoft.com/office/drawing/2014/main" id="{5646A597-F00B-CA7D-250D-3A029470C4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856" y="2962570"/>
            <a:ext cx="8864764" cy="2579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A51C6-6308-84D8-B7DE-0890FC0908B3}"/>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id="{8204A437-AA5C-53BB-3C40-6F1D4E14AEE1}"/>
              </a:ext>
            </a:extLst>
          </p:cNvPr>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TRANSISTOR AS SWITCH</a:t>
            </a:r>
          </a:p>
        </p:txBody>
      </p:sp>
      <p:sp>
        <p:nvSpPr>
          <p:cNvPr id="26" name="TextBox 25">
            <a:extLst>
              <a:ext uri="{FF2B5EF4-FFF2-40B4-BE49-F238E27FC236}">
                <a16:creationId xmlns:a16="http://schemas.microsoft.com/office/drawing/2014/main" id="{C9E034E5-BBC3-C0CB-D304-E8E585A2F0CC}"/>
              </a:ext>
            </a:extLst>
          </p:cNvPr>
          <p:cNvSpPr txBox="1"/>
          <p:nvPr/>
        </p:nvSpPr>
        <p:spPr>
          <a:xfrm>
            <a:off x="-1729854" y="2207491"/>
            <a:ext cx="26989614"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1026" name="Picture 2" descr="Transistor as a Switch - Configuration ...">
            <a:extLst>
              <a:ext uri="{FF2B5EF4-FFF2-40B4-BE49-F238E27FC236}">
                <a16:creationId xmlns:a16="http://schemas.microsoft.com/office/drawing/2014/main" id="{678D0AB1-B5C3-ACA9-B18D-F82CB14715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1" t="7841" r="-221" b="7656"/>
          <a:stretch/>
        </p:blipFill>
        <p:spPr bwMode="auto">
          <a:xfrm>
            <a:off x="1480009" y="2470355"/>
            <a:ext cx="8502978" cy="3638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8835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89699" y="808012"/>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HOW TRANSISTOR AS A SWITCH</a:t>
            </a:r>
          </a:p>
        </p:txBody>
      </p:sp>
      <p:sp>
        <p:nvSpPr>
          <p:cNvPr id="10243" name="Rectangle 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48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 name="Content Placeholder 11"/>
          <p:cNvSpPr>
            <a:spLocks noGrp="1"/>
          </p:cNvSpPr>
          <p:nvPr>
            <p:ph idx="1"/>
          </p:nvPr>
        </p:nvSpPr>
        <p:spPr/>
        <p:txBody>
          <a:bodyPr>
            <a:noAutofit/>
          </a:bodyPr>
          <a:lstStyle/>
          <a:p>
            <a:pPr lvl="0"/>
            <a:r>
              <a:rPr lang="en-US" dirty="0"/>
              <a:t>.</a:t>
            </a:r>
          </a:p>
        </p:txBody>
      </p:sp>
      <p:sp>
        <p:nvSpPr>
          <p:cNvPr id="7" name="Content Placeholder 6"/>
          <p:cNvSpPr txBox="1">
            <a:spLocks/>
          </p:cNvSpPr>
          <p:nvPr/>
        </p:nvSpPr>
        <p:spPr>
          <a:xfrm>
            <a:off x="1383632" y="1792705"/>
            <a:ext cx="9829799" cy="4295273"/>
          </a:xfrm>
          <a:prstGeom prst="rect">
            <a:avLst/>
          </a:prstGeom>
        </p:spPr>
        <p:txBody>
          <a:bodyPr vert="horz" lIns="91440" tIns="45720" rIns="91440" bIns="45720" rtlCol="0" anchor="t">
            <a:normAutofit/>
          </a:bodyPr>
          <a:lstStyle/>
          <a:p>
            <a:pPr marL="228600" marR="0" lvl="0" indent="-228600" algn="l" defTabSz="914400" rtl="0" eaLnBrk="1" fontAlgn="auto" latinLnBrk="0" hangingPunct="1">
              <a:lnSpc>
                <a:spcPct val="120000"/>
              </a:lnSpc>
              <a:spcBef>
                <a:spcPts val="1000"/>
              </a:spcBef>
              <a:spcAft>
                <a:spcPts val="0"/>
              </a:spcAft>
              <a:buClr>
                <a:schemeClr val="accent1"/>
              </a:buClr>
              <a:buSzPct val="100000"/>
              <a:buFont typeface="Arial" panose="020B0604020202020204" pitchFamily="34" charset="0"/>
              <a:buNone/>
              <a:tabLst/>
              <a:defRPr/>
            </a:pPr>
            <a:endParaRPr kumimoji="0" lang="en-GB"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20000"/>
              </a:lnSpc>
              <a:spcBef>
                <a:spcPts val="1000"/>
              </a:spcBef>
              <a:spcAft>
                <a:spcPts val="0"/>
              </a:spcAft>
              <a:buClr>
                <a:schemeClr val="accent1"/>
              </a:buClr>
              <a:buSzPct val="100000"/>
              <a:buFont typeface="Arial" panose="020B0604020202020204" pitchFamily="34" charset="0"/>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3074" name="Picture 2" descr="How a Transistor Switch Works - Inst Tools">
            <a:extLst>
              <a:ext uri="{FF2B5EF4-FFF2-40B4-BE49-F238E27FC236}">
                <a16:creationId xmlns:a16="http://schemas.microsoft.com/office/drawing/2014/main" id="{5229AE94-A424-C4A0-564C-A724175B4E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5565" y="2844800"/>
            <a:ext cx="4655126" cy="24013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081323B-9F9C-0454-CFE9-718582E7C6C6}"/>
              </a:ext>
            </a:extLst>
          </p:cNvPr>
          <p:cNvSpPr txBox="1"/>
          <p:nvPr/>
        </p:nvSpPr>
        <p:spPr>
          <a:xfrm>
            <a:off x="2989700" y="2142837"/>
            <a:ext cx="5969574" cy="646331"/>
          </a:xfrm>
          <a:prstGeom prst="rect">
            <a:avLst/>
          </a:prstGeom>
          <a:noFill/>
        </p:spPr>
        <p:txBody>
          <a:bodyPr wrap="square">
            <a:spAutoFit/>
          </a:bodyPr>
          <a:lstStyle/>
          <a:p>
            <a:r>
              <a:rPr lang="en-IN" dirty="0"/>
              <a:t>https://instrumentationtools.com/how-a-transistor-switch-works/</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AD939-C5D2-6C2F-9D24-E2C420BCA2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6CCDFB-0D42-F6F6-BE7A-ACAED1311F72}"/>
              </a:ext>
            </a:extLst>
          </p:cNvPr>
          <p:cNvSpPr>
            <a:spLocks noGrp="1"/>
          </p:cNvSpPr>
          <p:nvPr>
            <p:ph idx="1"/>
          </p:nvPr>
        </p:nvSpPr>
        <p:spPr/>
        <p:txBody>
          <a:bodyPr/>
          <a:lstStyle/>
          <a:p>
            <a:r>
              <a:rPr lang="en-IN" dirty="0">
                <a:hlinkClick r:id="rId2"/>
              </a:rPr>
              <a:t>https://instrumentationtools.com/how-a-transistor-switch-works/</a:t>
            </a:r>
            <a:endParaRPr lang="en-IN" dirty="0"/>
          </a:p>
          <a:p>
            <a:r>
              <a:rPr lang="en-IN" dirty="0"/>
              <a:t>https://www.youtube.com/watch?v=h9zL235htnQ</a:t>
            </a:r>
          </a:p>
        </p:txBody>
      </p:sp>
      <p:sp>
        <p:nvSpPr>
          <p:cNvPr id="4" name="Slide Number Placeholder 3">
            <a:extLst>
              <a:ext uri="{FF2B5EF4-FFF2-40B4-BE49-F238E27FC236}">
                <a16:creationId xmlns:a16="http://schemas.microsoft.com/office/drawing/2014/main" id="{7F88415B-F786-4019-A310-44BBDB970683}"/>
              </a:ext>
            </a:extLst>
          </p:cNvPr>
          <p:cNvSpPr>
            <a:spLocks noGrp="1"/>
          </p:cNvSpPr>
          <p:nvPr>
            <p:ph type="sldNum" sz="quarter" idx="12"/>
          </p:nvPr>
        </p:nvSpPr>
        <p:spPr/>
        <p:txBody>
          <a:bodyPr/>
          <a:lstStyle/>
          <a:p>
            <a:fld id="{CBABCCC1-BF11-4F37-963E-1BCD5B23FD72}" type="slidenum">
              <a:rPr lang="en-IN" smtClean="0"/>
              <a:pPr/>
              <a:t>9</a:t>
            </a:fld>
            <a:endParaRPr lang="en-IN"/>
          </a:p>
        </p:txBody>
      </p:sp>
    </p:spTree>
    <p:extLst>
      <p:ext uri="{BB962C8B-B14F-4D97-AF65-F5344CB8AC3E}">
        <p14:creationId xmlns:p14="http://schemas.microsoft.com/office/powerpoint/2010/main" val="2458104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SWITCH</a:t>
            </a:r>
          </a:p>
        </p:txBody>
      </p:sp>
      <p:sp>
        <p:nvSpPr>
          <p:cNvPr id="5" name="Content Placeholder 4"/>
          <p:cNvSpPr>
            <a:spLocks noGrp="1"/>
          </p:cNvSpPr>
          <p:nvPr>
            <p:ph idx="1"/>
          </p:nvPr>
        </p:nvSpPr>
        <p:spPr>
          <a:xfrm>
            <a:off x="1323474" y="2015731"/>
            <a:ext cx="9731381" cy="4024121"/>
          </a:xfrm>
        </p:spPr>
        <p:txBody>
          <a:bodyPr>
            <a:normAutofit/>
          </a:bodyPr>
          <a:lstStyle/>
          <a:p>
            <a:pPr algn="l"/>
            <a:r>
              <a:rPr lang="en-US" b="1" i="0" dirty="0">
                <a:solidFill>
                  <a:srgbClr val="233343"/>
                </a:solidFill>
                <a:effectLst/>
                <a:latin typeface="-apple-system"/>
              </a:rPr>
              <a:t>The BJT as Switch</a:t>
            </a:r>
            <a:endParaRPr lang="en-US" b="0" i="0" dirty="0">
              <a:solidFill>
                <a:srgbClr val="233343"/>
              </a:solidFill>
              <a:effectLst/>
              <a:latin typeface="-apple-system"/>
            </a:endParaRPr>
          </a:p>
          <a:p>
            <a:pPr algn="l">
              <a:buFont typeface="Arial" panose="020B0604020202020204" pitchFamily="34" charset="0"/>
              <a:buChar char="•"/>
            </a:pPr>
            <a:r>
              <a:rPr lang="en-US" b="0" i="0" dirty="0">
                <a:solidFill>
                  <a:srgbClr val="233343"/>
                </a:solidFill>
                <a:effectLst/>
                <a:latin typeface="-apple-system"/>
              </a:rPr>
              <a:t>Transistors may be used as switching elements to control DC power to a load. The switched (controlled) current goes between the collector and emitter. The controlling current goes between the base and emitter.</a:t>
            </a:r>
          </a:p>
          <a:p>
            <a:pPr algn="l">
              <a:buFont typeface="Arial" panose="020B0604020202020204" pitchFamily="34" charset="0"/>
              <a:buChar char="•"/>
            </a:pPr>
            <a:r>
              <a:rPr lang="en-US" b="0" i="0" dirty="0">
                <a:solidFill>
                  <a:srgbClr val="233343"/>
                </a:solidFill>
                <a:effectLst/>
                <a:latin typeface="-apple-system"/>
              </a:rPr>
              <a:t>When a transistor has zero current through it, it is said to be in a state of </a:t>
            </a:r>
            <a:r>
              <a:rPr lang="en-US" b="0" i="1" dirty="0">
                <a:solidFill>
                  <a:srgbClr val="233343"/>
                </a:solidFill>
                <a:effectLst/>
                <a:latin typeface="-apple-system"/>
              </a:rPr>
              <a:t>cutoff</a:t>
            </a:r>
            <a:r>
              <a:rPr lang="en-US" b="0" i="0" dirty="0">
                <a:solidFill>
                  <a:srgbClr val="233343"/>
                </a:solidFill>
                <a:effectLst/>
                <a:latin typeface="-apple-system"/>
              </a:rPr>
              <a:t> (fully nonconducting).</a:t>
            </a:r>
          </a:p>
          <a:p>
            <a:pPr algn="l">
              <a:buFont typeface="Arial" panose="020B0604020202020204" pitchFamily="34" charset="0"/>
              <a:buChar char="•"/>
            </a:pPr>
            <a:r>
              <a:rPr lang="en-US" b="0" i="0" dirty="0">
                <a:solidFill>
                  <a:srgbClr val="233343"/>
                </a:solidFill>
                <a:effectLst/>
                <a:latin typeface="-apple-system"/>
              </a:rPr>
              <a:t>When a transistor has maximum current through it, it is said to be in a state of </a:t>
            </a:r>
            <a:r>
              <a:rPr lang="en-US" b="0" i="1" dirty="0">
                <a:solidFill>
                  <a:srgbClr val="233343"/>
                </a:solidFill>
                <a:effectLst/>
                <a:latin typeface="-apple-system"/>
              </a:rPr>
              <a:t>saturation</a:t>
            </a:r>
            <a:r>
              <a:rPr lang="en-US" b="0" i="0" dirty="0">
                <a:solidFill>
                  <a:srgbClr val="233343"/>
                </a:solidFill>
                <a:effectLst/>
                <a:latin typeface="-apple-system"/>
              </a:rPr>
              <a:t> (fully conducting)</a:t>
            </a:r>
          </a:p>
          <a:p>
            <a:pPr>
              <a:buNone/>
            </a:pPr>
            <a:endParaRPr lang="en-US" dirty="0"/>
          </a:p>
        </p:txBody>
      </p:sp>
      <p:sp>
        <p:nvSpPr>
          <p:cNvPr id="1945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2282696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6F267B9-90E6-4D91-2F94-99937051E1E4}"/>
              </a:ext>
            </a:extLst>
          </p:cNvPr>
          <p:cNvGrpSpPr/>
          <p:nvPr/>
        </p:nvGrpSpPr>
        <p:grpSpPr>
          <a:xfrm>
            <a:off x="1510748" y="2332796"/>
            <a:ext cx="9568069" cy="2883877"/>
            <a:chOff x="2247960" y="2332796"/>
            <a:chExt cx="7920111" cy="2883877"/>
          </a:xfrm>
        </p:grpSpPr>
        <p:sp>
          <p:nvSpPr>
            <p:cNvPr id="4" name="Rounded Rectangle 3">
              <a:extLst>
                <a:ext uri="{FF2B5EF4-FFF2-40B4-BE49-F238E27FC236}">
                  <a16:creationId xmlns:a16="http://schemas.microsoft.com/office/drawing/2014/main" id="{E792BE84-3448-2348-B352-CD5BC083E5FD}"/>
                </a:ext>
              </a:extLst>
            </p:cNvPr>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cs typeface="Poppins" pitchFamily="2" charset="77"/>
              </a:endParaRPr>
            </a:p>
            <a:p>
              <a:pPr algn="ctr"/>
              <a:endParaRPr lang="en-US" b="1" dirty="0">
                <a:latin typeface="+mj-lt"/>
                <a:cs typeface="Poppins" pitchFamily="2" charset="77"/>
              </a:endParaRPr>
            </a:p>
            <a:p>
              <a:pPr algn="ctr"/>
              <a:r>
                <a:rPr lang="en-US" b="1" dirty="0">
                  <a:latin typeface="+mj-lt"/>
                  <a:cs typeface="Poppins" pitchFamily="2" charset="77"/>
                </a:rPr>
                <a:t>THANK YOU</a:t>
              </a:r>
            </a:p>
            <a:p>
              <a:pPr algn="ctr"/>
              <a:endParaRPr lang="en-US" dirty="0">
                <a:latin typeface="+mj-lt"/>
                <a:cs typeface="Poppins" pitchFamily="2" charset="77"/>
              </a:endParaRPr>
            </a:p>
            <a:p>
              <a:pPr algn="ctr"/>
              <a:endParaRPr lang="en-US" dirty="0">
                <a:latin typeface="+mj-lt"/>
                <a:cs typeface="Poppins" pitchFamily="2" charset="77"/>
              </a:endParaRPr>
            </a:p>
            <a:p>
              <a:pPr algn="ctr"/>
              <a:endParaRPr lang="en-US" dirty="0">
                <a:latin typeface="+mj-lt"/>
                <a:cs typeface="Poppins" pitchFamily="2" charset="77"/>
              </a:endParaRPr>
            </a:p>
            <a:p>
              <a:pPr algn="ctr"/>
              <a:endParaRPr lang="en-US" dirty="0">
                <a:latin typeface="+mj-lt"/>
                <a:cs typeface="Poppins" pitchFamily="2" charset="77"/>
              </a:endParaRPr>
            </a:p>
            <a:p>
              <a:pPr algn="ctr"/>
              <a:r>
                <a:rPr lang="en-US" b="1" dirty="0">
                  <a:latin typeface="+mj-lt"/>
                  <a:cs typeface="Poppins" pitchFamily="2" charset="77"/>
                </a:rPr>
                <a:t>Team – </a:t>
              </a:r>
              <a:r>
                <a:rPr lang="en-US" b="1" dirty="0">
                  <a:solidFill>
                    <a:schemeClr val="bg1"/>
                  </a:solidFill>
                  <a:latin typeface="+mj-lt"/>
                  <a:cs typeface="Poppins" pitchFamily="2" charset="77"/>
                </a:rPr>
                <a:t>BASIC ELECTRICAL &amp; ELCTRONIC CIRCUITS </a:t>
              </a:r>
            </a:p>
            <a:p>
              <a:pPr algn="ctr"/>
              <a:endParaRPr lang="en-US" dirty="0">
                <a:solidFill>
                  <a:schemeClr val="bg1"/>
                </a:solidFill>
                <a:latin typeface="+mj-lt"/>
                <a:cs typeface="Poppins" pitchFamily="2" charset="77"/>
              </a:endParaRPr>
            </a:p>
            <a:p>
              <a:pPr algn="ctr"/>
              <a:endParaRPr lang="en-US" dirty="0">
                <a:solidFill>
                  <a:schemeClr val="bg1"/>
                </a:solidFill>
                <a:latin typeface="+mj-lt"/>
                <a:cs typeface="Poppins" pitchFamily="2" charset="77"/>
              </a:endParaRPr>
            </a:p>
            <a:p>
              <a:pPr algn="ctr"/>
              <a:endParaRPr lang="en-US" dirty="0">
                <a:solidFill>
                  <a:schemeClr val="bg1"/>
                </a:solidFill>
                <a:latin typeface="+mj-lt"/>
                <a:cs typeface="Poppins" pitchFamily="2" charset="77"/>
              </a:endParaRPr>
            </a:p>
          </p:txBody>
        </p:sp>
        <p:pic>
          <p:nvPicPr>
            <p:cNvPr id="6" name="Picture 2" descr="KL Deemed to be University Logo"/>
            <p:cNvPicPr>
              <a:picLocks noChangeAspect="1" noChangeArrowheads="1"/>
            </p:cNvPicPr>
            <p:nvPr/>
          </p:nvPicPr>
          <p:blipFill rotWithShape="1">
            <a:blip r:embed="rId2"/>
            <a:srcRect r="28367"/>
            <a:stretch/>
          </p:blipFill>
          <p:spPr bwMode="auto">
            <a:xfrm>
              <a:off x="5483011" y="3237939"/>
              <a:ext cx="1745186" cy="817225"/>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1888</TotalTime>
  <Words>498</Words>
  <Application>Microsoft Office PowerPoint</Application>
  <PresentationFormat>Widescreen</PresentationFormat>
  <Paragraphs>112</Paragraphs>
  <Slides>11</Slides>
  <Notes>2</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Tammineni Sreelatha</dc:creator>
  <cp:lastModifiedBy>Dr. N V K Ramesh</cp:lastModifiedBy>
  <cp:revision>235</cp:revision>
  <dcterms:created xsi:type="dcterms:W3CDTF">2023-05-11T04:21:37Z</dcterms:created>
  <dcterms:modified xsi:type="dcterms:W3CDTF">2025-03-18T11:19:32Z</dcterms:modified>
</cp:coreProperties>
</file>