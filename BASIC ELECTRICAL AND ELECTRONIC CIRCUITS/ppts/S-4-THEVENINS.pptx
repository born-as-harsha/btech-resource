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271" r:id="rId2"/>
    <p:sldId id="300" r:id="rId3"/>
    <p:sldId id="258" r:id="rId4"/>
    <p:sldId id="307" r:id="rId5"/>
    <p:sldId id="308" r:id="rId6"/>
    <p:sldId id="309" r:id="rId7"/>
    <p:sldId id="310" r:id="rId8"/>
    <p:sldId id="311" r:id="rId9"/>
    <p:sldId id="323" r:id="rId10"/>
    <p:sldId id="313" r:id="rId11"/>
    <p:sldId id="287" r:id="rId12"/>
    <p:sldId id="324" r:id="rId13"/>
    <p:sldId id="325" r:id="rId14"/>
    <p:sldId id="326" r:id="rId15"/>
    <p:sldId id="327" r:id="rId16"/>
    <p:sldId id="328" r:id="rId17"/>
    <p:sldId id="322" r:id="rId18"/>
    <p:sldId id="301" r:id="rId19"/>
    <p:sldId id="302" r:id="rId20"/>
    <p:sldId id="303" r:id="rId21"/>
    <p:sldId id="30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C5D82E-DC5E-1907-0867-9E8F3BCCDA75}" v="2" dt="2024-12-27T10:00:39.5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395" autoAdjust="0"/>
  </p:normalViewPr>
  <p:slideViewPr>
    <p:cSldViewPr snapToGrid="0">
      <p:cViewPr varScale="1">
        <p:scale>
          <a:sx n="57" d="100"/>
          <a:sy n="57" d="100"/>
        </p:scale>
        <p:origin x="204" y="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Ganesh Babu R" userId="S::rganeshbabu@kluniversity.in::7aa6549d-3dc2-45ab-94c6-c91077cea333" providerId="AD" clId="Web-{41C5D82E-DC5E-1907-0867-9E8F3BCCDA75}"/>
    <pc:docChg chg="modSld">
      <pc:chgData name="Dr Ganesh Babu R" userId="S::rganeshbabu@kluniversity.in::7aa6549d-3dc2-45ab-94c6-c91077cea333" providerId="AD" clId="Web-{41C5D82E-DC5E-1907-0867-9E8F3BCCDA75}" dt="2024-12-27T10:00:39.592" v="1" actId="1076"/>
      <pc:docMkLst>
        <pc:docMk/>
      </pc:docMkLst>
      <pc:sldChg chg="modSp">
        <pc:chgData name="Dr Ganesh Babu R" userId="S::rganeshbabu@kluniversity.in::7aa6549d-3dc2-45ab-94c6-c91077cea333" providerId="AD" clId="Web-{41C5D82E-DC5E-1907-0867-9E8F3BCCDA75}" dt="2024-12-27T10:00:39.592" v="1" actId="1076"/>
        <pc:sldMkLst>
          <pc:docMk/>
          <pc:sldMk cId="3838906900" sldId="325"/>
        </pc:sldMkLst>
        <pc:picChg chg="mod">
          <ac:chgData name="Dr Ganesh Babu R" userId="S::rganeshbabu@kluniversity.in::7aa6549d-3dc2-45ab-94c6-c91077cea333" providerId="AD" clId="Web-{41C5D82E-DC5E-1907-0867-9E8F3BCCDA75}" dt="2024-12-27T10:00:39.592" v="1" actId="1076"/>
          <ac:picMkLst>
            <pc:docMk/>
            <pc:sldMk cId="3838906900" sldId="325"/>
            <ac:picMk id="9" creationId="{53DDF8F2-CB08-E51D-388F-984F3CEDEB29}"/>
          </ac:picMkLst>
        </pc:picChg>
      </pc:sldChg>
    </pc:docChg>
  </pc:docChgLst>
  <pc:docChgLst>
    <pc:chgData name="NAMGIRI SURESH" userId="S::namgirisuresh@kluniversity.in::5b10d16f-39de-493f-9ad6-2f8956114115" providerId="AD" clId="Web-{803ADA60-B364-3678-7C9E-BE76462A7C4C}"/>
    <pc:docChg chg="modSld">
      <pc:chgData name="NAMGIRI SURESH" userId="S::namgirisuresh@kluniversity.in::5b10d16f-39de-493f-9ad6-2f8956114115" providerId="AD" clId="Web-{803ADA60-B364-3678-7C9E-BE76462A7C4C}" dt="2024-12-22T16:16:50.899" v="2" actId="1076"/>
      <pc:docMkLst>
        <pc:docMk/>
      </pc:docMkLst>
      <pc:sldChg chg="modSp">
        <pc:chgData name="NAMGIRI SURESH" userId="S::namgirisuresh@kluniversity.in::5b10d16f-39de-493f-9ad6-2f8956114115" providerId="AD" clId="Web-{803ADA60-B364-3678-7C9E-BE76462A7C4C}" dt="2024-12-22T16:16:50.899" v="2" actId="1076"/>
        <pc:sldMkLst>
          <pc:docMk/>
          <pc:sldMk cId="0" sldId="271"/>
        </pc:sldMkLst>
        <pc:spChg chg="mod">
          <ac:chgData name="NAMGIRI SURESH" userId="S::namgirisuresh@kluniversity.in::5b10d16f-39de-493f-9ad6-2f8956114115" providerId="AD" clId="Web-{803ADA60-B364-3678-7C9E-BE76462A7C4C}" dt="2024-12-22T16:16:50.899" v="2" actId="1076"/>
          <ac:spMkLst>
            <pc:docMk/>
            <pc:sldMk cId="0" sldId="271"/>
            <ac:spMk id="8" creationId="{7153E61F-4441-DBE3-3DFF-6E9EF6C48D2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27-12-2024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217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15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02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8388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6542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3EA0C-BDC5-A016-B2B8-913286285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2AA8C-8DC5-07EA-ECBF-FE8DF5D62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E35CF-D5E4-B2AD-A9DD-6245D3D81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FCE0C-41C2-3521-3014-15D70AC67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127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0380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ctricaltechnology.org/2020/08/resistance-resistivity-specific-resistance.html" TargetMode="Externa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hyperlink" Target="https://www.electricaltechnology.org/2013/10/ohms-law-with-simple-explanation.html" TargetMode="External"/><Relationship Id="rId4" Type="http://schemas.openxmlformats.org/officeDocument/2006/relationships/hyperlink" Target="https://www.electricaltechnology.org/2020/04/electric-current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ctricaltechnology.org/2015/03/parallel-connection-is-preferred-over-series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electricaltechnology.org/2013/10/ohms-law-with-simple-explanation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amazon.in/Books-M-E-Van-Valkenburg/s?rh=n:976389031,p_27:M.+E.+Van+Valkenburg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" y="167951"/>
            <a:ext cx="6170855" cy="611167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3147819" y="2610703"/>
            <a:ext cx="9872546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C00000"/>
                </a:solidFill>
                <a:cs typeface="Poppins" pitchFamily="2" charset="77"/>
              </a:rPr>
              <a:t>Basic Electrical and Electronic Circuits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C00000"/>
                </a:solidFill>
                <a:cs typeface="Poppins" pitchFamily="2" charset="77"/>
              </a:rPr>
              <a:t>23EC1203</a:t>
            </a:r>
            <a:r>
              <a:rPr lang="en-US" sz="3200" b="1" dirty="0">
                <a:solidFill>
                  <a:srgbClr val="C00000"/>
                </a:solidFill>
                <a:cs typeface="Poppins" pitchFamily="2" charset="77"/>
                <a:sym typeface="BioRhyme ExtraBold"/>
              </a:rPr>
              <a:t> 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THEVENIN’S and Norton's THEOREM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87807" y="1913706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233250" y="1880470"/>
            <a:ext cx="4595447" cy="64629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cs typeface="Poppins" pitchFamily="2" charset="77"/>
              </a:rPr>
              <a:t>Department of BES-II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6287173" y="5259311"/>
            <a:ext cx="3240438" cy="715387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/>
                <a:sym typeface="Calibri"/>
              </a:rPr>
              <a:t>Session – No. 04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1" y="84408"/>
            <a:ext cx="356004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1102406" y="684470"/>
            <a:ext cx="10543279" cy="83099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basic concept of </a:t>
            </a:r>
            <a:r>
              <a:rPr lang="en-US" sz="1600" b="0" i="0" dirty="0" err="1">
                <a:effectLst/>
                <a:latin typeface="Poppins"/>
                <a:cs typeface="Poppins"/>
              </a:rPr>
              <a:t>Thevenin’s</a:t>
            </a:r>
            <a:r>
              <a:rPr lang="en-US" sz="1600" b="0" i="0" dirty="0">
                <a:effectLst/>
                <a:latin typeface="Poppins"/>
                <a:cs typeface="Poppins"/>
              </a:rPr>
              <a:t> Theorem </a:t>
            </a: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4395589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5696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Demonstrate the need for </a:t>
            </a:r>
            <a:r>
              <a:rPr lang="en-US" sz="1600" dirty="0">
                <a:latin typeface="Arial" panose="020B0604020202020204" pitchFamily="34" charset="0"/>
              </a:rPr>
              <a:t>T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hevenin’s and </a:t>
            </a:r>
            <a:r>
              <a:rPr lang="en-US" sz="1600" b="0" i="0" dirty="0" err="1">
                <a:effectLst/>
                <a:latin typeface="Arial" panose="020B0604020202020204" pitchFamily="34" charset="0"/>
              </a:rPr>
              <a:t>northons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 theorem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definition of </a:t>
            </a:r>
            <a:r>
              <a:rPr lang="en-US" sz="1600" dirty="0">
                <a:latin typeface="Arial" panose="020B0604020202020204" pitchFamily="34" charset="0"/>
              </a:rPr>
              <a:t>T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hevenin’s  theorem </a:t>
            </a:r>
          </a:p>
          <a:p>
            <a:pPr marL="342900" indent="-342900">
              <a:buFontTx/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Analyze the 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procedure for finding </a:t>
            </a:r>
            <a:r>
              <a:rPr lang="en-US" sz="1600" dirty="0">
                <a:latin typeface="Arial" panose="020B0604020202020204" pitchFamily="34" charset="0"/>
              </a:rPr>
              <a:t>T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hevenin’s equivalent</a:t>
            </a:r>
            <a:r>
              <a:rPr lang="en-US" sz="1600" dirty="0">
                <a:latin typeface="Arial" panose="020B0604020202020204" pitchFamily="34" charset="0"/>
              </a:rPr>
              <a:t> voltage (</a:t>
            </a:r>
            <a:r>
              <a:rPr lang="en-US" sz="1600" i="1" dirty="0" err="1">
                <a:latin typeface="Arial" panose="020B0604020202020204" pitchFamily="34" charset="0"/>
              </a:rPr>
              <a:t>V</a:t>
            </a:r>
            <a:r>
              <a:rPr lang="en-US" sz="1600" baseline="-25000" dirty="0" err="1">
                <a:latin typeface="Arial" panose="020B0604020202020204" pitchFamily="34" charset="0"/>
              </a:rPr>
              <a:t>Th</a:t>
            </a:r>
            <a:r>
              <a:rPr lang="en-US" sz="1600" dirty="0">
                <a:latin typeface="Arial" panose="020B0604020202020204" pitchFamily="34" charset="0"/>
              </a:rPr>
              <a:t>) and resistance (</a:t>
            </a:r>
            <a:r>
              <a:rPr lang="en-US" sz="1600" i="1" dirty="0" err="1">
                <a:latin typeface="Arial" panose="020B0604020202020204" pitchFamily="34" charset="0"/>
              </a:rPr>
              <a:t>R</a:t>
            </a:r>
            <a:r>
              <a:rPr lang="en-US" sz="1600" baseline="-25000" dirty="0" err="1">
                <a:latin typeface="Arial" panose="020B0604020202020204" pitchFamily="34" charset="0"/>
              </a:rPr>
              <a:t>Th</a:t>
            </a:r>
            <a:r>
              <a:rPr lang="en-US" sz="1600" dirty="0">
                <a:latin typeface="Arial" panose="020B0604020202020204" pitchFamily="34" charset="0"/>
              </a:rPr>
              <a:t>)</a:t>
            </a:r>
          </a:p>
          <a:p>
            <a:pPr marL="342900" indent="-342900">
              <a:buFontTx/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Compare the </a:t>
            </a:r>
            <a:r>
              <a:rPr lang="en-US" sz="1600" dirty="0" err="1">
                <a:latin typeface="Arial" panose="020B0604020202020204" pitchFamily="34" charset="0"/>
              </a:rPr>
              <a:t>thevinins</a:t>
            </a:r>
            <a:r>
              <a:rPr lang="en-US" sz="1600" dirty="0">
                <a:latin typeface="Arial" panose="020B0604020202020204" pitchFamily="34" charset="0"/>
              </a:rPr>
              <a:t> and </a:t>
            </a:r>
            <a:r>
              <a:rPr lang="en-US" sz="1600" dirty="0" err="1">
                <a:latin typeface="Arial" panose="020B0604020202020204" pitchFamily="34" charset="0"/>
              </a:rPr>
              <a:t>northons</a:t>
            </a:r>
            <a:r>
              <a:rPr lang="en-US" sz="1600" dirty="0">
                <a:latin typeface="Arial" panose="020B0604020202020204" pitchFamily="34" charset="0"/>
              </a:rPr>
              <a:t> equivalent circuits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41553"/>
            <a:ext cx="9893086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</a:t>
            </a:r>
            <a:r>
              <a:rPr lang="en-US" sz="1600" dirty="0">
                <a:latin typeface="Arial" panose="020B0604020202020204" pitchFamily="34" charset="0"/>
              </a:rPr>
              <a:t>T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hevenin’s theorem  and </a:t>
            </a:r>
            <a:r>
              <a:rPr lang="en-US" sz="1600" b="0" i="0" dirty="0" err="1">
                <a:effectLst/>
                <a:latin typeface="Arial" panose="020B0604020202020204" pitchFamily="34" charset="0"/>
              </a:rPr>
              <a:t>Northons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 theorem.</a:t>
            </a:r>
          </a:p>
          <a:p>
            <a:pPr marL="342900" indent="-342900">
              <a:buFontTx/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</a:t>
            </a:r>
            <a:r>
              <a:rPr lang="en-US" sz="1600" dirty="0">
                <a:latin typeface="Arial" panose="020B0604020202020204" pitchFamily="34" charset="0"/>
              </a:rPr>
              <a:t>role 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of </a:t>
            </a:r>
            <a:r>
              <a:rPr lang="en-US" sz="1600" dirty="0" err="1">
                <a:latin typeface="Arial" panose="020B0604020202020204" pitchFamily="34" charset="0"/>
              </a:rPr>
              <a:t>T</a:t>
            </a:r>
            <a:r>
              <a:rPr lang="en-US" sz="1600" b="0" i="0" dirty="0" err="1">
                <a:effectLst/>
                <a:latin typeface="Arial" panose="020B0604020202020204" pitchFamily="34" charset="0"/>
              </a:rPr>
              <a:t>hevenin’s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 theorem in solving circuits with </a:t>
            </a:r>
            <a:r>
              <a:rPr lang="en-US" sz="1600" dirty="0">
                <a:latin typeface="Arial"/>
                <a:cs typeface="Arial"/>
              </a:rPr>
              <a:t>independent and dependent sources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Summarize Thevenin’s theorem and </a:t>
            </a:r>
            <a:r>
              <a:rPr lang="en-US" sz="1600" dirty="0" err="1">
                <a:latin typeface="Arial" panose="020B0604020202020204" pitchFamily="34" charset="0"/>
              </a:rPr>
              <a:t>northons</a:t>
            </a:r>
            <a:r>
              <a:rPr lang="en-US" sz="1600" dirty="0">
                <a:latin typeface="Arial" panose="020B0604020202020204" pitchFamily="34" charset="0"/>
              </a:rPr>
              <a:t> theorem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881149" y="1176354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Thevenin’s theorem</a:t>
            </a:r>
            <a:endParaRPr lang="en-US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48583" y="1965533"/>
            <a:ext cx="10160950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often occurs in practice that a particular element in a circuit is variable (usually called the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while other elements are fixed.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a household outlet terminal may be connected to different appliances constituting a variable load.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time the variable element is changed, the entire circuit has to be analyzed all over again.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avoid this problem,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Thevenin’s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theorem provides a technique by which the fixed part of the circuit is replaced by an equivalent circuit.</a:t>
            </a:r>
          </a:p>
        </p:txBody>
      </p:sp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881149" y="1176354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THEVENIN’S THEOREM</a:t>
            </a:r>
            <a:endParaRPr lang="en-US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48583" y="1871527"/>
            <a:ext cx="10272045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Thevenin’s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theorem states that a linear two-terminal circuit can be replaced by an equivalent circuit consisting of a voltage source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series with a resistor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open-circuit voltage at the terminals and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input or equivalent resistance at the terminals when the independent sources are turned off.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236" y="3823280"/>
            <a:ext cx="5057775" cy="210502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483685" y="5845437"/>
            <a:ext cx="320183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009E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2 </a:t>
            </a:r>
            <a:r>
              <a:rPr lang="en-US" sz="15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Thevenin’s</a:t>
            </a: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equivalent circuit 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387813546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881149" y="1176354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THEVENIN’S THEOREM(PROCEDURE)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9091428" y="5689718"/>
            <a:ext cx="2257387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rgbClr val="009E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3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5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6349" y="1934844"/>
            <a:ext cx="6859049" cy="4152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600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 the load resistor.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600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Calculate the open circuit </a:t>
            </a:r>
            <a:r>
              <a:rPr lang="en-IN" sz="1600" kern="0" dirty="0" err="1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voltage.This</a:t>
            </a:r>
            <a:r>
              <a:rPr lang="en-IN" sz="1600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the </a:t>
            </a:r>
            <a:r>
              <a:rPr lang="en-IN" sz="1600" b="1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Thevenin Voltage (V</a:t>
            </a:r>
            <a:r>
              <a:rPr lang="en-IN" sz="1600" b="1" kern="0" baseline="-2500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1600" b="1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1600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600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 current sources and short voltage sources.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600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Calculate the Open Circuit Resistance. This is the </a:t>
            </a:r>
            <a:r>
              <a:rPr lang="en-IN" sz="1600" b="1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Thevenin Resistance (R</a:t>
            </a:r>
            <a:r>
              <a:rPr lang="en-IN" sz="1600" b="1" kern="0" baseline="-2500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1600" b="1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1600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600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Now, redraw the circuit with measured </a:t>
            </a:r>
            <a:r>
              <a:rPr lang="en-IN" sz="1600" b="1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 circuit Voltage (V</a:t>
            </a:r>
            <a:r>
              <a:rPr lang="en-IN" sz="1600" b="1" kern="0" baseline="-2500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1600" b="1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1600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in Step (2) as voltage source and measured </a:t>
            </a:r>
            <a:r>
              <a:rPr lang="en-IN" sz="1600" b="1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 circuit resistance (R</a:t>
            </a:r>
            <a:r>
              <a:rPr lang="en-IN" sz="1600" b="1" kern="0" baseline="-2500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1600" b="1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1600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in step (4) as a series</a:t>
            </a:r>
            <a:r>
              <a:rPr lang="en-IN" sz="16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600" u="none" strike="noStrike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resistance</a:t>
            </a:r>
            <a:r>
              <a:rPr lang="en-IN" sz="16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600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connect the load resistor which we had removed in Step (1). This is the </a:t>
            </a:r>
            <a:r>
              <a:rPr lang="en-IN" sz="1600" b="1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equivalent Thevenin circuit</a:t>
            </a:r>
            <a:r>
              <a:rPr lang="en-IN" sz="1600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of that </a:t>
            </a:r>
            <a:r>
              <a:rPr lang="en-IN" sz="1600" b="1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 electric network</a:t>
            </a:r>
            <a:r>
              <a:rPr lang="en-IN" sz="1600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600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Now find the Total </a:t>
            </a:r>
            <a:r>
              <a:rPr lang="en-IN" sz="1600" strike="noStrike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current</a:t>
            </a:r>
            <a:r>
              <a:rPr lang="en-IN" sz="16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600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flowing through the load resistor by using the </a:t>
            </a:r>
            <a:r>
              <a:rPr lang="en-IN" sz="1600" u="none" strike="noStrike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Ohm’s Law</a:t>
            </a:r>
            <a:r>
              <a:rPr lang="en-IN" sz="16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en-IN" sz="1600" b="1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b="1" kern="0" baseline="-2500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1600" b="1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= V</a:t>
            </a:r>
            <a:r>
              <a:rPr lang="en-IN" sz="1600" b="1" kern="0" baseline="-2500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 </a:t>
            </a:r>
            <a:r>
              <a:rPr lang="en-IN" sz="1600" b="1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/ (R</a:t>
            </a:r>
            <a:r>
              <a:rPr lang="en-IN" sz="1600" b="1" kern="0" baseline="-2500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1600" b="1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+ R</a:t>
            </a:r>
            <a:r>
              <a:rPr lang="en-IN" sz="1600" b="1" kern="0" baseline="-2500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1600" b="1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6137" y="1922418"/>
            <a:ext cx="4250867" cy="180354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6136" y="3907740"/>
            <a:ext cx="4250867" cy="17941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05331" y="532038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114884167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881149" y="1176354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Problems 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Thevenin’s theorem 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374174-5F12-7066-535B-34B47E557D1D}"/>
              </a:ext>
            </a:extLst>
          </p:cNvPr>
          <p:cNvSpPr txBox="1"/>
          <p:nvPr/>
        </p:nvSpPr>
        <p:spPr>
          <a:xfrm>
            <a:off x="0" y="1910036"/>
            <a:ext cx="5339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Find the current flowing through 5K Resistor using </a:t>
            </a:r>
          </a:p>
          <a:p>
            <a:r>
              <a:rPr lang="en-IN" dirty="0"/>
              <a:t>      Thevenin's Theorem.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1B3F38-4480-40E0-2445-D47E1F00B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35" y="2812014"/>
            <a:ext cx="4739268" cy="23463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461D91-6EB8-D4C6-881F-5421CF6E3B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1124" y="2641870"/>
            <a:ext cx="4471670" cy="268665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17082B-E942-D326-C2F1-55234A457E86}"/>
              </a:ext>
            </a:extLst>
          </p:cNvPr>
          <p:cNvSpPr txBox="1"/>
          <p:nvPr/>
        </p:nvSpPr>
        <p:spPr>
          <a:xfrm>
            <a:off x="6434254" y="1951073"/>
            <a:ext cx="2790187" cy="6052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ts val="1950"/>
              </a:lnSpc>
            </a:pPr>
            <a:r>
              <a:rPr lang="en-IN" sz="1800" b="1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 1.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ts val="1950"/>
              </a:lnSpc>
            </a:pPr>
            <a:r>
              <a:rPr lang="en-IN" sz="18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the </a:t>
            </a:r>
            <a:r>
              <a:rPr lang="en-IN" sz="1800" b="1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5kΩ load resistor</a:t>
            </a:r>
            <a:r>
              <a:rPr lang="en-IN" sz="18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1660244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881149" y="1176354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Problems 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Thevenin’s theorem 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F4C196-2DB4-AEED-CDA0-5CB08CC97DA9}"/>
              </a:ext>
            </a:extLst>
          </p:cNvPr>
          <p:cNvSpPr txBox="1"/>
          <p:nvPr/>
        </p:nvSpPr>
        <p:spPr>
          <a:xfrm>
            <a:off x="342515" y="2033746"/>
            <a:ext cx="459125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950"/>
              </a:lnSpc>
            </a:pPr>
            <a:r>
              <a:rPr lang="en-IN" sz="1800" b="1" dirty="0">
                <a:solidFill>
                  <a:srgbClr val="2C2F34"/>
                </a:solidFill>
                <a:effectLst/>
                <a:latin typeface="Calbri"/>
                <a:ea typeface="Times New Roman" panose="02020603050405020304" pitchFamily="18" charset="0"/>
              </a:rPr>
              <a:t>STEP 2.</a:t>
            </a:r>
            <a:endParaRPr lang="en-IN" sz="1800" dirty="0">
              <a:effectLst/>
              <a:latin typeface="Calbri"/>
              <a:ea typeface="Times New Roman" panose="02020603050405020304" pitchFamily="18" charset="0"/>
            </a:endParaRPr>
          </a:p>
          <a:p>
            <a:pPr algn="just">
              <a:lnSpc>
                <a:spcPts val="1950"/>
              </a:lnSpc>
            </a:pPr>
            <a:r>
              <a:rPr lang="en-IN" sz="1800" dirty="0">
                <a:solidFill>
                  <a:srgbClr val="2C2F34"/>
                </a:solidFill>
                <a:effectLst/>
                <a:latin typeface="Calbri"/>
                <a:ea typeface="Times New Roman" panose="02020603050405020304" pitchFamily="18" charset="0"/>
              </a:rPr>
              <a:t>Calculate the open circuit voltage. This is the </a:t>
            </a:r>
            <a:r>
              <a:rPr lang="en-IN" sz="1800" b="1" dirty="0">
                <a:solidFill>
                  <a:srgbClr val="2C2F34"/>
                </a:solidFill>
                <a:effectLst/>
                <a:latin typeface="Calbri"/>
                <a:ea typeface="Times New Roman" panose="02020603050405020304" pitchFamily="18" charset="0"/>
              </a:rPr>
              <a:t>Thevenin Voltage (V</a:t>
            </a:r>
            <a:r>
              <a:rPr lang="en-IN" sz="1800" b="1" baseline="-25000" dirty="0">
                <a:solidFill>
                  <a:srgbClr val="2C2F34"/>
                </a:solidFill>
                <a:effectLst/>
                <a:latin typeface="Calbri"/>
                <a:ea typeface="Times New Roman" panose="02020603050405020304" pitchFamily="18" charset="0"/>
              </a:rPr>
              <a:t>TH</a:t>
            </a:r>
            <a:r>
              <a:rPr lang="en-IN" sz="1800" b="1" dirty="0">
                <a:solidFill>
                  <a:srgbClr val="2C2F34"/>
                </a:solidFill>
                <a:effectLst/>
                <a:latin typeface="Calbri"/>
                <a:ea typeface="Times New Roman" panose="02020603050405020304" pitchFamily="18" charset="0"/>
              </a:rPr>
              <a:t>)</a:t>
            </a:r>
            <a:r>
              <a:rPr lang="en-IN" sz="1800" dirty="0">
                <a:solidFill>
                  <a:srgbClr val="2C2F34"/>
                </a:solidFill>
                <a:effectLst/>
                <a:latin typeface="Calbri"/>
                <a:ea typeface="Times New Roman" panose="02020603050405020304" pitchFamily="18" charset="0"/>
              </a:rPr>
              <a:t>. Fig (3).</a:t>
            </a:r>
            <a:endParaRPr lang="en-IN" sz="1800" dirty="0">
              <a:effectLst/>
              <a:latin typeface="Calbri"/>
              <a:ea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2904816-BBF9-245D-63E4-F0A044AEF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05" y="2994994"/>
            <a:ext cx="4230370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59F4EAC-01DC-3F05-1C2C-B5353CAC9044}"/>
              </a:ext>
            </a:extLst>
          </p:cNvPr>
          <p:cNvSpPr txBox="1"/>
          <p:nvPr/>
        </p:nvSpPr>
        <p:spPr>
          <a:xfrm>
            <a:off x="4572885" y="2990310"/>
            <a:ext cx="1661048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Now the circuit became an </a:t>
            </a:r>
            <a:r>
              <a:rPr lang="en-IN" sz="1400" b="1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circuit</a:t>
            </a:r>
            <a:r>
              <a:rPr lang="en-IN" sz="14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.Since </a:t>
            </a:r>
            <a:r>
              <a:rPr lang="en-IN" sz="1400" b="1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3mA</a:t>
            </a:r>
            <a:r>
              <a:rPr lang="en-IN" sz="14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r>
              <a:rPr lang="en-IN" sz="14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flows in both </a:t>
            </a:r>
            <a:r>
              <a:rPr lang="en-IN" sz="1400" b="1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12kΩ</a:t>
            </a:r>
            <a:r>
              <a:rPr lang="en-IN" sz="14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and </a:t>
            </a:r>
            <a:r>
              <a:rPr lang="en-IN" sz="1400" b="1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4kΩ</a:t>
            </a:r>
            <a:r>
              <a:rPr lang="en-IN" sz="14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IN" sz="1400" b="1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resistors</a:t>
            </a:r>
            <a:r>
              <a:rPr lang="en-IN" sz="14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as this is a series circuit and current will not flow in the </a:t>
            </a:r>
            <a:r>
              <a:rPr lang="en-IN" sz="1400" b="1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8kΩ</a:t>
            </a:r>
            <a:r>
              <a:rPr lang="en-IN" sz="14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resistor as it is open.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434890-1242-DBD6-6657-40375A224356}"/>
              </a:ext>
            </a:extLst>
          </p:cNvPr>
          <p:cNvSpPr txBox="1"/>
          <p:nvPr/>
        </p:nvSpPr>
        <p:spPr>
          <a:xfrm>
            <a:off x="6869885" y="1891271"/>
            <a:ext cx="3496920" cy="1537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950"/>
              </a:lnSpc>
            </a:pPr>
            <a:r>
              <a:rPr lang="en-IN" sz="1800" b="1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Step 3.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ts val="1950"/>
              </a:lnSpc>
            </a:pPr>
            <a:r>
              <a:rPr lang="en-IN" sz="1800" b="1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Open current sources</a:t>
            </a:r>
            <a:r>
              <a:rPr lang="en-IN" sz="18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and </a:t>
            </a:r>
            <a:r>
              <a:rPr lang="en-IN" sz="1800" b="1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short voltage sources</a:t>
            </a:r>
            <a:r>
              <a:rPr lang="en-IN" sz="18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as shown below.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CCEA08-9123-7DD2-F20D-8825E99469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9885" y="2990310"/>
            <a:ext cx="3442970" cy="1460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6350682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F397DE44-E995-93D3-68EF-22D428A16229}"/>
              </a:ext>
            </a:extLst>
          </p:cNvPr>
          <p:cNvSpPr txBox="1"/>
          <p:nvPr/>
        </p:nvSpPr>
        <p:spPr>
          <a:xfrm>
            <a:off x="335636" y="1699976"/>
            <a:ext cx="10145408" cy="1862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4:</a:t>
            </a:r>
            <a:endParaRPr lang="en-IN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</a:t>
            </a:r>
            <a:r>
              <a:rPr lang="en-IN" sz="1800" b="1" kern="1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open circuit resistance</a:t>
            </a:r>
            <a:r>
              <a:rPr lang="en-IN" sz="1800" kern="1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This is the Thevenin Resistance (R</a:t>
            </a:r>
            <a:r>
              <a:rPr lang="en-IN" sz="1800" kern="100" baseline="-250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IN" sz="1800" kern="1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have removed the </a:t>
            </a:r>
            <a:r>
              <a:rPr lang="en-IN" sz="1800" b="1" kern="1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48V DC source</a:t>
            </a:r>
            <a:r>
              <a:rPr lang="en-IN" sz="1800" kern="1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to </a:t>
            </a:r>
            <a:r>
              <a:rPr lang="en-IN" sz="1800" b="1" kern="1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zero</a:t>
            </a:r>
            <a:r>
              <a:rPr lang="en-IN" sz="1800" kern="1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as equivalent i.e.  short </a:t>
            </a:r>
            <a:r>
              <a:rPr lang="en-IN" kern="100" dirty="0">
                <a:solidFill>
                  <a:srgbClr val="2C2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circuit</a:t>
            </a:r>
            <a:r>
              <a:rPr lang="en-IN" sz="1800" kern="1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  We can see that 8kΩ resistor is in series with a</a:t>
            </a:r>
            <a:r>
              <a:rPr lang="en-IN" sz="1800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IN" sz="1800" u="sng" strike="noStrike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parallel  connection</a:t>
            </a:r>
            <a:r>
              <a:rPr lang="en-IN" sz="1800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IN" sz="1800" kern="1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4kΩ resistor and  12k Ω resistor. i.e.: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3536427-6ADA-BE02-23D1-DEC1ACFB0D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685" y="3363495"/>
            <a:ext cx="4190655" cy="253961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1490445-8751-BC1A-F143-BF56F1351B5D}"/>
              </a:ext>
            </a:extLst>
          </p:cNvPr>
          <p:cNvSpPr txBox="1"/>
          <p:nvPr/>
        </p:nvSpPr>
        <p:spPr>
          <a:xfrm>
            <a:off x="6262385" y="4063917"/>
            <a:ext cx="523452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950"/>
              </a:lnSpc>
            </a:pPr>
            <a:r>
              <a:rPr lang="en-IN" sz="1600" b="1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8kΩ + (4k Ω || 12kΩ) ….. (|| = in parallel with)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ts val="1950"/>
              </a:lnSpc>
            </a:pPr>
            <a:r>
              <a:rPr lang="en-IN" sz="1600" b="1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</a:t>
            </a:r>
            <a:r>
              <a:rPr lang="en-IN" sz="1600" b="1" baseline="-2500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</a:t>
            </a:r>
            <a:r>
              <a:rPr lang="en-IN" sz="1600" b="1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= 8kΩ +  [(4kΩ x 12kΩ) / (4kΩ + 12kΩ)]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ts val="1950"/>
              </a:lnSpc>
            </a:pPr>
            <a:r>
              <a:rPr lang="en-IN" sz="1600" b="1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</a:t>
            </a:r>
            <a:r>
              <a:rPr lang="en-IN" sz="1600" b="1" baseline="-2500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</a:t>
            </a:r>
            <a:r>
              <a:rPr lang="en-IN" sz="1600" b="1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r>
              <a:rPr lang="en-IN" sz="160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= 8kΩ + 3kΩ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21" name="Rounded Rectangle 17">
            <a:extLst>
              <a:ext uri="{FF2B5EF4-FFF2-40B4-BE49-F238E27FC236}">
                <a16:creationId xmlns:a16="http://schemas.microsoft.com/office/drawing/2014/main" id="{B9F5550D-C577-02E9-89F0-DF031255D64D}"/>
              </a:ext>
            </a:extLst>
          </p:cNvPr>
          <p:cNvSpPr/>
          <p:nvPr/>
        </p:nvSpPr>
        <p:spPr>
          <a:xfrm>
            <a:off x="2881149" y="1176354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Problems 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Thevenin’s theorem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82407050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B31DC-1716-E88C-C687-A200F39A1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17">
            <a:extLst>
              <a:ext uri="{FF2B5EF4-FFF2-40B4-BE49-F238E27FC236}">
                <a16:creationId xmlns:a16="http://schemas.microsoft.com/office/drawing/2014/main" id="{219070A8-5BAA-E25E-6031-AC67E33016C6}"/>
              </a:ext>
            </a:extLst>
          </p:cNvPr>
          <p:cNvSpPr/>
          <p:nvPr/>
        </p:nvSpPr>
        <p:spPr>
          <a:xfrm>
            <a:off x="2881149" y="1176354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Problems 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Thevenin’s theorem 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C1E75A-B28E-59DA-F84A-714A2ED8BEA6}"/>
              </a:ext>
            </a:extLst>
          </p:cNvPr>
          <p:cNvSpPr txBox="1"/>
          <p:nvPr/>
        </p:nvSpPr>
        <p:spPr>
          <a:xfrm>
            <a:off x="1326424" y="2064305"/>
            <a:ext cx="5459380" cy="1856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950"/>
              </a:lnSpc>
              <a:spcAft>
                <a:spcPts val="800"/>
              </a:spcAft>
            </a:pPr>
            <a:r>
              <a:rPr lang="en-IN" sz="1800" b="1" kern="0" dirty="0">
                <a:solidFill>
                  <a:srgbClr val="2C2F34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 5.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950"/>
              </a:lnSpc>
              <a:spcAft>
                <a:spcPts val="800"/>
              </a:spcAft>
            </a:pPr>
            <a:r>
              <a:rPr lang="en-IN" sz="1800" kern="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 the R</a:t>
            </a:r>
            <a:r>
              <a:rPr lang="en-IN" sz="1800" kern="0" baseline="-250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 </a:t>
            </a:r>
            <a:r>
              <a:rPr lang="en-IN" sz="1800" kern="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series with Voltage Source V</a:t>
            </a:r>
            <a:r>
              <a:rPr lang="en-IN" sz="1800" kern="0" baseline="-2500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IN" sz="1800" kern="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and re-connect the load resistor. This is shown in fig (6) i.e. Thevenin circuit with load resistor. This the </a:t>
            </a:r>
            <a:r>
              <a:rPr lang="en-IN" sz="1800" b="1" kern="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Thevenin’s equivalent circuit</a:t>
            </a:r>
            <a:r>
              <a:rPr lang="en-IN" sz="1800" kern="0" dirty="0">
                <a:solidFill>
                  <a:srgbClr val="2C2F3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1131EC-9E98-6F40-4A0F-30E40F133B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815" y="3967146"/>
            <a:ext cx="3187065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A908F8-FCCD-27C9-4307-0E2E224C01A8}"/>
              </a:ext>
            </a:extLst>
          </p:cNvPr>
          <p:cNvSpPr txBox="1"/>
          <p:nvPr/>
        </p:nvSpPr>
        <p:spPr>
          <a:xfrm>
            <a:off x="7645079" y="2064305"/>
            <a:ext cx="42999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STEP 6.</a:t>
            </a:r>
            <a:endParaRPr lang="en-IN" dirty="0"/>
          </a:p>
          <a:p>
            <a:r>
              <a:rPr lang="en-IN" dirty="0"/>
              <a:t>Now apply the last step </a:t>
            </a:r>
            <a:r>
              <a:rPr lang="en-IN" dirty="0" err="1"/>
              <a:t>i.e</a:t>
            </a:r>
            <a:r>
              <a:rPr lang="en-IN" dirty="0"/>
              <a:t> </a:t>
            </a:r>
            <a:r>
              <a:rPr lang="en-IN" u="sng" dirty="0">
                <a:hlinkClick r:id="rId4" tooltip="Ohm's law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Ohm’s law</a:t>
            </a:r>
            <a:r>
              <a:rPr lang="en-IN" dirty="0"/>
              <a:t> . </a:t>
            </a:r>
          </a:p>
          <a:p>
            <a:r>
              <a:rPr lang="en-IN" b="1" dirty="0"/>
              <a:t>Calculate the total load current and load voltage</a:t>
            </a:r>
            <a:r>
              <a:rPr lang="en-IN" dirty="0"/>
              <a:t> 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197D39-CD97-0E08-099F-EA7151BA1323}"/>
              </a:ext>
            </a:extLst>
          </p:cNvPr>
          <p:cNvSpPr txBox="1"/>
          <p:nvPr/>
        </p:nvSpPr>
        <p:spPr>
          <a:xfrm>
            <a:off x="7645079" y="3541633"/>
            <a:ext cx="22313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I</a:t>
            </a:r>
            <a:r>
              <a:rPr lang="en-IN" b="1" baseline="-25000" dirty="0"/>
              <a:t>L</a:t>
            </a:r>
            <a:r>
              <a:rPr lang="en-IN" b="1" dirty="0"/>
              <a:t> = V</a:t>
            </a:r>
            <a:r>
              <a:rPr lang="en-IN" b="1" baseline="-25000" dirty="0"/>
              <a:t>TH </a:t>
            </a:r>
            <a:r>
              <a:rPr lang="en-IN" b="1" dirty="0"/>
              <a:t>/ (R</a:t>
            </a:r>
            <a:r>
              <a:rPr lang="en-IN" b="1" baseline="-25000" dirty="0"/>
              <a:t>TH</a:t>
            </a:r>
            <a:r>
              <a:rPr lang="en-IN" b="1" dirty="0"/>
              <a:t> + R</a:t>
            </a:r>
            <a:r>
              <a:rPr lang="en-IN" b="1" baseline="-25000" dirty="0"/>
              <a:t>L</a:t>
            </a:r>
            <a:r>
              <a:rPr lang="en-IN" b="1" dirty="0"/>
              <a:t>)</a:t>
            </a:r>
            <a:endParaRPr lang="en-IN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BA0395-CB16-4F64-FA4B-2F37AA26195C}"/>
              </a:ext>
            </a:extLst>
          </p:cNvPr>
          <p:cNvSpPr txBox="1"/>
          <p:nvPr/>
        </p:nvSpPr>
        <p:spPr>
          <a:xfrm>
            <a:off x="7882359" y="4352081"/>
            <a:ext cx="389080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I</a:t>
            </a:r>
            <a:r>
              <a:rPr lang="en-IN" b="1" baseline="-25000" dirty="0"/>
              <a:t>L</a:t>
            </a:r>
            <a:r>
              <a:rPr lang="en-IN" b="1" dirty="0"/>
              <a:t> </a:t>
            </a:r>
            <a:r>
              <a:rPr lang="en-IN" dirty="0"/>
              <a:t>= 12V / (11kΩ + 5kΩ) → = 12/16kΩ</a:t>
            </a:r>
          </a:p>
          <a:p>
            <a:r>
              <a:rPr lang="en-IN" b="1" dirty="0"/>
              <a:t>I</a:t>
            </a:r>
            <a:r>
              <a:rPr lang="en-IN" b="1" baseline="-25000" dirty="0"/>
              <a:t>L </a:t>
            </a:r>
            <a:r>
              <a:rPr lang="en-IN" b="1" dirty="0"/>
              <a:t>= 0.75mA</a:t>
            </a:r>
          </a:p>
          <a:p>
            <a:endParaRPr lang="en-IN" b="1" dirty="0"/>
          </a:p>
          <a:p>
            <a:r>
              <a:rPr lang="en-IN" dirty="0"/>
              <a:t>And  </a:t>
            </a:r>
            <a:r>
              <a:rPr lang="en-IN" b="1" dirty="0"/>
              <a:t>V</a:t>
            </a:r>
            <a:r>
              <a:rPr lang="en-IN" b="1" baseline="-25000" dirty="0"/>
              <a:t>L</a:t>
            </a:r>
            <a:r>
              <a:rPr lang="en-IN" b="1" dirty="0"/>
              <a:t> = I</a:t>
            </a:r>
            <a:r>
              <a:rPr lang="en-IN" b="1" baseline="-25000" dirty="0"/>
              <a:t>L </a:t>
            </a:r>
            <a:r>
              <a:rPr lang="en-IN" b="1" dirty="0"/>
              <a:t>x R</a:t>
            </a:r>
            <a:r>
              <a:rPr lang="en-IN" b="1" baseline="-25000" dirty="0"/>
              <a:t>L</a:t>
            </a:r>
            <a:endParaRPr lang="en-IN" dirty="0"/>
          </a:p>
          <a:p>
            <a:r>
              <a:rPr lang="en-IN" b="1" dirty="0"/>
              <a:t>V</a:t>
            </a:r>
            <a:r>
              <a:rPr lang="en-IN" b="1" baseline="-25000" dirty="0"/>
              <a:t>L</a:t>
            </a:r>
            <a:r>
              <a:rPr lang="en-IN" dirty="0"/>
              <a:t> = 0.75mA x 5kΩ</a:t>
            </a:r>
          </a:p>
          <a:p>
            <a:r>
              <a:rPr lang="en-IN" b="1" dirty="0"/>
              <a:t>V</a:t>
            </a:r>
            <a:r>
              <a:rPr lang="en-IN" b="1" baseline="-25000" dirty="0"/>
              <a:t>L</a:t>
            </a:r>
            <a:r>
              <a:rPr lang="en-IN" b="1" dirty="0"/>
              <a:t>= 3.75V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2555882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54D31061-350D-4864-BF25-E3C3C4699CDC}"/>
              </a:ext>
            </a:extLst>
          </p:cNvPr>
          <p:cNvSpPr/>
          <p:nvPr/>
        </p:nvSpPr>
        <p:spPr>
          <a:xfrm>
            <a:off x="3243572" y="300038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NORTHON’S THEOREM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770C5A-E81D-2BD8-64DE-70AC6CF9B1FC}"/>
              </a:ext>
            </a:extLst>
          </p:cNvPr>
          <p:cNvSpPr txBox="1"/>
          <p:nvPr/>
        </p:nvSpPr>
        <p:spPr>
          <a:xfrm>
            <a:off x="512956" y="1969243"/>
            <a:ext cx="1148575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Statement: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linear two-terminal circuit can be replaced by an equivalent circuit consisting of a current source I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parallel with a resistor R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where I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short-circuit current through the terminals and R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input or equivalent resistance at the terminals when the independent sources are turned off.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5C8C6A-4336-0156-87EB-1F00023F2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91" y="3001834"/>
            <a:ext cx="10615960" cy="322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77581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2919046" y="971970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Relation between </a:t>
            </a:r>
            <a:r>
              <a:rPr lang="en-US" sz="2400" dirty="0" err="1"/>
              <a:t>Nortons</a:t>
            </a:r>
            <a:r>
              <a:rPr lang="en-US" sz="2400" dirty="0"/>
              <a:t> and </a:t>
            </a:r>
            <a:r>
              <a:rPr lang="en-US" sz="2400" dirty="0" err="1"/>
              <a:t>Thevenins</a:t>
            </a:r>
            <a:r>
              <a:rPr lang="en-US" sz="2400" dirty="0"/>
              <a:t> Theorem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988745-9701-88FD-03E6-1EFB626C7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4321"/>
            <a:ext cx="10829109" cy="421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7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34764-1254-F946-F78D-806AEA5C2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BBB7CB1-0B5A-607B-FCF2-410312ACDFBD}"/>
              </a:ext>
            </a:extLst>
          </p:cNvPr>
          <p:cNvSpPr/>
          <p:nvPr/>
        </p:nvSpPr>
        <p:spPr>
          <a:xfrm>
            <a:off x="2919046" y="971970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Procedure</a:t>
            </a:r>
          </a:p>
        </p:txBody>
      </p:sp>
      <p:pic>
        <p:nvPicPr>
          <p:cNvPr id="17" name="Picture 2" descr="KL Deemed to be University Logo">
            <a:extLst>
              <a:ext uri="{FF2B5EF4-FFF2-40B4-BE49-F238E27FC236}">
                <a16:creationId xmlns:a16="http://schemas.microsoft.com/office/drawing/2014/main" id="{33CB66E0-E817-040C-A69C-CA7B0C88A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2FAA6E-90A8-DE03-DD54-8BA5BCCA4316}"/>
              </a:ext>
            </a:extLst>
          </p:cNvPr>
          <p:cNvSpPr txBox="1"/>
          <p:nvPr/>
        </p:nvSpPr>
        <p:spPr>
          <a:xfrm>
            <a:off x="213030" y="1903973"/>
            <a:ext cx="1209620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Norton’s theorem states that all linear circuits can be simplified to an equivalent circuit with a single current source in parallel with a single resistor connected to a load.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 the load resistor and replace it with a short circuit.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 the Norton current—the current through the short circuit.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Replace the power sources. All voltage sources are replaced with short circuits, and all       	         current sources are replaced with open circuits.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Step 4: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Norton resistance—the total resistance between the open circuit  	   				   connection points after all sources have been removed.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Draw the Norton equivalent circuit, with the Norton current source in parallel with the    		   Norton resistance. The load resistor re-attaches between the two open points of the 				   equivalent circuit.</a:t>
            </a:r>
          </a:p>
        </p:txBody>
      </p:sp>
    </p:spTree>
    <p:extLst>
      <p:ext uri="{BB962C8B-B14F-4D97-AF65-F5344CB8AC3E}">
        <p14:creationId xmlns:p14="http://schemas.microsoft.com/office/powerpoint/2010/main" val="254549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4DAFD-5E81-F1FE-2E8F-AA4809956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67C50B27-84F2-D04E-0A4B-3041BF12FB52}"/>
              </a:ext>
            </a:extLst>
          </p:cNvPr>
          <p:cNvSpPr/>
          <p:nvPr/>
        </p:nvSpPr>
        <p:spPr>
          <a:xfrm>
            <a:off x="2788747" y="512955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Problems on </a:t>
            </a:r>
            <a:r>
              <a:rPr lang="en-US" sz="2400" dirty="0" err="1"/>
              <a:t>Northons</a:t>
            </a:r>
            <a:r>
              <a:rPr lang="en-US" sz="2400" dirty="0"/>
              <a:t> Theorem</a:t>
            </a:r>
          </a:p>
        </p:txBody>
      </p:sp>
      <p:pic>
        <p:nvPicPr>
          <p:cNvPr id="17" name="Picture 2" descr="KL Deemed to be University Logo">
            <a:extLst>
              <a:ext uri="{FF2B5EF4-FFF2-40B4-BE49-F238E27FC236}">
                <a16:creationId xmlns:a16="http://schemas.microsoft.com/office/drawing/2014/main" id="{5FA0AB4A-023D-5312-27CB-D4B7019C1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6B1A61-C1D9-B6AC-5E03-E0ED31CD5824}"/>
              </a:ext>
            </a:extLst>
          </p:cNvPr>
          <p:cNvSpPr txBox="1"/>
          <p:nvPr/>
        </p:nvSpPr>
        <p:spPr>
          <a:xfrm>
            <a:off x="1594624" y="24421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6C3999F-60D7-7880-3F02-55B7A1A5D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09" y="2626783"/>
            <a:ext cx="5744780" cy="3512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5033F2-D816-CF50-150B-2E50F5470162}"/>
              </a:ext>
            </a:extLst>
          </p:cNvPr>
          <p:cNvSpPr txBox="1"/>
          <p:nvPr/>
        </p:nvSpPr>
        <p:spPr>
          <a:xfrm>
            <a:off x="362009" y="2040940"/>
            <a:ext cx="5634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1.Find the Norton’s equivalent for the circuit shown below</a:t>
            </a:r>
            <a:endParaRPr lang="en-IN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3DDF8F2-CB08-E51D-388F-984F3CEDE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626" y="3424341"/>
            <a:ext cx="5121081" cy="2183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464736-066F-CCF8-46F0-AB0299FE385B}"/>
              </a:ext>
            </a:extLst>
          </p:cNvPr>
          <p:cNvSpPr txBox="1"/>
          <p:nvPr/>
        </p:nvSpPr>
        <p:spPr>
          <a:xfrm>
            <a:off x="6846849" y="2308302"/>
            <a:ext cx="1443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Step1: find IN</a:t>
            </a:r>
          </a:p>
        </p:txBody>
      </p:sp>
    </p:spTree>
    <p:extLst>
      <p:ext uri="{BB962C8B-B14F-4D97-AF65-F5344CB8AC3E}">
        <p14:creationId xmlns:p14="http://schemas.microsoft.com/office/powerpoint/2010/main" val="383890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1FBB5-A016-2652-A460-B725D8027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E9B6E8E-FACF-8DC4-D99C-7F27ACF36D99}"/>
              </a:ext>
            </a:extLst>
          </p:cNvPr>
          <p:cNvSpPr/>
          <p:nvPr/>
        </p:nvSpPr>
        <p:spPr>
          <a:xfrm>
            <a:off x="2788747" y="512955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Problems on </a:t>
            </a:r>
            <a:r>
              <a:rPr lang="en-US" sz="2400" dirty="0" err="1"/>
              <a:t>Northons</a:t>
            </a:r>
            <a:r>
              <a:rPr lang="en-US" sz="2400" dirty="0"/>
              <a:t> Theorem</a:t>
            </a:r>
          </a:p>
        </p:txBody>
      </p:sp>
      <p:pic>
        <p:nvPicPr>
          <p:cNvPr id="17" name="Picture 2" descr="KL Deemed to be University Logo">
            <a:extLst>
              <a:ext uri="{FF2B5EF4-FFF2-40B4-BE49-F238E27FC236}">
                <a16:creationId xmlns:a16="http://schemas.microsoft.com/office/drawing/2014/main" id="{289BC264-C364-A1B1-0F5F-C8C5F6DBA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2F3018-BC20-4E46-330B-EA6D902DD266}"/>
              </a:ext>
            </a:extLst>
          </p:cNvPr>
          <p:cNvSpPr txBox="1"/>
          <p:nvPr/>
        </p:nvSpPr>
        <p:spPr>
          <a:xfrm>
            <a:off x="1594624" y="24421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BA27984B-704B-D185-A3CF-B30C92C4C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387" y="2527501"/>
            <a:ext cx="4587149" cy="2561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F218B28C-98B1-BAAD-E608-111C6D079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6420" y="2108251"/>
            <a:ext cx="5020108" cy="294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7F34704-44D4-69A7-0D91-17FD4A0B0A24}"/>
              </a:ext>
            </a:extLst>
          </p:cNvPr>
          <p:cNvSpPr txBox="1"/>
          <p:nvPr/>
        </p:nvSpPr>
        <p:spPr>
          <a:xfrm>
            <a:off x="952459" y="2072785"/>
            <a:ext cx="2076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1. </a:t>
            </a:r>
            <a:r>
              <a:rPr lang="en-IN" dirty="0" err="1"/>
              <a:t>Northons</a:t>
            </a:r>
            <a:r>
              <a:rPr lang="en-IN" dirty="0"/>
              <a:t> current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91E01E-AA31-05BC-095A-8DB70D3421CA}"/>
              </a:ext>
            </a:extLst>
          </p:cNvPr>
          <p:cNvSpPr txBox="1"/>
          <p:nvPr/>
        </p:nvSpPr>
        <p:spPr>
          <a:xfrm>
            <a:off x="7036420" y="1906858"/>
            <a:ext cx="332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2.Northons equivalent Resistance</a:t>
            </a: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D3A71F6F-C8DD-7AEC-952F-7848F092C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5709424"/>
            <a:ext cx="11169649" cy="947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6">
            <a:extLst>
              <a:ext uri="{FF2B5EF4-FFF2-40B4-BE49-F238E27FC236}">
                <a16:creationId xmlns:a16="http://schemas.microsoft.com/office/drawing/2014/main" id="{6BA6FEF2-8150-843E-71A9-426554881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8254" y="3795713"/>
            <a:ext cx="2032000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101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1864B-61DD-598B-42EA-085959941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F371B47-CA8F-35F8-FBDE-02EA1BA71BCD}"/>
              </a:ext>
            </a:extLst>
          </p:cNvPr>
          <p:cNvSpPr/>
          <p:nvPr/>
        </p:nvSpPr>
        <p:spPr>
          <a:xfrm>
            <a:off x="2788747" y="512955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Problems on </a:t>
            </a:r>
            <a:r>
              <a:rPr lang="en-US" sz="2400" dirty="0" err="1"/>
              <a:t>Northons</a:t>
            </a:r>
            <a:r>
              <a:rPr lang="en-US" sz="2400" dirty="0"/>
              <a:t> Theorem</a:t>
            </a:r>
          </a:p>
        </p:txBody>
      </p:sp>
      <p:pic>
        <p:nvPicPr>
          <p:cNvPr id="17" name="Picture 2" descr="KL Deemed to be University Logo">
            <a:extLst>
              <a:ext uri="{FF2B5EF4-FFF2-40B4-BE49-F238E27FC236}">
                <a16:creationId xmlns:a16="http://schemas.microsoft.com/office/drawing/2014/main" id="{F8EDFD79-464E-1322-A6F2-65977562D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907C3B-BCE0-0C05-FDAE-01925E7623B5}"/>
              </a:ext>
            </a:extLst>
          </p:cNvPr>
          <p:cNvSpPr txBox="1"/>
          <p:nvPr/>
        </p:nvSpPr>
        <p:spPr>
          <a:xfrm>
            <a:off x="1594624" y="24421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448853-756C-483E-B0BF-2430D473FD37}"/>
              </a:ext>
            </a:extLst>
          </p:cNvPr>
          <p:cNvSpPr txBox="1"/>
          <p:nvPr/>
        </p:nvSpPr>
        <p:spPr>
          <a:xfrm>
            <a:off x="2442117" y="30108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D7B5D7BF-3D96-9F68-16C7-11DC1C887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790163"/>
            <a:ext cx="9372600" cy="3837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976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EC9AE-9806-A7A9-734E-D01ED6CBD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A372E9EF-D827-6433-9EE7-8F47501F7845}"/>
              </a:ext>
            </a:extLst>
          </p:cNvPr>
          <p:cNvSpPr/>
          <p:nvPr/>
        </p:nvSpPr>
        <p:spPr>
          <a:xfrm>
            <a:off x="3388593" y="97197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EXAMPLES</a:t>
            </a:r>
          </a:p>
        </p:txBody>
      </p:sp>
      <p:pic>
        <p:nvPicPr>
          <p:cNvPr id="12" name="Picture 2" descr="KL Deemed to be University Logo">
            <a:extLst>
              <a:ext uri="{FF2B5EF4-FFF2-40B4-BE49-F238E27FC236}">
                <a16:creationId xmlns:a16="http://schemas.microsoft.com/office/drawing/2014/main" id="{51838C49-85A0-ED76-78B0-E3522B1C5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3519BF-B038-6A83-177F-DEB89E9E7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86" y="3518005"/>
            <a:ext cx="3944235" cy="196079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3CF167-20AE-D17E-64EE-2564C854C4EB}"/>
              </a:ext>
            </a:extLst>
          </p:cNvPr>
          <p:cNvSpPr/>
          <p:nvPr/>
        </p:nvSpPr>
        <p:spPr>
          <a:xfrm>
            <a:off x="340592" y="1905439"/>
            <a:ext cx="50454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Find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Thevenin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equivalent circuit of the circuit shown in Fig. 7, to the left of the terminals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Then find the current through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6,16, and 36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independent sources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E0E4F2-9B56-95FD-BCCC-ADBC23A51E18}"/>
              </a:ext>
            </a:extLst>
          </p:cNvPr>
          <p:cNvSpPr/>
          <p:nvPr/>
        </p:nvSpPr>
        <p:spPr>
          <a:xfrm>
            <a:off x="5694920" y="5819209"/>
            <a:ext cx="2049018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rgbClr val="009E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8 </a:t>
            </a: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</a:t>
            </a:r>
            <a:r>
              <a:rPr lang="en-US" sz="15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500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0B4CC-BD37-2241-F41A-8BFE77E61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79" y="3429000"/>
            <a:ext cx="3968954" cy="18923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CBEEF7-CA8F-E2B1-E309-6DEDD63257D8}"/>
              </a:ext>
            </a:extLst>
          </p:cNvPr>
          <p:cNvSpPr txBox="1"/>
          <p:nvPr/>
        </p:nvSpPr>
        <p:spPr>
          <a:xfrm>
            <a:off x="6126479" y="2018874"/>
            <a:ext cx="44757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2.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 Find  the value of current across the load branch in the given circuit using Norton's Theorem.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096871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96496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Thevenin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voltage is the__________</a:t>
            </a:r>
            <a:endParaRPr sz="160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26827" y="1892445"/>
            <a:ext cx="4699699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circuit voltage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circuit voltage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circuit and short circuit voltage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Neither open circuit nor short circuit voltage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632332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 startAt="2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Thevenin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resistance is found by ________</a:t>
            </a:r>
            <a:endParaRPr sz="160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5362" y="4436635"/>
            <a:ext cx="725987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Shorting all voltage sources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Opening all current sources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Shorting all voltage sources and opening all current sources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Opening all voltage sources and shorting all current sources</a:t>
            </a:r>
            <a:endParaRPr lang="pt-BR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4911017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96496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Calculate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Thevenin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resistance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Thevenin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voltage across the terminal AB for the following circuit.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26828" y="1892445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4.34 ohm, 5.54V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3.67 ohm, 6.67V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3.43 ohm, 3.67V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2.32 ohm, 3.33V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632332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 startAt="2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current across the 4 ohm resistor..</a:t>
            </a:r>
            <a:endParaRPr sz="160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009895" y="4389606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pt-BR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0.86 A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1.23 A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2.22 A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0.67A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318" y="1947981"/>
            <a:ext cx="3419475" cy="16287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527" y="4402399"/>
            <a:ext cx="3419475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116761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5362" y="2274838"/>
            <a:ext cx="9608234" cy="3886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b="1" dirty="0"/>
              <a:t>Describe the definition of Thevenin’s Theorem with examples?</a:t>
            </a:r>
          </a:p>
          <a:p>
            <a:pPr marL="342900" indent="-342900">
              <a:lnSpc>
                <a:spcPct val="200000"/>
              </a:lnSpc>
              <a:buFontTx/>
              <a:buAutoNum type="arabicPeriod"/>
            </a:pPr>
            <a:r>
              <a:rPr lang="en-US" b="1" dirty="0"/>
              <a:t>Describe the NORTON’s Theorem.</a:t>
            </a:r>
          </a:p>
          <a:p>
            <a:pPr marL="342900" indent="-342900">
              <a:lnSpc>
                <a:spcPct val="200000"/>
              </a:lnSpc>
              <a:buFontTx/>
              <a:buAutoNum type="arabicPeriod"/>
            </a:pPr>
            <a:r>
              <a:rPr lang="en-US" b="1" dirty="0"/>
              <a:t>Analyze the working of an electrical </a:t>
            </a:r>
            <a:r>
              <a:rPr lang="en-US" b="1" dirty="0" err="1"/>
              <a:t>circuitary</a:t>
            </a:r>
            <a:r>
              <a:rPr lang="en-US" b="1" dirty="0"/>
              <a:t> using Norton theorem.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2.   List out the procedure for finding </a:t>
            </a:r>
            <a:r>
              <a:rPr lang="en-US" b="1" dirty="0" err="1"/>
              <a:t>Thevenin’s</a:t>
            </a:r>
            <a:r>
              <a:rPr lang="en-US" b="1" dirty="0"/>
              <a:t> voltage and </a:t>
            </a:r>
            <a:r>
              <a:rPr lang="en-US" b="1" dirty="0" err="1"/>
              <a:t>Thevenin’s</a:t>
            </a:r>
            <a:r>
              <a:rPr lang="en-US" b="1" dirty="0"/>
              <a:t> resistance?</a:t>
            </a:r>
          </a:p>
          <a:p>
            <a:pPr marL="342900" indent="-342900">
              <a:lnSpc>
                <a:spcPct val="200000"/>
              </a:lnSpc>
            </a:pPr>
            <a:r>
              <a:rPr lang="en-US" b="1" dirty="0"/>
              <a:t>3.   Analyze any circuit containing both dependent and independent sources to find </a:t>
            </a:r>
            <a:r>
              <a:rPr lang="en-US" b="1" dirty="0" err="1"/>
              <a:t>Thevenin’s</a:t>
            </a:r>
            <a:r>
              <a:rPr lang="en-US" b="1" dirty="0"/>
              <a:t> voltage and </a:t>
            </a:r>
            <a:r>
              <a:rPr lang="en-US" b="1" dirty="0" err="1"/>
              <a:t>Thevenin’s</a:t>
            </a:r>
            <a:r>
              <a:rPr lang="en-US" b="1" dirty="0"/>
              <a:t> resistance? </a:t>
            </a:r>
          </a:p>
          <a:p>
            <a:pPr marL="342900" indent="-342900">
              <a:lnSpc>
                <a:spcPct val="200000"/>
              </a:lnSpc>
            </a:pPr>
            <a:r>
              <a:rPr lang="en-US" b="1" dirty="0"/>
              <a:t>4.   Summarize the usefulness of </a:t>
            </a:r>
            <a:r>
              <a:rPr lang="en-US" b="1" dirty="0" err="1"/>
              <a:t>thevenin’s</a:t>
            </a:r>
            <a:r>
              <a:rPr lang="en-US" b="1" dirty="0"/>
              <a:t> theorem with an examples? 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24128" y="1172223"/>
            <a:ext cx="794374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0705" y="1943018"/>
            <a:ext cx="10285202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Alexander, Charles K.,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Sadiku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Matthew N.O.. (2013).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electric circuits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(5th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 New York: McGraw-Hill.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M. E. Van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Valkenburg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, Network Analysis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3rd Edition, Pearson Education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Sites and Web links: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https://archive.nptel.ac.in/courses/108/105/108105159/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https://resources.pcb.cadence.com/blog/2023-the-basic-laws-and-theorems-in-electrical-circuit-network-analysis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34204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F267B9-90E6-4D91-2F94-99937051E1E4}"/>
              </a:ext>
            </a:extLst>
          </p:cNvPr>
          <p:cNvGrpSpPr/>
          <p:nvPr/>
        </p:nvGrpSpPr>
        <p:grpSpPr>
          <a:xfrm>
            <a:off x="2247960" y="2332796"/>
            <a:ext cx="7920111" cy="2883877"/>
            <a:chOff x="2247960" y="2332796"/>
            <a:chExt cx="7920111" cy="2883877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E792BE84-3448-2348-B352-CD5BC083E5FD}"/>
                </a:ext>
              </a:extLst>
            </p:cNvPr>
            <p:cNvSpPr/>
            <p:nvPr/>
          </p:nvSpPr>
          <p:spPr>
            <a:xfrm>
              <a:off x="2247960" y="2332796"/>
              <a:ext cx="7920111" cy="288387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BA253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b="1" dirty="0"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en-US" sz="2400" b="1" dirty="0">
                  <a:latin typeface="Poppins" pitchFamily="2" charset="77"/>
                  <a:cs typeface="Poppins" pitchFamily="2" charset="77"/>
                </a:rPr>
                <a:t>THANK YOU</a:t>
              </a: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en-US" sz="2400" b="1" dirty="0">
                  <a:latin typeface="Poppins" pitchFamily="2" charset="77"/>
                  <a:cs typeface="Poppins" pitchFamily="2" charset="77"/>
                </a:rPr>
                <a:t>Team – BEC</a:t>
              </a:r>
            </a:p>
            <a:p>
              <a:pPr algn="ctr"/>
              <a:endParaRPr lang="en-US" sz="2400" b="1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6" name="Picture 2" descr="KL Deemed to be University Logo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31980" y="3092166"/>
              <a:ext cx="3235570" cy="1083212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CoE PPT Template</Template>
  <TotalTime>1984</TotalTime>
  <Words>1349</Words>
  <Application>Microsoft Office PowerPoint</Application>
  <PresentationFormat>Widescreen</PresentationFormat>
  <Paragraphs>145</Paragraphs>
  <Slides>21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anm</dc:creator>
  <cp:lastModifiedBy>Rajani Devi</cp:lastModifiedBy>
  <cp:revision>108</cp:revision>
  <dcterms:created xsi:type="dcterms:W3CDTF">2023-05-11T04:21:37Z</dcterms:created>
  <dcterms:modified xsi:type="dcterms:W3CDTF">2024-12-27T10:00:47Z</dcterms:modified>
</cp:coreProperties>
</file>