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71" r:id="rId2"/>
    <p:sldId id="300" r:id="rId3"/>
    <p:sldId id="258" r:id="rId4"/>
    <p:sldId id="288" r:id="rId5"/>
    <p:sldId id="290" r:id="rId6"/>
    <p:sldId id="305" r:id="rId7"/>
    <p:sldId id="307" r:id="rId8"/>
    <p:sldId id="309" r:id="rId9"/>
    <p:sldId id="299" r:id="rId10"/>
    <p:sldId id="287" r:id="rId11"/>
    <p:sldId id="301" r:id="rId12"/>
    <p:sldId id="311" r:id="rId13"/>
    <p:sldId id="302" r:id="rId14"/>
    <p:sldId id="303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038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43062" y="3131884"/>
            <a:ext cx="7948938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rgbClr val="C00000"/>
                </a:solidFill>
                <a:cs typeface="Poppins" pitchFamily="2" charset="77"/>
              </a:rPr>
              <a:t>BASIC ELECTRICAL &amp; ELCTRONIC CIRCUITS (BEC)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rgbClr val="C00000"/>
                </a:solidFill>
                <a:cs typeface="Poppins" pitchFamily="2" charset="77"/>
              </a:rPr>
              <a:t>COURSE CODE : 23EC1201</a:t>
            </a:r>
            <a:r>
              <a:rPr lang="en-US" sz="3200" b="1" dirty="0">
                <a:solidFill>
                  <a:srgbClr val="C00000"/>
                </a:solidFill>
                <a:cs typeface="Poppins" pitchFamily="2" charset="77"/>
                <a:sym typeface="BioRhyme ExtraBold"/>
              </a:rPr>
              <a:t> 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 smtClean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Op-</a:t>
            </a:r>
            <a:r>
              <a:rPr lang="en-US" sz="4000" b="1" cap="all" dirty="0" err="1" smtClean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aMP</a:t>
            </a:r>
            <a:r>
              <a:rPr lang="en-US" sz="4000" b="1" cap="all" dirty="0" smtClean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n-US" sz="4000" b="1" cap="all" dirty="0" err="1" smtClean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ic</a:t>
            </a:r>
            <a:r>
              <a:rPr lang="en-US" sz="4000" b="1" cap="all" dirty="0" smtClean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 741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BES-II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</a:t>
            </a:r>
            <a:r>
              <a:rPr lang="en-US" sz="2400" dirty="0" smtClean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– SA-4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844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</a:t>
            </a:r>
            <a:r>
              <a:rPr lang="en-US" sz="1600" b="0" i="0" dirty="0" smtClean="0">
                <a:effectLst/>
                <a:latin typeface="Poppins"/>
                <a:cs typeface="Poppins"/>
              </a:rPr>
              <a:t>of Op-Amp IC 741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 smtClean="0">
                <a:effectLst/>
                <a:latin typeface="Arial" panose="020B0604020202020204" pitchFamily="34" charset="0"/>
              </a:rPr>
              <a:t>Demonstrate the basic concept of Op-Amp IC 741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 smtClean="0">
                <a:effectLst/>
                <a:latin typeface="Arial" panose="020B0604020202020204" pitchFamily="34" charset="0"/>
              </a:rPr>
              <a:t>Describe the concept of Op-Amp IC 741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</a:t>
            </a:r>
            <a:r>
              <a:rPr lang="en-US" sz="1600" b="0" i="0" dirty="0" smtClean="0">
                <a:effectLst/>
                <a:latin typeface="Arial" panose="020B0604020202020204" pitchFamily="34" charset="0"/>
              </a:rPr>
              <a:t>the importance of Op-Amp IC 741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 smtClean="0">
                <a:effectLst/>
                <a:latin typeface="Arial" panose="020B0604020202020204" pitchFamily="34" charset="0"/>
              </a:rPr>
              <a:t>Define the concept of Op-Amp IC 741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 smtClean="0">
                <a:effectLst/>
                <a:latin typeface="Arial" panose="020B0604020202020204" pitchFamily="34" charset="0"/>
              </a:rPr>
              <a:t>Describe the detailed concept of Op-Amp </a:t>
            </a:r>
            <a:r>
              <a:rPr lang="en-US" sz="1600" dirty="0" smtClean="0">
                <a:latin typeface="Arial" panose="020B0604020202020204" pitchFamily="34" charset="0"/>
              </a:rPr>
              <a:t>IC 741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 smtClean="0">
                <a:latin typeface="Arial" panose="020B0604020202020204" pitchFamily="34" charset="0"/>
              </a:rPr>
              <a:t>Summarize the concept of Op-</a:t>
            </a:r>
            <a:r>
              <a:rPr lang="en-US" sz="1600" dirty="0" err="1" smtClean="0">
                <a:latin typeface="Arial" panose="020B0604020202020204" pitchFamily="34" charset="0"/>
              </a:rPr>
              <a:t>Amo</a:t>
            </a:r>
            <a:r>
              <a:rPr lang="en-US" sz="1600" dirty="0" smtClean="0">
                <a:latin typeface="Arial" panose="020B0604020202020204" pitchFamily="34" charset="0"/>
              </a:rPr>
              <a:t> IC 741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81149" y="117635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383658" y="2074985"/>
            <a:ext cx="10321341" cy="3970318"/>
            <a:chOff x="1383658" y="2074985"/>
            <a:chExt cx="10321341" cy="3970318"/>
          </a:xfrm>
        </p:grpSpPr>
        <p:sp>
          <p:nvSpPr>
            <p:cNvPr id="53" name="TextBox 52"/>
            <p:cNvSpPr txBox="1"/>
            <p:nvPr/>
          </p:nvSpPr>
          <p:spPr>
            <a:xfrm>
              <a:off x="1383658" y="2074985"/>
              <a:ext cx="4429313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/>
                <a:t>An operational amplifier, or op amp, is a versatile electronic device that can perform various mathematical operations on analog signals, such as addition, subtraction, multiplication, integration, differentiation, and more. </a:t>
              </a:r>
              <a:endParaRPr lang="en-US" dirty="0" smtClean="0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US" dirty="0" smtClean="0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 smtClean="0"/>
                <a:t>An </a:t>
              </a:r>
              <a:r>
                <a:rPr lang="en-US" dirty="0"/>
                <a:t>op amp is a DC-coupled high-gain voltage amplifier with a differential input and a single output</a:t>
              </a:r>
              <a:r>
                <a:rPr lang="en-US" dirty="0" smtClean="0"/>
                <a:t>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US" dirty="0" smtClean="0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/>
                <a:t>It can be used as a building block for many analog circuits, such as filters, oscillators, comparators, amplifiers, and so on</a:t>
              </a:r>
              <a:r>
                <a:rPr lang="en-US" dirty="0" smtClean="0"/>
                <a:t>.</a:t>
              </a: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12971" y="2292227"/>
              <a:ext cx="5892028" cy="317147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63295" y="4324048"/>
              <a:ext cx="2741704" cy="14304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74614" y="1964452"/>
            <a:ext cx="488249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An IC 741 op-amp is defined as a monolithic integrated circuit that contains a single operational amplifier. </a:t>
            </a: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is packaged in an 8-pin dual-in-line (DIP) plastic or metal case. </a:t>
            </a: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IC 741 op amp has three main terminals: an inverting input (pin 2), a non-inverting input (pin 3), and an output (pin 6</a:t>
            </a:r>
            <a:r>
              <a:rPr lang="en-US" dirty="0" smtClean="0"/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also has two power supply terminals: a positive supply (pin 7) and a negative supply (pin </a:t>
            </a:r>
            <a:r>
              <a:rPr lang="en-US" dirty="0" smtClean="0"/>
              <a:t>4).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Additionally</a:t>
            </a:r>
            <a:r>
              <a:rPr lang="en-US" dirty="0"/>
              <a:t>, it has two offset null terminals (pin 1 and pin 5) that can be used to adjust the input offset voltage to zero by adding an external potentiometer.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829486" y="1353166"/>
            <a:ext cx="6763108" cy="5067300"/>
            <a:chOff x="5829486" y="1353166"/>
            <a:chExt cx="6763108" cy="50673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29486" y="1353166"/>
              <a:ext cx="6763108" cy="50673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7095719" y="5793876"/>
              <a:ext cx="423064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n-US" dirty="0"/>
                <a:t>Fig. </a:t>
              </a:r>
              <a:r>
                <a:rPr lang="en-US" dirty="0" smtClean="0"/>
                <a:t>2. Pin diagram of Operational </a:t>
              </a:r>
              <a:r>
                <a:rPr lang="en-US" dirty="0"/>
                <a:t>Amplifier.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995352" y="111563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459137"/>
              </p:ext>
            </p:extLst>
          </p:nvPr>
        </p:nvGraphicFramePr>
        <p:xfrm>
          <a:off x="1541414" y="1867989"/>
          <a:ext cx="9470574" cy="4185351"/>
        </p:xfrm>
        <a:graphic>
          <a:graphicData uri="http://schemas.openxmlformats.org/drawingml/2006/table">
            <a:tbl>
              <a:tblPr/>
              <a:tblGrid>
                <a:gridCol w="3156858">
                  <a:extLst>
                    <a:ext uri="{9D8B030D-6E8A-4147-A177-3AD203B41FA5}">
                      <a16:colId xmlns:a16="http://schemas.microsoft.com/office/drawing/2014/main" val="4205216980"/>
                    </a:ext>
                  </a:extLst>
                </a:gridCol>
                <a:gridCol w="3156858">
                  <a:extLst>
                    <a:ext uri="{9D8B030D-6E8A-4147-A177-3AD203B41FA5}">
                      <a16:colId xmlns:a16="http://schemas.microsoft.com/office/drawing/2014/main" val="780223918"/>
                    </a:ext>
                  </a:extLst>
                </a:gridCol>
                <a:gridCol w="3156858">
                  <a:extLst>
                    <a:ext uri="{9D8B030D-6E8A-4147-A177-3AD203B41FA5}">
                      <a16:colId xmlns:a16="http://schemas.microsoft.com/office/drawing/2014/main" val="383243088"/>
                    </a:ext>
                  </a:extLst>
                </a:gridCol>
              </a:tblGrid>
              <a:tr h="243831"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effectLst/>
                        </a:rPr>
                        <a:t>Pin Number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effectLst/>
                        </a:rPr>
                        <a:t>Pin Name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effectLst/>
                        </a:rPr>
                        <a:t>Pin Function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39310"/>
                  </a:ext>
                </a:extLst>
              </a:tr>
              <a:tr h="771717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1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Offset Null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effectLst/>
                        </a:rPr>
                        <a:t>Used to adjust the input offset voltage to zero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558945"/>
                  </a:ext>
                </a:extLst>
              </a:tr>
              <a:tr h="426705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2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Inverting Input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effectLst/>
                        </a:rPr>
                        <a:t>Receives the negative or inverted input signal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178196"/>
                  </a:ext>
                </a:extLst>
              </a:tr>
              <a:tr h="609576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3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Non-Inverting Input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effectLst/>
                        </a:rPr>
                        <a:t>Receives the positive or non-inverted input signal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235086"/>
                  </a:ext>
                </a:extLst>
              </a:tr>
              <a:tr h="426705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4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Negative Supply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effectLst/>
                        </a:rPr>
                        <a:t>Connected to the negative voltage source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417843"/>
                  </a:ext>
                </a:extLst>
              </a:tr>
              <a:tr h="609576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5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Offset Null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effectLst/>
                        </a:rPr>
                        <a:t>Used to adjust the input offset voltage to zero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41739"/>
                  </a:ext>
                </a:extLst>
              </a:tr>
              <a:tr h="426705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6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Output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effectLst/>
                        </a:rPr>
                        <a:t>Provides the amplified output signal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355220"/>
                  </a:ext>
                </a:extLst>
              </a:tr>
              <a:tr h="426705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7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Positive Supply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effectLst/>
                        </a:rPr>
                        <a:t>Connected to the positive voltage source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706158"/>
                  </a:ext>
                </a:extLst>
              </a:tr>
              <a:tr h="243831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8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effectLst/>
                        </a:rPr>
                        <a:t>NC (No Connection)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0" dirty="0">
                          <a:effectLst/>
                        </a:rPr>
                        <a:t>No connection</a:t>
                      </a:r>
                    </a:p>
                  </a:txBody>
                  <a:tcPr marL="52267" marR="52267" marT="26134" marB="261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33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1162294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861759" y="1863497"/>
            <a:ext cx="5594939" cy="4287192"/>
            <a:chOff x="3861759" y="1863497"/>
            <a:chExt cx="5594939" cy="4287192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61759" y="1863497"/>
              <a:ext cx="5270803" cy="3962537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4210518" y="5781357"/>
              <a:ext cx="52461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n-US" dirty="0"/>
                <a:t>Fig. </a:t>
              </a:r>
              <a:r>
                <a:rPr lang="en-US" dirty="0" smtClean="0"/>
                <a:t>3. Op-Amp characteristics with negative feedback.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2826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1162294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384329" y="1820761"/>
            <a:ext cx="9676563" cy="4247317"/>
            <a:chOff x="1384329" y="1820761"/>
            <a:chExt cx="9676563" cy="4247317"/>
          </a:xfrm>
        </p:grpSpPr>
        <p:sp>
          <p:nvSpPr>
            <p:cNvPr id="7" name="TextBox 6"/>
            <p:cNvSpPr txBox="1"/>
            <p:nvPr/>
          </p:nvSpPr>
          <p:spPr>
            <a:xfrm>
              <a:off x="1384329" y="1820761"/>
              <a:ext cx="9676563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 smtClean="0"/>
                <a:t>Important Characteristics of Op-Amp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Open-loop gain: </a:t>
              </a:r>
              <a:r>
                <a:rPr lang="en-US" dirty="0"/>
                <a:t>This is the gain of the op-amp without any feedback. It is typically very high, ranging from 105 to 108. </a:t>
              </a:r>
              <a:endParaRPr lang="en-US" dirty="0" smtClean="0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 smtClean="0"/>
                <a:t>Input </a:t>
              </a:r>
              <a:r>
                <a:rPr lang="en-US" b="1" dirty="0"/>
                <a:t>impedance: </a:t>
              </a:r>
              <a:r>
                <a:rPr lang="en-US" dirty="0"/>
                <a:t>This is the resistance that the op-amp presents to the input signal. It is typically very high, ranging from 105 to 1013 ohms. </a:t>
              </a:r>
              <a:endParaRPr lang="en-US" dirty="0" smtClean="0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Output impedance: </a:t>
              </a:r>
              <a:r>
                <a:rPr lang="en-US" dirty="0"/>
                <a:t>This is the resistance that the op-amp presents to the output load. It is typically very low, ranging from 10 to 100 ohms</a:t>
              </a:r>
              <a:r>
                <a:rPr lang="en-US" dirty="0" smtClean="0"/>
                <a:t>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/>
                <a:t>Offset voltage: This is the voltage difference between the inverting and non-inverting inputs when the output voltage is zero</a:t>
              </a:r>
              <a:r>
                <a:rPr lang="en-US" dirty="0" smtClean="0"/>
                <a:t>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Slew rate: </a:t>
              </a:r>
              <a:r>
                <a:rPr lang="en-US" dirty="0"/>
                <a:t>This is the maximum rate of change of the output voltage per unit time. It is usually expressed in volts per microsecond (V/µs</a:t>
              </a:r>
              <a:r>
                <a:rPr lang="en-US" dirty="0" smtClean="0"/>
                <a:t>).  </a:t>
              </a:r>
              <a:endParaRPr lang="en-US" dirty="0" smtClean="0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Bandwidth: </a:t>
              </a:r>
              <a:r>
                <a:rPr lang="en-US" dirty="0"/>
                <a:t>This is the range of frequencies that the op-amp can amplify without significant attenuation or </a:t>
              </a:r>
              <a:r>
                <a:rPr lang="en-US" dirty="0" smtClean="0"/>
                <a:t>distortion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Common-mode rejection ratio (CMRR): </a:t>
              </a:r>
              <a:r>
                <a:rPr lang="en-US" dirty="0"/>
                <a:t>This is a measure of how well the op-amp can reject signals that are common to both inputs</a:t>
              </a:r>
              <a:endParaRPr lang="en-US" dirty="0" smtClean="0"/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65631" y="4545330"/>
              <a:ext cx="809489" cy="38991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46185" y="5164908"/>
              <a:ext cx="839769" cy="3410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883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1162294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4614" y="1964452"/>
            <a:ext cx="96765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Important Applications of Op-Amp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smtClean="0"/>
              <a:t>Voltage </a:t>
            </a:r>
            <a:r>
              <a:rPr lang="en-US" b="1" dirty="0"/>
              <a:t>follower: </a:t>
            </a:r>
            <a:r>
              <a:rPr lang="en-US" dirty="0"/>
              <a:t>This is a circuit that produces an output voltage that is equal to the input voltage. It is also known as a buffer or an isolation amplifier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Inverting amplifier: </a:t>
            </a:r>
            <a:r>
              <a:rPr lang="en-US" dirty="0"/>
              <a:t>This is a circuit that produces an output voltage that is proportional and opposite to the input voltage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Non-inverting amplifier</a:t>
            </a:r>
            <a:r>
              <a:rPr lang="en-US" dirty="0"/>
              <a:t>: This is a circuit that produces an output voltage that is proportional and the same as the input voltage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Summing amplifier: </a:t>
            </a:r>
            <a:r>
              <a:rPr lang="en-US" dirty="0"/>
              <a:t>This is a circuit that produces an output voltage that is proportional to the sum of two or more input voltages. </a:t>
            </a: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Differential amplifier: </a:t>
            </a:r>
            <a:r>
              <a:rPr lang="en-US" dirty="0"/>
              <a:t>This is a circuit that produces an output voltage that is proportional to the difference between two input voltages. </a:t>
            </a: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Integrator: </a:t>
            </a:r>
            <a:r>
              <a:rPr lang="en-US" dirty="0"/>
              <a:t>This is a circuit that produces an output voltage that is proportional to the integral of the input voltage with respect to time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Differentiator: </a:t>
            </a:r>
            <a:r>
              <a:rPr lang="en-US" dirty="0"/>
              <a:t>This is a circuit that produces an output voltage that is proportional to the derivative of the input voltage with respect to time.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1021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1687134" y="891247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ACTIVITIES/ CASE STUDIES/ 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383658" y="1903973"/>
            <a:ext cx="10086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Input impedance of the IC 741 op amp is above 100kilo-ohms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o/p of the 741 IC op amp is below 100 ohms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frequency range of amplifier signals for IC 741 op amp is from 0Hz- 1MHz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offset current and offset voltage of the IC 741 op amp is low</a:t>
            </a:r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2919046" y="971970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383657" y="1957420"/>
            <a:ext cx="9758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IC 741 op amp is a versatile and widely used electronic device that can perform various mathematical operations on analog signals.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has many features that make it suitable for a wide range of applications, such as high input impedance, low output impedance, short-circuit protection, internal frequency compensation, and low offset voltage.</a:t>
            </a: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An Op-amp 741 has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 smtClean="0">
                <a:latin typeface="Arial" panose="020B0604020202020204" pitchFamily="34" charset="0"/>
              </a:rPr>
              <a:t>…5 pins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 smtClean="0">
                <a:latin typeface="Arial" panose="020B0604020202020204" pitchFamily="34" charset="0"/>
              </a:rPr>
              <a:t>…6 pins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 smtClean="0">
                <a:latin typeface="Arial" panose="020B0604020202020204" pitchFamily="34" charset="0"/>
              </a:rPr>
              <a:t>…7 pins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b="1" dirty="0" smtClean="0">
                <a:latin typeface="Arial" panose="020B0604020202020204" pitchFamily="34" charset="0"/>
              </a:rPr>
              <a:t>…8 pins</a:t>
            </a:r>
            <a:endParaRPr lang="en-US" sz="1600" b="1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sz="1600" dirty="0" smtClean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…What is the ideal input resistance of an Op-Amp.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 smtClean="0"/>
              <a:t>…Zero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b="1" dirty="0" smtClean="0"/>
              <a:t>…infinity</a:t>
            </a:r>
            <a:endParaRPr lang="en-US" b="1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 smtClean="0"/>
              <a:t>…relative resistance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 smtClean="0"/>
              <a:t>…None</a:t>
            </a: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Which type of bus </a:t>
            </a:r>
            <a:r>
              <a:rPr lang="en-US" sz="1600" dirty="0" err="1" smtClean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structre</a:t>
            </a:r>
            <a:r>
              <a:rPr lang="en-US" sz="1600" dirty="0" smtClean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 is used to connect the I/O devices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 smtClean="0">
                <a:latin typeface="Arial" panose="020B0604020202020204" pitchFamily="34" charset="0"/>
              </a:rPr>
              <a:t>…</a:t>
            </a:r>
            <a:r>
              <a:rPr lang="en-US" sz="1600" b="1" dirty="0" smtClean="0">
                <a:latin typeface="Arial" panose="020B0604020202020204" pitchFamily="34" charset="0"/>
              </a:rPr>
              <a:t>Single</a:t>
            </a:r>
            <a:endParaRPr lang="en-US" sz="1600" b="1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 smtClean="0">
                <a:latin typeface="Arial" panose="020B0604020202020204" pitchFamily="34" charset="0"/>
              </a:rPr>
              <a:t>…Multiple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 smtClean="0">
                <a:latin typeface="Arial" panose="020B0604020202020204" pitchFamily="34" charset="0"/>
              </a:rPr>
              <a:t>…Star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b="1" dirty="0" smtClean="0">
                <a:latin typeface="Arial" panose="020B0604020202020204" pitchFamily="34" charset="0"/>
              </a:rPr>
              <a:t>…</a:t>
            </a:r>
            <a:r>
              <a:rPr lang="en-US" sz="1600" dirty="0" smtClean="0">
                <a:latin typeface="Arial" panose="020B0604020202020204" pitchFamily="34" charset="0"/>
              </a:rPr>
              <a:t>Node to Node</a:t>
            </a: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sz="1600" dirty="0" smtClean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…A special case of non-inverting amplifier in which all of the output voltage is given to inverting input of the op-amp is called 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4635757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 smtClean="0"/>
              <a:t>…Differentiator 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 smtClean="0"/>
              <a:t>…Integrator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 smtClean="0"/>
              <a:t>…</a:t>
            </a:r>
            <a:r>
              <a:rPr lang="en-US" dirty="0" err="1" smtClean="0"/>
              <a:t>Logartihmic</a:t>
            </a:r>
            <a:r>
              <a:rPr lang="en-US" dirty="0" smtClean="0"/>
              <a:t> amplifier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b="1" dirty="0" smtClean="0"/>
              <a:t>…Voltage follower</a:t>
            </a:r>
            <a:endParaRPr lang="en-US" sz="1600" b="1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728854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1883" y="2131146"/>
            <a:ext cx="96082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b="1" dirty="0" smtClean="0"/>
              <a:t>Describe the working of an inverting op-amp with its circuit diagram.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b="1" dirty="0" smtClean="0"/>
              <a:t>List out the applications of 741 op-amp.</a:t>
            </a:r>
            <a:endParaRPr lang="en-US" b="1" dirty="0"/>
          </a:p>
          <a:p>
            <a:pPr marL="342900" indent="-342900">
              <a:lnSpc>
                <a:spcPct val="200000"/>
              </a:lnSpc>
              <a:buAutoNum type="arabicPeriod" startAt="3"/>
            </a:pPr>
            <a:r>
              <a:rPr lang="en-US" b="1" dirty="0" smtClean="0"/>
              <a:t>Analyze the characteristics of negative feedback op-amp</a:t>
            </a:r>
          </a:p>
          <a:p>
            <a:pPr marL="342900" indent="-342900">
              <a:lnSpc>
                <a:spcPct val="200000"/>
              </a:lnSpc>
              <a:buAutoNum type="arabicPeriod" startAt="3"/>
            </a:pPr>
            <a:r>
              <a:rPr lang="en-US" b="1" dirty="0" smtClean="0"/>
              <a:t>Summarize the important characteristics of </a:t>
            </a:r>
            <a:r>
              <a:rPr lang="en-US" b="1" smtClean="0"/>
              <a:t>741 op-amp</a:t>
            </a:r>
            <a:endParaRPr lang="en-US" b="1" dirty="0"/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9789" y="2156663"/>
            <a:ext cx="96082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John Bird. Electrical circuit theory and technology. Routledge publisher, 6</a:t>
            </a:r>
            <a:r>
              <a:rPr lang="en-US" baseline="30000" dirty="0" smtClean="0"/>
              <a:t>th</a:t>
            </a:r>
            <a:r>
              <a:rPr lang="en-US" dirty="0" smtClean="0"/>
              <a:t> edition 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 Op-amp and linear integrated circuit technology, R. A. </a:t>
            </a:r>
            <a:r>
              <a:rPr lang="en-US" dirty="0" err="1" smtClean="0"/>
              <a:t>Gayakwad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3</a:t>
            </a:r>
            <a:r>
              <a:rPr lang="en-US" dirty="0" smtClean="0"/>
              <a:t>. David A. Bell. Electronic Devices and Circuits. 5</a:t>
            </a:r>
            <a:r>
              <a:rPr lang="en-US" baseline="30000" dirty="0" smtClean="0"/>
              <a:t>th</a:t>
            </a:r>
            <a:r>
              <a:rPr lang="en-US" dirty="0" smtClean="0"/>
              <a:t> Edition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dirty="0"/>
              <a:t>1. https://www.electrical4u.com/op-amp-or-operational-amplifier-741-ic/#:~:text=An%20IC%20741%20op%2Damp,an%20output%20(pin%206).</a:t>
            </a:r>
          </a:p>
          <a:p>
            <a:pPr>
              <a:lnSpc>
                <a:spcPct val="150000"/>
              </a:lnSpc>
            </a:pPr>
            <a:r>
              <a:rPr lang="en-US" dirty="0"/>
              <a:t>2. https://www.elprocus.com/ic-741-op-amp-tutorial-and-characteristics</a:t>
            </a:r>
            <a:r>
              <a:rPr lang="en-US" dirty="0" smtClean="0"/>
              <a:t>/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34204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2247960" y="2332796"/>
            <a:ext cx="79201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THANK YOU</a:t>
              </a: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– Fundamentals of IoT &amp; Sensors</a:t>
              </a: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308</TotalTime>
  <Words>1135</Words>
  <Application>Microsoft Office PowerPoint</Application>
  <PresentationFormat>Widescreen</PresentationFormat>
  <Paragraphs>152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BioRhyme ExtraBold</vt:lpstr>
      <vt:lpstr>Calibri</vt:lpstr>
      <vt:lpstr>Gill Sans MT</vt:lpstr>
      <vt:lpstr>Poppins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Tammineni Sreelatha</dc:creator>
  <cp:lastModifiedBy>user</cp:lastModifiedBy>
  <cp:revision>24</cp:revision>
  <dcterms:created xsi:type="dcterms:W3CDTF">2023-05-11T04:21:37Z</dcterms:created>
  <dcterms:modified xsi:type="dcterms:W3CDTF">2024-01-09T05:39:06Z</dcterms:modified>
</cp:coreProperties>
</file>