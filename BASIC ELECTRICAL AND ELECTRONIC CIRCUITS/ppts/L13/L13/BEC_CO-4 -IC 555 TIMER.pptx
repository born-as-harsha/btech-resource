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6"/>
  </p:notesMasterIdLst>
  <p:handoutMasterIdLst>
    <p:handoutMasterId r:id="rId17"/>
  </p:handoutMasterIdLst>
  <p:sldIdLst>
    <p:sldId id="271" r:id="rId2"/>
    <p:sldId id="300" r:id="rId3"/>
    <p:sldId id="258" r:id="rId4"/>
    <p:sldId id="288" r:id="rId5"/>
    <p:sldId id="290" r:id="rId6"/>
    <p:sldId id="306" r:id="rId7"/>
    <p:sldId id="305" r:id="rId8"/>
    <p:sldId id="299" r:id="rId9"/>
    <p:sldId id="285" r:id="rId10"/>
    <p:sldId id="287" r:id="rId11"/>
    <p:sldId id="301" r:id="rId12"/>
    <p:sldId id="302" r:id="rId13"/>
    <p:sldId id="303"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9" d="100"/>
          <a:sy n="79" d="100"/>
        </p:scale>
        <p:origin x="-384" y="12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31-03-2024</a:t>
            </a:fld>
            <a:endParaRPr lang="en-IN"/>
          </a:p>
        </p:txBody>
      </p:sp>
      <p:sp>
        <p:nvSpPr>
          <p:cNvPr id="4" name="Footer Placeholder 3">
            <a:extLst>
              <a:ext uri="{FF2B5EF4-FFF2-40B4-BE49-F238E27FC236}">
                <a16:creationId xmlns=""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31-03-2024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800380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 xmlns:a16="http://schemas.microsoft.com/office/drawing/2014/main" id="{D33DD7EC-6054-A5D7-0F93-3916702EC90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 xmlns:a16="http://schemas.microsoft.com/office/drawing/2014/main" id="{DB6D7A70-9470-38A5-6785-933F5C089234}"/>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 xmlns:a16="http://schemas.microsoft.com/office/drawing/2014/main" id="{A51BE3ED-273E-B0A1-FC3A-EE01E1A92D27}"/>
              </a:ext>
            </a:extLst>
          </p:cNvPr>
          <p:cNvPicPr>
            <a:picLocks noChangeAspect="1"/>
          </p:cNvPicPr>
          <p:nvPr userDrawn="1"/>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electronicsforu.com/technology-trends/learn-electronics/flip-flop-rs-jk-t-d"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electronicsforu.com/videos-slideshows/setup-555-timer-circuit-monostable-mod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2392" y="167951"/>
            <a:ext cx="6170855" cy="6111678"/>
          </a:xfrm>
          <a:prstGeom prst="rect">
            <a:avLst/>
          </a:prstGeom>
          <a:noFill/>
          <a:ln>
            <a:noFill/>
          </a:ln>
        </p:spPr>
      </p:pic>
      <p:sp>
        <p:nvSpPr>
          <p:cNvPr id="476" name="Google Shape;476;p16"/>
          <p:cNvSpPr txBox="1"/>
          <p:nvPr/>
        </p:nvSpPr>
        <p:spPr>
          <a:xfrm>
            <a:off x="4243062" y="3131884"/>
            <a:ext cx="7948938" cy="2369839"/>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2800" b="1" dirty="0" smtClean="0">
                <a:solidFill>
                  <a:srgbClr val="C00000"/>
                </a:solidFill>
                <a:cs typeface="Poppins" pitchFamily="2" charset="77"/>
              </a:rPr>
              <a:t>BASIC ELECTRICAL &amp; ELCTRONIC CIRCUITS (BEC)</a:t>
            </a:r>
          </a:p>
          <a:p>
            <a:pPr marR="0" lvl="0" indent="0" algn="ctr">
              <a:spcBef>
                <a:spcPts val="0"/>
              </a:spcBef>
              <a:spcAft>
                <a:spcPts val="0"/>
              </a:spcAft>
              <a:buNone/>
            </a:pPr>
            <a:r>
              <a:rPr lang="en-US" sz="2800" b="1" dirty="0" smtClean="0">
                <a:solidFill>
                  <a:srgbClr val="C00000"/>
                </a:solidFill>
                <a:cs typeface="Poppins" pitchFamily="2" charset="77"/>
              </a:rPr>
              <a:t>COURSE CODE : </a:t>
            </a:r>
            <a:r>
              <a:rPr lang="en-US" sz="2800" b="1" dirty="0" smtClean="0">
                <a:solidFill>
                  <a:srgbClr val="C00000"/>
                </a:solidFill>
                <a:cs typeface="Poppins" pitchFamily="2" charset="77"/>
              </a:rPr>
              <a:t>23EC1203</a:t>
            </a:r>
            <a:endParaRPr lang="en-US" sz="3200" b="1" dirty="0">
              <a:solidFill>
                <a:srgbClr val="C00000"/>
              </a:solidFill>
              <a:cs typeface="Poppins" pitchFamily="2" charset="77"/>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smtClean="0">
                <a:ln/>
                <a:solidFill>
                  <a:srgbClr val="C00000"/>
                </a:solidFill>
                <a:effectLst/>
                <a:cs typeface="Poppins" panose="00000500000000000000" pitchFamily="2" charset="0"/>
              </a:rPr>
              <a:t>Ic 555 </a:t>
            </a:r>
            <a:r>
              <a:rPr lang="en-US" sz="4000" b="1" cap="all" dirty="0" err="1" smtClean="0">
                <a:ln/>
                <a:solidFill>
                  <a:srgbClr val="C00000"/>
                </a:solidFill>
                <a:effectLst/>
                <a:cs typeface="Poppins" panose="00000500000000000000" pitchFamily="2" charset="0"/>
              </a:rPr>
              <a:t>tIMER</a:t>
            </a:r>
            <a:r>
              <a:rPr lang="en-US" sz="4000" b="1" cap="all" dirty="0" smtClean="0">
                <a:ln/>
                <a:solidFill>
                  <a:srgbClr val="C00000"/>
                </a:solidFill>
                <a:effectLst/>
                <a:cs typeface="Poppins" panose="00000500000000000000" pitchFamily="2" charset="0"/>
              </a:rPr>
              <a:t> </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 xmlns:a16="http://schemas.microsoft.com/office/drawing/2014/main" id="{B9F0C376-F4D3-1950-3474-EFF28411BDC6}"/>
              </a:ext>
            </a:extLst>
          </p:cNvPr>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BES-II</a:t>
            </a:r>
          </a:p>
        </p:txBody>
      </p:sp>
      <p:sp>
        <p:nvSpPr>
          <p:cNvPr id="8" name="Google Shape;502;p17">
            <a:extLst>
              <a:ext uri="{FF2B5EF4-FFF2-40B4-BE49-F238E27FC236}">
                <a16:creationId xmlns="" xmlns:a16="http://schemas.microsoft.com/office/drawing/2014/main" id="{7153E61F-4441-DBE3-3DFF-6E9EF6C48D23}"/>
              </a:ext>
            </a:extLst>
          </p:cNvPr>
          <p:cNvSpPr/>
          <p:nvPr/>
        </p:nvSpPr>
        <p:spPr>
          <a:xfrm>
            <a:off x="4477089" y="5676801"/>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a:t>
            </a:r>
            <a:r>
              <a:rPr lang="en-US" sz="2400" dirty="0" smtClean="0">
                <a:solidFill>
                  <a:schemeClr val="lt1"/>
                </a:solidFill>
                <a:ea typeface="Calibri"/>
                <a:cs typeface="Poppins" panose="00000500000000000000" pitchFamily="2" charset="0"/>
                <a:sym typeface="Calibri"/>
              </a:rPr>
              <a:t>– No.</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D530E72E-233E-E443-1A84-D3CD02ECB889}"/>
              </a:ext>
            </a:extLst>
          </p:cNvPr>
          <p:cNvSpPr/>
          <p:nvPr/>
        </p:nvSpPr>
        <p:spPr>
          <a:xfrm>
            <a:off x="4471371" y="84408"/>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 xmlns:a16="http://schemas.microsoft.com/office/drawing/2014/main" id="{D7C61438-200D-827A-D4DD-5B5127AFA187}"/>
              </a:ext>
            </a:extLst>
          </p:cNvPr>
          <p:cNvSpPr txBox="1"/>
          <p:nvPr/>
        </p:nvSpPr>
        <p:spPr>
          <a:xfrm>
            <a:off x="914400" y="684469"/>
            <a:ext cx="10731286" cy="416011"/>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a:t>
            </a:r>
            <a:r>
              <a:rPr lang="en-US" sz="1600" b="0" i="0" dirty="0" smtClean="0">
                <a:effectLst/>
                <a:latin typeface="Poppins"/>
                <a:cs typeface="Poppins"/>
              </a:rPr>
              <a:t>of </a:t>
            </a:r>
            <a:r>
              <a:rPr lang="en-US" sz="1600" dirty="0" smtClean="0">
                <a:latin typeface="Poppins"/>
                <a:cs typeface="Poppins"/>
              </a:rPr>
              <a:t>IC555 timers </a:t>
            </a:r>
            <a:endParaRPr lang="en-US" sz="1600" b="0" i="0" dirty="0">
              <a:effectLst/>
              <a:latin typeface="Poppins"/>
              <a:cs typeface="Poppins"/>
            </a:endParaRPr>
          </a:p>
        </p:txBody>
      </p:sp>
      <p:sp>
        <p:nvSpPr>
          <p:cNvPr id="7" name="Rounded Rectangle 17">
            <a:extLst>
              <a:ext uri="{FF2B5EF4-FFF2-40B4-BE49-F238E27FC236}">
                <a16:creationId xmlns="" xmlns:a16="http://schemas.microsoft.com/office/drawing/2014/main" id="{7F3AABB0-F8BA-C900-B6BF-45F4B58E9490}"/>
              </a:ext>
            </a:extLst>
          </p:cNvPr>
          <p:cNvSpPr/>
          <p:nvPr/>
        </p:nvSpPr>
        <p:spPr>
          <a:xfrm>
            <a:off x="4160582" y="1807062"/>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 xmlns:a16="http://schemas.microsoft.com/office/drawing/2014/main" id="{2B5EAD4E-C007-9DE7-A40A-12802D3C9611}"/>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smtClean="0">
                <a:effectLst/>
                <a:latin typeface="Arial" panose="020B0604020202020204" pitchFamily="34" charset="0"/>
              </a:rPr>
              <a:t>Demonstrate </a:t>
            </a:r>
            <a:r>
              <a:rPr lang="en-US" sz="1600" dirty="0" smtClean="0">
                <a:latin typeface="Poppins"/>
                <a:cs typeface="Poppins"/>
              </a:rPr>
              <a:t>IC555 pin configuration </a:t>
            </a:r>
            <a:endParaRPr lang="en-US" sz="1600" b="0" i="0" dirty="0">
              <a:effectLst/>
              <a:latin typeface="Arial" panose="020B0604020202020204" pitchFamily="34" charset="0"/>
            </a:endParaRPr>
          </a:p>
          <a:p>
            <a:pPr marL="342900" indent="-342900">
              <a:buAutoNum type="arabicPeriod"/>
            </a:pPr>
            <a:r>
              <a:rPr lang="en-US" sz="1600" b="0" i="0" dirty="0" smtClean="0">
                <a:effectLst/>
                <a:latin typeface="Arial" panose="020B0604020202020204" pitchFamily="34" charset="0"/>
              </a:rPr>
              <a:t>Describe circuit diagram</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List out </a:t>
            </a:r>
            <a:r>
              <a:rPr lang="en-US" sz="1600" b="0" i="0" dirty="0" smtClean="0">
                <a:effectLst/>
                <a:latin typeface="Arial" panose="020B0604020202020204" pitchFamily="34" charset="0"/>
              </a:rPr>
              <a:t>the modes of operation</a:t>
            </a:r>
            <a:endParaRPr lang="en-US" sz="1600" b="0" i="0" dirty="0">
              <a:effectLst/>
              <a:latin typeface="Arial" panose="020B0604020202020204" pitchFamily="34" charset="0"/>
            </a:endParaRPr>
          </a:p>
        </p:txBody>
      </p:sp>
      <p:pic>
        <p:nvPicPr>
          <p:cNvPr id="11" name="Graphic 10" descr="Bullseye outline">
            <a:extLst>
              <a:ext uri="{FF2B5EF4-FFF2-40B4-BE49-F238E27FC236}">
                <a16:creationId xmlns=""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smtClean="0">
                <a:effectLst/>
                <a:latin typeface="Arial" panose="020B0604020202020204" pitchFamily="34" charset="0"/>
              </a:rPr>
              <a:t>Define  IC 555 with PIN configuration  </a:t>
            </a:r>
            <a:endParaRPr lang="en-US" sz="1600" b="0" i="0" dirty="0">
              <a:effectLst/>
              <a:latin typeface="Arial" panose="020B0604020202020204" pitchFamily="34" charset="0"/>
            </a:endParaRPr>
          </a:p>
          <a:p>
            <a:pPr marL="342900" indent="-342900">
              <a:buAutoNum type="arabicPeriod"/>
            </a:pPr>
            <a:r>
              <a:rPr lang="en-US" sz="1600" b="0" i="0" dirty="0" smtClean="0">
                <a:effectLst/>
                <a:latin typeface="Arial" panose="020B0604020202020204" pitchFamily="34" charset="0"/>
              </a:rPr>
              <a:t>Describe The operation of 555  IC TIMER</a:t>
            </a:r>
            <a:endParaRPr lang="en-US" sz="1600" b="0" i="0" dirty="0">
              <a:effectLst/>
              <a:latin typeface="Arial" panose="020B0604020202020204" pitchFamily="34" charset="0"/>
            </a:endParaRPr>
          </a:p>
          <a:p>
            <a:pPr marL="342900" indent="-342900">
              <a:buAutoNum type="arabicPeriod"/>
            </a:pPr>
            <a:r>
              <a:rPr lang="en-US" sz="1600" dirty="0" smtClean="0">
                <a:latin typeface="Arial" panose="020B0604020202020204" pitchFamily="34" charset="0"/>
              </a:rPr>
              <a:t>Summarize APPLICATIONS.</a:t>
            </a:r>
            <a:endParaRPr lang="en-US" sz="16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 xmlns:a16="http://schemas.microsoft.com/office/drawing/2014/main" id="{9EB8A4A0-26E8-41C7-BE65-3B55B361B40D}"/>
              </a:ext>
            </a:extLst>
          </p:cNvPr>
          <p:cNvSpPr/>
          <p:nvPr/>
        </p:nvSpPr>
        <p:spPr>
          <a:xfrm>
            <a:off x="2881148" y="878306"/>
            <a:ext cx="6639951" cy="80621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555 Time IC Pin Diagram</a:t>
            </a:r>
          </a:p>
          <a:p>
            <a:pPr algn="ctr"/>
            <a:endParaRPr lang="en-US" sz="24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2295525"/>
            <a:ext cx="5233737" cy="2926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39DC903D-9003-4F3D-87E9-EE7D5BEB5D03}"/>
              </a:ext>
            </a:extLst>
          </p:cNvPr>
          <p:cNvSpPr/>
          <p:nvPr/>
        </p:nvSpPr>
        <p:spPr>
          <a:xfrm>
            <a:off x="3501357" y="739659"/>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smtClean="0"/>
              <a:t>PIN</a:t>
            </a:r>
            <a:r>
              <a:rPr lang="en-US" sz="2400" dirty="0" smtClean="0"/>
              <a:t> </a:t>
            </a:r>
            <a:r>
              <a:rPr lang="en-US" sz="2400" dirty="0"/>
              <a:t>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r>
              <a:rPr lang="en-US" sz="2000" dirty="0" smtClean="0">
                <a:ln w="0"/>
                <a:solidFill>
                  <a:schemeClr val="bg1"/>
                </a:solidFill>
                <a:effectLst>
                  <a:outerShdw blurRad="38100" dist="19050" dir="2700000" algn="tl" rotWithShape="0">
                    <a:schemeClr val="dk1">
                      <a:alpha val="40000"/>
                    </a:schemeClr>
                  </a:outerShdw>
                </a:effectLst>
                <a:latin typeface="Poppins"/>
                <a:cs typeface="Poppins"/>
              </a:rPr>
              <a:t>IC 555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26" name="TextBox 25"/>
          <p:cNvSpPr txBox="1"/>
          <p:nvPr/>
        </p:nvSpPr>
        <p:spPr>
          <a:xfrm>
            <a:off x="1488399" y="1556443"/>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708730491"/>
              </p:ext>
            </p:extLst>
          </p:nvPr>
        </p:nvGraphicFramePr>
        <p:xfrm>
          <a:off x="2261936" y="1299412"/>
          <a:ext cx="8783053" cy="5087836"/>
        </p:xfrm>
        <a:graphic>
          <a:graphicData uri="http://schemas.openxmlformats.org/drawingml/2006/table">
            <a:tbl>
              <a:tblPr firstRow="1" bandRow="1">
                <a:tableStyleId>{616DA210-FB5B-4158-B5E0-FEB733F419BA}</a:tableStyleId>
              </a:tblPr>
              <a:tblGrid>
                <a:gridCol w="696673"/>
                <a:gridCol w="1567280"/>
                <a:gridCol w="6519100"/>
              </a:tblGrid>
              <a:tr h="545730">
                <a:tc>
                  <a:txBody>
                    <a:bodyPr/>
                    <a:lstStyle/>
                    <a:p>
                      <a:r>
                        <a:rPr lang="en-US" sz="1400" dirty="0" smtClean="0"/>
                        <a:t>Pin</a:t>
                      </a:r>
                      <a:r>
                        <a:rPr lang="en-US" sz="1400" baseline="0" dirty="0" smtClean="0"/>
                        <a:t> no </a:t>
                      </a:r>
                      <a:endParaRPr lang="en-US" sz="1400" dirty="0"/>
                    </a:p>
                  </a:txBody>
                  <a:tcPr/>
                </a:tc>
                <a:tc>
                  <a:txBody>
                    <a:bodyPr/>
                    <a:lstStyle/>
                    <a:p>
                      <a:r>
                        <a:rPr lang="en-US" sz="1400" dirty="0" smtClean="0"/>
                        <a:t> pin description </a:t>
                      </a:r>
                      <a:endParaRPr lang="en-US" sz="1400" dirty="0"/>
                    </a:p>
                  </a:txBody>
                  <a:tcPr/>
                </a:tc>
                <a:tc>
                  <a:txBody>
                    <a:bodyPr/>
                    <a:lstStyle/>
                    <a:p>
                      <a:r>
                        <a:rPr lang="en-US" sz="1400" dirty="0" smtClean="0"/>
                        <a:t>Purpose </a:t>
                      </a:r>
                      <a:endParaRPr lang="en-US" sz="1400" dirty="0"/>
                    </a:p>
                  </a:txBody>
                  <a:tcPr/>
                </a:tc>
              </a:tr>
              <a:tr h="609933">
                <a:tc>
                  <a:txBody>
                    <a:bodyPr/>
                    <a:lstStyle/>
                    <a:p>
                      <a:pPr marL="0" indent="0">
                        <a:buFont typeface="Arial" pitchFamily="34" charset="0"/>
                        <a:buNone/>
                      </a:pPr>
                      <a:r>
                        <a:rPr lang="en-US" sz="1600" dirty="0" smtClean="0"/>
                        <a:t>1</a:t>
                      </a:r>
                      <a:endParaRPr lang="en-US" sz="1600" dirty="0"/>
                    </a:p>
                  </a:txBody>
                  <a:tcPr/>
                </a:tc>
                <a:tc>
                  <a:txBody>
                    <a:bodyPr/>
                    <a:lstStyle/>
                    <a:p>
                      <a:pPr marL="0" indent="0">
                        <a:buFont typeface="Arial" pitchFamily="34" charset="0"/>
                        <a:buNone/>
                      </a:pPr>
                      <a:r>
                        <a:rPr lang="en-US" sz="1600" dirty="0" smtClean="0"/>
                        <a:t>Ground</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600" dirty="0" smtClean="0"/>
                        <a:t>Ground reference voltage, low level (0 V)</a:t>
                      </a:r>
                    </a:p>
                    <a:p>
                      <a:pPr marL="0" indent="0">
                        <a:buFont typeface="Arial" pitchFamily="34" charset="0"/>
                        <a:buNone/>
                      </a:pPr>
                      <a:endParaRPr lang="en-US" sz="1600" dirty="0"/>
                    </a:p>
                  </a:txBody>
                  <a:tcPr/>
                </a:tc>
              </a:tr>
              <a:tr h="450390">
                <a:tc>
                  <a:txBody>
                    <a:bodyPr/>
                    <a:lstStyle/>
                    <a:p>
                      <a:pPr marL="0" indent="0">
                        <a:buFont typeface="Arial" pitchFamily="34" charset="0"/>
                        <a:buNone/>
                      </a:pPr>
                      <a:r>
                        <a:rPr lang="en-US" sz="1600" dirty="0" smtClean="0"/>
                        <a:t>2</a:t>
                      </a:r>
                      <a:endParaRPr lang="en-US" sz="1600" dirty="0"/>
                    </a:p>
                  </a:txBody>
                  <a:tcPr/>
                </a:tc>
                <a:tc>
                  <a:txBody>
                    <a:bodyPr/>
                    <a:lstStyle/>
                    <a:p>
                      <a:pPr marL="0" indent="0">
                        <a:buFont typeface="Arial" pitchFamily="34" charset="0"/>
                        <a:buNone/>
                      </a:pPr>
                      <a:r>
                        <a:rPr lang="en-US" sz="1600" dirty="0" smtClean="0"/>
                        <a:t>Trigger</a:t>
                      </a:r>
                      <a:endParaRPr lang="en-US" sz="1600" dirty="0"/>
                    </a:p>
                  </a:txBody>
                  <a:tcPr/>
                </a:tc>
                <a:tc>
                  <a:txBody>
                    <a:bodyPr/>
                    <a:lstStyle/>
                    <a:p>
                      <a:pPr marL="0" indent="0">
                        <a:buFont typeface="Arial" pitchFamily="34" charset="0"/>
                        <a:buNone/>
                      </a:pPr>
                      <a:r>
                        <a:rPr lang="en-US" sz="1600" dirty="0" smtClean="0"/>
                        <a:t>This output is driven to approximately 1.7 V below +</a:t>
                      </a:r>
                      <a:r>
                        <a:rPr lang="en-US" sz="1600" dirty="0" err="1" smtClean="0"/>
                        <a:t>Vcc</a:t>
                      </a:r>
                      <a:r>
                        <a:rPr lang="en-US" sz="1600" dirty="0" smtClean="0"/>
                        <a:t>, or GND</a:t>
                      </a:r>
                      <a:endParaRPr lang="en-US" sz="1600" dirty="0"/>
                    </a:p>
                  </a:txBody>
                  <a:tcPr/>
                </a:tc>
              </a:tr>
              <a:tr h="461131">
                <a:tc>
                  <a:txBody>
                    <a:bodyPr/>
                    <a:lstStyle/>
                    <a:p>
                      <a:pPr marL="0" indent="0">
                        <a:buFont typeface="Arial" pitchFamily="34" charset="0"/>
                        <a:buNone/>
                      </a:pPr>
                      <a:r>
                        <a:rPr lang="en-US" sz="1600" dirty="0" smtClean="0"/>
                        <a:t>3</a:t>
                      </a:r>
                      <a:endParaRPr lang="en-US" sz="1600" dirty="0"/>
                    </a:p>
                  </a:txBody>
                  <a:tcPr/>
                </a:tc>
                <a:tc>
                  <a:txBody>
                    <a:bodyPr/>
                    <a:lstStyle/>
                    <a:p>
                      <a:pPr marL="0" indent="0">
                        <a:buFont typeface="Arial" pitchFamily="34" charset="0"/>
                        <a:buNone/>
                      </a:pPr>
                      <a:r>
                        <a:rPr lang="en-US" sz="1600" dirty="0" smtClean="0"/>
                        <a:t>output</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600" dirty="0" smtClean="0"/>
                        <a:t>This output is driven to approximately 1.7 V below +</a:t>
                      </a:r>
                      <a:r>
                        <a:rPr lang="en-US" sz="1600" dirty="0" err="1" smtClean="0"/>
                        <a:t>Vcc</a:t>
                      </a:r>
                      <a:r>
                        <a:rPr lang="en-US" sz="1600" dirty="0" smtClean="0"/>
                        <a:t> or GND. </a:t>
                      </a:r>
                    </a:p>
                  </a:txBody>
                  <a:tcPr/>
                </a:tc>
              </a:tr>
              <a:tr h="823664">
                <a:tc>
                  <a:txBody>
                    <a:bodyPr/>
                    <a:lstStyle/>
                    <a:p>
                      <a:pPr marL="0" indent="0">
                        <a:buFont typeface="Arial" pitchFamily="34" charset="0"/>
                        <a:buNone/>
                      </a:pPr>
                      <a:r>
                        <a:rPr lang="en-US" sz="1600" dirty="0" smtClean="0"/>
                        <a:t>4</a:t>
                      </a:r>
                      <a:endParaRPr lang="en-US" sz="1600" dirty="0"/>
                    </a:p>
                  </a:txBody>
                  <a:tcPr/>
                </a:tc>
                <a:tc>
                  <a:txBody>
                    <a:bodyPr/>
                    <a:lstStyle/>
                    <a:p>
                      <a:pPr marL="0" indent="0">
                        <a:buFont typeface="Arial" pitchFamily="34" charset="0"/>
                        <a:buNone/>
                      </a:pPr>
                      <a:r>
                        <a:rPr lang="en-US" sz="1600" dirty="0" smtClean="0"/>
                        <a:t>Reset</a:t>
                      </a:r>
                      <a:endParaRPr lang="en-US" sz="1600" dirty="0"/>
                    </a:p>
                  </a:txBody>
                  <a:tcPr/>
                </a:tc>
                <a:tc>
                  <a:txBody>
                    <a:bodyPr/>
                    <a:lstStyle/>
                    <a:p>
                      <a:pPr marL="0" indent="0">
                        <a:buFont typeface="Arial" pitchFamily="34" charset="0"/>
                        <a:buNone/>
                      </a:pPr>
                      <a:r>
                        <a:rPr lang="en-US" sz="1600" dirty="0"/>
                        <a:t>A timing interval may be reset by driving this input to GND, but the timing does not begin again until RESET rises above approximately 0.7 volts. Overrides TRIG which overrides threshold. </a:t>
                      </a:r>
                    </a:p>
                  </a:txBody>
                  <a:tcPr marL="33820" marR="33820" marT="16910" marB="16910" anchor="ctr"/>
                </a:tc>
              </a:tr>
              <a:tr h="549247">
                <a:tc>
                  <a:txBody>
                    <a:bodyPr/>
                    <a:lstStyle/>
                    <a:p>
                      <a:pPr marL="0" indent="0">
                        <a:buFont typeface="Arial" pitchFamily="34" charset="0"/>
                        <a:buNone/>
                      </a:pPr>
                      <a:r>
                        <a:rPr lang="en-US" sz="1600" dirty="0" smtClean="0"/>
                        <a:t>5</a:t>
                      </a:r>
                      <a:endParaRPr lang="en-US" sz="1600" dirty="0"/>
                    </a:p>
                  </a:txBody>
                  <a:tcPr/>
                </a:tc>
                <a:tc>
                  <a:txBody>
                    <a:bodyPr/>
                    <a:lstStyle/>
                    <a:p>
                      <a:pPr marL="0" indent="0">
                        <a:buFont typeface="Arial" pitchFamily="34" charset="0"/>
                        <a:buNone/>
                      </a:pPr>
                      <a:r>
                        <a:rPr lang="en-US" sz="1600" dirty="0" smtClean="0"/>
                        <a:t>Control</a:t>
                      </a:r>
                      <a:r>
                        <a:rPr lang="en-US" sz="1600" baseline="0" dirty="0" smtClean="0"/>
                        <a:t> voltage </a:t>
                      </a:r>
                      <a:endParaRPr lang="en-US" sz="1600" dirty="0"/>
                    </a:p>
                  </a:txBody>
                  <a:tcPr/>
                </a:tc>
                <a:tc>
                  <a:txBody>
                    <a:bodyPr/>
                    <a:lstStyle/>
                    <a:p>
                      <a:pPr marL="0" indent="0">
                        <a:buFont typeface="Arial" pitchFamily="34" charset="0"/>
                        <a:buNone/>
                      </a:pPr>
                      <a:r>
                        <a:rPr lang="en-US" sz="1600" dirty="0"/>
                        <a:t>Provides “control” access to the internal voltage divider (by default, 2/3 </a:t>
                      </a:r>
                      <a:r>
                        <a:rPr lang="en-US" sz="1600" dirty="0" err="1"/>
                        <a:t>Vcc</a:t>
                      </a:r>
                      <a:r>
                        <a:rPr lang="en-US" sz="1600" dirty="0"/>
                        <a:t>).</a:t>
                      </a:r>
                    </a:p>
                  </a:txBody>
                  <a:tcPr marL="33820" marR="33820" marT="16910" marB="16910" anchor="ctr"/>
                </a:tc>
              </a:tr>
              <a:tr h="549247">
                <a:tc>
                  <a:txBody>
                    <a:bodyPr/>
                    <a:lstStyle/>
                    <a:p>
                      <a:pPr marL="0" indent="0">
                        <a:buFont typeface="Arial" pitchFamily="34" charset="0"/>
                        <a:buNone/>
                      </a:pPr>
                      <a:r>
                        <a:rPr lang="en-US" sz="1600" dirty="0" smtClean="0"/>
                        <a:t>6</a:t>
                      </a:r>
                      <a:endParaRPr lang="en-US" sz="1600" dirty="0"/>
                    </a:p>
                  </a:txBody>
                  <a:tcPr/>
                </a:tc>
                <a:tc>
                  <a:txBody>
                    <a:bodyPr/>
                    <a:lstStyle/>
                    <a:p>
                      <a:pPr marL="0" indent="0">
                        <a:buFont typeface="Arial" pitchFamily="34" charset="0"/>
                        <a:buNone/>
                      </a:pPr>
                      <a:r>
                        <a:rPr lang="en-US" sz="1600" dirty="0" smtClean="0"/>
                        <a:t>Threshold </a:t>
                      </a:r>
                      <a:endParaRPr lang="en-US" sz="1600" dirty="0"/>
                    </a:p>
                  </a:txBody>
                  <a:tcPr/>
                </a:tc>
                <a:tc>
                  <a:txBody>
                    <a:bodyPr/>
                    <a:lstStyle/>
                    <a:p>
                      <a:pPr marL="0" indent="0">
                        <a:buFont typeface="Arial" pitchFamily="34" charset="0"/>
                        <a:buNone/>
                      </a:pPr>
                      <a:r>
                        <a:rPr lang="en-US" sz="1600" dirty="0"/>
                        <a:t>The timing (OUT high) interval ends when the voltage at the threshold is greater than that at CTRL (2/3 </a:t>
                      </a:r>
                      <a:r>
                        <a:rPr lang="en-US" sz="1600" dirty="0" err="1"/>
                        <a:t>Vcc</a:t>
                      </a:r>
                      <a:r>
                        <a:rPr lang="en-US" sz="1600" dirty="0"/>
                        <a:t> if CTRL is open). </a:t>
                      </a:r>
                    </a:p>
                  </a:txBody>
                  <a:tcPr marL="33820" marR="33820" marT="16910" marB="16910" anchor="ctr"/>
                </a:tc>
              </a:tr>
              <a:tr h="549247">
                <a:tc>
                  <a:txBody>
                    <a:bodyPr/>
                    <a:lstStyle/>
                    <a:p>
                      <a:pPr marL="0" indent="0">
                        <a:buFont typeface="Arial" pitchFamily="34" charset="0"/>
                        <a:buNone/>
                      </a:pPr>
                      <a:r>
                        <a:rPr lang="en-US" sz="1600" dirty="0" smtClean="0"/>
                        <a:t>7</a:t>
                      </a:r>
                      <a:endParaRPr lang="en-US" sz="1600" dirty="0"/>
                    </a:p>
                  </a:txBody>
                  <a:tcPr/>
                </a:tc>
                <a:tc>
                  <a:txBody>
                    <a:bodyPr/>
                    <a:lstStyle/>
                    <a:p>
                      <a:pPr marL="0" indent="0">
                        <a:buFont typeface="Arial" pitchFamily="34" charset="0"/>
                        <a:buNone/>
                      </a:pPr>
                      <a:r>
                        <a:rPr lang="en-US" sz="1600" dirty="0" smtClean="0"/>
                        <a:t>Discharge</a:t>
                      </a:r>
                      <a:endParaRPr lang="en-US" sz="1600" dirty="0"/>
                    </a:p>
                  </a:txBody>
                  <a:tcPr/>
                </a:tc>
                <a:tc>
                  <a:txBody>
                    <a:bodyPr/>
                    <a:lstStyle/>
                    <a:p>
                      <a:pPr marL="0" indent="0">
                        <a:buFont typeface="Arial" pitchFamily="34" charset="0"/>
                        <a:buNone/>
                      </a:pPr>
                      <a:r>
                        <a:rPr lang="en-US" sz="1600" dirty="0"/>
                        <a:t>Open collector output which may discharge a capacitor between intervals. In phase with output.</a:t>
                      </a:r>
                    </a:p>
                  </a:txBody>
                  <a:tcPr marL="33820" marR="33820" marT="16910" marB="16910" anchor="ctr"/>
                </a:tc>
              </a:tr>
              <a:tr h="549247">
                <a:tc>
                  <a:txBody>
                    <a:bodyPr/>
                    <a:lstStyle/>
                    <a:p>
                      <a:pPr marL="0" indent="0">
                        <a:buFont typeface="Arial" pitchFamily="34" charset="0"/>
                        <a:buNone/>
                      </a:pPr>
                      <a:r>
                        <a:rPr lang="en-US" sz="1600" dirty="0" smtClean="0"/>
                        <a:t>8</a:t>
                      </a:r>
                      <a:endParaRPr lang="en-US" sz="1600" dirty="0"/>
                    </a:p>
                  </a:txBody>
                  <a:tcPr/>
                </a:tc>
                <a:tc>
                  <a:txBody>
                    <a:bodyPr/>
                    <a:lstStyle/>
                    <a:p>
                      <a:pPr marL="0" indent="0">
                        <a:buFont typeface="Arial" pitchFamily="34" charset="0"/>
                        <a:buNone/>
                      </a:pPr>
                      <a:r>
                        <a:rPr lang="en-US" sz="1600" dirty="0" smtClean="0"/>
                        <a:t>VCC</a:t>
                      </a:r>
                      <a:endParaRPr lang="en-US" sz="1600" dirty="0"/>
                    </a:p>
                  </a:txBody>
                  <a:tcPr/>
                </a:tc>
                <a:tc>
                  <a:txBody>
                    <a:bodyPr/>
                    <a:lstStyle/>
                    <a:p>
                      <a:pPr marL="0" indent="0">
                        <a:buFont typeface="Arial" pitchFamily="34" charset="0"/>
                        <a:buNone/>
                      </a:pPr>
                      <a:r>
                        <a:rPr lang="en-US" sz="1600" dirty="0"/>
                        <a:t>Positive supply voltage, which is usually between 3 and 15 V depending on the variation.</a:t>
                      </a:r>
                    </a:p>
                  </a:txBody>
                  <a:tcPr marL="33820" marR="33820" marT="16910" marB="16910" anchor="ctr"/>
                </a:tc>
              </a:tr>
            </a:tbl>
          </a:graphicData>
        </a:graphic>
      </p:graphicFrame>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2995352" y="962527"/>
            <a:ext cx="6201295" cy="58190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t>
            </a:r>
            <a:r>
              <a:rPr lang="en-US" sz="2400" dirty="0" smtClean="0"/>
              <a:t>ajor </a:t>
            </a:r>
            <a:r>
              <a:rPr lang="en-US" sz="2400" dirty="0"/>
              <a:t>features of the 555 </a:t>
            </a:r>
            <a:r>
              <a:rPr lang="en-US" sz="2400" dirty="0" smtClean="0"/>
              <a:t>timers </a:t>
            </a:r>
            <a:endParaRPr lang="en-US" sz="2400" dirty="0"/>
          </a:p>
        </p:txBody>
      </p:sp>
      <p:sp>
        <p:nvSpPr>
          <p:cNvPr id="13" name="TextBox 12"/>
          <p:cNvSpPr txBox="1"/>
          <p:nvPr/>
        </p:nvSpPr>
        <p:spPr>
          <a:xfrm>
            <a:off x="1612231" y="1840832"/>
            <a:ext cx="9762053" cy="3416320"/>
          </a:xfrm>
          <a:prstGeom prst="rect">
            <a:avLst/>
          </a:prstGeom>
          <a:noFill/>
        </p:spPr>
        <p:txBody>
          <a:bodyPr wrap="square" rtlCol="0">
            <a:spAutoFit/>
          </a:bodyPr>
          <a:lstStyle/>
          <a:p>
            <a:pPr marL="342900" indent="-342900">
              <a:buFont typeface="Wingdings" pitchFamily="2" charset="2"/>
              <a:buChar char="§"/>
            </a:pPr>
            <a:r>
              <a:rPr lang="en-US" sz="2400" dirty="0"/>
              <a:t>555 timer is used in almost every electronic </a:t>
            </a:r>
            <a:r>
              <a:rPr lang="en-US" sz="2400" dirty="0" smtClean="0"/>
              <a:t>circuit ,  </a:t>
            </a:r>
          </a:p>
          <a:p>
            <a:pPr marL="342900" indent="-342900">
              <a:buFont typeface="Wingdings" pitchFamily="2" charset="2"/>
              <a:buChar char="§"/>
            </a:pPr>
            <a:r>
              <a:rPr lang="en-US" sz="2400" dirty="0" smtClean="0"/>
              <a:t>A </a:t>
            </a:r>
            <a:r>
              <a:rPr lang="en-US" sz="2400" dirty="0"/>
              <a:t>555 timer works as a </a:t>
            </a:r>
            <a:r>
              <a:rPr lang="en-US" sz="2400" dirty="0">
                <a:hlinkClick r:id="rId2"/>
              </a:rPr>
              <a:t>flip-flop</a:t>
            </a:r>
            <a:r>
              <a:rPr lang="en-US" sz="2400" dirty="0"/>
              <a:t> or as a multi-vibrator, it has a particular set of configurations. </a:t>
            </a:r>
          </a:p>
          <a:p>
            <a:pPr marL="342900" indent="-342900">
              <a:buFont typeface="Wingdings" pitchFamily="2" charset="2"/>
              <a:buChar char="§"/>
            </a:pPr>
            <a:r>
              <a:rPr lang="en-US" sz="2400" dirty="0"/>
              <a:t>It operates from a wide range of power ranging from +5 Volts to +18 Volts supply voltage.</a:t>
            </a:r>
          </a:p>
          <a:p>
            <a:pPr marL="342900" indent="-342900">
              <a:buFont typeface="Wingdings" pitchFamily="2" charset="2"/>
              <a:buChar char="§"/>
            </a:pPr>
            <a:r>
              <a:rPr lang="en-US" sz="2400" dirty="0"/>
              <a:t>Sinking or sourcing 200 mA of load current.</a:t>
            </a:r>
          </a:p>
          <a:p>
            <a:pPr marL="342900" indent="-342900">
              <a:buFont typeface="Wingdings" pitchFamily="2" charset="2"/>
              <a:buChar char="§"/>
            </a:pPr>
            <a:r>
              <a:rPr lang="en-US" sz="2400" dirty="0" smtClean="0"/>
              <a:t>The </a:t>
            </a:r>
            <a:r>
              <a:rPr lang="en-US" sz="2400" dirty="0"/>
              <a:t>duty cycle of the timer is adjustable.</a:t>
            </a:r>
          </a:p>
          <a:p>
            <a:pPr marL="342900" indent="-342900">
              <a:buFont typeface="Wingdings" pitchFamily="2" charset="2"/>
              <a:buChar char="§"/>
            </a:pPr>
            <a:r>
              <a:rPr lang="en-US" sz="2400" dirty="0" smtClean="0"/>
              <a:t> Maximum </a:t>
            </a:r>
            <a:r>
              <a:rPr lang="en-US" sz="2400" dirty="0"/>
              <a:t>power dissipation per package is 600 </a:t>
            </a:r>
            <a:r>
              <a:rPr lang="en-US" sz="2400" dirty="0" err="1"/>
              <a:t>mW</a:t>
            </a:r>
            <a:r>
              <a:rPr lang="en-US" sz="2400" dirty="0"/>
              <a:t>, </a:t>
            </a:r>
            <a:endParaRPr lang="en-US" sz="2400" dirty="0" smtClean="0"/>
          </a:p>
          <a:p>
            <a:pPr marL="342900" indent="-342900">
              <a:buFont typeface="Wingdings" pitchFamily="2" charset="2"/>
              <a:buChar char="§"/>
            </a:pPr>
            <a:r>
              <a:rPr lang="en-US" sz="2400" dirty="0" smtClean="0"/>
              <a:t>Trigger </a:t>
            </a:r>
            <a:r>
              <a:rPr lang="en-US" sz="2400" dirty="0"/>
              <a:t>pulse and reset inputs have logic compatibility.</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internal circuit-IC 555 </a:t>
            </a:r>
            <a:endParaRPr lang="en-US" dirty="0"/>
          </a:p>
        </p:txBody>
      </p:sp>
      <p:sp>
        <p:nvSpPr>
          <p:cNvPr id="3" name="Content Placeholder 2"/>
          <p:cNvSpPr>
            <a:spLocks noGrp="1"/>
          </p:cNvSpPr>
          <p:nvPr>
            <p:ph idx="1"/>
          </p:nvPr>
        </p:nvSpPr>
        <p:spPr/>
        <p:txBody>
          <a:bodyPr/>
          <a:lstStyle/>
          <a:p>
            <a:r>
              <a:rPr lang="en-US" dirty="0" smtClean="0"/>
              <a:t>INNER ARCHITECTURE </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t>6</a:t>
            </a:fld>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948" y="1840831"/>
            <a:ext cx="6124073" cy="4283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7743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1162294"/>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MODES OF OPERATION OF IC555</a:t>
            </a:r>
            <a:endParaRPr lang="en-US" sz="2400" dirty="0"/>
          </a:p>
        </p:txBody>
      </p:sp>
      <p:sp>
        <p:nvSpPr>
          <p:cNvPr id="2" name="Rectangle 1"/>
          <p:cNvSpPr/>
          <p:nvPr/>
        </p:nvSpPr>
        <p:spPr>
          <a:xfrm>
            <a:off x="1070811" y="1787423"/>
            <a:ext cx="9998242" cy="4524315"/>
          </a:xfrm>
          <a:prstGeom prst="rect">
            <a:avLst/>
          </a:prstGeom>
        </p:spPr>
        <p:txBody>
          <a:bodyPr wrap="square">
            <a:spAutoFit/>
          </a:bodyPr>
          <a:lstStyle/>
          <a:p>
            <a:r>
              <a:rPr lang="en-US" dirty="0"/>
              <a:t>The NE555 timer IC generally operates in 3 </a:t>
            </a:r>
            <a:r>
              <a:rPr lang="en-US" dirty="0" smtClean="0"/>
              <a:t>modes:      </a:t>
            </a:r>
          </a:p>
          <a:p>
            <a:r>
              <a:rPr lang="en-US" dirty="0" smtClean="0"/>
              <a:t>1) Astable Mode                 2) Monostable Mode        3) Bi-stable </a:t>
            </a:r>
            <a:r>
              <a:rPr lang="en-US" dirty="0"/>
              <a:t>modes</a:t>
            </a:r>
          </a:p>
          <a:p>
            <a:r>
              <a:rPr lang="en-US" b="1" dirty="0" smtClean="0"/>
              <a:t>  Astable </a:t>
            </a:r>
            <a:r>
              <a:rPr lang="en-US" b="1" dirty="0"/>
              <a:t>Mode</a:t>
            </a:r>
          </a:p>
          <a:p>
            <a:r>
              <a:rPr lang="en-US" dirty="0" smtClean="0"/>
              <a:t>	This </a:t>
            </a:r>
            <a:r>
              <a:rPr lang="en-US" dirty="0"/>
              <a:t>means there will be no stable level of output. So the output will be swinging between high and low. This character of unstable output is used as a clock or square wave output for many applications</a:t>
            </a:r>
            <a:r>
              <a:rPr lang="en-US" dirty="0" smtClean="0"/>
              <a:t>.</a:t>
            </a:r>
          </a:p>
          <a:p>
            <a:r>
              <a:rPr lang="en-US" b="1" dirty="0"/>
              <a:t>Monostable Mode</a:t>
            </a:r>
          </a:p>
          <a:p>
            <a:r>
              <a:rPr lang="en-US" dirty="0" smtClean="0"/>
              <a:t>	This </a:t>
            </a:r>
            <a:r>
              <a:rPr lang="en-US" dirty="0"/>
              <a:t>configuration consists of one stable and one unstable state. The stable state can be chosen as either high or low by the user. If the stable output is set at high (1), the output of the timer is high (1). </a:t>
            </a:r>
          </a:p>
          <a:p>
            <a:r>
              <a:rPr lang="en-US" dirty="0"/>
              <a:t>At the application of an interrupt, the timer output turns low (0). Since the low state is unstable it goes to high (1) automatically after the interrupt passes. Similar is the case for a low stable </a:t>
            </a:r>
            <a:r>
              <a:rPr lang="en-US" dirty="0" err="1">
                <a:hlinkClick r:id="rId2"/>
              </a:rPr>
              <a:t>monostable</a:t>
            </a:r>
            <a:r>
              <a:rPr lang="en-US" dirty="0">
                <a:hlinkClick r:id="rId2"/>
              </a:rPr>
              <a:t> mode</a:t>
            </a:r>
            <a:r>
              <a:rPr lang="en-US" dirty="0"/>
              <a:t>.</a:t>
            </a:r>
          </a:p>
          <a:p>
            <a:r>
              <a:rPr lang="en-US" b="1" dirty="0"/>
              <a:t>Bi-stable Mode</a:t>
            </a:r>
          </a:p>
          <a:p>
            <a:r>
              <a:rPr lang="en-US" dirty="0" smtClean="0"/>
              <a:t>	In </a:t>
            </a:r>
            <a:r>
              <a:rPr lang="en-US" dirty="0" err="1"/>
              <a:t>bistable</a:t>
            </a:r>
            <a:r>
              <a:rPr lang="en-US" dirty="0"/>
              <a:t> mode, both the output states are stable. At each interrupt, the output changes from low (0) to high (1) and vice versa, and stays there. For example, if we have a high (1) output, it will go low(0) once it receives an interrupt and stays low (0) till the next interrupt changes the status.</a:t>
            </a:r>
          </a:p>
          <a:p>
            <a:endParaRPr lang="en-US" dirty="0" smtClean="0"/>
          </a:p>
          <a:p>
            <a:endParaRPr lang="en-US" dirty="0"/>
          </a:p>
        </p:txBody>
      </p:sp>
    </p:spTree>
    <p:extLst>
      <p:ext uri="{BB962C8B-B14F-4D97-AF65-F5344CB8AC3E}">
        <p14:creationId xmlns:p14="http://schemas.microsoft.com/office/powerpoint/2010/main" val="222826969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18B84F3E-0BAB-4FEE-A20F-074E440ADCC6}"/>
              </a:ext>
            </a:extLst>
          </p:cNvPr>
          <p:cNvSpPr/>
          <p:nvPr/>
        </p:nvSpPr>
        <p:spPr>
          <a:xfrm>
            <a:off x="1687134" y="891247"/>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1491916" y="1913021"/>
            <a:ext cx="5113419" cy="4062651"/>
          </a:xfrm>
          <a:prstGeom prst="rect">
            <a:avLst/>
          </a:prstGeom>
          <a:noFill/>
        </p:spPr>
        <p:txBody>
          <a:bodyPr wrap="square" rtlCol="0">
            <a:spAutoFit/>
          </a:bodyPr>
          <a:lstStyle/>
          <a:p>
            <a:r>
              <a:rPr lang="en-US" sz="1600" dirty="0"/>
              <a:t>The 555 circuit shown below is very similar to the one above and it is called a ‘pulse generator’. Circuits like this are often used to produce a pulse or signal that will start a second circuit. This can be seen in a simple alarm. </a:t>
            </a:r>
            <a:br>
              <a:rPr lang="en-US" sz="1600" dirty="0"/>
            </a:br>
            <a:r>
              <a:rPr lang="en-US" sz="1600" dirty="0"/>
              <a:t/>
            </a:r>
            <a:br>
              <a:rPr lang="en-US" sz="1600" dirty="0"/>
            </a:br>
            <a:r>
              <a:rPr lang="en-US" sz="1600" dirty="0" smtClean="0"/>
              <a:t>A  </a:t>
            </a:r>
            <a:r>
              <a:rPr lang="en-US" sz="1600" dirty="0"/>
              <a:t>alarm consists of two circuits, one is a 555 pulse generator and the other detects the pulse. If the pulse is removed a buzzer on the second circuit sounds. </a:t>
            </a:r>
            <a:br>
              <a:rPr lang="en-US" sz="1600" dirty="0"/>
            </a:br>
            <a:r>
              <a:rPr lang="en-US" sz="1600" dirty="0"/>
              <a:t>This type of circuit could be useful on a door. When the door is shut the alarm is turned on. </a:t>
            </a:r>
            <a:endParaRPr lang="en-US" sz="1600" dirty="0" smtClean="0"/>
          </a:p>
          <a:p>
            <a:r>
              <a:rPr lang="en-US" sz="1600" dirty="0" smtClean="0"/>
              <a:t>The </a:t>
            </a:r>
            <a:r>
              <a:rPr lang="en-US" sz="1600" dirty="0"/>
              <a:t>first 555 circuit generates a pulse (positioned on the door frame) and the second circuit detects the pulse and is positioned on the door itself. If the door is opened the connection between the two circuits is broken. The second circuit can not detect a pulse and so the buzzer sounds</a:t>
            </a:r>
            <a:r>
              <a:rPr lang="en-US" sz="1600" dirty="0" smtClean="0"/>
              <a:t>.</a:t>
            </a:r>
          </a:p>
          <a:p>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5651" y="1828800"/>
            <a:ext cx="4800602" cy="3621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01463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54D31061-350D-4864-BF25-E3C3C4699CDC}"/>
              </a:ext>
            </a:extLst>
          </p:cNvPr>
          <p:cNvSpPr/>
          <p:nvPr/>
        </p:nvSpPr>
        <p:spPr>
          <a:xfrm>
            <a:off x="3388593" y="97197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IC 555   APPLICATIONS</a:t>
            </a:r>
            <a:endParaRPr lang="en-US" sz="24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467852" y="1888958"/>
            <a:ext cx="3789949" cy="2585323"/>
          </a:xfrm>
          <a:prstGeom prst="rect">
            <a:avLst/>
          </a:prstGeom>
          <a:noFill/>
        </p:spPr>
        <p:txBody>
          <a:bodyPr wrap="square" rtlCol="0">
            <a:spAutoFit/>
          </a:bodyPr>
          <a:lstStyle/>
          <a:p>
            <a:endParaRPr lang="en-US" dirty="0"/>
          </a:p>
          <a:p>
            <a:endParaRPr lang="en-US" dirty="0"/>
          </a:p>
          <a:p>
            <a:r>
              <a:rPr lang="en-US" dirty="0" smtClean="0"/>
              <a:t>TIMERS</a:t>
            </a:r>
          </a:p>
          <a:p>
            <a:r>
              <a:rPr lang="en-US" dirty="0" smtClean="0"/>
              <a:t>Dimmer circuits</a:t>
            </a:r>
            <a:endParaRPr lang="en-US" dirty="0" smtClean="0"/>
          </a:p>
          <a:p>
            <a:r>
              <a:rPr lang="en-US" dirty="0" smtClean="0"/>
              <a:t>PULSE GENERATOR CIRCUITS</a:t>
            </a:r>
          </a:p>
          <a:p>
            <a:r>
              <a:rPr lang="en-US" dirty="0" smtClean="0"/>
              <a:t>ALARMING CIRCUITS</a:t>
            </a:r>
          </a:p>
          <a:p>
            <a:r>
              <a:rPr lang="en-US" dirty="0" smtClean="0"/>
              <a:t>DUTY CYCLE Adjuster </a:t>
            </a:r>
          </a:p>
          <a:p>
            <a:r>
              <a:rPr lang="en-US" dirty="0" smtClean="0"/>
              <a:t>SQUARE WAVE GENERATORS</a:t>
            </a:r>
          </a:p>
          <a:p>
            <a:endParaRPr lang="en-US" dirty="0"/>
          </a:p>
        </p:txBody>
      </p:sp>
      <p:pic>
        <p:nvPicPr>
          <p:cNvPr id="4098" name="Picture 2" descr="https://technologystudent.com/elec1/pulse1a.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257801" y="2031325"/>
            <a:ext cx="5570620" cy="3940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9629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1FA19A5-9588-483E-843E-C76873B71790}"/>
              </a:ext>
            </a:extLst>
          </p:cNvPr>
          <p:cNvSpPr/>
          <p:nvPr/>
        </p:nvSpPr>
        <p:spPr>
          <a:xfrm>
            <a:off x="2919046" y="97197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371600" y="1792705"/>
            <a:ext cx="9798148" cy="1723549"/>
          </a:xfrm>
          <a:prstGeom prst="rect">
            <a:avLst/>
          </a:prstGeom>
          <a:noFill/>
        </p:spPr>
        <p:txBody>
          <a:bodyPr wrap="square" rtlCol="0">
            <a:spAutoFit/>
          </a:bodyPr>
          <a:lstStyle/>
          <a:p>
            <a:endParaRPr lang="en-US" sz="2200" dirty="0"/>
          </a:p>
          <a:p>
            <a:pPr marL="342900" indent="-342900">
              <a:buAutoNum type="arabicPlain" startAt="555"/>
            </a:pPr>
            <a:r>
              <a:rPr lang="en-US" sz="2200" dirty="0" smtClean="0"/>
              <a:t>IC pin configuration ,</a:t>
            </a:r>
          </a:p>
          <a:p>
            <a:r>
              <a:rPr lang="en-US" sz="2200" dirty="0"/>
              <a:t> </a:t>
            </a:r>
            <a:r>
              <a:rPr lang="en-US" sz="2200" dirty="0" smtClean="0"/>
              <a:t>operating modes ,  Applications of 555 as Timer circuits , </a:t>
            </a:r>
          </a:p>
          <a:p>
            <a:r>
              <a:rPr lang="en-US" sz="2200" dirty="0" smtClean="0"/>
              <a:t>Wave form Generators are described</a:t>
            </a:r>
            <a:r>
              <a:rPr lang="en-US" sz="2200" dirty="0" smtClean="0"/>
              <a:t>.</a:t>
            </a:r>
            <a:endParaRPr lang="en-US" sz="2200" dirty="0" smtClean="0"/>
          </a:p>
          <a:p>
            <a:endParaRPr lang="en-US" dirty="0"/>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marR="0" lvl="0" indent="-342900" rtl="0">
              <a:spcBef>
                <a:spcPts val="0"/>
              </a:spcBef>
              <a:spcAft>
                <a:spcPts val="0"/>
              </a:spcAft>
              <a:buFont typeface="+mj-lt"/>
              <a:buAutoNum type="arabicPeriod"/>
            </a:pPr>
            <a:r>
              <a:rPr lang="en-US" sz="1600" dirty="0" smtClean="0">
                <a:solidFill>
                  <a:schemeClr val="bg1"/>
                </a:solidFill>
                <a:latin typeface="Poppins" panose="00000500000000000000" pitchFamily="2" charset="0"/>
                <a:ea typeface="Calibri"/>
                <a:cs typeface="Poppins" panose="00000500000000000000" pitchFamily="2" charset="0"/>
                <a:sym typeface="Calibri"/>
              </a:rPr>
              <a:t> …IC 555 can be used as </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smtClean="0">
                <a:latin typeface="Arial" panose="020B0604020202020204" pitchFamily="34" charset="0"/>
              </a:rPr>
              <a:t>…  switch</a:t>
            </a:r>
            <a:endParaRPr lang="en-US" sz="1600" dirty="0">
              <a:latin typeface="Arial" panose="020B0604020202020204" pitchFamily="34" charset="0"/>
            </a:endParaRPr>
          </a:p>
          <a:p>
            <a:pPr marL="342900" indent="-342900">
              <a:lnSpc>
                <a:spcPct val="150000"/>
              </a:lnSpc>
              <a:buAutoNum type="alphaLcParenBoth"/>
            </a:pPr>
            <a:r>
              <a:rPr lang="en-US" sz="1600" dirty="0" smtClean="0">
                <a:latin typeface="Arial" panose="020B0604020202020204" pitchFamily="34" charset="0"/>
              </a:rPr>
              <a:t>…amplifier</a:t>
            </a:r>
            <a:endParaRPr lang="en-US" sz="1600" dirty="0">
              <a:latin typeface="Arial" panose="020B0604020202020204" pitchFamily="34" charset="0"/>
            </a:endParaRPr>
          </a:p>
          <a:p>
            <a:pPr marL="342900" indent="-342900">
              <a:lnSpc>
                <a:spcPct val="150000"/>
              </a:lnSpc>
              <a:buAutoNum type="alphaLcParenBoth"/>
            </a:pPr>
            <a:r>
              <a:rPr lang="en-US" sz="1600" dirty="0" smtClean="0">
                <a:latin typeface="Arial" panose="020B0604020202020204" pitchFamily="34" charset="0"/>
              </a:rPr>
              <a:t>… </a:t>
            </a:r>
            <a:r>
              <a:rPr lang="en-US" sz="1600" b="1" dirty="0" smtClean="0">
                <a:latin typeface="Arial" panose="020B0604020202020204" pitchFamily="34" charset="0"/>
              </a:rPr>
              <a:t>timer </a:t>
            </a:r>
            <a:endParaRPr lang="en-US" sz="1600" b="1" dirty="0">
              <a:latin typeface="Arial" panose="020B0604020202020204" pitchFamily="34" charset="0"/>
            </a:endParaRPr>
          </a:p>
          <a:p>
            <a:pPr marL="342900" indent="-342900">
              <a:lnSpc>
                <a:spcPct val="150000"/>
              </a:lnSpc>
              <a:buAutoNum type="alphaLcParenBoth"/>
            </a:pPr>
            <a:r>
              <a:rPr lang="en-US" sz="1600" dirty="0" smtClean="0">
                <a:latin typeface="Arial" panose="020B0604020202020204" pitchFamily="34" charset="0"/>
              </a:rPr>
              <a:t>…  vibrator</a:t>
            </a:r>
            <a:endParaRPr lang="en-US" sz="1600" dirty="0"/>
          </a:p>
        </p:txBody>
      </p:sp>
      <p:sp>
        <p:nvSpPr>
          <p:cNvPr id="13" name="Google Shape;502;p17">
            <a:extLst>
              <a:ext uri="{FF2B5EF4-FFF2-40B4-BE49-F238E27FC236}">
                <a16:creationId xmlns=""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marR="0" lvl="0" indent="-342900" rtl="0">
              <a:spcBef>
                <a:spcPts val="0"/>
              </a:spcBef>
              <a:spcAft>
                <a:spcPts val="0"/>
              </a:spcAft>
              <a:buFont typeface="+mj-lt"/>
              <a:buAutoNum type="arabicPeriod" startAt="2"/>
            </a:pPr>
            <a:r>
              <a:rPr lang="en-US" sz="1600" dirty="0" smtClean="0">
                <a:solidFill>
                  <a:schemeClr val="bg1"/>
                </a:solidFill>
                <a:latin typeface="Poppins" panose="00000500000000000000" pitchFamily="2" charset="0"/>
                <a:ea typeface="Calibri"/>
                <a:cs typeface="Poppins" panose="00000500000000000000" pitchFamily="2" charset="0"/>
                <a:sym typeface="Calibri"/>
              </a:rPr>
              <a:t>…. </a:t>
            </a:r>
            <a:r>
              <a:rPr lang="en-US" sz="1600" dirty="0" err="1" smtClean="0">
                <a:solidFill>
                  <a:schemeClr val="bg1"/>
                </a:solidFill>
                <a:latin typeface="Poppins" panose="00000500000000000000" pitchFamily="2" charset="0"/>
                <a:ea typeface="Calibri"/>
                <a:cs typeface="Poppins" panose="00000500000000000000" pitchFamily="2" charset="0"/>
                <a:sym typeface="Calibri"/>
              </a:rPr>
              <a:t>Howmany</a:t>
            </a:r>
            <a:r>
              <a:rPr lang="en-US" sz="1600" dirty="0" smtClean="0">
                <a:solidFill>
                  <a:schemeClr val="bg1"/>
                </a:solidFill>
                <a:latin typeface="Poppins" panose="00000500000000000000" pitchFamily="2" charset="0"/>
                <a:ea typeface="Calibri"/>
                <a:cs typeface="Poppins" panose="00000500000000000000" pitchFamily="2" charset="0"/>
                <a:sym typeface="Calibri"/>
              </a:rPr>
              <a:t> modes of operation does a 555 timer IC consists of?</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 xmlns:a16="http://schemas.microsoft.com/office/drawing/2014/main" id="{7E00138C-2256-5D01-E821-A57ADA3BBCB0}"/>
              </a:ext>
            </a:extLst>
          </p:cNvPr>
          <p:cNvSpPr/>
          <p:nvPr/>
        </p:nvSpPr>
        <p:spPr>
          <a:xfrm>
            <a:off x="1009895" y="472719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smtClean="0"/>
              <a:t>…5</a:t>
            </a:r>
            <a:endParaRPr lang="en-US" dirty="0"/>
          </a:p>
          <a:p>
            <a:pPr marL="342900" indent="-342900">
              <a:lnSpc>
                <a:spcPct val="150000"/>
              </a:lnSpc>
              <a:buAutoNum type="alphaLcParenBoth"/>
            </a:pPr>
            <a:r>
              <a:rPr lang="en-US" dirty="0" smtClean="0"/>
              <a:t>…</a:t>
            </a:r>
            <a:r>
              <a:rPr lang="en-US" b="1" dirty="0" smtClean="0"/>
              <a:t>3</a:t>
            </a:r>
            <a:endParaRPr lang="en-US" b="1" dirty="0"/>
          </a:p>
          <a:p>
            <a:pPr marL="342900" indent="-342900">
              <a:lnSpc>
                <a:spcPct val="150000"/>
              </a:lnSpc>
              <a:buAutoNum type="alphaLcParenBoth"/>
            </a:pPr>
            <a:r>
              <a:rPr lang="en-US" dirty="0" smtClean="0"/>
              <a:t>…1</a:t>
            </a:r>
            <a:endParaRPr lang="en-US" dirty="0"/>
          </a:p>
          <a:p>
            <a:pPr marL="342900" indent="-342900">
              <a:lnSpc>
                <a:spcPct val="150000"/>
              </a:lnSpc>
              <a:buAutoNum type="alphaLcParenBoth"/>
            </a:pPr>
            <a:r>
              <a:rPr lang="en-US" sz="1600" dirty="0" smtClean="0"/>
              <a:t>…2</a:t>
            </a:r>
            <a:endParaRPr lang="en-US" sz="1600"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3390636" y="116761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95362" y="2274838"/>
            <a:ext cx="9608234" cy="2308324"/>
          </a:xfrm>
          <a:prstGeom prst="rect">
            <a:avLst/>
          </a:prstGeom>
          <a:noFill/>
        </p:spPr>
        <p:txBody>
          <a:bodyPr wrap="square" rtlCol="0">
            <a:spAutoFit/>
          </a:bodyPr>
          <a:lstStyle/>
          <a:p>
            <a:pPr>
              <a:lnSpc>
                <a:spcPct val="200000"/>
              </a:lnSpc>
            </a:pPr>
            <a:r>
              <a:rPr lang="en-US" b="1" dirty="0"/>
              <a:t>1. Describe </a:t>
            </a:r>
            <a:r>
              <a:rPr lang="en-US" b="1" dirty="0" smtClean="0"/>
              <a:t>the pin configuration of IC 555</a:t>
            </a:r>
            <a:endParaRPr lang="en-US" b="1" dirty="0"/>
          </a:p>
          <a:p>
            <a:pPr>
              <a:lnSpc>
                <a:spcPct val="200000"/>
              </a:lnSpc>
            </a:pPr>
            <a:r>
              <a:rPr lang="en-US" b="1" dirty="0"/>
              <a:t>2. List </a:t>
            </a:r>
            <a:r>
              <a:rPr lang="en-US" b="1" dirty="0" smtClean="0"/>
              <a:t>out the applications of 555 IC </a:t>
            </a:r>
            <a:endParaRPr lang="en-US" b="1" dirty="0"/>
          </a:p>
          <a:p>
            <a:pPr marL="342900" indent="-342900">
              <a:lnSpc>
                <a:spcPct val="200000"/>
              </a:lnSpc>
            </a:pPr>
            <a:r>
              <a:rPr lang="en-US" b="1" dirty="0"/>
              <a:t>3. </a:t>
            </a:r>
            <a:r>
              <a:rPr lang="en-US" b="1" dirty="0" smtClean="0"/>
              <a:t>Mention the operating modes of 555  IC </a:t>
            </a:r>
            <a:endParaRPr lang="en-US" b="1" dirty="0"/>
          </a:p>
          <a:p>
            <a:pPr marL="342900" indent="-342900">
              <a:lnSpc>
                <a:spcPct val="200000"/>
              </a:lnSpc>
            </a:pPr>
            <a:r>
              <a:rPr lang="en-US" b="1" dirty="0"/>
              <a:t>4. </a:t>
            </a:r>
            <a:r>
              <a:rPr lang="en-US" b="1" dirty="0" smtClean="0"/>
              <a:t>Summarize the  applications of TIMERS.</a:t>
            </a: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2124128" y="1172223"/>
            <a:ext cx="794374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9789" y="2156663"/>
            <a:ext cx="9608234" cy="1754326"/>
          </a:xfrm>
          <a:prstGeom prst="rect">
            <a:avLst/>
          </a:prstGeom>
          <a:noFill/>
        </p:spPr>
        <p:txBody>
          <a:bodyPr wrap="square" rtlCol="0">
            <a:spAutoFit/>
          </a:bodyPr>
          <a:lstStyle/>
          <a:p>
            <a:pPr>
              <a:lnSpc>
                <a:spcPct val="150000"/>
              </a:lnSpc>
            </a:pPr>
            <a:r>
              <a:rPr lang="en-US" b="1" dirty="0" smtClean="0"/>
              <a:t>Sites </a:t>
            </a:r>
            <a:r>
              <a:rPr lang="en-US" b="1" dirty="0"/>
              <a:t>and Web links:</a:t>
            </a:r>
          </a:p>
          <a:p>
            <a:pPr>
              <a:lnSpc>
                <a:spcPct val="150000"/>
              </a:lnSpc>
            </a:pPr>
            <a:r>
              <a:rPr lang="en-US" dirty="0"/>
              <a:t>1. </a:t>
            </a:r>
            <a:r>
              <a:rPr lang="en-US" dirty="0"/>
              <a:t>https://www.electronicsforu.com/videos-slideshows/live-diy-led-dimmer-circuit-using-555-timer</a:t>
            </a:r>
            <a:endParaRPr lang="en-US" dirty="0"/>
          </a:p>
          <a:p>
            <a:pPr>
              <a:lnSpc>
                <a:spcPct val="150000"/>
              </a:lnSpc>
            </a:pPr>
            <a:r>
              <a:rPr lang="en-US" dirty="0"/>
              <a:t>2. </a:t>
            </a:r>
            <a:r>
              <a:rPr lang="en-US" dirty="0"/>
              <a:t>https://</a:t>
            </a:r>
            <a:r>
              <a:rPr lang="en-US" dirty="0" smtClean="0"/>
              <a:t>www.electronicsforu.com/technology-trends/learn-electronics/555-timer-working-specifications</a:t>
            </a: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37734204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 xmlns:a16="http://schemas.microsoft.com/office/drawing/2014/main" id="{06F267B9-90E6-4D91-2F94-99937051E1E4}"/>
              </a:ext>
            </a:extLst>
          </p:cNvPr>
          <p:cNvGrpSpPr/>
          <p:nvPr/>
        </p:nvGrpSpPr>
        <p:grpSpPr>
          <a:xfrm>
            <a:off x="2247960" y="2332796"/>
            <a:ext cx="7920111" cy="2883877"/>
            <a:chOff x="2247960" y="2332796"/>
            <a:chExt cx="7920111" cy="2883877"/>
          </a:xfrm>
        </p:grpSpPr>
        <p:sp>
          <p:nvSpPr>
            <p:cNvPr id="4" name="Rounded Rectangle 3">
              <a:extLst>
                <a:ext uri="{FF2B5EF4-FFF2-40B4-BE49-F238E27FC236}">
                  <a16:creationId xmlns="" xmlns:a16="http://schemas.microsoft.com/office/drawing/2014/main" id="{E792BE84-3448-2348-B352-CD5BC083E5FD}"/>
                </a:ext>
              </a:extLst>
            </p:cNvPr>
            <p:cNvSpPr/>
            <p:nvPr/>
          </p:nvSpPr>
          <p:spPr>
            <a:xfrm>
              <a:off x="2247960" y="233279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Fundamentals of IoT &amp; Sensors</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131980" y="3092166"/>
              <a:ext cx="3235570" cy="1083212"/>
            </a:xfrm>
            <a:prstGeom prst="rect">
              <a:avLst/>
            </a:prstGeom>
            <a:noFill/>
          </p:spPr>
        </p:pic>
      </p:gr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163</TotalTime>
  <Words>607</Words>
  <Application>Microsoft Office PowerPoint</Application>
  <PresentationFormat>Custom</PresentationFormat>
  <Paragraphs>132</Paragraphs>
  <Slides>14</Slides>
  <Notes>2</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Gallery</vt:lpstr>
      <vt:lpstr>PowerPoint Presentation</vt:lpstr>
      <vt:lpstr>PowerPoint Presentation</vt:lpstr>
      <vt:lpstr>PowerPoint Presentation</vt:lpstr>
      <vt:lpstr>PowerPoint Presentation</vt:lpstr>
      <vt:lpstr>PowerPoint Presentation</vt:lpstr>
      <vt:lpstr>                           internal circuit-IC 555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ANM</dc:creator>
  <cp:lastModifiedBy>sony</cp:lastModifiedBy>
  <cp:revision>18</cp:revision>
  <dcterms:created xsi:type="dcterms:W3CDTF">2023-05-11T04:21:37Z</dcterms:created>
  <dcterms:modified xsi:type="dcterms:W3CDTF">2024-03-31T16:47:30Z</dcterms:modified>
</cp:coreProperties>
</file>