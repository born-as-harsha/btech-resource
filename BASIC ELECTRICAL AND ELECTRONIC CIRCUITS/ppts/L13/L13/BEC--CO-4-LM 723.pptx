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9"/>
  </p:notesMasterIdLst>
  <p:handoutMasterIdLst>
    <p:handoutMasterId r:id="rId20"/>
  </p:handoutMasterIdLst>
  <p:sldIdLst>
    <p:sldId id="271" r:id="rId2"/>
    <p:sldId id="300" r:id="rId3"/>
    <p:sldId id="258" r:id="rId4"/>
    <p:sldId id="288" r:id="rId5"/>
    <p:sldId id="290" r:id="rId6"/>
    <p:sldId id="305" r:id="rId7"/>
    <p:sldId id="313" r:id="rId8"/>
    <p:sldId id="314" r:id="rId9"/>
    <p:sldId id="315" r:id="rId10"/>
    <p:sldId id="316" r:id="rId11"/>
    <p:sldId id="299" r:id="rId12"/>
    <p:sldId id="285" r:id="rId13"/>
    <p:sldId id="287" r:id="rId14"/>
    <p:sldId id="301" r:id="rId15"/>
    <p:sldId id="302" r:id="rId16"/>
    <p:sldId id="30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5" d="100"/>
          <a:sy n="85" d="100"/>
        </p:scale>
        <p:origin x="180" y="84"/>
      </p:cViewPr>
      <p:guideLst>
        <p:guide orient="horz" pos="2160"/>
        <p:guide pos="38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12-03-2024</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12-03-2024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43062" y="3131884"/>
            <a:ext cx="7948938" cy="236728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smtClean="0">
                <a:solidFill>
                  <a:srgbClr val="C00000"/>
                </a:solidFill>
                <a:cs typeface="Poppins" pitchFamily="2" charset="77"/>
              </a:rPr>
              <a:t>BASIC ELECTRICAL &amp; ELCTRONIC CIRCUITS (BEC)</a:t>
            </a:r>
          </a:p>
          <a:p>
            <a:pPr marR="0" lvl="0" indent="0" algn="ctr">
              <a:spcBef>
                <a:spcPts val="0"/>
              </a:spcBef>
              <a:spcAft>
                <a:spcPts val="0"/>
              </a:spcAft>
              <a:buNone/>
            </a:pPr>
            <a:r>
              <a:rPr lang="en-US" sz="2800" b="1" smtClean="0">
                <a:solidFill>
                  <a:srgbClr val="C00000"/>
                </a:solidFill>
                <a:cs typeface="Poppins" pitchFamily="2" charset="77"/>
              </a:rPr>
              <a:t>COURSE CODE : </a:t>
            </a:r>
            <a:r>
              <a:rPr lang="en-US" sz="2800" b="1" smtClean="0">
                <a:solidFill>
                  <a:srgbClr val="C00000"/>
                </a:solidFill>
                <a:cs typeface="Poppins" pitchFamily="2" charset="77"/>
              </a:rPr>
              <a:t>23EC1203</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dirty="0">
                <a:solidFill>
                  <a:srgbClr val="C00000"/>
                </a:solidFill>
                <a:effectLst/>
                <a:cs typeface="Poppins" panose="00000500000000000000" pitchFamily="2" charset="0"/>
              </a:rPr>
              <a:t>VOLTAGE REGULATOR-LM723</a:t>
            </a: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p:cNvSpPr/>
          <p:nvPr/>
        </p:nvSpPr>
        <p:spPr>
          <a:xfrm>
            <a:off x="7099935" y="5511800"/>
            <a:ext cx="2480310" cy="45275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No.22</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p:cNvSpPr txBox="1"/>
          <p:nvPr/>
        </p:nvSpPr>
        <p:spPr>
          <a:xfrm>
            <a:off x="914400" y="684469"/>
            <a:ext cx="10731286" cy="82994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LM723 and its importantance.</a:t>
            </a:r>
          </a:p>
          <a:p>
            <a:pPr>
              <a:lnSpc>
                <a:spcPct val="150000"/>
              </a:lnSpc>
            </a:pPr>
            <a:endParaRPr lang="en-US" sz="1600" b="0" i="0" dirty="0">
              <a:effectLst/>
              <a:latin typeface="Poppins"/>
              <a:cs typeface="Poppins"/>
            </a:endParaRPr>
          </a:p>
        </p:txBody>
      </p:sp>
      <p:sp>
        <p:nvSpPr>
          <p:cNvPr id="7" name="Rounded Rectangle 17"/>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752600" y="2438605"/>
            <a:ext cx="8791575" cy="156845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smtClean="0">
                <a:effectLst/>
                <a:latin typeface="Arial" panose="020B0604020202020204" pitchFamily="34" charset="0"/>
              </a:rPr>
              <a:t>Demonstrate the concept of voltage regulator </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working principle of LM723</a:t>
            </a:r>
          </a:p>
          <a:p>
            <a:pPr marL="342900" indent="-342900">
              <a:buAutoNum type="arabicPeriod"/>
            </a:pPr>
            <a:r>
              <a:rPr lang="en-US" sz="1600" b="0" i="0" dirty="0">
                <a:effectLst/>
                <a:latin typeface="Arial" panose="020B0604020202020204" pitchFamily="34" charset="0"/>
              </a:rPr>
              <a:t>List out the characterstics of LM723</a:t>
            </a:r>
          </a:p>
          <a:p>
            <a:pPr marL="342900" indent="-342900">
              <a:buAutoNum type="arabicPeriod"/>
            </a:pPr>
            <a:r>
              <a:rPr lang="en-US" sz="1600" b="0" i="0" dirty="0">
                <a:effectLst/>
                <a:latin typeface="Arial" panose="020B0604020202020204"/>
                <a:cs typeface="Arial" panose="020B0604020202020204"/>
              </a:rPr>
              <a:t>Describe the importantance of LM723</a:t>
            </a:r>
            <a:endParaRPr lang="en-US" sz="1600" dirty="0">
              <a:latin typeface="Arial" panose="020B0604020202020204"/>
              <a:cs typeface="Arial" panose="020B0604020202020204"/>
            </a:endParaRP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32207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pPr marL="342900" indent="-342900">
              <a:buAutoNum type="arabicPeriod"/>
            </a:pPr>
            <a:r>
              <a:rPr lang="en-US" sz="1600" b="0" i="0" dirty="0">
                <a:effectLst/>
                <a:latin typeface="Arial" panose="020B0604020202020204" pitchFamily="34" charset="0"/>
              </a:rPr>
              <a:t>Define the voltage regulator</a:t>
            </a:r>
          </a:p>
          <a:p>
            <a:pPr marL="342900" indent="-342900">
              <a:buAutoNum type="arabicPeriod"/>
            </a:pPr>
            <a:r>
              <a:rPr lang="en-US" sz="1600" b="0" i="0" dirty="0">
                <a:effectLst/>
                <a:latin typeface="Arial" panose="020B0604020202020204" pitchFamily="34" charset="0"/>
              </a:rPr>
              <a:t>Describe the LM723</a:t>
            </a:r>
          </a:p>
          <a:p>
            <a:pPr marL="342900" indent="-342900">
              <a:buAutoNum type="arabicPeriod"/>
            </a:pPr>
            <a:r>
              <a:rPr lang="en-US" sz="1600" dirty="0">
                <a:latin typeface="Arial" panose="020B0604020202020204" pitchFamily="34" charset="0"/>
              </a:rPr>
              <a:t>Summarize the overall concept of LM723</a:t>
            </a:r>
            <a:endParaRPr lang="en-US" sz="1600" dirty="0">
              <a:latin typeface="Poppins" panose="00000500000000000000" pitchFamily="2" charset="0"/>
              <a:cs typeface="Poppins" panose="00000500000000000000" pitchFamily="2"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
        <p:nvSpPr>
          <p:cNvPr id="53" name="TextBox 52"/>
          <p:cNvSpPr txBox="1"/>
          <p:nvPr/>
        </p:nvSpPr>
        <p:spPr>
          <a:xfrm>
            <a:off x="1083310" y="2477770"/>
            <a:ext cx="10086340" cy="3575685"/>
          </a:xfrm>
          <a:prstGeom prst="rect">
            <a:avLst/>
          </a:prstGeom>
          <a:noFill/>
        </p:spPr>
        <p:txBody>
          <a:bodyPr wrap="square" rtlCol="0">
            <a:noAutofit/>
          </a:bodyPr>
          <a:lstStyle/>
          <a:p>
            <a:pPr marL="285750" indent="-285750" algn="just">
              <a:lnSpc>
                <a:spcPct val="150000"/>
              </a:lnSpc>
              <a:buFont typeface="Wingdings" panose="05000000000000000000" charset="0"/>
              <a:buChar char="q"/>
            </a:pPr>
            <a:r>
              <a:rPr lang="en-US" dirty="0">
                <a:latin typeface="Times New Roman" panose="02020603050405020304" charset="0"/>
                <a:cs typeface="Times New Roman" panose="02020603050405020304" charset="0"/>
              </a:rPr>
              <a:t>There are various types of voltage regulators for getting a regulated power supply like 7812, 7805, etc. However, all these regulators provide a fixed value output. For inconsistent voltage regulation, an LM317 IC voltage regulator.</a:t>
            </a:r>
          </a:p>
          <a:p>
            <a:pPr marL="285750" indent="-285750" algn="just">
              <a:lnSpc>
                <a:spcPct val="150000"/>
              </a:lnSpc>
              <a:buFont typeface="Wingdings" panose="05000000000000000000" charset="0"/>
              <a:buChar char="q"/>
            </a:pPr>
            <a:r>
              <a:rPr lang="en-US" dirty="0">
                <a:gradFill>
                  <a:gsLst>
                    <a:gs pos="0">
                      <a:srgbClr val="FE4444"/>
                    </a:gs>
                    <a:gs pos="100000">
                      <a:srgbClr val="832B2B"/>
                    </a:gs>
                  </a:gsLst>
                  <a:lin scaled="0"/>
                </a:gradFill>
                <a:latin typeface="Times New Roman" panose="02020603050405020304" charset="0"/>
                <a:cs typeface="Times New Roman" panose="02020603050405020304" charset="0"/>
              </a:rPr>
              <a:t>LM723 IC is a changeable voltage regulator, used in the series regulator application with 150mA current o/p without exterior pass transistor. </a:t>
            </a:r>
          </a:p>
          <a:p>
            <a:pPr marL="285750" indent="-285750" algn="just">
              <a:lnSpc>
                <a:spcPct val="150000"/>
              </a:lnSpc>
              <a:buFont typeface="Wingdings" panose="05000000000000000000" charset="0"/>
              <a:buChar char="q"/>
            </a:pPr>
            <a:r>
              <a:rPr lang="en-US" dirty="0">
                <a:solidFill>
                  <a:schemeClr val="accent2">
                    <a:lumMod val="75000"/>
                  </a:schemeClr>
                </a:solidFill>
                <a:latin typeface="Times New Roman" panose="02020603050405020304" charset="0"/>
                <a:cs typeface="Times New Roman" panose="02020603050405020304" charset="0"/>
              </a:rPr>
              <a:t>When we utilize an external transistor, then it supplies 10A current to drive the load. The input voltage supply is maximum 40V &amp; its o/p voltage ranges from 3volts to 40volts.</a:t>
            </a:r>
          </a:p>
          <a:p>
            <a:pPr marL="285750" indent="-285750" algn="just">
              <a:lnSpc>
                <a:spcPct val="150000"/>
              </a:lnSpc>
              <a:buFont typeface="Wingdings" panose="05000000000000000000" charset="0"/>
              <a:buChar char="q"/>
            </a:pPr>
            <a:endParaRPr lang="en-US" dirty="0">
              <a:solidFill>
                <a:schemeClr val="accent2">
                  <a:lumMod val="75000"/>
                </a:schemeClr>
              </a:solidFill>
              <a:latin typeface="Times New Roman" panose="02020603050405020304" charset="0"/>
              <a:cs typeface="Times New Roman" panose="02020603050405020304"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2" name="Picture 1"/>
          <p:cNvPicPr>
            <a:picLocks noChangeAspect="1"/>
          </p:cNvPicPr>
          <p:nvPr/>
        </p:nvPicPr>
        <p:blipFill>
          <a:blip r:embed="rId2"/>
          <a:stretch>
            <a:fillRect/>
          </a:stretch>
        </p:blipFill>
        <p:spPr>
          <a:xfrm>
            <a:off x="5603875" y="2379345"/>
            <a:ext cx="4252595" cy="2886075"/>
          </a:xfrm>
          <a:prstGeom prst="rect">
            <a:avLst/>
          </a:prstGeom>
        </p:spPr>
      </p:pic>
      <p:pic>
        <p:nvPicPr>
          <p:cNvPr id="5" name="Picture 4"/>
          <p:cNvPicPr>
            <a:picLocks noChangeAspect="1"/>
          </p:cNvPicPr>
          <p:nvPr/>
        </p:nvPicPr>
        <p:blipFill>
          <a:blip r:embed="rId3"/>
          <a:stretch>
            <a:fillRect/>
          </a:stretch>
        </p:blipFill>
        <p:spPr>
          <a:xfrm>
            <a:off x="1361440" y="2823210"/>
            <a:ext cx="2595245" cy="19983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995352" y="111563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
        <p:nvSpPr>
          <p:cNvPr id="2" name="Rectangles 1"/>
          <p:cNvSpPr/>
          <p:nvPr/>
        </p:nvSpPr>
        <p:spPr>
          <a:xfrm>
            <a:off x="6445885" y="1939925"/>
            <a:ext cx="5486400" cy="4113530"/>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a:solidFill>
                  <a:schemeClr val="tx1"/>
                </a:solidFill>
                <a:latin typeface="Times New Roman" panose="02020603050405020304" charset="0"/>
                <a:cs typeface="Times New Roman" panose="02020603050405020304" charset="0"/>
              </a:rPr>
              <a:t>Pin9 (Vz): This pin is generally used to make negative regulators</a:t>
            </a:r>
          </a:p>
          <a:p>
            <a:pPr algn="just">
              <a:lnSpc>
                <a:spcPct val="150000"/>
              </a:lnSpc>
            </a:pPr>
            <a:r>
              <a:rPr lang="en-US">
                <a:solidFill>
                  <a:schemeClr val="tx1"/>
                </a:solidFill>
                <a:latin typeface="Times New Roman" panose="02020603050405020304" charset="0"/>
                <a:cs typeface="Times New Roman" panose="02020603050405020304" charset="0"/>
              </a:rPr>
              <a:t>Pin10 (Vout): This is the o/p pin</a:t>
            </a:r>
          </a:p>
          <a:p>
            <a:pPr algn="just">
              <a:lnSpc>
                <a:spcPct val="150000"/>
              </a:lnSpc>
            </a:pPr>
            <a:r>
              <a:rPr lang="en-US">
                <a:solidFill>
                  <a:schemeClr val="tx1"/>
                </a:solidFill>
                <a:latin typeface="Times New Roman" panose="02020603050405020304" charset="0"/>
                <a:cs typeface="Times New Roman" panose="02020603050405020304" charset="0"/>
              </a:rPr>
              <a:t>Pin11 (Vc): This is the series pass transistor’s collector input. Generally, it is connected directly to the +ve voltage supply if an exterior transistor is not used.</a:t>
            </a:r>
          </a:p>
          <a:p>
            <a:pPr algn="just">
              <a:lnSpc>
                <a:spcPct val="150000"/>
              </a:lnSpc>
            </a:pPr>
            <a:r>
              <a:rPr lang="en-US">
                <a:solidFill>
                  <a:schemeClr val="tx1"/>
                </a:solidFill>
                <a:latin typeface="Times New Roman" panose="02020603050405020304" charset="0"/>
                <a:cs typeface="Times New Roman" panose="02020603050405020304" charset="0"/>
              </a:rPr>
              <a:t>Pin 12 (V+): This is the input of the positive supply</a:t>
            </a:r>
          </a:p>
          <a:p>
            <a:pPr algn="just">
              <a:lnSpc>
                <a:spcPct val="150000"/>
              </a:lnSpc>
            </a:pPr>
            <a:r>
              <a:rPr lang="en-US">
                <a:solidFill>
                  <a:schemeClr val="tx1"/>
                </a:solidFill>
                <a:latin typeface="Times New Roman" panose="02020603050405020304" charset="0"/>
                <a:cs typeface="Times New Roman" panose="02020603050405020304" charset="0"/>
              </a:rPr>
              <a:t>Pin13 (Frequency Compensation): This pin assists in decreasing noise with a 100pf capacitor</a:t>
            </a:r>
          </a:p>
          <a:p>
            <a:pPr algn="just">
              <a:lnSpc>
                <a:spcPct val="150000"/>
              </a:lnSpc>
            </a:pPr>
            <a:r>
              <a:rPr lang="en-US">
                <a:solidFill>
                  <a:schemeClr val="tx1"/>
                </a:solidFill>
                <a:latin typeface="Times New Roman" panose="02020603050405020304" charset="0"/>
                <a:cs typeface="Times New Roman" panose="02020603050405020304" charset="0"/>
              </a:rPr>
              <a:t>Pin 14 (NC): Not connected.</a:t>
            </a:r>
          </a:p>
        </p:txBody>
      </p:sp>
      <p:sp>
        <p:nvSpPr>
          <p:cNvPr id="3" name="Rectangles 2"/>
          <p:cNvSpPr/>
          <p:nvPr/>
        </p:nvSpPr>
        <p:spPr>
          <a:xfrm>
            <a:off x="259080" y="1939925"/>
            <a:ext cx="6069965" cy="4113530"/>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endParaRPr lang="en-US">
              <a:solidFill>
                <a:schemeClr val="tx1"/>
              </a:solidFill>
              <a:latin typeface="Times New Roman" panose="02020603050405020304" charset="0"/>
              <a:cs typeface="Times New Roman" panose="02020603050405020304" charset="0"/>
            </a:endParaRPr>
          </a:p>
          <a:p>
            <a:pPr algn="just">
              <a:lnSpc>
                <a:spcPct val="150000"/>
              </a:lnSpc>
            </a:pPr>
            <a:r>
              <a:rPr lang="en-US">
                <a:solidFill>
                  <a:schemeClr val="tx1"/>
                </a:solidFill>
                <a:latin typeface="Times New Roman" panose="02020603050405020304" charset="0"/>
                <a:cs typeface="Times New Roman" panose="02020603050405020304" charset="0"/>
              </a:rPr>
              <a:t>Pin1 (NC): Not connected</a:t>
            </a:r>
          </a:p>
          <a:p>
            <a:pPr algn="just">
              <a:lnSpc>
                <a:spcPct val="150000"/>
              </a:lnSpc>
            </a:pPr>
            <a:r>
              <a:rPr lang="en-US">
                <a:solidFill>
                  <a:schemeClr val="tx1"/>
                </a:solidFill>
                <a:latin typeface="Times New Roman" panose="02020603050405020304" charset="0"/>
                <a:cs typeface="Times New Roman" panose="02020603050405020304" charset="0"/>
              </a:rPr>
              <a:t>Pin2 (Current Limit): This pin is used to limit the current</a:t>
            </a:r>
          </a:p>
          <a:p>
            <a:pPr algn="just">
              <a:lnSpc>
                <a:spcPct val="150000"/>
              </a:lnSpc>
            </a:pPr>
            <a:r>
              <a:rPr lang="en-US">
                <a:solidFill>
                  <a:schemeClr val="tx1"/>
                </a:solidFill>
                <a:latin typeface="Times New Roman" panose="02020603050405020304" charset="0"/>
                <a:cs typeface="Times New Roman" panose="02020603050405020304" charset="0"/>
              </a:rPr>
              <a:t>Pin3 (Current Sense): This pin is used in foldback application as well as to limit the current</a:t>
            </a:r>
          </a:p>
          <a:p>
            <a:pPr algn="just">
              <a:lnSpc>
                <a:spcPct val="150000"/>
              </a:lnSpc>
            </a:pPr>
            <a:r>
              <a:rPr lang="en-US">
                <a:solidFill>
                  <a:schemeClr val="tx1"/>
                </a:solidFill>
                <a:latin typeface="Times New Roman" panose="02020603050405020304" charset="0"/>
                <a:cs typeface="Times New Roman" panose="02020603050405020304" charset="0"/>
              </a:rPr>
              <a:t>Pin4 (Inverting Input): This pin provides stable o/p voltage</a:t>
            </a:r>
          </a:p>
          <a:p>
            <a:pPr algn="just">
              <a:lnSpc>
                <a:spcPct val="150000"/>
              </a:lnSpc>
            </a:pPr>
            <a:r>
              <a:rPr lang="en-US">
                <a:solidFill>
                  <a:schemeClr val="tx1"/>
                </a:solidFill>
                <a:latin typeface="Times New Roman" panose="02020603050405020304" charset="0"/>
                <a:cs typeface="Times New Roman" panose="02020603050405020304" charset="0"/>
              </a:rPr>
              <a:t>Pin5 (Non-inverting Input): This pin is used to supply a reference voltage to the inside of the operational amplifier.</a:t>
            </a:r>
          </a:p>
          <a:p>
            <a:pPr algn="just">
              <a:lnSpc>
                <a:spcPct val="150000"/>
              </a:lnSpc>
            </a:pPr>
            <a:r>
              <a:rPr lang="en-US">
                <a:solidFill>
                  <a:schemeClr val="tx1"/>
                </a:solidFill>
                <a:latin typeface="Times New Roman" panose="02020603050405020304" charset="0"/>
                <a:cs typeface="Times New Roman" panose="02020603050405020304" charset="0"/>
              </a:rPr>
              <a:t>Pin6 (Vref): This pin provides an almost 7v reference voltage</a:t>
            </a:r>
          </a:p>
          <a:p>
            <a:pPr algn="just">
              <a:lnSpc>
                <a:spcPct val="150000"/>
              </a:lnSpc>
            </a:pPr>
            <a:r>
              <a:rPr lang="en-US">
                <a:solidFill>
                  <a:schemeClr val="tx1"/>
                </a:solidFill>
                <a:latin typeface="Times New Roman" panose="02020603050405020304" charset="0"/>
                <a:cs typeface="Times New Roman" panose="02020603050405020304" charset="0"/>
              </a:rPr>
              <a:t>Pin7 (-Vcc): GND (Ground) Pin</a:t>
            </a:r>
          </a:p>
          <a:p>
            <a:pPr algn="just">
              <a:lnSpc>
                <a:spcPct val="150000"/>
              </a:lnSpc>
            </a:pPr>
            <a:r>
              <a:rPr lang="en-US">
                <a:solidFill>
                  <a:schemeClr val="tx1"/>
                </a:solidFill>
                <a:latin typeface="Times New Roman" panose="02020603050405020304" charset="0"/>
                <a:cs typeface="Times New Roman" panose="02020603050405020304" charset="0"/>
                <a:sym typeface="+mn-ea"/>
              </a:rPr>
              <a:t>Pin8 (NC): Not connected</a:t>
            </a:r>
            <a:endParaRPr lang="en-US">
              <a:solidFill>
                <a:schemeClr val="tx1"/>
              </a:solidFill>
              <a:latin typeface="Times New Roman" panose="02020603050405020304" charset="0"/>
              <a:cs typeface="Times New Roman" panose="02020603050405020304" charset="0"/>
            </a:endParaRPr>
          </a:p>
          <a:p>
            <a:pPr algn="just">
              <a:lnSpc>
                <a:spcPct val="150000"/>
              </a:lnSpc>
            </a:pPr>
            <a:endParaRPr lang="en-US">
              <a:solidFill>
                <a:schemeClr val="tx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FEATURES OF LM723</a:t>
            </a:r>
          </a:p>
        </p:txBody>
      </p:sp>
      <p:sp>
        <p:nvSpPr>
          <p:cNvPr id="3" name="Rectangles 2"/>
          <p:cNvSpPr/>
          <p:nvPr/>
        </p:nvSpPr>
        <p:spPr>
          <a:xfrm>
            <a:off x="346710" y="217297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b="1" u="sng">
                <a:solidFill>
                  <a:schemeClr val="tx1"/>
                </a:solidFill>
                <a:latin typeface="Times New Roman" panose="02020603050405020304" charset="0"/>
                <a:cs typeface="Times New Roman" panose="02020603050405020304" charset="0"/>
              </a:rPr>
              <a:t>The features of the LM723 include the following.</a:t>
            </a:r>
          </a:p>
          <a:p>
            <a:pPr algn="just">
              <a:lnSpc>
                <a:spcPct val="150000"/>
              </a:lnSpc>
            </a:pPr>
            <a:endParaRPr lang="en-US">
              <a:solidFill>
                <a:schemeClr val="tx1"/>
              </a:solidFill>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unnecessary o/p current will be 150mA without using an exterior pass transistor.</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maximum input supply voltage will be 40V.</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It offers modifiable o/p from 3volts to 37volts.</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These ICs are used to make switching &amp; linear regulator.</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It supplies 10A o/p current with the help of an external pass transistor.</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These ICs are used for different operations such as positive, negative, series, floating, and shunt.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SPECIFICATIONS</a:t>
            </a:r>
          </a:p>
        </p:txBody>
      </p:sp>
      <p:sp>
        <p:nvSpPr>
          <p:cNvPr id="3" name="Rectangles 2"/>
          <p:cNvSpPr/>
          <p:nvPr/>
        </p:nvSpPr>
        <p:spPr>
          <a:xfrm>
            <a:off x="346710" y="215900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b="1" u="sng">
                <a:solidFill>
                  <a:schemeClr val="tx1"/>
                </a:solidFill>
                <a:latin typeface="Times New Roman" panose="02020603050405020304" charset="0"/>
                <a:cs typeface="Times New Roman" panose="02020603050405020304" charset="0"/>
              </a:rPr>
              <a:t>Specifications of LM723</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maximum i/p voltage is 40v</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reference voltage is always 7 volts</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Ripple rejection is 74 dB</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current supply from Vz pin is 25mA</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output voltage ranges from 3volts to 37 volts</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range of operating temperature will be from -55°C to +150°C</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current supply from Vref pin is 15mA</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line and load regulation of 0.01%Vout &amp; 0.03% Vout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DIAGRAM</a:t>
            </a:r>
          </a:p>
        </p:txBody>
      </p:sp>
      <p:pic>
        <p:nvPicPr>
          <p:cNvPr id="2" name="Picture 1"/>
          <p:cNvPicPr>
            <a:picLocks noChangeAspect="1"/>
          </p:cNvPicPr>
          <p:nvPr/>
        </p:nvPicPr>
        <p:blipFill>
          <a:blip r:embed="rId2"/>
          <a:stretch>
            <a:fillRect/>
          </a:stretch>
        </p:blipFill>
        <p:spPr>
          <a:xfrm>
            <a:off x="1910080" y="2232660"/>
            <a:ext cx="8164830" cy="3618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DAIGARM (cont..)</a:t>
            </a:r>
          </a:p>
        </p:txBody>
      </p:sp>
      <p:sp>
        <p:nvSpPr>
          <p:cNvPr id="3" name="Rectangles 2"/>
          <p:cNvSpPr/>
          <p:nvPr/>
        </p:nvSpPr>
        <p:spPr>
          <a:xfrm>
            <a:off x="346710" y="201295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block diagram can be explained by separating it </a:t>
            </a:r>
            <a:r>
              <a:rPr lang="en-US" b="1">
                <a:solidFill>
                  <a:schemeClr val="accent2">
                    <a:lumMod val="75000"/>
                  </a:schemeClr>
                </a:solidFill>
                <a:latin typeface="Times New Roman" panose="02020603050405020304" charset="0"/>
                <a:cs typeface="Times New Roman" panose="02020603050405020304" charset="0"/>
              </a:rPr>
              <a:t>into two blocks namely the error amplifier and the reference voltage generator.</a:t>
            </a:r>
          </a:p>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In the reference block, </a:t>
            </a:r>
            <a:r>
              <a:rPr lang="en-US">
                <a:solidFill>
                  <a:srgbClr val="FF0000"/>
                </a:solidFill>
                <a:latin typeface="Times New Roman" panose="02020603050405020304" charset="0"/>
                <a:cs typeface="Times New Roman" panose="02020603050405020304" charset="0"/>
              </a:rPr>
              <a:t>a Zener diode is being forced to work at set point, so the o/p of the more zener is a permanent voltage with a stable current supply which arrives to produce a stable voltage (7.15V) along with an amplifier on the Vref pin of the IC.</a:t>
            </a:r>
          </a:p>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In the </a:t>
            </a:r>
            <a:r>
              <a:rPr lang="en-US">
                <a:solidFill>
                  <a:srgbClr val="C00000"/>
                </a:solidFill>
                <a:latin typeface="Times New Roman" panose="02020603050405020304" charset="0"/>
                <a:cs typeface="Times New Roman" panose="02020603050405020304" charset="0"/>
              </a:rPr>
              <a:t>error amplifier block, it includes a series pass Q1 transistor, an error amplifier, &amp; a transistor which limits the current</a:t>
            </a:r>
            <a:r>
              <a:rPr lang="en-US">
                <a:solidFill>
                  <a:schemeClr val="tx1"/>
                </a:solidFill>
                <a:latin typeface="Times New Roman" panose="02020603050405020304" charset="0"/>
                <a:cs typeface="Times New Roman" panose="02020603050405020304" charset="0"/>
              </a:rPr>
              <a:t>. This amplifier is used to contrast the o/p voltage which is given at inverting i/p terminal throughout feedback toward the Vref-reference voltage given at the non-inverting terminal.</a:t>
            </a:r>
          </a:p>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two connections internally not offered &amp; so have to be externally offered in accordance with the required output voltage. </a:t>
            </a:r>
            <a:r>
              <a:rPr lang="en-US">
                <a:solidFill>
                  <a:srgbClr val="C00000"/>
                </a:solidFill>
                <a:latin typeface="Times New Roman" panose="02020603050405020304" charset="0"/>
                <a:cs typeface="Times New Roman" panose="02020603050405020304" charset="0"/>
              </a:rPr>
              <a:t>The conduction of the transistor Q1 is controlled by the error signal. It is this transistor that controls the output voltage.</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DAIGARM (cont..)</a:t>
            </a:r>
          </a:p>
        </p:txBody>
      </p:sp>
      <p:sp>
        <p:nvSpPr>
          <p:cNvPr id="3" name="Rectangles 2"/>
          <p:cNvSpPr/>
          <p:nvPr/>
        </p:nvSpPr>
        <p:spPr>
          <a:xfrm>
            <a:off x="346710" y="201295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advantages of LM723 voltage regulator include proven, low noise, the voltage range is wide, support for external pass transistors, recompense by the user, extremely flexible, complete temperature range accessible, and economical.</a:t>
            </a:r>
          </a:p>
          <a:p>
            <a:pPr marL="285750" indent="-285750" algn="just">
              <a:lnSpc>
                <a:spcPct val="10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disadvantages of LM723 voltage regulator include difficulty, current limiting is not exact, current limiting is sensitive to overload, lowest dropout voltage, least regulated o/p voltage, error amplifier gain is Moderate, error amp bias current, and be careful when using MOSFET pass transistors.</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1687134" y="891247"/>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718185" y="1904365"/>
            <a:ext cx="10451465" cy="4149090"/>
          </a:xfrm>
          <a:prstGeom prst="rect">
            <a:avLst/>
          </a:prstGeom>
          <a:noFill/>
        </p:spPr>
        <p:txBody>
          <a:bodyPr wrap="square" rtlCol="0">
            <a:noAutofit/>
          </a:bodyPr>
          <a:lstStyle/>
          <a:p>
            <a:pPr algn="just">
              <a:lnSpc>
                <a:spcPct val="150000"/>
              </a:lnSpc>
            </a:pPr>
            <a:r>
              <a:rPr lang="en-US" dirty="0">
                <a:latin typeface="Times New Roman" panose="02020603050405020304" charset="0"/>
                <a:cs typeface="Times New Roman" panose="02020603050405020304" charset="0"/>
              </a:rPr>
              <a:t>Battery Charger:</a:t>
            </a:r>
          </a:p>
          <a:p>
            <a:pPr algn="just">
              <a:lnSpc>
                <a:spcPct val="150000"/>
              </a:lnSpc>
            </a:pPr>
            <a:r>
              <a:rPr lang="en-US" dirty="0">
                <a:latin typeface="Times New Roman" panose="02020603050405020304" charset="0"/>
                <a:cs typeface="Times New Roman" panose="02020603050405020304" charset="0"/>
              </a:rPr>
              <a:t>Activity: Create a battery charger circuit using the LM723 to regulate the charging voltage for rechargeable batteries.</a:t>
            </a:r>
          </a:p>
          <a:p>
            <a:pPr algn="just">
              <a:lnSpc>
                <a:spcPct val="150000"/>
              </a:lnSpc>
            </a:pPr>
            <a:r>
              <a:rPr lang="en-US" dirty="0">
                <a:latin typeface="Times New Roman" panose="02020603050405020304" charset="0"/>
                <a:cs typeface="Times New Roman" panose="02020603050405020304" charset="0"/>
              </a:rPr>
              <a:t>Case Study: Investigate the charging characteristics and efficiency of the LM723-based battery charger for different types of batteries, such as lead-acid or NiMH.</a:t>
            </a:r>
          </a:p>
          <a:p>
            <a:pPr algn="just">
              <a:lnSpc>
                <a:spcPct val="150000"/>
              </a:lnSpc>
            </a:pPr>
            <a:r>
              <a:rPr lang="en-US" dirty="0">
                <a:latin typeface="Times New Roman" panose="02020603050405020304" charset="0"/>
                <a:cs typeface="Times New Roman" panose="02020603050405020304" charset="0"/>
              </a:rPr>
              <a:t>Voltage and Current Regulator:</a:t>
            </a:r>
          </a:p>
          <a:p>
            <a:pPr algn="just">
              <a:lnSpc>
                <a:spcPct val="150000"/>
              </a:lnSpc>
            </a:pPr>
            <a:r>
              <a:rPr lang="en-US" dirty="0">
                <a:latin typeface="Times New Roman" panose="02020603050405020304" charset="0"/>
                <a:cs typeface="Times New Roman" panose="02020603050405020304" charset="0"/>
              </a:rPr>
              <a:t>Activity: Combine the LM723 with external components to create a dual-mode regulator that regulates both voltage and current.</a:t>
            </a:r>
          </a:p>
          <a:p>
            <a:pPr algn="just">
              <a:lnSpc>
                <a:spcPct val="150000"/>
              </a:lnSpc>
            </a:pPr>
            <a:r>
              <a:rPr lang="en-US" dirty="0">
                <a:latin typeface="Times New Roman" panose="02020603050405020304" charset="0"/>
                <a:cs typeface="Times New Roman" panose="02020603050405020304" charset="0"/>
              </a:rPr>
              <a:t>Case Study: Analyze the advantages of having a voltage and current regulation capability in a power supply, especially for driving loads with dynamic power requirements.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88593" y="97197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310" y="1690370"/>
            <a:ext cx="10581005" cy="4801235"/>
          </a:xfrm>
          <a:prstGeom prst="rect">
            <a:avLst/>
          </a:prstGeom>
          <a:noFill/>
        </p:spPr>
        <p:txBody>
          <a:bodyPr wrap="square" rtlCol="0">
            <a:noAutofit/>
          </a:bodyPr>
          <a:lstStyle/>
          <a:p>
            <a:pPr algn="just">
              <a:lnSpc>
                <a:spcPct val="150000"/>
              </a:lnSpc>
            </a:pPr>
            <a:endParaRPr lang="en-US" dirty="0">
              <a:latin typeface="Times New Roman" panose="02020603050405020304" charset="0"/>
              <a:cs typeface="Times New Roman" panose="02020603050405020304" charset="0"/>
            </a:endParaRPr>
          </a:p>
          <a:p>
            <a:pPr algn="just">
              <a:lnSpc>
                <a:spcPct val="150000"/>
              </a:lnSpc>
            </a:pPr>
            <a:r>
              <a:rPr lang="en-US" dirty="0">
                <a:latin typeface="Times New Roman" panose="02020603050405020304" charset="0"/>
                <a:cs typeface="Times New Roman" panose="02020603050405020304" charset="0"/>
              </a:rPr>
              <a:t>Battery Charger:</a:t>
            </a:r>
          </a:p>
          <a:p>
            <a:pPr algn="just">
              <a:lnSpc>
                <a:spcPct val="150000"/>
              </a:lnSpc>
            </a:pPr>
            <a:r>
              <a:rPr lang="en-US" dirty="0">
                <a:latin typeface="Times New Roman" panose="02020603050405020304" charset="0"/>
                <a:cs typeface="Times New Roman" panose="02020603050405020304" charset="0"/>
              </a:rPr>
              <a:t>The LM723 can also be used in battery charger circuits. In this example, the LM723 is configured to regulate the charging voltage for a lead-acid battery. The feedback loop adjusts the charging voltage to the desired level, and the current is limited by the resistor (R3) and the voltage drop across the sense resistor (R4).</a:t>
            </a:r>
          </a:p>
          <a:p>
            <a:pPr algn="just">
              <a:lnSpc>
                <a:spcPct val="150000"/>
              </a:lnSpc>
            </a:pPr>
            <a:r>
              <a:rPr lang="en-US" dirty="0">
                <a:latin typeface="Times New Roman" panose="02020603050405020304" charset="0"/>
                <a:cs typeface="Times New Roman" panose="02020603050405020304" charset="0"/>
              </a:rPr>
              <a:t>R1 and R2: Resistors for setting the reference voltage.</a:t>
            </a:r>
          </a:p>
          <a:p>
            <a:pPr algn="just">
              <a:lnSpc>
                <a:spcPct val="150000"/>
              </a:lnSpc>
            </a:pPr>
            <a:r>
              <a:rPr lang="en-US" dirty="0">
                <a:latin typeface="Times New Roman" panose="02020603050405020304" charset="0"/>
                <a:cs typeface="Times New Roman" panose="02020603050405020304" charset="0"/>
              </a:rPr>
              <a:t>R3: Current-limiting resistor for setting the charging current.</a:t>
            </a:r>
          </a:p>
          <a:p>
            <a:pPr algn="just">
              <a:lnSpc>
                <a:spcPct val="150000"/>
              </a:lnSpc>
            </a:pPr>
            <a:r>
              <a:rPr lang="en-US" dirty="0">
                <a:latin typeface="Times New Roman" panose="02020603050405020304" charset="0"/>
                <a:cs typeface="Times New Roman" panose="02020603050405020304" charset="0"/>
              </a:rPr>
              <a:t>R4: Sense resistor for current sensing.</a:t>
            </a:r>
          </a:p>
          <a:p>
            <a:pPr algn="just">
              <a:lnSpc>
                <a:spcPct val="150000"/>
              </a:lnSpc>
            </a:pPr>
            <a:r>
              <a:rPr lang="en-US" dirty="0">
                <a:latin typeface="Times New Roman" panose="02020603050405020304" charset="0"/>
                <a:cs typeface="Times New Roman" panose="02020603050405020304" charset="0"/>
              </a:rPr>
              <a:t>C1 and C2: Input and output capacitors for filtering.</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185447" y="2317555"/>
            <a:ext cx="10086536" cy="2584450"/>
          </a:xfrm>
          <a:prstGeom prst="rect">
            <a:avLst/>
          </a:prstGeom>
          <a:noFill/>
        </p:spPr>
        <p:txBody>
          <a:bodyPr wrap="square" rtlCol="0">
            <a:spAutoFit/>
          </a:bodyPr>
          <a:lstStyle/>
          <a:p>
            <a:pPr marL="285750" indent="-285750" algn="just">
              <a:lnSpc>
                <a:spcPct val="150000"/>
              </a:lnSpc>
              <a:buFont typeface="Wingdings" panose="05000000000000000000" charset="0"/>
              <a:buChar char="q"/>
            </a:pPr>
            <a:r>
              <a:rPr lang="en-US" dirty="0">
                <a:latin typeface="Times New Roman" panose="02020603050405020304" charset="0"/>
                <a:cs typeface="Times New Roman" panose="02020603050405020304" charset="0"/>
              </a:rPr>
              <a:t>It is an adjustable voltage regulator and the applications of LM723 mainly include a temperature controller, shunt and current regulator. It provides a high range of o/p voltage &amp; current equal to 10A by just inserting a sequence pass transistor through it, by including an extensive range of working temperature.</a:t>
            </a:r>
          </a:p>
          <a:p>
            <a:pPr marL="285750" indent="-285750" algn="just">
              <a:lnSpc>
                <a:spcPct val="150000"/>
              </a:lnSpc>
              <a:buFont typeface="Wingdings" panose="05000000000000000000" charset="0"/>
              <a:buChar char="q"/>
            </a:pPr>
            <a:r>
              <a:rPr lang="en-US" dirty="0">
                <a:latin typeface="Times New Roman" panose="02020603050405020304" charset="0"/>
                <a:cs typeface="Times New Roman" panose="02020603050405020304" charset="0"/>
              </a:rPr>
              <a:t>Thus the integrated circuit capable to withstand for long to use like linear otherwise switching kind regulator. However, this integrated circuit is particularly designed for series regulator function</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What is the primary function of the LM723 voltage regulator?</a:t>
            </a:r>
            <a:endParaRPr sz="160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795" y="1978025"/>
            <a:ext cx="3981450"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A. Digital signal processing</a:t>
            </a:r>
          </a:p>
          <a:p>
            <a:pPr marL="342900" indent="-342900">
              <a:lnSpc>
                <a:spcPct val="150000"/>
              </a:lnSpc>
              <a:buAutoNum type="alphaLcParenBoth"/>
            </a:pPr>
            <a:r>
              <a:rPr lang="en-US" sz="1600" dirty="0">
                <a:latin typeface="Arial" panose="020B0604020202020204" pitchFamily="34" charset="0"/>
              </a:rPr>
              <a:t>B. Voltage amplification</a:t>
            </a:r>
          </a:p>
          <a:p>
            <a:pPr marL="342900" indent="-342900">
              <a:lnSpc>
                <a:spcPct val="150000"/>
              </a:lnSpc>
              <a:buAutoNum type="alphaLcParenBoth"/>
            </a:pPr>
            <a:r>
              <a:rPr lang="en-US" sz="1600" dirty="0">
                <a:latin typeface="Arial" panose="020B0604020202020204" pitchFamily="34" charset="0"/>
              </a:rPr>
              <a:t>C. Voltage regulation</a:t>
            </a:r>
          </a:p>
          <a:p>
            <a:pPr marL="342900" indent="-342900">
              <a:lnSpc>
                <a:spcPct val="150000"/>
              </a:lnSpc>
              <a:buAutoNum type="alphaLcParenBoth"/>
            </a:pPr>
            <a:r>
              <a:rPr lang="en-US" sz="1600" dirty="0">
                <a:latin typeface="Arial" panose="020B0604020202020204" pitchFamily="34" charset="0"/>
              </a:rPr>
              <a:t>D. Audio signal modulation</a:t>
            </a:r>
            <a:endParaRPr lang="en-US" sz="1600" dirty="0"/>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Which component is typically used to adjust the output voltage in an LM723 voltage regulator circuit?</a:t>
            </a:r>
            <a:endParaRPr sz="160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650" y="4530725"/>
            <a:ext cx="3543300"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A. Inductor</a:t>
            </a:r>
          </a:p>
          <a:p>
            <a:pPr marL="342900" indent="-342900">
              <a:lnSpc>
                <a:spcPct val="150000"/>
              </a:lnSpc>
              <a:buAutoNum type="alphaLcParenBoth"/>
            </a:pPr>
            <a:r>
              <a:rPr lang="en-US" dirty="0"/>
              <a:t>B. Resistor</a:t>
            </a:r>
          </a:p>
          <a:p>
            <a:pPr marL="342900" indent="-342900">
              <a:lnSpc>
                <a:spcPct val="150000"/>
              </a:lnSpc>
              <a:buAutoNum type="alphaLcParenBoth"/>
            </a:pPr>
            <a:r>
              <a:rPr lang="en-US" dirty="0"/>
              <a:t>C. Capacitor</a:t>
            </a:r>
          </a:p>
          <a:p>
            <a:pPr marL="342900" indent="-342900">
              <a:lnSpc>
                <a:spcPct val="150000"/>
              </a:lnSpc>
              <a:buAutoNum type="alphaLcParenBoth"/>
            </a:pPr>
            <a:r>
              <a:rPr lang="en-US" dirty="0"/>
              <a:t>D. Transistor</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bldLvl="0" animBg="1"/>
      <p:bldP spid="13" grpId="0" animBg="1"/>
      <p:bldP spid="14"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95045" y="2274570"/>
            <a:ext cx="10512425" cy="2861310"/>
          </a:xfrm>
          <a:prstGeom prst="rect">
            <a:avLst/>
          </a:prstGeom>
          <a:noFill/>
        </p:spPr>
        <p:txBody>
          <a:bodyPr wrap="square" rtlCol="0">
            <a:spAutoFit/>
          </a:bodyPr>
          <a:lstStyle/>
          <a:p>
            <a:pPr marL="285750" indent="-285750">
              <a:lnSpc>
                <a:spcPct val="200000"/>
              </a:lnSpc>
              <a:buFont typeface="Wingdings" panose="05000000000000000000" charset="0"/>
              <a:buChar char="q"/>
            </a:pPr>
            <a:r>
              <a:rPr lang="en-US" dirty="0"/>
              <a:t>In an LM723-based voltage regulator circuit, what is the purpose of the "Comp" terminal?</a:t>
            </a:r>
          </a:p>
          <a:p>
            <a:pPr marL="285750" indent="-285750">
              <a:lnSpc>
                <a:spcPct val="200000"/>
              </a:lnSpc>
              <a:buFont typeface="Wingdings" panose="05000000000000000000" charset="0"/>
              <a:buChar char="q"/>
            </a:pPr>
            <a:r>
              <a:rPr lang="en-US" dirty="0"/>
              <a:t>What does the "Vin" terminal of the LM723 voltage regulator connect to?</a:t>
            </a:r>
          </a:p>
          <a:p>
            <a:pPr marL="285750" indent="-285750">
              <a:lnSpc>
                <a:spcPct val="200000"/>
              </a:lnSpc>
              <a:buFont typeface="Wingdings" panose="05000000000000000000" charset="0"/>
              <a:buChar char="q"/>
            </a:pPr>
            <a:r>
              <a:rPr lang="en-US" dirty="0"/>
              <a:t>Which terminal of the LM723 is used to set the maximum output voltage?</a:t>
            </a:r>
          </a:p>
          <a:p>
            <a:pPr marL="285750" indent="-285750">
              <a:lnSpc>
                <a:spcPct val="200000"/>
              </a:lnSpc>
              <a:buFont typeface="Wingdings" panose="05000000000000000000" charset="0"/>
              <a:buChar char="q"/>
            </a:pPr>
            <a:r>
              <a:rPr lang="en-US" dirty="0"/>
              <a:t>What is the purpose of the "Vadj" terminal on the LM723 voltage regulator?</a:t>
            </a:r>
          </a:p>
          <a:p>
            <a:pPr marL="285750" indent="-285750">
              <a:lnSpc>
                <a:spcPct val="200000"/>
              </a:lnSpc>
              <a:buFont typeface="Wingdings" panose="05000000000000000000" charset="0"/>
              <a:buChar char="q"/>
            </a:pPr>
            <a:r>
              <a:rPr lang="en-US" dirty="0"/>
              <a:t>Which terminal of the LM723 is connected to the reference voltage for setting the output voltage?</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2156663"/>
            <a:ext cx="9608234" cy="3415030"/>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1.John Bird. Electrical Circuit Theory and Technology, Routledge publishers, 6th edition, </a:t>
            </a:r>
          </a:p>
          <a:p>
            <a:pPr>
              <a:lnSpc>
                <a:spcPct val="150000"/>
              </a:lnSpc>
            </a:pPr>
            <a:r>
              <a:rPr lang="en-US" dirty="0"/>
              <a:t>2. Electronic Devices and Circuit Theory 12th Edition - Robert L. Boylestad</a:t>
            </a:r>
          </a:p>
          <a:p>
            <a:pPr>
              <a:lnSpc>
                <a:spcPct val="150000"/>
              </a:lnSpc>
            </a:pPr>
            <a:endParaRPr lang="en-US" dirty="0"/>
          </a:p>
          <a:p>
            <a:pPr>
              <a:lnSpc>
                <a:spcPct val="150000"/>
              </a:lnSpc>
            </a:pPr>
            <a:r>
              <a:rPr lang="en-US" b="1" dirty="0"/>
              <a:t>Sites and Web links:</a:t>
            </a:r>
          </a:p>
          <a:p>
            <a:pPr>
              <a:lnSpc>
                <a:spcPct val="150000"/>
              </a:lnSpc>
            </a:pPr>
            <a:r>
              <a:rPr lang="en-US" dirty="0"/>
              <a:t>1.  https://circuitdigest.com/electronic-circuits/lm723-voltage-regulator-circuit-diagram</a:t>
            </a:r>
          </a:p>
          <a:p>
            <a:pPr>
              <a:lnSpc>
                <a:spcPct val="150000"/>
              </a:lnSpc>
            </a:pPr>
            <a:r>
              <a:rPr lang="en-US" dirty="0"/>
              <a:t>2. https://www.circuits-diy.com/lm723-adjustable-voltage-regulator-30v-circuit/</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BEEC</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TotalTime>
  <Words>1338</Words>
  <Application>Microsoft Office PowerPoint</Application>
  <PresentationFormat>Widescreen</PresentationFormat>
  <Paragraphs>138</Paragraphs>
  <Slides>17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BioRhyme ExtraBold</vt:lpstr>
      <vt:lpstr>Calibri</vt:lpstr>
      <vt:lpstr>Gill Sans MT</vt:lpstr>
      <vt:lpstr>Poppins</vt:lpstr>
      <vt:lpstr>Times New Roman</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ANM</dc:creator>
  <cp:lastModifiedBy>hp</cp:lastModifiedBy>
  <cp:revision>28</cp:revision>
  <dcterms:created xsi:type="dcterms:W3CDTF">2023-05-11T04:21:00Z</dcterms:created>
  <dcterms:modified xsi:type="dcterms:W3CDTF">2024-03-12T04:42:13Z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6FBC9620861B466D810521309866E959_13</vt:lpwstr>
  </property>
  <property fmtid="{D5CDD505-2E9C-101B-9397-08002B2CF9AE}" pid="3" name="KSOProductBuildVer">
    <vt:lpwstr>1033-12.2.0.13359</vt:lpwstr>
  </property>
</Properties>
</file>