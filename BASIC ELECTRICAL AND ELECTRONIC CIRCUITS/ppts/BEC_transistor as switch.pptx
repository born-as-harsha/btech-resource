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71" r:id="rId2"/>
    <p:sldId id="300" r:id="rId3"/>
    <p:sldId id="258" r:id="rId4"/>
    <p:sldId id="288" r:id="rId5"/>
    <p:sldId id="290" r:id="rId6"/>
    <p:sldId id="299" r:id="rId7"/>
    <p:sldId id="305" r:id="rId8"/>
    <p:sldId id="287" r:id="rId9"/>
    <p:sldId id="285" r:id="rId10"/>
    <p:sldId id="301" r:id="rId11"/>
    <p:sldId id="302" r:id="rId12"/>
    <p:sldId id="303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-38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=""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=""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43062" y="3131884"/>
            <a:ext cx="7948938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C00000"/>
                </a:solidFill>
                <a:cs typeface="Poppins" pitchFamily="2" charset="77"/>
              </a:rPr>
              <a:t>BASIC ELECTRICAL &amp; ELCTRONIC CIRCUITS (BEC)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C00000"/>
                </a:solidFill>
                <a:cs typeface="Poppins" pitchFamily="2" charset="77"/>
              </a:rPr>
              <a:t>COURSE CODE : </a:t>
            </a:r>
            <a:r>
              <a:rPr lang="en-US" sz="2800" b="1" dirty="0" smtClean="0">
                <a:solidFill>
                  <a:srgbClr val="C00000"/>
                </a:solidFill>
                <a:cs typeface="Poppins" pitchFamily="2" charset="77"/>
              </a:rPr>
              <a:t>23EC1203</a:t>
            </a:r>
            <a:r>
              <a:rPr lang="en-US" sz="32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 err="1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traNsistor</a:t>
            </a:r>
            <a:r>
              <a:rPr lang="en-US" sz="4000" b="1" cap="all" dirty="0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 as a switch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=""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</a:t>
            </a:r>
            <a:r>
              <a:rPr lang="en-US" sz="2400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– No.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</a:t>
            </a:r>
            <a:r>
              <a:rPr lang="en-US" sz="1600" b="0" i="0" dirty="0" smtClean="0">
                <a:effectLst/>
                <a:latin typeface="Poppins"/>
                <a:cs typeface="Poppins"/>
              </a:rPr>
              <a:t>of transistor as a switch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Demonstrate 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the operating modes of transistor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Describe how transistor acts as switching element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the applications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</a:t>
            </a:r>
            <a:r>
              <a:rPr lang="en-US" sz="1600" b="0" i="0" dirty="0" smtClean="0">
                <a:effectLst/>
                <a:latin typeface="Arial"/>
                <a:cs typeface="Arial"/>
              </a:rPr>
              <a:t>the significance  of device in  other operating regions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=""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=""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=""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=""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Define  </a:t>
            </a:r>
            <a:r>
              <a:rPr lang="en-US" sz="1600" b="0" i="0" dirty="0" err="1" smtClean="0">
                <a:effectLst/>
                <a:latin typeface="Arial" panose="020B0604020202020204" pitchFamily="34" charset="0"/>
              </a:rPr>
              <a:t>transisor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 as a switch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 smtClean="0">
                <a:effectLst/>
                <a:latin typeface="Arial" panose="020B0604020202020204" pitchFamily="34" charset="0"/>
              </a:rPr>
              <a:t>Describe the operation 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smtClean="0">
                <a:latin typeface="Arial" panose="020B0604020202020204" pitchFamily="34" charset="0"/>
              </a:rPr>
              <a:t>Summarize concept with applications 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347537" y="1859340"/>
            <a:ext cx="55465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There are two main families of Transistors: Bipolar Junction Transistors (BJT) and Field Effect Transistors (FETs). </a:t>
            </a:r>
            <a:endParaRPr lang="en-US" dirty="0" smtClean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The </a:t>
            </a:r>
            <a:r>
              <a:rPr lang="en-US" dirty="0"/>
              <a:t>Bipolar Junction Transistor or simply BJT is a three-layer, three terminal and two junction semiconductor device. It consists of two PN Junctions coupled back-to-back with a common middle layer.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Whenever we say the term ‘transistor’, it often refers to BJT. It is a current controlled device, where the output current is controlled by the input current. </a:t>
            </a:r>
            <a:endParaRPr lang="en-US" dirty="0" smtClean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The </a:t>
            </a:r>
            <a:r>
              <a:rPr lang="en-US" dirty="0"/>
              <a:t>name bipolar indicates that two types of charge carriers i.e., Electrons and Holes conduct current in the BJT, where holes are positive charge carriers and electrons are negative charge carriers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35612" y="1404425"/>
            <a:ext cx="657288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47537" y="1654389"/>
            <a:ext cx="554655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095" y="1924346"/>
            <a:ext cx="4572000" cy="4128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/>
              <a:t>Transistor  types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0337" y="2105526"/>
            <a:ext cx="1047635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The transistor has three regions, namely base, emitter and collector. </a:t>
            </a:r>
            <a:r>
              <a:rPr lang="en-US" sz="2200" dirty="0" smtClean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The </a:t>
            </a:r>
            <a:r>
              <a:rPr lang="en-US" sz="2200" dirty="0"/>
              <a:t>emitter is a heavily doped terminal and emits electrons into the base. </a:t>
            </a:r>
            <a:endParaRPr lang="en-US" sz="2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Base </a:t>
            </a:r>
            <a:r>
              <a:rPr lang="en-US" sz="2200" dirty="0"/>
              <a:t>terminal is lightly doped and passes the emitter-injected electrons on to the collector. </a:t>
            </a:r>
            <a:endParaRPr lang="en-US" sz="2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The </a:t>
            </a:r>
            <a:r>
              <a:rPr lang="en-US" sz="2200" dirty="0"/>
              <a:t>collector terminal is moderately doped and collects electrons from base. This collector is large when compared to the other two regions so it can dissipate more heat.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BJTs are of two types: NPN and PNP. Both these function in the same way but they differ in terms of biasing and power supply polarity. </a:t>
            </a:r>
            <a:endParaRPr lang="en-US" sz="2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In </a:t>
            </a:r>
            <a:r>
              <a:rPr lang="en-US" sz="2200" dirty="0"/>
              <a:t>PNP transistor, N-type material is sandwiched between two P-type materials whereas in case of NPN transistor P-type material is sandwiched between two N-type materials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95352" y="854243"/>
            <a:ext cx="6201295" cy="69019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Operating Modes of Transistors</a:t>
            </a:r>
          </a:p>
          <a:p>
            <a:pPr algn="ctr"/>
            <a:r>
              <a:rPr lang="en-US" sz="2400" dirty="0" smtClean="0"/>
              <a:t>     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576137" y="2009274"/>
            <a:ext cx="54142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Depending </a:t>
            </a:r>
            <a:r>
              <a:rPr lang="en-US" dirty="0"/>
              <a:t>on the biasing conditions like forward or reverse, transistors have three major modes of operation namely cutoff, active and saturation regions.</a:t>
            </a:r>
          </a:p>
          <a:p>
            <a:r>
              <a:rPr lang="en-US" b="1" dirty="0" smtClean="0"/>
              <a:t>Cutoff </a:t>
            </a:r>
            <a:r>
              <a:rPr lang="en-US" b="1" dirty="0"/>
              <a:t>Mode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 this mode, both collector base junction and emitter base junction are reverse biased. As both the PN Junctions are reverse biased, 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there </a:t>
            </a:r>
            <a:r>
              <a:rPr lang="en-US" dirty="0"/>
              <a:t>is almost no current flow except small leakage currents </a:t>
            </a:r>
            <a:r>
              <a:rPr lang="en-US" dirty="0" smtClean="0"/>
              <a:t>BJT </a:t>
            </a:r>
            <a:r>
              <a:rPr lang="en-US" dirty="0"/>
              <a:t>in this mode is switched OFF and is essentially an open circuit.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Cutoff Region is primarily used in switching and digital logic circuits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348" y="1835443"/>
            <a:ext cx="4552448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1687134" y="891247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Transistor in saturation </a:t>
            </a:r>
            <a:endParaRPr lang="en-US" sz="24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600200" y="1949116"/>
            <a:ext cx="457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this mode or region,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highest base current is applied, leading to the overall collector </a:t>
            </a:r>
            <a:r>
              <a:rPr lang="en-US" sz="2400" dirty="0" smtClean="0"/>
              <a:t>current</a:t>
            </a:r>
            <a:r>
              <a:rPr lang="en-US" sz="2400" dirty="0"/>
              <a:t>.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causes </a:t>
            </a:r>
            <a:r>
              <a:rPr lang="en-US" sz="2400" dirty="0"/>
              <a:t>the average collector-emitter voltage to fall and the leakage surface as small as possible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maximum current that flows across this transistor.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Thus  </a:t>
            </a:r>
            <a:r>
              <a:rPr lang="en-US" sz="2400" dirty="0"/>
              <a:t>“Fully ON” transistor is triggered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49116"/>
            <a:ext cx="4957010" cy="4150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1162294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Output characteristics </a:t>
            </a:r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579" y="1937084"/>
            <a:ext cx="5907505" cy="4138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938463" y="1937084"/>
            <a:ext cx="423511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Consider </a:t>
            </a:r>
            <a:r>
              <a:rPr lang="en-US" sz="2200" dirty="0"/>
              <a:t>a base-biased transistor in a CE configuration. </a:t>
            </a:r>
          </a:p>
          <a:p>
            <a:r>
              <a:rPr lang="en-US" sz="2200" dirty="0"/>
              <a:t>When we extend the voltage rule of Kirchhoff to the circuit’s input and output side, </a:t>
            </a:r>
          </a:p>
          <a:p>
            <a:r>
              <a:rPr lang="en-US" sz="2200" b="1" dirty="0"/>
              <a:t>V</a:t>
            </a:r>
            <a:r>
              <a:rPr lang="en-US" sz="2200" b="1" baseline="-25000" dirty="0"/>
              <a:t>BB</a:t>
            </a:r>
            <a:r>
              <a:rPr lang="en-US" sz="2200" b="1" dirty="0"/>
              <a:t> = I</a:t>
            </a:r>
            <a:r>
              <a:rPr lang="en-US" sz="2200" b="1" baseline="-25000" dirty="0"/>
              <a:t>B</a:t>
            </a:r>
            <a:r>
              <a:rPr lang="en-US" sz="2200" b="1" dirty="0"/>
              <a:t>R</a:t>
            </a:r>
            <a:r>
              <a:rPr lang="en-US" sz="2200" b="1" baseline="-25000" dirty="0"/>
              <a:t>B</a:t>
            </a:r>
            <a:r>
              <a:rPr lang="en-US" sz="2200" b="1" dirty="0"/>
              <a:t> + V</a:t>
            </a:r>
            <a:r>
              <a:rPr lang="en-US" sz="2200" b="1" baseline="-25000" dirty="0"/>
              <a:t>BE</a:t>
            </a:r>
            <a:r>
              <a:rPr lang="en-US" sz="2200" b="1" dirty="0"/>
              <a:t> … (1)</a:t>
            </a:r>
            <a:endParaRPr lang="en-US" sz="2200" dirty="0"/>
          </a:p>
          <a:p>
            <a:r>
              <a:rPr lang="en-US" sz="2200" b="1" dirty="0"/>
              <a:t>V</a:t>
            </a:r>
            <a:r>
              <a:rPr lang="en-US" sz="2200" b="1" baseline="-25000" dirty="0"/>
              <a:t>CE</a:t>
            </a:r>
            <a:r>
              <a:rPr lang="en-US" sz="2200" b="1" dirty="0"/>
              <a:t> = V</a:t>
            </a:r>
            <a:r>
              <a:rPr lang="en-US" sz="2200" b="1" baseline="-25000" dirty="0"/>
              <a:t>CC</a:t>
            </a:r>
            <a:r>
              <a:rPr lang="en-US" sz="2200" b="1" dirty="0"/>
              <a:t> – I</a:t>
            </a:r>
            <a:r>
              <a:rPr lang="en-US" sz="2200" b="1" baseline="-25000" dirty="0"/>
              <a:t>C</a:t>
            </a:r>
            <a:r>
              <a:rPr lang="en-US" sz="2200" b="1" dirty="0"/>
              <a:t>R</a:t>
            </a:r>
            <a:r>
              <a:rPr lang="en-US" sz="2200" b="1" baseline="-25000" dirty="0"/>
              <a:t>C </a:t>
            </a:r>
            <a:r>
              <a:rPr lang="en-US" sz="2200" b="1" dirty="0"/>
              <a:t>… (2)</a:t>
            </a:r>
            <a:endParaRPr lang="en-US" sz="2200" dirty="0"/>
          </a:p>
          <a:p>
            <a:r>
              <a:rPr lang="en-US" sz="2200" dirty="0"/>
              <a:t>V</a:t>
            </a:r>
            <a:r>
              <a:rPr lang="en-US" sz="2200" baseline="-25000" dirty="0"/>
              <a:t>BB</a:t>
            </a:r>
            <a:r>
              <a:rPr lang="en-US" sz="2200" dirty="0"/>
              <a:t> is the input voltage (Vi), and V</a:t>
            </a:r>
            <a:r>
              <a:rPr lang="en-US" sz="2200" baseline="-25000" dirty="0"/>
              <a:t>CE</a:t>
            </a:r>
            <a:r>
              <a:rPr lang="en-US" sz="2200" dirty="0"/>
              <a:t>  is the output voltage DC (Vo). </a:t>
            </a:r>
          </a:p>
          <a:p>
            <a:r>
              <a:rPr lang="en-US" sz="2200" b="1" dirty="0"/>
              <a:t>V</a:t>
            </a:r>
            <a:r>
              <a:rPr lang="en-US" sz="2200" b="1" baseline="-25000" dirty="0"/>
              <a:t>i</a:t>
            </a:r>
            <a:r>
              <a:rPr lang="en-US" sz="2200" b="1" dirty="0"/>
              <a:t> = I</a:t>
            </a:r>
            <a:r>
              <a:rPr lang="en-US" sz="2200" b="1" baseline="-25000" dirty="0"/>
              <a:t>B</a:t>
            </a:r>
            <a:r>
              <a:rPr lang="en-US" sz="2200" b="1" dirty="0"/>
              <a:t>R</a:t>
            </a:r>
            <a:r>
              <a:rPr lang="en-US" sz="2200" b="1" baseline="-25000" dirty="0"/>
              <a:t>B</a:t>
            </a:r>
            <a:r>
              <a:rPr lang="en-US" sz="2200" b="1" dirty="0"/>
              <a:t> + V</a:t>
            </a:r>
            <a:r>
              <a:rPr lang="en-US" sz="2200" b="1" baseline="-25000" dirty="0"/>
              <a:t>BE</a:t>
            </a:r>
            <a:endParaRPr lang="en-US" sz="2200" dirty="0"/>
          </a:p>
          <a:p>
            <a:r>
              <a:rPr lang="en-US" sz="2200" b="1" dirty="0"/>
              <a:t>V</a:t>
            </a:r>
            <a:r>
              <a:rPr lang="en-US" sz="2200" b="1" baseline="-25000" dirty="0"/>
              <a:t>o</a:t>
            </a:r>
            <a:r>
              <a:rPr lang="en-US" sz="2200" b="1" dirty="0"/>
              <a:t> = V</a:t>
            </a:r>
            <a:r>
              <a:rPr lang="en-US" sz="2200" b="1" baseline="-25000" dirty="0"/>
              <a:t>CC</a:t>
            </a:r>
            <a:r>
              <a:rPr lang="en-US" sz="2200" b="1" dirty="0"/>
              <a:t> – I</a:t>
            </a:r>
            <a:r>
              <a:rPr lang="en-US" sz="2200" b="1" baseline="-25000" dirty="0"/>
              <a:t>C</a:t>
            </a:r>
            <a:r>
              <a:rPr lang="en-US" sz="2200" b="1" dirty="0"/>
              <a:t>R</a:t>
            </a:r>
            <a:r>
              <a:rPr lang="en-US" sz="2200" b="1" baseline="-25000" dirty="0"/>
              <a:t>C</a:t>
            </a:r>
            <a:endParaRPr lang="en-US" sz="2200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826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Applications </a:t>
            </a:r>
            <a:r>
              <a:rPr lang="en-US" sz="2400" b="1" dirty="0" err="1" smtClean="0"/>
              <a:t>OfTransistor</a:t>
            </a:r>
            <a:r>
              <a:rPr lang="en-US" sz="2400" b="1" dirty="0" smtClean="0"/>
              <a:t> </a:t>
            </a:r>
            <a:r>
              <a:rPr lang="en-US" sz="2400" b="1" dirty="0"/>
              <a:t>as a Switch</a:t>
            </a:r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130969" y="1780675"/>
            <a:ext cx="624439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LED feature is the most widely employed practical application that is used as a switch for the transistor.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relay operation can be managed by making the necessary circuit changes in order to connect and control some external devices with respect to the relay.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With this idea of transistors, the DC motors can be controlled and monitored. </a:t>
            </a:r>
            <a:r>
              <a:rPr lang="en-US" dirty="0" smtClean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used </a:t>
            </a:r>
            <a:r>
              <a:rPr lang="en-US" dirty="0"/>
              <a:t>to turn the engine on and off. The motor speed can be modified by changing the transistor frequency values.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Light-bulb is one of the example of these switches’. It can switch the light on if the setting is bright and off, depending on the dark surroundings. A light-dependent resistor (LDR) is used to do this.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An element called a thermistor can be controlled using this switching method, which detects the ambient temperature.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359" y="1956133"/>
            <a:ext cx="4123220" cy="430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388593" y="97197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SUMMARY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540043" y="2136339"/>
            <a:ext cx="969745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Transistor  operating modes , characteristics ,  VI relationship is represented.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Student is able to identify the significance of transistor acts as a switch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/>
              <a:t>Student  is able to  verify the  applications of transistor as a switch in real time projects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=""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b="1" dirty="0"/>
              <a:t>Which region of the transistor is very highly doped?</a:t>
            </a:r>
          </a:p>
          <a:p>
            <a:r>
              <a:rPr lang="en-US" sz="1600" dirty="0"/>
              <a:t>The base of the transistor is very highly doped.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=""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</a:t>
            </a:r>
            <a:r>
              <a:rPr lang="en-US" sz="1600" b="1" dirty="0"/>
              <a:t> base </a:t>
            </a:r>
            <a:r>
              <a:rPr lang="en-US" sz="1600" dirty="0"/>
              <a:t>of the transistor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</a:t>
            </a:r>
            <a:r>
              <a:rPr lang="en-US" sz="1600" dirty="0"/>
              <a:t> </a:t>
            </a:r>
            <a:r>
              <a:rPr lang="en-US" sz="1600" dirty="0" smtClean="0"/>
              <a:t>collector 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 smtClean="0">
                <a:latin typeface="Arial" panose="020B0604020202020204" pitchFamily="34" charset="0"/>
              </a:rPr>
              <a:t>…</a:t>
            </a:r>
            <a:r>
              <a:rPr lang="en-US" sz="1600" dirty="0" smtClean="0"/>
              <a:t> emitter of </a:t>
            </a:r>
            <a:r>
              <a:rPr lang="en-US" sz="1600" dirty="0"/>
              <a:t>the transistor</a:t>
            </a:r>
            <a:endParaRPr lang="en-US" sz="16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=""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….</a:t>
            </a:r>
            <a:endParaRPr sz="160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=""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…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…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…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…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" y="2274838"/>
            <a:ext cx="9608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List out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Analyze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Summarize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2156663"/>
            <a:ext cx="96082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 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</a:p>
          <a:p>
            <a:pPr>
              <a:lnSpc>
                <a:spcPct val="150000"/>
              </a:lnSpc>
            </a:pPr>
            <a:r>
              <a:rPr lang="en-US" dirty="0"/>
              <a:t>3.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 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</a:p>
          <a:p>
            <a:pPr>
              <a:lnSpc>
                <a:spcPct val="150000"/>
              </a:lnSpc>
            </a:pPr>
            <a:r>
              <a:rPr lang="en-US" dirty="0"/>
              <a:t>3.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=""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Fundamentals of IoT &amp; Sensors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156</TotalTime>
  <Words>835</Words>
  <Application>Microsoft Office PowerPoint</Application>
  <PresentationFormat>Custom</PresentationFormat>
  <Paragraphs>144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anm</dc:creator>
  <cp:lastModifiedBy>sony</cp:lastModifiedBy>
  <cp:revision>16</cp:revision>
  <dcterms:created xsi:type="dcterms:W3CDTF">2023-05-11T04:21:37Z</dcterms:created>
  <dcterms:modified xsi:type="dcterms:W3CDTF">2024-04-02T02:10:14Z</dcterms:modified>
</cp:coreProperties>
</file>