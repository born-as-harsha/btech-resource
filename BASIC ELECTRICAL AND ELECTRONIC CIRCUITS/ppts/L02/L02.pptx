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8"/>
  </p:notesMasterIdLst>
  <p:handoutMasterIdLst>
    <p:handoutMasterId r:id="rId19"/>
  </p:handoutMasterIdLst>
  <p:sldIdLst>
    <p:sldId id="271" r:id="rId2"/>
    <p:sldId id="300" r:id="rId3"/>
    <p:sldId id="258" r:id="rId4"/>
    <p:sldId id="306" r:id="rId5"/>
    <p:sldId id="288" r:id="rId6"/>
    <p:sldId id="307" r:id="rId7"/>
    <p:sldId id="309" r:id="rId8"/>
    <p:sldId id="285" r:id="rId9"/>
    <p:sldId id="314" r:id="rId10"/>
    <p:sldId id="319" r:id="rId11"/>
    <p:sldId id="301" r:id="rId12"/>
    <p:sldId id="317" r:id="rId13"/>
    <p:sldId id="318" r:id="rId14"/>
    <p:sldId id="302" r:id="rId15"/>
    <p:sldId id="303" r:id="rId16"/>
    <p:sldId id="30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86" y="7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CDB74D4-5E76-4C47-E7AA-61E2C648C8D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a:extLst>
              <a:ext uri="{FF2B5EF4-FFF2-40B4-BE49-F238E27FC236}">
                <a16:creationId xmlns:a16="http://schemas.microsoft.com/office/drawing/2014/main" id="{7C962EDA-0A3B-5C3A-C8DF-7672C339CF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pPr/>
              <a:t>20-12-2024</a:t>
            </a:fld>
            <a:endParaRPr lang="en-IN"/>
          </a:p>
        </p:txBody>
      </p:sp>
      <p:sp>
        <p:nvSpPr>
          <p:cNvPr id="4" name="Footer Placeholder 3">
            <a:extLst>
              <a:ext uri="{FF2B5EF4-FFF2-40B4-BE49-F238E27FC236}">
                <a16:creationId xmlns:a16="http://schemas.microsoft.com/office/drawing/2014/main" id="{1EC80489-5F61-FA08-A147-AE43BE9C499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a:extLst>
              <a:ext uri="{FF2B5EF4-FFF2-40B4-BE49-F238E27FC236}">
                <a16:creationId xmlns:a16="http://schemas.microsoft.com/office/drawing/2014/main" id="{F72D387C-1469-6716-E148-98BDCB6976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pPr/>
              <a:t>‹#›</a:t>
            </a:fld>
            <a:endParaRPr lang="en-IN"/>
          </a:p>
        </p:txBody>
      </p:sp>
    </p:spTree>
    <p:extLst>
      <p:ext uri="{BB962C8B-B14F-4D97-AF65-F5344CB8AC3E}">
        <p14:creationId xmlns:p14="http://schemas.microsoft.com/office/powerpoint/2010/main" val="954391555"/>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pPr/>
              <a:t>20-12-2024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pPr/>
              <a:t>‹#›</a:t>
            </a:fld>
            <a:endParaRPr lang="en-IN"/>
          </a:p>
        </p:txBody>
      </p:sp>
    </p:spTree>
    <p:extLst>
      <p:ext uri="{BB962C8B-B14F-4D97-AF65-F5344CB8AC3E}">
        <p14:creationId xmlns:p14="http://schemas.microsoft.com/office/powerpoint/2010/main" val="3310007880"/>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p14="http://schemas.microsoft.com/office/powerpoint/2010/main" val="3228435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4</a:t>
            </a:fld>
            <a:endParaRPr lang="en-US"/>
          </a:p>
        </p:txBody>
      </p:sp>
    </p:spTree>
    <p:extLst>
      <p:ext uri="{BB962C8B-B14F-4D97-AF65-F5344CB8AC3E}">
        <p14:creationId xmlns:p14="http://schemas.microsoft.com/office/powerpoint/2010/main" val="3228435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pPr/>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839828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57521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90948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52286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pPr/>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8372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&lt;COURSE TITLE&gt;, &lt;TOPIC NAME&gt;</a:t>
            </a:r>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pPr/>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07466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3194587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32037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00776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1267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536402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28003808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pPr/>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a:extLst>
              <a:ext uri="{FF2B5EF4-FFF2-40B4-BE49-F238E27FC236}">
                <a16:creationId xmlns:a16="http://schemas.microsoft.com/office/drawing/2014/main" id="{D33DD7EC-6054-A5D7-0F93-3916702EC90E}"/>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a:extLst>
              <a:ext uri="{FF2B5EF4-FFF2-40B4-BE49-F238E27FC236}">
                <a16:creationId xmlns:a16="http://schemas.microsoft.com/office/drawing/2014/main" id="{DB6D7A70-9470-38A5-6785-933F5C089234}"/>
              </a:ext>
            </a:extLst>
          </p:cNvPr>
          <p:cNvPicPr>
            <a:picLocks noChangeAspect="1"/>
          </p:cNvPicPr>
          <p:nvPr userDrawn="1"/>
        </p:nvPicPr>
        <p:blipFill rotWithShape="1">
          <a:blip r:embed="rId15" cstate="print">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14" name="Picture 13" descr="Text&#10;&#10;Description automatically generated with medium confidence">
            <a:extLst>
              <a:ext uri="{FF2B5EF4-FFF2-40B4-BE49-F238E27FC236}">
                <a16:creationId xmlns:a16="http://schemas.microsoft.com/office/drawing/2014/main" id="{A51BE3ED-273E-B0A1-FC3A-EE01E1A92D27}"/>
              </a:ext>
            </a:extLst>
          </p:cNvPr>
          <p:cNvPicPr>
            <a:picLocks noChangeAspect="1"/>
          </p:cNvPicPr>
          <p:nvPr userDrawn="1"/>
        </p:nvPicPr>
        <p:blipFill rotWithShape="1">
          <a:blip r:embed="rId16" cstate="print">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31983802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g"/><Relationship Id="rId1" Type="http://schemas.openxmlformats.org/officeDocument/2006/relationships/slideLayout" Target="../slideLayouts/slideLayout2.xml"/><Relationship Id="rId5" Type="http://schemas.openxmlformats.org/officeDocument/2006/relationships/image" Target="../media/image23.jpg"/><Relationship Id="rId4" Type="http://schemas.openxmlformats.org/officeDocument/2006/relationships/image" Target="../media/image22.jpg"/></Relationships>
</file>

<file path=ppt/slides/_rels/slide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2.jpg" TargetMode="External"/><Relationship Id="rId2" Type="http://schemas.openxmlformats.org/officeDocument/2006/relationships/hyperlink" Target="1.jpg" TargetMode="External"/><Relationship Id="rId1" Type="http://schemas.openxmlformats.org/officeDocument/2006/relationships/slideLayout" Target="../slideLayouts/slideLayout2.xml"/><Relationship Id="rId4" Type="http://schemas.openxmlformats.org/officeDocument/2006/relationships/hyperlink" Target="3.jpg"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resources.pcb.cadence.com/blog/a-tale-of-two-currents-ac-vs-dc-2" TargetMode="External"/><Relationship Id="rId2" Type="http://schemas.openxmlformats.org/officeDocument/2006/relationships/hyperlink" Target="https://testbook.com/physics/ac-circuit" TargetMode="Externa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hyperlink" Target="https://testbook.com/physics/alternating-current"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62392" y="167951"/>
            <a:ext cx="6170855" cy="6111678"/>
          </a:xfrm>
          <a:prstGeom prst="rect">
            <a:avLst/>
          </a:prstGeom>
          <a:noFill/>
          <a:ln>
            <a:noFill/>
          </a:ln>
        </p:spPr>
      </p:pic>
      <p:sp>
        <p:nvSpPr>
          <p:cNvPr id="476" name="Google Shape;476;p16"/>
          <p:cNvSpPr txBox="1"/>
          <p:nvPr/>
        </p:nvSpPr>
        <p:spPr>
          <a:xfrm>
            <a:off x="4363382" y="2734828"/>
            <a:ext cx="7656165" cy="2985392"/>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2800" b="1" dirty="0">
                <a:solidFill>
                  <a:srgbClr val="C00000"/>
                </a:solidFill>
                <a:cs typeface="Poppins" pitchFamily="2" charset="77"/>
              </a:rPr>
              <a:t>BASIC ELECTRICAL &amp; ELCTRONIC CIRCUITS (BEC)</a:t>
            </a:r>
          </a:p>
          <a:p>
            <a:pPr marR="0" lvl="0" indent="0" algn="ctr">
              <a:spcBef>
                <a:spcPts val="0"/>
              </a:spcBef>
              <a:spcAft>
                <a:spcPts val="0"/>
              </a:spcAft>
              <a:buNone/>
            </a:pPr>
            <a:r>
              <a:rPr lang="en-US" sz="2800" b="1" dirty="0">
                <a:solidFill>
                  <a:srgbClr val="C00000"/>
                </a:solidFill>
                <a:cs typeface="Poppins" pitchFamily="2" charset="77"/>
              </a:rPr>
              <a:t>COURSE CODE : 23EC1203</a:t>
            </a:r>
            <a:r>
              <a:rPr lang="en-US" sz="3200" b="1" dirty="0">
                <a:solidFill>
                  <a:srgbClr val="C00000"/>
                </a:solidFill>
                <a:cs typeface="Poppins" pitchFamily="2" charset="77"/>
                <a:sym typeface="BioRhyme ExtraBold"/>
              </a:rPr>
              <a:t> </a:t>
            </a: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b="1" cap="all" dirty="0">
                <a:ln/>
                <a:solidFill>
                  <a:srgbClr val="C00000"/>
                </a:solidFill>
                <a:effectLst/>
                <a:cs typeface="Poppins" panose="00000500000000000000" pitchFamily="2" charset="0"/>
              </a:rPr>
              <a:t>AC Fundamentals: rms and average values</a:t>
            </a:r>
            <a:endParaRPr lang="en-US" sz="4000" b="1" dirty="0">
              <a:solidFill>
                <a:srgbClr val="C00000"/>
              </a:solidFill>
              <a:effectLst/>
              <a:cs typeface="Poppins" panose="00000500000000000000" pitchFamily="2" charset="0"/>
            </a:endParaRPr>
          </a:p>
        </p:txBody>
      </p:sp>
      <p:sp>
        <p:nvSpPr>
          <p:cNvPr id="19" name="Rectangle: Rounded Corners 18">
            <a:extLst>
              <a:ext uri="{FF2B5EF4-FFF2-40B4-BE49-F238E27FC236}">
                <a16:creationId xmlns:a16="http://schemas.microsoft.com/office/drawing/2014/main" id="{B9F0C376-F4D3-1950-3474-EFF28411BDC6}"/>
              </a:ext>
            </a:extLst>
          </p:cNvPr>
          <p:cNvSpPr/>
          <p:nvPr/>
        </p:nvSpPr>
        <p:spPr>
          <a:xfrm>
            <a:off x="6287807" y="1913706"/>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233250" y="1880470"/>
            <a:ext cx="4595447" cy="646290"/>
          </a:xfrm>
          <a:prstGeom prst="rect">
            <a:avLst/>
          </a:prstGeom>
          <a:noFill/>
          <a:ln>
            <a:noFill/>
          </a:ln>
          <a:effectLst/>
        </p:spPr>
        <p:txBody>
          <a:bodyPr spcFirstLastPara="1" wrap="square" lIns="91425" tIns="45700" rIns="91425" bIns="45700" anchor="t" anchorCtr="0">
            <a:spAutoFit/>
          </a:bodyPr>
          <a:lstStyle/>
          <a:p>
            <a:pPr algn="ctr"/>
            <a:r>
              <a:rPr lang="en-US" sz="3600" dirty="0">
                <a:solidFill>
                  <a:srgbClr val="C00000"/>
                </a:solidFill>
                <a:cs typeface="Poppins" pitchFamily="2" charset="77"/>
              </a:rPr>
              <a:t>Department of BES-II</a:t>
            </a:r>
          </a:p>
        </p:txBody>
      </p:sp>
      <p:sp>
        <p:nvSpPr>
          <p:cNvPr id="8" name="Google Shape;502;p17">
            <a:extLst>
              <a:ext uri="{FF2B5EF4-FFF2-40B4-BE49-F238E27FC236}">
                <a16:creationId xmlns:a16="http://schemas.microsoft.com/office/drawing/2014/main" id="{7153E61F-4441-DBE3-3DFF-6E9EF6C48D23}"/>
              </a:ext>
            </a:extLst>
          </p:cNvPr>
          <p:cNvSpPr/>
          <p:nvPr/>
        </p:nvSpPr>
        <p:spPr>
          <a:xfrm>
            <a:off x="7099973" y="5655868"/>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No. 2</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1" y="84408"/>
            <a:ext cx="356004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914400" y="684469"/>
            <a:ext cx="10731286" cy="830997"/>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basic concept of AC fundamentals: RMS and Average Values</a:t>
            </a:r>
          </a:p>
          <a:p>
            <a:pPr>
              <a:lnSpc>
                <a:spcPct val="150000"/>
              </a:lnSpc>
            </a:pPr>
            <a:endParaRPr lang="en-US" sz="1600" b="0" i="0" dirty="0">
              <a:effectLst/>
              <a:latin typeface="Poppins"/>
              <a:cs typeface="Poppins"/>
            </a:endParaRP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4395589"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8791575" cy="1815882"/>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p>
          <a:p>
            <a:pPr marL="342900" indent="-342900">
              <a:buAutoNum type="arabicPeriod"/>
            </a:pPr>
            <a:r>
              <a:rPr lang="en-US" sz="1600" dirty="0">
                <a:latin typeface="Arial" panose="020B0604020202020204" pitchFamily="34" charset="0"/>
              </a:rPr>
              <a:t>Describe </a:t>
            </a:r>
            <a:r>
              <a:rPr lang="en-US" sz="1600" b="0" i="0" dirty="0">
                <a:effectLst/>
                <a:latin typeface="Arial" panose="020B0604020202020204" pitchFamily="34" charset="0"/>
              </a:rPr>
              <a:t>AC and DC Signals</a:t>
            </a:r>
          </a:p>
          <a:p>
            <a:pPr marL="342900" indent="-342900">
              <a:buAutoNum type="arabicPeriod"/>
            </a:pPr>
            <a:r>
              <a:rPr lang="en-US" sz="1600" dirty="0">
                <a:latin typeface="Arial" panose="020B0604020202020204" pitchFamily="34" charset="0"/>
              </a:rPr>
              <a:t>Demonstrate</a:t>
            </a:r>
            <a:r>
              <a:rPr lang="en-US" sz="1600" b="0" i="0" dirty="0">
                <a:effectLst/>
                <a:latin typeface="Arial" panose="020B0604020202020204" pitchFamily="34" charset="0"/>
              </a:rPr>
              <a:t> Parameters of AC signals</a:t>
            </a:r>
          </a:p>
          <a:p>
            <a:pPr marL="342900" indent="-342900">
              <a:buAutoNum type="arabicPeriod"/>
            </a:pPr>
            <a:r>
              <a:rPr lang="en-US" sz="1600" b="0" i="0" dirty="0">
                <a:effectLst/>
                <a:latin typeface="Arial" panose="020B0604020202020204" pitchFamily="34" charset="0"/>
              </a:rPr>
              <a:t>List out the differences between AC and DC signals</a:t>
            </a:r>
          </a:p>
          <a:p>
            <a:pPr marL="342900" indent="-342900">
              <a:buAutoNum type="arabicPeriod"/>
            </a:pPr>
            <a:r>
              <a:rPr lang="en-US" sz="1600" b="0" i="0" dirty="0">
                <a:effectLst/>
                <a:latin typeface="Arial"/>
                <a:cs typeface="Arial"/>
              </a:rPr>
              <a:t>Describe </a:t>
            </a:r>
            <a:r>
              <a:rPr lang="en-US" sz="1600" dirty="0">
                <a:latin typeface="Arial"/>
                <a:cs typeface="Arial"/>
              </a:rPr>
              <a:t> How to calculate RMS and Average values of a given wave</a:t>
            </a:r>
          </a:p>
          <a:p>
            <a:pPr marL="342900" indent="-342900">
              <a:buAutoNum type="arabicPeriod"/>
            </a:pPr>
            <a:r>
              <a:rPr lang="en-US" sz="1600" dirty="0">
                <a:latin typeface="Arial"/>
                <a:cs typeface="Arial"/>
              </a:rPr>
              <a:t>Describe the response of R, L and C for AC signals</a:t>
            </a: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52600" y="4772230"/>
            <a:ext cx="8791575" cy="1569660"/>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students should be able to:</a:t>
            </a:r>
          </a:p>
          <a:p>
            <a:pPr marL="342900" indent="-342900">
              <a:buAutoNum type="arabicPeriod"/>
            </a:pPr>
            <a:r>
              <a:rPr lang="en-US" sz="1600" dirty="0">
                <a:latin typeface="Arial" panose="020B0604020202020204" pitchFamily="34" charset="0"/>
              </a:rPr>
              <a:t>Describe AC and DC Signals</a:t>
            </a:r>
            <a:endParaRPr lang="en-US" sz="1600" b="0" i="0" dirty="0">
              <a:effectLst/>
              <a:latin typeface="Arial" panose="020B0604020202020204" pitchFamily="34" charset="0"/>
            </a:endParaRPr>
          </a:p>
          <a:p>
            <a:pPr marL="342900" indent="-342900">
              <a:buAutoNum type="arabicPeriod"/>
            </a:pPr>
            <a:r>
              <a:rPr lang="en-US" sz="1600" dirty="0">
                <a:latin typeface="Arial" panose="020B0604020202020204" pitchFamily="34" charset="0"/>
              </a:rPr>
              <a:t>Define Average and RMS values</a:t>
            </a:r>
            <a:endParaRPr lang="en-US" sz="1600" b="0" i="0" dirty="0">
              <a:effectLst/>
              <a:latin typeface="Arial" panose="020B0604020202020204" pitchFamily="34" charset="0"/>
            </a:endParaRPr>
          </a:p>
          <a:p>
            <a:pPr marL="342900" indent="-342900">
              <a:buAutoNum type="arabicPeriod"/>
            </a:pPr>
            <a:r>
              <a:rPr lang="en-US" sz="1600" dirty="0">
                <a:latin typeface="Arial" panose="020B0604020202020204" pitchFamily="34" charset="0"/>
              </a:rPr>
              <a:t>Summarize differences between AC and DC Signals</a:t>
            </a:r>
          </a:p>
          <a:p>
            <a:pPr marL="342900" indent="-342900">
              <a:buAutoNum type="arabicPeriod"/>
            </a:pPr>
            <a:r>
              <a:rPr lang="en-US" sz="1600" dirty="0">
                <a:latin typeface="Arial" panose="020B0604020202020204" pitchFamily="34" charset="0"/>
                <a:cs typeface="Poppins" panose="00000500000000000000" pitchFamily="2" charset="0"/>
              </a:rPr>
              <a:t>Calculation of reactance and impedance.</a:t>
            </a:r>
            <a:endParaRPr lang="en-US" sz="1600"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38860798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2881149" y="1176354"/>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INTRODUCTION </a:t>
            </a:r>
          </a:p>
        </p:txBody>
      </p:sp>
      <p:sp>
        <p:nvSpPr>
          <p:cNvPr id="53" name="TextBox 52"/>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4" name="Rectangle 3"/>
          <p:cNvSpPr/>
          <p:nvPr/>
        </p:nvSpPr>
        <p:spPr>
          <a:xfrm>
            <a:off x="838201" y="1842512"/>
            <a:ext cx="10467473" cy="3970318"/>
          </a:xfrm>
          <a:prstGeom prst="rect">
            <a:avLst/>
          </a:prstGeom>
        </p:spPr>
        <p:txBody>
          <a:bodyPr wrap="square">
            <a:spAutoFit/>
          </a:bodyPr>
          <a:lstStyle/>
          <a:p>
            <a:pPr algn="just"/>
            <a:r>
              <a:rPr lang="en-US" dirty="0">
                <a:latin typeface="Arial" pitchFamily="34" charset="0"/>
                <a:cs typeface="Arial" pitchFamily="34" charset="0"/>
              </a:rPr>
              <a:t>Do you ever wonder why we need a wall adapter to charge our phone while the toaster plugs directly into the wall?</a:t>
            </a:r>
          </a:p>
          <a:p>
            <a:pPr algn="just"/>
            <a:endParaRPr lang="en-US" dirty="0">
              <a:latin typeface="Arial" pitchFamily="34" charset="0"/>
              <a:cs typeface="Arial" pitchFamily="34" charset="0"/>
            </a:endParaRPr>
          </a:p>
          <a:p>
            <a:pPr algn="just"/>
            <a:endParaRPr lang="en-US" dirty="0">
              <a:latin typeface="Arial" pitchFamily="34" charset="0"/>
              <a:cs typeface="Arial" pitchFamily="34" charset="0"/>
            </a:endParaRPr>
          </a:p>
          <a:p>
            <a:pPr algn="just"/>
            <a:endParaRPr lang="en-US" dirty="0">
              <a:latin typeface="Arial" pitchFamily="34" charset="0"/>
              <a:cs typeface="Arial" pitchFamily="34" charset="0"/>
            </a:endParaRPr>
          </a:p>
          <a:p>
            <a:pPr algn="just"/>
            <a:endParaRPr lang="en-US" dirty="0">
              <a:latin typeface="Arial" pitchFamily="34" charset="0"/>
              <a:cs typeface="Arial" pitchFamily="34" charset="0"/>
            </a:endParaRPr>
          </a:p>
          <a:p>
            <a:pPr algn="just"/>
            <a:endParaRPr lang="en-US" dirty="0">
              <a:latin typeface="Arial" pitchFamily="34" charset="0"/>
              <a:cs typeface="Arial" pitchFamily="34" charset="0"/>
            </a:endParaRPr>
          </a:p>
          <a:p>
            <a:pPr algn="just"/>
            <a:endParaRPr lang="en-US" dirty="0">
              <a:latin typeface="Arial" pitchFamily="34" charset="0"/>
              <a:cs typeface="Arial" pitchFamily="34" charset="0"/>
            </a:endParaRPr>
          </a:p>
          <a:p>
            <a:pPr algn="just"/>
            <a:endParaRPr lang="en-US" dirty="0">
              <a:latin typeface="Arial" pitchFamily="34" charset="0"/>
              <a:cs typeface="Arial" pitchFamily="34" charset="0"/>
            </a:endParaRPr>
          </a:p>
          <a:p>
            <a:pPr algn="just"/>
            <a:endParaRPr lang="en-US" dirty="0">
              <a:latin typeface="Arial" pitchFamily="34" charset="0"/>
              <a:cs typeface="Arial" pitchFamily="34" charset="0"/>
            </a:endParaRPr>
          </a:p>
          <a:p>
            <a:pPr algn="just"/>
            <a:r>
              <a:rPr lang="en-US" dirty="0">
                <a:latin typeface="Arial" pitchFamily="34" charset="0"/>
                <a:cs typeface="Arial" pitchFamily="34" charset="0"/>
              </a:rPr>
              <a:t>The answer lies in the difference between </a:t>
            </a:r>
            <a:r>
              <a:rPr lang="en-US" b="1" dirty="0">
                <a:latin typeface="Arial" pitchFamily="34" charset="0"/>
                <a:cs typeface="Arial" pitchFamily="34" charset="0"/>
              </a:rPr>
              <a:t>alternating current (AC) </a:t>
            </a:r>
            <a:r>
              <a:rPr lang="en-US" dirty="0">
                <a:latin typeface="Arial" pitchFamily="34" charset="0"/>
                <a:cs typeface="Arial" pitchFamily="34" charset="0"/>
              </a:rPr>
              <a:t>that’s supplied to your house, and </a:t>
            </a:r>
            <a:r>
              <a:rPr lang="en-US" b="1" dirty="0">
                <a:latin typeface="Arial" pitchFamily="34" charset="0"/>
                <a:cs typeface="Arial" pitchFamily="34" charset="0"/>
              </a:rPr>
              <a:t>direct current (DC)</a:t>
            </a:r>
            <a:r>
              <a:rPr lang="en-US" dirty="0">
                <a:latin typeface="Arial" pitchFamily="34" charset="0"/>
                <a:cs typeface="Arial" pitchFamily="34" charset="0"/>
              </a:rPr>
              <a:t> that’s required to power an electronic device. </a:t>
            </a:r>
          </a:p>
          <a:p>
            <a:pPr algn="just"/>
            <a:endParaRPr lang="en-US" dirty="0">
              <a:latin typeface="Arial" pitchFamily="34" charset="0"/>
              <a:cs typeface="Arial" pitchFamily="34" charset="0"/>
            </a:endParaRPr>
          </a:p>
          <a:p>
            <a:pPr algn="just"/>
            <a:r>
              <a:rPr lang="en-US" dirty="0">
                <a:latin typeface="Arial" pitchFamily="34" charset="0"/>
                <a:cs typeface="Arial" pitchFamily="34" charset="0"/>
              </a:rPr>
              <a:t>AC and DC are also used when referring to voltages and electrical signals which are not currents.</a:t>
            </a:r>
          </a:p>
        </p:txBody>
      </p:sp>
      <p:pic>
        <p:nvPicPr>
          <p:cNvPr id="5" name="Picture 4"/>
          <p:cNvPicPr/>
          <p:nvPr/>
        </p:nvPicPr>
        <p:blipFill>
          <a:blip r:embed="rId3"/>
          <a:srcRect l="22981" t="23469" r="54596" b="51429"/>
          <a:stretch>
            <a:fillRect/>
          </a:stretch>
        </p:blipFill>
        <p:spPr bwMode="auto">
          <a:xfrm>
            <a:off x="1948925" y="2431672"/>
            <a:ext cx="3420000" cy="1980000"/>
          </a:xfrm>
          <a:prstGeom prst="rect">
            <a:avLst/>
          </a:prstGeom>
          <a:noFill/>
          <a:ln w="9525">
            <a:noFill/>
            <a:miter lim="800000"/>
            <a:headEnd/>
            <a:tailEnd/>
          </a:ln>
        </p:spPr>
      </p:pic>
      <p:pic>
        <p:nvPicPr>
          <p:cNvPr id="6" name="Picture 5"/>
          <p:cNvPicPr/>
          <p:nvPr/>
        </p:nvPicPr>
        <p:blipFill>
          <a:blip r:embed="rId4"/>
          <a:srcRect l="7140" t="34490" r="50233" b="9388"/>
          <a:stretch>
            <a:fillRect/>
          </a:stretch>
        </p:blipFill>
        <p:spPr bwMode="auto">
          <a:xfrm>
            <a:off x="6465810" y="2454619"/>
            <a:ext cx="3420000" cy="1980000"/>
          </a:xfrm>
          <a:prstGeom prst="rect">
            <a:avLst/>
          </a:prstGeom>
          <a:noFill/>
          <a:ln w="9525">
            <a:noFill/>
            <a:miter lim="800000"/>
            <a:headEnd/>
            <a:tailEnd/>
          </a:ln>
        </p:spPr>
      </p:pic>
    </p:spTree>
    <p:extLst>
      <p:ext uri="{BB962C8B-B14F-4D97-AF65-F5344CB8AC3E}">
        <p14:creationId xmlns:p14="http://schemas.microsoft.com/office/powerpoint/2010/main" val="4069052342"/>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2881149" y="1176354"/>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INTRODUCTION </a:t>
            </a:r>
          </a:p>
        </p:txBody>
      </p:sp>
      <p:sp>
        <p:nvSpPr>
          <p:cNvPr id="53" name="TextBox 52"/>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4" name="Rectangle 3"/>
          <p:cNvSpPr/>
          <p:nvPr/>
        </p:nvSpPr>
        <p:spPr>
          <a:xfrm>
            <a:off x="661738" y="1890640"/>
            <a:ext cx="5554336" cy="2585323"/>
          </a:xfrm>
          <a:prstGeom prst="rect">
            <a:avLst/>
          </a:prstGeom>
        </p:spPr>
        <p:txBody>
          <a:bodyPr wrap="square">
            <a:spAutoFit/>
          </a:bodyPr>
          <a:lstStyle/>
          <a:p>
            <a:pPr algn="just">
              <a:lnSpc>
                <a:spcPct val="150000"/>
              </a:lnSpc>
            </a:pPr>
            <a:r>
              <a:rPr lang="en-US" b="1" dirty="0">
                <a:latin typeface="Arial" pitchFamily="34" charset="0"/>
                <a:cs typeface="Arial" pitchFamily="34" charset="0"/>
              </a:rPr>
              <a:t>AC Signal:</a:t>
            </a:r>
          </a:p>
          <a:p>
            <a:pPr algn="just"/>
            <a:r>
              <a:rPr lang="en-US" dirty="0">
                <a:latin typeface="Arial" pitchFamily="34" charset="0"/>
                <a:cs typeface="Arial" pitchFamily="34" charset="0"/>
              </a:rPr>
              <a:t>The quantity that changes continuously in magnitude </a:t>
            </a:r>
          </a:p>
          <a:p>
            <a:pPr algn="just"/>
            <a:r>
              <a:rPr lang="en-US" dirty="0">
                <a:latin typeface="Arial" pitchFamily="34" charset="0"/>
                <a:cs typeface="Arial" pitchFamily="34" charset="0"/>
              </a:rPr>
              <a:t>between zero and a maximum value with alternating </a:t>
            </a:r>
          </a:p>
          <a:p>
            <a:pPr algn="just"/>
            <a:r>
              <a:rPr lang="en-US" dirty="0">
                <a:latin typeface="Arial" pitchFamily="34" charset="0"/>
                <a:cs typeface="Arial" pitchFamily="34" charset="0"/>
              </a:rPr>
              <a:t>directions at regular time Intervals is known as </a:t>
            </a:r>
          </a:p>
          <a:p>
            <a:pPr algn="just"/>
            <a:r>
              <a:rPr lang="en-US" b="1" dirty="0">
                <a:latin typeface="Arial" pitchFamily="34" charset="0"/>
                <a:cs typeface="Arial" pitchFamily="34" charset="0"/>
              </a:rPr>
              <a:t>alternating signal</a:t>
            </a:r>
            <a:r>
              <a:rPr lang="en-US" dirty="0">
                <a:latin typeface="Arial" pitchFamily="34" charset="0"/>
                <a:cs typeface="Arial" pitchFamily="34" charset="0"/>
              </a:rPr>
              <a:t> such as current (I) or voltage (V).</a:t>
            </a:r>
          </a:p>
          <a:p>
            <a:pPr algn="just">
              <a:lnSpc>
                <a:spcPct val="150000"/>
              </a:lnSpc>
            </a:pPr>
            <a:r>
              <a:rPr lang="en-US" b="1" dirty="0">
                <a:latin typeface="Arial" pitchFamily="34" charset="0"/>
                <a:cs typeface="Arial" pitchFamily="34" charset="0"/>
              </a:rPr>
              <a:t>DC Signal:</a:t>
            </a:r>
          </a:p>
          <a:p>
            <a:pPr algn="just"/>
            <a:r>
              <a:rPr lang="en-US" dirty="0">
                <a:latin typeface="Arial" pitchFamily="34" charset="0"/>
                <a:cs typeface="Arial" pitchFamily="34" charset="0"/>
              </a:rPr>
              <a:t>The quantity that may change in magnitude but not the direction is known as </a:t>
            </a:r>
            <a:r>
              <a:rPr lang="en-US" b="1" dirty="0">
                <a:latin typeface="Arial" pitchFamily="34" charset="0"/>
                <a:cs typeface="Arial" pitchFamily="34" charset="0"/>
              </a:rPr>
              <a:t>DC signal</a:t>
            </a:r>
            <a:r>
              <a:rPr lang="en-US" dirty="0">
                <a:latin typeface="Arial" pitchFamily="34" charset="0"/>
                <a:cs typeface="Arial" pitchFamily="34" charset="0"/>
              </a:rPr>
              <a:t>.</a:t>
            </a:r>
            <a:endParaRPr lang="en-US" dirty="0"/>
          </a:p>
        </p:txBody>
      </p:sp>
      <p:pic>
        <p:nvPicPr>
          <p:cNvPr id="7" name="Picture 6"/>
          <p:cNvPicPr/>
          <p:nvPr/>
        </p:nvPicPr>
        <p:blipFill>
          <a:blip r:embed="rId3"/>
          <a:srcRect l="25391" t="32653" r="44849" b="27551"/>
          <a:stretch>
            <a:fillRect/>
          </a:stretch>
        </p:blipFill>
        <p:spPr bwMode="auto">
          <a:xfrm>
            <a:off x="6409890" y="1751687"/>
            <a:ext cx="5782110" cy="2518002"/>
          </a:xfrm>
          <a:prstGeom prst="rect">
            <a:avLst/>
          </a:prstGeom>
          <a:noFill/>
          <a:ln w="9525">
            <a:noFill/>
            <a:miter lim="800000"/>
            <a:headEnd/>
            <a:tailEnd/>
          </a:ln>
        </p:spPr>
      </p:pic>
      <p:pic>
        <p:nvPicPr>
          <p:cNvPr id="8" name="Picture 7"/>
          <p:cNvPicPr/>
          <p:nvPr/>
        </p:nvPicPr>
        <p:blipFill>
          <a:blip r:embed="rId4"/>
          <a:srcRect l="75436" t="44286" r="5823" b="29545"/>
          <a:stretch>
            <a:fillRect/>
          </a:stretch>
        </p:blipFill>
        <p:spPr bwMode="auto">
          <a:xfrm>
            <a:off x="6409890" y="4269689"/>
            <a:ext cx="2371703" cy="1816768"/>
          </a:xfrm>
          <a:prstGeom prst="rect">
            <a:avLst/>
          </a:prstGeom>
          <a:noFill/>
          <a:ln w="9525">
            <a:noFill/>
            <a:miter lim="800000"/>
            <a:headEnd/>
            <a:tailEnd/>
          </a:ln>
        </p:spPr>
      </p:pic>
    </p:spTree>
    <p:extLst>
      <p:ext uri="{BB962C8B-B14F-4D97-AF65-F5344CB8AC3E}">
        <p14:creationId xmlns:p14="http://schemas.microsoft.com/office/powerpoint/2010/main" val="4069052342"/>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152441" y="1138767"/>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PROPERTIES OF AC SIGNALS</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sp>
        <p:nvSpPr>
          <p:cNvPr id="26" name="TextBox 25"/>
          <p:cNvSpPr txBox="1"/>
          <p:nvPr/>
        </p:nvSpPr>
        <p:spPr>
          <a:xfrm>
            <a:off x="1139483" y="984738"/>
            <a:ext cx="10227212" cy="5355312"/>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5" name="Rectangle 4"/>
          <p:cNvSpPr/>
          <p:nvPr/>
        </p:nvSpPr>
        <p:spPr>
          <a:xfrm>
            <a:off x="842212" y="1872726"/>
            <a:ext cx="10623884" cy="4247317"/>
          </a:xfrm>
          <a:prstGeom prst="rect">
            <a:avLst/>
          </a:prstGeom>
        </p:spPr>
        <p:txBody>
          <a:bodyPr wrap="square">
            <a:spAutoFit/>
          </a:bodyPr>
          <a:lstStyle/>
          <a:p>
            <a:r>
              <a:rPr lang="en-US" b="1" dirty="0">
                <a:latin typeface="+mj-lt"/>
                <a:cs typeface="Arial" pitchFamily="34" charset="0"/>
              </a:rPr>
              <a:t>Amplitude: </a:t>
            </a:r>
            <a:r>
              <a:rPr lang="en-US" dirty="0">
                <a:latin typeface="+mj-lt"/>
                <a:cs typeface="Arial" pitchFamily="34" charset="0"/>
              </a:rPr>
              <a:t>It is the maximum value reached by the signal. Also known as peak value.</a:t>
            </a:r>
          </a:p>
          <a:p>
            <a:endParaRPr lang="en-US" dirty="0">
              <a:latin typeface="+mj-lt"/>
              <a:cs typeface="Arial" pitchFamily="34" charset="0"/>
            </a:endParaRPr>
          </a:p>
          <a:p>
            <a:r>
              <a:rPr lang="en-US" b="1" dirty="0">
                <a:latin typeface="+mj-lt"/>
                <a:cs typeface="Arial" pitchFamily="34" charset="0"/>
              </a:rPr>
              <a:t>Peak-to- Peak value: </a:t>
            </a:r>
            <a:r>
              <a:rPr lang="en-US" dirty="0">
                <a:latin typeface="+mj-lt"/>
                <a:cs typeface="Arial" pitchFamily="34" charset="0"/>
              </a:rPr>
              <a:t>It is twice the peak value.</a:t>
            </a:r>
          </a:p>
          <a:p>
            <a:endParaRPr lang="en-US" dirty="0">
              <a:latin typeface="+mj-lt"/>
              <a:cs typeface="Arial" pitchFamily="34" charset="0"/>
            </a:endParaRPr>
          </a:p>
          <a:p>
            <a:r>
              <a:rPr lang="en-US" b="1" dirty="0">
                <a:latin typeface="+mj-lt"/>
                <a:cs typeface="Arial" pitchFamily="34" charset="0"/>
              </a:rPr>
              <a:t>Time period (T): </a:t>
            </a:r>
            <a:r>
              <a:rPr lang="en-US" dirty="0">
                <a:latin typeface="+mj-lt"/>
                <a:cs typeface="Arial" pitchFamily="34" charset="0"/>
              </a:rPr>
              <a:t>It is the time taken for the signal to</a:t>
            </a:r>
          </a:p>
          <a:p>
            <a:r>
              <a:rPr lang="en-US" dirty="0">
                <a:latin typeface="+mj-lt"/>
                <a:cs typeface="Arial" pitchFamily="34" charset="0"/>
              </a:rPr>
              <a:t>complete one cycle. </a:t>
            </a:r>
            <a:r>
              <a:rPr lang="en-US" dirty="0">
                <a:latin typeface="+mj-lt"/>
              </a:rPr>
              <a:t>It is measured in seconds (s).</a:t>
            </a:r>
            <a:endParaRPr lang="en-US" dirty="0">
              <a:latin typeface="+mj-lt"/>
              <a:cs typeface="Arial" pitchFamily="34" charset="0"/>
            </a:endParaRPr>
          </a:p>
          <a:p>
            <a:endParaRPr lang="en-US" dirty="0">
              <a:latin typeface="+mj-lt"/>
              <a:cs typeface="Arial" pitchFamily="34" charset="0"/>
            </a:endParaRPr>
          </a:p>
          <a:p>
            <a:r>
              <a:rPr lang="en-US" b="1" dirty="0">
                <a:latin typeface="+mj-lt"/>
                <a:cs typeface="Arial" pitchFamily="34" charset="0"/>
              </a:rPr>
              <a:t>Frequency (f): </a:t>
            </a:r>
            <a:r>
              <a:rPr lang="en-US" dirty="0">
                <a:latin typeface="+mj-lt"/>
                <a:cs typeface="Arial" pitchFamily="34" charset="0"/>
              </a:rPr>
              <a:t>It is the number of cycles per second.</a:t>
            </a:r>
          </a:p>
          <a:p>
            <a:r>
              <a:rPr lang="en-US" dirty="0">
                <a:latin typeface="+mj-lt"/>
                <a:cs typeface="Arial" pitchFamily="34" charset="0"/>
              </a:rPr>
              <a:t>It is measured in </a:t>
            </a:r>
            <a:r>
              <a:rPr lang="en-US" b="1" dirty="0">
                <a:latin typeface="+mj-lt"/>
                <a:cs typeface="Arial" pitchFamily="34" charset="0"/>
              </a:rPr>
              <a:t>hertz (Hz).</a:t>
            </a:r>
          </a:p>
          <a:p>
            <a:endParaRPr lang="en-US" b="1" dirty="0">
              <a:latin typeface="Arial" pitchFamily="34" charset="0"/>
              <a:cs typeface="Arial" pitchFamily="34" charset="0"/>
            </a:endParaRPr>
          </a:p>
          <a:p>
            <a:endParaRPr lang="en-US" b="1" dirty="0">
              <a:latin typeface="Arial" pitchFamily="34" charset="0"/>
              <a:cs typeface="Arial" pitchFamily="34" charset="0"/>
            </a:endParaRPr>
          </a:p>
          <a:p>
            <a:endParaRPr lang="en-US" b="1" dirty="0">
              <a:latin typeface="Arial" pitchFamily="34" charset="0"/>
              <a:cs typeface="Arial" pitchFamily="34" charset="0"/>
            </a:endParaRPr>
          </a:p>
          <a:p>
            <a:endParaRPr lang="en-US" dirty="0">
              <a:latin typeface="Arial" pitchFamily="34" charset="0"/>
              <a:cs typeface="Arial" pitchFamily="34" charset="0"/>
            </a:endParaRPr>
          </a:p>
          <a:p>
            <a:endParaRPr lang="en-US" b="1" dirty="0">
              <a:latin typeface="Arial" pitchFamily="34" charset="0"/>
              <a:cs typeface="Arial" pitchFamily="34" charset="0"/>
            </a:endParaRPr>
          </a:p>
          <a:p>
            <a:endParaRPr lang="en-US" dirty="0">
              <a:latin typeface="Arial" pitchFamily="34" charset="0"/>
              <a:cs typeface="Arial" pitchFamily="34" charset="0"/>
            </a:endParaRPr>
          </a:p>
        </p:txBody>
      </p:sp>
      <p:pic>
        <p:nvPicPr>
          <p:cNvPr id="1026" name="Picture 2"/>
          <p:cNvPicPr>
            <a:picLocks noChangeAspect="1" noChangeArrowheads="1"/>
          </p:cNvPicPr>
          <p:nvPr/>
        </p:nvPicPr>
        <p:blipFill>
          <a:blip r:embed="rId2"/>
          <a:srcRect/>
          <a:stretch>
            <a:fillRect/>
          </a:stretch>
        </p:blipFill>
        <p:spPr bwMode="auto">
          <a:xfrm>
            <a:off x="6602658" y="2205788"/>
            <a:ext cx="5627239" cy="2763376"/>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1861637" y="4630653"/>
            <a:ext cx="3227721" cy="1489717"/>
          </a:xfrm>
          <a:prstGeom prst="rect">
            <a:avLst/>
          </a:prstGeom>
          <a:noFill/>
          <a:ln w="9525">
            <a:noFill/>
            <a:miter lim="800000"/>
            <a:headEnd/>
            <a:tailEnd/>
          </a:ln>
          <a:effectLst/>
        </p:spPr>
      </p:pic>
      <p:pic>
        <p:nvPicPr>
          <p:cNvPr id="1028" name="Picture 4"/>
          <p:cNvPicPr>
            <a:picLocks noChangeAspect="1" noChangeArrowheads="1"/>
          </p:cNvPicPr>
          <p:nvPr/>
        </p:nvPicPr>
        <p:blipFill>
          <a:blip r:embed="rId4"/>
          <a:srcRect/>
          <a:stretch>
            <a:fillRect/>
          </a:stretch>
        </p:blipFill>
        <p:spPr bwMode="auto">
          <a:xfrm>
            <a:off x="5089358" y="4969164"/>
            <a:ext cx="2932487" cy="1167564"/>
          </a:xfrm>
          <a:prstGeom prst="rect">
            <a:avLst/>
          </a:prstGeom>
          <a:noFill/>
          <a:ln w="9525">
            <a:noFill/>
            <a:miter lim="800000"/>
            <a:headEnd/>
            <a:tailEnd/>
          </a:ln>
          <a:effectLst/>
        </p:spPr>
      </p:pic>
    </p:spTree>
    <p:extLst>
      <p:ext uri="{BB962C8B-B14F-4D97-AF65-F5344CB8AC3E}">
        <p14:creationId xmlns:p14="http://schemas.microsoft.com/office/powerpoint/2010/main" val="68035526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152441" y="1138767"/>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AVERAGE  AND RMS VALUES</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sp>
        <p:nvSpPr>
          <p:cNvPr id="26" name="TextBox 25"/>
          <p:cNvSpPr txBox="1"/>
          <p:nvPr/>
        </p:nvSpPr>
        <p:spPr>
          <a:xfrm>
            <a:off x="986219" y="751344"/>
            <a:ext cx="10227212" cy="5355312"/>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5" name="Rectangle 4"/>
          <p:cNvSpPr/>
          <p:nvPr/>
        </p:nvSpPr>
        <p:spPr>
          <a:xfrm>
            <a:off x="1155032" y="1896790"/>
            <a:ext cx="10058399" cy="5078313"/>
          </a:xfrm>
          <a:prstGeom prst="rect">
            <a:avLst/>
          </a:prstGeom>
        </p:spPr>
        <p:txBody>
          <a:bodyPr wrap="square">
            <a:spAutoFit/>
          </a:bodyPr>
          <a:lstStyle/>
          <a:p>
            <a:pPr>
              <a:lnSpc>
                <a:spcPct val="150000"/>
              </a:lnSpc>
            </a:pPr>
            <a:r>
              <a:rPr lang="en-US" b="1" dirty="0">
                <a:latin typeface="Arial" pitchFamily="34" charset="0"/>
                <a:cs typeface="Arial" pitchFamily="34" charset="0"/>
              </a:rPr>
              <a:t>Average value:</a:t>
            </a:r>
          </a:p>
          <a:p>
            <a:pPr>
              <a:lnSpc>
                <a:spcPct val="150000"/>
              </a:lnSpc>
            </a:pPr>
            <a:r>
              <a:rPr lang="en-US" dirty="0">
                <a:latin typeface="Arial" pitchFamily="34" charset="0"/>
                <a:cs typeface="Arial" pitchFamily="34" charset="0"/>
              </a:rPr>
              <a:t>It is defined as the average of all instantaneous value </a:t>
            </a:r>
          </a:p>
          <a:p>
            <a:pPr>
              <a:lnSpc>
                <a:spcPct val="150000"/>
              </a:lnSpc>
            </a:pPr>
            <a:r>
              <a:rPr lang="en-US" dirty="0">
                <a:latin typeface="Arial" pitchFamily="34" charset="0"/>
                <a:cs typeface="Arial" pitchFamily="34" charset="0"/>
              </a:rPr>
              <a:t>of alternating quantities over a half cycle.  	</a:t>
            </a:r>
          </a:p>
          <a:p>
            <a:pPr>
              <a:lnSpc>
                <a:spcPct val="150000"/>
              </a:lnSpc>
            </a:pPr>
            <a:r>
              <a:rPr lang="en-US" dirty="0" err="1">
                <a:latin typeface="Arial" pitchFamily="34" charset="0"/>
                <a:cs typeface="Arial" pitchFamily="34" charset="0"/>
              </a:rPr>
              <a:t>Vavg</a:t>
            </a:r>
            <a:r>
              <a:rPr lang="en-US" dirty="0">
                <a:latin typeface="Arial" pitchFamily="34" charset="0"/>
                <a:cs typeface="Arial" pitchFamily="34" charset="0"/>
              </a:rPr>
              <a:t> = Average value of voltage </a:t>
            </a:r>
          </a:p>
          <a:p>
            <a:pPr>
              <a:lnSpc>
                <a:spcPct val="150000"/>
              </a:lnSpc>
            </a:pPr>
            <a:r>
              <a:rPr lang="en-US" dirty="0" err="1">
                <a:latin typeface="Arial" pitchFamily="34" charset="0"/>
                <a:cs typeface="Arial" pitchFamily="34" charset="0"/>
              </a:rPr>
              <a:t>Iavg</a:t>
            </a:r>
            <a:r>
              <a:rPr lang="en-US" dirty="0">
                <a:latin typeface="Arial" pitchFamily="34" charset="0"/>
                <a:cs typeface="Arial" pitchFamily="34" charset="0"/>
              </a:rPr>
              <a:t> = Average value of current</a:t>
            </a:r>
          </a:p>
          <a:p>
            <a:pPr>
              <a:lnSpc>
                <a:spcPct val="150000"/>
              </a:lnSpc>
            </a:pPr>
            <a:r>
              <a:rPr lang="en-US" b="1" dirty="0">
                <a:latin typeface="Arial" pitchFamily="34" charset="0"/>
                <a:cs typeface="Arial" pitchFamily="34" charset="0"/>
              </a:rPr>
              <a:t>Finding average value of sine wave:</a:t>
            </a:r>
          </a:p>
          <a:p>
            <a:pPr>
              <a:lnSpc>
                <a:spcPct val="150000"/>
              </a:lnSpc>
            </a:pPr>
            <a:endParaRPr lang="en-US" b="1" dirty="0">
              <a:latin typeface="Arial" pitchFamily="34" charset="0"/>
              <a:cs typeface="Arial" pitchFamily="34" charset="0"/>
            </a:endParaRPr>
          </a:p>
          <a:p>
            <a:pPr>
              <a:lnSpc>
                <a:spcPct val="150000"/>
              </a:lnSpc>
            </a:pPr>
            <a:endParaRPr lang="en-US" b="1" dirty="0">
              <a:latin typeface="Arial" pitchFamily="34" charset="0"/>
              <a:cs typeface="Arial" pitchFamily="34" charset="0"/>
            </a:endParaRPr>
          </a:p>
          <a:p>
            <a:endParaRPr lang="en-US" b="1" dirty="0">
              <a:latin typeface="Arial" pitchFamily="34" charset="0"/>
              <a:cs typeface="Arial" pitchFamily="34" charset="0"/>
            </a:endParaRPr>
          </a:p>
          <a:p>
            <a:endParaRPr lang="en-US" b="1" dirty="0">
              <a:latin typeface="Arial" pitchFamily="34" charset="0"/>
              <a:cs typeface="Arial" pitchFamily="34" charset="0"/>
            </a:endParaRPr>
          </a:p>
          <a:p>
            <a:endParaRPr lang="en-US" b="1" dirty="0">
              <a:latin typeface="Arial" pitchFamily="34" charset="0"/>
              <a:cs typeface="Arial" pitchFamily="34" charset="0"/>
            </a:endParaRPr>
          </a:p>
          <a:p>
            <a:endParaRPr lang="en-US" dirty="0">
              <a:latin typeface="Arial" pitchFamily="34" charset="0"/>
              <a:cs typeface="Arial" pitchFamily="34" charset="0"/>
            </a:endParaRPr>
          </a:p>
          <a:p>
            <a:endParaRPr lang="en-US" b="1" dirty="0">
              <a:latin typeface="Arial" pitchFamily="34" charset="0"/>
              <a:cs typeface="Arial" pitchFamily="34" charset="0"/>
            </a:endParaRPr>
          </a:p>
          <a:p>
            <a:endParaRPr lang="en-US" dirty="0">
              <a:latin typeface="Arial" pitchFamily="34" charset="0"/>
              <a:cs typeface="Arial" pitchFamily="34" charset="0"/>
            </a:endParaRPr>
          </a:p>
        </p:txBody>
      </p:sp>
      <p:pic>
        <p:nvPicPr>
          <p:cNvPr id="3" name="Picture 3">
            <a:extLst>
              <a:ext uri="{FF2B5EF4-FFF2-40B4-BE49-F238E27FC236}">
                <a16:creationId xmlns:a16="http://schemas.microsoft.com/office/drawing/2014/main" id="{E41736FB-CE70-80A2-26DC-CCCCB17DB051}"/>
              </a:ext>
            </a:extLst>
          </p:cNvPr>
          <p:cNvPicPr>
            <a:picLocks noChangeAspect="1" noChangeArrowheads="1"/>
          </p:cNvPicPr>
          <p:nvPr/>
        </p:nvPicPr>
        <p:blipFill>
          <a:blip r:embed="rId2"/>
          <a:srcRect l="1436" t="21559" r="-1436"/>
          <a:stretch/>
        </p:blipFill>
        <p:spPr bwMode="auto">
          <a:xfrm>
            <a:off x="6786027" y="1954989"/>
            <a:ext cx="4125376" cy="4151667"/>
          </a:xfrm>
          <a:prstGeom prst="rect">
            <a:avLst/>
          </a:prstGeom>
          <a:noFill/>
          <a:ln w="9525">
            <a:noFill/>
            <a:miter lim="800000"/>
            <a:headEnd/>
            <a:tailEnd/>
          </a:ln>
          <a:effectLst/>
        </p:spPr>
      </p:pic>
    </p:spTree>
    <p:extLst>
      <p:ext uri="{BB962C8B-B14F-4D97-AF65-F5344CB8AC3E}">
        <p14:creationId xmlns:p14="http://schemas.microsoft.com/office/powerpoint/2010/main" val="68035526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152441" y="1138767"/>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AVERAGE  AND RMS VALUES</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sp>
        <p:nvSpPr>
          <p:cNvPr id="26" name="TextBox 25"/>
          <p:cNvSpPr txBox="1"/>
          <p:nvPr/>
        </p:nvSpPr>
        <p:spPr>
          <a:xfrm>
            <a:off x="1139483" y="984738"/>
            <a:ext cx="10227212" cy="5355312"/>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5" name="Rectangle 4"/>
          <p:cNvSpPr/>
          <p:nvPr/>
        </p:nvSpPr>
        <p:spPr>
          <a:xfrm>
            <a:off x="709863" y="1860694"/>
            <a:ext cx="10804357" cy="4108817"/>
          </a:xfrm>
          <a:prstGeom prst="rect">
            <a:avLst/>
          </a:prstGeom>
        </p:spPr>
        <p:txBody>
          <a:bodyPr wrap="square">
            <a:spAutoFit/>
          </a:bodyPr>
          <a:lstStyle/>
          <a:p>
            <a:pPr>
              <a:lnSpc>
                <a:spcPct val="150000"/>
              </a:lnSpc>
            </a:pPr>
            <a:r>
              <a:rPr lang="en-US" b="1" dirty="0">
                <a:latin typeface="Arial" pitchFamily="34" charset="0"/>
                <a:cs typeface="Arial" pitchFamily="34" charset="0"/>
              </a:rPr>
              <a:t>Root Mean Square (RMS) Value:</a:t>
            </a:r>
          </a:p>
          <a:p>
            <a:pPr algn="just">
              <a:lnSpc>
                <a:spcPct val="150000"/>
              </a:lnSpc>
            </a:pPr>
            <a:r>
              <a:rPr lang="en-US" dirty="0">
                <a:latin typeface="Arial" pitchFamily="34" charset="0"/>
                <a:cs typeface="Arial" pitchFamily="34" charset="0"/>
              </a:rPr>
              <a:t>It is the equivalent dc current which when flowing through </a:t>
            </a:r>
          </a:p>
          <a:p>
            <a:pPr algn="just">
              <a:lnSpc>
                <a:spcPct val="150000"/>
              </a:lnSpc>
            </a:pPr>
            <a:r>
              <a:rPr lang="en-US" dirty="0">
                <a:latin typeface="Arial" pitchFamily="34" charset="0"/>
                <a:cs typeface="Arial" pitchFamily="34" charset="0"/>
              </a:rPr>
              <a:t>a given circuit for a given time produces same amount</a:t>
            </a:r>
          </a:p>
          <a:p>
            <a:pPr algn="just">
              <a:lnSpc>
                <a:spcPct val="150000"/>
              </a:lnSpc>
            </a:pPr>
            <a:r>
              <a:rPr lang="en-US" dirty="0">
                <a:latin typeface="Arial" pitchFamily="34" charset="0"/>
                <a:cs typeface="Arial" pitchFamily="34" charset="0"/>
              </a:rPr>
              <a:t> of heat as produced by an alternating current when </a:t>
            </a:r>
          </a:p>
          <a:p>
            <a:pPr algn="just">
              <a:lnSpc>
                <a:spcPct val="150000"/>
              </a:lnSpc>
            </a:pPr>
            <a:r>
              <a:rPr lang="en-US" dirty="0">
                <a:latin typeface="Arial" pitchFamily="34" charset="0"/>
                <a:cs typeface="Arial" pitchFamily="34" charset="0"/>
              </a:rPr>
              <a:t>flowing through the same circuit for the same time. </a:t>
            </a:r>
          </a:p>
          <a:p>
            <a:pPr>
              <a:lnSpc>
                <a:spcPct val="150000"/>
              </a:lnSpc>
            </a:pPr>
            <a:r>
              <a:rPr lang="en-US" dirty="0" err="1">
                <a:latin typeface="Arial" pitchFamily="34" charset="0"/>
                <a:cs typeface="Arial" pitchFamily="34" charset="0"/>
              </a:rPr>
              <a:t>Vrms</a:t>
            </a:r>
            <a:r>
              <a:rPr lang="en-US" dirty="0">
                <a:latin typeface="Arial" pitchFamily="34" charset="0"/>
                <a:cs typeface="Arial" pitchFamily="34" charset="0"/>
              </a:rPr>
              <a:t> =RMS value of voltage      </a:t>
            </a:r>
          </a:p>
          <a:p>
            <a:pPr>
              <a:lnSpc>
                <a:spcPct val="150000"/>
              </a:lnSpc>
            </a:pPr>
            <a:r>
              <a:rPr lang="en-US" dirty="0">
                <a:latin typeface="Arial" pitchFamily="34" charset="0"/>
                <a:cs typeface="Arial" pitchFamily="34" charset="0"/>
              </a:rPr>
              <a:t> </a:t>
            </a:r>
            <a:r>
              <a:rPr lang="en-US" dirty="0" err="1">
                <a:latin typeface="Arial" pitchFamily="34" charset="0"/>
                <a:cs typeface="Arial" pitchFamily="34" charset="0"/>
              </a:rPr>
              <a:t>Irms</a:t>
            </a:r>
            <a:r>
              <a:rPr lang="en-US" dirty="0">
                <a:latin typeface="Arial" pitchFamily="34" charset="0"/>
                <a:cs typeface="Arial" pitchFamily="34" charset="0"/>
              </a:rPr>
              <a:t> = RMS value of current </a:t>
            </a:r>
          </a:p>
          <a:p>
            <a:pPr>
              <a:lnSpc>
                <a:spcPct val="150000"/>
              </a:lnSpc>
            </a:pPr>
            <a:endParaRPr lang="en-US" b="1" dirty="0">
              <a:latin typeface="Arial" pitchFamily="34" charset="0"/>
              <a:cs typeface="Arial" pitchFamily="34" charset="0"/>
            </a:endParaRPr>
          </a:p>
          <a:p>
            <a:pPr>
              <a:lnSpc>
                <a:spcPct val="150000"/>
              </a:lnSpc>
            </a:pPr>
            <a:endParaRPr lang="en-US" b="1" dirty="0">
              <a:latin typeface="Arial" pitchFamily="34" charset="0"/>
              <a:cs typeface="Arial" pitchFamily="34" charset="0"/>
            </a:endParaRPr>
          </a:p>
          <a:p>
            <a:endParaRPr lang="en-US" dirty="0">
              <a:latin typeface="Arial" pitchFamily="34" charset="0"/>
              <a:cs typeface="Arial" pitchFamily="34" charset="0"/>
            </a:endParaRPr>
          </a:p>
        </p:txBody>
      </p:sp>
      <p:pic>
        <p:nvPicPr>
          <p:cNvPr id="5123" name="Picture 3"/>
          <p:cNvPicPr>
            <a:picLocks noChangeAspect="1" noChangeArrowheads="1"/>
          </p:cNvPicPr>
          <p:nvPr/>
        </p:nvPicPr>
        <p:blipFill>
          <a:blip r:embed="rId2"/>
          <a:srcRect t="13064"/>
          <a:stretch/>
        </p:blipFill>
        <p:spPr bwMode="auto">
          <a:xfrm>
            <a:off x="6956651" y="1860694"/>
            <a:ext cx="3526622" cy="4327184"/>
          </a:xfrm>
          <a:prstGeom prst="rect">
            <a:avLst/>
          </a:prstGeom>
          <a:noFill/>
          <a:ln w="9525">
            <a:noFill/>
            <a:miter lim="800000"/>
            <a:headEnd/>
            <a:tailEnd/>
          </a:ln>
          <a:effectLst/>
        </p:spPr>
      </p:pic>
    </p:spTree>
    <p:extLst>
      <p:ext uri="{BB962C8B-B14F-4D97-AF65-F5344CB8AC3E}">
        <p14:creationId xmlns:p14="http://schemas.microsoft.com/office/powerpoint/2010/main" val="68035526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diagram of a line&#10;&#10;Description automatically generated">
            <a:extLst>
              <a:ext uri="{FF2B5EF4-FFF2-40B4-BE49-F238E27FC236}">
                <a16:creationId xmlns:a16="http://schemas.microsoft.com/office/drawing/2014/main" id="{5C30F318-F4F2-3210-4F45-8A72A7A9FC0E}"/>
              </a:ext>
            </a:extLst>
          </p:cNvPr>
          <p:cNvPicPr>
            <a:picLocks noChangeAspect="1"/>
          </p:cNvPicPr>
          <p:nvPr/>
        </p:nvPicPr>
        <p:blipFill>
          <a:blip r:embed="rId2">
            <a:extLst>
              <a:ext uri="{28A0092B-C50C-407E-A947-70E740481C1C}">
                <a14:useLocalDpi xmlns:a14="http://schemas.microsoft.com/office/drawing/2010/main" val="0"/>
              </a:ext>
            </a:extLst>
          </a:blip>
          <a:srcRect l="4393" r="2520"/>
          <a:stretch/>
        </p:blipFill>
        <p:spPr>
          <a:xfrm>
            <a:off x="7647709" y="2079690"/>
            <a:ext cx="4544291" cy="2435566"/>
          </a:xfrm>
          <a:prstGeom prst="rect">
            <a:avLst/>
          </a:prstGeom>
        </p:spPr>
      </p:pic>
      <p:sp>
        <p:nvSpPr>
          <p:cNvPr id="4" name="Rounded Rectangle 17">
            <a:extLst>
              <a:ext uri="{FF2B5EF4-FFF2-40B4-BE49-F238E27FC236}">
                <a16:creationId xmlns:a16="http://schemas.microsoft.com/office/drawing/2014/main" id="{54D31061-350D-4864-BF25-E3C3C4699CDC}"/>
              </a:ext>
            </a:extLst>
          </p:cNvPr>
          <p:cNvSpPr/>
          <p:nvPr/>
        </p:nvSpPr>
        <p:spPr>
          <a:xfrm>
            <a:off x="3388593" y="971970"/>
            <a:ext cx="5475773"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EXAMPLES</a:t>
            </a:r>
          </a:p>
        </p:txBody>
      </p:sp>
      <p:pic>
        <p:nvPicPr>
          <p:cNvPr id="1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 name="Rectangle 4"/>
          <p:cNvSpPr/>
          <p:nvPr/>
        </p:nvSpPr>
        <p:spPr>
          <a:xfrm>
            <a:off x="1083212" y="1756525"/>
            <a:ext cx="9934093" cy="646331"/>
          </a:xfrm>
          <a:prstGeom prst="rect">
            <a:avLst/>
          </a:prstGeom>
        </p:spPr>
        <p:txBody>
          <a:bodyPr wrap="square">
            <a:spAutoFit/>
          </a:bodyPr>
          <a:lstStyle/>
          <a:p>
            <a:r>
              <a:rPr lang="en-US" b="1" dirty="0">
                <a:latin typeface="Arial" pitchFamily="34" charset="0"/>
                <a:cs typeface="Arial" pitchFamily="34" charset="0"/>
              </a:rPr>
              <a:t>Find average and RMS values of the following given waveform</a:t>
            </a:r>
          </a:p>
          <a:p>
            <a:endParaRPr lang="en-US" dirty="0"/>
          </a:p>
        </p:txBody>
      </p:sp>
      <p:pic>
        <p:nvPicPr>
          <p:cNvPr id="3" name="Picture 2" descr="A graph of sine and a line&#10;&#10;Description automatically generated">
            <a:extLst>
              <a:ext uri="{FF2B5EF4-FFF2-40B4-BE49-F238E27FC236}">
                <a16:creationId xmlns:a16="http://schemas.microsoft.com/office/drawing/2014/main" id="{79094D9B-5F15-B765-E52F-6577E8D827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2211216"/>
            <a:ext cx="4315875" cy="2435567"/>
          </a:xfrm>
          <a:prstGeom prst="rect">
            <a:avLst/>
          </a:prstGeom>
        </p:spPr>
      </p:pic>
      <p:pic>
        <p:nvPicPr>
          <p:cNvPr id="8" name="Picture 7" descr="A diagram of a function&#10;&#10;Description automatically generated">
            <a:extLst>
              <a:ext uri="{FF2B5EF4-FFF2-40B4-BE49-F238E27FC236}">
                <a16:creationId xmlns:a16="http://schemas.microsoft.com/office/drawing/2014/main" id="{A58B8EE5-4903-6C2F-AADD-1AB4177AC96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15875" y="3679796"/>
            <a:ext cx="3807568" cy="2435567"/>
          </a:xfrm>
          <a:prstGeom prst="rect">
            <a:avLst/>
          </a:prstGeom>
        </p:spPr>
      </p:pic>
    </p:spTree>
    <p:extLst>
      <p:ext uri="{BB962C8B-B14F-4D97-AF65-F5344CB8AC3E}">
        <p14:creationId xmlns:p14="http://schemas.microsoft.com/office/powerpoint/2010/main" val="12696293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152441" y="1138767"/>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Form Factor and Peak Factor</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mc:AlternateContent xmlns:mc="http://schemas.openxmlformats.org/markup-compatibility/2006" xmlns:a14="http://schemas.microsoft.com/office/drawing/2010/main">
        <mc:Choice Requires="a14">
          <p:sp>
            <p:nvSpPr>
              <p:cNvPr id="26" name="TextBox 25"/>
              <p:cNvSpPr txBox="1"/>
              <p:nvPr/>
            </p:nvSpPr>
            <p:spPr>
              <a:xfrm>
                <a:off x="1139482" y="1991502"/>
                <a:ext cx="10227212" cy="3910366"/>
              </a:xfrm>
              <a:prstGeom prst="rect">
                <a:avLst/>
              </a:prstGeom>
              <a:noFill/>
            </p:spPr>
            <p:txBody>
              <a:bodyPr wrap="square" rtlCol="0">
                <a:spAutoFit/>
              </a:bodyPr>
              <a:lstStyle/>
              <a:p>
                <a:pPr marL="228600" algn="just">
                  <a:lnSpc>
                    <a:spcPct val="115000"/>
                  </a:lnSpc>
                  <a:spcAft>
                    <a:spcPts val="10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For an alternating quantity such as alternating current or voltage, the </a:t>
                </a: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form factor</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is defined as the ratio of the RMS (Root Mean Square) value to the average value of the alternating quantity. Therefore,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28600" algn="just">
                  <a:lnSpc>
                    <a:spcPct val="115000"/>
                  </a:lnSpc>
                  <a:spcAft>
                    <a:spcPts val="1000"/>
                  </a:spcAft>
                </a:pPr>
                <a14:m>
                  <m:oMathPara xmlns:m="http://schemas.openxmlformats.org/officeDocument/2006/math">
                    <m:oMathParaPr>
                      <m:jc m:val="centerGroup"/>
                    </m:oMathParaPr>
                    <m:oMath xmlns:m="http://schemas.openxmlformats.org/officeDocument/2006/math">
                      <m:r>
                        <a:rPr lang="en-IN" sz="1800" i="1">
                          <a:effectLst/>
                          <a:latin typeface="Cambria Math" panose="02040503050406030204" pitchFamily="18" charset="0"/>
                          <a:ea typeface="Calibri" panose="020F0502020204030204" pitchFamily="34" charset="0"/>
                          <a:cs typeface="Times New Roman" panose="02020603050405020304" pitchFamily="18" charset="0"/>
                        </a:rPr>
                        <m:t>𝐹𝑜𝑟𝑚</m:t>
                      </m:r>
                      <m:r>
                        <a:rPr lang="en-IN" sz="1800" i="1">
                          <a:effectLst/>
                          <a:latin typeface="Cambria Math" panose="02040503050406030204" pitchFamily="18" charset="0"/>
                          <a:ea typeface="Calibri" panose="020F0502020204030204" pitchFamily="34" charset="0"/>
                          <a:cs typeface="Times New Roman" panose="02020603050405020304" pitchFamily="18" charset="0"/>
                        </a:rPr>
                        <m:t> </m:t>
                      </m:r>
                      <m:r>
                        <a:rPr lang="en-IN" sz="1800" i="1">
                          <a:effectLst/>
                          <a:latin typeface="Cambria Math" panose="02040503050406030204" pitchFamily="18" charset="0"/>
                          <a:ea typeface="Calibri" panose="020F0502020204030204" pitchFamily="34" charset="0"/>
                          <a:cs typeface="Times New Roman" panose="02020603050405020304" pitchFamily="18" charset="0"/>
                        </a:rPr>
                        <m:t>𝐹𝑎𝑐𝑡𝑜𝑟</m:t>
                      </m:r>
                      <m:r>
                        <a:rPr lang="en-IN" sz="18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IN" sz="1800" i="1">
                              <a:effectLst/>
                              <a:latin typeface="Cambria Math" panose="02040503050406030204" pitchFamily="18" charset="0"/>
                              <a:ea typeface="Calibri" panose="020F0502020204030204" pitchFamily="34" charset="0"/>
                              <a:cs typeface="Times New Roman" panose="02020603050405020304" pitchFamily="18" charset="0"/>
                            </a:rPr>
                            <m:t>𝑅𝑀𝑆</m:t>
                          </m:r>
                          <m:r>
                            <a:rPr lang="en-IN" sz="1800" i="1">
                              <a:effectLst/>
                              <a:latin typeface="Cambria Math" panose="02040503050406030204" pitchFamily="18" charset="0"/>
                              <a:ea typeface="Calibri" panose="020F0502020204030204" pitchFamily="34" charset="0"/>
                              <a:cs typeface="Times New Roman" panose="02020603050405020304" pitchFamily="18" charset="0"/>
                            </a:rPr>
                            <m:t> </m:t>
                          </m:r>
                          <m:r>
                            <a:rPr lang="en-IN" sz="1800" i="1">
                              <a:effectLst/>
                              <a:latin typeface="Cambria Math" panose="02040503050406030204" pitchFamily="18" charset="0"/>
                              <a:ea typeface="Calibri" panose="020F0502020204030204" pitchFamily="34" charset="0"/>
                              <a:cs typeface="Times New Roman" panose="02020603050405020304" pitchFamily="18" charset="0"/>
                            </a:rPr>
                            <m:t>𝑉𝑎𝑙𝑢𝑒</m:t>
                          </m:r>
                        </m:num>
                        <m:den>
                          <m:r>
                            <a:rPr lang="en-IN" sz="1800" i="1">
                              <a:effectLst/>
                              <a:latin typeface="Cambria Math" panose="02040503050406030204" pitchFamily="18" charset="0"/>
                              <a:ea typeface="Calibri" panose="020F0502020204030204" pitchFamily="34" charset="0"/>
                              <a:cs typeface="Times New Roman" panose="02020603050405020304" pitchFamily="18" charset="0"/>
                            </a:rPr>
                            <m:t>𝐴𝑣𝑒𝑟𝑎𝑔𝑒</m:t>
                          </m:r>
                          <m:r>
                            <a:rPr lang="en-IN" sz="1800" i="1">
                              <a:effectLst/>
                              <a:latin typeface="Cambria Math" panose="02040503050406030204" pitchFamily="18" charset="0"/>
                              <a:ea typeface="Calibri" panose="020F0502020204030204" pitchFamily="34" charset="0"/>
                              <a:cs typeface="Times New Roman" panose="02020603050405020304" pitchFamily="18" charset="0"/>
                            </a:rPr>
                            <m:t> </m:t>
                          </m:r>
                          <m:r>
                            <a:rPr lang="en-IN" sz="1800" i="1">
                              <a:effectLst/>
                              <a:latin typeface="Cambria Math" panose="02040503050406030204" pitchFamily="18" charset="0"/>
                              <a:ea typeface="Calibri" panose="020F0502020204030204" pitchFamily="34" charset="0"/>
                              <a:cs typeface="Times New Roman" panose="02020603050405020304" pitchFamily="18" charset="0"/>
                            </a:rPr>
                            <m:t>𝑉𝑎𝑙𝑢𝑒</m:t>
                          </m:r>
                        </m:den>
                      </m:f>
                    </m:oMath>
                  </m:oMathPara>
                </a14:m>
                <a:endParaRPr lang="en-US" dirty="0"/>
              </a:p>
              <a:p>
                <a:pPr marL="228600" algn="just">
                  <a:lnSpc>
                    <a:spcPct val="115000"/>
                  </a:lnSpc>
                  <a:spcAft>
                    <a:spcPts val="1000"/>
                  </a:spcAft>
                </a:pPr>
                <a:endParaRPr lang="en-US" dirty="0"/>
              </a:p>
              <a:p>
                <a:pPr algn="just" fontAlgn="base">
                  <a:lnSpc>
                    <a:spcPct val="115000"/>
                  </a:lnSpc>
                  <a:spcAft>
                    <a:spcPts val="1000"/>
                  </a:spcAft>
                </a:pP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ratio of the maximum or peak value to the RMS value of an alternating quantity is known as the peak factor of the alternating quantity. It is also known as the crest factor because the peak value is also called the crest value.</a:t>
                </a:r>
                <a:endParaRPr lang="en-US" sz="1800" i="1" dirty="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endParaRPr>
              </a:p>
              <a:p>
                <a:pPr algn="just" fontAlgn="base">
                  <a:lnSpc>
                    <a:spcPct val="115000"/>
                  </a:lnSpc>
                  <a:spcAft>
                    <a:spcPts val="1000"/>
                  </a:spcAft>
                </a:pPr>
                <a14:m>
                  <m:oMathPara xmlns:m="http://schemas.openxmlformats.org/officeDocument/2006/math">
                    <m:oMathParaPr>
                      <m:jc m:val="centerGroup"/>
                    </m:oMathParaPr>
                    <m:oMath xmlns:m="http://schemas.openxmlformats.org/officeDocument/2006/math">
                      <m:r>
                        <a:rPr lang="en-IN"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𝑃𝑒𝑎𝑘</m:t>
                      </m:r>
                      <m:r>
                        <a:rPr lang="en-IN"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m:t>
                      </m:r>
                      <m:r>
                        <a:rPr lang="en-IN"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𝐹𝑎𝑐𝑡𝑜𝑟</m:t>
                      </m:r>
                      <m:r>
                        <a:rPr lang="en-IN"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m:t>
                      </m:r>
                      <m:f>
                        <m:f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IN"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𝑃𝑒𝑎𝑘</m:t>
                          </m:r>
                          <m:r>
                            <a:rPr lang="en-IN"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m:t>
                          </m:r>
                          <m:r>
                            <a:rPr lang="en-IN"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𝑉𝑎𝑙𝑢𝑒</m:t>
                          </m:r>
                        </m:num>
                        <m:den>
                          <m:r>
                            <a:rPr lang="en-IN"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𝑅𝑀𝑆</m:t>
                          </m:r>
                          <m:r>
                            <a:rPr lang="en-IN"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m:t>
                          </m:r>
                          <m:r>
                            <a:rPr lang="en-IN"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𝑉𝑎𝑙𝑢𝑒</m:t>
                          </m:r>
                        </m:den>
                      </m:f>
                    </m:oMath>
                  </m:oMathPara>
                </a14:m>
                <a:endParaRPr lang="en-US" dirty="0"/>
              </a:p>
            </p:txBody>
          </p:sp>
        </mc:Choice>
        <mc:Fallback xmlns="">
          <p:sp>
            <p:nvSpPr>
              <p:cNvPr id="26" name="TextBox 25"/>
              <p:cNvSpPr txBox="1">
                <a:spLocks noRot="1" noChangeAspect="1" noMove="1" noResize="1" noEditPoints="1" noAdjustHandles="1" noChangeArrowheads="1" noChangeShapeType="1" noTextEdit="1"/>
              </p:cNvSpPr>
              <p:nvPr/>
            </p:nvSpPr>
            <p:spPr>
              <a:xfrm>
                <a:off x="1139482" y="1991502"/>
                <a:ext cx="10227212" cy="3910366"/>
              </a:xfrm>
              <a:prstGeom prst="rect">
                <a:avLst/>
              </a:prstGeom>
              <a:blipFill>
                <a:blip r:embed="rId2"/>
                <a:stretch>
                  <a:fillRect l="-536" t="-468" r="-477"/>
                </a:stretch>
              </a:blipFill>
            </p:spPr>
            <p:txBody>
              <a:bodyPr/>
              <a:lstStyle/>
              <a:p>
                <a:r>
                  <a:rPr lang="en-IN">
                    <a:noFill/>
                  </a:rPr>
                  <a:t> </a:t>
                </a:r>
              </a:p>
            </p:txBody>
          </p:sp>
        </mc:Fallback>
      </mc:AlternateContent>
    </p:spTree>
    <p:extLst>
      <p:ext uri="{BB962C8B-B14F-4D97-AF65-F5344CB8AC3E}">
        <p14:creationId xmlns:p14="http://schemas.microsoft.com/office/powerpoint/2010/main" val="234448839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6B220-844F-C40C-3DAE-4744061C4CC9}"/>
              </a:ext>
            </a:extLst>
          </p:cNvPr>
          <p:cNvSpPr>
            <a:spLocks noGrp="1"/>
          </p:cNvSpPr>
          <p:nvPr>
            <p:ph type="title"/>
          </p:nvPr>
        </p:nvSpPr>
        <p:spPr>
          <a:xfrm>
            <a:off x="1451579" y="804520"/>
            <a:ext cx="9603275" cy="442390"/>
          </a:xfrm>
        </p:spPr>
        <p:txBody>
          <a:bodyPr>
            <a:normAutofit fontScale="90000"/>
          </a:bodyPr>
          <a:lstStyle/>
          <a:p>
            <a:pPr algn="ctr"/>
            <a:r>
              <a:rPr lang="en-US" sz="2800" b="1" dirty="0"/>
              <a:t>A.C. Through R, L &amp; C</a:t>
            </a:r>
            <a:endParaRPr lang="en-IN" sz="2800" b="1" dirty="0"/>
          </a:p>
        </p:txBody>
      </p:sp>
      <p:sp>
        <p:nvSpPr>
          <p:cNvPr id="4" name="Slide Number Placeholder 3">
            <a:extLst>
              <a:ext uri="{FF2B5EF4-FFF2-40B4-BE49-F238E27FC236}">
                <a16:creationId xmlns:a16="http://schemas.microsoft.com/office/drawing/2014/main" id="{1455F4A7-D39C-82A0-6A07-5ABCC8947C78}"/>
              </a:ext>
            </a:extLst>
          </p:cNvPr>
          <p:cNvSpPr>
            <a:spLocks noGrp="1"/>
          </p:cNvSpPr>
          <p:nvPr>
            <p:ph type="sldNum" sz="quarter" idx="12"/>
          </p:nvPr>
        </p:nvSpPr>
        <p:spPr/>
        <p:txBody>
          <a:bodyPr/>
          <a:lstStyle/>
          <a:p>
            <a:fld id="{CBABCCC1-BF11-4F37-963E-1BCD5B23FD72}" type="slidenum">
              <a:rPr lang="en-IN" smtClean="0"/>
              <a:pPr/>
              <a:t>10</a:t>
            </a:fld>
            <a:endParaRPr lang="en-IN"/>
          </a:p>
        </p:txBody>
      </p:sp>
      <p:sp>
        <p:nvSpPr>
          <p:cNvPr id="5" name="TextBox 4">
            <a:extLst>
              <a:ext uri="{FF2B5EF4-FFF2-40B4-BE49-F238E27FC236}">
                <a16:creationId xmlns:a16="http://schemas.microsoft.com/office/drawing/2014/main" id="{D21B70A6-072F-B819-3202-13570176FA7C}"/>
              </a:ext>
            </a:extLst>
          </p:cNvPr>
          <p:cNvSpPr txBox="1"/>
          <p:nvPr/>
        </p:nvSpPr>
        <p:spPr>
          <a:xfrm>
            <a:off x="1542473" y="2115127"/>
            <a:ext cx="3999345" cy="1938992"/>
          </a:xfrm>
          <a:prstGeom prst="rect">
            <a:avLst/>
          </a:prstGeom>
          <a:noFill/>
        </p:spPr>
        <p:txBody>
          <a:bodyPr wrap="square" rtlCol="0">
            <a:spAutoFit/>
          </a:bodyPr>
          <a:lstStyle/>
          <a:p>
            <a:pPr marL="285750" indent="-285750">
              <a:buFont typeface="Arial" panose="020B0604020202020204" pitchFamily="34" charset="0"/>
              <a:buChar char="•"/>
            </a:pPr>
            <a:r>
              <a:rPr lang="en-US" sz="2400" b="1" dirty="0">
                <a:hlinkClick r:id="rId2" action="ppaction://hlinkfile"/>
              </a:rPr>
              <a:t>AC through Resistance</a:t>
            </a:r>
            <a:endParaRPr lang="en-US" sz="2400" b="1" dirty="0"/>
          </a:p>
          <a:p>
            <a:pPr marL="285750" indent="-285750">
              <a:buFont typeface="Arial" panose="020B0604020202020204" pitchFamily="34" charset="0"/>
              <a:buChar char="•"/>
            </a:pPr>
            <a:endParaRPr lang="en-US" sz="2400" b="1" dirty="0"/>
          </a:p>
          <a:p>
            <a:pPr marL="285750" indent="-285750">
              <a:buFont typeface="Arial" panose="020B0604020202020204" pitchFamily="34" charset="0"/>
              <a:buChar char="•"/>
            </a:pPr>
            <a:r>
              <a:rPr lang="en-US" sz="2400" b="1" dirty="0">
                <a:hlinkClick r:id="rId3" action="ppaction://hlinkfile"/>
              </a:rPr>
              <a:t>AC through Inductance</a:t>
            </a:r>
            <a:endParaRPr lang="en-US" sz="2400" b="1" dirty="0"/>
          </a:p>
          <a:p>
            <a:pPr marL="285750" indent="-285750">
              <a:buFont typeface="Arial" panose="020B0604020202020204" pitchFamily="34" charset="0"/>
              <a:buChar char="•"/>
            </a:pPr>
            <a:endParaRPr lang="en-US" sz="2400" b="1" dirty="0"/>
          </a:p>
          <a:p>
            <a:pPr marL="285750" indent="-285750">
              <a:buFont typeface="Arial" panose="020B0604020202020204" pitchFamily="34" charset="0"/>
              <a:buChar char="•"/>
            </a:pPr>
            <a:r>
              <a:rPr lang="en-US" sz="2400" b="1" dirty="0">
                <a:hlinkClick r:id="rId4" action="ppaction://hlinkfile"/>
              </a:rPr>
              <a:t>AC through Capacitance</a:t>
            </a:r>
            <a:endParaRPr lang="en-IN" dirty="0"/>
          </a:p>
        </p:txBody>
      </p:sp>
    </p:spTree>
    <p:extLst>
      <p:ext uri="{BB962C8B-B14F-4D97-AF65-F5344CB8AC3E}">
        <p14:creationId xmlns:p14="http://schemas.microsoft.com/office/powerpoint/2010/main" val="41207554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43432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marR="0" lvl="0" indent="-342900" rtl="0">
              <a:spcBef>
                <a:spcPts val="0"/>
              </a:spcBef>
              <a:spcAft>
                <a:spcPts val="0"/>
              </a:spcAft>
              <a:buFont typeface="+mj-lt"/>
              <a:buAutoNum type="arabicPeriod"/>
            </a:pPr>
            <a:r>
              <a:rPr lang="en-US" sz="1600" dirty="0">
                <a:solidFill>
                  <a:schemeClr val="bg1"/>
                </a:solidFill>
                <a:latin typeface="Poppins" panose="00000500000000000000" pitchFamily="2" charset="0"/>
                <a:ea typeface="Calibri"/>
                <a:cs typeface="Poppins" panose="00000500000000000000" pitchFamily="2" charset="0"/>
                <a:sym typeface="Calibri"/>
              </a:rPr>
              <a:t>Alternating current cannot be measured by D.C ammeter because</a:t>
            </a:r>
            <a:endParaRPr sz="160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a:extLst>
              <a:ext uri="{FF2B5EF4-FFF2-40B4-BE49-F238E27FC236}">
                <a16:creationId xmlns:a16="http://schemas.microsoft.com/office/drawing/2014/main" id="{5D8B791C-9B35-CF16-C192-D202E0DB9A60}"/>
              </a:ext>
            </a:extLst>
          </p:cNvPr>
          <p:cNvSpPr/>
          <p:nvPr/>
        </p:nvSpPr>
        <p:spPr>
          <a:xfrm>
            <a:off x="1026828" y="1917745"/>
            <a:ext cx="7888572"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sz="1600" dirty="0">
                <a:latin typeface="Arial" panose="020B0604020202020204" pitchFamily="34" charset="0"/>
              </a:rPr>
              <a:t>D.C ammeter get damaged</a:t>
            </a:r>
          </a:p>
          <a:p>
            <a:pPr marL="342900" indent="-342900">
              <a:lnSpc>
                <a:spcPct val="150000"/>
              </a:lnSpc>
              <a:buAutoNum type="alphaLcParenBoth"/>
            </a:pPr>
            <a:r>
              <a:rPr lang="en-US" sz="1600" dirty="0">
                <a:latin typeface="Arial" panose="020B0604020202020204" pitchFamily="34" charset="0"/>
              </a:rPr>
              <a:t>Average value of current over a complete cycle is zero</a:t>
            </a:r>
          </a:p>
          <a:p>
            <a:pPr marL="342900" indent="-342900">
              <a:lnSpc>
                <a:spcPct val="150000"/>
              </a:lnSpc>
              <a:buAutoNum type="alphaLcParenBoth"/>
            </a:pPr>
            <a:r>
              <a:rPr lang="en-US" sz="1600" dirty="0">
                <a:latin typeface="Arial" panose="020B0604020202020204" pitchFamily="34" charset="0"/>
              </a:rPr>
              <a:t>A.C cannot pass through D.C ammeter</a:t>
            </a:r>
          </a:p>
          <a:p>
            <a:pPr marL="342900" indent="-342900">
              <a:lnSpc>
                <a:spcPct val="150000"/>
              </a:lnSpc>
              <a:buAutoNum type="alphaLcParenBoth"/>
            </a:pPr>
            <a:r>
              <a:rPr lang="en-US" sz="1600" dirty="0">
                <a:latin typeface="Arial" panose="020B0604020202020204" pitchFamily="34" charset="0"/>
              </a:rPr>
              <a:t>A.C changes directions periodically</a:t>
            </a:r>
            <a:endParaRPr lang="en-US" sz="1600" dirty="0"/>
          </a:p>
        </p:txBody>
      </p:sp>
      <p:sp>
        <p:nvSpPr>
          <p:cNvPr id="13" name="Google Shape;502;p17">
            <a:extLst>
              <a:ext uri="{FF2B5EF4-FFF2-40B4-BE49-F238E27FC236}">
                <a16:creationId xmlns:a16="http://schemas.microsoft.com/office/drawing/2014/main" id="{BB41B87C-BE5F-4BF2-531D-57DC21D1A451}"/>
              </a:ext>
            </a:extLst>
          </p:cNvPr>
          <p:cNvSpPr/>
          <p:nvPr/>
        </p:nvSpPr>
        <p:spPr>
          <a:xfrm>
            <a:off x="1009895" y="370002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marR="0" lvl="0" indent="-342900" rtl="0">
              <a:spcBef>
                <a:spcPts val="0"/>
              </a:spcBef>
              <a:spcAft>
                <a:spcPts val="0"/>
              </a:spcAft>
              <a:buFont typeface="+mj-lt"/>
              <a:buAutoNum type="arabicPeriod" startAt="2"/>
            </a:pPr>
            <a:r>
              <a:rPr lang="en-US" sz="1600" dirty="0">
                <a:solidFill>
                  <a:schemeClr val="bg1"/>
                </a:solidFill>
                <a:latin typeface="Poppins" panose="00000500000000000000" pitchFamily="2" charset="0"/>
                <a:ea typeface="Calibri"/>
                <a:cs typeface="Poppins" panose="00000500000000000000" pitchFamily="2" charset="0"/>
                <a:sym typeface="Calibri"/>
              </a:rPr>
              <a:t>In alternating current, the direction and magnitude of the current varies</a:t>
            </a:r>
            <a:endParaRPr sz="1600">
              <a:solidFill>
                <a:schemeClr val="bg1"/>
              </a:solidFill>
              <a:latin typeface="Poppins" panose="00000500000000000000" pitchFamily="2" charset="0"/>
              <a:ea typeface="Calibri"/>
              <a:cs typeface="Poppins" panose="00000500000000000000" pitchFamily="2" charset="0"/>
              <a:sym typeface="Calibri"/>
            </a:endParaRPr>
          </a:p>
        </p:txBody>
      </p:sp>
      <p:sp>
        <p:nvSpPr>
          <p:cNvPr id="14" name="Rounded Rectangle 17">
            <a:extLst>
              <a:ext uri="{FF2B5EF4-FFF2-40B4-BE49-F238E27FC236}">
                <a16:creationId xmlns:a16="http://schemas.microsoft.com/office/drawing/2014/main" id="{7E00138C-2256-5D01-E821-A57ADA3BBCB0}"/>
              </a:ext>
            </a:extLst>
          </p:cNvPr>
          <p:cNvSpPr/>
          <p:nvPr/>
        </p:nvSpPr>
        <p:spPr>
          <a:xfrm>
            <a:off x="1009895" y="4462493"/>
            <a:ext cx="7881442"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sz="1600" dirty="0">
                <a:latin typeface="Arial" pitchFamily="34" charset="0"/>
                <a:cs typeface="Arial" pitchFamily="34" charset="0"/>
              </a:rPr>
              <a:t>Randomly</a:t>
            </a:r>
          </a:p>
          <a:p>
            <a:pPr marL="342900" indent="-342900">
              <a:lnSpc>
                <a:spcPct val="150000"/>
              </a:lnSpc>
              <a:buAutoNum type="alphaLcParenBoth"/>
            </a:pPr>
            <a:r>
              <a:rPr lang="en-US" sz="1600" dirty="0">
                <a:latin typeface="Arial" pitchFamily="34" charset="0"/>
                <a:cs typeface="Arial" pitchFamily="34" charset="0"/>
              </a:rPr>
              <a:t>Periodically</a:t>
            </a:r>
          </a:p>
          <a:p>
            <a:pPr marL="342900" indent="-342900">
              <a:lnSpc>
                <a:spcPct val="150000"/>
              </a:lnSpc>
              <a:buAutoNum type="alphaLcParenBoth"/>
            </a:pPr>
            <a:r>
              <a:rPr lang="en-US" sz="1600" dirty="0">
                <a:latin typeface="Arial" pitchFamily="34" charset="0"/>
                <a:cs typeface="Arial" pitchFamily="34" charset="0"/>
              </a:rPr>
              <a:t>Exponentially</a:t>
            </a:r>
          </a:p>
          <a:p>
            <a:pPr marL="342900" indent="-342900">
              <a:lnSpc>
                <a:spcPct val="150000"/>
              </a:lnSpc>
              <a:buAutoNum type="alphaLcParenBoth"/>
            </a:pPr>
            <a:r>
              <a:rPr lang="en-US" sz="1600" dirty="0">
                <a:latin typeface="Arial" pitchFamily="34" charset="0"/>
                <a:cs typeface="Arial" pitchFamily="34" charset="0"/>
              </a:rPr>
              <a:t>Do not vary</a:t>
            </a: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419276617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43432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1009895" y="1093156"/>
            <a:ext cx="10172210" cy="600076"/>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IN" sz="1600" dirty="0">
                <a:latin typeface="Poppins" panose="00000500000000000000" pitchFamily="2" charset="0"/>
                <a:ea typeface="Calibri"/>
                <a:cs typeface="Poppins" panose="00000500000000000000" pitchFamily="2" charset="0"/>
                <a:sym typeface="Calibri"/>
              </a:rPr>
              <a:t>7.</a:t>
            </a:r>
            <a:r>
              <a:rPr lang="en-IN" sz="1600" dirty="0">
                <a:solidFill>
                  <a:schemeClr val="bg1"/>
                </a:solidFill>
                <a:latin typeface="Poppins" panose="00000500000000000000" pitchFamily="2" charset="0"/>
                <a:ea typeface="Calibri"/>
                <a:cs typeface="Poppins" panose="00000500000000000000" pitchFamily="2" charset="0"/>
                <a:sym typeface="Calibri"/>
              </a:rPr>
              <a:t> </a:t>
            </a:r>
            <a:r>
              <a:rPr lang="en-IN" dirty="0"/>
              <a:t>Which waveform is likely to have the highest peak factor? </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a:extLst>
              <a:ext uri="{FF2B5EF4-FFF2-40B4-BE49-F238E27FC236}">
                <a16:creationId xmlns:a16="http://schemas.microsoft.com/office/drawing/2014/main" id="{5D8B791C-9B35-CF16-C192-D202E0DB9A60}"/>
              </a:ext>
            </a:extLst>
          </p:cNvPr>
          <p:cNvSpPr/>
          <p:nvPr/>
        </p:nvSpPr>
        <p:spPr>
          <a:xfrm>
            <a:off x="1026828" y="1977905"/>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sz="1600" dirty="0">
                <a:latin typeface="Arial" panose="020B0604020202020204" pitchFamily="34" charset="0"/>
              </a:rPr>
              <a:t>Sine wave</a:t>
            </a:r>
          </a:p>
          <a:p>
            <a:pPr marL="342900" indent="-342900">
              <a:lnSpc>
                <a:spcPct val="150000"/>
              </a:lnSpc>
              <a:buAutoNum type="alphaLcParenBoth"/>
            </a:pPr>
            <a:r>
              <a:rPr lang="en-US" sz="1600" dirty="0">
                <a:latin typeface="Arial" panose="020B0604020202020204" pitchFamily="34" charset="0"/>
              </a:rPr>
              <a:t>Square wave</a:t>
            </a:r>
          </a:p>
          <a:p>
            <a:pPr marL="342900" indent="-342900">
              <a:lnSpc>
                <a:spcPct val="150000"/>
              </a:lnSpc>
              <a:buAutoNum type="alphaLcParenBoth"/>
            </a:pPr>
            <a:r>
              <a:rPr lang="en-US" sz="1600" dirty="0">
                <a:latin typeface="Arial" panose="020B0604020202020204" pitchFamily="34" charset="0"/>
              </a:rPr>
              <a:t>Triangular wave</a:t>
            </a:r>
          </a:p>
          <a:p>
            <a:pPr marL="342900" indent="-342900">
              <a:lnSpc>
                <a:spcPct val="150000"/>
              </a:lnSpc>
              <a:buAutoNum type="alphaLcParenBoth"/>
            </a:pPr>
            <a:r>
              <a:rPr lang="en-US" sz="1600" dirty="0"/>
              <a:t>Sawtooth wave</a:t>
            </a:r>
          </a:p>
        </p:txBody>
      </p:sp>
      <p:sp>
        <p:nvSpPr>
          <p:cNvPr id="13" name="Google Shape;502;p17">
            <a:extLst>
              <a:ext uri="{FF2B5EF4-FFF2-40B4-BE49-F238E27FC236}">
                <a16:creationId xmlns:a16="http://schemas.microsoft.com/office/drawing/2014/main" id="{BB41B87C-BE5F-4BF2-531D-57DC21D1A451}"/>
              </a:ext>
            </a:extLst>
          </p:cNvPr>
          <p:cNvSpPr/>
          <p:nvPr/>
        </p:nvSpPr>
        <p:spPr>
          <a:xfrm>
            <a:off x="1009895" y="3820343"/>
            <a:ext cx="10172210" cy="600076"/>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US" sz="1600" dirty="0">
                <a:latin typeface="Poppins" panose="00000500000000000000" pitchFamily="2" charset="0"/>
                <a:ea typeface="Calibri"/>
                <a:cs typeface="Poppins" panose="00000500000000000000" pitchFamily="2" charset="0"/>
                <a:sym typeface="Calibri"/>
              </a:rPr>
              <a:t>8. </a:t>
            </a:r>
            <a:r>
              <a:rPr lang="en-IN" dirty="0"/>
              <a:t>If the peak value of a sinusoidal waveform is 10 V, what is the RMS value? </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4" name="Rounded Rectangle 17">
            <a:extLst>
              <a:ext uri="{FF2B5EF4-FFF2-40B4-BE49-F238E27FC236}">
                <a16:creationId xmlns:a16="http://schemas.microsoft.com/office/drawing/2014/main" id="{7E00138C-2256-5D01-E821-A57ADA3BBCB0}"/>
              </a:ext>
            </a:extLst>
          </p:cNvPr>
          <p:cNvSpPr/>
          <p:nvPr/>
        </p:nvSpPr>
        <p:spPr>
          <a:xfrm>
            <a:off x="1009895" y="4516017"/>
            <a:ext cx="2901705" cy="148356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dirty="0"/>
              <a:t>5V</a:t>
            </a:r>
          </a:p>
          <a:p>
            <a:pPr marL="342900" indent="-342900">
              <a:lnSpc>
                <a:spcPct val="150000"/>
              </a:lnSpc>
              <a:buAutoNum type="alphaLcParenBoth"/>
            </a:pPr>
            <a:r>
              <a:rPr lang="en-US" dirty="0"/>
              <a:t>7.07 V</a:t>
            </a:r>
          </a:p>
          <a:p>
            <a:pPr marL="342900" indent="-342900">
              <a:lnSpc>
                <a:spcPct val="150000"/>
              </a:lnSpc>
              <a:buAutoNum type="alphaLcParenBoth"/>
            </a:pPr>
            <a:r>
              <a:rPr lang="en-US" dirty="0"/>
              <a:t>10 V</a:t>
            </a:r>
          </a:p>
          <a:p>
            <a:pPr marL="342900" indent="-342900">
              <a:lnSpc>
                <a:spcPct val="150000"/>
              </a:lnSpc>
              <a:buAutoNum type="alphaLcParenBoth"/>
            </a:pPr>
            <a:r>
              <a:rPr lang="en-US" sz="1600" dirty="0"/>
              <a:t>14.14 V</a:t>
            </a: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86377495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43432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1009895" y="1043226"/>
            <a:ext cx="10172210" cy="650006"/>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endParaRPr lang="en-US" sz="1600" dirty="0">
              <a:latin typeface="Poppins" panose="00000500000000000000" pitchFamily="2" charset="0"/>
              <a:ea typeface="Calibri"/>
              <a:cs typeface="Poppins" panose="00000500000000000000" pitchFamily="2" charset="0"/>
              <a:sym typeface="Calibri"/>
            </a:endParaRPr>
          </a:p>
          <a:p>
            <a:r>
              <a:rPr lang="en-US" sz="1600" dirty="0">
                <a:latin typeface="Poppins" panose="00000500000000000000" pitchFamily="2" charset="0"/>
                <a:ea typeface="Calibri"/>
                <a:cs typeface="Poppins" panose="00000500000000000000" pitchFamily="2" charset="0"/>
                <a:sym typeface="Calibri"/>
              </a:rPr>
              <a:t>9. </a:t>
            </a:r>
            <a:r>
              <a:rPr lang="en-IN" dirty="0"/>
              <a:t>What is the form factor of a square wave? </a:t>
            </a:r>
          </a:p>
          <a:p>
            <a:pPr marR="0" lvl="0" rtl="0">
              <a:spcBef>
                <a:spcPts val="0"/>
              </a:spcBef>
              <a:spcAft>
                <a:spcPts val="0"/>
              </a:spcAft>
            </a:pP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a:extLst>
              <a:ext uri="{FF2B5EF4-FFF2-40B4-BE49-F238E27FC236}">
                <a16:creationId xmlns:a16="http://schemas.microsoft.com/office/drawing/2014/main" id="{5D8B791C-9B35-CF16-C192-D202E0DB9A60}"/>
              </a:ext>
            </a:extLst>
          </p:cNvPr>
          <p:cNvSpPr/>
          <p:nvPr/>
        </p:nvSpPr>
        <p:spPr>
          <a:xfrm>
            <a:off x="1026828" y="1977905"/>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sz="1600" dirty="0">
                <a:latin typeface="Arial" panose="020B0604020202020204" pitchFamily="34" charset="0"/>
              </a:rPr>
              <a:t>1.0</a:t>
            </a:r>
          </a:p>
          <a:p>
            <a:pPr marL="342900" indent="-342900">
              <a:lnSpc>
                <a:spcPct val="150000"/>
              </a:lnSpc>
              <a:buAutoNum type="alphaLcParenBoth"/>
            </a:pPr>
            <a:r>
              <a:rPr lang="en-US" sz="1600" dirty="0">
                <a:latin typeface="Arial" panose="020B0604020202020204" pitchFamily="34" charset="0"/>
              </a:rPr>
              <a:t>0.707</a:t>
            </a:r>
          </a:p>
          <a:p>
            <a:pPr marL="342900" indent="-342900">
              <a:lnSpc>
                <a:spcPct val="150000"/>
              </a:lnSpc>
              <a:buAutoNum type="alphaLcParenBoth"/>
            </a:pPr>
            <a:r>
              <a:rPr lang="en-US" sz="1600" dirty="0">
                <a:latin typeface="Arial" panose="020B0604020202020204" pitchFamily="34" charset="0"/>
              </a:rPr>
              <a:t>1.414</a:t>
            </a:r>
          </a:p>
          <a:p>
            <a:pPr marL="342900" indent="-342900">
              <a:lnSpc>
                <a:spcPct val="150000"/>
              </a:lnSpc>
              <a:buAutoNum type="alphaLcParenBoth"/>
            </a:pPr>
            <a:r>
              <a:rPr lang="en-US" sz="1600" dirty="0">
                <a:latin typeface="Arial" panose="020B0604020202020204" pitchFamily="34" charset="0"/>
              </a:rPr>
              <a:t>2.0</a:t>
            </a:r>
            <a:endParaRPr lang="en-US" sz="1600" dirty="0"/>
          </a:p>
        </p:txBody>
      </p:sp>
      <p:sp>
        <p:nvSpPr>
          <p:cNvPr id="13" name="Google Shape;502;p17">
            <a:extLst>
              <a:ext uri="{FF2B5EF4-FFF2-40B4-BE49-F238E27FC236}">
                <a16:creationId xmlns:a16="http://schemas.microsoft.com/office/drawing/2014/main" id="{BB41B87C-BE5F-4BF2-531D-57DC21D1A451}"/>
              </a:ext>
            </a:extLst>
          </p:cNvPr>
          <p:cNvSpPr/>
          <p:nvPr/>
        </p:nvSpPr>
        <p:spPr>
          <a:xfrm>
            <a:off x="1009895" y="3820343"/>
            <a:ext cx="10172210" cy="574375"/>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US" sz="1600" dirty="0">
                <a:latin typeface="Poppins" panose="00000500000000000000" pitchFamily="2" charset="0"/>
                <a:ea typeface="Calibri"/>
                <a:cs typeface="Poppins" panose="00000500000000000000" pitchFamily="2" charset="0"/>
                <a:sym typeface="Calibri"/>
              </a:rPr>
              <a:t>10. </a:t>
            </a:r>
            <a:r>
              <a:rPr lang="en-IN" dirty="0"/>
              <a:t>If a waveform has a peak factor of 1.414, what is its form factor? </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4" name="Rounded Rectangle 17">
            <a:extLst>
              <a:ext uri="{FF2B5EF4-FFF2-40B4-BE49-F238E27FC236}">
                <a16:creationId xmlns:a16="http://schemas.microsoft.com/office/drawing/2014/main" id="{7E00138C-2256-5D01-E821-A57ADA3BBCB0}"/>
              </a:ext>
            </a:extLst>
          </p:cNvPr>
          <p:cNvSpPr/>
          <p:nvPr/>
        </p:nvSpPr>
        <p:spPr>
          <a:xfrm>
            <a:off x="1009895" y="4469363"/>
            <a:ext cx="2901705" cy="1604866"/>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dirty="0"/>
              <a:t>0.707</a:t>
            </a:r>
          </a:p>
          <a:p>
            <a:pPr marL="342900" indent="-342900">
              <a:lnSpc>
                <a:spcPct val="150000"/>
              </a:lnSpc>
              <a:buAutoNum type="alphaLcParenBoth"/>
            </a:pPr>
            <a:r>
              <a:rPr lang="en-US" dirty="0"/>
              <a:t>1.0</a:t>
            </a:r>
          </a:p>
          <a:p>
            <a:pPr marL="342900" indent="-342900">
              <a:lnSpc>
                <a:spcPct val="150000"/>
              </a:lnSpc>
              <a:buAutoNum type="alphaLcParenBoth"/>
            </a:pPr>
            <a:r>
              <a:rPr lang="en-US" dirty="0"/>
              <a:t>1.414</a:t>
            </a:r>
          </a:p>
          <a:p>
            <a:pPr marL="342900" indent="-342900">
              <a:lnSpc>
                <a:spcPct val="150000"/>
              </a:lnSpc>
              <a:buAutoNum type="alphaLcParenBoth"/>
            </a:pPr>
            <a:r>
              <a:rPr lang="en-US" sz="1600" dirty="0"/>
              <a:t>2.0</a:t>
            </a: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311671206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3390636" y="1167618"/>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1291883" y="2274838"/>
            <a:ext cx="9608234" cy="2308324"/>
          </a:xfrm>
          <a:prstGeom prst="rect">
            <a:avLst/>
          </a:prstGeom>
          <a:noFill/>
        </p:spPr>
        <p:txBody>
          <a:bodyPr wrap="square" rtlCol="0">
            <a:spAutoFit/>
          </a:bodyPr>
          <a:lstStyle/>
          <a:p>
            <a:pPr>
              <a:lnSpc>
                <a:spcPct val="200000"/>
              </a:lnSpc>
            </a:pPr>
            <a:r>
              <a:rPr lang="en-US" b="1" dirty="0"/>
              <a:t>1. Describe different parameters of sinusoidal ac signal?</a:t>
            </a:r>
          </a:p>
          <a:p>
            <a:pPr>
              <a:lnSpc>
                <a:spcPct val="200000"/>
              </a:lnSpc>
            </a:pPr>
            <a:r>
              <a:rPr lang="en-US" b="1" dirty="0"/>
              <a:t>2. List out the differences between ac and dc circuits.</a:t>
            </a:r>
          </a:p>
          <a:p>
            <a:pPr marL="342900" indent="-342900">
              <a:lnSpc>
                <a:spcPct val="200000"/>
              </a:lnSpc>
              <a:buAutoNum type="arabicPeriod" startAt="3"/>
            </a:pPr>
            <a:r>
              <a:rPr lang="en-US" b="1" dirty="0"/>
              <a:t>Analyze a symmetrical square wave signal having an amplitude of A</a:t>
            </a:r>
            <a:r>
              <a:rPr lang="en-US" sz="1400" b="1" dirty="0"/>
              <a:t>m</a:t>
            </a:r>
            <a:r>
              <a:rPr lang="en-US" b="1" dirty="0"/>
              <a:t> for its average</a:t>
            </a:r>
          </a:p>
          <a:p>
            <a:pPr marL="342900" indent="-342900">
              <a:lnSpc>
                <a:spcPct val="200000"/>
              </a:lnSpc>
            </a:pPr>
            <a:r>
              <a:rPr lang="en-US" b="1" dirty="0"/>
              <a:t>	and RMS values. </a:t>
            </a:r>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19108519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24128" y="1172223"/>
            <a:ext cx="794374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721895" y="1940087"/>
            <a:ext cx="10635916" cy="3831818"/>
          </a:xfrm>
          <a:prstGeom prst="rect">
            <a:avLst/>
          </a:prstGeom>
          <a:noFill/>
        </p:spPr>
        <p:txBody>
          <a:bodyPr wrap="square" rtlCol="0">
            <a:spAutoFit/>
          </a:bodyPr>
          <a:lstStyle/>
          <a:p>
            <a:pPr>
              <a:lnSpc>
                <a:spcPct val="150000"/>
              </a:lnSpc>
            </a:pPr>
            <a:r>
              <a:rPr lang="en-US" b="1" dirty="0"/>
              <a:t>Reference Books:</a:t>
            </a:r>
            <a:endParaRPr lang="en-US" dirty="0"/>
          </a:p>
          <a:p>
            <a:pPr>
              <a:lnSpc>
                <a:spcPct val="150000"/>
              </a:lnSpc>
            </a:pPr>
            <a:r>
              <a:rPr lang="en-US" dirty="0"/>
              <a:t>1.  </a:t>
            </a:r>
            <a:r>
              <a:rPr lang="en-US" dirty="0" err="1"/>
              <a:t>Mahmood</a:t>
            </a:r>
            <a:r>
              <a:rPr lang="en-US" dirty="0"/>
              <a:t> </a:t>
            </a:r>
            <a:r>
              <a:rPr lang="en-US" dirty="0" err="1"/>
              <a:t>Nahvi</a:t>
            </a:r>
            <a:r>
              <a:rPr lang="en-US" dirty="0"/>
              <a:t>, Joseph </a:t>
            </a:r>
            <a:r>
              <a:rPr lang="en-US" dirty="0" err="1"/>
              <a:t>Edminister</a:t>
            </a:r>
            <a:r>
              <a:rPr lang="en-US" dirty="0"/>
              <a:t> - </a:t>
            </a:r>
            <a:r>
              <a:rPr lang="en-US" dirty="0" err="1"/>
              <a:t>Schaum’s</a:t>
            </a:r>
            <a:r>
              <a:rPr lang="en-US" dirty="0"/>
              <a:t> Outline of Electric Circuits-McGraw-Hill (2018)</a:t>
            </a:r>
          </a:p>
          <a:p>
            <a:pPr>
              <a:lnSpc>
                <a:spcPct val="150000"/>
              </a:lnSpc>
            </a:pPr>
            <a:r>
              <a:rPr lang="en-US" dirty="0"/>
              <a:t>2.  John Bird - Electrical Circuit Theory and Technology-</a:t>
            </a:r>
            <a:r>
              <a:rPr lang="en-US" dirty="0" err="1"/>
              <a:t>Routledge</a:t>
            </a:r>
            <a:r>
              <a:rPr lang="en-US" dirty="0"/>
              <a:t>, Taylor &amp; Francis Group (2022)</a:t>
            </a:r>
          </a:p>
          <a:p>
            <a:pPr>
              <a:lnSpc>
                <a:spcPct val="150000"/>
              </a:lnSpc>
            </a:pPr>
            <a:r>
              <a:rPr lang="en-US" dirty="0"/>
              <a:t>3.  A. </a:t>
            </a:r>
            <a:r>
              <a:rPr lang="en-US" dirty="0" err="1"/>
              <a:t>Sudhakar</a:t>
            </a:r>
            <a:r>
              <a:rPr lang="en-US" dirty="0"/>
              <a:t>, </a:t>
            </a:r>
            <a:r>
              <a:rPr lang="en-US" dirty="0" err="1"/>
              <a:t>Shyammohan</a:t>
            </a:r>
            <a:r>
              <a:rPr lang="en-US" dirty="0"/>
              <a:t>, and S. </a:t>
            </a:r>
            <a:r>
              <a:rPr lang="en-US" dirty="0" err="1"/>
              <a:t>Pallai</a:t>
            </a:r>
            <a:r>
              <a:rPr lang="en-US" dirty="0"/>
              <a:t> - Circuits and Networks:  Analysis and Synthesis-McGraw-Hill (2015)</a:t>
            </a:r>
          </a:p>
          <a:p>
            <a:pPr>
              <a:lnSpc>
                <a:spcPct val="150000"/>
              </a:lnSpc>
            </a:pPr>
            <a:endParaRPr lang="en-US" dirty="0"/>
          </a:p>
          <a:p>
            <a:pPr>
              <a:lnSpc>
                <a:spcPct val="150000"/>
              </a:lnSpc>
            </a:pPr>
            <a:r>
              <a:rPr lang="en-US" b="1" dirty="0"/>
              <a:t>Sites and Web links:</a:t>
            </a:r>
          </a:p>
          <a:p>
            <a:pPr marL="342900" indent="-342900">
              <a:lnSpc>
                <a:spcPct val="150000"/>
              </a:lnSpc>
              <a:buAutoNum type="arabicPeriod"/>
            </a:pPr>
            <a:r>
              <a:rPr lang="en-US" dirty="0">
                <a:hlinkClick r:id="rId2"/>
              </a:rPr>
              <a:t>https://testbook.com/physics/ac-circuit</a:t>
            </a:r>
            <a:endParaRPr lang="en-US" dirty="0"/>
          </a:p>
          <a:p>
            <a:pPr marL="342900" indent="-342900">
              <a:lnSpc>
                <a:spcPct val="150000"/>
              </a:lnSpc>
              <a:buAutoNum type="arabicPeriod"/>
            </a:pPr>
            <a:r>
              <a:rPr lang="en-US" dirty="0">
                <a:hlinkClick r:id="rId3"/>
              </a:rPr>
              <a:t>https://resources.pcb.cadence.com/blog/a-tale-of-two-currents-ac-vs-dc-2</a:t>
            </a:r>
            <a:endParaRPr lang="en-US" dirty="0"/>
          </a:p>
          <a:p>
            <a:pPr marL="342900" indent="-342900">
              <a:lnSpc>
                <a:spcPct val="150000"/>
              </a:lnSpc>
              <a:buAutoNum type="arabicPeriod"/>
            </a:pPr>
            <a:r>
              <a:rPr lang="en-US" dirty="0">
                <a:hlinkClick r:id="rId4"/>
              </a:rPr>
              <a:t>https://testbook.com/physics/alternating-current</a:t>
            </a:r>
            <a:endParaRPr lang="en-US" dirty="0"/>
          </a:p>
        </p:txBody>
      </p:sp>
      <p:pic>
        <p:nvPicPr>
          <p:cNvPr id="5" name="Picture 2" descr="KL Deemed to be University Logo"/>
          <p:cNvPicPr>
            <a:picLocks noChangeAspect="1" noChangeArrowheads="1"/>
          </p:cNvPicPr>
          <p:nvPr/>
        </p:nvPicPr>
        <p:blipFill>
          <a:blip r:embed="rId5"/>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377342044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06F267B9-90E6-4D91-2F94-99937051E1E4}"/>
              </a:ext>
            </a:extLst>
          </p:cNvPr>
          <p:cNvGrpSpPr/>
          <p:nvPr/>
        </p:nvGrpSpPr>
        <p:grpSpPr>
          <a:xfrm>
            <a:off x="2247960" y="2332796"/>
            <a:ext cx="7920111" cy="2883877"/>
            <a:chOff x="2247960" y="2332796"/>
            <a:chExt cx="7920111" cy="2883877"/>
          </a:xfrm>
        </p:grpSpPr>
        <p:sp>
          <p:nvSpPr>
            <p:cNvPr id="4" name="Rounded Rectangle 3">
              <a:extLst>
                <a:ext uri="{FF2B5EF4-FFF2-40B4-BE49-F238E27FC236}">
                  <a16:creationId xmlns:a16="http://schemas.microsoft.com/office/drawing/2014/main" id="{E792BE84-3448-2348-B352-CD5BC083E5FD}"/>
                </a:ext>
              </a:extLst>
            </p:cNvPr>
            <p:cNvSpPr/>
            <p:nvPr/>
          </p:nvSpPr>
          <p:spPr>
            <a:xfrm>
              <a:off x="2247960" y="2332796"/>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Fundamentals of IoT &amp; Sensors</a:t>
              </a: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131980" y="3092166"/>
              <a:ext cx="3235570" cy="1083212"/>
            </a:xfrm>
            <a:prstGeom prst="rect">
              <a:avLst/>
            </a:prstGeom>
            <a:noFill/>
          </p:spPr>
        </p:pic>
      </p:gr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Presentation1" id="{24598BE9-BD78-4C1A-902E-0BA786164A9D}" vid="{1551CBD6-114D-4A17-981D-82FBB9D549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CoE PPT Template</Template>
  <TotalTime>605</TotalTime>
  <Words>900</Words>
  <Application>Microsoft Office PowerPoint</Application>
  <PresentationFormat>Widescreen</PresentationFormat>
  <Paragraphs>234</Paragraphs>
  <Slides>16</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BioRhyme ExtraBold</vt:lpstr>
      <vt:lpstr>Calibri</vt:lpstr>
      <vt:lpstr>Cambria Math</vt:lpstr>
      <vt:lpstr>Gill Sans MT</vt:lpstr>
      <vt:lpstr>Poppins</vt:lpstr>
      <vt:lpstr>Times New Roman</vt:lpstr>
      <vt:lpstr>Gallery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A.C. Through R, L &amp; C</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Tammineni Sreelatha</dc:creator>
  <cp:lastModifiedBy>NAMGIRI SURESH</cp:lastModifiedBy>
  <cp:revision>47</cp:revision>
  <dcterms:created xsi:type="dcterms:W3CDTF">2023-05-11T04:21:37Z</dcterms:created>
  <dcterms:modified xsi:type="dcterms:W3CDTF">2024-12-20T05:41:17Z</dcterms:modified>
</cp:coreProperties>
</file>