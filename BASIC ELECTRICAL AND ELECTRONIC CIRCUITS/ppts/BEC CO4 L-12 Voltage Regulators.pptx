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1" r:id="rId2"/>
  </p:sldMasterIdLst>
  <p:notesMasterIdLst>
    <p:notesMasterId r:id="rId39"/>
  </p:notesMasterIdLst>
  <p:handoutMasterIdLst>
    <p:handoutMasterId r:id="rId40"/>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FC6AFB2-BC58-46F6-9EDD-EC479E2CBAEB}" v="2" dt="2024-12-21T01:57:50.00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handoutMaster" Target="handoutMasters/handoutMaster1.xml"/><Relationship Id="rId45"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microsoft.com/office/2015/10/relationships/revisionInfo" Target="revisionInfo.xml"/><Relationship Id="rId20" Type="http://schemas.openxmlformats.org/officeDocument/2006/relationships/slide" Target="slides/slide18.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kshmunaidu Meesala" userId="c563c329e628ac40" providerId="LiveId" clId="{A80509E9-6572-4D22-B705-450DCEFB60AC}"/>
    <pc:docChg chg="delSld">
      <pc:chgData name="Lakshmunaidu Meesala" userId="c563c329e628ac40" providerId="LiveId" clId="{A80509E9-6572-4D22-B705-450DCEFB60AC}" dt="2024-12-21T00:41:25.336" v="0" actId="47"/>
      <pc:docMkLst>
        <pc:docMk/>
      </pc:docMkLst>
      <pc:sldChg chg="del">
        <pc:chgData name="Lakshmunaidu Meesala" userId="c563c329e628ac40" providerId="LiveId" clId="{A80509E9-6572-4D22-B705-450DCEFB60AC}" dt="2024-12-21T00:41:25.336" v="0" actId="47"/>
        <pc:sldMkLst>
          <pc:docMk/>
          <pc:sldMk cId="0" sldId="276"/>
        </pc:sldMkLst>
      </pc:sldChg>
    </pc:docChg>
  </pc:docChgLst>
  <pc:docChgLst>
    <pc:chgData name="Lakshmunaidu Meesala" userId="c563c329e628ac40" providerId="LiveId" clId="{8FC6AFB2-BC58-46F6-9EDD-EC479E2CBAEB}"/>
    <pc:docChg chg="undo custSel modSld">
      <pc:chgData name="Lakshmunaidu Meesala" userId="c563c329e628ac40" providerId="LiveId" clId="{8FC6AFB2-BC58-46F6-9EDD-EC479E2CBAEB}" dt="2024-12-21T02:00:15.006" v="114" actId="14100"/>
      <pc:docMkLst>
        <pc:docMk/>
      </pc:docMkLst>
      <pc:sldChg chg="modSp mod">
        <pc:chgData name="Lakshmunaidu Meesala" userId="c563c329e628ac40" providerId="LiveId" clId="{8FC6AFB2-BC58-46F6-9EDD-EC479E2CBAEB}" dt="2024-12-21T01:57:50.002" v="68" actId="20577"/>
        <pc:sldMkLst>
          <pc:docMk/>
          <pc:sldMk cId="680355262" sldId="260"/>
        </pc:sldMkLst>
        <pc:spChg chg="mod">
          <ac:chgData name="Lakshmunaidu Meesala" userId="c563c329e628ac40" providerId="LiveId" clId="{8FC6AFB2-BC58-46F6-9EDD-EC479E2CBAEB}" dt="2024-12-21T01:57:50.002" v="68" actId="20577"/>
          <ac:spMkLst>
            <pc:docMk/>
            <pc:sldMk cId="680355262" sldId="260"/>
            <ac:spMk id="4" creationId="{39DC903D-9003-4F3D-87E9-EE7D5BEB5D03}"/>
          </ac:spMkLst>
        </pc:spChg>
        <pc:spChg chg="mod">
          <ac:chgData name="Lakshmunaidu Meesala" userId="c563c329e628ac40" providerId="LiveId" clId="{8FC6AFB2-BC58-46F6-9EDD-EC479E2CBAEB}" dt="2024-12-21T01:56:38.759" v="2" actId="14100"/>
          <ac:spMkLst>
            <pc:docMk/>
            <pc:sldMk cId="680355262" sldId="260"/>
            <ac:spMk id="5" creationId="{00000000-0000-0000-0000-000000000000}"/>
          </ac:spMkLst>
        </pc:spChg>
        <pc:spChg chg="mod">
          <ac:chgData name="Lakshmunaidu Meesala" userId="c563c329e628ac40" providerId="LiveId" clId="{8FC6AFB2-BC58-46F6-9EDD-EC479E2CBAEB}" dt="2024-12-21T01:57:46.777" v="67" actId="1035"/>
          <ac:spMkLst>
            <pc:docMk/>
            <pc:sldMk cId="680355262" sldId="260"/>
            <ac:spMk id="26" creationId="{00000000-0000-0000-0000-000000000000}"/>
          </ac:spMkLst>
        </pc:spChg>
      </pc:sldChg>
      <pc:sldChg chg="modSp mod">
        <pc:chgData name="Lakshmunaidu Meesala" userId="c563c329e628ac40" providerId="LiveId" clId="{8FC6AFB2-BC58-46F6-9EDD-EC479E2CBAEB}" dt="2024-12-21T01:57:26.438" v="33" actId="20577"/>
        <pc:sldMkLst>
          <pc:docMk/>
          <pc:sldMk cId="680355262" sldId="261"/>
        </pc:sldMkLst>
        <pc:spChg chg="mod">
          <ac:chgData name="Lakshmunaidu Meesala" userId="c563c329e628ac40" providerId="LiveId" clId="{8FC6AFB2-BC58-46F6-9EDD-EC479E2CBAEB}" dt="2024-12-21T01:57:26.438" v="33" actId="20577"/>
          <ac:spMkLst>
            <pc:docMk/>
            <pc:sldMk cId="680355262" sldId="261"/>
            <ac:spMk id="4" creationId="{39DC903D-9003-4F3D-87E9-EE7D5BEB5D03}"/>
          </ac:spMkLst>
        </pc:spChg>
        <pc:spChg chg="mod">
          <ac:chgData name="Lakshmunaidu Meesala" userId="c563c329e628ac40" providerId="LiveId" clId="{8FC6AFB2-BC58-46F6-9EDD-EC479E2CBAEB}" dt="2024-12-21T01:57:21.746" v="32" actId="1036"/>
          <ac:spMkLst>
            <pc:docMk/>
            <pc:sldMk cId="680355262" sldId="261"/>
            <ac:spMk id="26" creationId="{00000000-0000-0000-0000-000000000000}"/>
          </ac:spMkLst>
        </pc:spChg>
      </pc:sldChg>
      <pc:sldChg chg="modSp mod">
        <pc:chgData name="Lakshmunaidu Meesala" userId="c563c329e628ac40" providerId="LiveId" clId="{8FC6AFB2-BC58-46F6-9EDD-EC479E2CBAEB}" dt="2024-12-21T01:58:29.191" v="73" actId="20577"/>
        <pc:sldMkLst>
          <pc:docMk/>
          <pc:sldMk cId="1300146341" sldId="269"/>
        </pc:sldMkLst>
        <pc:spChg chg="mod">
          <ac:chgData name="Lakshmunaidu Meesala" userId="c563c329e628ac40" providerId="LiveId" clId="{8FC6AFB2-BC58-46F6-9EDD-EC479E2CBAEB}" dt="2024-12-21T01:58:29.191" v="73" actId="20577"/>
          <ac:spMkLst>
            <pc:docMk/>
            <pc:sldMk cId="1300146341" sldId="269"/>
            <ac:spMk id="10" creationId="{00000000-0000-0000-0000-000000000000}"/>
          </ac:spMkLst>
        </pc:spChg>
      </pc:sldChg>
      <pc:sldChg chg="modSp mod">
        <pc:chgData name="Lakshmunaidu Meesala" userId="c563c329e628ac40" providerId="LiveId" clId="{8FC6AFB2-BC58-46F6-9EDD-EC479E2CBAEB}" dt="2024-12-21T02:00:15.006" v="114" actId="14100"/>
        <pc:sldMkLst>
          <pc:docMk/>
          <pc:sldMk cId="126962933" sldId="270"/>
        </pc:sldMkLst>
        <pc:spChg chg="mod">
          <ac:chgData name="Lakshmunaidu Meesala" userId="c563c329e628ac40" providerId="LiveId" clId="{8FC6AFB2-BC58-46F6-9EDD-EC479E2CBAEB}" dt="2024-12-21T01:59:28.585" v="112" actId="1035"/>
          <ac:spMkLst>
            <pc:docMk/>
            <pc:sldMk cId="126962933" sldId="270"/>
            <ac:spMk id="4" creationId="{54D31061-350D-4864-BF25-E3C3C4699CDC}"/>
          </ac:spMkLst>
        </pc:spChg>
        <pc:spChg chg="mod">
          <ac:chgData name="Lakshmunaidu Meesala" userId="c563c329e628ac40" providerId="LiveId" clId="{8FC6AFB2-BC58-46F6-9EDD-EC479E2CBAEB}" dt="2024-12-21T02:00:15.006" v="114" actId="14100"/>
          <ac:spMkLst>
            <pc:docMk/>
            <pc:sldMk cId="126962933" sldId="270"/>
            <ac:spMk id="5" creationId="{00000000-0000-0000-0000-000000000000}"/>
          </ac:spMkLst>
        </pc:spChg>
        <pc:spChg chg="mod">
          <ac:chgData name="Lakshmunaidu Meesala" userId="c563c329e628ac40" providerId="LiveId" clId="{8FC6AFB2-BC58-46F6-9EDD-EC479E2CBAEB}" dt="2024-12-21T01:59:18.516" v="104" actId="1036"/>
          <ac:spMkLst>
            <pc:docMk/>
            <pc:sldMk cId="126962933" sldId="270"/>
            <ac:spMk id="1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a:pPr/>
              <a:t>21-12-2024</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a:pPr/>
              <a:t>21-12-2024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a:pPr/>
              <a:t>3</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a:pPr/>
              <a:t>4</a:t>
            </a:fld>
            <a:endParaRPr lang="en-US"/>
          </a:p>
        </p:txBody>
      </p:sp>
    </p:spTree>
    <p:extLst>
      <p:ext uri="{BB962C8B-B14F-4D97-AF65-F5344CB8AC3E}">
        <p14:creationId xmlns:p14="http://schemas.microsoft.com/office/powerpoint/2010/main" val="32284352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a:t>23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8003808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52" r:id="rId1"/>
    <p:sldLayoutId id="2147483653" r:id="rId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p:cNvPicPr>
            <a:picLocks noChangeAspect="1"/>
          </p:cNvPicPr>
          <p:nvPr userDrawn="1"/>
        </p:nvPicPr>
        <p:blipFill rotWithShape="1">
          <a:blip r:embed="rId5" cstate="print">
            <a:extLst>
              <a:ext uri="{28A0092B-C50C-407E-A947-70E740481C1C}">
                <a14:useLocalDpi xmlns:a14="http://schemas.microsoft.com/office/drawing/2010/main" val="0"/>
              </a:ext>
            </a:extLst>
          </a:blip>
          <a:srcRect l="4360" t="18054" b="50110"/>
          <a:stretch>
            <a:fillRect/>
          </a:stretch>
        </p:blipFill>
        <p:spPr>
          <a:xfrm>
            <a:off x="1451579" y="6373097"/>
            <a:ext cx="2912198" cy="351077"/>
          </a:xfrm>
          <a:prstGeom prst="rect">
            <a:avLst/>
          </a:prstGeom>
        </p:spPr>
      </p:pic>
      <p:pic>
        <p:nvPicPr>
          <p:cNvPr id="14" name="Picture 13" descr="Text&#10;&#10;Description automatically generated with medium confidence"/>
          <p:cNvPicPr>
            <a:picLocks noChangeAspect="1"/>
          </p:cNvPicPr>
          <p:nvPr userDrawn="1"/>
        </p:nvPicPr>
        <p:blipFill rotWithShape="1">
          <a:blip r:embed="rId6" cstate="print">
            <a:extLst>
              <a:ext uri="{28A0092B-C50C-407E-A947-70E740481C1C}">
                <a14:useLocalDpi xmlns:a14="http://schemas.microsoft.com/office/drawing/2010/main" val="0"/>
              </a:ext>
            </a:extLst>
          </a:blip>
          <a:srcRect t="53957" r="20929" b="13232"/>
          <a:stretch>
            <a:fillRect/>
          </a:stretch>
        </p:blipFill>
        <p:spPr>
          <a:xfrm>
            <a:off x="8825503" y="6373097"/>
            <a:ext cx="2229351" cy="335027"/>
          </a:xfrm>
          <a:prstGeom prst="rect">
            <a:avLst/>
          </a:prstGeom>
        </p:spPr>
      </p:pic>
    </p:spTree>
  </p:cSld>
  <p:clrMap bg1="lt1" tx1="dk1" bg2="lt2" tx2="dk2" accent1="accent1" accent2="accent2" accent3="accent3" accent4="accent4" accent5="accent5" accent6="accent6" hlink="hlink" folHlink="folHlink"/>
  <p:sldLayoutIdLst>
    <p:sldLayoutId id="2147483665" r:id="rId1"/>
    <p:sldLayoutId id="2147483666" r:id="rId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cstate="print">
            <a:extLst>
              <a:ext uri="{28A0092B-C50C-407E-A947-70E740481C1C}">
                <a14:useLocalDpi xmlns:a14="http://schemas.microsoft.com/office/drawing/2010/main" val="0"/>
              </a:ext>
            </a:extLst>
          </a:blip>
          <a:stretch>
            <a:fillRect/>
          </a:stretch>
        </p:blipFill>
        <p:spPr>
          <a:xfrm>
            <a:off x="62393" y="201274"/>
            <a:ext cx="6170855" cy="5859870"/>
          </a:xfrm>
          <a:prstGeom prst="rect">
            <a:avLst/>
          </a:prstGeom>
          <a:noFill/>
          <a:ln>
            <a:noFill/>
          </a:ln>
        </p:spPr>
      </p:pic>
      <p:sp>
        <p:nvSpPr>
          <p:cNvPr id="476" name="Google Shape;476;p16"/>
          <p:cNvSpPr txBox="1"/>
          <p:nvPr/>
        </p:nvSpPr>
        <p:spPr>
          <a:xfrm>
            <a:off x="3890513" y="3131884"/>
            <a:ext cx="8301487" cy="196973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800" b="1" dirty="0">
                <a:solidFill>
                  <a:srgbClr val="C00000"/>
                </a:solidFill>
                <a:cs typeface="Poppins" pitchFamily="2" charset="77"/>
              </a:rPr>
              <a:t>BASIC ELECTRICAL &amp; ELCTRONIC CIRCUITS (BEC)</a:t>
            </a:r>
          </a:p>
          <a:p>
            <a:pPr marR="0" lvl="0" indent="0" algn="ctr">
              <a:spcBef>
                <a:spcPts val="0"/>
              </a:spcBef>
              <a:spcAft>
                <a:spcPts val="0"/>
              </a:spcAft>
              <a:buNone/>
            </a:pPr>
            <a:r>
              <a:rPr lang="en-US" sz="2200" b="1" dirty="0">
                <a:solidFill>
                  <a:srgbClr val="C00000"/>
                </a:solidFill>
                <a:cs typeface="Poppins" pitchFamily="2" charset="77"/>
              </a:rPr>
              <a:t>COURSE CODE : 23EC1203</a:t>
            </a:r>
            <a:r>
              <a:rPr lang="en-US" sz="2200" b="1" dirty="0">
                <a:solidFill>
                  <a:srgbClr val="C00000"/>
                </a:solidFill>
                <a:cs typeface="Poppins" pitchFamily="2" charset="77"/>
                <a:sym typeface="BioRhyme ExtraBold"/>
              </a:rPr>
              <a:t> </a:t>
            </a:r>
          </a:p>
          <a:p>
            <a:pPr marR="0" lvl="0" indent="0" algn="ctr">
              <a:spcBef>
                <a:spcPts val="0"/>
              </a:spcBef>
              <a:spcAft>
                <a:spcPts val="0"/>
              </a:spcAft>
              <a:buNone/>
            </a:pPr>
            <a:r>
              <a:rPr lang="en-US" sz="22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2200" b="1" cap="all" dirty="0">
                <a:ln/>
                <a:solidFill>
                  <a:srgbClr val="C00000"/>
                </a:solidFill>
                <a:effectLst/>
                <a:cs typeface="Poppins" panose="00000500000000000000" pitchFamily="2" charset="0"/>
              </a:rPr>
              <a:t>VOLTAGE REGULATORS (LM7805,LM7905)</a:t>
            </a:r>
            <a:endParaRPr lang="en-US" sz="2200" b="1" dirty="0">
              <a:solidFill>
                <a:srgbClr val="C0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BES-II</a:t>
            </a:r>
          </a:p>
        </p:txBody>
      </p:sp>
      <p:sp>
        <p:nvSpPr>
          <p:cNvPr id="8" name="Google Shape;502;p17">
            <a:extLst>
              <a:ext uri="{FF2B5EF4-FFF2-40B4-BE49-F238E27FC236}">
                <a16:creationId xmlns:a16="http://schemas.microsoft.com/office/drawing/2014/main" id="{7153E61F-4441-DBE3-3DFF-6E9EF6C48D23}"/>
              </a:ext>
            </a:extLst>
          </p:cNvPr>
          <p:cNvSpPr/>
          <p:nvPr/>
        </p:nvSpPr>
        <p:spPr>
          <a:xfrm>
            <a:off x="6196263" y="5342021"/>
            <a:ext cx="3138826" cy="685800"/>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b="1" dirty="0">
                <a:solidFill>
                  <a:schemeClr val="lt1"/>
                </a:solidFill>
                <a:ea typeface="Calibri"/>
                <a:cs typeface="Poppins" panose="00000500000000000000" pitchFamily="2" charset="0"/>
                <a:sym typeface="Calibri"/>
              </a:rPr>
              <a:t>CO-4 </a:t>
            </a:r>
          </a:p>
          <a:p>
            <a:pPr marL="0" marR="0" lvl="0" indent="0" algn="ctr" rtl="0">
              <a:spcBef>
                <a:spcPts val="0"/>
              </a:spcBef>
              <a:spcAft>
                <a:spcPts val="0"/>
              </a:spcAft>
              <a:buNone/>
            </a:pPr>
            <a:r>
              <a:rPr lang="en-US" sz="2400" b="1" dirty="0">
                <a:solidFill>
                  <a:schemeClr val="lt1"/>
                </a:solidFill>
                <a:ea typeface="Calibri"/>
                <a:cs typeface="Poppins" panose="00000500000000000000" pitchFamily="2" charset="0"/>
                <a:sym typeface="Calibri"/>
              </a:rPr>
              <a:t>L – 12(Part-1)</a:t>
            </a:r>
            <a:endParaRPr sz="2400" b="1"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830997"/>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Voltage Regulators</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the importance of Voltage Regulators </a:t>
            </a:r>
          </a:p>
          <a:p>
            <a:pPr marL="342900" indent="-342900">
              <a:buAutoNum type="arabicPeriod"/>
            </a:pPr>
            <a:r>
              <a:rPr lang="en-US" sz="1600" b="0" i="0" dirty="0">
                <a:effectLst/>
                <a:latin typeface="Arial" panose="020B0604020202020204" pitchFamily="34" charset="0"/>
              </a:rPr>
              <a:t>Describe the working of voltage regulator</a:t>
            </a:r>
          </a:p>
          <a:p>
            <a:pPr marL="342900" indent="-342900">
              <a:buAutoNum type="arabicPeriod"/>
            </a:pPr>
            <a:r>
              <a:rPr lang="en-US" sz="1600" b="0" i="0" dirty="0">
                <a:effectLst/>
                <a:latin typeface="Arial" panose="020B0604020202020204" pitchFamily="34" charset="0"/>
              </a:rPr>
              <a:t>List out the types of voltage regulators</a:t>
            </a:r>
          </a:p>
          <a:p>
            <a:pPr marL="342900" indent="-342900">
              <a:buAutoNum type="arabicPeriod"/>
            </a:pPr>
            <a:r>
              <a:rPr lang="en-US" sz="1600" b="0" i="0" dirty="0">
                <a:effectLst/>
                <a:latin typeface="Arial"/>
                <a:cs typeface="Arial"/>
              </a:rPr>
              <a:t>Describe the applications of voltage regulators </a:t>
            </a:r>
            <a:endParaRPr lang="en-US" sz="1600" dirty="0">
              <a:latin typeface="Arial"/>
              <a:cs typeface="Arial"/>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voltage regulator</a:t>
            </a:r>
          </a:p>
          <a:p>
            <a:pPr marL="342900" indent="-342900">
              <a:buAutoNum type="arabicPeriod"/>
            </a:pPr>
            <a:r>
              <a:rPr lang="en-US" sz="1600" b="0" i="0" dirty="0">
                <a:effectLst/>
                <a:latin typeface="Arial" panose="020B0604020202020204" pitchFamily="34" charset="0"/>
              </a:rPr>
              <a:t>Describe the working operation of voltage regulators (LM 7805, LM 7905)</a:t>
            </a:r>
          </a:p>
          <a:p>
            <a:pPr marL="342900" indent="-342900">
              <a:buAutoNum type="arabicPeriod"/>
            </a:pPr>
            <a:r>
              <a:rPr lang="en-US" sz="1600" dirty="0">
                <a:latin typeface="Arial" panose="020B0604020202020204" pitchFamily="34" charset="0"/>
              </a:rPr>
              <a:t>Summarize the applications of voltage regulators (LM 7805, </a:t>
            </a:r>
            <a:r>
              <a:rPr lang="en-US" sz="1600">
                <a:latin typeface="Arial" panose="020B0604020202020204" pitchFamily="34" charset="0"/>
              </a:rPr>
              <a:t>LM 7905)</a:t>
            </a:r>
            <a:endParaRPr lang="en-US" sz="1600" dirty="0">
              <a:latin typeface="Poppins" panose="00000500000000000000" pitchFamily="2" charset="0"/>
              <a:cs typeface="Poppins" panose="00000500000000000000" pitchFamily="2" charset="0"/>
            </a:endParaRPr>
          </a:p>
        </p:txBody>
      </p:sp>
    </p:spTree>
    <p:extLst>
      <p:ext uri="{BB962C8B-B14F-4D97-AF65-F5344CB8AC3E}">
        <p14:creationId xmlns:p14="http://schemas.microsoft.com/office/powerpoint/2010/main" val="138860798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881149" y="117635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INTRODUCTION </a:t>
            </a:r>
          </a:p>
        </p:txBody>
      </p:sp>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TextBox 3"/>
          <p:cNvSpPr txBox="1"/>
          <p:nvPr/>
        </p:nvSpPr>
        <p:spPr>
          <a:xfrm>
            <a:off x="1203158" y="2064525"/>
            <a:ext cx="10407315" cy="4247317"/>
          </a:xfrm>
          <a:prstGeom prst="rect">
            <a:avLst/>
          </a:prstGeom>
          <a:noFill/>
        </p:spPr>
        <p:txBody>
          <a:bodyPr wrap="square" rtlCol="0">
            <a:spAutoFit/>
          </a:bodyPr>
          <a:lstStyle/>
          <a:p>
            <a:pPr>
              <a:lnSpc>
                <a:spcPct val="150000"/>
              </a:lnSpc>
            </a:pPr>
            <a:r>
              <a:rPr lang="en-US" sz="2000" b="1" dirty="0"/>
              <a:t>Introduction</a:t>
            </a:r>
          </a:p>
          <a:p>
            <a:pPr>
              <a:lnSpc>
                <a:spcPct val="200000"/>
              </a:lnSpc>
              <a:buFont typeface="Wingdings" pitchFamily="2" charset="2"/>
              <a:buChar char="Ø"/>
            </a:pPr>
            <a:r>
              <a:rPr lang="en-US" dirty="0"/>
              <a:t> 	</a:t>
            </a:r>
            <a:r>
              <a:rPr lang="en-US" sz="2000" dirty="0"/>
              <a:t>Voltage Regulator is an electronic device or circuit that maintains a constant output voltage 	level  irrespective of changes in the input voltage, load current, or temperature</a:t>
            </a:r>
          </a:p>
          <a:p>
            <a:pPr>
              <a:lnSpc>
                <a:spcPct val="200000"/>
              </a:lnSpc>
              <a:buFont typeface="Wingdings" pitchFamily="2" charset="2"/>
              <a:buChar char="Ø"/>
            </a:pPr>
            <a:r>
              <a:rPr lang="en-US" sz="2000" dirty="0"/>
              <a:t> 	Voltage regulator ensures a stable and reliable power supply for electronic devices and circuits</a:t>
            </a:r>
          </a:p>
          <a:p>
            <a:pPr>
              <a:lnSpc>
                <a:spcPct val="200000"/>
              </a:lnSpc>
              <a:buFont typeface="Wingdings" pitchFamily="2" charset="2"/>
              <a:buChar char="Ø"/>
            </a:pPr>
            <a:r>
              <a:rPr lang="en-US" sz="2000" dirty="0"/>
              <a:t> 	Generally,  Voltage regulators are commonly used for laboratory-type power supplies</a:t>
            </a:r>
          </a:p>
          <a:p>
            <a:pPr>
              <a:lnSpc>
                <a:spcPct val="200000"/>
              </a:lnSpc>
              <a:buFont typeface="Wingdings" pitchFamily="2" charset="2"/>
              <a:buChar char="Ø"/>
            </a:pPr>
            <a:r>
              <a:rPr lang="en-US" sz="2000" dirty="0"/>
              <a:t> 	Voltage regulators are used in a wide range of applications, including power supplies for 	electronic devices, automotive systems, industrial equipment, and more.</a:t>
            </a: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881149" y="117635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Why Voltage Regulation ?? </a:t>
            </a:r>
          </a:p>
        </p:txBody>
      </p:sp>
      <p:sp>
        <p:nvSpPr>
          <p:cNvPr id="53" name="TextBox 52"/>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TextBox 3"/>
          <p:cNvSpPr txBox="1"/>
          <p:nvPr/>
        </p:nvSpPr>
        <p:spPr>
          <a:xfrm>
            <a:off x="1203158" y="2064525"/>
            <a:ext cx="10407315" cy="4201150"/>
          </a:xfrm>
          <a:prstGeom prst="rect">
            <a:avLst/>
          </a:prstGeom>
          <a:noFill/>
        </p:spPr>
        <p:txBody>
          <a:bodyPr wrap="square" rtlCol="0">
            <a:spAutoFit/>
          </a:bodyPr>
          <a:lstStyle/>
          <a:p>
            <a:pPr>
              <a:lnSpc>
                <a:spcPct val="150000"/>
              </a:lnSpc>
            </a:pPr>
            <a:r>
              <a:rPr lang="en-US" b="1" dirty="0"/>
              <a:t>Necessity of  Voltage Regulation</a:t>
            </a:r>
          </a:p>
          <a:p>
            <a:pPr>
              <a:lnSpc>
                <a:spcPct val="150000"/>
              </a:lnSpc>
              <a:buFont typeface="Wingdings" pitchFamily="2" charset="2"/>
              <a:buChar char="§"/>
            </a:pPr>
            <a:r>
              <a:rPr lang="en-US" dirty="0"/>
              <a:t> 	</a:t>
            </a:r>
            <a:r>
              <a:rPr lang="en-US" sz="2000" dirty="0"/>
              <a:t>Electronic devices often require a specific and stable voltage to operate efficiently</a:t>
            </a:r>
          </a:p>
          <a:p>
            <a:pPr>
              <a:lnSpc>
                <a:spcPct val="150000"/>
              </a:lnSpc>
              <a:buFont typeface="Wingdings" pitchFamily="2" charset="2"/>
              <a:buChar char="§"/>
            </a:pPr>
            <a:r>
              <a:rPr lang="en-US" sz="2000" dirty="0"/>
              <a:t> 	Variations in voltage can lead to malfunctions, data loss or damage to sensitive components</a:t>
            </a:r>
          </a:p>
          <a:p>
            <a:pPr>
              <a:lnSpc>
                <a:spcPct val="150000"/>
              </a:lnSpc>
              <a:buFont typeface="Wingdings" pitchFamily="2" charset="2"/>
              <a:buChar char="§"/>
            </a:pPr>
            <a:r>
              <a:rPr lang="en-US" sz="2000" dirty="0"/>
              <a:t> 	Many electrical devices are designed to operate optimally within a specific voltage range.  	Operating outside this range may lead to increased energy consumption and reduced efficiency. 	Voltage regulation helps maintain the voltage within the specified limits, promoting energy 	efficiency in electrical systems.</a:t>
            </a:r>
          </a:p>
          <a:p>
            <a:pPr>
              <a:lnSpc>
                <a:spcPct val="150000"/>
              </a:lnSpc>
              <a:buFont typeface="Wingdings" pitchFamily="2" charset="2"/>
              <a:buChar char="§"/>
            </a:pPr>
            <a:r>
              <a:rPr lang="en-US" sz="2000" dirty="0"/>
              <a:t> 	 Voltage regulators help to maintain a consistent voltage level, ensuring that the connected 	devices receive  power  that is needed for proper functioning</a:t>
            </a:r>
          </a:p>
        </p:txBody>
      </p:sp>
    </p:spTree>
    <p:extLst>
      <p:ext uri="{BB962C8B-B14F-4D97-AF65-F5344CB8AC3E}">
        <p14:creationId xmlns:p14="http://schemas.microsoft.com/office/powerpoint/2010/main" val="4069052342"/>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128378" y="1046747"/>
            <a:ext cx="6201295" cy="4606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Types of  Voltage Regulators</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6" name="TextBox 25"/>
          <p:cNvSpPr txBox="1"/>
          <p:nvPr/>
        </p:nvSpPr>
        <p:spPr>
          <a:xfrm>
            <a:off x="1139483" y="2295952"/>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1106904" y="1787798"/>
            <a:ext cx="10392107" cy="4500335"/>
          </a:xfrm>
          <a:prstGeom prst="rect">
            <a:avLst/>
          </a:prstGeom>
          <a:noFill/>
        </p:spPr>
        <p:txBody>
          <a:bodyPr wrap="square" rtlCol="0">
            <a:spAutoFit/>
          </a:bodyPr>
          <a:lstStyle/>
          <a:p>
            <a:r>
              <a:rPr lang="en-US" sz="2000" b="1" dirty="0"/>
              <a:t>   Types of  Voltage Regulators  a</a:t>
            </a:r>
            <a:r>
              <a:rPr lang="en-US" sz="2000" b="1" i="1" dirty="0"/>
              <a:t>ccording to their working principle</a:t>
            </a:r>
          </a:p>
          <a:p>
            <a:pPr>
              <a:lnSpc>
                <a:spcPct val="150000"/>
              </a:lnSpc>
            </a:pPr>
            <a:r>
              <a:rPr lang="en-US" sz="2000" dirty="0"/>
              <a:t>	</a:t>
            </a:r>
            <a:r>
              <a:rPr lang="en-US" sz="2000" b="1" i="1" dirty="0"/>
              <a:t>Linear Voltage Regulators</a:t>
            </a:r>
          </a:p>
          <a:p>
            <a:pPr>
              <a:lnSpc>
                <a:spcPct val="150000"/>
              </a:lnSpc>
            </a:pPr>
            <a:r>
              <a:rPr lang="en-US" sz="2000" b="1" dirty="0"/>
              <a:t>		</a:t>
            </a:r>
            <a:r>
              <a:rPr lang="en-US" sz="2000" b="1" dirty="0">
                <a:sym typeface="Wingdings" pitchFamily="2" charset="2"/>
              </a:rPr>
              <a:t></a:t>
            </a:r>
            <a:r>
              <a:rPr lang="en-US" sz="2000" b="1" dirty="0"/>
              <a:t>  </a:t>
            </a:r>
            <a:r>
              <a:rPr lang="en-US" sz="2000" dirty="0"/>
              <a:t>These regulators use a series pass transistor to adjust the output voltage.</a:t>
            </a:r>
          </a:p>
          <a:p>
            <a:pPr>
              <a:lnSpc>
                <a:spcPct val="150000"/>
              </a:lnSpc>
            </a:pPr>
            <a:r>
              <a:rPr lang="en-US" sz="2000" b="1" dirty="0"/>
              <a:t>		</a:t>
            </a:r>
            <a:r>
              <a:rPr lang="en-US" sz="2000" b="1" dirty="0">
                <a:sym typeface="Wingdings" pitchFamily="2" charset="2"/>
              </a:rPr>
              <a:t></a:t>
            </a:r>
            <a:r>
              <a:rPr lang="en-US" sz="2000" b="1" dirty="0"/>
              <a:t>  </a:t>
            </a:r>
            <a:r>
              <a:rPr lang="en-US" sz="2000" dirty="0"/>
              <a:t>Simple, easy to design, and are suitable for low to moderate power applications</a:t>
            </a:r>
          </a:p>
          <a:p>
            <a:pPr>
              <a:lnSpc>
                <a:spcPct val="150000"/>
              </a:lnSpc>
            </a:pPr>
            <a:r>
              <a:rPr lang="en-US" sz="2000" b="1" dirty="0"/>
              <a:t>		</a:t>
            </a:r>
            <a:r>
              <a:rPr lang="en-US" sz="2000" b="1" dirty="0">
                <a:sym typeface="Wingdings" pitchFamily="2" charset="2"/>
              </a:rPr>
              <a:t></a:t>
            </a:r>
            <a:r>
              <a:rPr lang="en-US" sz="2000" b="1" dirty="0"/>
              <a:t>  </a:t>
            </a:r>
            <a:r>
              <a:rPr lang="en-US" sz="2000" dirty="0"/>
              <a:t>Limited efficiency and may often generate heat</a:t>
            </a:r>
          </a:p>
          <a:p>
            <a:pPr>
              <a:lnSpc>
                <a:spcPct val="150000"/>
              </a:lnSpc>
            </a:pPr>
            <a:r>
              <a:rPr lang="en-US" sz="2000" b="1" dirty="0"/>
              <a:t>	</a:t>
            </a:r>
            <a:r>
              <a:rPr lang="en-US" sz="2000" b="1" i="1" dirty="0"/>
              <a:t>Switching Voltage Regulators</a:t>
            </a:r>
          </a:p>
          <a:p>
            <a:pPr>
              <a:lnSpc>
                <a:spcPct val="150000"/>
              </a:lnSpc>
            </a:pPr>
            <a:r>
              <a:rPr lang="en-US" sz="2000" b="1" dirty="0"/>
              <a:t>		</a:t>
            </a:r>
            <a:r>
              <a:rPr lang="en-US" sz="2000" b="1" dirty="0">
                <a:sym typeface="Wingdings" pitchFamily="2" charset="2"/>
              </a:rPr>
              <a:t>  </a:t>
            </a:r>
            <a:r>
              <a:rPr lang="en-US" sz="2000" dirty="0"/>
              <a:t>These regulators switch the input voltage ON and OFF rapidly and use inductors and 				capacitors to filter the output</a:t>
            </a:r>
          </a:p>
          <a:p>
            <a:pPr>
              <a:lnSpc>
                <a:spcPct val="150000"/>
              </a:lnSpc>
            </a:pPr>
            <a:r>
              <a:rPr lang="en-US" sz="2000" dirty="0"/>
              <a:t>		</a:t>
            </a:r>
            <a:r>
              <a:rPr lang="en-US" sz="2000" dirty="0">
                <a:sym typeface="Wingdings" pitchFamily="2" charset="2"/>
              </a:rPr>
              <a:t>  </a:t>
            </a:r>
            <a:r>
              <a:rPr lang="en-US" sz="2000" dirty="0"/>
              <a:t>More complex, and are suitable for high power applications</a:t>
            </a:r>
          </a:p>
          <a:p>
            <a:pPr>
              <a:lnSpc>
                <a:spcPct val="150000"/>
              </a:lnSpc>
            </a:pPr>
            <a:r>
              <a:rPr lang="en-US" sz="2000" dirty="0"/>
              <a:t>		</a:t>
            </a:r>
            <a:r>
              <a:rPr lang="en-US" sz="2000" dirty="0">
                <a:sym typeface="Wingdings" pitchFamily="2" charset="2"/>
              </a:rPr>
              <a:t>  O</a:t>
            </a:r>
            <a:r>
              <a:rPr lang="en-US" sz="2000" dirty="0"/>
              <a:t>ffer higher efficiency </a:t>
            </a:r>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128378" y="1046747"/>
            <a:ext cx="6201295" cy="460662"/>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Types of  Voltage Regulators (Contd..)</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6" name="TextBox 25"/>
          <p:cNvSpPr txBox="1"/>
          <p:nvPr/>
        </p:nvSpPr>
        <p:spPr>
          <a:xfrm>
            <a:off x="1139483" y="2037156"/>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1106904" y="1787797"/>
            <a:ext cx="10166683" cy="3323987"/>
          </a:xfrm>
          <a:prstGeom prst="rect">
            <a:avLst/>
          </a:prstGeom>
          <a:noFill/>
        </p:spPr>
        <p:txBody>
          <a:bodyPr wrap="square" rtlCol="0">
            <a:spAutoFit/>
          </a:bodyPr>
          <a:lstStyle/>
          <a:p>
            <a:pPr>
              <a:lnSpc>
                <a:spcPct val="150000"/>
              </a:lnSpc>
            </a:pPr>
            <a:r>
              <a:rPr lang="en-US" b="1" dirty="0"/>
              <a:t>   </a:t>
            </a:r>
            <a:r>
              <a:rPr lang="en-US" sz="2000" b="1" dirty="0"/>
              <a:t>Types of  Voltage Regulators a</a:t>
            </a:r>
            <a:r>
              <a:rPr lang="en-US" sz="2000" b="1" i="1" dirty="0"/>
              <a:t>ccording to the type of voltage generated</a:t>
            </a:r>
            <a:endParaRPr lang="en-US" b="1" i="1" dirty="0"/>
          </a:p>
          <a:p>
            <a:pPr>
              <a:lnSpc>
                <a:spcPct val="150000"/>
              </a:lnSpc>
            </a:pPr>
            <a:r>
              <a:rPr lang="en-US" dirty="0"/>
              <a:t>	</a:t>
            </a:r>
            <a:r>
              <a:rPr lang="en-US" sz="2000" b="1" i="1" dirty="0"/>
              <a:t>Positive Voltage Regulators </a:t>
            </a:r>
          </a:p>
          <a:p>
            <a:pPr>
              <a:lnSpc>
                <a:spcPct val="150000"/>
              </a:lnSpc>
            </a:pPr>
            <a:r>
              <a:rPr lang="en-US" sz="2000" b="1" i="1" dirty="0"/>
              <a:t>	</a:t>
            </a:r>
            <a:r>
              <a:rPr lang="en-US" sz="2000" dirty="0"/>
              <a:t>Provides regulated positive voltage </a:t>
            </a:r>
          </a:p>
          <a:p>
            <a:pPr>
              <a:lnSpc>
                <a:spcPct val="150000"/>
              </a:lnSpc>
            </a:pPr>
            <a:r>
              <a:rPr lang="en-US" sz="2000" dirty="0"/>
              <a:t>	LM78XX series (e.g., LM7805 for +5V)</a:t>
            </a:r>
          </a:p>
          <a:p>
            <a:pPr>
              <a:lnSpc>
                <a:spcPct val="150000"/>
              </a:lnSpc>
            </a:pPr>
            <a:r>
              <a:rPr lang="en-US" sz="2000" b="1" i="1" dirty="0"/>
              <a:t>	Negative Voltage Regulators</a:t>
            </a:r>
          </a:p>
          <a:p>
            <a:pPr>
              <a:lnSpc>
                <a:spcPct val="150000"/>
              </a:lnSpc>
            </a:pPr>
            <a:r>
              <a:rPr lang="en-US" sz="2000" b="1" i="1" dirty="0"/>
              <a:t>	</a:t>
            </a:r>
            <a:r>
              <a:rPr lang="en-US" sz="2000" dirty="0"/>
              <a:t> Provides regulated negative voltage </a:t>
            </a:r>
          </a:p>
          <a:p>
            <a:pPr>
              <a:lnSpc>
                <a:spcPct val="150000"/>
              </a:lnSpc>
            </a:pPr>
            <a:r>
              <a:rPr lang="en-US" sz="2000" dirty="0"/>
              <a:t>	LM79XX series (e.g., LM7905 for -5V)</a:t>
            </a:r>
            <a:endParaRPr lang="en-US" sz="2400" dirty="0"/>
          </a:p>
        </p:txBody>
      </p:sp>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2995352" y="111563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Advantages, Disadvantages, and Applications</a:t>
            </a:r>
          </a:p>
        </p:txBody>
      </p:sp>
      <p:sp>
        <p:nvSpPr>
          <p:cNvPr id="13" name="TextBox 12"/>
          <p:cNvSpPr txBox="1"/>
          <p:nvPr/>
        </p:nvSpPr>
        <p:spPr>
          <a:xfrm>
            <a:off x="1083212" y="1672389"/>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1130969" y="1720516"/>
            <a:ext cx="10214810" cy="4662815"/>
          </a:xfrm>
          <a:prstGeom prst="rect">
            <a:avLst/>
          </a:prstGeom>
          <a:noFill/>
        </p:spPr>
        <p:txBody>
          <a:bodyPr wrap="square" rtlCol="0">
            <a:spAutoFit/>
          </a:bodyPr>
          <a:lstStyle/>
          <a:p>
            <a:pPr>
              <a:lnSpc>
                <a:spcPct val="150000"/>
              </a:lnSpc>
            </a:pPr>
            <a:r>
              <a:rPr lang="en-US" b="1" dirty="0"/>
              <a:t>Advantages</a:t>
            </a:r>
            <a:endParaRPr lang="en-US" dirty="0"/>
          </a:p>
          <a:p>
            <a:pPr>
              <a:lnSpc>
                <a:spcPct val="150000"/>
              </a:lnSpc>
              <a:buFont typeface="Arial" pitchFamily="34" charset="0"/>
              <a:buChar char="•"/>
            </a:pPr>
            <a:r>
              <a:rPr lang="en-US" dirty="0"/>
              <a:t> 	Higher efficiency compared to linear regulators, especially for high voltage differences</a:t>
            </a:r>
          </a:p>
          <a:p>
            <a:pPr>
              <a:lnSpc>
                <a:spcPct val="150000"/>
              </a:lnSpc>
              <a:buFont typeface="Arial" pitchFamily="34" charset="0"/>
              <a:buChar char="•"/>
            </a:pPr>
            <a:r>
              <a:rPr lang="en-US" dirty="0"/>
              <a:t> 	Suitable for a wide range of input voltages</a:t>
            </a:r>
          </a:p>
          <a:p>
            <a:pPr>
              <a:lnSpc>
                <a:spcPct val="150000"/>
              </a:lnSpc>
              <a:buFont typeface="Arial" pitchFamily="34" charset="0"/>
              <a:buChar char="•"/>
            </a:pPr>
            <a:r>
              <a:rPr lang="en-US" dirty="0"/>
              <a:t> 	Reduced heat dissipation</a:t>
            </a:r>
          </a:p>
          <a:p>
            <a:pPr>
              <a:lnSpc>
                <a:spcPct val="150000"/>
              </a:lnSpc>
            </a:pPr>
            <a:r>
              <a:rPr lang="en-US" b="1" dirty="0"/>
              <a:t>Disadvantages</a:t>
            </a:r>
          </a:p>
          <a:p>
            <a:pPr>
              <a:lnSpc>
                <a:spcPct val="150000"/>
              </a:lnSpc>
              <a:buFont typeface="Arial" pitchFamily="34" charset="0"/>
              <a:buChar char="•"/>
            </a:pPr>
            <a:r>
              <a:rPr lang="en-US" dirty="0"/>
              <a:t> 	More complex design</a:t>
            </a:r>
          </a:p>
          <a:p>
            <a:pPr>
              <a:lnSpc>
                <a:spcPct val="150000"/>
              </a:lnSpc>
              <a:buFont typeface="Arial" pitchFamily="34" charset="0"/>
              <a:buChar char="•"/>
            </a:pPr>
            <a:r>
              <a:rPr lang="en-US" dirty="0"/>
              <a:t> 	Output may have higher noise compared to linear regulators</a:t>
            </a:r>
          </a:p>
          <a:p>
            <a:pPr>
              <a:lnSpc>
                <a:spcPct val="150000"/>
              </a:lnSpc>
            </a:pPr>
            <a:r>
              <a:rPr lang="en-US" b="1" dirty="0"/>
              <a:t>Applications</a:t>
            </a:r>
          </a:p>
          <a:p>
            <a:pPr>
              <a:lnSpc>
                <a:spcPct val="150000"/>
              </a:lnSpc>
              <a:buFont typeface="Arial" pitchFamily="34" charset="0"/>
              <a:buChar char="•"/>
            </a:pPr>
            <a:r>
              <a:rPr lang="en-US" dirty="0"/>
              <a:t> 	Battery-powered devices</a:t>
            </a:r>
          </a:p>
          <a:p>
            <a:pPr>
              <a:lnSpc>
                <a:spcPct val="150000"/>
              </a:lnSpc>
              <a:buFont typeface="Arial" pitchFamily="34" charset="0"/>
              <a:buChar char="•"/>
            </a:pPr>
            <a:r>
              <a:rPr lang="en-US" dirty="0"/>
              <a:t> 	High-power applications (e.g., computers, power supplies)</a:t>
            </a:r>
          </a:p>
          <a:p>
            <a:pPr>
              <a:lnSpc>
                <a:spcPct val="150000"/>
              </a:lnSpc>
              <a:buFont typeface="Arial" pitchFamily="34" charset="0"/>
              <a:buChar char="•"/>
            </a:pPr>
            <a:r>
              <a:rPr lang="en-US" dirty="0"/>
              <a:t> 	Automotive electronics	.</a:t>
            </a:r>
          </a:p>
        </p:txBody>
      </p:sp>
    </p:spTree>
    <p:extLst>
      <p:ext uri="{BB962C8B-B14F-4D97-AF65-F5344CB8AC3E}">
        <p14:creationId xmlns:p14="http://schemas.microsoft.com/office/powerpoint/2010/main" val="338542430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VOLTAGE REGULATOR (LM 7805)</a:t>
            </a:r>
          </a:p>
        </p:txBody>
      </p:sp>
      <p:pic>
        <p:nvPicPr>
          <p:cNvPr id="1026" name="Picture 2"/>
          <p:cNvPicPr>
            <a:picLocks noChangeAspect="1" noChangeArrowheads="1"/>
          </p:cNvPicPr>
          <p:nvPr/>
        </p:nvPicPr>
        <p:blipFill>
          <a:blip r:embed="rId2" cstate="print"/>
          <a:srcRect/>
          <a:stretch>
            <a:fillRect/>
          </a:stretch>
        </p:blipFill>
        <p:spPr bwMode="auto">
          <a:xfrm>
            <a:off x="7249026" y="2188745"/>
            <a:ext cx="4648200" cy="3009900"/>
          </a:xfrm>
          <a:prstGeom prst="rect">
            <a:avLst/>
          </a:prstGeom>
          <a:noFill/>
          <a:ln w="9525">
            <a:noFill/>
            <a:miter lim="800000"/>
            <a:headEnd/>
            <a:tailEnd/>
          </a:ln>
        </p:spPr>
      </p:pic>
      <p:sp>
        <p:nvSpPr>
          <p:cNvPr id="4" name="TextBox 3"/>
          <p:cNvSpPr txBox="1"/>
          <p:nvPr/>
        </p:nvSpPr>
        <p:spPr>
          <a:xfrm>
            <a:off x="505325" y="1876925"/>
            <a:ext cx="6617369" cy="3600986"/>
          </a:xfrm>
          <a:prstGeom prst="rect">
            <a:avLst/>
          </a:prstGeom>
          <a:noFill/>
        </p:spPr>
        <p:txBody>
          <a:bodyPr wrap="square" rtlCol="0">
            <a:spAutoFit/>
          </a:bodyPr>
          <a:lstStyle/>
          <a:p>
            <a:pPr>
              <a:lnSpc>
                <a:spcPct val="150000"/>
              </a:lnSpc>
            </a:pPr>
            <a:r>
              <a:rPr lang="en-IN" sz="1400" b="1" u="sng" dirty="0"/>
              <a:t>PIN Description</a:t>
            </a:r>
            <a:endParaRPr lang="en-US" sz="1400" dirty="0"/>
          </a:p>
          <a:p>
            <a:pPr>
              <a:lnSpc>
                <a:spcPct val="150000"/>
              </a:lnSpc>
            </a:pPr>
            <a:r>
              <a:rPr lang="en-IN" sz="1400" b="1" dirty="0"/>
              <a:t>PIN 1 (INPUT)</a:t>
            </a:r>
            <a:endParaRPr lang="en-US" sz="1400" dirty="0"/>
          </a:p>
          <a:p>
            <a:pPr algn="just">
              <a:lnSpc>
                <a:spcPct val="150000"/>
              </a:lnSpc>
            </a:pPr>
            <a:r>
              <a:rPr lang="en-IN" sz="1600" dirty="0"/>
              <a:t>Input pin gives the input voltage, within the range of 7V to 35V.  An unregulated voltage is applied to the input pin for regulation. The maximum efficiency is achieved for an input of 7.2V</a:t>
            </a:r>
            <a:endParaRPr lang="en-US" sz="1600" dirty="0"/>
          </a:p>
          <a:p>
            <a:pPr>
              <a:lnSpc>
                <a:spcPct val="150000"/>
              </a:lnSpc>
            </a:pPr>
            <a:r>
              <a:rPr lang="en-IN" sz="1400" b="1" dirty="0"/>
              <a:t>PIN 2 (GROUND)</a:t>
            </a:r>
            <a:endParaRPr lang="en-US" sz="1400" dirty="0"/>
          </a:p>
          <a:p>
            <a:pPr>
              <a:lnSpc>
                <a:spcPct val="150000"/>
              </a:lnSpc>
            </a:pPr>
            <a:r>
              <a:rPr lang="en-IN" sz="1600" dirty="0"/>
              <a:t>This pin is connected to ground. For the input and output, this pin is equal to neutral voltage (0V)</a:t>
            </a:r>
          </a:p>
          <a:p>
            <a:pPr>
              <a:lnSpc>
                <a:spcPct val="150000"/>
              </a:lnSpc>
            </a:pPr>
            <a:r>
              <a:rPr lang="en-IN" sz="1400" b="1" dirty="0"/>
              <a:t>PIN 3 (OUTPUT)</a:t>
            </a:r>
            <a:endParaRPr lang="en-US" sz="1400" dirty="0"/>
          </a:p>
          <a:p>
            <a:pPr>
              <a:lnSpc>
                <a:spcPct val="150000"/>
              </a:lnSpc>
            </a:pPr>
            <a:r>
              <a:rPr lang="en-IN" sz="1600" dirty="0"/>
              <a:t>Output pin is used to receive the regulated output</a:t>
            </a:r>
            <a:r>
              <a:rPr lang="en-IN" sz="1400" dirty="0"/>
              <a:t>. </a:t>
            </a:r>
            <a:endParaRPr lang="en-US" dirty="0"/>
          </a:p>
        </p:txBody>
      </p:sp>
      <p:sp>
        <p:nvSpPr>
          <p:cNvPr id="7" name="TextBox 6"/>
          <p:cNvSpPr txBox="1"/>
          <p:nvPr/>
        </p:nvSpPr>
        <p:spPr>
          <a:xfrm>
            <a:off x="7688179" y="5269831"/>
            <a:ext cx="4018547" cy="646331"/>
          </a:xfrm>
          <a:prstGeom prst="rect">
            <a:avLst/>
          </a:prstGeom>
          <a:noFill/>
        </p:spPr>
        <p:txBody>
          <a:bodyPr wrap="square" rtlCol="0">
            <a:spAutoFit/>
          </a:bodyPr>
          <a:lstStyle/>
          <a:p>
            <a:r>
              <a:rPr lang="en-US" dirty="0"/>
              <a:t>Fig.1 Representation of LM 7805 Voltage Regulator</a:t>
            </a:r>
          </a:p>
        </p:txBody>
      </p:sp>
    </p:spTree>
    <p:extLst>
      <p:ext uri="{BB962C8B-B14F-4D97-AF65-F5344CB8AC3E}">
        <p14:creationId xmlns:p14="http://schemas.microsoft.com/office/powerpoint/2010/main" val="22282696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a:pPr/>
              <a:t>9</a:t>
            </a:fld>
            <a:endParaRPr lang="en-IN"/>
          </a:p>
        </p:txBody>
      </p:sp>
      <p:sp>
        <p:nvSpPr>
          <p:cNvPr id="5" name="Rounded Rectangle 17">
            <a:extLst>
              <a:ext uri="{FF2B5EF4-FFF2-40B4-BE49-F238E27FC236}">
                <a16:creationId xmlns:a16="http://schemas.microsoft.com/office/drawing/2014/main" id="{0F2E30D4-6F86-49D1-9276-85CE0E9B3E3E}"/>
              </a:ext>
            </a:extLst>
          </p:cNvPr>
          <p:cNvSpPr>
            <a:spLocks noGrp="1"/>
          </p:cNvSpPr>
          <p:nvPr>
            <p:ph type="title"/>
          </p:nvPr>
        </p:nvSpPr>
        <p:spPr>
          <a:xfrm>
            <a:off x="1451579" y="804520"/>
            <a:ext cx="9603275" cy="69942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VOLTAGE REGULATOR (LM 7805) Contd..</a:t>
            </a:r>
          </a:p>
        </p:txBody>
      </p:sp>
      <p:sp>
        <p:nvSpPr>
          <p:cNvPr id="7" name="TextBox 6"/>
          <p:cNvSpPr txBox="1"/>
          <p:nvPr/>
        </p:nvSpPr>
        <p:spPr>
          <a:xfrm>
            <a:off x="733926" y="1684421"/>
            <a:ext cx="11213432" cy="4247317"/>
          </a:xfrm>
          <a:prstGeom prst="rect">
            <a:avLst/>
          </a:prstGeom>
          <a:noFill/>
        </p:spPr>
        <p:txBody>
          <a:bodyPr wrap="square" rtlCol="0">
            <a:spAutoFit/>
          </a:bodyPr>
          <a:lstStyle/>
          <a:p>
            <a:pPr>
              <a:lnSpc>
                <a:spcPct val="150000"/>
              </a:lnSpc>
            </a:pPr>
            <a:endParaRPr lang="en-US" sz="2000" b="1" dirty="0"/>
          </a:p>
          <a:p>
            <a:pPr>
              <a:lnSpc>
                <a:spcPct val="150000"/>
              </a:lnSpc>
            </a:pPr>
            <a:r>
              <a:rPr lang="en-US" sz="2000" b="1" dirty="0"/>
              <a:t>Characteristic Features</a:t>
            </a:r>
          </a:p>
          <a:p>
            <a:pPr algn="just">
              <a:lnSpc>
                <a:spcPct val="150000"/>
              </a:lnSpc>
            </a:pPr>
            <a:r>
              <a:rPr lang="en-US" sz="2000" b="1" dirty="0"/>
              <a:t>Output Voltage:</a:t>
            </a:r>
            <a:r>
              <a:rPr lang="en-US" sz="2000" dirty="0"/>
              <a:t> The LM7805 is designed to provide a fixed positive output voltage of +5V</a:t>
            </a:r>
          </a:p>
          <a:p>
            <a:pPr algn="just">
              <a:lnSpc>
                <a:spcPct val="150000"/>
              </a:lnSpc>
            </a:pPr>
            <a:r>
              <a:rPr lang="en-US" sz="2000" b="1" dirty="0"/>
              <a:t>Input Voltage Range:</a:t>
            </a:r>
            <a:r>
              <a:rPr lang="en-US" sz="2000" dirty="0"/>
              <a:t> It can accept an input voltage ranging from 7 volts to 35 volts, making it suitable for regulating higher voltage sources down to +5V.</a:t>
            </a:r>
          </a:p>
          <a:p>
            <a:pPr algn="just">
              <a:lnSpc>
                <a:spcPct val="150000"/>
              </a:lnSpc>
            </a:pPr>
            <a:r>
              <a:rPr lang="en-US" sz="2000" b="1" dirty="0"/>
              <a:t>Output Current Capacity:</a:t>
            </a:r>
            <a:r>
              <a:rPr lang="en-US" sz="2000" dirty="0"/>
              <a:t> The LM7805 is available in different variants with varying current capacities. Common variants include LM7805, LM7805C, and LM7805CT, which can handle currents up to 1A.</a:t>
            </a:r>
          </a:p>
          <a:p>
            <a:pPr algn="just">
              <a:lnSpc>
                <a:spcPct val="150000"/>
              </a:lnSpc>
            </a:pPr>
            <a:r>
              <a:rPr lang="en-US" sz="2000" b="1" dirty="0"/>
              <a:t>Linear Regulation:</a:t>
            </a:r>
            <a:r>
              <a:rPr lang="en-US" sz="2000" dirty="0"/>
              <a:t> It employs linear regulation to maintain a stable output voltage. Linear regulators dissipate excess voltage as heat, so they may require a heat sink in high-power applications.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30968" y="1967605"/>
            <a:ext cx="10672011" cy="4000058"/>
          </a:xfrm>
        </p:spPr>
        <p:txBody>
          <a:bodyPr>
            <a:normAutofit fontScale="92500" lnSpcReduction="10000"/>
          </a:bodyPr>
          <a:lstStyle/>
          <a:p>
            <a:pPr>
              <a:lnSpc>
                <a:spcPct val="170000"/>
              </a:lnSpc>
              <a:buNone/>
            </a:pPr>
            <a:r>
              <a:rPr lang="en-IN" sz="2600" b="1" dirty="0"/>
              <a:t>Applications of LM 7805 Voltage Regulator</a:t>
            </a:r>
            <a:endParaRPr lang="en-US" sz="2600" dirty="0"/>
          </a:p>
          <a:p>
            <a:pPr lvl="0">
              <a:lnSpc>
                <a:spcPct val="170000"/>
              </a:lnSpc>
            </a:pPr>
            <a:r>
              <a:rPr lang="en-US" sz="2300" dirty="0"/>
              <a:t>Current regulator</a:t>
            </a:r>
          </a:p>
          <a:p>
            <a:pPr lvl="0">
              <a:lnSpc>
                <a:spcPct val="170000"/>
              </a:lnSpc>
            </a:pPr>
            <a:r>
              <a:rPr lang="en-US" sz="2300" dirty="0"/>
              <a:t>Regulated dual supply</a:t>
            </a:r>
          </a:p>
          <a:p>
            <a:pPr lvl="0">
              <a:lnSpc>
                <a:spcPct val="170000"/>
              </a:lnSpc>
            </a:pPr>
            <a:r>
              <a:rPr lang="en-US" sz="2300" dirty="0"/>
              <a:t>Building circuits for Phone charger, UPS power supply circuits, portable CD player etc</a:t>
            </a:r>
          </a:p>
          <a:p>
            <a:pPr lvl="0">
              <a:lnSpc>
                <a:spcPct val="170000"/>
              </a:lnSpc>
            </a:pPr>
            <a:r>
              <a:rPr lang="en-US" sz="2300" dirty="0"/>
              <a:t>Fixed output regulator</a:t>
            </a:r>
          </a:p>
          <a:p>
            <a:pPr lvl="0">
              <a:lnSpc>
                <a:spcPct val="170000"/>
              </a:lnSpc>
            </a:pPr>
            <a:r>
              <a:rPr lang="en-US" sz="2300" dirty="0"/>
              <a:t>Adjustable output regulator </a:t>
            </a:r>
            <a:endParaRPr lang="en-US" sz="2600" dirty="0"/>
          </a:p>
          <a:p>
            <a:endParaRPr lang="en-US" dirty="0"/>
          </a:p>
        </p:txBody>
      </p:sp>
      <p:sp>
        <p:nvSpPr>
          <p:cNvPr id="4" name="Slide Number Placeholder 3"/>
          <p:cNvSpPr>
            <a:spLocks noGrp="1"/>
          </p:cNvSpPr>
          <p:nvPr>
            <p:ph type="sldNum" sz="quarter" idx="12"/>
          </p:nvPr>
        </p:nvSpPr>
        <p:spPr/>
        <p:txBody>
          <a:bodyPr/>
          <a:lstStyle/>
          <a:p>
            <a:fld id="{CBABCCC1-BF11-4F37-963E-1BCD5B23FD72}" type="slidenum">
              <a:rPr lang="en-IN"/>
              <a:pPr/>
              <a:t>10</a:t>
            </a:fld>
            <a:endParaRPr lang="en-IN"/>
          </a:p>
        </p:txBody>
      </p:sp>
      <p:sp>
        <p:nvSpPr>
          <p:cNvPr id="5" name="Rounded Rectangle 17">
            <a:extLst>
              <a:ext uri="{FF2B5EF4-FFF2-40B4-BE49-F238E27FC236}">
                <a16:creationId xmlns:a16="http://schemas.microsoft.com/office/drawing/2014/main" id="{0F2E30D4-6F86-49D1-9276-85CE0E9B3E3E}"/>
              </a:ext>
            </a:extLst>
          </p:cNvPr>
          <p:cNvSpPr>
            <a:spLocks noGrp="1"/>
          </p:cNvSpPr>
          <p:nvPr>
            <p:ph type="title"/>
          </p:nvPr>
        </p:nvSpPr>
        <p:spPr>
          <a:xfrm>
            <a:off x="1451579" y="804520"/>
            <a:ext cx="9603275" cy="75958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VOLTAGE REGULATOR (LM 7805) Contd..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a:extLst>
              <a:ext uri="{FF2B5EF4-FFF2-40B4-BE49-F238E27FC236}">
                <a16:creationId xmlns:a16="http://schemas.microsoft.com/office/drawing/2014/main" id="{0F2E30D4-6F86-49D1-9276-85CE0E9B3E3E}"/>
              </a:ext>
            </a:extLst>
          </p:cNvPr>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VOLTAGE REGULATOR (LM 7905)</a:t>
            </a:r>
          </a:p>
        </p:txBody>
      </p:sp>
      <p:sp>
        <p:nvSpPr>
          <p:cNvPr id="4" name="TextBox 3"/>
          <p:cNvSpPr txBox="1"/>
          <p:nvPr/>
        </p:nvSpPr>
        <p:spPr>
          <a:xfrm>
            <a:off x="505325" y="1876925"/>
            <a:ext cx="6352675" cy="3323987"/>
          </a:xfrm>
          <a:prstGeom prst="rect">
            <a:avLst/>
          </a:prstGeom>
          <a:noFill/>
        </p:spPr>
        <p:txBody>
          <a:bodyPr wrap="square" rtlCol="0">
            <a:spAutoFit/>
          </a:bodyPr>
          <a:lstStyle/>
          <a:p>
            <a:pPr>
              <a:lnSpc>
                <a:spcPct val="150000"/>
              </a:lnSpc>
            </a:pPr>
            <a:r>
              <a:rPr lang="en-IN" sz="2000" b="1" u="sng" dirty="0"/>
              <a:t>PIN Description</a:t>
            </a:r>
            <a:endParaRPr lang="en-US" sz="2000" dirty="0"/>
          </a:p>
          <a:p>
            <a:pPr>
              <a:lnSpc>
                <a:spcPct val="150000"/>
              </a:lnSpc>
            </a:pPr>
            <a:r>
              <a:rPr lang="en-IN" sz="2000" b="1" dirty="0"/>
              <a:t>PIN 1 (GROUND)</a:t>
            </a:r>
            <a:endParaRPr lang="en-US" sz="2000" dirty="0"/>
          </a:p>
          <a:p>
            <a:pPr>
              <a:lnSpc>
                <a:spcPct val="150000"/>
              </a:lnSpc>
            </a:pPr>
            <a:r>
              <a:rPr lang="en-IN" sz="2000" dirty="0"/>
              <a:t>This pin is an unregulated input voltage</a:t>
            </a:r>
            <a:endParaRPr lang="en-US" sz="2000" dirty="0"/>
          </a:p>
          <a:p>
            <a:pPr>
              <a:lnSpc>
                <a:spcPct val="150000"/>
              </a:lnSpc>
            </a:pPr>
            <a:r>
              <a:rPr lang="en-IN" sz="2000" b="1" dirty="0"/>
              <a:t>PIN 2 (INPUT)</a:t>
            </a:r>
            <a:endParaRPr lang="en-US" sz="2000" dirty="0"/>
          </a:p>
          <a:p>
            <a:pPr>
              <a:lnSpc>
                <a:spcPct val="150000"/>
              </a:lnSpc>
            </a:pPr>
            <a:r>
              <a:rPr lang="en-IN" sz="2000" dirty="0"/>
              <a:t>This pin is connected to ground. </a:t>
            </a:r>
            <a:endParaRPr lang="en-US" sz="2000" dirty="0"/>
          </a:p>
          <a:p>
            <a:pPr>
              <a:lnSpc>
                <a:spcPct val="150000"/>
              </a:lnSpc>
            </a:pPr>
            <a:r>
              <a:rPr lang="en-IN" sz="2000" b="1" dirty="0"/>
              <a:t>PIN 3 (OUTPUT)</a:t>
            </a:r>
            <a:endParaRPr lang="en-US" sz="2000" dirty="0"/>
          </a:p>
          <a:p>
            <a:pPr>
              <a:lnSpc>
                <a:spcPct val="150000"/>
              </a:lnSpc>
            </a:pPr>
            <a:r>
              <a:rPr lang="en-US" sz="2000" dirty="0"/>
              <a:t>Output pin is used to receive the regulated output of -5V.</a:t>
            </a:r>
            <a:endParaRPr lang="en-US" sz="2800" dirty="0"/>
          </a:p>
        </p:txBody>
      </p:sp>
      <p:sp>
        <p:nvSpPr>
          <p:cNvPr id="7" name="TextBox 6"/>
          <p:cNvSpPr txBox="1"/>
          <p:nvPr/>
        </p:nvSpPr>
        <p:spPr>
          <a:xfrm>
            <a:off x="7230978" y="5293894"/>
            <a:ext cx="4018547" cy="646331"/>
          </a:xfrm>
          <a:prstGeom prst="rect">
            <a:avLst/>
          </a:prstGeom>
          <a:noFill/>
        </p:spPr>
        <p:txBody>
          <a:bodyPr wrap="square" rtlCol="0">
            <a:spAutoFit/>
          </a:bodyPr>
          <a:lstStyle/>
          <a:p>
            <a:r>
              <a:rPr lang="en-US" dirty="0"/>
              <a:t>Fig.2 Representation of LM 7905 Voltage Regulator</a:t>
            </a:r>
          </a:p>
        </p:txBody>
      </p:sp>
      <p:pic>
        <p:nvPicPr>
          <p:cNvPr id="3078" name="Picture 6"/>
          <p:cNvPicPr>
            <a:picLocks noChangeAspect="1" noChangeArrowheads="1"/>
          </p:cNvPicPr>
          <p:nvPr/>
        </p:nvPicPr>
        <p:blipFill>
          <a:blip r:embed="rId2" cstate="print"/>
          <a:srcRect/>
          <a:stretch>
            <a:fillRect/>
          </a:stretch>
        </p:blipFill>
        <p:spPr bwMode="auto">
          <a:xfrm>
            <a:off x="7002379" y="2261937"/>
            <a:ext cx="4310814" cy="2983831"/>
          </a:xfrm>
          <a:prstGeom prst="rect">
            <a:avLst/>
          </a:prstGeom>
          <a:noFill/>
          <a:ln w="9525">
            <a:noFill/>
            <a:miter lim="800000"/>
            <a:headEnd/>
            <a:tailEnd/>
          </a:ln>
        </p:spPr>
      </p:pic>
    </p:spTree>
    <p:extLst>
      <p:ext uri="{BB962C8B-B14F-4D97-AF65-F5344CB8AC3E}">
        <p14:creationId xmlns:p14="http://schemas.microsoft.com/office/powerpoint/2010/main" val="222826969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5485" y="1835259"/>
            <a:ext cx="11225462" cy="4409130"/>
          </a:xfrm>
        </p:spPr>
        <p:txBody>
          <a:bodyPr>
            <a:noAutofit/>
          </a:bodyPr>
          <a:lstStyle/>
          <a:p>
            <a:pPr>
              <a:spcBef>
                <a:spcPts val="0"/>
              </a:spcBef>
              <a:buNone/>
            </a:pPr>
            <a:r>
              <a:rPr lang="en-US" sz="1800" b="1" dirty="0"/>
              <a:t>Characteristic Features</a:t>
            </a:r>
          </a:p>
          <a:p>
            <a:pPr algn="just">
              <a:lnSpc>
                <a:spcPct val="170000"/>
              </a:lnSpc>
              <a:spcBef>
                <a:spcPts val="0"/>
              </a:spcBef>
            </a:pPr>
            <a:r>
              <a:rPr lang="en-US" sz="1800" b="1" dirty="0"/>
              <a:t>Output Voltage:</a:t>
            </a:r>
            <a:r>
              <a:rPr lang="en-US" sz="1800" dirty="0"/>
              <a:t> The LM7905 is designed to provide a fixed negative output voltage of -5 volts.</a:t>
            </a:r>
          </a:p>
          <a:p>
            <a:pPr algn="just">
              <a:lnSpc>
                <a:spcPct val="170000"/>
              </a:lnSpc>
              <a:spcBef>
                <a:spcPts val="0"/>
              </a:spcBef>
            </a:pPr>
            <a:r>
              <a:rPr lang="en-US" sz="1800" b="1" dirty="0"/>
              <a:t>Input Voltage Range:</a:t>
            </a:r>
            <a:r>
              <a:rPr lang="en-US" sz="1800" dirty="0"/>
              <a:t> It can accept an input voltage ranging from -7 volts to -25 volts, making it suitable for regulating higher negative voltage sources down to -5V.</a:t>
            </a:r>
          </a:p>
          <a:p>
            <a:pPr algn="just">
              <a:lnSpc>
                <a:spcPct val="170000"/>
              </a:lnSpc>
              <a:spcBef>
                <a:spcPts val="0"/>
              </a:spcBef>
            </a:pPr>
            <a:r>
              <a:rPr lang="en-US" sz="1800" b="1" dirty="0"/>
              <a:t>Output Current Capacity:</a:t>
            </a:r>
            <a:r>
              <a:rPr lang="en-US" sz="1800" dirty="0"/>
              <a:t> Similar to the LM7805, the LM7905 is available in different variants with varying current capacities. Common variants include LM7905, LM7905C, and LM7905CT, which can handle currents up to 1A.</a:t>
            </a:r>
          </a:p>
          <a:p>
            <a:pPr algn="just">
              <a:lnSpc>
                <a:spcPct val="170000"/>
              </a:lnSpc>
              <a:spcBef>
                <a:spcPts val="0"/>
              </a:spcBef>
            </a:pPr>
            <a:r>
              <a:rPr lang="en-US" sz="1800" b="1" dirty="0"/>
              <a:t>Linear Regulation:</a:t>
            </a:r>
            <a:r>
              <a:rPr lang="en-US" sz="1800" dirty="0"/>
              <a:t> Like other regulators in the LM78xx series, the LM7905 uses linear regulation to maintain a stable output voltage. Heat dissipation may be a consideration, especially in high-power applications.</a:t>
            </a:r>
          </a:p>
          <a:p>
            <a:endParaRPr lang="en-US" sz="1400" dirty="0"/>
          </a:p>
        </p:txBody>
      </p:sp>
      <p:sp>
        <p:nvSpPr>
          <p:cNvPr id="4" name="Slide Number Placeholder 3"/>
          <p:cNvSpPr>
            <a:spLocks noGrp="1"/>
          </p:cNvSpPr>
          <p:nvPr>
            <p:ph type="sldNum" sz="quarter" idx="12"/>
          </p:nvPr>
        </p:nvSpPr>
        <p:spPr/>
        <p:txBody>
          <a:bodyPr/>
          <a:lstStyle/>
          <a:p>
            <a:fld id="{CBABCCC1-BF11-4F37-963E-1BCD5B23FD72}" type="slidenum">
              <a:rPr lang="en-IN"/>
              <a:pPr/>
              <a:t>12</a:t>
            </a:fld>
            <a:endParaRPr lang="en-IN"/>
          </a:p>
        </p:txBody>
      </p:sp>
      <p:sp>
        <p:nvSpPr>
          <p:cNvPr id="5" name="Rounded Rectangle 17">
            <a:extLst>
              <a:ext uri="{FF2B5EF4-FFF2-40B4-BE49-F238E27FC236}">
                <a16:creationId xmlns:a16="http://schemas.microsoft.com/office/drawing/2014/main" id="{0F2E30D4-6F86-49D1-9276-85CE0E9B3E3E}"/>
              </a:ext>
            </a:extLst>
          </p:cNvPr>
          <p:cNvSpPr>
            <a:spLocks noGrp="1"/>
          </p:cNvSpPr>
          <p:nvPr>
            <p:ph type="title"/>
          </p:nvPr>
        </p:nvSpPr>
        <p:spPr>
          <a:xfrm>
            <a:off x="1451579" y="804520"/>
            <a:ext cx="9603275" cy="66333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VOLTAGE REGULATOR (LM 7905) Contd..</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a:pPr/>
              <a:t>13</a:t>
            </a:fld>
            <a:endParaRPr lang="en-IN"/>
          </a:p>
        </p:txBody>
      </p:sp>
      <p:sp>
        <p:nvSpPr>
          <p:cNvPr id="5" name="Rounded Rectangle 17">
            <a:extLst>
              <a:ext uri="{FF2B5EF4-FFF2-40B4-BE49-F238E27FC236}">
                <a16:creationId xmlns:a16="http://schemas.microsoft.com/office/drawing/2014/main" id="{0F2E30D4-6F86-49D1-9276-85CE0E9B3E3E}"/>
              </a:ext>
            </a:extLst>
          </p:cNvPr>
          <p:cNvSpPr>
            <a:spLocks noGrp="1"/>
          </p:cNvSpPr>
          <p:nvPr>
            <p:ph type="title"/>
          </p:nvPr>
        </p:nvSpPr>
        <p:spPr>
          <a:xfrm>
            <a:off x="1451579" y="804520"/>
            <a:ext cx="9603275" cy="663334"/>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VOLTAGE REGULATOR (LM 7905) Contd..</a:t>
            </a:r>
          </a:p>
        </p:txBody>
      </p:sp>
      <p:sp>
        <p:nvSpPr>
          <p:cNvPr id="6" name="TextBox 5"/>
          <p:cNvSpPr txBox="1"/>
          <p:nvPr/>
        </p:nvSpPr>
        <p:spPr>
          <a:xfrm>
            <a:off x="914400" y="2081463"/>
            <a:ext cx="10780295" cy="3277820"/>
          </a:xfrm>
          <a:prstGeom prst="rect">
            <a:avLst/>
          </a:prstGeom>
          <a:noFill/>
        </p:spPr>
        <p:txBody>
          <a:bodyPr wrap="square" rtlCol="0">
            <a:spAutoFit/>
          </a:bodyPr>
          <a:lstStyle/>
          <a:p>
            <a:pPr>
              <a:lnSpc>
                <a:spcPct val="150000"/>
              </a:lnSpc>
            </a:pPr>
            <a:r>
              <a:rPr lang="en-IN" sz="2400" b="1" dirty="0"/>
              <a:t>Applications of LM 7905 Voltage Regulator </a:t>
            </a:r>
          </a:p>
          <a:p>
            <a:pPr>
              <a:lnSpc>
                <a:spcPct val="150000"/>
              </a:lnSpc>
              <a:buFont typeface="Arial" pitchFamily="34" charset="0"/>
              <a:buChar char="•"/>
            </a:pPr>
            <a:r>
              <a:rPr lang="en-IN" sz="2400" dirty="0"/>
              <a:t>  	</a:t>
            </a:r>
            <a:r>
              <a:rPr lang="en-US" sz="2400" dirty="0"/>
              <a:t>Constant -5V output regulator to for op-amp signals</a:t>
            </a:r>
          </a:p>
          <a:p>
            <a:pPr>
              <a:lnSpc>
                <a:spcPct val="150000"/>
              </a:lnSpc>
              <a:buFont typeface="Arial" pitchFamily="34" charset="0"/>
              <a:buChar char="•"/>
            </a:pPr>
            <a:r>
              <a:rPr lang="en-US" sz="2400" dirty="0"/>
              <a:t> 	Adjustable Output Regulator</a:t>
            </a:r>
          </a:p>
          <a:p>
            <a:pPr>
              <a:lnSpc>
                <a:spcPct val="150000"/>
              </a:lnSpc>
              <a:buFont typeface="Arial" pitchFamily="34" charset="0"/>
              <a:buChar char="•"/>
            </a:pPr>
            <a:r>
              <a:rPr lang="en-US" sz="2400" dirty="0"/>
              <a:t> 	Current Limiter for certain applications</a:t>
            </a:r>
          </a:p>
          <a:p>
            <a:pPr>
              <a:lnSpc>
                <a:spcPct val="150000"/>
              </a:lnSpc>
              <a:buFont typeface="Arial" pitchFamily="34" charset="0"/>
              <a:buChar char="•"/>
            </a:pPr>
            <a:r>
              <a:rPr lang="en-US" sz="2400" dirty="0"/>
              <a:t> 	Regulated Dual Supply</a:t>
            </a:r>
          </a:p>
          <a:p>
            <a:pPr>
              <a:lnSpc>
                <a:spcPct val="150000"/>
              </a:lnSpc>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1687134" y="891247"/>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7" name="TextBox 16"/>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10" name="TextBox 9"/>
          <p:cNvSpPr txBox="1"/>
          <p:nvPr/>
        </p:nvSpPr>
        <p:spPr>
          <a:xfrm>
            <a:off x="1118937" y="1913021"/>
            <a:ext cx="8975558" cy="4108817"/>
          </a:xfrm>
          <a:prstGeom prst="rect">
            <a:avLst/>
          </a:prstGeom>
          <a:noFill/>
        </p:spPr>
        <p:txBody>
          <a:bodyPr wrap="square" rtlCol="0">
            <a:spAutoFit/>
          </a:bodyPr>
          <a:lstStyle/>
          <a:p>
            <a:pPr>
              <a:lnSpc>
                <a:spcPct val="150000"/>
              </a:lnSpc>
            </a:pPr>
            <a:r>
              <a:rPr lang="en-US" b="1" dirty="0"/>
              <a:t>Problem:</a:t>
            </a:r>
          </a:p>
          <a:p>
            <a:pPr algn="just"/>
            <a:r>
              <a:rPr lang="en-US" dirty="0"/>
              <a:t>1. Design a temperature monitoring system using a microcontroller and a temperature sensor. The microcontroller requires a stable +5V supply for proper operation. The following specifications are given:</a:t>
            </a:r>
          </a:p>
          <a:p>
            <a:r>
              <a:rPr lang="en-US" dirty="0"/>
              <a:t>Microcontroller Input Voltage (</a:t>
            </a:r>
            <a:r>
              <a:rPr lang="en-US" i="1" dirty="0"/>
              <a:t>VMCU</a:t>
            </a:r>
            <a:r>
              <a:rPr lang="en-US" dirty="0"/>
              <a:t>​): +5V</a:t>
            </a:r>
          </a:p>
          <a:p>
            <a:r>
              <a:rPr lang="en-US" dirty="0"/>
              <a:t>Temperature Sensor Operating Voltage (</a:t>
            </a:r>
            <a:r>
              <a:rPr lang="en-US" i="1" dirty="0" err="1"/>
              <a:t>VSensor</a:t>
            </a:r>
            <a:r>
              <a:rPr lang="en-US" dirty="0"/>
              <a:t>​): +5V</a:t>
            </a:r>
          </a:p>
          <a:p>
            <a:r>
              <a:rPr lang="en-US" dirty="0"/>
              <a:t>Input Voltage Source (</a:t>
            </a:r>
            <a:r>
              <a:rPr lang="en-US" i="1" dirty="0"/>
              <a:t>Vin</a:t>
            </a:r>
            <a:r>
              <a:rPr lang="en-US" dirty="0"/>
              <a:t>​): 9V Battery</a:t>
            </a:r>
          </a:p>
          <a:p>
            <a:r>
              <a:rPr lang="en-US" dirty="0"/>
              <a:t>Determine </a:t>
            </a:r>
            <a:r>
              <a:rPr lang="en-US" dirty="0" err="1"/>
              <a:t>i</a:t>
            </a:r>
            <a:r>
              <a:rPr lang="en-US" dirty="0"/>
              <a:t>) Dropout voltage (</a:t>
            </a:r>
            <a:r>
              <a:rPr lang="en-US" dirty="0" err="1"/>
              <a:t>Vd</a:t>
            </a:r>
            <a:r>
              <a:rPr lang="en-US" dirty="0"/>
              <a:t>)  and ii) Power Dissipation</a:t>
            </a:r>
          </a:p>
          <a:p>
            <a:r>
              <a:rPr lang="en-US" b="1" dirty="0"/>
              <a:t>Solution</a:t>
            </a:r>
            <a:r>
              <a:rPr lang="en-US" dirty="0"/>
              <a:t> </a:t>
            </a:r>
          </a:p>
          <a:p>
            <a:r>
              <a:rPr lang="en-US" dirty="0"/>
              <a:t>(</a:t>
            </a:r>
            <a:r>
              <a:rPr lang="en-US" dirty="0" err="1"/>
              <a:t>i</a:t>
            </a:r>
            <a:r>
              <a:rPr lang="en-US" dirty="0"/>
              <a:t>)</a:t>
            </a:r>
          </a:p>
          <a:p>
            <a:endParaRPr lang="en-US" dirty="0"/>
          </a:p>
          <a:p>
            <a:r>
              <a:rPr lang="en-US" dirty="0"/>
              <a:t>(ii) Assume a load current (</a:t>
            </a:r>
            <a:r>
              <a:rPr lang="en-US" dirty="0" err="1"/>
              <a:t>I</a:t>
            </a:r>
            <a:r>
              <a:rPr lang="en-US" i="1" baseline="-25000" dirty="0" err="1"/>
              <a:t>load</a:t>
            </a:r>
            <a:r>
              <a:rPr lang="en-US" dirty="0"/>
              <a:t>​) ​ of 50mA</a:t>
            </a:r>
          </a:p>
          <a:p>
            <a:pPr algn="ctr"/>
            <a:r>
              <a:rPr lang="en-US" i="1" dirty="0"/>
              <a:t>Pd</a:t>
            </a:r>
            <a:r>
              <a:rPr lang="en-US" dirty="0"/>
              <a:t>​=(</a:t>
            </a:r>
            <a:r>
              <a:rPr lang="en-US" i="1" dirty="0"/>
              <a:t>Vin</a:t>
            </a:r>
            <a:r>
              <a:rPr lang="en-US" dirty="0"/>
              <a:t>​−</a:t>
            </a:r>
            <a:r>
              <a:rPr lang="en-US" i="1" dirty="0" err="1"/>
              <a:t>Vout</a:t>
            </a:r>
            <a:r>
              <a:rPr lang="en-US" dirty="0"/>
              <a:t>​)× </a:t>
            </a:r>
            <a:r>
              <a:rPr lang="en-US" dirty="0" err="1"/>
              <a:t>I</a:t>
            </a:r>
            <a:r>
              <a:rPr lang="en-US" i="1" baseline="-25000" dirty="0" err="1"/>
              <a:t>load</a:t>
            </a:r>
            <a:r>
              <a:rPr lang="en-US" dirty="0"/>
              <a:t>​ </a:t>
            </a:r>
          </a:p>
          <a:p>
            <a:pPr algn="ctr"/>
            <a:r>
              <a:rPr lang="en-US" i="1" dirty="0"/>
              <a:t>Pd</a:t>
            </a:r>
            <a:r>
              <a:rPr lang="en-US" dirty="0"/>
              <a:t>​=(9</a:t>
            </a:r>
            <a:r>
              <a:rPr lang="en-US" i="1" dirty="0"/>
              <a:t>V</a:t>
            </a:r>
            <a:r>
              <a:rPr lang="en-US" dirty="0"/>
              <a:t>−5</a:t>
            </a:r>
            <a:r>
              <a:rPr lang="en-US" i="1" dirty="0"/>
              <a:t>V</a:t>
            </a:r>
            <a:r>
              <a:rPr lang="en-US" dirty="0"/>
              <a:t>)×0.05</a:t>
            </a:r>
            <a:r>
              <a:rPr lang="en-US" i="1" dirty="0"/>
              <a:t>A</a:t>
            </a:r>
            <a:r>
              <a:rPr lang="en-US" dirty="0"/>
              <a:t>=0.2</a:t>
            </a:r>
            <a:r>
              <a:rPr lang="en-US" i="1" dirty="0"/>
              <a:t>W</a:t>
            </a:r>
            <a:endParaRPr lang="en-US" dirty="0"/>
          </a:p>
        </p:txBody>
      </p:sp>
      <p:sp>
        <p:nvSpPr>
          <p:cNvPr id="6" name="Rectangle 5"/>
          <p:cNvSpPr/>
          <p:nvPr/>
        </p:nvSpPr>
        <p:spPr>
          <a:xfrm>
            <a:off x="2958437" y="4507202"/>
            <a:ext cx="1863780" cy="646331"/>
          </a:xfrm>
          <a:prstGeom prst="rect">
            <a:avLst/>
          </a:prstGeom>
        </p:spPr>
        <p:txBody>
          <a:bodyPr wrap="none">
            <a:spAutoFit/>
          </a:bodyPr>
          <a:lstStyle/>
          <a:p>
            <a:r>
              <a:rPr lang="en-US" i="1" dirty="0" err="1"/>
              <a:t>Vd</a:t>
            </a:r>
            <a:r>
              <a:rPr lang="en-US" dirty="0"/>
              <a:t>​=</a:t>
            </a:r>
            <a:r>
              <a:rPr lang="en-US" i="1" dirty="0"/>
              <a:t>Vin</a:t>
            </a:r>
            <a:r>
              <a:rPr lang="en-US" dirty="0"/>
              <a:t>(</a:t>
            </a:r>
            <a:r>
              <a:rPr lang="en-US" i="1" dirty="0"/>
              <a:t>min</a:t>
            </a:r>
            <a:r>
              <a:rPr lang="en-US" dirty="0"/>
              <a:t>)​−</a:t>
            </a:r>
            <a:r>
              <a:rPr lang="en-US" i="1" dirty="0" err="1"/>
              <a:t>Vout</a:t>
            </a:r>
            <a:r>
              <a:rPr lang="en-US" dirty="0"/>
              <a:t>​ </a:t>
            </a:r>
          </a:p>
          <a:p>
            <a:r>
              <a:rPr lang="en-US" i="1" dirty="0" err="1"/>
              <a:t>Vd</a:t>
            </a:r>
            <a:r>
              <a:rPr lang="en-US" dirty="0"/>
              <a:t>​=9</a:t>
            </a:r>
            <a:r>
              <a:rPr lang="en-US" i="1" dirty="0"/>
              <a:t>V</a:t>
            </a:r>
            <a:r>
              <a:rPr lang="en-US" dirty="0"/>
              <a:t>−5</a:t>
            </a:r>
            <a:r>
              <a:rPr lang="en-US" i="1" dirty="0"/>
              <a:t>V</a:t>
            </a:r>
            <a:r>
              <a:rPr lang="en-US" dirty="0"/>
              <a:t>=4</a:t>
            </a:r>
            <a:r>
              <a:rPr lang="en-US" i="1" dirty="0"/>
              <a:t>V</a:t>
            </a:r>
            <a:endParaRPr lang="en-US" dirty="0"/>
          </a:p>
        </p:txBody>
      </p:sp>
    </p:spTree>
    <p:extLst>
      <p:ext uri="{BB962C8B-B14F-4D97-AF65-F5344CB8AC3E}">
        <p14:creationId xmlns:p14="http://schemas.microsoft.com/office/powerpoint/2010/main" val="13001463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388593" y="902962"/>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3" name="TextBox 12"/>
          <p:cNvSpPr txBox="1"/>
          <p:nvPr/>
        </p:nvSpPr>
        <p:spPr>
          <a:xfrm>
            <a:off x="1083212" y="1726471"/>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5" name="TextBox 4"/>
          <p:cNvSpPr txBox="1"/>
          <p:nvPr/>
        </p:nvSpPr>
        <p:spPr>
          <a:xfrm>
            <a:off x="1118937" y="1756611"/>
            <a:ext cx="10154652" cy="4662815"/>
          </a:xfrm>
          <a:prstGeom prst="rect">
            <a:avLst/>
          </a:prstGeom>
          <a:noFill/>
        </p:spPr>
        <p:txBody>
          <a:bodyPr wrap="square" rtlCol="0">
            <a:spAutoFit/>
          </a:bodyPr>
          <a:lstStyle/>
          <a:p>
            <a:pPr>
              <a:lnSpc>
                <a:spcPct val="150000"/>
              </a:lnSpc>
            </a:pPr>
            <a:r>
              <a:rPr lang="en-US" b="1" dirty="0"/>
              <a:t>The following are examples where LM 7805 and LM 7905 are used in real-time</a:t>
            </a:r>
          </a:p>
          <a:p>
            <a:pPr>
              <a:lnSpc>
                <a:spcPct val="150000"/>
              </a:lnSpc>
            </a:pPr>
            <a:r>
              <a:rPr lang="en-US" b="1" dirty="0"/>
              <a:t>Power Supply for Microcontrollers</a:t>
            </a:r>
            <a:endParaRPr lang="en-US" dirty="0"/>
          </a:p>
          <a:p>
            <a:pPr>
              <a:lnSpc>
                <a:spcPct val="150000"/>
              </a:lnSpc>
            </a:pPr>
            <a:r>
              <a:rPr lang="en-US" dirty="0"/>
              <a:t>Connect the input of the LM7805 to an unregulated DC power source (e.g., a transformer or a rectified AC source).</a:t>
            </a:r>
          </a:p>
          <a:p>
            <a:pPr>
              <a:lnSpc>
                <a:spcPct val="150000"/>
              </a:lnSpc>
            </a:pPr>
            <a:r>
              <a:rPr lang="en-US" dirty="0"/>
              <a:t>Connect the common ground between the input and output.</a:t>
            </a:r>
          </a:p>
          <a:p>
            <a:pPr>
              <a:lnSpc>
                <a:spcPct val="150000"/>
              </a:lnSpc>
            </a:pPr>
            <a:r>
              <a:rPr lang="en-US" dirty="0"/>
              <a:t>Connect the output of the LM7805 to the </a:t>
            </a:r>
            <a:r>
              <a:rPr lang="en-US" dirty="0" err="1"/>
              <a:t>Vcc</a:t>
            </a:r>
            <a:r>
              <a:rPr lang="en-US" dirty="0"/>
              <a:t> pin of a microcontroller.</a:t>
            </a:r>
          </a:p>
          <a:p>
            <a:pPr>
              <a:lnSpc>
                <a:spcPct val="150000"/>
              </a:lnSpc>
            </a:pPr>
            <a:r>
              <a:rPr lang="en-US" dirty="0"/>
              <a:t>This ensures a stable +5V power supply for the microcontroller.</a:t>
            </a:r>
          </a:p>
          <a:p>
            <a:pPr>
              <a:lnSpc>
                <a:spcPct val="150000"/>
              </a:lnSpc>
            </a:pPr>
            <a:r>
              <a:rPr lang="en-US" b="1" dirty="0"/>
              <a:t>Audio Amplifier Power Supply:</a:t>
            </a:r>
            <a:endParaRPr lang="en-US" dirty="0"/>
          </a:p>
          <a:p>
            <a:pPr>
              <a:lnSpc>
                <a:spcPct val="150000"/>
              </a:lnSpc>
            </a:pPr>
            <a:r>
              <a:rPr lang="en-US" dirty="0"/>
              <a:t>Use the LM7805 to power the positive side of an audio amplifier circuit.</a:t>
            </a:r>
          </a:p>
          <a:p>
            <a:pPr>
              <a:lnSpc>
                <a:spcPct val="150000"/>
              </a:lnSpc>
            </a:pPr>
            <a:r>
              <a:rPr lang="en-US" dirty="0"/>
              <a:t>Use the LM7905 to power the negative side of the same audio amplifier circuit.</a:t>
            </a:r>
          </a:p>
          <a:p>
            <a:pPr>
              <a:lnSpc>
                <a:spcPct val="150000"/>
              </a:lnSpc>
            </a:pPr>
            <a:r>
              <a:rPr lang="en-US" dirty="0"/>
              <a:t>This ensures a stable power supply for both the positive and negative halves of the audio signal.</a:t>
            </a:r>
          </a:p>
        </p:txBody>
      </p:sp>
    </p:spTree>
    <p:extLst>
      <p:ext uri="{BB962C8B-B14F-4D97-AF65-F5344CB8AC3E}">
        <p14:creationId xmlns:p14="http://schemas.microsoft.com/office/powerpoint/2010/main" val="12696293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4801314"/>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graphicFrame>
        <p:nvGraphicFramePr>
          <p:cNvPr id="6" name="Table 5"/>
          <p:cNvGraphicFramePr>
            <a:graphicFrameLocks noGrp="1"/>
          </p:cNvGraphicFramePr>
          <p:nvPr/>
        </p:nvGraphicFramePr>
        <p:xfrm>
          <a:off x="770018" y="1985210"/>
          <a:ext cx="11249528" cy="4030579"/>
        </p:xfrm>
        <a:graphic>
          <a:graphicData uri="http://schemas.openxmlformats.org/drawingml/2006/table">
            <a:tbl>
              <a:tblPr firstRow="1" bandRow="1">
                <a:tableStyleId>{5C22544A-7EE6-4342-B048-85BDC9FD1C3A}</a:tableStyleId>
              </a:tblPr>
              <a:tblGrid>
                <a:gridCol w="5624764">
                  <a:extLst>
                    <a:ext uri="{9D8B030D-6E8A-4147-A177-3AD203B41FA5}">
                      <a16:colId xmlns:a16="http://schemas.microsoft.com/office/drawing/2014/main" val="20000"/>
                    </a:ext>
                  </a:extLst>
                </a:gridCol>
                <a:gridCol w="5624764">
                  <a:extLst>
                    <a:ext uri="{9D8B030D-6E8A-4147-A177-3AD203B41FA5}">
                      <a16:colId xmlns:a16="http://schemas.microsoft.com/office/drawing/2014/main" val="20001"/>
                    </a:ext>
                  </a:extLst>
                </a:gridCol>
              </a:tblGrid>
              <a:tr h="512459">
                <a:tc>
                  <a:txBody>
                    <a:bodyPr/>
                    <a:lstStyle/>
                    <a:p>
                      <a:pPr algn="ctr"/>
                      <a:r>
                        <a:rPr lang="en-US" sz="2400" dirty="0"/>
                        <a:t>LM 7805</a:t>
                      </a:r>
                    </a:p>
                  </a:txBody>
                  <a:tcPr/>
                </a:tc>
                <a:tc>
                  <a:txBody>
                    <a:bodyPr/>
                    <a:lstStyle/>
                    <a:p>
                      <a:pPr algn="ctr"/>
                      <a:r>
                        <a:rPr lang="en-US" sz="2400" dirty="0"/>
                        <a:t>LM 7905</a:t>
                      </a:r>
                    </a:p>
                  </a:txBody>
                  <a:tcPr/>
                </a:tc>
                <a:extLst>
                  <a:ext uri="{0D108BD9-81ED-4DB2-BD59-A6C34878D82A}">
                    <a16:rowId xmlns:a16="http://schemas.microsoft.com/office/drawing/2014/main" val="10000"/>
                  </a:ext>
                </a:extLst>
              </a:tr>
              <a:tr h="512459">
                <a:tc>
                  <a:txBody>
                    <a:bodyPr/>
                    <a:lstStyle/>
                    <a:p>
                      <a:pPr algn="l"/>
                      <a:r>
                        <a:rPr lang="en-US" sz="2400" dirty="0"/>
                        <a:t>1.</a:t>
                      </a:r>
                      <a:r>
                        <a:rPr lang="en-US" sz="2400" baseline="0" dirty="0"/>
                        <a:t> </a:t>
                      </a:r>
                      <a:r>
                        <a:rPr lang="en-US" sz="2400" b="0" baseline="0" dirty="0">
                          <a:solidFill>
                            <a:schemeClr val="tx1"/>
                          </a:solidFill>
                        </a:rPr>
                        <a:t>Positive Voltage Regulator</a:t>
                      </a:r>
                      <a:endParaRPr lang="en-US" sz="2400" b="0" dirty="0">
                        <a:solidFill>
                          <a:schemeClr val="tx1"/>
                        </a:solidFill>
                      </a:endParaRPr>
                    </a:p>
                  </a:txBody>
                  <a:tcPr/>
                </a:tc>
                <a:tc>
                  <a:txBody>
                    <a:bodyPr/>
                    <a:lstStyle/>
                    <a:p>
                      <a:pPr algn="l"/>
                      <a:r>
                        <a:rPr lang="en-US" sz="2400" b="0" baseline="0" dirty="0">
                          <a:solidFill>
                            <a:schemeClr val="tx1"/>
                          </a:solidFill>
                        </a:rPr>
                        <a:t>1. Negative Voltage Regulator</a:t>
                      </a:r>
                      <a:endParaRPr lang="en-US" sz="2400" dirty="0"/>
                    </a:p>
                  </a:txBody>
                  <a:tcPr/>
                </a:tc>
                <a:extLst>
                  <a:ext uri="{0D108BD9-81ED-4DB2-BD59-A6C34878D82A}">
                    <a16:rowId xmlns:a16="http://schemas.microsoft.com/office/drawing/2014/main" val="10001"/>
                  </a:ext>
                </a:extLst>
              </a:tr>
              <a:tr h="901699">
                <a:tc>
                  <a:txBody>
                    <a:bodyPr/>
                    <a:lstStyle/>
                    <a:p>
                      <a:r>
                        <a:rPr lang="en-US" sz="2400" dirty="0"/>
                        <a:t>2. </a:t>
                      </a:r>
                      <a:r>
                        <a:rPr lang="en-US" sz="2400" b="0" i="0" kern="1200" dirty="0">
                          <a:solidFill>
                            <a:schemeClr val="dk1"/>
                          </a:solidFill>
                          <a:latin typeface="+mn-lt"/>
                          <a:ea typeface="+mn-ea"/>
                          <a:cs typeface="+mn-cs"/>
                        </a:rPr>
                        <a:t>Provides a regulated positive output voltage of +5 volts</a:t>
                      </a:r>
                      <a:endParaRPr lang="en-US" sz="2400" dirty="0"/>
                    </a:p>
                  </a:txBody>
                  <a:tcPr/>
                </a:tc>
                <a:tc>
                  <a:txBody>
                    <a:bodyPr/>
                    <a:lstStyle/>
                    <a:p>
                      <a:r>
                        <a:rPr lang="en-US" sz="2400" dirty="0"/>
                        <a:t>2.</a:t>
                      </a:r>
                      <a:r>
                        <a:rPr lang="en-US" sz="2400" b="0" i="0" kern="1200" dirty="0">
                          <a:solidFill>
                            <a:schemeClr val="dk1"/>
                          </a:solidFill>
                          <a:latin typeface="+mn-lt"/>
                          <a:ea typeface="+mn-ea"/>
                          <a:cs typeface="+mn-cs"/>
                        </a:rPr>
                        <a:t> Provides a regulated negative output voltage of -5 volts </a:t>
                      </a:r>
                      <a:endParaRPr lang="en-US" sz="2400" dirty="0"/>
                    </a:p>
                  </a:txBody>
                  <a:tcPr/>
                </a:tc>
                <a:extLst>
                  <a:ext uri="{0D108BD9-81ED-4DB2-BD59-A6C34878D82A}">
                    <a16:rowId xmlns:a16="http://schemas.microsoft.com/office/drawing/2014/main" val="10002"/>
                  </a:ext>
                </a:extLst>
              </a:tr>
              <a:tr h="2103962">
                <a:tc>
                  <a:txBody>
                    <a:bodyPr/>
                    <a:lstStyle/>
                    <a:p>
                      <a:pPr algn="just"/>
                      <a:r>
                        <a:rPr lang="en-US" sz="2400" dirty="0"/>
                        <a:t>3. </a:t>
                      </a:r>
                      <a:r>
                        <a:rPr lang="en-US" sz="2400" b="0" i="0" kern="1200" dirty="0">
                          <a:solidFill>
                            <a:schemeClr val="dk1"/>
                          </a:solidFill>
                          <a:latin typeface="+mn-lt"/>
                          <a:ea typeface="+mn-ea"/>
                          <a:cs typeface="+mn-cs"/>
                        </a:rPr>
                        <a:t>Used to regulate and provide a stable +5V supply in electronic circuits, often used to power microcontrollers, digital ICs, and other components.</a:t>
                      </a:r>
                      <a:endParaRPr lang="en-US" sz="2400" dirty="0"/>
                    </a:p>
                  </a:txBody>
                  <a:tcPr/>
                </a:tc>
                <a:tc>
                  <a:txBody>
                    <a:bodyPr/>
                    <a:lstStyle/>
                    <a:p>
                      <a:pPr algn="just"/>
                      <a:r>
                        <a:rPr lang="en-US" sz="2400" dirty="0"/>
                        <a:t>3.</a:t>
                      </a:r>
                      <a:r>
                        <a:rPr lang="en-US" sz="2400" baseline="0" dirty="0"/>
                        <a:t> </a:t>
                      </a:r>
                      <a:r>
                        <a:rPr lang="en-US" sz="2400" b="0" i="0" kern="1200" dirty="0">
                          <a:solidFill>
                            <a:schemeClr val="dk1"/>
                          </a:solidFill>
                          <a:latin typeface="+mn-lt"/>
                          <a:ea typeface="+mn-ea"/>
                          <a:cs typeface="+mn-cs"/>
                        </a:rPr>
                        <a:t>LM7905 is used in applications where a stable negative voltage supply is required,  in analog circuitry or situations where a dual power supply (both positive and negative) is necessary</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1600" dirty="0"/>
              <a:t>What is the primary function of the LM7805 voltage regulator?</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3857993"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solidFill>
              <a:schemeClr val="accent1"/>
            </a:solid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t>Provide a stable +12V output </a:t>
            </a:r>
            <a:r>
              <a:rPr lang="en-US" sz="1600" dirty="0">
                <a:latin typeface="Arial" panose="020B0604020202020204" pitchFamily="34" charset="0"/>
              </a:rPr>
              <a:t>…</a:t>
            </a:r>
          </a:p>
          <a:p>
            <a:pPr marL="342900" indent="-342900">
              <a:lnSpc>
                <a:spcPct val="150000"/>
              </a:lnSpc>
              <a:buAutoNum type="alphaLcParenBoth"/>
            </a:pPr>
            <a:r>
              <a:rPr lang="en-US" sz="1600" dirty="0">
                <a:solidFill>
                  <a:srgbClr val="C00000"/>
                </a:solidFill>
              </a:rPr>
              <a:t>Regulate a stable +5V output</a:t>
            </a:r>
            <a:endParaRPr lang="en-US" sz="1600" dirty="0">
              <a:solidFill>
                <a:srgbClr val="C00000"/>
              </a:solidFill>
              <a:latin typeface="Arial" panose="020B0604020202020204" pitchFamily="34" charset="0"/>
            </a:endParaRPr>
          </a:p>
          <a:p>
            <a:pPr marL="342900" indent="-342900">
              <a:lnSpc>
                <a:spcPct val="150000"/>
              </a:lnSpc>
              <a:buAutoNum type="alphaLcParenBoth"/>
            </a:pPr>
            <a:r>
              <a:rPr lang="en-US" sz="1600" dirty="0"/>
              <a:t>Generate a variable output voltage</a:t>
            </a:r>
            <a:endParaRPr lang="en-US" sz="1600" dirty="0">
              <a:latin typeface="Arial" panose="020B0604020202020204" pitchFamily="34" charset="0"/>
            </a:endParaRPr>
          </a:p>
          <a:p>
            <a:pPr marL="342900" indent="-342900">
              <a:lnSpc>
                <a:spcPct val="150000"/>
              </a:lnSpc>
              <a:buAutoNum type="alphaLcParenBoth"/>
            </a:pPr>
            <a:r>
              <a:rPr lang="en-US" sz="1600" dirty="0"/>
              <a:t>Act as a digital logic gate</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t>In the LM7805, what is the typical output voltage?</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5" y="4727197"/>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+3.3 volts</a:t>
            </a:r>
          </a:p>
          <a:p>
            <a:pPr marL="342900" indent="-342900">
              <a:lnSpc>
                <a:spcPct val="150000"/>
              </a:lnSpc>
              <a:buAutoNum type="alphaLcParenBoth"/>
            </a:pPr>
            <a:r>
              <a:rPr lang="en-US" b="1" dirty="0">
                <a:solidFill>
                  <a:srgbClr val="C00000"/>
                </a:solidFill>
              </a:rPr>
              <a:t>+5 volts</a:t>
            </a:r>
          </a:p>
          <a:p>
            <a:pPr marL="342900" indent="-342900">
              <a:lnSpc>
                <a:spcPct val="150000"/>
              </a:lnSpc>
              <a:buAutoNum type="alphaLcParenBoth"/>
            </a:pPr>
            <a:r>
              <a:rPr lang="en-US" dirty="0"/>
              <a:t>+9 volts</a:t>
            </a:r>
          </a:p>
          <a:p>
            <a:pPr marL="342900" indent="-342900">
              <a:lnSpc>
                <a:spcPct val="150000"/>
              </a:lnSpc>
              <a:buAutoNum type="alphaLcParenBoth"/>
            </a:pPr>
            <a:r>
              <a:rPr lang="en-US" sz="1600" dirty="0"/>
              <a:t>+12 volts</a:t>
            </a:r>
          </a:p>
        </p:txBody>
      </p:sp>
      <p:pic>
        <p:nvPicPr>
          <p:cNvPr id="8"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sz="1600" dirty="0"/>
              <a:t>3.   What is the primary purpose of the LM7905 voltage regulator?</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26828" y="1977905"/>
            <a:ext cx="3857993"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t>Generate a stable +5V output</a:t>
            </a:r>
            <a:endParaRPr lang="en-US" sz="1600" dirty="0">
              <a:latin typeface="Arial" panose="020B0604020202020204" pitchFamily="34" charset="0"/>
            </a:endParaRPr>
          </a:p>
          <a:p>
            <a:pPr marL="342900" indent="-342900">
              <a:lnSpc>
                <a:spcPct val="150000"/>
              </a:lnSpc>
              <a:buAutoNum type="alphaLcParenBoth"/>
            </a:pPr>
            <a:r>
              <a:rPr lang="en-US" sz="1600" b="1" dirty="0">
                <a:solidFill>
                  <a:srgbClr val="C00000"/>
                </a:solidFill>
              </a:rPr>
              <a:t>Regulate a stable -5V output </a:t>
            </a:r>
          </a:p>
          <a:p>
            <a:pPr marL="342900" indent="-342900">
              <a:lnSpc>
                <a:spcPct val="150000"/>
              </a:lnSpc>
              <a:buAutoNum type="alphaLcParenBoth"/>
            </a:pPr>
            <a:r>
              <a:rPr lang="en-US" sz="1600" dirty="0"/>
              <a:t>Provide variable output voltages</a:t>
            </a:r>
          </a:p>
          <a:p>
            <a:pPr marL="342900" indent="-342900">
              <a:lnSpc>
                <a:spcPct val="150000"/>
              </a:lnSpc>
              <a:buAutoNum type="alphaLcParenBoth"/>
            </a:pPr>
            <a:r>
              <a:rPr lang="en-US" sz="1600" dirty="0"/>
              <a:t>Act as a digital logic gate</a:t>
            </a:r>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5" y="3736122"/>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r>
              <a:rPr lang="en-US" sz="1600" dirty="0">
                <a:sym typeface="Calibri"/>
              </a:rPr>
              <a:t>4. </a:t>
            </a:r>
            <a:r>
              <a:rPr lang="en-US" sz="1600" dirty="0"/>
              <a:t>In the LM7905, what is the typical output voltage?</a:t>
            </a:r>
            <a:r>
              <a:rPr lang="en-US" sz="1600" dirty="0">
                <a:sym typeface="Calibri"/>
              </a:rPr>
              <a:t> 	</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70053" y="4630944"/>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-3.3 volts</a:t>
            </a:r>
          </a:p>
          <a:p>
            <a:pPr marL="342900" indent="-342900">
              <a:lnSpc>
                <a:spcPct val="150000"/>
              </a:lnSpc>
              <a:buAutoNum type="alphaLcParenBoth"/>
            </a:pPr>
            <a:r>
              <a:rPr lang="en-US" b="1" dirty="0">
                <a:solidFill>
                  <a:srgbClr val="C00000"/>
                </a:solidFill>
              </a:rPr>
              <a:t>-5 volts</a:t>
            </a:r>
          </a:p>
          <a:p>
            <a:pPr marL="342900" indent="-342900">
              <a:lnSpc>
                <a:spcPct val="150000"/>
              </a:lnSpc>
              <a:buAutoNum type="alphaLcParenBoth"/>
            </a:pPr>
            <a:r>
              <a:rPr lang="en-US" sz="1600" dirty="0"/>
              <a:t>-9 volts</a:t>
            </a:r>
          </a:p>
          <a:p>
            <a:pPr marL="342900" indent="-342900">
              <a:lnSpc>
                <a:spcPct val="150000"/>
              </a:lnSpc>
              <a:buAutoNum type="alphaLcParenBoth"/>
            </a:pPr>
            <a:r>
              <a:rPr lang="en-US" sz="1600" dirty="0"/>
              <a:t>-12 volts</a:t>
            </a:r>
          </a:p>
        </p:txBody>
      </p:sp>
      <p:pic>
        <p:nvPicPr>
          <p:cNvPr id="8"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192766172"/>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95362" y="2274838"/>
            <a:ext cx="9608234" cy="2308324"/>
          </a:xfrm>
          <a:prstGeom prst="rect">
            <a:avLst/>
          </a:prstGeom>
          <a:noFill/>
        </p:spPr>
        <p:txBody>
          <a:bodyPr wrap="square" rtlCol="0">
            <a:spAutoFit/>
          </a:bodyPr>
          <a:lstStyle/>
          <a:p>
            <a:pPr>
              <a:lnSpc>
                <a:spcPct val="200000"/>
              </a:lnSpc>
            </a:pPr>
            <a:r>
              <a:rPr lang="en-US" b="1" dirty="0"/>
              <a:t>1. Describe the importance of voltage regulators</a:t>
            </a:r>
          </a:p>
          <a:p>
            <a:pPr>
              <a:lnSpc>
                <a:spcPct val="200000"/>
              </a:lnSpc>
            </a:pPr>
            <a:r>
              <a:rPr lang="en-US" b="1" dirty="0"/>
              <a:t>2. List out the types of voltage regulators</a:t>
            </a:r>
          </a:p>
          <a:p>
            <a:pPr marL="342900" indent="-342900">
              <a:lnSpc>
                <a:spcPct val="200000"/>
              </a:lnSpc>
            </a:pPr>
            <a:r>
              <a:rPr lang="en-US" b="1" dirty="0"/>
              <a:t>3. Analyze the working of LM 7805 and LM 7905</a:t>
            </a:r>
          </a:p>
          <a:p>
            <a:pPr marL="342900" indent="-342900">
              <a:lnSpc>
                <a:spcPct val="200000"/>
              </a:lnSpc>
            </a:pPr>
            <a:r>
              <a:rPr lang="en-US" b="1" dirty="0"/>
              <a:t>4. Summarize the applications of LM 7805 and LM 7905</a:t>
            </a:r>
          </a:p>
        </p:txBody>
      </p:sp>
      <p:pic>
        <p:nvPicPr>
          <p:cNvPr id="10"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9789" y="2156663"/>
            <a:ext cx="9608234" cy="3831818"/>
          </a:xfrm>
          <a:prstGeom prst="rect">
            <a:avLst/>
          </a:prstGeom>
          <a:noFill/>
        </p:spPr>
        <p:txBody>
          <a:bodyPr wrap="square" rtlCol="0">
            <a:spAutoFit/>
          </a:bodyPr>
          <a:lstStyle/>
          <a:p>
            <a:pPr>
              <a:lnSpc>
                <a:spcPct val="150000"/>
              </a:lnSpc>
            </a:pPr>
            <a:r>
              <a:rPr lang="en-US" b="1" dirty="0"/>
              <a:t>Reference Books:</a:t>
            </a:r>
            <a:endParaRPr lang="en-US" dirty="0"/>
          </a:p>
          <a:p>
            <a:pPr lvl="0"/>
            <a:r>
              <a:rPr lang="en-US" dirty="0"/>
              <a:t>1.  </a:t>
            </a:r>
            <a:r>
              <a:rPr lang="en-IN" dirty="0"/>
              <a:t>A </a:t>
            </a:r>
            <a:r>
              <a:rPr lang="en-IN" dirty="0" err="1"/>
              <a:t>Sudhakar</a:t>
            </a:r>
            <a:r>
              <a:rPr lang="en-IN" dirty="0"/>
              <a:t>, </a:t>
            </a:r>
            <a:r>
              <a:rPr lang="en-IN" dirty="0" err="1"/>
              <a:t>Shyam</a:t>
            </a:r>
            <a:r>
              <a:rPr lang="en-IN" dirty="0"/>
              <a:t> Mohan S </a:t>
            </a:r>
            <a:r>
              <a:rPr lang="en-IN" dirty="0" err="1"/>
              <a:t>Palli</a:t>
            </a:r>
            <a:r>
              <a:rPr lang="en-IN" dirty="0"/>
              <a:t> , Circuits and Networks: Analysis and Synthesis, </a:t>
            </a:r>
            <a:endParaRPr lang="en-US" dirty="0"/>
          </a:p>
          <a:p>
            <a:r>
              <a:rPr lang="en-IN" dirty="0"/>
              <a:t>    TMH, 5e</a:t>
            </a:r>
          </a:p>
          <a:p>
            <a:r>
              <a:rPr lang="en-IN" dirty="0"/>
              <a:t>2.  David A. Bell, Electronic Devices and Circuits, 5th Edition</a:t>
            </a:r>
            <a:endParaRPr lang="en-US" dirty="0"/>
          </a:p>
          <a:p>
            <a:pPr>
              <a:lnSpc>
                <a:spcPct val="150000"/>
              </a:lnSpc>
            </a:pPr>
            <a:endParaRPr lang="en-US" dirty="0"/>
          </a:p>
          <a:p>
            <a:pPr>
              <a:lnSpc>
                <a:spcPct val="150000"/>
              </a:lnSpc>
            </a:pPr>
            <a:r>
              <a:rPr lang="en-US" b="1" dirty="0"/>
              <a:t>Sites and Web links:</a:t>
            </a:r>
          </a:p>
          <a:p>
            <a:pPr>
              <a:lnSpc>
                <a:spcPct val="150000"/>
              </a:lnSpc>
            </a:pPr>
            <a:r>
              <a:rPr lang="en-US" dirty="0"/>
              <a:t>1. Engineering Choice - Basic Electrical Engineering</a:t>
            </a:r>
          </a:p>
          <a:p>
            <a:pPr>
              <a:lnSpc>
                <a:spcPct val="150000"/>
              </a:lnSpc>
            </a:pPr>
            <a:r>
              <a:rPr lang="en-US" dirty="0"/>
              <a:t>2. Learn Electronics - </a:t>
            </a:r>
            <a:r>
              <a:rPr lang="en-US" dirty="0" err="1"/>
              <a:t>SparkFun</a:t>
            </a:r>
            <a:r>
              <a:rPr lang="en-US" dirty="0"/>
              <a:t> Electronics</a:t>
            </a:r>
          </a:p>
          <a:p>
            <a:pPr>
              <a:lnSpc>
                <a:spcPct val="150000"/>
              </a:lnSpc>
            </a:pPr>
            <a:r>
              <a:rPr lang="en-US" dirty="0"/>
              <a:t>3. https://www.allaboutcircuits.com</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cstate="print"/>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3773420441"/>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2392" y="167951"/>
            <a:ext cx="6170855" cy="6111678"/>
          </a:xfrm>
          <a:prstGeom prst="rect">
            <a:avLst/>
          </a:prstGeom>
          <a:noFill/>
          <a:ln>
            <a:noFill/>
          </a:ln>
        </p:spPr>
      </p:pic>
      <p:sp>
        <p:nvSpPr>
          <p:cNvPr id="476" name="Google Shape;476;p16"/>
          <p:cNvSpPr txBox="1"/>
          <p:nvPr/>
        </p:nvSpPr>
        <p:spPr>
          <a:xfrm>
            <a:off x="4243062" y="3131884"/>
            <a:ext cx="7948938" cy="236728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2800" b="1" dirty="0">
                <a:solidFill>
                  <a:srgbClr val="C00000"/>
                </a:solidFill>
                <a:cs typeface="Poppins" pitchFamily="2" charset="77"/>
              </a:rPr>
              <a:t>BASIC ELECTRICAL &amp; ELCTRONIC CIRCUITS (BEC)</a:t>
            </a:r>
          </a:p>
          <a:p>
            <a:pPr marR="0" lvl="0" indent="0" algn="ctr">
              <a:spcBef>
                <a:spcPts val="0"/>
              </a:spcBef>
              <a:spcAft>
                <a:spcPts val="0"/>
              </a:spcAft>
              <a:buNone/>
            </a:pPr>
            <a:r>
              <a:rPr lang="en-US" sz="2800" b="1">
                <a:solidFill>
                  <a:srgbClr val="C00000"/>
                </a:solidFill>
                <a:cs typeface="Poppins" pitchFamily="2" charset="77"/>
              </a:rPr>
              <a:t>COURSE CODE : 23EC1203</a:t>
            </a:r>
            <a:r>
              <a:rPr lang="en-US" sz="3200" b="1" dirty="0">
                <a:solidFill>
                  <a:srgbClr val="C00000"/>
                </a:solidFill>
                <a:cs typeface="Poppins" pitchFamily="2" charset="77"/>
                <a:sym typeface="BioRhyme ExtraBold"/>
              </a:rPr>
              <a:t> </a:t>
            </a: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dirty="0">
                <a:solidFill>
                  <a:srgbClr val="C00000"/>
                </a:solidFill>
                <a:effectLst/>
                <a:cs typeface="Poppins" panose="00000500000000000000" pitchFamily="2" charset="0"/>
              </a:rPr>
              <a:t>VOLTAGE REGULATOR-LM723</a:t>
            </a:r>
          </a:p>
        </p:txBody>
      </p:sp>
      <p:sp>
        <p:nvSpPr>
          <p:cNvPr id="19" name="Rectangle: Rounded Corners 18"/>
          <p:cNvSpPr/>
          <p:nvPr/>
        </p:nvSpPr>
        <p:spPr>
          <a:xfrm>
            <a:off x="6287807" y="1913706"/>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233250" y="1880470"/>
            <a:ext cx="4595447" cy="646290"/>
          </a:xfrm>
          <a:prstGeom prst="rect">
            <a:avLst/>
          </a:prstGeom>
          <a:noFill/>
          <a:ln>
            <a:noFill/>
          </a:ln>
          <a:effectLst/>
        </p:spPr>
        <p:txBody>
          <a:bodyPr spcFirstLastPara="1" wrap="square" lIns="91425" tIns="45700" rIns="91425" bIns="45700" anchor="t" anchorCtr="0">
            <a:spAutoFit/>
          </a:bodyPr>
          <a:lstStyle/>
          <a:p>
            <a:pPr algn="ctr"/>
            <a:r>
              <a:rPr lang="en-US" sz="3600" dirty="0">
                <a:solidFill>
                  <a:srgbClr val="C00000"/>
                </a:solidFill>
                <a:cs typeface="Poppins" pitchFamily="2" charset="77"/>
              </a:rPr>
              <a:t>Department of BES-II</a:t>
            </a:r>
          </a:p>
        </p:txBody>
      </p:sp>
      <p:sp>
        <p:nvSpPr>
          <p:cNvPr id="8" name="Google Shape;502;p17"/>
          <p:cNvSpPr/>
          <p:nvPr/>
        </p:nvSpPr>
        <p:spPr>
          <a:xfrm>
            <a:off x="7099935" y="5511800"/>
            <a:ext cx="2480310" cy="452755"/>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panose="020F0502020204030204"/>
                <a:cs typeface="Poppins" panose="00000500000000000000" pitchFamily="2" charset="0"/>
                <a:sym typeface="Calibri" panose="020F0502020204030204"/>
              </a:rPr>
              <a:t>L-12 (Part-2)</a:t>
            </a:r>
            <a:endParaRPr sz="2400" dirty="0">
              <a:solidFill>
                <a:schemeClr val="lt1"/>
              </a:solidFill>
              <a:ea typeface="Calibri" panose="020F0502020204030204"/>
              <a:cs typeface="Poppins" panose="00000500000000000000" pitchFamily="2" charset="0"/>
              <a:sym typeface="Calibri" panose="020F0502020204030204"/>
            </a:endParaRPr>
          </a:p>
        </p:txBody>
      </p:sp>
      <p:sp>
        <p:nvSpPr>
          <p:cNvPr id="33" name="Rectangle 32"/>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spd="slow">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4471371" y="84408"/>
            <a:ext cx="356004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p:cNvSpPr txBox="1"/>
          <p:nvPr/>
        </p:nvSpPr>
        <p:spPr>
          <a:xfrm>
            <a:off x="914400" y="684469"/>
            <a:ext cx="10731286" cy="82994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basic concept of LM723 and its importantance.</a:t>
            </a:r>
          </a:p>
          <a:p>
            <a:pPr>
              <a:lnSpc>
                <a:spcPct val="150000"/>
              </a:lnSpc>
            </a:pPr>
            <a:endParaRPr lang="en-US" sz="1600" b="0" i="0" dirty="0">
              <a:effectLst/>
              <a:latin typeface="Poppins"/>
              <a:cs typeface="Poppins"/>
            </a:endParaRPr>
          </a:p>
        </p:txBody>
      </p:sp>
      <p:sp>
        <p:nvSpPr>
          <p:cNvPr id="7" name="Rounded Rectangle 17"/>
          <p:cNvSpPr/>
          <p:nvPr/>
        </p:nvSpPr>
        <p:spPr>
          <a:xfrm>
            <a:off x="4160582" y="1807062"/>
            <a:ext cx="4395589"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p:cNvSpPr txBox="1"/>
          <p:nvPr/>
        </p:nvSpPr>
        <p:spPr>
          <a:xfrm>
            <a:off x="1752600" y="2438605"/>
            <a:ext cx="8791575" cy="156845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Demonstrate the concept of voltage regulator </a:t>
            </a:r>
          </a:p>
          <a:p>
            <a:pPr marL="342900" indent="-342900">
              <a:buAutoNum type="arabicPeriod"/>
            </a:pPr>
            <a:r>
              <a:rPr lang="en-US" sz="1600" b="0" i="0" dirty="0">
                <a:effectLst/>
                <a:latin typeface="Arial" panose="020B0604020202020204" pitchFamily="34" charset="0"/>
              </a:rPr>
              <a:t>Describe the working principle of LM723</a:t>
            </a:r>
          </a:p>
          <a:p>
            <a:pPr marL="342900" indent="-342900">
              <a:buAutoNum type="arabicPeriod"/>
            </a:pPr>
            <a:r>
              <a:rPr lang="en-US" sz="1600" b="0" i="0" dirty="0">
                <a:effectLst/>
                <a:latin typeface="Arial" panose="020B0604020202020204" pitchFamily="34" charset="0"/>
              </a:rPr>
              <a:t>List out the characterstics of LM723</a:t>
            </a:r>
          </a:p>
          <a:p>
            <a:pPr marL="342900" indent="-342900">
              <a:buAutoNum type="arabicPeriod"/>
            </a:pPr>
            <a:r>
              <a:rPr lang="en-US" sz="1600" b="0" i="0" dirty="0">
                <a:effectLst/>
                <a:latin typeface="Arial" panose="020B0604020202020204"/>
                <a:cs typeface="Arial" panose="020B0604020202020204"/>
              </a:rPr>
              <a:t>Describe the importantance of LM723</a:t>
            </a:r>
            <a:endParaRPr lang="en-US" sz="1600" dirty="0">
              <a:latin typeface="Arial" panose="020B0604020202020204"/>
              <a:cs typeface="Arial" panose="020B0604020202020204"/>
            </a:endParaRPr>
          </a:p>
        </p:txBody>
      </p:sp>
      <p:pic>
        <p:nvPicPr>
          <p:cNvPr id="11" name="Graphic 10" descr="Bullseye outline"/>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p:cNvSpPr txBox="1"/>
          <p:nvPr/>
        </p:nvSpPr>
        <p:spPr>
          <a:xfrm>
            <a:off x="1752600" y="4772230"/>
            <a:ext cx="8791575" cy="132207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panose="020B0604020202020204"/>
                <a:cs typeface="Arial" panose="020B0604020202020204"/>
              </a:rPr>
              <a:t>At the end of this </a:t>
            </a:r>
            <a:r>
              <a:rPr lang="en-US" sz="1600" dirty="0">
                <a:latin typeface="Arial" panose="020B0604020202020204"/>
                <a:cs typeface="Arial" panose="020B0604020202020204"/>
              </a:rPr>
              <a:t>session</a:t>
            </a:r>
            <a:r>
              <a:rPr lang="en-US" sz="1600" b="0" i="0" dirty="0">
                <a:effectLst/>
                <a:latin typeface="Arial" panose="020B0604020202020204"/>
                <a:cs typeface="Arial" panose="020B0604020202020204"/>
              </a:rPr>
              <a:t>, you should be able to:</a:t>
            </a:r>
          </a:p>
          <a:p>
            <a:pPr marL="342900" indent="-342900">
              <a:buAutoNum type="arabicPeriod"/>
            </a:pPr>
            <a:r>
              <a:rPr lang="en-US" sz="1600" b="0" i="0" dirty="0">
                <a:effectLst/>
                <a:latin typeface="Arial" panose="020B0604020202020204" pitchFamily="34" charset="0"/>
              </a:rPr>
              <a:t>Define the voltage regulator</a:t>
            </a:r>
          </a:p>
          <a:p>
            <a:pPr marL="342900" indent="-342900">
              <a:buAutoNum type="arabicPeriod"/>
            </a:pPr>
            <a:r>
              <a:rPr lang="en-US" sz="1600" b="0" i="0" dirty="0">
                <a:effectLst/>
                <a:latin typeface="Arial" panose="020B0604020202020204" pitchFamily="34" charset="0"/>
              </a:rPr>
              <a:t>Describe the LM723</a:t>
            </a:r>
          </a:p>
          <a:p>
            <a:pPr marL="342900" indent="-342900">
              <a:buAutoNum type="arabicPeriod"/>
            </a:pPr>
            <a:r>
              <a:rPr lang="en-US" sz="1600" dirty="0">
                <a:latin typeface="Arial" panose="020B0604020202020204" pitchFamily="34" charset="0"/>
              </a:rPr>
              <a:t>Summarize the overall concept of LM723</a:t>
            </a:r>
            <a:endParaRPr lang="en-US" sz="1600" dirty="0">
              <a:latin typeface="Poppins" panose="00000500000000000000" pitchFamily="2" charset="0"/>
              <a:cs typeface="Poppins" panose="00000500000000000000" pitchFamily="2"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bldLvl="0" animBg="1"/>
      <p:bldP spid="7" grpId="0" animBg="1"/>
      <p:bldP spid="9" grpId="0" bldLvl="0" animBg="1"/>
      <p:bldP spid="29" grpId="0" animBg="1"/>
      <p:bldP spid="37"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p:cNvSpPr/>
          <p:nvPr/>
        </p:nvSpPr>
        <p:spPr>
          <a:xfrm>
            <a:off x="2881149" y="1176354"/>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sp>
        <p:nvSpPr>
          <p:cNvPr id="53" name="TextBox 52"/>
          <p:cNvSpPr txBox="1"/>
          <p:nvPr/>
        </p:nvSpPr>
        <p:spPr>
          <a:xfrm>
            <a:off x="1083310" y="2331125"/>
            <a:ext cx="10086340" cy="3575685"/>
          </a:xfrm>
          <a:prstGeom prst="rect">
            <a:avLst/>
          </a:prstGeom>
          <a:noFill/>
        </p:spPr>
        <p:txBody>
          <a:bodyPr wrap="square" rtlCol="0">
            <a:noAutofit/>
          </a:bodyPr>
          <a:lstStyle/>
          <a:p>
            <a:pPr marL="285750" indent="-285750" algn="just">
              <a:lnSpc>
                <a:spcPct val="150000"/>
              </a:lnSpc>
              <a:buFont typeface="Wingdings" panose="05000000000000000000" charset="0"/>
              <a:buChar char="q"/>
            </a:pPr>
            <a:r>
              <a:rPr lang="en-US" sz="2000" dirty="0">
                <a:latin typeface="Times New Roman" panose="02020603050405020304" charset="0"/>
                <a:cs typeface="Times New Roman" panose="02020603050405020304" charset="0"/>
              </a:rPr>
              <a:t>There are various types of voltage regulators for getting a regulated power supply like 7812, 7805, etc. However, all these regulators provide a fixed value output. For inconsistent voltage regulation, an LM317 IC voltage regulator.</a:t>
            </a:r>
          </a:p>
          <a:p>
            <a:pPr marL="285750" indent="-285750" algn="just">
              <a:lnSpc>
                <a:spcPct val="150000"/>
              </a:lnSpc>
              <a:buFont typeface="Wingdings" panose="05000000000000000000" charset="0"/>
              <a:buChar char="q"/>
            </a:pPr>
            <a:r>
              <a:rPr lang="en-US" sz="2000" dirty="0">
                <a:gradFill>
                  <a:gsLst>
                    <a:gs pos="0">
                      <a:srgbClr val="FE4444"/>
                    </a:gs>
                    <a:gs pos="100000">
                      <a:srgbClr val="832B2B"/>
                    </a:gs>
                  </a:gsLst>
                  <a:lin scaled="0"/>
                </a:gradFill>
                <a:latin typeface="Times New Roman" panose="02020603050405020304" charset="0"/>
                <a:cs typeface="Times New Roman" panose="02020603050405020304" charset="0"/>
              </a:rPr>
              <a:t>LM723 IC is a changeable voltage regulator, used in the series regulator application with 150mA current o/p without exterior pass transistor. </a:t>
            </a:r>
          </a:p>
          <a:p>
            <a:pPr marL="285750" indent="-285750" algn="just">
              <a:lnSpc>
                <a:spcPct val="150000"/>
              </a:lnSpc>
              <a:buFont typeface="Wingdings" panose="05000000000000000000" charset="0"/>
              <a:buChar char="q"/>
            </a:pPr>
            <a:r>
              <a:rPr lang="en-US" sz="2000" dirty="0">
                <a:solidFill>
                  <a:schemeClr val="accent2">
                    <a:lumMod val="75000"/>
                  </a:schemeClr>
                </a:solidFill>
                <a:latin typeface="Times New Roman" panose="02020603050405020304" charset="0"/>
                <a:cs typeface="Times New Roman" panose="02020603050405020304" charset="0"/>
              </a:rPr>
              <a:t>When we utilize an external transistor, then it supplies 10A current to drive the load. The input voltage supply is maximum 40V &amp; its o/p voltage ranges from 3volts to 40volts.</a:t>
            </a:r>
          </a:p>
          <a:p>
            <a:pPr marL="285750" indent="-285750" algn="just">
              <a:lnSpc>
                <a:spcPct val="150000"/>
              </a:lnSpc>
              <a:buFont typeface="Wingdings" panose="05000000000000000000" charset="0"/>
              <a:buChar char="q"/>
            </a:pPr>
            <a:endParaRPr lang="en-US" dirty="0">
              <a:solidFill>
                <a:schemeClr val="accent2">
                  <a:lumMod val="75000"/>
                </a:schemeClr>
              </a:solidFill>
              <a:latin typeface="Times New Roman" panose="02020603050405020304" charset="0"/>
              <a:cs typeface="Times New Roman" panose="02020603050405020304" charset="0"/>
            </a:endParaRPr>
          </a:p>
        </p:txBody>
      </p:sp>
    </p:spTree>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152441" y="1138767"/>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26" name="TextBox 25"/>
          <p:cNvSpPr txBox="1"/>
          <p:nvPr/>
        </p:nvSpPr>
        <p:spPr>
          <a:xfrm>
            <a:off x="1139483" y="984738"/>
            <a:ext cx="10227212" cy="5355312"/>
          </a:xfrm>
          <a:prstGeom prst="rect">
            <a:avLst/>
          </a:prstGeom>
          <a:noFill/>
        </p:spPr>
        <p:txBody>
          <a:bodyPr wrap="square" rtlCol="0">
            <a:spAutoFit/>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pic>
        <p:nvPicPr>
          <p:cNvPr id="2" name="Picture 1"/>
          <p:cNvPicPr>
            <a:picLocks noChangeAspect="1"/>
          </p:cNvPicPr>
          <p:nvPr/>
        </p:nvPicPr>
        <p:blipFill>
          <a:blip r:embed="rId2"/>
          <a:stretch>
            <a:fillRect/>
          </a:stretch>
        </p:blipFill>
        <p:spPr>
          <a:xfrm>
            <a:off x="5603875" y="2379345"/>
            <a:ext cx="4252595" cy="2886075"/>
          </a:xfrm>
          <a:prstGeom prst="rect">
            <a:avLst/>
          </a:prstGeom>
        </p:spPr>
      </p:pic>
      <p:pic>
        <p:nvPicPr>
          <p:cNvPr id="5" name="Picture 4"/>
          <p:cNvPicPr>
            <a:picLocks noChangeAspect="1"/>
          </p:cNvPicPr>
          <p:nvPr/>
        </p:nvPicPr>
        <p:blipFill>
          <a:blip r:embed="rId3"/>
          <a:stretch>
            <a:fillRect/>
          </a:stretch>
        </p:blipFill>
        <p:spPr>
          <a:xfrm>
            <a:off x="1361440" y="2823210"/>
            <a:ext cx="2595245" cy="1998345"/>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2995352" y="1115635"/>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DESCRIPTION         (Cont..)</a:t>
            </a:r>
          </a:p>
        </p:txBody>
      </p:sp>
      <p:sp>
        <p:nvSpPr>
          <p:cNvPr id="2" name="Rectangles 1"/>
          <p:cNvSpPr/>
          <p:nvPr/>
        </p:nvSpPr>
        <p:spPr>
          <a:xfrm>
            <a:off x="6445885" y="1939925"/>
            <a:ext cx="5486400" cy="4113530"/>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just">
              <a:lnSpc>
                <a:spcPct val="150000"/>
              </a:lnSpc>
            </a:pPr>
            <a:r>
              <a:rPr lang="en-US" dirty="0">
                <a:solidFill>
                  <a:schemeClr val="tx1"/>
                </a:solidFill>
                <a:latin typeface="Times New Roman" panose="02020603050405020304" charset="0"/>
                <a:cs typeface="Times New Roman" panose="02020603050405020304" charset="0"/>
              </a:rPr>
              <a:t>Pin9 (</a:t>
            </a:r>
            <a:r>
              <a:rPr lang="en-US" dirty="0" err="1">
                <a:solidFill>
                  <a:schemeClr val="tx1"/>
                </a:solidFill>
                <a:latin typeface="Times New Roman" panose="02020603050405020304" charset="0"/>
                <a:cs typeface="Times New Roman" panose="02020603050405020304" charset="0"/>
              </a:rPr>
              <a:t>Vz</a:t>
            </a:r>
            <a:r>
              <a:rPr lang="en-US">
                <a:solidFill>
                  <a:schemeClr val="tx1"/>
                </a:solidFill>
                <a:latin typeface="Times New Roman" panose="02020603050405020304" charset="0"/>
                <a:cs typeface="Times New Roman" panose="02020603050405020304" charset="0"/>
              </a:rPr>
              <a:t>): This pin is generally used to make negative regulators</a:t>
            </a:r>
          </a:p>
          <a:p>
            <a:pPr algn="just">
              <a:lnSpc>
                <a:spcPct val="150000"/>
              </a:lnSpc>
            </a:pPr>
            <a:r>
              <a:rPr lang="en-US" dirty="0">
                <a:solidFill>
                  <a:schemeClr val="tx1"/>
                </a:solidFill>
                <a:latin typeface="Times New Roman" panose="02020603050405020304" charset="0"/>
                <a:cs typeface="Times New Roman" panose="02020603050405020304" charset="0"/>
              </a:rPr>
              <a:t>Pin10 (</a:t>
            </a:r>
            <a:r>
              <a:rPr lang="en-US" dirty="0" err="1">
                <a:solidFill>
                  <a:schemeClr val="tx1"/>
                </a:solidFill>
                <a:latin typeface="Times New Roman" panose="02020603050405020304" charset="0"/>
                <a:cs typeface="Times New Roman" panose="02020603050405020304" charset="0"/>
              </a:rPr>
              <a:t>Vout</a:t>
            </a:r>
            <a:r>
              <a:rPr lang="en-US" dirty="0">
                <a:solidFill>
                  <a:schemeClr val="tx1"/>
                </a:solidFill>
                <a:latin typeface="Times New Roman" panose="02020603050405020304" charset="0"/>
                <a:cs typeface="Times New Roman" panose="02020603050405020304" charset="0"/>
              </a:rPr>
              <a:t>): This is the o/p pin</a:t>
            </a:r>
          </a:p>
          <a:p>
            <a:pPr algn="just">
              <a:lnSpc>
                <a:spcPct val="150000"/>
              </a:lnSpc>
            </a:pPr>
            <a:r>
              <a:rPr lang="en-US" dirty="0">
                <a:solidFill>
                  <a:schemeClr val="tx1"/>
                </a:solidFill>
                <a:latin typeface="Times New Roman" panose="02020603050405020304" charset="0"/>
                <a:cs typeface="Times New Roman" panose="02020603050405020304" charset="0"/>
              </a:rPr>
              <a:t>Pin11 (</a:t>
            </a:r>
            <a:r>
              <a:rPr lang="en-US" dirty="0" err="1">
                <a:solidFill>
                  <a:schemeClr val="tx1"/>
                </a:solidFill>
                <a:latin typeface="Times New Roman" panose="02020603050405020304" charset="0"/>
                <a:cs typeface="Times New Roman" panose="02020603050405020304" charset="0"/>
              </a:rPr>
              <a:t>Vc</a:t>
            </a:r>
            <a:r>
              <a:rPr lang="en-US" dirty="0">
                <a:solidFill>
                  <a:schemeClr val="tx1"/>
                </a:solidFill>
                <a:latin typeface="Times New Roman" panose="02020603050405020304" charset="0"/>
                <a:cs typeface="Times New Roman" panose="02020603050405020304" charset="0"/>
              </a:rPr>
              <a:t>): This is the series pass transistor’s collector input. Generally, it is connected directly to the +</a:t>
            </a:r>
            <a:r>
              <a:rPr lang="en-US" dirty="0" err="1">
                <a:solidFill>
                  <a:schemeClr val="tx1"/>
                </a:solidFill>
                <a:latin typeface="Times New Roman" panose="02020603050405020304" charset="0"/>
                <a:cs typeface="Times New Roman" panose="02020603050405020304" charset="0"/>
              </a:rPr>
              <a:t>ve</a:t>
            </a:r>
            <a:r>
              <a:rPr lang="en-US" dirty="0">
                <a:solidFill>
                  <a:schemeClr val="tx1"/>
                </a:solidFill>
                <a:latin typeface="Times New Roman" panose="02020603050405020304" charset="0"/>
                <a:cs typeface="Times New Roman" panose="02020603050405020304" charset="0"/>
              </a:rPr>
              <a:t> voltage supply if an exterior transistor is not used.</a:t>
            </a:r>
          </a:p>
          <a:p>
            <a:pPr algn="just">
              <a:lnSpc>
                <a:spcPct val="150000"/>
              </a:lnSpc>
            </a:pPr>
            <a:r>
              <a:rPr lang="en-US" dirty="0">
                <a:solidFill>
                  <a:schemeClr val="tx1"/>
                </a:solidFill>
                <a:latin typeface="Times New Roman" panose="02020603050405020304" charset="0"/>
                <a:cs typeface="Times New Roman" panose="02020603050405020304" charset="0"/>
              </a:rPr>
              <a:t>Pin 12 (V+): This is the input of the positive supply</a:t>
            </a:r>
          </a:p>
          <a:p>
            <a:pPr algn="just">
              <a:lnSpc>
                <a:spcPct val="150000"/>
              </a:lnSpc>
            </a:pPr>
            <a:r>
              <a:rPr lang="en-US" dirty="0">
                <a:solidFill>
                  <a:schemeClr val="tx1"/>
                </a:solidFill>
                <a:latin typeface="Times New Roman" panose="02020603050405020304" charset="0"/>
                <a:cs typeface="Times New Roman" panose="02020603050405020304" charset="0"/>
              </a:rPr>
              <a:t>Pin13 (Frequency Compensation): This pin assists in decreasing noise with a 100pf capacitor</a:t>
            </a:r>
          </a:p>
          <a:p>
            <a:pPr algn="just">
              <a:lnSpc>
                <a:spcPct val="150000"/>
              </a:lnSpc>
            </a:pPr>
            <a:r>
              <a:rPr lang="en-US" dirty="0">
                <a:solidFill>
                  <a:schemeClr val="tx1"/>
                </a:solidFill>
                <a:latin typeface="Times New Roman" panose="02020603050405020304" charset="0"/>
                <a:cs typeface="Times New Roman" panose="02020603050405020304" charset="0"/>
              </a:rPr>
              <a:t>Pin 14 (NC): Not connected.</a:t>
            </a:r>
          </a:p>
        </p:txBody>
      </p:sp>
      <p:sp>
        <p:nvSpPr>
          <p:cNvPr id="3" name="Rectangles 2"/>
          <p:cNvSpPr/>
          <p:nvPr/>
        </p:nvSpPr>
        <p:spPr>
          <a:xfrm>
            <a:off x="259080" y="1939925"/>
            <a:ext cx="6069965" cy="4113530"/>
          </a:xfrm>
          <a:prstGeom prst="rect">
            <a:avLst/>
          </a:prstGeom>
          <a:solidFill>
            <a:schemeClr val="accent1">
              <a:lumMod val="20000"/>
              <a:lumOff val="80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just">
              <a:lnSpc>
                <a:spcPct val="150000"/>
              </a:lnSpc>
            </a:pPr>
            <a:endParaRPr lang="en-US" dirty="0">
              <a:solidFill>
                <a:schemeClr val="tx1"/>
              </a:solidFill>
              <a:latin typeface="Times New Roman" panose="02020603050405020304" charset="0"/>
              <a:cs typeface="Times New Roman" panose="02020603050405020304" charset="0"/>
            </a:endParaRPr>
          </a:p>
          <a:p>
            <a:pPr algn="just">
              <a:lnSpc>
                <a:spcPct val="150000"/>
              </a:lnSpc>
            </a:pPr>
            <a:r>
              <a:rPr lang="en-US" dirty="0">
                <a:solidFill>
                  <a:schemeClr val="tx1"/>
                </a:solidFill>
                <a:latin typeface="Times New Roman" panose="02020603050405020304" charset="0"/>
                <a:cs typeface="Times New Roman" panose="02020603050405020304" charset="0"/>
              </a:rPr>
              <a:t>Pin1 (NC): Not connected</a:t>
            </a:r>
          </a:p>
          <a:p>
            <a:pPr algn="just">
              <a:lnSpc>
                <a:spcPct val="150000"/>
              </a:lnSpc>
            </a:pPr>
            <a:r>
              <a:rPr lang="en-US" dirty="0">
                <a:solidFill>
                  <a:schemeClr val="tx1"/>
                </a:solidFill>
                <a:latin typeface="Times New Roman" panose="02020603050405020304" charset="0"/>
                <a:cs typeface="Times New Roman" panose="02020603050405020304" charset="0"/>
              </a:rPr>
              <a:t>Pin2 (Current Limit): This pin is used to limit the current</a:t>
            </a:r>
          </a:p>
          <a:p>
            <a:pPr algn="just">
              <a:lnSpc>
                <a:spcPct val="150000"/>
              </a:lnSpc>
            </a:pPr>
            <a:r>
              <a:rPr lang="en-US" dirty="0">
                <a:solidFill>
                  <a:schemeClr val="tx1"/>
                </a:solidFill>
                <a:latin typeface="Times New Roman" panose="02020603050405020304" charset="0"/>
                <a:cs typeface="Times New Roman" panose="02020603050405020304" charset="0"/>
              </a:rPr>
              <a:t>Pin3 (Current Sense): This pin is used in foldback application as well as to limit the current</a:t>
            </a:r>
          </a:p>
          <a:p>
            <a:pPr algn="just">
              <a:lnSpc>
                <a:spcPct val="150000"/>
              </a:lnSpc>
            </a:pPr>
            <a:r>
              <a:rPr lang="en-US" dirty="0">
                <a:solidFill>
                  <a:schemeClr val="tx1"/>
                </a:solidFill>
                <a:latin typeface="Times New Roman" panose="02020603050405020304" charset="0"/>
                <a:cs typeface="Times New Roman" panose="02020603050405020304" charset="0"/>
              </a:rPr>
              <a:t>Pin4 (Inverting </a:t>
            </a:r>
            <a:r>
              <a:rPr lang="en-US" sz="2000" dirty="0">
                <a:solidFill>
                  <a:schemeClr val="tx1"/>
                </a:solidFill>
                <a:latin typeface="Times New Roman" panose="02020603050405020304" charset="0"/>
                <a:cs typeface="Times New Roman" panose="02020603050405020304" charset="0"/>
              </a:rPr>
              <a:t>Input</a:t>
            </a:r>
            <a:r>
              <a:rPr lang="en-US" dirty="0">
                <a:solidFill>
                  <a:schemeClr val="tx1"/>
                </a:solidFill>
                <a:latin typeface="Times New Roman" panose="02020603050405020304" charset="0"/>
                <a:cs typeface="Times New Roman" panose="02020603050405020304" charset="0"/>
              </a:rPr>
              <a:t>): This pin provides stable o/p voltage</a:t>
            </a:r>
          </a:p>
          <a:p>
            <a:pPr algn="just">
              <a:lnSpc>
                <a:spcPct val="150000"/>
              </a:lnSpc>
            </a:pPr>
            <a:r>
              <a:rPr lang="en-US" dirty="0">
                <a:solidFill>
                  <a:schemeClr val="tx1"/>
                </a:solidFill>
                <a:latin typeface="Times New Roman" panose="02020603050405020304" charset="0"/>
                <a:cs typeface="Times New Roman" panose="02020603050405020304" charset="0"/>
              </a:rPr>
              <a:t>Pin5 (Non-inverting Input): This pin is used to supply a reference voltage to the inside of the operational amplifier.</a:t>
            </a:r>
          </a:p>
          <a:p>
            <a:pPr algn="just">
              <a:lnSpc>
                <a:spcPct val="150000"/>
              </a:lnSpc>
            </a:pPr>
            <a:r>
              <a:rPr lang="en-US" dirty="0">
                <a:solidFill>
                  <a:schemeClr val="tx1"/>
                </a:solidFill>
                <a:latin typeface="Times New Roman" panose="02020603050405020304" charset="0"/>
                <a:cs typeface="Times New Roman" panose="02020603050405020304" charset="0"/>
              </a:rPr>
              <a:t>Pin6 (</a:t>
            </a:r>
            <a:r>
              <a:rPr lang="en-US" dirty="0" err="1">
                <a:solidFill>
                  <a:schemeClr val="tx1"/>
                </a:solidFill>
                <a:latin typeface="Times New Roman" panose="02020603050405020304" charset="0"/>
                <a:cs typeface="Times New Roman" panose="02020603050405020304" charset="0"/>
              </a:rPr>
              <a:t>Vref</a:t>
            </a:r>
            <a:r>
              <a:rPr lang="en-US" dirty="0">
                <a:solidFill>
                  <a:schemeClr val="tx1"/>
                </a:solidFill>
                <a:latin typeface="Times New Roman" panose="02020603050405020304" charset="0"/>
                <a:cs typeface="Times New Roman" panose="02020603050405020304" charset="0"/>
              </a:rPr>
              <a:t>): This pin provides an almost 7v reference voltage</a:t>
            </a:r>
          </a:p>
          <a:p>
            <a:pPr algn="just">
              <a:lnSpc>
                <a:spcPct val="150000"/>
              </a:lnSpc>
            </a:pPr>
            <a:r>
              <a:rPr lang="en-US" dirty="0">
                <a:solidFill>
                  <a:schemeClr val="tx1"/>
                </a:solidFill>
                <a:latin typeface="Times New Roman" panose="02020603050405020304" charset="0"/>
                <a:cs typeface="Times New Roman" panose="02020603050405020304" charset="0"/>
              </a:rPr>
              <a:t>Pin7 (-</a:t>
            </a:r>
            <a:r>
              <a:rPr lang="en-US" dirty="0" err="1">
                <a:solidFill>
                  <a:schemeClr val="tx1"/>
                </a:solidFill>
                <a:latin typeface="Times New Roman" panose="02020603050405020304" charset="0"/>
                <a:cs typeface="Times New Roman" panose="02020603050405020304" charset="0"/>
              </a:rPr>
              <a:t>Vcc</a:t>
            </a:r>
            <a:r>
              <a:rPr lang="en-US" dirty="0">
                <a:solidFill>
                  <a:schemeClr val="tx1"/>
                </a:solidFill>
                <a:latin typeface="Times New Roman" panose="02020603050405020304" charset="0"/>
                <a:cs typeface="Times New Roman" panose="02020603050405020304" charset="0"/>
              </a:rPr>
              <a:t>): GND (Ground) Pin</a:t>
            </a:r>
          </a:p>
          <a:p>
            <a:pPr algn="just">
              <a:lnSpc>
                <a:spcPct val="150000"/>
              </a:lnSpc>
            </a:pPr>
            <a:r>
              <a:rPr lang="en-US" dirty="0">
                <a:solidFill>
                  <a:schemeClr val="tx1"/>
                </a:solidFill>
                <a:latin typeface="Times New Roman" panose="02020603050405020304" charset="0"/>
                <a:cs typeface="Times New Roman" panose="02020603050405020304" charset="0"/>
                <a:sym typeface="+mn-ea"/>
              </a:rPr>
              <a:t>Pin8 (NC): Not connected</a:t>
            </a:r>
            <a:endParaRPr lang="en-US" dirty="0">
              <a:solidFill>
                <a:schemeClr val="tx1"/>
              </a:solidFill>
              <a:latin typeface="Times New Roman" panose="02020603050405020304" charset="0"/>
              <a:cs typeface="Times New Roman" panose="02020603050405020304" charset="0"/>
            </a:endParaRPr>
          </a:p>
          <a:p>
            <a:pPr algn="just">
              <a:lnSpc>
                <a:spcPct val="150000"/>
              </a:lnSpc>
            </a:pPr>
            <a:endParaRPr lang="en-US" dirty="0">
              <a:solidFill>
                <a:schemeClr val="tx1"/>
              </a:solidFill>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FEATURES OF LM723</a:t>
            </a:r>
          </a:p>
        </p:txBody>
      </p:sp>
      <p:sp>
        <p:nvSpPr>
          <p:cNvPr id="3" name="Rectangles 2"/>
          <p:cNvSpPr/>
          <p:nvPr/>
        </p:nvSpPr>
        <p:spPr>
          <a:xfrm>
            <a:off x="346710" y="2172970"/>
            <a:ext cx="11162030" cy="3793490"/>
          </a:xfrm>
          <a:prstGeom prst="rect">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just">
              <a:lnSpc>
                <a:spcPct val="150000"/>
              </a:lnSpc>
            </a:pPr>
            <a:r>
              <a:rPr lang="en-US" b="1" u="sng" dirty="0">
                <a:solidFill>
                  <a:schemeClr val="tx1"/>
                </a:solidFill>
                <a:latin typeface="Times New Roman" panose="02020603050405020304" charset="0"/>
                <a:cs typeface="Times New Roman" panose="02020603050405020304" charset="0"/>
              </a:rPr>
              <a:t>The features of the LM723 include the following.</a:t>
            </a:r>
          </a:p>
          <a:p>
            <a:pPr algn="just">
              <a:lnSpc>
                <a:spcPct val="150000"/>
              </a:lnSpc>
            </a:pPr>
            <a:endParaRPr lang="en-US" dirty="0">
              <a:solidFill>
                <a:schemeClr val="tx1"/>
              </a:solidFill>
              <a:latin typeface="Times New Roman" panose="02020603050405020304" charset="0"/>
              <a:cs typeface="Times New Roman" panose="02020603050405020304" charset="0"/>
            </a:endParaRPr>
          </a:p>
          <a:p>
            <a:pPr marL="285750" indent="-285750" algn="just">
              <a:lnSpc>
                <a:spcPct val="150000"/>
              </a:lnSpc>
              <a:buFont typeface="Wingdings" panose="05000000000000000000" charset="0"/>
              <a:buChar char="q"/>
            </a:pPr>
            <a:r>
              <a:rPr lang="en-US" dirty="0">
                <a:solidFill>
                  <a:schemeClr val="tx1"/>
                </a:solidFill>
                <a:latin typeface="Times New Roman" panose="02020603050405020304" charset="0"/>
                <a:cs typeface="Times New Roman" panose="02020603050405020304" charset="0"/>
              </a:rPr>
              <a:t>The </a:t>
            </a:r>
            <a:r>
              <a:rPr lang="en-US" sz="2000" dirty="0">
                <a:solidFill>
                  <a:schemeClr val="tx1"/>
                </a:solidFill>
                <a:latin typeface="Times New Roman" panose="02020603050405020304" charset="0"/>
                <a:cs typeface="Times New Roman" panose="02020603050405020304" charset="0"/>
              </a:rPr>
              <a:t>unnecessary</a:t>
            </a:r>
            <a:r>
              <a:rPr lang="en-US" dirty="0">
                <a:solidFill>
                  <a:schemeClr val="tx1"/>
                </a:solidFill>
                <a:latin typeface="Times New Roman" panose="02020603050405020304" charset="0"/>
                <a:cs typeface="Times New Roman" panose="02020603050405020304" charset="0"/>
              </a:rPr>
              <a:t> o/p current will be 150mA without using an exterior pass transistor.</a:t>
            </a:r>
          </a:p>
          <a:p>
            <a:pPr marL="285750" indent="-285750" algn="just">
              <a:lnSpc>
                <a:spcPct val="150000"/>
              </a:lnSpc>
              <a:buFont typeface="Wingdings" panose="05000000000000000000" charset="0"/>
              <a:buChar char="q"/>
            </a:pPr>
            <a:r>
              <a:rPr lang="en-US" dirty="0">
                <a:solidFill>
                  <a:schemeClr val="tx1"/>
                </a:solidFill>
                <a:latin typeface="Times New Roman" panose="02020603050405020304" charset="0"/>
                <a:cs typeface="Times New Roman" panose="02020603050405020304" charset="0"/>
              </a:rPr>
              <a:t>The maximum input supply voltage will be 40V.</a:t>
            </a:r>
          </a:p>
          <a:p>
            <a:pPr marL="285750" indent="-285750" algn="just">
              <a:lnSpc>
                <a:spcPct val="150000"/>
              </a:lnSpc>
              <a:buFont typeface="Wingdings" panose="05000000000000000000" charset="0"/>
              <a:buChar char="q"/>
            </a:pPr>
            <a:r>
              <a:rPr lang="en-US" dirty="0">
                <a:solidFill>
                  <a:schemeClr val="tx1"/>
                </a:solidFill>
                <a:latin typeface="Times New Roman" panose="02020603050405020304" charset="0"/>
                <a:cs typeface="Times New Roman" panose="02020603050405020304" charset="0"/>
              </a:rPr>
              <a:t>It offers modifiable o/p from 3volts to 37volts.</a:t>
            </a:r>
          </a:p>
          <a:p>
            <a:pPr marL="285750" indent="-285750" algn="just">
              <a:lnSpc>
                <a:spcPct val="150000"/>
              </a:lnSpc>
              <a:buFont typeface="Wingdings" panose="05000000000000000000" charset="0"/>
              <a:buChar char="q"/>
            </a:pPr>
            <a:r>
              <a:rPr lang="en-US" dirty="0">
                <a:solidFill>
                  <a:schemeClr val="tx1"/>
                </a:solidFill>
                <a:latin typeface="Times New Roman" panose="02020603050405020304" charset="0"/>
                <a:cs typeface="Times New Roman" panose="02020603050405020304" charset="0"/>
              </a:rPr>
              <a:t>These ICs are used to make switching &amp; linear regulator.</a:t>
            </a:r>
          </a:p>
          <a:p>
            <a:pPr marL="285750" indent="-285750" algn="just">
              <a:lnSpc>
                <a:spcPct val="150000"/>
              </a:lnSpc>
              <a:buFont typeface="Wingdings" panose="05000000000000000000" charset="0"/>
              <a:buChar char="q"/>
            </a:pPr>
            <a:r>
              <a:rPr lang="en-US" dirty="0">
                <a:solidFill>
                  <a:schemeClr val="tx1"/>
                </a:solidFill>
                <a:latin typeface="Times New Roman" panose="02020603050405020304" charset="0"/>
                <a:cs typeface="Times New Roman" panose="02020603050405020304" charset="0"/>
              </a:rPr>
              <a:t>It supplies 10A o/p current with the help of an external pass transistor.</a:t>
            </a:r>
          </a:p>
          <a:p>
            <a:pPr marL="285750" indent="-285750" algn="just">
              <a:lnSpc>
                <a:spcPct val="150000"/>
              </a:lnSpc>
              <a:buFont typeface="Wingdings" panose="05000000000000000000" charset="0"/>
              <a:buChar char="q"/>
            </a:pPr>
            <a:r>
              <a:rPr lang="en-US" dirty="0">
                <a:solidFill>
                  <a:schemeClr val="tx1"/>
                </a:solidFill>
                <a:latin typeface="Times New Roman" panose="02020603050405020304" charset="0"/>
                <a:cs typeface="Times New Roman" panose="02020603050405020304" charset="0"/>
              </a:rPr>
              <a:t>These ICs are used for different operations such as positive, negative, series, floating, and shunt.</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SPECIFICATIONS</a:t>
            </a:r>
          </a:p>
        </p:txBody>
      </p:sp>
      <p:sp>
        <p:nvSpPr>
          <p:cNvPr id="3" name="Rectangles 2"/>
          <p:cNvSpPr/>
          <p:nvPr/>
        </p:nvSpPr>
        <p:spPr>
          <a:xfrm>
            <a:off x="346710" y="2159000"/>
            <a:ext cx="11162030" cy="3793490"/>
          </a:xfrm>
          <a:prstGeom prst="rect">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just">
              <a:lnSpc>
                <a:spcPct val="150000"/>
              </a:lnSpc>
            </a:pPr>
            <a:r>
              <a:rPr lang="en-US" b="1" u="sng">
                <a:solidFill>
                  <a:schemeClr val="tx1"/>
                </a:solidFill>
                <a:latin typeface="Times New Roman" panose="02020603050405020304" charset="0"/>
                <a:cs typeface="Times New Roman" panose="02020603050405020304" charset="0"/>
              </a:rPr>
              <a:t>Specifications of LM723</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maximum i/p voltage is 40v</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reference voltage is always 7 volts</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Ripple rejection is 74 dB</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current supply from Vz pin is 25mA</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output voltage ranges from 3volts to 37 volts</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range of operating temperature will be from -55°C to +150°C</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current supply from Vref pin is 15mA</a:t>
            </a:r>
          </a:p>
          <a:p>
            <a:pPr marL="285750" indent="-285750" algn="just">
              <a:lnSpc>
                <a:spcPct val="150000"/>
              </a:lnSpc>
              <a:buFont typeface="Wingdings" panose="05000000000000000000" charset="0"/>
              <a:buChar char="q"/>
            </a:pPr>
            <a:r>
              <a:rPr lang="en-US">
                <a:solidFill>
                  <a:schemeClr val="tx1"/>
                </a:solidFill>
                <a:latin typeface="Times New Roman" panose="02020603050405020304" charset="0"/>
                <a:cs typeface="Times New Roman" panose="02020603050405020304" charset="0"/>
              </a:rPr>
              <a:t>The line and load regulation of 0.01%Vout &amp; 0.03% Vout</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BLOCK DIAGRAM</a:t>
            </a:r>
          </a:p>
        </p:txBody>
      </p:sp>
      <p:pic>
        <p:nvPicPr>
          <p:cNvPr id="2" name="Picture 1"/>
          <p:cNvPicPr>
            <a:picLocks noChangeAspect="1"/>
          </p:cNvPicPr>
          <p:nvPr/>
        </p:nvPicPr>
        <p:blipFill>
          <a:blip r:embed="rId2"/>
          <a:stretch>
            <a:fillRect/>
          </a:stretch>
        </p:blipFill>
        <p:spPr>
          <a:xfrm>
            <a:off x="1910080" y="2232660"/>
            <a:ext cx="8164830" cy="361823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BLOCK DAIGARM (cont..)</a:t>
            </a:r>
          </a:p>
        </p:txBody>
      </p:sp>
      <p:sp>
        <p:nvSpPr>
          <p:cNvPr id="3" name="Rectangles 2"/>
          <p:cNvSpPr/>
          <p:nvPr/>
        </p:nvSpPr>
        <p:spPr>
          <a:xfrm>
            <a:off x="346710" y="2012950"/>
            <a:ext cx="11162030" cy="3793490"/>
          </a:xfrm>
          <a:prstGeom prst="rect">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285750" indent="-285750" algn="just">
              <a:lnSpc>
                <a:spcPct val="100000"/>
              </a:lnSpc>
              <a:buFont typeface="Wingdings" panose="05000000000000000000" charset="0"/>
              <a:buChar char="q"/>
            </a:pPr>
            <a:r>
              <a:rPr lang="en-US" sz="2000" dirty="0">
                <a:solidFill>
                  <a:schemeClr val="tx1"/>
                </a:solidFill>
                <a:latin typeface="Times New Roman" panose="02020603050405020304" charset="0"/>
                <a:cs typeface="Times New Roman" panose="02020603050405020304" charset="0"/>
              </a:rPr>
              <a:t>The block diagram can be explained by separating it </a:t>
            </a:r>
            <a:r>
              <a:rPr lang="en-US" sz="2000" b="1" dirty="0">
                <a:solidFill>
                  <a:schemeClr val="accent2">
                    <a:lumMod val="75000"/>
                  </a:schemeClr>
                </a:solidFill>
                <a:latin typeface="Times New Roman" panose="02020603050405020304" charset="0"/>
                <a:cs typeface="Times New Roman" panose="02020603050405020304" charset="0"/>
              </a:rPr>
              <a:t>into two blocks namely the error amplifier and the reference voltage generator.</a:t>
            </a:r>
          </a:p>
          <a:p>
            <a:pPr marL="285750" indent="-285750" algn="just">
              <a:lnSpc>
                <a:spcPct val="100000"/>
              </a:lnSpc>
              <a:buFont typeface="Wingdings" panose="05000000000000000000" charset="0"/>
              <a:buChar char="q"/>
            </a:pPr>
            <a:r>
              <a:rPr lang="en-US" sz="2000" dirty="0">
                <a:solidFill>
                  <a:schemeClr val="tx1"/>
                </a:solidFill>
                <a:latin typeface="Times New Roman" panose="02020603050405020304" charset="0"/>
                <a:cs typeface="Times New Roman" panose="02020603050405020304" charset="0"/>
              </a:rPr>
              <a:t>In the reference block, </a:t>
            </a:r>
            <a:r>
              <a:rPr lang="en-US" sz="2000" dirty="0">
                <a:solidFill>
                  <a:srgbClr val="FF0000"/>
                </a:solidFill>
                <a:latin typeface="Times New Roman" panose="02020603050405020304" charset="0"/>
                <a:cs typeface="Times New Roman" panose="02020603050405020304" charset="0"/>
              </a:rPr>
              <a:t>a Zener diode is being forced to work at set point, so the o/p of the more </a:t>
            </a:r>
            <a:r>
              <a:rPr lang="en-US" sz="2000" dirty="0" err="1">
                <a:solidFill>
                  <a:srgbClr val="FF0000"/>
                </a:solidFill>
                <a:latin typeface="Times New Roman" panose="02020603050405020304" charset="0"/>
                <a:cs typeface="Times New Roman" panose="02020603050405020304" charset="0"/>
              </a:rPr>
              <a:t>zener</a:t>
            </a:r>
            <a:r>
              <a:rPr lang="en-US" sz="2000" dirty="0">
                <a:solidFill>
                  <a:srgbClr val="FF0000"/>
                </a:solidFill>
                <a:latin typeface="Times New Roman" panose="02020603050405020304" charset="0"/>
                <a:cs typeface="Times New Roman" panose="02020603050405020304" charset="0"/>
              </a:rPr>
              <a:t> is a permanent voltage with a stable current supply which arrives to produce a stable voltage (7.15V) along with an amplifier on the </a:t>
            </a:r>
            <a:r>
              <a:rPr lang="en-US" sz="2000" dirty="0" err="1">
                <a:solidFill>
                  <a:srgbClr val="FF0000"/>
                </a:solidFill>
                <a:latin typeface="Times New Roman" panose="02020603050405020304" charset="0"/>
                <a:cs typeface="Times New Roman" panose="02020603050405020304" charset="0"/>
              </a:rPr>
              <a:t>Vref</a:t>
            </a:r>
            <a:r>
              <a:rPr lang="en-US" sz="2000" dirty="0">
                <a:solidFill>
                  <a:srgbClr val="FF0000"/>
                </a:solidFill>
                <a:latin typeface="Times New Roman" panose="02020603050405020304" charset="0"/>
                <a:cs typeface="Times New Roman" panose="02020603050405020304" charset="0"/>
              </a:rPr>
              <a:t> pin of the IC.</a:t>
            </a:r>
          </a:p>
          <a:p>
            <a:pPr marL="285750" indent="-285750" algn="just">
              <a:lnSpc>
                <a:spcPct val="100000"/>
              </a:lnSpc>
              <a:buFont typeface="Wingdings" panose="05000000000000000000" charset="0"/>
              <a:buChar char="q"/>
            </a:pPr>
            <a:r>
              <a:rPr lang="en-US" sz="2000" dirty="0">
                <a:solidFill>
                  <a:schemeClr val="tx1"/>
                </a:solidFill>
                <a:latin typeface="Times New Roman" panose="02020603050405020304" charset="0"/>
                <a:cs typeface="Times New Roman" panose="02020603050405020304" charset="0"/>
              </a:rPr>
              <a:t>In the </a:t>
            </a:r>
            <a:r>
              <a:rPr lang="en-US" sz="2000" dirty="0">
                <a:solidFill>
                  <a:srgbClr val="C00000"/>
                </a:solidFill>
                <a:latin typeface="Times New Roman" panose="02020603050405020304" charset="0"/>
                <a:cs typeface="Times New Roman" panose="02020603050405020304" charset="0"/>
              </a:rPr>
              <a:t>error amplifier block, it includes a series pass Q1 transistor, an error amplifier, &amp; a transistor which limits the current</a:t>
            </a:r>
            <a:r>
              <a:rPr lang="en-US" sz="2000" dirty="0">
                <a:solidFill>
                  <a:schemeClr val="tx1"/>
                </a:solidFill>
                <a:latin typeface="Times New Roman" panose="02020603050405020304" charset="0"/>
                <a:cs typeface="Times New Roman" panose="02020603050405020304" charset="0"/>
              </a:rPr>
              <a:t>. This amplifier is used to contrast the o/p voltage which is given at inverting </a:t>
            </a:r>
            <a:r>
              <a:rPr lang="en-US" sz="2000" dirty="0" err="1">
                <a:solidFill>
                  <a:schemeClr val="tx1"/>
                </a:solidFill>
                <a:latin typeface="Times New Roman" panose="02020603050405020304" charset="0"/>
                <a:cs typeface="Times New Roman" panose="02020603050405020304" charset="0"/>
              </a:rPr>
              <a:t>i</a:t>
            </a:r>
            <a:r>
              <a:rPr lang="en-US" sz="2000" dirty="0">
                <a:solidFill>
                  <a:schemeClr val="tx1"/>
                </a:solidFill>
                <a:latin typeface="Times New Roman" panose="02020603050405020304" charset="0"/>
                <a:cs typeface="Times New Roman" panose="02020603050405020304" charset="0"/>
              </a:rPr>
              <a:t>/p terminal throughout feedback toward the </a:t>
            </a:r>
            <a:r>
              <a:rPr lang="en-US" sz="2000" dirty="0" err="1">
                <a:solidFill>
                  <a:schemeClr val="tx1"/>
                </a:solidFill>
                <a:latin typeface="Times New Roman" panose="02020603050405020304" charset="0"/>
                <a:cs typeface="Times New Roman" panose="02020603050405020304" charset="0"/>
              </a:rPr>
              <a:t>Vref</a:t>
            </a:r>
            <a:r>
              <a:rPr lang="en-US" sz="2000" dirty="0">
                <a:solidFill>
                  <a:schemeClr val="tx1"/>
                </a:solidFill>
                <a:latin typeface="Times New Roman" panose="02020603050405020304" charset="0"/>
                <a:cs typeface="Times New Roman" panose="02020603050405020304" charset="0"/>
              </a:rPr>
              <a:t>-reference voltage given at the non-inverting terminal.</a:t>
            </a:r>
          </a:p>
          <a:p>
            <a:pPr marL="285750" indent="-285750" algn="just">
              <a:lnSpc>
                <a:spcPct val="100000"/>
              </a:lnSpc>
              <a:buFont typeface="Wingdings" panose="05000000000000000000" charset="0"/>
              <a:buChar char="q"/>
            </a:pPr>
            <a:r>
              <a:rPr lang="en-US" sz="2000" dirty="0">
                <a:solidFill>
                  <a:schemeClr val="tx1"/>
                </a:solidFill>
                <a:latin typeface="Times New Roman" panose="02020603050405020304" charset="0"/>
                <a:cs typeface="Times New Roman" panose="02020603050405020304" charset="0"/>
              </a:rPr>
              <a:t>The two connections internally not offered &amp; so have to be externally offered in accordance with the required output voltage. </a:t>
            </a:r>
            <a:r>
              <a:rPr lang="en-US" sz="2000" dirty="0">
                <a:solidFill>
                  <a:srgbClr val="C00000"/>
                </a:solidFill>
                <a:latin typeface="Times New Roman" panose="02020603050405020304" charset="0"/>
                <a:cs typeface="Times New Roman" panose="02020603050405020304" charset="0"/>
              </a:rPr>
              <a:t>The conduction of the transistor Q1 is controlled by the error signal. It is this transistor that controls the output voltage</a:t>
            </a:r>
            <a:r>
              <a:rPr lang="en-US" dirty="0">
                <a:solidFill>
                  <a:srgbClr val="C00000"/>
                </a:solidFill>
                <a:latin typeface="Times New Roman" panose="02020603050405020304" charset="0"/>
                <a:cs typeface="Times New Roman" panose="02020603050405020304" charset="0"/>
              </a:rPr>
              <a:t>.</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17"/>
          <p:cNvSpPr/>
          <p:nvPr/>
        </p:nvSpPr>
        <p:spPr>
          <a:xfrm>
            <a:off x="3121964" y="1162294"/>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ADVANTAGES and DISADVANTAGES</a:t>
            </a:r>
          </a:p>
        </p:txBody>
      </p:sp>
      <p:sp>
        <p:nvSpPr>
          <p:cNvPr id="3" name="Rectangles 2"/>
          <p:cNvSpPr/>
          <p:nvPr/>
        </p:nvSpPr>
        <p:spPr>
          <a:xfrm>
            <a:off x="346710" y="2012950"/>
            <a:ext cx="11162030" cy="3793490"/>
          </a:xfrm>
          <a:prstGeom prst="rect">
            <a:avLst/>
          </a:prstGeom>
          <a:solidFill>
            <a:schemeClr val="bg1">
              <a:lumMod val="85000"/>
            </a:schemeClr>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285750" indent="-285750" algn="just">
              <a:lnSpc>
                <a:spcPct val="100000"/>
              </a:lnSpc>
              <a:buFont typeface="Wingdings" panose="05000000000000000000" charset="0"/>
              <a:buChar char="q"/>
            </a:pPr>
            <a:r>
              <a:rPr lang="en-US" sz="2400" dirty="0">
                <a:solidFill>
                  <a:schemeClr val="tx1"/>
                </a:solidFill>
                <a:latin typeface="Times New Roman" panose="02020603050405020304" charset="0"/>
                <a:cs typeface="Times New Roman" panose="02020603050405020304" charset="0"/>
              </a:rPr>
              <a:t>The advantages of </a:t>
            </a:r>
            <a:r>
              <a:rPr lang="en-US" sz="2400" b="1" dirty="0">
                <a:solidFill>
                  <a:schemeClr val="tx1"/>
                </a:solidFill>
                <a:latin typeface="Times New Roman" panose="02020603050405020304" charset="0"/>
                <a:cs typeface="Times New Roman" panose="02020603050405020304" charset="0"/>
              </a:rPr>
              <a:t>LM723</a:t>
            </a:r>
            <a:r>
              <a:rPr lang="en-US" sz="2400" dirty="0">
                <a:solidFill>
                  <a:schemeClr val="tx1"/>
                </a:solidFill>
                <a:latin typeface="Times New Roman" panose="02020603050405020304" charset="0"/>
                <a:cs typeface="Times New Roman" panose="02020603050405020304" charset="0"/>
              </a:rPr>
              <a:t> voltage regulator include proven, low noise, the voltage range is wide, support for external pass transistors, recompense by the user, extremely flexible, complete temperature range accessible, and economical.</a:t>
            </a:r>
          </a:p>
          <a:p>
            <a:pPr marL="285750" indent="-285750" algn="just">
              <a:lnSpc>
                <a:spcPct val="100000"/>
              </a:lnSpc>
              <a:buFont typeface="Wingdings" panose="05000000000000000000" charset="0"/>
              <a:buChar char="q"/>
            </a:pPr>
            <a:r>
              <a:rPr lang="en-US" sz="2400" dirty="0">
                <a:solidFill>
                  <a:schemeClr val="tx1"/>
                </a:solidFill>
                <a:latin typeface="Times New Roman" panose="02020603050405020304" charset="0"/>
                <a:cs typeface="Times New Roman" panose="02020603050405020304" charset="0"/>
              </a:rPr>
              <a:t>The disadvantages of </a:t>
            </a:r>
            <a:r>
              <a:rPr lang="en-US" sz="2400" b="1" dirty="0">
                <a:solidFill>
                  <a:schemeClr val="tx1"/>
                </a:solidFill>
                <a:latin typeface="Times New Roman" panose="02020603050405020304" charset="0"/>
                <a:cs typeface="Times New Roman" panose="02020603050405020304" charset="0"/>
              </a:rPr>
              <a:t>LM723</a:t>
            </a:r>
            <a:r>
              <a:rPr lang="en-US" sz="2400" dirty="0">
                <a:solidFill>
                  <a:schemeClr val="tx1"/>
                </a:solidFill>
                <a:latin typeface="Times New Roman" panose="02020603050405020304" charset="0"/>
                <a:cs typeface="Times New Roman" panose="02020603050405020304" charset="0"/>
              </a:rPr>
              <a:t> voltage regulator include difficulty, current limiting is not exact, current limiting is sensitive to overload, lowest dropout voltage, least regulated o/p voltage, error amplifier gain is Moderate, error amp bias current, and be careful when using MOSFET pass transistors.</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1687134" y="891247"/>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718185" y="1904365"/>
            <a:ext cx="10451465" cy="4149090"/>
          </a:xfrm>
          <a:prstGeom prst="rect">
            <a:avLst/>
          </a:prstGeom>
          <a:noFill/>
        </p:spPr>
        <p:txBody>
          <a:bodyPr wrap="square" rtlCol="0">
            <a:noAutofit/>
          </a:bodyPr>
          <a:lstStyle/>
          <a:p>
            <a:pPr algn="just">
              <a:lnSpc>
                <a:spcPct val="150000"/>
              </a:lnSpc>
            </a:pPr>
            <a:r>
              <a:rPr lang="en-US" b="1" dirty="0">
                <a:latin typeface="Times New Roman" panose="02020603050405020304" charset="0"/>
                <a:cs typeface="Times New Roman" panose="02020603050405020304" charset="0"/>
              </a:rPr>
              <a:t>Battery Charger:</a:t>
            </a:r>
          </a:p>
          <a:p>
            <a:pPr algn="just">
              <a:lnSpc>
                <a:spcPct val="150000"/>
              </a:lnSpc>
            </a:pPr>
            <a:r>
              <a:rPr lang="en-US" dirty="0">
                <a:latin typeface="Times New Roman" panose="02020603050405020304" charset="0"/>
                <a:cs typeface="Times New Roman" panose="02020603050405020304" charset="0"/>
              </a:rPr>
              <a:t>Activity: Create a battery charger circuit using the LM723 to regulate the charging voltage for rechargeable batteries.</a:t>
            </a:r>
          </a:p>
          <a:p>
            <a:pPr algn="just">
              <a:lnSpc>
                <a:spcPct val="150000"/>
              </a:lnSpc>
            </a:pPr>
            <a:r>
              <a:rPr lang="en-US" dirty="0">
                <a:latin typeface="Times New Roman" panose="02020603050405020304" charset="0"/>
                <a:cs typeface="Times New Roman" panose="02020603050405020304" charset="0"/>
              </a:rPr>
              <a:t>Case Study: Investigate the charging characteristics and efficiency of the LM723-based battery charger for different types of batteries, such as lead-acid or NiMH.</a:t>
            </a:r>
          </a:p>
          <a:p>
            <a:pPr algn="just">
              <a:lnSpc>
                <a:spcPct val="150000"/>
              </a:lnSpc>
            </a:pPr>
            <a:r>
              <a:rPr lang="en-US" b="1" dirty="0">
                <a:latin typeface="Times New Roman" panose="02020603050405020304" charset="0"/>
                <a:cs typeface="Times New Roman" panose="02020603050405020304" charset="0"/>
              </a:rPr>
              <a:t>Voltage and Current Regulator:</a:t>
            </a:r>
          </a:p>
          <a:p>
            <a:pPr algn="just">
              <a:lnSpc>
                <a:spcPct val="150000"/>
              </a:lnSpc>
            </a:pPr>
            <a:r>
              <a:rPr lang="en-US" dirty="0">
                <a:latin typeface="Times New Roman" panose="02020603050405020304" charset="0"/>
                <a:cs typeface="Times New Roman" panose="02020603050405020304" charset="0"/>
              </a:rPr>
              <a:t>Activity: Combine the LM723 with external components to create a dual-mode regulator that regulates both voltage and current.</a:t>
            </a:r>
          </a:p>
          <a:p>
            <a:pPr algn="just">
              <a:lnSpc>
                <a:spcPct val="150000"/>
              </a:lnSpc>
            </a:pPr>
            <a:r>
              <a:rPr lang="en-US" dirty="0">
                <a:latin typeface="Times New Roman" panose="02020603050405020304" charset="0"/>
                <a:cs typeface="Times New Roman" panose="02020603050405020304" charset="0"/>
              </a:rPr>
              <a:t>Case Study: Analyze the advantages of having a voltage and current regulation capability in a power supply, especially for driving loads with dynamic power requirements.</a:t>
            </a: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919046" y="971970"/>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185447" y="2317555"/>
            <a:ext cx="10086536" cy="2584450"/>
          </a:xfrm>
          <a:prstGeom prst="rect">
            <a:avLst/>
          </a:prstGeom>
          <a:noFill/>
        </p:spPr>
        <p:txBody>
          <a:bodyPr wrap="square" rtlCol="0">
            <a:spAutoFit/>
          </a:bodyPr>
          <a:lstStyle/>
          <a:p>
            <a:pPr marL="285750" indent="-285750" algn="just">
              <a:lnSpc>
                <a:spcPct val="150000"/>
              </a:lnSpc>
              <a:buFont typeface="Wingdings" panose="05000000000000000000" charset="0"/>
              <a:buChar char="q"/>
            </a:pPr>
            <a:r>
              <a:rPr lang="en-US" dirty="0">
                <a:latin typeface="Times New Roman" panose="02020603050405020304" charset="0"/>
                <a:cs typeface="Times New Roman" panose="02020603050405020304" charset="0"/>
              </a:rPr>
              <a:t>It is an adjustable voltage regulator and the applications of LM723 mainly include a temperature controller, shunt and current regulator. It provides a high range of o/p voltage &amp; current equal to 10A by just inserting a sequence pass transistor through it, by including an extensive range of working temperature.</a:t>
            </a:r>
          </a:p>
          <a:p>
            <a:pPr marL="285750" indent="-285750" algn="just">
              <a:lnSpc>
                <a:spcPct val="150000"/>
              </a:lnSpc>
              <a:buFont typeface="Wingdings" panose="05000000000000000000" charset="0"/>
              <a:buChar char="q"/>
            </a:pPr>
            <a:r>
              <a:rPr lang="en-US" dirty="0">
                <a:latin typeface="Times New Roman" panose="02020603050405020304" charset="0"/>
                <a:cs typeface="Times New Roman" panose="02020603050405020304" charset="0"/>
              </a:rPr>
              <a:t>Thus the integrated circuit capable to withstand for long to use like linear otherwise switching kind regulator. However, this integrated circuit is particularly designed for series regulator function</a:t>
            </a:r>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43432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a:pPr>
            <a:r>
              <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What is the primary function of the LM723 voltage regulator?</a:t>
            </a:r>
            <a:endParaRPr sz="160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1" name="Rounded Rectangle 17"/>
          <p:cNvSpPr/>
          <p:nvPr/>
        </p:nvSpPr>
        <p:spPr>
          <a:xfrm>
            <a:off x="1026795" y="1978025"/>
            <a:ext cx="3981450" cy="164592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sz="1600" dirty="0">
                <a:latin typeface="Arial" panose="020B0604020202020204" pitchFamily="34" charset="0"/>
              </a:rPr>
              <a:t>A. Digital signal processing</a:t>
            </a:r>
          </a:p>
          <a:p>
            <a:pPr marL="342900" indent="-342900">
              <a:lnSpc>
                <a:spcPct val="150000"/>
              </a:lnSpc>
              <a:buAutoNum type="alphaLcParenBoth"/>
            </a:pPr>
            <a:r>
              <a:rPr lang="en-US" sz="1600" dirty="0">
                <a:latin typeface="Arial" panose="020B0604020202020204" pitchFamily="34" charset="0"/>
              </a:rPr>
              <a:t>B. Voltage amplification</a:t>
            </a:r>
          </a:p>
          <a:p>
            <a:pPr marL="342900" indent="-342900">
              <a:lnSpc>
                <a:spcPct val="150000"/>
              </a:lnSpc>
              <a:buAutoNum type="alphaLcParenBoth"/>
            </a:pPr>
            <a:r>
              <a:rPr lang="en-US" sz="1600" dirty="0">
                <a:latin typeface="Arial" panose="020B0604020202020204" pitchFamily="34" charset="0"/>
              </a:rPr>
              <a:t>C. Voltage regulation</a:t>
            </a:r>
          </a:p>
          <a:p>
            <a:pPr marL="342900" indent="-342900">
              <a:lnSpc>
                <a:spcPct val="150000"/>
              </a:lnSpc>
              <a:buAutoNum type="alphaLcParenBoth"/>
            </a:pPr>
            <a:r>
              <a:rPr lang="en-US" sz="1600" dirty="0">
                <a:latin typeface="Arial" panose="020B0604020202020204" pitchFamily="34" charset="0"/>
              </a:rPr>
              <a:t>D. Audio signal modulation</a:t>
            </a:r>
            <a:endParaRPr lang="en-US" sz="1600" dirty="0"/>
          </a:p>
        </p:txBody>
      </p:sp>
      <p:sp>
        <p:nvSpPr>
          <p:cNvPr id="13" name="Google Shape;502;p17"/>
          <p:cNvSpPr/>
          <p:nvPr/>
        </p:nvSpPr>
        <p:spPr>
          <a:xfrm>
            <a:off x="1009895" y="3820343"/>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marR="0" lvl="0" indent="-342900" rtl="0">
              <a:spcBef>
                <a:spcPts val="0"/>
              </a:spcBef>
              <a:spcAft>
                <a:spcPts val="0"/>
              </a:spcAft>
              <a:buFont typeface="+mj-lt"/>
              <a:buAutoNum type="arabicPeriod" startAt="2"/>
            </a:pPr>
            <a:r>
              <a:rPr lang="en-US" sz="1600" dirty="0">
                <a:solidFill>
                  <a:schemeClr val="bg1"/>
                </a:solidFill>
                <a:latin typeface="Poppins" panose="00000500000000000000" pitchFamily="2" charset="0"/>
                <a:ea typeface="Calibri" panose="020F0502020204030204"/>
                <a:cs typeface="Poppins" panose="00000500000000000000" pitchFamily="2" charset="0"/>
                <a:sym typeface="Calibri" panose="020F0502020204030204"/>
              </a:rPr>
              <a:t>Which component is typically used to adjust the output voltage in an LM723 voltage regulator circuit?</a:t>
            </a:r>
            <a:endParaRPr sz="1600">
              <a:solidFill>
                <a:schemeClr val="bg1"/>
              </a:solidFill>
              <a:latin typeface="Poppins" panose="00000500000000000000" pitchFamily="2" charset="0"/>
              <a:ea typeface="Calibri" panose="020F0502020204030204"/>
              <a:cs typeface="Poppins" panose="00000500000000000000" pitchFamily="2" charset="0"/>
              <a:sym typeface="Calibri" panose="020F0502020204030204"/>
            </a:endParaRPr>
          </a:p>
        </p:txBody>
      </p:sp>
      <p:sp>
        <p:nvSpPr>
          <p:cNvPr id="14" name="Rounded Rectangle 17"/>
          <p:cNvSpPr/>
          <p:nvPr/>
        </p:nvSpPr>
        <p:spPr>
          <a:xfrm>
            <a:off x="1009650" y="4530725"/>
            <a:ext cx="3543300" cy="1645920"/>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US" dirty="0"/>
              <a:t>A. Inductor</a:t>
            </a:r>
          </a:p>
          <a:p>
            <a:pPr marL="342900" indent="-342900">
              <a:lnSpc>
                <a:spcPct val="150000"/>
              </a:lnSpc>
              <a:buAutoNum type="alphaLcParenBoth"/>
            </a:pPr>
            <a:r>
              <a:rPr lang="en-US" dirty="0"/>
              <a:t>B. Resistor</a:t>
            </a:r>
          </a:p>
          <a:p>
            <a:pPr marL="342900" indent="-342900">
              <a:lnSpc>
                <a:spcPct val="150000"/>
              </a:lnSpc>
              <a:buAutoNum type="alphaLcParenBoth"/>
            </a:pPr>
            <a:r>
              <a:rPr lang="en-US" dirty="0"/>
              <a:t>C. Capacitor</a:t>
            </a:r>
          </a:p>
          <a:p>
            <a:pPr marL="342900" indent="-342900">
              <a:lnSpc>
                <a:spcPct val="150000"/>
              </a:lnSpc>
              <a:buAutoNum type="alphaLcParenBoth"/>
            </a:pPr>
            <a:r>
              <a:rPr lang="en-US" dirty="0"/>
              <a:t>D. Transistor</a:t>
            </a:r>
            <a:endParaRPr lang="en-US" sz="1600" dirty="0"/>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bldLvl="0" animBg="1"/>
      <p:bldP spid="13" grpId="0" animBg="1"/>
      <p:bldP spid="14" grpId="0" bldLvl="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3390636" y="1167618"/>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995045" y="2274570"/>
            <a:ext cx="10512425" cy="2861310"/>
          </a:xfrm>
          <a:prstGeom prst="rect">
            <a:avLst/>
          </a:prstGeom>
          <a:noFill/>
        </p:spPr>
        <p:txBody>
          <a:bodyPr wrap="square" rtlCol="0">
            <a:spAutoFit/>
          </a:bodyPr>
          <a:lstStyle/>
          <a:p>
            <a:pPr marL="285750" indent="-285750">
              <a:lnSpc>
                <a:spcPct val="200000"/>
              </a:lnSpc>
              <a:buFont typeface="Wingdings" panose="05000000000000000000" charset="0"/>
              <a:buChar char="q"/>
            </a:pPr>
            <a:r>
              <a:rPr lang="en-US" dirty="0"/>
              <a:t>In an LM723-based voltage regulator circuit, what is the purpose of the "Comp" terminal?</a:t>
            </a:r>
          </a:p>
          <a:p>
            <a:pPr marL="285750" indent="-285750">
              <a:lnSpc>
                <a:spcPct val="200000"/>
              </a:lnSpc>
              <a:buFont typeface="Wingdings" panose="05000000000000000000" charset="0"/>
              <a:buChar char="q"/>
            </a:pPr>
            <a:r>
              <a:rPr lang="en-US" dirty="0"/>
              <a:t>What does the "Vin" terminal of the LM723 voltage regulator connect to?</a:t>
            </a:r>
          </a:p>
          <a:p>
            <a:pPr marL="285750" indent="-285750">
              <a:lnSpc>
                <a:spcPct val="200000"/>
              </a:lnSpc>
              <a:buFont typeface="Wingdings" panose="05000000000000000000" charset="0"/>
              <a:buChar char="q"/>
            </a:pPr>
            <a:r>
              <a:rPr lang="en-US" dirty="0"/>
              <a:t>Which terminal of the LM723 is used to set the maximum output voltage?</a:t>
            </a:r>
          </a:p>
          <a:p>
            <a:pPr marL="285750" indent="-285750">
              <a:lnSpc>
                <a:spcPct val="200000"/>
              </a:lnSpc>
              <a:buFont typeface="Wingdings" panose="05000000000000000000" charset="0"/>
              <a:buChar char="q"/>
            </a:pPr>
            <a:r>
              <a:rPr lang="en-US" dirty="0"/>
              <a:t>What is the purpose of the "Vadj" terminal on the LM723 voltage regulator?</a:t>
            </a:r>
          </a:p>
          <a:p>
            <a:pPr marL="285750" indent="-285750">
              <a:lnSpc>
                <a:spcPct val="200000"/>
              </a:lnSpc>
              <a:buFont typeface="Wingdings" panose="05000000000000000000" charset="0"/>
              <a:buChar char="q"/>
            </a:pPr>
            <a:r>
              <a:rPr lang="en-US" dirty="0"/>
              <a:t>Which terminal of the LM723 is connected to the reference voltage for setting the output voltage?</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p:cNvSpPr/>
          <p:nvPr/>
        </p:nvSpPr>
        <p:spPr>
          <a:xfrm>
            <a:off x="2124128" y="1172223"/>
            <a:ext cx="794374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9789" y="2156663"/>
            <a:ext cx="9608234" cy="3415030"/>
          </a:xfrm>
          <a:prstGeom prst="rect">
            <a:avLst/>
          </a:prstGeom>
          <a:noFill/>
        </p:spPr>
        <p:txBody>
          <a:bodyPr wrap="square" rtlCol="0">
            <a:spAutoFit/>
          </a:bodyPr>
          <a:lstStyle/>
          <a:p>
            <a:pPr>
              <a:lnSpc>
                <a:spcPct val="150000"/>
              </a:lnSpc>
            </a:pPr>
            <a:r>
              <a:rPr lang="en-US" b="1" dirty="0"/>
              <a:t>Reference Books:</a:t>
            </a:r>
            <a:endParaRPr lang="en-US" dirty="0"/>
          </a:p>
          <a:p>
            <a:pPr>
              <a:lnSpc>
                <a:spcPct val="150000"/>
              </a:lnSpc>
            </a:pPr>
            <a:r>
              <a:rPr lang="en-US" dirty="0"/>
              <a:t>1.  1.John Bird. Electrical Circuit Theory and Technology, Routledge publishers, 6th edition, </a:t>
            </a:r>
          </a:p>
          <a:p>
            <a:pPr>
              <a:lnSpc>
                <a:spcPct val="150000"/>
              </a:lnSpc>
            </a:pPr>
            <a:r>
              <a:rPr lang="en-US" dirty="0"/>
              <a:t>2. Electronic Devices and Circuit Theory 12th Edition - Robert L. Boylestad</a:t>
            </a:r>
          </a:p>
          <a:p>
            <a:pPr>
              <a:lnSpc>
                <a:spcPct val="150000"/>
              </a:lnSpc>
            </a:pPr>
            <a:endParaRPr lang="en-US" dirty="0"/>
          </a:p>
          <a:p>
            <a:pPr>
              <a:lnSpc>
                <a:spcPct val="150000"/>
              </a:lnSpc>
            </a:pPr>
            <a:r>
              <a:rPr lang="en-US" b="1" dirty="0"/>
              <a:t>Sites and Web links:</a:t>
            </a:r>
          </a:p>
          <a:p>
            <a:pPr>
              <a:lnSpc>
                <a:spcPct val="150000"/>
              </a:lnSpc>
            </a:pPr>
            <a:r>
              <a:rPr lang="en-US" dirty="0"/>
              <a:t>1.  https://circuitdigest.com/electronic-circuits/lm723-voltage-regulator-circuit-diagram</a:t>
            </a:r>
          </a:p>
          <a:p>
            <a:pPr>
              <a:lnSpc>
                <a:spcPct val="150000"/>
              </a:lnSpc>
            </a:pPr>
            <a:r>
              <a:rPr lang="en-US" dirty="0"/>
              <a:t>2. https://www.circuits-diy.com/lm723-adjustable-voltage-regulator-30v-circuit/</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2A7B763D-58CD-DEFA-FFD8-C1C43E19CFD8}"/>
              </a:ext>
            </a:extLst>
          </p:cNvPr>
          <p:cNvGrpSpPr/>
          <p:nvPr/>
        </p:nvGrpSpPr>
        <p:grpSpPr>
          <a:xfrm>
            <a:off x="2247960" y="2332796"/>
            <a:ext cx="7920111" cy="2883877"/>
            <a:chOff x="2247960" y="2332796"/>
            <a:chExt cx="7920111" cy="2883877"/>
          </a:xfrm>
        </p:grpSpPr>
        <p:sp>
          <p:nvSpPr>
            <p:cNvPr id="5" name="Rounded Rectangle 3">
              <a:extLst>
                <a:ext uri="{FF2B5EF4-FFF2-40B4-BE49-F238E27FC236}">
                  <a16:creationId xmlns:a16="http://schemas.microsoft.com/office/drawing/2014/main" id="{F8227CD4-B90A-10B6-3888-112B347EA329}"/>
                </a:ext>
              </a:extLst>
            </p:cNvPr>
            <p:cNvSpPr/>
            <p:nvPr/>
          </p:nvSpPr>
          <p:spPr>
            <a:xfrm>
              <a:off x="2247960" y="2332796"/>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lvl="0" algn="ctr"/>
              <a:r>
                <a:rPr lang="en-US" b="1" dirty="0">
                  <a:latin typeface="Poppins" pitchFamily="2" charset="77"/>
                  <a:cs typeface="Poppins" pitchFamily="2" charset="77"/>
                </a:rPr>
                <a:t>Team – </a:t>
              </a:r>
              <a:r>
                <a:rPr lang="en-US" b="1" dirty="0">
                  <a:solidFill>
                    <a:schemeClr val="bg1"/>
                  </a:solidFill>
                  <a:cs typeface="Poppins" pitchFamily="2" charset="77"/>
                </a:rPr>
                <a:t>BASIC ELECTRICAL &amp; ELECTRONIC CIRCUITS (BEC)</a:t>
              </a:r>
            </a:p>
            <a:p>
              <a:pPr algn="ctr"/>
              <a:endParaRPr lang="en-US" sz="2400" b="1" dirty="0">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7" name="Picture 2" descr="KL Deemed to be University Logo">
              <a:extLst>
                <a:ext uri="{FF2B5EF4-FFF2-40B4-BE49-F238E27FC236}">
                  <a16:creationId xmlns:a16="http://schemas.microsoft.com/office/drawing/2014/main" id="{04E10206-2724-8CED-B061-8CFDDB6682F9}"/>
                </a:ext>
              </a:extLst>
            </p:cNvPr>
            <p:cNvPicPr>
              <a:picLocks noChangeAspect="1" noChangeArrowheads="1"/>
            </p:cNvPicPr>
            <p:nvPr/>
          </p:nvPicPr>
          <p:blipFill>
            <a:blip r:embed="rId2" cstate="print"/>
            <a:srcRect/>
            <a:stretch>
              <a:fillRect/>
            </a:stretch>
          </p:blipFill>
          <p:spPr bwMode="auto">
            <a:xfrm>
              <a:off x="5131980" y="3092166"/>
              <a:ext cx="3235570" cy="1083212"/>
            </a:xfrm>
            <a:prstGeom prst="rect">
              <a:avLst/>
            </a:prstGeom>
            <a:noFill/>
          </p:spPr>
        </p:pic>
      </p:gr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940</TotalTime>
  <Words>2999</Words>
  <Application>Microsoft Office PowerPoint</Application>
  <PresentationFormat>Widescreen</PresentationFormat>
  <Paragraphs>439</Paragraphs>
  <Slides>36</Slides>
  <Notes>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36</vt:i4>
      </vt:variant>
    </vt:vector>
  </HeadingPairs>
  <TitlesOfParts>
    <vt:vector size="45" baseType="lpstr">
      <vt:lpstr>Arial</vt:lpstr>
      <vt:lpstr>BioRhyme ExtraBold</vt:lpstr>
      <vt:lpstr>Calibri</vt:lpstr>
      <vt:lpstr>Gill Sans MT</vt:lpstr>
      <vt:lpstr>Poppins</vt:lpstr>
      <vt:lpstr>Times New Roman</vt:lpstr>
      <vt:lpstr>Wingdings</vt:lpstr>
      <vt:lpstr>Gallery</vt:lpstr>
      <vt:lpstr>Gallery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VOLTAGE REGULATOR (LM 7805) Contd..</vt:lpstr>
      <vt:lpstr>VOLTAGE REGULATOR (LM 7805) Contd..</vt:lpstr>
      <vt:lpstr>PowerPoint Presentation</vt:lpstr>
      <vt:lpstr>VOLTAGE REGULATOR (LM 7905) Contd..</vt:lpstr>
      <vt:lpstr>VOLTAGE REGULATOR (LM 7905) Contd..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Dr.M L Naidu</dc:creator>
  <cp:lastModifiedBy>Lakshmunaidu Meesala</cp:lastModifiedBy>
  <cp:revision>44</cp:revision>
  <dcterms:created xsi:type="dcterms:W3CDTF">2023-05-11T04:21:37Z</dcterms:created>
  <dcterms:modified xsi:type="dcterms:W3CDTF">2024-12-21T02:00:24Z</dcterms:modified>
</cp:coreProperties>
</file>