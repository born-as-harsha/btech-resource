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handoutMasterIdLst>
    <p:handoutMasterId r:id="rId23"/>
  </p:handoutMasterIdLst>
  <p:sldIdLst>
    <p:sldId id="271" r:id="rId2"/>
    <p:sldId id="300" r:id="rId3"/>
    <p:sldId id="458" r:id="rId4"/>
    <p:sldId id="416" r:id="rId5"/>
    <p:sldId id="417" r:id="rId6"/>
    <p:sldId id="465" r:id="rId7"/>
    <p:sldId id="463" r:id="rId8"/>
    <p:sldId id="421" r:id="rId9"/>
    <p:sldId id="431" r:id="rId10"/>
    <p:sldId id="468" r:id="rId11"/>
    <p:sldId id="439" r:id="rId12"/>
    <p:sldId id="443" r:id="rId13"/>
    <p:sldId id="451" r:id="rId14"/>
    <p:sldId id="450" r:id="rId15"/>
    <p:sldId id="447" r:id="rId16"/>
    <p:sldId id="448" r:id="rId17"/>
    <p:sldId id="469" r:id="rId18"/>
    <p:sldId id="470" r:id="rId19"/>
    <p:sldId id="30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738" y="60"/>
      </p:cViewPr>
      <p:guideLst>
        <p:guide orient="horz" pos="2160"/>
        <p:guide pos="3840"/>
      </p:guideLst>
    </p:cSldViewPr>
  </p:slideViewPr>
  <p:notesTextViewPr>
    <p:cViewPr>
      <p:scale>
        <a:sx n="1" d="1"/>
        <a:sy n="1" d="1"/>
      </p:scale>
      <p:origin x="0" y="0"/>
    </p:cViewPr>
  </p:notesTextViewPr>
  <p:sorterViewPr>
    <p:cViewPr>
      <p:scale>
        <a:sx n="100" d="100"/>
        <a:sy n="100" d="100"/>
      </p:scale>
      <p:origin x="0" y="-256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27-01-2025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27-01-2025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036424" y="2795966"/>
            <a:ext cx="7929154" cy="372405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&amp; ELCTRONIC CIRCUITS (BEEC)</a:t>
            </a:r>
          </a:p>
          <a:p>
            <a:pPr marR="0" lvl="0" indent="0" algn="ctr">
              <a:spcBef>
                <a:spcPts val="0"/>
              </a:spcBef>
              <a:spcAft>
                <a:spcPts val="0"/>
              </a:spcAft>
              <a:buNone/>
            </a:pPr>
            <a:r>
              <a:rPr lang="en-US" sz="2800" b="1" dirty="0">
                <a:solidFill>
                  <a:srgbClr val="C00000"/>
                </a:solidFill>
                <a:cs typeface="Poppins" pitchFamily="2" charset="77"/>
              </a:rPr>
              <a:t>COURSE CODE : 23EC1203</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2400" b="1" cap="all" dirty="0">
                <a:ln/>
                <a:solidFill>
                  <a:srgbClr val="C00000"/>
                </a:solidFill>
                <a:effectLst/>
                <a:cs typeface="Poppins" panose="00000500000000000000" pitchFamily="2" charset="0"/>
              </a:rPr>
              <a:t>Maximum power transfer and superposition theorems &amp; </a:t>
            </a:r>
          </a:p>
          <a:p>
            <a:pPr algn="ctr"/>
            <a:r>
              <a:rPr lang="en-US" sz="2400" b="1" cap="all" dirty="0">
                <a:ln/>
                <a:solidFill>
                  <a:srgbClr val="C00000"/>
                </a:solidFill>
                <a:effectLst/>
                <a:cs typeface="Poppins" panose="00000500000000000000" pitchFamily="2" charset="0"/>
              </a:rPr>
              <a:t>numerical Examples</a:t>
            </a:r>
            <a:r>
              <a:rPr lang="en-US" sz="4000" b="1" cap="all" dirty="0">
                <a:ln/>
                <a:solidFill>
                  <a:srgbClr val="C00000"/>
                </a:solidFill>
                <a:effectLst/>
                <a:cs typeface="Poppins" panose="00000500000000000000" pitchFamily="2" charset="0"/>
              </a:rPr>
              <a:t>	</a:t>
            </a:r>
          </a:p>
          <a:p>
            <a:pPr algn="ctr"/>
            <a:r>
              <a:rPr lang="en-US" sz="4000" b="1" cap="all" dirty="0">
                <a:ln/>
                <a:solidFill>
                  <a:srgbClr val="C00000"/>
                </a:solidFill>
                <a:effectLst/>
                <a:cs typeface="Poppins" panose="00000500000000000000" pitchFamily="2" charset="0"/>
              </a:rPr>
              <a:t>		</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9673384" y="561598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No.5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071155" y="684469"/>
            <a:ext cx="10800000" cy="78534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concept of </a:t>
            </a:r>
            <a:r>
              <a:rPr lang="en-US" sz="1600" b="1" i="0" dirty="0">
                <a:effectLst/>
                <a:latin typeface="Poppins"/>
                <a:cs typeface="Poppins"/>
              </a:rPr>
              <a:t>Maximum Power Transfer </a:t>
            </a:r>
            <a:r>
              <a:rPr lang="en-US" sz="1600" b="0" i="0" dirty="0">
                <a:effectLst/>
                <a:latin typeface="Poppins"/>
                <a:cs typeface="Poppins"/>
              </a:rPr>
              <a:t>and </a:t>
            </a:r>
            <a:r>
              <a:rPr lang="en-US" sz="1600" b="1" i="0" dirty="0">
                <a:effectLst/>
                <a:latin typeface="Poppins"/>
                <a:cs typeface="Poppins"/>
              </a:rPr>
              <a:t>Super Position Theorems </a:t>
            </a:r>
            <a:r>
              <a:rPr lang="en-US" sz="1600" i="0" dirty="0">
                <a:effectLst/>
                <a:latin typeface="Poppins"/>
                <a:cs typeface="Poppins"/>
              </a:rPr>
              <a:t>and</a:t>
            </a:r>
            <a:r>
              <a:rPr lang="en-US" sz="1600" b="1" i="0" dirty="0">
                <a:effectLst/>
                <a:latin typeface="Poppins"/>
                <a:cs typeface="Poppins"/>
              </a:rPr>
              <a:t> </a:t>
            </a:r>
            <a:r>
              <a:rPr lang="en-US" sz="1600" b="0" i="0" dirty="0">
                <a:effectLst/>
                <a:latin typeface="Poppins"/>
                <a:cs typeface="Poppins"/>
              </a:rPr>
              <a:t>analyzing electrical c</a:t>
            </a:r>
            <a:r>
              <a:rPr lang="en-US" sz="1600" dirty="0">
                <a:latin typeface="Poppins"/>
                <a:cs typeface="Poppins"/>
              </a:rPr>
              <a:t>ircuits using these theorems.</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018903" y="2438605"/>
            <a:ext cx="10800000"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FontTx/>
              <a:buAutoNum type="arabicPeriod"/>
            </a:pPr>
            <a:r>
              <a:rPr lang="en-US" sz="1600" dirty="0">
                <a:latin typeface="Arial" panose="020B0604020202020204" pitchFamily="34" charset="0"/>
              </a:rPr>
              <a:t>Describe the steps in </a:t>
            </a:r>
            <a:r>
              <a:rPr lang="en-US" sz="1600" dirty="0">
                <a:latin typeface="Poppins"/>
                <a:cs typeface="Poppins"/>
              </a:rPr>
              <a:t>Maximum Power Transfer Theorem </a:t>
            </a:r>
            <a:r>
              <a:rPr lang="en-US" sz="1600" dirty="0">
                <a:latin typeface="Arial" panose="020B0604020202020204" pitchFamily="34" charset="0"/>
              </a:rPr>
              <a:t>and Demonstrate to solve some Numerical examples.</a:t>
            </a:r>
          </a:p>
          <a:p>
            <a:pPr marL="342900" indent="-342900">
              <a:buFontTx/>
              <a:buAutoNum type="arabicPeriod"/>
            </a:pPr>
            <a:endParaRPr lang="en-US" sz="1600" dirty="0">
              <a:latin typeface="Arial" panose="020B0604020202020204" pitchFamily="34" charset="0"/>
            </a:endParaRPr>
          </a:p>
          <a:p>
            <a:pPr marL="342900" indent="-342900">
              <a:buFontTx/>
              <a:buAutoNum type="arabicPeriod"/>
            </a:pPr>
            <a:r>
              <a:rPr lang="en-US" sz="1600" dirty="0">
                <a:latin typeface="Arial" panose="020B0604020202020204" pitchFamily="34" charset="0"/>
              </a:rPr>
              <a:t>Describe the steps in Super Position Theorem and Demonstrate to solve some Numerical examples.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2464730"/>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0" y="4778834"/>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034141" y="4824480"/>
            <a:ext cx="10800000"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Solve electric circuits by applying the </a:t>
            </a:r>
            <a:r>
              <a:rPr lang="en-US" sz="1600" dirty="0">
                <a:latin typeface="Poppins"/>
                <a:cs typeface="Poppins"/>
              </a:rPr>
              <a:t>Maximum Power Transfer Theorem </a:t>
            </a:r>
            <a:endParaRPr lang="en-US" sz="1600" dirty="0">
              <a:latin typeface="Arial" panose="020B0604020202020204" pitchFamily="34" charset="0"/>
            </a:endParaRPr>
          </a:p>
          <a:p>
            <a:pPr marL="342900" indent="-342900">
              <a:buAutoNum type="arabicPeriod"/>
            </a:pPr>
            <a:endParaRPr lang="en-US" sz="1600" dirty="0">
              <a:latin typeface="Arial" panose="020B0604020202020204" pitchFamily="34" charset="0"/>
            </a:endParaRPr>
          </a:p>
          <a:p>
            <a:pPr marL="342900" indent="-342900">
              <a:buAutoNum type="arabicPeriod"/>
            </a:pPr>
            <a:r>
              <a:rPr lang="en-US" sz="1600" dirty="0">
                <a:latin typeface="Arial" panose="020B0604020202020204" pitchFamily="34" charset="0"/>
              </a:rPr>
              <a:t>Solve electric circuits by applying the Super Position Theorem </a:t>
            </a:r>
            <a:endParaRPr lang="en-US" sz="1600" b="0" i="0" dirty="0">
              <a:effectLst/>
              <a:latin typeface="Arial" panose="020B0604020202020204" pitchFamily="34" charset="0"/>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3</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995353" y="163849"/>
            <a:ext cx="6201295"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Content Placeholder 4"/>
          <p:cNvSpPr>
            <a:spLocks noGrp="1"/>
          </p:cNvSpPr>
          <p:nvPr>
            <p:ph idx="1"/>
          </p:nvPr>
        </p:nvSpPr>
        <p:spPr/>
        <p:txBody>
          <a:bodyPr/>
          <a:lstStyle/>
          <a:p>
            <a:endParaRPr lang="en-US"/>
          </a:p>
        </p:txBody>
      </p:sp>
      <p:pic>
        <p:nvPicPr>
          <p:cNvPr id="2" name="Picture 2"/>
          <p:cNvPicPr>
            <a:picLocks noChangeAspect="1" noChangeArrowheads="1"/>
          </p:cNvPicPr>
          <p:nvPr/>
        </p:nvPicPr>
        <p:blipFill>
          <a:blip r:embed="rId2"/>
          <a:srcRect/>
          <a:stretch>
            <a:fillRect/>
          </a:stretch>
        </p:blipFill>
        <p:spPr bwMode="auto">
          <a:xfrm>
            <a:off x="936172" y="886371"/>
            <a:ext cx="10319657" cy="5292359"/>
          </a:xfrm>
          <a:prstGeom prst="rect">
            <a:avLst/>
          </a:prstGeom>
          <a:noFill/>
          <a:ln w="9525">
            <a:noFill/>
            <a:miter lim="800000"/>
            <a:headEnd/>
            <a:tailEnd/>
          </a:ln>
          <a:effec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2011680"/>
            <a:ext cx="10711543" cy="3892731"/>
          </a:xfrm>
        </p:spPr>
        <p:txBody>
          <a:bodyPr>
            <a:normAutofit/>
          </a:bodyPr>
          <a:lstStyle/>
          <a:p>
            <a:pPr marL="457200" indent="-457200" algn="just">
              <a:buNone/>
            </a:pPr>
            <a:r>
              <a:rPr lang="en-US" sz="2400" i="0" dirty="0">
                <a:solidFill>
                  <a:srgbClr val="444444"/>
                </a:solidFill>
                <a:effectLst/>
                <a:latin typeface="Times New Roman" pitchFamily="18" charset="0"/>
                <a:cs typeface="Times New Roman" pitchFamily="18" charset="0"/>
              </a:rPr>
              <a:t>1. Remove the load resistance R</a:t>
            </a:r>
            <a:r>
              <a:rPr lang="en-US" sz="1400" i="0" dirty="0">
                <a:solidFill>
                  <a:srgbClr val="444444"/>
                </a:solidFill>
                <a:effectLst/>
                <a:latin typeface="Times New Roman" pitchFamily="18" charset="0"/>
                <a:cs typeface="Times New Roman" pitchFamily="18" charset="0"/>
              </a:rPr>
              <a:t>L</a:t>
            </a:r>
          </a:p>
          <a:p>
            <a:pPr marL="457200" indent="-457200" algn="just">
              <a:buNone/>
            </a:pPr>
            <a:r>
              <a:rPr lang="en-US" sz="2400" i="0" dirty="0">
                <a:solidFill>
                  <a:srgbClr val="444444"/>
                </a:solidFill>
                <a:effectLst/>
                <a:latin typeface="Times New Roman" pitchFamily="18" charset="0"/>
                <a:cs typeface="Times New Roman" pitchFamily="18" charset="0"/>
              </a:rPr>
              <a:t>2. Find the Thevenin’s equivalent circuit across the open circuited load terminals</a:t>
            </a:r>
          </a:p>
          <a:p>
            <a:pPr marL="457200" indent="-457200" algn="just">
              <a:buNone/>
            </a:pPr>
            <a:r>
              <a:rPr lang="en-US" sz="2400" dirty="0">
                <a:solidFill>
                  <a:srgbClr val="444444"/>
                </a:solidFill>
                <a:latin typeface="Times New Roman" pitchFamily="18" charset="0"/>
                <a:cs typeface="Times New Roman" pitchFamily="18" charset="0"/>
              </a:rPr>
              <a:t>3. According to maximum power transfer theorem, R</a:t>
            </a:r>
            <a:r>
              <a:rPr lang="en-US" sz="1400" dirty="0">
                <a:solidFill>
                  <a:srgbClr val="444444"/>
                </a:solidFill>
                <a:latin typeface="Times New Roman" pitchFamily="18" charset="0"/>
                <a:cs typeface="Times New Roman" pitchFamily="18" charset="0"/>
              </a:rPr>
              <a:t>L</a:t>
            </a:r>
            <a:r>
              <a:rPr lang="en-US" sz="2400" dirty="0">
                <a:solidFill>
                  <a:srgbClr val="444444"/>
                </a:solidFill>
                <a:latin typeface="Times New Roman" pitchFamily="18" charset="0"/>
                <a:cs typeface="Times New Roman" pitchFamily="18" charset="0"/>
              </a:rPr>
              <a:t> = R</a:t>
            </a:r>
            <a:r>
              <a:rPr lang="en-US" sz="1600" dirty="0">
                <a:solidFill>
                  <a:srgbClr val="444444"/>
                </a:solidFill>
                <a:latin typeface="Times New Roman" pitchFamily="18" charset="0"/>
                <a:cs typeface="Times New Roman" pitchFamily="18" charset="0"/>
              </a:rPr>
              <a:t>th</a:t>
            </a:r>
          </a:p>
          <a:p>
            <a:pPr marL="457200" indent="-457200" algn="just">
              <a:buNone/>
            </a:pPr>
            <a:r>
              <a:rPr lang="en-US" sz="2400" i="0" dirty="0">
                <a:solidFill>
                  <a:srgbClr val="444444"/>
                </a:solidFill>
                <a:effectLst/>
                <a:latin typeface="Times New Roman" pitchFamily="18" charset="0"/>
                <a:cs typeface="Times New Roman" pitchFamily="18" charset="0"/>
              </a:rPr>
              <a:t>4. The maximum power is given by</a:t>
            </a: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4</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554481" y="647180"/>
            <a:ext cx="9261566"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Procedure for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7" name="Picture 6"/>
          <p:cNvPicPr/>
          <p:nvPr/>
        </p:nvPicPr>
        <p:blipFill>
          <a:blip r:embed="rId2"/>
          <a:srcRect/>
          <a:stretch>
            <a:fillRect/>
          </a:stretch>
        </p:blipFill>
        <p:spPr bwMode="auto">
          <a:xfrm>
            <a:off x="4829447" y="4392249"/>
            <a:ext cx="2533106" cy="1120277"/>
          </a:xfrm>
          <a:prstGeom prst="rect">
            <a:avLst/>
          </a:prstGeom>
          <a:noFill/>
          <a:ln w="9525">
            <a:noFill/>
            <a:miter lim="800000"/>
            <a:headEnd/>
            <a:tailEnd/>
          </a:ln>
          <a:effec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28800"/>
            <a:ext cx="10711543" cy="4284617"/>
          </a:xfrm>
        </p:spPr>
        <p:txBody>
          <a:bodyPr>
            <a:normAutofit/>
          </a:bodyPr>
          <a:lstStyle/>
          <a:p>
            <a:pPr marL="457200" indent="-457200" algn="just">
              <a:buNone/>
            </a:pPr>
            <a:r>
              <a:rPr lang="en-US" sz="2400" dirty="0">
                <a:latin typeface="Times New Roman" pitchFamily="18" charset="0"/>
                <a:cs typeface="Times New Roman" pitchFamily="18" charset="0"/>
              </a:rPr>
              <a:t>1.  Find the value of the adjustable resistor R which results in maximum power transfer across the terminals a-b of the circuit shown in Fig.1. Also, compute the value of maximum power across the terminals a-b.</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1</a:t>
            </a: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5</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632857" y="647180"/>
            <a:ext cx="8895806"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7" name="Picture 6"/>
          <p:cNvPicPr/>
          <p:nvPr/>
        </p:nvPicPr>
        <p:blipFill>
          <a:blip r:embed="rId2"/>
          <a:srcRect/>
          <a:stretch>
            <a:fillRect/>
          </a:stretch>
        </p:blipFill>
        <p:spPr bwMode="auto">
          <a:xfrm>
            <a:off x="4090852" y="3187338"/>
            <a:ext cx="3786051" cy="2442754"/>
          </a:xfrm>
          <a:prstGeom prst="rect">
            <a:avLst/>
          </a:prstGeom>
          <a:noFill/>
          <a:ln w="9525">
            <a:noFill/>
            <a:miter lim="800000"/>
            <a:headEnd/>
            <a:tailEnd/>
          </a:ln>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28800"/>
            <a:ext cx="10711543" cy="4284617"/>
          </a:xfrm>
        </p:spPr>
        <p:txBody>
          <a:bodyPr>
            <a:normAutofit lnSpcReduction="10000"/>
          </a:bodyPr>
          <a:lstStyle/>
          <a:p>
            <a:pPr marL="457200" indent="-457200" algn="just">
              <a:buNone/>
            </a:pPr>
            <a:r>
              <a:rPr lang="en-US" sz="2400" dirty="0">
                <a:latin typeface="Times New Roman" pitchFamily="18" charset="0"/>
                <a:cs typeface="Times New Roman" pitchFamily="18" charset="0"/>
              </a:rPr>
              <a:t>2.  For the circuit shown in Fig.2, determine the value of R</a:t>
            </a:r>
            <a:r>
              <a:rPr lang="en-US" sz="2400" baseline="-25000" dirty="0">
                <a:latin typeface="Times New Roman" pitchFamily="18" charset="0"/>
                <a:cs typeface="Times New Roman" pitchFamily="18" charset="0"/>
              </a:rPr>
              <a:t>L</a:t>
            </a:r>
            <a:r>
              <a:rPr lang="en-US" sz="2400" dirty="0">
                <a:latin typeface="Times New Roman" pitchFamily="18" charset="0"/>
                <a:cs typeface="Times New Roman" pitchFamily="18" charset="0"/>
              </a:rPr>
              <a:t> to get the maximum power. Also find the maximum power transferred to the load.</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2</a:t>
            </a: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6</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632857" y="647180"/>
            <a:ext cx="8895806"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8" name="Picture 7"/>
          <p:cNvPicPr/>
          <p:nvPr/>
        </p:nvPicPr>
        <p:blipFill>
          <a:blip r:embed="rId2"/>
          <a:srcRect/>
          <a:stretch>
            <a:fillRect/>
          </a:stretch>
        </p:blipFill>
        <p:spPr bwMode="auto">
          <a:xfrm>
            <a:off x="4064726" y="2730137"/>
            <a:ext cx="4062548" cy="2704012"/>
          </a:xfrm>
          <a:prstGeom prst="rect">
            <a:avLst/>
          </a:prstGeom>
          <a:noFill/>
          <a:ln w="9525">
            <a:noFill/>
            <a:miter lim="800000"/>
            <a:headEnd/>
            <a:tailEnd/>
          </a:ln>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28800"/>
            <a:ext cx="10711543" cy="4284617"/>
          </a:xfrm>
        </p:spPr>
        <p:txBody>
          <a:bodyPr>
            <a:normAutofit lnSpcReduction="10000"/>
          </a:bodyPr>
          <a:lstStyle/>
          <a:p>
            <a:pPr marL="457200" indent="-457200" algn="just">
              <a:buNone/>
            </a:pPr>
            <a:r>
              <a:rPr lang="en-US" sz="2400" dirty="0">
                <a:latin typeface="Times New Roman" pitchFamily="18" charset="0"/>
                <a:cs typeface="Times New Roman" pitchFamily="18" charset="0"/>
              </a:rPr>
              <a:t>3. Find R</a:t>
            </a:r>
            <a:r>
              <a:rPr lang="en-US" sz="1200" dirty="0">
                <a:latin typeface="Times New Roman" pitchFamily="18" charset="0"/>
                <a:cs typeface="Times New Roman" pitchFamily="18" charset="0"/>
              </a:rPr>
              <a:t>L </a:t>
            </a:r>
            <a:r>
              <a:rPr lang="en-US" sz="2400" dirty="0">
                <a:latin typeface="Times New Roman" pitchFamily="18" charset="0"/>
                <a:cs typeface="Times New Roman" pitchFamily="18" charset="0"/>
              </a:rPr>
              <a:t>for which P</a:t>
            </a:r>
            <a:r>
              <a:rPr lang="en-US" sz="1200" dirty="0">
                <a:latin typeface="Times New Roman" pitchFamily="18" charset="0"/>
                <a:cs typeface="Times New Roman" pitchFamily="18" charset="0"/>
              </a:rPr>
              <a:t>L</a:t>
            </a:r>
            <a:r>
              <a:rPr lang="en-US" sz="2400" dirty="0">
                <a:latin typeface="Times New Roman" pitchFamily="18" charset="0"/>
                <a:cs typeface="Times New Roman" pitchFamily="18" charset="0"/>
              </a:rPr>
              <a:t> is maximum in the circuit shown in Fig.3 using maximum power transfer theorem.</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ctr">
              <a:buNone/>
            </a:pPr>
            <a:endParaRPr lang="en-US" sz="2400" dirty="0">
              <a:latin typeface="Times New Roman" pitchFamily="18" charset="0"/>
              <a:cs typeface="Times New Roman" pitchFamily="18" charset="0"/>
            </a:endParaRPr>
          </a:p>
          <a:p>
            <a:pPr marL="457200" indent="-457200" algn="ctr">
              <a:buNone/>
            </a:pPr>
            <a:r>
              <a:rPr lang="en-US" sz="2400" dirty="0">
                <a:latin typeface="Times New Roman" pitchFamily="18" charset="0"/>
                <a:cs typeface="Times New Roman" pitchFamily="18" charset="0"/>
              </a:rPr>
              <a:t>Fig. 3</a:t>
            </a: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7</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632857" y="647180"/>
            <a:ext cx="8895806"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l="7713" t="7930" r="6564" b="56844"/>
          <a:stretch>
            <a:fillRect/>
          </a:stretch>
        </p:blipFill>
        <p:spPr bwMode="auto">
          <a:xfrm>
            <a:off x="3597444" y="2782387"/>
            <a:ext cx="4997112" cy="2586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fontScale="92500" lnSpcReduction="20000"/>
          </a:bodyPr>
          <a:lstStyle/>
          <a:p>
            <a:pPr marL="457200" indent="-457200" algn="just">
              <a:buNone/>
            </a:pPr>
            <a:r>
              <a:rPr lang="en-US" sz="2400" dirty="0">
                <a:latin typeface="Times New Roman" pitchFamily="18" charset="0"/>
                <a:cs typeface="Times New Roman" pitchFamily="18" charset="0"/>
              </a:rPr>
              <a:t>4. </a:t>
            </a:r>
            <a:r>
              <a:rPr lang="en-US" sz="2600" dirty="0">
                <a:latin typeface="Times New Roman" pitchFamily="18" charset="0"/>
                <a:cs typeface="Times New Roman" pitchFamily="18" charset="0"/>
              </a:rPr>
              <a:t>Calculate the value of R which will absorb maximum power from the circuit of Fig.4. Also, compute the value of maximum power across the terminals A-B.</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4</a:t>
            </a:r>
            <a:endParaRPr lang="en-US" altLang="zh-TW" sz="2400" dirty="0">
              <a:latin typeface="Times New Roman" pitchFamily="18" charset="0"/>
              <a:ea typeface="新細明體" panose="02020500000000000000" pitchFamily="18" charset="-120"/>
              <a:cs typeface="Times New Roman" pitchFamily="18" charset="0"/>
            </a:endParaRPr>
          </a:p>
          <a:p>
            <a:pPr marL="457200" indent="-457200" algn="just">
              <a:buNone/>
            </a:pP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8</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841863" y="647180"/>
            <a:ext cx="9000308"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7" name="Picture 6"/>
          <p:cNvPicPr/>
          <p:nvPr/>
        </p:nvPicPr>
        <p:blipFill>
          <a:blip r:embed="rId2"/>
          <a:srcRect/>
          <a:stretch>
            <a:fillRect/>
          </a:stretch>
        </p:blipFill>
        <p:spPr bwMode="auto">
          <a:xfrm>
            <a:off x="4186351" y="2680970"/>
            <a:ext cx="3819299" cy="2844619"/>
          </a:xfrm>
          <a:prstGeom prst="rect">
            <a:avLst/>
          </a:prstGeom>
          <a:noFill/>
          <a:ln w="9525">
            <a:noFill/>
            <a:miter lim="800000"/>
            <a:headEnd/>
            <a:tailEnd/>
          </a:ln>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2037807"/>
            <a:ext cx="10711543" cy="2808514"/>
          </a:xfrm>
        </p:spPr>
        <p:txBody>
          <a:bodyPr>
            <a:normAutofit/>
          </a:bodyPr>
          <a:lstStyle/>
          <a:p>
            <a:pPr marL="457200" indent="-457200" algn="just">
              <a:buNone/>
            </a:pPr>
            <a:r>
              <a:rPr lang="en-US" sz="2400" b="1" dirty="0">
                <a:latin typeface="Times New Roman" pitchFamily="18" charset="0"/>
                <a:cs typeface="Times New Roman" pitchFamily="18" charset="0"/>
              </a:rPr>
              <a:t>Statement:</a:t>
            </a:r>
          </a:p>
          <a:p>
            <a:pPr marL="457200" indent="-457200" algn="just">
              <a:buNone/>
            </a:pPr>
            <a:r>
              <a:rPr lang="en-US" sz="2400" dirty="0">
                <a:latin typeface="Times New Roman" pitchFamily="18" charset="0"/>
                <a:cs typeface="Times New Roman" pitchFamily="18" charset="0"/>
              </a:rPr>
              <a:t>		In any linear circuit containing multiple independent sources, the current through (or voltage across) any element in the circuit is the algebraic sum of the currents through (or voltages across) that element due to each independent source acting alone while other sources are replaced by their internal resistance, if any.</a:t>
            </a:r>
          </a:p>
          <a:p>
            <a:pPr algn="just">
              <a:buNone/>
            </a:pP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9</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995353" y="647180"/>
            <a:ext cx="6201295"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Superposition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lnSpcReduction="10000"/>
          </a:bodyPr>
          <a:lstStyle/>
          <a:p>
            <a:pPr algn="just">
              <a:buNone/>
            </a:pPr>
            <a:r>
              <a:rPr lang="en-US" sz="2400" b="1" dirty="0">
                <a:latin typeface="Times New Roman" pitchFamily="18" charset="0"/>
                <a:cs typeface="Times New Roman" pitchFamily="18" charset="0"/>
              </a:rPr>
              <a:t>Steps of Applying Superposition Principle:</a:t>
            </a:r>
            <a:endParaRPr lang="en-US" sz="2400" dirty="0">
              <a:latin typeface="Times New Roman" pitchFamily="18" charset="0"/>
              <a:cs typeface="Times New Roman" pitchFamily="18" charset="0"/>
            </a:endParaRPr>
          </a:p>
          <a:p>
            <a:pPr marL="457200" lvl="0" indent="-457200" algn="just">
              <a:buNone/>
            </a:pPr>
            <a:r>
              <a:rPr lang="en-US" sz="2400" dirty="0">
                <a:latin typeface="Times New Roman" pitchFamily="18" charset="0"/>
                <a:cs typeface="Times New Roman" pitchFamily="18" charset="0"/>
              </a:rPr>
              <a:t>1.  Deactivate all independent sources except one source. If the internal resistance of the sources is neglected then the deactivated voltage source is replaced with a “Short Circuit” (R= 0 Ω) and the deactivated current source is replaced with an open circuit (R = ∞) respectively then find the corresponding (V or I) due to that active source.</a:t>
            </a:r>
          </a:p>
          <a:p>
            <a:pPr marL="457200" lvl="0" indent="-457200" algn="just">
              <a:buNone/>
            </a:pPr>
            <a:r>
              <a:rPr lang="en-US" sz="2400" dirty="0">
                <a:latin typeface="Times New Roman" pitchFamily="18" charset="0"/>
                <a:cs typeface="Times New Roman" pitchFamily="18" charset="0"/>
              </a:rPr>
              <a:t>2.  Repeat step (1) for each of the other independent sources.</a:t>
            </a:r>
          </a:p>
          <a:p>
            <a:pPr marL="457200" lvl="0" indent="-457200" algn="just">
              <a:buNone/>
            </a:pPr>
            <a:r>
              <a:rPr lang="en-US" sz="2400" dirty="0">
                <a:latin typeface="Times New Roman" pitchFamily="18" charset="0"/>
                <a:cs typeface="Times New Roman" pitchFamily="18" charset="0"/>
              </a:rPr>
              <a:t>3. Find the total contribution (V or I) by adding algebraically all the voltages or currents due to the independent sources.</a:t>
            </a:r>
            <a:endParaRPr lang="en-US" altLang="zh-TW" sz="28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10</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995353" y="647180"/>
            <a:ext cx="6201295"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Procedure for Superposition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lnSpcReduction="10000"/>
          </a:bodyPr>
          <a:lstStyle/>
          <a:p>
            <a:pPr marL="457200" indent="-457200" algn="just">
              <a:buNone/>
            </a:pPr>
            <a:r>
              <a:rPr lang="en-US" sz="2400" dirty="0">
                <a:latin typeface="Times New Roman" pitchFamily="18" charset="0"/>
                <a:cs typeface="Times New Roman" pitchFamily="18" charset="0"/>
              </a:rPr>
              <a:t>1. </a:t>
            </a:r>
            <a:r>
              <a:rPr lang="en-US" sz="2600" dirty="0">
                <a:solidFill>
                  <a:srgbClr val="2C2F34"/>
                </a:solidFill>
                <a:latin typeface="Times New Roman" pitchFamily="18" charset="0"/>
                <a:cs typeface="Times New Roman" pitchFamily="18" charset="0"/>
              </a:rPr>
              <a:t>Calculate the current passes through the 2Ω resister using the superposition theorem</a:t>
            </a:r>
            <a:r>
              <a:rPr lang="en-US" sz="2400" dirty="0">
                <a:latin typeface="Times New Roman" pitchFamily="18" charset="0"/>
                <a:cs typeface="Times New Roman" pitchFamily="18" charset="0"/>
              </a:rPr>
              <a:t> in the circuit shown in Fig.1.</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1</a:t>
            </a:r>
            <a:endParaRPr lang="en-US" altLang="zh-TW" sz="2400" dirty="0">
              <a:latin typeface="Times New Roman" pitchFamily="18" charset="0"/>
              <a:ea typeface="新細明體" panose="02020500000000000000" pitchFamily="18" charset="-120"/>
              <a:cs typeface="Times New Roman" pitchFamily="18" charset="0"/>
            </a:endParaRPr>
          </a:p>
          <a:p>
            <a:pPr marL="457200" indent="-457200" algn="just">
              <a:buNone/>
            </a:pP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11</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995353" y="647180"/>
            <a:ext cx="6201295"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Superposition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9" name="Picture 2"/>
          <p:cNvPicPr>
            <a:picLocks noChangeAspect="1" noChangeArrowheads="1"/>
          </p:cNvPicPr>
          <p:nvPr/>
        </p:nvPicPr>
        <p:blipFill>
          <a:blip r:embed="rId2"/>
          <a:srcRect/>
          <a:stretch>
            <a:fillRect/>
          </a:stretch>
        </p:blipFill>
        <p:spPr bwMode="auto">
          <a:xfrm>
            <a:off x="3409950" y="2867775"/>
            <a:ext cx="5372100" cy="2571750"/>
          </a:xfrm>
          <a:prstGeom prst="rect">
            <a:avLst/>
          </a:prstGeom>
          <a:noFill/>
          <a:ln w="9525">
            <a:noFill/>
            <a:miter lim="800000"/>
            <a:headEnd/>
            <a:tailEnd/>
          </a:ln>
          <a:effec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lnSpcReduction="10000"/>
          </a:bodyPr>
          <a:lstStyle/>
          <a:p>
            <a:pPr marL="457200" indent="-457200" algn="just">
              <a:buNone/>
            </a:pPr>
            <a:r>
              <a:rPr lang="en-US" sz="2400" dirty="0">
                <a:latin typeface="Times New Roman" pitchFamily="18" charset="0"/>
                <a:cs typeface="Times New Roman" pitchFamily="18" charset="0"/>
              </a:rPr>
              <a:t>2. Find the current flowing through 20 Ω using the superposition theorem in the circuit shown in Fig.2.</a:t>
            </a: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2</a:t>
            </a:r>
            <a:endParaRPr lang="en-US" altLang="zh-TW" sz="2400" dirty="0">
              <a:latin typeface="Times New Roman" pitchFamily="18" charset="0"/>
              <a:ea typeface="新細明體" panose="02020500000000000000" pitchFamily="18" charset="-120"/>
              <a:cs typeface="Times New Roman" pitchFamily="18" charset="0"/>
            </a:endParaRPr>
          </a:p>
          <a:p>
            <a:pPr marL="457200" indent="-457200" algn="just">
              <a:buNone/>
            </a:pP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12</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995353" y="647180"/>
            <a:ext cx="6201295"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Superposition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7" name="Picture 3" descr="C:\Users\klef\OneDrive\Pictures\Screenshots\Untitled.png"/>
          <p:cNvPicPr>
            <a:picLocks noChangeAspect="1" noChangeArrowheads="1"/>
          </p:cNvPicPr>
          <p:nvPr/>
        </p:nvPicPr>
        <p:blipFill>
          <a:blip r:embed="rId2"/>
          <a:srcRect/>
          <a:stretch>
            <a:fillRect/>
          </a:stretch>
        </p:blipFill>
        <p:spPr bwMode="auto">
          <a:xfrm>
            <a:off x="2971759" y="2838438"/>
            <a:ext cx="6248483" cy="2495720"/>
          </a:xfrm>
          <a:prstGeom prst="rect">
            <a:avLst/>
          </a:prstGeom>
          <a:noFill/>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847703" y="979714"/>
            <a:ext cx="6753497" cy="61137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LIMITATIONS OF SUPERPOSITION THEOREM</a:t>
            </a:r>
          </a:p>
        </p:txBody>
      </p:sp>
      <p:sp>
        <p:nvSpPr>
          <p:cNvPr id="5" name="Rectangle 4"/>
          <p:cNvSpPr/>
          <p:nvPr/>
        </p:nvSpPr>
        <p:spPr>
          <a:xfrm>
            <a:off x="862149" y="2103121"/>
            <a:ext cx="10463348" cy="3046988"/>
          </a:xfrm>
          <a:prstGeom prst="rect">
            <a:avLst/>
          </a:prstGeom>
        </p:spPr>
        <p:txBody>
          <a:bodyPr wrap="square">
            <a:spAutoFit/>
          </a:bodyPr>
          <a:lstStyle/>
          <a:p>
            <a:pPr>
              <a:buFont typeface="Arial" pitchFamily="34" charset="0"/>
              <a:buChar char="•"/>
            </a:pPr>
            <a:r>
              <a:rPr lang="en-US" sz="2400" b="0" i="0" dirty="0">
                <a:effectLst/>
                <a:latin typeface="Times New Roman" pitchFamily="18" charset="0"/>
                <a:cs typeface="Times New Roman" pitchFamily="18" charset="0"/>
              </a:rPr>
              <a:t> </a:t>
            </a:r>
            <a:r>
              <a:rPr lang="en-US" sz="2400" dirty="0">
                <a:latin typeface="Times New Roman" pitchFamily="18" charset="0"/>
                <a:cs typeface="Times New Roman" pitchFamily="18" charset="0"/>
              </a:rPr>
              <a:t>Superposition </a:t>
            </a:r>
            <a:r>
              <a:rPr lang="en-US" sz="2400" b="0" i="0" dirty="0">
                <a:effectLst/>
                <a:latin typeface="Times New Roman" pitchFamily="18" charset="0"/>
                <a:cs typeface="Times New Roman" pitchFamily="18" charset="0"/>
              </a:rPr>
              <a:t>theorem does not apply to non-linear circuits.</a:t>
            </a:r>
          </a:p>
          <a:p>
            <a:pPr algn="l">
              <a:buFont typeface="Arial" pitchFamily="34" charset="0"/>
              <a:buChar char="•"/>
            </a:pPr>
            <a:endParaRPr lang="en-US" sz="2400" b="0" i="0" dirty="0">
              <a:effectLst/>
              <a:latin typeface="Times New Roman" pitchFamily="18" charset="0"/>
              <a:cs typeface="Times New Roman" pitchFamily="18" charset="0"/>
            </a:endParaRPr>
          </a:p>
          <a:p>
            <a:pPr algn="l">
              <a:buFont typeface="Arial" pitchFamily="34" charset="0"/>
              <a:buChar char="•"/>
            </a:pPr>
            <a:r>
              <a:rPr lang="en-US" sz="2400" dirty="0">
                <a:latin typeface="Times New Roman" pitchFamily="18" charset="0"/>
                <a:cs typeface="Times New Roman" pitchFamily="18" charset="0"/>
              </a:rPr>
              <a:t>  Su</a:t>
            </a:r>
            <a:r>
              <a:rPr lang="en-US" sz="2400" b="0" i="0" dirty="0">
                <a:effectLst/>
                <a:latin typeface="Times New Roman" pitchFamily="18" charset="0"/>
                <a:cs typeface="Times New Roman" pitchFamily="18" charset="0"/>
              </a:rPr>
              <a:t>perposition theorem is only applicable to determine voltages and currents but not power as power dissipation is a nonlinear function.</a:t>
            </a:r>
          </a:p>
          <a:p>
            <a:pPr algn="l">
              <a:buFont typeface="Arial" pitchFamily="34" charset="0"/>
              <a:buChar char="•"/>
            </a:pPr>
            <a:endParaRPr lang="en-US" sz="2400" dirty="0">
              <a:latin typeface="Times New Roman" pitchFamily="18" charset="0"/>
              <a:cs typeface="Times New Roman" pitchFamily="18" charset="0"/>
            </a:endParaRPr>
          </a:p>
          <a:p>
            <a:pPr algn="l">
              <a:buFont typeface="Arial" pitchFamily="34" charset="0"/>
              <a:buChar char="•"/>
            </a:pPr>
            <a:r>
              <a:rPr lang="en-US" sz="2400" b="0" i="0" dirty="0">
                <a:effectLst/>
                <a:latin typeface="Times New Roman" pitchFamily="18" charset="0"/>
                <a:cs typeface="Times New Roman" pitchFamily="18" charset="0"/>
              </a:rPr>
              <a:t>  The application of the superposition theorem requires two or more sources in the circuit.</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673690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lgn="just"/>
            <a:r>
              <a:rPr lang="en-IN" dirty="0">
                <a:latin typeface="+mj-lt"/>
                <a:ea typeface="Calibri"/>
                <a:cs typeface="Poppins" panose="00000500000000000000" pitchFamily="2" charset="0"/>
                <a:sym typeface="Calibri"/>
              </a:rPr>
              <a:t>1.  The maximum power is delivered from a source to its load when the load resistance is  ______  the source resistance.</a:t>
            </a:r>
            <a:endParaRPr dirty="0">
              <a:latin typeface="+mj-lt"/>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1774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t>a) greater than</a:t>
            </a:r>
            <a:br>
              <a:rPr lang="en-IN" dirty="0"/>
            </a:br>
            <a:r>
              <a:rPr lang="en-IN" dirty="0"/>
              <a:t>b) less than</a:t>
            </a:r>
            <a:br>
              <a:rPr lang="en-IN" dirty="0"/>
            </a:br>
            <a:r>
              <a:rPr lang="en-IN" dirty="0">
                <a:solidFill>
                  <a:srgbClr val="FFFF00"/>
                </a:solidFill>
              </a:rPr>
              <a:t>c) equal to</a:t>
            </a:r>
            <a:br>
              <a:rPr lang="en-IN" dirty="0"/>
            </a:br>
            <a:r>
              <a:rPr lang="en-IN" dirty="0"/>
              <a:t>d) less than or equal to</a:t>
            </a: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615799"/>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lgn="just"/>
            <a:r>
              <a:rPr lang="en-IN" dirty="0">
                <a:latin typeface="+mj-lt"/>
                <a:ea typeface="Calibri"/>
                <a:cs typeface="Poppins" panose="00000500000000000000" pitchFamily="2" charset="0"/>
                <a:sym typeface="Calibri"/>
              </a:rPr>
              <a:t>2. If source impedance is complex, then maximum power transfer occurs when the load impedance is _______ the source impedance</a:t>
            </a:r>
            <a:endParaRPr dirty="0">
              <a:latin typeface="+mj-lt"/>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362139"/>
            <a:ext cx="4488537" cy="1806342"/>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pPr>
            <a:r>
              <a:rPr lang="en-IN" dirty="0">
                <a:solidFill>
                  <a:srgbClr val="FFFF00"/>
                </a:solidFill>
              </a:rPr>
              <a:t>a) complex conjugate of</a:t>
            </a:r>
          </a:p>
          <a:p>
            <a:pPr marL="342900" indent="-342900">
              <a:lnSpc>
                <a:spcPct val="150000"/>
              </a:lnSpc>
            </a:pPr>
            <a:r>
              <a:rPr lang="en-IN" dirty="0"/>
              <a:t>b) negative of</a:t>
            </a:r>
          </a:p>
          <a:p>
            <a:pPr>
              <a:lnSpc>
                <a:spcPct val="150000"/>
              </a:lnSpc>
            </a:pPr>
            <a:r>
              <a:rPr lang="en-IN" dirty="0"/>
              <a:t>c) equal to </a:t>
            </a:r>
          </a:p>
          <a:p>
            <a:pPr>
              <a:lnSpc>
                <a:spcPct val="150000"/>
              </a:lnSpc>
            </a:pPr>
            <a:r>
              <a:rPr lang="en-IN" dirty="0"/>
              <a:t>d) negative of complex conjugate of</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dirty="0"/>
              <a:t>3.   What does the superposition theorem state?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1894402"/>
            <a:ext cx="9901584" cy="184243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The total current in a circuit is equal to the sum of currents through each element. </a:t>
            </a:r>
            <a:endParaRPr lang="en-US" sz="1600" dirty="0">
              <a:latin typeface="Arial" panose="020B0604020202020204" pitchFamily="34" charset="0"/>
            </a:endParaRPr>
          </a:p>
          <a:p>
            <a:pPr marL="342900" indent="-342900">
              <a:lnSpc>
                <a:spcPct val="150000"/>
              </a:lnSpc>
              <a:buAutoNum type="alphaLcParenBoth"/>
            </a:pPr>
            <a:r>
              <a:rPr lang="en-US" sz="1600" dirty="0"/>
              <a:t>The total voltage in a circuit is equal to the sum of voltages across each element.</a:t>
            </a:r>
            <a:endParaRPr lang="en-US" sz="1600" dirty="0">
              <a:latin typeface="Arial" panose="020B0604020202020204" pitchFamily="34" charset="0"/>
            </a:endParaRPr>
          </a:p>
          <a:p>
            <a:pPr marL="342900" indent="-342900">
              <a:lnSpc>
                <a:spcPct val="150000"/>
              </a:lnSpc>
              <a:buAutoNum type="alphaLcParenBoth"/>
            </a:pPr>
            <a:r>
              <a:rPr lang="en-US" sz="1600" b="1" dirty="0"/>
              <a:t>The total response in a linear circuit with multiple independent sources is the algebraic sum of responses caused by each source acting independently.</a:t>
            </a:r>
            <a:endParaRPr lang="en-US" sz="1600" b="1" dirty="0">
              <a:latin typeface="Arial" panose="020B0604020202020204" pitchFamily="34" charset="0"/>
            </a:endParaRPr>
          </a:p>
          <a:p>
            <a:pPr marL="342900" indent="-342900">
              <a:lnSpc>
                <a:spcPct val="150000"/>
              </a:lnSpc>
              <a:buAutoNum type="alphaLcParenBoth"/>
            </a:pPr>
            <a:r>
              <a:rPr lang="en-US" sz="1600" dirty="0"/>
              <a:t>The total resistance in a circuit is equal to the sum of resistances in each branch.</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60961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dirty="0"/>
              <a:t>4.  Under what condition is the superposition theorem applicable?</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513460"/>
            <a:ext cx="6731433" cy="1656521"/>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Nonlinear circuits </a:t>
            </a:r>
          </a:p>
          <a:p>
            <a:pPr marL="342900" indent="-342900">
              <a:lnSpc>
                <a:spcPct val="150000"/>
              </a:lnSpc>
              <a:buAutoNum type="alphaLcParenBoth"/>
            </a:pPr>
            <a:r>
              <a:rPr lang="en-US" dirty="0"/>
              <a:t>Circuits with only resistors</a:t>
            </a:r>
          </a:p>
          <a:p>
            <a:pPr marL="342900" indent="-342900">
              <a:lnSpc>
                <a:spcPct val="150000"/>
              </a:lnSpc>
              <a:buFontTx/>
              <a:buAutoNum type="alphaLcParenBoth"/>
            </a:pPr>
            <a:r>
              <a:rPr lang="en-US" b="1" dirty="0"/>
              <a:t>Linear circuits with multiple independent sources</a:t>
            </a:r>
          </a:p>
          <a:p>
            <a:pPr marL="342900" indent="-342900">
              <a:lnSpc>
                <a:spcPct val="150000"/>
              </a:lnSpc>
              <a:buFontTx/>
              <a:buAutoNum type="alphaLcParenBoth"/>
            </a:pPr>
            <a:r>
              <a:rPr lang="en-US" dirty="0"/>
              <a:t>Circuits with capacitors and inductors only</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dirty="0"/>
              <a:t>5.  How is the total current in a circuit found using the superposition theorem?</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2037784"/>
            <a:ext cx="9901584" cy="160619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By summing the currents through each resistor</a:t>
            </a:r>
          </a:p>
          <a:p>
            <a:pPr marL="342900" indent="-342900">
              <a:lnSpc>
                <a:spcPct val="150000"/>
              </a:lnSpc>
              <a:buAutoNum type="alphaLcParenBoth"/>
            </a:pPr>
            <a:r>
              <a:rPr lang="en-US" sz="1600" dirty="0"/>
              <a:t>By summing the currents through each element</a:t>
            </a:r>
          </a:p>
          <a:p>
            <a:pPr marL="342900" indent="-342900">
              <a:lnSpc>
                <a:spcPct val="150000"/>
              </a:lnSpc>
              <a:buAutoNum type="alphaLcParenBoth"/>
            </a:pPr>
            <a:r>
              <a:rPr lang="en-US" sz="1600" b="1" dirty="0"/>
              <a:t>By algebraically summing the currents caused by each independent source acting alone</a:t>
            </a:r>
          </a:p>
          <a:p>
            <a:pPr marL="342900" indent="-342900">
              <a:lnSpc>
                <a:spcPct val="150000"/>
              </a:lnSpc>
              <a:buAutoNum type="alphaLcParenBoth"/>
            </a:pPr>
            <a:r>
              <a:rPr lang="en-US" sz="1600" dirty="0"/>
              <a:t>By multiplying the currents through each branch</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019361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fontScale="92500" lnSpcReduction="20000"/>
          </a:bodyPr>
          <a:lstStyle/>
          <a:p>
            <a:pPr marL="457200" indent="-457200" algn="just">
              <a:buNone/>
            </a:pPr>
            <a:r>
              <a:rPr lang="en-US" sz="2400" dirty="0">
                <a:latin typeface="Times New Roman" pitchFamily="18" charset="0"/>
                <a:cs typeface="Times New Roman" pitchFamily="18" charset="0"/>
              </a:rPr>
              <a:t>P1. </a:t>
            </a:r>
            <a:r>
              <a:rPr lang="en-IN" sz="2600" dirty="0">
                <a:latin typeface="Times New Roman" pitchFamily="18" charset="0"/>
                <a:cs typeface="Times New Roman" pitchFamily="18" charset="0"/>
              </a:rPr>
              <a:t>Find the value of R in the circuit shown in Fig.P1 such that maximum power transfer takes place. What is the amount of this maximum power?</a:t>
            </a:r>
            <a:endParaRPr lang="en-US" sz="26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P1</a:t>
            </a:r>
            <a:endParaRPr lang="en-US" altLang="zh-TW" sz="2400" dirty="0">
              <a:latin typeface="Times New Roman" pitchFamily="18" charset="0"/>
              <a:ea typeface="新細明體" panose="02020500000000000000" pitchFamily="18" charset="-120"/>
              <a:cs typeface="Times New Roman" pitchFamily="18" charset="0"/>
            </a:endParaRPr>
          </a:p>
          <a:p>
            <a:pPr marL="457200" indent="-457200" algn="just">
              <a:buNone/>
            </a:pP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17</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1841863" y="647180"/>
            <a:ext cx="9000308"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4313" y="2805564"/>
            <a:ext cx="4143375" cy="2638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7196F-2AE7-CC99-77AE-1618EBC2C708}"/>
              </a:ext>
            </a:extLst>
          </p:cNvPr>
          <p:cNvSpPr>
            <a:spLocks noGrp="1"/>
          </p:cNvSpPr>
          <p:nvPr>
            <p:ph idx="1"/>
          </p:nvPr>
        </p:nvSpPr>
        <p:spPr>
          <a:xfrm>
            <a:off x="705394" y="1854926"/>
            <a:ext cx="10711543" cy="4258491"/>
          </a:xfrm>
        </p:spPr>
        <p:txBody>
          <a:bodyPr>
            <a:normAutofit lnSpcReduction="10000"/>
          </a:bodyPr>
          <a:lstStyle/>
          <a:p>
            <a:pPr marL="457200" indent="-457200" algn="just">
              <a:buNone/>
            </a:pPr>
            <a:r>
              <a:rPr lang="en-US" sz="2400" dirty="0">
                <a:latin typeface="Times New Roman" pitchFamily="18" charset="0"/>
                <a:cs typeface="Times New Roman" pitchFamily="18" charset="0"/>
              </a:rPr>
              <a:t>P2. </a:t>
            </a:r>
            <a:r>
              <a:rPr lang="en-IN" sz="2400" dirty="0">
                <a:latin typeface="Times New Roman" pitchFamily="18" charset="0"/>
                <a:cs typeface="Times New Roman" pitchFamily="18" charset="0"/>
              </a:rPr>
              <a:t>Find the value of </a:t>
            </a:r>
            <a:r>
              <a:rPr lang="en-US" altLang="en-US" sz="2400" dirty="0">
                <a:latin typeface="Times New Roman" pitchFamily="18" charset="0"/>
                <a:cs typeface="Times New Roman" pitchFamily="18" charset="0"/>
              </a:rPr>
              <a:t>R</a:t>
            </a:r>
            <a:r>
              <a:rPr lang="en-US" altLang="en-US" sz="2400" baseline="-25000" dirty="0">
                <a:latin typeface="Times New Roman" pitchFamily="18" charset="0"/>
                <a:cs typeface="Times New Roman" pitchFamily="18" charset="0"/>
              </a:rPr>
              <a:t>L</a:t>
            </a:r>
            <a:r>
              <a:rPr lang="en-IN" sz="2400" dirty="0">
                <a:latin typeface="Times New Roman" pitchFamily="18" charset="0"/>
                <a:cs typeface="Times New Roman" pitchFamily="18" charset="0"/>
              </a:rPr>
              <a:t> in the circuit shown in Fig.P2 for maximum power transfer and also find this maximum power?</a:t>
            </a: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endParaRPr lang="en-US" sz="2400" dirty="0">
              <a:latin typeface="Times New Roman" pitchFamily="18" charset="0"/>
              <a:cs typeface="Times New Roman" pitchFamily="18" charset="0"/>
            </a:endParaRPr>
          </a:p>
          <a:p>
            <a:pPr marL="457200" indent="-457200" algn="just">
              <a:buNone/>
            </a:pPr>
            <a:r>
              <a:rPr lang="en-US" sz="2400" dirty="0">
                <a:latin typeface="Times New Roman" pitchFamily="18" charset="0"/>
                <a:cs typeface="Times New Roman" pitchFamily="18" charset="0"/>
              </a:rPr>
              <a:t>					   				</a:t>
            </a:r>
          </a:p>
          <a:p>
            <a:pPr marL="457200" indent="-457200" algn="ctr">
              <a:buNone/>
            </a:pPr>
            <a:r>
              <a:rPr lang="en-US" sz="2400" dirty="0">
                <a:latin typeface="Times New Roman" pitchFamily="18" charset="0"/>
                <a:cs typeface="Times New Roman" pitchFamily="18" charset="0"/>
              </a:rPr>
              <a:t>Fig. P2</a:t>
            </a:r>
            <a:endParaRPr lang="en-US" altLang="zh-TW" sz="2400" dirty="0">
              <a:latin typeface="Times New Roman" pitchFamily="18" charset="0"/>
              <a:ea typeface="新細明體" panose="02020500000000000000" pitchFamily="18" charset="-120"/>
              <a:cs typeface="Times New Roman" pitchFamily="18" charset="0"/>
            </a:endParaRPr>
          </a:p>
          <a:p>
            <a:pPr marL="457200" indent="-457200" algn="just">
              <a:buNone/>
            </a:pPr>
            <a:endParaRPr lang="en-US" altLang="zh-TW" sz="2400" dirty="0">
              <a:latin typeface="Times New Roman" pitchFamily="18" charset="0"/>
              <a:ea typeface="新細明體" panose="02020500000000000000" pitchFamily="18" charset="-120"/>
              <a:cs typeface="Times New Roman" pitchFamily="18" charset="0"/>
            </a:endParaRPr>
          </a:p>
        </p:txBody>
      </p:sp>
      <p:sp>
        <p:nvSpPr>
          <p:cNvPr id="4" name="Slide Number Placeholder 3">
            <a:extLst>
              <a:ext uri="{FF2B5EF4-FFF2-40B4-BE49-F238E27FC236}">
                <a16:creationId xmlns:a16="http://schemas.microsoft.com/office/drawing/2014/main" id="{0A0C8C6D-6F06-DF65-3638-6D33F969B2FF}"/>
              </a:ext>
            </a:extLst>
          </p:cNvPr>
          <p:cNvSpPr>
            <a:spLocks noGrp="1"/>
          </p:cNvSpPr>
          <p:nvPr>
            <p:ph type="sldNum" sz="quarter" idx="12"/>
          </p:nvPr>
        </p:nvSpPr>
        <p:spPr/>
        <p:txBody>
          <a:bodyPr/>
          <a:lstStyle/>
          <a:p>
            <a:fld id="{CBABCCC1-BF11-4F37-963E-1BCD5B23FD72}" type="slidenum">
              <a:rPr lang="en-IN" smtClean="0"/>
              <a:pPr/>
              <a:t>18</a:t>
            </a:fld>
            <a:endParaRPr lang="en-IN"/>
          </a:p>
        </p:txBody>
      </p:sp>
      <p:sp>
        <p:nvSpPr>
          <p:cNvPr id="6" name="Rounded Rectangle 17">
            <a:extLst>
              <a:ext uri="{FF2B5EF4-FFF2-40B4-BE49-F238E27FC236}">
                <a16:creationId xmlns:a16="http://schemas.microsoft.com/office/drawing/2014/main" id="{348DE571-C5BA-6811-4178-988C9D0F1FBB}"/>
              </a:ext>
            </a:extLst>
          </p:cNvPr>
          <p:cNvSpPr/>
          <p:nvPr/>
        </p:nvSpPr>
        <p:spPr>
          <a:xfrm>
            <a:off x="2090057" y="647180"/>
            <a:ext cx="8085909" cy="6721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000" dirty="0"/>
              <a:t>Problems on Maximum Power Transfer Theorem</a:t>
            </a:r>
            <a:endParaRPr lang="en-US" sz="3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409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9" name="Rectangle 3"/>
          <p:cNvSpPr>
            <a:spLocks noChangeArrowheads="1"/>
          </p:cNvSpPr>
          <p:nvPr/>
        </p:nvSpPr>
        <p:spPr bwMode="auto">
          <a:xfrm>
            <a:off x="0" y="6667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8" name="Picture 1">
            <a:extLst>
              <a:ext uri="{FF2B5EF4-FFF2-40B4-BE49-F238E27FC236}">
                <a16:creationId xmlns:a16="http://schemas.microsoft.com/office/drawing/2014/main" id="{9181508C-6018-F81B-D499-EC7203080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3006" y="2823987"/>
            <a:ext cx="6225988" cy="2623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76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37781" y="1856214"/>
            <a:ext cx="9608234" cy="4247317"/>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pPr>
            <a:r>
              <a:rPr lang="en-US" dirty="0"/>
              <a:t>1. Circuit Theory - Analysis and Synthesis by Abhijit Chakrabarti</a:t>
            </a:r>
          </a:p>
          <a:p>
            <a:pPr>
              <a:lnSpc>
                <a:spcPct val="150000"/>
              </a:lnSpc>
            </a:pPr>
            <a:r>
              <a:rPr lang="en-US" dirty="0"/>
              <a:t>2. Electrical Circuit Theory by B. L. </a:t>
            </a:r>
            <a:r>
              <a:rPr lang="en-US" dirty="0" err="1"/>
              <a:t>Theraja</a:t>
            </a:r>
            <a:r>
              <a:rPr lang="en-US" dirty="0"/>
              <a:t>,  M. E. Van </a:t>
            </a:r>
            <a:r>
              <a:rPr lang="en-US" dirty="0" err="1"/>
              <a:t>Valkenburg</a:t>
            </a:r>
            <a:endParaRPr lang="en-US" dirty="0"/>
          </a:p>
          <a:p>
            <a:pPr>
              <a:lnSpc>
                <a:spcPct val="150000"/>
              </a:lnSpc>
            </a:pPr>
            <a:r>
              <a:rPr lang="en-US" dirty="0"/>
              <a:t>3. Fundamentals of Electric Circuits by Charles K. Alexander,  Matthew N.O. Sadiku</a:t>
            </a:r>
          </a:p>
          <a:p>
            <a:pPr>
              <a:lnSpc>
                <a:spcPct val="150000"/>
              </a:lnSpc>
            </a:pPr>
            <a:r>
              <a:rPr lang="en-US" dirty="0"/>
              <a:t>4. Engineering Circuit Analysis by William H. </a:t>
            </a:r>
            <a:r>
              <a:rPr lang="en-US" dirty="0" err="1"/>
              <a:t>Hayt</a:t>
            </a:r>
            <a:r>
              <a:rPr lang="en-US" dirty="0"/>
              <a:t>,  Jack </a:t>
            </a:r>
            <a:r>
              <a:rPr lang="en-US" dirty="0" err="1"/>
              <a:t>Kemmerly</a:t>
            </a:r>
            <a:r>
              <a:rPr lang="en-US" dirty="0"/>
              <a:t>,  Steven M. Durbin</a:t>
            </a:r>
          </a:p>
          <a:p>
            <a:pPr>
              <a:lnSpc>
                <a:spcPct val="150000"/>
              </a:lnSpc>
            </a:pPr>
            <a:r>
              <a:rPr lang="en-US" b="1" dirty="0"/>
              <a:t>Sites and Web links:</a:t>
            </a:r>
          </a:p>
          <a:p>
            <a:pPr>
              <a:lnSpc>
                <a:spcPct val="150000"/>
              </a:lnSpc>
            </a:pPr>
            <a:r>
              <a:rPr lang="en-US" dirty="0"/>
              <a:t>1. https://www.youtube.com/watch?v=6A-Qtst3uZY&amp;list=PLgwJf8NK-2e5s5IUh1wLlTioszBrW58bx</a:t>
            </a:r>
          </a:p>
          <a:p>
            <a:pPr>
              <a:lnSpc>
                <a:spcPct val="150000"/>
              </a:lnSpc>
            </a:pPr>
            <a:r>
              <a:rPr lang="en-US" dirty="0"/>
              <a:t>2. https://www.tutorialspoint.com/network_theory/network_theory_mesh_analysis.htm</a:t>
            </a:r>
          </a:p>
          <a:p>
            <a:pPr>
              <a:lnSpc>
                <a:spcPct val="150000"/>
              </a:lnSpc>
            </a:pPr>
            <a:r>
              <a:rPr lang="en-US" dirty="0"/>
              <a:t>3. https://en.wikipedia.org/wiki/Mesh_analysis</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73420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6F267B9-90E6-4D91-2F94-99937051E1E4}"/>
              </a:ext>
            </a:extLst>
          </p:cNvPr>
          <p:cNvGrpSpPr/>
          <p:nvPr/>
        </p:nvGrpSpPr>
        <p:grpSpPr>
          <a:xfrm>
            <a:off x="2247960" y="2332796"/>
            <a:ext cx="7920111" cy="2883877"/>
            <a:chOff x="2247960" y="2332796"/>
            <a:chExt cx="7920111" cy="2883877"/>
          </a:xfrm>
        </p:grpSpPr>
        <p:sp>
          <p:nvSpPr>
            <p:cNvPr id="4" name="Rounded Rectangle 3">
              <a:extLst>
                <a:ext uri="{FF2B5EF4-FFF2-40B4-BE49-F238E27FC236}">
                  <a16:creationId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BEC</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3884</TotalTime>
  <Words>1162</Words>
  <Application>Microsoft Office PowerPoint</Application>
  <PresentationFormat>Widescreen</PresentationFormat>
  <Paragraphs>161</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BioRhyme ExtraBold</vt:lpstr>
      <vt:lpstr>Calibri</vt:lpstr>
      <vt:lpstr>Gill Sans MT</vt:lpstr>
      <vt:lpstr>Poppins</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ANM</dc:creator>
  <cp:lastModifiedBy>Sivaprasad Lebaka</cp:lastModifiedBy>
  <cp:revision>100</cp:revision>
  <dcterms:created xsi:type="dcterms:W3CDTF">2023-05-11T04:21:37Z</dcterms:created>
  <dcterms:modified xsi:type="dcterms:W3CDTF">2025-01-27T10:52:28Z</dcterms:modified>
</cp:coreProperties>
</file>