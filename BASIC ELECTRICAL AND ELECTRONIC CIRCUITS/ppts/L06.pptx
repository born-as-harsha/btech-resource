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4"/>
  </p:notesMasterIdLst>
  <p:handoutMasterIdLst>
    <p:handoutMasterId r:id="rId25"/>
  </p:handoutMasterIdLst>
  <p:sldIdLst>
    <p:sldId id="271" r:id="rId2"/>
    <p:sldId id="300" r:id="rId3"/>
    <p:sldId id="329" r:id="rId4"/>
    <p:sldId id="350" r:id="rId5"/>
    <p:sldId id="349" r:id="rId6"/>
    <p:sldId id="357" r:id="rId7"/>
    <p:sldId id="322" r:id="rId8"/>
    <p:sldId id="323" r:id="rId9"/>
    <p:sldId id="324" r:id="rId10"/>
    <p:sldId id="285" r:id="rId11"/>
    <p:sldId id="287" r:id="rId12"/>
    <p:sldId id="320" r:id="rId13"/>
    <p:sldId id="321" r:id="rId14"/>
    <p:sldId id="325" r:id="rId15"/>
    <p:sldId id="326" r:id="rId16"/>
    <p:sldId id="345" r:id="rId17"/>
    <p:sldId id="346" r:id="rId18"/>
    <p:sldId id="301" r:id="rId19"/>
    <p:sldId id="316" r:id="rId20"/>
    <p:sldId id="348" r:id="rId21"/>
    <p:sldId id="303" r:id="rId22"/>
    <p:sldId id="30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13-02-2025</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13-02-2025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800380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gif"/></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5.png"/><Relationship Id="rId7" Type="http://schemas.microsoft.com/office/2007/relationships/hdphoto" Target="../media/hdphoto2.wdp"/><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7.xml"/><Relationship Id="rId6" Type="http://schemas.openxmlformats.org/officeDocument/2006/relationships/image" Target="../media/image24.jpg"/><Relationship Id="rId5" Type="http://schemas.openxmlformats.org/officeDocument/2006/relationships/image" Target="../media/image23.jpg"/><Relationship Id="rId4" Type="http://schemas.openxmlformats.org/officeDocument/2006/relationships/image" Target="../media/image22.jpg"/></Relationships>
</file>

<file path=ppt/slides/_rels/slide7.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0.png"/><Relationship Id="rId1" Type="http://schemas.openxmlformats.org/officeDocument/2006/relationships/slideLayout" Target="../slideLayouts/slideLayout7.xml"/><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7" Type="http://schemas.openxmlformats.org/officeDocument/2006/relationships/image" Target="../media/image28.png"/><Relationship Id="rId2" Type="http://schemas.openxmlformats.org/officeDocument/2006/relationships/image" Target="../media/image300.png"/><Relationship Id="rId1" Type="http://schemas.openxmlformats.org/officeDocument/2006/relationships/slideLayout" Target="../slideLayouts/slideLayout7.xml"/><Relationship Id="rId6" Type="http://schemas.microsoft.com/office/2007/relationships/hdphoto" Target="../media/hdphoto5.wdp"/><Relationship Id="rId5" Type="http://schemas.openxmlformats.org/officeDocument/2006/relationships/image" Target="../media/image27.png"/><Relationship Id="rId4" Type="http://schemas.openxmlformats.org/officeDocument/2006/relationships/image" Target="../media/image220.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40.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microsoft.com/office/2007/relationships/hdphoto" Target="../media/hdphoto6.wdp"/></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7.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30.png"/><Relationship Id="rId5" Type="http://schemas.microsoft.com/office/2007/relationships/hdphoto" Target="../media/hdphoto7.wdp"/><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3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www.electronics-tutorials.ws/accircuits/series-circuit.html" TargetMode="External"/><Relationship Id="rId2" Type="http://schemas.openxmlformats.org/officeDocument/2006/relationships/hyperlink" Target="https://control.com/technical-articles/active-power-reactive-power-apparent-power-and-the-role-of-power-factor/" TargetMode="Externa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35116" y="-85446"/>
            <a:ext cx="6170855" cy="6111678"/>
          </a:xfrm>
          <a:prstGeom prst="rect">
            <a:avLst/>
          </a:prstGeom>
          <a:noFill/>
          <a:ln>
            <a:noFill/>
          </a:ln>
        </p:spPr>
      </p:pic>
      <p:sp>
        <p:nvSpPr>
          <p:cNvPr id="476" name="Google Shape;476;p16"/>
          <p:cNvSpPr txBox="1"/>
          <p:nvPr/>
        </p:nvSpPr>
        <p:spPr>
          <a:xfrm>
            <a:off x="3564294" y="2750849"/>
            <a:ext cx="9094237" cy="2739171"/>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2800" b="1" dirty="0">
                <a:solidFill>
                  <a:srgbClr val="C00000"/>
                </a:solidFill>
                <a:cs typeface="Poppins" pitchFamily="2" charset="77"/>
              </a:rPr>
              <a:t>BASIC ELECTRICAL &amp; ELCTRONIC CIRCUITS (BEC)</a:t>
            </a:r>
          </a:p>
          <a:p>
            <a:pPr marR="0" lvl="0" indent="0" algn="ctr">
              <a:spcBef>
                <a:spcPts val="0"/>
              </a:spcBef>
              <a:spcAft>
                <a:spcPts val="0"/>
              </a:spcAft>
              <a:buNone/>
            </a:pPr>
            <a:r>
              <a:rPr lang="en-US" sz="2800" b="1" dirty="0">
                <a:solidFill>
                  <a:srgbClr val="C00000"/>
                </a:solidFill>
                <a:cs typeface="Poppins" pitchFamily="2" charset="77"/>
              </a:rPr>
              <a:t>COURSE CODE : 23EC1201</a:t>
            </a:r>
            <a:r>
              <a:rPr lang="en-US" sz="3200" b="1" dirty="0">
                <a:solidFill>
                  <a:srgbClr val="C00000"/>
                </a:solidFill>
                <a:cs typeface="Poppins" pitchFamily="2" charset="77"/>
                <a:sym typeface="BioRhyme ExtraBold"/>
              </a:rPr>
              <a:t> </a:t>
            </a: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r>
              <a:rPr lang="en-US" sz="2800" b="1" cap="all" dirty="0">
                <a:ln/>
                <a:solidFill>
                  <a:srgbClr val="C00000"/>
                </a:solidFill>
                <a:effectLst/>
                <a:cs typeface="Poppins" panose="00000500000000000000" pitchFamily="2" charset="0"/>
              </a:rPr>
              <a:t>REAL, APPARENT, REACTIVE, POWER FACTOR, Steady state analysis of r, l, c circuits</a:t>
            </a:r>
            <a:endParaRPr lang="en-US" sz="28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87807" y="1913706"/>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233250" y="1880470"/>
            <a:ext cx="4595447" cy="646290"/>
          </a:xfrm>
          <a:prstGeom prst="rect">
            <a:avLst/>
          </a:prstGeom>
          <a:noFill/>
          <a:ln>
            <a:noFill/>
          </a:ln>
          <a:effectLst/>
        </p:spPr>
        <p:txBody>
          <a:bodyPr spcFirstLastPara="1" wrap="square" lIns="91425" tIns="45700" rIns="91425" bIns="45700" anchor="t" anchorCtr="0">
            <a:spAutoFit/>
          </a:bodyPr>
          <a:lstStyle/>
          <a:p>
            <a:pPr algn="ctr"/>
            <a:r>
              <a:rPr lang="en-US" sz="3600" dirty="0">
                <a:solidFill>
                  <a:srgbClr val="C00000"/>
                </a:solidFill>
                <a:cs typeface="Poppins" pitchFamily="2" charset="77"/>
              </a:rPr>
              <a:t>Department of BES-II</a:t>
            </a:r>
          </a:p>
        </p:txBody>
      </p:sp>
      <p:sp>
        <p:nvSpPr>
          <p:cNvPr id="8" name="Google Shape;502;p17">
            <a:extLst>
              <a:ext uri="{FF2B5EF4-FFF2-40B4-BE49-F238E27FC236}">
                <a16:creationId xmlns:a16="http://schemas.microsoft.com/office/drawing/2014/main" id="{7153E61F-4441-DBE3-3DFF-6E9EF6C48D23}"/>
              </a:ext>
            </a:extLst>
          </p:cNvPr>
          <p:cNvSpPr/>
          <p:nvPr/>
        </p:nvSpPr>
        <p:spPr>
          <a:xfrm>
            <a:off x="7099973" y="5511484"/>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No. 6</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1" y="84408"/>
            <a:ext cx="356004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478120"/>
            <a:ext cx="11178073" cy="1165447"/>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gn="just">
              <a:lnSpc>
                <a:spcPct val="150000"/>
              </a:lnSpc>
            </a:pPr>
            <a:r>
              <a:rPr lang="en-US" sz="1600" dirty="0">
                <a:latin typeface="Poppins"/>
                <a:cs typeface="Poppins"/>
              </a:rPr>
              <a:t>The aim of this session is to discuss Real Power, Apparent Power, Reactive Power, and the role of the Power factor in Electrical Systems through suitable definitions of the various powers involved. </a:t>
            </a:r>
          </a:p>
          <a:p>
            <a:pPr>
              <a:lnSpc>
                <a:spcPct val="150000"/>
              </a:lnSpc>
            </a:pPr>
            <a:r>
              <a:rPr lang="en-US" sz="1600" b="0" i="0" dirty="0">
                <a:effectLst/>
                <a:latin typeface="Poppins"/>
                <a:cs typeface="Poppins"/>
              </a:rPr>
              <a:t>To familiarize students with the basic concept of steady state analysis of R,L,C circuits.</a:t>
            </a:r>
          </a:p>
        </p:txBody>
      </p:sp>
      <p:sp>
        <p:nvSpPr>
          <p:cNvPr id="7" name="Rounded Rectangle 17">
            <a:extLst>
              <a:ext uri="{FF2B5EF4-FFF2-40B4-BE49-F238E27FC236}">
                <a16:creationId xmlns:a16="http://schemas.microsoft.com/office/drawing/2014/main" id="{7F3AABB0-F8BA-C900-B6BF-45F4B58E9490}"/>
              </a:ext>
            </a:extLst>
          </p:cNvPr>
          <p:cNvSpPr/>
          <p:nvPr/>
        </p:nvSpPr>
        <p:spPr>
          <a:xfrm>
            <a:off x="4197420" y="1739048"/>
            <a:ext cx="4395589"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914400" y="2225227"/>
            <a:ext cx="11057019" cy="156966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lgn="just">
              <a:buFontTx/>
              <a:buAutoNum type="arabicPeriod"/>
            </a:pPr>
            <a:r>
              <a:rPr lang="en-US" sz="1600" dirty="0"/>
              <a:t>Demonstrate the basic definitions for Real Power,  Apparent Power, Reactive Power, Power Factor.</a:t>
            </a:r>
          </a:p>
          <a:p>
            <a:pPr marL="342900" indent="-342900" algn="just">
              <a:buAutoNum type="arabicPeriod"/>
            </a:pPr>
            <a:r>
              <a:rPr lang="en-IN" sz="1600" dirty="0"/>
              <a:t>Students learn how to analyze and predict the behaviour of electrical circuits containing resistors, inductors, and capacitors. This is crucial for designing and troubleshooting electronic circuits.</a:t>
            </a:r>
            <a:r>
              <a:rPr lang="en-US" sz="1600" dirty="0"/>
              <a:t>Describe</a:t>
            </a:r>
          </a:p>
          <a:p>
            <a:pPr marL="342900" indent="-342900" algn="just">
              <a:buAutoNum type="arabicPeriod"/>
            </a:pPr>
            <a:r>
              <a:rPr lang="en-IN" sz="1600" dirty="0"/>
              <a:t>Studying RLC circuits helps students understand the phase relationships between voltage and current in different circuit elements. This knowledge is vital in various applications, including power factor correction and control systems.</a:t>
            </a:r>
            <a:endParaRPr lang="en-US" sz="1600" dirty="0"/>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0" y="2514600"/>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160584" y="4090748"/>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653" y="4672465"/>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914399" y="4531085"/>
            <a:ext cx="11057019" cy="156966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lgn="just">
              <a:buFontTx/>
              <a:buAutoNum type="arabicPeriod"/>
            </a:pPr>
            <a:r>
              <a:rPr lang="en-US" sz="1600" dirty="0">
                <a:cs typeface="Arial"/>
              </a:rPr>
              <a:t>Understanding the concepts of Real Power,  Apparent Power, Reactive Power, and </a:t>
            </a:r>
            <a:r>
              <a:rPr lang="en-US" sz="1600" dirty="0"/>
              <a:t>Power Factor.</a:t>
            </a:r>
          </a:p>
          <a:p>
            <a:pPr marL="342900" indent="-342900">
              <a:buAutoNum type="arabicPeriod"/>
            </a:pPr>
            <a:r>
              <a:rPr lang="en-IN" sz="1600" dirty="0"/>
              <a:t>Students who master steady-state analysis of RLC circuits develop the ability to design electronic circuits that meet specific performance criteria. </a:t>
            </a:r>
          </a:p>
          <a:p>
            <a:pPr marL="342900" indent="-342900">
              <a:buAutoNum type="arabicPeriod"/>
            </a:pPr>
            <a:r>
              <a:rPr lang="en-IN" sz="1600" dirty="0"/>
              <a:t>The knowledge gained from studying steady-state analysis equips students with the skills to troubleshoot and debug electronic circuits effectively. </a:t>
            </a:r>
            <a:endParaRPr lang="en-US" sz="16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58BE2-EB0F-D723-9AAF-F138CB2E48C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E2F487-ED7C-4B4D-9C3C-09E7F20AB0B1}"/>
              </a:ext>
            </a:extLst>
          </p:cNvPr>
          <p:cNvSpPr>
            <a:spLocks noGrp="1"/>
          </p:cNvSpPr>
          <p:nvPr>
            <p:ph type="sldNum" sz="quarter" idx="12"/>
          </p:nvPr>
        </p:nvSpPr>
        <p:spPr/>
        <p:txBody>
          <a:bodyPr/>
          <a:lstStyle/>
          <a:p>
            <a:fld id="{CBABCCC1-BF11-4F37-963E-1BCD5B23FD72}" type="slidenum">
              <a:rPr lang="en-IN" smtClean="0"/>
              <a:t>3</a:t>
            </a:fld>
            <a:endParaRPr lang="en-IN"/>
          </a:p>
        </p:txBody>
      </p:sp>
      <p:sp>
        <p:nvSpPr>
          <p:cNvPr id="12" name="Rounded Rectangle 17">
            <a:extLst>
              <a:ext uri="{FF2B5EF4-FFF2-40B4-BE49-F238E27FC236}">
                <a16:creationId xmlns:a16="http://schemas.microsoft.com/office/drawing/2014/main" id="{C4129269-4550-231F-4D69-8CE0AD4D108E}"/>
              </a:ext>
            </a:extLst>
          </p:cNvPr>
          <p:cNvSpPr/>
          <p:nvPr/>
        </p:nvSpPr>
        <p:spPr>
          <a:xfrm>
            <a:off x="1884901" y="109868"/>
            <a:ext cx="7611177"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Real Power,  Apparent Power, Reactive Power, Power Factor</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B4841EE-6C61-1CCD-FFD8-6AAA6336C0E2}"/>
                  </a:ext>
                </a:extLst>
              </p:cNvPr>
              <p:cNvSpPr txBox="1"/>
              <p:nvPr/>
            </p:nvSpPr>
            <p:spPr>
              <a:xfrm>
                <a:off x="0" y="815666"/>
                <a:ext cx="10123713" cy="5363391"/>
              </a:xfrm>
              <a:prstGeom prst="rect">
                <a:avLst/>
              </a:prstGeom>
              <a:noFill/>
            </p:spPr>
            <p:txBody>
              <a:bodyPr wrap="square" rtlCol="0">
                <a:spAutoFit/>
              </a:bodyPr>
              <a:lstStyle/>
              <a:p>
                <a:pPr marL="285750" indent="-285750">
                  <a:buFont typeface="Arial" panose="020B0604020202020204" pitchFamily="34" charset="0"/>
                  <a:buChar char="•"/>
                </a:pPr>
                <a:r>
                  <a:rPr lang="en-US" b="1" dirty="0"/>
                  <a:t>True(Real)/Active Power (P):</a:t>
                </a:r>
              </a:p>
              <a:p>
                <a:pPr lvl="1"/>
                <a:r>
                  <a:rPr lang="en-US" dirty="0"/>
                  <a:t>True(Real)/Active Power (P)= Apparent Power (S) </a:t>
                </a:r>
                <a:r>
                  <a:rPr lang="en-US" dirty="0">
                    <a:latin typeface="Abadi" panose="020B0604020104020204" pitchFamily="34" charset="0"/>
                  </a:rPr>
                  <a:t>X Power Factor (pf)</a:t>
                </a:r>
                <a:endParaRPr lang="en-US" b="1" dirty="0"/>
              </a:p>
              <a:p>
                <a:pPr lvl="1"/>
                <a:r>
                  <a:rPr lang="en-US" b="1" u="sng" dirty="0"/>
                  <a:t>1. DC Circuit</a:t>
                </a:r>
              </a:p>
              <a:p>
                <a:pPr lvl="1"/>
                <a:r>
                  <a:rPr lang="en-US" dirty="0"/>
                  <a:t>True(Real)/Active Power (P)= VI = (IR) I =</a:t>
                </a:r>
                <a14:m>
                  <m:oMath xmlns:m="http://schemas.openxmlformats.org/officeDocument/2006/math">
                    <m:sSup>
                      <m:sSupPr>
                        <m:ctrlPr>
                          <a:rPr lang="en-US" i="1" smtClean="0">
                            <a:latin typeface="Cambria Math" panose="02040503050406030204" pitchFamily="18" charset="0"/>
                          </a:rPr>
                        </m:ctrlPr>
                      </m:sSupPr>
                      <m:e>
                        <m:r>
                          <m:rPr>
                            <m:sty m:val="p"/>
                          </m:rPr>
                          <a:rPr lang="en-US" b="0" i="0" smtClean="0">
                            <a:latin typeface="Cambria Math" panose="02040503050406030204" pitchFamily="18" charset="0"/>
                          </a:rPr>
                          <m:t>I</m:t>
                        </m:r>
                      </m:e>
                      <m:sup>
                        <m:r>
                          <a:rPr lang="en-US" b="0" i="0" smtClean="0">
                            <a:latin typeface="Cambria Math" panose="02040503050406030204" pitchFamily="18" charset="0"/>
                          </a:rPr>
                          <m:t>2</m:t>
                        </m:r>
                      </m:sup>
                    </m:sSup>
                  </m:oMath>
                </a14:m>
                <a:r>
                  <a:rPr lang="en-US" dirty="0"/>
                  <a:t>R in Watts </a:t>
                </a:r>
              </a:p>
              <a:p>
                <a:pPr lvl="1"/>
                <a:r>
                  <a:rPr lang="en-US" b="1" u="sng" dirty="0"/>
                  <a:t>2. Single Phase AC Circuit</a:t>
                </a:r>
              </a:p>
              <a:p>
                <a:pPr lvl="1"/>
                <a:r>
                  <a:rPr lang="en-US" dirty="0"/>
                  <a:t>Cosine of the angle between the voltage and current in any AC circuit.</a:t>
                </a:r>
              </a:p>
              <a:p>
                <a:pPr lvl="1"/>
                <a:r>
                  <a:rPr lang="en-US" dirty="0"/>
                  <a:t>True(Real)/Active Power (P)= </a:t>
                </a:r>
                <a:r>
                  <a:rPr lang="en-US" dirty="0" err="1"/>
                  <a:t>VIcos</a:t>
                </a:r>
                <a14:m>
                  <m:oMath xmlns:m="http://schemas.openxmlformats.org/officeDocument/2006/math">
                    <m:r>
                      <m:rPr>
                        <m:sty m:val="p"/>
                      </m:rPr>
                      <a:rPr lang="en-US" sz="2000" i="0">
                        <a:latin typeface="Cambria Math" panose="02040503050406030204" pitchFamily="18" charset="0"/>
                        <a:ea typeface="Cambria Math" panose="02040503050406030204" pitchFamily="18" charset="0"/>
                      </a:rPr>
                      <m:t>φ</m:t>
                    </m:r>
                  </m:oMath>
                </a14:m>
                <a:r>
                  <a:rPr lang="en-IN" dirty="0"/>
                  <a:t> </a:t>
                </a:r>
                <a:r>
                  <a:rPr lang="en-US" dirty="0"/>
                  <a:t>in Watts</a:t>
                </a:r>
              </a:p>
              <a:p>
                <a:pPr marL="285750" indent="-285750">
                  <a:buFont typeface="Arial" panose="020B0604020202020204" pitchFamily="34" charset="0"/>
                  <a:buChar char="•"/>
                </a:pPr>
                <a:r>
                  <a:rPr lang="en-US" b="1" dirty="0"/>
                  <a:t>Apparent Power (S):</a:t>
                </a:r>
              </a:p>
              <a:p>
                <a:pPr lvl="1"/>
                <a:r>
                  <a:rPr lang="en-US" dirty="0"/>
                  <a:t>Product RMS values of voltage and current called apparent power.</a:t>
                </a:r>
              </a:p>
              <a:p>
                <a:pPr lvl="1"/>
                <a:r>
                  <a:rPr lang="en-US" dirty="0"/>
                  <a:t>Apparent Power (S)= </a:t>
                </a:r>
                <a14:m>
                  <m:oMath xmlns:m="http://schemas.openxmlformats.org/officeDocument/2006/math">
                    <m:rad>
                      <m:radPr>
                        <m:degHide m:val="on"/>
                        <m:ctrlPr>
                          <a:rPr lang="en-US" i="1" smtClean="0">
                            <a:latin typeface="Cambria Math" panose="02040503050406030204" pitchFamily="18" charset="0"/>
                          </a:rPr>
                        </m:ctrlPr>
                      </m:radPr>
                      <m:deg/>
                      <m:e>
                        <m:sSup>
                          <m:sSupPr>
                            <m:ctrlPr>
                              <a:rPr lang="en-US" i="1" smtClean="0">
                                <a:latin typeface="Cambria Math" panose="02040503050406030204" pitchFamily="18" charset="0"/>
                              </a:rPr>
                            </m:ctrlPr>
                          </m:sSupPr>
                          <m:e>
                            <m:r>
                              <m:rPr>
                                <m:sty m:val="p"/>
                              </m:rPr>
                              <a:rPr lang="en-US" b="0" i="0" smtClean="0">
                                <a:latin typeface="Cambria Math" panose="02040503050406030204" pitchFamily="18" charset="0"/>
                              </a:rPr>
                              <m:t>P</m:t>
                            </m:r>
                          </m:e>
                          <m:sup>
                            <m:r>
                              <a:rPr lang="en-US" b="0" i="0" smtClean="0">
                                <a:latin typeface="Cambria Math" panose="02040503050406030204" pitchFamily="18" charset="0"/>
                              </a:rPr>
                              <m:t>2</m:t>
                            </m:r>
                          </m:sup>
                        </m:sSup>
                        <m:r>
                          <a:rPr lang="en-US" b="0" i="0" smtClean="0">
                            <a:latin typeface="Cambria Math" panose="02040503050406030204" pitchFamily="18" charset="0"/>
                          </a:rPr>
                          <m:t>+</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Q</m:t>
                            </m:r>
                          </m:e>
                          <m:sup>
                            <m:r>
                              <a:rPr lang="en-US" b="0" i="0" smtClean="0">
                                <a:latin typeface="Cambria Math" panose="02040503050406030204" pitchFamily="18" charset="0"/>
                              </a:rPr>
                              <m:t>2</m:t>
                            </m:r>
                          </m:sup>
                        </m:sSup>
                      </m:e>
                    </m:rad>
                    <m:r>
                      <a:rPr lang="en-US" b="0" i="0" smtClean="0">
                        <a:latin typeface="Cambria Math" panose="02040503050406030204" pitchFamily="18" charset="0"/>
                      </a:rPr>
                      <m:t>=</m:t>
                    </m:r>
                    <m:r>
                      <m:rPr>
                        <m:sty m:val="p"/>
                      </m:rPr>
                      <a:rPr lang="en-US" b="0" i="0" smtClean="0">
                        <a:latin typeface="Cambria Math" panose="02040503050406030204" pitchFamily="18" charset="0"/>
                      </a:rPr>
                      <m:t>VI</m:t>
                    </m:r>
                  </m:oMath>
                </a14:m>
                <a:r>
                  <a:rPr lang="en-US" dirty="0"/>
                  <a:t> in </a:t>
                </a:r>
                <a:r>
                  <a:rPr lang="en-IN" dirty="0"/>
                  <a:t>Volt-Amps (VA)</a:t>
                </a:r>
                <a:endParaRPr lang="en-US" b="1" dirty="0"/>
              </a:p>
              <a:p>
                <a:pPr marL="285750" indent="-285750">
                  <a:buFont typeface="Arial" panose="020B0604020202020204" pitchFamily="34" charset="0"/>
                  <a:buChar char="•"/>
                </a:pPr>
                <a:r>
                  <a:rPr lang="en-US" b="1" dirty="0"/>
                  <a:t>Reactive Power (Q):</a:t>
                </a:r>
              </a:p>
              <a:p>
                <a:pPr lvl="1"/>
                <a:r>
                  <a:rPr lang="en-US" dirty="0"/>
                  <a:t>Product of RMS values of voltage and current with the sine of the angle between them.</a:t>
                </a:r>
              </a:p>
              <a:p>
                <a:pPr lvl="1"/>
                <a:r>
                  <a:rPr lang="en-IN" dirty="0"/>
                  <a:t>Reactive Power (Q)=</a:t>
                </a:r>
                <a:r>
                  <a:rPr lang="en-US" dirty="0"/>
                  <a:t> VIsin</a:t>
                </a:r>
                <a14:m>
                  <m:oMath xmlns:m="http://schemas.openxmlformats.org/officeDocument/2006/math">
                    <m:r>
                      <m:rPr>
                        <m:sty m:val="p"/>
                      </m:rPr>
                      <a:rPr lang="en-US" sz="2000" i="0" smtClean="0">
                        <a:latin typeface="Cambria Math" panose="02040503050406030204" pitchFamily="18" charset="0"/>
                        <a:ea typeface="Cambria Math" panose="02040503050406030204" pitchFamily="18" charset="0"/>
                      </a:rPr>
                      <m:t>φ</m:t>
                    </m:r>
                  </m:oMath>
                </a14:m>
                <a:r>
                  <a:rPr lang="en-IN" dirty="0"/>
                  <a:t> in Volt-Amps-Reactive (VAR)</a:t>
                </a:r>
                <a:endParaRPr lang="en-US" b="1" dirty="0"/>
              </a:p>
              <a:p>
                <a:pPr marL="285750" indent="-285750">
                  <a:buFont typeface="Arial" panose="020B0604020202020204" pitchFamily="34" charset="0"/>
                  <a:buChar char="•"/>
                </a:pPr>
                <a:r>
                  <a:rPr lang="en-US" b="1" dirty="0"/>
                  <a:t>Power Factor (pf):</a:t>
                </a:r>
              </a:p>
              <a:p>
                <a:r>
                  <a:rPr lang="en-US" dirty="0">
                    <a:latin typeface="Abadi" panose="020B0604020104020204" pitchFamily="34" charset="0"/>
                  </a:rPr>
                  <a:t>	The ratio of true(real) power to apparent power. </a:t>
                </a:r>
                <a:r>
                  <a:rPr lang="en-IN" sz="1800" dirty="0"/>
                  <a:t>The power factor varies from 0 to 1.</a:t>
                </a:r>
                <a:endParaRPr lang="en-US" dirty="0">
                  <a:latin typeface="Abadi" panose="020B0604020104020204" pitchFamily="34" charset="0"/>
                </a:endParaRPr>
              </a:p>
              <a:p>
                <a:r>
                  <a:rPr lang="en-US" dirty="0">
                    <a:latin typeface="Abadi" panose="020B0604020104020204" pitchFamily="34" charset="0"/>
                  </a:rPr>
                  <a:t>	Power Factor (pf) =</a:t>
                </a:r>
                <a14:m>
                  <m:oMath xmlns:m="http://schemas.openxmlformats.org/officeDocument/2006/math">
                    <m:f>
                      <m:fPr>
                        <m:ctrlPr>
                          <a:rPr lang="en-US" sz="2400" i="1" smtClean="0">
                            <a:latin typeface="Cambria Math" panose="02040503050406030204" pitchFamily="18" charset="0"/>
                          </a:rPr>
                        </m:ctrlPr>
                      </m:fPr>
                      <m:num>
                        <m:r>
                          <m:rPr>
                            <m:nor/>
                          </m:rPr>
                          <a:rPr lang="en-US" sz="2400" dirty="0"/>
                          <m:t>True</m:t>
                        </m:r>
                        <m:r>
                          <m:rPr>
                            <m:nor/>
                          </m:rPr>
                          <a:rPr lang="en-US" sz="2400" dirty="0"/>
                          <m:t>(</m:t>
                        </m:r>
                        <m:r>
                          <m:rPr>
                            <m:nor/>
                          </m:rPr>
                          <a:rPr lang="en-US" sz="2400" dirty="0"/>
                          <m:t>Real</m:t>
                        </m:r>
                        <m:r>
                          <m:rPr>
                            <m:nor/>
                          </m:rPr>
                          <a:rPr lang="en-US" sz="2400" dirty="0"/>
                          <m:t>)/</m:t>
                        </m:r>
                        <m:r>
                          <m:rPr>
                            <m:nor/>
                          </m:rPr>
                          <a:rPr lang="en-US" sz="2400" dirty="0"/>
                          <m:t>Active</m:t>
                        </m:r>
                        <m:r>
                          <m:rPr>
                            <m:nor/>
                          </m:rPr>
                          <a:rPr lang="en-US" sz="2400" b="0" i="0" dirty="0" smtClean="0"/>
                          <m:t> </m:t>
                        </m:r>
                        <m:r>
                          <m:rPr>
                            <m:nor/>
                          </m:rPr>
                          <a:rPr lang="en-US" sz="2400" dirty="0"/>
                          <m:t>Power</m:t>
                        </m:r>
                        <m:r>
                          <m:rPr>
                            <m:nor/>
                          </m:rPr>
                          <a:rPr lang="en-US" sz="2400" b="0" i="0" dirty="0" smtClean="0"/>
                          <m:t> (</m:t>
                        </m:r>
                        <m:r>
                          <m:rPr>
                            <m:nor/>
                          </m:rPr>
                          <a:rPr lang="en-US" sz="2400" b="0" i="0" dirty="0" smtClean="0"/>
                          <m:t>P</m:t>
                        </m:r>
                        <m:r>
                          <m:rPr>
                            <m:nor/>
                          </m:rPr>
                          <a:rPr lang="en-US" sz="2400" b="0" i="0" dirty="0" smtClean="0"/>
                          <m:t>) </m:t>
                        </m:r>
                        <m:r>
                          <m:rPr>
                            <m:nor/>
                          </m:rPr>
                          <a:rPr lang="en-US" sz="2400" b="0" i="0" dirty="0" smtClean="0"/>
                          <m:t>in</m:t>
                        </m:r>
                        <m:r>
                          <m:rPr>
                            <m:nor/>
                          </m:rPr>
                          <a:rPr lang="en-US" sz="2400" b="0" i="0" dirty="0" smtClean="0"/>
                          <m:t> </m:t>
                        </m:r>
                        <m:r>
                          <m:rPr>
                            <m:nor/>
                          </m:rPr>
                          <a:rPr lang="en-US" sz="2400" b="0" i="0" dirty="0" smtClean="0"/>
                          <m:t>Watts</m:t>
                        </m:r>
                      </m:num>
                      <m:den>
                        <m:r>
                          <m:rPr>
                            <m:nor/>
                          </m:rPr>
                          <a:rPr lang="en-US" sz="2400" dirty="0"/>
                          <m:t>Apparent</m:t>
                        </m:r>
                        <m:r>
                          <m:rPr>
                            <m:nor/>
                          </m:rPr>
                          <a:rPr lang="en-US" sz="2400" dirty="0"/>
                          <m:t> </m:t>
                        </m:r>
                        <m:r>
                          <m:rPr>
                            <m:nor/>
                          </m:rPr>
                          <a:rPr lang="en-US" sz="2400" dirty="0"/>
                          <m:t>Power</m:t>
                        </m:r>
                        <m:r>
                          <m:rPr>
                            <m:nor/>
                          </m:rPr>
                          <a:rPr lang="en-US" sz="2400" b="0" i="0" dirty="0" smtClean="0"/>
                          <m:t> (</m:t>
                        </m:r>
                        <m:r>
                          <m:rPr>
                            <m:nor/>
                          </m:rPr>
                          <a:rPr lang="en-US" sz="2400" b="0" i="0" dirty="0" smtClean="0"/>
                          <m:t>S</m:t>
                        </m:r>
                        <m:r>
                          <m:rPr>
                            <m:nor/>
                          </m:rPr>
                          <a:rPr lang="en-US" sz="2400" b="0" i="0" dirty="0" smtClean="0"/>
                          <m:t>) </m:t>
                        </m:r>
                        <m:r>
                          <m:rPr>
                            <m:nor/>
                          </m:rPr>
                          <a:rPr lang="en-US" sz="2400" b="0" i="0" dirty="0" smtClean="0"/>
                          <m:t>in</m:t>
                        </m:r>
                        <m:r>
                          <m:rPr>
                            <m:nor/>
                          </m:rPr>
                          <a:rPr lang="en-US" sz="2400" b="0" i="0" dirty="0" smtClean="0"/>
                          <m:t> </m:t>
                        </m:r>
                        <m:r>
                          <m:rPr>
                            <m:nor/>
                          </m:rPr>
                          <a:rPr lang="en-US" sz="2400" b="0" i="0" dirty="0" smtClean="0"/>
                          <m:t>volt</m:t>
                        </m:r>
                        <m:r>
                          <m:rPr>
                            <m:nor/>
                          </m:rPr>
                          <a:rPr lang="en-US" sz="2400" b="0" i="0" dirty="0" smtClean="0"/>
                          <m:t>−</m:t>
                        </m:r>
                        <m:r>
                          <m:rPr>
                            <m:nor/>
                          </m:rPr>
                          <a:rPr lang="en-US" sz="2400" b="0" i="0" dirty="0" smtClean="0"/>
                          <m:t>amps</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m:rPr>
                            <m:nor/>
                          </m:rPr>
                          <a:rPr lang="en-US" sz="2400" dirty="0"/>
                          <m:t>VIcos</m:t>
                        </m:r>
                        <m:r>
                          <m:rPr>
                            <m:sty m:val="p"/>
                          </m:rPr>
                          <a:rPr lang="en-US" sz="2400" i="0">
                            <a:latin typeface="Cambria Math" panose="02040503050406030204" pitchFamily="18" charset="0"/>
                            <a:ea typeface="Cambria Math" panose="02040503050406030204" pitchFamily="18" charset="0"/>
                          </a:rPr>
                          <m:t>φ</m:t>
                        </m:r>
                      </m:num>
                      <m:den>
                        <m:r>
                          <m:rPr>
                            <m:sty m:val="p"/>
                          </m:rPr>
                          <a:rPr lang="en-US" sz="2400" b="0" i="0" smtClean="0">
                            <a:latin typeface="Cambria Math" panose="02040503050406030204" pitchFamily="18" charset="0"/>
                          </a:rPr>
                          <m:t>VI</m:t>
                        </m:r>
                      </m:den>
                    </m:f>
                    <m:r>
                      <a:rPr lang="en-US" sz="2400" b="0" i="0" smtClean="0">
                        <a:latin typeface="Cambria Math" panose="02040503050406030204" pitchFamily="18" charset="0"/>
                      </a:rPr>
                      <m:t>=</m:t>
                    </m:r>
                    <m:r>
                      <m:rPr>
                        <m:nor/>
                      </m:rPr>
                      <a:rPr lang="en-US" sz="2400" dirty="0"/>
                      <m:t>cos</m:t>
                    </m:r>
                    <m:r>
                      <m:rPr>
                        <m:sty m:val="p"/>
                      </m:rPr>
                      <a:rPr lang="en-US" sz="2400" i="0">
                        <a:latin typeface="Cambria Math" panose="02040503050406030204" pitchFamily="18" charset="0"/>
                        <a:ea typeface="Cambria Math" panose="02040503050406030204" pitchFamily="18" charset="0"/>
                      </a:rPr>
                      <m:t>φ</m:t>
                    </m:r>
                  </m:oMath>
                </a14:m>
                <a:endParaRPr lang="en-IN" sz="2400" dirty="0"/>
              </a:p>
              <a:p>
                <a:r>
                  <a:rPr lang="en-IN" sz="2200" dirty="0"/>
                  <a:t>	</a:t>
                </a:r>
                <a:endParaRPr lang="en-IN" dirty="0"/>
              </a:p>
            </p:txBody>
          </p:sp>
        </mc:Choice>
        <mc:Fallback xmlns="">
          <p:sp>
            <p:nvSpPr>
              <p:cNvPr id="3" name="TextBox 2">
                <a:extLst>
                  <a:ext uri="{FF2B5EF4-FFF2-40B4-BE49-F238E27FC236}">
                    <a16:creationId xmlns:a16="http://schemas.microsoft.com/office/drawing/2014/main" id="{DB4841EE-6C61-1CCD-FFD8-6AAA6336C0E2}"/>
                  </a:ext>
                </a:extLst>
              </p:cNvPr>
              <p:cNvSpPr txBox="1">
                <a:spLocks noRot="1" noChangeAspect="1" noMove="1" noResize="1" noEditPoints="1" noAdjustHandles="1" noChangeArrowheads="1" noChangeShapeType="1" noTextEdit="1"/>
              </p:cNvSpPr>
              <p:nvPr/>
            </p:nvSpPr>
            <p:spPr>
              <a:xfrm>
                <a:off x="0" y="815666"/>
                <a:ext cx="10123713" cy="5363391"/>
              </a:xfrm>
              <a:prstGeom prst="rect">
                <a:avLst/>
              </a:prstGeom>
              <a:blipFill>
                <a:blip r:embed="rId2"/>
                <a:stretch>
                  <a:fillRect l="-361" t="-682"/>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69BA0E26-0F0E-5B43-AA84-6D62D263A117}"/>
              </a:ext>
            </a:extLst>
          </p:cNvPr>
          <p:cNvPicPr>
            <a:picLocks noChangeAspect="1"/>
          </p:cNvPicPr>
          <p:nvPr/>
        </p:nvPicPr>
        <p:blipFill>
          <a:blip r:embed="rId3"/>
          <a:stretch>
            <a:fillRect/>
          </a:stretch>
        </p:blipFill>
        <p:spPr>
          <a:xfrm>
            <a:off x="7930485" y="1579885"/>
            <a:ext cx="2575783" cy="2027096"/>
          </a:xfrm>
          <a:prstGeom prst="rect">
            <a:avLst/>
          </a:prstGeom>
        </p:spPr>
      </p:pic>
      <p:pic>
        <p:nvPicPr>
          <p:cNvPr id="9" name="Content Placeholder 4" descr="Power Analysis in AC Circuits — PSPT Electrical Power Systems Training by  PSPT Power Systems Protection Training">
            <a:extLst>
              <a:ext uri="{FF2B5EF4-FFF2-40B4-BE49-F238E27FC236}">
                <a16:creationId xmlns:a16="http://schemas.microsoft.com/office/drawing/2014/main" id="{7C2305B3-F806-BEA8-DA19-4BD9CC8B2D98}"/>
              </a:ext>
            </a:extLst>
          </p:cNvPr>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719386" y="4520452"/>
            <a:ext cx="2341985" cy="1515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4765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F4803-012D-B0C6-4836-E3FDBFE6562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DE18C3-E774-0BC7-C78E-6A2192FD5D62}"/>
              </a:ext>
            </a:extLst>
          </p:cNvPr>
          <p:cNvSpPr>
            <a:spLocks noGrp="1"/>
          </p:cNvSpPr>
          <p:nvPr>
            <p:ph type="sldNum" sz="quarter" idx="12"/>
          </p:nvPr>
        </p:nvSpPr>
        <p:spPr/>
        <p:txBody>
          <a:bodyPr/>
          <a:lstStyle/>
          <a:p>
            <a:fld id="{CBABCCC1-BF11-4F37-963E-1BCD5B23FD72}" type="slidenum">
              <a:rPr lang="en-IN" smtClean="0"/>
              <a:t>4</a:t>
            </a:fld>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40CD6E4-1CFE-4B52-1D0A-AC22659A61DE}"/>
                  </a:ext>
                </a:extLst>
              </p:cNvPr>
              <p:cNvSpPr txBox="1">
                <a:spLocks/>
              </p:cNvSpPr>
              <p:nvPr/>
            </p:nvSpPr>
            <p:spPr>
              <a:xfrm>
                <a:off x="62066" y="1576893"/>
                <a:ext cx="4139821" cy="4037011"/>
              </a:xfrm>
              <a:prstGeom prst="rect">
                <a:avLst/>
              </a:prstGeom>
            </p:spPr>
            <p:txBody>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lgn="just"/>
                <a:r>
                  <a:rPr lang="en-IN" sz="1400" dirty="0">
                    <a:solidFill>
                      <a:srgbClr val="000000"/>
                    </a:solidFill>
                    <a:latin typeface="Verdana" panose="020B0604030504040204" pitchFamily="34" charset="0"/>
                    <a:ea typeface="Calibri" panose="020F0502020204030204" pitchFamily="34" charset="0"/>
                    <a:cs typeface="Poppins" panose="00000500000000000000" pitchFamily="2" charset="0"/>
                  </a:rPr>
                  <a:t>In a circuit, when the current lags the voltage, then the power factor of the circuit is known as a </a:t>
                </a:r>
                <a:r>
                  <a:rPr lang="en-IN" sz="1400" dirty="0">
                    <a:solidFill>
                      <a:srgbClr val="FF0000"/>
                    </a:solidFill>
                    <a:latin typeface="Verdana" panose="020B0604030504040204" pitchFamily="34" charset="0"/>
                    <a:ea typeface="Calibri" panose="020F0502020204030204" pitchFamily="34" charset="0"/>
                    <a:cs typeface="Poppins" panose="00000500000000000000" pitchFamily="2" charset="0"/>
                  </a:rPr>
                  <a:t>lagging power factor. </a:t>
                </a:r>
              </a:p>
              <a:p>
                <a:pPr algn="just"/>
                <a:r>
                  <a:rPr lang="en-IN" sz="1400" kern="100" dirty="0">
                    <a:solidFill>
                      <a:srgbClr val="000000"/>
                    </a:solidFill>
                    <a:latin typeface="Verdana" panose="020B0604030504040204" pitchFamily="34" charset="0"/>
                    <a:cs typeface="Poppins" panose="00000500000000000000" pitchFamily="2" charset="0"/>
                  </a:rPr>
                  <a:t>Phase angle </a:t>
                </a:r>
                <a14:m>
                  <m:oMath xmlns:m="http://schemas.openxmlformats.org/officeDocument/2006/math">
                    <m:r>
                      <m:rPr>
                        <m:sty m:val="p"/>
                      </m:rPr>
                      <a:rPr lang="en-IN" sz="1600" kern="100" smtClean="0">
                        <a:solidFill>
                          <a:srgbClr val="000000"/>
                        </a:solidFill>
                        <a:latin typeface="Cambria Math" panose="02040503050406030204" pitchFamily="18" charset="0"/>
                        <a:cs typeface="Poppins" panose="00000500000000000000" pitchFamily="2" charset="0"/>
                      </a:rPr>
                      <m:t>φ</m:t>
                    </m:r>
                  </m:oMath>
                </a14:m>
                <a:r>
                  <a:rPr lang="en-IN" sz="1400" kern="100" dirty="0">
                    <a:solidFill>
                      <a:srgbClr val="000000"/>
                    </a:solidFill>
                    <a:latin typeface="Verdana" panose="020B0604030504040204" pitchFamily="34" charset="0"/>
                    <a:cs typeface="Poppins" panose="00000500000000000000" pitchFamily="2" charset="0"/>
                  </a:rPr>
                  <a:t>between voltage and current is 90</a:t>
                </a:r>
                <a14:m>
                  <m:oMath xmlns:m="http://schemas.openxmlformats.org/officeDocument/2006/math">
                    <m:r>
                      <a:rPr lang="en-IN" sz="1400" kern="100">
                        <a:solidFill>
                          <a:srgbClr val="000000"/>
                        </a:solidFill>
                        <a:latin typeface="Cambria Math" panose="02040503050406030204" pitchFamily="18" charset="0"/>
                        <a:cs typeface="Poppins" panose="00000500000000000000" pitchFamily="2" charset="0"/>
                      </a:rPr>
                      <m:t>°</m:t>
                    </m:r>
                  </m:oMath>
                </a14:m>
                <a:r>
                  <a:rPr lang="en-IN" sz="1400" kern="100" dirty="0">
                    <a:solidFill>
                      <a:srgbClr val="000000"/>
                    </a:solidFill>
                    <a:latin typeface="Verdana" panose="020B0604030504040204" pitchFamily="34" charset="0"/>
                    <a:cs typeface="Poppins" panose="00000500000000000000" pitchFamily="2" charset="0"/>
                  </a:rPr>
                  <a:t> and hence the </a:t>
                </a:r>
                <a:r>
                  <a:rPr lang="en-IN" sz="1400" kern="100" dirty="0">
                    <a:solidFill>
                      <a:srgbClr val="FF0000"/>
                    </a:solidFill>
                    <a:latin typeface="Verdana" panose="020B0604030504040204" pitchFamily="34" charset="0"/>
                    <a:cs typeface="Poppins" panose="00000500000000000000" pitchFamily="2" charset="0"/>
                  </a:rPr>
                  <a:t>power factor is zero.</a:t>
                </a:r>
              </a:p>
              <a:p>
                <a:pPr algn="just"/>
                <a:r>
                  <a:rPr lang="en-IN" sz="1400" dirty="0">
                    <a:solidFill>
                      <a:srgbClr val="000000"/>
                    </a:solidFill>
                    <a:latin typeface="Verdana" panose="020B0604030504040204" pitchFamily="34" charset="0"/>
                    <a:ea typeface="Calibri" panose="020F0502020204030204" pitchFamily="34" charset="0"/>
                    <a:cs typeface="Poppins" panose="00000500000000000000" pitchFamily="2" charset="0"/>
                  </a:rPr>
                  <a:t>The power factor lags when the circuit is inductive. Loads such as coils, motors and lamps are inductive and have lagging power factor.</a:t>
                </a:r>
              </a:p>
              <a:p>
                <a:endParaRPr lang="en-IN" sz="1600" dirty="0"/>
              </a:p>
            </p:txBody>
          </p:sp>
        </mc:Choice>
        <mc:Fallback xmlns="">
          <p:sp>
            <p:nvSpPr>
              <p:cNvPr id="3" name="Content Placeholder 2">
                <a:extLst>
                  <a:ext uri="{FF2B5EF4-FFF2-40B4-BE49-F238E27FC236}">
                    <a16:creationId xmlns:a16="http://schemas.microsoft.com/office/drawing/2014/main" id="{440CD6E4-1CFE-4B52-1D0A-AC22659A61DE}"/>
                  </a:ext>
                </a:extLst>
              </p:cNvPr>
              <p:cNvSpPr txBox="1">
                <a:spLocks noRot="1" noChangeAspect="1" noMove="1" noResize="1" noEditPoints="1" noAdjustHandles="1" noChangeArrowheads="1" noChangeShapeType="1" noTextEdit="1"/>
              </p:cNvSpPr>
              <p:nvPr/>
            </p:nvSpPr>
            <p:spPr>
              <a:xfrm>
                <a:off x="62066" y="1576893"/>
                <a:ext cx="4139821" cy="4037011"/>
              </a:xfrm>
              <a:prstGeom prst="rect">
                <a:avLst/>
              </a:prstGeom>
              <a:blipFill>
                <a:blip r:embed="rId2"/>
                <a:stretch>
                  <a:fillRect l="-147" r="-442"/>
                </a:stretch>
              </a:blipFill>
            </p:spPr>
            <p:txBody>
              <a:bodyPr/>
              <a:lstStyle/>
              <a:p>
                <a:r>
                  <a:rPr lang="en-IN">
                    <a:noFill/>
                  </a:rPr>
                  <a:t> </a:t>
                </a:r>
              </a:p>
            </p:txBody>
          </p:sp>
        </mc:Fallback>
      </mc:AlternateContent>
      <p:sp>
        <p:nvSpPr>
          <p:cNvPr id="5" name="Slide Number Placeholder 3">
            <a:extLst>
              <a:ext uri="{FF2B5EF4-FFF2-40B4-BE49-F238E27FC236}">
                <a16:creationId xmlns:a16="http://schemas.microsoft.com/office/drawing/2014/main" id="{F82B0BA0-B2C5-C846-8F7D-40A98072999C}"/>
              </a:ext>
            </a:extLst>
          </p:cNvPr>
          <p:cNvSpPr txBox="1">
            <a:spLocks/>
          </p:cNvSpPr>
          <p:nvPr/>
        </p:nvSpPr>
        <p:spPr>
          <a:xfrm>
            <a:off x="5691188" y="6291263"/>
            <a:ext cx="809625" cy="503237"/>
          </a:xfrm>
          <a:prstGeom prst="rect">
            <a:avLst/>
          </a:prstGeom>
        </p:spPr>
        <p:txBody>
          <a:bodyPr vert="horz" wrap="square" lIns="91440" tIns="45720" rIns="91440" bIns="45720" numCol="1" anchor="t" anchorCtr="0" compatLnSpc="1">
            <a:prstTxWarp prst="textNoShape">
              <a:avLst/>
            </a:prstTxWarp>
          </a:bodyPr>
          <a:lstStyle>
            <a:defPPr>
              <a:defRPr lang="en-US"/>
            </a:defPPr>
            <a:lvl1pPr marL="0" algn="ctr" defTabSz="457200" rtl="0" eaLnBrk="1" fontAlgn="base" latinLnBrk="0" hangingPunct="1">
              <a:spcBef>
                <a:spcPct val="0"/>
              </a:spcBef>
              <a:spcAft>
                <a:spcPct val="0"/>
              </a:spcAft>
              <a:defRPr sz="2200" kern="1200">
                <a:solidFill>
                  <a:schemeClr val="accent1"/>
                </a:solidFill>
                <a:latin typeface="Gill Sans MT" panose="020B0502020104020203" pitchFamily="34" charset="0"/>
                <a:ea typeface="+mn-ea"/>
                <a:cs typeface="Arial" panose="020B0604020202020204" pitchFamily="34" charset="0"/>
              </a:defRPr>
            </a:lvl1pPr>
            <a:lvl2pPr marL="457200" algn="l" defTabSz="457200" rtl="0" eaLnBrk="0" fontAlgn="base" latinLnBrk="0" hangingPunct="0">
              <a:spcBef>
                <a:spcPct val="0"/>
              </a:spcBef>
              <a:spcAft>
                <a:spcPct val="0"/>
              </a:spcAft>
              <a:defRPr sz="1800" kern="1200">
                <a:solidFill>
                  <a:schemeClr val="tx1"/>
                </a:solidFill>
                <a:latin typeface="Arial" panose="020B0604020202020204" pitchFamily="34" charset="0"/>
                <a:ea typeface="+mn-ea"/>
                <a:cs typeface="Arial" panose="020B0604020202020204" pitchFamily="34" charset="0"/>
              </a:defRPr>
            </a:lvl2pPr>
            <a:lvl3pPr marL="914400" algn="l" defTabSz="457200" rtl="0" eaLnBrk="0" fontAlgn="base" latinLnBrk="0" hangingPunct="0">
              <a:spcBef>
                <a:spcPct val="0"/>
              </a:spcBef>
              <a:spcAft>
                <a:spcPct val="0"/>
              </a:spcAft>
              <a:defRPr sz="1800" kern="1200">
                <a:solidFill>
                  <a:schemeClr val="tx1"/>
                </a:solidFill>
                <a:latin typeface="Arial" panose="020B0604020202020204" pitchFamily="34" charset="0"/>
                <a:ea typeface="+mn-ea"/>
                <a:cs typeface="Arial" panose="020B0604020202020204" pitchFamily="34" charset="0"/>
              </a:defRPr>
            </a:lvl3pPr>
            <a:lvl4pPr marL="1371600" algn="l" defTabSz="457200" rtl="0" eaLnBrk="0" fontAlgn="base" latinLnBrk="0" hangingPunct="0">
              <a:spcBef>
                <a:spcPct val="0"/>
              </a:spcBef>
              <a:spcAft>
                <a:spcPct val="0"/>
              </a:spcAft>
              <a:defRPr sz="1800" kern="1200">
                <a:solidFill>
                  <a:schemeClr val="tx1"/>
                </a:solidFill>
                <a:latin typeface="Arial" panose="020B0604020202020204" pitchFamily="34" charset="0"/>
                <a:ea typeface="+mn-ea"/>
                <a:cs typeface="Arial" panose="020B0604020202020204" pitchFamily="34" charset="0"/>
              </a:defRPr>
            </a:lvl4pPr>
            <a:lvl5pPr marL="1828800" algn="l" defTabSz="457200" rtl="0" eaLnBrk="0" fontAlgn="base" latinLnBrk="0" hangingPunct="0">
              <a:spcBef>
                <a:spcPct val="0"/>
              </a:spcBef>
              <a:spcAft>
                <a:spcPct val="0"/>
              </a:spcAft>
              <a:defRPr sz="18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8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1800"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1800"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1800" kern="1200">
                <a:solidFill>
                  <a:schemeClr val="tx1"/>
                </a:solidFill>
                <a:latin typeface="Arial" panose="020B0604020202020204" pitchFamily="34" charset="0"/>
                <a:ea typeface="+mn-ea"/>
                <a:cs typeface="Arial" panose="020B0604020202020204" pitchFamily="34" charset="0"/>
              </a:defRPr>
            </a:lvl9pPr>
          </a:lstStyle>
          <a:p>
            <a:pPr>
              <a:defRPr/>
            </a:pPr>
            <a:fld id="{51501986-F51F-4C5B-BF24-E4FBCDBF5E42}" type="slidenum">
              <a:rPr lang="en-IN" altLang="en-US" smtClean="0"/>
              <a:pPr>
                <a:defRPr/>
              </a:pPr>
              <a:t>4</a:t>
            </a:fld>
            <a:endParaRPr lang="en-IN" altLang="en-US"/>
          </a:p>
        </p:txBody>
      </p:sp>
      <p:pic>
        <p:nvPicPr>
          <p:cNvPr id="6" name="Picture 5">
            <a:extLst>
              <a:ext uri="{FF2B5EF4-FFF2-40B4-BE49-F238E27FC236}">
                <a16:creationId xmlns:a16="http://schemas.microsoft.com/office/drawing/2014/main" id="{07B9C05D-CDE1-E124-040B-A25F6E9F1328}"/>
              </a:ext>
            </a:extLst>
          </p:cNvPr>
          <p:cNvPicPr>
            <a:picLocks noChangeAspect="1"/>
          </p:cNvPicPr>
          <p:nvPr/>
        </p:nvPicPr>
        <p:blipFill>
          <a:blip r:embed="rId3" cstate="print">
            <a:extLst>
              <a:ext uri="{BEBA8EAE-BF5A-486C-A8C5-ECC9F3942E4B}">
                <a14:imgProps xmlns:a14="http://schemas.microsoft.com/office/drawing/2010/main">
                  <a14:imgLayer r:embed="rId4">
                    <a14:imgEffect>
                      <a14:sharpenSoften amount="500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431873" y="4774204"/>
            <a:ext cx="3355075" cy="1375654"/>
          </a:xfrm>
          <a:prstGeom prst="rect">
            <a:avLst/>
          </a:prstGeom>
          <a:noFill/>
          <a:ln>
            <a:noFill/>
          </a:ln>
        </p:spPr>
      </p:pic>
      <p:sp>
        <p:nvSpPr>
          <p:cNvPr id="7" name="Rounded Rectangle 17">
            <a:extLst>
              <a:ext uri="{FF2B5EF4-FFF2-40B4-BE49-F238E27FC236}">
                <a16:creationId xmlns:a16="http://schemas.microsoft.com/office/drawing/2014/main" id="{7F8704E9-B282-5296-3F85-028D6E7895B8}"/>
              </a:ext>
            </a:extLst>
          </p:cNvPr>
          <p:cNvSpPr/>
          <p:nvPr/>
        </p:nvSpPr>
        <p:spPr>
          <a:xfrm>
            <a:off x="2825087" y="267096"/>
            <a:ext cx="6346209" cy="46376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b="1" dirty="0"/>
              <a:t>POWER FACTOR</a:t>
            </a:r>
            <a:endParaRPr lang="en-US" sz="2400" dirty="0"/>
          </a:p>
        </p:txBody>
      </p:sp>
      <p:sp>
        <p:nvSpPr>
          <p:cNvPr id="8" name="Rounded Rectangle 17">
            <a:extLst>
              <a:ext uri="{FF2B5EF4-FFF2-40B4-BE49-F238E27FC236}">
                <a16:creationId xmlns:a16="http://schemas.microsoft.com/office/drawing/2014/main" id="{4AC4E06F-ECAC-E3CD-3C44-F23D41C7C6A3}"/>
              </a:ext>
            </a:extLst>
          </p:cNvPr>
          <p:cNvSpPr/>
          <p:nvPr/>
        </p:nvSpPr>
        <p:spPr>
          <a:xfrm>
            <a:off x="953031" y="862026"/>
            <a:ext cx="2081355" cy="62794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600" b="1" dirty="0"/>
              <a:t>Lagging (Inductor)</a:t>
            </a:r>
            <a:endParaRPr lang="en-US" sz="1600" dirty="0"/>
          </a:p>
        </p:txBody>
      </p:sp>
      <p:sp>
        <p:nvSpPr>
          <p:cNvPr id="10" name="Rounded Rectangle 17">
            <a:extLst>
              <a:ext uri="{FF2B5EF4-FFF2-40B4-BE49-F238E27FC236}">
                <a16:creationId xmlns:a16="http://schemas.microsoft.com/office/drawing/2014/main" id="{02B76C0E-3E0F-D2DE-5086-F732DD7989BE}"/>
              </a:ext>
            </a:extLst>
          </p:cNvPr>
          <p:cNvSpPr/>
          <p:nvPr/>
        </p:nvSpPr>
        <p:spPr>
          <a:xfrm>
            <a:off x="5243958" y="834685"/>
            <a:ext cx="2283725" cy="64442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600" b="1" dirty="0"/>
              <a:t>Leading (Capacitor)</a:t>
            </a:r>
            <a:endParaRPr lang="en-US" sz="1600" dirty="0"/>
          </a:p>
        </p:txBody>
      </p:sp>
      <p:sp>
        <p:nvSpPr>
          <p:cNvPr id="11" name="Rounded Rectangle 17">
            <a:extLst>
              <a:ext uri="{FF2B5EF4-FFF2-40B4-BE49-F238E27FC236}">
                <a16:creationId xmlns:a16="http://schemas.microsoft.com/office/drawing/2014/main" id="{C4299D96-D15E-DEAA-BA2A-8D6FC3B9DCF5}"/>
              </a:ext>
            </a:extLst>
          </p:cNvPr>
          <p:cNvSpPr/>
          <p:nvPr/>
        </p:nvSpPr>
        <p:spPr>
          <a:xfrm>
            <a:off x="9737255" y="834685"/>
            <a:ext cx="1363673" cy="62794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600" b="1" dirty="0"/>
              <a:t>Unity</a:t>
            </a:r>
            <a:endParaRPr lang="en-US" sz="1600" dirty="0"/>
          </a:p>
        </p:txBody>
      </p: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789190D8-9D8A-F1C1-234C-BD72B6CA5A88}"/>
                  </a:ext>
                </a:extLst>
              </p:cNvPr>
              <p:cNvSpPr txBox="1">
                <a:spLocks/>
              </p:cNvSpPr>
              <p:nvPr/>
            </p:nvSpPr>
            <p:spPr bwMode="auto">
              <a:xfrm>
                <a:off x="4262056" y="1576894"/>
                <a:ext cx="4026405" cy="403701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120000"/>
                  </a:lnSpc>
                  <a:spcBef>
                    <a:spcPts val="1000"/>
                  </a:spcBef>
                  <a:spcAft>
                    <a:spcPct val="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6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4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lgn="just"/>
                <a:r>
                  <a:rPr lang="en-IN" sz="1400" kern="100" dirty="0">
                    <a:solidFill>
                      <a:srgbClr val="000000"/>
                    </a:solidFill>
                    <a:latin typeface="Verdana" panose="020B0604030504040204" pitchFamily="34" charset="0"/>
                    <a:cs typeface="Poppins" panose="00000500000000000000" pitchFamily="2" charset="0"/>
                  </a:rPr>
                  <a:t>When the current in the circuit leads the voltage, then the power factor of the circuit is said to be leading. A capacitive circuit has a </a:t>
                </a:r>
                <a:r>
                  <a:rPr lang="en-IN" sz="1400" kern="100" dirty="0">
                    <a:solidFill>
                      <a:srgbClr val="FF0000"/>
                    </a:solidFill>
                    <a:latin typeface="Verdana" panose="020B0604030504040204" pitchFamily="34" charset="0"/>
                    <a:cs typeface="Poppins" panose="00000500000000000000" pitchFamily="2" charset="0"/>
                  </a:rPr>
                  <a:t>leading power factor. </a:t>
                </a:r>
              </a:p>
              <a:p>
                <a:pPr algn="just"/>
                <a:r>
                  <a:rPr lang="en-IN" sz="1400" kern="100" dirty="0">
                    <a:solidFill>
                      <a:srgbClr val="000000"/>
                    </a:solidFill>
                    <a:latin typeface="Verdana" panose="020B0604030504040204" pitchFamily="34" charset="0"/>
                    <a:cs typeface="Poppins" panose="00000500000000000000" pitchFamily="2" charset="0"/>
                  </a:rPr>
                  <a:t>Phase angle </a:t>
                </a:r>
                <a14:m>
                  <m:oMath xmlns:m="http://schemas.openxmlformats.org/officeDocument/2006/math">
                    <m:r>
                      <m:rPr>
                        <m:sty m:val="p"/>
                      </m:rPr>
                      <a:rPr lang="en-IN" sz="1600" i="0" kern="100">
                        <a:solidFill>
                          <a:srgbClr val="000000"/>
                        </a:solidFill>
                        <a:latin typeface="Cambria Math" panose="02040503050406030204" pitchFamily="18" charset="0"/>
                        <a:cs typeface="Poppins" panose="00000500000000000000" pitchFamily="2" charset="0"/>
                      </a:rPr>
                      <m:t>φ</m:t>
                    </m:r>
                  </m:oMath>
                </a14:m>
                <a:r>
                  <a:rPr lang="en-IN" sz="1400" kern="100" dirty="0">
                    <a:solidFill>
                      <a:srgbClr val="000000"/>
                    </a:solidFill>
                    <a:latin typeface="Verdana" panose="020B0604030504040204" pitchFamily="34" charset="0"/>
                    <a:cs typeface="Poppins" panose="00000500000000000000" pitchFamily="2" charset="0"/>
                  </a:rPr>
                  <a:t> between voltage and current is 90</a:t>
                </a:r>
                <a14:m>
                  <m:oMath xmlns:m="http://schemas.openxmlformats.org/officeDocument/2006/math">
                    <m:r>
                      <a:rPr lang="en-IN" sz="1400" kern="100">
                        <a:solidFill>
                          <a:srgbClr val="000000"/>
                        </a:solidFill>
                        <a:latin typeface="Cambria Math" panose="02040503050406030204" pitchFamily="18" charset="0"/>
                        <a:cs typeface="Poppins" panose="00000500000000000000" pitchFamily="2" charset="0"/>
                      </a:rPr>
                      <m:t>°</m:t>
                    </m:r>
                  </m:oMath>
                </a14:m>
                <a:r>
                  <a:rPr lang="en-IN" sz="1400" kern="100" dirty="0">
                    <a:solidFill>
                      <a:srgbClr val="000000"/>
                    </a:solidFill>
                    <a:latin typeface="Verdana" panose="020B0604030504040204" pitchFamily="34" charset="0"/>
                    <a:cs typeface="Poppins" panose="00000500000000000000" pitchFamily="2" charset="0"/>
                  </a:rPr>
                  <a:t> and hence the </a:t>
                </a:r>
                <a:r>
                  <a:rPr lang="en-IN" sz="1400" kern="100" dirty="0">
                    <a:solidFill>
                      <a:srgbClr val="FF0000"/>
                    </a:solidFill>
                    <a:latin typeface="Verdana" panose="020B0604030504040204" pitchFamily="34" charset="0"/>
                    <a:cs typeface="Poppins" panose="00000500000000000000" pitchFamily="2" charset="0"/>
                  </a:rPr>
                  <a:t>power factor is zero.</a:t>
                </a:r>
              </a:p>
              <a:p>
                <a:pPr algn="just"/>
                <a:r>
                  <a:rPr lang="en-IN" sz="1400" kern="100" dirty="0">
                    <a:solidFill>
                      <a:srgbClr val="000000"/>
                    </a:solidFill>
                    <a:latin typeface="Verdana" panose="020B0604030504040204" pitchFamily="34" charset="0"/>
                    <a:cs typeface="Poppins" panose="00000500000000000000" pitchFamily="2" charset="0"/>
                  </a:rPr>
                  <a:t>Capacitor banks and Synchronous condensers are capacitive loads that have a leading power factor.</a:t>
                </a:r>
              </a:p>
            </p:txBody>
          </p:sp>
        </mc:Choice>
        <mc:Fallback xmlns="">
          <p:sp>
            <p:nvSpPr>
              <p:cNvPr id="12" name="Content Placeholder 2">
                <a:extLst>
                  <a:ext uri="{FF2B5EF4-FFF2-40B4-BE49-F238E27FC236}">
                    <a16:creationId xmlns:a16="http://schemas.microsoft.com/office/drawing/2014/main" id="{789190D8-9D8A-F1C1-234C-BD72B6CA5A88}"/>
                  </a:ext>
                </a:extLst>
              </p:cNvPr>
              <p:cNvSpPr txBox="1">
                <a:spLocks noRot="1" noChangeAspect="1" noMove="1" noResize="1" noEditPoints="1" noAdjustHandles="1" noChangeArrowheads="1" noChangeShapeType="1" noTextEdit="1"/>
              </p:cNvSpPr>
              <p:nvPr/>
            </p:nvSpPr>
            <p:spPr bwMode="auto">
              <a:xfrm>
                <a:off x="4262056" y="1576894"/>
                <a:ext cx="4026405" cy="4037011"/>
              </a:xfrm>
              <a:prstGeom prst="rect">
                <a:avLst/>
              </a:prstGeom>
              <a:blipFill>
                <a:blip r:embed="rId5"/>
                <a:stretch>
                  <a:fillRect l="-151" r="-30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pic>
        <p:nvPicPr>
          <p:cNvPr id="13" name="Picture 12">
            <a:extLst>
              <a:ext uri="{FF2B5EF4-FFF2-40B4-BE49-F238E27FC236}">
                <a16:creationId xmlns:a16="http://schemas.microsoft.com/office/drawing/2014/main" id="{16FF9900-5BC1-A25B-31C7-FACF2FCC0FAE}"/>
              </a:ext>
            </a:extLst>
          </p:cNvPr>
          <p:cNvPicPr>
            <a:picLocks noChangeAspect="1"/>
          </p:cNvPicPr>
          <p:nvPr/>
        </p:nvPicPr>
        <p:blipFill>
          <a:blip r:embed="rId6" cstate="print">
            <a:extLst>
              <a:ext uri="{BEBA8EAE-BF5A-486C-A8C5-ECC9F3942E4B}">
                <a14:imgProps xmlns:a14="http://schemas.microsoft.com/office/drawing/2010/main">
                  <a14:imgLayer r:embed="rId7">
                    <a14:imgEffect>
                      <a14:sharpenSoften amount="500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4894019" y="4810893"/>
            <a:ext cx="3197022" cy="1338965"/>
          </a:xfrm>
          <a:prstGeom prst="rect">
            <a:avLst/>
          </a:prstGeom>
          <a:noFill/>
          <a:ln>
            <a:noFill/>
          </a:ln>
        </p:spPr>
      </p:pic>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45662B1D-AA50-C894-CACB-6D1B69E59A35}"/>
                  </a:ext>
                </a:extLst>
              </p:cNvPr>
              <p:cNvSpPr txBox="1">
                <a:spLocks/>
              </p:cNvSpPr>
              <p:nvPr/>
            </p:nvSpPr>
            <p:spPr bwMode="auto">
              <a:xfrm>
                <a:off x="8507178" y="1576892"/>
                <a:ext cx="3684822" cy="403701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120000"/>
                  </a:lnSpc>
                  <a:spcBef>
                    <a:spcPts val="1000"/>
                  </a:spcBef>
                  <a:spcAft>
                    <a:spcPct val="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6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4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lgn="just"/>
                <a:r>
                  <a:rPr lang="en-IN" sz="1400" kern="100" dirty="0">
                    <a:solidFill>
                      <a:srgbClr val="000000"/>
                    </a:solidFill>
                    <a:latin typeface="Verdana" panose="020B0604030504040204" pitchFamily="34" charset="0"/>
                    <a:cs typeface="Poppins" panose="00000500000000000000" pitchFamily="2" charset="0"/>
                  </a:rPr>
                  <a:t>The power factor is </a:t>
                </a:r>
                <a:r>
                  <a:rPr lang="en-IN" sz="1400" kern="100" dirty="0">
                    <a:solidFill>
                      <a:srgbClr val="FF0000"/>
                    </a:solidFill>
                    <a:latin typeface="Verdana" panose="020B0604030504040204" pitchFamily="34" charset="0"/>
                    <a:cs typeface="Poppins" panose="00000500000000000000" pitchFamily="2" charset="0"/>
                  </a:rPr>
                  <a:t>unity</a:t>
                </a:r>
                <a:r>
                  <a:rPr lang="en-IN" sz="1400" kern="100" dirty="0">
                    <a:solidFill>
                      <a:srgbClr val="000000"/>
                    </a:solidFill>
                    <a:latin typeface="Verdana" panose="020B0604030504040204" pitchFamily="34" charset="0"/>
                    <a:cs typeface="Poppins" panose="00000500000000000000" pitchFamily="2" charset="0"/>
                  </a:rPr>
                  <a:t> for ideal circuits. </a:t>
                </a:r>
              </a:p>
              <a:p>
                <a:pPr algn="just"/>
                <a:r>
                  <a:rPr lang="en-IN" sz="1400" kern="100" dirty="0">
                    <a:solidFill>
                      <a:srgbClr val="000000"/>
                    </a:solidFill>
                    <a:latin typeface="Verdana" panose="020B0604030504040204" pitchFamily="34" charset="0"/>
                    <a:cs typeface="Poppins" panose="00000500000000000000" pitchFamily="2" charset="0"/>
                  </a:rPr>
                  <a:t>Phase angle </a:t>
                </a:r>
                <a14:m>
                  <m:oMath xmlns:m="http://schemas.openxmlformats.org/officeDocument/2006/math">
                    <m:r>
                      <m:rPr>
                        <m:sty m:val="p"/>
                      </m:rPr>
                      <a:rPr lang="en-IN" sz="1600" i="0" kern="100">
                        <a:solidFill>
                          <a:srgbClr val="000000"/>
                        </a:solidFill>
                        <a:latin typeface="Cambria Math" panose="02040503050406030204" pitchFamily="18" charset="0"/>
                        <a:cs typeface="Poppins" panose="00000500000000000000" pitchFamily="2" charset="0"/>
                      </a:rPr>
                      <m:t>φ</m:t>
                    </m:r>
                  </m:oMath>
                </a14:m>
                <a:r>
                  <a:rPr lang="en-IN" sz="1400" kern="100" dirty="0">
                    <a:solidFill>
                      <a:srgbClr val="000000"/>
                    </a:solidFill>
                    <a:latin typeface="Verdana" panose="020B0604030504040204" pitchFamily="34" charset="0"/>
                    <a:cs typeface="Poppins" panose="00000500000000000000" pitchFamily="2" charset="0"/>
                  </a:rPr>
                  <a:t> between voltage and current is 0</a:t>
                </a:r>
                <a14:m>
                  <m:oMath xmlns:m="http://schemas.openxmlformats.org/officeDocument/2006/math">
                    <m:r>
                      <a:rPr lang="en-IN" sz="1400" kern="100">
                        <a:solidFill>
                          <a:srgbClr val="000000"/>
                        </a:solidFill>
                        <a:latin typeface="Cambria Math" panose="02040503050406030204" pitchFamily="18" charset="0"/>
                        <a:cs typeface="Poppins" panose="00000500000000000000" pitchFamily="2" charset="0"/>
                      </a:rPr>
                      <m:t>°</m:t>
                    </m:r>
                  </m:oMath>
                </a14:m>
                <a:r>
                  <a:rPr lang="en-IN" sz="1400" kern="100" dirty="0">
                    <a:solidFill>
                      <a:srgbClr val="000000"/>
                    </a:solidFill>
                    <a:latin typeface="Verdana" panose="020B0604030504040204" pitchFamily="34" charset="0"/>
                    <a:cs typeface="Poppins" panose="00000500000000000000" pitchFamily="2" charset="0"/>
                  </a:rPr>
                  <a:t> and hence the power factor is unity when the current and voltage are </a:t>
                </a:r>
                <a:r>
                  <a:rPr lang="en-IN" sz="1400" kern="100" dirty="0">
                    <a:solidFill>
                      <a:srgbClr val="FF0000"/>
                    </a:solidFill>
                    <a:latin typeface="Verdana" panose="020B0604030504040204" pitchFamily="34" charset="0"/>
                    <a:cs typeface="Poppins" panose="00000500000000000000" pitchFamily="2" charset="0"/>
                  </a:rPr>
                  <a:t>in phase</a:t>
                </a:r>
                <a:r>
                  <a:rPr lang="en-IN" sz="1400" kern="100" dirty="0">
                    <a:solidFill>
                      <a:srgbClr val="000000"/>
                    </a:solidFill>
                    <a:latin typeface="Verdana" panose="020B0604030504040204" pitchFamily="34" charset="0"/>
                    <a:cs typeface="Poppins" panose="00000500000000000000" pitchFamily="2" charset="0"/>
                  </a:rPr>
                  <a:t>.</a:t>
                </a:r>
              </a:p>
            </p:txBody>
          </p:sp>
        </mc:Choice>
        <mc:Fallback xmlns="">
          <p:sp>
            <p:nvSpPr>
              <p:cNvPr id="14" name="Content Placeholder 2">
                <a:extLst>
                  <a:ext uri="{FF2B5EF4-FFF2-40B4-BE49-F238E27FC236}">
                    <a16:creationId xmlns:a16="http://schemas.microsoft.com/office/drawing/2014/main" id="{45662B1D-AA50-C894-CACB-6D1B69E59A35}"/>
                  </a:ext>
                </a:extLst>
              </p:cNvPr>
              <p:cNvSpPr txBox="1">
                <a:spLocks noRot="1" noChangeAspect="1" noMove="1" noResize="1" noEditPoints="1" noAdjustHandles="1" noChangeArrowheads="1" noChangeShapeType="1" noTextEdit="1"/>
              </p:cNvSpPr>
              <p:nvPr/>
            </p:nvSpPr>
            <p:spPr bwMode="auto">
              <a:xfrm>
                <a:off x="8507178" y="1576892"/>
                <a:ext cx="3684822" cy="4037011"/>
              </a:xfrm>
              <a:prstGeom prst="rect">
                <a:avLst/>
              </a:prstGeom>
              <a:blipFill>
                <a:blip r:embed="rId8"/>
                <a:stretch>
                  <a:fillRect l="-331" r="-49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pic>
        <p:nvPicPr>
          <p:cNvPr id="15" name="Picture 14">
            <a:extLst>
              <a:ext uri="{FF2B5EF4-FFF2-40B4-BE49-F238E27FC236}">
                <a16:creationId xmlns:a16="http://schemas.microsoft.com/office/drawing/2014/main" id="{B5B3E2B4-8BA8-9B75-7092-67545C89469D}"/>
              </a:ext>
            </a:extLst>
          </p:cNvPr>
          <p:cNvPicPr>
            <a:picLocks noChangeAspect="1"/>
          </p:cNvPicPr>
          <p:nvPr/>
        </p:nvPicPr>
        <p:blipFill>
          <a:blip r:embed="rId9">
            <a:extLst>
              <a:ext uri="{BEBA8EAE-BF5A-486C-A8C5-ECC9F3942E4B}">
                <a14:imgProps xmlns:a14="http://schemas.microsoft.com/office/drawing/2010/main">
                  <a14:imgLayer r:embed="rId10">
                    <a14:imgEffect>
                      <a14:sharpenSoften amount="500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9032326" y="4810893"/>
            <a:ext cx="2928895" cy="1338965"/>
          </a:xfrm>
          <a:prstGeom prst="rect">
            <a:avLst/>
          </a:prstGeom>
          <a:noFill/>
          <a:ln>
            <a:noFill/>
          </a:ln>
        </p:spPr>
      </p:pic>
    </p:spTree>
    <p:extLst>
      <p:ext uri="{BB962C8B-B14F-4D97-AF65-F5344CB8AC3E}">
        <p14:creationId xmlns:p14="http://schemas.microsoft.com/office/powerpoint/2010/main" val="3972608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B60D3-1A0C-BEAE-620D-3C073991F57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9A943-0A22-713B-75C3-319AEAC369A8}"/>
              </a:ext>
            </a:extLst>
          </p:cNvPr>
          <p:cNvSpPr>
            <a:spLocks noGrp="1"/>
          </p:cNvSpPr>
          <p:nvPr>
            <p:ph type="sldNum" sz="quarter" idx="12"/>
          </p:nvPr>
        </p:nvSpPr>
        <p:spPr/>
        <p:txBody>
          <a:bodyPr/>
          <a:lstStyle/>
          <a:p>
            <a:fld id="{CBABCCC1-BF11-4F37-963E-1BCD5B23FD72}" type="slidenum">
              <a:rPr lang="en-IN" smtClean="0"/>
              <a:t>5</a:t>
            </a:fld>
            <a:endParaRPr lang="en-IN"/>
          </a:p>
        </p:txBody>
      </p:sp>
      <p:sp>
        <p:nvSpPr>
          <p:cNvPr id="3" name="Title 1">
            <a:extLst>
              <a:ext uri="{FF2B5EF4-FFF2-40B4-BE49-F238E27FC236}">
                <a16:creationId xmlns:a16="http://schemas.microsoft.com/office/drawing/2014/main" id="{A5A82EAB-A233-5E0D-7C2D-98F484081BB5}"/>
              </a:ext>
            </a:extLst>
          </p:cNvPr>
          <p:cNvSpPr txBox="1">
            <a:spLocks/>
          </p:cNvSpPr>
          <p:nvPr/>
        </p:nvSpPr>
        <p:spPr>
          <a:xfrm>
            <a:off x="859410" y="279585"/>
            <a:ext cx="10003809" cy="1470569"/>
          </a:xfrm>
          <a:prstGeom prst="rect">
            <a:avLst/>
          </a:prstGeom>
        </p:spPr>
        <p:txBody>
          <a:bodyPr>
            <a:normAutofit fontScale="75000" lnSpcReduction="2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pPr>
              <a:lnSpc>
                <a:spcPct val="150000"/>
              </a:lnSpc>
              <a:spcAft>
                <a:spcPts val="800"/>
              </a:spcAft>
              <a:tabLst>
                <a:tab pos="5158740" algn="l"/>
              </a:tabLst>
            </a:pPr>
            <a:br>
              <a:rPr lang="en-IN" sz="1800" kern="100" dirty="0">
                <a:latin typeface="Calibri" panose="020F0502020204030204" pitchFamily="34" charset="0"/>
                <a:ea typeface="Calibri" panose="020F0502020204030204" pitchFamily="34" charset="0"/>
                <a:cs typeface="Times New Roman" panose="02020603050405020304" pitchFamily="18" charset="0"/>
              </a:rPr>
            </a:br>
            <a:r>
              <a:rPr lang="en-IN" sz="2000" b="1" kern="100" dirty="0">
                <a:latin typeface="Verdana" panose="020B0604030504040204" pitchFamily="34" charset="0"/>
                <a:cs typeface="Segoe UI" panose="020B0502040204020203" pitchFamily="34" charset="0"/>
              </a:rPr>
              <a:t>1q) </a:t>
            </a:r>
            <a:r>
              <a:rPr lang="en-IN" sz="2000" kern="100" dirty="0">
                <a:latin typeface="Verdana" panose="020B0604030504040204" pitchFamily="34" charset="0"/>
                <a:cs typeface="Segoe UI" panose="020B0502040204020203" pitchFamily="34" charset="0"/>
              </a:rPr>
              <a:t>A device has a real power consumption of 800 watt and an apparent power of 1000 VA. Calculate the power factor.</a:t>
            </a:r>
            <a:br>
              <a:rPr lang="en-IN" sz="1800" kern="100" dirty="0">
                <a:latin typeface="Calibri" panose="020F0502020204030204" pitchFamily="34" charset="0"/>
                <a:ea typeface="Calibri" panose="020F0502020204030204" pitchFamily="34" charset="0"/>
                <a:cs typeface="Times New Roman" panose="02020603050405020304" pitchFamily="18" charset="0"/>
              </a:rPr>
            </a:br>
            <a:endParaRPr lang="en-IN" dirty="0"/>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F42F7B69-A78E-D713-BF6A-323FCE74FEB1}"/>
                  </a:ext>
                </a:extLst>
              </p:cNvPr>
              <p:cNvSpPr txBox="1">
                <a:spLocks/>
              </p:cNvSpPr>
              <p:nvPr/>
            </p:nvSpPr>
            <p:spPr>
              <a:xfrm>
                <a:off x="955557" y="1190317"/>
                <a:ext cx="8880380" cy="2987676"/>
              </a:xfrm>
              <a:prstGeom prst="rect">
                <a:avLst/>
              </a:prstGeom>
            </p:spPr>
            <p:txBody>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lnSpc>
                    <a:spcPct val="100000"/>
                  </a:lnSpc>
                  <a:buFont typeface="Arial" panose="020B0604020202020204" pitchFamily="34" charset="0"/>
                  <a:buNone/>
                </a:pPr>
                <a:r>
                  <a:rPr lang="en-IN" sz="1600" kern="100" dirty="0">
                    <a:latin typeface="Verdana" panose="020B0604030504040204" pitchFamily="34" charset="0"/>
                    <a:cs typeface="Segoe UI" panose="020B0502040204020203" pitchFamily="34" charset="0"/>
                  </a:rPr>
                  <a:t>Sol) 	Real Power (P)			=800W</a:t>
                </a:r>
              </a:p>
              <a:p>
                <a:pPr indent="0">
                  <a:lnSpc>
                    <a:spcPct val="100000"/>
                  </a:lnSpc>
                  <a:buFont typeface="Arial" panose="020B0604020202020204" pitchFamily="34" charset="0"/>
                  <a:buNone/>
                </a:pPr>
                <a:r>
                  <a:rPr lang="en-IN" sz="1600" kern="100" dirty="0">
                    <a:latin typeface="Verdana" panose="020B0604030504040204" pitchFamily="34" charset="0"/>
                    <a:cs typeface="Segoe UI" panose="020B0502040204020203" pitchFamily="34" charset="0"/>
                  </a:rPr>
                  <a:t> 	Apparent Power (S)		=1000 VA </a:t>
                </a:r>
              </a:p>
              <a:p>
                <a:pPr indent="0">
                  <a:lnSpc>
                    <a:spcPct val="100000"/>
                  </a:lnSpc>
                  <a:buNone/>
                </a:pPr>
                <a:r>
                  <a:rPr lang="en-IN" sz="1600" kern="100" dirty="0">
                    <a:latin typeface="Verdana" panose="020B0604030504040204" pitchFamily="34" charset="0"/>
                    <a:cs typeface="Segoe UI" panose="020B0502040204020203" pitchFamily="34" charset="0"/>
                  </a:rPr>
                  <a:t>	Power Factor (pf)			=</a:t>
                </a:r>
                <a:r>
                  <a:rPr lang="en-US" sz="1600" dirty="0"/>
                  <a:t> </a:t>
                </a:r>
                <a14:m>
                  <m:oMath xmlns:m="http://schemas.openxmlformats.org/officeDocument/2006/math">
                    <m:f>
                      <m:fPr>
                        <m:ctrlPr>
                          <a:rPr lang="en-US" sz="1600" i="1" smtClean="0">
                            <a:latin typeface="Cambria Math" panose="02040503050406030204" pitchFamily="18" charset="0"/>
                          </a:rPr>
                        </m:ctrlPr>
                      </m:fPr>
                      <m:num>
                        <m:r>
                          <m:rPr>
                            <m:nor/>
                          </m:rPr>
                          <a:rPr lang="en-US" sz="1600" dirty="0"/>
                          <m:t>True</m:t>
                        </m:r>
                        <m:r>
                          <m:rPr>
                            <m:nor/>
                          </m:rPr>
                          <a:rPr lang="en-US" sz="1600" dirty="0"/>
                          <m:t>(</m:t>
                        </m:r>
                        <m:r>
                          <m:rPr>
                            <m:nor/>
                          </m:rPr>
                          <a:rPr lang="en-US" sz="1600" dirty="0"/>
                          <m:t>Real</m:t>
                        </m:r>
                        <m:r>
                          <m:rPr>
                            <m:nor/>
                          </m:rPr>
                          <a:rPr lang="en-US" sz="1600" dirty="0"/>
                          <m:t>)/</m:t>
                        </m:r>
                        <m:r>
                          <m:rPr>
                            <m:nor/>
                          </m:rPr>
                          <a:rPr lang="en-US" sz="1600" dirty="0" smtClean="0"/>
                          <m:t>Active</m:t>
                        </m:r>
                        <m:r>
                          <m:rPr>
                            <m:nor/>
                          </m:rPr>
                          <a:rPr lang="en-US" sz="1600" b="0" i="0" dirty="0" smtClean="0"/>
                          <m:t> </m:t>
                        </m:r>
                        <m:r>
                          <m:rPr>
                            <m:nor/>
                          </m:rPr>
                          <a:rPr lang="en-US" sz="1600" dirty="0" smtClean="0"/>
                          <m:t>P</m:t>
                        </m:r>
                        <m:r>
                          <m:rPr>
                            <m:nor/>
                          </m:rPr>
                          <a:rPr lang="en-US" sz="1600" dirty="0"/>
                          <m:t>ower</m:t>
                        </m:r>
                        <m:r>
                          <m:rPr>
                            <m:nor/>
                          </m:rPr>
                          <a:rPr lang="en-US" sz="1600" b="0" i="0" dirty="0" smtClean="0"/>
                          <m:t> (</m:t>
                        </m:r>
                        <m:r>
                          <m:rPr>
                            <m:nor/>
                          </m:rPr>
                          <a:rPr lang="en-US" sz="1600" b="0" i="0" dirty="0" smtClean="0"/>
                          <m:t>P</m:t>
                        </m:r>
                        <m:r>
                          <m:rPr>
                            <m:nor/>
                          </m:rPr>
                          <a:rPr lang="en-US" sz="1600" b="0" i="0" dirty="0" smtClean="0"/>
                          <m:t>)</m:t>
                        </m:r>
                      </m:num>
                      <m:den>
                        <m:r>
                          <m:rPr>
                            <m:nor/>
                          </m:rPr>
                          <a:rPr lang="en-US" sz="1600" dirty="0"/>
                          <m:t>Apparent</m:t>
                        </m:r>
                        <m:r>
                          <m:rPr>
                            <m:nor/>
                          </m:rPr>
                          <a:rPr lang="en-US" sz="1600" dirty="0"/>
                          <m:t> </m:t>
                        </m:r>
                        <m:r>
                          <m:rPr>
                            <m:nor/>
                          </m:rPr>
                          <a:rPr lang="en-US" sz="1600" dirty="0"/>
                          <m:t>Power</m:t>
                        </m:r>
                        <m:r>
                          <m:rPr>
                            <m:nor/>
                          </m:rPr>
                          <a:rPr lang="en-US" sz="1600" b="0" i="0" dirty="0" smtClean="0"/>
                          <m:t> (</m:t>
                        </m:r>
                        <m:r>
                          <m:rPr>
                            <m:nor/>
                          </m:rPr>
                          <a:rPr lang="en-US" sz="1600" b="0" i="0" dirty="0" smtClean="0"/>
                          <m:t>S</m:t>
                        </m:r>
                        <m:r>
                          <m:rPr>
                            <m:nor/>
                          </m:rPr>
                          <a:rPr lang="en-US" sz="1600" b="0" i="0" dirty="0" smtClean="0"/>
                          <m:t>)</m:t>
                        </m:r>
                      </m:den>
                    </m:f>
                    <m:r>
                      <a:rPr lang="en-US" sz="1600" b="0" i="1" dirty="0" smtClean="0">
                        <a:latin typeface="Cambria Math" panose="02040503050406030204" pitchFamily="18" charset="0"/>
                      </a:rPr>
                      <m:t> </m:t>
                    </m:r>
                  </m:oMath>
                </a14:m>
                <a:r>
                  <a:rPr lang="en-IN" sz="1600" kern="100" dirty="0">
                    <a:latin typeface="Verdana" panose="020B0604030504040204" pitchFamily="34" charset="0"/>
                    <a:cs typeface="Segoe UI" panose="020B0502040204020203" pitchFamily="34" charset="0"/>
                  </a:rPr>
                  <a:t>=</a:t>
                </a:r>
                <a:r>
                  <a:rPr lang="en-US" sz="1600" dirty="0"/>
                  <a:t> </a:t>
                </a:r>
                <a14:m>
                  <m:oMath xmlns:m="http://schemas.openxmlformats.org/officeDocument/2006/math">
                    <m:f>
                      <m:fPr>
                        <m:ctrlPr>
                          <a:rPr lang="en-US" sz="1600" i="1">
                            <a:latin typeface="Cambria Math" panose="02040503050406030204" pitchFamily="18" charset="0"/>
                          </a:rPr>
                        </m:ctrlPr>
                      </m:fPr>
                      <m:num>
                        <m:r>
                          <m:rPr>
                            <m:nor/>
                          </m:rPr>
                          <a:rPr lang="en-US" sz="1600" b="0" i="0" smtClean="0">
                            <a:latin typeface="Cambria Math" panose="02040503050406030204" pitchFamily="18" charset="0"/>
                          </a:rPr>
                          <m:t>800</m:t>
                        </m:r>
                      </m:num>
                      <m:den>
                        <m:r>
                          <m:rPr>
                            <m:nor/>
                          </m:rPr>
                          <a:rPr lang="en-US" sz="1600" b="0" i="0" dirty="0" smtClean="0">
                            <a:latin typeface="Cambria Math" panose="02040503050406030204" pitchFamily="18" charset="0"/>
                          </a:rPr>
                          <m:t>1000</m:t>
                        </m:r>
                      </m:den>
                    </m:f>
                    <m:r>
                      <a:rPr lang="en-US" sz="1600" i="1" dirty="0">
                        <a:latin typeface="Cambria Math" panose="02040503050406030204" pitchFamily="18" charset="0"/>
                      </a:rPr>
                      <m:t> </m:t>
                    </m:r>
                  </m:oMath>
                </a14:m>
                <a:r>
                  <a:rPr lang="en-IN" sz="1600" kern="100" dirty="0">
                    <a:latin typeface="Verdana" panose="020B0604030504040204" pitchFamily="34" charset="0"/>
                    <a:cs typeface="Segoe UI" panose="020B0502040204020203" pitchFamily="34" charset="0"/>
                  </a:rPr>
                  <a:t>=0.8</a:t>
                </a:r>
              </a:p>
              <a:p>
                <a:pPr indent="0">
                  <a:lnSpc>
                    <a:spcPct val="100000"/>
                  </a:lnSpc>
                  <a:spcAft>
                    <a:spcPts val="800"/>
                  </a:spcAft>
                  <a:buFont typeface="Arial" panose="020B0604020202020204" pitchFamily="34" charset="0"/>
                  <a:buNone/>
                </a:pPr>
                <a:r>
                  <a:rPr lang="en-IN" sz="1600" kern="100" dirty="0">
                    <a:latin typeface="Verdana" panose="020B0604030504040204" pitchFamily="34" charset="0"/>
                    <a:cs typeface="Segoe UI" panose="020B0502040204020203" pitchFamily="34" charset="0"/>
                  </a:rPr>
                  <a:t>So, the power factor is 0.8 or 80%</a:t>
                </a:r>
              </a:p>
              <a:p>
                <a:endParaRPr lang="en-IN" dirty="0"/>
              </a:p>
            </p:txBody>
          </p:sp>
        </mc:Choice>
        <mc:Fallback xmlns="">
          <p:sp>
            <p:nvSpPr>
              <p:cNvPr id="5" name="Content Placeholder 2">
                <a:extLst>
                  <a:ext uri="{FF2B5EF4-FFF2-40B4-BE49-F238E27FC236}">
                    <a16:creationId xmlns:a16="http://schemas.microsoft.com/office/drawing/2014/main" id="{F42F7B69-A78E-D713-BF6A-323FCE74FEB1}"/>
                  </a:ext>
                </a:extLst>
              </p:cNvPr>
              <p:cNvSpPr txBox="1">
                <a:spLocks noRot="1" noChangeAspect="1" noMove="1" noResize="1" noEditPoints="1" noAdjustHandles="1" noChangeArrowheads="1" noChangeShapeType="1" noTextEdit="1"/>
              </p:cNvSpPr>
              <p:nvPr/>
            </p:nvSpPr>
            <p:spPr>
              <a:xfrm>
                <a:off x="955557" y="1190317"/>
                <a:ext cx="8880380" cy="2987676"/>
              </a:xfrm>
              <a:prstGeom prst="rect">
                <a:avLst/>
              </a:prstGeom>
              <a:blipFill>
                <a:blip r:embed="rId2"/>
                <a:stretch>
                  <a:fillRect l="-412" t="-612"/>
                </a:stretch>
              </a:blipFill>
            </p:spPr>
            <p:txBody>
              <a:bodyPr/>
              <a:lstStyle/>
              <a:p>
                <a:r>
                  <a:rPr lang="en-IN">
                    <a:noFill/>
                  </a:rPr>
                  <a:t> </a:t>
                </a:r>
              </a:p>
            </p:txBody>
          </p:sp>
        </mc:Fallback>
      </mc:AlternateContent>
      <p:sp>
        <p:nvSpPr>
          <p:cNvPr id="6" name="Title 1">
            <a:extLst>
              <a:ext uri="{FF2B5EF4-FFF2-40B4-BE49-F238E27FC236}">
                <a16:creationId xmlns:a16="http://schemas.microsoft.com/office/drawing/2014/main" id="{6E7EADC9-DB92-04F9-A6EB-E254CC96494B}"/>
              </a:ext>
            </a:extLst>
          </p:cNvPr>
          <p:cNvSpPr txBox="1">
            <a:spLocks/>
          </p:cNvSpPr>
          <p:nvPr/>
        </p:nvSpPr>
        <p:spPr>
          <a:xfrm>
            <a:off x="859410" y="3075551"/>
            <a:ext cx="10003809" cy="1470569"/>
          </a:xfrm>
          <a:prstGeom prst="rect">
            <a:avLst/>
          </a:prstGeom>
        </p:spPr>
        <p:txBody>
          <a:bodyPr>
            <a:normAutofit fontScale="975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pPr algn="just">
              <a:lnSpc>
                <a:spcPct val="150000"/>
              </a:lnSpc>
              <a:spcAft>
                <a:spcPts val="800"/>
              </a:spcAft>
              <a:tabLst>
                <a:tab pos="5158740" algn="l"/>
              </a:tabLst>
            </a:pPr>
            <a:r>
              <a:rPr lang="en-IN" sz="1500" b="1" kern="100" dirty="0">
                <a:latin typeface="Verdana" panose="020B0604030504040204" pitchFamily="34" charset="0"/>
                <a:cs typeface="Segoe UI" panose="020B0502040204020203" pitchFamily="34" charset="0"/>
              </a:rPr>
              <a:t>2q) </a:t>
            </a:r>
            <a:r>
              <a:rPr lang="en-IN" sz="1500" kern="100" dirty="0">
                <a:latin typeface="Verdana" panose="020B0604030504040204" pitchFamily="34" charset="0"/>
                <a:cs typeface="Segoe UI" panose="020B0502040204020203" pitchFamily="34" charset="0"/>
              </a:rPr>
              <a:t>A motor has a power factor of 0.9 and an apparent power of 1200 VA. Calculate the real power consumed by the motor.</a:t>
            </a:r>
          </a:p>
        </p:txBody>
      </p:sp>
      <p:sp>
        <p:nvSpPr>
          <p:cNvPr id="7" name="Content Placeholder 2">
            <a:extLst>
              <a:ext uri="{FF2B5EF4-FFF2-40B4-BE49-F238E27FC236}">
                <a16:creationId xmlns:a16="http://schemas.microsoft.com/office/drawing/2014/main" id="{A31067D9-D0EC-08AE-46FB-150A8C33FF9D}"/>
              </a:ext>
            </a:extLst>
          </p:cNvPr>
          <p:cNvSpPr txBox="1">
            <a:spLocks/>
          </p:cNvSpPr>
          <p:nvPr/>
        </p:nvSpPr>
        <p:spPr>
          <a:xfrm>
            <a:off x="955557" y="3832282"/>
            <a:ext cx="8880380" cy="2220397"/>
          </a:xfrm>
          <a:prstGeom prst="rect">
            <a:avLst/>
          </a:prstGeom>
        </p:spPr>
        <p:txBody>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lnSpc>
                <a:spcPct val="100000"/>
              </a:lnSpc>
              <a:buFont typeface="Arial" panose="020B0604020202020204" pitchFamily="34" charset="0"/>
              <a:buNone/>
            </a:pPr>
            <a:r>
              <a:rPr lang="en-IN" sz="1600" kern="100" dirty="0">
                <a:latin typeface="Verdana" panose="020B0604030504040204" pitchFamily="34" charset="0"/>
                <a:ea typeface="Calibri" panose="020F0502020204030204" pitchFamily="34" charset="0"/>
                <a:cs typeface="Segoe UI" panose="020B0502040204020203" pitchFamily="34" charset="0"/>
              </a:rPr>
              <a:t>Sol) 	Power Factor (pf)		=0.9 </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a:p>
            <a:pPr indent="0">
              <a:lnSpc>
                <a:spcPct val="100000"/>
              </a:lnSpc>
              <a:spcAft>
                <a:spcPts val="800"/>
              </a:spcAft>
              <a:buFont typeface="Arial" panose="020B0604020202020204" pitchFamily="34" charset="0"/>
              <a:buNone/>
            </a:pPr>
            <a:r>
              <a:rPr lang="en-IN" sz="1600" kern="100" dirty="0">
                <a:latin typeface="Verdana" panose="020B0604030504040204" pitchFamily="34" charset="0"/>
                <a:ea typeface="Calibri" panose="020F0502020204030204" pitchFamily="34" charset="0"/>
                <a:cs typeface="Segoe UI" panose="020B0502040204020203" pitchFamily="34" charset="0"/>
              </a:rPr>
              <a:t>	Apparent Power (S)	=1200</a:t>
            </a:r>
            <a:r>
              <a:rPr lang="en-IN" sz="1600" kern="100" dirty="0">
                <a:latin typeface="Arial" panose="020B0604020202020204" pitchFamily="34" charset="0"/>
                <a:ea typeface="Calibri" panose="020F0502020204030204" pitchFamily="34" charset="0"/>
                <a:cs typeface="Times New Roman" panose="02020603050405020304" pitchFamily="18" charset="0"/>
              </a:rPr>
              <a:t> </a:t>
            </a:r>
            <a:r>
              <a:rPr lang="en-IN" sz="1600" kern="100" dirty="0">
                <a:latin typeface="Verdana" panose="020B0604030504040204" pitchFamily="34" charset="0"/>
                <a:ea typeface="Calibri" panose="020F0502020204030204" pitchFamily="34" charset="0"/>
                <a:cs typeface="Segoe UI" panose="020B0502040204020203" pitchFamily="34" charset="0"/>
              </a:rPr>
              <a:t>VA</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a:p>
            <a:pPr indent="0">
              <a:lnSpc>
                <a:spcPct val="100000"/>
              </a:lnSpc>
              <a:spcAft>
                <a:spcPts val="800"/>
              </a:spcAft>
              <a:buFont typeface="Arial" panose="020B0604020202020204" pitchFamily="34" charset="0"/>
              <a:buNone/>
            </a:pPr>
            <a:r>
              <a:rPr lang="en-IN" sz="1600" kern="100" dirty="0">
                <a:latin typeface="Verdana" panose="020B0604030504040204" pitchFamily="34" charset="0"/>
                <a:ea typeface="Calibri" panose="020F0502020204030204" pitchFamily="34" charset="0"/>
                <a:cs typeface="Segoe UI" panose="020B0502040204020203" pitchFamily="34" charset="0"/>
              </a:rPr>
              <a:t>	Real Power (P)		= Apparent Power (S) x Power Factor(pf)</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a:p>
            <a:pPr indent="0">
              <a:lnSpc>
                <a:spcPct val="100000"/>
              </a:lnSpc>
              <a:spcAft>
                <a:spcPts val="800"/>
              </a:spcAft>
              <a:buFont typeface="Arial" panose="020B0604020202020204" pitchFamily="34" charset="0"/>
              <a:buNone/>
            </a:pPr>
            <a:r>
              <a:rPr lang="en-IN" sz="1600" kern="100" dirty="0">
                <a:latin typeface="Verdana" panose="020B0604030504040204" pitchFamily="34" charset="0"/>
                <a:ea typeface="Calibri" panose="020F0502020204030204" pitchFamily="34" charset="0"/>
                <a:cs typeface="Segoe UI" panose="020B0502040204020203" pitchFamily="34" charset="0"/>
              </a:rPr>
              <a:t>				= 0.9×1200=1080</a:t>
            </a:r>
            <a:r>
              <a:rPr lang="en-IN" sz="1600" kern="100" dirty="0">
                <a:latin typeface="Arial" panose="020B0604020202020204" pitchFamily="34" charset="0"/>
                <a:ea typeface="Calibri" panose="020F0502020204030204" pitchFamily="34" charset="0"/>
                <a:cs typeface="Times New Roman" panose="02020603050405020304" pitchFamily="18" charset="0"/>
              </a:rPr>
              <a:t> </a:t>
            </a:r>
            <a:r>
              <a:rPr lang="en-IN" sz="1600" kern="100" dirty="0">
                <a:latin typeface="Verdana" panose="020B0604030504040204" pitchFamily="34" charset="0"/>
                <a:ea typeface="Calibri" panose="020F0502020204030204" pitchFamily="34" charset="0"/>
                <a:cs typeface="Segoe UI" panose="020B0502040204020203" pitchFamily="34" charset="0"/>
              </a:rPr>
              <a:t>W </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a:p>
            <a:pPr indent="0">
              <a:lnSpc>
                <a:spcPct val="100000"/>
              </a:lnSpc>
              <a:spcAft>
                <a:spcPts val="800"/>
              </a:spcAft>
              <a:buFont typeface="Arial" panose="020B0604020202020204" pitchFamily="34" charset="0"/>
              <a:buNone/>
            </a:pPr>
            <a:r>
              <a:rPr lang="en-IN" sz="1600" kern="100" dirty="0">
                <a:latin typeface="Verdana" panose="020B0604030504040204" pitchFamily="34" charset="0"/>
                <a:ea typeface="Calibri" panose="020F0502020204030204" pitchFamily="34" charset="0"/>
                <a:cs typeface="Segoe UI" panose="020B0502040204020203" pitchFamily="34" charset="0"/>
              </a:rPr>
              <a:t>So, the real power consumed by the motor is 1080 watts.</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74685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D4EB4-9D8E-2034-5A32-B53025BCD7AF}"/>
            </a:ext>
          </a:extLst>
        </p:cNvPr>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3748803-3F73-C100-B6E6-B533CB32A3B5}"/>
              </a:ext>
            </a:extLst>
          </p:cNvPr>
          <p:cNvSpPr/>
          <p:nvPr/>
        </p:nvSpPr>
        <p:spPr>
          <a:xfrm>
            <a:off x="2750520" y="66009"/>
            <a:ext cx="6863352"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ctr">
              <a:lnSpc>
                <a:spcPct val="100000"/>
              </a:lnSpc>
              <a:spcBef>
                <a:spcPts val="95"/>
              </a:spcBef>
            </a:pPr>
            <a:r>
              <a:rPr lang="en-IN" sz="2400" dirty="0"/>
              <a:t>Concept of Phase angle and Phase difference</a:t>
            </a:r>
          </a:p>
        </p:txBody>
      </p:sp>
      <p:sp>
        <p:nvSpPr>
          <p:cNvPr id="4" name="Rectangle 3">
            <a:extLst>
              <a:ext uri="{FF2B5EF4-FFF2-40B4-BE49-F238E27FC236}">
                <a16:creationId xmlns:a16="http://schemas.microsoft.com/office/drawing/2014/main" id="{EE7D7BD0-A697-E75D-46DE-0A4B695937DD}"/>
              </a:ext>
            </a:extLst>
          </p:cNvPr>
          <p:cNvSpPr/>
          <p:nvPr/>
        </p:nvSpPr>
        <p:spPr>
          <a:xfrm>
            <a:off x="260142" y="519011"/>
            <a:ext cx="11204812" cy="1200329"/>
          </a:xfrm>
          <a:prstGeom prst="rect">
            <a:avLst/>
          </a:prstGeom>
        </p:spPr>
        <p:txBody>
          <a:bodyPr wrap="square">
            <a:spAutoFit/>
          </a:bodyPr>
          <a:lstStyle/>
          <a:p>
            <a:pPr marL="12700">
              <a:lnSpc>
                <a:spcPct val="100000"/>
              </a:lnSpc>
              <a:tabLst>
                <a:tab pos="7879080" algn="l"/>
              </a:tabLst>
            </a:pPr>
            <a:r>
              <a:rPr lang="en-IN" b="1" spc="-5" dirty="0">
                <a:solidFill>
                  <a:schemeClr val="accent2">
                    <a:lumMod val="75000"/>
                  </a:schemeClr>
                </a:solidFill>
                <a:latin typeface="+mj-lt"/>
                <a:cs typeface="Times New Roman"/>
              </a:rPr>
              <a:t>A</a:t>
            </a:r>
            <a:r>
              <a:rPr lang="en-IN" b="1" spc="-114"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phasor</a:t>
            </a:r>
            <a:r>
              <a:rPr lang="en-IN" b="1" spc="10"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diagram</a:t>
            </a:r>
            <a:r>
              <a:rPr lang="en-IN" b="1" spc="20" dirty="0">
                <a:solidFill>
                  <a:schemeClr val="accent2">
                    <a:lumMod val="75000"/>
                  </a:schemeClr>
                </a:solidFill>
                <a:latin typeface="+mj-lt"/>
                <a:cs typeface="Times New Roman"/>
              </a:rPr>
              <a:t> </a:t>
            </a:r>
            <a:r>
              <a:rPr lang="en-IN" b="1" spc="-10" dirty="0">
                <a:solidFill>
                  <a:schemeClr val="accent2">
                    <a:lumMod val="75000"/>
                  </a:schemeClr>
                </a:solidFill>
                <a:latin typeface="+mj-lt"/>
                <a:cs typeface="Times New Roman"/>
              </a:rPr>
              <a:t>can</a:t>
            </a:r>
            <a:r>
              <a:rPr lang="en-IN" b="1" spc="15" dirty="0">
                <a:solidFill>
                  <a:schemeClr val="accent2">
                    <a:lumMod val="75000"/>
                  </a:schemeClr>
                </a:solidFill>
                <a:latin typeface="+mj-lt"/>
                <a:cs typeface="Times New Roman"/>
              </a:rPr>
              <a:t> </a:t>
            </a:r>
            <a:r>
              <a:rPr lang="en-IN" b="1" dirty="0">
                <a:solidFill>
                  <a:schemeClr val="accent2">
                    <a:lumMod val="75000"/>
                  </a:schemeClr>
                </a:solidFill>
                <a:latin typeface="+mj-lt"/>
                <a:cs typeface="Times New Roman"/>
              </a:rPr>
              <a:t>be</a:t>
            </a:r>
            <a:r>
              <a:rPr lang="en-IN" b="1" spc="10"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used</a:t>
            </a:r>
            <a:r>
              <a:rPr lang="en-IN" b="1" spc="10"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to</a:t>
            </a:r>
            <a:r>
              <a:rPr lang="en-IN" b="1" spc="15"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represent</a:t>
            </a:r>
            <a:r>
              <a:rPr lang="en-IN" b="1" spc="25"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a</a:t>
            </a:r>
            <a:r>
              <a:rPr lang="en-IN" b="1" spc="5"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sine</a:t>
            </a:r>
            <a:r>
              <a:rPr lang="en-IN" b="1" spc="10"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wave</a:t>
            </a:r>
            <a:r>
              <a:rPr lang="en-IN" b="1" spc="20"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in</a:t>
            </a:r>
            <a:r>
              <a:rPr lang="en-IN" b="1" spc="5" dirty="0">
                <a:solidFill>
                  <a:schemeClr val="accent2">
                    <a:lumMod val="75000"/>
                  </a:schemeClr>
                </a:solidFill>
                <a:latin typeface="+mj-lt"/>
                <a:cs typeface="Times New Roman"/>
              </a:rPr>
              <a:t> </a:t>
            </a:r>
            <a:r>
              <a:rPr lang="en-IN" b="1" spc="-10" dirty="0">
                <a:solidFill>
                  <a:schemeClr val="accent2">
                    <a:lumMod val="75000"/>
                  </a:schemeClr>
                </a:solidFill>
                <a:latin typeface="+mj-lt"/>
                <a:cs typeface="Times New Roman"/>
              </a:rPr>
              <a:t>terms</a:t>
            </a:r>
            <a:r>
              <a:rPr lang="en-IN" b="1" spc="35" dirty="0">
                <a:solidFill>
                  <a:schemeClr val="accent2">
                    <a:lumMod val="75000"/>
                  </a:schemeClr>
                </a:solidFill>
                <a:latin typeface="+mj-lt"/>
                <a:cs typeface="Times New Roman"/>
              </a:rPr>
              <a:t> </a:t>
            </a:r>
            <a:r>
              <a:rPr lang="en-IN" b="1" dirty="0">
                <a:solidFill>
                  <a:schemeClr val="accent2">
                    <a:lumMod val="75000"/>
                  </a:schemeClr>
                </a:solidFill>
                <a:latin typeface="+mj-lt"/>
                <a:cs typeface="Times New Roman"/>
              </a:rPr>
              <a:t>of</a:t>
            </a:r>
            <a:r>
              <a:rPr lang="en-IN" b="1" spc="10"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its magnitude</a:t>
            </a:r>
            <a:r>
              <a:rPr lang="en-IN" b="1" spc="10"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and</a:t>
            </a:r>
            <a:r>
              <a:rPr lang="en-IN" b="1" spc="-15"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angular </a:t>
            </a:r>
            <a:r>
              <a:rPr lang="en-IN" b="1" dirty="0">
                <a:solidFill>
                  <a:schemeClr val="accent2">
                    <a:lumMod val="75000"/>
                  </a:schemeClr>
                </a:solidFill>
                <a:latin typeface="+mj-lt"/>
                <a:cs typeface="Times New Roman"/>
              </a:rPr>
              <a:t>position.</a:t>
            </a:r>
          </a:p>
          <a:p>
            <a:pPr>
              <a:lnSpc>
                <a:spcPct val="100000"/>
              </a:lnSpc>
            </a:pPr>
            <a:endParaRPr lang="en-IN" b="1" dirty="0">
              <a:solidFill>
                <a:schemeClr val="accent2">
                  <a:lumMod val="75000"/>
                </a:schemeClr>
              </a:solidFill>
              <a:latin typeface="+mj-lt"/>
              <a:cs typeface="Times New Roman"/>
            </a:endParaRPr>
          </a:p>
          <a:p>
            <a:pPr marL="12700" marR="5080" algn="just">
              <a:lnSpc>
                <a:spcPct val="100000"/>
              </a:lnSpc>
            </a:pPr>
            <a:r>
              <a:rPr lang="en-IN" b="1" spc="-5" dirty="0">
                <a:solidFill>
                  <a:schemeClr val="accent2">
                    <a:lumMod val="75000"/>
                  </a:schemeClr>
                </a:solidFill>
                <a:latin typeface="+mj-lt"/>
                <a:cs typeface="Times New Roman"/>
              </a:rPr>
              <a:t>The</a:t>
            </a:r>
            <a:r>
              <a:rPr lang="en-IN" b="1" spc="140"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length</a:t>
            </a:r>
            <a:r>
              <a:rPr lang="en-IN" b="1" spc="150" dirty="0">
                <a:solidFill>
                  <a:schemeClr val="accent2">
                    <a:lumMod val="75000"/>
                  </a:schemeClr>
                </a:solidFill>
                <a:latin typeface="+mj-lt"/>
                <a:cs typeface="Times New Roman"/>
              </a:rPr>
              <a:t> </a:t>
            </a:r>
            <a:r>
              <a:rPr lang="en-IN" b="1" dirty="0">
                <a:solidFill>
                  <a:schemeClr val="accent2">
                    <a:lumMod val="75000"/>
                  </a:schemeClr>
                </a:solidFill>
                <a:latin typeface="+mj-lt"/>
                <a:cs typeface="Times New Roman"/>
              </a:rPr>
              <a:t>of</a:t>
            </a:r>
            <a:r>
              <a:rPr lang="en-IN" b="1" spc="130"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the</a:t>
            </a:r>
            <a:r>
              <a:rPr lang="en-IN" b="1" spc="140"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arrow</a:t>
            </a:r>
            <a:r>
              <a:rPr lang="en-IN" b="1" spc="140" dirty="0">
                <a:solidFill>
                  <a:schemeClr val="accent2">
                    <a:lumMod val="75000"/>
                  </a:schemeClr>
                </a:solidFill>
                <a:latin typeface="+mj-lt"/>
                <a:cs typeface="Times New Roman"/>
              </a:rPr>
              <a:t> </a:t>
            </a:r>
            <a:r>
              <a:rPr lang="en-IN" b="1" dirty="0">
                <a:solidFill>
                  <a:schemeClr val="accent2">
                    <a:lumMod val="75000"/>
                  </a:schemeClr>
                </a:solidFill>
                <a:latin typeface="+mj-lt"/>
                <a:cs typeface="Times New Roman"/>
              </a:rPr>
              <a:t>represents</a:t>
            </a:r>
            <a:r>
              <a:rPr lang="en-IN" b="1" spc="130"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the</a:t>
            </a:r>
            <a:r>
              <a:rPr lang="en-IN" b="1" spc="130"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magnitude</a:t>
            </a:r>
            <a:r>
              <a:rPr lang="en-IN" b="1" spc="155" dirty="0">
                <a:solidFill>
                  <a:schemeClr val="accent2">
                    <a:lumMod val="75000"/>
                  </a:schemeClr>
                </a:solidFill>
                <a:latin typeface="+mj-lt"/>
                <a:cs typeface="Times New Roman"/>
              </a:rPr>
              <a:t> </a:t>
            </a:r>
            <a:r>
              <a:rPr lang="en-IN" b="1" dirty="0">
                <a:solidFill>
                  <a:schemeClr val="accent2">
                    <a:lumMod val="75000"/>
                  </a:schemeClr>
                </a:solidFill>
                <a:latin typeface="+mj-lt"/>
                <a:cs typeface="Times New Roman"/>
              </a:rPr>
              <a:t>of</a:t>
            </a:r>
            <a:r>
              <a:rPr lang="en-IN" b="1" spc="140"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the</a:t>
            </a:r>
            <a:r>
              <a:rPr lang="en-IN" b="1" spc="135"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sine</a:t>
            </a:r>
            <a:r>
              <a:rPr lang="en-IN" b="1" spc="145" dirty="0">
                <a:solidFill>
                  <a:schemeClr val="accent2">
                    <a:lumMod val="75000"/>
                  </a:schemeClr>
                </a:solidFill>
                <a:latin typeface="+mj-lt"/>
                <a:cs typeface="Times New Roman"/>
              </a:rPr>
              <a:t> </a:t>
            </a:r>
            <a:r>
              <a:rPr lang="en-IN" b="1" spc="-10" dirty="0">
                <a:solidFill>
                  <a:schemeClr val="accent2">
                    <a:lumMod val="75000"/>
                  </a:schemeClr>
                </a:solidFill>
                <a:latin typeface="+mj-lt"/>
                <a:cs typeface="Times New Roman"/>
              </a:rPr>
              <a:t>wave</a:t>
            </a:r>
            <a:r>
              <a:rPr lang="en-IN" b="1" spc="140"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and</a:t>
            </a:r>
            <a:r>
              <a:rPr lang="en-IN" b="1" spc="150"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angle</a:t>
            </a:r>
            <a:r>
              <a:rPr lang="en-IN" b="1" spc="125"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θ</a:t>
            </a:r>
            <a:r>
              <a:rPr lang="en-IN" b="1" spc="135"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represents</a:t>
            </a:r>
            <a:r>
              <a:rPr lang="en-IN" b="1" spc="145"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the</a:t>
            </a:r>
            <a:r>
              <a:rPr lang="en-IN" b="1" spc="140"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angular </a:t>
            </a:r>
            <a:r>
              <a:rPr lang="en-IN" b="1" spc="-535"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position</a:t>
            </a:r>
            <a:r>
              <a:rPr lang="en-IN" b="1" spc="-15" dirty="0">
                <a:solidFill>
                  <a:schemeClr val="accent2">
                    <a:lumMod val="75000"/>
                  </a:schemeClr>
                </a:solidFill>
                <a:latin typeface="+mj-lt"/>
                <a:cs typeface="Times New Roman"/>
              </a:rPr>
              <a:t> </a:t>
            </a:r>
            <a:r>
              <a:rPr lang="en-IN" b="1" dirty="0">
                <a:solidFill>
                  <a:schemeClr val="accent2">
                    <a:lumMod val="75000"/>
                  </a:schemeClr>
                </a:solidFill>
                <a:latin typeface="+mj-lt"/>
                <a:cs typeface="Times New Roman"/>
              </a:rPr>
              <a:t>of </a:t>
            </a:r>
            <a:r>
              <a:rPr lang="en-IN" b="1" spc="-5" dirty="0">
                <a:solidFill>
                  <a:schemeClr val="accent2">
                    <a:lumMod val="75000"/>
                  </a:schemeClr>
                </a:solidFill>
                <a:latin typeface="+mj-lt"/>
                <a:cs typeface="Times New Roman"/>
              </a:rPr>
              <a:t>the</a:t>
            </a:r>
            <a:r>
              <a:rPr lang="en-IN" b="1"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sine</a:t>
            </a:r>
            <a:r>
              <a:rPr lang="en-IN" b="1" dirty="0">
                <a:solidFill>
                  <a:schemeClr val="accent2">
                    <a:lumMod val="75000"/>
                  </a:schemeClr>
                </a:solidFill>
                <a:latin typeface="+mj-lt"/>
                <a:cs typeface="Times New Roman"/>
              </a:rPr>
              <a:t> </a:t>
            </a:r>
            <a:r>
              <a:rPr lang="en-IN" b="1" spc="-5" dirty="0">
                <a:solidFill>
                  <a:schemeClr val="accent2">
                    <a:lumMod val="75000"/>
                  </a:schemeClr>
                </a:solidFill>
                <a:latin typeface="+mj-lt"/>
                <a:cs typeface="Times New Roman"/>
              </a:rPr>
              <a:t>wave.</a:t>
            </a:r>
            <a:endParaRPr lang="en-IN" b="1" dirty="0">
              <a:solidFill>
                <a:schemeClr val="accent2">
                  <a:lumMod val="75000"/>
                </a:schemeClr>
              </a:solidFill>
              <a:latin typeface="+mj-lt"/>
              <a:cs typeface="Times New Roman"/>
            </a:endParaRPr>
          </a:p>
        </p:txBody>
      </p:sp>
      <p:grpSp>
        <p:nvGrpSpPr>
          <p:cNvPr id="8" name="object 4">
            <a:extLst>
              <a:ext uri="{FF2B5EF4-FFF2-40B4-BE49-F238E27FC236}">
                <a16:creationId xmlns:a16="http://schemas.microsoft.com/office/drawing/2014/main" id="{13479B82-4A23-D1ED-5D4D-8C0321806E89}"/>
              </a:ext>
            </a:extLst>
          </p:cNvPr>
          <p:cNvGrpSpPr/>
          <p:nvPr/>
        </p:nvGrpSpPr>
        <p:grpSpPr>
          <a:xfrm>
            <a:off x="592757" y="1819689"/>
            <a:ext cx="4804735" cy="1718433"/>
            <a:chOff x="317014" y="3210245"/>
            <a:chExt cx="5090034" cy="1406957"/>
          </a:xfrm>
        </p:grpSpPr>
        <p:pic>
          <p:nvPicPr>
            <p:cNvPr id="9" name="object 5">
              <a:extLst>
                <a:ext uri="{FF2B5EF4-FFF2-40B4-BE49-F238E27FC236}">
                  <a16:creationId xmlns:a16="http://schemas.microsoft.com/office/drawing/2014/main" id="{673B0D05-DDCC-231F-31EC-3A2F2D71834A}"/>
                </a:ext>
              </a:extLst>
            </p:cNvPr>
            <p:cNvPicPr/>
            <p:nvPr/>
          </p:nvPicPr>
          <p:blipFill>
            <a:blip r:embed="rId2" cstate="print"/>
            <a:stretch>
              <a:fillRect/>
            </a:stretch>
          </p:blipFill>
          <p:spPr>
            <a:xfrm>
              <a:off x="317014" y="3213462"/>
              <a:ext cx="2496289" cy="1389017"/>
            </a:xfrm>
            <a:prstGeom prst="rect">
              <a:avLst/>
            </a:prstGeom>
          </p:spPr>
        </p:pic>
        <p:pic>
          <p:nvPicPr>
            <p:cNvPr id="10" name="object 6">
              <a:extLst>
                <a:ext uri="{FF2B5EF4-FFF2-40B4-BE49-F238E27FC236}">
                  <a16:creationId xmlns:a16="http://schemas.microsoft.com/office/drawing/2014/main" id="{68E74772-7FEC-1BCD-8BE5-A43286D3AB5C}"/>
                </a:ext>
              </a:extLst>
            </p:cNvPr>
            <p:cNvPicPr/>
            <p:nvPr/>
          </p:nvPicPr>
          <p:blipFill>
            <a:blip r:embed="rId3" cstate="print"/>
            <a:stretch>
              <a:fillRect/>
            </a:stretch>
          </p:blipFill>
          <p:spPr>
            <a:xfrm>
              <a:off x="2986936" y="3210245"/>
              <a:ext cx="2420112" cy="1406957"/>
            </a:xfrm>
            <a:prstGeom prst="rect">
              <a:avLst/>
            </a:prstGeom>
          </p:spPr>
        </p:pic>
      </p:grpSp>
      <p:sp>
        <p:nvSpPr>
          <p:cNvPr id="11" name="object 7">
            <a:extLst>
              <a:ext uri="{FF2B5EF4-FFF2-40B4-BE49-F238E27FC236}">
                <a16:creationId xmlns:a16="http://schemas.microsoft.com/office/drawing/2014/main" id="{2D142D4C-70E6-BD9F-1A59-52DFC402E6FC}"/>
              </a:ext>
            </a:extLst>
          </p:cNvPr>
          <p:cNvSpPr txBox="1"/>
          <p:nvPr/>
        </p:nvSpPr>
        <p:spPr>
          <a:xfrm>
            <a:off x="1123909" y="3549089"/>
            <a:ext cx="688340" cy="435609"/>
          </a:xfrm>
          <a:prstGeom prst="rect">
            <a:avLst/>
          </a:prstGeom>
        </p:spPr>
        <p:txBody>
          <a:bodyPr vert="horz" wrap="square" lIns="0" tIns="17780" rIns="0" bIns="0" rtlCol="0">
            <a:spAutoFit/>
          </a:bodyPr>
          <a:lstStyle/>
          <a:p>
            <a:pPr marL="12700">
              <a:lnSpc>
                <a:spcPct val="100000"/>
              </a:lnSpc>
              <a:spcBef>
                <a:spcPts val="140"/>
              </a:spcBef>
            </a:pPr>
            <a:r>
              <a:rPr sz="2550" spc="-150" dirty="0">
                <a:latin typeface="Times New Roman"/>
                <a:cs typeface="Times New Roman"/>
              </a:rPr>
              <a:t>1</a:t>
            </a:r>
            <a:r>
              <a:rPr sz="2550" spc="-150" dirty="0">
                <a:latin typeface="Symbol"/>
                <a:cs typeface="Symbol"/>
              </a:rPr>
              <a:t></a:t>
            </a:r>
            <a:r>
              <a:rPr sz="2650" spc="-150" dirty="0">
                <a:latin typeface="Symbol"/>
                <a:cs typeface="Symbol"/>
              </a:rPr>
              <a:t></a:t>
            </a:r>
            <a:endParaRPr sz="2650" dirty="0">
              <a:latin typeface="Symbol"/>
              <a:cs typeface="Symbol"/>
            </a:endParaRPr>
          </a:p>
        </p:txBody>
      </p:sp>
      <p:sp>
        <p:nvSpPr>
          <p:cNvPr id="12" name="object 8">
            <a:extLst>
              <a:ext uri="{FF2B5EF4-FFF2-40B4-BE49-F238E27FC236}">
                <a16:creationId xmlns:a16="http://schemas.microsoft.com/office/drawing/2014/main" id="{462EE8E3-DF42-0B12-AD5E-B4031FF10F91}"/>
              </a:ext>
            </a:extLst>
          </p:cNvPr>
          <p:cNvSpPr txBox="1"/>
          <p:nvPr/>
        </p:nvSpPr>
        <p:spPr>
          <a:xfrm>
            <a:off x="3813617" y="3549089"/>
            <a:ext cx="883285" cy="415290"/>
          </a:xfrm>
          <a:prstGeom prst="rect">
            <a:avLst/>
          </a:prstGeom>
        </p:spPr>
        <p:txBody>
          <a:bodyPr vert="horz" wrap="square" lIns="0" tIns="13335" rIns="0" bIns="0" rtlCol="0">
            <a:spAutoFit/>
          </a:bodyPr>
          <a:lstStyle/>
          <a:p>
            <a:pPr marL="38100">
              <a:lnSpc>
                <a:spcPct val="100000"/>
              </a:lnSpc>
              <a:spcBef>
                <a:spcPts val="105"/>
              </a:spcBef>
            </a:pPr>
            <a:r>
              <a:rPr sz="2550" spc="-40" dirty="0">
                <a:latin typeface="Times New Roman"/>
                <a:cs typeface="Times New Roman"/>
              </a:rPr>
              <a:t>1</a:t>
            </a:r>
            <a:r>
              <a:rPr sz="2550" spc="-40" dirty="0">
                <a:latin typeface="Symbol"/>
                <a:cs typeface="Symbol"/>
              </a:rPr>
              <a:t></a:t>
            </a:r>
            <a:r>
              <a:rPr sz="2550" spc="-40" dirty="0">
                <a:latin typeface="Times New Roman"/>
                <a:cs typeface="Times New Roman"/>
              </a:rPr>
              <a:t>30</a:t>
            </a:r>
            <a:r>
              <a:rPr sz="2250" spc="-60" baseline="42592" dirty="0">
                <a:latin typeface="Times New Roman"/>
                <a:cs typeface="Times New Roman"/>
              </a:rPr>
              <a:t>0</a:t>
            </a:r>
            <a:endParaRPr sz="2250" baseline="42592" dirty="0">
              <a:latin typeface="Times New Roman"/>
              <a:cs typeface="Times New Roman"/>
            </a:endParaRPr>
          </a:p>
        </p:txBody>
      </p:sp>
      <p:pic>
        <p:nvPicPr>
          <p:cNvPr id="13" name="object 9">
            <a:extLst>
              <a:ext uri="{FF2B5EF4-FFF2-40B4-BE49-F238E27FC236}">
                <a16:creationId xmlns:a16="http://schemas.microsoft.com/office/drawing/2014/main" id="{66D9C8CE-E65D-5896-9E44-7450DD0C56C8}"/>
              </a:ext>
            </a:extLst>
          </p:cNvPr>
          <p:cNvPicPr/>
          <p:nvPr/>
        </p:nvPicPr>
        <p:blipFill>
          <a:blip r:embed="rId4" cstate="print"/>
          <a:stretch>
            <a:fillRect/>
          </a:stretch>
        </p:blipFill>
        <p:spPr>
          <a:xfrm>
            <a:off x="5980922" y="1740569"/>
            <a:ext cx="2169449" cy="1797553"/>
          </a:xfrm>
          <a:prstGeom prst="rect">
            <a:avLst/>
          </a:prstGeom>
        </p:spPr>
      </p:pic>
      <p:sp>
        <p:nvSpPr>
          <p:cNvPr id="14" name="object 10">
            <a:extLst>
              <a:ext uri="{FF2B5EF4-FFF2-40B4-BE49-F238E27FC236}">
                <a16:creationId xmlns:a16="http://schemas.microsoft.com/office/drawing/2014/main" id="{1763F962-E77C-FE74-8815-0B0D7E772157}"/>
              </a:ext>
            </a:extLst>
          </p:cNvPr>
          <p:cNvSpPr txBox="1"/>
          <p:nvPr/>
        </p:nvSpPr>
        <p:spPr>
          <a:xfrm>
            <a:off x="6515274" y="3502740"/>
            <a:ext cx="1331881" cy="443711"/>
          </a:xfrm>
          <a:prstGeom prst="rect">
            <a:avLst/>
          </a:prstGeom>
        </p:spPr>
        <p:txBody>
          <a:bodyPr vert="horz" wrap="square" lIns="0" tIns="12700" rIns="0" bIns="0" rtlCol="0">
            <a:spAutoFit/>
          </a:bodyPr>
          <a:lstStyle/>
          <a:p>
            <a:pPr marL="38100">
              <a:lnSpc>
                <a:spcPct val="100000"/>
              </a:lnSpc>
              <a:spcBef>
                <a:spcPts val="100"/>
              </a:spcBef>
            </a:pPr>
            <a:r>
              <a:rPr sz="2550" spc="-40" dirty="0">
                <a:latin typeface="Times New Roman"/>
                <a:cs typeface="Times New Roman"/>
              </a:rPr>
              <a:t>4∠135</a:t>
            </a:r>
            <a:r>
              <a:rPr lang="en-IN" sz="2800" spc="-60" baseline="42592" dirty="0">
                <a:latin typeface="Times New Roman"/>
                <a:cs typeface="Times New Roman"/>
              </a:rPr>
              <a:t>0</a:t>
            </a:r>
            <a:endParaRPr sz="2550" spc="-40" dirty="0">
              <a:latin typeface="Times New Roman"/>
              <a:cs typeface="Times New Roman"/>
            </a:endParaRPr>
          </a:p>
        </p:txBody>
      </p:sp>
      <p:pic>
        <p:nvPicPr>
          <p:cNvPr id="15" name="object 11">
            <a:extLst>
              <a:ext uri="{FF2B5EF4-FFF2-40B4-BE49-F238E27FC236}">
                <a16:creationId xmlns:a16="http://schemas.microsoft.com/office/drawing/2014/main" id="{2038421C-093C-7CC7-A648-8D9A9F3BB7DD}"/>
              </a:ext>
            </a:extLst>
          </p:cNvPr>
          <p:cNvPicPr/>
          <p:nvPr/>
        </p:nvPicPr>
        <p:blipFill>
          <a:blip r:embed="rId5" cstate="print"/>
          <a:stretch>
            <a:fillRect/>
          </a:stretch>
        </p:blipFill>
        <p:spPr>
          <a:xfrm>
            <a:off x="8659156" y="1648028"/>
            <a:ext cx="2403607" cy="1879006"/>
          </a:xfrm>
          <a:prstGeom prst="rect">
            <a:avLst/>
          </a:prstGeom>
        </p:spPr>
      </p:pic>
      <p:sp>
        <p:nvSpPr>
          <p:cNvPr id="16" name="object 12">
            <a:extLst>
              <a:ext uri="{FF2B5EF4-FFF2-40B4-BE49-F238E27FC236}">
                <a16:creationId xmlns:a16="http://schemas.microsoft.com/office/drawing/2014/main" id="{90CB0A5F-5F42-4DAF-2411-E65AE3D67D4C}"/>
              </a:ext>
            </a:extLst>
          </p:cNvPr>
          <p:cNvSpPr txBox="1"/>
          <p:nvPr/>
        </p:nvSpPr>
        <p:spPr>
          <a:xfrm>
            <a:off x="9314872" y="3502739"/>
            <a:ext cx="1423195" cy="443711"/>
          </a:xfrm>
          <a:prstGeom prst="rect">
            <a:avLst/>
          </a:prstGeom>
        </p:spPr>
        <p:txBody>
          <a:bodyPr vert="horz" wrap="square" lIns="0" tIns="12700" rIns="0" bIns="0" rtlCol="0">
            <a:spAutoFit/>
          </a:bodyPr>
          <a:lstStyle/>
          <a:p>
            <a:pPr marL="38100">
              <a:lnSpc>
                <a:spcPct val="100000"/>
              </a:lnSpc>
              <a:spcBef>
                <a:spcPts val="100"/>
              </a:spcBef>
            </a:pPr>
            <a:r>
              <a:rPr sz="2550" spc="-40" dirty="0">
                <a:latin typeface="Times New Roman"/>
                <a:cs typeface="Times New Roman"/>
              </a:rPr>
              <a:t>3∠225</a:t>
            </a:r>
            <a:r>
              <a:rPr lang="en-IN" sz="2800" spc="-60" baseline="42592" dirty="0">
                <a:latin typeface="Times New Roman"/>
                <a:cs typeface="Times New Roman"/>
              </a:rPr>
              <a:t>0</a:t>
            </a:r>
            <a:endParaRPr sz="2550" spc="-40" dirty="0">
              <a:latin typeface="Times New Roman"/>
              <a:cs typeface="Times New Roman"/>
            </a:endParaRPr>
          </a:p>
        </p:txBody>
      </p:sp>
      <p:sp>
        <p:nvSpPr>
          <p:cNvPr id="26" name="TextBox 25"/>
          <p:cNvSpPr txBox="1"/>
          <p:nvPr/>
        </p:nvSpPr>
        <p:spPr>
          <a:xfrm>
            <a:off x="5812125" y="4118622"/>
            <a:ext cx="3646819" cy="584775"/>
          </a:xfrm>
          <a:prstGeom prst="rect">
            <a:avLst/>
          </a:prstGeom>
          <a:noFill/>
        </p:spPr>
        <p:txBody>
          <a:bodyPr wrap="square" rtlCol="0">
            <a:spAutoFit/>
          </a:bodyPr>
          <a:lstStyle/>
          <a:p>
            <a:pPr marL="38100">
              <a:lnSpc>
                <a:spcPct val="100000"/>
              </a:lnSpc>
              <a:spcBef>
                <a:spcPts val="95"/>
              </a:spcBef>
              <a:tabLst>
                <a:tab pos="364490" algn="l"/>
              </a:tabLst>
            </a:pPr>
            <a:r>
              <a:rPr lang="en-IN" sz="2800" i="1" dirty="0" err="1">
                <a:latin typeface="Times New Roman"/>
                <a:cs typeface="Times New Roman"/>
              </a:rPr>
              <a:t>v</a:t>
            </a:r>
            <a:r>
              <a:rPr lang="en-IN" sz="1600" i="1" dirty="0" err="1">
                <a:latin typeface="Times New Roman"/>
                <a:cs typeface="Times New Roman"/>
              </a:rPr>
              <a:t>A</a:t>
            </a:r>
            <a:r>
              <a:rPr lang="en-IN" sz="2800" spc="-15" dirty="0">
                <a:latin typeface="Times New Roman"/>
                <a:cs typeface="Times New Roman"/>
              </a:rPr>
              <a:t>(</a:t>
            </a:r>
            <a:r>
              <a:rPr lang="en-IN" sz="2800" i="1" spc="175" dirty="0">
                <a:latin typeface="Times New Roman"/>
                <a:cs typeface="Times New Roman"/>
              </a:rPr>
              <a:t>t</a:t>
            </a:r>
            <a:r>
              <a:rPr lang="en-IN" sz="2800" dirty="0">
                <a:latin typeface="Times New Roman"/>
                <a:cs typeface="Times New Roman"/>
              </a:rPr>
              <a:t>)</a:t>
            </a:r>
            <a:r>
              <a:rPr lang="en-IN" sz="2800" spc="-60" dirty="0">
                <a:latin typeface="Times New Roman"/>
                <a:cs typeface="Times New Roman"/>
              </a:rPr>
              <a:t> </a:t>
            </a:r>
            <a:r>
              <a:rPr lang="en-IN" sz="2800" dirty="0">
                <a:latin typeface="Symbol"/>
                <a:cs typeface="Symbol"/>
              </a:rPr>
              <a:t></a:t>
            </a:r>
            <a:r>
              <a:rPr lang="en-IN" sz="2800" spc="-350" dirty="0">
                <a:latin typeface="Times New Roman"/>
                <a:cs typeface="Times New Roman"/>
              </a:rPr>
              <a:t> </a:t>
            </a:r>
            <a:r>
              <a:rPr lang="en-IN" sz="2800" spc="-5" dirty="0">
                <a:latin typeface="Times New Roman"/>
                <a:cs typeface="Times New Roman"/>
              </a:rPr>
              <a:t>7</a:t>
            </a:r>
            <a:r>
              <a:rPr lang="en-IN" sz="2800" spc="-425" dirty="0">
                <a:latin typeface="Times New Roman"/>
                <a:cs typeface="Times New Roman"/>
              </a:rPr>
              <a:t> </a:t>
            </a:r>
            <a:r>
              <a:rPr lang="en-IN" sz="2800" dirty="0">
                <a:latin typeface="Times New Roman"/>
                <a:cs typeface="Times New Roman"/>
              </a:rPr>
              <a:t>sin</a:t>
            </a:r>
            <a:r>
              <a:rPr lang="en-IN" sz="2800" spc="-290" dirty="0">
                <a:latin typeface="Times New Roman"/>
                <a:cs typeface="Times New Roman"/>
              </a:rPr>
              <a:t>(</a:t>
            </a:r>
            <a:r>
              <a:rPr lang="en-IN" sz="3200" spc="-1015" dirty="0">
                <a:latin typeface="Symbol"/>
                <a:cs typeface="Symbol"/>
              </a:rPr>
              <a:t></a:t>
            </a:r>
            <a:r>
              <a:rPr lang="en-IN" sz="2800" i="1" spc="-80" dirty="0">
                <a:latin typeface="Times New Roman"/>
                <a:cs typeface="Times New Roman"/>
              </a:rPr>
              <a:t>  t</a:t>
            </a:r>
            <a:r>
              <a:rPr lang="en-IN" sz="2800" dirty="0">
                <a:latin typeface="Times New Roman"/>
                <a:cs typeface="Times New Roman"/>
              </a:rPr>
              <a:t>)</a:t>
            </a:r>
          </a:p>
        </p:txBody>
      </p:sp>
      <p:pic>
        <p:nvPicPr>
          <p:cNvPr id="17" name="object 8"/>
          <p:cNvPicPr/>
          <p:nvPr/>
        </p:nvPicPr>
        <p:blipFill>
          <a:blip r:embed="rId6" cstate="print"/>
          <a:stretch>
            <a:fillRect/>
          </a:stretch>
        </p:blipFill>
        <p:spPr>
          <a:xfrm>
            <a:off x="2750520" y="3984699"/>
            <a:ext cx="3061605" cy="2124372"/>
          </a:xfrm>
          <a:prstGeom prst="rect">
            <a:avLst/>
          </a:prstGeom>
        </p:spPr>
      </p:pic>
      <p:sp>
        <p:nvSpPr>
          <p:cNvPr id="18" name="object 15"/>
          <p:cNvSpPr txBox="1"/>
          <p:nvPr/>
        </p:nvSpPr>
        <p:spPr>
          <a:xfrm>
            <a:off x="5926707" y="4561749"/>
            <a:ext cx="3417657" cy="450764"/>
          </a:xfrm>
          <a:prstGeom prst="rect">
            <a:avLst/>
          </a:prstGeom>
        </p:spPr>
        <p:txBody>
          <a:bodyPr vert="horz" wrap="square" lIns="0" tIns="12065" rIns="0" bIns="0" rtlCol="0">
            <a:spAutoFit/>
          </a:bodyPr>
          <a:lstStyle/>
          <a:p>
            <a:pPr marL="38100">
              <a:lnSpc>
                <a:spcPct val="100000"/>
              </a:lnSpc>
              <a:spcBef>
                <a:spcPts val="95"/>
              </a:spcBef>
              <a:tabLst>
                <a:tab pos="364490" algn="l"/>
              </a:tabLst>
            </a:pPr>
            <a:r>
              <a:rPr sz="2700" i="1" dirty="0">
                <a:latin typeface="Times New Roman"/>
                <a:cs typeface="Times New Roman"/>
              </a:rPr>
              <a:t>v</a:t>
            </a:r>
            <a:r>
              <a:rPr lang="en-IN" sz="1200" i="1" dirty="0">
                <a:latin typeface="Times New Roman"/>
                <a:cs typeface="Times New Roman"/>
              </a:rPr>
              <a:t>B</a:t>
            </a:r>
            <a:r>
              <a:rPr sz="2700" spc="-15" dirty="0">
                <a:latin typeface="Times New Roman"/>
                <a:cs typeface="Times New Roman"/>
              </a:rPr>
              <a:t>(</a:t>
            </a:r>
            <a:r>
              <a:rPr sz="2700" i="1" spc="175" dirty="0">
                <a:latin typeface="Times New Roman"/>
                <a:cs typeface="Times New Roman"/>
              </a:rPr>
              <a:t>t</a:t>
            </a:r>
            <a:r>
              <a:rPr sz="2700" dirty="0">
                <a:latin typeface="Times New Roman"/>
                <a:cs typeface="Times New Roman"/>
              </a:rPr>
              <a:t>)</a:t>
            </a:r>
            <a:r>
              <a:rPr sz="2700" spc="-60" dirty="0">
                <a:latin typeface="Times New Roman"/>
                <a:cs typeface="Times New Roman"/>
              </a:rPr>
              <a:t> </a:t>
            </a:r>
            <a:r>
              <a:rPr sz="2700" dirty="0">
                <a:latin typeface="Symbol"/>
                <a:cs typeface="Symbol"/>
              </a:rPr>
              <a:t></a:t>
            </a:r>
            <a:r>
              <a:rPr sz="2700" spc="-350" dirty="0">
                <a:latin typeface="Times New Roman"/>
                <a:cs typeface="Times New Roman"/>
              </a:rPr>
              <a:t> </a:t>
            </a:r>
            <a:r>
              <a:rPr sz="2700" spc="-5" dirty="0">
                <a:latin typeface="Times New Roman"/>
                <a:cs typeface="Times New Roman"/>
              </a:rPr>
              <a:t>1</a:t>
            </a:r>
            <a:r>
              <a:rPr sz="2700" dirty="0">
                <a:latin typeface="Times New Roman"/>
                <a:cs typeface="Times New Roman"/>
              </a:rPr>
              <a:t>0</a:t>
            </a:r>
            <a:r>
              <a:rPr sz="2700" spc="-425" dirty="0">
                <a:latin typeface="Times New Roman"/>
                <a:cs typeface="Times New Roman"/>
              </a:rPr>
              <a:t> </a:t>
            </a:r>
            <a:r>
              <a:rPr sz="2700" dirty="0">
                <a:latin typeface="Times New Roman"/>
                <a:cs typeface="Times New Roman"/>
              </a:rPr>
              <a:t>sin</a:t>
            </a:r>
            <a:r>
              <a:rPr sz="2700" spc="-290" dirty="0">
                <a:latin typeface="Times New Roman"/>
                <a:cs typeface="Times New Roman"/>
              </a:rPr>
              <a:t>(</a:t>
            </a:r>
            <a:r>
              <a:rPr sz="2850" spc="-1015" dirty="0">
                <a:latin typeface="Symbol"/>
                <a:cs typeface="Symbol"/>
              </a:rPr>
              <a:t></a:t>
            </a:r>
            <a:r>
              <a:rPr sz="2700" i="1" spc="-80" dirty="0">
                <a:latin typeface="Times New Roman"/>
                <a:cs typeface="Times New Roman"/>
              </a:rPr>
              <a:t> </a:t>
            </a:r>
            <a:r>
              <a:rPr lang="en-IN" sz="2700" i="1" spc="-80" dirty="0">
                <a:latin typeface="Times New Roman"/>
                <a:cs typeface="Times New Roman"/>
              </a:rPr>
              <a:t> </a:t>
            </a:r>
            <a:r>
              <a:rPr lang="en-IN" sz="2700" spc="-80" dirty="0">
                <a:latin typeface="Times New Roman"/>
                <a:cs typeface="Times New Roman"/>
              </a:rPr>
              <a:t>t</a:t>
            </a:r>
            <a:r>
              <a:rPr lang="en-IN" sz="2700" spc="-80" dirty="0">
                <a:latin typeface="Symbol"/>
                <a:cs typeface="Times New Roman"/>
              </a:rPr>
              <a:t>-</a:t>
            </a:r>
            <a:r>
              <a:rPr sz="2700" spc="-5" dirty="0">
                <a:latin typeface="Times New Roman"/>
                <a:cs typeface="Times New Roman"/>
              </a:rPr>
              <a:t>4</a:t>
            </a:r>
            <a:r>
              <a:rPr sz="2700" spc="30" dirty="0">
                <a:latin typeface="Times New Roman"/>
                <a:cs typeface="Times New Roman"/>
              </a:rPr>
              <a:t>5</a:t>
            </a:r>
            <a:r>
              <a:rPr sz="2325" spc="15" baseline="43010" dirty="0">
                <a:latin typeface="Times New Roman"/>
                <a:cs typeface="Times New Roman"/>
              </a:rPr>
              <a:t>0</a:t>
            </a:r>
            <a:r>
              <a:rPr sz="2700" dirty="0">
                <a:latin typeface="Times New Roman"/>
                <a:cs typeface="Times New Roman"/>
              </a:rPr>
              <a:t>)</a:t>
            </a:r>
          </a:p>
        </p:txBody>
      </p:sp>
      <p:sp>
        <p:nvSpPr>
          <p:cNvPr id="19" name="object 11"/>
          <p:cNvSpPr txBox="1"/>
          <p:nvPr/>
        </p:nvSpPr>
        <p:spPr>
          <a:xfrm>
            <a:off x="5940500" y="4948867"/>
            <a:ext cx="4357822" cy="451406"/>
          </a:xfrm>
          <a:prstGeom prst="rect">
            <a:avLst/>
          </a:prstGeom>
        </p:spPr>
        <p:txBody>
          <a:bodyPr vert="horz" wrap="square" lIns="0" tIns="12700" rIns="0" bIns="0" rtlCol="0">
            <a:spAutoFit/>
          </a:bodyPr>
          <a:lstStyle/>
          <a:p>
            <a:pPr marL="12700">
              <a:spcBef>
                <a:spcPts val="100"/>
              </a:spcBef>
              <a:tabLst>
                <a:tab pos="346075" algn="l"/>
              </a:tabLst>
            </a:pPr>
            <a:r>
              <a:rPr sz="2700" i="1" dirty="0">
                <a:latin typeface="Times New Roman"/>
                <a:cs typeface="Times New Roman"/>
              </a:rPr>
              <a:t>v</a:t>
            </a:r>
            <a:r>
              <a:rPr lang="en-IN" i="1" dirty="0">
                <a:latin typeface="Times New Roman"/>
                <a:cs typeface="Times New Roman"/>
              </a:rPr>
              <a:t>c</a:t>
            </a:r>
            <a:r>
              <a:rPr sz="2700" spc="-15" dirty="0">
                <a:latin typeface="Times New Roman"/>
                <a:cs typeface="Times New Roman"/>
              </a:rPr>
              <a:t>(</a:t>
            </a:r>
            <a:r>
              <a:rPr sz="2700" i="1" spc="175" dirty="0">
                <a:latin typeface="Times New Roman"/>
                <a:cs typeface="Times New Roman"/>
              </a:rPr>
              <a:t>t</a:t>
            </a:r>
            <a:r>
              <a:rPr sz="2700" dirty="0">
                <a:latin typeface="Times New Roman"/>
                <a:cs typeface="Times New Roman"/>
              </a:rPr>
              <a:t>)</a:t>
            </a:r>
            <a:r>
              <a:rPr sz="2700" spc="-60" dirty="0">
                <a:latin typeface="Times New Roman"/>
                <a:cs typeface="Times New Roman"/>
              </a:rPr>
              <a:t> </a:t>
            </a:r>
            <a:r>
              <a:rPr sz="2700" dirty="0">
                <a:latin typeface="Symbol"/>
                <a:cs typeface="Symbol"/>
              </a:rPr>
              <a:t></a:t>
            </a:r>
            <a:r>
              <a:rPr sz="2700" spc="-350" dirty="0">
                <a:latin typeface="Times New Roman"/>
                <a:cs typeface="Times New Roman"/>
              </a:rPr>
              <a:t> </a:t>
            </a:r>
            <a:r>
              <a:rPr lang="en-US" sz="2700" spc="-5" dirty="0">
                <a:latin typeface="Times New Roman"/>
                <a:cs typeface="Times New Roman"/>
              </a:rPr>
              <a:t>5</a:t>
            </a:r>
            <a:r>
              <a:rPr sz="2700" spc="-425" dirty="0">
                <a:latin typeface="Times New Roman"/>
                <a:cs typeface="Times New Roman"/>
              </a:rPr>
              <a:t> </a:t>
            </a:r>
            <a:r>
              <a:rPr sz="2700" dirty="0">
                <a:latin typeface="Times New Roman"/>
                <a:cs typeface="Times New Roman"/>
              </a:rPr>
              <a:t>sin</a:t>
            </a:r>
            <a:r>
              <a:rPr sz="2700" spc="-290" dirty="0">
                <a:latin typeface="Times New Roman"/>
                <a:cs typeface="Times New Roman"/>
              </a:rPr>
              <a:t>(</a:t>
            </a:r>
            <a:r>
              <a:rPr lang="en-IN" sz="2850" spc="-1015" dirty="0">
                <a:latin typeface="Symbol"/>
                <a:cs typeface="Symbol"/>
              </a:rPr>
              <a:t></a:t>
            </a:r>
            <a:r>
              <a:rPr lang="en-IN" sz="2700" i="1" spc="-80" dirty="0">
                <a:latin typeface="Times New Roman"/>
                <a:cs typeface="Times New Roman"/>
              </a:rPr>
              <a:t>  </a:t>
            </a:r>
            <a:r>
              <a:rPr lang="en-IN" sz="2700" spc="-80" dirty="0">
                <a:latin typeface="Times New Roman"/>
                <a:cs typeface="Times New Roman"/>
              </a:rPr>
              <a:t>t</a:t>
            </a:r>
            <a:r>
              <a:rPr lang="en-IN" sz="2700" i="1" spc="-220" dirty="0">
                <a:latin typeface="Times New Roman"/>
                <a:cs typeface="Times New Roman"/>
              </a:rPr>
              <a:t>+</a:t>
            </a:r>
            <a:r>
              <a:rPr lang="en-IN" sz="2700" spc="-5" dirty="0">
                <a:latin typeface="Times New Roman"/>
                <a:cs typeface="Times New Roman"/>
              </a:rPr>
              <a:t>30</a:t>
            </a:r>
            <a:r>
              <a:rPr lang="en-IN" sz="2325" spc="15" baseline="43010" dirty="0">
                <a:latin typeface="Times New Roman"/>
                <a:cs typeface="Times New Roman"/>
              </a:rPr>
              <a:t>0 </a:t>
            </a:r>
            <a:r>
              <a:rPr lang="en-IN" sz="2400" dirty="0">
                <a:latin typeface="Times New Roman"/>
                <a:cs typeface="Times New Roman"/>
              </a:rPr>
              <a:t>)</a:t>
            </a:r>
          </a:p>
        </p:txBody>
      </p:sp>
    </p:spTree>
    <p:extLst>
      <p:ext uri="{BB962C8B-B14F-4D97-AF65-F5344CB8AC3E}">
        <p14:creationId xmlns:p14="http://schemas.microsoft.com/office/powerpoint/2010/main" val="2986942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76367-D0D6-D81A-5883-3B2E1305FDC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523992-E400-3963-3785-5099AB8F1280}"/>
              </a:ext>
            </a:extLst>
          </p:cNvPr>
          <p:cNvSpPr>
            <a:spLocks noGrp="1"/>
          </p:cNvSpPr>
          <p:nvPr>
            <p:ph type="sldNum" sz="quarter" idx="12"/>
          </p:nvPr>
        </p:nvSpPr>
        <p:spPr/>
        <p:txBody>
          <a:bodyPr/>
          <a:lstStyle/>
          <a:p>
            <a:fld id="{CBABCCC1-BF11-4F37-963E-1BCD5B23FD72}" type="slidenum">
              <a:rPr lang="en-IN" smtClean="0"/>
              <a:t>7</a:t>
            </a:fld>
            <a:endParaRPr lang="en-IN"/>
          </a:p>
        </p:txBody>
      </p:sp>
      <p:sp>
        <p:nvSpPr>
          <p:cNvPr id="3" name="Rounded Rectangle 17">
            <a:extLst>
              <a:ext uri="{FF2B5EF4-FFF2-40B4-BE49-F238E27FC236}">
                <a16:creationId xmlns:a16="http://schemas.microsoft.com/office/drawing/2014/main" id="{EE00F1AB-6674-0161-7A51-5D34EEB4D392}"/>
              </a:ext>
            </a:extLst>
          </p:cNvPr>
          <p:cNvSpPr/>
          <p:nvPr/>
        </p:nvSpPr>
        <p:spPr>
          <a:xfrm>
            <a:off x="2795659" y="179265"/>
            <a:ext cx="7611177"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8100" algn="ctr">
              <a:lnSpc>
                <a:spcPct val="100000"/>
              </a:lnSpc>
              <a:spcBef>
                <a:spcPts val="1225"/>
              </a:spcBef>
            </a:pPr>
            <a:r>
              <a:rPr lang="en-IN" sz="2400" spc="-5" dirty="0">
                <a:solidFill>
                  <a:schemeClr val="bg1"/>
                </a:solidFill>
                <a:latin typeface="+mj-lt"/>
                <a:cs typeface="Times New Roman"/>
              </a:rPr>
              <a:t>Phasor Relationships</a:t>
            </a:r>
            <a:r>
              <a:rPr lang="en-IN" sz="2400" spc="-10" dirty="0">
                <a:solidFill>
                  <a:schemeClr val="bg1"/>
                </a:solidFill>
                <a:latin typeface="+mj-lt"/>
                <a:cs typeface="Times New Roman"/>
              </a:rPr>
              <a:t> </a:t>
            </a:r>
            <a:r>
              <a:rPr lang="en-IN" sz="2400" spc="-5" dirty="0">
                <a:solidFill>
                  <a:schemeClr val="bg1"/>
                </a:solidFill>
                <a:latin typeface="+mj-lt"/>
                <a:cs typeface="Times New Roman"/>
              </a:rPr>
              <a:t>for</a:t>
            </a:r>
            <a:r>
              <a:rPr lang="en-IN" sz="2400" dirty="0">
                <a:solidFill>
                  <a:schemeClr val="bg1"/>
                </a:solidFill>
                <a:latin typeface="+mj-lt"/>
                <a:cs typeface="Times New Roman"/>
              </a:rPr>
              <a:t> </a:t>
            </a:r>
            <a:r>
              <a:rPr lang="en-IN" sz="2400" spc="-5" dirty="0">
                <a:solidFill>
                  <a:schemeClr val="bg1"/>
                </a:solidFill>
                <a:latin typeface="+mj-lt"/>
                <a:cs typeface="Times New Roman"/>
              </a:rPr>
              <a:t>Resistor</a:t>
            </a:r>
            <a:r>
              <a:rPr lang="en-IN" sz="2400" dirty="0">
                <a:solidFill>
                  <a:schemeClr val="bg1"/>
                </a:solidFill>
                <a:latin typeface="+mj-lt"/>
                <a:cs typeface="Times New Roman"/>
              </a:rPr>
              <a:t> </a:t>
            </a:r>
            <a:r>
              <a:rPr lang="en-IN" sz="2400" spc="-5" dirty="0">
                <a:solidFill>
                  <a:schemeClr val="bg1"/>
                </a:solidFill>
                <a:latin typeface="+mj-lt"/>
                <a:cs typeface="Times New Roman"/>
              </a:rPr>
              <a:t>Element</a:t>
            </a:r>
            <a:endParaRPr lang="en-IN" sz="2400" dirty="0">
              <a:solidFill>
                <a:schemeClr val="bg1"/>
              </a:solidFill>
              <a:latin typeface="+mj-lt"/>
              <a:cs typeface="Times New Roman"/>
            </a:endParaRPr>
          </a:p>
        </p:txBody>
      </p:sp>
      <p:sp>
        <p:nvSpPr>
          <p:cNvPr id="4" name="Rectangle 3">
            <a:extLst>
              <a:ext uri="{FF2B5EF4-FFF2-40B4-BE49-F238E27FC236}">
                <a16:creationId xmlns:a16="http://schemas.microsoft.com/office/drawing/2014/main" id="{395B81D7-0069-02E2-2040-C9255FF71037}"/>
              </a:ext>
            </a:extLst>
          </p:cNvPr>
          <p:cNvSpPr/>
          <p:nvPr/>
        </p:nvSpPr>
        <p:spPr>
          <a:xfrm>
            <a:off x="7991807" y="4649029"/>
            <a:ext cx="4039737" cy="1323439"/>
          </a:xfrm>
          <a:prstGeom prst="rect">
            <a:avLst/>
          </a:prstGeom>
        </p:spPr>
        <p:txBody>
          <a:bodyPr wrap="square">
            <a:spAutoFit/>
          </a:bodyPr>
          <a:lstStyle/>
          <a:p>
            <a:pPr marL="12700" marR="5080" algn="just">
              <a:lnSpc>
                <a:spcPct val="100000"/>
              </a:lnSpc>
              <a:spcBef>
                <a:spcPts val="95"/>
              </a:spcBef>
            </a:pPr>
            <a:r>
              <a:rPr lang="en-IN" sz="2000" spc="-45" dirty="0">
                <a:solidFill>
                  <a:srgbClr val="FF0000"/>
                </a:solidFill>
                <a:latin typeface="+mj-lt"/>
                <a:cs typeface="Times New Roman"/>
              </a:rPr>
              <a:t>Voltage</a:t>
            </a:r>
            <a:r>
              <a:rPr lang="en-IN" sz="2000" spc="25" dirty="0">
                <a:solidFill>
                  <a:srgbClr val="FF0000"/>
                </a:solidFill>
                <a:latin typeface="+mj-lt"/>
                <a:cs typeface="Times New Roman"/>
              </a:rPr>
              <a:t> </a:t>
            </a:r>
            <a:r>
              <a:rPr lang="en-IN" sz="2000" spc="-5" dirty="0">
                <a:solidFill>
                  <a:srgbClr val="FF0000"/>
                </a:solidFill>
                <a:latin typeface="+mj-lt"/>
                <a:cs typeface="Times New Roman"/>
              </a:rPr>
              <a:t>wave</a:t>
            </a:r>
            <a:r>
              <a:rPr lang="en-IN" sz="2000" spc="20" dirty="0">
                <a:solidFill>
                  <a:srgbClr val="FF0000"/>
                </a:solidFill>
                <a:latin typeface="+mj-lt"/>
                <a:cs typeface="Times New Roman"/>
              </a:rPr>
              <a:t> </a:t>
            </a:r>
            <a:r>
              <a:rPr lang="en-IN" sz="2000" dirty="0">
                <a:solidFill>
                  <a:srgbClr val="FF0000"/>
                </a:solidFill>
                <a:latin typeface="+mj-lt"/>
                <a:cs typeface="Times New Roman"/>
              </a:rPr>
              <a:t>form</a:t>
            </a:r>
            <a:r>
              <a:rPr lang="en-IN" sz="2000" spc="20" dirty="0">
                <a:solidFill>
                  <a:srgbClr val="FF0000"/>
                </a:solidFill>
                <a:latin typeface="+mj-lt"/>
                <a:cs typeface="Times New Roman"/>
              </a:rPr>
              <a:t> </a:t>
            </a:r>
            <a:r>
              <a:rPr lang="en-IN" sz="2000" dirty="0">
                <a:solidFill>
                  <a:srgbClr val="FF0000"/>
                </a:solidFill>
                <a:latin typeface="+mj-lt"/>
                <a:cs typeface="Times New Roman"/>
              </a:rPr>
              <a:t>follows</a:t>
            </a:r>
            <a:r>
              <a:rPr lang="en-IN" sz="2000" spc="15" dirty="0">
                <a:solidFill>
                  <a:srgbClr val="FF0000"/>
                </a:solidFill>
                <a:latin typeface="+mj-lt"/>
                <a:cs typeface="Times New Roman"/>
              </a:rPr>
              <a:t> </a:t>
            </a:r>
            <a:r>
              <a:rPr lang="en-IN" sz="2000" spc="-5" dirty="0">
                <a:solidFill>
                  <a:srgbClr val="FF0000"/>
                </a:solidFill>
                <a:latin typeface="+mj-lt"/>
                <a:cs typeface="Times New Roman"/>
              </a:rPr>
              <a:t>current</a:t>
            </a:r>
            <a:r>
              <a:rPr lang="en-IN" sz="2000" spc="40" dirty="0">
                <a:solidFill>
                  <a:srgbClr val="FF0000"/>
                </a:solidFill>
                <a:latin typeface="+mj-lt"/>
                <a:cs typeface="Times New Roman"/>
              </a:rPr>
              <a:t> </a:t>
            </a:r>
            <a:r>
              <a:rPr lang="en-IN" sz="2000" spc="-5" dirty="0">
                <a:solidFill>
                  <a:srgbClr val="FF0000"/>
                </a:solidFill>
                <a:latin typeface="+mj-lt"/>
                <a:cs typeface="Times New Roman"/>
              </a:rPr>
              <a:t>wave</a:t>
            </a:r>
            <a:r>
              <a:rPr lang="en-IN" sz="2000" spc="25" dirty="0">
                <a:solidFill>
                  <a:srgbClr val="FF0000"/>
                </a:solidFill>
                <a:latin typeface="+mj-lt"/>
                <a:cs typeface="Times New Roman"/>
              </a:rPr>
              <a:t> </a:t>
            </a:r>
            <a:r>
              <a:rPr lang="en-IN" sz="2000" dirty="0">
                <a:solidFill>
                  <a:srgbClr val="FF0000"/>
                </a:solidFill>
                <a:latin typeface="+mj-lt"/>
                <a:cs typeface="Times New Roman"/>
              </a:rPr>
              <a:t>form.</a:t>
            </a:r>
            <a:r>
              <a:rPr lang="en-IN" sz="2000" spc="20" dirty="0">
                <a:solidFill>
                  <a:srgbClr val="FF0000"/>
                </a:solidFill>
                <a:latin typeface="+mj-lt"/>
                <a:cs typeface="Times New Roman"/>
              </a:rPr>
              <a:t> </a:t>
            </a:r>
            <a:r>
              <a:rPr lang="en-IN" sz="2000" spc="-45" dirty="0">
                <a:solidFill>
                  <a:srgbClr val="FF0000"/>
                </a:solidFill>
                <a:latin typeface="+mj-lt"/>
                <a:cs typeface="Times New Roman"/>
              </a:rPr>
              <a:t>Voltage</a:t>
            </a:r>
            <a:r>
              <a:rPr lang="en-IN" sz="2000" spc="25" dirty="0">
                <a:solidFill>
                  <a:srgbClr val="FF0000"/>
                </a:solidFill>
                <a:latin typeface="+mj-lt"/>
                <a:cs typeface="Times New Roman"/>
              </a:rPr>
              <a:t> and current </a:t>
            </a:r>
            <a:r>
              <a:rPr lang="en-IN" sz="2000" spc="-5" dirty="0">
                <a:solidFill>
                  <a:srgbClr val="FF0000"/>
                </a:solidFill>
                <a:latin typeface="+mj-lt"/>
                <a:cs typeface="Times New Roman"/>
              </a:rPr>
              <a:t>phasor</a:t>
            </a:r>
            <a:r>
              <a:rPr lang="en-IN" sz="2000" spc="15" dirty="0">
                <a:solidFill>
                  <a:srgbClr val="FF0000"/>
                </a:solidFill>
                <a:latin typeface="+mj-lt"/>
                <a:cs typeface="Times New Roman"/>
              </a:rPr>
              <a:t> </a:t>
            </a:r>
            <a:r>
              <a:rPr lang="en-IN" sz="2000" spc="-5" dirty="0">
                <a:solidFill>
                  <a:srgbClr val="FF0000"/>
                </a:solidFill>
                <a:latin typeface="+mj-lt"/>
                <a:cs typeface="Times New Roman"/>
              </a:rPr>
              <a:t>and</a:t>
            </a:r>
            <a:r>
              <a:rPr lang="en-IN" sz="2000" spc="30" dirty="0">
                <a:solidFill>
                  <a:srgbClr val="FF0000"/>
                </a:solidFill>
                <a:latin typeface="+mj-lt"/>
                <a:cs typeface="Times New Roman"/>
              </a:rPr>
              <a:t> </a:t>
            </a:r>
            <a:r>
              <a:rPr lang="en-IN" sz="2000" spc="-5" dirty="0">
                <a:solidFill>
                  <a:srgbClr val="FF0000"/>
                </a:solidFill>
                <a:latin typeface="+mj-lt"/>
                <a:cs typeface="Times New Roman"/>
              </a:rPr>
              <a:t>current</a:t>
            </a:r>
            <a:r>
              <a:rPr lang="en-IN" sz="2000" spc="25" dirty="0">
                <a:solidFill>
                  <a:srgbClr val="FF0000"/>
                </a:solidFill>
                <a:latin typeface="+mj-lt"/>
                <a:cs typeface="Times New Roman"/>
              </a:rPr>
              <a:t> </a:t>
            </a:r>
            <a:r>
              <a:rPr lang="en-IN" sz="2000" spc="-5" dirty="0">
                <a:solidFill>
                  <a:srgbClr val="FF0000"/>
                </a:solidFill>
                <a:latin typeface="+mj-lt"/>
                <a:cs typeface="Times New Roman"/>
              </a:rPr>
              <a:t>phasor</a:t>
            </a:r>
            <a:r>
              <a:rPr lang="en-IN" sz="2000" spc="25" dirty="0">
                <a:solidFill>
                  <a:srgbClr val="FF0000"/>
                </a:solidFill>
                <a:latin typeface="+mj-lt"/>
                <a:cs typeface="Times New Roman"/>
              </a:rPr>
              <a:t> </a:t>
            </a:r>
            <a:r>
              <a:rPr lang="en-IN" sz="2000" spc="-5" dirty="0">
                <a:solidFill>
                  <a:srgbClr val="FF0000"/>
                </a:solidFill>
                <a:latin typeface="+mj-lt"/>
                <a:cs typeface="Times New Roman"/>
              </a:rPr>
              <a:t>are </a:t>
            </a:r>
            <a:r>
              <a:rPr lang="en-IN" sz="2000" spc="-535" dirty="0">
                <a:solidFill>
                  <a:srgbClr val="FF0000"/>
                </a:solidFill>
                <a:latin typeface="+mj-lt"/>
                <a:cs typeface="Times New Roman"/>
              </a:rPr>
              <a:t> </a:t>
            </a:r>
            <a:r>
              <a:rPr lang="en-IN" sz="2000" spc="-5" dirty="0">
                <a:solidFill>
                  <a:srgbClr val="FF0000"/>
                </a:solidFill>
                <a:latin typeface="+mj-lt"/>
                <a:cs typeface="Times New Roman"/>
              </a:rPr>
              <a:t>in</a:t>
            </a:r>
            <a:r>
              <a:rPr lang="en-IN" sz="2000" dirty="0">
                <a:solidFill>
                  <a:srgbClr val="FF0000"/>
                </a:solidFill>
                <a:latin typeface="+mj-lt"/>
                <a:cs typeface="Times New Roman"/>
              </a:rPr>
              <a:t> </a:t>
            </a:r>
            <a:r>
              <a:rPr lang="en-IN" sz="2000" spc="-5" dirty="0">
                <a:solidFill>
                  <a:srgbClr val="FF0000"/>
                </a:solidFill>
                <a:latin typeface="+mj-lt"/>
                <a:cs typeface="Times New Roman"/>
              </a:rPr>
              <a:t>phase.</a:t>
            </a:r>
            <a:endParaRPr lang="en-IN" sz="2000" dirty="0">
              <a:solidFill>
                <a:srgbClr val="FF0000"/>
              </a:solidFill>
              <a:latin typeface="+mj-lt"/>
              <a:cs typeface="Times New Roman"/>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C91A991-79F7-08F5-2680-C146CC3B9695}"/>
                  </a:ext>
                </a:extLst>
              </p:cNvPr>
              <p:cNvSpPr txBox="1"/>
              <p:nvPr/>
            </p:nvSpPr>
            <p:spPr>
              <a:xfrm>
                <a:off x="177282" y="1104360"/>
                <a:ext cx="7735077" cy="1723549"/>
              </a:xfrm>
              <a:prstGeom prst="rect">
                <a:avLst/>
              </a:prstGeom>
              <a:noFill/>
            </p:spPr>
            <p:txBody>
              <a:bodyPr wrap="square">
                <a:spAutoFit/>
              </a:bodyPr>
              <a:lstStyle/>
              <a:p>
                <a:r>
                  <a:rPr lang="en-IN" sz="2200" dirty="0"/>
                  <a:t>Consider the function </a:t>
                </a:r>
                <a:r>
                  <a:rPr lang="en-IN" sz="2200" dirty="0" err="1"/>
                  <a:t>i</a:t>
                </a:r>
                <a:r>
                  <a:rPr lang="en-IN" sz="2200" dirty="0"/>
                  <a:t>(t)=</a:t>
                </a:r>
                <a14:m>
                  <m:oMath xmlns:m="http://schemas.openxmlformats.org/officeDocument/2006/math">
                    <m:sSub>
                      <m:sSubPr>
                        <m:ctrlPr>
                          <a:rPr lang="en-IN" sz="2200" i="1" smtClean="0">
                            <a:latin typeface="Cambria Math" panose="02040503050406030204" pitchFamily="18" charset="0"/>
                          </a:rPr>
                        </m:ctrlPr>
                      </m:sSubPr>
                      <m:e>
                        <m:r>
                          <m:rPr>
                            <m:sty m:val="p"/>
                          </m:rPr>
                          <a:rPr lang="en-US" sz="2200" b="0" i="0" smtClean="0">
                            <a:latin typeface="Cambria Math" panose="02040503050406030204" pitchFamily="18" charset="0"/>
                          </a:rPr>
                          <m:t>I</m:t>
                        </m:r>
                      </m:e>
                      <m:sub>
                        <m:r>
                          <m:rPr>
                            <m:sty m:val="p"/>
                          </m:rPr>
                          <a:rPr lang="en-US" sz="2200" b="0" i="0" smtClean="0">
                            <a:latin typeface="Cambria Math" panose="02040503050406030204" pitchFamily="18" charset="0"/>
                          </a:rPr>
                          <m:t>m</m:t>
                        </m:r>
                      </m:sub>
                    </m:sSub>
                  </m:oMath>
                </a14:m>
                <a:r>
                  <a:rPr lang="en-IN" sz="2200" dirty="0"/>
                  <a:t>sin</a:t>
                </a:r>
                <a14:m>
                  <m:oMath xmlns:m="http://schemas.openxmlformats.org/officeDocument/2006/math">
                    <m:r>
                      <m:rPr>
                        <m:sty m:val="p"/>
                      </m:rPr>
                      <a:rPr lang="en-IN" sz="2200" i="0" dirty="0" smtClean="0">
                        <a:latin typeface="Cambria Math" panose="02040503050406030204" pitchFamily="18" charset="0"/>
                        <a:ea typeface="Cambria Math" panose="02040503050406030204" pitchFamily="18" charset="0"/>
                      </a:rPr>
                      <m:t>ω</m:t>
                    </m:r>
                    <m:r>
                      <m:rPr>
                        <m:sty m:val="p"/>
                      </m:rPr>
                      <a:rPr lang="en-US" sz="2200" b="0" i="0" dirty="0" smtClean="0">
                        <a:latin typeface="Cambria Math" panose="02040503050406030204" pitchFamily="18" charset="0"/>
                        <a:ea typeface="Cambria Math" panose="02040503050406030204" pitchFamily="18" charset="0"/>
                      </a:rPr>
                      <m:t>t</m:t>
                    </m:r>
                    <m:r>
                      <a:rPr lang="en-US" sz="2200" b="0" i="0" dirty="0" smtClean="0">
                        <a:latin typeface="Cambria Math" panose="02040503050406030204" pitchFamily="18" charset="0"/>
                        <a:ea typeface="Cambria Math" panose="02040503050406030204" pitchFamily="18" charset="0"/>
                      </a:rPr>
                      <m:t>=</m:t>
                    </m:r>
                  </m:oMath>
                </a14:m>
                <a:r>
                  <a:rPr lang="en-IN" sz="2200" dirty="0"/>
                  <a:t> </a:t>
                </a:r>
                <a14:m>
                  <m:oMath xmlns:m="http://schemas.openxmlformats.org/officeDocument/2006/math">
                    <m:sSub>
                      <m:sSubPr>
                        <m:ctrlPr>
                          <a:rPr lang="en-IN" sz="2200" i="1">
                            <a:latin typeface="Cambria Math" panose="02040503050406030204" pitchFamily="18" charset="0"/>
                          </a:rPr>
                        </m:ctrlPr>
                      </m:sSubPr>
                      <m:e>
                        <m:r>
                          <m:rPr>
                            <m:sty m:val="p"/>
                          </m:rPr>
                          <a:rPr lang="en-US" sz="2200" i="0" smtClean="0">
                            <a:latin typeface="Cambria Math" panose="02040503050406030204" pitchFamily="18" charset="0"/>
                          </a:rPr>
                          <m:t>I</m:t>
                        </m:r>
                      </m:e>
                      <m:sub>
                        <m:r>
                          <m:rPr>
                            <m:sty m:val="p"/>
                          </m:rPr>
                          <a:rPr lang="en-US" sz="2200" i="0" smtClean="0">
                            <a:latin typeface="Cambria Math" panose="02040503050406030204" pitchFamily="18" charset="0"/>
                          </a:rPr>
                          <m:t>m</m:t>
                        </m:r>
                      </m:sub>
                    </m:sSub>
                  </m:oMath>
                </a14:m>
                <a:r>
                  <a:rPr lang="en-US" sz="2200" dirty="0">
                    <a:ea typeface="Cambria Math" panose="02040503050406030204" pitchFamily="18" charset="0"/>
                  </a:rPr>
                  <a:t> </a:t>
                </a:r>
                <a14:m>
                  <m:oMath xmlns:m="http://schemas.openxmlformats.org/officeDocument/2006/math">
                    <m:r>
                      <a:rPr lang="en-US" sz="2200" i="0" smtClean="0">
                        <a:latin typeface="Cambria Math" panose="02040503050406030204" pitchFamily="18" charset="0"/>
                        <a:ea typeface="Cambria Math" panose="02040503050406030204" pitchFamily="18" charset="0"/>
                      </a:rPr>
                      <m:t>∠</m:t>
                    </m:r>
                  </m:oMath>
                </a14:m>
                <a:r>
                  <a:rPr lang="en-US" sz="2200" dirty="0">
                    <a:ea typeface="Cambria Math" panose="02040503050406030204" pitchFamily="18" charset="0"/>
                  </a:rPr>
                  <a:t> </a:t>
                </a:r>
                <a14:m>
                  <m:oMath xmlns:m="http://schemas.openxmlformats.org/officeDocument/2006/math">
                    <m:r>
                      <a:rPr lang="en-US" sz="2200" i="0" dirty="0" smtClean="0">
                        <a:latin typeface="Cambria Math" panose="02040503050406030204" pitchFamily="18" charset="0"/>
                        <a:ea typeface="Cambria Math" panose="02040503050406030204" pitchFamily="18" charset="0"/>
                      </a:rPr>
                      <m:t>0°</m:t>
                    </m:r>
                  </m:oMath>
                </a14:m>
                <a:r>
                  <a:rPr lang="en-US" sz="2200" dirty="0">
                    <a:ea typeface="Cambria Math" panose="02040503050406030204" pitchFamily="18" charset="0"/>
                  </a:rPr>
                  <a:t> </a:t>
                </a:r>
                <a14:m>
                  <m:oMath xmlns:m="http://schemas.openxmlformats.org/officeDocument/2006/math">
                    <m:r>
                      <a:rPr lang="en-US" sz="2200" dirty="0">
                        <a:latin typeface="Cambria Math" panose="02040503050406030204" pitchFamily="18" charset="0"/>
                        <a:ea typeface="Cambria Math" panose="02040503050406030204" pitchFamily="18" charset="0"/>
                      </a:rPr>
                      <m:t>=</m:t>
                    </m:r>
                  </m:oMath>
                </a14:m>
                <a:r>
                  <a:rPr lang="en-IN" sz="2200" dirty="0"/>
                  <a:t> </a:t>
                </a:r>
                <a14:m>
                  <m:oMath xmlns:m="http://schemas.openxmlformats.org/officeDocument/2006/math">
                    <m:sSub>
                      <m:sSubPr>
                        <m:ctrlPr>
                          <a:rPr lang="en-IN" sz="2200" i="1">
                            <a:latin typeface="Cambria Math" panose="02040503050406030204" pitchFamily="18" charset="0"/>
                          </a:rPr>
                        </m:ctrlPr>
                      </m:sSubPr>
                      <m:e>
                        <m:r>
                          <m:rPr>
                            <m:sty m:val="p"/>
                          </m:rPr>
                          <a:rPr lang="en-US" sz="2200">
                            <a:latin typeface="Cambria Math" panose="02040503050406030204" pitchFamily="18" charset="0"/>
                          </a:rPr>
                          <m:t>I</m:t>
                        </m:r>
                      </m:e>
                      <m:sub>
                        <m:r>
                          <m:rPr>
                            <m:sty m:val="p"/>
                          </m:rPr>
                          <a:rPr lang="en-US" sz="2200">
                            <a:latin typeface="Cambria Math" panose="02040503050406030204" pitchFamily="18" charset="0"/>
                          </a:rPr>
                          <m:t>m</m:t>
                        </m:r>
                      </m:sub>
                    </m:sSub>
                  </m:oMath>
                </a14:m>
                <a:r>
                  <a:rPr lang="en-US" sz="2200" dirty="0">
                    <a:ea typeface="Cambria Math" panose="02040503050406030204" pitchFamily="18" charset="0"/>
                  </a:rPr>
                  <a:t> </a:t>
                </a:r>
                <a:endParaRPr lang="en-US" sz="2200" b="0" dirty="0">
                  <a:ea typeface="Cambria Math" panose="02040503050406030204" pitchFamily="18" charset="0"/>
                </a:endParaRPr>
              </a:p>
              <a:p>
                <a:pPr marL="0" indent="0">
                  <a:lnSpc>
                    <a:spcPct val="100000"/>
                  </a:lnSpc>
                  <a:buNone/>
                </a:pPr>
                <a:r>
                  <a:rPr lang="en-US" sz="2200" dirty="0"/>
                  <a:t>The voltage current relation in the case of an </a:t>
                </a:r>
                <a:r>
                  <a:rPr lang="en-US" sz="2200" b="1" dirty="0"/>
                  <a:t>resistor</a:t>
                </a:r>
                <a:r>
                  <a:rPr lang="en-US" sz="2200" dirty="0"/>
                  <a:t> is given by</a:t>
                </a:r>
              </a:p>
              <a:p>
                <a:pPr marL="0" indent="0">
                  <a:lnSpc>
                    <a:spcPct val="100000"/>
                  </a:lnSpc>
                  <a:buNone/>
                </a:pPr>
                <a:r>
                  <a:rPr lang="en-IN" sz="2200" dirty="0"/>
                  <a:t>v(t)</a:t>
                </a:r>
                <a14:m>
                  <m:oMath xmlns:m="http://schemas.openxmlformats.org/officeDocument/2006/math">
                    <m:r>
                      <a:rPr lang="en-US" sz="2200" b="0" i="0" smtClean="0">
                        <a:latin typeface="Cambria Math" panose="02040503050406030204" pitchFamily="18" charset="0"/>
                      </a:rPr>
                      <m:t>=</m:t>
                    </m:r>
                    <m:r>
                      <m:rPr>
                        <m:sty m:val="p"/>
                      </m:rPr>
                      <a:rPr lang="en-US" sz="2200" b="0" i="0" smtClean="0">
                        <a:latin typeface="Cambria Math" panose="02040503050406030204" pitchFamily="18" charset="0"/>
                      </a:rPr>
                      <m:t>i</m:t>
                    </m:r>
                    <m:d>
                      <m:dPr>
                        <m:ctrlPr>
                          <a:rPr lang="en-US" sz="2200" b="0" i="1" smtClean="0">
                            <a:latin typeface="Cambria Math" panose="02040503050406030204" pitchFamily="18" charset="0"/>
                          </a:rPr>
                        </m:ctrlPr>
                      </m:dPr>
                      <m:e>
                        <m:r>
                          <m:rPr>
                            <m:sty m:val="p"/>
                          </m:rPr>
                          <a:rPr lang="en-US" sz="2200" b="0" i="0" smtClean="0">
                            <a:latin typeface="Cambria Math" panose="02040503050406030204" pitchFamily="18" charset="0"/>
                          </a:rPr>
                          <m:t>t</m:t>
                        </m:r>
                      </m:e>
                    </m:d>
                    <m:r>
                      <m:rPr>
                        <m:sty m:val="p"/>
                      </m:rPr>
                      <a:rPr lang="en-US" sz="2200" b="0" i="0" smtClean="0">
                        <a:latin typeface="Cambria Math" panose="02040503050406030204" pitchFamily="18" charset="0"/>
                      </a:rPr>
                      <m:t>R</m:t>
                    </m:r>
                  </m:oMath>
                </a14:m>
                <a:endParaRPr lang="en-US" sz="2200" dirty="0"/>
              </a:p>
              <a:p>
                <a:r>
                  <a:rPr lang="en-IN" sz="2200" dirty="0"/>
                  <a:t>v(t)</a:t>
                </a:r>
                <a14:m>
                  <m:oMath xmlns:m="http://schemas.openxmlformats.org/officeDocument/2006/math">
                    <m:sSub>
                      <m:sSubPr>
                        <m:ctrlPr>
                          <a:rPr lang="en-IN" sz="2200" i="1" smtClean="0">
                            <a:latin typeface="Cambria Math" panose="02040503050406030204" pitchFamily="18" charset="0"/>
                          </a:rPr>
                        </m:ctrlPr>
                      </m:sSubPr>
                      <m:e>
                        <m:r>
                          <a:rPr lang="en-US" sz="2200" b="0" i="0" smtClean="0">
                            <a:latin typeface="Cambria Math" panose="02040503050406030204" pitchFamily="18" charset="0"/>
                          </a:rPr>
                          <m:t>=</m:t>
                        </m:r>
                        <m:r>
                          <m:rPr>
                            <m:sty m:val="p"/>
                          </m:rPr>
                          <a:rPr lang="en-US" sz="2200" b="0" i="0" smtClean="0">
                            <a:latin typeface="Cambria Math" panose="02040503050406030204" pitchFamily="18" charset="0"/>
                          </a:rPr>
                          <m:t>I</m:t>
                        </m:r>
                      </m:e>
                      <m:sub>
                        <m:r>
                          <m:rPr>
                            <m:sty m:val="p"/>
                          </m:rPr>
                          <a:rPr lang="en-US" sz="2200" b="0" i="0" smtClean="0">
                            <a:latin typeface="Cambria Math" panose="02040503050406030204" pitchFamily="18" charset="0"/>
                          </a:rPr>
                          <m:t>m</m:t>
                        </m:r>
                      </m:sub>
                    </m:sSub>
                  </m:oMath>
                </a14:m>
                <a:r>
                  <a:rPr lang="en-IN" sz="2200" dirty="0"/>
                  <a:t>Rsin</a:t>
                </a:r>
                <a14:m>
                  <m:oMath xmlns:m="http://schemas.openxmlformats.org/officeDocument/2006/math">
                    <m:r>
                      <m:rPr>
                        <m:sty m:val="p"/>
                      </m:rPr>
                      <a:rPr lang="en-IN" sz="2200" i="0" dirty="0" smtClean="0">
                        <a:latin typeface="Cambria Math" panose="02040503050406030204" pitchFamily="18" charset="0"/>
                        <a:ea typeface="Cambria Math" panose="02040503050406030204" pitchFamily="18" charset="0"/>
                      </a:rPr>
                      <m:t>ω</m:t>
                    </m:r>
                    <m:r>
                      <m:rPr>
                        <m:sty m:val="p"/>
                      </m:rPr>
                      <a:rPr lang="en-US" sz="2200" b="0" i="0" dirty="0" smtClean="0">
                        <a:latin typeface="Cambria Math" panose="02040503050406030204" pitchFamily="18" charset="0"/>
                        <a:ea typeface="Cambria Math" panose="02040503050406030204" pitchFamily="18" charset="0"/>
                      </a:rPr>
                      <m:t>t</m:t>
                    </m:r>
                    <m:r>
                      <a:rPr lang="en-US" sz="2200" b="0" i="0" dirty="0" smtClean="0">
                        <a:latin typeface="Cambria Math" panose="02040503050406030204" pitchFamily="18" charset="0"/>
                        <a:ea typeface="Cambria Math" panose="02040503050406030204" pitchFamily="18" charset="0"/>
                      </a:rPr>
                      <m:t>=</m:t>
                    </m:r>
                    <m:sSub>
                      <m:sSubPr>
                        <m:ctrlPr>
                          <a:rPr lang="en-IN" sz="2200" i="1">
                            <a:latin typeface="Cambria Math" panose="02040503050406030204" pitchFamily="18" charset="0"/>
                          </a:rPr>
                        </m:ctrlPr>
                      </m:sSubPr>
                      <m:e>
                        <m:r>
                          <m:rPr>
                            <m:sty m:val="p"/>
                          </m:rPr>
                          <a:rPr lang="en-US" sz="2200" b="0" i="0" smtClean="0">
                            <a:latin typeface="Cambria Math" panose="02040503050406030204" pitchFamily="18" charset="0"/>
                          </a:rPr>
                          <m:t>I</m:t>
                        </m:r>
                      </m:e>
                      <m:sub>
                        <m:r>
                          <m:rPr>
                            <m:sty m:val="p"/>
                          </m:rPr>
                          <a:rPr lang="en-US" sz="2200">
                            <a:latin typeface="Cambria Math" panose="02040503050406030204" pitchFamily="18" charset="0"/>
                          </a:rPr>
                          <m:t>m</m:t>
                        </m:r>
                      </m:sub>
                    </m:sSub>
                    <m:r>
                      <m:rPr>
                        <m:nor/>
                      </m:rPr>
                      <a:rPr lang="en-US" sz="2200" b="0" i="0" smtClean="0">
                        <a:latin typeface="Cambria Math" panose="02040503050406030204" pitchFamily="18" charset="0"/>
                      </a:rPr>
                      <m:t>R</m:t>
                    </m:r>
                    <m:r>
                      <m:rPr>
                        <m:nor/>
                      </m:rPr>
                      <a:rPr lang="en-US" sz="2200" dirty="0">
                        <a:ea typeface="Cambria Math" panose="02040503050406030204" pitchFamily="18" charset="0"/>
                      </a:rPr>
                      <m:t> </m:t>
                    </m:r>
                    <m:r>
                      <a:rPr lang="en-US" sz="2200">
                        <a:latin typeface="Cambria Math" panose="02040503050406030204" pitchFamily="18" charset="0"/>
                        <a:ea typeface="Cambria Math" panose="02040503050406030204" pitchFamily="18" charset="0"/>
                      </a:rPr>
                      <m:t>∠</m:t>
                    </m:r>
                    <m:r>
                      <m:rPr>
                        <m:nor/>
                      </m:rPr>
                      <a:rPr lang="en-US" sz="2200" dirty="0">
                        <a:ea typeface="Cambria Math" panose="02040503050406030204" pitchFamily="18" charset="0"/>
                      </a:rPr>
                      <m:t> </m:t>
                    </m:r>
                    <m:r>
                      <a:rPr lang="en-US" sz="2200" dirty="0">
                        <a:latin typeface="Cambria Math" panose="02040503050406030204" pitchFamily="18" charset="0"/>
                        <a:ea typeface="Cambria Math" panose="02040503050406030204" pitchFamily="18" charset="0"/>
                      </a:rPr>
                      <m:t>0°</m:t>
                    </m:r>
                  </m:oMath>
                </a14:m>
                <a:r>
                  <a:rPr lang="en-US" sz="2200" dirty="0">
                    <a:ea typeface="Cambria Math" panose="02040503050406030204" pitchFamily="18" charset="0"/>
                  </a:rPr>
                  <a:t> </a:t>
                </a:r>
                <a14:m>
                  <m:oMath xmlns:m="http://schemas.openxmlformats.org/officeDocument/2006/math">
                    <m:r>
                      <a:rPr lang="en-US" sz="2200" dirty="0">
                        <a:latin typeface="Cambria Math" panose="02040503050406030204" pitchFamily="18" charset="0"/>
                        <a:ea typeface="Cambria Math" panose="02040503050406030204" pitchFamily="18" charset="0"/>
                      </a:rPr>
                      <m:t>=</m:t>
                    </m:r>
                    <m:sSub>
                      <m:sSubPr>
                        <m:ctrlPr>
                          <a:rPr lang="en-IN" sz="2200" i="1">
                            <a:latin typeface="Cambria Math" panose="02040503050406030204" pitchFamily="18" charset="0"/>
                          </a:rPr>
                        </m:ctrlPr>
                      </m:sSubPr>
                      <m:e>
                        <m:r>
                          <m:rPr>
                            <m:sty m:val="p"/>
                          </m:rPr>
                          <a:rPr lang="en-US" sz="2200">
                            <a:latin typeface="Cambria Math" panose="02040503050406030204" pitchFamily="18" charset="0"/>
                          </a:rPr>
                          <m:t>I</m:t>
                        </m:r>
                      </m:e>
                      <m:sub>
                        <m:r>
                          <m:rPr>
                            <m:sty m:val="p"/>
                          </m:rPr>
                          <a:rPr lang="en-US" sz="2200">
                            <a:latin typeface="Cambria Math" panose="02040503050406030204" pitchFamily="18" charset="0"/>
                          </a:rPr>
                          <m:t>m</m:t>
                        </m:r>
                      </m:sub>
                    </m:sSub>
                    <m:r>
                      <m:rPr>
                        <m:nor/>
                      </m:rPr>
                      <a:rPr lang="en-US" sz="2200">
                        <a:latin typeface="Cambria Math" panose="02040503050406030204" pitchFamily="18" charset="0"/>
                      </a:rPr>
                      <m:t>R</m:t>
                    </m:r>
                    <m:r>
                      <m:rPr>
                        <m:nor/>
                      </m:rPr>
                      <a:rPr lang="en-US" sz="2200" dirty="0">
                        <a:ea typeface="Cambria Math" panose="02040503050406030204" pitchFamily="18" charset="0"/>
                      </a:rPr>
                      <m:t> </m:t>
                    </m:r>
                  </m:oMath>
                </a14:m>
                <a:endParaRPr lang="en-US" sz="2200" dirty="0">
                  <a:ea typeface="Cambria Math" panose="02040503050406030204" pitchFamily="18" charset="0"/>
                </a:endParaRPr>
              </a:p>
              <a:p>
                <a:endParaRPr lang="en-US" dirty="0"/>
              </a:p>
            </p:txBody>
          </p:sp>
        </mc:Choice>
        <mc:Fallback xmlns="">
          <p:sp>
            <p:nvSpPr>
              <p:cNvPr id="5" name="TextBox 4">
                <a:extLst>
                  <a:ext uri="{FF2B5EF4-FFF2-40B4-BE49-F238E27FC236}">
                    <a16:creationId xmlns:a16="http://schemas.microsoft.com/office/drawing/2014/main" id="{2C91A991-79F7-08F5-2680-C146CC3B9695}"/>
                  </a:ext>
                </a:extLst>
              </p:cNvPr>
              <p:cNvSpPr txBox="1">
                <a:spLocks noRot="1" noChangeAspect="1" noMove="1" noResize="1" noEditPoints="1" noAdjustHandles="1" noChangeArrowheads="1" noChangeShapeType="1" noTextEdit="1"/>
              </p:cNvSpPr>
              <p:nvPr/>
            </p:nvSpPr>
            <p:spPr>
              <a:xfrm>
                <a:off x="177282" y="1104360"/>
                <a:ext cx="7735077" cy="1723549"/>
              </a:xfrm>
              <a:prstGeom prst="rect">
                <a:avLst/>
              </a:prstGeom>
              <a:blipFill>
                <a:blip r:embed="rId2"/>
                <a:stretch>
                  <a:fillRect l="-1024" t="-247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5A58A62-CB79-ED61-7845-D428D6A788F7}"/>
                  </a:ext>
                </a:extLst>
              </p:cNvPr>
              <p:cNvSpPr txBox="1"/>
              <p:nvPr/>
            </p:nvSpPr>
            <p:spPr>
              <a:xfrm>
                <a:off x="195783" y="2460217"/>
                <a:ext cx="6405464" cy="1130246"/>
              </a:xfrm>
              <a:prstGeom prst="rect">
                <a:avLst/>
              </a:prstGeom>
              <a:noFill/>
            </p:spPr>
            <p:txBody>
              <a:bodyPr wrap="square">
                <a:spAutoFit/>
              </a:bodyPr>
              <a:lstStyle/>
              <a:p>
                <a:r>
                  <a:rPr lang="en-IN" sz="2200" dirty="0"/>
                  <a:t>Z=</a:t>
                </a:r>
                <a14:m>
                  <m:oMath xmlns:m="http://schemas.openxmlformats.org/officeDocument/2006/math">
                    <m:f>
                      <m:fPr>
                        <m:ctrlPr>
                          <a:rPr lang="en-IN" sz="2500" i="1" smtClean="0">
                            <a:latin typeface="Cambria Math" panose="02040503050406030204" pitchFamily="18" charset="0"/>
                          </a:rPr>
                        </m:ctrlPr>
                      </m:fPr>
                      <m:num>
                        <m:r>
                          <m:rPr>
                            <m:nor/>
                          </m:rPr>
                          <a:rPr lang="en-IN" sz="2500" dirty="0"/>
                          <m:t>v</m:t>
                        </m:r>
                        <m:r>
                          <m:rPr>
                            <m:nor/>
                          </m:rPr>
                          <a:rPr lang="en-IN" sz="2500" dirty="0"/>
                          <m:t>(</m:t>
                        </m:r>
                        <m:r>
                          <m:rPr>
                            <m:nor/>
                          </m:rPr>
                          <a:rPr lang="en-IN" sz="2500" dirty="0"/>
                          <m:t>t</m:t>
                        </m:r>
                        <m:r>
                          <m:rPr>
                            <m:nor/>
                          </m:rPr>
                          <a:rPr lang="en-IN" sz="2500" dirty="0"/>
                          <m:t>)</m:t>
                        </m:r>
                      </m:num>
                      <m:den>
                        <m:r>
                          <m:rPr>
                            <m:nor/>
                          </m:rPr>
                          <a:rPr lang="en-US" sz="2500" b="0" smtClean="0">
                            <a:latin typeface="Cambria Math" panose="02040503050406030204" pitchFamily="18" charset="0"/>
                          </a:rPr>
                          <m:t>i</m:t>
                        </m:r>
                        <m:r>
                          <m:rPr>
                            <m:nor/>
                          </m:rPr>
                          <a:rPr lang="en-IN" sz="2500" dirty="0"/>
                          <m:t>(</m:t>
                        </m:r>
                        <m:r>
                          <m:rPr>
                            <m:nor/>
                          </m:rPr>
                          <a:rPr lang="en-IN" sz="2500" dirty="0"/>
                          <m:t>t</m:t>
                        </m:r>
                        <m:r>
                          <m:rPr>
                            <m:nor/>
                          </m:rPr>
                          <a:rPr lang="en-IN" sz="2500" dirty="0"/>
                          <m:t>)</m:t>
                        </m:r>
                      </m:den>
                    </m:f>
                    <m:r>
                      <a:rPr lang="en-US" sz="2500" b="0" i="0" smtClean="0">
                        <a:latin typeface="Cambria Math" panose="02040503050406030204" pitchFamily="18" charset="0"/>
                      </a:rPr>
                      <m:t>=</m:t>
                    </m:r>
                    <m:f>
                      <m:fPr>
                        <m:ctrlPr>
                          <a:rPr lang="en-US" sz="2500" b="0" i="1" smtClean="0">
                            <a:latin typeface="Cambria Math" panose="02040503050406030204" pitchFamily="18" charset="0"/>
                          </a:rPr>
                        </m:ctrlPr>
                      </m:fPr>
                      <m:num>
                        <m:sSub>
                          <m:sSubPr>
                            <m:ctrlPr>
                              <a:rPr lang="en-IN" sz="2500" i="1">
                                <a:latin typeface="Cambria Math" panose="02040503050406030204" pitchFamily="18" charset="0"/>
                              </a:rPr>
                            </m:ctrlPr>
                          </m:sSubPr>
                          <m:e>
                            <m:r>
                              <m:rPr>
                                <m:sty m:val="p"/>
                              </m:rPr>
                              <a:rPr lang="en-US" sz="2500">
                                <a:latin typeface="Cambria Math" panose="02040503050406030204" pitchFamily="18" charset="0"/>
                              </a:rPr>
                              <m:t>I</m:t>
                            </m:r>
                          </m:e>
                          <m:sub>
                            <m:r>
                              <m:rPr>
                                <m:sty m:val="p"/>
                              </m:rPr>
                              <a:rPr lang="en-US" sz="2500">
                                <a:latin typeface="Cambria Math" panose="02040503050406030204" pitchFamily="18" charset="0"/>
                              </a:rPr>
                              <m:t>m</m:t>
                            </m:r>
                          </m:sub>
                        </m:sSub>
                        <m:r>
                          <m:rPr>
                            <m:nor/>
                          </m:rPr>
                          <a:rPr lang="en-US" sz="2500">
                            <a:latin typeface="Cambria Math" panose="02040503050406030204" pitchFamily="18" charset="0"/>
                          </a:rPr>
                          <m:t>R</m:t>
                        </m:r>
                      </m:num>
                      <m:den>
                        <m:sSub>
                          <m:sSubPr>
                            <m:ctrlPr>
                              <a:rPr lang="en-IN" sz="2500" i="1">
                                <a:latin typeface="Cambria Math" panose="02040503050406030204" pitchFamily="18" charset="0"/>
                              </a:rPr>
                            </m:ctrlPr>
                          </m:sSubPr>
                          <m:e>
                            <m:r>
                              <m:rPr>
                                <m:sty m:val="p"/>
                              </m:rPr>
                              <a:rPr lang="en-US" sz="2500" i="0" smtClean="0">
                                <a:latin typeface="Cambria Math" panose="02040503050406030204" pitchFamily="18" charset="0"/>
                              </a:rPr>
                              <m:t>I</m:t>
                            </m:r>
                          </m:e>
                          <m:sub>
                            <m:r>
                              <m:rPr>
                                <m:sty m:val="p"/>
                              </m:rPr>
                              <a:rPr lang="en-US" sz="2500" i="0" smtClean="0">
                                <a:latin typeface="Cambria Math" panose="02040503050406030204" pitchFamily="18" charset="0"/>
                              </a:rPr>
                              <m:t>m</m:t>
                            </m:r>
                          </m:sub>
                        </m:sSub>
                        <m:r>
                          <m:rPr>
                            <m:nor/>
                          </m:rPr>
                          <a:rPr lang="en-US" sz="2500" dirty="0">
                            <a:ea typeface="Cambria Math" panose="02040503050406030204" pitchFamily="18" charset="0"/>
                          </a:rPr>
                          <m:t>  </m:t>
                        </m:r>
                      </m:den>
                    </m:f>
                  </m:oMath>
                </a14:m>
                <a:endParaRPr lang="en-US" sz="2200" i="0" dirty="0">
                  <a:latin typeface="Cambria Math" panose="02040503050406030204" pitchFamily="18" charset="0"/>
                  <a:ea typeface="Cambria Math" panose="02040503050406030204" pitchFamily="18" charset="0"/>
                </a:endParaRPr>
              </a:p>
              <a:p>
                <a:pPr marL="0" indent="0">
                  <a:lnSpc>
                    <a:spcPct val="100000"/>
                  </a:lnSpc>
                  <a:buNone/>
                </a:pPr>
                <a14:m>
                  <m:oMath xmlns:m="http://schemas.openxmlformats.org/officeDocument/2006/math">
                    <m:r>
                      <a:rPr lang="en-US" sz="2200" b="0" i="0" smtClean="0">
                        <a:latin typeface="Cambria Math" panose="02040503050406030204" pitchFamily="18" charset="0"/>
                        <a:ea typeface="Cambria Math" panose="02040503050406030204" pitchFamily="18" charset="0"/>
                      </a:rPr>
                      <m:t>     </m:t>
                    </m:r>
                    <m:r>
                      <a:rPr lang="en-IN" sz="2200" i="0" smtClean="0">
                        <a:latin typeface="Cambria Math" panose="02040503050406030204" pitchFamily="18" charset="0"/>
                        <a:ea typeface="Cambria Math" panose="02040503050406030204" pitchFamily="18" charset="0"/>
                      </a:rPr>
                      <m:t>∴</m:t>
                    </m:r>
                  </m:oMath>
                </a14:m>
                <a:r>
                  <a:rPr lang="en-IN" sz="2200" dirty="0"/>
                  <a:t> Z=</a:t>
                </a:r>
                <a14:m>
                  <m:oMath xmlns:m="http://schemas.openxmlformats.org/officeDocument/2006/math">
                    <m:r>
                      <a:rPr lang="en-US" sz="2200" b="0" i="1" smtClean="0">
                        <a:latin typeface="Cambria Math" panose="02040503050406030204" pitchFamily="18" charset="0"/>
                      </a:rPr>
                      <m:t>𝑅</m:t>
                    </m:r>
                  </m:oMath>
                </a14:m>
                <a:endParaRPr lang="en-IN" sz="2200" dirty="0"/>
              </a:p>
            </p:txBody>
          </p:sp>
        </mc:Choice>
        <mc:Fallback xmlns="">
          <p:sp>
            <p:nvSpPr>
              <p:cNvPr id="6" name="TextBox 5">
                <a:extLst>
                  <a:ext uri="{FF2B5EF4-FFF2-40B4-BE49-F238E27FC236}">
                    <a16:creationId xmlns:a16="http://schemas.microsoft.com/office/drawing/2014/main" id="{F5A58A62-CB79-ED61-7845-D428D6A788F7}"/>
                  </a:ext>
                </a:extLst>
              </p:cNvPr>
              <p:cNvSpPr txBox="1">
                <a:spLocks noRot="1" noChangeAspect="1" noMove="1" noResize="1" noEditPoints="1" noAdjustHandles="1" noChangeArrowheads="1" noChangeShapeType="1" noTextEdit="1"/>
              </p:cNvSpPr>
              <p:nvPr/>
            </p:nvSpPr>
            <p:spPr>
              <a:xfrm>
                <a:off x="195783" y="2460217"/>
                <a:ext cx="6405464" cy="1130246"/>
              </a:xfrm>
              <a:prstGeom prst="rect">
                <a:avLst/>
              </a:prstGeom>
              <a:blipFill>
                <a:blip r:embed="rId3"/>
                <a:stretch>
                  <a:fillRect l="-1237" b="-10270"/>
                </a:stretch>
              </a:blipFill>
            </p:spPr>
            <p:txBody>
              <a:bodyPr/>
              <a:lstStyle/>
              <a:p>
                <a:r>
                  <a:rPr lang="en-IN">
                    <a:noFill/>
                  </a:rPr>
                  <a:t> </a:t>
                </a:r>
              </a:p>
            </p:txBody>
          </p:sp>
        </mc:Fallback>
      </mc:AlternateContent>
      <p:sp>
        <p:nvSpPr>
          <p:cNvPr id="10" name="TextBox 9">
            <a:extLst>
              <a:ext uri="{FF2B5EF4-FFF2-40B4-BE49-F238E27FC236}">
                <a16:creationId xmlns:a16="http://schemas.microsoft.com/office/drawing/2014/main" id="{F71FD996-563D-5806-BBE9-C621531D70E3}"/>
              </a:ext>
            </a:extLst>
          </p:cNvPr>
          <p:cNvSpPr txBox="1"/>
          <p:nvPr/>
        </p:nvSpPr>
        <p:spPr>
          <a:xfrm>
            <a:off x="566154" y="3210009"/>
            <a:ext cx="1085364" cy="437981"/>
          </a:xfrm>
          <a:prstGeom prst="rect">
            <a:avLst/>
          </a:prstGeom>
          <a:noFill/>
          <a:ln w="28575">
            <a:solidFill>
              <a:schemeClr val="tx1"/>
            </a:solidFill>
          </a:ln>
        </p:spPr>
        <p:txBody>
          <a:bodyPr wrap="square" rtlCol="0">
            <a:spAutoFit/>
          </a:bodyPr>
          <a:lstStyle/>
          <a:p>
            <a:endParaRPr lang="en-IN" dirty="0"/>
          </a:p>
        </p:txBody>
      </p:sp>
      <p:pic>
        <p:nvPicPr>
          <p:cNvPr id="11" name="Picture 10" descr="A diagram of a circuit&#10;&#10;Description automatically generated">
            <a:extLst>
              <a:ext uri="{FF2B5EF4-FFF2-40B4-BE49-F238E27FC236}">
                <a16:creationId xmlns:a16="http://schemas.microsoft.com/office/drawing/2014/main" id="{4C90FE7E-3CCC-BF3D-523A-3BF10723307C}"/>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brightnessContrast bright="20000"/>
                    </a14:imgEffect>
                  </a14:imgLayer>
                </a14:imgProps>
              </a:ext>
            </a:extLst>
          </a:blip>
          <a:stretch>
            <a:fillRect/>
          </a:stretch>
        </p:blipFill>
        <p:spPr>
          <a:xfrm>
            <a:off x="8262567" y="712689"/>
            <a:ext cx="3498215" cy="1811020"/>
          </a:xfrm>
          <a:prstGeom prst="rect">
            <a:avLst/>
          </a:prstGeom>
        </p:spPr>
      </p:pic>
      <p:pic>
        <p:nvPicPr>
          <p:cNvPr id="7" name="Picture 6">
            <a:extLst>
              <a:ext uri="{FF2B5EF4-FFF2-40B4-BE49-F238E27FC236}">
                <a16:creationId xmlns:a16="http://schemas.microsoft.com/office/drawing/2014/main" id="{73A35691-2B92-39B9-9C3C-FF1A4FF1B3D2}"/>
              </a:ext>
            </a:extLst>
          </p:cNvPr>
          <p:cNvPicPr>
            <a:picLocks noChangeAspect="1"/>
          </p:cNvPicPr>
          <p:nvPr/>
        </p:nvPicPr>
        <p:blipFill>
          <a:blip r:embed="rId6">
            <a:extLst>
              <a:ext uri="{28A0092B-C50C-407E-A947-70E740481C1C}">
                <a14:useLocalDpi xmlns:a14="http://schemas.microsoft.com/office/drawing/2010/main" val="0"/>
              </a:ext>
            </a:extLst>
          </a:blip>
          <a:srcRect t="3210" b="7171"/>
          <a:stretch/>
        </p:blipFill>
        <p:spPr bwMode="auto">
          <a:xfrm>
            <a:off x="8282730" y="2628334"/>
            <a:ext cx="3231246" cy="2060074"/>
          </a:xfrm>
          <a:prstGeom prst="rect">
            <a:avLst/>
          </a:prstGeom>
          <a:noFill/>
          <a:ln>
            <a:noFill/>
          </a:ln>
        </p:spPr>
      </p:pic>
    </p:spTree>
    <p:extLst>
      <p:ext uri="{BB962C8B-B14F-4D97-AF65-F5344CB8AC3E}">
        <p14:creationId xmlns:p14="http://schemas.microsoft.com/office/powerpoint/2010/main" val="3208560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180DB-593E-0244-CAC7-F0905235334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569304-B326-839F-7FB5-B9D06ED82007}"/>
              </a:ext>
            </a:extLst>
          </p:cNvPr>
          <p:cNvSpPr>
            <a:spLocks noGrp="1"/>
          </p:cNvSpPr>
          <p:nvPr>
            <p:ph type="sldNum" sz="quarter" idx="12"/>
          </p:nvPr>
        </p:nvSpPr>
        <p:spPr/>
        <p:txBody>
          <a:bodyPr/>
          <a:lstStyle/>
          <a:p>
            <a:fld id="{CBABCCC1-BF11-4F37-963E-1BCD5B23FD72}" type="slidenum">
              <a:rPr lang="en-IN" smtClean="0"/>
              <a:t>8</a:t>
            </a:fld>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B2381E3-9F2E-BC7D-034E-6F7D2FA55235}"/>
                  </a:ext>
                </a:extLst>
              </p:cNvPr>
              <p:cNvSpPr txBox="1">
                <a:spLocks/>
              </p:cNvSpPr>
              <p:nvPr/>
            </p:nvSpPr>
            <p:spPr>
              <a:xfrm>
                <a:off x="83976" y="1073340"/>
                <a:ext cx="10970878" cy="4151803"/>
              </a:xfrm>
              <a:prstGeom prst="rect">
                <a:avLst/>
              </a:prstGeom>
            </p:spPr>
            <p:txBody>
              <a:bodyPr>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lnSpc>
                    <a:spcPct val="100000"/>
                  </a:lnSpc>
                  <a:buFont typeface="Arial" panose="020B0604020202020204" pitchFamily="34" charset="0"/>
                  <a:buNone/>
                </a:pPr>
                <a:r>
                  <a:rPr lang="en-IN" sz="2200" dirty="0"/>
                  <a:t>Consider the function </a:t>
                </a:r>
                <a:r>
                  <a:rPr lang="en-IN" sz="2200" dirty="0" err="1"/>
                  <a:t>i</a:t>
                </a:r>
                <a:r>
                  <a:rPr lang="en-IN" sz="2200" dirty="0"/>
                  <a:t>(t)=</a:t>
                </a:r>
                <a14:m>
                  <m:oMath xmlns:m="http://schemas.openxmlformats.org/officeDocument/2006/math">
                    <m:sSub>
                      <m:sSubPr>
                        <m:ctrlPr>
                          <a:rPr lang="en-IN" sz="2200" i="1" smtClean="0">
                            <a:latin typeface="Cambria Math" panose="02040503050406030204" pitchFamily="18" charset="0"/>
                          </a:rPr>
                        </m:ctrlPr>
                      </m:sSubPr>
                      <m:e>
                        <m:r>
                          <m:rPr>
                            <m:sty m:val="p"/>
                          </m:rPr>
                          <a:rPr lang="en-US" sz="2200" smtClean="0">
                            <a:latin typeface="Cambria Math" panose="02040503050406030204" pitchFamily="18" charset="0"/>
                          </a:rPr>
                          <m:t>I</m:t>
                        </m:r>
                      </m:e>
                      <m:sub>
                        <m:r>
                          <m:rPr>
                            <m:sty m:val="p"/>
                          </m:rPr>
                          <a:rPr lang="en-US" sz="2200" smtClean="0">
                            <a:latin typeface="Cambria Math" panose="02040503050406030204" pitchFamily="18" charset="0"/>
                          </a:rPr>
                          <m:t>m</m:t>
                        </m:r>
                      </m:sub>
                    </m:sSub>
                  </m:oMath>
                </a14:m>
                <a:r>
                  <a:rPr lang="en-IN" sz="2200" dirty="0"/>
                  <a:t>sin</a:t>
                </a:r>
                <a14:m>
                  <m:oMath xmlns:m="http://schemas.openxmlformats.org/officeDocument/2006/math">
                    <m:r>
                      <m:rPr>
                        <m:sty m:val="p"/>
                      </m:rPr>
                      <a:rPr lang="en-IN" sz="2200" dirty="0" smtClean="0">
                        <a:latin typeface="Cambria Math" panose="02040503050406030204" pitchFamily="18" charset="0"/>
                        <a:ea typeface="Cambria Math" panose="02040503050406030204" pitchFamily="18" charset="0"/>
                      </a:rPr>
                      <m:t>ω</m:t>
                    </m:r>
                    <m:r>
                      <m:rPr>
                        <m:sty m:val="p"/>
                      </m:rPr>
                      <a:rPr lang="en-US" sz="2200" dirty="0" smtClean="0">
                        <a:latin typeface="Cambria Math" panose="02040503050406030204" pitchFamily="18" charset="0"/>
                        <a:ea typeface="Cambria Math" panose="02040503050406030204" pitchFamily="18" charset="0"/>
                      </a:rPr>
                      <m:t>t</m:t>
                    </m:r>
                    <m:r>
                      <a:rPr lang="en-US" sz="2200" dirty="0" smtClean="0">
                        <a:latin typeface="Cambria Math" panose="02040503050406030204" pitchFamily="18" charset="0"/>
                        <a:ea typeface="Cambria Math" panose="02040503050406030204" pitchFamily="18" charset="0"/>
                      </a:rPr>
                      <m:t>=</m:t>
                    </m:r>
                  </m:oMath>
                </a14:m>
                <a:r>
                  <a:rPr lang="en-IN" sz="2200" dirty="0"/>
                  <a:t> </a:t>
                </a:r>
                <a14:m>
                  <m:oMath xmlns:m="http://schemas.openxmlformats.org/officeDocument/2006/math">
                    <m:sSub>
                      <m:sSubPr>
                        <m:ctrlPr>
                          <a:rPr lang="en-IN" sz="2200" i="1">
                            <a:latin typeface="Cambria Math" panose="02040503050406030204" pitchFamily="18" charset="0"/>
                          </a:rPr>
                        </m:ctrlPr>
                      </m:sSubPr>
                      <m:e>
                        <m:r>
                          <m:rPr>
                            <m:sty m:val="p"/>
                          </m:rPr>
                          <a:rPr lang="en-US" sz="2200" smtClean="0">
                            <a:latin typeface="Cambria Math" panose="02040503050406030204" pitchFamily="18" charset="0"/>
                          </a:rPr>
                          <m:t>I</m:t>
                        </m:r>
                      </m:e>
                      <m:sub>
                        <m:r>
                          <m:rPr>
                            <m:sty m:val="p"/>
                          </m:rPr>
                          <a:rPr lang="en-US" sz="2200" smtClean="0">
                            <a:latin typeface="Cambria Math" panose="02040503050406030204" pitchFamily="18" charset="0"/>
                          </a:rPr>
                          <m:t>m</m:t>
                        </m:r>
                      </m:sub>
                    </m:sSub>
                  </m:oMath>
                </a14:m>
                <a:r>
                  <a:rPr lang="en-US" sz="2200" dirty="0">
                    <a:ea typeface="Cambria Math" panose="02040503050406030204" pitchFamily="18" charset="0"/>
                  </a:rPr>
                  <a:t> </a:t>
                </a:r>
                <a14:m>
                  <m:oMath xmlns:m="http://schemas.openxmlformats.org/officeDocument/2006/math">
                    <m:r>
                      <a:rPr lang="en-US" sz="2200" smtClean="0">
                        <a:latin typeface="Cambria Math" panose="02040503050406030204" pitchFamily="18" charset="0"/>
                        <a:ea typeface="Cambria Math" panose="02040503050406030204" pitchFamily="18" charset="0"/>
                      </a:rPr>
                      <m:t>∠</m:t>
                    </m:r>
                  </m:oMath>
                </a14:m>
                <a:r>
                  <a:rPr lang="en-US" sz="2200" dirty="0">
                    <a:ea typeface="Cambria Math" panose="02040503050406030204" pitchFamily="18" charset="0"/>
                  </a:rPr>
                  <a:t> </a:t>
                </a:r>
                <a14:m>
                  <m:oMath xmlns:m="http://schemas.openxmlformats.org/officeDocument/2006/math">
                    <m:r>
                      <a:rPr lang="en-US" sz="2200" dirty="0" smtClean="0">
                        <a:latin typeface="Cambria Math" panose="02040503050406030204" pitchFamily="18" charset="0"/>
                        <a:ea typeface="Cambria Math" panose="02040503050406030204" pitchFamily="18" charset="0"/>
                      </a:rPr>
                      <m:t>0°=</m:t>
                    </m:r>
                    <m:sSub>
                      <m:sSubPr>
                        <m:ctrlPr>
                          <a:rPr lang="en-IN" sz="2200" i="1">
                            <a:latin typeface="Cambria Math" panose="02040503050406030204" pitchFamily="18" charset="0"/>
                          </a:rPr>
                        </m:ctrlPr>
                      </m:sSubPr>
                      <m:e>
                        <m:r>
                          <m:rPr>
                            <m:sty m:val="p"/>
                          </m:rPr>
                          <a:rPr lang="en-US" sz="2200">
                            <a:latin typeface="Cambria Math" panose="02040503050406030204" pitchFamily="18" charset="0"/>
                          </a:rPr>
                          <m:t>I</m:t>
                        </m:r>
                      </m:e>
                      <m:sub>
                        <m:r>
                          <m:rPr>
                            <m:sty m:val="p"/>
                          </m:rPr>
                          <a:rPr lang="en-US" sz="2200">
                            <a:latin typeface="Cambria Math" panose="02040503050406030204" pitchFamily="18" charset="0"/>
                          </a:rPr>
                          <m:t>m</m:t>
                        </m:r>
                      </m:sub>
                    </m:sSub>
                    <m:r>
                      <a:rPr lang="en-US" sz="2200" i="1">
                        <a:latin typeface="Cambria Math" panose="02040503050406030204" pitchFamily="18" charset="0"/>
                      </a:rPr>
                      <m:t> </m:t>
                    </m:r>
                  </m:oMath>
                </a14:m>
                <a:endParaRPr lang="en-US" sz="2200" dirty="0"/>
              </a:p>
              <a:p>
                <a:pPr marL="0" indent="0">
                  <a:lnSpc>
                    <a:spcPct val="100000"/>
                  </a:lnSpc>
                  <a:buFont typeface="Arial" panose="020B0604020202020204" pitchFamily="34" charset="0"/>
                  <a:buNone/>
                </a:pPr>
                <a:r>
                  <a:rPr lang="en-US" sz="2200" dirty="0"/>
                  <a:t>The voltage current relation in the case of an </a:t>
                </a:r>
                <a:r>
                  <a:rPr lang="en-US" sz="2200" b="1" dirty="0"/>
                  <a:t>inductor</a:t>
                </a:r>
                <a:r>
                  <a:rPr lang="en-US" sz="2200" dirty="0"/>
                  <a:t> is given by</a:t>
                </a:r>
              </a:p>
              <a:p>
                <a:pPr marL="0" indent="0">
                  <a:lnSpc>
                    <a:spcPct val="100000"/>
                  </a:lnSpc>
                  <a:buFont typeface="Arial" panose="020B0604020202020204" pitchFamily="34" charset="0"/>
                  <a:buNone/>
                </a:pPr>
                <a:r>
                  <a:rPr lang="en-IN" sz="2400" dirty="0"/>
                  <a:t>v(t)=</a:t>
                </a:r>
                <a14:m>
                  <m:oMath xmlns:m="http://schemas.openxmlformats.org/officeDocument/2006/math">
                    <m:r>
                      <m:rPr>
                        <m:sty m:val="p"/>
                      </m:rPr>
                      <a:rPr lang="en-US" sz="2400" smtClean="0">
                        <a:latin typeface="Cambria Math" panose="02040503050406030204" pitchFamily="18" charset="0"/>
                      </a:rPr>
                      <m:t>L</m:t>
                    </m:r>
                    <m:f>
                      <m:fPr>
                        <m:ctrlPr>
                          <a:rPr lang="en-IN" sz="2400" i="1" smtClean="0">
                            <a:latin typeface="Cambria Math" panose="02040503050406030204" pitchFamily="18" charset="0"/>
                          </a:rPr>
                        </m:ctrlPr>
                      </m:fPr>
                      <m:num>
                        <m:r>
                          <m:rPr>
                            <m:sty m:val="p"/>
                          </m:rPr>
                          <a:rPr lang="en-US" sz="2400" i="0" smtClean="0">
                            <a:latin typeface="Cambria Math" panose="02040503050406030204" pitchFamily="18" charset="0"/>
                          </a:rPr>
                          <m:t>di</m:t>
                        </m:r>
                        <m:r>
                          <a:rPr lang="en-US" sz="2400" b="0" i="0" smtClean="0">
                            <a:latin typeface="Cambria Math" panose="02040503050406030204" pitchFamily="18" charset="0"/>
                          </a:rPr>
                          <m:t>(</m:t>
                        </m:r>
                        <m:r>
                          <m:rPr>
                            <m:sty m:val="p"/>
                          </m:rPr>
                          <a:rPr lang="en-US" sz="2400" b="0" i="0" smtClean="0">
                            <a:latin typeface="Cambria Math" panose="02040503050406030204" pitchFamily="18" charset="0"/>
                          </a:rPr>
                          <m:t>t</m:t>
                        </m:r>
                        <m:r>
                          <a:rPr lang="en-US" sz="2400" b="0" i="0" smtClean="0">
                            <a:latin typeface="Cambria Math" panose="02040503050406030204" pitchFamily="18" charset="0"/>
                          </a:rPr>
                          <m:t>)</m:t>
                        </m:r>
                      </m:num>
                      <m:den>
                        <m:r>
                          <m:rPr>
                            <m:sty m:val="p"/>
                          </m:rPr>
                          <a:rPr lang="en-US" sz="2400" smtClean="0">
                            <a:latin typeface="Cambria Math" panose="02040503050406030204" pitchFamily="18" charset="0"/>
                          </a:rPr>
                          <m:t>dt</m:t>
                        </m:r>
                      </m:den>
                    </m:f>
                  </m:oMath>
                </a14:m>
                <a:endParaRPr lang="en-US" sz="2400" dirty="0">
                  <a:ea typeface="Cambria Math" panose="02040503050406030204" pitchFamily="18" charset="0"/>
                </a:endParaRPr>
              </a:p>
              <a:p>
                <a:pPr marL="0" indent="0">
                  <a:lnSpc>
                    <a:spcPct val="100000"/>
                  </a:lnSpc>
                  <a:buFont typeface="Arial" panose="020B0604020202020204" pitchFamily="34" charset="0"/>
                  <a:buNone/>
                </a:pPr>
                <a:r>
                  <a:rPr lang="en-IN" sz="2400" dirty="0"/>
                  <a:t>v(t)=</a:t>
                </a:r>
                <a14:m>
                  <m:oMath xmlns:m="http://schemas.openxmlformats.org/officeDocument/2006/math">
                    <m:r>
                      <m:rPr>
                        <m:sty m:val="p"/>
                      </m:rPr>
                      <a:rPr lang="en-US" sz="2400" smtClean="0">
                        <a:latin typeface="Cambria Math" panose="02040503050406030204" pitchFamily="18" charset="0"/>
                      </a:rPr>
                      <m:t>L</m:t>
                    </m:r>
                    <m:f>
                      <m:fPr>
                        <m:ctrlPr>
                          <a:rPr lang="en-IN" sz="2400" i="1" smtClean="0">
                            <a:latin typeface="Cambria Math" panose="02040503050406030204" pitchFamily="18" charset="0"/>
                          </a:rPr>
                        </m:ctrlPr>
                      </m:fPr>
                      <m:num>
                        <m:r>
                          <m:rPr>
                            <m:sty m:val="p"/>
                          </m:rPr>
                          <a:rPr lang="en-US" sz="2400" smtClean="0">
                            <a:latin typeface="Cambria Math" panose="02040503050406030204" pitchFamily="18" charset="0"/>
                          </a:rPr>
                          <m:t>d</m:t>
                        </m:r>
                      </m:num>
                      <m:den>
                        <m:r>
                          <m:rPr>
                            <m:sty m:val="p"/>
                          </m:rPr>
                          <a:rPr lang="en-US" sz="2400" smtClean="0">
                            <a:latin typeface="Cambria Math" panose="02040503050406030204" pitchFamily="18" charset="0"/>
                          </a:rPr>
                          <m:t>dt</m:t>
                        </m:r>
                      </m:den>
                    </m:f>
                    <m:d>
                      <m:dPr>
                        <m:ctrlPr>
                          <a:rPr lang="en-US" sz="2400" i="1" smtClean="0">
                            <a:latin typeface="Cambria Math" panose="02040503050406030204" pitchFamily="18" charset="0"/>
                          </a:rPr>
                        </m:ctrlPr>
                      </m:dPr>
                      <m:e>
                        <m:sSub>
                          <m:sSubPr>
                            <m:ctrlPr>
                              <a:rPr lang="en-IN" sz="2400" i="1">
                                <a:latin typeface="Cambria Math" panose="02040503050406030204" pitchFamily="18" charset="0"/>
                              </a:rPr>
                            </m:ctrlPr>
                          </m:sSubPr>
                          <m:e>
                            <m:r>
                              <m:rPr>
                                <m:sty m:val="p"/>
                              </m:rPr>
                              <a:rPr lang="en-US" sz="2400" smtClean="0">
                                <a:latin typeface="Cambria Math" panose="02040503050406030204" pitchFamily="18" charset="0"/>
                              </a:rPr>
                              <m:t>I</m:t>
                            </m:r>
                          </m:e>
                          <m:sub>
                            <m:r>
                              <m:rPr>
                                <m:sty m:val="p"/>
                              </m:rPr>
                              <a:rPr lang="en-US" sz="2400" smtClean="0">
                                <a:latin typeface="Cambria Math" panose="02040503050406030204" pitchFamily="18" charset="0"/>
                              </a:rPr>
                              <m:t>m</m:t>
                            </m:r>
                          </m:sub>
                        </m:sSub>
                        <m:r>
                          <m:rPr>
                            <m:nor/>
                          </m:rPr>
                          <a:rPr lang="en-IN" sz="2400" dirty="0"/>
                          <m:t>sin</m:t>
                        </m:r>
                        <m:r>
                          <m:rPr>
                            <m:sty m:val="p"/>
                          </m:rPr>
                          <a:rPr lang="en-IN" sz="2400" dirty="0" smtClean="0">
                            <a:latin typeface="Cambria Math" panose="02040503050406030204" pitchFamily="18" charset="0"/>
                            <a:ea typeface="Cambria Math" panose="02040503050406030204" pitchFamily="18" charset="0"/>
                          </a:rPr>
                          <m:t>ω</m:t>
                        </m:r>
                        <m:r>
                          <m:rPr>
                            <m:sty m:val="p"/>
                          </m:rPr>
                          <a:rPr lang="en-US" sz="2400" dirty="0" smtClean="0">
                            <a:latin typeface="Cambria Math" panose="02040503050406030204" pitchFamily="18" charset="0"/>
                            <a:ea typeface="Cambria Math" panose="02040503050406030204" pitchFamily="18" charset="0"/>
                          </a:rPr>
                          <m:t>t</m:t>
                        </m:r>
                      </m:e>
                    </m:d>
                  </m:oMath>
                </a14:m>
                <a:r>
                  <a:rPr lang="en-IN" sz="2400" dirty="0"/>
                  <a:t>=</a:t>
                </a:r>
                <a14:m>
                  <m:oMath xmlns:m="http://schemas.openxmlformats.org/officeDocument/2006/math">
                    <m:r>
                      <m:rPr>
                        <m:sty m:val="p"/>
                      </m:rPr>
                      <a:rPr lang="en-US" sz="2400" dirty="0" smtClean="0">
                        <a:latin typeface="Cambria Math" panose="02040503050406030204" pitchFamily="18" charset="0"/>
                        <a:ea typeface="Cambria Math" panose="02040503050406030204" pitchFamily="18" charset="0"/>
                      </a:rPr>
                      <m:t>L</m:t>
                    </m:r>
                    <m:r>
                      <m:rPr>
                        <m:sty m:val="p"/>
                      </m:rPr>
                      <a:rPr lang="en-IN" sz="2400" dirty="0" smtClean="0">
                        <a:latin typeface="Cambria Math" panose="02040503050406030204" pitchFamily="18" charset="0"/>
                        <a:ea typeface="Cambria Math" panose="02040503050406030204" pitchFamily="18" charset="0"/>
                      </a:rPr>
                      <m:t>ω</m:t>
                    </m:r>
                    <m:sSub>
                      <m:sSubPr>
                        <m:ctrlPr>
                          <a:rPr lang="en-IN" sz="2400" i="1">
                            <a:latin typeface="Cambria Math" panose="02040503050406030204" pitchFamily="18" charset="0"/>
                          </a:rPr>
                        </m:ctrlPr>
                      </m:sSubPr>
                      <m:e>
                        <m:r>
                          <m:rPr>
                            <m:sty m:val="p"/>
                          </m:rPr>
                          <a:rPr lang="en-US" sz="2400" smtClean="0">
                            <a:latin typeface="Cambria Math" panose="02040503050406030204" pitchFamily="18" charset="0"/>
                          </a:rPr>
                          <m:t>I</m:t>
                        </m:r>
                      </m:e>
                      <m:sub>
                        <m:r>
                          <m:rPr>
                            <m:sty m:val="p"/>
                          </m:rPr>
                          <a:rPr lang="en-US" sz="2400" smtClean="0">
                            <a:latin typeface="Cambria Math" panose="02040503050406030204" pitchFamily="18" charset="0"/>
                          </a:rPr>
                          <m:t>m</m:t>
                        </m:r>
                      </m:sub>
                    </m:sSub>
                    <m:r>
                      <m:rPr>
                        <m:nor/>
                      </m:rPr>
                      <a:rPr lang="en-US" sz="2400" dirty="0" smtClean="0">
                        <a:latin typeface="Cambria Math" panose="02040503050406030204" pitchFamily="18" charset="0"/>
                        <a:ea typeface="Cambria Math" panose="02040503050406030204" pitchFamily="18" charset="0"/>
                      </a:rPr>
                      <m:t>c</m:t>
                    </m:r>
                    <m:r>
                      <m:rPr>
                        <m:sty m:val="p"/>
                      </m:rPr>
                      <a:rPr lang="en-US" sz="2400" dirty="0" smtClean="0">
                        <a:latin typeface="Cambria Math" panose="02040503050406030204" pitchFamily="18" charset="0"/>
                        <a:ea typeface="Cambria Math" panose="02040503050406030204" pitchFamily="18" charset="0"/>
                      </a:rPr>
                      <m:t>os</m:t>
                    </m:r>
                    <m:r>
                      <m:rPr>
                        <m:sty m:val="p"/>
                      </m:rPr>
                      <a:rPr lang="en-IN" sz="2400" dirty="0" smtClean="0">
                        <a:latin typeface="Cambria Math" panose="02040503050406030204" pitchFamily="18" charset="0"/>
                        <a:ea typeface="Cambria Math" panose="02040503050406030204" pitchFamily="18" charset="0"/>
                      </a:rPr>
                      <m:t>ω</m:t>
                    </m:r>
                    <m:r>
                      <m:rPr>
                        <m:sty m:val="p"/>
                      </m:rPr>
                      <a:rPr lang="en-US" sz="2400" dirty="0" smtClean="0">
                        <a:latin typeface="Cambria Math" panose="02040503050406030204" pitchFamily="18" charset="0"/>
                        <a:ea typeface="Cambria Math" panose="02040503050406030204" pitchFamily="18" charset="0"/>
                      </a:rPr>
                      <m:t>t</m:t>
                    </m:r>
                    <m:r>
                      <m:rPr>
                        <m:nor/>
                      </m:rPr>
                      <a:rPr lang="en-US" sz="2400" dirty="0">
                        <a:ea typeface="Cambria Math" panose="02040503050406030204" pitchFamily="18" charset="0"/>
                      </a:rPr>
                      <m:t> </m:t>
                    </m:r>
                  </m:oMath>
                </a14:m>
                <a:r>
                  <a:rPr lang="en-IN" sz="2400" dirty="0"/>
                  <a:t>= </a:t>
                </a:r>
                <a14:m>
                  <m:oMath xmlns:m="http://schemas.openxmlformats.org/officeDocument/2006/math">
                    <m:r>
                      <m:rPr>
                        <m:sty m:val="p"/>
                      </m:rPr>
                      <a:rPr lang="en-US" sz="2400" dirty="0" smtClean="0">
                        <a:latin typeface="Cambria Math" panose="02040503050406030204" pitchFamily="18" charset="0"/>
                        <a:ea typeface="Cambria Math" panose="02040503050406030204" pitchFamily="18" charset="0"/>
                      </a:rPr>
                      <m:t>L</m:t>
                    </m:r>
                    <m:r>
                      <m:rPr>
                        <m:sty m:val="p"/>
                      </m:rPr>
                      <a:rPr lang="en-IN" sz="2400" dirty="0" smtClean="0">
                        <a:latin typeface="Cambria Math" panose="02040503050406030204" pitchFamily="18" charset="0"/>
                        <a:ea typeface="Cambria Math" panose="02040503050406030204" pitchFamily="18" charset="0"/>
                      </a:rPr>
                      <m:t>ω</m:t>
                    </m:r>
                    <m:sSub>
                      <m:sSubPr>
                        <m:ctrlPr>
                          <a:rPr lang="en-IN" sz="2400" i="1">
                            <a:latin typeface="Cambria Math" panose="02040503050406030204" pitchFamily="18" charset="0"/>
                          </a:rPr>
                        </m:ctrlPr>
                      </m:sSubPr>
                      <m:e>
                        <m:r>
                          <m:rPr>
                            <m:sty m:val="p"/>
                          </m:rPr>
                          <a:rPr lang="en-US" sz="2400" smtClean="0">
                            <a:latin typeface="Cambria Math" panose="02040503050406030204" pitchFamily="18" charset="0"/>
                          </a:rPr>
                          <m:t>I</m:t>
                        </m:r>
                      </m:e>
                      <m:sub>
                        <m:r>
                          <m:rPr>
                            <m:sty m:val="p"/>
                          </m:rPr>
                          <a:rPr lang="en-US" sz="2400" smtClean="0">
                            <a:latin typeface="Cambria Math" panose="02040503050406030204" pitchFamily="18" charset="0"/>
                          </a:rPr>
                          <m:t>m</m:t>
                        </m:r>
                      </m:sub>
                    </m:sSub>
                    <m:r>
                      <m:rPr>
                        <m:sty m:val="p"/>
                      </m:rPr>
                      <a:rPr lang="en-US" sz="2400" b="0" i="0" dirty="0" smtClean="0">
                        <a:latin typeface="Cambria Math" panose="02040503050406030204" pitchFamily="18" charset="0"/>
                      </a:rPr>
                      <m:t>sin</m:t>
                    </m:r>
                    <m:d>
                      <m:dPr>
                        <m:ctrlPr>
                          <a:rPr lang="en-IN" sz="2400" i="1" dirty="0" smtClean="0">
                            <a:latin typeface="Cambria Math" panose="02040503050406030204" pitchFamily="18" charset="0"/>
                          </a:rPr>
                        </m:ctrlPr>
                      </m:dPr>
                      <m:e>
                        <m:r>
                          <m:rPr>
                            <m:sty m:val="p"/>
                          </m:rPr>
                          <a:rPr lang="en-IN" sz="2400" dirty="0" smtClean="0">
                            <a:latin typeface="Cambria Math" panose="02040503050406030204" pitchFamily="18" charset="0"/>
                            <a:ea typeface="Cambria Math" panose="02040503050406030204" pitchFamily="18" charset="0"/>
                          </a:rPr>
                          <m:t>ω</m:t>
                        </m:r>
                        <m:r>
                          <m:rPr>
                            <m:sty m:val="p"/>
                          </m:rPr>
                          <a:rPr lang="en-US" sz="2400" dirty="0" smtClean="0">
                            <a:latin typeface="Cambria Math" panose="02040503050406030204" pitchFamily="18" charset="0"/>
                            <a:ea typeface="Cambria Math" panose="02040503050406030204" pitchFamily="18" charset="0"/>
                          </a:rPr>
                          <m:t>t</m:t>
                        </m:r>
                        <m:r>
                          <a:rPr lang="en-US" sz="2400" dirty="0" smtClean="0">
                            <a:latin typeface="Cambria Math" panose="02040503050406030204" pitchFamily="18" charset="0"/>
                            <a:ea typeface="Cambria Math" panose="02040503050406030204" pitchFamily="18" charset="0"/>
                          </a:rPr>
                          <m:t>+90°</m:t>
                        </m:r>
                      </m:e>
                    </m:d>
                  </m:oMath>
                </a14:m>
                <a:r>
                  <a:rPr lang="en-IN" sz="2400" dirty="0"/>
                  <a:t>= </a:t>
                </a:r>
                <a14:m>
                  <m:oMath xmlns:m="http://schemas.openxmlformats.org/officeDocument/2006/math">
                    <m:r>
                      <m:rPr>
                        <m:sty m:val="p"/>
                      </m:rPr>
                      <a:rPr lang="en-US" sz="2400" dirty="0" smtClean="0">
                        <a:latin typeface="Cambria Math" panose="02040503050406030204" pitchFamily="18" charset="0"/>
                        <a:ea typeface="Cambria Math" panose="02040503050406030204" pitchFamily="18" charset="0"/>
                      </a:rPr>
                      <m:t>L</m:t>
                    </m:r>
                    <m:r>
                      <m:rPr>
                        <m:sty m:val="p"/>
                      </m:rPr>
                      <a:rPr lang="en-IN" sz="2400" dirty="0" smtClean="0">
                        <a:latin typeface="Cambria Math" panose="02040503050406030204" pitchFamily="18" charset="0"/>
                        <a:ea typeface="Cambria Math" panose="02040503050406030204" pitchFamily="18" charset="0"/>
                      </a:rPr>
                      <m:t>ω</m:t>
                    </m:r>
                    <m:sSub>
                      <m:sSubPr>
                        <m:ctrlPr>
                          <a:rPr lang="en-IN" sz="2400" i="1">
                            <a:latin typeface="Cambria Math" panose="02040503050406030204" pitchFamily="18" charset="0"/>
                          </a:rPr>
                        </m:ctrlPr>
                      </m:sSubPr>
                      <m:e>
                        <m:r>
                          <m:rPr>
                            <m:sty m:val="p"/>
                          </m:rPr>
                          <a:rPr lang="en-US" sz="2400" smtClean="0">
                            <a:latin typeface="Cambria Math" panose="02040503050406030204" pitchFamily="18" charset="0"/>
                          </a:rPr>
                          <m:t>I</m:t>
                        </m:r>
                      </m:e>
                      <m:sub>
                        <m:r>
                          <m:rPr>
                            <m:sty m:val="p"/>
                          </m:rPr>
                          <a:rPr lang="en-US" sz="2400" smtClean="0">
                            <a:latin typeface="Cambria Math" panose="02040503050406030204" pitchFamily="18" charset="0"/>
                          </a:rPr>
                          <m:t>m</m:t>
                        </m:r>
                      </m:sub>
                    </m:sSub>
                    <m:r>
                      <a:rPr lang="en-US" sz="2400" smtClean="0">
                        <a:latin typeface="Cambria Math" panose="02040503050406030204" pitchFamily="18" charset="0"/>
                        <a:ea typeface="Cambria Math" panose="02040503050406030204" pitchFamily="18" charset="0"/>
                      </a:rPr>
                      <m:t>∠</m:t>
                    </m:r>
                  </m:oMath>
                </a14:m>
                <a:r>
                  <a:rPr lang="en-US" sz="2400" dirty="0">
                    <a:ea typeface="Cambria Math" panose="02040503050406030204" pitchFamily="18" charset="0"/>
                  </a:rPr>
                  <a:t> </a:t>
                </a:r>
                <a14:m>
                  <m:oMath xmlns:m="http://schemas.openxmlformats.org/officeDocument/2006/math">
                    <m:r>
                      <a:rPr lang="en-US" sz="2400" dirty="0" smtClean="0">
                        <a:latin typeface="Cambria Math" panose="02040503050406030204" pitchFamily="18" charset="0"/>
                        <a:ea typeface="Cambria Math" panose="02040503050406030204" pitchFamily="18" charset="0"/>
                      </a:rPr>
                      <m:t>90°</m:t>
                    </m:r>
                    <m:r>
                      <a:rPr lang="en-US" sz="2400" dirty="0">
                        <a:latin typeface="Cambria Math" panose="02040503050406030204" pitchFamily="18" charset="0"/>
                        <a:ea typeface="Cambria Math" panose="02040503050406030204" pitchFamily="18" charset="0"/>
                      </a:rPr>
                      <m:t>=</m:t>
                    </m:r>
                    <m:r>
                      <m:rPr>
                        <m:sty m:val="p"/>
                      </m:rPr>
                      <a:rPr lang="en-US" sz="2400" dirty="0" smtClean="0">
                        <a:latin typeface="Cambria Math" panose="02040503050406030204" pitchFamily="18" charset="0"/>
                        <a:ea typeface="Cambria Math" panose="02040503050406030204" pitchFamily="18" charset="0"/>
                      </a:rPr>
                      <m:t>j</m:t>
                    </m:r>
                    <m:r>
                      <m:rPr>
                        <m:sty m:val="p"/>
                      </m:rPr>
                      <a:rPr lang="en-US" sz="2400" dirty="0">
                        <a:latin typeface="Cambria Math" panose="02040503050406030204" pitchFamily="18" charset="0"/>
                        <a:ea typeface="Cambria Math" panose="02040503050406030204" pitchFamily="18" charset="0"/>
                      </a:rPr>
                      <m:t>L</m:t>
                    </m:r>
                    <m:r>
                      <m:rPr>
                        <m:sty m:val="p"/>
                      </m:rPr>
                      <a:rPr lang="en-IN" sz="2400" dirty="0">
                        <a:latin typeface="Cambria Math" panose="02040503050406030204" pitchFamily="18" charset="0"/>
                        <a:ea typeface="Cambria Math" panose="02040503050406030204" pitchFamily="18" charset="0"/>
                      </a:rPr>
                      <m:t>ω</m:t>
                    </m:r>
                    <m:sSub>
                      <m:sSubPr>
                        <m:ctrlPr>
                          <a:rPr lang="en-IN" sz="2400" i="1">
                            <a:latin typeface="Cambria Math" panose="02040503050406030204" pitchFamily="18" charset="0"/>
                          </a:rPr>
                        </m:ctrlPr>
                      </m:sSubPr>
                      <m:e>
                        <m:r>
                          <m:rPr>
                            <m:sty m:val="p"/>
                          </m:rPr>
                          <a:rPr lang="en-US" sz="2400">
                            <a:latin typeface="Cambria Math" panose="02040503050406030204" pitchFamily="18" charset="0"/>
                          </a:rPr>
                          <m:t>I</m:t>
                        </m:r>
                      </m:e>
                      <m:sub>
                        <m:r>
                          <m:rPr>
                            <m:sty m:val="p"/>
                          </m:rPr>
                          <a:rPr lang="en-US" sz="2400">
                            <a:latin typeface="Cambria Math" panose="02040503050406030204" pitchFamily="18" charset="0"/>
                          </a:rPr>
                          <m:t>m</m:t>
                        </m:r>
                      </m:sub>
                    </m:sSub>
                  </m:oMath>
                </a14:m>
                <a:endParaRPr lang="en-IN" sz="2400" dirty="0"/>
              </a:p>
              <a:p>
                <a:pPr marL="0" indent="0">
                  <a:lnSpc>
                    <a:spcPct val="100000"/>
                  </a:lnSpc>
                  <a:buFont typeface="Arial" panose="020B0604020202020204" pitchFamily="34" charset="0"/>
                  <a:buNone/>
                </a:pPr>
                <a:r>
                  <a:rPr lang="en-IN" sz="2400" dirty="0"/>
                  <a:t>Z=</a:t>
                </a:r>
                <a14:m>
                  <m:oMath xmlns:m="http://schemas.openxmlformats.org/officeDocument/2006/math">
                    <m:f>
                      <m:fPr>
                        <m:ctrlPr>
                          <a:rPr lang="en-IN" sz="2400" i="1" smtClean="0">
                            <a:latin typeface="Cambria Math" panose="02040503050406030204" pitchFamily="18" charset="0"/>
                          </a:rPr>
                        </m:ctrlPr>
                      </m:fPr>
                      <m:num>
                        <m:r>
                          <m:rPr>
                            <m:nor/>
                          </m:rPr>
                          <a:rPr lang="en-IN" sz="2400" dirty="0"/>
                          <m:t>v</m:t>
                        </m:r>
                        <m:r>
                          <m:rPr>
                            <m:nor/>
                          </m:rPr>
                          <a:rPr lang="en-IN" sz="2400" dirty="0"/>
                          <m:t>(</m:t>
                        </m:r>
                        <m:r>
                          <m:rPr>
                            <m:nor/>
                          </m:rPr>
                          <a:rPr lang="en-IN" sz="2400" dirty="0"/>
                          <m:t>t</m:t>
                        </m:r>
                        <m:r>
                          <m:rPr>
                            <m:nor/>
                          </m:rPr>
                          <a:rPr lang="en-IN" sz="2400" dirty="0"/>
                          <m:t>)</m:t>
                        </m:r>
                      </m:num>
                      <m:den>
                        <m:r>
                          <m:rPr>
                            <m:nor/>
                          </m:rPr>
                          <a:rPr lang="en-US" sz="2400" smtClean="0">
                            <a:latin typeface="Cambria Math" panose="02040503050406030204" pitchFamily="18" charset="0"/>
                          </a:rPr>
                          <m:t>i</m:t>
                        </m:r>
                        <m:r>
                          <m:rPr>
                            <m:nor/>
                          </m:rPr>
                          <a:rPr lang="en-IN" sz="2400" dirty="0"/>
                          <m:t>(</m:t>
                        </m:r>
                        <m:r>
                          <m:rPr>
                            <m:nor/>
                          </m:rPr>
                          <a:rPr lang="en-IN" sz="2400" dirty="0"/>
                          <m:t>t</m:t>
                        </m:r>
                        <m:r>
                          <m:rPr>
                            <m:nor/>
                          </m:rPr>
                          <a:rPr lang="en-IN" sz="2400" dirty="0"/>
                          <m:t>)</m:t>
                        </m:r>
                      </m:den>
                    </m:f>
                    <m:r>
                      <a:rPr lang="en-US" sz="2400" smtClean="0">
                        <a:latin typeface="Cambria Math" panose="02040503050406030204" pitchFamily="18" charset="0"/>
                      </a:rPr>
                      <m:t>=</m:t>
                    </m:r>
                    <m:f>
                      <m:fPr>
                        <m:ctrlPr>
                          <a:rPr lang="en-US" sz="2400" i="1" smtClean="0">
                            <a:latin typeface="Cambria Math" panose="02040503050406030204" pitchFamily="18" charset="0"/>
                          </a:rPr>
                        </m:ctrlPr>
                      </m:fPr>
                      <m:num>
                        <m:r>
                          <m:rPr>
                            <m:sty m:val="p"/>
                          </m:rPr>
                          <a:rPr lang="en-US" sz="2400" smtClean="0">
                            <a:latin typeface="Cambria Math" panose="02040503050406030204" pitchFamily="18" charset="0"/>
                          </a:rPr>
                          <m:t>j</m:t>
                        </m:r>
                        <m:r>
                          <m:rPr>
                            <m:sty m:val="p"/>
                          </m:rPr>
                          <a:rPr lang="en-US" sz="2400" dirty="0" smtClean="0">
                            <a:latin typeface="Cambria Math" panose="02040503050406030204" pitchFamily="18" charset="0"/>
                          </a:rPr>
                          <m:t>L</m:t>
                        </m:r>
                        <m:r>
                          <m:rPr>
                            <m:sty m:val="p"/>
                          </m:rPr>
                          <a:rPr lang="en-IN" sz="2400" dirty="0" smtClean="0">
                            <a:latin typeface="Cambria Math" panose="02040503050406030204" pitchFamily="18" charset="0"/>
                            <a:ea typeface="Cambria Math" panose="02040503050406030204" pitchFamily="18" charset="0"/>
                          </a:rPr>
                          <m:t>ω</m:t>
                        </m:r>
                        <m:sSub>
                          <m:sSubPr>
                            <m:ctrlPr>
                              <a:rPr lang="en-IN" sz="2400" i="1">
                                <a:latin typeface="Cambria Math" panose="02040503050406030204" pitchFamily="18" charset="0"/>
                              </a:rPr>
                            </m:ctrlPr>
                          </m:sSubPr>
                          <m:e>
                            <m:r>
                              <m:rPr>
                                <m:sty m:val="p"/>
                              </m:rPr>
                              <a:rPr lang="en-US" sz="2400" smtClean="0">
                                <a:latin typeface="Cambria Math" panose="02040503050406030204" pitchFamily="18" charset="0"/>
                              </a:rPr>
                              <m:t>I</m:t>
                            </m:r>
                          </m:e>
                          <m:sub>
                            <m:r>
                              <m:rPr>
                                <m:sty m:val="p"/>
                              </m:rPr>
                              <a:rPr lang="en-US" sz="2400" smtClean="0">
                                <a:latin typeface="Cambria Math" panose="02040503050406030204" pitchFamily="18" charset="0"/>
                              </a:rPr>
                              <m:t>m</m:t>
                            </m:r>
                          </m:sub>
                        </m:sSub>
                        <m:r>
                          <m:rPr>
                            <m:nor/>
                          </m:rPr>
                          <a:rPr lang="en-IN" sz="2400" dirty="0"/>
                          <m:t> </m:t>
                        </m:r>
                      </m:num>
                      <m:den>
                        <m:sSub>
                          <m:sSubPr>
                            <m:ctrlPr>
                              <a:rPr lang="en-IN" sz="2400" i="1">
                                <a:latin typeface="Cambria Math" panose="02040503050406030204" pitchFamily="18" charset="0"/>
                              </a:rPr>
                            </m:ctrlPr>
                          </m:sSubPr>
                          <m:e>
                            <m:r>
                              <m:rPr>
                                <m:sty m:val="p"/>
                              </m:rPr>
                              <a:rPr lang="en-US" sz="2400" smtClean="0">
                                <a:latin typeface="Cambria Math" panose="02040503050406030204" pitchFamily="18" charset="0"/>
                              </a:rPr>
                              <m:t>I</m:t>
                            </m:r>
                          </m:e>
                          <m:sub>
                            <m:r>
                              <m:rPr>
                                <m:sty m:val="p"/>
                              </m:rPr>
                              <a:rPr lang="en-US" sz="2400" smtClean="0">
                                <a:latin typeface="Cambria Math" panose="02040503050406030204" pitchFamily="18" charset="0"/>
                              </a:rPr>
                              <m:t>m</m:t>
                            </m:r>
                          </m:sub>
                        </m:sSub>
                        <m:r>
                          <m:rPr>
                            <m:nor/>
                          </m:rPr>
                          <a:rPr lang="en-US" sz="2400" dirty="0">
                            <a:ea typeface="Cambria Math" panose="02040503050406030204" pitchFamily="18" charset="0"/>
                          </a:rPr>
                          <m:t> </m:t>
                        </m:r>
                      </m:den>
                    </m:f>
                  </m:oMath>
                </a14:m>
                <a:endParaRPr lang="en-IN" sz="2400" dirty="0"/>
              </a:p>
              <a:p>
                <a:pPr marL="0" indent="0">
                  <a:lnSpc>
                    <a:spcPct val="100000"/>
                  </a:lnSpc>
                  <a:buFont typeface="Arial" panose="020B0604020202020204" pitchFamily="34" charset="0"/>
                  <a:buNone/>
                </a:pPr>
                <a14:m>
                  <m:oMath xmlns:m="http://schemas.openxmlformats.org/officeDocument/2006/math">
                    <m:r>
                      <a:rPr lang="en-IN" sz="2400" smtClean="0">
                        <a:latin typeface="Cambria Math" panose="02040503050406030204" pitchFamily="18" charset="0"/>
                        <a:ea typeface="Cambria Math" panose="02040503050406030204" pitchFamily="18" charset="0"/>
                      </a:rPr>
                      <m:t>∴</m:t>
                    </m:r>
                  </m:oMath>
                </a14:m>
                <a:r>
                  <a:rPr lang="en-IN" sz="2400" dirty="0"/>
                  <a:t> Z</a:t>
                </a:r>
                <a14:m>
                  <m:oMath xmlns:m="http://schemas.openxmlformats.org/officeDocument/2006/math">
                    <m:r>
                      <a:rPr lang="en-US" sz="2400" smtClean="0">
                        <a:latin typeface="Cambria Math" panose="02040503050406030204" pitchFamily="18" charset="0"/>
                        <a:ea typeface="Cambria Math" panose="02040503050406030204" pitchFamily="18" charset="0"/>
                      </a:rPr>
                      <m:t>=</m:t>
                    </m:r>
                    <m:r>
                      <m:rPr>
                        <m:sty m:val="p"/>
                      </m:rPr>
                      <a:rPr lang="en-US" sz="2400" smtClean="0">
                        <a:latin typeface="Cambria Math" panose="02040503050406030204" pitchFamily="18" charset="0"/>
                        <a:ea typeface="Cambria Math" panose="02040503050406030204" pitchFamily="18" charset="0"/>
                      </a:rPr>
                      <m:t>jωL</m:t>
                    </m:r>
                    <m:r>
                      <a:rPr lang="en-US" sz="2400" smtClean="0">
                        <a:latin typeface="Cambria Math" panose="02040503050406030204" pitchFamily="18" charset="0"/>
                        <a:ea typeface="Cambria Math" panose="02040503050406030204" pitchFamily="18" charset="0"/>
                      </a:rPr>
                      <m:t>=</m:t>
                    </m:r>
                    <m:r>
                      <m:rPr>
                        <m:sty m:val="p"/>
                      </m:rPr>
                      <a:rPr lang="en-US" sz="2400" smtClean="0">
                        <a:latin typeface="Cambria Math" panose="02040503050406030204" pitchFamily="18" charset="0"/>
                        <a:ea typeface="Cambria Math" panose="02040503050406030204" pitchFamily="18" charset="0"/>
                      </a:rPr>
                      <m:t>j</m:t>
                    </m:r>
                    <m:sSub>
                      <m:sSubPr>
                        <m:ctrlPr>
                          <a:rPr lang="en-US" sz="2400" i="1" smtClean="0">
                            <a:latin typeface="Cambria Math" panose="02040503050406030204" pitchFamily="18" charset="0"/>
                            <a:ea typeface="Cambria Math" panose="02040503050406030204" pitchFamily="18" charset="0"/>
                          </a:rPr>
                        </m:ctrlPr>
                      </m:sSubPr>
                      <m:e>
                        <m:r>
                          <m:rPr>
                            <m:sty m:val="p"/>
                          </m:rPr>
                          <a:rPr lang="en-US" sz="2400" smtClean="0">
                            <a:latin typeface="Cambria Math" panose="02040503050406030204" pitchFamily="18" charset="0"/>
                            <a:ea typeface="Cambria Math" panose="02040503050406030204" pitchFamily="18" charset="0"/>
                          </a:rPr>
                          <m:t>X</m:t>
                        </m:r>
                      </m:e>
                      <m:sub>
                        <m:r>
                          <m:rPr>
                            <m:sty m:val="p"/>
                          </m:rPr>
                          <a:rPr lang="en-US" sz="2400" smtClean="0">
                            <a:latin typeface="Cambria Math" panose="02040503050406030204" pitchFamily="18" charset="0"/>
                            <a:ea typeface="Cambria Math" panose="02040503050406030204" pitchFamily="18" charset="0"/>
                          </a:rPr>
                          <m:t>L</m:t>
                        </m:r>
                      </m:sub>
                    </m:sSub>
                  </m:oMath>
                </a14:m>
                <a:endParaRPr lang="en-IN" sz="2400" dirty="0"/>
              </a:p>
              <a:p>
                <a:pPr marL="0" indent="0">
                  <a:buFont typeface="Arial" panose="020B0604020202020204" pitchFamily="34" charset="0"/>
                  <a:buNone/>
                </a:pPr>
                <a:r>
                  <a:rPr lang="en-IN" dirty="0"/>
                  <a:t>Where </a:t>
                </a: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m:rPr>
                            <m:sty m:val="p"/>
                          </m:rPr>
                          <a:rPr lang="en-US" smtClean="0">
                            <a:latin typeface="Cambria Math" panose="02040503050406030204" pitchFamily="18" charset="0"/>
                            <a:ea typeface="Cambria Math" panose="02040503050406030204" pitchFamily="18" charset="0"/>
                          </a:rPr>
                          <m:t>X</m:t>
                        </m:r>
                      </m:e>
                      <m:sub>
                        <m:r>
                          <m:rPr>
                            <m:sty m:val="p"/>
                          </m:rPr>
                          <a:rPr lang="en-US" smtClean="0">
                            <a:latin typeface="Cambria Math" panose="02040503050406030204" pitchFamily="18" charset="0"/>
                            <a:ea typeface="Cambria Math" panose="02040503050406030204" pitchFamily="18" charset="0"/>
                          </a:rPr>
                          <m:t>L</m:t>
                        </m:r>
                      </m:sub>
                    </m:sSub>
                    <m:r>
                      <a:rPr lang="en-US" i="1" smtClean="0">
                        <a:latin typeface="Cambria Math" panose="02040503050406030204" pitchFamily="18" charset="0"/>
                        <a:ea typeface="Cambria Math" panose="02040503050406030204" pitchFamily="18" charset="0"/>
                      </a:rPr>
                      <m:t>=</m:t>
                    </m:r>
                    <m:r>
                      <m:rPr>
                        <m:sty m:val="p"/>
                      </m:rPr>
                      <a:rPr lang="en-IN">
                        <a:latin typeface="Cambria Math" panose="02040503050406030204" pitchFamily="18" charset="0"/>
                        <a:ea typeface="Cambria Math" panose="02040503050406030204" pitchFamily="18" charset="0"/>
                      </a:rPr>
                      <m:t>ω</m:t>
                    </m:r>
                    <m:r>
                      <m:rPr>
                        <m:sty m:val="p"/>
                      </m:rPr>
                      <a:rPr lang="en-US">
                        <a:latin typeface="Cambria Math" panose="02040503050406030204" pitchFamily="18" charset="0"/>
                        <a:ea typeface="Cambria Math" panose="02040503050406030204" pitchFamily="18" charset="0"/>
                      </a:rPr>
                      <m:t>L</m:t>
                    </m:r>
                  </m:oMath>
                </a14:m>
                <a:r>
                  <a:rPr lang="en-IN" dirty="0"/>
                  <a:t> and is called inductive reactance.</a:t>
                </a:r>
              </a:p>
              <a:p>
                <a:endParaRPr lang="en-IN" dirty="0"/>
              </a:p>
            </p:txBody>
          </p:sp>
        </mc:Choice>
        <mc:Fallback xmlns="">
          <p:sp>
            <p:nvSpPr>
              <p:cNvPr id="3" name="Content Placeholder 2">
                <a:extLst>
                  <a:ext uri="{FF2B5EF4-FFF2-40B4-BE49-F238E27FC236}">
                    <a16:creationId xmlns:a16="http://schemas.microsoft.com/office/drawing/2014/main" id="{6B2381E3-9F2E-BC7D-034E-6F7D2FA55235}"/>
                  </a:ext>
                </a:extLst>
              </p:cNvPr>
              <p:cNvSpPr txBox="1">
                <a:spLocks noRot="1" noChangeAspect="1" noMove="1" noResize="1" noEditPoints="1" noAdjustHandles="1" noChangeArrowheads="1" noChangeShapeType="1" noTextEdit="1"/>
              </p:cNvSpPr>
              <p:nvPr/>
            </p:nvSpPr>
            <p:spPr>
              <a:xfrm>
                <a:off x="83976" y="1073340"/>
                <a:ext cx="10970878" cy="4151803"/>
              </a:xfrm>
              <a:prstGeom prst="rect">
                <a:avLst/>
              </a:prstGeom>
              <a:blipFill>
                <a:blip r:embed="rId2"/>
                <a:stretch>
                  <a:fillRect l="-889" t="-1028"/>
                </a:stretch>
              </a:blipFill>
            </p:spPr>
            <p:txBody>
              <a:bodyPr/>
              <a:lstStyle/>
              <a:p>
                <a:r>
                  <a:rPr lang="en-IN">
                    <a:noFill/>
                  </a:rPr>
                  <a:t> </a:t>
                </a:r>
              </a:p>
            </p:txBody>
          </p:sp>
        </mc:Fallback>
      </mc:AlternateContent>
      <p:sp>
        <p:nvSpPr>
          <p:cNvPr id="5" name="Rounded Rectangle 17">
            <a:extLst>
              <a:ext uri="{FF2B5EF4-FFF2-40B4-BE49-F238E27FC236}">
                <a16:creationId xmlns:a16="http://schemas.microsoft.com/office/drawing/2014/main" id="{FACA3DDD-2824-CEC3-5361-7392A79D7404}"/>
              </a:ext>
            </a:extLst>
          </p:cNvPr>
          <p:cNvSpPr/>
          <p:nvPr/>
        </p:nvSpPr>
        <p:spPr>
          <a:xfrm>
            <a:off x="2290410" y="261666"/>
            <a:ext cx="7611177"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8100" algn="ctr">
              <a:lnSpc>
                <a:spcPct val="100000"/>
              </a:lnSpc>
              <a:spcBef>
                <a:spcPts val="1225"/>
              </a:spcBef>
            </a:pPr>
            <a:r>
              <a:rPr lang="en-IN" sz="2400" spc="-5" dirty="0">
                <a:solidFill>
                  <a:schemeClr val="bg1"/>
                </a:solidFill>
                <a:latin typeface="+mj-lt"/>
                <a:cs typeface="Times New Roman"/>
              </a:rPr>
              <a:t>Phasor Relationships</a:t>
            </a:r>
            <a:r>
              <a:rPr lang="en-IN" sz="2400" spc="-10" dirty="0">
                <a:solidFill>
                  <a:schemeClr val="bg1"/>
                </a:solidFill>
                <a:latin typeface="+mj-lt"/>
                <a:cs typeface="Times New Roman"/>
              </a:rPr>
              <a:t> </a:t>
            </a:r>
            <a:r>
              <a:rPr lang="en-IN" sz="2400" spc="-5" dirty="0">
                <a:solidFill>
                  <a:schemeClr val="bg1"/>
                </a:solidFill>
                <a:latin typeface="+mj-lt"/>
                <a:cs typeface="Times New Roman"/>
              </a:rPr>
              <a:t>for</a:t>
            </a:r>
            <a:r>
              <a:rPr lang="en-IN" sz="2400" dirty="0">
                <a:solidFill>
                  <a:schemeClr val="bg1"/>
                </a:solidFill>
                <a:latin typeface="+mj-lt"/>
                <a:cs typeface="Times New Roman"/>
              </a:rPr>
              <a:t> </a:t>
            </a:r>
            <a:r>
              <a:rPr lang="en-IN" sz="2400" spc="-5" dirty="0">
                <a:solidFill>
                  <a:schemeClr val="bg1"/>
                </a:solidFill>
                <a:latin typeface="+mj-lt"/>
                <a:cs typeface="Times New Roman"/>
              </a:rPr>
              <a:t>Inductor Element</a:t>
            </a:r>
            <a:endParaRPr lang="en-IN" sz="2400" dirty="0">
              <a:solidFill>
                <a:schemeClr val="bg1"/>
              </a:solidFill>
              <a:latin typeface="+mj-lt"/>
              <a:cs typeface="Times New Roman"/>
            </a:endParaRPr>
          </a:p>
        </p:txBody>
      </p:sp>
      <p:sp>
        <p:nvSpPr>
          <p:cNvPr id="6" name="TextBox 5">
            <a:extLst>
              <a:ext uri="{FF2B5EF4-FFF2-40B4-BE49-F238E27FC236}">
                <a16:creationId xmlns:a16="http://schemas.microsoft.com/office/drawing/2014/main" id="{0A1FE521-A32B-F22E-A33E-CB5659CE742C}"/>
              </a:ext>
            </a:extLst>
          </p:cNvPr>
          <p:cNvSpPr txBox="1"/>
          <p:nvPr/>
        </p:nvSpPr>
        <p:spPr>
          <a:xfrm>
            <a:off x="6802016" y="5337256"/>
            <a:ext cx="5501951" cy="769441"/>
          </a:xfrm>
          <a:prstGeom prst="rect">
            <a:avLst/>
          </a:prstGeom>
          <a:noFill/>
        </p:spPr>
        <p:txBody>
          <a:bodyPr wrap="square">
            <a:spAutoFit/>
          </a:bodyPr>
          <a:lstStyle/>
          <a:p>
            <a:r>
              <a:rPr lang="en-IN" sz="2200" dirty="0">
                <a:solidFill>
                  <a:srgbClr val="FF0000"/>
                </a:solidFill>
              </a:rPr>
              <a:t>The current lags behind the voltage by 90°. </a:t>
            </a:r>
          </a:p>
          <a:p>
            <a:r>
              <a:rPr lang="en-IN" sz="2200" dirty="0">
                <a:solidFill>
                  <a:srgbClr val="FF0000"/>
                </a:solidFill>
              </a:rPr>
              <a:t>i.e., </a:t>
            </a:r>
            <a:r>
              <a:rPr lang="en-US" sz="2200" dirty="0">
                <a:solidFill>
                  <a:srgbClr val="FF0000"/>
                </a:solidFill>
              </a:rPr>
              <a:t>voltage and current are out of phase.</a:t>
            </a:r>
            <a:endParaRPr lang="en-IN" sz="2200" dirty="0">
              <a:solidFill>
                <a:srgbClr val="FF0000"/>
              </a:solidFill>
            </a:endParaRPr>
          </a:p>
        </p:txBody>
      </p:sp>
      <p:sp>
        <p:nvSpPr>
          <p:cNvPr id="7" name="TextBox 6">
            <a:extLst>
              <a:ext uri="{FF2B5EF4-FFF2-40B4-BE49-F238E27FC236}">
                <a16:creationId xmlns:a16="http://schemas.microsoft.com/office/drawing/2014/main" id="{EA296F4C-B0E5-477E-71A9-75F11DCD8974}"/>
              </a:ext>
            </a:extLst>
          </p:cNvPr>
          <p:cNvSpPr txBox="1"/>
          <p:nvPr/>
        </p:nvSpPr>
        <p:spPr>
          <a:xfrm>
            <a:off x="181692" y="4122417"/>
            <a:ext cx="2108718" cy="541175"/>
          </a:xfrm>
          <a:prstGeom prst="rect">
            <a:avLst/>
          </a:prstGeom>
          <a:noFill/>
          <a:ln w="28575">
            <a:solidFill>
              <a:schemeClr val="tx1"/>
            </a:solidFill>
          </a:ln>
        </p:spPr>
        <p:txBody>
          <a:bodyPr wrap="square" rtlCol="0">
            <a:spAutoFit/>
          </a:bodyPr>
          <a:lstStyle/>
          <a:p>
            <a:endParaRPr lang="en-IN"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2404271-7E91-1BD4-AE5E-BAE47E6BEE48}"/>
                  </a:ext>
                </a:extLst>
              </p:cNvPr>
              <p:cNvSpPr txBox="1"/>
              <p:nvPr/>
            </p:nvSpPr>
            <p:spPr>
              <a:xfrm>
                <a:off x="10063512" y="2891727"/>
                <a:ext cx="2128488" cy="307777"/>
              </a:xfrm>
              <a:prstGeom prst="rect">
                <a:avLst/>
              </a:prstGeom>
              <a:solidFill>
                <a:schemeClr val="accent2">
                  <a:lumMod val="20000"/>
                  <a:lumOff val="80000"/>
                </a:schemeClr>
              </a:solidFill>
              <a:ln w="19050">
                <a:solidFill>
                  <a:schemeClr val="tx1"/>
                </a:solidFill>
              </a:ln>
            </p:spPr>
            <p:txBody>
              <a:bodyPr wrap="square" rtlCol="0">
                <a:spAutoFit/>
              </a:bodyPr>
              <a:lstStyle/>
              <a:p>
                <a14:m>
                  <m:oMath xmlns:m="http://schemas.openxmlformats.org/officeDocument/2006/math">
                    <m:r>
                      <a:rPr lang="en-US" sz="1400" b="1" i="0" dirty="0" smtClean="0">
                        <a:latin typeface="Cambria Math" panose="02040503050406030204" pitchFamily="18" charset="0"/>
                        <a:ea typeface="Cambria Math" panose="02040503050406030204" pitchFamily="18" charset="0"/>
                      </a:rPr>
                      <m:t>𝐂𝐨𝐬</m:t>
                    </m:r>
                    <m:r>
                      <a:rPr lang="en-IN" sz="1400" b="1" i="0" dirty="0" smtClean="0">
                        <a:latin typeface="Cambria Math" panose="02040503050406030204" pitchFamily="18" charset="0"/>
                        <a:ea typeface="Cambria Math" panose="02040503050406030204" pitchFamily="18" charset="0"/>
                      </a:rPr>
                      <m:t>𝛚</m:t>
                    </m:r>
                    <m:r>
                      <a:rPr lang="en-US" sz="1400" b="1" i="0" dirty="0" smtClean="0">
                        <a:latin typeface="Cambria Math" panose="02040503050406030204" pitchFamily="18" charset="0"/>
                        <a:ea typeface="Cambria Math" panose="02040503050406030204" pitchFamily="18" charset="0"/>
                      </a:rPr>
                      <m:t>𝐭</m:t>
                    </m:r>
                  </m:oMath>
                </a14:m>
                <a:r>
                  <a:rPr lang="en-IN" sz="1400" b="1" dirty="0"/>
                  <a:t>= sin</a:t>
                </a:r>
                <a14:m>
                  <m:oMath xmlns:m="http://schemas.openxmlformats.org/officeDocument/2006/math">
                    <m:d>
                      <m:dPr>
                        <m:ctrlPr>
                          <a:rPr lang="en-IN" sz="1400" b="1" i="1" dirty="0">
                            <a:latin typeface="Cambria Math" panose="02040503050406030204" pitchFamily="18" charset="0"/>
                          </a:rPr>
                        </m:ctrlPr>
                      </m:dPr>
                      <m:e>
                        <m:r>
                          <a:rPr lang="en-IN" sz="1400" b="1" i="1" dirty="0">
                            <a:latin typeface="Cambria Math" panose="02040503050406030204" pitchFamily="18" charset="0"/>
                            <a:ea typeface="Cambria Math" panose="02040503050406030204" pitchFamily="18" charset="0"/>
                          </a:rPr>
                          <m:t>𝛚</m:t>
                        </m:r>
                        <m:r>
                          <a:rPr lang="en-US" sz="1400" b="1" i="1" dirty="0">
                            <a:latin typeface="Cambria Math" panose="02040503050406030204" pitchFamily="18" charset="0"/>
                            <a:ea typeface="Cambria Math" panose="02040503050406030204" pitchFamily="18" charset="0"/>
                          </a:rPr>
                          <m:t>𝐭</m:t>
                        </m:r>
                        <m:r>
                          <a:rPr lang="en-US" sz="1400" b="1" dirty="0">
                            <a:latin typeface="Cambria Math" panose="02040503050406030204" pitchFamily="18" charset="0"/>
                            <a:ea typeface="Cambria Math" panose="02040503050406030204" pitchFamily="18" charset="0"/>
                          </a:rPr>
                          <m:t>+</m:t>
                        </m:r>
                        <m:r>
                          <a:rPr lang="en-US" sz="1400" b="1" i="1" dirty="0">
                            <a:latin typeface="Cambria Math" panose="02040503050406030204" pitchFamily="18" charset="0"/>
                            <a:ea typeface="Cambria Math" panose="02040503050406030204" pitchFamily="18" charset="0"/>
                          </a:rPr>
                          <m:t>𝟗𝟎</m:t>
                        </m:r>
                        <m:r>
                          <a:rPr lang="en-US" sz="1400" b="1" dirty="0">
                            <a:latin typeface="Cambria Math" panose="02040503050406030204" pitchFamily="18" charset="0"/>
                            <a:ea typeface="Cambria Math" panose="02040503050406030204" pitchFamily="18" charset="0"/>
                          </a:rPr>
                          <m:t>°</m:t>
                        </m:r>
                      </m:e>
                    </m:d>
                  </m:oMath>
                </a14:m>
                <a:endParaRPr lang="en-IN" sz="1400" b="1" dirty="0"/>
              </a:p>
            </p:txBody>
          </p:sp>
        </mc:Choice>
        <mc:Fallback xmlns="">
          <p:sp>
            <p:nvSpPr>
              <p:cNvPr id="9" name="TextBox 8">
                <a:extLst>
                  <a:ext uri="{FF2B5EF4-FFF2-40B4-BE49-F238E27FC236}">
                    <a16:creationId xmlns:a16="http://schemas.microsoft.com/office/drawing/2014/main" id="{E2404271-7E91-1BD4-AE5E-BAE47E6BEE48}"/>
                  </a:ext>
                </a:extLst>
              </p:cNvPr>
              <p:cNvSpPr txBox="1">
                <a:spLocks noRot="1" noChangeAspect="1" noMove="1" noResize="1" noEditPoints="1" noAdjustHandles="1" noChangeArrowheads="1" noChangeShapeType="1" noTextEdit="1"/>
              </p:cNvSpPr>
              <p:nvPr/>
            </p:nvSpPr>
            <p:spPr>
              <a:xfrm>
                <a:off x="10063512" y="2891727"/>
                <a:ext cx="2128488" cy="307777"/>
              </a:xfrm>
              <a:prstGeom prst="rect">
                <a:avLst/>
              </a:prstGeom>
              <a:blipFill>
                <a:blip r:embed="rId4"/>
                <a:stretch>
                  <a:fillRect b="-14815"/>
                </a:stretch>
              </a:blipFill>
              <a:ln w="19050">
                <a:solidFill>
                  <a:schemeClr val="tx1"/>
                </a:solidFill>
              </a:ln>
            </p:spPr>
            <p:txBody>
              <a:bodyPr/>
              <a:lstStyle/>
              <a:p>
                <a:r>
                  <a:rPr lang="en-IN">
                    <a:noFill/>
                  </a:rPr>
                  <a:t> </a:t>
                </a:r>
              </a:p>
            </p:txBody>
          </p:sp>
        </mc:Fallback>
      </mc:AlternateContent>
      <p:pic>
        <p:nvPicPr>
          <p:cNvPr id="10" name="Picture 9" descr="A black and white rectangular object with a spiral&#10;&#10;Description automatically generated">
            <a:extLst>
              <a:ext uri="{FF2B5EF4-FFF2-40B4-BE49-F238E27FC236}">
                <a16:creationId xmlns:a16="http://schemas.microsoft.com/office/drawing/2014/main" id="{80DD7A85-FA3E-1CCB-732C-F79F1D67BDEA}"/>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Effect>
                      <a14:brightnessContrast bright="20000" contrast="-40000"/>
                    </a14:imgEffect>
                  </a14:imgLayer>
                </a14:imgProps>
              </a:ext>
            </a:extLst>
          </a:blip>
          <a:stretch>
            <a:fillRect/>
          </a:stretch>
        </p:blipFill>
        <p:spPr>
          <a:xfrm>
            <a:off x="7759386" y="709599"/>
            <a:ext cx="3886200" cy="2125980"/>
          </a:xfrm>
          <a:prstGeom prst="rect">
            <a:avLst/>
          </a:prstGeom>
        </p:spPr>
      </p:pic>
      <p:pic>
        <p:nvPicPr>
          <p:cNvPr id="4" name="Picture 3">
            <a:extLst>
              <a:ext uri="{FF2B5EF4-FFF2-40B4-BE49-F238E27FC236}">
                <a16:creationId xmlns:a16="http://schemas.microsoft.com/office/drawing/2014/main" id="{639873D8-C2C7-9267-238D-38C57BA5D006}"/>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751863" y="3306460"/>
            <a:ext cx="3549415" cy="1973117"/>
          </a:xfrm>
          <a:prstGeom prst="rect">
            <a:avLst/>
          </a:prstGeom>
          <a:noFill/>
          <a:ln>
            <a:noFill/>
          </a:ln>
        </p:spPr>
      </p:pic>
    </p:spTree>
    <p:extLst>
      <p:ext uri="{BB962C8B-B14F-4D97-AF65-F5344CB8AC3E}">
        <p14:creationId xmlns:p14="http://schemas.microsoft.com/office/powerpoint/2010/main" val="3395806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A5946-E543-EF08-7B55-604A773A247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2D55E4-906D-A6D0-28B2-1F9B106767DD}"/>
              </a:ext>
            </a:extLst>
          </p:cNvPr>
          <p:cNvSpPr>
            <a:spLocks noGrp="1"/>
          </p:cNvSpPr>
          <p:nvPr>
            <p:ph type="sldNum" sz="quarter" idx="12"/>
          </p:nvPr>
        </p:nvSpPr>
        <p:spPr/>
        <p:txBody>
          <a:bodyPr/>
          <a:lstStyle/>
          <a:p>
            <a:fld id="{CBABCCC1-BF11-4F37-963E-1BCD5B23FD72}" type="slidenum">
              <a:rPr lang="en-IN" smtClean="0"/>
              <a:t>9</a:t>
            </a:fld>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BE95C1-F6AD-6E8F-99D8-0A7097B4027E}"/>
                  </a:ext>
                </a:extLst>
              </p:cNvPr>
              <p:cNvSpPr txBox="1">
                <a:spLocks/>
              </p:cNvSpPr>
              <p:nvPr/>
            </p:nvSpPr>
            <p:spPr>
              <a:xfrm>
                <a:off x="-74646" y="922434"/>
                <a:ext cx="12024050" cy="4151803"/>
              </a:xfrm>
              <a:prstGeom prst="rect">
                <a:avLst/>
              </a:prstGeom>
            </p:spPr>
            <p:txBody>
              <a:bodyPr>
                <a:normAutofit lnSpcReduction="1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lnSpc>
                    <a:spcPct val="100000"/>
                  </a:lnSpc>
                  <a:buFont typeface="Arial" panose="020B0604020202020204" pitchFamily="34" charset="0"/>
                  <a:buNone/>
                </a:pPr>
                <a:r>
                  <a:rPr lang="en-IN" sz="2200" dirty="0"/>
                  <a:t>Consider the function </a:t>
                </a:r>
                <a:r>
                  <a:rPr lang="en-IN" sz="2200" dirty="0" err="1"/>
                  <a:t>i</a:t>
                </a:r>
                <a:r>
                  <a:rPr lang="en-IN" sz="2200" dirty="0"/>
                  <a:t>(t)=</a:t>
                </a:r>
                <a14:m>
                  <m:oMath xmlns:m="http://schemas.openxmlformats.org/officeDocument/2006/math">
                    <m:sSub>
                      <m:sSubPr>
                        <m:ctrlPr>
                          <a:rPr lang="en-IN" sz="2200" i="1" smtClean="0">
                            <a:latin typeface="Cambria Math" panose="02040503050406030204" pitchFamily="18" charset="0"/>
                          </a:rPr>
                        </m:ctrlPr>
                      </m:sSubPr>
                      <m:e>
                        <m:r>
                          <m:rPr>
                            <m:sty m:val="p"/>
                          </m:rPr>
                          <a:rPr lang="en-US" sz="2200" smtClean="0">
                            <a:latin typeface="Cambria Math" panose="02040503050406030204" pitchFamily="18" charset="0"/>
                          </a:rPr>
                          <m:t>I</m:t>
                        </m:r>
                      </m:e>
                      <m:sub>
                        <m:r>
                          <m:rPr>
                            <m:sty m:val="p"/>
                          </m:rPr>
                          <a:rPr lang="en-US" sz="2200" smtClean="0">
                            <a:latin typeface="Cambria Math" panose="02040503050406030204" pitchFamily="18" charset="0"/>
                          </a:rPr>
                          <m:t>m</m:t>
                        </m:r>
                      </m:sub>
                    </m:sSub>
                  </m:oMath>
                </a14:m>
                <a:r>
                  <a:rPr lang="en-IN" sz="2200" dirty="0"/>
                  <a:t>sin</a:t>
                </a:r>
                <a14:m>
                  <m:oMath xmlns:m="http://schemas.openxmlformats.org/officeDocument/2006/math">
                    <m:r>
                      <m:rPr>
                        <m:sty m:val="p"/>
                      </m:rPr>
                      <a:rPr lang="en-IN" sz="2200" dirty="0" smtClean="0">
                        <a:latin typeface="Cambria Math" panose="02040503050406030204" pitchFamily="18" charset="0"/>
                        <a:ea typeface="Cambria Math" panose="02040503050406030204" pitchFamily="18" charset="0"/>
                      </a:rPr>
                      <m:t>ω</m:t>
                    </m:r>
                    <m:r>
                      <m:rPr>
                        <m:sty m:val="p"/>
                      </m:rPr>
                      <a:rPr lang="en-US" sz="2200" dirty="0" smtClean="0">
                        <a:latin typeface="Cambria Math" panose="02040503050406030204" pitchFamily="18" charset="0"/>
                        <a:ea typeface="Cambria Math" panose="02040503050406030204" pitchFamily="18" charset="0"/>
                      </a:rPr>
                      <m:t>t</m:t>
                    </m:r>
                    <m:r>
                      <a:rPr lang="en-US" sz="2200" dirty="0" smtClean="0">
                        <a:latin typeface="Cambria Math" panose="02040503050406030204" pitchFamily="18" charset="0"/>
                        <a:ea typeface="Cambria Math" panose="02040503050406030204" pitchFamily="18" charset="0"/>
                      </a:rPr>
                      <m:t>=</m:t>
                    </m:r>
                  </m:oMath>
                </a14:m>
                <a:r>
                  <a:rPr lang="en-IN" sz="2200" dirty="0"/>
                  <a:t> </a:t>
                </a:r>
                <a14:m>
                  <m:oMath xmlns:m="http://schemas.openxmlformats.org/officeDocument/2006/math">
                    <m:sSub>
                      <m:sSubPr>
                        <m:ctrlPr>
                          <a:rPr lang="en-IN" sz="2200" i="1">
                            <a:latin typeface="Cambria Math" panose="02040503050406030204" pitchFamily="18" charset="0"/>
                          </a:rPr>
                        </m:ctrlPr>
                      </m:sSubPr>
                      <m:e>
                        <m:r>
                          <m:rPr>
                            <m:sty m:val="p"/>
                          </m:rPr>
                          <a:rPr lang="en-US" sz="2200" smtClean="0">
                            <a:latin typeface="Cambria Math" panose="02040503050406030204" pitchFamily="18" charset="0"/>
                          </a:rPr>
                          <m:t>I</m:t>
                        </m:r>
                      </m:e>
                      <m:sub>
                        <m:r>
                          <m:rPr>
                            <m:sty m:val="p"/>
                          </m:rPr>
                          <a:rPr lang="en-US" sz="2200" smtClean="0">
                            <a:latin typeface="Cambria Math" panose="02040503050406030204" pitchFamily="18" charset="0"/>
                          </a:rPr>
                          <m:t>m</m:t>
                        </m:r>
                      </m:sub>
                    </m:sSub>
                  </m:oMath>
                </a14:m>
                <a:r>
                  <a:rPr lang="en-US" sz="2200" dirty="0">
                    <a:ea typeface="Cambria Math" panose="02040503050406030204" pitchFamily="18" charset="0"/>
                  </a:rPr>
                  <a:t> </a:t>
                </a:r>
                <a14:m>
                  <m:oMath xmlns:m="http://schemas.openxmlformats.org/officeDocument/2006/math">
                    <m:r>
                      <a:rPr lang="en-US" sz="2200" smtClean="0">
                        <a:latin typeface="Cambria Math" panose="02040503050406030204" pitchFamily="18" charset="0"/>
                        <a:ea typeface="Cambria Math" panose="02040503050406030204" pitchFamily="18" charset="0"/>
                      </a:rPr>
                      <m:t>∠</m:t>
                    </m:r>
                  </m:oMath>
                </a14:m>
                <a:r>
                  <a:rPr lang="en-US" sz="2200" dirty="0">
                    <a:ea typeface="Cambria Math" panose="02040503050406030204" pitchFamily="18" charset="0"/>
                  </a:rPr>
                  <a:t> </a:t>
                </a:r>
                <a14:m>
                  <m:oMath xmlns:m="http://schemas.openxmlformats.org/officeDocument/2006/math">
                    <m:r>
                      <a:rPr lang="en-US" sz="2200" dirty="0" smtClean="0">
                        <a:latin typeface="Cambria Math" panose="02040503050406030204" pitchFamily="18" charset="0"/>
                        <a:ea typeface="Cambria Math" panose="02040503050406030204" pitchFamily="18" charset="0"/>
                      </a:rPr>
                      <m:t>0°</m:t>
                    </m:r>
                    <m:r>
                      <a:rPr lang="en-US" sz="2200" dirty="0">
                        <a:latin typeface="Cambria Math" panose="02040503050406030204" pitchFamily="18" charset="0"/>
                        <a:ea typeface="Cambria Math" panose="02040503050406030204" pitchFamily="18" charset="0"/>
                      </a:rPr>
                      <m:t>=</m:t>
                    </m:r>
                    <m:sSub>
                      <m:sSubPr>
                        <m:ctrlPr>
                          <a:rPr lang="en-IN" sz="2200" i="1">
                            <a:latin typeface="Cambria Math" panose="02040503050406030204" pitchFamily="18" charset="0"/>
                          </a:rPr>
                        </m:ctrlPr>
                      </m:sSubPr>
                      <m:e>
                        <m:r>
                          <m:rPr>
                            <m:sty m:val="p"/>
                          </m:rPr>
                          <a:rPr lang="en-US" sz="2200">
                            <a:latin typeface="Cambria Math" panose="02040503050406030204" pitchFamily="18" charset="0"/>
                          </a:rPr>
                          <m:t>I</m:t>
                        </m:r>
                      </m:e>
                      <m:sub>
                        <m:r>
                          <m:rPr>
                            <m:sty m:val="p"/>
                          </m:rPr>
                          <a:rPr lang="en-US" sz="2200">
                            <a:latin typeface="Cambria Math" panose="02040503050406030204" pitchFamily="18" charset="0"/>
                          </a:rPr>
                          <m:t>m</m:t>
                        </m:r>
                      </m:sub>
                    </m:sSub>
                    <m:r>
                      <a:rPr lang="en-US" sz="2200" i="1">
                        <a:latin typeface="Cambria Math" panose="02040503050406030204" pitchFamily="18" charset="0"/>
                      </a:rPr>
                      <m:t> </m:t>
                    </m:r>
                  </m:oMath>
                </a14:m>
                <a:endParaRPr lang="en-US" sz="2200" dirty="0"/>
              </a:p>
              <a:p>
                <a:pPr marL="0" indent="0">
                  <a:lnSpc>
                    <a:spcPct val="100000"/>
                  </a:lnSpc>
                  <a:buFont typeface="Arial" panose="020B0604020202020204" pitchFamily="34" charset="0"/>
                  <a:buNone/>
                </a:pPr>
                <a:r>
                  <a:rPr lang="en-US" sz="2200" dirty="0"/>
                  <a:t>The voltage current relation in the case of an </a:t>
                </a:r>
                <a:r>
                  <a:rPr lang="en-US" sz="2200" b="1" dirty="0"/>
                  <a:t>capacitor</a:t>
                </a:r>
                <a:r>
                  <a:rPr lang="en-US" sz="2200" dirty="0"/>
                  <a:t> is given by</a:t>
                </a:r>
              </a:p>
              <a:p>
                <a:pPr marL="0" indent="0">
                  <a:lnSpc>
                    <a:spcPct val="100000"/>
                  </a:lnSpc>
                  <a:buFont typeface="Arial" panose="020B0604020202020204" pitchFamily="34" charset="0"/>
                  <a:buNone/>
                </a:pPr>
                <a:r>
                  <a:rPr lang="en-IN" sz="2400" dirty="0"/>
                  <a:t>v(t)=</a:t>
                </a:r>
                <a14:m>
                  <m:oMath xmlns:m="http://schemas.openxmlformats.org/officeDocument/2006/math">
                    <m:f>
                      <m:fPr>
                        <m:ctrlPr>
                          <a:rPr lang="en-US" sz="2400" i="1" smtClean="0">
                            <a:latin typeface="Cambria Math" panose="02040503050406030204" pitchFamily="18" charset="0"/>
                          </a:rPr>
                        </m:ctrlPr>
                      </m:fPr>
                      <m:num>
                        <m:r>
                          <a:rPr lang="en-US" sz="2400" smtClean="0">
                            <a:latin typeface="Cambria Math" panose="02040503050406030204" pitchFamily="18" charset="0"/>
                          </a:rPr>
                          <m:t>1</m:t>
                        </m:r>
                      </m:num>
                      <m:den>
                        <m:r>
                          <m:rPr>
                            <m:sty m:val="p"/>
                          </m:rPr>
                          <a:rPr lang="en-US" sz="2400" smtClean="0">
                            <a:latin typeface="Cambria Math" panose="02040503050406030204" pitchFamily="18" charset="0"/>
                          </a:rPr>
                          <m:t>C</m:t>
                        </m:r>
                      </m:den>
                    </m:f>
                    <m:nary>
                      <m:naryPr>
                        <m:limLoc m:val="undOvr"/>
                        <m:subHide m:val="on"/>
                        <m:supHide m:val="on"/>
                        <m:ctrlPr>
                          <a:rPr lang="en-US" sz="2400" i="1" smtClean="0">
                            <a:latin typeface="Cambria Math" panose="02040503050406030204" pitchFamily="18" charset="0"/>
                          </a:rPr>
                        </m:ctrlPr>
                      </m:naryPr>
                      <m:sub/>
                      <m:sup/>
                      <m:e>
                        <m:r>
                          <m:rPr>
                            <m:sty m:val="p"/>
                          </m:rPr>
                          <a:rPr lang="en-US" sz="2400" smtClean="0">
                            <a:latin typeface="Cambria Math" panose="02040503050406030204" pitchFamily="18" charset="0"/>
                          </a:rPr>
                          <m:t>i</m:t>
                        </m:r>
                        <m:d>
                          <m:dPr>
                            <m:ctrlPr>
                              <a:rPr lang="en-US" sz="2400" i="1" smtClean="0">
                                <a:latin typeface="Cambria Math" panose="02040503050406030204" pitchFamily="18" charset="0"/>
                              </a:rPr>
                            </m:ctrlPr>
                          </m:dPr>
                          <m:e>
                            <m:r>
                              <m:rPr>
                                <m:sty m:val="p"/>
                              </m:rPr>
                              <a:rPr lang="en-US" sz="2400" smtClean="0">
                                <a:latin typeface="Cambria Math" panose="02040503050406030204" pitchFamily="18" charset="0"/>
                              </a:rPr>
                              <m:t>t</m:t>
                            </m:r>
                          </m:e>
                        </m:d>
                        <m:r>
                          <m:rPr>
                            <m:sty m:val="p"/>
                          </m:rPr>
                          <a:rPr lang="en-US" sz="2400" smtClean="0">
                            <a:latin typeface="Cambria Math" panose="02040503050406030204" pitchFamily="18" charset="0"/>
                          </a:rPr>
                          <m:t>dt</m:t>
                        </m:r>
                      </m:e>
                    </m:nary>
                  </m:oMath>
                </a14:m>
                <a:endParaRPr lang="en-US" sz="2400" dirty="0">
                  <a:ea typeface="Cambria Math" panose="02040503050406030204" pitchFamily="18" charset="0"/>
                </a:endParaRPr>
              </a:p>
              <a:p>
                <a:pPr marL="0" indent="0">
                  <a:lnSpc>
                    <a:spcPct val="100000"/>
                  </a:lnSpc>
                  <a:buFont typeface="Arial" panose="020B0604020202020204" pitchFamily="34" charset="0"/>
                  <a:buNone/>
                </a:pPr>
                <a:r>
                  <a:rPr lang="en-IN" sz="2200" dirty="0"/>
                  <a:t>v(t)=</a:t>
                </a:r>
                <a14:m>
                  <m:oMath xmlns:m="http://schemas.openxmlformats.org/officeDocument/2006/math">
                    <m:f>
                      <m:fPr>
                        <m:ctrlPr>
                          <a:rPr lang="en-US" sz="2200" i="1">
                            <a:latin typeface="Cambria Math" panose="02040503050406030204" pitchFamily="18" charset="0"/>
                          </a:rPr>
                        </m:ctrlPr>
                      </m:fPr>
                      <m:num>
                        <m:r>
                          <a:rPr lang="en-US" sz="2200" smtClean="0">
                            <a:latin typeface="Cambria Math" panose="02040503050406030204" pitchFamily="18" charset="0"/>
                          </a:rPr>
                          <m:t>1</m:t>
                        </m:r>
                      </m:num>
                      <m:den>
                        <m:r>
                          <m:rPr>
                            <m:sty m:val="p"/>
                          </m:rPr>
                          <a:rPr lang="en-US" sz="2200" smtClean="0">
                            <a:latin typeface="Cambria Math" panose="02040503050406030204" pitchFamily="18" charset="0"/>
                          </a:rPr>
                          <m:t>C</m:t>
                        </m:r>
                      </m:den>
                    </m:f>
                    <m:nary>
                      <m:naryPr>
                        <m:limLoc m:val="undOvr"/>
                        <m:subHide m:val="on"/>
                        <m:supHide m:val="on"/>
                        <m:ctrlPr>
                          <a:rPr lang="en-US" sz="2200" i="1" smtClean="0">
                            <a:latin typeface="Cambria Math" panose="02040503050406030204" pitchFamily="18" charset="0"/>
                          </a:rPr>
                        </m:ctrlPr>
                      </m:naryPr>
                      <m:sub/>
                      <m:sup/>
                      <m:e>
                        <m:sSub>
                          <m:sSubPr>
                            <m:ctrlPr>
                              <a:rPr lang="en-IN" sz="2200" i="1">
                                <a:latin typeface="Cambria Math" panose="02040503050406030204" pitchFamily="18" charset="0"/>
                              </a:rPr>
                            </m:ctrlPr>
                          </m:sSubPr>
                          <m:e>
                            <m:r>
                              <m:rPr>
                                <m:sty m:val="p"/>
                              </m:rPr>
                              <a:rPr lang="en-US" sz="2200" smtClean="0">
                                <a:latin typeface="Cambria Math" panose="02040503050406030204" pitchFamily="18" charset="0"/>
                              </a:rPr>
                              <m:t>I</m:t>
                            </m:r>
                          </m:e>
                          <m:sub>
                            <m:r>
                              <m:rPr>
                                <m:sty m:val="p"/>
                              </m:rPr>
                              <a:rPr lang="en-US" sz="2200" smtClean="0">
                                <a:latin typeface="Cambria Math" panose="02040503050406030204" pitchFamily="18" charset="0"/>
                              </a:rPr>
                              <m:t>m</m:t>
                            </m:r>
                          </m:sub>
                        </m:sSub>
                        <m:r>
                          <m:rPr>
                            <m:nor/>
                          </m:rPr>
                          <a:rPr lang="en-IN" sz="2200" dirty="0"/>
                          <m:t>sin</m:t>
                        </m:r>
                        <m:r>
                          <m:rPr>
                            <m:sty m:val="p"/>
                          </m:rPr>
                          <a:rPr lang="en-IN" sz="2200" dirty="0" smtClean="0">
                            <a:latin typeface="Cambria Math" panose="02040503050406030204" pitchFamily="18" charset="0"/>
                            <a:ea typeface="Cambria Math" panose="02040503050406030204" pitchFamily="18" charset="0"/>
                          </a:rPr>
                          <m:t>ω</m:t>
                        </m:r>
                        <m:r>
                          <m:rPr>
                            <m:sty m:val="p"/>
                          </m:rPr>
                          <a:rPr lang="en-US" sz="2200" dirty="0" smtClean="0">
                            <a:latin typeface="Cambria Math" panose="02040503050406030204" pitchFamily="18" charset="0"/>
                            <a:ea typeface="Cambria Math" panose="02040503050406030204" pitchFamily="18" charset="0"/>
                          </a:rPr>
                          <m:t>tdt</m:t>
                        </m:r>
                      </m:e>
                    </m:nary>
                    <m:r>
                      <a:rPr lang="en-US" sz="2200" smtClean="0">
                        <a:latin typeface="Cambria Math" panose="02040503050406030204" pitchFamily="18" charset="0"/>
                      </a:rPr>
                      <m:t>=</m:t>
                    </m:r>
                    <m:f>
                      <m:fPr>
                        <m:ctrlPr>
                          <a:rPr lang="en-US" sz="2200" i="1">
                            <a:latin typeface="Cambria Math" panose="02040503050406030204" pitchFamily="18" charset="0"/>
                          </a:rPr>
                        </m:ctrlPr>
                      </m:fPr>
                      <m:num>
                        <m:r>
                          <a:rPr lang="en-US" sz="2200" smtClean="0">
                            <a:latin typeface="Cambria Math" panose="02040503050406030204" pitchFamily="18" charset="0"/>
                          </a:rPr>
                          <m:t>1</m:t>
                        </m:r>
                      </m:num>
                      <m:den>
                        <m:r>
                          <m:rPr>
                            <m:sty m:val="p"/>
                          </m:rPr>
                          <a:rPr lang="en-US" sz="2200" smtClean="0">
                            <a:latin typeface="Cambria Math" panose="02040503050406030204" pitchFamily="18" charset="0"/>
                          </a:rPr>
                          <m:t>C</m:t>
                        </m:r>
                      </m:den>
                    </m:f>
                    <m:sSub>
                      <m:sSubPr>
                        <m:ctrlPr>
                          <a:rPr lang="en-IN" sz="2200" i="1">
                            <a:latin typeface="Cambria Math" panose="02040503050406030204" pitchFamily="18" charset="0"/>
                          </a:rPr>
                        </m:ctrlPr>
                      </m:sSubPr>
                      <m:e>
                        <m:r>
                          <m:rPr>
                            <m:sty m:val="p"/>
                          </m:rPr>
                          <a:rPr lang="en-US" sz="2200" smtClean="0">
                            <a:latin typeface="Cambria Math" panose="02040503050406030204" pitchFamily="18" charset="0"/>
                          </a:rPr>
                          <m:t>I</m:t>
                        </m:r>
                      </m:e>
                      <m:sub>
                        <m:r>
                          <m:rPr>
                            <m:sty m:val="p"/>
                          </m:rPr>
                          <a:rPr lang="en-US" sz="2200" smtClean="0">
                            <a:latin typeface="Cambria Math" panose="02040503050406030204" pitchFamily="18" charset="0"/>
                          </a:rPr>
                          <m:t>m</m:t>
                        </m:r>
                      </m:sub>
                    </m:sSub>
                    <m:d>
                      <m:dPr>
                        <m:ctrlPr>
                          <a:rPr lang="en-IN" sz="2200" i="1" dirty="0" smtClean="0">
                            <a:latin typeface="Cambria Math" panose="02040503050406030204" pitchFamily="18" charset="0"/>
                            <a:ea typeface="Cambria Math" panose="02040503050406030204" pitchFamily="18" charset="0"/>
                          </a:rPr>
                        </m:ctrlPr>
                      </m:dPr>
                      <m:e>
                        <m:f>
                          <m:fPr>
                            <m:ctrlPr>
                              <a:rPr lang="en-IN" sz="2200" i="1" dirty="0" smtClean="0">
                                <a:latin typeface="Cambria Math" panose="02040503050406030204" pitchFamily="18" charset="0"/>
                                <a:ea typeface="Cambria Math" panose="02040503050406030204" pitchFamily="18" charset="0"/>
                              </a:rPr>
                            </m:ctrlPr>
                          </m:fPr>
                          <m:num>
                            <m:r>
                              <a:rPr lang="en-US" sz="2200" dirty="0" smtClean="0">
                                <a:latin typeface="Cambria Math" panose="02040503050406030204" pitchFamily="18" charset="0"/>
                                <a:ea typeface="Cambria Math" panose="02040503050406030204" pitchFamily="18" charset="0"/>
                              </a:rPr>
                              <m:t>−</m:t>
                            </m:r>
                            <m:r>
                              <m:rPr>
                                <m:nor/>
                              </m:rPr>
                              <a:rPr lang="en-US" sz="2200" dirty="0">
                                <a:latin typeface="Cambria Math" panose="02040503050406030204" pitchFamily="18" charset="0"/>
                                <a:ea typeface="Cambria Math" panose="02040503050406030204" pitchFamily="18" charset="0"/>
                              </a:rPr>
                              <m:t>c</m:t>
                            </m:r>
                            <m:r>
                              <m:rPr>
                                <m:sty m:val="p"/>
                              </m:rPr>
                              <a:rPr lang="en-US" sz="2200" dirty="0" smtClean="0">
                                <a:latin typeface="Cambria Math" panose="02040503050406030204" pitchFamily="18" charset="0"/>
                                <a:ea typeface="Cambria Math" panose="02040503050406030204" pitchFamily="18" charset="0"/>
                              </a:rPr>
                              <m:t>os</m:t>
                            </m:r>
                            <m:r>
                              <m:rPr>
                                <m:sty m:val="p"/>
                              </m:rPr>
                              <a:rPr lang="en-IN" sz="2200" dirty="0" smtClean="0">
                                <a:latin typeface="Cambria Math" panose="02040503050406030204" pitchFamily="18" charset="0"/>
                                <a:ea typeface="Cambria Math" panose="02040503050406030204" pitchFamily="18" charset="0"/>
                              </a:rPr>
                              <m:t>ω</m:t>
                            </m:r>
                            <m:r>
                              <m:rPr>
                                <m:sty m:val="p"/>
                              </m:rPr>
                              <a:rPr lang="en-US" sz="2200" dirty="0" smtClean="0">
                                <a:latin typeface="Cambria Math" panose="02040503050406030204" pitchFamily="18" charset="0"/>
                                <a:ea typeface="Cambria Math" panose="02040503050406030204" pitchFamily="18" charset="0"/>
                              </a:rPr>
                              <m:t>t</m:t>
                            </m:r>
                          </m:num>
                          <m:den>
                            <m:r>
                              <m:rPr>
                                <m:sty m:val="p"/>
                              </m:rPr>
                              <a:rPr lang="en-IN" sz="2200" dirty="0" smtClean="0">
                                <a:latin typeface="Cambria Math" panose="02040503050406030204" pitchFamily="18" charset="0"/>
                                <a:ea typeface="Cambria Math" panose="02040503050406030204" pitchFamily="18" charset="0"/>
                              </a:rPr>
                              <m:t>ω</m:t>
                            </m:r>
                          </m:den>
                        </m:f>
                      </m:e>
                    </m:d>
                    <m:r>
                      <a:rPr lang="en-US" sz="2200" smtClean="0">
                        <a:latin typeface="Cambria Math" panose="02040503050406030204" pitchFamily="18" charset="0"/>
                      </a:rPr>
                      <m:t>=</m:t>
                    </m:r>
                    <m:f>
                      <m:fPr>
                        <m:ctrlPr>
                          <a:rPr lang="en-US" sz="2200" i="1" smtClean="0">
                            <a:latin typeface="Cambria Math" panose="02040503050406030204" pitchFamily="18" charset="0"/>
                          </a:rPr>
                        </m:ctrlPr>
                      </m:fPr>
                      <m:num>
                        <m:sSub>
                          <m:sSubPr>
                            <m:ctrlPr>
                              <a:rPr lang="en-IN" sz="2200" i="1">
                                <a:latin typeface="Cambria Math" panose="02040503050406030204" pitchFamily="18" charset="0"/>
                              </a:rPr>
                            </m:ctrlPr>
                          </m:sSubPr>
                          <m:e>
                            <m:r>
                              <m:rPr>
                                <m:sty m:val="p"/>
                              </m:rPr>
                              <a:rPr lang="en-US" sz="2200" smtClean="0">
                                <a:latin typeface="Cambria Math" panose="02040503050406030204" pitchFamily="18" charset="0"/>
                              </a:rPr>
                              <m:t>I</m:t>
                            </m:r>
                          </m:e>
                          <m:sub>
                            <m:r>
                              <m:rPr>
                                <m:sty m:val="p"/>
                              </m:rPr>
                              <a:rPr lang="en-US" sz="2200" smtClean="0">
                                <a:latin typeface="Cambria Math" panose="02040503050406030204" pitchFamily="18" charset="0"/>
                              </a:rPr>
                              <m:t>m</m:t>
                            </m:r>
                          </m:sub>
                        </m:sSub>
                      </m:num>
                      <m:den>
                        <m:r>
                          <m:rPr>
                            <m:sty m:val="p"/>
                          </m:rPr>
                          <a:rPr lang="en-US" sz="2200" smtClean="0">
                            <a:latin typeface="Cambria Math" panose="02040503050406030204" pitchFamily="18" charset="0"/>
                            <a:ea typeface="Cambria Math" panose="02040503050406030204" pitchFamily="18" charset="0"/>
                          </a:rPr>
                          <m:t>ω</m:t>
                        </m:r>
                        <m:r>
                          <m:rPr>
                            <m:sty m:val="p"/>
                          </m:rPr>
                          <a:rPr lang="en-US" sz="2200" smtClean="0">
                            <a:latin typeface="Cambria Math" panose="02040503050406030204" pitchFamily="18" charset="0"/>
                          </a:rPr>
                          <m:t>C</m:t>
                        </m:r>
                      </m:den>
                    </m:f>
                    <m:r>
                      <a:rPr lang="en-US" sz="2200" smtClean="0">
                        <a:latin typeface="Cambria Math" panose="02040503050406030204" pitchFamily="18" charset="0"/>
                      </a:rPr>
                      <m:t>(</m:t>
                    </m:r>
                    <m:r>
                      <a:rPr lang="en-US" sz="2200" dirty="0" smtClean="0">
                        <a:latin typeface="Cambria Math" panose="02040503050406030204" pitchFamily="18" charset="0"/>
                        <a:ea typeface="Cambria Math" panose="02040503050406030204" pitchFamily="18" charset="0"/>
                      </a:rPr>
                      <m:t>−</m:t>
                    </m:r>
                    <m:r>
                      <m:rPr>
                        <m:nor/>
                      </m:rPr>
                      <a:rPr lang="en-US" sz="2200" dirty="0">
                        <a:latin typeface="Cambria Math" panose="02040503050406030204" pitchFamily="18" charset="0"/>
                        <a:ea typeface="Cambria Math" panose="02040503050406030204" pitchFamily="18" charset="0"/>
                      </a:rPr>
                      <m:t>c</m:t>
                    </m:r>
                    <m:r>
                      <m:rPr>
                        <m:sty m:val="p"/>
                      </m:rPr>
                      <a:rPr lang="en-US" sz="2200" dirty="0" smtClean="0">
                        <a:latin typeface="Cambria Math" panose="02040503050406030204" pitchFamily="18" charset="0"/>
                        <a:ea typeface="Cambria Math" panose="02040503050406030204" pitchFamily="18" charset="0"/>
                      </a:rPr>
                      <m:t>os</m:t>
                    </m:r>
                    <m:r>
                      <m:rPr>
                        <m:sty m:val="p"/>
                      </m:rPr>
                      <a:rPr lang="en-IN" sz="2200" dirty="0" smtClean="0">
                        <a:latin typeface="Cambria Math" panose="02040503050406030204" pitchFamily="18" charset="0"/>
                        <a:ea typeface="Cambria Math" panose="02040503050406030204" pitchFamily="18" charset="0"/>
                      </a:rPr>
                      <m:t>ω</m:t>
                    </m:r>
                    <m:r>
                      <m:rPr>
                        <m:sty m:val="p"/>
                      </m:rPr>
                      <a:rPr lang="en-US" sz="2200" dirty="0" smtClean="0">
                        <a:latin typeface="Cambria Math" panose="02040503050406030204" pitchFamily="18" charset="0"/>
                        <a:ea typeface="Cambria Math" panose="02040503050406030204" pitchFamily="18" charset="0"/>
                      </a:rPr>
                      <m:t>t</m:t>
                    </m:r>
                    <m:r>
                      <a:rPr lang="en-US" sz="2200" dirty="0" smtClean="0">
                        <a:latin typeface="Cambria Math" panose="02040503050406030204" pitchFamily="18" charset="0"/>
                        <a:ea typeface="Cambria Math" panose="02040503050406030204" pitchFamily="18" charset="0"/>
                      </a:rPr>
                      <m:t>)=</m:t>
                    </m:r>
                    <m:f>
                      <m:fPr>
                        <m:ctrlPr>
                          <a:rPr lang="en-US" sz="2200" i="1">
                            <a:latin typeface="Cambria Math" panose="02040503050406030204" pitchFamily="18" charset="0"/>
                          </a:rPr>
                        </m:ctrlPr>
                      </m:fPr>
                      <m:num>
                        <m:sSub>
                          <m:sSubPr>
                            <m:ctrlPr>
                              <a:rPr lang="en-IN" sz="2200" i="1">
                                <a:latin typeface="Cambria Math" panose="02040503050406030204" pitchFamily="18" charset="0"/>
                              </a:rPr>
                            </m:ctrlPr>
                          </m:sSubPr>
                          <m:e>
                            <m:r>
                              <m:rPr>
                                <m:sty m:val="p"/>
                              </m:rPr>
                              <a:rPr lang="en-US" sz="2200" smtClean="0">
                                <a:latin typeface="Cambria Math" panose="02040503050406030204" pitchFamily="18" charset="0"/>
                              </a:rPr>
                              <m:t>I</m:t>
                            </m:r>
                          </m:e>
                          <m:sub>
                            <m:r>
                              <m:rPr>
                                <m:sty m:val="p"/>
                              </m:rPr>
                              <a:rPr lang="en-US" sz="2200" smtClean="0">
                                <a:latin typeface="Cambria Math" panose="02040503050406030204" pitchFamily="18" charset="0"/>
                              </a:rPr>
                              <m:t>m</m:t>
                            </m:r>
                          </m:sub>
                        </m:sSub>
                      </m:num>
                      <m:den>
                        <m:r>
                          <m:rPr>
                            <m:sty m:val="p"/>
                          </m:rPr>
                          <a:rPr lang="en-US" sz="2200" smtClean="0">
                            <a:latin typeface="Cambria Math" panose="02040503050406030204" pitchFamily="18" charset="0"/>
                            <a:ea typeface="Cambria Math" panose="02040503050406030204" pitchFamily="18" charset="0"/>
                          </a:rPr>
                          <m:t>ω</m:t>
                        </m:r>
                        <m:r>
                          <m:rPr>
                            <m:sty m:val="p"/>
                          </m:rPr>
                          <a:rPr lang="en-US" sz="2200" smtClean="0">
                            <a:latin typeface="Cambria Math" panose="02040503050406030204" pitchFamily="18" charset="0"/>
                          </a:rPr>
                          <m:t>C</m:t>
                        </m:r>
                      </m:den>
                    </m:f>
                  </m:oMath>
                </a14:m>
                <a:r>
                  <a:rPr lang="en-IN" sz="2200" dirty="0"/>
                  <a:t>sin</a:t>
                </a:r>
                <a14:m>
                  <m:oMath xmlns:m="http://schemas.openxmlformats.org/officeDocument/2006/math">
                    <m:d>
                      <m:dPr>
                        <m:ctrlPr>
                          <a:rPr lang="en-IN" sz="2400" i="1" dirty="0" smtClean="0">
                            <a:latin typeface="Cambria Math" panose="02040503050406030204" pitchFamily="18" charset="0"/>
                          </a:rPr>
                        </m:ctrlPr>
                      </m:dPr>
                      <m:e>
                        <m:r>
                          <m:rPr>
                            <m:sty m:val="p"/>
                          </m:rPr>
                          <a:rPr lang="en-IN" sz="2400" dirty="0" smtClean="0">
                            <a:latin typeface="Cambria Math" panose="02040503050406030204" pitchFamily="18" charset="0"/>
                            <a:ea typeface="Cambria Math" panose="02040503050406030204" pitchFamily="18" charset="0"/>
                          </a:rPr>
                          <m:t>ω</m:t>
                        </m:r>
                        <m:r>
                          <m:rPr>
                            <m:sty m:val="p"/>
                          </m:rPr>
                          <a:rPr lang="en-US" sz="2400" dirty="0" smtClean="0">
                            <a:latin typeface="Cambria Math" panose="02040503050406030204" pitchFamily="18" charset="0"/>
                            <a:ea typeface="Cambria Math" panose="02040503050406030204" pitchFamily="18" charset="0"/>
                          </a:rPr>
                          <m:t>t</m:t>
                        </m:r>
                        <m:r>
                          <a:rPr lang="en-US" sz="2400" dirty="0" smtClean="0">
                            <a:latin typeface="Cambria Math" panose="02040503050406030204" pitchFamily="18" charset="0"/>
                            <a:ea typeface="Cambria Math" panose="02040503050406030204" pitchFamily="18" charset="0"/>
                          </a:rPr>
                          <m:t>−90°</m:t>
                        </m:r>
                      </m:e>
                    </m:d>
                    <m:r>
                      <a:rPr lang="en-US" sz="2400" smtClean="0">
                        <a:latin typeface="Cambria Math" panose="02040503050406030204" pitchFamily="18" charset="0"/>
                      </a:rPr>
                      <m:t>=</m:t>
                    </m:r>
                    <m:f>
                      <m:fPr>
                        <m:ctrlPr>
                          <a:rPr lang="en-US" sz="2400" i="1">
                            <a:latin typeface="Cambria Math" panose="02040503050406030204" pitchFamily="18" charset="0"/>
                          </a:rPr>
                        </m:ctrlPr>
                      </m:fPr>
                      <m:num>
                        <m:sSub>
                          <m:sSubPr>
                            <m:ctrlPr>
                              <a:rPr lang="en-IN" sz="2400" i="1">
                                <a:latin typeface="Cambria Math" panose="02040503050406030204" pitchFamily="18" charset="0"/>
                              </a:rPr>
                            </m:ctrlPr>
                          </m:sSubPr>
                          <m:e>
                            <m:r>
                              <m:rPr>
                                <m:sty m:val="p"/>
                              </m:rPr>
                              <a:rPr lang="en-US" sz="2400" smtClean="0">
                                <a:latin typeface="Cambria Math" panose="02040503050406030204" pitchFamily="18" charset="0"/>
                              </a:rPr>
                              <m:t>I</m:t>
                            </m:r>
                          </m:e>
                          <m:sub>
                            <m:r>
                              <m:rPr>
                                <m:sty m:val="p"/>
                              </m:rPr>
                              <a:rPr lang="en-US" sz="2400" smtClean="0">
                                <a:latin typeface="Cambria Math" panose="02040503050406030204" pitchFamily="18" charset="0"/>
                              </a:rPr>
                              <m:t>m</m:t>
                            </m:r>
                          </m:sub>
                        </m:sSub>
                      </m:num>
                      <m:den>
                        <m:r>
                          <m:rPr>
                            <m:sty m:val="p"/>
                          </m:rPr>
                          <a:rPr lang="en-US" sz="2400" smtClean="0">
                            <a:latin typeface="Cambria Math" panose="02040503050406030204" pitchFamily="18" charset="0"/>
                            <a:ea typeface="Cambria Math" panose="02040503050406030204" pitchFamily="18" charset="0"/>
                          </a:rPr>
                          <m:t>ω</m:t>
                        </m:r>
                        <m:r>
                          <m:rPr>
                            <m:sty m:val="p"/>
                          </m:rPr>
                          <a:rPr lang="en-US" sz="2400" smtClean="0">
                            <a:latin typeface="Cambria Math" panose="02040503050406030204" pitchFamily="18" charset="0"/>
                          </a:rPr>
                          <m:t>C</m:t>
                        </m:r>
                      </m:den>
                    </m:f>
                    <m:r>
                      <a:rPr lang="en-US" sz="2400" smtClean="0">
                        <a:latin typeface="Cambria Math" panose="02040503050406030204" pitchFamily="18" charset="0"/>
                        <a:ea typeface="Cambria Math" panose="02040503050406030204" pitchFamily="18" charset="0"/>
                      </a:rPr>
                      <m:t>∠</m:t>
                    </m:r>
                    <m:r>
                      <a:rPr lang="en-US" sz="2400" dirty="0" smtClean="0">
                        <a:latin typeface="Cambria Math" panose="02040503050406030204" pitchFamily="18" charset="0"/>
                        <a:ea typeface="Cambria Math" panose="02040503050406030204" pitchFamily="18" charset="0"/>
                      </a:rPr>
                      <m:t>−90°=</m:t>
                    </m:r>
                    <m:r>
                      <a:rPr lang="en-US" sz="2400" i="1" dirty="0"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sSub>
                          <m:sSubPr>
                            <m:ctrlPr>
                              <a:rPr lang="en-IN" sz="2400" i="1">
                                <a:latin typeface="Cambria Math" panose="02040503050406030204" pitchFamily="18" charset="0"/>
                              </a:rPr>
                            </m:ctrlPr>
                          </m:sSubPr>
                          <m:e>
                            <m:r>
                              <m:rPr>
                                <m:sty m:val="p"/>
                              </m:rPr>
                              <a:rPr lang="en-US" sz="2400" smtClean="0">
                                <a:latin typeface="Cambria Math" panose="02040503050406030204" pitchFamily="18" charset="0"/>
                              </a:rPr>
                              <m:t>j</m:t>
                            </m:r>
                            <m:r>
                              <m:rPr>
                                <m:sty m:val="p"/>
                              </m:rPr>
                              <a:rPr lang="en-US" sz="2400">
                                <a:latin typeface="Cambria Math" panose="02040503050406030204" pitchFamily="18" charset="0"/>
                              </a:rPr>
                              <m:t>I</m:t>
                            </m:r>
                          </m:e>
                          <m:sub>
                            <m:r>
                              <m:rPr>
                                <m:sty m:val="p"/>
                              </m:rPr>
                              <a:rPr lang="en-US" sz="2400">
                                <a:latin typeface="Cambria Math" panose="02040503050406030204" pitchFamily="18" charset="0"/>
                              </a:rPr>
                              <m:t>m</m:t>
                            </m:r>
                          </m:sub>
                        </m:sSub>
                      </m:num>
                      <m:den>
                        <m:r>
                          <m:rPr>
                            <m:sty m:val="p"/>
                          </m:rPr>
                          <a:rPr lang="en-US" sz="2400">
                            <a:latin typeface="Cambria Math" panose="02040503050406030204" pitchFamily="18" charset="0"/>
                            <a:ea typeface="Cambria Math" panose="02040503050406030204" pitchFamily="18" charset="0"/>
                          </a:rPr>
                          <m:t>ω</m:t>
                        </m:r>
                        <m:r>
                          <m:rPr>
                            <m:sty m:val="p"/>
                          </m:rPr>
                          <a:rPr lang="en-US" sz="2400">
                            <a:latin typeface="Cambria Math" panose="02040503050406030204" pitchFamily="18" charset="0"/>
                          </a:rPr>
                          <m:t>C</m:t>
                        </m:r>
                      </m:den>
                    </m:f>
                  </m:oMath>
                </a14:m>
                <a:endParaRPr lang="en-IN" sz="2400" dirty="0"/>
              </a:p>
              <a:p>
                <a:pPr marL="0" indent="0">
                  <a:lnSpc>
                    <a:spcPct val="100000"/>
                  </a:lnSpc>
                  <a:buFont typeface="Arial" panose="020B0604020202020204" pitchFamily="34" charset="0"/>
                  <a:buNone/>
                </a:pPr>
                <a:r>
                  <a:rPr lang="en-IN" dirty="0"/>
                  <a:t>Z=</a:t>
                </a:r>
                <a14:m>
                  <m:oMath xmlns:m="http://schemas.openxmlformats.org/officeDocument/2006/math">
                    <m:f>
                      <m:fPr>
                        <m:ctrlPr>
                          <a:rPr lang="en-IN" sz="2400" i="1" smtClean="0">
                            <a:latin typeface="Cambria Math" panose="02040503050406030204" pitchFamily="18" charset="0"/>
                          </a:rPr>
                        </m:ctrlPr>
                      </m:fPr>
                      <m:num>
                        <m:r>
                          <m:rPr>
                            <m:nor/>
                          </m:rPr>
                          <a:rPr lang="en-IN" sz="2400" dirty="0"/>
                          <m:t>v</m:t>
                        </m:r>
                        <m:r>
                          <m:rPr>
                            <m:nor/>
                          </m:rPr>
                          <a:rPr lang="en-IN" sz="2400" dirty="0"/>
                          <m:t>(</m:t>
                        </m:r>
                        <m:r>
                          <m:rPr>
                            <m:nor/>
                          </m:rPr>
                          <a:rPr lang="en-IN" sz="2400" dirty="0"/>
                          <m:t>t</m:t>
                        </m:r>
                        <m:r>
                          <m:rPr>
                            <m:nor/>
                          </m:rPr>
                          <a:rPr lang="en-IN" sz="2400" dirty="0"/>
                          <m:t>)</m:t>
                        </m:r>
                      </m:num>
                      <m:den>
                        <m:r>
                          <m:rPr>
                            <m:nor/>
                          </m:rPr>
                          <a:rPr lang="en-US" sz="2400" smtClean="0">
                            <a:latin typeface="Cambria Math" panose="02040503050406030204" pitchFamily="18" charset="0"/>
                          </a:rPr>
                          <m:t>i</m:t>
                        </m:r>
                        <m:r>
                          <m:rPr>
                            <m:nor/>
                          </m:rPr>
                          <a:rPr lang="en-IN" sz="2400" dirty="0"/>
                          <m:t>(</m:t>
                        </m:r>
                        <m:r>
                          <m:rPr>
                            <m:nor/>
                          </m:rPr>
                          <a:rPr lang="en-IN" sz="2400" dirty="0"/>
                          <m:t>t</m:t>
                        </m:r>
                        <m:r>
                          <m:rPr>
                            <m:nor/>
                          </m:rPr>
                          <a:rPr lang="en-IN" sz="2400" dirty="0"/>
                          <m:t>)</m:t>
                        </m:r>
                      </m:den>
                    </m:f>
                    <m:r>
                      <a:rPr lang="en-US" sz="2400" smtClean="0">
                        <a:latin typeface="Cambria Math" panose="02040503050406030204" pitchFamily="18" charset="0"/>
                      </a:rPr>
                      <m:t>=</m:t>
                    </m:r>
                    <m:f>
                      <m:fPr>
                        <m:ctrlPr>
                          <a:rPr lang="en-US" sz="2400" i="1" smtClean="0">
                            <a:latin typeface="Cambria Math" panose="02040503050406030204" pitchFamily="18" charset="0"/>
                          </a:rPr>
                        </m:ctrlPr>
                      </m:fPr>
                      <m:num>
                        <m:f>
                          <m:fPr>
                            <m:ctrlPr>
                              <a:rPr lang="en-US" sz="2400" i="1">
                                <a:latin typeface="Cambria Math" panose="02040503050406030204" pitchFamily="18" charset="0"/>
                              </a:rPr>
                            </m:ctrlPr>
                          </m:fPr>
                          <m:num>
                            <m:sSub>
                              <m:sSubPr>
                                <m:ctrlPr>
                                  <a:rPr lang="en-IN" sz="2400" i="1">
                                    <a:latin typeface="Cambria Math" panose="02040503050406030204" pitchFamily="18" charset="0"/>
                                  </a:rPr>
                                </m:ctrlPr>
                              </m:sSubPr>
                              <m:e>
                                <m:r>
                                  <a:rPr lang="en-US" sz="2400" smtClean="0">
                                    <a:latin typeface="Cambria Math" panose="02040503050406030204" pitchFamily="18" charset="0"/>
                                  </a:rPr>
                                  <m:t>−</m:t>
                                </m:r>
                                <m:r>
                                  <m:rPr>
                                    <m:sty m:val="p"/>
                                  </m:rPr>
                                  <a:rPr lang="en-US" sz="2400" smtClean="0">
                                    <a:latin typeface="Cambria Math" panose="02040503050406030204" pitchFamily="18" charset="0"/>
                                  </a:rPr>
                                  <m:t>jI</m:t>
                                </m:r>
                              </m:e>
                              <m:sub>
                                <m:r>
                                  <m:rPr>
                                    <m:sty m:val="p"/>
                                  </m:rPr>
                                  <a:rPr lang="en-US" sz="2400" smtClean="0">
                                    <a:latin typeface="Cambria Math" panose="02040503050406030204" pitchFamily="18" charset="0"/>
                                  </a:rPr>
                                  <m:t>m</m:t>
                                </m:r>
                              </m:sub>
                            </m:sSub>
                          </m:num>
                          <m:den>
                            <m:r>
                              <m:rPr>
                                <m:sty m:val="p"/>
                              </m:rPr>
                              <a:rPr lang="en-US" sz="2400" smtClean="0">
                                <a:latin typeface="Cambria Math" panose="02040503050406030204" pitchFamily="18" charset="0"/>
                                <a:ea typeface="Cambria Math" panose="02040503050406030204" pitchFamily="18" charset="0"/>
                              </a:rPr>
                              <m:t>ω</m:t>
                            </m:r>
                            <m:r>
                              <m:rPr>
                                <m:sty m:val="p"/>
                              </m:rPr>
                              <a:rPr lang="en-US" sz="2400" smtClean="0">
                                <a:latin typeface="Cambria Math" panose="02040503050406030204" pitchFamily="18" charset="0"/>
                              </a:rPr>
                              <m:t>C</m:t>
                            </m:r>
                          </m:den>
                        </m:f>
                      </m:num>
                      <m:den>
                        <m:sSub>
                          <m:sSubPr>
                            <m:ctrlPr>
                              <a:rPr lang="en-IN" sz="2400" i="1">
                                <a:latin typeface="Cambria Math" panose="02040503050406030204" pitchFamily="18" charset="0"/>
                              </a:rPr>
                            </m:ctrlPr>
                          </m:sSubPr>
                          <m:e>
                            <m:r>
                              <m:rPr>
                                <m:sty m:val="p"/>
                              </m:rPr>
                              <a:rPr lang="en-US" sz="2400" smtClean="0">
                                <a:latin typeface="Cambria Math" panose="02040503050406030204" pitchFamily="18" charset="0"/>
                              </a:rPr>
                              <m:t>I</m:t>
                            </m:r>
                          </m:e>
                          <m:sub>
                            <m:r>
                              <m:rPr>
                                <m:sty m:val="p"/>
                              </m:rPr>
                              <a:rPr lang="en-US" sz="2400" smtClean="0">
                                <a:latin typeface="Cambria Math" panose="02040503050406030204" pitchFamily="18" charset="0"/>
                              </a:rPr>
                              <m:t>m</m:t>
                            </m:r>
                          </m:sub>
                        </m:sSub>
                        <m:r>
                          <m:rPr>
                            <m:nor/>
                          </m:rPr>
                          <a:rPr lang="en-US" sz="2400" dirty="0">
                            <a:ea typeface="Cambria Math" panose="02040503050406030204" pitchFamily="18" charset="0"/>
                          </a:rPr>
                          <m:t> </m:t>
                        </m:r>
                      </m:den>
                    </m:f>
                    <m:r>
                      <a:rPr lang="en-US" sz="2400" smtClean="0">
                        <a:latin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a:latin typeface="Cambria Math" panose="02040503050406030204" pitchFamily="18" charset="0"/>
                            <a:ea typeface="Cambria Math" panose="02040503050406030204" pitchFamily="18" charset="0"/>
                          </a:rPr>
                          <m:t>−</m:t>
                        </m:r>
                        <m:r>
                          <m:rPr>
                            <m:sty m:val="p"/>
                          </m:rPr>
                          <a:rPr lang="en-US" sz="2400">
                            <a:latin typeface="Cambria Math" panose="02040503050406030204" pitchFamily="18" charset="0"/>
                            <a:ea typeface="Cambria Math" panose="02040503050406030204" pitchFamily="18" charset="0"/>
                          </a:rPr>
                          <m:t>j</m:t>
                        </m:r>
                      </m:num>
                      <m:den>
                        <m:r>
                          <m:rPr>
                            <m:sty m:val="p"/>
                          </m:rPr>
                          <a:rPr lang="en-US" sz="2400">
                            <a:latin typeface="Cambria Math" panose="02040503050406030204" pitchFamily="18" charset="0"/>
                            <a:ea typeface="Cambria Math" panose="02040503050406030204" pitchFamily="18" charset="0"/>
                          </a:rPr>
                          <m:t>ω</m:t>
                        </m:r>
                        <m:r>
                          <m:rPr>
                            <m:sty m:val="p"/>
                          </m:rPr>
                          <a:rPr lang="en-US" sz="2400">
                            <a:latin typeface="Cambria Math" panose="02040503050406030204" pitchFamily="18" charset="0"/>
                          </a:rPr>
                          <m:t>C</m:t>
                        </m:r>
                      </m:den>
                    </m:f>
                  </m:oMath>
                </a14:m>
                <a:endParaRPr lang="en-IN" sz="2400" dirty="0"/>
              </a:p>
              <a:p>
                <a:pPr marL="0" indent="0">
                  <a:lnSpc>
                    <a:spcPct val="100000"/>
                  </a:lnSpc>
                  <a:buFont typeface="Arial" panose="020B0604020202020204" pitchFamily="34" charset="0"/>
                  <a:buNone/>
                </a:pPr>
                <a14:m>
                  <m:oMath xmlns:m="http://schemas.openxmlformats.org/officeDocument/2006/math">
                    <m:r>
                      <a:rPr lang="en-IN" smtClean="0">
                        <a:latin typeface="Cambria Math" panose="02040503050406030204" pitchFamily="18" charset="0"/>
                        <a:ea typeface="Cambria Math" panose="02040503050406030204" pitchFamily="18" charset="0"/>
                      </a:rPr>
                      <m:t>∴</m:t>
                    </m:r>
                  </m:oMath>
                </a14:m>
                <a:r>
                  <a:rPr lang="en-IN" sz="2400" dirty="0"/>
                  <a:t> Z</a:t>
                </a:r>
                <a14:m>
                  <m:oMath xmlns:m="http://schemas.openxmlformats.org/officeDocument/2006/math">
                    <m:r>
                      <a:rPr lang="en-US" sz="2400"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smtClean="0">
                            <a:latin typeface="Cambria Math" panose="02040503050406030204" pitchFamily="18" charset="0"/>
                            <a:ea typeface="Cambria Math" panose="02040503050406030204" pitchFamily="18" charset="0"/>
                          </a:rPr>
                          <m:t>−</m:t>
                        </m:r>
                        <m:r>
                          <m:rPr>
                            <m:sty m:val="p"/>
                          </m:rPr>
                          <a:rPr lang="en-US" sz="2400" smtClean="0">
                            <a:latin typeface="Cambria Math" panose="02040503050406030204" pitchFamily="18" charset="0"/>
                            <a:ea typeface="Cambria Math" panose="02040503050406030204" pitchFamily="18" charset="0"/>
                          </a:rPr>
                          <m:t>j</m:t>
                        </m:r>
                      </m:num>
                      <m:den>
                        <m:r>
                          <m:rPr>
                            <m:sty m:val="p"/>
                          </m:rPr>
                          <a:rPr lang="en-US" sz="2400" smtClean="0">
                            <a:latin typeface="Cambria Math" panose="02040503050406030204" pitchFamily="18" charset="0"/>
                            <a:ea typeface="Cambria Math" panose="02040503050406030204" pitchFamily="18" charset="0"/>
                          </a:rPr>
                          <m:t>ω</m:t>
                        </m:r>
                        <m:r>
                          <m:rPr>
                            <m:sty m:val="p"/>
                          </m:rPr>
                          <a:rPr lang="en-US" sz="2400" smtClean="0">
                            <a:latin typeface="Cambria Math" panose="02040503050406030204" pitchFamily="18" charset="0"/>
                          </a:rPr>
                          <m:t>C</m:t>
                        </m:r>
                      </m:den>
                    </m:f>
                    <m:r>
                      <a:rPr lang="en-US" sz="2400" smtClean="0">
                        <a:latin typeface="Cambria Math" panose="02040503050406030204" pitchFamily="18" charset="0"/>
                        <a:ea typeface="Cambria Math" panose="02040503050406030204" pitchFamily="18" charset="0"/>
                      </a:rPr>
                      <m:t>=−</m:t>
                    </m:r>
                    <m:r>
                      <m:rPr>
                        <m:sty m:val="p"/>
                      </m:rPr>
                      <a:rPr lang="en-US" sz="2400" smtClean="0">
                        <a:latin typeface="Cambria Math" panose="02040503050406030204" pitchFamily="18" charset="0"/>
                        <a:ea typeface="Cambria Math" panose="02040503050406030204" pitchFamily="18" charset="0"/>
                      </a:rPr>
                      <m:t>j</m:t>
                    </m:r>
                    <m:sSub>
                      <m:sSubPr>
                        <m:ctrlPr>
                          <a:rPr lang="en-US" sz="2400" i="1" smtClean="0">
                            <a:latin typeface="Cambria Math" panose="02040503050406030204" pitchFamily="18" charset="0"/>
                            <a:ea typeface="Cambria Math" panose="02040503050406030204" pitchFamily="18" charset="0"/>
                          </a:rPr>
                        </m:ctrlPr>
                      </m:sSubPr>
                      <m:e>
                        <m:r>
                          <m:rPr>
                            <m:sty m:val="p"/>
                          </m:rPr>
                          <a:rPr lang="en-US" sz="2400" smtClean="0">
                            <a:latin typeface="Cambria Math" panose="02040503050406030204" pitchFamily="18" charset="0"/>
                            <a:ea typeface="Cambria Math" panose="02040503050406030204" pitchFamily="18" charset="0"/>
                          </a:rPr>
                          <m:t>X</m:t>
                        </m:r>
                      </m:e>
                      <m:sub>
                        <m:r>
                          <m:rPr>
                            <m:sty m:val="p"/>
                          </m:rPr>
                          <a:rPr lang="en-US" sz="2400" smtClean="0">
                            <a:latin typeface="Cambria Math" panose="02040503050406030204" pitchFamily="18" charset="0"/>
                            <a:ea typeface="Cambria Math" panose="02040503050406030204" pitchFamily="18" charset="0"/>
                          </a:rPr>
                          <m:t>C</m:t>
                        </m:r>
                      </m:sub>
                    </m:sSub>
                  </m:oMath>
                </a14:m>
                <a:endParaRPr lang="en-IN" sz="2400" dirty="0"/>
              </a:p>
              <a:p>
                <a:pPr marL="0" indent="0">
                  <a:lnSpc>
                    <a:spcPct val="100000"/>
                  </a:lnSpc>
                  <a:buFont typeface="Arial" panose="020B0604020202020204" pitchFamily="34" charset="0"/>
                  <a:buNone/>
                </a:pPr>
                <a:r>
                  <a:rPr lang="en-IN" dirty="0"/>
                  <a:t>Where </a:t>
                </a: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m:rPr>
                            <m:sty m:val="p"/>
                          </m:rPr>
                          <a:rPr lang="en-US" smtClean="0">
                            <a:latin typeface="Cambria Math" panose="02040503050406030204" pitchFamily="18" charset="0"/>
                            <a:ea typeface="Cambria Math" panose="02040503050406030204" pitchFamily="18" charset="0"/>
                          </a:rPr>
                          <m:t>X</m:t>
                        </m:r>
                      </m:e>
                      <m:sub>
                        <m:r>
                          <m:rPr>
                            <m:sty m:val="p"/>
                          </m:rPr>
                          <a:rPr lang="en-US" smtClean="0">
                            <a:latin typeface="Cambria Math" panose="02040503050406030204" pitchFamily="18" charset="0"/>
                            <a:ea typeface="Cambria Math" panose="02040503050406030204" pitchFamily="18" charset="0"/>
                          </a:rPr>
                          <m:t>C</m:t>
                        </m:r>
                      </m:sub>
                    </m:sSub>
                    <m:r>
                      <a:rPr lang="en-US"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smtClean="0">
                            <a:latin typeface="Cambria Math" panose="02040503050406030204" pitchFamily="18" charset="0"/>
                            <a:ea typeface="Cambria Math" panose="02040503050406030204" pitchFamily="18" charset="0"/>
                          </a:rPr>
                          <m:t>1</m:t>
                        </m:r>
                      </m:num>
                      <m:den>
                        <m:r>
                          <m:rPr>
                            <m:sty m:val="p"/>
                          </m:rPr>
                          <a:rPr lang="en-US" smtClean="0">
                            <a:latin typeface="Cambria Math" panose="02040503050406030204" pitchFamily="18" charset="0"/>
                            <a:ea typeface="Cambria Math" panose="02040503050406030204" pitchFamily="18" charset="0"/>
                          </a:rPr>
                          <m:t>ω</m:t>
                        </m:r>
                        <m:r>
                          <m:rPr>
                            <m:sty m:val="p"/>
                          </m:rPr>
                          <a:rPr lang="en-US" smtClean="0">
                            <a:latin typeface="Cambria Math" panose="02040503050406030204" pitchFamily="18" charset="0"/>
                          </a:rPr>
                          <m:t>C</m:t>
                        </m:r>
                      </m:den>
                    </m:f>
                  </m:oMath>
                </a14:m>
                <a:r>
                  <a:rPr lang="en-IN" dirty="0"/>
                  <a:t> and is called capacitive reactance.</a:t>
                </a:r>
              </a:p>
              <a:p>
                <a:endParaRPr lang="en-IN" dirty="0"/>
              </a:p>
            </p:txBody>
          </p:sp>
        </mc:Choice>
        <mc:Fallback xmlns="">
          <p:sp>
            <p:nvSpPr>
              <p:cNvPr id="3" name="Content Placeholder 2">
                <a:extLst>
                  <a:ext uri="{FF2B5EF4-FFF2-40B4-BE49-F238E27FC236}">
                    <a16:creationId xmlns:a16="http://schemas.microsoft.com/office/drawing/2014/main" id="{21BE95C1-F6AD-6E8F-99D8-0A7097B4027E}"/>
                  </a:ext>
                </a:extLst>
              </p:cNvPr>
              <p:cNvSpPr txBox="1">
                <a:spLocks noRot="1" noChangeAspect="1" noMove="1" noResize="1" noEditPoints="1" noAdjustHandles="1" noChangeArrowheads="1" noChangeShapeType="1" noTextEdit="1"/>
              </p:cNvSpPr>
              <p:nvPr/>
            </p:nvSpPr>
            <p:spPr>
              <a:xfrm>
                <a:off x="-74646" y="922434"/>
                <a:ext cx="12024050" cy="4151803"/>
              </a:xfrm>
              <a:prstGeom prst="rect">
                <a:avLst/>
              </a:prstGeom>
              <a:blipFill>
                <a:blip r:embed="rId2"/>
                <a:stretch>
                  <a:fillRect l="-811" t="-1615"/>
                </a:stretch>
              </a:blipFill>
            </p:spPr>
            <p:txBody>
              <a:bodyPr/>
              <a:lstStyle/>
              <a:p>
                <a:r>
                  <a:rPr lang="en-IN">
                    <a:noFill/>
                  </a:rPr>
                  <a:t> </a:t>
                </a:r>
              </a:p>
            </p:txBody>
          </p:sp>
        </mc:Fallback>
      </mc:AlternateContent>
      <p:sp>
        <p:nvSpPr>
          <p:cNvPr id="4" name="Rounded Rectangle 17">
            <a:extLst>
              <a:ext uri="{FF2B5EF4-FFF2-40B4-BE49-F238E27FC236}">
                <a16:creationId xmlns:a16="http://schemas.microsoft.com/office/drawing/2014/main" id="{C4A83A77-E450-6526-189C-9008EA667936}"/>
              </a:ext>
            </a:extLst>
          </p:cNvPr>
          <p:cNvSpPr/>
          <p:nvPr/>
        </p:nvSpPr>
        <p:spPr>
          <a:xfrm>
            <a:off x="2009334" y="63283"/>
            <a:ext cx="7611177"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8100" algn="ctr">
              <a:lnSpc>
                <a:spcPct val="100000"/>
              </a:lnSpc>
              <a:spcBef>
                <a:spcPts val="1225"/>
              </a:spcBef>
            </a:pPr>
            <a:r>
              <a:rPr lang="en-IN" sz="2400" spc="-5" dirty="0">
                <a:solidFill>
                  <a:schemeClr val="bg1"/>
                </a:solidFill>
                <a:latin typeface="+mj-lt"/>
                <a:cs typeface="Times New Roman"/>
              </a:rPr>
              <a:t>Phasor Relationships</a:t>
            </a:r>
            <a:r>
              <a:rPr lang="en-IN" sz="2400" spc="-10" dirty="0">
                <a:solidFill>
                  <a:schemeClr val="bg1"/>
                </a:solidFill>
                <a:latin typeface="+mj-lt"/>
                <a:cs typeface="Times New Roman"/>
              </a:rPr>
              <a:t> </a:t>
            </a:r>
            <a:r>
              <a:rPr lang="en-IN" sz="2400" spc="-5" dirty="0">
                <a:solidFill>
                  <a:schemeClr val="bg1"/>
                </a:solidFill>
                <a:latin typeface="+mj-lt"/>
                <a:cs typeface="Times New Roman"/>
              </a:rPr>
              <a:t>for</a:t>
            </a:r>
            <a:r>
              <a:rPr lang="en-IN" sz="2400" dirty="0">
                <a:solidFill>
                  <a:schemeClr val="bg1"/>
                </a:solidFill>
                <a:latin typeface="+mj-lt"/>
                <a:cs typeface="Times New Roman"/>
              </a:rPr>
              <a:t> </a:t>
            </a:r>
            <a:r>
              <a:rPr lang="en-IN" sz="2400" spc="-5" dirty="0">
                <a:solidFill>
                  <a:schemeClr val="bg1"/>
                </a:solidFill>
                <a:latin typeface="+mj-lt"/>
                <a:cs typeface="Times New Roman"/>
              </a:rPr>
              <a:t>Capacitor Element</a:t>
            </a:r>
            <a:endParaRPr lang="en-IN" sz="2400" dirty="0">
              <a:solidFill>
                <a:schemeClr val="bg1"/>
              </a:solidFill>
              <a:latin typeface="+mj-lt"/>
              <a:cs typeface="Times New Roman"/>
            </a:endParaRPr>
          </a:p>
        </p:txBody>
      </p:sp>
      <p:sp>
        <p:nvSpPr>
          <p:cNvPr id="5" name="TextBox 4">
            <a:extLst>
              <a:ext uri="{FF2B5EF4-FFF2-40B4-BE49-F238E27FC236}">
                <a16:creationId xmlns:a16="http://schemas.microsoft.com/office/drawing/2014/main" id="{01E55501-6998-21C8-56E5-A5C72B838DAC}"/>
              </a:ext>
            </a:extLst>
          </p:cNvPr>
          <p:cNvSpPr txBox="1"/>
          <p:nvPr/>
        </p:nvSpPr>
        <p:spPr>
          <a:xfrm>
            <a:off x="7165435" y="5310084"/>
            <a:ext cx="4553338" cy="707886"/>
          </a:xfrm>
          <a:prstGeom prst="rect">
            <a:avLst/>
          </a:prstGeom>
          <a:noFill/>
        </p:spPr>
        <p:txBody>
          <a:bodyPr wrap="square">
            <a:spAutoFit/>
          </a:bodyPr>
          <a:lstStyle/>
          <a:p>
            <a:r>
              <a:rPr lang="en-IN" sz="2000" dirty="0">
                <a:solidFill>
                  <a:srgbClr val="FF0000"/>
                </a:solidFill>
              </a:rPr>
              <a:t>The current leads the voltage by 90°. </a:t>
            </a:r>
          </a:p>
          <a:p>
            <a:r>
              <a:rPr lang="en-IN" sz="2000" dirty="0">
                <a:solidFill>
                  <a:srgbClr val="FF0000"/>
                </a:solidFill>
              </a:rPr>
              <a:t>i.e., </a:t>
            </a:r>
            <a:r>
              <a:rPr lang="en-US" sz="2000" dirty="0">
                <a:solidFill>
                  <a:srgbClr val="FF0000"/>
                </a:solidFill>
              </a:rPr>
              <a:t>voltage and current are out of phase.</a:t>
            </a:r>
            <a:endParaRPr lang="en-IN" sz="2000" dirty="0">
              <a:solidFill>
                <a:srgbClr val="FF0000"/>
              </a:solidFill>
            </a:endParaRPr>
          </a:p>
        </p:txBody>
      </p:sp>
      <p:sp>
        <p:nvSpPr>
          <p:cNvPr id="7" name="TextBox 6">
            <a:extLst>
              <a:ext uri="{FF2B5EF4-FFF2-40B4-BE49-F238E27FC236}">
                <a16:creationId xmlns:a16="http://schemas.microsoft.com/office/drawing/2014/main" id="{03F0590D-10B9-E20C-E1CD-CD970EF4FB84}"/>
              </a:ext>
            </a:extLst>
          </p:cNvPr>
          <p:cNvSpPr txBox="1"/>
          <p:nvPr/>
        </p:nvSpPr>
        <p:spPr>
          <a:xfrm>
            <a:off x="-23918" y="3784157"/>
            <a:ext cx="2192693" cy="587829"/>
          </a:xfrm>
          <a:prstGeom prst="rect">
            <a:avLst/>
          </a:prstGeom>
          <a:noFill/>
          <a:ln w="28575">
            <a:solidFill>
              <a:schemeClr val="tx1"/>
            </a:solidFill>
          </a:ln>
        </p:spPr>
        <p:txBody>
          <a:bodyPr wrap="square" rtlCol="0">
            <a:spAutoFit/>
          </a:bodyPr>
          <a:lstStyle/>
          <a:p>
            <a:endParaRPr lang="en-IN" dirty="0"/>
          </a:p>
        </p:txBody>
      </p:sp>
      <p:pic>
        <p:nvPicPr>
          <p:cNvPr id="11" name="Picture 10" descr="A diagram of a circuit&#10;&#10;Description automatically generated">
            <a:extLst>
              <a:ext uri="{FF2B5EF4-FFF2-40B4-BE49-F238E27FC236}">
                <a16:creationId xmlns:a16="http://schemas.microsoft.com/office/drawing/2014/main" id="{E35E4F0D-2141-59F9-B48E-D711401D067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124612" y="492082"/>
            <a:ext cx="3416094" cy="1811367"/>
          </a:xfrm>
          <a:prstGeom prst="rect">
            <a:avLst/>
          </a:prstGeom>
          <a:noFill/>
          <a:ln>
            <a:noFill/>
          </a:ln>
        </p:spPr>
      </p:pic>
      <p:pic>
        <p:nvPicPr>
          <p:cNvPr id="6" name="Picture 5">
            <a:extLst>
              <a:ext uri="{FF2B5EF4-FFF2-40B4-BE49-F238E27FC236}">
                <a16:creationId xmlns:a16="http://schemas.microsoft.com/office/drawing/2014/main" id="{DD18B348-A917-8DCF-A655-E013EF73CF6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712126" y="3277534"/>
            <a:ext cx="3270005" cy="2042697"/>
          </a:xfrm>
          <a:prstGeom prst="rect">
            <a:avLst/>
          </a:prstGeom>
          <a:noFill/>
          <a:ln>
            <a:noFill/>
          </a:ln>
        </p:spPr>
      </p:pic>
    </p:spTree>
    <p:extLst>
      <p:ext uri="{BB962C8B-B14F-4D97-AF65-F5344CB8AC3E}">
        <p14:creationId xmlns:p14="http://schemas.microsoft.com/office/powerpoint/2010/main" val="327993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54D31061-350D-4864-BF25-E3C3C4699CDC}"/>
              </a:ext>
            </a:extLst>
          </p:cNvPr>
          <p:cNvSpPr/>
          <p:nvPr/>
        </p:nvSpPr>
        <p:spPr>
          <a:xfrm>
            <a:off x="1487606" y="971970"/>
            <a:ext cx="9567081" cy="74764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IMPEDANCE AND ADMITTANCE IN R, L, C </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6513324" y="4391710"/>
            <a:ext cx="4858603" cy="646331"/>
          </a:xfrm>
          <a:prstGeom prst="rect">
            <a:avLst/>
          </a:prstGeom>
        </p:spPr>
        <p:txBody>
          <a:bodyPr wrap="square">
            <a:spAutoFit/>
          </a:bodyPr>
          <a:lstStyle/>
          <a:p>
            <a:pPr marL="12700" marR="5080">
              <a:lnSpc>
                <a:spcPct val="100000"/>
              </a:lnSpc>
              <a:spcBef>
                <a:spcPts val="95"/>
              </a:spcBef>
            </a:pPr>
            <a:r>
              <a:rPr lang="en-IN" b="1" spc="-5" dirty="0">
                <a:latin typeface="+mj-lt"/>
                <a:cs typeface="Times New Roman"/>
              </a:rPr>
              <a:t>The</a:t>
            </a:r>
            <a:r>
              <a:rPr lang="en-IN" b="1" spc="50" dirty="0">
                <a:latin typeface="+mj-lt"/>
                <a:cs typeface="Times New Roman"/>
              </a:rPr>
              <a:t> </a:t>
            </a:r>
            <a:r>
              <a:rPr lang="en-IN" b="1" spc="-5" dirty="0">
                <a:solidFill>
                  <a:srgbClr val="FF0000"/>
                </a:solidFill>
                <a:latin typeface="+mj-lt"/>
                <a:cs typeface="Times New Roman"/>
              </a:rPr>
              <a:t>admittance</a:t>
            </a:r>
            <a:r>
              <a:rPr lang="en-IN" b="1" spc="55" dirty="0">
                <a:solidFill>
                  <a:srgbClr val="FF0000"/>
                </a:solidFill>
                <a:latin typeface="+mj-lt"/>
                <a:cs typeface="Times New Roman"/>
              </a:rPr>
              <a:t> </a:t>
            </a:r>
            <a:r>
              <a:rPr lang="en-IN" b="1" spc="-5" dirty="0">
                <a:latin typeface="+mj-lt"/>
                <a:cs typeface="Times New Roman"/>
              </a:rPr>
              <a:t>Y</a:t>
            </a:r>
            <a:r>
              <a:rPr lang="en-IN" b="1" spc="-40" dirty="0">
                <a:latin typeface="+mj-lt"/>
                <a:cs typeface="Times New Roman"/>
              </a:rPr>
              <a:t> </a:t>
            </a:r>
            <a:r>
              <a:rPr lang="en-IN" b="1" spc="-5" dirty="0">
                <a:latin typeface="+mj-lt"/>
                <a:cs typeface="Times New Roman"/>
              </a:rPr>
              <a:t>is</a:t>
            </a:r>
            <a:r>
              <a:rPr lang="en-IN" b="1" spc="50" dirty="0">
                <a:latin typeface="+mj-lt"/>
                <a:cs typeface="Times New Roman"/>
              </a:rPr>
              <a:t> </a:t>
            </a:r>
            <a:r>
              <a:rPr lang="en-IN" b="1" spc="-5" dirty="0">
                <a:latin typeface="+mj-lt"/>
                <a:cs typeface="Times New Roman"/>
              </a:rPr>
              <a:t>the</a:t>
            </a:r>
            <a:r>
              <a:rPr lang="en-IN" b="1" spc="35" dirty="0">
                <a:latin typeface="+mj-lt"/>
                <a:cs typeface="Times New Roman"/>
              </a:rPr>
              <a:t> </a:t>
            </a:r>
            <a:r>
              <a:rPr lang="en-IN" b="1" spc="-5" dirty="0">
                <a:latin typeface="+mj-lt"/>
                <a:cs typeface="Times New Roman"/>
              </a:rPr>
              <a:t>reciprocal</a:t>
            </a:r>
            <a:r>
              <a:rPr lang="en-IN" b="1" spc="40" dirty="0">
                <a:latin typeface="+mj-lt"/>
                <a:cs typeface="Times New Roman"/>
              </a:rPr>
              <a:t> </a:t>
            </a:r>
            <a:r>
              <a:rPr lang="en-IN" b="1" dirty="0">
                <a:latin typeface="+mj-lt"/>
                <a:cs typeface="Times New Roman"/>
              </a:rPr>
              <a:t>of </a:t>
            </a:r>
            <a:r>
              <a:rPr lang="en-IN" b="1" spc="-535" dirty="0">
                <a:latin typeface="+mj-lt"/>
                <a:cs typeface="Times New Roman"/>
              </a:rPr>
              <a:t> </a:t>
            </a:r>
            <a:r>
              <a:rPr lang="en-IN" b="1" spc="-5" dirty="0">
                <a:latin typeface="+mj-lt"/>
                <a:cs typeface="Times New Roman"/>
              </a:rPr>
              <a:t>impedance,</a:t>
            </a:r>
            <a:r>
              <a:rPr lang="en-IN" b="1" spc="10" dirty="0">
                <a:latin typeface="+mj-lt"/>
                <a:cs typeface="Times New Roman"/>
              </a:rPr>
              <a:t> </a:t>
            </a:r>
            <a:r>
              <a:rPr lang="en-IN" b="1" spc="-10" dirty="0">
                <a:latin typeface="+mj-lt"/>
                <a:cs typeface="Times New Roman"/>
              </a:rPr>
              <a:t>measured</a:t>
            </a:r>
            <a:r>
              <a:rPr lang="en-IN" b="1" spc="25" dirty="0">
                <a:latin typeface="+mj-lt"/>
                <a:cs typeface="Times New Roman"/>
              </a:rPr>
              <a:t> </a:t>
            </a:r>
            <a:r>
              <a:rPr lang="en-IN" b="1" spc="-5" dirty="0">
                <a:latin typeface="+mj-lt"/>
                <a:cs typeface="Times New Roman"/>
              </a:rPr>
              <a:t>in</a:t>
            </a:r>
            <a:r>
              <a:rPr lang="en-IN" b="1" dirty="0">
                <a:latin typeface="+mj-lt"/>
                <a:cs typeface="Times New Roman"/>
              </a:rPr>
              <a:t> </a:t>
            </a:r>
            <a:r>
              <a:rPr lang="en-IN" b="1" spc="-5" dirty="0" err="1">
                <a:latin typeface="+mj-lt"/>
                <a:cs typeface="Times New Roman"/>
              </a:rPr>
              <a:t>siemens</a:t>
            </a:r>
            <a:r>
              <a:rPr lang="en-IN" b="1" spc="-5" dirty="0">
                <a:latin typeface="+mj-lt"/>
                <a:cs typeface="Times New Roman"/>
              </a:rPr>
              <a:t> (S).</a:t>
            </a:r>
            <a:endParaRPr lang="en-IN" b="1" dirty="0">
              <a:latin typeface="+mj-lt"/>
              <a:cs typeface="Times New Roman"/>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6D22682A-A1CB-0874-E10D-3D1070FBA185}"/>
                  </a:ext>
                </a:extLst>
              </p:cNvPr>
              <p:cNvGraphicFramePr>
                <a:graphicFrameLocks noGrp="1"/>
              </p:cNvGraphicFramePr>
              <p:nvPr>
                <p:extLst>
                  <p:ext uri="{D42A27DB-BD31-4B8C-83A1-F6EECF244321}">
                    <p14:modId xmlns:p14="http://schemas.microsoft.com/office/powerpoint/2010/main" val="3136081714"/>
                  </p:ext>
                </p:extLst>
              </p:nvPr>
            </p:nvGraphicFramePr>
            <p:xfrm>
              <a:off x="3582955" y="2225979"/>
              <a:ext cx="5178488" cy="2165731"/>
            </p:xfrm>
            <a:graphic>
              <a:graphicData uri="http://schemas.openxmlformats.org/drawingml/2006/table">
                <a:tbl>
                  <a:tblPr firstRow="1" bandRow="1">
                    <a:tableStyleId>{5940675A-B579-460E-94D1-54222C63F5DA}</a:tableStyleId>
                  </a:tblPr>
                  <a:tblGrid>
                    <a:gridCol w="1101341">
                      <a:extLst>
                        <a:ext uri="{9D8B030D-6E8A-4147-A177-3AD203B41FA5}">
                          <a16:colId xmlns:a16="http://schemas.microsoft.com/office/drawing/2014/main" val="2015494220"/>
                        </a:ext>
                      </a:extLst>
                    </a:gridCol>
                    <a:gridCol w="1930139">
                      <a:extLst>
                        <a:ext uri="{9D8B030D-6E8A-4147-A177-3AD203B41FA5}">
                          <a16:colId xmlns:a16="http://schemas.microsoft.com/office/drawing/2014/main" val="2269736615"/>
                        </a:ext>
                      </a:extLst>
                    </a:gridCol>
                    <a:gridCol w="2147008">
                      <a:extLst>
                        <a:ext uri="{9D8B030D-6E8A-4147-A177-3AD203B41FA5}">
                          <a16:colId xmlns:a16="http://schemas.microsoft.com/office/drawing/2014/main" val="3453015178"/>
                        </a:ext>
                      </a:extLst>
                    </a:gridCol>
                  </a:tblGrid>
                  <a:tr h="370840">
                    <a:tc>
                      <a:txBody>
                        <a:bodyPr/>
                        <a:lstStyle/>
                        <a:p>
                          <a:r>
                            <a:rPr lang="en-US" b="1" dirty="0"/>
                            <a:t>Element</a:t>
                          </a:r>
                          <a:endParaRPr lang="en-IN" b="1" dirty="0"/>
                        </a:p>
                      </a:txBody>
                      <a:tcPr/>
                    </a:tc>
                    <a:tc>
                      <a:txBody>
                        <a:bodyPr/>
                        <a:lstStyle/>
                        <a:p>
                          <a:r>
                            <a:rPr lang="en-US" b="1" dirty="0"/>
                            <a:t>Impedance (Z)</a:t>
                          </a:r>
                          <a:endParaRPr lang="en-IN" b="1" dirty="0"/>
                        </a:p>
                      </a:txBody>
                      <a:tcPr/>
                    </a:tc>
                    <a:tc>
                      <a:txBody>
                        <a:bodyPr/>
                        <a:lstStyle/>
                        <a:p>
                          <a:r>
                            <a:rPr lang="en-US" b="1" dirty="0"/>
                            <a:t>Admittance (Y)</a:t>
                          </a:r>
                          <a:endParaRPr lang="en-IN" b="1" dirty="0"/>
                        </a:p>
                      </a:txBody>
                      <a:tcPr/>
                    </a:tc>
                    <a:extLst>
                      <a:ext uri="{0D108BD9-81ED-4DB2-BD59-A6C34878D82A}">
                        <a16:rowId xmlns:a16="http://schemas.microsoft.com/office/drawing/2014/main" val="1796035502"/>
                      </a:ext>
                    </a:extLst>
                  </a:tr>
                  <a:tr h="370840">
                    <a:tc>
                      <a:txBody>
                        <a:bodyPr/>
                        <a:lstStyle/>
                        <a:p>
                          <a:pPr algn="ctr"/>
                          <a:r>
                            <a:rPr lang="en-US" sz="2200" b="1" dirty="0"/>
                            <a:t>R</a:t>
                          </a:r>
                          <a:endParaRPr lang="en-IN" sz="2200" b="1" dirty="0"/>
                        </a:p>
                      </a:txBody>
                      <a:tcPr/>
                    </a:tc>
                    <a:tc>
                      <a:txBody>
                        <a:bodyPr/>
                        <a:lstStyle/>
                        <a:p>
                          <a:r>
                            <a:rPr lang="en-US" sz="2200" i="0" dirty="0">
                              <a:latin typeface="Times New Roman" panose="02020603050405020304" pitchFamily="18" charset="0"/>
                              <a:cs typeface="Times New Roman" panose="02020603050405020304" pitchFamily="18" charset="0"/>
                            </a:rPr>
                            <a:t>Z=R</a:t>
                          </a:r>
                          <a:endParaRPr lang="en-IN" sz="2200" i="0" dirty="0">
                            <a:latin typeface="Times New Roman" panose="02020603050405020304" pitchFamily="18" charset="0"/>
                            <a:cs typeface="Times New Roman" panose="02020603050405020304" pitchFamily="18" charset="0"/>
                          </a:endParaRPr>
                        </a:p>
                      </a:txBody>
                      <a:tcPr/>
                    </a:tc>
                    <a:tc>
                      <a:txBody>
                        <a:bodyPr/>
                        <a:lstStyle/>
                        <a:p>
                          <a:r>
                            <a:rPr lang="en-US" sz="2200" i="0" dirty="0">
                              <a:latin typeface="Times New Roman" panose="02020603050405020304" pitchFamily="18" charset="0"/>
                              <a:cs typeface="Times New Roman" panose="02020603050405020304" pitchFamily="18" charset="0"/>
                            </a:rPr>
                            <a:t>Y=</a:t>
                          </a:r>
                          <a14:m>
                            <m:oMath xmlns:m="http://schemas.openxmlformats.org/officeDocument/2006/math">
                              <m:f>
                                <m:fPr>
                                  <m:ctrlPr>
                                    <a:rPr lang="en-US" sz="2200" i="1" smtClean="0">
                                      <a:latin typeface="Cambria Math" panose="02040503050406030204" pitchFamily="18" charset="0"/>
                                    </a:rPr>
                                  </m:ctrlPr>
                                </m:fPr>
                                <m:num>
                                  <m:r>
                                    <a:rPr lang="en-US" sz="2200" b="0" i="0" smtClean="0">
                                      <a:latin typeface="Cambria Math" panose="02040503050406030204" pitchFamily="18" charset="0"/>
                                    </a:rPr>
                                    <m:t>1</m:t>
                                  </m:r>
                                </m:num>
                                <m:den>
                                  <m:r>
                                    <m:rPr>
                                      <m:sty m:val="p"/>
                                    </m:rPr>
                                    <a:rPr lang="en-US" sz="2200" b="0" i="0" smtClean="0">
                                      <a:latin typeface="Cambria Math" panose="02040503050406030204" pitchFamily="18" charset="0"/>
                                    </a:rPr>
                                    <m:t>R</m:t>
                                  </m:r>
                                </m:den>
                              </m:f>
                            </m:oMath>
                          </a14:m>
                          <a:endParaRPr lang="en-IN" sz="22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42858615"/>
                      </a:ext>
                    </a:extLst>
                  </a:tr>
                  <a:tr h="370840">
                    <a:tc>
                      <a:txBody>
                        <a:bodyPr/>
                        <a:lstStyle/>
                        <a:p>
                          <a:pPr algn="ctr"/>
                          <a:r>
                            <a:rPr lang="en-US" sz="2200" b="1" dirty="0"/>
                            <a:t>L</a:t>
                          </a:r>
                          <a:endParaRPr lang="en-IN" sz="2200" b="1" dirty="0"/>
                        </a:p>
                      </a:txBody>
                      <a:tcPr/>
                    </a:tc>
                    <a:tc>
                      <a:txBody>
                        <a:bodyPr/>
                        <a:lstStyle/>
                        <a:p>
                          <a:r>
                            <a:rPr lang="en-IN" sz="2200" i="0" dirty="0">
                              <a:latin typeface="Times New Roman" panose="02020603050405020304" pitchFamily="18" charset="0"/>
                              <a:cs typeface="Times New Roman" panose="02020603050405020304" pitchFamily="18" charset="0"/>
                            </a:rPr>
                            <a:t>Z</a:t>
                          </a:r>
                          <a14:m>
                            <m:oMath xmlns:m="http://schemas.openxmlformats.org/officeDocument/2006/math">
                              <m:r>
                                <a:rPr lang="en-US" sz="2200" i="0" smtClean="0">
                                  <a:latin typeface="Cambria Math" panose="02040503050406030204" pitchFamily="18" charset="0"/>
                                  <a:ea typeface="Cambria Math" panose="02040503050406030204" pitchFamily="18" charset="0"/>
                                </a:rPr>
                                <m:t>=</m:t>
                              </m:r>
                              <m:r>
                                <m:rPr>
                                  <m:sty m:val="p"/>
                                </m:rPr>
                                <a:rPr lang="en-US" sz="2200" i="0" smtClean="0">
                                  <a:latin typeface="Cambria Math" panose="02040503050406030204" pitchFamily="18" charset="0"/>
                                  <a:ea typeface="Cambria Math" panose="02040503050406030204" pitchFamily="18" charset="0"/>
                                </a:rPr>
                                <m:t>jωL</m:t>
                              </m:r>
                            </m:oMath>
                          </a14:m>
                          <a:endParaRPr lang="en-IN" sz="2200" i="0" dirty="0">
                            <a:latin typeface="Times New Roman" panose="02020603050405020304" pitchFamily="18" charset="0"/>
                            <a:cs typeface="Times New Roman" panose="02020603050405020304" pitchFamily="18" charset="0"/>
                          </a:endParaRPr>
                        </a:p>
                      </a:txBody>
                      <a:tcPr/>
                    </a:tc>
                    <a:tc>
                      <a:txBody>
                        <a:bodyPr/>
                        <a:lstStyle/>
                        <a:p>
                          <a:r>
                            <a:rPr lang="en-IN" sz="2200" i="0" dirty="0">
                              <a:latin typeface="Times New Roman" panose="02020603050405020304" pitchFamily="18" charset="0"/>
                              <a:ea typeface="+mn-ea"/>
                              <a:cs typeface="Times New Roman" panose="02020603050405020304" pitchFamily="18" charset="0"/>
                            </a:rPr>
                            <a:t>Y</a:t>
                          </a:r>
                          <a14:m>
                            <m:oMath xmlns:m="http://schemas.openxmlformats.org/officeDocument/2006/math">
                              <m:r>
                                <a:rPr lang="en-US" sz="2200" i="0" smtClean="0">
                                  <a:latin typeface="Cambria Math" panose="02040503050406030204" pitchFamily="18" charset="0"/>
                                  <a:ea typeface="Cambria Math" panose="02040503050406030204" pitchFamily="18" charset="0"/>
                                </a:rPr>
                                <m:t>=</m:t>
                              </m:r>
                              <m:f>
                                <m:fPr>
                                  <m:ctrlPr>
                                    <a:rPr lang="en-US" sz="2200" i="1">
                                      <a:latin typeface="Cambria Math" panose="02040503050406030204" pitchFamily="18" charset="0"/>
                                      <a:ea typeface="Cambria Math" panose="02040503050406030204" pitchFamily="18" charset="0"/>
                                    </a:rPr>
                                  </m:ctrlPr>
                                </m:fPr>
                                <m:num>
                                  <m:r>
                                    <a:rPr lang="en-US" sz="2200" b="0" i="0" smtClean="0">
                                      <a:latin typeface="Cambria Math" panose="02040503050406030204" pitchFamily="18" charset="0"/>
                                      <a:ea typeface="Cambria Math" panose="02040503050406030204" pitchFamily="18" charset="0"/>
                                    </a:rPr>
                                    <m:t>1</m:t>
                                  </m:r>
                                </m:num>
                                <m:den>
                                  <m:r>
                                    <m:rPr>
                                      <m:sty m:val="p"/>
                                    </m:rPr>
                                    <a:rPr lang="en-US" sz="2200" b="0" i="0" smtClean="0">
                                      <a:latin typeface="Cambria Math" panose="02040503050406030204" pitchFamily="18" charset="0"/>
                                      <a:ea typeface="Cambria Math" panose="02040503050406030204" pitchFamily="18" charset="0"/>
                                    </a:rPr>
                                    <m:t>j</m:t>
                                  </m:r>
                                  <m:r>
                                    <m:rPr>
                                      <m:sty m:val="p"/>
                                    </m:rPr>
                                    <a:rPr lang="en-US" sz="2200" i="0" smtClean="0">
                                      <a:latin typeface="Cambria Math" panose="02040503050406030204" pitchFamily="18" charset="0"/>
                                      <a:ea typeface="Cambria Math" panose="02040503050406030204" pitchFamily="18" charset="0"/>
                                    </a:rPr>
                                    <m:t>ω</m:t>
                                  </m:r>
                                  <m:r>
                                    <m:rPr>
                                      <m:sty m:val="p"/>
                                    </m:rPr>
                                    <a:rPr lang="en-US" sz="2200" b="0" i="0" smtClean="0">
                                      <a:latin typeface="Cambria Math" panose="02040503050406030204" pitchFamily="18" charset="0"/>
                                      <a:ea typeface="Cambria Math" panose="02040503050406030204" pitchFamily="18" charset="0"/>
                                    </a:rPr>
                                    <m:t>L</m:t>
                                  </m:r>
                                </m:den>
                              </m:f>
                            </m:oMath>
                          </a14:m>
                          <a:endParaRPr lang="en-IN" sz="22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70174921"/>
                      </a:ext>
                    </a:extLst>
                  </a:tr>
                  <a:tr h="370840">
                    <a:tc>
                      <a:txBody>
                        <a:bodyPr/>
                        <a:lstStyle/>
                        <a:p>
                          <a:pPr algn="ctr"/>
                          <a:r>
                            <a:rPr lang="en-US" sz="2200" b="1" dirty="0"/>
                            <a:t>C</a:t>
                          </a:r>
                          <a:endParaRPr lang="en-IN" sz="2200" b="1" dirty="0"/>
                        </a:p>
                      </a:txBody>
                      <a:tcPr/>
                    </a:tc>
                    <a:tc>
                      <a:txBody>
                        <a:bodyPr/>
                        <a:lstStyle/>
                        <a:p>
                          <a:r>
                            <a:rPr lang="en-IN" sz="2200" i="0" dirty="0">
                              <a:latin typeface="Times New Roman" panose="02020603050405020304" pitchFamily="18" charset="0"/>
                              <a:cs typeface="Times New Roman" panose="02020603050405020304" pitchFamily="18" charset="0"/>
                            </a:rPr>
                            <a:t>Z</a:t>
                          </a:r>
                          <a14:m>
                            <m:oMath xmlns:m="http://schemas.openxmlformats.org/officeDocument/2006/math">
                              <m:r>
                                <a:rPr lang="en-US" sz="2200" i="0" smtClean="0">
                                  <a:latin typeface="Cambria Math" panose="02040503050406030204" pitchFamily="18" charset="0"/>
                                  <a:ea typeface="Cambria Math" panose="02040503050406030204" pitchFamily="18" charset="0"/>
                                </a:rPr>
                                <m:t>=</m:t>
                              </m:r>
                              <m:f>
                                <m:fPr>
                                  <m:ctrlPr>
                                    <a:rPr lang="en-US" sz="2200" i="1">
                                      <a:latin typeface="Cambria Math" panose="02040503050406030204" pitchFamily="18" charset="0"/>
                                      <a:ea typeface="Cambria Math" panose="02040503050406030204" pitchFamily="18" charset="0"/>
                                    </a:rPr>
                                  </m:ctrlPr>
                                </m:fPr>
                                <m:num>
                                  <m:r>
                                    <a:rPr lang="en-US" sz="2200" i="0" smtClean="0">
                                      <a:latin typeface="Cambria Math" panose="02040503050406030204" pitchFamily="18" charset="0"/>
                                      <a:ea typeface="Cambria Math" panose="02040503050406030204" pitchFamily="18" charset="0"/>
                                    </a:rPr>
                                    <m:t>−</m:t>
                                  </m:r>
                                  <m:r>
                                    <m:rPr>
                                      <m:sty m:val="p"/>
                                    </m:rPr>
                                    <a:rPr lang="en-US" sz="2200" i="0" smtClean="0">
                                      <a:latin typeface="Cambria Math" panose="02040503050406030204" pitchFamily="18" charset="0"/>
                                      <a:ea typeface="Cambria Math" panose="02040503050406030204" pitchFamily="18" charset="0"/>
                                    </a:rPr>
                                    <m:t>j</m:t>
                                  </m:r>
                                </m:num>
                                <m:den>
                                  <m:r>
                                    <m:rPr>
                                      <m:sty m:val="p"/>
                                    </m:rPr>
                                    <a:rPr lang="en-US" sz="2200" i="0" smtClean="0">
                                      <a:latin typeface="Cambria Math" panose="02040503050406030204" pitchFamily="18" charset="0"/>
                                      <a:ea typeface="Cambria Math" panose="02040503050406030204" pitchFamily="18" charset="0"/>
                                    </a:rPr>
                                    <m:t>ω</m:t>
                                  </m:r>
                                  <m:r>
                                    <m:rPr>
                                      <m:sty m:val="p"/>
                                    </m:rPr>
                                    <a:rPr lang="en-US" sz="2200" i="0" smtClean="0">
                                      <a:latin typeface="Cambria Math" panose="02040503050406030204" pitchFamily="18" charset="0"/>
                                    </a:rPr>
                                    <m:t>C</m:t>
                                  </m:r>
                                </m:den>
                              </m:f>
                              <m:r>
                                <a:rPr lang="en-US" sz="2200" b="0" i="0" smtClean="0">
                                  <a:latin typeface="Cambria Math" panose="02040503050406030204" pitchFamily="18" charset="0"/>
                                </a:rPr>
                                <m:t>=</m:t>
                              </m:r>
                              <m:f>
                                <m:fPr>
                                  <m:ctrlPr>
                                    <a:rPr lang="en-US" sz="2200" i="1" smtClean="0">
                                      <a:latin typeface="Cambria Math" panose="02040503050406030204" pitchFamily="18" charset="0"/>
                                      <a:ea typeface="Cambria Math" panose="02040503050406030204" pitchFamily="18" charset="0"/>
                                    </a:rPr>
                                  </m:ctrlPr>
                                </m:fPr>
                                <m:num>
                                  <m:r>
                                    <a:rPr lang="en-US" sz="2200" b="0" i="0" smtClean="0">
                                      <a:latin typeface="Cambria Math" panose="02040503050406030204" pitchFamily="18" charset="0"/>
                                      <a:ea typeface="Cambria Math" panose="02040503050406030204" pitchFamily="18" charset="0"/>
                                    </a:rPr>
                                    <m:t>1</m:t>
                                  </m:r>
                                </m:num>
                                <m:den>
                                  <m:r>
                                    <m:rPr>
                                      <m:sty m:val="p"/>
                                    </m:rPr>
                                    <a:rPr lang="en-US" sz="2200" b="0" i="0" smtClean="0">
                                      <a:latin typeface="Cambria Math" panose="02040503050406030204" pitchFamily="18" charset="0"/>
                                      <a:ea typeface="Cambria Math" panose="02040503050406030204" pitchFamily="18" charset="0"/>
                                    </a:rPr>
                                    <m:t>j</m:t>
                                  </m:r>
                                  <m:r>
                                    <m:rPr>
                                      <m:sty m:val="p"/>
                                    </m:rPr>
                                    <a:rPr lang="en-US" sz="2200" i="0" smtClean="0">
                                      <a:latin typeface="Cambria Math" panose="02040503050406030204" pitchFamily="18" charset="0"/>
                                      <a:ea typeface="Cambria Math" panose="02040503050406030204" pitchFamily="18" charset="0"/>
                                    </a:rPr>
                                    <m:t>ω</m:t>
                                  </m:r>
                                  <m:r>
                                    <m:rPr>
                                      <m:sty m:val="p"/>
                                    </m:rPr>
                                    <a:rPr lang="en-US" sz="2200" i="0" smtClean="0">
                                      <a:latin typeface="Cambria Math" panose="02040503050406030204" pitchFamily="18" charset="0"/>
                                    </a:rPr>
                                    <m:t>C</m:t>
                                  </m:r>
                                </m:den>
                              </m:f>
                            </m:oMath>
                          </a14:m>
                          <a:endParaRPr lang="en-IN" sz="2200" i="0" dirty="0">
                            <a:latin typeface="Times New Roman" panose="02020603050405020304" pitchFamily="18" charset="0"/>
                            <a:cs typeface="Times New Roman" panose="02020603050405020304" pitchFamily="18" charset="0"/>
                          </a:endParaRPr>
                        </a:p>
                      </a:txBody>
                      <a:tcPr/>
                    </a:tc>
                    <a:tc>
                      <a:txBody>
                        <a:bodyPr/>
                        <a:lstStyle/>
                        <a:p>
                          <a:r>
                            <a:rPr lang="en-IN" sz="2200" i="0" dirty="0">
                              <a:latin typeface="Times New Roman" panose="02020603050405020304" pitchFamily="18" charset="0"/>
                              <a:ea typeface="+mn-ea"/>
                              <a:cs typeface="Times New Roman" panose="02020603050405020304" pitchFamily="18" charset="0"/>
                            </a:rPr>
                            <a:t>Y</a:t>
                          </a:r>
                          <a14:m>
                            <m:oMath xmlns:m="http://schemas.openxmlformats.org/officeDocument/2006/math">
                              <m:r>
                                <a:rPr lang="en-US" sz="2200" i="0" smtClean="0">
                                  <a:latin typeface="Cambria Math" panose="02040503050406030204" pitchFamily="18" charset="0"/>
                                  <a:ea typeface="Cambria Math" panose="02040503050406030204" pitchFamily="18" charset="0"/>
                                </a:rPr>
                                <m:t>=</m:t>
                              </m:r>
                              <m:r>
                                <m:rPr>
                                  <m:sty m:val="p"/>
                                </m:rPr>
                                <a:rPr lang="en-US" sz="2200" i="0" smtClean="0">
                                  <a:latin typeface="Cambria Math" panose="02040503050406030204" pitchFamily="18" charset="0"/>
                                  <a:ea typeface="Cambria Math" panose="02040503050406030204" pitchFamily="18" charset="0"/>
                                </a:rPr>
                                <m:t>jωC</m:t>
                              </m:r>
                            </m:oMath>
                          </a14:m>
                          <a:endParaRPr lang="en-IN" sz="22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98531520"/>
                      </a:ext>
                    </a:extLst>
                  </a:tr>
                </a:tbl>
              </a:graphicData>
            </a:graphic>
          </p:graphicFrame>
        </mc:Choice>
        <mc:Fallback xmlns="">
          <p:graphicFrame>
            <p:nvGraphicFramePr>
              <p:cNvPr id="3" name="Table 2">
                <a:extLst>
                  <a:ext uri="{FF2B5EF4-FFF2-40B4-BE49-F238E27FC236}">
                    <a16:creationId xmlns:a16="http://schemas.microsoft.com/office/drawing/2014/main" id="{6D22682A-A1CB-0874-E10D-3D1070FBA185}"/>
                  </a:ext>
                </a:extLst>
              </p:cNvPr>
              <p:cNvGraphicFramePr>
                <a:graphicFrameLocks noGrp="1"/>
              </p:cNvGraphicFramePr>
              <p:nvPr>
                <p:extLst>
                  <p:ext uri="{D42A27DB-BD31-4B8C-83A1-F6EECF244321}">
                    <p14:modId xmlns:p14="http://schemas.microsoft.com/office/powerpoint/2010/main" val="3136081714"/>
                  </p:ext>
                </p:extLst>
              </p:nvPr>
            </p:nvGraphicFramePr>
            <p:xfrm>
              <a:off x="3582955" y="2225979"/>
              <a:ext cx="5178488" cy="2165731"/>
            </p:xfrm>
            <a:graphic>
              <a:graphicData uri="http://schemas.openxmlformats.org/drawingml/2006/table">
                <a:tbl>
                  <a:tblPr firstRow="1" bandRow="1">
                    <a:tableStyleId>{5940675A-B579-460E-94D1-54222C63F5DA}</a:tableStyleId>
                  </a:tblPr>
                  <a:tblGrid>
                    <a:gridCol w="1101341">
                      <a:extLst>
                        <a:ext uri="{9D8B030D-6E8A-4147-A177-3AD203B41FA5}">
                          <a16:colId xmlns:a16="http://schemas.microsoft.com/office/drawing/2014/main" val="2015494220"/>
                        </a:ext>
                      </a:extLst>
                    </a:gridCol>
                    <a:gridCol w="1930139">
                      <a:extLst>
                        <a:ext uri="{9D8B030D-6E8A-4147-A177-3AD203B41FA5}">
                          <a16:colId xmlns:a16="http://schemas.microsoft.com/office/drawing/2014/main" val="2269736615"/>
                        </a:ext>
                      </a:extLst>
                    </a:gridCol>
                    <a:gridCol w="2147008">
                      <a:extLst>
                        <a:ext uri="{9D8B030D-6E8A-4147-A177-3AD203B41FA5}">
                          <a16:colId xmlns:a16="http://schemas.microsoft.com/office/drawing/2014/main" val="3453015178"/>
                        </a:ext>
                      </a:extLst>
                    </a:gridCol>
                  </a:tblGrid>
                  <a:tr h="370840">
                    <a:tc>
                      <a:txBody>
                        <a:bodyPr/>
                        <a:lstStyle/>
                        <a:p>
                          <a:r>
                            <a:rPr lang="en-US" b="1" dirty="0"/>
                            <a:t>Element</a:t>
                          </a:r>
                          <a:endParaRPr lang="en-IN" b="1" dirty="0"/>
                        </a:p>
                      </a:txBody>
                      <a:tcPr/>
                    </a:tc>
                    <a:tc>
                      <a:txBody>
                        <a:bodyPr/>
                        <a:lstStyle/>
                        <a:p>
                          <a:r>
                            <a:rPr lang="en-US" b="1" dirty="0"/>
                            <a:t>Impedance (Z)</a:t>
                          </a:r>
                          <a:endParaRPr lang="en-IN" b="1" dirty="0"/>
                        </a:p>
                      </a:txBody>
                      <a:tcPr/>
                    </a:tc>
                    <a:tc>
                      <a:txBody>
                        <a:bodyPr/>
                        <a:lstStyle/>
                        <a:p>
                          <a:r>
                            <a:rPr lang="en-US" b="1" dirty="0"/>
                            <a:t>Admittance (Y)</a:t>
                          </a:r>
                          <a:endParaRPr lang="en-IN" b="1" dirty="0"/>
                        </a:p>
                      </a:txBody>
                      <a:tcPr/>
                    </a:tc>
                    <a:extLst>
                      <a:ext uri="{0D108BD9-81ED-4DB2-BD59-A6C34878D82A}">
                        <a16:rowId xmlns:a16="http://schemas.microsoft.com/office/drawing/2014/main" val="1796035502"/>
                      </a:ext>
                    </a:extLst>
                  </a:tr>
                  <a:tr h="564896">
                    <a:tc>
                      <a:txBody>
                        <a:bodyPr/>
                        <a:lstStyle/>
                        <a:p>
                          <a:pPr algn="ctr"/>
                          <a:r>
                            <a:rPr lang="en-US" sz="2200" b="1" dirty="0"/>
                            <a:t>R</a:t>
                          </a:r>
                          <a:endParaRPr lang="en-IN" sz="2200" b="1" dirty="0"/>
                        </a:p>
                      </a:txBody>
                      <a:tcPr/>
                    </a:tc>
                    <a:tc>
                      <a:txBody>
                        <a:bodyPr/>
                        <a:lstStyle/>
                        <a:p>
                          <a:r>
                            <a:rPr lang="en-US" sz="2200" i="0" dirty="0">
                              <a:latin typeface="Times New Roman" panose="02020603050405020304" pitchFamily="18" charset="0"/>
                              <a:cs typeface="Times New Roman" panose="02020603050405020304" pitchFamily="18" charset="0"/>
                            </a:rPr>
                            <a:t>Z=R</a:t>
                          </a:r>
                          <a:endParaRPr lang="en-IN" sz="2200" i="0" dirty="0">
                            <a:latin typeface="Times New Roman" panose="02020603050405020304" pitchFamily="18" charset="0"/>
                            <a:cs typeface="Times New Roman" panose="02020603050405020304" pitchFamily="18" charset="0"/>
                          </a:endParaRPr>
                        </a:p>
                      </a:txBody>
                      <a:tcPr/>
                    </a:tc>
                    <a:tc>
                      <a:txBody>
                        <a:bodyPr/>
                        <a:lstStyle/>
                        <a:p>
                          <a:endParaRPr lang="en-US"/>
                        </a:p>
                      </a:txBody>
                      <a:tcPr>
                        <a:blipFill>
                          <a:blip r:embed="rId3"/>
                          <a:stretch>
                            <a:fillRect l="-141360" t="-70968" r="-567" b="-219355"/>
                          </a:stretch>
                        </a:blipFill>
                      </a:tcPr>
                    </a:tc>
                    <a:extLst>
                      <a:ext uri="{0D108BD9-81ED-4DB2-BD59-A6C34878D82A}">
                        <a16:rowId xmlns:a16="http://schemas.microsoft.com/office/drawing/2014/main" val="3842858615"/>
                      </a:ext>
                    </a:extLst>
                  </a:tr>
                  <a:tr h="608711">
                    <a:tc>
                      <a:txBody>
                        <a:bodyPr/>
                        <a:lstStyle/>
                        <a:p>
                          <a:pPr algn="ctr"/>
                          <a:r>
                            <a:rPr lang="en-US" sz="2200" b="1" dirty="0"/>
                            <a:t>L</a:t>
                          </a:r>
                          <a:endParaRPr lang="en-IN" sz="2200" b="1" dirty="0"/>
                        </a:p>
                      </a:txBody>
                      <a:tcPr/>
                    </a:tc>
                    <a:tc>
                      <a:txBody>
                        <a:bodyPr/>
                        <a:lstStyle/>
                        <a:p>
                          <a:endParaRPr lang="en-US"/>
                        </a:p>
                      </a:txBody>
                      <a:tcPr>
                        <a:blipFill>
                          <a:blip r:embed="rId3"/>
                          <a:stretch>
                            <a:fillRect l="-57413" t="-159000" r="-111987" b="-104000"/>
                          </a:stretch>
                        </a:blipFill>
                      </a:tcPr>
                    </a:tc>
                    <a:tc>
                      <a:txBody>
                        <a:bodyPr/>
                        <a:lstStyle/>
                        <a:p>
                          <a:endParaRPr lang="en-US"/>
                        </a:p>
                      </a:txBody>
                      <a:tcPr>
                        <a:blipFill>
                          <a:blip r:embed="rId3"/>
                          <a:stretch>
                            <a:fillRect l="-141360" t="-159000" r="-567" b="-104000"/>
                          </a:stretch>
                        </a:blipFill>
                      </a:tcPr>
                    </a:tc>
                    <a:extLst>
                      <a:ext uri="{0D108BD9-81ED-4DB2-BD59-A6C34878D82A}">
                        <a16:rowId xmlns:a16="http://schemas.microsoft.com/office/drawing/2014/main" val="670174921"/>
                      </a:ext>
                    </a:extLst>
                  </a:tr>
                  <a:tr h="621284">
                    <a:tc>
                      <a:txBody>
                        <a:bodyPr/>
                        <a:lstStyle/>
                        <a:p>
                          <a:pPr algn="ctr"/>
                          <a:r>
                            <a:rPr lang="en-US" sz="2200" b="1" dirty="0"/>
                            <a:t>C</a:t>
                          </a:r>
                          <a:endParaRPr lang="en-IN" sz="2200" b="1" dirty="0"/>
                        </a:p>
                      </a:txBody>
                      <a:tcPr/>
                    </a:tc>
                    <a:tc>
                      <a:txBody>
                        <a:bodyPr/>
                        <a:lstStyle/>
                        <a:p>
                          <a:endParaRPr lang="en-US"/>
                        </a:p>
                      </a:txBody>
                      <a:tcPr>
                        <a:blipFill>
                          <a:blip r:embed="rId3"/>
                          <a:stretch>
                            <a:fillRect l="-57413" t="-253922" r="-111987" b="-1961"/>
                          </a:stretch>
                        </a:blipFill>
                      </a:tcPr>
                    </a:tc>
                    <a:tc>
                      <a:txBody>
                        <a:bodyPr/>
                        <a:lstStyle/>
                        <a:p>
                          <a:endParaRPr lang="en-US"/>
                        </a:p>
                      </a:txBody>
                      <a:tcPr>
                        <a:blipFill>
                          <a:blip r:embed="rId3"/>
                          <a:stretch>
                            <a:fillRect l="-141360" t="-253922" r="-567" b="-1961"/>
                          </a:stretch>
                        </a:blipFill>
                      </a:tcPr>
                    </a:tc>
                    <a:extLst>
                      <a:ext uri="{0D108BD9-81ED-4DB2-BD59-A6C34878D82A}">
                        <a16:rowId xmlns:a16="http://schemas.microsoft.com/office/drawing/2014/main" val="1698531520"/>
                      </a:ext>
                    </a:extLst>
                  </a:tr>
                </a:tbl>
              </a:graphicData>
            </a:graphic>
          </p:graphicFrame>
        </mc:Fallback>
      </mc:AlternateContent>
    </p:spTree>
    <p:extLst>
      <p:ext uri="{BB962C8B-B14F-4D97-AF65-F5344CB8AC3E}">
        <p14:creationId xmlns:p14="http://schemas.microsoft.com/office/powerpoint/2010/main" val="12696293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1842448" y="971970"/>
            <a:ext cx="8911988"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Behavior of Inductor &amp; Capacitor at “0” and “</a:t>
            </a:r>
            <a:r>
              <a:rPr lang="en-IN" sz="2400" dirty="0"/>
              <a:t>∞” frequencies</a:t>
            </a:r>
            <a:endParaRPr lang="en-US" sz="2400" dirty="0"/>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object 6"/>
          <p:cNvSpPr txBox="1"/>
          <p:nvPr/>
        </p:nvSpPr>
        <p:spPr>
          <a:xfrm>
            <a:off x="550506" y="2078268"/>
            <a:ext cx="10898155" cy="350737"/>
          </a:xfrm>
          <a:prstGeom prst="rect">
            <a:avLst/>
          </a:prstGeom>
        </p:spPr>
        <p:txBody>
          <a:bodyPr vert="horz" wrap="square" lIns="0" tIns="12065" rIns="0" bIns="0" rtlCol="0">
            <a:spAutoFit/>
          </a:bodyPr>
          <a:lstStyle/>
          <a:p>
            <a:pPr marL="12700" marR="5080">
              <a:lnSpc>
                <a:spcPct val="100000"/>
              </a:lnSpc>
              <a:spcBef>
                <a:spcPts val="95"/>
              </a:spcBef>
            </a:pPr>
            <a:r>
              <a:rPr lang="en-IN" sz="2200" b="1" spc="-10" dirty="0">
                <a:latin typeface="Times New Roman"/>
                <a:cs typeface="Times New Roman"/>
              </a:rPr>
              <a:t>We usually take, </a:t>
            </a:r>
            <a:r>
              <a:rPr sz="2200" b="1" spc="-10" dirty="0">
                <a:latin typeface="Times New Roman"/>
                <a:cs typeface="Times New Roman"/>
              </a:rPr>
              <a:t>Frequency</a:t>
            </a:r>
            <a:r>
              <a:rPr sz="2200" b="1" spc="15" dirty="0">
                <a:latin typeface="Times New Roman"/>
                <a:cs typeface="Times New Roman"/>
              </a:rPr>
              <a:t> </a:t>
            </a:r>
            <a:r>
              <a:rPr sz="2200" b="1" spc="-10" dirty="0">
                <a:latin typeface="Times New Roman"/>
                <a:cs typeface="Times New Roman"/>
              </a:rPr>
              <a:t>(ω)</a:t>
            </a:r>
            <a:r>
              <a:rPr sz="2200" b="1" spc="30" dirty="0">
                <a:latin typeface="Times New Roman"/>
                <a:cs typeface="Times New Roman"/>
              </a:rPr>
              <a:t> </a:t>
            </a:r>
            <a:r>
              <a:rPr sz="2200" b="1" spc="-5" dirty="0">
                <a:latin typeface="Times New Roman"/>
                <a:cs typeface="Times New Roman"/>
              </a:rPr>
              <a:t>is 0</a:t>
            </a:r>
            <a:r>
              <a:rPr sz="2200" b="1" dirty="0">
                <a:latin typeface="Times New Roman"/>
                <a:cs typeface="Times New Roman"/>
              </a:rPr>
              <a:t> </a:t>
            </a:r>
            <a:r>
              <a:rPr sz="2200" b="1" spc="-5" dirty="0">
                <a:latin typeface="Times New Roman"/>
                <a:cs typeface="Times New Roman"/>
              </a:rPr>
              <a:t>for</a:t>
            </a:r>
            <a:r>
              <a:rPr sz="2200" b="1" spc="-40" dirty="0">
                <a:latin typeface="Times New Roman"/>
                <a:cs typeface="Times New Roman"/>
              </a:rPr>
              <a:t> </a:t>
            </a:r>
            <a:r>
              <a:rPr lang="en-US" sz="2200" b="1" spc="-5" dirty="0">
                <a:latin typeface="Times New Roman"/>
                <a:cs typeface="Times New Roman"/>
              </a:rPr>
              <a:t>DC</a:t>
            </a:r>
            <a:r>
              <a:rPr sz="2200" b="1" spc="-5" dirty="0">
                <a:latin typeface="Times New Roman"/>
                <a:cs typeface="Times New Roman"/>
              </a:rPr>
              <a:t>.</a:t>
            </a:r>
            <a:r>
              <a:rPr sz="2200" b="1" dirty="0">
                <a:latin typeface="Times New Roman"/>
                <a:cs typeface="Times New Roman"/>
              </a:rPr>
              <a:t> </a:t>
            </a:r>
            <a:r>
              <a:rPr sz="2200" b="1" spc="-10" dirty="0">
                <a:latin typeface="Times New Roman"/>
                <a:cs typeface="Times New Roman"/>
              </a:rPr>
              <a:t>Frequency</a:t>
            </a:r>
            <a:r>
              <a:rPr sz="2200" b="1" spc="20" dirty="0">
                <a:latin typeface="Times New Roman"/>
                <a:cs typeface="Times New Roman"/>
              </a:rPr>
              <a:t> </a:t>
            </a:r>
            <a:r>
              <a:rPr sz="2200" b="1" spc="-10" dirty="0">
                <a:latin typeface="Times New Roman"/>
                <a:cs typeface="Times New Roman"/>
              </a:rPr>
              <a:t>(ω)</a:t>
            </a:r>
            <a:r>
              <a:rPr sz="2200" b="1" spc="30" dirty="0">
                <a:latin typeface="Times New Roman"/>
                <a:cs typeface="Times New Roman"/>
              </a:rPr>
              <a:t> </a:t>
            </a:r>
            <a:r>
              <a:rPr sz="2200" b="1" spc="-5" dirty="0">
                <a:latin typeface="Times New Roman"/>
                <a:cs typeface="Times New Roman"/>
              </a:rPr>
              <a:t>is ∞</a:t>
            </a:r>
            <a:r>
              <a:rPr sz="2200" b="1" dirty="0">
                <a:latin typeface="Times New Roman"/>
                <a:cs typeface="Times New Roman"/>
              </a:rPr>
              <a:t> </a:t>
            </a:r>
            <a:r>
              <a:rPr sz="2200" b="1" spc="-5" dirty="0">
                <a:latin typeface="Times New Roman"/>
                <a:cs typeface="Times New Roman"/>
              </a:rPr>
              <a:t>at</a:t>
            </a:r>
            <a:r>
              <a:rPr sz="2200" b="1" spc="10" dirty="0">
                <a:latin typeface="Times New Roman"/>
                <a:cs typeface="Times New Roman"/>
              </a:rPr>
              <a:t> </a:t>
            </a:r>
            <a:r>
              <a:rPr sz="2200" b="1" spc="-5" dirty="0">
                <a:latin typeface="Times New Roman"/>
                <a:cs typeface="Times New Roman"/>
              </a:rPr>
              <a:t>high </a:t>
            </a:r>
            <a:r>
              <a:rPr sz="2200" b="1" spc="-535" dirty="0">
                <a:latin typeface="Times New Roman"/>
                <a:cs typeface="Times New Roman"/>
              </a:rPr>
              <a:t> </a:t>
            </a:r>
            <a:r>
              <a:rPr sz="2200" b="1" spc="-10" dirty="0">
                <a:latin typeface="Times New Roman"/>
                <a:cs typeface="Times New Roman"/>
              </a:rPr>
              <a:t>frequencies</a:t>
            </a:r>
            <a:r>
              <a:rPr lang="en-US" sz="2200" b="1" spc="-10" dirty="0">
                <a:latin typeface="Times New Roman"/>
                <a:cs typeface="Times New Roman"/>
              </a:rPr>
              <a:t> for AC.</a:t>
            </a:r>
            <a:endParaRPr sz="2200" dirty="0">
              <a:latin typeface="Times New Roman"/>
              <a:cs typeface="Times New Roman"/>
            </a:endParaRPr>
          </a:p>
        </p:txBody>
      </p:sp>
      <p:sp>
        <p:nvSpPr>
          <p:cNvPr id="7" name="object 9"/>
          <p:cNvSpPr txBox="1"/>
          <p:nvPr/>
        </p:nvSpPr>
        <p:spPr>
          <a:xfrm>
            <a:off x="3758734" y="4842943"/>
            <a:ext cx="3916073" cy="350737"/>
          </a:xfrm>
          <a:prstGeom prst="rect">
            <a:avLst/>
          </a:prstGeom>
        </p:spPr>
        <p:txBody>
          <a:bodyPr vert="horz" wrap="square" lIns="0" tIns="12065" rIns="0" bIns="0" rtlCol="0">
            <a:spAutoFit/>
          </a:bodyPr>
          <a:lstStyle/>
          <a:p>
            <a:pPr marL="12700">
              <a:lnSpc>
                <a:spcPct val="100000"/>
              </a:lnSpc>
              <a:spcBef>
                <a:spcPts val="95"/>
              </a:spcBef>
            </a:pPr>
            <a:r>
              <a:rPr sz="2200" b="1" spc="-5" dirty="0">
                <a:latin typeface="Times New Roman"/>
                <a:cs typeface="Times New Roman"/>
              </a:rPr>
              <a:t>Z</a:t>
            </a:r>
            <a:r>
              <a:rPr sz="2200" b="1" spc="-25" dirty="0">
                <a:latin typeface="Times New Roman"/>
                <a:cs typeface="Times New Roman"/>
              </a:rPr>
              <a:t> </a:t>
            </a:r>
            <a:r>
              <a:rPr sz="2200" b="1" spc="-5" dirty="0">
                <a:latin typeface="Times New Roman"/>
                <a:cs typeface="Times New Roman"/>
              </a:rPr>
              <a:t>=</a:t>
            </a:r>
            <a:r>
              <a:rPr sz="2200" b="1" spc="-20" dirty="0">
                <a:latin typeface="Times New Roman"/>
                <a:cs typeface="Times New Roman"/>
              </a:rPr>
              <a:t> </a:t>
            </a:r>
            <a:r>
              <a:rPr sz="2200" b="1" spc="-10" dirty="0">
                <a:latin typeface="Times New Roman"/>
                <a:cs typeface="Times New Roman"/>
              </a:rPr>
              <a:t>jωL</a:t>
            </a:r>
            <a:r>
              <a:rPr sz="2200" b="1" spc="-120" dirty="0">
                <a:latin typeface="Times New Roman"/>
                <a:cs typeface="Times New Roman"/>
              </a:rPr>
              <a:t> </a:t>
            </a:r>
            <a:r>
              <a:rPr sz="2200" b="1" spc="-5" dirty="0">
                <a:latin typeface="Times New Roman"/>
                <a:cs typeface="Times New Roman"/>
              </a:rPr>
              <a:t>=</a:t>
            </a:r>
            <a:r>
              <a:rPr sz="2200" b="1" spc="-25" dirty="0">
                <a:latin typeface="Times New Roman"/>
                <a:cs typeface="Times New Roman"/>
              </a:rPr>
              <a:t> </a:t>
            </a:r>
            <a:r>
              <a:rPr sz="2200" b="1" spc="-5" dirty="0">
                <a:latin typeface="Times New Roman"/>
                <a:cs typeface="Times New Roman"/>
              </a:rPr>
              <a:t>0</a:t>
            </a:r>
            <a:r>
              <a:rPr lang="en-IN" sz="2200" b="1" spc="-5" dirty="0">
                <a:latin typeface="Times New Roman"/>
                <a:cs typeface="Times New Roman"/>
              </a:rPr>
              <a:t> at “0” frequency</a:t>
            </a:r>
            <a:endParaRPr sz="2200" dirty="0">
              <a:latin typeface="Times New Roman"/>
              <a:cs typeface="Times New Roman"/>
            </a:endParaRPr>
          </a:p>
        </p:txBody>
      </p:sp>
      <p:sp>
        <p:nvSpPr>
          <p:cNvPr id="8" name="object 10"/>
          <p:cNvSpPr txBox="1"/>
          <p:nvPr/>
        </p:nvSpPr>
        <p:spPr>
          <a:xfrm>
            <a:off x="62357" y="4798702"/>
            <a:ext cx="3916074" cy="350737"/>
          </a:xfrm>
          <a:prstGeom prst="rect">
            <a:avLst/>
          </a:prstGeom>
        </p:spPr>
        <p:txBody>
          <a:bodyPr vert="horz" wrap="square" lIns="0" tIns="12065" rIns="0" bIns="0" rtlCol="0">
            <a:spAutoFit/>
          </a:bodyPr>
          <a:lstStyle/>
          <a:p>
            <a:pPr marL="12700">
              <a:lnSpc>
                <a:spcPct val="100000"/>
              </a:lnSpc>
              <a:spcBef>
                <a:spcPts val="95"/>
              </a:spcBef>
            </a:pPr>
            <a:r>
              <a:rPr sz="2200" b="1" spc="-5" dirty="0">
                <a:latin typeface="Times New Roman"/>
                <a:cs typeface="Times New Roman"/>
              </a:rPr>
              <a:t>Z = jωL = ∞</a:t>
            </a:r>
            <a:r>
              <a:rPr lang="en-IN" sz="2200" b="1" spc="-5" dirty="0">
                <a:latin typeface="Times New Roman"/>
                <a:cs typeface="Times New Roman"/>
              </a:rPr>
              <a:t> at “∞” frequency;</a:t>
            </a:r>
            <a:endParaRPr sz="2200" b="1" spc="-5" dirty="0">
              <a:latin typeface="Times New Roman"/>
              <a:cs typeface="Times New Roman"/>
            </a:endParaRPr>
          </a:p>
        </p:txBody>
      </p:sp>
      <p:grpSp>
        <p:nvGrpSpPr>
          <p:cNvPr id="20" name="Group 19">
            <a:extLst>
              <a:ext uri="{FF2B5EF4-FFF2-40B4-BE49-F238E27FC236}">
                <a16:creationId xmlns:a16="http://schemas.microsoft.com/office/drawing/2014/main" id="{7294AB61-8393-38B4-24C0-138FD33F2647}"/>
              </a:ext>
            </a:extLst>
          </p:cNvPr>
          <p:cNvGrpSpPr/>
          <p:nvPr/>
        </p:nvGrpSpPr>
        <p:grpSpPr>
          <a:xfrm>
            <a:off x="3629355" y="5537829"/>
            <a:ext cx="3583556" cy="607311"/>
            <a:chOff x="7535467" y="5509391"/>
            <a:chExt cx="3583556" cy="607311"/>
          </a:xfrm>
        </p:grpSpPr>
        <p:sp>
          <p:nvSpPr>
            <p:cNvPr id="12" name="object 11"/>
            <p:cNvSpPr/>
            <p:nvPr/>
          </p:nvSpPr>
          <p:spPr>
            <a:xfrm>
              <a:off x="8030852" y="5735852"/>
              <a:ext cx="401320" cy="0"/>
            </a:xfrm>
            <a:custGeom>
              <a:avLst/>
              <a:gdLst/>
              <a:ahLst/>
              <a:cxnLst/>
              <a:rect l="l" t="t" r="r" b="b"/>
              <a:pathLst>
                <a:path w="401320">
                  <a:moveTo>
                    <a:pt x="0" y="0"/>
                  </a:moveTo>
                  <a:lnTo>
                    <a:pt x="400741" y="0"/>
                  </a:lnTo>
                </a:path>
              </a:pathLst>
            </a:custGeom>
            <a:ln w="11372">
              <a:solidFill>
                <a:srgbClr val="000000"/>
              </a:solidFill>
            </a:ln>
          </p:spPr>
          <p:txBody>
            <a:bodyPr wrap="square" lIns="0" tIns="0" rIns="0" bIns="0" rtlCol="0"/>
            <a:lstStyle/>
            <a:p>
              <a:endParaRPr/>
            </a:p>
          </p:txBody>
        </p:sp>
        <p:grpSp>
          <p:nvGrpSpPr>
            <p:cNvPr id="19" name="Group 18">
              <a:extLst>
                <a:ext uri="{FF2B5EF4-FFF2-40B4-BE49-F238E27FC236}">
                  <a16:creationId xmlns:a16="http://schemas.microsoft.com/office/drawing/2014/main" id="{3524E78F-D7C8-9B6D-444E-7BFE4A2BC76F}"/>
                </a:ext>
              </a:extLst>
            </p:cNvPr>
            <p:cNvGrpSpPr/>
            <p:nvPr/>
          </p:nvGrpSpPr>
          <p:grpSpPr>
            <a:xfrm>
              <a:off x="7535467" y="5509391"/>
              <a:ext cx="3583556" cy="607311"/>
              <a:chOff x="7446237" y="5035916"/>
              <a:chExt cx="3583556" cy="607311"/>
            </a:xfrm>
          </p:grpSpPr>
          <p:sp>
            <p:nvSpPr>
              <p:cNvPr id="13" name="object 12"/>
              <p:cNvSpPr txBox="1"/>
              <p:nvPr/>
            </p:nvSpPr>
            <p:spPr>
              <a:xfrm>
                <a:off x="7446237" y="5035916"/>
                <a:ext cx="1417320" cy="343684"/>
              </a:xfrm>
              <a:prstGeom prst="rect">
                <a:avLst/>
              </a:prstGeom>
            </p:spPr>
            <p:txBody>
              <a:bodyPr vert="horz" wrap="square" lIns="0" tIns="12700" rIns="0" bIns="0" rtlCol="0">
                <a:spAutoFit/>
              </a:bodyPr>
              <a:lstStyle/>
              <a:p>
                <a:pPr marL="38100">
                  <a:lnSpc>
                    <a:spcPct val="100000"/>
                  </a:lnSpc>
                  <a:spcBef>
                    <a:spcPts val="100"/>
                  </a:spcBef>
                </a:pPr>
                <a:r>
                  <a:rPr sz="2150" b="1" dirty="0">
                    <a:latin typeface="Times New Roman"/>
                    <a:cs typeface="Times New Roman"/>
                  </a:rPr>
                  <a:t>Z</a:t>
                </a:r>
                <a:r>
                  <a:rPr sz="2150" b="1" spc="165" dirty="0">
                    <a:latin typeface="Times New Roman"/>
                    <a:cs typeface="Times New Roman"/>
                  </a:rPr>
                  <a:t> </a:t>
                </a:r>
                <a:r>
                  <a:rPr sz="2150" b="1" dirty="0">
                    <a:latin typeface="Symbol"/>
                    <a:cs typeface="Symbol"/>
                  </a:rPr>
                  <a:t></a:t>
                </a:r>
                <a:r>
                  <a:rPr sz="2150" b="1" spc="254" dirty="0">
                    <a:latin typeface="Times New Roman"/>
                    <a:cs typeface="Times New Roman"/>
                  </a:rPr>
                  <a:t> </a:t>
                </a:r>
                <a:r>
                  <a:rPr sz="3225" b="1" baseline="34883" dirty="0">
                    <a:latin typeface="Symbol"/>
                    <a:cs typeface="Symbol"/>
                  </a:rPr>
                  <a:t></a:t>
                </a:r>
                <a:r>
                  <a:rPr sz="3225" b="1" spc="322" baseline="34883" dirty="0">
                    <a:latin typeface="Times New Roman"/>
                    <a:cs typeface="Times New Roman"/>
                  </a:rPr>
                  <a:t> </a:t>
                </a:r>
                <a:r>
                  <a:rPr sz="3225" b="1" i="1" baseline="34883" dirty="0">
                    <a:latin typeface="Times New Roman"/>
                    <a:cs typeface="Times New Roman"/>
                  </a:rPr>
                  <a:t>j</a:t>
                </a:r>
                <a:r>
                  <a:rPr sz="3225" b="1" i="1" spc="502" baseline="34883" dirty="0">
                    <a:latin typeface="Times New Roman"/>
                    <a:cs typeface="Times New Roman"/>
                  </a:rPr>
                  <a:t> </a:t>
                </a:r>
                <a:r>
                  <a:rPr sz="2150" b="1" dirty="0">
                    <a:latin typeface="Symbol"/>
                    <a:cs typeface="Symbol"/>
                  </a:rPr>
                  <a:t></a:t>
                </a:r>
                <a:r>
                  <a:rPr sz="2150" b="1" spc="-85" dirty="0">
                    <a:latin typeface="Times New Roman"/>
                    <a:cs typeface="Times New Roman"/>
                  </a:rPr>
                  <a:t> </a:t>
                </a:r>
                <a:r>
                  <a:rPr sz="2150" b="1" spc="5" dirty="0">
                    <a:latin typeface="Symbol"/>
                    <a:cs typeface="Symbol"/>
                  </a:rPr>
                  <a:t></a:t>
                </a:r>
                <a:r>
                  <a:rPr lang="en-IN" sz="2150" b="1" spc="5" dirty="0">
                    <a:latin typeface="Symbol"/>
                    <a:cs typeface="Symbol"/>
                  </a:rPr>
                  <a:t>  </a:t>
                </a:r>
                <a:endParaRPr sz="2150" b="1" dirty="0">
                  <a:latin typeface="Symbol"/>
                  <a:cs typeface="Symbol"/>
                </a:endParaRPr>
              </a:p>
            </p:txBody>
          </p:sp>
          <p:sp>
            <p:nvSpPr>
              <p:cNvPr id="14" name="object 13"/>
              <p:cNvSpPr txBox="1"/>
              <p:nvPr/>
            </p:nvSpPr>
            <p:spPr>
              <a:xfrm>
                <a:off x="7933685" y="5271752"/>
                <a:ext cx="417195" cy="371475"/>
              </a:xfrm>
              <a:prstGeom prst="rect">
                <a:avLst/>
              </a:prstGeom>
            </p:spPr>
            <p:txBody>
              <a:bodyPr vert="horz" wrap="square" lIns="0" tIns="15240" rIns="0" bIns="0" rtlCol="0">
                <a:spAutoFit/>
              </a:bodyPr>
              <a:lstStyle/>
              <a:p>
                <a:pPr marL="12700">
                  <a:lnSpc>
                    <a:spcPct val="100000"/>
                  </a:lnSpc>
                  <a:spcBef>
                    <a:spcPts val="120"/>
                  </a:spcBef>
                </a:pPr>
                <a:r>
                  <a:rPr sz="2250" spc="-395" dirty="0">
                    <a:latin typeface="Symbol"/>
                    <a:cs typeface="Symbol"/>
                  </a:rPr>
                  <a:t></a:t>
                </a:r>
                <a:r>
                  <a:rPr sz="2150" i="1" spc="-395" dirty="0">
                    <a:latin typeface="Times New Roman"/>
                    <a:cs typeface="Times New Roman"/>
                  </a:rPr>
                  <a:t>C</a:t>
                </a:r>
                <a:endParaRPr sz="2150" dirty="0">
                  <a:latin typeface="Times New Roman"/>
                  <a:cs typeface="Times New Roman"/>
                </a:endParaRPr>
              </a:p>
            </p:txBody>
          </p:sp>
          <p:sp>
            <p:nvSpPr>
              <p:cNvPr id="2" name="Rectangle 1"/>
              <p:cNvSpPr/>
              <p:nvPr/>
            </p:nvSpPr>
            <p:spPr>
              <a:xfrm>
                <a:off x="8853492" y="5069164"/>
                <a:ext cx="2176301" cy="430887"/>
              </a:xfrm>
              <a:prstGeom prst="rect">
                <a:avLst/>
              </a:prstGeom>
            </p:spPr>
            <p:txBody>
              <a:bodyPr wrap="none">
                <a:spAutoFit/>
              </a:bodyPr>
              <a:lstStyle/>
              <a:p>
                <a:r>
                  <a:rPr lang="en-IN" sz="2200" b="1" spc="-5" dirty="0">
                    <a:latin typeface="Times New Roman"/>
                    <a:cs typeface="Times New Roman"/>
                  </a:rPr>
                  <a:t>at “0” frequency</a:t>
                </a:r>
                <a:endParaRPr lang="en-IN" sz="2200" dirty="0"/>
              </a:p>
            </p:txBody>
          </p:sp>
        </p:grpSp>
      </p:grpSp>
      <p:pic>
        <p:nvPicPr>
          <p:cNvPr id="18" name="Picture 17">
            <a:extLst>
              <a:ext uri="{FF2B5EF4-FFF2-40B4-BE49-F238E27FC236}">
                <a16:creationId xmlns:a16="http://schemas.microsoft.com/office/drawing/2014/main" id="{DBCD8361-3F53-DD92-22B5-C49920924489}"/>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602542" y="2768601"/>
            <a:ext cx="6669675" cy="1804735"/>
          </a:xfrm>
          <a:prstGeom prst="rect">
            <a:avLst/>
          </a:prstGeom>
          <a:noFill/>
          <a:ln>
            <a:noFill/>
          </a:ln>
        </p:spPr>
      </p:pic>
      <p:sp>
        <p:nvSpPr>
          <p:cNvPr id="9" name="TextBox 8">
            <a:extLst>
              <a:ext uri="{FF2B5EF4-FFF2-40B4-BE49-F238E27FC236}">
                <a16:creationId xmlns:a16="http://schemas.microsoft.com/office/drawing/2014/main" id="{99C8017B-DF54-51A3-A532-3A3DE769FA01}"/>
              </a:ext>
            </a:extLst>
          </p:cNvPr>
          <p:cNvSpPr txBox="1"/>
          <p:nvPr/>
        </p:nvSpPr>
        <p:spPr>
          <a:xfrm>
            <a:off x="-24822" y="4438683"/>
            <a:ext cx="6102220" cy="400110"/>
          </a:xfrm>
          <a:prstGeom prst="rect">
            <a:avLst/>
          </a:prstGeom>
          <a:noFill/>
        </p:spPr>
        <p:txBody>
          <a:bodyPr wrap="square">
            <a:spAutoFit/>
          </a:bodyPr>
          <a:lstStyle/>
          <a:p>
            <a:r>
              <a:rPr lang="en-US" sz="2000" b="1" u="sng" dirty="0"/>
              <a:t>Inductor</a:t>
            </a:r>
            <a:endParaRPr lang="en-IN" b="1" u="sng" dirty="0"/>
          </a:p>
        </p:txBody>
      </p:sp>
      <p:grpSp>
        <p:nvGrpSpPr>
          <p:cNvPr id="21" name="Group 20">
            <a:extLst>
              <a:ext uri="{FF2B5EF4-FFF2-40B4-BE49-F238E27FC236}">
                <a16:creationId xmlns:a16="http://schemas.microsoft.com/office/drawing/2014/main" id="{9352FD8C-75E2-63C4-325C-B4DC30C8A013}"/>
              </a:ext>
            </a:extLst>
          </p:cNvPr>
          <p:cNvGrpSpPr/>
          <p:nvPr/>
        </p:nvGrpSpPr>
        <p:grpSpPr>
          <a:xfrm>
            <a:off x="-37003" y="5133734"/>
            <a:ext cx="6102220" cy="894124"/>
            <a:chOff x="8181939" y="4126845"/>
            <a:chExt cx="6102220" cy="894124"/>
          </a:xfrm>
        </p:grpSpPr>
        <p:grpSp>
          <p:nvGrpSpPr>
            <p:cNvPr id="10" name="Group 9">
              <a:extLst>
                <a:ext uri="{FF2B5EF4-FFF2-40B4-BE49-F238E27FC236}">
                  <a16:creationId xmlns:a16="http://schemas.microsoft.com/office/drawing/2014/main" id="{B0825F5E-AC5F-8E79-B737-B73FB82B6254}"/>
                </a:ext>
              </a:extLst>
            </p:cNvPr>
            <p:cNvGrpSpPr/>
            <p:nvPr/>
          </p:nvGrpSpPr>
          <p:grpSpPr>
            <a:xfrm>
              <a:off x="8278285" y="4461439"/>
              <a:ext cx="3609685" cy="559530"/>
              <a:chOff x="7025530" y="5530820"/>
              <a:chExt cx="3609685" cy="559530"/>
            </a:xfrm>
          </p:grpSpPr>
          <p:sp>
            <p:nvSpPr>
              <p:cNvPr id="15" name="object 14"/>
              <p:cNvSpPr txBox="1"/>
              <p:nvPr/>
            </p:nvSpPr>
            <p:spPr>
              <a:xfrm>
                <a:off x="7025530" y="5590511"/>
                <a:ext cx="1353046" cy="343684"/>
              </a:xfrm>
              <a:prstGeom prst="rect">
                <a:avLst/>
              </a:prstGeom>
            </p:spPr>
            <p:txBody>
              <a:bodyPr vert="horz" wrap="square" lIns="0" tIns="13970" rIns="0" bIns="0" rtlCol="0">
                <a:spAutoFit/>
              </a:bodyPr>
              <a:lstStyle/>
              <a:p>
                <a:pPr marL="38100">
                  <a:lnSpc>
                    <a:spcPct val="100000"/>
                  </a:lnSpc>
                  <a:spcBef>
                    <a:spcPts val="110"/>
                  </a:spcBef>
                </a:pPr>
                <a:r>
                  <a:rPr sz="2150" b="1" i="1" dirty="0">
                    <a:latin typeface="Times New Roman"/>
                    <a:cs typeface="Times New Roman"/>
                  </a:rPr>
                  <a:t>Z</a:t>
                </a:r>
                <a:r>
                  <a:rPr sz="2150" b="1" i="1" spc="165" dirty="0">
                    <a:latin typeface="Times New Roman"/>
                    <a:cs typeface="Times New Roman"/>
                  </a:rPr>
                  <a:t> </a:t>
                </a:r>
                <a:r>
                  <a:rPr sz="2150" b="1" dirty="0">
                    <a:latin typeface="Symbol"/>
                    <a:cs typeface="Symbol"/>
                  </a:rPr>
                  <a:t></a:t>
                </a:r>
                <a:r>
                  <a:rPr sz="2150" b="1" spc="254" dirty="0">
                    <a:latin typeface="Times New Roman"/>
                    <a:cs typeface="Times New Roman"/>
                  </a:rPr>
                  <a:t> </a:t>
                </a:r>
                <a:r>
                  <a:rPr sz="3225" b="1" u="sng" baseline="34883" dirty="0">
                    <a:uFill>
                      <a:solidFill>
                        <a:srgbClr val="000000"/>
                      </a:solidFill>
                    </a:uFill>
                    <a:latin typeface="Symbol"/>
                    <a:cs typeface="Symbol"/>
                  </a:rPr>
                  <a:t></a:t>
                </a:r>
                <a:r>
                  <a:rPr sz="3225" b="1" u="sng" spc="322" baseline="34883" dirty="0">
                    <a:uFill>
                      <a:solidFill>
                        <a:srgbClr val="000000"/>
                      </a:solidFill>
                    </a:uFill>
                    <a:latin typeface="Times New Roman"/>
                    <a:cs typeface="Times New Roman"/>
                  </a:rPr>
                  <a:t> </a:t>
                </a:r>
                <a:r>
                  <a:rPr sz="3225" b="1" i="1" u="sng" baseline="34883" dirty="0">
                    <a:uFill>
                      <a:solidFill>
                        <a:srgbClr val="000000"/>
                      </a:solidFill>
                    </a:uFill>
                    <a:latin typeface="Times New Roman"/>
                    <a:cs typeface="Times New Roman"/>
                  </a:rPr>
                  <a:t>j</a:t>
                </a:r>
                <a:r>
                  <a:rPr sz="3225" b="1" i="1" spc="494" baseline="34883" dirty="0">
                    <a:latin typeface="Times New Roman"/>
                    <a:cs typeface="Times New Roman"/>
                  </a:rPr>
                  <a:t> </a:t>
                </a:r>
                <a:r>
                  <a:rPr sz="2150" b="1" dirty="0">
                    <a:latin typeface="Symbol"/>
                    <a:cs typeface="Symbol"/>
                  </a:rPr>
                  <a:t></a:t>
                </a:r>
                <a:r>
                  <a:rPr sz="2150" b="1" spc="-85" dirty="0">
                    <a:latin typeface="Times New Roman"/>
                    <a:cs typeface="Times New Roman"/>
                  </a:rPr>
                  <a:t> </a:t>
                </a:r>
                <a:r>
                  <a:rPr sz="2150" b="1" dirty="0">
                    <a:latin typeface="Times New Roman"/>
                    <a:cs typeface="Times New Roman"/>
                  </a:rPr>
                  <a:t>0</a:t>
                </a:r>
              </a:p>
            </p:txBody>
          </p:sp>
          <p:sp>
            <p:nvSpPr>
              <p:cNvPr id="16" name="object 15"/>
              <p:cNvSpPr txBox="1"/>
              <p:nvPr/>
            </p:nvSpPr>
            <p:spPr>
              <a:xfrm>
                <a:off x="7544990" y="5717605"/>
                <a:ext cx="416559" cy="372745"/>
              </a:xfrm>
              <a:prstGeom prst="rect">
                <a:avLst/>
              </a:prstGeom>
            </p:spPr>
            <p:txBody>
              <a:bodyPr vert="horz" wrap="square" lIns="0" tIns="16510" rIns="0" bIns="0" rtlCol="0">
                <a:spAutoFit/>
              </a:bodyPr>
              <a:lstStyle/>
              <a:p>
                <a:pPr marL="12700">
                  <a:lnSpc>
                    <a:spcPct val="100000"/>
                  </a:lnSpc>
                  <a:spcBef>
                    <a:spcPts val="130"/>
                  </a:spcBef>
                </a:pPr>
                <a:r>
                  <a:rPr sz="2250" b="1" spc="-395" dirty="0">
                    <a:latin typeface="Symbol"/>
                    <a:cs typeface="Symbol"/>
                  </a:rPr>
                  <a:t></a:t>
                </a:r>
                <a:r>
                  <a:rPr sz="2150" b="1" i="1" spc="-395" dirty="0">
                    <a:latin typeface="Times New Roman"/>
                    <a:cs typeface="Times New Roman"/>
                  </a:rPr>
                  <a:t>C</a:t>
                </a:r>
                <a:endParaRPr sz="2150" b="1" dirty="0">
                  <a:latin typeface="Times New Roman"/>
                  <a:cs typeface="Times New Roman"/>
                </a:endParaRPr>
              </a:p>
            </p:txBody>
          </p:sp>
          <p:sp>
            <p:nvSpPr>
              <p:cNvPr id="3" name="Rectangle 2"/>
              <p:cNvSpPr/>
              <p:nvPr/>
            </p:nvSpPr>
            <p:spPr>
              <a:xfrm>
                <a:off x="8305667" y="5530820"/>
                <a:ext cx="2329548" cy="430887"/>
              </a:xfrm>
              <a:prstGeom prst="rect">
                <a:avLst/>
              </a:prstGeom>
            </p:spPr>
            <p:txBody>
              <a:bodyPr wrap="none">
                <a:spAutoFit/>
              </a:bodyPr>
              <a:lstStyle/>
              <a:p>
                <a:r>
                  <a:rPr lang="en-IN" sz="2200" b="1" spc="-5" dirty="0">
                    <a:latin typeface="Times New Roman"/>
                    <a:cs typeface="Times New Roman"/>
                  </a:rPr>
                  <a:t>at “∞” frequency;</a:t>
                </a:r>
                <a:endParaRPr lang="en-IN" sz="2200" dirty="0"/>
              </a:p>
            </p:txBody>
          </p:sp>
        </p:grpSp>
        <p:sp>
          <p:nvSpPr>
            <p:cNvPr id="11" name="TextBox 10">
              <a:extLst>
                <a:ext uri="{FF2B5EF4-FFF2-40B4-BE49-F238E27FC236}">
                  <a16:creationId xmlns:a16="http://schemas.microsoft.com/office/drawing/2014/main" id="{B8E50785-2639-0F31-ECD1-481450475632}"/>
                </a:ext>
              </a:extLst>
            </p:cNvPr>
            <p:cNvSpPr txBox="1"/>
            <p:nvPr/>
          </p:nvSpPr>
          <p:spPr>
            <a:xfrm>
              <a:off x="8181939" y="4126845"/>
              <a:ext cx="6102220" cy="369332"/>
            </a:xfrm>
            <a:prstGeom prst="rect">
              <a:avLst/>
            </a:prstGeom>
            <a:noFill/>
          </p:spPr>
          <p:txBody>
            <a:bodyPr wrap="square">
              <a:spAutoFit/>
            </a:bodyPr>
            <a:lstStyle/>
            <a:p>
              <a:r>
                <a:rPr lang="en-US" b="1" u="sng" dirty="0"/>
                <a:t>Capaci</a:t>
              </a:r>
              <a:r>
                <a:rPr lang="en-US" sz="1800" b="1" u="sng" dirty="0"/>
                <a:t>tor</a:t>
              </a:r>
              <a:endParaRPr lang="en-IN" b="1" u="sng" dirty="0"/>
            </a:p>
          </p:txBody>
        </p:sp>
      </p:grpSp>
      <p:graphicFrame>
        <p:nvGraphicFramePr>
          <p:cNvPr id="6" name="Table 5">
            <a:extLst>
              <a:ext uri="{FF2B5EF4-FFF2-40B4-BE49-F238E27FC236}">
                <a16:creationId xmlns:a16="http://schemas.microsoft.com/office/drawing/2014/main" id="{AFC2EB0B-4CD2-77FB-CD1D-7E3B359FF747}"/>
              </a:ext>
            </a:extLst>
          </p:cNvPr>
          <p:cNvGraphicFramePr>
            <a:graphicFrameLocks noGrp="1"/>
          </p:cNvGraphicFramePr>
          <p:nvPr>
            <p:extLst>
              <p:ext uri="{D42A27DB-BD31-4B8C-83A1-F6EECF244321}">
                <p14:modId xmlns:p14="http://schemas.microsoft.com/office/powerpoint/2010/main" val="839785211"/>
              </p:ext>
            </p:extLst>
          </p:nvPr>
        </p:nvGraphicFramePr>
        <p:xfrm>
          <a:off x="4616580" y="2512873"/>
          <a:ext cx="4583404" cy="370840"/>
        </p:xfrm>
        <a:graphic>
          <a:graphicData uri="http://schemas.openxmlformats.org/drawingml/2006/table">
            <a:tbl>
              <a:tblPr firstRow="1" bandRow="1">
                <a:tableStyleId>{F5AB1C69-6EDB-4FF4-983F-18BD219EF322}</a:tableStyleId>
              </a:tblPr>
              <a:tblGrid>
                <a:gridCol w="2213428">
                  <a:extLst>
                    <a:ext uri="{9D8B030D-6E8A-4147-A177-3AD203B41FA5}">
                      <a16:colId xmlns:a16="http://schemas.microsoft.com/office/drawing/2014/main" val="2750093262"/>
                    </a:ext>
                  </a:extLst>
                </a:gridCol>
                <a:gridCol w="2369976">
                  <a:extLst>
                    <a:ext uri="{9D8B030D-6E8A-4147-A177-3AD203B41FA5}">
                      <a16:colId xmlns:a16="http://schemas.microsoft.com/office/drawing/2014/main" val="1411356534"/>
                    </a:ext>
                  </a:extLst>
                </a:gridCol>
              </a:tblGrid>
              <a:tr h="370840">
                <a:tc>
                  <a:txBody>
                    <a:bodyPr/>
                    <a:lstStyle/>
                    <a:p>
                      <a:pPr algn="ctr"/>
                      <a:r>
                        <a:rPr lang="en-US" dirty="0"/>
                        <a:t>AC</a:t>
                      </a:r>
                      <a:endParaRPr lang="en-IN" dirty="0"/>
                    </a:p>
                  </a:txBody>
                  <a:tcPr/>
                </a:tc>
                <a:tc>
                  <a:txBody>
                    <a:bodyPr/>
                    <a:lstStyle/>
                    <a:p>
                      <a:pPr algn="ctr"/>
                      <a:r>
                        <a:rPr lang="en-US" dirty="0"/>
                        <a:t>DC</a:t>
                      </a:r>
                      <a:endParaRPr lang="en-IN" dirty="0"/>
                    </a:p>
                  </a:txBody>
                  <a:tcPr/>
                </a:tc>
                <a:extLst>
                  <a:ext uri="{0D108BD9-81ED-4DB2-BD59-A6C34878D82A}">
                    <a16:rowId xmlns:a16="http://schemas.microsoft.com/office/drawing/2014/main" val="2511964785"/>
                  </a:ext>
                </a:extLst>
              </a:tr>
            </a:tbl>
          </a:graphicData>
        </a:graphic>
      </p:graphicFrame>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0D1B0D-34C4-16A8-9721-CEC9503B5398}"/>
              </a:ext>
            </a:extLst>
          </p:cNvPr>
          <p:cNvSpPr>
            <a:spLocks noGrp="1"/>
          </p:cNvSpPr>
          <p:nvPr>
            <p:ph type="sldNum" sz="quarter" idx="12"/>
          </p:nvPr>
        </p:nvSpPr>
        <p:spPr/>
        <p:txBody>
          <a:bodyPr/>
          <a:lstStyle/>
          <a:p>
            <a:fld id="{CBABCCC1-BF11-4F37-963E-1BCD5B23FD72}" type="slidenum">
              <a:rPr lang="en-IN" smtClean="0"/>
              <a:t>12</a:t>
            </a:fld>
            <a:endParaRPr lang="en-I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A16F4FF-825A-9D76-2523-3FA5467936FE}"/>
                  </a:ext>
                </a:extLst>
              </p:cNvPr>
              <p:cNvSpPr txBox="1"/>
              <p:nvPr/>
            </p:nvSpPr>
            <p:spPr>
              <a:xfrm>
                <a:off x="36456" y="782800"/>
                <a:ext cx="9477375" cy="5740674"/>
              </a:xfrm>
              <a:prstGeom prst="rect">
                <a:avLst/>
              </a:prstGeom>
              <a:noFill/>
            </p:spPr>
            <p:txBody>
              <a:bodyPr wrap="square">
                <a:spAutoFit/>
              </a:bodyPr>
              <a:lstStyle/>
              <a:p>
                <a:r>
                  <a:rPr lang="en-IN" sz="2200" dirty="0"/>
                  <a:t>Consider the function </a:t>
                </a:r>
                <a:r>
                  <a:rPr lang="en-IN" sz="2200" dirty="0" err="1"/>
                  <a:t>i</a:t>
                </a:r>
                <a:r>
                  <a:rPr lang="en-IN" sz="2200" dirty="0"/>
                  <a:t>(t)=</a:t>
                </a:r>
                <a14:m>
                  <m:oMath xmlns:m="http://schemas.openxmlformats.org/officeDocument/2006/math">
                    <m:sSub>
                      <m:sSubPr>
                        <m:ctrlPr>
                          <a:rPr lang="en-IN" sz="2200" i="1" smtClean="0">
                            <a:latin typeface="Cambria Math" panose="02040503050406030204" pitchFamily="18" charset="0"/>
                          </a:rPr>
                        </m:ctrlPr>
                      </m:sSubPr>
                      <m:e>
                        <m:r>
                          <m:rPr>
                            <m:sty m:val="p"/>
                          </m:rPr>
                          <a:rPr lang="en-US" sz="2200" b="0" i="0" smtClean="0">
                            <a:latin typeface="Cambria Math" panose="02040503050406030204" pitchFamily="18" charset="0"/>
                          </a:rPr>
                          <m:t>I</m:t>
                        </m:r>
                      </m:e>
                      <m:sub>
                        <m:r>
                          <m:rPr>
                            <m:sty m:val="p"/>
                          </m:rPr>
                          <a:rPr lang="en-US" sz="2200" b="0" i="0" smtClean="0">
                            <a:latin typeface="Cambria Math" panose="02040503050406030204" pitchFamily="18" charset="0"/>
                          </a:rPr>
                          <m:t>m</m:t>
                        </m:r>
                      </m:sub>
                    </m:sSub>
                  </m:oMath>
                </a14:m>
                <a:r>
                  <a:rPr lang="en-IN" sz="2200" dirty="0"/>
                  <a:t>sin</a:t>
                </a:r>
                <a14:m>
                  <m:oMath xmlns:m="http://schemas.openxmlformats.org/officeDocument/2006/math">
                    <m:r>
                      <m:rPr>
                        <m:sty m:val="p"/>
                      </m:rPr>
                      <a:rPr lang="en-IN" sz="2200" i="0" dirty="0" smtClean="0">
                        <a:latin typeface="Cambria Math" panose="02040503050406030204" pitchFamily="18" charset="0"/>
                        <a:ea typeface="Cambria Math" panose="02040503050406030204" pitchFamily="18" charset="0"/>
                      </a:rPr>
                      <m:t>ω</m:t>
                    </m:r>
                    <m:r>
                      <m:rPr>
                        <m:sty m:val="p"/>
                      </m:rPr>
                      <a:rPr lang="en-US" sz="2200" b="0" i="0" dirty="0" smtClean="0">
                        <a:latin typeface="Cambria Math" panose="02040503050406030204" pitchFamily="18" charset="0"/>
                        <a:ea typeface="Cambria Math" panose="02040503050406030204" pitchFamily="18" charset="0"/>
                      </a:rPr>
                      <m:t>t</m:t>
                    </m:r>
                    <m:r>
                      <a:rPr lang="en-US" sz="2000" dirty="0">
                        <a:latin typeface="Cambria Math" panose="02040503050406030204" pitchFamily="18" charset="0"/>
                        <a:ea typeface="Cambria Math" panose="02040503050406030204" pitchFamily="18" charset="0"/>
                      </a:rPr>
                      <m:t>=</m:t>
                    </m:r>
                    <m:r>
                      <m:rPr>
                        <m:nor/>
                      </m:rPr>
                      <a:rPr lang="en-IN" sz="2000" dirty="0"/>
                      <m:t> </m:t>
                    </m:r>
                    <m:sSub>
                      <m:sSubPr>
                        <m:ctrlPr>
                          <a:rPr lang="en-IN" sz="2000" i="1">
                            <a:latin typeface="Cambria Math" panose="02040503050406030204" pitchFamily="18" charset="0"/>
                          </a:rPr>
                        </m:ctrlPr>
                      </m:sSubPr>
                      <m:e>
                        <m:r>
                          <m:rPr>
                            <m:sty m:val="p"/>
                          </m:rPr>
                          <a:rPr lang="en-US" sz="2000">
                            <a:latin typeface="Cambria Math" panose="02040503050406030204" pitchFamily="18" charset="0"/>
                          </a:rPr>
                          <m:t>I</m:t>
                        </m:r>
                      </m:e>
                      <m:sub>
                        <m:r>
                          <m:rPr>
                            <m:sty m:val="p"/>
                          </m:rPr>
                          <a:rPr lang="en-US" sz="2000">
                            <a:latin typeface="Cambria Math" panose="02040503050406030204" pitchFamily="18" charset="0"/>
                          </a:rPr>
                          <m:t>m</m:t>
                        </m:r>
                      </m:sub>
                    </m:sSub>
                    <m:r>
                      <m:rPr>
                        <m:nor/>
                      </m:rPr>
                      <a:rPr lang="en-US" sz="2000" dirty="0">
                        <a:ea typeface="Cambria Math" panose="02040503050406030204" pitchFamily="18" charset="0"/>
                      </a:rPr>
                      <m:t> </m:t>
                    </m:r>
                    <m:r>
                      <a:rPr lang="en-US" sz="2000">
                        <a:latin typeface="Cambria Math" panose="02040503050406030204" pitchFamily="18" charset="0"/>
                        <a:ea typeface="Cambria Math" panose="02040503050406030204" pitchFamily="18" charset="0"/>
                      </a:rPr>
                      <m:t>∠</m:t>
                    </m:r>
                    <m:r>
                      <m:rPr>
                        <m:nor/>
                      </m:rPr>
                      <a:rPr lang="en-US" sz="2000" dirty="0">
                        <a:ea typeface="Cambria Math" panose="02040503050406030204" pitchFamily="18" charset="0"/>
                      </a:rPr>
                      <m:t> </m:t>
                    </m:r>
                    <m:r>
                      <a:rPr lang="en-US" sz="2000" dirty="0">
                        <a:latin typeface="Cambria Math" panose="02040503050406030204" pitchFamily="18" charset="0"/>
                        <a:ea typeface="Cambria Math" panose="02040503050406030204" pitchFamily="18" charset="0"/>
                      </a:rPr>
                      <m:t>0°</m:t>
                    </m:r>
                    <m:r>
                      <a:rPr lang="en-US" sz="2000" b="0" i="0" dirty="0" smtClean="0">
                        <a:latin typeface="Cambria Math" panose="02040503050406030204" pitchFamily="18" charset="0"/>
                        <a:ea typeface="Cambria Math" panose="02040503050406030204" pitchFamily="18" charset="0"/>
                      </a:rPr>
                      <m:t>=</m:t>
                    </m:r>
                  </m:oMath>
                </a14:m>
                <a:r>
                  <a:rPr lang="en-IN" sz="2200" dirty="0"/>
                  <a:t> </a:t>
                </a:r>
                <a14:m>
                  <m:oMath xmlns:m="http://schemas.openxmlformats.org/officeDocument/2006/math">
                    <m:sSub>
                      <m:sSubPr>
                        <m:ctrlPr>
                          <a:rPr lang="en-IN" sz="2200" i="1">
                            <a:latin typeface="Cambria Math" panose="02040503050406030204" pitchFamily="18" charset="0"/>
                          </a:rPr>
                        </m:ctrlPr>
                      </m:sSubPr>
                      <m:e>
                        <m:r>
                          <m:rPr>
                            <m:sty m:val="p"/>
                          </m:rPr>
                          <a:rPr lang="en-US" sz="2200">
                            <a:latin typeface="Cambria Math" panose="02040503050406030204" pitchFamily="18" charset="0"/>
                          </a:rPr>
                          <m:t>I</m:t>
                        </m:r>
                      </m:e>
                      <m:sub>
                        <m:r>
                          <m:rPr>
                            <m:sty m:val="p"/>
                          </m:rPr>
                          <a:rPr lang="en-US" sz="2200">
                            <a:latin typeface="Cambria Math" panose="02040503050406030204" pitchFamily="18" charset="0"/>
                          </a:rPr>
                          <m:t>m</m:t>
                        </m:r>
                      </m:sub>
                    </m:sSub>
                  </m:oMath>
                </a14:m>
                <a:endParaRPr lang="en-US" sz="2200" b="0" dirty="0">
                  <a:ea typeface="Cambria Math" panose="02040503050406030204" pitchFamily="18" charset="0"/>
                </a:endParaRPr>
              </a:p>
              <a:p>
                <a:pPr marL="342900" indent="-342900">
                  <a:lnSpc>
                    <a:spcPct val="100000"/>
                  </a:lnSpc>
                  <a:buFont typeface="Arial" panose="020B0604020202020204" pitchFamily="34" charset="0"/>
                  <a:buChar char="•"/>
                </a:pPr>
                <a:r>
                  <a:rPr lang="en-US" sz="2200" dirty="0"/>
                  <a:t>The voltage current relation in the case of a </a:t>
                </a:r>
                <a:r>
                  <a:rPr lang="en-US" sz="2200" b="1" dirty="0"/>
                  <a:t>resistor</a:t>
                </a:r>
                <a:r>
                  <a:rPr lang="en-US" sz="2200" dirty="0"/>
                  <a:t> is given by</a:t>
                </a:r>
              </a:p>
              <a:p>
                <a:pPr algn="ctr"/>
                <a14:m>
                  <m:oMath xmlns:m="http://schemas.openxmlformats.org/officeDocument/2006/math">
                    <m:sSub>
                      <m:sSubPr>
                        <m:ctrlPr>
                          <a:rPr lang="en-IN" sz="2200" i="1" smtClean="0">
                            <a:latin typeface="Cambria Math" panose="02040503050406030204" pitchFamily="18" charset="0"/>
                          </a:rPr>
                        </m:ctrlPr>
                      </m:sSubPr>
                      <m:e>
                        <m:r>
                          <m:rPr>
                            <m:sty m:val="p"/>
                          </m:rPr>
                          <a:rPr lang="en-US" sz="2200" b="0" i="0" smtClean="0">
                            <a:latin typeface="Cambria Math" panose="02040503050406030204" pitchFamily="18" charset="0"/>
                          </a:rPr>
                          <m:t>V</m:t>
                        </m:r>
                      </m:e>
                      <m:sub>
                        <m:r>
                          <m:rPr>
                            <m:sty m:val="p"/>
                          </m:rPr>
                          <a:rPr lang="en-US" sz="2200" b="0" i="0" smtClean="0">
                            <a:latin typeface="Cambria Math" panose="02040503050406030204" pitchFamily="18" charset="0"/>
                          </a:rPr>
                          <m:t>R</m:t>
                        </m:r>
                      </m:sub>
                    </m:sSub>
                    <m:r>
                      <a:rPr lang="en-US" sz="2200" b="0" i="0" smtClean="0">
                        <a:latin typeface="Cambria Math" panose="02040503050406030204" pitchFamily="18" charset="0"/>
                      </a:rPr>
                      <m:t>=</m:t>
                    </m:r>
                    <m:r>
                      <m:rPr>
                        <m:sty m:val="p"/>
                      </m:rPr>
                      <a:rPr lang="en-US" sz="2200" b="0" i="0" smtClean="0">
                        <a:latin typeface="Cambria Math" panose="02040503050406030204" pitchFamily="18" charset="0"/>
                      </a:rPr>
                      <m:t>i</m:t>
                    </m:r>
                    <m:d>
                      <m:dPr>
                        <m:ctrlPr>
                          <a:rPr lang="en-US" sz="2200" b="0" i="1" smtClean="0">
                            <a:latin typeface="Cambria Math" panose="02040503050406030204" pitchFamily="18" charset="0"/>
                          </a:rPr>
                        </m:ctrlPr>
                      </m:dPr>
                      <m:e>
                        <m:r>
                          <m:rPr>
                            <m:sty m:val="p"/>
                          </m:rPr>
                          <a:rPr lang="en-US" sz="2200" b="0" i="0" smtClean="0">
                            <a:latin typeface="Cambria Math" panose="02040503050406030204" pitchFamily="18" charset="0"/>
                          </a:rPr>
                          <m:t>t</m:t>
                        </m:r>
                      </m:e>
                    </m:d>
                    <m:r>
                      <m:rPr>
                        <m:sty m:val="p"/>
                      </m:rPr>
                      <a:rPr lang="en-US" sz="2200" b="0" i="0" smtClean="0">
                        <a:latin typeface="Cambria Math" panose="02040503050406030204" pitchFamily="18" charset="0"/>
                      </a:rPr>
                      <m:t>R</m:t>
                    </m:r>
                    <m:r>
                      <a:rPr lang="en-US" sz="2200" b="0" i="0" smtClean="0">
                        <a:latin typeface="Cambria Math" panose="02040503050406030204" pitchFamily="18" charset="0"/>
                      </a:rPr>
                      <m:t>=</m:t>
                    </m:r>
                    <m:sSub>
                      <m:sSubPr>
                        <m:ctrlPr>
                          <a:rPr lang="en-IN" sz="2200" i="1" smtClean="0">
                            <a:latin typeface="Cambria Math" panose="02040503050406030204" pitchFamily="18" charset="0"/>
                          </a:rPr>
                        </m:ctrlPr>
                      </m:sSubPr>
                      <m:e>
                        <m:r>
                          <m:rPr>
                            <m:sty m:val="p"/>
                          </m:rPr>
                          <a:rPr lang="en-US" sz="2200" b="0" i="0" smtClean="0">
                            <a:latin typeface="Cambria Math" panose="02040503050406030204" pitchFamily="18" charset="0"/>
                          </a:rPr>
                          <m:t>I</m:t>
                        </m:r>
                      </m:e>
                      <m:sub>
                        <m:r>
                          <m:rPr>
                            <m:sty m:val="p"/>
                          </m:rPr>
                          <a:rPr lang="en-US" sz="2200" b="0" i="0" smtClean="0">
                            <a:latin typeface="Cambria Math" panose="02040503050406030204" pitchFamily="18" charset="0"/>
                          </a:rPr>
                          <m:t>m</m:t>
                        </m:r>
                      </m:sub>
                    </m:sSub>
                  </m:oMath>
                </a14:m>
                <a:r>
                  <a:rPr lang="en-IN" sz="2200" dirty="0"/>
                  <a:t>Rsin</a:t>
                </a:r>
                <a14:m>
                  <m:oMath xmlns:m="http://schemas.openxmlformats.org/officeDocument/2006/math">
                    <m:r>
                      <m:rPr>
                        <m:sty m:val="p"/>
                      </m:rPr>
                      <a:rPr lang="en-IN" sz="2200" i="0" dirty="0" smtClean="0">
                        <a:latin typeface="Cambria Math" panose="02040503050406030204" pitchFamily="18" charset="0"/>
                        <a:ea typeface="Cambria Math" panose="02040503050406030204" pitchFamily="18" charset="0"/>
                      </a:rPr>
                      <m:t>ω</m:t>
                    </m:r>
                    <m:r>
                      <m:rPr>
                        <m:sty m:val="p"/>
                      </m:rPr>
                      <a:rPr lang="en-US" sz="2200" b="0" i="0" dirty="0" smtClean="0">
                        <a:latin typeface="Cambria Math" panose="02040503050406030204" pitchFamily="18" charset="0"/>
                        <a:ea typeface="Cambria Math" panose="02040503050406030204" pitchFamily="18" charset="0"/>
                      </a:rPr>
                      <m:t>t</m:t>
                    </m:r>
                    <m:r>
                      <a:rPr lang="en-US" sz="2200" b="0" i="0" dirty="0" smtClean="0">
                        <a:latin typeface="Cambria Math" panose="02040503050406030204" pitchFamily="18" charset="0"/>
                        <a:ea typeface="Cambria Math" panose="02040503050406030204" pitchFamily="18" charset="0"/>
                      </a:rPr>
                      <m:t>=</m:t>
                    </m:r>
                    <m:sSub>
                      <m:sSubPr>
                        <m:ctrlPr>
                          <a:rPr lang="en-IN" sz="2200" i="1">
                            <a:latin typeface="Cambria Math" panose="02040503050406030204" pitchFamily="18" charset="0"/>
                          </a:rPr>
                        </m:ctrlPr>
                      </m:sSubPr>
                      <m:e>
                        <m:r>
                          <m:rPr>
                            <m:sty m:val="p"/>
                          </m:rPr>
                          <a:rPr lang="en-US" sz="2200" b="0" i="0" smtClean="0">
                            <a:latin typeface="Cambria Math" panose="02040503050406030204" pitchFamily="18" charset="0"/>
                          </a:rPr>
                          <m:t>I</m:t>
                        </m:r>
                      </m:e>
                      <m:sub>
                        <m:r>
                          <m:rPr>
                            <m:sty m:val="p"/>
                          </m:rPr>
                          <a:rPr lang="en-US" sz="2200">
                            <a:latin typeface="Cambria Math" panose="02040503050406030204" pitchFamily="18" charset="0"/>
                          </a:rPr>
                          <m:t>m</m:t>
                        </m:r>
                      </m:sub>
                    </m:sSub>
                    <m:r>
                      <m:rPr>
                        <m:nor/>
                      </m:rPr>
                      <a:rPr lang="en-US" sz="2200" b="0" i="0" smtClean="0">
                        <a:latin typeface="Cambria Math" panose="02040503050406030204" pitchFamily="18" charset="0"/>
                      </a:rPr>
                      <m:t>R</m:t>
                    </m:r>
                    <m:r>
                      <m:rPr>
                        <m:nor/>
                      </m:rPr>
                      <a:rPr lang="en-US" sz="2200" dirty="0">
                        <a:ea typeface="Cambria Math" panose="02040503050406030204" pitchFamily="18" charset="0"/>
                      </a:rPr>
                      <m:t> </m:t>
                    </m:r>
                    <m:r>
                      <a:rPr lang="en-US" sz="2200">
                        <a:latin typeface="Cambria Math" panose="02040503050406030204" pitchFamily="18" charset="0"/>
                        <a:ea typeface="Cambria Math" panose="02040503050406030204" pitchFamily="18" charset="0"/>
                      </a:rPr>
                      <m:t>∠</m:t>
                    </m:r>
                    <m:r>
                      <m:rPr>
                        <m:nor/>
                      </m:rPr>
                      <a:rPr lang="en-US" sz="2200" dirty="0">
                        <a:ea typeface="Cambria Math" panose="02040503050406030204" pitchFamily="18" charset="0"/>
                      </a:rPr>
                      <m:t> </m:t>
                    </m:r>
                    <m:r>
                      <a:rPr lang="en-US" sz="2200" dirty="0">
                        <a:latin typeface="Cambria Math" panose="02040503050406030204" pitchFamily="18" charset="0"/>
                        <a:ea typeface="Cambria Math" panose="02040503050406030204" pitchFamily="18" charset="0"/>
                      </a:rPr>
                      <m:t>0°</m:t>
                    </m:r>
                    <m:r>
                      <a:rPr lang="en-US" sz="2200" b="0" i="0" dirty="0" smtClean="0">
                        <a:latin typeface="Cambria Math" panose="02040503050406030204" pitchFamily="18" charset="0"/>
                        <a:ea typeface="Cambria Math" panose="02040503050406030204" pitchFamily="18" charset="0"/>
                      </a:rPr>
                      <m:t>=</m:t>
                    </m:r>
                    <m:sSub>
                      <m:sSubPr>
                        <m:ctrlPr>
                          <a:rPr lang="en-IN" sz="2200" i="1">
                            <a:latin typeface="Cambria Math" panose="02040503050406030204" pitchFamily="18" charset="0"/>
                          </a:rPr>
                        </m:ctrlPr>
                      </m:sSubPr>
                      <m:e>
                        <m:r>
                          <m:rPr>
                            <m:sty m:val="p"/>
                          </m:rPr>
                          <a:rPr lang="en-US" sz="2200">
                            <a:latin typeface="Cambria Math" panose="02040503050406030204" pitchFamily="18" charset="0"/>
                          </a:rPr>
                          <m:t>I</m:t>
                        </m:r>
                      </m:e>
                      <m:sub>
                        <m:r>
                          <m:rPr>
                            <m:sty m:val="p"/>
                          </m:rPr>
                          <a:rPr lang="en-US" sz="2200">
                            <a:latin typeface="Cambria Math" panose="02040503050406030204" pitchFamily="18" charset="0"/>
                          </a:rPr>
                          <m:t>m</m:t>
                        </m:r>
                      </m:sub>
                    </m:sSub>
                    <m:r>
                      <m:rPr>
                        <m:nor/>
                      </m:rPr>
                      <a:rPr lang="en-US" sz="2200">
                        <a:latin typeface="Cambria Math" panose="02040503050406030204" pitchFamily="18" charset="0"/>
                      </a:rPr>
                      <m:t>R</m:t>
                    </m:r>
                  </m:oMath>
                </a14:m>
                <a:endParaRPr lang="en-US" sz="2200" dirty="0"/>
              </a:p>
              <a:p>
                <a:pPr marL="342900" indent="-342900">
                  <a:lnSpc>
                    <a:spcPct val="100000"/>
                  </a:lnSpc>
                  <a:buFont typeface="Arial" panose="020B0604020202020204" pitchFamily="34" charset="0"/>
                  <a:buChar char="•"/>
                </a:pPr>
                <a:r>
                  <a:rPr lang="en-US" sz="2200" dirty="0"/>
                  <a:t>The voltage current relation in the case of an </a:t>
                </a:r>
                <a:r>
                  <a:rPr lang="en-US" sz="2200" b="1" dirty="0"/>
                  <a:t>inductor</a:t>
                </a:r>
                <a:r>
                  <a:rPr lang="en-US" sz="2200" dirty="0"/>
                  <a:t> is given by</a:t>
                </a:r>
              </a:p>
              <a:p>
                <a:pPr algn="ctr"/>
                <a14:m>
                  <m:oMath xmlns:m="http://schemas.openxmlformats.org/officeDocument/2006/math">
                    <m:sSub>
                      <m:sSubPr>
                        <m:ctrlPr>
                          <a:rPr lang="en-IN" sz="2400" i="1">
                            <a:latin typeface="Cambria Math" panose="02040503050406030204" pitchFamily="18" charset="0"/>
                          </a:rPr>
                        </m:ctrlPr>
                      </m:sSubPr>
                      <m:e>
                        <m:r>
                          <m:rPr>
                            <m:sty m:val="p"/>
                          </m:rPr>
                          <a:rPr lang="en-US" sz="2400">
                            <a:latin typeface="Cambria Math" panose="02040503050406030204" pitchFamily="18" charset="0"/>
                          </a:rPr>
                          <m:t>V</m:t>
                        </m:r>
                      </m:e>
                      <m:sub>
                        <m:r>
                          <m:rPr>
                            <m:sty m:val="p"/>
                          </m:rPr>
                          <a:rPr lang="en-US" sz="2400" b="0" i="0" smtClean="0">
                            <a:latin typeface="Cambria Math" panose="02040503050406030204" pitchFamily="18" charset="0"/>
                          </a:rPr>
                          <m:t>L</m:t>
                        </m:r>
                      </m:sub>
                    </m:sSub>
                    <m:r>
                      <a:rPr lang="en-US" sz="2400" i="1">
                        <a:latin typeface="Cambria Math" panose="02040503050406030204" pitchFamily="18" charset="0"/>
                      </a:rPr>
                      <m:t> </m:t>
                    </m:r>
                  </m:oMath>
                </a14:m>
                <a:r>
                  <a:rPr lang="en-IN" sz="2400" dirty="0"/>
                  <a:t>=</a:t>
                </a:r>
                <a14:m>
                  <m:oMath xmlns:m="http://schemas.openxmlformats.org/officeDocument/2006/math">
                    <m:r>
                      <m:rPr>
                        <m:sty m:val="p"/>
                      </m:rPr>
                      <a:rPr lang="en-US" sz="2400" b="0" i="0" smtClean="0">
                        <a:latin typeface="Cambria Math" panose="02040503050406030204" pitchFamily="18" charset="0"/>
                      </a:rPr>
                      <m:t>L</m:t>
                    </m:r>
                    <m:f>
                      <m:fPr>
                        <m:ctrlPr>
                          <a:rPr lang="en-IN" sz="2400" i="1" smtClean="0">
                            <a:latin typeface="Cambria Math" panose="02040503050406030204" pitchFamily="18" charset="0"/>
                          </a:rPr>
                        </m:ctrlPr>
                      </m:fPr>
                      <m:num>
                        <m:r>
                          <m:rPr>
                            <m:sty m:val="p"/>
                          </m:rPr>
                          <a:rPr lang="en-US" sz="2400" b="0" i="0" smtClean="0">
                            <a:latin typeface="Cambria Math" panose="02040503050406030204" pitchFamily="18" charset="0"/>
                          </a:rPr>
                          <m:t>di</m:t>
                        </m:r>
                        <m:r>
                          <a:rPr lang="en-US" sz="2400" b="0" i="0" smtClean="0">
                            <a:latin typeface="Cambria Math" panose="02040503050406030204" pitchFamily="18" charset="0"/>
                          </a:rPr>
                          <m:t>(</m:t>
                        </m:r>
                        <m:r>
                          <m:rPr>
                            <m:sty m:val="p"/>
                          </m:rPr>
                          <a:rPr lang="en-US" sz="2400" b="0" i="0" smtClean="0">
                            <a:latin typeface="Cambria Math" panose="02040503050406030204" pitchFamily="18" charset="0"/>
                          </a:rPr>
                          <m:t>t</m:t>
                        </m:r>
                        <m:r>
                          <a:rPr lang="en-US" sz="2400" b="0" i="0" smtClean="0">
                            <a:latin typeface="Cambria Math" panose="02040503050406030204" pitchFamily="18" charset="0"/>
                          </a:rPr>
                          <m:t>)</m:t>
                        </m:r>
                      </m:num>
                      <m:den>
                        <m:r>
                          <m:rPr>
                            <m:sty m:val="p"/>
                          </m:rPr>
                          <a:rPr lang="en-US" sz="2400" b="0" i="0" smtClean="0">
                            <a:latin typeface="Cambria Math" panose="02040503050406030204" pitchFamily="18" charset="0"/>
                          </a:rPr>
                          <m:t>dt</m:t>
                        </m:r>
                      </m:den>
                    </m:f>
                    <m:r>
                      <a:rPr lang="en-US" sz="2400" b="0" i="0" smtClean="0">
                        <a:latin typeface="Cambria Math" panose="02040503050406030204" pitchFamily="18" charset="0"/>
                      </a:rPr>
                      <m:t>=</m:t>
                    </m:r>
                    <m:r>
                      <m:rPr>
                        <m:sty m:val="p"/>
                      </m:rPr>
                      <a:rPr lang="en-US" sz="2000" b="0" i="0" smtClean="0">
                        <a:latin typeface="Cambria Math" panose="02040503050406030204" pitchFamily="18" charset="0"/>
                      </a:rPr>
                      <m:t>L</m:t>
                    </m:r>
                    <m:f>
                      <m:fPr>
                        <m:ctrlPr>
                          <a:rPr lang="en-IN" sz="2000" i="1" smtClean="0">
                            <a:latin typeface="Cambria Math" panose="02040503050406030204" pitchFamily="18" charset="0"/>
                          </a:rPr>
                        </m:ctrlPr>
                      </m:fPr>
                      <m:num>
                        <m:r>
                          <m:rPr>
                            <m:sty m:val="p"/>
                          </m:rPr>
                          <a:rPr lang="en-US" sz="2000" b="0" i="0" smtClean="0">
                            <a:latin typeface="Cambria Math" panose="02040503050406030204" pitchFamily="18" charset="0"/>
                          </a:rPr>
                          <m:t>d</m:t>
                        </m:r>
                      </m:num>
                      <m:den>
                        <m:r>
                          <m:rPr>
                            <m:sty m:val="p"/>
                          </m:rPr>
                          <a:rPr lang="en-US" sz="2000" b="0" i="0" smtClean="0">
                            <a:latin typeface="Cambria Math" panose="02040503050406030204" pitchFamily="18" charset="0"/>
                          </a:rPr>
                          <m:t>dt</m:t>
                        </m:r>
                      </m:den>
                    </m:f>
                    <m:d>
                      <m:dPr>
                        <m:ctrlPr>
                          <a:rPr lang="en-US" sz="2000" b="0" i="1" smtClean="0">
                            <a:latin typeface="Cambria Math" panose="02040503050406030204" pitchFamily="18" charset="0"/>
                          </a:rPr>
                        </m:ctrlPr>
                      </m:dPr>
                      <m:e>
                        <m:sSub>
                          <m:sSubPr>
                            <m:ctrlPr>
                              <a:rPr lang="en-IN" sz="2000" i="1">
                                <a:latin typeface="Cambria Math" panose="02040503050406030204" pitchFamily="18" charset="0"/>
                              </a:rPr>
                            </m:ctrlPr>
                          </m:sSubPr>
                          <m:e>
                            <m:r>
                              <m:rPr>
                                <m:sty m:val="p"/>
                              </m:rPr>
                              <a:rPr lang="en-US" sz="2000" i="0" smtClean="0">
                                <a:latin typeface="Cambria Math" panose="02040503050406030204" pitchFamily="18" charset="0"/>
                              </a:rPr>
                              <m:t>I</m:t>
                            </m:r>
                          </m:e>
                          <m:sub>
                            <m:r>
                              <m:rPr>
                                <m:sty m:val="p"/>
                              </m:rPr>
                              <a:rPr lang="en-US" sz="2000" i="0" smtClean="0">
                                <a:latin typeface="Cambria Math" panose="02040503050406030204" pitchFamily="18" charset="0"/>
                              </a:rPr>
                              <m:t>m</m:t>
                            </m:r>
                          </m:sub>
                        </m:sSub>
                        <m:r>
                          <m:rPr>
                            <m:nor/>
                          </m:rPr>
                          <a:rPr lang="en-IN" sz="2000" dirty="0"/>
                          <m:t>sin</m:t>
                        </m:r>
                        <m:r>
                          <m:rPr>
                            <m:sty m:val="p"/>
                          </m:rPr>
                          <a:rPr lang="en-IN" sz="2000" i="0" dirty="0" smtClean="0">
                            <a:latin typeface="Cambria Math" panose="02040503050406030204" pitchFamily="18" charset="0"/>
                            <a:ea typeface="Cambria Math" panose="02040503050406030204" pitchFamily="18" charset="0"/>
                          </a:rPr>
                          <m:t>ω</m:t>
                        </m:r>
                        <m:r>
                          <m:rPr>
                            <m:sty m:val="p"/>
                          </m:rPr>
                          <a:rPr lang="en-US" sz="2000" i="0" dirty="0" smtClean="0">
                            <a:latin typeface="Cambria Math" panose="02040503050406030204" pitchFamily="18" charset="0"/>
                            <a:ea typeface="Cambria Math" panose="02040503050406030204" pitchFamily="18" charset="0"/>
                          </a:rPr>
                          <m:t>t</m:t>
                        </m:r>
                      </m:e>
                    </m:d>
                  </m:oMath>
                </a14:m>
                <a:r>
                  <a:rPr lang="en-IN" sz="2000" dirty="0"/>
                  <a:t>=</a:t>
                </a:r>
                <a14:m>
                  <m:oMath xmlns:m="http://schemas.openxmlformats.org/officeDocument/2006/math">
                    <m:r>
                      <m:rPr>
                        <m:sty m:val="p"/>
                      </m:rPr>
                      <a:rPr lang="en-US" sz="2000" b="0" i="0" dirty="0" smtClean="0">
                        <a:latin typeface="Cambria Math" panose="02040503050406030204" pitchFamily="18" charset="0"/>
                        <a:ea typeface="Cambria Math" panose="02040503050406030204" pitchFamily="18" charset="0"/>
                      </a:rPr>
                      <m:t>L</m:t>
                    </m:r>
                    <m:r>
                      <m:rPr>
                        <m:sty m:val="p"/>
                      </m:rPr>
                      <a:rPr lang="en-IN" sz="2000" i="0" dirty="0" smtClean="0">
                        <a:latin typeface="Cambria Math" panose="02040503050406030204" pitchFamily="18" charset="0"/>
                        <a:ea typeface="Cambria Math" panose="02040503050406030204" pitchFamily="18" charset="0"/>
                      </a:rPr>
                      <m:t>ω</m:t>
                    </m:r>
                    <m:sSub>
                      <m:sSubPr>
                        <m:ctrlPr>
                          <a:rPr lang="en-IN" sz="2000" i="1">
                            <a:latin typeface="Cambria Math" panose="02040503050406030204" pitchFamily="18" charset="0"/>
                          </a:rPr>
                        </m:ctrlPr>
                      </m:sSubPr>
                      <m:e>
                        <m:r>
                          <m:rPr>
                            <m:sty m:val="p"/>
                          </m:rPr>
                          <a:rPr lang="en-US" sz="2000" i="0" smtClean="0">
                            <a:latin typeface="Cambria Math" panose="02040503050406030204" pitchFamily="18" charset="0"/>
                          </a:rPr>
                          <m:t>I</m:t>
                        </m:r>
                      </m:e>
                      <m:sub>
                        <m:r>
                          <m:rPr>
                            <m:sty m:val="p"/>
                          </m:rPr>
                          <a:rPr lang="en-US" sz="2000" i="0" smtClean="0">
                            <a:latin typeface="Cambria Math" panose="02040503050406030204" pitchFamily="18" charset="0"/>
                          </a:rPr>
                          <m:t>m</m:t>
                        </m:r>
                      </m:sub>
                    </m:sSub>
                    <m:r>
                      <m:rPr>
                        <m:nor/>
                      </m:rPr>
                      <a:rPr lang="en-US" sz="2000" b="0" dirty="0" smtClean="0">
                        <a:latin typeface="Cambria Math" panose="02040503050406030204" pitchFamily="18" charset="0"/>
                        <a:ea typeface="Cambria Math" panose="02040503050406030204" pitchFamily="18" charset="0"/>
                      </a:rPr>
                      <m:t>c</m:t>
                    </m:r>
                    <m:r>
                      <m:rPr>
                        <m:sty m:val="p"/>
                      </m:rPr>
                      <a:rPr lang="en-US" sz="2000" b="0" i="0" dirty="0" smtClean="0">
                        <a:latin typeface="Cambria Math" panose="02040503050406030204" pitchFamily="18" charset="0"/>
                        <a:ea typeface="Cambria Math" panose="02040503050406030204" pitchFamily="18" charset="0"/>
                      </a:rPr>
                      <m:t>os</m:t>
                    </m:r>
                    <m:r>
                      <m:rPr>
                        <m:sty m:val="p"/>
                      </m:rPr>
                      <a:rPr lang="en-IN" sz="2000" i="0" dirty="0" smtClean="0">
                        <a:latin typeface="Cambria Math" panose="02040503050406030204" pitchFamily="18" charset="0"/>
                        <a:ea typeface="Cambria Math" panose="02040503050406030204" pitchFamily="18" charset="0"/>
                      </a:rPr>
                      <m:t>ω</m:t>
                    </m:r>
                    <m:r>
                      <m:rPr>
                        <m:sty m:val="p"/>
                      </m:rPr>
                      <a:rPr lang="en-US" sz="2000" i="0" dirty="0" smtClean="0">
                        <a:latin typeface="Cambria Math" panose="02040503050406030204" pitchFamily="18" charset="0"/>
                        <a:ea typeface="Cambria Math" panose="02040503050406030204" pitchFamily="18" charset="0"/>
                      </a:rPr>
                      <m:t>t</m:t>
                    </m:r>
                    <m:r>
                      <m:rPr>
                        <m:nor/>
                      </m:rPr>
                      <a:rPr lang="en-US" sz="2000" dirty="0">
                        <a:ea typeface="Cambria Math" panose="02040503050406030204" pitchFamily="18" charset="0"/>
                      </a:rPr>
                      <m:t> </m:t>
                    </m:r>
                  </m:oMath>
                </a14:m>
                <a:r>
                  <a:rPr lang="en-IN" sz="2000" dirty="0"/>
                  <a:t>= </a:t>
                </a:r>
                <a14:m>
                  <m:oMath xmlns:m="http://schemas.openxmlformats.org/officeDocument/2006/math">
                    <m:r>
                      <m:rPr>
                        <m:sty m:val="p"/>
                      </m:rPr>
                      <a:rPr lang="en-US" sz="2000" b="0" i="0" dirty="0" smtClean="0">
                        <a:latin typeface="Cambria Math" panose="02040503050406030204" pitchFamily="18" charset="0"/>
                        <a:ea typeface="Cambria Math" panose="02040503050406030204" pitchFamily="18" charset="0"/>
                      </a:rPr>
                      <m:t>L</m:t>
                    </m:r>
                    <m:r>
                      <m:rPr>
                        <m:sty m:val="p"/>
                      </m:rPr>
                      <a:rPr lang="en-IN" sz="2000" i="0" dirty="0" smtClean="0">
                        <a:latin typeface="Cambria Math" panose="02040503050406030204" pitchFamily="18" charset="0"/>
                        <a:ea typeface="Cambria Math" panose="02040503050406030204" pitchFamily="18" charset="0"/>
                      </a:rPr>
                      <m:t>ω</m:t>
                    </m:r>
                    <m:sSub>
                      <m:sSubPr>
                        <m:ctrlPr>
                          <a:rPr lang="en-IN" sz="2000" i="1">
                            <a:latin typeface="Cambria Math" panose="02040503050406030204" pitchFamily="18" charset="0"/>
                          </a:rPr>
                        </m:ctrlPr>
                      </m:sSubPr>
                      <m:e>
                        <m:r>
                          <m:rPr>
                            <m:sty m:val="p"/>
                          </m:rPr>
                          <a:rPr lang="en-US" sz="2000" i="0" smtClean="0">
                            <a:latin typeface="Cambria Math" panose="02040503050406030204" pitchFamily="18" charset="0"/>
                          </a:rPr>
                          <m:t>I</m:t>
                        </m:r>
                      </m:e>
                      <m:sub>
                        <m:r>
                          <m:rPr>
                            <m:sty m:val="p"/>
                          </m:rPr>
                          <a:rPr lang="en-US" sz="2000" i="0" smtClean="0">
                            <a:latin typeface="Cambria Math" panose="02040503050406030204" pitchFamily="18" charset="0"/>
                          </a:rPr>
                          <m:t>m</m:t>
                        </m:r>
                      </m:sub>
                    </m:sSub>
                  </m:oMath>
                </a14:m>
                <a:r>
                  <a:rPr lang="en-IN" sz="2000" dirty="0"/>
                  <a:t>sin</a:t>
                </a:r>
                <a14:m>
                  <m:oMath xmlns:m="http://schemas.openxmlformats.org/officeDocument/2006/math">
                    <m:d>
                      <m:dPr>
                        <m:ctrlPr>
                          <a:rPr lang="en-IN" sz="2000" i="1" dirty="0" smtClean="0">
                            <a:latin typeface="Cambria Math" panose="02040503050406030204" pitchFamily="18" charset="0"/>
                          </a:rPr>
                        </m:ctrlPr>
                      </m:dPr>
                      <m:e>
                        <m:r>
                          <m:rPr>
                            <m:sty m:val="p"/>
                          </m:rPr>
                          <a:rPr lang="en-IN" sz="2000" i="0" dirty="0" smtClean="0">
                            <a:latin typeface="Cambria Math" panose="02040503050406030204" pitchFamily="18" charset="0"/>
                            <a:ea typeface="Cambria Math" panose="02040503050406030204" pitchFamily="18" charset="0"/>
                          </a:rPr>
                          <m:t>ω</m:t>
                        </m:r>
                        <m:r>
                          <m:rPr>
                            <m:sty m:val="p"/>
                          </m:rPr>
                          <a:rPr lang="en-US" sz="2000" i="0" dirty="0" smtClean="0">
                            <a:latin typeface="Cambria Math" panose="02040503050406030204" pitchFamily="18" charset="0"/>
                            <a:ea typeface="Cambria Math" panose="02040503050406030204" pitchFamily="18" charset="0"/>
                          </a:rPr>
                          <m:t>t</m:t>
                        </m:r>
                        <m:r>
                          <a:rPr lang="en-US" sz="2000" b="0" i="0" dirty="0" smtClean="0">
                            <a:latin typeface="Cambria Math" panose="02040503050406030204" pitchFamily="18" charset="0"/>
                            <a:ea typeface="Cambria Math" panose="02040503050406030204" pitchFamily="18" charset="0"/>
                          </a:rPr>
                          <m:t>+90°</m:t>
                        </m:r>
                      </m:e>
                    </m:d>
                  </m:oMath>
                </a14:m>
                <a:r>
                  <a:rPr lang="en-IN" sz="2000" dirty="0"/>
                  <a:t>= </a:t>
                </a:r>
                <a14:m>
                  <m:oMath xmlns:m="http://schemas.openxmlformats.org/officeDocument/2006/math">
                    <m:r>
                      <m:rPr>
                        <m:sty m:val="p"/>
                      </m:rPr>
                      <a:rPr lang="en-US" sz="2000" b="0" i="0" dirty="0" smtClean="0">
                        <a:latin typeface="Cambria Math" panose="02040503050406030204" pitchFamily="18" charset="0"/>
                        <a:ea typeface="Cambria Math" panose="02040503050406030204" pitchFamily="18" charset="0"/>
                      </a:rPr>
                      <m:t>L</m:t>
                    </m:r>
                    <m:r>
                      <m:rPr>
                        <m:sty m:val="p"/>
                      </m:rPr>
                      <a:rPr lang="en-IN" sz="2000" i="0" dirty="0" smtClean="0">
                        <a:latin typeface="Cambria Math" panose="02040503050406030204" pitchFamily="18" charset="0"/>
                        <a:ea typeface="Cambria Math" panose="02040503050406030204" pitchFamily="18" charset="0"/>
                      </a:rPr>
                      <m:t>ω</m:t>
                    </m:r>
                    <m:sSub>
                      <m:sSubPr>
                        <m:ctrlPr>
                          <a:rPr lang="en-IN" sz="2000" i="1">
                            <a:latin typeface="Cambria Math" panose="02040503050406030204" pitchFamily="18" charset="0"/>
                          </a:rPr>
                        </m:ctrlPr>
                      </m:sSubPr>
                      <m:e>
                        <m:r>
                          <m:rPr>
                            <m:sty m:val="p"/>
                          </m:rPr>
                          <a:rPr lang="en-US" sz="2000" i="0" smtClean="0">
                            <a:latin typeface="Cambria Math" panose="02040503050406030204" pitchFamily="18" charset="0"/>
                          </a:rPr>
                          <m:t>I</m:t>
                        </m:r>
                      </m:e>
                      <m:sub>
                        <m:r>
                          <m:rPr>
                            <m:sty m:val="p"/>
                          </m:rPr>
                          <a:rPr lang="en-US" sz="2000" i="0" smtClean="0">
                            <a:latin typeface="Cambria Math" panose="02040503050406030204" pitchFamily="18" charset="0"/>
                          </a:rPr>
                          <m:t>m</m:t>
                        </m:r>
                      </m:sub>
                    </m:sSub>
                    <m:r>
                      <a:rPr lang="en-US" sz="2000" i="0" smtClean="0">
                        <a:latin typeface="Cambria Math" panose="02040503050406030204" pitchFamily="18" charset="0"/>
                        <a:ea typeface="Cambria Math" panose="02040503050406030204" pitchFamily="18" charset="0"/>
                      </a:rPr>
                      <m:t>∠</m:t>
                    </m:r>
                  </m:oMath>
                </a14:m>
                <a:r>
                  <a:rPr lang="en-US" sz="2000" dirty="0">
                    <a:ea typeface="Cambria Math" panose="02040503050406030204" pitchFamily="18" charset="0"/>
                  </a:rPr>
                  <a:t> </a:t>
                </a:r>
                <a14:m>
                  <m:oMath xmlns:m="http://schemas.openxmlformats.org/officeDocument/2006/math">
                    <m:r>
                      <a:rPr lang="en-US" sz="2000" i="0" dirty="0" smtClean="0">
                        <a:latin typeface="Cambria Math" panose="02040503050406030204" pitchFamily="18" charset="0"/>
                        <a:ea typeface="Cambria Math" panose="02040503050406030204" pitchFamily="18" charset="0"/>
                      </a:rPr>
                      <m:t>90°</m:t>
                    </m:r>
                    <m:r>
                      <a:rPr lang="en-US" sz="2000" b="0" i="0" dirty="0" smtClean="0">
                        <a:latin typeface="Cambria Math" panose="02040503050406030204" pitchFamily="18" charset="0"/>
                        <a:ea typeface="Cambria Math" panose="02040503050406030204" pitchFamily="18" charset="0"/>
                      </a:rPr>
                      <m:t>=</m:t>
                    </m:r>
                    <m:r>
                      <m:rPr>
                        <m:sty m:val="p"/>
                      </m:rPr>
                      <a:rPr lang="en-US" sz="2000" b="0" i="0" dirty="0" smtClean="0">
                        <a:latin typeface="Cambria Math" panose="02040503050406030204" pitchFamily="18" charset="0"/>
                        <a:ea typeface="Cambria Math" panose="02040503050406030204" pitchFamily="18" charset="0"/>
                      </a:rPr>
                      <m:t>jLω</m:t>
                    </m:r>
                    <m:sSub>
                      <m:sSubPr>
                        <m:ctrlPr>
                          <a:rPr lang="en-IN" sz="2000" i="1">
                            <a:latin typeface="Cambria Math" panose="02040503050406030204" pitchFamily="18" charset="0"/>
                          </a:rPr>
                        </m:ctrlPr>
                      </m:sSubPr>
                      <m:e>
                        <m:r>
                          <m:rPr>
                            <m:sty m:val="p"/>
                          </m:rPr>
                          <a:rPr lang="en-US" sz="2000" i="0">
                            <a:latin typeface="Cambria Math" panose="02040503050406030204" pitchFamily="18" charset="0"/>
                          </a:rPr>
                          <m:t>I</m:t>
                        </m:r>
                      </m:e>
                      <m:sub>
                        <m:r>
                          <m:rPr>
                            <m:sty m:val="p"/>
                          </m:rPr>
                          <a:rPr lang="en-US" sz="2000" i="0">
                            <a:latin typeface="Cambria Math" panose="02040503050406030204" pitchFamily="18" charset="0"/>
                          </a:rPr>
                          <m:t>m</m:t>
                        </m:r>
                      </m:sub>
                    </m:sSub>
                  </m:oMath>
                </a14:m>
                <a:endParaRPr lang="en-US" sz="2000" dirty="0">
                  <a:ea typeface="Cambria Math" panose="02040503050406030204" pitchFamily="18" charset="0"/>
                </a:endParaRPr>
              </a:p>
              <a:p>
                <a:pPr algn="ctr"/>
                <a:r>
                  <a:rPr lang="en-US" sz="2200" dirty="0">
                    <a:ea typeface="Cambria Math" panose="02040503050406030204" pitchFamily="18" charset="0"/>
                  </a:rPr>
                  <a:t>V(t)=</a:t>
                </a:r>
                <a:r>
                  <a:rPr lang="en-IN" sz="2200" dirty="0"/>
                  <a:t> </a:t>
                </a:r>
                <a14:m>
                  <m:oMath xmlns:m="http://schemas.openxmlformats.org/officeDocument/2006/math">
                    <m:sSub>
                      <m:sSubPr>
                        <m:ctrlPr>
                          <a:rPr lang="en-IN" sz="2200" i="1" smtClean="0">
                            <a:latin typeface="Cambria Math" panose="02040503050406030204" pitchFamily="18" charset="0"/>
                          </a:rPr>
                        </m:ctrlPr>
                      </m:sSubPr>
                      <m:e>
                        <m:r>
                          <m:rPr>
                            <m:sty m:val="p"/>
                          </m:rPr>
                          <a:rPr lang="en-US" sz="2200" b="0" i="0" smtClean="0">
                            <a:latin typeface="Cambria Math" panose="02040503050406030204" pitchFamily="18" charset="0"/>
                          </a:rPr>
                          <m:t>V</m:t>
                        </m:r>
                      </m:e>
                      <m:sub>
                        <m:r>
                          <m:rPr>
                            <m:sty m:val="p"/>
                          </m:rPr>
                          <a:rPr lang="en-US" sz="2200" b="0" i="0" smtClean="0">
                            <a:latin typeface="Cambria Math" panose="02040503050406030204" pitchFamily="18" charset="0"/>
                          </a:rPr>
                          <m:t>R</m:t>
                        </m:r>
                      </m:sub>
                    </m:sSub>
                    <m:r>
                      <a:rPr lang="en-US" sz="2200" b="0" i="0" smtClean="0">
                        <a:latin typeface="Cambria Math" panose="02040503050406030204" pitchFamily="18" charset="0"/>
                      </a:rPr>
                      <m:t>+</m:t>
                    </m:r>
                    <m:sSub>
                      <m:sSubPr>
                        <m:ctrlPr>
                          <a:rPr lang="en-IN" sz="2200" i="1">
                            <a:latin typeface="Cambria Math" panose="02040503050406030204" pitchFamily="18" charset="0"/>
                          </a:rPr>
                        </m:ctrlPr>
                      </m:sSubPr>
                      <m:e>
                        <m:r>
                          <m:rPr>
                            <m:sty m:val="p"/>
                          </m:rPr>
                          <a:rPr lang="en-US" sz="2200" i="0">
                            <a:latin typeface="Cambria Math" panose="02040503050406030204" pitchFamily="18" charset="0"/>
                          </a:rPr>
                          <m:t>V</m:t>
                        </m:r>
                      </m:e>
                      <m:sub>
                        <m:r>
                          <m:rPr>
                            <m:sty m:val="p"/>
                          </m:rPr>
                          <a:rPr lang="en-US" sz="2200" b="0" i="0" smtClean="0">
                            <a:latin typeface="Cambria Math" panose="02040503050406030204" pitchFamily="18" charset="0"/>
                          </a:rPr>
                          <m:t>L</m:t>
                        </m:r>
                      </m:sub>
                    </m:sSub>
                  </m:oMath>
                </a14:m>
                <a:r>
                  <a:rPr lang="en-US" sz="2200" dirty="0">
                    <a:ea typeface="Cambria Math" panose="02040503050406030204" pitchFamily="18" charset="0"/>
                  </a:rPr>
                  <a:t>=</a:t>
                </a:r>
                <a14:m>
                  <m:oMath xmlns:m="http://schemas.openxmlformats.org/officeDocument/2006/math">
                    <m:sSub>
                      <m:sSubPr>
                        <m:ctrlPr>
                          <a:rPr lang="en-IN" sz="2200" i="1">
                            <a:latin typeface="Cambria Math" panose="02040503050406030204" pitchFamily="18" charset="0"/>
                          </a:rPr>
                        </m:ctrlPr>
                      </m:sSubPr>
                      <m:e>
                        <m:r>
                          <m:rPr>
                            <m:sty m:val="p"/>
                          </m:rPr>
                          <a:rPr lang="en-US" sz="2200" i="0">
                            <a:latin typeface="Cambria Math" panose="02040503050406030204" pitchFamily="18" charset="0"/>
                          </a:rPr>
                          <m:t>I</m:t>
                        </m:r>
                      </m:e>
                      <m:sub>
                        <m:r>
                          <m:rPr>
                            <m:sty m:val="p"/>
                          </m:rPr>
                          <a:rPr lang="en-US" sz="2200" i="0">
                            <a:latin typeface="Cambria Math" panose="02040503050406030204" pitchFamily="18" charset="0"/>
                          </a:rPr>
                          <m:t>m</m:t>
                        </m:r>
                      </m:sub>
                    </m:sSub>
                    <m:r>
                      <m:rPr>
                        <m:nor/>
                      </m:rPr>
                      <a:rPr lang="en-US" sz="2200">
                        <a:latin typeface="Cambria Math" panose="02040503050406030204" pitchFamily="18" charset="0"/>
                      </a:rPr>
                      <m:t>R</m:t>
                    </m:r>
                    <m:r>
                      <m:rPr>
                        <m:nor/>
                      </m:rPr>
                      <a:rPr lang="en-US" sz="2200" b="0" smtClean="0">
                        <a:latin typeface="Cambria Math" panose="02040503050406030204" pitchFamily="18" charset="0"/>
                      </a:rPr>
                      <m:t>+</m:t>
                    </m:r>
                    <m:r>
                      <m:rPr>
                        <m:sty m:val="p"/>
                      </m:rPr>
                      <a:rPr lang="en-US" sz="2400" i="0" dirty="0">
                        <a:latin typeface="Cambria Math" panose="02040503050406030204" pitchFamily="18" charset="0"/>
                        <a:ea typeface="Cambria Math" panose="02040503050406030204" pitchFamily="18" charset="0"/>
                      </a:rPr>
                      <m:t>jL</m:t>
                    </m:r>
                    <m:r>
                      <m:rPr>
                        <m:sty m:val="p"/>
                      </m:rPr>
                      <a:rPr lang="el-GR" sz="2400" i="0">
                        <a:latin typeface="Cambria Math" panose="02040503050406030204" pitchFamily="18" charset="0"/>
                        <a:ea typeface="Cambria Math" panose="02040503050406030204" pitchFamily="18" charset="0"/>
                      </a:rPr>
                      <m:t>ω</m:t>
                    </m:r>
                    <m:sSub>
                      <m:sSubPr>
                        <m:ctrlPr>
                          <a:rPr lang="en-IN" sz="2400" i="1">
                            <a:latin typeface="Cambria Math" panose="02040503050406030204" pitchFamily="18" charset="0"/>
                          </a:rPr>
                        </m:ctrlPr>
                      </m:sSubPr>
                      <m:e>
                        <m:r>
                          <m:rPr>
                            <m:sty m:val="p"/>
                          </m:rPr>
                          <a:rPr lang="en-US" sz="2400">
                            <a:latin typeface="Cambria Math" panose="02040503050406030204" pitchFamily="18" charset="0"/>
                          </a:rPr>
                          <m:t>I</m:t>
                        </m:r>
                      </m:e>
                      <m:sub>
                        <m:r>
                          <m:rPr>
                            <m:sty m:val="p"/>
                          </m:rPr>
                          <a:rPr lang="en-US" sz="2400">
                            <a:latin typeface="Cambria Math" panose="02040503050406030204" pitchFamily="18" charset="0"/>
                          </a:rPr>
                          <m:t>m</m:t>
                        </m:r>
                      </m:sub>
                    </m:sSub>
                    <m:r>
                      <a:rPr lang="en-US" sz="2400" b="0" i="1" smtClean="0">
                        <a:latin typeface="Cambria Math" panose="02040503050406030204" pitchFamily="18" charset="0"/>
                      </a:rPr>
                      <m:t>=</m:t>
                    </m:r>
                    <m:sSub>
                      <m:sSubPr>
                        <m:ctrlPr>
                          <a:rPr lang="en-IN" sz="2000" i="1">
                            <a:latin typeface="Cambria Math" panose="02040503050406030204" pitchFamily="18" charset="0"/>
                          </a:rPr>
                        </m:ctrlPr>
                      </m:sSubPr>
                      <m:e>
                        <m:r>
                          <m:rPr>
                            <m:sty m:val="p"/>
                          </m:rPr>
                          <a:rPr lang="en-US" sz="2000">
                            <a:latin typeface="Cambria Math" panose="02040503050406030204" pitchFamily="18" charset="0"/>
                          </a:rPr>
                          <m:t>I</m:t>
                        </m:r>
                      </m:e>
                      <m:sub>
                        <m:r>
                          <m:rPr>
                            <m:sty m:val="p"/>
                          </m:rPr>
                          <a:rPr lang="en-US" sz="2000">
                            <a:latin typeface="Cambria Math" panose="02040503050406030204" pitchFamily="18" charset="0"/>
                          </a:rPr>
                          <m:t>m</m:t>
                        </m:r>
                      </m:sub>
                    </m:sSub>
                  </m:oMath>
                </a14:m>
                <a:r>
                  <a:rPr lang="en-US" sz="2200" dirty="0"/>
                  <a:t>(</a:t>
                </a:r>
                <a14:m>
                  <m:oMath xmlns:m="http://schemas.openxmlformats.org/officeDocument/2006/math">
                    <m:r>
                      <m:rPr>
                        <m:nor/>
                      </m:rPr>
                      <a:rPr lang="en-US" sz="2000">
                        <a:latin typeface="Cambria Math" panose="02040503050406030204" pitchFamily="18" charset="0"/>
                      </a:rPr>
                      <m:t>R</m:t>
                    </m:r>
                    <m:r>
                      <m:rPr>
                        <m:nor/>
                      </m:rPr>
                      <a:rPr lang="en-US" sz="2000">
                        <a:latin typeface="Cambria Math" panose="02040503050406030204" pitchFamily="18" charset="0"/>
                      </a:rPr>
                      <m:t>+</m:t>
                    </m:r>
                    <m:r>
                      <m:rPr>
                        <m:sty m:val="p"/>
                      </m:rPr>
                      <a:rPr lang="en-US" sz="2000" dirty="0">
                        <a:latin typeface="Cambria Math" panose="02040503050406030204" pitchFamily="18" charset="0"/>
                        <a:ea typeface="Cambria Math" panose="02040503050406030204" pitchFamily="18" charset="0"/>
                      </a:rPr>
                      <m:t>jL</m:t>
                    </m:r>
                    <m:r>
                      <m:rPr>
                        <m:sty m:val="p"/>
                      </m:rPr>
                      <a:rPr lang="el-GR" sz="2000">
                        <a:latin typeface="Cambria Math" panose="02040503050406030204" pitchFamily="18" charset="0"/>
                        <a:ea typeface="Cambria Math" panose="02040503050406030204" pitchFamily="18" charset="0"/>
                      </a:rPr>
                      <m:t>ω</m:t>
                    </m:r>
                  </m:oMath>
                </a14:m>
                <a:r>
                  <a:rPr lang="en-US" sz="2200" dirty="0">
                    <a:ea typeface="Cambria Math" panose="02040503050406030204" pitchFamily="18" charset="0"/>
                  </a:rPr>
                  <a:t>)</a:t>
                </a:r>
              </a:p>
              <a:p>
                <a:r>
                  <a:rPr lang="en-IN" sz="2200" dirty="0"/>
                  <a:t>Z=</a:t>
                </a:r>
                <a14:m>
                  <m:oMath xmlns:m="http://schemas.openxmlformats.org/officeDocument/2006/math">
                    <m:f>
                      <m:fPr>
                        <m:ctrlPr>
                          <a:rPr lang="en-IN" sz="2400" i="1" smtClean="0">
                            <a:latin typeface="Cambria Math" panose="02040503050406030204" pitchFamily="18" charset="0"/>
                          </a:rPr>
                        </m:ctrlPr>
                      </m:fPr>
                      <m:num>
                        <m:r>
                          <m:rPr>
                            <m:nor/>
                          </m:rPr>
                          <a:rPr lang="en-US" sz="2400" b="0" i="0" smtClean="0">
                            <a:latin typeface="Cambria Math" panose="02040503050406030204" pitchFamily="18" charset="0"/>
                          </a:rPr>
                          <m:t>V</m:t>
                        </m:r>
                        <m:r>
                          <m:rPr>
                            <m:nor/>
                          </m:rPr>
                          <a:rPr lang="en-US" sz="2400" b="0" i="0" smtClean="0">
                            <a:latin typeface="Cambria Math" panose="02040503050406030204" pitchFamily="18" charset="0"/>
                          </a:rPr>
                          <m:t>(</m:t>
                        </m:r>
                        <m:r>
                          <m:rPr>
                            <m:nor/>
                          </m:rPr>
                          <a:rPr lang="en-US" sz="2400" b="0" i="0" smtClean="0">
                            <a:latin typeface="Cambria Math" panose="02040503050406030204" pitchFamily="18" charset="0"/>
                          </a:rPr>
                          <m:t>t</m:t>
                        </m:r>
                        <m:r>
                          <m:rPr>
                            <m:nor/>
                          </m:rPr>
                          <a:rPr lang="en-US" sz="2400" b="0" i="0" smtClean="0">
                            <a:latin typeface="Cambria Math" panose="02040503050406030204" pitchFamily="18" charset="0"/>
                          </a:rPr>
                          <m:t>)</m:t>
                        </m:r>
                      </m:num>
                      <m:den>
                        <m:r>
                          <m:rPr>
                            <m:nor/>
                          </m:rPr>
                          <a:rPr lang="en-US" sz="2400" b="0" smtClean="0">
                            <a:latin typeface="Cambria Math" panose="02040503050406030204" pitchFamily="18" charset="0"/>
                          </a:rPr>
                          <m:t>i</m:t>
                        </m:r>
                        <m:r>
                          <m:rPr>
                            <m:nor/>
                          </m:rPr>
                          <a:rPr lang="en-IN" sz="2400" dirty="0"/>
                          <m:t>(</m:t>
                        </m:r>
                        <m:r>
                          <m:rPr>
                            <m:nor/>
                          </m:rPr>
                          <a:rPr lang="en-IN" sz="2400" dirty="0"/>
                          <m:t>t</m:t>
                        </m:r>
                        <m:r>
                          <m:rPr>
                            <m:nor/>
                          </m:rPr>
                          <a:rPr lang="en-IN" sz="2400" dirty="0"/>
                          <m:t>)</m:t>
                        </m:r>
                      </m:den>
                    </m:f>
                    <m:r>
                      <a:rPr lang="en-US" sz="2400" b="0" i="0"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IN" sz="2400" i="1">
                                <a:latin typeface="Cambria Math" panose="02040503050406030204" pitchFamily="18" charset="0"/>
                              </a:rPr>
                            </m:ctrlPr>
                          </m:sSubPr>
                          <m:e>
                            <m:r>
                              <m:rPr>
                                <m:sty m:val="p"/>
                              </m:rPr>
                              <a:rPr lang="en-US" sz="2400">
                                <a:latin typeface="Cambria Math" panose="02040503050406030204" pitchFamily="18" charset="0"/>
                              </a:rPr>
                              <m:t>I</m:t>
                            </m:r>
                          </m:e>
                          <m:sub>
                            <m:r>
                              <m:rPr>
                                <m:sty m:val="p"/>
                              </m:rPr>
                              <a:rPr lang="en-US" sz="2400">
                                <a:latin typeface="Cambria Math" panose="02040503050406030204" pitchFamily="18" charset="0"/>
                              </a:rPr>
                              <m:t>m</m:t>
                            </m:r>
                          </m:sub>
                        </m:sSub>
                        <m:r>
                          <m:rPr>
                            <m:nor/>
                          </m:rPr>
                          <a:rPr lang="en-US" sz="2400" dirty="0"/>
                          <m:t>(</m:t>
                        </m:r>
                        <m:r>
                          <m:rPr>
                            <m:nor/>
                          </m:rPr>
                          <a:rPr lang="en-US" sz="2400">
                            <a:latin typeface="Cambria Math" panose="02040503050406030204" pitchFamily="18" charset="0"/>
                          </a:rPr>
                          <m:t>R</m:t>
                        </m:r>
                        <m:r>
                          <m:rPr>
                            <m:nor/>
                          </m:rPr>
                          <a:rPr lang="en-US" sz="2400">
                            <a:latin typeface="Cambria Math" panose="02040503050406030204" pitchFamily="18" charset="0"/>
                          </a:rPr>
                          <m:t>+</m:t>
                        </m:r>
                        <m:r>
                          <m:rPr>
                            <m:sty m:val="p"/>
                          </m:rPr>
                          <a:rPr lang="en-US" sz="2400" dirty="0">
                            <a:latin typeface="Cambria Math" panose="02040503050406030204" pitchFamily="18" charset="0"/>
                            <a:ea typeface="Cambria Math" panose="02040503050406030204" pitchFamily="18" charset="0"/>
                          </a:rPr>
                          <m:t>jL</m:t>
                        </m:r>
                        <m:r>
                          <m:rPr>
                            <m:sty m:val="p"/>
                          </m:rPr>
                          <a:rPr lang="el-GR" sz="2400">
                            <a:latin typeface="Cambria Math" panose="02040503050406030204" pitchFamily="18" charset="0"/>
                            <a:ea typeface="Cambria Math" panose="02040503050406030204" pitchFamily="18" charset="0"/>
                          </a:rPr>
                          <m:t>ω</m:t>
                        </m:r>
                        <m:r>
                          <m:rPr>
                            <m:nor/>
                          </m:rPr>
                          <a:rPr lang="en-US" sz="2400" dirty="0">
                            <a:ea typeface="Cambria Math" panose="02040503050406030204" pitchFamily="18" charset="0"/>
                          </a:rPr>
                          <m:t>)</m:t>
                        </m:r>
                      </m:num>
                      <m:den>
                        <m:sSub>
                          <m:sSubPr>
                            <m:ctrlPr>
                              <a:rPr lang="en-IN" sz="2400" i="1">
                                <a:latin typeface="Cambria Math" panose="02040503050406030204" pitchFamily="18" charset="0"/>
                              </a:rPr>
                            </m:ctrlPr>
                          </m:sSubPr>
                          <m:e>
                            <m:r>
                              <m:rPr>
                                <m:sty m:val="p"/>
                              </m:rPr>
                              <a:rPr lang="en-US" sz="2400" i="0" smtClean="0">
                                <a:latin typeface="Cambria Math" panose="02040503050406030204" pitchFamily="18" charset="0"/>
                              </a:rPr>
                              <m:t>I</m:t>
                            </m:r>
                          </m:e>
                          <m:sub>
                            <m:r>
                              <m:rPr>
                                <m:sty m:val="p"/>
                              </m:rPr>
                              <a:rPr lang="en-US" sz="2400" i="0" smtClean="0">
                                <a:latin typeface="Cambria Math" panose="02040503050406030204" pitchFamily="18" charset="0"/>
                              </a:rPr>
                              <m:t>m</m:t>
                            </m:r>
                          </m:sub>
                        </m:sSub>
                        <m:r>
                          <m:rPr>
                            <m:nor/>
                          </m:rPr>
                          <a:rPr lang="en-US" sz="2400" dirty="0">
                            <a:ea typeface="Cambria Math" panose="02040503050406030204" pitchFamily="18" charset="0"/>
                          </a:rPr>
                          <m:t> </m:t>
                        </m:r>
                      </m:den>
                    </m:f>
                    <m:r>
                      <a:rPr lang="en-US" sz="2400" b="0" i="0" smtClean="0">
                        <a:latin typeface="Cambria Math" panose="02040503050406030204" pitchFamily="18" charset="0"/>
                      </a:rPr>
                      <m:t>=</m:t>
                    </m:r>
                    <m:r>
                      <m:rPr>
                        <m:nor/>
                      </m:rPr>
                      <a:rPr lang="en-US" sz="2400" dirty="0"/>
                      <m:t>(</m:t>
                    </m:r>
                    <m:r>
                      <m:rPr>
                        <m:nor/>
                      </m:rPr>
                      <a:rPr lang="en-US" sz="2400">
                        <a:latin typeface="Cambria Math" panose="02040503050406030204" pitchFamily="18" charset="0"/>
                      </a:rPr>
                      <m:t>R</m:t>
                    </m:r>
                    <m:r>
                      <m:rPr>
                        <m:nor/>
                      </m:rPr>
                      <a:rPr lang="en-US" sz="2400">
                        <a:latin typeface="Cambria Math" panose="02040503050406030204" pitchFamily="18" charset="0"/>
                      </a:rPr>
                      <m:t>+</m:t>
                    </m:r>
                    <m:r>
                      <m:rPr>
                        <m:sty m:val="p"/>
                      </m:rPr>
                      <a:rPr lang="en-US" sz="2400" dirty="0">
                        <a:latin typeface="Cambria Math" panose="02040503050406030204" pitchFamily="18" charset="0"/>
                        <a:ea typeface="Cambria Math" panose="02040503050406030204" pitchFamily="18" charset="0"/>
                      </a:rPr>
                      <m:t>jL</m:t>
                    </m:r>
                    <m:r>
                      <m:rPr>
                        <m:sty m:val="p"/>
                      </m:rPr>
                      <a:rPr lang="el-GR" sz="2400">
                        <a:latin typeface="Cambria Math" panose="02040503050406030204" pitchFamily="18" charset="0"/>
                        <a:ea typeface="Cambria Math" panose="02040503050406030204" pitchFamily="18" charset="0"/>
                      </a:rPr>
                      <m:t>ω</m:t>
                    </m:r>
                    <m:r>
                      <m:rPr>
                        <m:nor/>
                      </m:rPr>
                      <a:rPr lang="en-US" sz="2400" dirty="0">
                        <a:ea typeface="Cambria Math" panose="02040503050406030204" pitchFamily="18" charset="0"/>
                      </a:rPr>
                      <m:t>)</m:t>
                    </m:r>
                  </m:oMath>
                </a14:m>
                <a:endParaRPr lang="en-US" sz="24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nor/>
                        </m:rPr>
                        <a:rPr lang="en-IN" sz="2200"/>
                        <m:t>The</m:t>
                      </m:r>
                      <m:r>
                        <m:rPr>
                          <m:nor/>
                        </m:rPr>
                        <a:rPr lang="en-IN" sz="2200"/>
                        <m:t> </m:t>
                      </m:r>
                      <m:r>
                        <m:rPr>
                          <m:nor/>
                        </m:rPr>
                        <a:rPr lang="en-US" sz="2200"/>
                        <m:t>magnitude</m:t>
                      </m:r>
                      <m:r>
                        <m:rPr>
                          <m:nor/>
                        </m:rPr>
                        <a:rPr lang="en-US" sz="2200"/>
                        <m:t> </m:t>
                      </m:r>
                      <m:r>
                        <m:rPr>
                          <m:nor/>
                        </m:rPr>
                        <a:rPr lang="en-US" sz="2200"/>
                        <m:t>of</m:t>
                      </m:r>
                      <m:r>
                        <m:rPr>
                          <m:nor/>
                        </m:rPr>
                        <a:rPr lang="en-US" sz="2200"/>
                        <m:t> </m:t>
                      </m:r>
                      <m:r>
                        <m:rPr>
                          <m:nor/>
                        </m:rPr>
                        <a:rPr lang="en-IN" sz="2200"/>
                        <m:t>impedance</m:t>
                      </m:r>
                      <m:r>
                        <m:rPr>
                          <m:nor/>
                        </m:rPr>
                        <a:rPr lang="en-IN" sz="2200"/>
                        <m:t> </m:t>
                      </m:r>
                      <m:r>
                        <m:rPr>
                          <m:nor/>
                        </m:rPr>
                        <a:rPr lang="en-IN" sz="2200"/>
                        <m:t>for</m:t>
                      </m:r>
                      <m:r>
                        <m:rPr>
                          <m:nor/>
                        </m:rPr>
                        <a:rPr lang="en-IN" sz="2200"/>
                        <m:t> </m:t>
                      </m:r>
                      <m:r>
                        <m:rPr>
                          <m:nor/>
                        </m:rPr>
                        <a:rPr lang="en-IN" sz="2200"/>
                        <m:t>an</m:t>
                      </m:r>
                      <m:r>
                        <m:rPr>
                          <m:nor/>
                        </m:rPr>
                        <a:rPr lang="en-IN" sz="2200"/>
                        <m:t> </m:t>
                      </m:r>
                      <m:r>
                        <m:rPr>
                          <m:nor/>
                        </m:rPr>
                        <a:rPr lang="en-IN" sz="2200"/>
                        <m:t>RL</m:t>
                      </m:r>
                      <m:r>
                        <m:rPr>
                          <m:nor/>
                        </m:rPr>
                        <a:rPr lang="en-IN" sz="2200"/>
                        <m:t> </m:t>
                      </m:r>
                      <m:r>
                        <m:rPr>
                          <m:nor/>
                        </m:rPr>
                        <a:rPr lang="en-IN" sz="2200"/>
                        <m:t>series</m:t>
                      </m:r>
                      <m:r>
                        <m:rPr>
                          <m:nor/>
                        </m:rPr>
                        <a:rPr lang="en-IN" sz="2200"/>
                        <m:t> </m:t>
                      </m:r>
                      <m:r>
                        <m:rPr>
                          <m:nor/>
                        </m:rPr>
                        <a:rPr lang="en-IN" sz="2200"/>
                        <m:t>circuit</m:t>
                      </m:r>
                      <m:r>
                        <m:rPr>
                          <m:nor/>
                        </m:rPr>
                        <a:rPr lang="en-IN" sz="2200"/>
                        <m:t> </m:t>
                      </m:r>
                      <m:r>
                        <m:rPr>
                          <m:nor/>
                        </m:rPr>
                        <a:rPr lang="en-IN" sz="2200"/>
                        <m:t>is</m:t>
                      </m:r>
                      <m:r>
                        <m:rPr>
                          <m:nor/>
                        </m:rPr>
                        <a:rPr lang="en-IN" sz="2200"/>
                        <m:t> </m:t>
                      </m:r>
                    </m:oMath>
                  </m:oMathPara>
                </a14:m>
                <a:endParaRPr lang="en-US" sz="2200" dirty="0"/>
              </a:p>
              <a:p>
                <a:pPr/>
                <a14:m>
                  <m:oMathPara xmlns:m="http://schemas.openxmlformats.org/officeDocument/2006/math">
                    <m:oMathParaPr>
                      <m:jc m:val="left"/>
                    </m:oMathParaPr>
                    <m:oMath xmlns:m="http://schemas.openxmlformats.org/officeDocument/2006/math">
                      <m:r>
                        <m:rPr>
                          <m:nor/>
                        </m:rPr>
                        <a:rPr lang="en-IN" sz="2200"/>
                        <m:t>given</m:t>
                      </m:r>
                      <m:r>
                        <m:rPr>
                          <m:nor/>
                        </m:rPr>
                        <a:rPr lang="en-IN" sz="2200"/>
                        <m:t> </m:t>
                      </m:r>
                      <m:r>
                        <m:rPr>
                          <m:nor/>
                        </m:rPr>
                        <a:rPr lang="en-IN" sz="2200"/>
                        <m:t>by</m:t>
                      </m:r>
                    </m:oMath>
                  </m:oMathPara>
                </a14:m>
                <a:endParaRPr lang="en-US" sz="2200" dirty="0"/>
              </a:p>
              <a:p>
                <a:pPr/>
                <a14:m>
                  <m:oMathPara xmlns:m="http://schemas.openxmlformats.org/officeDocument/2006/math">
                    <m:oMathParaPr>
                      <m:jc m:val="left"/>
                    </m:oMathParaPr>
                    <m:oMath xmlns:m="http://schemas.openxmlformats.org/officeDocument/2006/math">
                      <m:d>
                        <m:dPr>
                          <m:begChr m:val="|"/>
                          <m:endChr m:val="|"/>
                          <m:ctrlPr>
                            <a:rPr lang="en-US" sz="2200" b="0" i="1" smtClean="0">
                              <a:latin typeface="Cambria Math" panose="02040503050406030204" pitchFamily="18" charset="0"/>
                            </a:rPr>
                          </m:ctrlPr>
                        </m:dPr>
                        <m:e>
                          <m:r>
                            <m:rPr>
                              <m:sty m:val="p"/>
                            </m:rPr>
                            <a:rPr lang="en-US" sz="2200" b="0" i="0" smtClean="0">
                              <a:latin typeface="Cambria Math" panose="02040503050406030204" pitchFamily="18" charset="0"/>
                            </a:rPr>
                            <m:t>Z</m:t>
                          </m:r>
                        </m:e>
                      </m:d>
                      <m:r>
                        <a:rPr lang="en-US" sz="2200" b="0" i="0" smtClean="0">
                          <a:latin typeface="Cambria Math" panose="02040503050406030204" pitchFamily="18" charset="0"/>
                        </a:rPr>
                        <m:t>=</m:t>
                      </m:r>
                      <m:rad>
                        <m:radPr>
                          <m:degHide m:val="on"/>
                          <m:ctrlPr>
                            <a:rPr lang="en-US" sz="2200" i="1">
                              <a:latin typeface="Cambria Math" panose="02040503050406030204" pitchFamily="18" charset="0"/>
                            </a:rPr>
                          </m:ctrlPr>
                        </m:radPr>
                        <m:deg/>
                        <m:e>
                          <m:sSup>
                            <m:sSupPr>
                              <m:ctrlPr>
                                <a:rPr lang="en-US" sz="2200" i="1">
                                  <a:latin typeface="Cambria Math" panose="02040503050406030204" pitchFamily="18" charset="0"/>
                                </a:rPr>
                              </m:ctrlPr>
                            </m:sSupPr>
                            <m:e>
                              <m:r>
                                <m:rPr>
                                  <m:sty m:val="p"/>
                                </m:rPr>
                                <a:rPr lang="en-US" sz="2200" i="0">
                                  <a:latin typeface="Cambria Math" panose="02040503050406030204" pitchFamily="18" charset="0"/>
                                </a:rPr>
                                <m:t>R</m:t>
                              </m:r>
                            </m:e>
                            <m:sup>
                              <m:r>
                                <a:rPr lang="en-US" sz="2200" i="0">
                                  <a:latin typeface="Cambria Math" panose="02040503050406030204" pitchFamily="18" charset="0"/>
                                </a:rPr>
                                <m:t>2</m:t>
                              </m:r>
                            </m:sup>
                          </m:sSup>
                          <m:r>
                            <a:rPr lang="en-US" sz="2200" i="0">
                              <a:latin typeface="Cambria Math" panose="02040503050406030204" pitchFamily="18" charset="0"/>
                            </a:rPr>
                            <m:t>+</m:t>
                          </m:r>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r>
                                    <m:rPr>
                                      <m:sty m:val="p"/>
                                    </m:rPr>
                                    <a:rPr lang="en-US" sz="2200" i="0" dirty="0">
                                      <a:latin typeface="Cambria Math" panose="02040503050406030204" pitchFamily="18" charset="0"/>
                                      <a:ea typeface="Cambria Math" panose="02040503050406030204" pitchFamily="18" charset="0"/>
                                    </a:rPr>
                                    <m:t>L</m:t>
                                  </m:r>
                                  <m:r>
                                    <m:rPr>
                                      <m:sty m:val="p"/>
                                    </m:rPr>
                                    <a:rPr lang="el-GR" sz="2200" i="0">
                                      <a:latin typeface="Cambria Math" panose="02040503050406030204" pitchFamily="18" charset="0"/>
                                      <a:ea typeface="Cambria Math" panose="02040503050406030204" pitchFamily="18" charset="0"/>
                                    </a:rPr>
                                    <m:t>ω</m:t>
                                  </m:r>
                                </m:e>
                              </m:d>
                            </m:e>
                            <m:sup>
                              <m:r>
                                <a:rPr lang="en-US" sz="2200" i="0">
                                  <a:latin typeface="Cambria Math" panose="02040503050406030204" pitchFamily="18" charset="0"/>
                                </a:rPr>
                                <m:t>2</m:t>
                              </m:r>
                            </m:sup>
                          </m:sSup>
                        </m:e>
                      </m:rad>
                    </m:oMath>
                  </m:oMathPara>
                </a14:m>
                <a:endParaRPr lang="en-US" sz="2200" dirty="0"/>
              </a:p>
              <a:p>
                <a:r>
                  <a:rPr lang="en-IN" sz="2200" dirty="0"/>
                  <a:t>The phase angle for an RL circuit is</a:t>
                </a:r>
                <a:endParaRPr lang="en-US" sz="2200" dirty="0"/>
              </a:p>
              <a:p>
                <a:pPr/>
                <a14:m>
                  <m:oMathPara xmlns:m="http://schemas.openxmlformats.org/officeDocument/2006/math">
                    <m:oMathParaPr>
                      <m:jc m:val="left"/>
                    </m:oMathParaPr>
                    <m:oMath xmlns:m="http://schemas.openxmlformats.org/officeDocument/2006/math">
                      <m:r>
                        <m:rPr>
                          <m:sty m:val="p"/>
                        </m:rPr>
                        <a:rPr lang="en-US" sz="2200" i="0" dirty="0" smtClean="0">
                          <a:latin typeface="Cambria Math" panose="02040503050406030204" pitchFamily="18" charset="0"/>
                          <a:ea typeface="Cambria Math" panose="02040503050406030204" pitchFamily="18" charset="0"/>
                        </a:rPr>
                        <m:t>φ</m:t>
                      </m:r>
                      <m:r>
                        <a:rPr lang="en-US" sz="2200" b="0" i="0" dirty="0" smtClean="0">
                          <a:latin typeface="Cambria Math" panose="02040503050406030204" pitchFamily="18" charset="0"/>
                          <a:ea typeface="Cambria Math" panose="02040503050406030204" pitchFamily="18" charset="0"/>
                        </a:rPr>
                        <m:t>=</m:t>
                      </m:r>
                      <m:sSup>
                        <m:sSupPr>
                          <m:ctrlPr>
                            <a:rPr lang="en-US" sz="2200" i="1" dirty="0" smtClean="0">
                              <a:latin typeface="Cambria Math" panose="02040503050406030204" pitchFamily="18" charset="0"/>
                            </a:rPr>
                          </m:ctrlPr>
                        </m:sSupPr>
                        <m:e>
                          <m:r>
                            <m:rPr>
                              <m:sty m:val="p"/>
                            </m:rPr>
                            <a:rPr lang="en-US" sz="2200" b="0" i="0" dirty="0" smtClean="0">
                              <a:latin typeface="Cambria Math" panose="02040503050406030204" pitchFamily="18" charset="0"/>
                            </a:rPr>
                            <m:t>tan</m:t>
                          </m:r>
                        </m:e>
                        <m:sup>
                          <m:r>
                            <a:rPr lang="en-US" sz="2200" b="0" i="0" dirty="0" smtClean="0">
                              <a:latin typeface="Cambria Math" panose="02040503050406030204" pitchFamily="18" charset="0"/>
                            </a:rPr>
                            <m:t>−1</m:t>
                          </m:r>
                        </m:sup>
                      </m:sSup>
                      <m:d>
                        <m:dPr>
                          <m:ctrlPr>
                            <a:rPr lang="en-US" sz="2200" i="1" dirty="0" smtClean="0">
                              <a:latin typeface="Cambria Math" panose="02040503050406030204" pitchFamily="18" charset="0"/>
                            </a:rPr>
                          </m:ctrlPr>
                        </m:dPr>
                        <m:e>
                          <m:f>
                            <m:fPr>
                              <m:ctrlPr>
                                <a:rPr lang="en-US" sz="2200" i="1" dirty="0" smtClean="0">
                                  <a:latin typeface="Cambria Math" panose="02040503050406030204" pitchFamily="18" charset="0"/>
                                </a:rPr>
                              </m:ctrlPr>
                            </m:fPr>
                            <m:num>
                              <m:r>
                                <m:rPr>
                                  <m:sty m:val="p"/>
                                </m:rPr>
                                <a:rPr lang="en-US" sz="2200" i="0" dirty="0">
                                  <a:latin typeface="Cambria Math" panose="02040503050406030204" pitchFamily="18" charset="0"/>
                                  <a:ea typeface="Cambria Math" panose="02040503050406030204" pitchFamily="18" charset="0"/>
                                </a:rPr>
                                <m:t>L</m:t>
                              </m:r>
                              <m:r>
                                <m:rPr>
                                  <m:sty m:val="p"/>
                                </m:rPr>
                                <a:rPr lang="el-GR" sz="2200" i="0">
                                  <a:latin typeface="Cambria Math" panose="02040503050406030204" pitchFamily="18" charset="0"/>
                                  <a:ea typeface="Cambria Math" panose="02040503050406030204" pitchFamily="18" charset="0"/>
                                </a:rPr>
                                <m:t>ω</m:t>
                              </m:r>
                            </m:num>
                            <m:den>
                              <m:r>
                                <m:rPr>
                                  <m:sty m:val="p"/>
                                </m:rPr>
                                <a:rPr lang="en-US" sz="2200" b="0" i="0" dirty="0" smtClean="0">
                                  <a:latin typeface="Cambria Math" panose="02040503050406030204" pitchFamily="18" charset="0"/>
                                </a:rPr>
                                <m:t>R</m:t>
                              </m:r>
                            </m:den>
                          </m:f>
                        </m:e>
                      </m:d>
                    </m:oMath>
                  </m:oMathPara>
                </a14:m>
                <a:endParaRPr lang="en-US" sz="2200" dirty="0"/>
              </a:p>
              <a:p>
                <a:endParaRPr lang="en-US" dirty="0"/>
              </a:p>
              <a:p>
                <a:endParaRPr lang="en-US" dirty="0"/>
              </a:p>
            </p:txBody>
          </p:sp>
        </mc:Choice>
        <mc:Fallback xmlns="">
          <p:sp>
            <p:nvSpPr>
              <p:cNvPr id="7" name="TextBox 6">
                <a:extLst>
                  <a:ext uri="{FF2B5EF4-FFF2-40B4-BE49-F238E27FC236}">
                    <a16:creationId xmlns:a16="http://schemas.microsoft.com/office/drawing/2014/main" id="{FA16F4FF-825A-9D76-2523-3FA5467936FE}"/>
                  </a:ext>
                </a:extLst>
              </p:cNvPr>
              <p:cNvSpPr txBox="1">
                <a:spLocks noRot="1" noChangeAspect="1" noMove="1" noResize="1" noEditPoints="1" noAdjustHandles="1" noChangeArrowheads="1" noChangeShapeType="1" noTextEdit="1"/>
              </p:cNvSpPr>
              <p:nvPr/>
            </p:nvSpPr>
            <p:spPr>
              <a:xfrm>
                <a:off x="36456" y="782800"/>
                <a:ext cx="9477375" cy="5740674"/>
              </a:xfrm>
              <a:prstGeom prst="rect">
                <a:avLst/>
              </a:prstGeom>
              <a:blipFill>
                <a:blip r:embed="rId2"/>
                <a:stretch>
                  <a:fillRect l="-836" t="-637"/>
                </a:stretch>
              </a:blipFill>
            </p:spPr>
            <p:txBody>
              <a:bodyPr/>
              <a:lstStyle/>
              <a:p>
                <a:r>
                  <a:rPr lang="en-IN">
                    <a:noFill/>
                  </a:rPr>
                  <a:t> </a:t>
                </a:r>
              </a:p>
            </p:txBody>
          </p:sp>
        </mc:Fallback>
      </mc:AlternateContent>
      <p:pic>
        <p:nvPicPr>
          <p:cNvPr id="8" name="Picture 2">
            <a:extLst>
              <a:ext uri="{FF2B5EF4-FFF2-40B4-BE49-F238E27FC236}">
                <a16:creationId xmlns:a16="http://schemas.microsoft.com/office/drawing/2014/main" id="{63B7F99D-041B-9A13-870D-3D7848ED83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467" t="16362" r="16636" b="9664"/>
          <a:stretch/>
        </p:blipFill>
        <p:spPr bwMode="auto">
          <a:xfrm>
            <a:off x="9414588" y="556995"/>
            <a:ext cx="2777412" cy="207383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019BC094-1C22-B4C2-E80A-7DC8CF970F8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83028" y="3131979"/>
            <a:ext cx="2254255" cy="1908278"/>
          </a:xfrm>
          <a:prstGeom prst="rect">
            <a:avLst/>
          </a:prstGeom>
          <a:noFill/>
          <a:ln>
            <a:noFill/>
          </a:ln>
        </p:spPr>
      </p:pic>
      <p:sp>
        <p:nvSpPr>
          <p:cNvPr id="11" name="TextBox 10">
            <a:extLst>
              <a:ext uri="{FF2B5EF4-FFF2-40B4-BE49-F238E27FC236}">
                <a16:creationId xmlns:a16="http://schemas.microsoft.com/office/drawing/2014/main" id="{540C1949-EB8F-D829-CCF4-31B7BB333319}"/>
              </a:ext>
            </a:extLst>
          </p:cNvPr>
          <p:cNvSpPr txBox="1"/>
          <p:nvPr/>
        </p:nvSpPr>
        <p:spPr>
          <a:xfrm>
            <a:off x="8644567" y="5040257"/>
            <a:ext cx="3630256" cy="1107996"/>
          </a:xfrm>
          <a:prstGeom prst="rect">
            <a:avLst/>
          </a:prstGeom>
          <a:noFill/>
        </p:spPr>
        <p:txBody>
          <a:bodyPr wrap="square">
            <a:spAutoFit/>
          </a:bodyPr>
          <a:lstStyle/>
          <a:p>
            <a:r>
              <a:rPr lang="en-IN" sz="2200" dirty="0">
                <a:solidFill>
                  <a:srgbClr val="FF0000"/>
                </a:solidFill>
              </a:rPr>
              <a:t>The current lags behind the voltage by 90°. i.e., </a:t>
            </a:r>
            <a:r>
              <a:rPr lang="en-US" sz="2200" dirty="0">
                <a:solidFill>
                  <a:srgbClr val="FF0000"/>
                </a:solidFill>
              </a:rPr>
              <a:t>voltage and current are out of phase.</a:t>
            </a:r>
            <a:endParaRPr lang="en-IN" sz="2200" dirty="0">
              <a:solidFill>
                <a:srgbClr val="FF0000"/>
              </a:solidFill>
            </a:endParaRPr>
          </a:p>
        </p:txBody>
      </p:sp>
      <p:sp>
        <p:nvSpPr>
          <p:cNvPr id="12" name="Rounded Rectangle 17">
            <a:extLst>
              <a:ext uri="{FF2B5EF4-FFF2-40B4-BE49-F238E27FC236}">
                <a16:creationId xmlns:a16="http://schemas.microsoft.com/office/drawing/2014/main" id="{38FA6E7F-A545-8D5A-E8A2-86ED523E5717}"/>
              </a:ext>
            </a:extLst>
          </p:cNvPr>
          <p:cNvSpPr/>
          <p:nvPr/>
        </p:nvSpPr>
        <p:spPr>
          <a:xfrm>
            <a:off x="2511501" y="133686"/>
            <a:ext cx="7611177"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Steady state analysis of RL Series Circuit</a:t>
            </a:r>
            <a:endParaRPr lang="en-US" sz="2400" dirty="0"/>
          </a:p>
        </p:txBody>
      </p:sp>
      <p:sp>
        <p:nvSpPr>
          <p:cNvPr id="13" name="TextBox 12">
            <a:extLst>
              <a:ext uri="{FF2B5EF4-FFF2-40B4-BE49-F238E27FC236}">
                <a16:creationId xmlns:a16="http://schemas.microsoft.com/office/drawing/2014/main" id="{A2F5A6BD-94BF-E79E-B3B6-6F423BD0286B}"/>
              </a:ext>
            </a:extLst>
          </p:cNvPr>
          <p:cNvSpPr txBox="1"/>
          <p:nvPr/>
        </p:nvSpPr>
        <p:spPr>
          <a:xfrm>
            <a:off x="47874" y="3064544"/>
            <a:ext cx="6453635" cy="2833187"/>
          </a:xfrm>
          <a:prstGeom prst="rect">
            <a:avLst/>
          </a:prstGeom>
          <a:noFill/>
          <a:ln w="19050">
            <a:solidFill>
              <a:schemeClr val="tx1"/>
            </a:solidFill>
          </a:ln>
        </p:spPr>
        <p:txBody>
          <a:bodyPr wrap="square" rtlCol="0">
            <a:spAutoFit/>
          </a:bodyPr>
          <a:lstStyle/>
          <a:p>
            <a:endParaRPr lang="en-IN" dirty="0"/>
          </a:p>
        </p:txBody>
      </p:sp>
      <p:pic>
        <p:nvPicPr>
          <p:cNvPr id="3" name="Picture 2">
            <a:extLst>
              <a:ext uri="{FF2B5EF4-FFF2-40B4-BE49-F238E27FC236}">
                <a16:creationId xmlns:a16="http://schemas.microsoft.com/office/drawing/2014/main" id="{4BD9F3B8-1B99-CC7A-1D4A-8A930A42136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879925" y="3054137"/>
            <a:ext cx="3312075" cy="1986119"/>
          </a:xfrm>
          <a:prstGeom prst="rect">
            <a:avLst/>
          </a:prstGeom>
          <a:noFill/>
          <a:ln>
            <a:noFill/>
          </a:ln>
        </p:spPr>
      </p:pic>
    </p:spTree>
    <p:extLst>
      <p:ext uri="{BB962C8B-B14F-4D97-AF65-F5344CB8AC3E}">
        <p14:creationId xmlns:p14="http://schemas.microsoft.com/office/powerpoint/2010/main" val="2930081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A4401-D813-65C2-218A-243BB7F851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4C6BC7-DB8A-34CB-9824-560B64725647}"/>
              </a:ext>
            </a:extLst>
          </p:cNvPr>
          <p:cNvSpPr>
            <a:spLocks noGrp="1"/>
          </p:cNvSpPr>
          <p:nvPr>
            <p:ph type="sldNum" sz="quarter" idx="12"/>
          </p:nvPr>
        </p:nvSpPr>
        <p:spPr/>
        <p:txBody>
          <a:bodyPr/>
          <a:lstStyle/>
          <a:p>
            <a:fld id="{CBABCCC1-BF11-4F37-963E-1BCD5B23FD72}" type="slidenum">
              <a:rPr lang="en-IN" smtClean="0"/>
              <a:t>13</a:t>
            </a:fld>
            <a:endParaRPr lang="en-I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10AF7D9-138E-E823-B0BF-4830252C5485}"/>
                  </a:ext>
                </a:extLst>
              </p:cNvPr>
              <p:cNvSpPr txBox="1"/>
              <p:nvPr/>
            </p:nvSpPr>
            <p:spPr>
              <a:xfrm>
                <a:off x="-41064" y="562485"/>
                <a:ext cx="9847219" cy="6254213"/>
              </a:xfrm>
              <a:prstGeom prst="rect">
                <a:avLst/>
              </a:prstGeom>
              <a:noFill/>
            </p:spPr>
            <p:txBody>
              <a:bodyPr wrap="square">
                <a:spAutoFit/>
              </a:bodyPr>
              <a:lstStyle/>
              <a:p>
                <a:r>
                  <a:rPr lang="en-IN" sz="2200" dirty="0"/>
                  <a:t>Consider the function </a:t>
                </a:r>
                <a:r>
                  <a:rPr lang="en-IN" sz="2200" dirty="0" err="1"/>
                  <a:t>i</a:t>
                </a:r>
                <a:r>
                  <a:rPr lang="en-IN" sz="2200" dirty="0"/>
                  <a:t>(t)=</a:t>
                </a:r>
                <a14:m>
                  <m:oMath xmlns:m="http://schemas.openxmlformats.org/officeDocument/2006/math">
                    <m:sSub>
                      <m:sSubPr>
                        <m:ctrlPr>
                          <a:rPr lang="en-IN" sz="2200" i="1" smtClean="0">
                            <a:latin typeface="Cambria Math" panose="02040503050406030204" pitchFamily="18" charset="0"/>
                          </a:rPr>
                        </m:ctrlPr>
                      </m:sSubPr>
                      <m:e>
                        <m:r>
                          <m:rPr>
                            <m:sty m:val="p"/>
                          </m:rPr>
                          <a:rPr lang="en-US" sz="2200" b="0" i="0" smtClean="0">
                            <a:latin typeface="Cambria Math" panose="02040503050406030204" pitchFamily="18" charset="0"/>
                          </a:rPr>
                          <m:t>I</m:t>
                        </m:r>
                      </m:e>
                      <m:sub>
                        <m:r>
                          <m:rPr>
                            <m:sty m:val="p"/>
                          </m:rPr>
                          <a:rPr lang="en-US" sz="2200" b="0" i="0" smtClean="0">
                            <a:latin typeface="Cambria Math" panose="02040503050406030204" pitchFamily="18" charset="0"/>
                          </a:rPr>
                          <m:t>m</m:t>
                        </m:r>
                      </m:sub>
                    </m:sSub>
                  </m:oMath>
                </a14:m>
                <a:r>
                  <a:rPr lang="en-IN" sz="2200" dirty="0"/>
                  <a:t>sin</a:t>
                </a:r>
                <a14:m>
                  <m:oMath xmlns:m="http://schemas.openxmlformats.org/officeDocument/2006/math">
                    <m:r>
                      <m:rPr>
                        <m:sty m:val="p"/>
                      </m:rPr>
                      <a:rPr lang="en-IN" sz="2200" i="0" dirty="0" smtClean="0">
                        <a:latin typeface="Cambria Math" panose="02040503050406030204" pitchFamily="18" charset="0"/>
                        <a:ea typeface="Cambria Math" panose="02040503050406030204" pitchFamily="18" charset="0"/>
                      </a:rPr>
                      <m:t>ω</m:t>
                    </m:r>
                    <m:r>
                      <m:rPr>
                        <m:sty m:val="p"/>
                      </m:rPr>
                      <a:rPr lang="en-US" sz="2200" b="0" i="0" dirty="0" smtClean="0">
                        <a:latin typeface="Cambria Math" panose="02040503050406030204" pitchFamily="18" charset="0"/>
                        <a:ea typeface="Cambria Math" panose="02040503050406030204" pitchFamily="18" charset="0"/>
                      </a:rPr>
                      <m:t>t</m:t>
                    </m:r>
                    <m:r>
                      <a:rPr lang="en-US" sz="2000" dirty="0">
                        <a:latin typeface="Cambria Math" panose="02040503050406030204" pitchFamily="18" charset="0"/>
                        <a:ea typeface="Cambria Math" panose="02040503050406030204" pitchFamily="18" charset="0"/>
                      </a:rPr>
                      <m:t>=</m:t>
                    </m:r>
                    <m:r>
                      <m:rPr>
                        <m:nor/>
                      </m:rPr>
                      <a:rPr lang="en-IN" sz="2000" dirty="0"/>
                      <m:t> </m:t>
                    </m:r>
                    <m:sSub>
                      <m:sSubPr>
                        <m:ctrlPr>
                          <a:rPr lang="en-IN" sz="2000" i="1">
                            <a:latin typeface="Cambria Math" panose="02040503050406030204" pitchFamily="18" charset="0"/>
                          </a:rPr>
                        </m:ctrlPr>
                      </m:sSubPr>
                      <m:e>
                        <m:r>
                          <m:rPr>
                            <m:sty m:val="p"/>
                          </m:rPr>
                          <a:rPr lang="en-US" sz="2000">
                            <a:latin typeface="Cambria Math" panose="02040503050406030204" pitchFamily="18" charset="0"/>
                          </a:rPr>
                          <m:t>I</m:t>
                        </m:r>
                      </m:e>
                      <m:sub>
                        <m:r>
                          <m:rPr>
                            <m:sty m:val="p"/>
                          </m:rPr>
                          <a:rPr lang="en-US" sz="2000">
                            <a:latin typeface="Cambria Math" panose="02040503050406030204" pitchFamily="18" charset="0"/>
                          </a:rPr>
                          <m:t>m</m:t>
                        </m:r>
                      </m:sub>
                    </m:sSub>
                    <m:r>
                      <m:rPr>
                        <m:nor/>
                      </m:rPr>
                      <a:rPr lang="en-US" sz="2000" dirty="0">
                        <a:ea typeface="Cambria Math" panose="02040503050406030204" pitchFamily="18" charset="0"/>
                      </a:rPr>
                      <m:t> </m:t>
                    </m:r>
                    <m:r>
                      <a:rPr lang="en-US" sz="2000">
                        <a:latin typeface="Cambria Math" panose="02040503050406030204" pitchFamily="18" charset="0"/>
                        <a:ea typeface="Cambria Math" panose="02040503050406030204" pitchFamily="18" charset="0"/>
                      </a:rPr>
                      <m:t>∠</m:t>
                    </m:r>
                    <m:r>
                      <m:rPr>
                        <m:nor/>
                      </m:rPr>
                      <a:rPr lang="en-US" sz="2000" dirty="0">
                        <a:ea typeface="Cambria Math" panose="02040503050406030204" pitchFamily="18" charset="0"/>
                      </a:rPr>
                      <m:t> </m:t>
                    </m:r>
                    <m:r>
                      <a:rPr lang="en-US" sz="2000" dirty="0">
                        <a:latin typeface="Cambria Math" panose="02040503050406030204" pitchFamily="18" charset="0"/>
                        <a:ea typeface="Cambria Math" panose="02040503050406030204" pitchFamily="18" charset="0"/>
                      </a:rPr>
                      <m:t>0°</m:t>
                    </m:r>
                    <m:r>
                      <a:rPr lang="en-US" sz="2000" b="0" i="0" dirty="0" smtClean="0">
                        <a:latin typeface="Cambria Math" panose="02040503050406030204" pitchFamily="18" charset="0"/>
                        <a:ea typeface="Cambria Math" panose="02040503050406030204" pitchFamily="18" charset="0"/>
                      </a:rPr>
                      <m:t>=</m:t>
                    </m:r>
                  </m:oMath>
                </a14:m>
                <a:r>
                  <a:rPr lang="en-IN" sz="2200" dirty="0"/>
                  <a:t> </a:t>
                </a:r>
                <a14:m>
                  <m:oMath xmlns:m="http://schemas.openxmlformats.org/officeDocument/2006/math">
                    <m:sSub>
                      <m:sSubPr>
                        <m:ctrlPr>
                          <a:rPr lang="en-IN" sz="2200" i="1">
                            <a:latin typeface="Cambria Math" panose="02040503050406030204" pitchFamily="18" charset="0"/>
                          </a:rPr>
                        </m:ctrlPr>
                      </m:sSubPr>
                      <m:e>
                        <m:r>
                          <m:rPr>
                            <m:sty m:val="p"/>
                          </m:rPr>
                          <a:rPr lang="en-US" sz="2200">
                            <a:latin typeface="Cambria Math" panose="02040503050406030204" pitchFamily="18" charset="0"/>
                          </a:rPr>
                          <m:t>I</m:t>
                        </m:r>
                      </m:e>
                      <m:sub>
                        <m:r>
                          <m:rPr>
                            <m:sty m:val="p"/>
                          </m:rPr>
                          <a:rPr lang="en-US" sz="2200">
                            <a:latin typeface="Cambria Math" panose="02040503050406030204" pitchFamily="18" charset="0"/>
                          </a:rPr>
                          <m:t>m</m:t>
                        </m:r>
                      </m:sub>
                    </m:sSub>
                  </m:oMath>
                </a14:m>
                <a:endParaRPr lang="en-US" sz="2200" b="0" dirty="0">
                  <a:ea typeface="Cambria Math" panose="02040503050406030204" pitchFamily="18" charset="0"/>
                </a:endParaRPr>
              </a:p>
              <a:p>
                <a:pPr marL="342900" indent="-342900">
                  <a:lnSpc>
                    <a:spcPct val="100000"/>
                  </a:lnSpc>
                  <a:buFont typeface="Arial" panose="020B0604020202020204" pitchFamily="34" charset="0"/>
                  <a:buChar char="•"/>
                </a:pPr>
                <a:r>
                  <a:rPr lang="en-US" sz="2200" dirty="0"/>
                  <a:t>The voltage current relation in the case of a </a:t>
                </a:r>
                <a:r>
                  <a:rPr lang="en-US" sz="2200" b="1" dirty="0"/>
                  <a:t>resistor</a:t>
                </a:r>
                <a:r>
                  <a:rPr lang="en-US" sz="2200" dirty="0"/>
                  <a:t> is given by</a:t>
                </a:r>
              </a:p>
              <a:p>
                <a:pPr algn="ctr"/>
                <a14:m>
                  <m:oMath xmlns:m="http://schemas.openxmlformats.org/officeDocument/2006/math">
                    <m:sSub>
                      <m:sSubPr>
                        <m:ctrlPr>
                          <a:rPr lang="en-IN" sz="2200" i="1" smtClean="0">
                            <a:latin typeface="Cambria Math" panose="02040503050406030204" pitchFamily="18" charset="0"/>
                          </a:rPr>
                        </m:ctrlPr>
                      </m:sSubPr>
                      <m:e>
                        <m:r>
                          <m:rPr>
                            <m:sty m:val="p"/>
                          </m:rPr>
                          <a:rPr lang="en-US" sz="2200" b="0" i="0" smtClean="0">
                            <a:latin typeface="Cambria Math" panose="02040503050406030204" pitchFamily="18" charset="0"/>
                          </a:rPr>
                          <m:t>V</m:t>
                        </m:r>
                      </m:e>
                      <m:sub>
                        <m:r>
                          <m:rPr>
                            <m:sty m:val="p"/>
                          </m:rPr>
                          <a:rPr lang="en-US" sz="2200" b="0" i="0" smtClean="0">
                            <a:latin typeface="Cambria Math" panose="02040503050406030204" pitchFamily="18" charset="0"/>
                          </a:rPr>
                          <m:t>R</m:t>
                        </m:r>
                      </m:sub>
                    </m:sSub>
                    <m:r>
                      <a:rPr lang="en-US" sz="2200" b="0" i="0" smtClean="0">
                        <a:latin typeface="Cambria Math" panose="02040503050406030204" pitchFamily="18" charset="0"/>
                      </a:rPr>
                      <m:t>=</m:t>
                    </m:r>
                    <m:r>
                      <m:rPr>
                        <m:sty m:val="p"/>
                      </m:rPr>
                      <a:rPr lang="en-US" sz="2200" b="0" i="0" smtClean="0">
                        <a:latin typeface="Cambria Math" panose="02040503050406030204" pitchFamily="18" charset="0"/>
                      </a:rPr>
                      <m:t>i</m:t>
                    </m:r>
                    <m:d>
                      <m:dPr>
                        <m:ctrlPr>
                          <a:rPr lang="en-US" sz="2200" b="0" i="1" smtClean="0">
                            <a:latin typeface="Cambria Math" panose="02040503050406030204" pitchFamily="18" charset="0"/>
                          </a:rPr>
                        </m:ctrlPr>
                      </m:dPr>
                      <m:e>
                        <m:r>
                          <m:rPr>
                            <m:sty m:val="p"/>
                          </m:rPr>
                          <a:rPr lang="en-US" sz="2200" b="0" i="0" smtClean="0">
                            <a:latin typeface="Cambria Math" panose="02040503050406030204" pitchFamily="18" charset="0"/>
                          </a:rPr>
                          <m:t>t</m:t>
                        </m:r>
                      </m:e>
                    </m:d>
                    <m:r>
                      <m:rPr>
                        <m:sty m:val="p"/>
                      </m:rPr>
                      <a:rPr lang="en-US" sz="2200" b="0" i="0" smtClean="0">
                        <a:latin typeface="Cambria Math" panose="02040503050406030204" pitchFamily="18" charset="0"/>
                      </a:rPr>
                      <m:t>R</m:t>
                    </m:r>
                    <m:r>
                      <a:rPr lang="en-US" sz="2200" b="0" i="0" smtClean="0">
                        <a:latin typeface="Cambria Math" panose="02040503050406030204" pitchFamily="18" charset="0"/>
                      </a:rPr>
                      <m:t>=</m:t>
                    </m:r>
                    <m:sSub>
                      <m:sSubPr>
                        <m:ctrlPr>
                          <a:rPr lang="en-IN" sz="2200" i="1" smtClean="0">
                            <a:latin typeface="Cambria Math" panose="02040503050406030204" pitchFamily="18" charset="0"/>
                          </a:rPr>
                        </m:ctrlPr>
                      </m:sSubPr>
                      <m:e>
                        <m:r>
                          <m:rPr>
                            <m:sty m:val="p"/>
                          </m:rPr>
                          <a:rPr lang="en-US" sz="2200" b="0" i="0" smtClean="0">
                            <a:latin typeface="Cambria Math" panose="02040503050406030204" pitchFamily="18" charset="0"/>
                          </a:rPr>
                          <m:t>I</m:t>
                        </m:r>
                      </m:e>
                      <m:sub>
                        <m:r>
                          <m:rPr>
                            <m:sty m:val="p"/>
                          </m:rPr>
                          <a:rPr lang="en-US" sz="2200" b="0" i="0" smtClean="0">
                            <a:latin typeface="Cambria Math" panose="02040503050406030204" pitchFamily="18" charset="0"/>
                          </a:rPr>
                          <m:t>m</m:t>
                        </m:r>
                      </m:sub>
                    </m:sSub>
                  </m:oMath>
                </a14:m>
                <a:r>
                  <a:rPr lang="en-IN" sz="2200" dirty="0"/>
                  <a:t>Rsin</a:t>
                </a:r>
                <a14:m>
                  <m:oMath xmlns:m="http://schemas.openxmlformats.org/officeDocument/2006/math">
                    <m:r>
                      <m:rPr>
                        <m:sty m:val="p"/>
                      </m:rPr>
                      <a:rPr lang="en-IN" sz="2200" i="0" dirty="0" smtClean="0">
                        <a:latin typeface="Cambria Math" panose="02040503050406030204" pitchFamily="18" charset="0"/>
                        <a:ea typeface="Cambria Math" panose="02040503050406030204" pitchFamily="18" charset="0"/>
                      </a:rPr>
                      <m:t>ω</m:t>
                    </m:r>
                    <m:r>
                      <m:rPr>
                        <m:sty m:val="p"/>
                      </m:rPr>
                      <a:rPr lang="en-US" sz="2200" b="0" i="0" dirty="0" smtClean="0">
                        <a:latin typeface="Cambria Math" panose="02040503050406030204" pitchFamily="18" charset="0"/>
                        <a:ea typeface="Cambria Math" panose="02040503050406030204" pitchFamily="18" charset="0"/>
                      </a:rPr>
                      <m:t>t</m:t>
                    </m:r>
                    <m:r>
                      <a:rPr lang="en-US" sz="2200" b="0" i="0" dirty="0" smtClean="0">
                        <a:latin typeface="Cambria Math" panose="02040503050406030204" pitchFamily="18" charset="0"/>
                        <a:ea typeface="Cambria Math" panose="02040503050406030204" pitchFamily="18" charset="0"/>
                      </a:rPr>
                      <m:t>=</m:t>
                    </m:r>
                    <m:sSub>
                      <m:sSubPr>
                        <m:ctrlPr>
                          <a:rPr lang="en-IN" sz="2200" i="1">
                            <a:latin typeface="Cambria Math" panose="02040503050406030204" pitchFamily="18" charset="0"/>
                          </a:rPr>
                        </m:ctrlPr>
                      </m:sSubPr>
                      <m:e>
                        <m:r>
                          <m:rPr>
                            <m:sty m:val="p"/>
                          </m:rPr>
                          <a:rPr lang="en-US" sz="2200" b="0" i="0" smtClean="0">
                            <a:latin typeface="Cambria Math" panose="02040503050406030204" pitchFamily="18" charset="0"/>
                          </a:rPr>
                          <m:t>I</m:t>
                        </m:r>
                      </m:e>
                      <m:sub>
                        <m:r>
                          <m:rPr>
                            <m:sty m:val="p"/>
                          </m:rPr>
                          <a:rPr lang="en-US" sz="2200">
                            <a:latin typeface="Cambria Math" panose="02040503050406030204" pitchFamily="18" charset="0"/>
                          </a:rPr>
                          <m:t>m</m:t>
                        </m:r>
                      </m:sub>
                    </m:sSub>
                    <m:r>
                      <m:rPr>
                        <m:nor/>
                      </m:rPr>
                      <a:rPr lang="en-US" sz="2200" b="0" i="0" smtClean="0">
                        <a:latin typeface="Cambria Math" panose="02040503050406030204" pitchFamily="18" charset="0"/>
                      </a:rPr>
                      <m:t>R</m:t>
                    </m:r>
                    <m:r>
                      <m:rPr>
                        <m:nor/>
                      </m:rPr>
                      <a:rPr lang="en-US" sz="2200" dirty="0">
                        <a:ea typeface="Cambria Math" panose="02040503050406030204" pitchFamily="18" charset="0"/>
                      </a:rPr>
                      <m:t> </m:t>
                    </m:r>
                    <m:r>
                      <a:rPr lang="en-US" sz="2200">
                        <a:latin typeface="Cambria Math" panose="02040503050406030204" pitchFamily="18" charset="0"/>
                        <a:ea typeface="Cambria Math" panose="02040503050406030204" pitchFamily="18" charset="0"/>
                      </a:rPr>
                      <m:t>∠</m:t>
                    </m:r>
                    <m:r>
                      <m:rPr>
                        <m:nor/>
                      </m:rPr>
                      <a:rPr lang="en-US" sz="2200" dirty="0">
                        <a:ea typeface="Cambria Math" panose="02040503050406030204" pitchFamily="18" charset="0"/>
                      </a:rPr>
                      <m:t> </m:t>
                    </m:r>
                    <m:r>
                      <a:rPr lang="en-US" sz="2200" dirty="0">
                        <a:latin typeface="Cambria Math" panose="02040503050406030204" pitchFamily="18" charset="0"/>
                        <a:ea typeface="Cambria Math" panose="02040503050406030204" pitchFamily="18" charset="0"/>
                      </a:rPr>
                      <m:t>0°</m:t>
                    </m:r>
                    <m:r>
                      <a:rPr lang="en-US" sz="2200" b="0" i="0" dirty="0" smtClean="0">
                        <a:latin typeface="Cambria Math" panose="02040503050406030204" pitchFamily="18" charset="0"/>
                        <a:ea typeface="Cambria Math" panose="02040503050406030204" pitchFamily="18" charset="0"/>
                      </a:rPr>
                      <m:t>=</m:t>
                    </m:r>
                    <m:sSub>
                      <m:sSubPr>
                        <m:ctrlPr>
                          <a:rPr lang="en-IN" sz="2200" i="1">
                            <a:latin typeface="Cambria Math" panose="02040503050406030204" pitchFamily="18" charset="0"/>
                          </a:rPr>
                        </m:ctrlPr>
                      </m:sSubPr>
                      <m:e>
                        <m:r>
                          <m:rPr>
                            <m:sty m:val="p"/>
                          </m:rPr>
                          <a:rPr lang="en-US" sz="2200">
                            <a:latin typeface="Cambria Math" panose="02040503050406030204" pitchFamily="18" charset="0"/>
                          </a:rPr>
                          <m:t>I</m:t>
                        </m:r>
                      </m:e>
                      <m:sub>
                        <m:r>
                          <m:rPr>
                            <m:sty m:val="p"/>
                          </m:rPr>
                          <a:rPr lang="en-US" sz="2200">
                            <a:latin typeface="Cambria Math" panose="02040503050406030204" pitchFamily="18" charset="0"/>
                          </a:rPr>
                          <m:t>m</m:t>
                        </m:r>
                      </m:sub>
                    </m:sSub>
                    <m:r>
                      <m:rPr>
                        <m:nor/>
                      </m:rPr>
                      <a:rPr lang="en-US" sz="2200">
                        <a:latin typeface="Cambria Math" panose="02040503050406030204" pitchFamily="18" charset="0"/>
                      </a:rPr>
                      <m:t>R</m:t>
                    </m:r>
                  </m:oMath>
                </a14:m>
                <a:endParaRPr lang="en-US" sz="2200" dirty="0"/>
              </a:p>
              <a:p>
                <a:pPr marL="342900" indent="-342900">
                  <a:lnSpc>
                    <a:spcPct val="100000"/>
                  </a:lnSpc>
                  <a:buFont typeface="Arial" panose="020B0604020202020204" pitchFamily="34" charset="0"/>
                  <a:buChar char="•"/>
                </a:pPr>
                <a:r>
                  <a:rPr lang="en-US" sz="2200" dirty="0"/>
                  <a:t>The voltage-current relation in the case of a </a:t>
                </a:r>
                <a:r>
                  <a:rPr lang="en-US" sz="2200" b="1" dirty="0"/>
                  <a:t>capacitor</a:t>
                </a:r>
                <a:r>
                  <a:rPr lang="en-US" sz="2200" dirty="0"/>
                  <a:t> is given by</a:t>
                </a:r>
              </a:p>
              <a:p>
                <a:pPr algn="ctr"/>
                <a14:m>
                  <m:oMathPara xmlns:m="http://schemas.openxmlformats.org/officeDocument/2006/math">
                    <m:oMathParaPr>
                      <m:jc m:val="left"/>
                    </m:oMathParaPr>
                    <m:oMath xmlns:m="http://schemas.openxmlformats.org/officeDocument/2006/math">
                      <m:sSub>
                        <m:sSubPr>
                          <m:ctrlPr>
                            <a:rPr lang="en-IN" sz="1600" i="1">
                              <a:latin typeface="Cambria Math" panose="02040503050406030204" pitchFamily="18" charset="0"/>
                            </a:rPr>
                          </m:ctrlPr>
                        </m:sSubPr>
                        <m:e>
                          <m:r>
                            <m:rPr>
                              <m:sty m:val="p"/>
                            </m:rPr>
                            <a:rPr lang="en-US" sz="1600">
                              <a:latin typeface="Cambria Math" panose="02040503050406030204" pitchFamily="18" charset="0"/>
                            </a:rPr>
                            <m:t>V</m:t>
                          </m:r>
                        </m:e>
                        <m:sub>
                          <m:r>
                            <m:rPr>
                              <m:sty m:val="p"/>
                            </m:rPr>
                            <a:rPr lang="en-US" sz="1600" b="0" i="0" smtClean="0">
                              <a:latin typeface="Cambria Math" panose="02040503050406030204" pitchFamily="18" charset="0"/>
                            </a:rPr>
                            <m:t>C</m:t>
                          </m:r>
                        </m:sub>
                      </m:sSub>
                      <m:r>
                        <a:rPr lang="en-US" sz="1600" b="0" i="0" smtClean="0">
                          <a:latin typeface="Cambria Math" panose="02040503050406030204" pitchFamily="18" charset="0"/>
                        </a:rPr>
                        <m:t>=</m:t>
                      </m:r>
                      <m:f>
                        <m:fPr>
                          <m:ctrlPr>
                            <a:rPr lang="en-US" sz="1600" i="1">
                              <a:latin typeface="Cambria Math" panose="02040503050406030204" pitchFamily="18" charset="0"/>
                            </a:rPr>
                          </m:ctrlPr>
                        </m:fPr>
                        <m:num>
                          <m:r>
                            <a:rPr lang="en-US" sz="1600">
                              <a:latin typeface="Cambria Math" panose="02040503050406030204" pitchFamily="18" charset="0"/>
                            </a:rPr>
                            <m:t>1</m:t>
                          </m:r>
                        </m:num>
                        <m:den>
                          <m:r>
                            <m:rPr>
                              <m:sty m:val="p"/>
                            </m:rPr>
                            <a:rPr lang="en-US" sz="1600">
                              <a:latin typeface="Cambria Math" panose="02040503050406030204" pitchFamily="18" charset="0"/>
                            </a:rPr>
                            <m:t>C</m:t>
                          </m:r>
                        </m:den>
                      </m:f>
                      <m:nary>
                        <m:naryPr>
                          <m:limLoc m:val="undOvr"/>
                          <m:subHide m:val="on"/>
                          <m:supHide m:val="on"/>
                          <m:ctrlPr>
                            <a:rPr lang="en-US" sz="1600" b="0" i="1" smtClean="0">
                              <a:latin typeface="Cambria Math" panose="02040503050406030204" pitchFamily="18" charset="0"/>
                            </a:rPr>
                          </m:ctrlPr>
                        </m:naryPr>
                        <m:sub/>
                        <m:sup/>
                        <m:e>
                          <m:r>
                            <m:rPr>
                              <m:sty m:val="p"/>
                            </m:rPr>
                            <a:rPr lang="en-US" sz="1600" i="0">
                              <a:latin typeface="Cambria Math" panose="02040503050406030204" pitchFamily="18" charset="0"/>
                            </a:rPr>
                            <m:t>i</m:t>
                          </m:r>
                          <m:d>
                            <m:dPr>
                              <m:ctrlPr>
                                <a:rPr lang="en-US" sz="1600" i="1">
                                  <a:latin typeface="Cambria Math" panose="02040503050406030204" pitchFamily="18" charset="0"/>
                                </a:rPr>
                              </m:ctrlPr>
                            </m:dPr>
                            <m:e>
                              <m:r>
                                <m:rPr>
                                  <m:sty m:val="p"/>
                                </m:rPr>
                                <a:rPr lang="en-US" sz="1600" i="0">
                                  <a:latin typeface="Cambria Math" panose="02040503050406030204" pitchFamily="18" charset="0"/>
                                </a:rPr>
                                <m:t>t</m:t>
                              </m:r>
                            </m:e>
                          </m:d>
                          <m:r>
                            <m:rPr>
                              <m:sty m:val="p"/>
                            </m:rPr>
                            <a:rPr lang="en-US" sz="1600" i="0">
                              <a:latin typeface="Cambria Math" panose="02040503050406030204" pitchFamily="18" charset="0"/>
                            </a:rPr>
                            <m:t>dt</m:t>
                          </m:r>
                        </m:e>
                      </m:nary>
                      <m:r>
                        <a:rPr lang="en-US" sz="1600" b="0" i="1" smtClean="0">
                          <a:latin typeface="Cambria Math" panose="02040503050406030204" pitchFamily="18" charset="0"/>
                        </a:rPr>
                        <m:t>=</m:t>
                      </m:r>
                      <m:f>
                        <m:fPr>
                          <m:ctrlPr>
                            <a:rPr lang="en-US" sz="1600" i="1">
                              <a:latin typeface="Cambria Math" panose="02040503050406030204" pitchFamily="18" charset="0"/>
                            </a:rPr>
                          </m:ctrlPr>
                        </m:fPr>
                        <m:num>
                          <m:r>
                            <a:rPr lang="en-US" sz="1600">
                              <a:latin typeface="Cambria Math" panose="02040503050406030204" pitchFamily="18" charset="0"/>
                            </a:rPr>
                            <m:t>1</m:t>
                          </m:r>
                        </m:num>
                        <m:den>
                          <m:r>
                            <m:rPr>
                              <m:sty m:val="p"/>
                            </m:rPr>
                            <a:rPr lang="en-US" sz="1600">
                              <a:latin typeface="Cambria Math" panose="02040503050406030204" pitchFamily="18" charset="0"/>
                            </a:rPr>
                            <m:t>C</m:t>
                          </m:r>
                        </m:den>
                      </m:f>
                      <m:nary>
                        <m:naryPr>
                          <m:limLoc m:val="undOvr"/>
                          <m:subHide m:val="on"/>
                          <m:supHide m:val="on"/>
                          <m:ctrlPr>
                            <a:rPr lang="en-US" sz="1600" i="1">
                              <a:latin typeface="Cambria Math" panose="02040503050406030204" pitchFamily="18" charset="0"/>
                            </a:rPr>
                          </m:ctrlPr>
                        </m:naryPr>
                        <m:sub/>
                        <m:sup/>
                        <m:e>
                          <m:sSub>
                            <m:sSubPr>
                              <m:ctrlPr>
                                <a:rPr lang="en-IN" sz="1600" i="1">
                                  <a:latin typeface="Cambria Math" panose="02040503050406030204" pitchFamily="18" charset="0"/>
                                </a:rPr>
                              </m:ctrlPr>
                            </m:sSubPr>
                            <m:e>
                              <m:r>
                                <m:rPr>
                                  <m:sty m:val="p"/>
                                </m:rPr>
                                <a:rPr lang="en-US" sz="1600">
                                  <a:latin typeface="Cambria Math" panose="02040503050406030204" pitchFamily="18" charset="0"/>
                                </a:rPr>
                                <m:t>I</m:t>
                              </m:r>
                            </m:e>
                            <m:sub>
                              <m:r>
                                <m:rPr>
                                  <m:sty m:val="p"/>
                                </m:rPr>
                                <a:rPr lang="en-US" sz="1600">
                                  <a:latin typeface="Cambria Math" panose="02040503050406030204" pitchFamily="18" charset="0"/>
                                </a:rPr>
                                <m:t>m</m:t>
                              </m:r>
                            </m:sub>
                          </m:sSub>
                          <m:r>
                            <m:rPr>
                              <m:nor/>
                            </m:rPr>
                            <a:rPr lang="en-IN" sz="1600" dirty="0"/>
                            <m:t>sin</m:t>
                          </m:r>
                          <m:r>
                            <m:rPr>
                              <m:sty m:val="p"/>
                            </m:rPr>
                            <a:rPr lang="en-IN" sz="1600" dirty="0">
                              <a:latin typeface="Cambria Math" panose="02040503050406030204" pitchFamily="18" charset="0"/>
                              <a:ea typeface="Cambria Math" panose="02040503050406030204" pitchFamily="18" charset="0"/>
                            </a:rPr>
                            <m:t>ω</m:t>
                          </m:r>
                          <m:r>
                            <m:rPr>
                              <m:sty m:val="p"/>
                            </m:rPr>
                            <a:rPr lang="en-US" sz="1600" dirty="0">
                              <a:latin typeface="Cambria Math" panose="02040503050406030204" pitchFamily="18" charset="0"/>
                              <a:ea typeface="Cambria Math" panose="02040503050406030204" pitchFamily="18" charset="0"/>
                            </a:rPr>
                            <m:t>tdt</m:t>
                          </m:r>
                        </m:e>
                      </m:nary>
                      <m:r>
                        <a:rPr lang="en-US" sz="1600">
                          <a:latin typeface="Cambria Math" panose="02040503050406030204" pitchFamily="18" charset="0"/>
                        </a:rPr>
                        <m:t>=</m:t>
                      </m:r>
                      <m:f>
                        <m:fPr>
                          <m:ctrlPr>
                            <a:rPr lang="en-US" sz="1600" i="1">
                              <a:latin typeface="Cambria Math" panose="02040503050406030204" pitchFamily="18" charset="0"/>
                            </a:rPr>
                          </m:ctrlPr>
                        </m:fPr>
                        <m:num>
                          <m:r>
                            <a:rPr lang="en-US" sz="1600">
                              <a:latin typeface="Cambria Math" panose="02040503050406030204" pitchFamily="18" charset="0"/>
                            </a:rPr>
                            <m:t>1</m:t>
                          </m:r>
                        </m:num>
                        <m:den>
                          <m:r>
                            <m:rPr>
                              <m:sty m:val="p"/>
                            </m:rPr>
                            <a:rPr lang="en-US" sz="1600">
                              <a:latin typeface="Cambria Math" panose="02040503050406030204" pitchFamily="18" charset="0"/>
                            </a:rPr>
                            <m:t>C</m:t>
                          </m:r>
                        </m:den>
                      </m:f>
                      <m:sSub>
                        <m:sSubPr>
                          <m:ctrlPr>
                            <a:rPr lang="en-IN" sz="1600" i="1">
                              <a:latin typeface="Cambria Math" panose="02040503050406030204" pitchFamily="18" charset="0"/>
                            </a:rPr>
                          </m:ctrlPr>
                        </m:sSubPr>
                        <m:e>
                          <m:r>
                            <m:rPr>
                              <m:sty m:val="p"/>
                            </m:rPr>
                            <a:rPr lang="en-US" sz="1600">
                              <a:latin typeface="Cambria Math" panose="02040503050406030204" pitchFamily="18" charset="0"/>
                            </a:rPr>
                            <m:t>I</m:t>
                          </m:r>
                        </m:e>
                        <m:sub>
                          <m:r>
                            <m:rPr>
                              <m:sty m:val="p"/>
                            </m:rPr>
                            <a:rPr lang="en-US" sz="1600">
                              <a:latin typeface="Cambria Math" panose="02040503050406030204" pitchFamily="18" charset="0"/>
                            </a:rPr>
                            <m:t>m</m:t>
                          </m:r>
                        </m:sub>
                      </m:sSub>
                      <m:d>
                        <m:dPr>
                          <m:ctrlPr>
                            <a:rPr lang="en-IN" sz="1600" i="1" dirty="0">
                              <a:latin typeface="Cambria Math" panose="02040503050406030204" pitchFamily="18" charset="0"/>
                              <a:ea typeface="Cambria Math" panose="02040503050406030204" pitchFamily="18" charset="0"/>
                            </a:rPr>
                          </m:ctrlPr>
                        </m:dPr>
                        <m:e>
                          <m:f>
                            <m:fPr>
                              <m:ctrlPr>
                                <a:rPr lang="en-IN" sz="1600" i="1" dirty="0">
                                  <a:latin typeface="Cambria Math" panose="02040503050406030204" pitchFamily="18" charset="0"/>
                                  <a:ea typeface="Cambria Math" panose="02040503050406030204" pitchFamily="18" charset="0"/>
                                </a:rPr>
                              </m:ctrlPr>
                            </m:fPr>
                            <m:num>
                              <m:r>
                                <a:rPr lang="en-US" sz="1600" b="1" dirty="0">
                                  <a:latin typeface="Cambria Math" panose="02040503050406030204" pitchFamily="18" charset="0"/>
                                  <a:ea typeface="Cambria Math" panose="02040503050406030204" pitchFamily="18" charset="0"/>
                                </a:rPr>
                                <m:t>−</m:t>
                              </m:r>
                              <m:r>
                                <m:rPr>
                                  <m:nor/>
                                </m:rPr>
                                <a:rPr lang="en-US" sz="1600" dirty="0">
                                  <a:latin typeface="Cambria Math" panose="02040503050406030204" pitchFamily="18" charset="0"/>
                                  <a:ea typeface="Cambria Math" panose="02040503050406030204" pitchFamily="18" charset="0"/>
                                </a:rPr>
                                <m:t>c</m:t>
                              </m:r>
                              <m:r>
                                <m:rPr>
                                  <m:sty m:val="p"/>
                                </m:rPr>
                                <a:rPr lang="en-US" sz="1600" dirty="0">
                                  <a:latin typeface="Cambria Math" panose="02040503050406030204" pitchFamily="18" charset="0"/>
                                  <a:ea typeface="Cambria Math" panose="02040503050406030204" pitchFamily="18" charset="0"/>
                                </a:rPr>
                                <m:t>os</m:t>
                              </m:r>
                              <m:r>
                                <m:rPr>
                                  <m:sty m:val="p"/>
                                </m:rPr>
                                <a:rPr lang="en-IN" sz="1600" dirty="0">
                                  <a:latin typeface="Cambria Math" panose="02040503050406030204" pitchFamily="18" charset="0"/>
                                  <a:ea typeface="Cambria Math" panose="02040503050406030204" pitchFamily="18" charset="0"/>
                                </a:rPr>
                                <m:t>ω</m:t>
                              </m:r>
                              <m:r>
                                <m:rPr>
                                  <m:sty m:val="p"/>
                                </m:rPr>
                                <a:rPr lang="en-US" sz="1600" dirty="0">
                                  <a:latin typeface="Cambria Math" panose="02040503050406030204" pitchFamily="18" charset="0"/>
                                  <a:ea typeface="Cambria Math" panose="02040503050406030204" pitchFamily="18" charset="0"/>
                                </a:rPr>
                                <m:t>t</m:t>
                              </m:r>
                            </m:num>
                            <m:den>
                              <m:r>
                                <m:rPr>
                                  <m:sty m:val="p"/>
                                </m:rPr>
                                <a:rPr lang="en-IN" sz="1600" dirty="0">
                                  <a:latin typeface="Cambria Math" panose="02040503050406030204" pitchFamily="18" charset="0"/>
                                  <a:ea typeface="Cambria Math" panose="02040503050406030204" pitchFamily="18" charset="0"/>
                                </a:rPr>
                                <m:t>ω</m:t>
                              </m:r>
                            </m:den>
                          </m:f>
                        </m:e>
                      </m:d>
                      <m:r>
                        <a:rPr lang="en-US" sz="1600">
                          <a:latin typeface="Cambria Math" panose="02040503050406030204" pitchFamily="18" charset="0"/>
                        </a:rPr>
                        <m:t>=</m:t>
                      </m:r>
                      <m:f>
                        <m:fPr>
                          <m:ctrlPr>
                            <a:rPr lang="en-US" sz="1600" i="1">
                              <a:latin typeface="Cambria Math" panose="02040503050406030204" pitchFamily="18" charset="0"/>
                            </a:rPr>
                          </m:ctrlPr>
                        </m:fPr>
                        <m:num>
                          <m:sSub>
                            <m:sSubPr>
                              <m:ctrlPr>
                                <a:rPr lang="en-IN" sz="1600" i="1">
                                  <a:latin typeface="Cambria Math" panose="02040503050406030204" pitchFamily="18" charset="0"/>
                                </a:rPr>
                              </m:ctrlPr>
                            </m:sSubPr>
                            <m:e>
                              <m:r>
                                <m:rPr>
                                  <m:sty m:val="p"/>
                                </m:rPr>
                                <a:rPr lang="en-US" sz="1600">
                                  <a:latin typeface="Cambria Math" panose="02040503050406030204" pitchFamily="18" charset="0"/>
                                </a:rPr>
                                <m:t>I</m:t>
                              </m:r>
                            </m:e>
                            <m:sub>
                              <m:r>
                                <m:rPr>
                                  <m:sty m:val="p"/>
                                </m:rPr>
                                <a:rPr lang="en-US" sz="1600">
                                  <a:latin typeface="Cambria Math" panose="02040503050406030204" pitchFamily="18" charset="0"/>
                                </a:rPr>
                                <m:t>m</m:t>
                              </m:r>
                            </m:sub>
                          </m:sSub>
                        </m:num>
                        <m:den>
                          <m:r>
                            <m:rPr>
                              <m:sty m:val="p"/>
                            </m:rPr>
                            <a:rPr lang="en-US" sz="1600">
                              <a:latin typeface="Cambria Math" panose="02040503050406030204" pitchFamily="18" charset="0"/>
                              <a:ea typeface="Cambria Math" panose="02040503050406030204" pitchFamily="18" charset="0"/>
                            </a:rPr>
                            <m:t>ω</m:t>
                          </m:r>
                          <m:r>
                            <m:rPr>
                              <m:sty m:val="p"/>
                            </m:rPr>
                            <a:rPr lang="en-US" sz="1600">
                              <a:latin typeface="Cambria Math" panose="02040503050406030204" pitchFamily="18" charset="0"/>
                            </a:rPr>
                            <m:t>C</m:t>
                          </m:r>
                        </m:den>
                      </m:f>
                      <m:r>
                        <a:rPr lang="en-US" sz="1600">
                          <a:latin typeface="Cambria Math" panose="02040503050406030204" pitchFamily="18" charset="0"/>
                        </a:rPr>
                        <m:t>(</m:t>
                      </m:r>
                      <m:r>
                        <a:rPr lang="en-US" sz="1600" dirty="0">
                          <a:latin typeface="Cambria Math" panose="02040503050406030204" pitchFamily="18" charset="0"/>
                          <a:ea typeface="Cambria Math" panose="02040503050406030204" pitchFamily="18" charset="0"/>
                        </a:rPr>
                        <m:t>−</m:t>
                      </m:r>
                      <m:r>
                        <m:rPr>
                          <m:nor/>
                        </m:rPr>
                        <a:rPr lang="en-US" sz="1600" dirty="0">
                          <a:latin typeface="Cambria Math" panose="02040503050406030204" pitchFamily="18" charset="0"/>
                          <a:ea typeface="Cambria Math" panose="02040503050406030204" pitchFamily="18" charset="0"/>
                        </a:rPr>
                        <m:t>c</m:t>
                      </m:r>
                      <m:r>
                        <m:rPr>
                          <m:sty m:val="p"/>
                        </m:rPr>
                        <a:rPr lang="en-US" sz="1600" dirty="0">
                          <a:latin typeface="Cambria Math" panose="02040503050406030204" pitchFamily="18" charset="0"/>
                          <a:ea typeface="Cambria Math" panose="02040503050406030204" pitchFamily="18" charset="0"/>
                        </a:rPr>
                        <m:t>os</m:t>
                      </m:r>
                      <m:r>
                        <m:rPr>
                          <m:sty m:val="p"/>
                        </m:rPr>
                        <a:rPr lang="en-IN" sz="1600" dirty="0">
                          <a:latin typeface="Cambria Math" panose="02040503050406030204" pitchFamily="18" charset="0"/>
                          <a:ea typeface="Cambria Math" panose="02040503050406030204" pitchFamily="18" charset="0"/>
                        </a:rPr>
                        <m:t>ω</m:t>
                      </m:r>
                      <m:r>
                        <m:rPr>
                          <m:sty m:val="p"/>
                        </m:rPr>
                        <a:rPr lang="en-US" sz="1600" dirty="0">
                          <a:latin typeface="Cambria Math" panose="02040503050406030204" pitchFamily="18" charset="0"/>
                          <a:ea typeface="Cambria Math" panose="02040503050406030204" pitchFamily="18" charset="0"/>
                        </a:rPr>
                        <m:t>t</m:t>
                      </m:r>
                      <m:r>
                        <a:rPr lang="en-US" sz="1600" dirty="0">
                          <a:latin typeface="Cambria Math" panose="02040503050406030204" pitchFamily="18" charset="0"/>
                          <a:ea typeface="Cambria Math" panose="02040503050406030204" pitchFamily="18" charset="0"/>
                        </a:rPr>
                        <m:t>)=</m:t>
                      </m:r>
                      <m:f>
                        <m:fPr>
                          <m:ctrlPr>
                            <a:rPr lang="en-US" sz="1600" i="1">
                              <a:latin typeface="Cambria Math" panose="02040503050406030204" pitchFamily="18" charset="0"/>
                            </a:rPr>
                          </m:ctrlPr>
                        </m:fPr>
                        <m:num>
                          <m:sSub>
                            <m:sSubPr>
                              <m:ctrlPr>
                                <a:rPr lang="en-IN" sz="1600" i="1">
                                  <a:latin typeface="Cambria Math" panose="02040503050406030204" pitchFamily="18" charset="0"/>
                                </a:rPr>
                              </m:ctrlPr>
                            </m:sSubPr>
                            <m:e>
                              <m:r>
                                <m:rPr>
                                  <m:sty m:val="p"/>
                                </m:rPr>
                                <a:rPr lang="en-US" sz="1600">
                                  <a:latin typeface="Cambria Math" panose="02040503050406030204" pitchFamily="18" charset="0"/>
                                </a:rPr>
                                <m:t>I</m:t>
                              </m:r>
                            </m:e>
                            <m:sub>
                              <m:r>
                                <m:rPr>
                                  <m:sty m:val="p"/>
                                </m:rPr>
                                <a:rPr lang="en-US" sz="1600">
                                  <a:latin typeface="Cambria Math" panose="02040503050406030204" pitchFamily="18" charset="0"/>
                                </a:rPr>
                                <m:t>m</m:t>
                              </m:r>
                            </m:sub>
                          </m:sSub>
                        </m:num>
                        <m:den>
                          <m:r>
                            <m:rPr>
                              <m:sty m:val="p"/>
                            </m:rPr>
                            <a:rPr lang="en-US" sz="1600">
                              <a:latin typeface="Cambria Math" panose="02040503050406030204" pitchFamily="18" charset="0"/>
                              <a:ea typeface="Cambria Math" panose="02040503050406030204" pitchFamily="18" charset="0"/>
                            </a:rPr>
                            <m:t>ω</m:t>
                          </m:r>
                          <m:r>
                            <m:rPr>
                              <m:sty m:val="p"/>
                            </m:rPr>
                            <a:rPr lang="en-US" sz="1600">
                              <a:latin typeface="Cambria Math" panose="02040503050406030204" pitchFamily="18" charset="0"/>
                            </a:rPr>
                            <m:t>C</m:t>
                          </m:r>
                        </m:den>
                      </m:f>
                      <m:r>
                        <m:rPr>
                          <m:sty m:val="p"/>
                        </m:rPr>
                        <a:rPr lang="en-US" sz="1600" b="0" i="0" dirty="0" smtClean="0">
                          <a:latin typeface="Cambria Math" panose="02040503050406030204" pitchFamily="18" charset="0"/>
                        </a:rPr>
                        <m:t>sin</m:t>
                      </m:r>
                      <m:d>
                        <m:dPr>
                          <m:ctrlPr>
                            <a:rPr lang="en-IN" sz="1600" i="1" dirty="0">
                              <a:latin typeface="Cambria Math" panose="02040503050406030204" pitchFamily="18" charset="0"/>
                            </a:rPr>
                          </m:ctrlPr>
                        </m:dPr>
                        <m:e>
                          <m:r>
                            <m:rPr>
                              <m:sty m:val="p"/>
                            </m:rPr>
                            <a:rPr lang="en-IN" sz="1600" dirty="0">
                              <a:latin typeface="Cambria Math" panose="02040503050406030204" pitchFamily="18" charset="0"/>
                              <a:ea typeface="Cambria Math" panose="02040503050406030204" pitchFamily="18" charset="0"/>
                            </a:rPr>
                            <m:t>ω</m:t>
                          </m:r>
                          <m:r>
                            <m:rPr>
                              <m:sty m:val="p"/>
                            </m:rPr>
                            <a:rPr lang="en-US" sz="1600" dirty="0">
                              <a:latin typeface="Cambria Math" panose="02040503050406030204" pitchFamily="18" charset="0"/>
                              <a:ea typeface="Cambria Math" panose="02040503050406030204" pitchFamily="18" charset="0"/>
                            </a:rPr>
                            <m:t>t</m:t>
                          </m:r>
                          <m:r>
                            <a:rPr lang="en-US" sz="1600" dirty="0">
                              <a:latin typeface="Cambria Math" panose="02040503050406030204" pitchFamily="18" charset="0"/>
                              <a:ea typeface="Cambria Math" panose="02040503050406030204" pitchFamily="18" charset="0"/>
                            </a:rPr>
                            <m:t>−90°</m:t>
                          </m:r>
                        </m:e>
                      </m:d>
                      <m:r>
                        <a:rPr lang="en-US" sz="1600">
                          <a:latin typeface="Cambria Math" panose="02040503050406030204" pitchFamily="18" charset="0"/>
                        </a:rPr>
                        <m:t>=</m:t>
                      </m:r>
                      <m:f>
                        <m:fPr>
                          <m:ctrlPr>
                            <a:rPr lang="en-US" sz="1600" i="1">
                              <a:latin typeface="Cambria Math" panose="02040503050406030204" pitchFamily="18" charset="0"/>
                            </a:rPr>
                          </m:ctrlPr>
                        </m:fPr>
                        <m:num>
                          <m:sSub>
                            <m:sSubPr>
                              <m:ctrlPr>
                                <a:rPr lang="en-IN" sz="1600" i="1">
                                  <a:latin typeface="Cambria Math" panose="02040503050406030204" pitchFamily="18" charset="0"/>
                                </a:rPr>
                              </m:ctrlPr>
                            </m:sSubPr>
                            <m:e>
                              <m:r>
                                <m:rPr>
                                  <m:sty m:val="p"/>
                                </m:rPr>
                                <a:rPr lang="en-US" sz="1600">
                                  <a:latin typeface="Cambria Math" panose="02040503050406030204" pitchFamily="18" charset="0"/>
                                </a:rPr>
                                <m:t>I</m:t>
                              </m:r>
                            </m:e>
                            <m:sub>
                              <m:r>
                                <m:rPr>
                                  <m:sty m:val="p"/>
                                </m:rPr>
                                <a:rPr lang="en-US" sz="1600">
                                  <a:latin typeface="Cambria Math" panose="02040503050406030204" pitchFamily="18" charset="0"/>
                                </a:rPr>
                                <m:t>m</m:t>
                              </m:r>
                            </m:sub>
                          </m:sSub>
                        </m:num>
                        <m:den>
                          <m:r>
                            <m:rPr>
                              <m:sty m:val="p"/>
                            </m:rPr>
                            <a:rPr lang="en-US" sz="1600">
                              <a:latin typeface="Cambria Math" panose="02040503050406030204" pitchFamily="18" charset="0"/>
                              <a:ea typeface="Cambria Math" panose="02040503050406030204" pitchFamily="18" charset="0"/>
                            </a:rPr>
                            <m:t>ω</m:t>
                          </m:r>
                          <m:r>
                            <m:rPr>
                              <m:sty m:val="p"/>
                            </m:rPr>
                            <a:rPr lang="en-US" sz="1600">
                              <a:latin typeface="Cambria Math" panose="02040503050406030204" pitchFamily="18" charset="0"/>
                            </a:rPr>
                            <m:t>C</m:t>
                          </m:r>
                        </m:den>
                      </m:f>
                      <m:r>
                        <a:rPr lang="en-US" sz="1600">
                          <a:latin typeface="Cambria Math" panose="02040503050406030204" pitchFamily="18" charset="0"/>
                          <a:ea typeface="Cambria Math" panose="02040503050406030204" pitchFamily="18" charset="0"/>
                        </a:rPr>
                        <m:t>∠</m:t>
                      </m:r>
                      <m:r>
                        <a:rPr lang="en-US" sz="1600" dirty="0">
                          <a:latin typeface="Cambria Math" panose="02040503050406030204" pitchFamily="18" charset="0"/>
                          <a:ea typeface="Cambria Math" panose="02040503050406030204" pitchFamily="18" charset="0"/>
                        </a:rPr>
                        <m:t>−90°</m:t>
                      </m:r>
                      <m:r>
                        <a:rPr lang="en-US" sz="1600" dirty="0" smtClean="0">
                          <a:latin typeface="Cambria Math" panose="02040503050406030204" pitchFamily="18" charset="0"/>
                          <a:ea typeface="Cambria Math" panose="02040503050406030204" pitchFamily="18" charset="0"/>
                        </a:rPr>
                        <m:t>=</m:t>
                      </m:r>
                      <m:r>
                        <a:rPr lang="en-US" sz="1600" i="1" dirty="0">
                          <a:latin typeface="Cambria Math" panose="02040503050406030204" pitchFamily="18" charset="0"/>
                          <a:ea typeface="Cambria Math" panose="02040503050406030204" pitchFamily="18" charset="0"/>
                        </a:rPr>
                        <m:t>−</m:t>
                      </m:r>
                      <m:f>
                        <m:fPr>
                          <m:ctrlPr>
                            <a:rPr lang="en-US" sz="1600" i="1">
                              <a:latin typeface="Cambria Math" panose="02040503050406030204" pitchFamily="18" charset="0"/>
                            </a:rPr>
                          </m:ctrlPr>
                        </m:fPr>
                        <m:num>
                          <m:sSub>
                            <m:sSubPr>
                              <m:ctrlPr>
                                <a:rPr lang="en-IN" sz="1600" i="1">
                                  <a:latin typeface="Cambria Math" panose="02040503050406030204" pitchFamily="18" charset="0"/>
                                </a:rPr>
                              </m:ctrlPr>
                            </m:sSubPr>
                            <m:e>
                              <m:r>
                                <m:rPr>
                                  <m:sty m:val="p"/>
                                </m:rPr>
                                <a:rPr lang="en-US" sz="1600">
                                  <a:latin typeface="Cambria Math" panose="02040503050406030204" pitchFamily="18" charset="0"/>
                                </a:rPr>
                                <m:t>jI</m:t>
                              </m:r>
                            </m:e>
                            <m:sub>
                              <m:r>
                                <m:rPr>
                                  <m:sty m:val="p"/>
                                </m:rPr>
                                <a:rPr lang="en-US" sz="1600">
                                  <a:latin typeface="Cambria Math" panose="02040503050406030204" pitchFamily="18" charset="0"/>
                                </a:rPr>
                                <m:t>m</m:t>
                              </m:r>
                            </m:sub>
                          </m:sSub>
                        </m:num>
                        <m:den>
                          <m:r>
                            <m:rPr>
                              <m:sty m:val="p"/>
                            </m:rPr>
                            <a:rPr lang="en-US" sz="1600">
                              <a:latin typeface="Cambria Math" panose="02040503050406030204" pitchFamily="18" charset="0"/>
                              <a:ea typeface="Cambria Math" panose="02040503050406030204" pitchFamily="18" charset="0"/>
                            </a:rPr>
                            <m:t>ω</m:t>
                          </m:r>
                          <m:r>
                            <m:rPr>
                              <m:sty m:val="p"/>
                            </m:rPr>
                            <a:rPr lang="en-US" sz="1600">
                              <a:latin typeface="Cambria Math" panose="02040503050406030204" pitchFamily="18" charset="0"/>
                            </a:rPr>
                            <m:t>C</m:t>
                          </m:r>
                        </m:den>
                      </m:f>
                    </m:oMath>
                  </m:oMathPara>
                </a14:m>
                <a:endParaRPr lang="en-US" sz="1600" dirty="0">
                  <a:ea typeface="Cambria Math" panose="02040503050406030204" pitchFamily="18" charset="0"/>
                </a:endParaRPr>
              </a:p>
              <a:p>
                <a:pPr algn="ctr"/>
                <a:r>
                  <a:rPr lang="en-US" sz="2200" dirty="0">
                    <a:ea typeface="Cambria Math" panose="02040503050406030204" pitchFamily="18" charset="0"/>
                  </a:rPr>
                  <a:t>V(t)=</a:t>
                </a:r>
                <a:r>
                  <a:rPr lang="en-IN" sz="2200" dirty="0"/>
                  <a:t> </a:t>
                </a:r>
                <a14:m>
                  <m:oMath xmlns:m="http://schemas.openxmlformats.org/officeDocument/2006/math">
                    <m:sSub>
                      <m:sSubPr>
                        <m:ctrlPr>
                          <a:rPr lang="en-IN" sz="2200" i="1" smtClean="0">
                            <a:latin typeface="Cambria Math" panose="02040503050406030204" pitchFamily="18" charset="0"/>
                          </a:rPr>
                        </m:ctrlPr>
                      </m:sSubPr>
                      <m:e>
                        <m:r>
                          <m:rPr>
                            <m:sty m:val="p"/>
                          </m:rPr>
                          <a:rPr lang="en-US" sz="2200" b="0" i="0" smtClean="0">
                            <a:latin typeface="Cambria Math" panose="02040503050406030204" pitchFamily="18" charset="0"/>
                          </a:rPr>
                          <m:t>V</m:t>
                        </m:r>
                      </m:e>
                      <m:sub>
                        <m:r>
                          <m:rPr>
                            <m:sty m:val="p"/>
                          </m:rPr>
                          <a:rPr lang="en-US" sz="2200" b="0" i="0" smtClean="0">
                            <a:latin typeface="Cambria Math" panose="02040503050406030204" pitchFamily="18" charset="0"/>
                          </a:rPr>
                          <m:t>R</m:t>
                        </m:r>
                      </m:sub>
                    </m:sSub>
                    <m:r>
                      <a:rPr lang="en-US" sz="2200" b="0" i="0" smtClean="0">
                        <a:latin typeface="Cambria Math" panose="02040503050406030204" pitchFamily="18" charset="0"/>
                      </a:rPr>
                      <m:t>+</m:t>
                    </m:r>
                    <m:sSub>
                      <m:sSubPr>
                        <m:ctrlPr>
                          <a:rPr lang="en-IN" sz="2200" i="1">
                            <a:latin typeface="Cambria Math" panose="02040503050406030204" pitchFamily="18" charset="0"/>
                          </a:rPr>
                        </m:ctrlPr>
                      </m:sSubPr>
                      <m:e>
                        <m:r>
                          <m:rPr>
                            <m:sty m:val="p"/>
                          </m:rPr>
                          <a:rPr lang="en-US" sz="2200" i="0">
                            <a:latin typeface="Cambria Math" panose="02040503050406030204" pitchFamily="18" charset="0"/>
                          </a:rPr>
                          <m:t>V</m:t>
                        </m:r>
                      </m:e>
                      <m:sub>
                        <m:r>
                          <m:rPr>
                            <m:sty m:val="p"/>
                          </m:rPr>
                          <a:rPr lang="en-US" sz="2200" b="0" i="0" smtClean="0">
                            <a:latin typeface="Cambria Math" panose="02040503050406030204" pitchFamily="18" charset="0"/>
                          </a:rPr>
                          <m:t>C</m:t>
                        </m:r>
                      </m:sub>
                    </m:sSub>
                  </m:oMath>
                </a14:m>
                <a:r>
                  <a:rPr lang="en-US" sz="2200" dirty="0">
                    <a:ea typeface="Cambria Math" panose="02040503050406030204" pitchFamily="18" charset="0"/>
                  </a:rPr>
                  <a:t>=</a:t>
                </a:r>
                <a14:m>
                  <m:oMath xmlns:m="http://schemas.openxmlformats.org/officeDocument/2006/math">
                    <m:sSub>
                      <m:sSubPr>
                        <m:ctrlPr>
                          <a:rPr lang="en-IN" sz="2200" i="1">
                            <a:latin typeface="Cambria Math" panose="02040503050406030204" pitchFamily="18" charset="0"/>
                          </a:rPr>
                        </m:ctrlPr>
                      </m:sSubPr>
                      <m:e>
                        <m:r>
                          <m:rPr>
                            <m:sty m:val="p"/>
                          </m:rPr>
                          <a:rPr lang="en-US" sz="2200" i="0">
                            <a:latin typeface="Cambria Math" panose="02040503050406030204" pitchFamily="18" charset="0"/>
                          </a:rPr>
                          <m:t>I</m:t>
                        </m:r>
                      </m:e>
                      <m:sub>
                        <m:r>
                          <m:rPr>
                            <m:sty m:val="p"/>
                          </m:rPr>
                          <a:rPr lang="en-US" sz="2200" i="0">
                            <a:latin typeface="Cambria Math" panose="02040503050406030204" pitchFamily="18" charset="0"/>
                          </a:rPr>
                          <m:t>m</m:t>
                        </m:r>
                      </m:sub>
                    </m:sSub>
                    <m:r>
                      <m:rPr>
                        <m:nor/>
                      </m:rPr>
                      <a:rPr lang="en-US" sz="2200">
                        <a:latin typeface="Cambria Math" panose="02040503050406030204" pitchFamily="18" charset="0"/>
                      </a:rPr>
                      <m:t>R</m:t>
                    </m:r>
                    <m:r>
                      <a:rPr lang="en-US" sz="2400" i="0" dirty="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sSub>
                          <m:sSubPr>
                            <m:ctrlPr>
                              <a:rPr lang="en-IN" sz="2400" i="1">
                                <a:latin typeface="Cambria Math" panose="02040503050406030204" pitchFamily="18" charset="0"/>
                              </a:rPr>
                            </m:ctrlPr>
                          </m:sSubPr>
                          <m:e>
                            <m:r>
                              <m:rPr>
                                <m:sty m:val="p"/>
                              </m:rPr>
                              <a:rPr lang="en-US" sz="2400" i="0">
                                <a:latin typeface="Cambria Math" panose="02040503050406030204" pitchFamily="18" charset="0"/>
                              </a:rPr>
                              <m:t>jI</m:t>
                            </m:r>
                          </m:e>
                          <m:sub>
                            <m:r>
                              <m:rPr>
                                <m:sty m:val="p"/>
                              </m:rPr>
                              <a:rPr lang="en-US" sz="2400" i="0">
                                <a:latin typeface="Cambria Math" panose="02040503050406030204" pitchFamily="18" charset="0"/>
                              </a:rPr>
                              <m:t>m</m:t>
                            </m:r>
                          </m:sub>
                        </m:sSub>
                      </m:num>
                      <m:den>
                        <m:r>
                          <m:rPr>
                            <m:sty m:val="p"/>
                          </m:rPr>
                          <a:rPr lang="en-US" sz="2400" i="0">
                            <a:latin typeface="Cambria Math" panose="02040503050406030204" pitchFamily="18" charset="0"/>
                            <a:ea typeface="Cambria Math" panose="02040503050406030204" pitchFamily="18" charset="0"/>
                          </a:rPr>
                          <m:t>ω</m:t>
                        </m:r>
                        <m:r>
                          <m:rPr>
                            <m:sty m:val="p"/>
                          </m:rPr>
                          <a:rPr lang="en-US" sz="2400" i="0">
                            <a:latin typeface="Cambria Math" panose="02040503050406030204" pitchFamily="18" charset="0"/>
                          </a:rPr>
                          <m:t>C</m:t>
                        </m:r>
                      </m:den>
                    </m:f>
                    <m:r>
                      <a:rPr lang="en-US" sz="2400" b="0" i="0" smtClean="0">
                        <a:latin typeface="Cambria Math" panose="02040503050406030204" pitchFamily="18" charset="0"/>
                      </a:rPr>
                      <m:t>=</m:t>
                    </m:r>
                    <m:sSub>
                      <m:sSubPr>
                        <m:ctrlPr>
                          <a:rPr lang="en-IN" sz="2000" i="1">
                            <a:latin typeface="Cambria Math" panose="02040503050406030204" pitchFamily="18" charset="0"/>
                          </a:rPr>
                        </m:ctrlPr>
                      </m:sSubPr>
                      <m:e>
                        <m:r>
                          <m:rPr>
                            <m:sty m:val="p"/>
                          </m:rPr>
                          <a:rPr lang="en-US" sz="2000" i="0">
                            <a:latin typeface="Cambria Math" panose="02040503050406030204" pitchFamily="18" charset="0"/>
                          </a:rPr>
                          <m:t>I</m:t>
                        </m:r>
                      </m:e>
                      <m:sub>
                        <m:r>
                          <m:rPr>
                            <m:sty m:val="p"/>
                          </m:rPr>
                          <a:rPr lang="en-US" sz="2000" i="0">
                            <a:latin typeface="Cambria Math" panose="02040503050406030204" pitchFamily="18" charset="0"/>
                          </a:rPr>
                          <m:t>m</m:t>
                        </m:r>
                      </m:sub>
                    </m:sSub>
                  </m:oMath>
                </a14:m>
                <a:r>
                  <a:rPr lang="en-US" sz="2200" dirty="0"/>
                  <a:t>(</a:t>
                </a:r>
                <a14:m>
                  <m:oMath xmlns:m="http://schemas.openxmlformats.org/officeDocument/2006/math">
                    <m:r>
                      <m:rPr>
                        <m:nor/>
                      </m:rPr>
                      <a:rPr lang="en-US" sz="2000">
                        <a:latin typeface="Cambria Math" panose="02040503050406030204" pitchFamily="18" charset="0"/>
                      </a:rPr>
                      <m:t>R</m:t>
                    </m:r>
                    <m:r>
                      <a:rPr lang="en-US" sz="2000" i="0" dirty="0">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rPr>
                        </m:ctrlPr>
                      </m:fPr>
                      <m:num>
                        <m:r>
                          <m:rPr>
                            <m:sty m:val="p"/>
                          </m:rPr>
                          <a:rPr lang="en-US" sz="2000" b="0" i="0" smtClean="0">
                            <a:latin typeface="Cambria Math" panose="02040503050406030204" pitchFamily="18" charset="0"/>
                          </a:rPr>
                          <m:t>j</m:t>
                        </m:r>
                      </m:num>
                      <m:den>
                        <m:r>
                          <m:rPr>
                            <m:sty m:val="p"/>
                          </m:rPr>
                          <a:rPr lang="en-US" sz="2000" i="0">
                            <a:latin typeface="Cambria Math" panose="02040503050406030204" pitchFamily="18" charset="0"/>
                            <a:ea typeface="Cambria Math" panose="02040503050406030204" pitchFamily="18" charset="0"/>
                          </a:rPr>
                          <m:t>ω</m:t>
                        </m:r>
                        <m:r>
                          <m:rPr>
                            <m:sty m:val="p"/>
                          </m:rPr>
                          <a:rPr lang="en-US" sz="2000" i="0">
                            <a:latin typeface="Cambria Math" panose="02040503050406030204" pitchFamily="18" charset="0"/>
                          </a:rPr>
                          <m:t>C</m:t>
                        </m:r>
                      </m:den>
                    </m:f>
                  </m:oMath>
                </a14:m>
                <a:r>
                  <a:rPr lang="en-US" sz="2200" dirty="0">
                    <a:ea typeface="Cambria Math" panose="02040503050406030204" pitchFamily="18" charset="0"/>
                  </a:rPr>
                  <a:t>)</a:t>
                </a:r>
              </a:p>
              <a:p>
                <a:r>
                  <a:rPr lang="en-IN" sz="2200" dirty="0"/>
                  <a:t>Z=</a:t>
                </a:r>
                <a14:m>
                  <m:oMath xmlns:m="http://schemas.openxmlformats.org/officeDocument/2006/math">
                    <m:f>
                      <m:fPr>
                        <m:ctrlPr>
                          <a:rPr lang="en-IN" sz="2200" i="1">
                            <a:latin typeface="Cambria Math" panose="02040503050406030204" pitchFamily="18" charset="0"/>
                          </a:rPr>
                        </m:ctrlPr>
                      </m:fPr>
                      <m:num>
                        <m:r>
                          <m:rPr>
                            <m:nor/>
                          </m:rPr>
                          <a:rPr lang="en-US" sz="2200">
                            <a:latin typeface="Cambria Math" panose="02040503050406030204" pitchFamily="18" charset="0"/>
                          </a:rPr>
                          <m:t>V</m:t>
                        </m:r>
                        <m:r>
                          <m:rPr>
                            <m:nor/>
                          </m:rPr>
                          <a:rPr lang="en-US" sz="2200">
                            <a:latin typeface="Cambria Math" panose="02040503050406030204" pitchFamily="18" charset="0"/>
                          </a:rPr>
                          <m:t>(</m:t>
                        </m:r>
                        <m:r>
                          <m:rPr>
                            <m:nor/>
                          </m:rPr>
                          <a:rPr lang="en-US" sz="2200" b="0" i="0" smtClean="0">
                            <a:latin typeface="Cambria Math" panose="02040503050406030204" pitchFamily="18" charset="0"/>
                          </a:rPr>
                          <m:t>t</m:t>
                        </m:r>
                        <m:r>
                          <m:rPr>
                            <m:nor/>
                          </m:rPr>
                          <a:rPr lang="en-US" sz="2200" b="0" i="0" smtClean="0">
                            <a:latin typeface="Cambria Math" panose="02040503050406030204" pitchFamily="18" charset="0"/>
                          </a:rPr>
                          <m:t>)</m:t>
                        </m:r>
                      </m:num>
                      <m:den>
                        <m:r>
                          <m:rPr>
                            <m:nor/>
                          </m:rPr>
                          <a:rPr lang="en-US" sz="2200">
                            <a:latin typeface="Cambria Math" panose="02040503050406030204" pitchFamily="18" charset="0"/>
                          </a:rPr>
                          <m:t>i</m:t>
                        </m:r>
                        <m:r>
                          <m:rPr>
                            <m:nor/>
                          </m:rPr>
                          <a:rPr lang="en-IN" sz="2200" dirty="0">
                            <a:latin typeface="Cambria Math" panose="02040503050406030204" pitchFamily="18" charset="0"/>
                          </a:rPr>
                          <m:t>(</m:t>
                        </m:r>
                        <m:r>
                          <m:rPr>
                            <m:nor/>
                          </m:rPr>
                          <a:rPr lang="en-IN" sz="2200" dirty="0">
                            <a:latin typeface="Cambria Math" panose="02040503050406030204" pitchFamily="18" charset="0"/>
                          </a:rPr>
                          <m:t>t</m:t>
                        </m:r>
                        <m:r>
                          <m:rPr>
                            <m:nor/>
                          </m:rPr>
                          <a:rPr lang="en-IN" sz="2200" dirty="0">
                            <a:latin typeface="Cambria Math" panose="02040503050406030204" pitchFamily="18" charset="0"/>
                          </a:rPr>
                          <m:t>)</m:t>
                        </m:r>
                      </m:den>
                    </m:f>
                    <m:r>
                      <a:rPr lang="en-US" sz="2200">
                        <a:latin typeface="Cambria Math" panose="02040503050406030204" pitchFamily="18" charset="0"/>
                      </a:rPr>
                      <m:t>=</m:t>
                    </m:r>
                    <m:f>
                      <m:fPr>
                        <m:ctrlPr>
                          <a:rPr lang="en-US" sz="2200" i="1">
                            <a:latin typeface="Cambria Math" panose="02040503050406030204" pitchFamily="18" charset="0"/>
                          </a:rPr>
                        </m:ctrlPr>
                      </m:fPr>
                      <m:num>
                        <m:sSub>
                          <m:sSubPr>
                            <m:ctrlPr>
                              <a:rPr lang="en-IN" sz="2200" i="1">
                                <a:latin typeface="Cambria Math" panose="02040503050406030204" pitchFamily="18" charset="0"/>
                              </a:rPr>
                            </m:ctrlPr>
                          </m:sSubPr>
                          <m:e>
                            <m:r>
                              <m:rPr>
                                <m:sty m:val="p"/>
                              </m:rPr>
                              <a:rPr lang="en-US" sz="2200">
                                <a:latin typeface="Cambria Math" panose="02040503050406030204" pitchFamily="18" charset="0"/>
                              </a:rPr>
                              <m:t>I</m:t>
                            </m:r>
                          </m:e>
                          <m:sub>
                            <m:r>
                              <m:rPr>
                                <m:sty m:val="p"/>
                              </m:rPr>
                              <a:rPr lang="en-US" sz="2200">
                                <a:latin typeface="Cambria Math" panose="02040503050406030204" pitchFamily="18" charset="0"/>
                              </a:rPr>
                              <m:t>m</m:t>
                            </m:r>
                          </m:sub>
                        </m:sSub>
                        <m:r>
                          <m:rPr>
                            <m:nor/>
                          </m:rPr>
                          <a:rPr lang="en-US" sz="2200" dirty="0">
                            <a:latin typeface="Cambria Math" panose="02040503050406030204" pitchFamily="18" charset="0"/>
                          </a:rPr>
                          <m:t>(</m:t>
                        </m:r>
                        <m:r>
                          <m:rPr>
                            <m:nor/>
                          </m:rPr>
                          <a:rPr lang="en-US" sz="2200">
                            <a:latin typeface="Cambria Math" panose="02040503050406030204" pitchFamily="18" charset="0"/>
                          </a:rPr>
                          <m:t>R</m:t>
                        </m:r>
                        <m:r>
                          <a:rPr lang="en-US" sz="2200" dirty="0">
                            <a:latin typeface="Cambria Math" panose="02040503050406030204" pitchFamily="18" charset="0"/>
                          </a:rPr>
                          <m:t>−</m:t>
                        </m:r>
                        <m:f>
                          <m:fPr>
                            <m:ctrlPr>
                              <a:rPr lang="en-US" sz="2200" i="1">
                                <a:latin typeface="Cambria Math" panose="02040503050406030204" pitchFamily="18" charset="0"/>
                              </a:rPr>
                            </m:ctrlPr>
                          </m:fPr>
                          <m:num>
                            <m:r>
                              <m:rPr>
                                <m:sty m:val="p"/>
                              </m:rPr>
                              <a:rPr lang="en-US" sz="2200">
                                <a:latin typeface="Cambria Math" panose="02040503050406030204" pitchFamily="18" charset="0"/>
                              </a:rPr>
                              <m:t>j</m:t>
                            </m:r>
                          </m:num>
                          <m:den>
                            <m:r>
                              <m:rPr>
                                <m:sty m:val="p"/>
                              </m:rPr>
                              <a:rPr lang="en-US" sz="2200">
                                <a:latin typeface="Cambria Math" panose="02040503050406030204" pitchFamily="18" charset="0"/>
                              </a:rPr>
                              <m:t>ωC</m:t>
                            </m:r>
                          </m:den>
                        </m:f>
                        <m:r>
                          <m:rPr>
                            <m:nor/>
                          </m:rPr>
                          <a:rPr lang="en-US" sz="2200" dirty="0">
                            <a:latin typeface="Cambria Math" panose="02040503050406030204" pitchFamily="18" charset="0"/>
                          </a:rPr>
                          <m:t>) </m:t>
                        </m:r>
                      </m:num>
                      <m:den>
                        <m:sSub>
                          <m:sSubPr>
                            <m:ctrlPr>
                              <a:rPr lang="en-IN" sz="2200" i="1">
                                <a:latin typeface="Cambria Math" panose="02040503050406030204" pitchFamily="18" charset="0"/>
                              </a:rPr>
                            </m:ctrlPr>
                          </m:sSubPr>
                          <m:e>
                            <m:r>
                              <m:rPr>
                                <m:sty m:val="p"/>
                              </m:rPr>
                              <a:rPr lang="en-US" sz="2200">
                                <a:latin typeface="Cambria Math" panose="02040503050406030204" pitchFamily="18" charset="0"/>
                              </a:rPr>
                              <m:t>I</m:t>
                            </m:r>
                          </m:e>
                          <m:sub>
                            <m:r>
                              <m:rPr>
                                <m:sty m:val="p"/>
                              </m:rPr>
                              <a:rPr lang="en-US" sz="2200">
                                <a:latin typeface="Cambria Math" panose="02040503050406030204" pitchFamily="18" charset="0"/>
                              </a:rPr>
                              <m:t>m</m:t>
                            </m:r>
                          </m:sub>
                        </m:sSub>
                        <m:r>
                          <m:rPr>
                            <m:nor/>
                          </m:rPr>
                          <a:rPr lang="en-US" sz="2200" dirty="0">
                            <a:latin typeface="Cambria Math" panose="02040503050406030204" pitchFamily="18" charset="0"/>
                          </a:rPr>
                          <m:t> </m:t>
                        </m:r>
                      </m:den>
                    </m:f>
                    <m:r>
                      <a:rPr lang="en-US" sz="2200">
                        <a:latin typeface="Cambria Math" panose="02040503050406030204" pitchFamily="18" charset="0"/>
                      </a:rPr>
                      <m:t>=</m:t>
                    </m:r>
                    <m:r>
                      <m:rPr>
                        <m:nor/>
                      </m:rPr>
                      <a:rPr lang="en-US" sz="2200" dirty="0">
                        <a:latin typeface="Cambria Math" panose="02040503050406030204" pitchFamily="18" charset="0"/>
                      </a:rPr>
                      <m:t>(</m:t>
                    </m:r>
                    <m:r>
                      <m:rPr>
                        <m:nor/>
                      </m:rPr>
                      <a:rPr lang="en-US" sz="2200">
                        <a:latin typeface="Cambria Math" panose="02040503050406030204" pitchFamily="18" charset="0"/>
                      </a:rPr>
                      <m:t>R</m:t>
                    </m:r>
                    <m:r>
                      <a:rPr lang="en-US" sz="2200" dirty="0">
                        <a:latin typeface="Cambria Math" panose="02040503050406030204" pitchFamily="18" charset="0"/>
                      </a:rPr>
                      <m:t>−</m:t>
                    </m:r>
                    <m:f>
                      <m:fPr>
                        <m:ctrlPr>
                          <a:rPr lang="en-US" sz="2200" i="1">
                            <a:latin typeface="Cambria Math" panose="02040503050406030204" pitchFamily="18" charset="0"/>
                          </a:rPr>
                        </m:ctrlPr>
                      </m:fPr>
                      <m:num>
                        <m:r>
                          <m:rPr>
                            <m:sty m:val="p"/>
                          </m:rPr>
                          <a:rPr lang="en-US" sz="2200">
                            <a:latin typeface="Cambria Math" panose="02040503050406030204" pitchFamily="18" charset="0"/>
                          </a:rPr>
                          <m:t>j</m:t>
                        </m:r>
                      </m:num>
                      <m:den>
                        <m:r>
                          <m:rPr>
                            <m:sty m:val="p"/>
                          </m:rPr>
                          <a:rPr lang="en-US" sz="2200">
                            <a:latin typeface="Cambria Math" panose="02040503050406030204" pitchFamily="18" charset="0"/>
                          </a:rPr>
                          <m:t>ωC</m:t>
                        </m:r>
                      </m:den>
                    </m:f>
                    <m:r>
                      <m:rPr>
                        <m:nor/>
                      </m:rPr>
                      <a:rPr lang="en-US" sz="2200" dirty="0">
                        <a:latin typeface="Cambria Math" panose="02040503050406030204" pitchFamily="18" charset="0"/>
                      </a:rPr>
                      <m:t>)</m:t>
                    </m:r>
                  </m:oMath>
                </a14:m>
                <a:endParaRPr lang="en-US" sz="2200"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nor/>
                        </m:rPr>
                        <a:rPr lang="en-IN" sz="2200"/>
                        <m:t>The</m:t>
                      </m:r>
                      <m:r>
                        <m:rPr>
                          <m:nor/>
                        </m:rPr>
                        <a:rPr lang="en-IN" sz="2200"/>
                        <m:t> </m:t>
                      </m:r>
                      <m:r>
                        <m:rPr>
                          <m:nor/>
                        </m:rPr>
                        <a:rPr lang="en-US" sz="2200"/>
                        <m:t>magnitude</m:t>
                      </m:r>
                      <m:r>
                        <m:rPr>
                          <m:nor/>
                        </m:rPr>
                        <a:rPr lang="en-US" sz="2200"/>
                        <m:t> </m:t>
                      </m:r>
                      <m:r>
                        <m:rPr>
                          <m:nor/>
                        </m:rPr>
                        <a:rPr lang="en-US" sz="2200"/>
                        <m:t>of</m:t>
                      </m:r>
                      <m:r>
                        <m:rPr>
                          <m:nor/>
                        </m:rPr>
                        <a:rPr lang="en-US" sz="2200"/>
                        <m:t> </m:t>
                      </m:r>
                      <m:r>
                        <m:rPr>
                          <m:nor/>
                        </m:rPr>
                        <a:rPr lang="en-IN" sz="2200"/>
                        <m:t>impedance</m:t>
                      </m:r>
                      <m:r>
                        <m:rPr>
                          <m:nor/>
                        </m:rPr>
                        <a:rPr lang="en-IN" sz="2200"/>
                        <m:t> </m:t>
                      </m:r>
                      <m:r>
                        <m:rPr>
                          <m:nor/>
                        </m:rPr>
                        <a:rPr lang="en-IN" sz="2200"/>
                        <m:t>for</m:t>
                      </m:r>
                      <m:r>
                        <m:rPr>
                          <m:nor/>
                        </m:rPr>
                        <a:rPr lang="en-IN" sz="2200"/>
                        <m:t> </m:t>
                      </m:r>
                      <m:r>
                        <m:rPr>
                          <m:nor/>
                        </m:rPr>
                        <a:rPr lang="en-IN" sz="2200"/>
                        <m:t>an</m:t>
                      </m:r>
                      <m:r>
                        <m:rPr>
                          <m:nor/>
                        </m:rPr>
                        <a:rPr lang="en-IN" sz="2200"/>
                        <m:t> </m:t>
                      </m:r>
                      <m:r>
                        <m:rPr>
                          <m:nor/>
                        </m:rPr>
                        <a:rPr lang="en-IN" sz="2200"/>
                        <m:t>R</m:t>
                      </m:r>
                      <m:r>
                        <m:rPr>
                          <m:nor/>
                        </m:rPr>
                        <a:rPr lang="en-US" sz="2200"/>
                        <m:t>C</m:t>
                      </m:r>
                      <m:r>
                        <m:rPr>
                          <m:nor/>
                        </m:rPr>
                        <a:rPr lang="en-IN" sz="2200"/>
                        <m:t> </m:t>
                      </m:r>
                      <m:r>
                        <m:rPr>
                          <m:nor/>
                        </m:rPr>
                        <a:rPr lang="en-IN" sz="2200"/>
                        <m:t>series</m:t>
                      </m:r>
                      <m:r>
                        <m:rPr>
                          <m:nor/>
                        </m:rPr>
                        <a:rPr lang="en-IN" sz="2200"/>
                        <m:t> </m:t>
                      </m:r>
                      <m:r>
                        <m:rPr>
                          <m:nor/>
                        </m:rPr>
                        <a:rPr lang="en-IN" sz="2200"/>
                        <m:t>circuit</m:t>
                      </m:r>
                      <m:r>
                        <m:rPr>
                          <m:nor/>
                        </m:rPr>
                        <a:rPr lang="en-IN" sz="2200"/>
                        <m:t> </m:t>
                      </m:r>
                      <m:r>
                        <m:rPr>
                          <m:nor/>
                        </m:rPr>
                        <a:rPr lang="en-IN" sz="2200"/>
                        <m:t>is</m:t>
                      </m:r>
                    </m:oMath>
                  </m:oMathPara>
                </a14:m>
                <a:endParaRPr lang="en-US" sz="2200" dirty="0"/>
              </a:p>
              <a:p>
                <a:pPr/>
                <a14:m>
                  <m:oMathPara xmlns:m="http://schemas.openxmlformats.org/officeDocument/2006/math">
                    <m:oMathParaPr>
                      <m:jc m:val="left"/>
                    </m:oMathParaPr>
                    <m:oMath xmlns:m="http://schemas.openxmlformats.org/officeDocument/2006/math">
                      <m:r>
                        <m:rPr>
                          <m:nor/>
                        </m:rPr>
                        <a:rPr lang="en-IN" sz="2200"/>
                        <m:t>given</m:t>
                      </m:r>
                      <m:r>
                        <m:rPr>
                          <m:nor/>
                        </m:rPr>
                        <a:rPr lang="en-IN" sz="2200"/>
                        <m:t> </m:t>
                      </m:r>
                      <m:r>
                        <m:rPr>
                          <m:nor/>
                        </m:rPr>
                        <a:rPr lang="en-IN" sz="2200"/>
                        <m:t>by</m:t>
                      </m:r>
                    </m:oMath>
                  </m:oMathPara>
                </a14:m>
                <a:endParaRPr lang="en-US" sz="2200" dirty="0"/>
              </a:p>
              <a:p>
                <a:pPr/>
                <a14:m>
                  <m:oMathPara xmlns:m="http://schemas.openxmlformats.org/officeDocument/2006/math">
                    <m:oMathParaPr>
                      <m:jc m:val="left"/>
                    </m:oMathParaPr>
                    <m:oMath xmlns:m="http://schemas.openxmlformats.org/officeDocument/2006/math">
                      <m:d>
                        <m:dPr>
                          <m:begChr m:val="|"/>
                          <m:endChr m:val="|"/>
                          <m:ctrlPr>
                            <a:rPr lang="en-US" i="1">
                              <a:latin typeface="Cambria Math" panose="02040503050406030204" pitchFamily="18" charset="0"/>
                            </a:rPr>
                          </m:ctrlPr>
                        </m:dPr>
                        <m:e>
                          <m:r>
                            <m:rPr>
                              <m:sty m:val="p"/>
                            </m:rPr>
                            <a:rPr lang="en-US">
                              <a:latin typeface="Cambria Math" panose="02040503050406030204" pitchFamily="18" charset="0"/>
                            </a:rPr>
                            <m:t>Z</m:t>
                          </m:r>
                        </m:e>
                      </m:d>
                      <m:r>
                        <a:rPr lang="en-US" b="0" i="0" smtClean="0">
                          <a:latin typeface="Cambria Math" panose="02040503050406030204" pitchFamily="18" charset="0"/>
                        </a:rPr>
                        <m:t>=</m:t>
                      </m:r>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m:rPr>
                                  <m:sty m:val="p"/>
                                </m:rPr>
                                <a:rPr lang="en-US" i="0">
                                  <a:latin typeface="Cambria Math" panose="02040503050406030204" pitchFamily="18" charset="0"/>
                                </a:rPr>
                                <m:t>R</m:t>
                              </m:r>
                            </m:e>
                            <m:sup>
                              <m:r>
                                <a:rPr lang="en-US" i="0">
                                  <a:latin typeface="Cambria Math" panose="02040503050406030204" pitchFamily="18" charset="0"/>
                                </a:rPr>
                                <m:t>2</m:t>
                              </m:r>
                            </m:sup>
                          </m:sSup>
                          <m:r>
                            <a:rPr lang="en-US" i="0">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b="0" i="0" smtClean="0">
                                          <a:latin typeface="Cambria Math" panose="02040503050406030204" pitchFamily="18" charset="0"/>
                                        </a:rPr>
                                        <m:t>1</m:t>
                                      </m:r>
                                    </m:num>
                                    <m:den>
                                      <m:r>
                                        <m:rPr>
                                          <m:sty m:val="p"/>
                                        </m:rPr>
                                        <a:rPr lang="en-US">
                                          <a:latin typeface="Cambria Math" panose="02040503050406030204" pitchFamily="18" charset="0"/>
                                          <a:ea typeface="Cambria Math" panose="02040503050406030204" pitchFamily="18" charset="0"/>
                                        </a:rPr>
                                        <m:t>ω</m:t>
                                      </m:r>
                                      <m:r>
                                        <m:rPr>
                                          <m:sty m:val="p"/>
                                        </m:rPr>
                                        <a:rPr lang="en-US">
                                          <a:latin typeface="Cambria Math" panose="02040503050406030204" pitchFamily="18" charset="0"/>
                                        </a:rPr>
                                        <m:t>C</m:t>
                                      </m:r>
                                    </m:den>
                                  </m:f>
                                </m:e>
                              </m:d>
                            </m:e>
                            <m:sup>
                              <m:r>
                                <a:rPr lang="en-US" i="0">
                                  <a:latin typeface="Cambria Math" panose="02040503050406030204" pitchFamily="18" charset="0"/>
                                </a:rPr>
                                <m:t>2</m:t>
                              </m:r>
                            </m:sup>
                          </m:sSup>
                        </m:e>
                      </m:rad>
                    </m:oMath>
                  </m:oMathPara>
                </a14:m>
                <a:endParaRPr lang="en-US" dirty="0"/>
              </a:p>
              <a:p>
                <a:r>
                  <a:rPr lang="en-IN" sz="2200" dirty="0"/>
                  <a:t>The phase angle for an RC circuit is</a:t>
                </a:r>
                <a:endParaRPr lang="en-US" sz="2200" dirty="0"/>
              </a:p>
              <a:p>
                <a14:m>
                  <m:oMath xmlns:m="http://schemas.openxmlformats.org/officeDocument/2006/math">
                    <m:r>
                      <m:rPr>
                        <m:sty m:val="p"/>
                      </m:rPr>
                      <a:rPr lang="en-US" sz="2000" i="0" dirty="0" smtClean="0">
                        <a:latin typeface="Cambria Math" panose="02040503050406030204" pitchFamily="18" charset="0"/>
                        <a:ea typeface="Cambria Math" panose="02040503050406030204" pitchFamily="18" charset="0"/>
                      </a:rPr>
                      <m:t>φ</m:t>
                    </m:r>
                    <m:r>
                      <a:rPr lang="en-US" sz="2000" b="0" i="0" dirty="0" smtClean="0">
                        <a:latin typeface="Cambria Math" panose="02040503050406030204" pitchFamily="18" charset="0"/>
                        <a:ea typeface="Cambria Math" panose="02040503050406030204" pitchFamily="18" charset="0"/>
                      </a:rPr>
                      <m:t>=</m:t>
                    </m:r>
                    <m:sSup>
                      <m:sSupPr>
                        <m:ctrlPr>
                          <a:rPr lang="en-US" sz="2000" i="1" dirty="0">
                            <a:latin typeface="Cambria Math" panose="02040503050406030204" pitchFamily="18" charset="0"/>
                          </a:rPr>
                        </m:ctrlPr>
                      </m:sSupPr>
                      <m:e>
                        <m:r>
                          <m:rPr>
                            <m:sty m:val="p"/>
                          </m:rPr>
                          <a:rPr lang="en-US" sz="2000" dirty="0">
                            <a:latin typeface="Cambria Math" panose="02040503050406030204" pitchFamily="18" charset="0"/>
                          </a:rPr>
                          <m:t>tan</m:t>
                        </m:r>
                      </m:e>
                      <m:sup>
                        <m:r>
                          <a:rPr lang="en-US" sz="2000" dirty="0">
                            <a:latin typeface="Cambria Math" panose="02040503050406030204" pitchFamily="18" charset="0"/>
                          </a:rPr>
                          <m:t>−1</m:t>
                        </m:r>
                      </m:sup>
                    </m:sSup>
                    <m:d>
                      <m:dPr>
                        <m:ctrlPr>
                          <a:rPr lang="en-US" sz="2000" i="1" dirty="0">
                            <a:latin typeface="Cambria Math" panose="02040503050406030204" pitchFamily="18" charset="0"/>
                          </a:rPr>
                        </m:ctrlPr>
                      </m:dPr>
                      <m:e>
                        <m:f>
                          <m:fPr>
                            <m:ctrlPr>
                              <a:rPr lang="en-US" sz="2000" i="1" dirty="0">
                                <a:latin typeface="Cambria Math" panose="02040503050406030204" pitchFamily="18" charset="0"/>
                              </a:rPr>
                            </m:ctrlPr>
                          </m:fPr>
                          <m:num>
                            <m:r>
                              <a:rPr lang="en-US" sz="2000" b="0" i="1" dirty="0" smtClean="0">
                                <a:latin typeface="Cambria Math" panose="02040503050406030204" pitchFamily="18" charset="0"/>
                              </a:rPr>
                              <m:t>− </m:t>
                            </m:r>
                            <m:f>
                              <m:fPr>
                                <m:ctrlPr>
                                  <a:rPr lang="en-US" sz="2000" i="1">
                                    <a:latin typeface="Cambria Math" panose="02040503050406030204" pitchFamily="18" charset="0"/>
                                  </a:rPr>
                                </m:ctrlPr>
                              </m:fPr>
                              <m:num>
                                <m:r>
                                  <a:rPr lang="en-US" sz="2000" i="0">
                                    <a:latin typeface="Cambria Math" panose="02040503050406030204" pitchFamily="18" charset="0"/>
                                  </a:rPr>
                                  <m:t>1</m:t>
                                </m:r>
                              </m:num>
                              <m:den>
                                <m:r>
                                  <m:rPr>
                                    <m:sty m:val="p"/>
                                  </m:rPr>
                                  <a:rPr lang="en-US" sz="2000" i="0">
                                    <a:latin typeface="Cambria Math" panose="02040503050406030204" pitchFamily="18" charset="0"/>
                                    <a:ea typeface="Cambria Math" panose="02040503050406030204" pitchFamily="18" charset="0"/>
                                  </a:rPr>
                                  <m:t>ω</m:t>
                                </m:r>
                                <m:r>
                                  <m:rPr>
                                    <m:sty m:val="p"/>
                                  </m:rPr>
                                  <a:rPr lang="en-US" sz="2000" i="0">
                                    <a:latin typeface="Cambria Math" panose="02040503050406030204" pitchFamily="18" charset="0"/>
                                  </a:rPr>
                                  <m:t>C</m:t>
                                </m:r>
                              </m:den>
                            </m:f>
                          </m:num>
                          <m:den>
                            <m:r>
                              <m:rPr>
                                <m:sty m:val="p"/>
                              </m:rPr>
                              <a:rPr lang="en-US" sz="2000" i="0" dirty="0">
                                <a:latin typeface="Cambria Math" panose="02040503050406030204" pitchFamily="18" charset="0"/>
                              </a:rPr>
                              <m:t>R</m:t>
                            </m:r>
                          </m:den>
                        </m:f>
                      </m:e>
                    </m:d>
                  </m:oMath>
                </a14:m>
                <a:r>
                  <a:rPr lang="en-US" sz="2000" dirty="0"/>
                  <a:t>= </a:t>
                </a:r>
                <a14:m>
                  <m:oMath xmlns:m="http://schemas.openxmlformats.org/officeDocument/2006/math">
                    <m:sSup>
                      <m:sSupPr>
                        <m:ctrlPr>
                          <a:rPr lang="en-US" sz="2000" i="1" dirty="0">
                            <a:latin typeface="Cambria Math" panose="02040503050406030204" pitchFamily="18" charset="0"/>
                          </a:rPr>
                        </m:ctrlPr>
                      </m:sSupPr>
                      <m:e>
                        <m:r>
                          <a:rPr lang="en-US" sz="2000" b="0" i="0" dirty="0" smtClean="0">
                            <a:latin typeface="Cambria Math" panose="02040503050406030204" pitchFamily="18" charset="0"/>
                          </a:rPr>
                          <m:t>−</m:t>
                        </m:r>
                        <m:r>
                          <m:rPr>
                            <m:sty m:val="p"/>
                          </m:rPr>
                          <a:rPr lang="en-US" sz="2000" dirty="0">
                            <a:latin typeface="Cambria Math" panose="02040503050406030204" pitchFamily="18" charset="0"/>
                          </a:rPr>
                          <m:t>tan</m:t>
                        </m:r>
                      </m:e>
                      <m:sup>
                        <m:r>
                          <a:rPr lang="en-US" sz="2000" dirty="0">
                            <a:latin typeface="Cambria Math" panose="02040503050406030204" pitchFamily="18" charset="0"/>
                          </a:rPr>
                          <m:t>−1</m:t>
                        </m:r>
                      </m:sup>
                    </m:sSup>
                    <m:d>
                      <m:dPr>
                        <m:ctrlPr>
                          <a:rPr lang="en-US" sz="2000" i="1" dirty="0">
                            <a:latin typeface="Cambria Math" panose="02040503050406030204" pitchFamily="18" charset="0"/>
                          </a:rPr>
                        </m:ctrlPr>
                      </m:dPr>
                      <m:e>
                        <m:f>
                          <m:fPr>
                            <m:ctrlPr>
                              <a:rPr lang="en-US" sz="2000" i="1">
                                <a:latin typeface="Cambria Math" panose="02040503050406030204" pitchFamily="18" charset="0"/>
                              </a:rPr>
                            </m:ctrlPr>
                          </m:fPr>
                          <m:num>
                            <m:r>
                              <a:rPr lang="en-US" sz="2000">
                                <a:latin typeface="Cambria Math" panose="02040503050406030204" pitchFamily="18" charset="0"/>
                              </a:rPr>
                              <m:t>1</m:t>
                            </m:r>
                          </m:num>
                          <m:den>
                            <m:r>
                              <m:rPr>
                                <m:sty m:val="p"/>
                              </m:rPr>
                              <a:rPr lang="en-US" sz="2000" b="0" i="0" smtClean="0">
                                <a:latin typeface="Cambria Math" panose="02040503050406030204" pitchFamily="18" charset="0"/>
                              </a:rPr>
                              <m:t>R</m:t>
                            </m:r>
                            <m:r>
                              <m:rPr>
                                <m:sty m:val="p"/>
                              </m:rPr>
                              <a:rPr lang="en-US" sz="2000">
                                <a:latin typeface="Cambria Math" panose="02040503050406030204" pitchFamily="18" charset="0"/>
                                <a:ea typeface="Cambria Math" panose="02040503050406030204" pitchFamily="18" charset="0"/>
                              </a:rPr>
                              <m:t>ω</m:t>
                            </m:r>
                            <m:r>
                              <m:rPr>
                                <m:sty m:val="p"/>
                              </m:rPr>
                              <a:rPr lang="en-US" sz="2000">
                                <a:latin typeface="Cambria Math" panose="02040503050406030204" pitchFamily="18" charset="0"/>
                              </a:rPr>
                              <m:t>C</m:t>
                            </m:r>
                          </m:den>
                        </m:f>
                      </m:e>
                    </m:d>
                  </m:oMath>
                </a14:m>
                <a:endParaRPr lang="en-US" sz="2000" dirty="0"/>
              </a:p>
              <a:p>
                <a:endParaRPr lang="en-US" dirty="0"/>
              </a:p>
              <a:p>
                <a:endParaRPr lang="en-US" dirty="0"/>
              </a:p>
            </p:txBody>
          </p:sp>
        </mc:Choice>
        <mc:Fallback xmlns="">
          <p:sp>
            <p:nvSpPr>
              <p:cNvPr id="7" name="TextBox 6">
                <a:extLst>
                  <a:ext uri="{FF2B5EF4-FFF2-40B4-BE49-F238E27FC236}">
                    <a16:creationId xmlns:a16="http://schemas.microsoft.com/office/drawing/2014/main" id="{810AF7D9-138E-E823-B0BF-4830252C5485}"/>
                  </a:ext>
                </a:extLst>
              </p:cNvPr>
              <p:cNvSpPr txBox="1">
                <a:spLocks noRot="1" noChangeAspect="1" noMove="1" noResize="1" noEditPoints="1" noAdjustHandles="1" noChangeArrowheads="1" noChangeShapeType="1" noTextEdit="1"/>
              </p:cNvSpPr>
              <p:nvPr/>
            </p:nvSpPr>
            <p:spPr>
              <a:xfrm>
                <a:off x="-41064" y="562485"/>
                <a:ext cx="9847219" cy="6254213"/>
              </a:xfrm>
              <a:prstGeom prst="rect">
                <a:avLst/>
              </a:prstGeom>
              <a:blipFill>
                <a:blip r:embed="rId2"/>
                <a:stretch>
                  <a:fillRect l="-804" t="-585"/>
                </a:stretch>
              </a:blipFill>
            </p:spPr>
            <p:txBody>
              <a:bodyPr/>
              <a:lstStyle/>
              <a:p>
                <a:r>
                  <a:rPr lang="en-IN">
                    <a:noFill/>
                  </a:rPr>
                  <a:t> </a:t>
                </a:r>
              </a:p>
            </p:txBody>
          </p:sp>
        </mc:Fallback>
      </mc:AlternateContent>
      <p:sp>
        <p:nvSpPr>
          <p:cNvPr id="12" name="Rounded Rectangle 17">
            <a:extLst>
              <a:ext uri="{FF2B5EF4-FFF2-40B4-BE49-F238E27FC236}">
                <a16:creationId xmlns:a16="http://schemas.microsoft.com/office/drawing/2014/main" id="{4D382816-DDDE-6EF7-28FE-AD96C8F34E8E}"/>
              </a:ext>
            </a:extLst>
          </p:cNvPr>
          <p:cNvSpPr/>
          <p:nvPr/>
        </p:nvSpPr>
        <p:spPr>
          <a:xfrm>
            <a:off x="2511501" y="133686"/>
            <a:ext cx="7611177"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Steady state analysis of RC Series Circuit</a:t>
            </a:r>
            <a:endParaRPr lang="en-US" sz="2400" dirty="0"/>
          </a:p>
        </p:txBody>
      </p:sp>
      <p:sp>
        <p:nvSpPr>
          <p:cNvPr id="13" name="TextBox 12">
            <a:extLst>
              <a:ext uri="{FF2B5EF4-FFF2-40B4-BE49-F238E27FC236}">
                <a16:creationId xmlns:a16="http://schemas.microsoft.com/office/drawing/2014/main" id="{600C791D-806E-DD3F-9356-EC4B896B6A62}"/>
              </a:ext>
            </a:extLst>
          </p:cNvPr>
          <p:cNvSpPr txBox="1"/>
          <p:nvPr/>
        </p:nvSpPr>
        <p:spPr>
          <a:xfrm>
            <a:off x="41935" y="3116487"/>
            <a:ext cx="6248710" cy="3072363"/>
          </a:xfrm>
          <a:prstGeom prst="rect">
            <a:avLst/>
          </a:prstGeom>
          <a:noFill/>
          <a:ln w="19050">
            <a:solidFill>
              <a:schemeClr val="tx1"/>
            </a:solidFill>
          </a:ln>
        </p:spPr>
        <p:txBody>
          <a:bodyPr wrap="square" rtlCol="0">
            <a:spAutoFit/>
          </a:bodyPr>
          <a:lstStyle/>
          <a:p>
            <a:endParaRPr lang="en-IN" dirty="0"/>
          </a:p>
        </p:txBody>
      </p:sp>
      <p:sp>
        <p:nvSpPr>
          <p:cNvPr id="14" name="TextBox 13">
            <a:extLst>
              <a:ext uri="{FF2B5EF4-FFF2-40B4-BE49-F238E27FC236}">
                <a16:creationId xmlns:a16="http://schemas.microsoft.com/office/drawing/2014/main" id="{AF535885-9D44-B319-8D3D-2B709C808F1F}"/>
              </a:ext>
            </a:extLst>
          </p:cNvPr>
          <p:cNvSpPr txBox="1"/>
          <p:nvPr/>
        </p:nvSpPr>
        <p:spPr>
          <a:xfrm>
            <a:off x="8717378" y="5043509"/>
            <a:ext cx="3557445" cy="1015663"/>
          </a:xfrm>
          <a:prstGeom prst="rect">
            <a:avLst/>
          </a:prstGeom>
          <a:noFill/>
        </p:spPr>
        <p:txBody>
          <a:bodyPr wrap="square">
            <a:spAutoFit/>
          </a:bodyPr>
          <a:lstStyle/>
          <a:p>
            <a:r>
              <a:rPr lang="en-IN" sz="2000" dirty="0">
                <a:solidFill>
                  <a:srgbClr val="FF0000"/>
                </a:solidFill>
              </a:rPr>
              <a:t>The current leads the voltage by 90°. i.e., </a:t>
            </a:r>
            <a:r>
              <a:rPr lang="en-US" sz="2000" dirty="0">
                <a:solidFill>
                  <a:srgbClr val="FF0000"/>
                </a:solidFill>
              </a:rPr>
              <a:t>voltage and current are out of phase.</a:t>
            </a:r>
            <a:endParaRPr lang="en-IN" sz="2000" dirty="0">
              <a:solidFill>
                <a:srgbClr val="FF0000"/>
              </a:solidFill>
            </a:endParaRPr>
          </a:p>
        </p:txBody>
      </p:sp>
      <p:pic>
        <p:nvPicPr>
          <p:cNvPr id="16" name="Picture 15">
            <a:extLst>
              <a:ext uri="{FF2B5EF4-FFF2-40B4-BE49-F238E27FC236}">
                <a16:creationId xmlns:a16="http://schemas.microsoft.com/office/drawing/2014/main" id="{144E1627-466C-4784-AB1E-C1351BE1680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515703" y="581377"/>
            <a:ext cx="2614365" cy="1965880"/>
          </a:xfrm>
          <a:prstGeom prst="rect">
            <a:avLst/>
          </a:prstGeom>
          <a:noFill/>
          <a:ln>
            <a:noFill/>
          </a:ln>
        </p:spPr>
      </p:pic>
      <p:pic>
        <p:nvPicPr>
          <p:cNvPr id="19" name="Picture 18">
            <a:extLst>
              <a:ext uri="{FF2B5EF4-FFF2-40B4-BE49-F238E27FC236}">
                <a16:creationId xmlns:a16="http://schemas.microsoft.com/office/drawing/2014/main" id="{D2BBA1DD-A079-531C-832A-7AF7ABADDA8D}"/>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6456395" y="3125818"/>
            <a:ext cx="2354580" cy="1996440"/>
          </a:xfrm>
          <a:prstGeom prst="rect">
            <a:avLst/>
          </a:prstGeom>
          <a:noFill/>
          <a:ln>
            <a:noFill/>
          </a:ln>
        </p:spPr>
      </p:pic>
      <p:pic>
        <p:nvPicPr>
          <p:cNvPr id="3" name="Picture 2">
            <a:extLst>
              <a:ext uri="{FF2B5EF4-FFF2-40B4-BE49-F238E27FC236}">
                <a16:creationId xmlns:a16="http://schemas.microsoft.com/office/drawing/2014/main" id="{9BD5AC86-3BE6-4AF6-90CC-4BC9CB304A0E}"/>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898122" y="3086444"/>
            <a:ext cx="3195955" cy="1996440"/>
          </a:xfrm>
          <a:prstGeom prst="rect">
            <a:avLst/>
          </a:prstGeom>
          <a:noFill/>
          <a:ln>
            <a:noFill/>
          </a:ln>
        </p:spPr>
      </p:pic>
    </p:spTree>
    <p:extLst>
      <p:ext uri="{BB962C8B-B14F-4D97-AF65-F5344CB8AC3E}">
        <p14:creationId xmlns:p14="http://schemas.microsoft.com/office/powerpoint/2010/main" val="306531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715AC-94D9-E128-ACD7-6FDD1A0A954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F5538C-517C-12E8-7629-509FC3F0EB5C}"/>
              </a:ext>
            </a:extLst>
          </p:cNvPr>
          <p:cNvSpPr>
            <a:spLocks noGrp="1"/>
          </p:cNvSpPr>
          <p:nvPr>
            <p:ph type="sldNum" sz="quarter" idx="12"/>
          </p:nvPr>
        </p:nvSpPr>
        <p:spPr/>
        <p:txBody>
          <a:bodyPr/>
          <a:lstStyle/>
          <a:p>
            <a:fld id="{CBABCCC1-BF11-4F37-963E-1BCD5B23FD72}" type="slidenum">
              <a:rPr lang="en-IN" smtClean="0"/>
              <a:t>14</a:t>
            </a:fld>
            <a:endParaRPr lang="en-I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C5F9E0B-4945-E742-A53C-C6895D00DAA7}"/>
                  </a:ext>
                </a:extLst>
              </p:cNvPr>
              <p:cNvSpPr txBox="1"/>
              <p:nvPr/>
            </p:nvSpPr>
            <p:spPr>
              <a:xfrm>
                <a:off x="0" y="2109904"/>
                <a:ext cx="11803224" cy="5354799"/>
              </a:xfrm>
              <a:prstGeom prst="rect">
                <a:avLst/>
              </a:prstGeom>
              <a:noFill/>
            </p:spPr>
            <p:txBody>
              <a:bodyPr wrap="square">
                <a:spAutoFit/>
              </a:bodyPr>
              <a:lstStyle/>
              <a:p>
                <a:r>
                  <a:rPr lang="en-IN" sz="2200" dirty="0"/>
                  <a:t>Consider the function </a:t>
                </a:r>
                <a:r>
                  <a:rPr lang="en-IN" sz="2200" dirty="0" err="1"/>
                  <a:t>i</a:t>
                </a:r>
                <a:r>
                  <a:rPr lang="en-IN" sz="2200" dirty="0"/>
                  <a:t>(t)=</a:t>
                </a:r>
                <a14:m>
                  <m:oMath xmlns:m="http://schemas.openxmlformats.org/officeDocument/2006/math">
                    <m:sSub>
                      <m:sSubPr>
                        <m:ctrlPr>
                          <a:rPr lang="en-IN" sz="2200" i="1" smtClean="0">
                            <a:latin typeface="Cambria Math" panose="02040503050406030204" pitchFamily="18" charset="0"/>
                          </a:rPr>
                        </m:ctrlPr>
                      </m:sSubPr>
                      <m:e>
                        <m:r>
                          <m:rPr>
                            <m:sty m:val="p"/>
                          </m:rPr>
                          <a:rPr lang="en-US" sz="2200" b="0" i="0" smtClean="0">
                            <a:latin typeface="Cambria Math" panose="02040503050406030204" pitchFamily="18" charset="0"/>
                          </a:rPr>
                          <m:t>I</m:t>
                        </m:r>
                      </m:e>
                      <m:sub>
                        <m:r>
                          <m:rPr>
                            <m:sty m:val="p"/>
                          </m:rPr>
                          <a:rPr lang="en-US" sz="2200" b="0" i="0" smtClean="0">
                            <a:latin typeface="Cambria Math" panose="02040503050406030204" pitchFamily="18" charset="0"/>
                          </a:rPr>
                          <m:t>m</m:t>
                        </m:r>
                      </m:sub>
                    </m:sSub>
                  </m:oMath>
                </a14:m>
                <a:r>
                  <a:rPr lang="en-IN" sz="2200" dirty="0"/>
                  <a:t>sin</a:t>
                </a:r>
                <a14:m>
                  <m:oMath xmlns:m="http://schemas.openxmlformats.org/officeDocument/2006/math">
                    <m:r>
                      <m:rPr>
                        <m:sty m:val="p"/>
                      </m:rPr>
                      <a:rPr lang="en-IN" sz="2200" i="0" dirty="0" smtClean="0">
                        <a:latin typeface="Cambria Math" panose="02040503050406030204" pitchFamily="18" charset="0"/>
                        <a:ea typeface="Cambria Math" panose="02040503050406030204" pitchFamily="18" charset="0"/>
                      </a:rPr>
                      <m:t>ω</m:t>
                    </m:r>
                    <m:r>
                      <m:rPr>
                        <m:sty m:val="p"/>
                      </m:rPr>
                      <a:rPr lang="en-US" sz="2200" b="0" i="0" dirty="0" smtClean="0">
                        <a:latin typeface="Cambria Math" panose="02040503050406030204" pitchFamily="18" charset="0"/>
                        <a:ea typeface="Cambria Math" panose="02040503050406030204" pitchFamily="18" charset="0"/>
                      </a:rPr>
                      <m:t>t</m:t>
                    </m:r>
                    <m:r>
                      <a:rPr lang="en-US" sz="2000" dirty="0">
                        <a:latin typeface="Cambria Math" panose="02040503050406030204" pitchFamily="18" charset="0"/>
                        <a:ea typeface="Cambria Math" panose="02040503050406030204" pitchFamily="18" charset="0"/>
                      </a:rPr>
                      <m:t>=</m:t>
                    </m:r>
                    <m:r>
                      <m:rPr>
                        <m:nor/>
                      </m:rPr>
                      <a:rPr lang="en-IN" sz="2000" dirty="0"/>
                      <m:t> </m:t>
                    </m:r>
                    <m:sSub>
                      <m:sSubPr>
                        <m:ctrlPr>
                          <a:rPr lang="en-IN" sz="2000" i="1">
                            <a:latin typeface="Cambria Math" panose="02040503050406030204" pitchFamily="18" charset="0"/>
                          </a:rPr>
                        </m:ctrlPr>
                      </m:sSubPr>
                      <m:e>
                        <m:r>
                          <m:rPr>
                            <m:sty m:val="p"/>
                          </m:rPr>
                          <a:rPr lang="en-US" sz="2000">
                            <a:latin typeface="Cambria Math" panose="02040503050406030204" pitchFamily="18" charset="0"/>
                          </a:rPr>
                          <m:t>I</m:t>
                        </m:r>
                      </m:e>
                      <m:sub>
                        <m:r>
                          <m:rPr>
                            <m:sty m:val="p"/>
                          </m:rPr>
                          <a:rPr lang="en-US" sz="2000">
                            <a:latin typeface="Cambria Math" panose="02040503050406030204" pitchFamily="18" charset="0"/>
                          </a:rPr>
                          <m:t>m</m:t>
                        </m:r>
                      </m:sub>
                    </m:sSub>
                    <m:r>
                      <m:rPr>
                        <m:nor/>
                      </m:rPr>
                      <a:rPr lang="en-US" sz="2000" dirty="0">
                        <a:ea typeface="Cambria Math" panose="02040503050406030204" pitchFamily="18" charset="0"/>
                      </a:rPr>
                      <m:t> </m:t>
                    </m:r>
                    <m:r>
                      <a:rPr lang="en-US" sz="2000">
                        <a:latin typeface="Cambria Math" panose="02040503050406030204" pitchFamily="18" charset="0"/>
                        <a:ea typeface="Cambria Math" panose="02040503050406030204" pitchFamily="18" charset="0"/>
                      </a:rPr>
                      <m:t>∠</m:t>
                    </m:r>
                    <m:r>
                      <m:rPr>
                        <m:nor/>
                      </m:rPr>
                      <a:rPr lang="en-US" sz="2000" dirty="0">
                        <a:ea typeface="Cambria Math" panose="02040503050406030204" pitchFamily="18" charset="0"/>
                      </a:rPr>
                      <m:t> </m:t>
                    </m:r>
                    <m:r>
                      <a:rPr lang="en-US" sz="2000" dirty="0">
                        <a:latin typeface="Cambria Math" panose="02040503050406030204" pitchFamily="18" charset="0"/>
                        <a:ea typeface="Cambria Math" panose="02040503050406030204" pitchFamily="18" charset="0"/>
                      </a:rPr>
                      <m:t>0°</m:t>
                    </m:r>
                    <m:r>
                      <a:rPr lang="en-US" sz="2000" b="0" i="0" dirty="0" smtClean="0">
                        <a:latin typeface="Cambria Math" panose="02040503050406030204" pitchFamily="18" charset="0"/>
                        <a:ea typeface="Cambria Math" panose="02040503050406030204" pitchFamily="18" charset="0"/>
                      </a:rPr>
                      <m:t>=</m:t>
                    </m:r>
                  </m:oMath>
                </a14:m>
                <a:r>
                  <a:rPr lang="en-IN" sz="2200" dirty="0"/>
                  <a:t> </a:t>
                </a:r>
                <a14:m>
                  <m:oMath xmlns:m="http://schemas.openxmlformats.org/officeDocument/2006/math">
                    <m:sSub>
                      <m:sSubPr>
                        <m:ctrlPr>
                          <a:rPr lang="en-IN" sz="2200" i="1">
                            <a:latin typeface="Cambria Math" panose="02040503050406030204" pitchFamily="18" charset="0"/>
                          </a:rPr>
                        </m:ctrlPr>
                      </m:sSubPr>
                      <m:e>
                        <m:r>
                          <m:rPr>
                            <m:sty m:val="p"/>
                          </m:rPr>
                          <a:rPr lang="en-US" sz="2200">
                            <a:latin typeface="Cambria Math" panose="02040503050406030204" pitchFamily="18" charset="0"/>
                          </a:rPr>
                          <m:t>I</m:t>
                        </m:r>
                      </m:e>
                      <m:sub>
                        <m:r>
                          <m:rPr>
                            <m:sty m:val="p"/>
                          </m:rPr>
                          <a:rPr lang="en-US" sz="2200">
                            <a:latin typeface="Cambria Math" panose="02040503050406030204" pitchFamily="18" charset="0"/>
                          </a:rPr>
                          <m:t>m</m:t>
                        </m:r>
                      </m:sub>
                    </m:sSub>
                  </m:oMath>
                </a14:m>
                <a:endParaRPr lang="en-US" sz="2200" b="0" dirty="0">
                  <a:ea typeface="Cambria Math" panose="02040503050406030204" pitchFamily="18" charset="0"/>
                </a:endParaRPr>
              </a:p>
              <a:p>
                <a:pPr marL="342900" indent="-342900">
                  <a:lnSpc>
                    <a:spcPct val="100000"/>
                  </a:lnSpc>
                  <a:buFont typeface="Arial" panose="020B0604020202020204" pitchFamily="34" charset="0"/>
                  <a:buChar char="•"/>
                </a:pPr>
                <a:r>
                  <a:rPr lang="en-US" sz="2200" dirty="0"/>
                  <a:t>The voltage current relation in the case of an </a:t>
                </a:r>
                <a:r>
                  <a:rPr lang="en-US" sz="2200" b="1" dirty="0"/>
                  <a:t>resistor</a:t>
                </a:r>
                <a:r>
                  <a:rPr lang="en-US" sz="2200" dirty="0"/>
                  <a:t> is given by</a:t>
                </a:r>
              </a:p>
              <a:p>
                <a:pPr algn="ctr"/>
                <a14:m>
                  <m:oMath xmlns:m="http://schemas.openxmlformats.org/officeDocument/2006/math">
                    <m:sSub>
                      <m:sSubPr>
                        <m:ctrlPr>
                          <a:rPr lang="en-IN" sz="2200" i="1" smtClean="0">
                            <a:latin typeface="Cambria Math" panose="02040503050406030204" pitchFamily="18" charset="0"/>
                          </a:rPr>
                        </m:ctrlPr>
                      </m:sSubPr>
                      <m:e>
                        <m:r>
                          <m:rPr>
                            <m:sty m:val="p"/>
                          </m:rPr>
                          <a:rPr lang="en-US" sz="2200" b="0" i="0" smtClean="0">
                            <a:latin typeface="Cambria Math" panose="02040503050406030204" pitchFamily="18" charset="0"/>
                          </a:rPr>
                          <m:t>V</m:t>
                        </m:r>
                      </m:e>
                      <m:sub>
                        <m:r>
                          <m:rPr>
                            <m:sty m:val="p"/>
                          </m:rPr>
                          <a:rPr lang="en-US" sz="2200" b="0" i="0" smtClean="0">
                            <a:latin typeface="Cambria Math" panose="02040503050406030204" pitchFamily="18" charset="0"/>
                          </a:rPr>
                          <m:t>R</m:t>
                        </m:r>
                      </m:sub>
                    </m:sSub>
                    <m:r>
                      <a:rPr lang="en-US" sz="2200" b="0" i="0" smtClean="0">
                        <a:latin typeface="Cambria Math" panose="02040503050406030204" pitchFamily="18" charset="0"/>
                      </a:rPr>
                      <m:t>=</m:t>
                    </m:r>
                    <m:r>
                      <m:rPr>
                        <m:sty m:val="p"/>
                      </m:rPr>
                      <a:rPr lang="en-US" sz="2200" b="0" i="0" smtClean="0">
                        <a:latin typeface="Cambria Math" panose="02040503050406030204" pitchFamily="18" charset="0"/>
                      </a:rPr>
                      <m:t>i</m:t>
                    </m:r>
                    <m:d>
                      <m:dPr>
                        <m:ctrlPr>
                          <a:rPr lang="en-US" sz="2200" b="0" i="1" smtClean="0">
                            <a:latin typeface="Cambria Math" panose="02040503050406030204" pitchFamily="18" charset="0"/>
                          </a:rPr>
                        </m:ctrlPr>
                      </m:dPr>
                      <m:e>
                        <m:r>
                          <m:rPr>
                            <m:sty m:val="p"/>
                          </m:rPr>
                          <a:rPr lang="en-US" sz="2200" b="0" i="0" smtClean="0">
                            <a:latin typeface="Cambria Math" panose="02040503050406030204" pitchFamily="18" charset="0"/>
                          </a:rPr>
                          <m:t>t</m:t>
                        </m:r>
                      </m:e>
                    </m:d>
                    <m:r>
                      <m:rPr>
                        <m:sty m:val="p"/>
                      </m:rPr>
                      <a:rPr lang="en-US" sz="2200" b="0" i="0" smtClean="0">
                        <a:latin typeface="Cambria Math" panose="02040503050406030204" pitchFamily="18" charset="0"/>
                      </a:rPr>
                      <m:t>R</m:t>
                    </m:r>
                    <m:r>
                      <a:rPr lang="en-US" sz="2200" b="0" i="0" smtClean="0">
                        <a:latin typeface="Cambria Math" panose="02040503050406030204" pitchFamily="18" charset="0"/>
                      </a:rPr>
                      <m:t>=</m:t>
                    </m:r>
                    <m:sSub>
                      <m:sSubPr>
                        <m:ctrlPr>
                          <a:rPr lang="en-IN" sz="2200" i="1" smtClean="0">
                            <a:latin typeface="Cambria Math" panose="02040503050406030204" pitchFamily="18" charset="0"/>
                          </a:rPr>
                        </m:ctrlPr>
                      </m:sSubPr>
                      <m:e>
                        <m:r>
                          <m:rPr>
                            <m:sty m:val="p"/>
                          </m:rPr>
                          <a:rPr lang="en-US" sz="2200" b="0" i="0" smtClean="0">
                            <a:latin typeface="Cambria Math" panose="02040503050406030204" pitchFamily="18" charset="0"/>
                          </a:rPr>
                          <m:t>I</m:t>
                        </m:r>
                      </m:e>
                      <m:sub>
                        <m:r>
                          <m:rPr>
                            <m:sty m:val="p"/>
                          </m:rPr>
                          <a:rPr lang="en-US" sz="2200" b="0" i="0" smtClean="0">
                            <a:latin typeface="Cambria Math" panose="02040503050406030204" pitchFamily="18" charset="0"/>
                          </a:rPr>
                          <m:t>m</m:t>
                        </m:r>
                      </m:sub>
                    </m:sSub>
                  </m:oMath>
                </a14:m>
                <a:r>
                  <a:rPr lang="en-IN" sz="2200" dirty="0"/>
                  <a:t>Rsin</a:t>
                </a:r>
                <a14:m>
                  <m:oMath xmlns:m="http://schemas.openxmlformats.org/officeDocument/2006/math">
                    <m:r>
                      <m:rPr>
                        <m:sty m:val="p"/>
                      </m:rPr>
                      <a:rPr lang="en-IN" sz="2200" i="0" dirty="0" smtClean="0">
                        <a:latin typeface="Cambria Math" panose="02040503050406030204" pitchFamily="18" charset="0"/>
                        <a:ea typeface="Cambria Math" panose="02040503050406030204" pitchFamily="18" charset="0"/>
                      </a:rPr>
                      <m:t>ω</m:t>
                    </m:r>
                    <m:r>
                      <m:rPr>
                        <m:sty m:val="p"/>
                      </m:rPr>
                      <a:rPr lang="en-US" sz="2200" b="0" i="0" dirty="0" smtClean="0">
                        <a:latin typeface="Cambria Math" panose="02040503050406030204" pitchFamily="18" charset="0"/>
                        <a:ea typeface="Cambria Math" panose="02040503050406030204" pitchFamily="18" charset="0"/>
                      </a:rPr>
                      <m:t>t</m:t>
                    </m:r>
                    <m:r>
                      <a:rPr lang="en-US" sz="2200" b="0" i="0" dirty="0" smtClean="0">
                        <a:latin typeface="Cambria Math" panose="02040503050406030204" pitchFamily="18" charset="0"/>
                        <a:ea typeface="Cambria Math" panose="02040503050406030204" pitchFamily="18" charset="0"/>
                      </a:rPr>
                      <m:t>=</m:t>
                    </m:r>
                    <m:sSub>
                      <m:sSubPr>
                        <m:ctrlPr>
                          <a:rPr lang="en-IN" sz="2200" i="1">
                            <a:latin typeface="Cambria Math" panose="02040503050406030204" pitchFamily="18" charset="0"/>
                          </a:rPr>
                        </m:ctrlPr>
                      </m:sSubPr>
                      <m:e>
                        <m:r>
                          <m:rPr>
                            <m:sty m:val="p"/>
                          </m:rPr>
                          <a:rPr lang="en-US" sz="2200" b="0" i="0" smtClean="0">
                            <a:latin typeface="Cambria Math" panose="02040503050406030204" pitchFamily="18" charset="0"/>
                          </a:rPr>
                          <m:t>I</m:t>
                        </m:r>
                      </m:e>
                      <m:sub>
                        <m:r>
                          <m:rPr>
                            <m:sty m:val="p"/>
                          </m:rPr>
                          <a:rPr lang="en-US" sz="2200">
                            <a:latin typeface="Cambria Math" panose="02040503050406030204" pitchFamily="18" charset="0"/>
                          </a:rPr>
                          <m:t>m</m:t>
                        </m:r>
                      </m:sub>
                    </m:sSub>
                    <m:r>
                      <m:rPr>
                        <m:nor/>
                      </m:rPr>
                      <a:rPr lang="en-US" sz="2200" b="0" i="0" smtClean="0">
                        <a:latin typeface="Cambria Math" panose="02040503050406030204" pitchFamily="18" charset="0"/>
                      </a:rPr>
                      <m:t>R</m:t>
                    </m:r>
                    <m:r>
                      <m:rPr>
                        <m:nor/>
                      </m:rPr>
                      <a:rPr lang="en-US" sz="2200" dirty="0">
                        <a:ea typeface="Cambria Math" panose="02040503050406030204" pitchFamily="18" charset="0"/>
                      </a:rPr>
                      <m:t> </m:t>
                    </m:r>
                    <m:r>
                      <a:rPr lang="en-US" sz="2200">
                        <a:latin typeface="Cambria Math" panose="02040503050406030204" pitchFamily="18" charset="0"/>
                        <a:ea typeface="Cambria Math" panose="02040503050406030204" pitchFamily="18" charset="0"/>
                      </a:rPr>
                      <m:t>∠</m:t>
                    </m:r>
                    <m:r>
                      <m:rPr>
                        <m:nor/>
                      </m:rPr>
                      <a:rPr lang="en-US" sz="2200" dirty="0">
                        <a:ea typeface="Cambria Math" panose="02040503050406030204" pitchFamily="18" charset="0"/>
                      </a:rPr>
                      <m:t> </m:t>
                    </m:r>
                    <m:r>
                      <a:rPr lang="en-US" sz="2200" dirty="0">
                        <a:latin typeface="Cambria Math" panose="02040503050406030204" pitchFamily="18" charset="0"/>
                        <a:ea typeface="Cambria Math" panose="02040503050406030204" pitchFamily="18" charset="0"/>
                      </a:rPr>
                      <m:t>0°</m:t>
                    </m:r>
                    <m:r>
                      <a:rPr lang="en-US" sz="2200" b="0" i="0" dirty="0" smtClean="0">
                        <a:latin typeface="Cambria Math" panose="02040503050406030204" pitchFamily="18" charset="0"/>
                        <a:ea typeface="Cambria Math" panose="02040503050406030204" pitchFamily="18" charset="0"/>
                      </a:rPr>
                      <m:t>=</m:t>
                    </m:r>
                    <m:sSub>
                      <m:sSubPr>
                        <m:ctrlPr>
                          <a:rPr lang="en-IN" sz="2200" i="1">
                            <a:latin typeface="Cambria Math" panose="02040503050406030204" pitchFamily="18" charset="0"/>
                          </a:rPr>
                        </m:ctrlPr>
                      </m:sSubPr>
                      <m:e>
                        <m:r>
                          <m:rPr>
                            <m:sty m:val="p"/>
                          </m:rPr>
                          <a:rPr lang="en-US" sz="2200">
                            <a:latin typeface="Cambria Math" panose="02040503050406030204" pitchFamily="18" charset="0"/>
                          </a:rPr>
                          <m:t>I</m:t>
                        </m:r>
                      </m:e>
                      <m:sub>
                        <m:r>
                          <m:rPr>
                            <m:sty m:val="p"/>
                          </m:rPr>
                          <a:rPr lang="en-US" sz="2200">
                            <a:latin typeface="Cambria Math" panose="02040503050406030204" pitchFamily="18" charset="0"/>
                          </a:rPr>
                          <m:t>m</m:t>
                        </m:r>
                      </m:sub>
                    </m:sSub>
                    <m:r>
                      <m:rPr>
                        <m:nor/>
                      </m:rPr>
                      <a:rPr lang="en-US" sz="2200">
                        <a:latin typeface="Cambria Math" panose="02040503050406030204" pitchFamily="18" charset="0"/>
                      </a:rPr>
                      <m:t>R</m:t>
                    </m:r>
                  </m:oMath>
                </a14:m>
                <a:endParaRPr lang="en-US" sz="2200" dirty="0"/>
              </a:p>
              <a:p>
                <a:pPr marL="342900" indent="-342900">
                  <a:lnSpc>
                    <a:spcPct val="100000"/>
                  </a:lnSpc>
                  <a:buFont typeface="Arial" panose="020B0604020202020204" pitchFamily="34" charset="0"/>
                  <a:buChar char="•"/>
                </a:pPr>
                <a:r>
                  <a:rPr lang="en-US" sz="2200" dirty="0"/>
                  <a:t>The voltage current relation in the case of an </a:t>
                </a:r>
                <a:r>
                  <a:rPr lang="en-US" sz="2200" b="1" dirty="0"/>
                  <a:t>inductor</a:t>
                </a:r>
                <a:r>
                  <a:rPr lang="en-US" sz="2200" dirty="0"/>
                  <a:t> is given by</a:t>
                </a:r>
              </a:p>
              <a:p>
                <a:pPr algn="ctr"/>
                <a14:m>
                  <m:oMath xmlns:m="http://schemas.openxmlformats.org/officeDocument/2006/math">
                    <m:sSub>
                      <m:sSubPr>
                        <m:ctrlPr>
                          <a:rPr lang="en-IN" sz="2400" i="1">
                            <a:latin typeface="Cambria Math" panose="02040503050406030204" pitchFamily="18" charset="0"/>
                          </a:rPr>
                        </m:ctrlPr>
                      </m:sSubPr>
                      <m:e>
                        <m:r>
                          <m:rPr>
                            <m:sty m:val="p"/>
                          </m:rPr>
                          <a:rPr lang="en-US" sz="2400">
                            <a:latin typeface="Cambria Math" panose="02040503050406030204" pitchFamily="18" charset="0"/>
                          </a:rPr>
                          <m:t>V</m:t>
                        </m:r>
                      </m:e>
                      <m:sub>
                        <m:r>
                          <m:rPr>
                            <m:sty m:val="p"/>
                          </m:rPr>
                          <a:rPr lang="en-US" sz="2400" b="0" i="0" smtClean="0">
                            <a:latin typeface="Cambria Math" panose="02040503050406030204" pitchFamily="18" charset="0"/>
                          </a:rPr>
                          <m:t>L</m:t>
                        </m:r>
                      </m:sub>
                    </m:sSub>
                    <m:r>
                      <a:rPr lang="en-US" sz="2400" i="1">
                        <a:latin typeface="Cambria Math" panose="02040503050406030204" pitchFamily="18" charset="0"/>
                      </a:rPr>
                      <m:t> </m:t>
                    </m:r>
                  </m:oMath>
                </a14:m>
                <a:r>
                  <a:rPr lang="en-IN" sz="2400" dirty="0"/>
                  <a:t>=</a:t>
                </a:r>
                <a14:m>
                  <m:oMath xmlns:m="http://schemas.openxmlformats.org/officeDocument/2006/math">
                    <m:r>
                      <m:rPr>
                        <m:sty m:val="p"/>
                      </m:rPr>
                      <a:rPr lang="en-US" sz="2400" b="0" i="0" smtClean="0">
                        <a:latin typeface="Cambria Math" panose="02040503050406030204" pitchFamily="18" charset="0"/>
                      </a:rPr>
                      <m:t>L</m:t>
                    </m:r>
                    <m:f>
                      <m:fPr>
                        <m:ctrlPr>
                          <a:rPr lang="en-IN" sz="2400" i="1" smtClean="0">
                            <a:latin typeface="Cambria Math" panose="02040503050406030204" pitchFamily="18" charset="0"/>
                          </a:rPr>
                        </m:ctrlPr>
                      </m:fPr>
                      <m:num>
                        <m:r>
                          <m:rPr>
                            <m:sty m:val="p"/>
                          </m:rPr>
                          <a:rPr lang="en-US" sz="2400" b="0" i="0" smtClean="0">
                            <a:latin typeface="Cambria Math" panose="02040503050406030204" pitchFamily="18" charset="0"/>
                          </a:rPr>
                          <m:t>di</m:t>
                        </m:r>
                        <m:r>
                          <a:rPr lang="en-US" sz="2400" b="0" i="1" smtClean="0">
                            <a:latin typeface="Cambria Math" panose="02040503050406030204" pitchFamily="18" charset="0"/>
                          </a:rPr>
                          <m:t>(</m:t>
                        </m:r>
                        <m:r>
                          <m:rPr>
                            <m:sty m:val="p"/>
                          </m:rPr>
                          <a:rPr lang="en-US" sz="2400" b="0" i="0" smtClean="0">
                            <a:latin typeface="Cambria Math" panose="02040503050406030204" pitchFamily="18" charset="0"/>
                          </a:rPr>
                          <m:t>t</m:t>
                        </m:r>
                        <m:r>
                          <a:rPr lang="en-US" sz="2400" b="0" i="0" smtClean="0">
                            <a:latin typeface="Cambria Math" panose="02040503050406030204" pitchFamily="18" charset="0"/>
                          </a:rPr>
                          <m:t>)</m:t>
                        </m:r>
                      </m:num>
                      <m:den>
                        <m:r>
                          <m:rPr>
                            <m:sty m:val="p"/>
                          </m:rPr>
                          <a:rPr lang="en-US" sz="2400" b="0" i="0" smtClean="0">
                            <a:latin typeface="Cambria Math" panose="02040503050406030204" pitchFamily="18" charset="0"/>
                          </a:rPr>
                          <m:t>dt</m:t>
                        </m:r>
                      </m:den>
                    </m:f>
                    <m:r>
                      <a:rPr lang="en-US" sz="2400" b="0" i="0" smtClean="0">
                        <a:latin typeface="Cambria Math" panose="02040503050406030204" pitchFamily="18" charset="0"/>
                      </a:rPr>
                      <m:t>=</m:t>
                    </m:r>
                    <m:r>
                      <m:rPr>
                        <m:sty m:val="p"/>
                      </m:rPr>
                      <a:rPr lang="en-US" sz="2000" b="0" i="0" smtClean="0">
                        <a:latin typeface="Cambria Math" panose="02040503050406030204" pitchFamily="18" charset="0"/>
                      </a:rPr>
                      <m:t>L</m:t>
                    </m:r>
                    <m:f>
                      <m:fPr>
                        <m:ctrlPr>
                          <a:rPr lang="en-IN" sz="2000" i="1" smtClean="0">
                            <a:latin typeface="Cambria Math" panose="02040503050406030204" pitchFamily="18" charset="0"/>
                          </a:rPr>
                        </m:ctrlPr>
                      </m:fPr>
                      <m:num>
                        <m:r>
                          <m:rPr>
                            <m:sty m:val="p"/>
                          </m:rPr>
                          <a:rPr lang="en-US" sz="2000" b="0" i="0" smtClean="0">
                            <a:latin typeface="Cambria Math" panose="02040503050406030204" pitchFamily="18" charset="0"/>
                          </a:rPr>
                          <m:t>d</m:t>
                        </m:r>
                      </m:num>
                      <m:den>
                        <m:r>
                          <m:rPr>
                            <m:sty m:val="p"/>
                          </m:rPr>
                          <a:rPr lang="en-US" sz="2000" b="0" i="0" smtClean="0">
                            <a:latin typeface="Cambria Math" panose="02040503050406030204" pitchFamily="18" charset="0"/>
                          </a:rPr>
                          <m:t>dt</m:t>
                        </m:r>
                      </m:den>
                    </m:f>
                    <m:d>
                      <m:dPr>
                        <m:ctrlPr>
                          <a:rPr lang="en-US" sz="2000" b="0" i="1" smtClean="0">
                            <a:latin typeface="Cambria Math" panose="02040503050406030204" pitchFamily="18" charset="0"/>
                          </a:rPr>
                        </m:ctrlPr>
                      </m:dPr>
                      <m:e>
                        <m:sSub>
                          <m:sSubPr>
                            <m:ctrlPr>
                              <a:rPr lang="en-IN" sz="2000" i="1">
                                <a:latin typeface="Cambria Math" panose="02040503050406030204" pitchFamily="18" charset="0"/>
                              </a:rPr>
                            </m:ctrlPr>
                          </m:sSubPr>
                          <m:e>
                            <m:r>
                              <m:rPr>
                                <m:sty m:val="p"/>
                              </m:rPr>
                              <a:rPr lang="en-US" sz="2000" i="0" smtClean="0">
                                <a:latin typeface="Cambria Math" panose="02040503050406030204" pitchFamily="18" charset="0"/>
                              </a:rPr>
                              <m:t>I</m:t>
                            </m:r>
                          </m:e>
                          <m:sub>
                            <m:r>
                              <m:rPr>
                                <m:sty m:val="p"/>
                              </m:rPr>
                              <a:rPr lang="en-US" sz="2000" i="0" smtClean="0">
                                <a:latin typeface="Cambria Math" panose="02040503050406030204" pitchFamily="18" charset="0"/>
                              </a:rPr>
                              <m:t>m</m:t>
                            </m:r>
                          </m:sub>
                        </m:sSub>
                        <m:r>
                          <m:rPr>
                            <m:nor/>
                          </m:rPr>
                          <a:rPr lang="en-IN" sz="2000" dirty="0"/>
                          <m:t>sin</m:t>
                        </m:r>
                        <m:r>
                          <m:rPr>
                            <m:sty m:val="p"/>
                          </m:rPr>
                          <a:rPr lang="en-IN" sz="2000" i="0" dirty="0" smtClean="0">
                            <a:latin typeface="Cambria Math" panose="02040503050406030204" pitchFamily="18" charset="0"/>
                            <a:ea typeface="Cambria Math" panose="02040503050406030204" pitchFamily="18" charset="0"/>
                          </a:rPr>
                          <m:t>ω</m:t>
                        </m:r>
                        <m:r>
                          <m:rPr>
                            <m:sty m:val="p"/>
                          </m:rPr>
                          <a:rPr lang="en-US" sz="2000" i="0" dirty="0" smtClean="0">
                            <a:latin typeface="Cambria Math" panose="02040503050406030204" pitchFamily="18" charset="0"/>
                            <a:ea typeface="Cambria Math" panose="02040503050406030204" pitchFamily="18" charset="0"/>
                          </a:rPr>
                          <m:t>t</m:t>
                        </m:r>
                      </m:e>
                    </m:d>
                  </m:oMath>
                </a14:m>
                <a:r>
                  <a:rPr lang="en-IN" sz="2000" dirty="0"/>
                  <a:t>=</a:t>
                </a:r>
                <a14:m>
                  <m:oMath xmlns:m="http://schemas.openxmlformats.org/officeDocument/2006/math">
                    <m:r>
                      <m:rPr>
                        <m:sty m:val="p"/>
                      </m:rPr>
                      <a:rPr lang="en-US" sz="2000" b="0" i="0" dirty="0" smtClean="0">
                        <a:latin typeface="Cambria Math" panose="02040503050406030204" pitchFamily="18" charset="0"/>
                        <a:ea typeface="Cambria Math" panose="02040503050406030204" pitchFamily="18" charset="0"/>
                      </a:rPr>
                      <m:t>L</m:t>
                    </m:r>
                    <m:r>
                      <m:rPr>
                        <m:sty m:val="p"/>
                      </m:rPr>
                      <a:rPr lang="en-IN" sz="2000" i="0" dirty="0" smtClean="0">
                        <a:latin typeface="Cambria Math" panose="02040503050406030204" pitchFamily="18" charset="0"/>
                        <a:ea typeface="Cambria Math" panose="02040503050406030204" pitchFamily="18" charset="0"/>
                      </a:rPr>
                      <m:t>ω</m:t>
                    </m:r>
                    <m:sSub>
                      <m:sSubPr>
                        <m:ctrlPr>
                          <a:rPr lang="en-IN" sz="2000" i="1">
                            <a:latin typeface="Cambria Math" panose="02040503050406030204" pitchFamily="18" charset="0"/>
                          </a:rPr>
                        </m:ctrlPr>
                      </m:sSubPr>
                      <m:e>
                        <m:r>
                          <m:rPr>
                            <m:sty m:val="p"/>
                          </m:rPr>
                          <a:rPr lang="en-US" sz="2000" i="0" smtClean="0">
                            <a:latin typeface="Cambria Math" panose="02040503050406030204" pitchFamily="18" charset="0"/>
                          </a:rPr>
                          <m:t>I</m:t>
                        </m:r>
                      </m:e>
                      <m:sub>
                        <m:r>
                          <m:rPr>
                            <m:sty m:val="p"/>
                          </m:rPr>
                          <a:rPr lang="en-US" sz="2000" i="0" smtClean="0">
                            <a:latin typeface="Cambria Math" panose="02040503050406030204" pitchFamily="18" charset="0"/>
                          </a:rPr>
                          <m:t>m</m:t>
                        </m:r>
                      </m:sub>
                    </m:sSub>
                    <m:r>
                      <m:rPr>
                        <m:nor/>
                      </m:rPr>
                      <a:rPr lang="en-US" sz="2000" b="0" dirty="0" smtClean="0">
                        <a:latin typeface="Cambria Math" panose="02040503050406030204" pitchFamily="18" charset="0"/>
                        <a:ea typeface="Cambria Math" panose="02040503050406030204" pitchFamily="18" charset="0"/>
                      </a:rPr>
                      <m:t>c</m:t>
                    </m:r>
                    <m:r>
                      <m:rPr>
                        <m:sty m:val="p"/>
                      </m:rPr>
                      <a:rPr lang="en-US" sz="2000" b="0" i="0" dirty="0" smtClean="0">
                        <a:latin typeface="Cambria Math" panose="02040503050406030204" pitchFamily="18" charset="0"/>
                        <a:ea typeface="Cambria Math" panose="02040503050406030204" pitchFamily="18" charset="0"/>
                      </a:rPr>
                      <m:t>os</m:t>
                    </m:r>
                    <m:r>
                      <m:rPr>
                        <m:sty m:val="p"/>
                      </m:rPr>
                      <a:rPr lang="en-IN" sz="2000" i="0" dirty="0" smtClean="0">
                        <a:latin typeface="Cambria Math" panose="02040503050406030204" pitchFamily="18" charset="0"/>
                        <a:ea typeface="Cambria Math" panose="02040503050406030204" pitchFamily="18" charset="0"/>
                      </a:rPr>
                      <m:t>ω</m:t>
                    </m:r>
                    <m:r>
                      <m:rPr>
                        <m:sty m:val="p"/>
                      </m:rPr>
                      <a:rPr lang="en-US" sz="2000" i="0" dirty="0" smtClean="0">
                        <a:latin typeface="Cambria Math" panose="02040503050406030204" pitchFamily="18" charset="0"/>
                        <a:ea typeface="Cambria Math" panose="02040503050406030204" pitchFamily="18" charset="0"/>
                      </a:rPr>
                      <m:t>t</m:t>
                    </m:r>
                    <m:r>
                      <m:rPr>
                        <m:nor/>
                      </m:rPr>
                      <a:rPr lang="en-US" sz="2000" dirty="0">
                        <a:ea typeface="Cambria Math" panose="02040503050406030204" pitchFamily="18" charset="0"/>
                      </a:rPr>
                      <m:t> </m:t>
                    </m:r>
                  </m:oMath>
                </a14:m>
                <a:r>
                  <a:rPr lang="en-IN" sz="2000" dirty="0"/>
                  <a:t>= </a:t>
                </a:r>
                <a14:m>
                  <m:oMath xmlns:m="http://schemas.openxmlformats.org/officeDocument/2006/math">
                    <m:r>
                      <m:rPr>
                        <m:sty m:val="p"/>
                      </m:rPr>
                      <a:rPr lang="en-US" sz="2000" b="0" i="0" dirty="0" smtClean="0">
                        <a:latin typeface="Cambria Math" panose="02040503050406030204" pitchFamily="18" charset="0"/>
                        <a:ea typeface="Cambria Math" panose="02040503050406030204" pitchFamily="18" charset="0"/>
                      </a:rPr>
                      <m:t>L</m:t>
                    </m:r>
                    <m:r>
                      <m:rPr>
                        <m:sty m:val="p"/>
                      </m:rPr>
                      <a:rPr lang="en-IN" sz="2000" i="0" dirty="0" smtClean="0">
                        <a:latin typeface="Cambria Math" panose="02040503050406030204" pitchFamily="18" charset="0"/>
                        <a:ea typeface="Cambria Math" panose="02040503050406030204" pitchFamily="18" charset="0"/>
                      </a:rPr>
                      <m:t>ω</m:t>
                    </m:r>
                    <m:sSub>
                      <m:sSubPr>
                        <m:ctrlPr>
                          <a:rPr lang="en-IN" sz="2000" i="1">
                            <a:latin typeface="Cambria Math" panose="02040503050406030204" pitchFamily="18" charset="0"/>
                          </a:rPr>
                        </m:ctrlPr>
                      </m:sSubPr>
                      <m:e>
                        <m:r>
                          <m:rPr>
                            <m:sty m:val="p"/>
                          </m:rPr>
                          <a:rPr lang="en-US" sz="2000" i="0" smtClean="0">
                            <a:latin typeface="Cambria Math" panose="02040503050406030204" pitchFamily="18" charset="0"/>
                          </a:rPr>
                          <m:t>I</m:t>
                        </m:r>
                      </m:e>
                      <m:sub>
                        <m:r>
                          <m:rPr>
                            <m:sty m:val="p"/>
                          </m:rPr>
                          <a:rPr lang="en-US" sz="2000" i="0" smtClean="0">
                            <a:latin typeface="Cambria Math" panose="02040503050406030204" pitchFamily="18" charset="0"/>
                          </a:rPr>
                          <m:t>m</m:t>
                        </m:r>
                      </m:sub>
                    </m:sSub>
                  </m:oMath>
                </a14:m>
                <a:r>
                  <a:rPr lang="en-IN" sz="2000" dirty="0"/>
                  <a:t>sin</a:t>
                </a:r>
                <a14:m>
                  <m:oMath xmlns:m="http://schemas.openxmlformats.org/officeDocument/2006/math">
                    <m:d>
                      <m:dPr>
                        <m:ctrlPr>
                          <a:rPr lang="en-IN" sz="2000" i="1" dirty="0" smtClean="0">
                            <a:latin typeface="Cambria Math" panose="02040503050406030204" pitchFamily="18" charset="0"/>
                          </a:rPr>
                        </m:ctrlPr>
                      </m:dPr>
                      <m:e>
                        <m:r>
                          <m:rPr>
                            <m:sty m:val="p"/>
                          </m:rPr>
                          <a:rPr lang="en-IN" sz="2000" i="0" dirty="0" smtClean="0">
                            <a:latin typeface="Cambria Math" panose="02040503050406030204" pitchFamily="18" charset="0"/>
                            <a:ea typeface="Cambria Math" panose="02040503050406030204" pitchFamily="18" charset="0"/>
                          </a:rPr>
                          <m:t>ω</m:t>
                        </m:r>
                        <m:r>
                          <m:rPr>
                            <m:sty m:val="p"/>
                          </m:rPr>
                          <a:rPr lang="en-US" sz="2000" i="0" dirty="0" smtClean="0">
                            <a:latin typeface="Cambria Math" panose="02040503050406030204" pitchFamily="18" charset="0"/>
                            <a:ea typeface="Cambria Math" panose="02040503050406030204" pitchFamily="18" charset="0"/>
                          </a:rPr>
                          <m:t>t</m:t>
                        </m:r>
                        <m:r>
                          <a:rPr lang="en-US" sz="2000" b="0" i="0" dirty="0" smtClean="0">
                            <a:latin typeface="Cambria Math" panose="02040503050406030204" pitchFamily="18" charset="0"/>
                            <a:ea typeface="Cambria Math" panose="02040503050406030204" pitchFamily="18" charset="0"/>
                          </a:rPr>
                          <m:t>+90°</m:t>
                        </m:r>
                      </m:e>
                    </m:d>
                  </m:oMath>
                </a14:m>
                <a:r>
                  <a:rPr lang="en-IN" sz="2000" dirty="0"/>
                  <a:t>= </a:t>
                </a:r>
                <a14:m>
                  <m:oMath xmlns:m="http://schemas.openxmlformats.org/officeDocument/2006/math">
                    <m:r>
                      <m:rPr>
                        <m:sty m:val="p"/>
                      </m:rPr>
                      <a:rPr lang="en-US" sz="2000" b="0" i="0" dirty="0" smtClean="0">
                        <a:latin typeface="Cambria Math" panose="02040503050406030204" pitchFamily="18" charset="0"/>
                        <a:ea typeface="Cambria Math" panose="02040503050406030204" pitchFamily="18" charset="0"/>
                      </a:rPr>
                      <m:t>L</m:t>
                    </m:r>
                    <m:r>
                      <m:rPr>
                        <m:sty m:val="p"/>
                      </m:rPr>
                      <a:rPr lang="en-IN" sz="2000" i="0" dirty="0" smtClean="0">
                        <a:latin typeface="Cambria Math" panose="02040503050406030204" pitchFamily="18" charset="0"/>
                        <a:ea typeface="Cambria Math" panose="02040503050406030204" pitchFamily="18" charset="0"/>
                      </a:rPr>
                      <m:t>ω</m:t>
                    </m:r>
                    <m:sSub>
                      <m:sSubPr>
                        <m:ctrlPr>
                          <a:rPr lang="en-IN" sz="2000" i="1">
                            <a:latin typeface="Cambria Math" panose="02040503050406030204" pitchFamily="18" charset="0"/>
                          </a:rPr>
                        </m:ctrlPr>
                      </m:sSubPr>
                      <m:e>
                        <m:r>
                          <m:rPr>
                            <m:sty m:val="p"/>
                          </m:rPr>
                          <a:rPr lang="en-US" sz="2000" i="0" smtClean="0">
                            <a:latin typeface="Cambria Math" panose="02040503050406030204" pitchFamily="18" charset="0"/>
                          </a:rPr>
                          <m:t>I</m:t>
                        </m:r>
                      </m:e>
                      <m:sub>
                        <m:r>
                          <m:rPr>
                            <m:sty m:val="p"/>
                          </m:rPr>
                          <a:rPr lang="en-US" sz="2000" i="0" smtClean="0">
                            <a:latin typeface="Cambria Math" panose="02040503050406030204" pitchFamily="18" charset="0"/>
                          </a:rPr>
                          <m:t>m</m:t>
                        </m:r>
                      </m:sub>
                    </m:sSub>
                    <m:r>
                      <a:rPr lang="en-US" sz="2000" i="0" smtClean="0">
                        <a:latin typeface="Cambria Math" panose="02040503050406030204" pitchFamily="18" charset="0"/>
                        <a:ea typeface="Cambria Math" panose="02040503050406030204" pitchFamily="18" charset="0"/>
                      </a:rPr>
                      <m:t>∠</m:t>
                    </m:r>
                  </m:oMath>
                </a14:m>
                <a:r>
                  <a:rPr lang="en-US" sz="2000" dirty="0">
                    <a:ea typeface="Cambria Math" panose="02040503050406030204" pitchFamily="18" charset="0"/>
                  </a:rPr>
                  <a:t> </a:t>
                </a:r>
                <a14:m>
                  <m:oMath xmlns:m="http://schemas.openxmlformats.org/officeDocument/2006/math">
                    <m:r>
                      <a:rPr lang="en-US" sz="2000" i="0" dirty="0" smtClean="0">
                        <a:latin typeface="Cambria Math" panose="02040503050406030204" pitchFamily="18" charset="0"/>
                        <a:ea typeface="Cambria Math" panose="02040503050406030204" pitchFamily="18" charset="0"/>
                      </a:rPr>
                      <m:t>90°</m:t>
                    </m:r>
                    <m:r>
                      <a:rPr lang="en-US" sz="2000" b="0" i="0" dirty="0" smtClean="0">
                        <a:latin typeface="Cambria Math" panose="02040503050406030204" pitchFamily="18" charset="0"/>
                        <a:ea typeface="Cambria Math" panose="02040503050406030204" pitchFamily="18" charset="0"/>
                      </a:rPr>
                      <m:t>=</m:t>
                    </m:r>
                    <m:r>
                      <m:rPr>
                        <m:sty m:val="p"/>
                      </m:rPr>
                      <a:rPr lang="en-US" sz="2000" b="0" i="0" dirty="0" smtClean="0">
                        <a:latin typeface="Cambria Math" panose="02040503050406030204" pitchFamily="18" charset="0"/>
                        <a:ea typeface="Cambria Math" panose="02040503050406030204" pitchFamily="18" charset="0"/>
                      </a:rPr>
                      <m:t>jLω</m:t>
                    </m:r>
                    <m:sSub>
                      <m:sSubPr>
                        <m:ctrlPr>
                          <a:rPr lang="en-IN" sz="2000" i="1">
                            <a:latin typeface="Cambria Math" panose="02040503050406030204" pitchFamily="18" charset="0"/>
                          </a:rPr>
                        </m:ctrlPr>
                      </m:sSubPr>
                      <m:e>
                        <m:r>
                          <m:rPr>
                            <m:sty m:val="p"/>
                          </m:rPr>
                          <a:rPr lang="en-US" sz="2000" i="0">
                            <a:latin typeface="Cambria Math" panose="02040503050406030204" pitchFamily="18" charset="0"/>
                          </a:rPr>
                          <m:t>I</m:t>
                        </m:r>
                      </m:e>
                      <m:sub>
                        <m:r>
                          <m:rPr>
                            <m:sty m:val="p"/>
                          </m:rPr>
                          <a:rPr lang="en-US" sz="2000" i="0">
                            <a:latin typeface="Cambria Math" panose="02040503050406030204" pitchFamily="18" charset="0"/>
                          </a:rPr>
                          <m:t>m</m:t>
                        </m:r>
                      </m:sub>
                    </m:sSub>
                  </m:oMath>
                </a14:m>
                <a:endParaRPr lang="en-US" sz="2200" dirty="0"/>
              </a:p>
              <a:p>
                <a:pPr marL="342900" indent="-342900">
                  <a:lnSpc>
                    <a:spcPct val="100000"/>
                  </a:lnSpc>
                  <a:buFont typeface="Arial" panose="020B0604020202020204" pitchFamily="34" charset="0"/>
                  <a:buChar char="•"/>
                </a:pPr>
                <a:r>
                  <a:rPr lang="en-US" sz="2200" dirty="0"/>
                  <a:t>The voltage current relation in the case of an </a:t>
                </a:r>
                <a:r>
                  <a:rPr lang="en-US" sz="2200" b="1" dirty="0"/>
                  <a:t>capacitor</a:t>
                </a:r>
                <a:r>
                  <a:rPr lang="en-US" sz="2200" dirty="0"/>
                  <a:t> is given by</a:t>
                </a:r>
              </a:p>
              <a:p>
                <a:pPr algn="ct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m:rPr>
                              <m:sty m:val="p"/>
                            </m:rPr>
                            <a:rPr lang="en-US">
                              <a:latin typeface="Cambria Math" panose="02040503050406030204" pitchFamily="18" charset="0"/>
                            </a:rPr>
                            <m:t>V</m:t>
                          </m:r>
                        </m:e>
                        <m:sub>
                          <m:r>
                            <m:rPr>
                              <m:sty m:val="p"/>
                            </m:rPr>
                            <a:rPr lang="en-US">
                              <a:latin typeface="Cambria Math" panose="02040503050406030204" pitchFamily="18" charset="0"/>
                            </a:rPr>
                            <m:t>C</m:t>
                          </m:r>
                        </m:sub>
                      </m:sSub>
                      <m:r>
                        <a:rPr lang="en-US">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1</m:t>
                          </m:r>
                        </m:num>
                        <m:den>
                          <m:r>
                            <m:rPr>
                              <m:sty m:val="p"/>
                            </m:rPr>
                            <a:rPr lang="en-US">
                              <a:latin typeface="Cambria Math" panose="02040503050406030204" pitchFamily="18" charset="0"/>
                            </a:rPr>
                            <m:t>C</m:t>
                          </m:r>
                        </m:den>
                      </m:f>
                      <m:nary>
                        <m:naryPr>
                          <m:limLoc m:val="undOvr"/>
                          <m:subHide m:val="on"/>
                          <m:supHide m:val="on"/>
                          <m:ctrlPr>
                            <a:rPr lang="en-US" i="1">
                              <a:latin typeface="Cambria Math" panose="02040503050406030204" pitchFamily="18" charset="0"/>
                            </a:rPr>
                          </m:ctrlPr>
                        </m:naryPr>
                        <m:sub/>
                        <m:sup/>
                        <m:e>
                          <m:r>
                            <m:rPr>
                              <m:sty m:val="p"/>
                            </m:rPr>
                            <a:rPr lang="en-US" i="0">
                              <a:latin typeface="Cambria Math" panose="02040503050406030204" pitchFamily="18" charset="0"/>
                            </a:rPr>
                            <m:t>i</m:t>
                          </m:r>
                          <m:d>
                            <m:dPr>
                              <m:ctrlPr>
                                <a:rPr lang="en-US" i="1">
                                  <a:latin typeface="Cambria Math" panose="02040503050406030204" pitchFamily="18" charset="0"/>
                                </a:rPr>
                              </m:ctrlPr>
                            </m:dPr>
                            <m:e>
                              <m:r>
                                <m:rPr>
                                  <m:sty m:val="p"/>
                                </m:rPr>
                                <a:rPr lang="en-US" i="0">
                                  <a:latin typeface="Cambria Math" panose="02040503050406030204" pitchFamily="18" charset="0"/>
                                </a:rPr>
                                <m:t>t</m:t>
                              </m:r>
                            </m:e>
                          </m:d>
                          <m:r>
                            <m:rPr>
                              <m:sty m:val="p"/>
                            </m:rPr>
                            <a:rPr lang="en-US" i="0">
                              <a:latin typeface="Cambria Math" panose="02040503050406030204" pitchFamily="18" charset="0"/>
                            </a:rPr>
                            <m:t>dt</m:t>
                          </m:r>
                        </m:e>
                      </m:nary>
                      <m:r>
                        <a:rPr lang="en-US" i="0">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1</m:t>
                          </m:r>
                        </m:num>
                        <m:den>
                          <m:r>
                            <m:rPr>
                              <m:sty m:val="p"/>
                            </m:rPr>
                            <a:rPr lang="en-US">
                              <a:latin typeface="Cambria Math" panose="02040503050406030204" pitchFamily="18" charset="0"/>
                            </a:rPr>
                            <m:t>C</m:t>
                          </m:r>
                        </m:den>
                      </m:f>
                      <m:nary>
                        <m:naryPr>
                          <m:limLoc m:val="undOvr"/>
                          <m:subHide m:val="on"/>
                          <m:supHide m:val="on"/>
                          <m:ctrlPr>
                            <a:rPr lang="en-US" i="1">
                              <a:latin typeface="Cambria Math" panose="02040503050406030204" pitchFamily="18" charset="0"/>
                            </a:rPr>
                          </m:ctrlPr>
                        </m:naryPr>
                        <m:sub/>
                        <m:sup/>
                        <m:e>
                          <m:sSub>
                            <m:sSubPr>
                              <m:ctrlPr>
                                <a:rPr lang="en-IN" i="1">
                                  <a:latin typeface="Cambria Math" panose="02040503050406030204" pitchFamily="18" charset="0"/>
                                </a:rPr>
                              </m:ctrlPr>
                            </m:sSubPr>
                            <m:e>
                              <m:r>
                                <m:rPr>
                                  <m:sty m:val="p"/>
                                </m:rPr>
                                <a:rPr lang="en-US">
                                  <a:latin typeface="Cambria Math" panose="02040503050406030204" pitchFamily="18" charset="0"/>
                                </a:rPr>
                                <m:t>I</m:t>
                              </m:r>
                            </m:e>
                            <m:sub>
                              <m:r>
                                <m:rPr>
                                  <m:sty m:val="p"/>
                                </m:rPr>
                                <a:rPr lang="en-US">
                                  <a:latin typeface="Cambria Math" panose="02040503050406030204" pitchFamily="18" charset="0"/>
                                </a:rPr>
                                <m:t>m</m:t>
                              </m:r>
                            </m:sub>
                          </m:sSub>
                          <m:r>
                            <m:rPr>
                              <m:nor/>
                            </m:rPr>
                            <a:rPr lang="en-IN" dirty="0"/>
                            <m:t>sin</m:t>
                          </m:r>
                          <m:r>
                            <m:rPr>
                              <m:sty m:val="p"/>
                            </m:rPr>
                            <a:rPr lang="en-IN" dirty="0">
                              <a:latin typeface="Cambria Math" panose="02040503050406030204" pitchFamily="18" charset="0"/>
                              <a:ea typeface="Cambria Math" panose="02040503050406030204" pitchFamily="18" charset="0"/>
                            </a:rPr>
                            <m:t>ω</m:t>
                          </m:r>
                          <m:r>
                            <m:rPr>
                              <m:sty m:val="p"/>
                            </m:rPr>
                            <a:rPr lang="en-US" dirty="0">
                              <a:latin typeface="Cambria Math" panose="02040503050406030204" pitchFamily="18" charset="0"/>
                              <a:ea typeface="Cambria Math" panose="02040503050406030204" pitchFamily="18" charset="0"/>
                            </a:rPr>
                            <m:t>tdt</m:t>
                          </m:r>
                        </m:e>
                      </m:nary>
                      <m:r>
                        <a:rPr lang="en-US">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1</m:t>
                          </m:r>
                        </m:num>
                        <m:den>
                          <m:r>
                            <m:rPr>
                              <m:sty m:val="p"/>
                            </m:rPr>
                            <a:rPr lang="en-US">
                              <a:latin typeface="Cambria Math" panose="02040503050406030204" pitchFamily="18" charset="0"/>
                            </a:rPr>
                            <m:t>C</m:t>
                          </m:r>
                        </m:den>
                      </m:f>
                      <m:sSub>
                        <m:sSubPr>
                          <m:ctrlPr>
                            <a:rPr lang="en-IN" i="1">
                              <a:latin typeface="Cambria Math" panose="02040503050406030204" pitchFamily="18" charset="0"/>
                            </a:rPr>
                          </m:ctrlPr>
                        </m:sSubPr>
                        <m:e>
                          <m:r>
                            <m:rPr>
                              <m:sty m:val="p"/>
                            </m:rPr>
                            <a:rPr lang="en-US">
                              <a:latin typeface="Cambria Math" panose="02040503050406030204" pitchFamily="18" charset="0"/>
                            </a:rPr>
                            <m:t>I</m:t>
                          </m:r>
                        </m:e>
                        <m:sub>
                          <m:r>
                            <m:rPr>
                              <m:sty m:val="p"/>
                            </m:rPr>
                            <a:rPr lang="en-US">
                              <a:latin typeface="Cambria Math" panose="02040503050406030204" pitchFamily="18" charset="0"/>
                            </a:rPr>
                            <m:t>m</m:t>
                          </m:r>
                        </m:sub>
                      </m:sSub>
                      <m:d>
                        <m:dPr>
                          <m:ctrlPr>
                            <a:rPr lang="en-IN" i="1" dirty="0">
                              <a:latin typeface="Cambria Math" panose="02040503050406030204" pitchFamily="18" charset="0"/>
                              <a:ea typeface="Cambria Math" panose="02040503050406030204" pitchFamily="18" charset="0"/>
                            </a:rPr>
                          </m:ctrlPr>
                        </m:dPr>
                        <m:e>
                          <m:f>
                            <m:fPr>
                              <m:ctrlPr>
                                <a:rPr lang="en-IN" i="1" dirty="0">
                                  <a:latin typeface="Cambria Math" panose="02040503050406030204" pitchFamily="18" charset="0"/>
                                  <a:ea typeface="Cambria Math" panose="02040503050406030204" pitchFamily="18" charset="0"/>
                                </a:rPr>
                              </m:ctrlPr>
                            </m:fPr>
                            <m:num>
                              <m:r>
                                <a:rPr lang="en-US" b="1" dirty="0">
                                  <a:latin typeface="Cambria Math" panose="02040503050406030204" pitchFamily="18" charset="0"/>
                                  <a:ea typeface="Cambria Math" panose="02040503050406030204" pitchFamily="18" charset="0"/>
                                </a:rPr>
                                <m:t>−</m:t>
                              </m:r>
                              <m:r>
                                <m:rPr>
                                  <m:nor/>
                                </m:rPr>
                                <a:rPr lang="en-US" dirty="0">
                                  <a:latin typeface="Cambria Math" panose="02040503050406030204" pitchFamily="18" charset="0"/>
                                  <a:ea typeface="Cambria Math" panose="02040503050406030204" pitchFamily="18" charset="0"/>
                                </a:rPr>
                                <m:t>c</m:t>
                              </m:r>
                              <m:r>
                                <m:rPr>
                                  <m:sty m:val="p"/>
                                </m:rPr>
                                <a:rPr lang="en-US" dirty="0">
                                  <a:latin typeface="Cambria Math" panose="02040503050406030204" pitchFamily="18" charset="0"/>
                                  <a:ea typeface="Cambria Math" panose="02040503050406030204" pitchFamily="18" charset="0"/>
                                </a:rPr>
                                <m:t>os</m:t>
                              </m:r>
                              <m:r>
                                <m:rPr>
                                  <m:sty m:val="p"/>
                                </m:rPr>
                                <a:rPr lang="en-IN" dirty="0">
                                  <a:latin typeface="Cambria Math" panose="02040503050406030204" pitchFamily="18" charset="0"/>
                                  <a:ea typeface="Cambria Math" panose="02040503050406030204" pitchFamily="18" charset="0"/>
                                </a:rPr>
                                <m:t>ω</m:t>
                              </m:r>
                              <m:r>
                                <m:rPr>
                                  <m:sty m:val="p"/>
                                </m:rPr>
                                <a:rPr lang="en-US" dirty="0">
                                  <a:latin typeface="Cambria Math" panose="02040503050406030204" pitchFamily="18" charset="0"/>
                                  <a:ea typeface="Cambria Math" panose="02040503050406030204" pitchFamily="18" charset="0"/>
                                </a:rPr>
                                <m:t>t</m:t>
                              </m:r>
                            </m:num>
                            <m:den>
                              <m:r>
                                <m:rPr>
                                  <m:sty m:val="p"/>
                                </m:rPr>
                                <a:rPr lang="en-IN" dirty="0">
                                  <a:latin typeface="Cambria Math" panose="02040503050406030204" pitchFamily="18" charset="0"/>
                                  <a:ea typeface="Cambria Math" panose="02040503050406030204" pitchFamily="18" charset="0"/>
                                </a:rPr>
                                <m:t>ω</m:t>
                              </m:r>
                            </m:den>
                          </m:f>
                        </m:e>
                      </m:d>
                      <m:r>
                        <a:rPr lang="en-US">
                          <a:latin typeface="Cambria Math" panose="02040503050406030204" pitchFamily="18" charset="0"/>
                        </a:rPr>
                        <m:t>=</m:t>
                      </m:r>
                      <m:f>
                        <m:fPr>
                          <m:ctrlPr>
                            <a:rPr lang="en-US" i="1">
                              <a:latin typeface="Cambria Math" panose="02040503050406030204" pitchFamily="18" charset="0"/>
                            </a:rPr>
                          </m:ctrlPr>
                        </m:fPr>
                        <m:num>
                          <m:sSub>
                            <m:sSubPr>
                              <m:ctrlPr>
                                <a:rPr lang="en-IN" i="1">
                                  <a:latin typeface="Cambria Math" panose="02040503050406030204" pitchFamily="18" charset="0"/>
                                </a:rPr>
                              </m:ctrlPr>
                            </m:sSubPr>
                            <m:e>
                              <m:r>
                                <m:rPr>
                                  <m:sty m:val="p"/>
                                </m:rPr>
                                <a:rPr lang="en-US">
                                  <a:latin typeface="Cambria Math" panose="02040503050406030204" pitchFamily="18" charset="0"/>
                                </a:rPr>
                                <m:t>I</m:t>
                              </m:r>
                            </m:e>
                            <m:sub>
                              <m:r>
                                <m:rPr>
                                  <m:sty m:val="p"/>
                                </m:rPr>
                                <a:rPr lang="en-US">
                                  <a:latin typeface="Cambria Math" panose="02040503050406030204" pitchFamily="18" charset="0"/>
                                </a:rPr>
                                <m:t>m</m:t>
                              </m:r>
                            </m:sub>
                          </m:sSub>
                        </m:num>
                        <m:den>
                          <m:r>
                            <m:rPr>
                              <m:sty m:val="p"/>
                            </m:rPr>
                            <a:rPr lang="en-US">
                              <a:latin typeface="Cambria Math" panose="02040503050406030204" pitchFamily="18" charset="0"/>
                              <a:ea typeface="Cambria Math" panose="02040503050406030204" pitchFamily="18" charset="0"/>
                            </a:rPr>
                            <m:t>ω</m:t>
                          </m:r>
                          <m:r>
                            <m:rPr>
                              <m:sty m:val="p"/>
                            </m:rPr>
                            <a:rPr lang="en-US">
                              <a:latin typeface="Cambria Math" panose="02040503050406030204" pitchFamily="18" charset="0"/>
                            </a:rPr>
                            <m:t>C</m:t>
                          </m:r>
                        </m:den>
                      </m:f>
                      <m:r>
                        <a:rPr lang="en-US">
                          <a:latin typeface="Cambria Math" panose="02040503050406030204" pitchFamily="18" charset="0"/>
                        </a:rPr>
                        <m:t>(</m:t>
                      </m:r>
                      <m:r>
                        <a:rPr lang="en-US" dirty="0">
                          <a:latin typeface="Cambria Math" panose="02040503050406030204" pitchFamily="18" charset="0"/>
                          <a:ea typeface="Cambria Math" panose="02040503050406030204" pitchFamily="18" charset="0"/>
                        </a:rPr>
                        <m:t>−</m:t>
                      </m:r>
                      <m:r>
                        <m:rPr>
                          <m:nor/>
                        </m:rPr>
                        <a:rPr lang="en-US" dirty="0">
                          <a:latin typeface="Cambria Math" panose="02040503050406030204" pitchFamily="18" charset="0"/>
                          <a:ea typeface="Cambria Math" panose="02040503050406030204" pitchFamily="18" charset="0"/>
                        </a:rPr>
                        <m:t>c</m:t>
                      </m:r>
                      <m:r>
                        <m:rPr>
                          <m:sty m:val="p"/>
                        </m:rPr>
                        <a:rPr lang="en-US" dirty="0">
                          <a:latin typeface="Cambria Math" panose="02040503050406030204" pitchFamily="18" charset="0"/>
                          <a:ea typeface="Cambria Math" panose="02040503050406030204" pitchFamily="18" charset="0"/>
                        </a:rPr>
                        <m:t>os</m:t>
                      </m:r>
                      <m:r>
                        <m:rPr>
                          <m:sty m:val="p"/>
                        </m:rPr>
                        <a:rPr lang="en-IN" dirty="0">
                          <a:latin typeface="Cambria Math" panose="02040503050406030204" pitchFamily="18" charset="0"/>
                          <a:ea typeface="Cambria Math" panose="02040503050406030204" pitchFamily="18" charset="0"/>
                        </a:rPr>
                        <m:t>ω</m:t>
                      </m:r>
                      <m:r>
                        <m:rPr>
                          <m:sty m:val="p"/>
                        </m:rPr>
                        <a:rPr lang="en-US" dirty="0">
                          <a:latin typeface="Cambria Math" panose="02040503050406030204" pitchFamily="18" charset="0"/>
                          <a:ea typeface="Cambria Math" panose="02040503050406030204" pitchFamily="18" charset="0"/>
                        </a:rPr>
                        <m:t>t</m:t>
                      </m:r>
                      <m:r>
                        <a:rPr lang="en-US" dirty="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sSub>
                            <m:sSubPr>
                              <m:ctrlPr>
                                <a:rPr lang="en-IN" i="1">
                                  <a:latin typeface="Cambria Math" panose="02040503050406030204" pitchFamily="18" charset="0"/>
                                </a:rPr>
                              </m:ctrlPr>
                            </m:sSubPr>
                            <m:e>
                              <m:r>
                                <m:rPr>
                                  <m:sty m:val="p"/>
                                </m:rPr>
                                <a:rPr lang="en-US">
                                  <a:latin typeface="Cambria Math" panose="02040503050406030204" pitchFamily="18" charset="0"/>
                                </a:rPr>
                                <m:t>I</m:t>
                              </m:r>
                            </m:e>
                            <m:sub>
                              <m:r>
                                <m:rPr>
                                  <m:sty m:val="p"/>
                                </m:rPr>
                                <a:rPr lang="en-US">
                                  <a:latin typeface="Cambria Math" panose="02040503050406030204" pitchFamily="18" charset="0"/>
                                </a:rPr>
                                <m:t>m</m:t>
                              </m:r>
                            </m:sub>
                          </m:sSub>
                        </m:num>
                        <m:den>
                          <m:r>
                            <m:rPr>
                              <m:sty m:val="p"/>
                            </m:rPr>
                            <a:rPr lang="en-US">
                              <a:latin typeface="Cambria Math" panose="02040503050406030204" pitchFamily="18" charset="0"/>
                              <a:ea typeface="Cambria Math" panose="02040503050406030204" pitchFamily="18" charset="0"/>
                            </a:rPr>
                            <m:t>ω</m:t>
                          </m:r>
                          <m:r>
                            <m:rPr>
                              <m:sty m:val="p"/>
                            </m:rPr>
                            <a:rPr lang="en-US">
                              <a:latin typeface="Cambria Math" panose="02040503050406030204" pitchFamily="18" charset="0"/>
                            </a:rPr>
                            <m:t>C</m:t>
                          </m:r>
                        </m:den>
                      </m:f>
                      <m:r>
                        <m:rPr>
                          <m:sty m:val="p"/>
                        </m:rPr>
                        <a:rPr lang="en-US" dirty="0">
                          <a:latin typeface="Cambria Math" panose="02040503050406030204" pitchFamily="18" charset="0"/>
                        </a:rPr>
                        <m:t>sin</m:t>
                      </m:r>
                      <m:d>
                        <m:dPr>
                          <m:ctrlPr>
                            <a:rPr lang="en-IN" i="1" dirty="0">
                              <a:latin typeface="Cambria Math" panose="02040503050406030204" pitchFamily="18" charset="0"/>
                            </a:rPr>
                          </m:ctrlPr>
                        </m:dPr>
                        <m:e>
                          <m:r>
                            <m:rPr>
                              <m:sty m:val="p"/>
                            </m:rPr>
                            <a:rPr lang="en-IN" dirty="0">
                              <a:latin typeface="Cambria Math" panose="02040503050406030204" pitchFamily="18" charset="0"/>
                              <a:ea typeface="Cambria Math" panose="02040503050406030204" pitchFamily="18" charset="0"/>
                            </a:rPr>
                            <m:t>ω</m:t>
                          </m:r>
                          <m:r>
                            <m:rPr>
                              <m:sty m:val="p"/>
                            </m:rPr>
                            <a:rPr lang="en-US" dirty="0">
                              <a:latin typeface="Cambria Math" panose="02040503050406030204" pitchFamily="18" charset="0"/>
                              <a:ea typeface="Cambria Math" panose="02040503050406030204" pitchFamily="18" charset="0"/>
                            </a:rPr>
                            <m:t>t</m:t>
                          </m:r>
                          <m:r>
                            <a:rPr lang="en-US" dirty="0">
                              <a:latin typeface="Cambria Math" panose="02040503050406030204" pitchFamily="18" charset="0"/>
                              <a:ea typeface="Cambria Math" panose="02040503050406030204" pitchFamily="18" charset="0"/>
                            </a:rPr>
                            <m:t>−90°</m:t>
                          </m:r>
                        </m:e>
                      </m:d>
                      <m:r>
                        <a:rPr lang="en-US">
                          <a:latin typeface="Cambria Math" panose="02040503050406030204" pitchFamily="18" charset="0"/>
                        </a:rPr>
                        <m:t>=</m:t>
                      </m:r>
                      <m:f>
                        <m:fPr>
                          <m:ctrlPr>
                            <a:rPr lang="en-US" i="1">
                              <a:latin typeface="Cambria Math" panose="02040503050406030204" pitchFamily="18" charset="0"/>
                            </a:rPr>
                          </m:ctrlPr>
                        </m:fPr>
                        <m:num>
                          <m:sSub>
                            <m:sSubPr>
                              <m:ctrlPr>
                                <a:rPr lang="en-IN" i="1">
                                  <a:latin typeface="Cambria Math" panose="02040503050406030204" pitchFamily="18" charset="0"/>
                                </a:rPr>
                              </m:ctrlPr>
                            </m:sSubPr>
                            <m:e>
                              <m:r>
                                <m:rPr>
                                  <m:sty m:val="p"/>
                                </m:rPr>
                                <a:rPr lang="en-US">
                                  <a:latin typeface="Cambria Math" panose="02040503050406030204" pitchFamily="18" charset="0"/>
                                </a:rPr>
                                <m:t>I</m:t>
                              </m:r>
                            </m:e>
                            <m:sub>
                              <m:r>
                                <m:rPr>
                                  <m:sty m:val="p"/>
                                </m:rPr>
                                <a:rPr lang="en-US">
                                  <a:latin typeface="Cambria Math" panose="02040503050406030204" pitchFamily="18" charset="0"/>
                                </a:rPr>
                                <m:t>m</m:t>
                              </m:r>
                            </m:sub>
                          </m:sSub>
                        </m:num>
                        <m:den>
                          <m:r>
                            <m:rPr>
                              <m:sty m:val="p"/>
                            </m:rPr>
                            <a:rPr lang="en-US">
                              <a:latin typeface="Cambria Math" panose="02040503050406030204" pitchFamily="18" charset="0"/>
                              <a:ea typeface="Cambria Math" panose="02040503050406030204" pitchFamily="18" charset="0"/>
                            </a:rPr>
                            <m:t>ω</m:t>
                          </m:r>
                          <m:r>
                            <m:rPr>
                              <m:sty m:val="p"/>
                            </m:rPr>
                            <a:rPr lang="en-US">
                              <a:latin typeface="Cambria Math" panose="02040503050406030204" pitchFamily="18" charset="0"/>
                            </a:rPr>
                            <m:t>C</m:t>
                          </m:r>
                        </m:den>
                      </m:f>
                      <m:r>
                        <a:rPr lang="en-US">
                          <a:latin typeface="Cambria Math" panose="02040503050406030204" pitchFamily="18" charset="0"/>
                          <a:ea typeface="Cambria Math" panose="02040503050406030204" pitchFamily="18" charset="0"/>
                        </a:rPr>
                        <m:t>∠</m:t>
                      </m:r>
                      <m:r>
                        <a:rPr lang="en-US" dirty="0">
                          <a:latin typeface="Cambria Math" panose="02040503050406030204" pitchFamily="18" charset="0"/>
                          <a:ea typeface="Cambria Math" panose="02040503050406030204" pitchFamily="18" charset="0"/>
                        </a:rPr>
                        <m:t>−90°=</m:t>
                      </m:r>
                      <m:r>
                        <a:rPr lang="en-US" i="1" dirty="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sSub>
                            <m:sSubPr>
                              <m:ctrlPr>
                                <a:rPr lang="en-IN" i="1">
                                  <a:latin typeface="Cambria Math" panose="02040503050406030204" pitchFamily="18" charset="0"/>
                                </a:rPr>
                              </m:ctrlPr>
                            </m:sSubPr>
                            <m:e>
                              <m:r>
                                <m:rPr>
                                  <m:sty m:val="p"/>
                                </m:rPr>
                                <a:rPr lang="en-US">
                                  <a:latin typeface="Cambria Math" panose="02040503050406030204" pitchFamily="18" charset="0"/>
                                </a:rPr>
                                <m:t>jI</m:t>
                              </m:r>
                            </m:e>
                            <m:sub>
                              <m:r>
                                <m:rPr>
                                  <m:sty m:val="p"/>
                                </m:rPr>
                                <a:rPr lang="en-US">
                                  <a:latin typeface="Cambria Math" panose="02040503050406030204" pitchFamily="18" charset="0"/>
                                </a:rPr>
                                <m:t>m</m:t>
                              </m:r>
                            </m:sub>
                          </m:sSub>
                        </m:num>
                        <m:den>
                          <m:r>
                            <m:rPr>
                              <m:sty m:val="p"/>
                            </m:rPr>
                            <a:rPr lang="en-US">
                              <a:latin typeface="Cambria Math" panose="02040503050406030204" pitchFamily="18" charset="0"/>
                              <a:ea typeface="Cambria Math" panose="02040503050406030204" pitchFamily="18" charset="0"/>
                            </a:rPr>
                            <m:t>ω</m:t>
                          </m:r>
                          <m:r>
                            <m:rPr>
                              <m:sty m:val="p"/>
                            </m:rPr>
                            <a:rPr lang="en-US">
                              <a:latin typeface="Cambria Math" panose="02040503050406030204" pitchFamily="18" charset="0"/>
                            </a:rPr>
                            <m:t>C</m:t>
                          </m:r>
                        </m:den>
                      </m:f>
                      <m:r>
                        <a:rPr lang="en-US" i="1">
                          <a:latin typeface="Cambria Math" panose="02040503050406030204" pitchFamily="18" charset="0"/>
                        </a:rPr>
                        <m:t> </m:t>
                      </m:r>
                    </m:oMath>
                  </m:oMathPara>
                </a14:m>
                <a:endParaRPr lang="en-US" sz="2200" dirty="0">
                  <a:ea typeface="Cambria Math" panose="02040503050406030204" pitchFamily="18" charset="0"/>
                </a:endParaRPr>
              </a:p>
              <a:p>
                <a:pPr algn="ctr"/>
                <a:r>
                  <a:rPr lang="en-US" dirty="0">
                    <a:ea typeface="Cambria Math" panose="02040503050406030204" pitchFamily="18" charset="0"/>
                  </a:rPr>
                  <a:t>V(t)=</a:t>
                </a:r>
                <a:r>
                  <a:rPr lang="en-IN" dirty="0"/>
                  <a:t> </a:t>
                </a:r>
                <a14:m>
                  <m:oMath xmlns:m="http://schemas.openxmlformats.org/officeDocument/2006/math">
                    <m:sSub>
                      <m:sSubPr>
                        <m:ctrlPr>
                          <a:rPr lang="en-IN" i="1" smtClean="0">
                            <a:latin typeface="Cambria Math" panose="02040503050406030204" pitchFamily="18" charset="0"/>
                          </a:rPr>
                        </m:ctrlPr>
                      </m:sSubPr>
                      <m:e>
                        <m:r>
                          <m:rPr>
                            <m:sty m:val="p"/>
                          </m:rPr>
                          <a:rPr lang="en-US" b="0" i="0" smtClean="0">
                            <a:latin typeface="Cambria Math" panose="02040503050406030204" pitchFamily="18" charset="0"/>
                          </a:rPr>
                          <m:t>V</m:t>
                        </m:r>
                      </m:e>
                      <m:sub>
                        <m:r>
                          <m:rPr>
                            <m:sty m:val="p"/>
                          </m:rPr>
                          <a:rPr lang="en-US" b="0" i="0" smtClean="0">
                            <a:latin typeface="Cambria Math" panose="02040503050406030204" pitchFamily="18" charset="0"/>
                          </a:rPr>
                          <m:t>R</m:t>
                        </m:r>
                      </m:sub>
                    </m:sSub>
                    <m:r>
                      <a:rPr lang="en-US" b="0" i="0" smtClean="0">
                        <a:latin typeface="Cambria Math" panose="02040503050406030204" pitchFamily="18" charset="0"/>
                      </a:rPr>
                      <m:t>+</m:t>
                    </m:r>
                    <m:sSub>
                      <m:sSubPr>
                        <m:ctrlPr>
                          <a:rPr lang="en-IN" i="1">
                            <a:latin typeface="Cambria Math" panose="02040503050406030204" pitchFamily="18" charset="0"/>
                          </a:rPr>
                        </m:ctrlPr>
                      </m:sSubPr>
                      <m:e>
                        <m:r>
                          <m:rPr>
                            <m:sty m:val="p"/>
                          </m:rPr>
                          <a:rPr lang="en-US">
                            <a:latin typeface="Cambria Math" panose="02040503050406030204" pitchFamily="18" charset="0"/>
                          </a:rPr>
                          <m:t>V</m:t>
                        </m:r>
                      </m:e>
                      <m:sub>
                        <m:r>
                          <m:rPr>
                            <m:sty m:val="p"/>
                          </m:rPr>
                          <a:rPr lang="en-US" b="0" i="0" smtClean="0">
                            <a:latin typeface="Cambria Math" panose="02040503050406030204" pitchFamily="18" charset="0"/>
                          </a:rPr>
                          <m:t>L</m:t>
                        </m:r>
                      </m:sub>
                    </m:sSub>
                    <m:r>
                      <a:rPr lang="en-US" b="0" i="0" smtClean="0">
                        <a:latin typeface="Cambria Math" panose="02040503050406030204" pitchFamily="18" charset="0"/>
                      </a:rPr>
                      <m:t>+</m:t>
                    </m:r>
                    <m:sSub>
                      <m:sSubPr>
                        <m:ctrlPr>
                          <a:rPr lang="en-IN" i="1">
                            <a:latin typeface="Cambria Math" panose="02040503050406030204" pitchFamily="18" charset="0"/>
                          </a:rPr>
                        </m:ctrlPr>
                      </m:sSubPr>
                      <m:e>
                        <m:r>
                          <m:rPr>
                            <m:sty m:val="p"/>
                          </m:rPr>
                          <a:rPr lang="en-US" i="0">
                            <a:latin typeface="Cambria Math" panose="02040503050406030204" pitchFamily="18" charset="0"/>
                          </a:rPr>
                          <m:t>V</m:t>
                        </m:r>
                      </m:e>
                      <m:sub>
                        <m:r>
                          <m:rPr>
                            <m:sty m:val="p"/>
                          </m:rPr>
                          <a:rPr lang="en-US" b="0" i="0" smtClean="0">
                            <a:latin typeface="Cambria Math" panose="02040503050406030204" pitchFamily="18" charset="0"/>
                          </a:rPr>
                          <m:t>C</m:t>
                        </m:r>
                      </m:sub>
                    </m:sSub>
                  </m:oMath>
                </a14:m>
                <a:r>
                  <a:rPr lang="en-US" dirty="0">
                    <a:ea typeface="Cambria Math" panose="02040503050406030204" pitchFamily="18" charset="0"/>
                  </a:rPr>
                  <a:t>=</a:t>
                </a:r>
                <a14:m>
                  <m:oMath xmlns:m="http://schemas.openxmlformats.org/officeDocument/2006/math">
                    <m:sSub>
                      <m:sSubPr>
                        <m:ctrlPr>
                          <a:rPr lang="en-IN" i="1">
                            <a:latin typeface="Cambria Math" panose="02040503050406030204" pitchFamily="18" charset="0"/>
                          </a:rPr>
                        </m:ctrlPr>
                      </m:sSubPr>
                      <m:e>
                        <m:r>
                          <m:rPr>
                            <m:sty m:val="p"/>
                          </m:rPr>
                          <a:rPr lang="en-US" i="0">
                            <a:latin typeface="Cambria Math" panose="02040503050406030204" pitchFamily="18" charset="0"/>
                          </a:rPr>
                          <m:t>I</m:t>
                        </m:r>
                      </m:e>
                      <m:sub>
                        <m:r>
                          <m:rPr>
                            <m:sty m:val="p"/>
                          </m:rPr>
                          <a:rPr lang="en-US" i="0">
                            <a:latin typeface="Cambria Math" panose="02040503050406030204" pitchFamily="18" charset="0"/>
                          </a:rPr>
                          <m:t>m</m:t>
                        </m:r>
                      </m:sub>
                    </m:sSub>
                    <m:r>
                      <m:rPr>
                        <m:nor/>
                      </m:rPr>
                      <a:rPr lang="en-US">
                        <a:latin typeface="Cambria Math" panose="02040503050406030204" pitchFamily="18" charset="0"/>
                      </a:rPr>
                      <m:t>R</m:t>
                    </m:r>
                    <m:r>
                      <a:rPr lang="en-US" b="0" i="0" smtClean="0">
                        <a:latin typeface="Cambria Math" panose="02040503050406030204" pitchFamily="18" charset="0"/>
                      </a:rPr>
                      <m:t>+</m:t>
                    </m:r>
                    <m:r>
                      <m:rPr>
                        <m:sty m:val="p"/>
                      </m:rPr>
                      <a:rPr lang="en-US" dirty="0">
                        <a:latin typeface="Cambria Math" panose="02040503050406030204" pitchFamily="18" charset="0"/>
                        <a:ea typeface="Cambria Math" panose="02040503050406030204" pitchFamily="18" charset="0"/>
                      </a:rPr>
                      <m:t>jL</m:t>
                    </m:r>
                    <m:r>
                      <m:rPr>
                        <m:sty m:val="p"/>
                      </m:rPr>
                      <a:rPr lang="el-GR">
                        <a:latin typeface="Cambria Math" panose="02040503050406030204" pitchFamily="18" charset="0"/>
                        <a:ea typeface="Cambria Math" panose="02040503050406030204" pitchFamily="18" charset="0"/>
                      </a:rPr>
                      <m:t>ω</m:t>
                    </m:r>
                    <m:sSub>
                      <m:sSubPr>
                        <m:ctrlPr>
                          <a:rPr lang="en-IN" i="1">
                            <a:latin typeface="Cambria Math" panose="02040503050406030204" pitchFamily="18" charset="0"/>
                          </a:rPr>
                        </m:ctrlPr>
                      </m:sSubPr>
                      <m:e>
                        <m:r>
                          <m:rPr>
                            <m:sty m:val="p"/>
                          </m:rPr>
                          <a:rPr lang="en-US">
                            <a:latin typeface="Cambria Math" panose="02040503050406030204" pitchFamily="18" charset="0"/>
                          </a:rPr>
                          <m:t>I</m:t>
                        </m:r>
                      </m:e>
                      <m:sub>
                        <m:r>
                          <m:rPr>
                            <m:sty m:val="p"/>
                          </m:rPr>
                          <a:rPr lang="en-US">
                            <a:latin typeface="Cambria Math" panose="02040503050406030204" pitchFamily="18" charset="0"/>
                          </a:rPr>
                          <m:t>m</m:t>
                        </m:r>
                      </m:sub>
                    </m:sSub>
                    <m:r>
                      <a:rPr lang="en-US" i="0" dirty="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sSub>
                          <m:sSubPr>
                            <m:ctrlPr>
                              <a:rPr lang="en-IN" i="1">
                                <a:latin typeface="Cambria Math" panose="02040503050406030204" pitchFamily="18" charset="0"/>
                              </a:rPr>
                            </m:ctrlPr>
                          </m:sSubPr>
                          <m:e>
                            <m:r>
                              <m:rPr>
                                <m:sty m:val="p"/>
                              </m:rPr>
                              <a:rPr lang="en-US" i="0">
                                <a:latin typeface="Cambria Math" panose="02040503050406030204" pitchFamily="18" charset="0"/>
                              </a:rPr>
                              <m:t>jI</m:t>
                            </m:r>
                          </m:e>
                          <m:sub>
                            <m:r>
                              <m:rPr>
                                <m:sty m:val="p"/>
                              </m:rPr>
                              <a:rPr lang="en-US" i="0">
                                <a:latin typeface="Cambria Math" panose="02040503050406030204" pitchFamily="18" charset="0"/>
                              </a:rPr>
                              <m:t>m</m:t>
                            </m:r>
                          </m:sub>
                        </m:sSub>
                      </m:num>
                      <m:den>
                        <m:r>
                          <m:rPr>
                            <m:sty m:val="p"/>
                          </m:rPr>
                          <a:rPr lang="en-US" i="0">
                            <a:latin typeface="Cambria Math" panose="02040503050406030204" pitchFamily="18" charset="0"/>
                            <a:ea typeface="Cambria Math" panose="02040503050406030204" pitchFamily="18" charset="0"/>
                          </a:rPr>
                          <m:t>ω</m:t>
                        </m:r>
                        <m:r>
                          <m:rPr>
                            <m:sty m:val="p"/>
                          </m:rPr>
                          <a:rPr lang="en-US" i="0">
                            <a:latin typeface="Cambria Math" panose="02040503050406030204" pitchFamily="18" charset="0"/>
                          </a:rPr>
                          <m:t>C</m:t>
                        </m:r>
                      </m:den>
                    </m:f>
                    <m:r>
                      <a:rPr lang="en-US" b="0" i="0" smtClean="0">
                        <a:latin typeface="Cambria Math" panose="02040503050406030204" pitchFamily="18" charset="0"/>
                      </a:rPr>
                      <m:t>=</m:t>
                    </m:r>
                    <m:sSub>
                      <m:sSubPr>
                        <m:ctrlPr>
                          <a:rPr lang="en-IN" i="1">
                            <a:latin typeface="Cambria Math" panose="02040503050406030204" pitchFamily="18" charset="0"/>
                          </a:rPr>
                        </m:ctrlPr>
                      </m:sSubPr>
                      <m:e>
                        <m:r>
                          <m:rPr>
                            <m:sty m:val="p"/>
                          </m:rPr>
                          <a:rPr lang="en-US" i="0">
                            <a:latin typeface="Cambria Math" panose="02040503050406030204" pitchFamily="18" charset="0"/>
                          </a:rPr>
                          <m:t>I</m:t>
                        </m:r>
                      </m:e>
                      <m:sub>
                        <m:r>
                          <m:rPr>
                            <m:sty m:val="p"/>
                          </m:rPr>
                          <a:rPr lang="en-US" i="0">
                            <a:latin typeface="Cambria Math" panose="02040503050406030204" pitchFamily="18" charset="0"/>
                          </a:rPr>
                          <m:t>m</m:t>
                        </m:r>
                      </m:sub>
                    </m:sSub>
                  </m:oMath>
                </a14:m>
                <a:r>
                  <a:rPr lang="en-US" dirty="0"/>
                  <a:t>(</a:t>
                </a:r>
                <a14:m>
                  <m:oMath xmlns:m="http://schemas.openxmlformats.org/officeDocument/2006/math">
                    <m:r>
                      <m:rPr>
                        <m:nor/>
                      </m:rPr>
                      <a:rPr lang="en-US">
                        <a:latin typeface="Cambria Math" panose="02040503050406030204" pitchFamily="18" charset="0"/>
                      </a:rPr>
                      <m:t>R</m:t>
                    </m:r>
                    <m:r>
                      <a:rPr lang="en-US">
                        <a:latin typeface="Cambria Math" panose="02040503050406030204" pitchFamily="18" charset="0"/>
                      </a:rPr>
                      <m:t>+</m:t>
                    </m:r>
                    <m:r>
                      <m:rPr>
                        <m:sty m:val="p"/>
                      </m:rPr>
                      <a:rPr lang="en-US" dirty="0" smtClean="0">
                        <a:latin typeface="Cambria Math" panose="02040503050406030204" pitchFamily="18" charset="0"/>
                        <a:ea typeface="Cambria Math" panose="02040503050406030204" pitchFamily="18" charset="0"/>
                      </a:rPr>
                      <m:t>j</m:t>
                    </m:r>
                    <m:r>
                      <m:rPr>
                        <m:sty m:val="p"/>
                      </m:rPr>
                      <a:rPr lang="en-US" dirty="0">
                        <a:latin typeface="Cambria Math" panose="02040503050406030204" pitchFamily="18" charset="0"/>
                        <a:ea typeface="Cambria Math" panose="02040503050406030204" pitchFamily="18" charset="0"/>
                      </a:rPr>
                      <m:t>L</m:t>
                    </m:r>
                    <m:r>
                      <m:rPr>
                        <m:sty m:val="p"/>
                      </m:rPr>
                      <a:rPr lang="el-GR">
                        <a:latin typeface="Cambria Math" panose="02040503050406030204" pitchFamily="18" charset="0"/>
                        <a:ea typeface="Cambria Math" panose="02040503050406030204" pitchFamily="18" charset="0"/>
                      </a:rPr>
                      <m:t>ω</m:t>
                    </m:r>
                    <m:r>
                      <a:rPr lang="en-US" i="0" dirty="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m:rPr>
                            <m:sty m:val="p"/>
                          </m:rPr>
                          <a:rPr lang="en-US" b="0" i="0" smtClean="0">
                            <a:latin typeface="Cambria Math" panose="02040503050406030204" pitchFamily="18" charset="0"/>
                          </a:rPr>
                          <m:t>j</m:t>
                        </m:r>
                      </m:num>
                      <m:den>
                        <m:r>
                          <m:rPr>
                            <m:sty m:val="p"/>
                          </m:rPr>
                          <a:rPr lang="en-US" i="0">
                            <a:latin typeface="Cambria Math" panose="02040503050406030204" pitchFamily="18" charset="0"/>
                            <a:ea typeface="Cambria Math" panose="02040503050406030204" pitchFamily="18" charset="0"/>
                          </a:rPr>
                          <m:t>ω</m:t>
                        </m:r>
                        <m:r>
                          <m:rPr>
                            <m:sty m:val="p"/>
                          </m:rPr>
                          <a:rPr lang="en-US" i="0">
                            <a:latin typeface="Cambria Math" panose="02040503050406030204" pitchFamily="18" charset="0"/>
                          </a:rPr>
                          <m:t>C</m:t>
                        </m:r>
                      </m:den>
                    </m:f>
                  </m:oMath>
                </a14:m>
                <a:r>
                  <a:rPr lang="en-US" dirty="0">
                    <a:ea typeface="Cambria Math" panose="02040503050406030204" pitchFamily="18" charset="0"/>
                  </a:rPr>
                  <a:t>)</a:t>
                </a:r>
              </a:p>
              <a:p>
                <a:pPr algn="ctr"/>
                <a:r>
                  <a:rPr lang="en-IN" dirty="0"/>
                  <a:t>Z=</a:t>
                </a:r>
                <a14:m>
                  <m:oMath xmlns:m="http://schemas.openxmlformats.org/officeDocument/2006/math">
                    <m:f>
                      <m:fPr>
                        <m:ctrlPr>
                          <a:rPr lang="en-IN" i="1" smtClean="0">
                            <a:latin typeface="Cambria Math" panose="02040503050406030204" pitchFamily="18" charset="0"/>
                          </a:rPr>
                        </m:ctrlPr>
                      </m:fPr>
                      <m:num>
                        <m:r>
                          <m:rPr>
                            <m:nor/>
                          </m:rPr>
                          <a:rPr lang="en-US" b="0" i="0" smtClean="0">
                            <a:latin typeface="Cambria Math" panose="02040503050406030204" pitchFamily="18" charset="0"/>
                          </a:rPr>
                          <m:t>V</m:t>
                        </m:r>
                        <m:r>
                          <m:rPr>
                            <m:nor/>
                          </m:rPr>
                          <a:rPr lang="en-US" b="0" smtClean="0">
                            <a:latin typeface="Cambria Math" panose="02040503050406030204" pitchFamily="18" charset="0"/>
                          </a:rPr>
                          <m:t>(</m:t>
                        </m:r>
                        <m:r>
                          <m:rPr>
                            <m:sty m:val="p"/>
                          </m:rPr>
                          <a:rPr lang="en-US" b="0" i="0" smtClean="0">
                            <a:latin typeface="Cambria Math" panose="02040503050406030204" pitchFamily="18" charset="0"/>
                          </a:rPr>
                          <m:t>t</m:t>
                        </m:r>
                        <m:r>
                          <a:rPr lang="en-US" b="0" i="0" smtClean="0">
                            <a:latin typeface="Cambria Math" panose="02040503050406030204" pitchFamily="18" charset="0"/>
                          </a:rPr>
                          <m:t>)</m:t>
                        </m:r>
                      </m:num>
                      <m:den>
                        <m:r>
                          <m:rPr>
                            <m:nor/>
                          </m:rPr>
                          <a:rPr lang="en-US" b="0" smtClean="0">
                            <a:latin typeface="Cambria Math" panose="02040503050406030204" pitchFamily="18" charset="0"/>
                          </a:rPr>
                          <m:t>i</m:t>
                        </m:r>
                        <m:r>
                          <m:rPr>
                            <m:nor/>
                          </m:rPr>
                          <a:rPr lang="en-IN" dirty="0"/>
                          <m:t>(</m:t>
                        </m:r>
                        <m:r>
                          <m:rPr>
                            <m:nor/>
                          </m:rPr>
                          <a:rPr lang="en-IN" dirty="0"/>
                          <m:t>t</m:t>
                        </m:r>
                        <m:r>
                          <m:rPr>
                            <m:nor/>
                          </m:rPr>
                          <a:rPr lang="en-IN" dirty="0"/>
                          <m:t>)</m:t>
                        </m:r>
                      </m:den>
                    </m:f>
                    <m:r>
                      <a:rPr lang="en-US" b="0" i="0"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IN" i="1">
                                <a:latin typeface="Cambria Math" panose="02040503050406030204" pitchFamily="18" charset="0"/>
                              </a:rPr>
                            </m:ctrlPr>
                          </m:sSubPr>
                          <m:e>
                            <m:r>
                              <m:rPr>
                                <m:sty m:val="p"/>
                              </m:rPr>
                              <a:rPr lang="en-US">
                                <a:latin typeface="Cambria Math" panose="02040503050406030204" pitchFamily="18" charset="0"/>
                              </a:rPr>
                              <m:t>I</m:t>
                            </m:r>
                          </m:e>
                          <m:sub>
                            <m:r>
                              <m:rPr>
                                <m:sty m:val="p"/>
                              </m:rPr>
                              <a:rPr lang="en-US">
                                <a:latin typeface="Cambria Math" panose="02040503050406030204" pitchFamily="18" charset="0"/>
                              </a:rPr>
                              <m:t>m</m:t>
                            </m:r>
                          </m:sub>
                        </m:sSub>
                        <m:r>
                          <m:rPr>
                            <m:nor/>
                          </m:rPr>
                          <a:rPr lang="en-US" dirty="0"/>
                          <m:t>(</m:t>
                        </m:r>
                        <m:r>
                          <m:rPr>
                            <m:nor/>
                          </m:rPr>
                          <a:rPr lang="en-US">
                            <a:latin typeface="Cambria Math" panose="02040503050406030204" pitchFamily="18" charset="0"/>
                          </a:rPr>
                          <m:t>R</m:t>
                        </m:r>
                        <m:r>
                          <a:rPr lang="en-US">
                            <a:latin typeface="Cambria Math" panose="02040503050406030204" pitchFamily="18" charset="0"/>
                          </a:rPr>
                          <m:t>+</m:t>
                        </m:r>
                        <m:r>
                          <m:rPr>
                            <m:sty m:val="p"/>
                          </m:rPr>
                          <a:rPr lang="en-US" dirty="0">
                            <a:latin typeface="Cambria Math" panose="02040503050406030204" pitchFamily="18" charset="0"/>
                            <a:ea typeface="Cambria Math" panose="02040503050406030204" pitchFamily="18" charset="0"/>
                          </a:rPr>
                          <m:t>jL</m:t>
                        </m:r>
                        <m:r>
                          <m:rPr>
                            <m:sty m:val="p"/>
                          </m:rPr>
                          <a:rPr lang="el-GR">
                            <a:latin typeface="Cambria Math" panose="02040503050406030204" pitchFamily="18" charset="0"/>
                            <a:ea typeface="Cambria Math" panose="02040503050406030204" pitchFamily="18" charset="0"/>
                          </a:rPr>
                          <m:t>ω</m:t>
                        </m:r>
                        <m:r>
                          <a:rPr lang="en-US" dirty="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m:rPr>
                                <m:sty m:val="p"/>
                              </m:rPr>
                              <a:rPr lang="en-US">
                                <a:latin typeface="Cambria Math" panose="02040503050406030204" pitchFamily="18" charset="0"/>
                              </a:rPr>
                              <m:t>j</m:t>
                            </m:r>
                          </m:num>
                          <m:den>
                            <m:r>
                              <m:rPr>
                                <m:sty m:val="p"/>
                              </m:rPr>
                              <a:rPr lang="en-US">
                                <a:latin typeface="Cambria Math" panose="02040503050406030204" pitchFamily="18" charset="0"/>
                                <a:ea typeface="Cambria Math" panose="02040503050406030204" pitchFamily="18" charset="0"/>
                              </a:rPr>
                              <m:t>ω</m:t>
                            </m:r>
                            <m:r>
                              <m:rPr>
                                <m:sty m:val="p"/>
                              </m:rPr>
                              <a:rPr lang="en-US">
                                <a:latin typeface="Cambria Math" panose="02040503050406030204" pitchFamily="18" charset="0"/>
                              </a:rPr>
                              <m:t>C</m:t>
                            </m:r>
                          </m:den>
                        </m:f>
                        <m:r>
                          <m:rPr>
                            <m:nor/>
                          </m:rPr>
                          <a:rPr lang="en-US" dirty="0">
                            <a:ea typeface="Cambria Math" panose="02040503050406030204" pitchFamily="18" charset="0"/>
                          </a:rPr>
                          <m:t>) </m:t>
                        </m:r>
                      </m:num>
                      <m:den>
                        <m:sSub>
                          <m:sSubPr>
                            <m:ctrlPr>
                              <a:rPr lang="en-IN" i="1">
                                <a:latin typeface="Cambria Math" panose="02040503050406030204" pitchFamily="18" charset="0"/>
                              </a:rPr>
                            </m:ctrlPr>
                          </m:sSubPr>
                          <m:e>
                            <m:r>
                              <m:rPr>
                                <m:sty m:val="p"/>
                              </m:rPr>
                              <a:rPr lang="en-US" i="0" smtClean="0">
                                <a:latin typeface="Cambria Math" panose="02040503050406030204" pitchFamily="18" charset="0"/>
                              </a:rPr>
                              <m:t>I</m:t>
                            </m:r>
                          </m:e>
                          <m:sub>
                            <m:r>
                              <m:rPr>
                                <m:sty m:val="p"/>
                              </m:rPr>
                              <a:rPr lang="en-US" i="0" smtClean="0">
                                <a:latin typeface="Cambria Math" panose="02040503050406030204" pitchFamily="18" charset="0"/>
                              </a:rPr>
                              <m:t>m</m:t>
                            </m:r>
                          </m:sub>
                        </m:sSub>
                        <m:r>
                          <m:rPr>
                            <m:nor/>
                          </m:rPr>
                          <a:rPr lang="en-US" dirty="0">
                            <a:ea typeface="Cambria Math" panose="02040503050406030204" pitchFamily="18" charset="0"/>
                          </a:rPr>
                          <m:t> </m:t>
                        </m:r>
                      </m:den>
                    </m:f>
                    <m:r>
                      <a:rPr lang="en-US" b="0" i="0" smtClean="0">
                        <a:latin typeface="Cambria Math" panose="02040503050406030204" pitchFamily="18" charset="0"/>
                      </a:rPr>
                      <m:t>=</m:t>
                    </m:r>
                    <m:r>
                      <m:rPr>
                        <m:nor/>
                      </m:rPr>
                      <a:rPr lang="en-US" dirty="0"/>
                      <m:t>(</m:t>
                    </m:r>
                    <m:r>
                      <m:rPr>
                        <m:nor/>
                      </m:rPr>
                      <a:rPr lang="en-US">
                        <a:latin typeface="Cambria Math" panose="02040503050406030204" pitchFamily="18" charset="0"/>
                      </a:rPr>
                      <m:t>R</m:t>
                    </m:r>
                    <m:r>
                      <a:rPr lang="en-US">
                        <a:latin typeface="Cambria Math" panose="02040503050406030204" pitchFamily="18" charset="0"/>
                      </a:rPr>
                      <m:t>+</m:t>
                    </m:r>
                    <m:r>
                      <m:rPr>
                        <m:sty m:val="p"/>
                      </m:rPr>
                      <a:rPr lang="en-US" dirty="0">
                        <a:latin typeface="Cambria Math" panose="02040503050406030204" pitchFamily="18" charset="0"/>
                        <a:ea typeface="Cambria Math" panose="02040503050406030204" pitchFamily="18" charset="0"/>
                      </a:rPr>
                      <m:t>jL</m:t>
                    </m:r>
                    <m:r>
                      <m:rPr>
                        <m:sty m:val="p"/>
                      </m:rPr>
                      <a:rPr lang="el-GR">
                        <a:latin typeface="Cambria Math" panose="02040503050406030204" pitchFamily="18" charset="0"/>
                        <a:ea typeface="Cambria Math" panose="02040503050406030204" pitchFamily="18" charset="0"/>
                      </a:rPr>
                      <m:t>ω</m:t>
                    </m:r>
                    <m:r>
                      <a:rPr lang="en-US" dirty="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m:rPr>
                            <m:sty m:val="p"/>
                          </m:rPr>
                          <a:rPr lang="en-US">
                            <a:latin typeface="Cambria Math" panose="02040503050406030204" pitchFamily="18" charset="0"/>
                          </a:rPr>
                          <m:t>j</m:t>
                        </m:r>
                      </m:num>
                      <m:den>
                        <m:r>
                          <m:rPr>
                            <m:sty m:val="p"/>
                          </m:rPr>
                          <a:rPr lang="en-US">
                            <a:latin typeface="Cambria Math" panose="02040503050406030204" pitchFamily="18" charset="0"/>
                            <a:ea typeface="Cambria Math" panose="02040503050406030204" pitchFamily="18" charset="0"/>
                          </a:rPr>
                          <m:t>ω</m:t>
                        </m:r>
                        <m:r>
                          <m:rPr>
                            <m:sty m:val="p"/>
                          </m:rPr>
                          <a:rPr lang="en-US">
                            <a:latin typeface="Cambria Math" panose="02040503050406030204" pitchFamily="18" charset="0"/>
                          </a:rPr>
                          <m:t>C</m:t>
                        </m:r>
                      </m:den>
                    </m:f>
                    <m:r>
                      <m:rPr>
                        <m:nor/>
                      </m:rPr>
                      <a:rPr lang="en-US" dirty="0">
                        <a:ea typeface="Cambria Math" panose="02040503050406030204" pitchFamily="18" charset="0"/>
                      </a:rPr>
                      <m:t>)</m:t>
                    </m:r>
                  </m:oMath>
                </a14:m>
                <a:r>
                  <a:rPr lang="en-US" dirty="0"/>
                  <a:t> </a:t>
                </a:r>
                <a14:m>
                  <m:oMath xmlns:m="http://schemas.openxmlformats.org/officeDocument/2006/math">
                    <m:r>
                      <a:rPr lang="en-US">
                        <a:latin typeface="Cambria Math" panose="02040503050406030204" pitchFamily="18" charset="0"/>
                      </a:rPr>
                      <m:t>=</m:t>
                    </m:r>
                    <m:r>
                      <m:rPr>
                        <m:nor/>
                      </m:rPr>
                      <a:rPr lang="en-US">
                        <a:latin typeface="Cambria Math" panose="02040503050406030204" pitchFamily="18" charset="0"/>
                      </a:rPr>
                      <m:t>R</m:t>
                    </m:r>
                    <m:r>
                      <a:rPr lang="en-US">
                        <a:latin typeface="Cambria Math" panose="02040503050406030204" pitchFamily="18" charset="0"/>
                      </a:rPr>
                      <m:t>+</m:t>
                    </m:r>
                    <m:r>
                      <m:rPr>
                        <m:sty m:val="p"/>
                      </m:rPr>
                      <a:rPr lang="en-US" b="0" i="0" smtClean="0">
                        <a:latin typeface="Cambria Math" panose="02040503050406030204" pitchFamily="18" charset="0"/>
                      </a:rPr>
                      <m:t>j</m:t>
                    </m:r>
                    <m:d>
                      <m:dPr>
                        <m:ctrlPr>
                          <a:rPr lang="en-US" i="1" dirty="0" smtClean="0">
                            <a:latin typeface="Cambria Math" panose="02040503050406030204" pitchFamily="18" charset="0"/>
                            <a:ea typeface="Cambria Math" panose="02040503050406030204" pitchFamily="18" charset="0"/>
                          </a:rPr>
                        </m:ctrlPr>
                      </m:dPr>
                      <m:e>
                        <m:r>
                          <m:rPr>
                            <m:sty m:val="p"/>
                          </m:rPr>
                          <a:rPr lang="en-US" dirty="0">
                            <a:latin typeface="Cambria Math" panose="02040503050406030204" pitchFamily="18" charset="0"/>
                            <a:ea typeface="Cambria Math" panose="02040503050406030204" pitchFamily="18" charset="0"/>
                          </a:rPr>
                          <m:t>L</m:t>
                        </m:r>
                        <m:r>
                          <m:rPr>
                            <m:sty m:val="p"/>
                          </m:rPr>
                          <a:rPr lang="el-GR">
                            <a:latin typeface="Cambria Math" panose="02040503050406030204" pitchFamily="18" charset="0"/>
                            <a:ea typeface="Cambria Math" panose="02040503050406030204" pitchFamily="18" charset="0"/>
                          </a:rPr>
                          <m:t>ω</m:t>
                        </m:r>
                        <m:r>
                          <a:rPr lang="en-US" dirty="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1</m:t>
                            </m:r>
                          </m:num>
                          <m:den>
                            <m:r>
                              <m:rPr>
                                <m:sty m:val="p"/>
                              </m:rPr>
                              <a:rPr lang="en-US">
                                <a:latin typeface="Cambria Math" panose="02040503050406030204" pitchFamily="18" charset="0"/>
                                <a:ea typeface="Cambria Math" panose="02040503050406030204" pitchFamily="18" charset="0"/>
                              </a:rPr>
                              <m:t>ω</m:t>
                            </m:r>
                            <m:r>
                              <m:rPr>
                                <m:sty m:val="p"/>
                              </m:rPr>
                              <a:rPr lang="en-US">
                                <a:latin typeface="Cambria Math" panose="02040503050406030204" pitchFamily="18" charset="0"/>
                              </a:rPr>
                              <m:t>C</m:t>
                            </m:r>
                          </m:den>
                        </m:f>
                      </m:e>
                    </m:d>
                  </m:oMath>
                </a14:m>
                <a:endParaRPr lang="en-US" dirty="0">
                  <a:ea typeface="Cambria Math" panose="02040503050406030204" pitchFamily="18" charset="0"/>
                </a:endParaRPr>
              </a:p>
              <a:p>
                <a:pPr algn="ctr"/>
                <a:endParaRPr lang="en-US" sz="2800" dirty="0">
                  <a:ea typeface="Cambria Math" panose="02040503050406030204" pitchFamily="18" charset="0"/>
                </a:endParaRPr>
              </a:p>
              <a:p>
                <a:endParaRPr lang="en-US" sz="2200" dirty="0"/>
              </a:p>
              <a:p>
                <a:endParaRPr lang="en-US" dirty="0"/>
              </a:p>
              <a:p>
                <a:endParaRPr lang="en-US" dirty="0"/>
              </a:p>
            </p:txBody>
          </p:sp>
        </mc:Choice>
        <mc:Fallback xmlns="">
          <p:sp>
            <p:nvSpPr>
              <p:cNvPr id="7" name="TextBox 6">
                <a:extLst>
                  <a:ext uri="{FF2B5EF4-FFF2-40B4-BE49-F238E27FC236}">
                    <a16:creationId xmlns:a16="http://schemas.microsoft.com/office/drawing/2014/main" id="{9C5F9E0B-4945-E742-A53C-C6895D00DAA7}"/>
                  </a:ext>
                </a:extLst>
              </p:cNvPr>
              <p:cNvSpPr txBox="1">
                <a:spLocks noRot="1" noChangeAspect="1" noMove="1" noResize="1" noEditPoints="1" noAdjustHandles="1" noChangeArrowheads="1" noChangeShapeType="1" noTextEdit="1"/>
              </p:cNvSpPr>
              <p:nvPr/>
            </p:nvSpPr>
            <p:spPr>
              <a:xfrm>
                <a:off x="0" y="2109904"/>
                <a:ext cx="11803224" cy="5354799"/>
              </a:xfrm>
              <a:prstGeom prst="rect">
                <a:avLst/>
              </a:prstGeom>
              <a:blipFill>
                <a:blip r:embed="rId2"/>
                <a:stretch>
                  <a:fillRect l="-671" t="-796"/>
                </a:stretch>
              </a:blipFill>
            </p:spPr>
            <p:txBody>
              <a:bodyPr/>
              <a:lstStyle/>
              <a:p>
                <a:r>
                  <a:rPr lang="en-IN">
                    <a:noFill/>
                  </a:rPr>
                  <a:t> </a:t>
                </a:r>
              </a:p>
            </p:txBody>
          </p:sp>
        </mc:Fallback>
      </mc:AlternateContent>
      <p:sp>
        <p:nvSpPr>
          <p:cNvPr id="12" name="Rounded Rectangle 17">
            <a:extLst>
              <a:ext uri="{FF2B5EF4-FFF2-40B4-BE49-F238E27FC236}">
                <a16:creationId xmlns:a16="http://schemas.microsoft.com/office/drawing/2014/main" id="{7E3EEA95-771E-E172-EE60-DC221F47B94C}"/>
              </a:ext>
            </a:extLst>
          </p:cNvPr>
          <p:cNvSpPr/>
          <p:nvPr/>
        </p:nvSpPr>
        <p:spPr>
          <a:xfrm>
            <a:off x="2435714" y="69655"/>
            <a:ext cx="7611177" cy="32308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Steady state analysis of RLC Series Circuit</a:t>
            </a:r>
            <a:endParaRPr lang="en-US" sz="2400" dirty="0"/>
          </a:p>
        </p:txBody>
      </p:sp>
      <p:pic>
        <p:nvPicPr>
          <p:cNvPr id="10" name="Picture 9">
            <a:extLst>
              <a:ext uri="{FF2B5EF4-FFF2-40B4-BE49-F238E27FC236}">
                <a16:creationId xmlns:a16="http://schemas.microsoft.com/office/drawing/2014/main" id="{7E610B7B-F018-66BD-752E-CF6298F8540B}"/>
              </a:ext>
            </a:extLst>
          </p:cNvPr>
          <p:cNvPicPr>
            <a:picLocks noChangeAspect="1"/>
          </p:cNvPicPr>
          <p:nvPr/>
        </p:nvPicPr>
        <p:blipFill>
          <a:blip r:embed="rId3"/>
          <a:stretch>
            <a:fillRect/>
          </a:stretch>
        </p:blipFill>
        <p:spPr>
          <a:xfrm>
            <a:off x="2508624" y="392738"/>
            <a:ext cx="5540001" cy="1838464"/>
          </a:xfrm>
          <a:prstGeom prst="rect">
            <a:avLst/>
          </a:prstGeom>
        </p:spPr>
      </p:pic>
    </p:spTree>
    <p:extLst>
      <p:ext uri="{BB962C8B-B14F-4D97-AF65-F5344CB8AC3E}">
        <p14:creationId xmlns:p14="http://schemas.microsoft.com/office/powerpoint/2010/main" val="2224032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07317-9822-BAD9-3A54-AA98942F20E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558534-99A0-52D5-F79C-B2EB0F557B79}"/>
              </a:ext>
            </a:extLst>
          </p:cNvPr>
          <p:cNvSpPr>
            <a:spLocks noGrp="1"/>
          </p:cNvSpPr>
          <p:nvPr>
            <p:ph type="sldNum" sz="quarter" idx="12"/>
          </p:nvPr>
        </p:nvSpPr>
        <p:spPr/>
        <p:txBody>
          <a:bodyPr/>
          <a:lstStyle/>
          <a:p>
            <a:fld id="{CBABCCC1-BF11-4F37-963E-1BCD5B23FD72}" type="slidenum">
              <a:rPr lang="en-IN" smtClean="0"/>
              <a:t>15</a:t>
            </a:fld>
            <a:endParaRPr lang="en-IN"/>
          </a:p>
        </p:txBody>
      </p:sp>
      <p:sp>
        <p:nvSpPr>
          <p:cNvPr id="12" name="Rounded Rectangle 17">
            <a:extLst>
              <a:ext uri="{FF2B5EF4-FFF2-40B4-BE49-F238E27FC236}">
                <a16:creationId xmlns:a16="http://schemas.microsoft.com/office/drawing/2014/main" id="{95BEBACF-0DA9-2C01-E83A-9A6C4E284694}"/>
              </a:ext>
            </a:extLst>
          </p:cNvPr>
          <p:cNvSpPr/>
          <p:nvPr/>
        </p:nvSpPr>
        <p:spPr>
          <a:xfrm>
            <a:off x="2511501" y="133686"/>
            <a:ext cx="7611177"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Steady state analysis of RLC Series Circuit</a:t>
            </a:r>
            <a:endParaRPr lang="en-US" sz="24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A911AAD-B40B-8F9B-8983-E66EC419631C}"/>
                  </a:ext>
                </a:extLst>
              </p:cNvPr>
              <p:cNvSpPr txBox="1"/>
              <p:nvPr/>
            </p:nvSpPr>
            <p:spPr>
              <a:xfrm>
                <a:off x="742511" y="796246"/>
                <a:ext cx="6100762" cy="253242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nor/>
                        </m:rPr>
                        <a:rPr lang="en-IN" sz="1800" smtClean="0"/>
                        <m:t>The</m:t>
                      </m:r>
                      <m:r>
                        <m:rPr>
                          <m:nor/>
                        </m:rPr>
                        <a:rPr lang="en-IN" sz="1800" smtClean="0"/>
                        <m:t> </m:t>
                      </m:r>
                      <m:r>
                        <m:rPr>
                          <m:nor/>
                        </m:rPr>
                        <a:rPr lang="en-US" sz="1800" b="0" i="0" smtClean="0"/>
                        <m:t>magnitude</m:t>
                      </m:r>
                      <m:r>
                        <m:rPr>
                          <m:nor/>
                        </m:rPr>
                        <a:rPr lang="en-US" sz="1800" b="0" i="0" smtClean="0"/>
                        <m:t> </m:t>
                      </m:r>
                      <m:r>
                        <m:rPr>
                          <m:nor/>
                        </m:rPr>
                        <a:rPr lang="en-US" sz="1800" b="0" i="0" smtClean="0"/>
                        <m:t>of</m:t>
                      </m:r>
                      <m:r>
                        <m:rPr>
                          <m:nor/>
                        </m:rPr>
                        <a:rPr lang="en-US" sz="1800" b="0" i="0" smtClean="0"/>
                        <m:t> </m:t>
                      </m:r>
                      <m:r>
                        <m:rPr>
                          <m:nor/>
                        </m:rPr>
                        <a:rPr lang="en-IN" sz="1800" smtClean="0"/>
                        <m:t>impedance</m:t>
                      </m:r>
                      <m:r>
                        <m:rPr>
                          <m:nor/>
                        </m:rPr>
                        <a:rPr lang="en-IN" sz="1800" smtClean="0"/>
                        <m:t> </m:t>
                      </m:r>
                      <m:r>
                        <m:rPr>
                          <m:nor/>
                        </m:rPr>
                        <a:rPr lang="en-IN" sz="1800" smtClean="0"/>
                        <m:t>for</m:t>
                      </m:r>
                      <m:r>
                        <m:rPr>
                          <m:nor/>
                        </m:rPr>
                        <a:rPr lang="en-IN" sz="1800" smtClean="0"/>
                        <m:t> </m:t>
                      </m:r>
                      <m:r>
                        <m:rPr>
                          <m:nor/>
                        </m:rPr>
                        <a:rPr lang="en-IN" sz="1800" smtClean="0"/>
                        <m:t>an</m:t>
                      </m:r>
                      <m:r>
                        <m:rPr>
                          <m:nor/>
                        </m:rPr>
                        <a:rPr lang="en-IN" sz="1800" smtClean="0"/>
                        <m:t> </m:t>
                      </m:r>
                      <m:r>
                        <m:rPr>
                          <m:nor/>
                        </m:rPr>
                        <a:rPr lang="en-IN" sz="1800" smtClean="0"/>
                        <m:t>R</m:t>
                      </m:r>
                      <m:r>
                        <m:rPr>
                          <m:nor/>
                        </m:rPr>
                        <a:rPr lang="en-US" sz="1800" b="0" i="0" smtClean="0"/>
                        <m:t>LC</m:t>
                      </m:r>
                      <m:r>
                        <m:rPr>
                          <m:nor/>
                        </m:rPr>
                        <a:rPr lang="en-IN" sz="1800" smtClean="0"/>
                        <m:t> </m:t>
                      </m:r>
                      <m:r>
                        <m:rPr>
                          <m:nor/>
                        </m:rPr>
                        <a:rPr lang="en-IN" sz="1800" smtClean="0"/>
                        <m:t>series</m:t>
                      </m:r>
                      <m:r>
                        <m:rPr>
                          <m:nor/>
                        </m:rPr>
                        <a:rPr lang="en-IN" sz="1800" smtClean="0"/>
                        <m:t> </m:t>
                      </m:r>
                    </m:oMath>
                  </m:oMathPara>
                </a14:m>
                <a:endParaRPr lang="en-US" sz="1800" dirty="0"/>
              </a:p>
              <a:p>
                <a:pPr/>
                <a14:m>
                  <m:oMathPara xmlns:m="http://schemas.openxmlformats.org/officeDocument/2006/math">
                    <m:oMathParaPr>
                      <m:jc m:val="left"/>
                    </m:oMathParaPr>
                    <m:oMath xmlns:m="http://schemas.openxmlformats.org/officeDocument/2006/math">
                      <m:r>
                        <m:rPr>
                          <m:nor/>
                        </m:rPr>
                        <a:rPr lang="en-IN" sz="1800" smtClean="0"/>
                        <m:t>circuit</m:t>
                      </m:r>
                      <m:r>
                        <m:rPr>
                          <m:nor/>
                        </m:rPr>
                        <a:rPr lang="en-IN" sz="1800" smtClean="0"/>
                        <m:t> </m:t>
                      </m:r>
                      <m:r>
                        <m:rPr>
                          <m:nor/>
                        </m:rPr>
                        <a:rPr lang="en-IN" sz="1800" smtClean="0"/>
                        <m:t>is</m:t>
                      </m:r>
                      <m:r>
                        <m:rPr>
                          <m:nor/>
                        </m:rPr>
                        <a:rPr lang="en-IN" sz="1800" smtClean="0"/>
                        <m:t> </m:t>
                      </m:r>
                      <m:r>
                        <m:rPr>
                          <m:nor/>
                        </m:rPr>
                        <a:rPr lang="en-IN" sz="1800" smtClean="0"/>
                        <m:t>given</m:t>
                      </m:r>
                      <m:r>
                        <m:rPr>
                          <m:nor/>
                        </m:rPr>
                        <a:rPr lang="en-IN" sz="1800" smtClean="0"/>
                        <m:t> </m:t>
                      </m:r>
                      <m:r>
                        <m:rPr>
                          <m:nor/>
                        </m:rPr>
                        <a:rPr lang="en-IN" sz="1800" smtClean="0"/>
                        <m:t>by</m:t>
                      </m:r>
                    </m:oMath>
                  </m:oMathPara>
                </a14:m>
                <a:endParaRPr lang="en-US" sz="1800" dirty="0"/>
              </a:p>
              <a:p>
                <a:pPr/>
                <a14:m>
                  <m:oMathPara xmlns:m="http://schemas.openxmlformats.org/officeDocument/2006/math">
                    <m:oMathParaPr>
                      <m:jc m:val="left"/>
                    </m:oMathParaPr>
                    <m:oMath xmlns:m="http://schemas.openxmlformats.org/officeDocument/2006/math">
                      <m:d>
                        <m:dPr>
                          <m:begChr m:val="|"/>
                          <m:endChr m:val="|"/>
                          <m:ctrlPr>
                            <a:rPr lang="en-US" i="1">
                              <a:latin typeface="Cambria Math" panose="02040503050406030204" pitchFamily="18" charset="0"/>
                            </a:rPr>
                          </m:ctrlPr>
                        </m:dPr>
                        <m:e>
                          <m:r>
                            <m:rPr>
                              <m:sty m:val="p"/>
                            </m:rPr>
                            <a:rPr lang="en-US">
                              <a:latin typeface="Cambria Math" panose="02040503050406030204" pitchFamily="18" charset="0"/>
                            </a:rPr>
                            <m:t>Z</m:t>
                          </m:r>
                        </m:e>
                      </m:d>
                      <m:r>
                        <a:rPr lang="en-US" sz="1800" b="0" i="0" smtClean="0">
                          <a:latin typeface="Cambria Math" panose="02040503050406030204" pitchFamily="18" charset="0"/>
                        </a:rPr>
                        <m:t>=</m:t>
                      </m:r>
                      <m:rad>
                        <m:radPr>
                          <m:degHide m:val="on"/>
                          <m:ctrlPr>
                            <a:rPr lang="en-US" sz="1800" i="1">
                              <a:latin typeface="Cambria Math" panose="02040503050406030204" pitchFamily="18" charset="0"/>
                            </a:rPr>
                          </m:ctrlPr>
                        </m:radPr>
                        <m:deg/>
                        <m:e>
                          <m:sSup>
                            <m:sSupPr>
                              <m:ctrlPr>
                                <a:rPr lang="en-US" sz="1800" i="1">
                                  <a:latin typeface="Cambria Math" panose="02040503050406030204" pitchFamily="18" charset="0"/>
                                </a:rPr>
                              </m:ctrlPr>
                            </m:sSupPr>
                            <m:e>
                              <m:r>
                                <m:rPr>
                                  <m:sty m:val="p"/>
                                </m:rPr>
                                <a:rPr lang="en-US" sz="1800" i="0">
                                  <a:latin typeface="Cambria Math" panose="02040503050406030204" pitchFamily="18" charset="0"/>
                                </a:rPr>
                                <m:t>R</m:t>
                              </m:r>
                            </m:e>
                            <m:sup>
                              <m:r>
                                <a:rPr lang="en-US" sz="1800" i="0">
                                  <a:latin typeface="Cambria Math" panose="02040503050406030204" pitchFamily="18" charset="0"/>
                                </a:rPr>
                                <m:t>2</m:t>
                              </m:r>
                            </m:sup>
                          </m:sSup>
                          <m:r>
                            <a:rPr lang="en-US" sz="1800" i="0">
                              <a:latin typeface="Cambria Math" panose="02040503050406030204" pitchFamily="18" charset="0"/>
                            </a:rPr>
                            <m:t>+</m:t>
                          </m:r>
                          <m:sSup>
                            <m:sSupPr>
                              <m:ctrlPr>
                                <a:rPr lang="en-US" sz="1800" i="1">
                                  <a:latin typeface="Cambria Math" panose="02040503050406030204" pitchFamily="18" charset="0"/>
                                </a:rPr>
                              </m:ctrlPr>
                            </m:sSupPr>
                            <m:e>
                              <m:d>
                                <m:dPr>
                                  <m:ctrlPr>
                                    <a:rPr lang="en-US" sz="1800" i="1">
                                      <a:latin typeface="Cambria Math" panose="02040503050406030204" pitchFamily="18" charset="0"/>
                                    </a:rPr>
                                  </m:ctrlPr>
                                </m:dPr>
                                <m:e>
                                  <m:r>
                                    <m:rPr>
                                      <m:sty m:val="p"/>
                                    </m:rPr>
                                    <a:rPr lang="en-US" dirty="0">
                                      <a:latin typeface="Cambria Math" panose="02040503050406030204" pitchFamily="18" charset="0"/>
                                      <a:ea typeface="Cambria Math" panose="02040503050406030204" pitchFamily="18" charset="0"/>
                                    </a:rPr>
                                    <m:t>L</m:t>
                                  </m:r>
                                  <m:r>
                                    <m:rPr>
                                      <m:sty m:val="p"/>
                                    </m:rPr>
                                    <a:rPr lang="el-GR">
                                      <a:latin typeface="Cambria Math" panose="02040503050406030204" pitchFamily="18" charset="0"/>
                                      <a:ea typeface="Cambria Math" panose="02040503050406030204" pitchFamily="18" charset="0"/>
                                    </a:rPr>
                                    <m:t>ω</m:t>
                                  </m:r>
                                  <m:r>
                                    <a:rPr lang="en-US" b="0" i="1" smtClean="0">
                                      <a:latin typeface="Cambria Math" panose="02040503050406030204" pitchFamily="18" charset="0"/>
                                      <a:ea typeface="Cambria Math" panose="02040503050406030204" pitchFamily="18" charset="0"/>
                                    </a:rPr>
                                    <m:t>−</m:t>
                                  </m:r>
                                  <m:f>
                                    <m:fPr>
                                      <m:ctrlPr>
                                        <a:rPr lang="en-US" sz="1800" i="1">
                                          <a:latin typeface="Cambria Math" panose="02040503050406030204" pitchFamily="18" charset="0"/>
                                        </a:rPr>
                                      </m:ctrlPr>
                                    </m:fPr>
                                    <m:num>
                                      <m:r>
                                        <a:rPr lang="en-US" sz="1800" b="0" i="0" smtClean="0">
                                          <a:latin typeface="Cambria Math" panose="02040503050406030204" pitchFamily="18" charset="0"/>
                                        </a:rPr>
                                        <m:t>1</m:t>
                                      </m:r>
                                    </m:num>
                                    <m:den>
                                      <m:r>
                                        <m:rPr>
                                          <m:sty m:val="p"/>
                                        </m:rPr>
                                        <a:rPr lang="en-US" sz="1800">
                                          <a:latin typeface="Cambria Math" panose="02040503050406030204" pitchFamily="18" charset="0"/>
                                          <a:ea typeface="Cambria Math" panose="02040503050406030204" pitchFamily="18" charset="0"/>
                                        </a:rPr>
                                        <m:t>ω</m:t>
                                      </m:r>
                                      <m:r>
                                        <m:rPr>
                                          <m:sty m:val="p"/>
                                        </m:rPr>
                                        <a:rPr lang="en-US" sz="1800">
                                          <a:latin typeface="Cambria Math" panose="02040503050406030204" pitchFamily="18" charset="0"/>
                                        </a:rPr>
                                        <m:t>C</m:t>
                                      </m:r>
                                    </m:den>
                                  </m:f>
                                </m:e>
                              </m:d>
                            </m:e>
                            <m:sup>
                              <m:r>
                                <a:rPr lang="en-US" sz="1800" i="0">
                                  <a:latin typeface="Cambria Math" panose="02040503050406030204" pitchFamily="18" charset="0"/>
                                </a:rPr>
                                <m:t>2</m:t>
                              </m:r>
                            </m:sup>
                          </m:sSup>
                        </m:e>
                      </m:rad>
                    </m:oMath>
                  </m:oMathPara>
                </a14:m>
                <a:endParaRPr lang="en-US" sz="1800" dirty="0"/>
              </a:p>
              <a:p>
                <a:r>
                  <a:rPr lang="en-IN" sz="1800" dirty="0">
                    <a:effectLst/>
                    <a:latin typeface="Times New Roman" panose="02020603050405020304" pitchFamily="18" charset="0"/>
                    <a:ea typeface="Times New Roman" panose="02020603050405020304" pitchFamily="18" charset="0"/>
                  </a:rPr>
                  <a:t>The phase angle for an RLC circuit is</a:t>
                </a:r>
                <a:endParaRPr lang="en-US" sz="1800" dirty="0"/>
              </a:p>
              <a:p>
                <a:pPr/>
                <a14:m>
                  <m:oMathPara xmlns:m="http://schemas.openxmlformats.org/officeDocument/2006/math">
                    <m:oMathParaPr>
                      <m:jc m:val="left"/>
                    </m:oMathParaPr>
                    <m:oMath xmlns:m="http://schemas.openxmlformats.org/officeDocument/2006/math">
                      <m:r>
                        <m:rPr>
                          <m:sty m:val="p"/>
                        </m:rPr>
                        <a:rPr lang="en-US" sz="2000" i="0" dirty="0" smtClean="0">
                          <a:latin typeface="Cambria Math" panose="02040503050406030204" pitchFamily="18" charset="0"/>
                          <a:ea typeface="Cambria Math" panose="02040503050406030204" pitchFamily="18" charset="0"/>
                        </a:rPr>
                        <m:t>φ</m:t>
                      </m:r>
                      <m:r>
                        <a:rPr lang="en-US" sz="2000" b="0" i="0" dirty="0" smtClean="0">
                          <a:latin typeface="Cambria Math" panose="02040503050406030204" pitchFamily="18" charset="0"/>
                          <a:ea typeface="Cambria Math" panose="02040503050406030204" pitchFamily="18" charset="0"/>
                        </a:rPr>
                        <m:t>=</m:t>
                      </m:r>
                      <m:sSup>
                        <m:sSupPr>
                          <m:ctrlPr>
                            <a:rPr lang="en-US" sz="2000" i="1" dirty="0">
                              <a:latin typeface="Cambria Math" panose="02040503050406030204" pitchFamily="18" charset="0"/>
                            </a:rPr>
                          </m:ctrlPr>
                        </m:sSupPr>
                        <m:e>
                          <m:r>
                            <m:rPr>
                              <m:sty m:val="p"/>
                            </m:rPr>
                            <a:rPr lang="en-US" sz="2000" i="0" dirty="0">
                              <a:latin typeface="Cambria Math" panose="02040503050406030204" pitchFamily="18" charset="0"/>
                            </a:rPr>
                            <m:t>tan</m:t>
                          </m:r>
                        </m:e>
                        <m:sup>
                          <m:r>
                            <a:rPr lang="en-US" sz="2000" i="0" dirty="0">
                              <a:latin typeface="Cambria Math" panose="02040503050406030204" pitchFamily="18" charset="0"/>
                            </a:rPr>
                            <m:t>−1</m:t>
                          </m:r>
                        </m:sup>
                      </m:sSup>
                      <m:d>
                        <m:dPr>
                          <m:ctrlPr>
                            <a:rPr lang="en-US" sz="2000" i="1" dirty="0">
                              <a:latin typeface="Cambria Math" panose="02040503050406030204" pitchFamily="18" charset="0"/>
                            </a:rPr>
                          </m:ctrlPr>
                        </m:dPr>
                        <m:e>
                          <m:f>
                            <m:fPr>
                              <m:ctrlPr>
                                <a:rPr lang="en-US" sz="2000" i="1" dirty="0">
                                  <a:latin typeface="Cambria Math" panose="02040503050406030204" pitchFamily="18" charset="0"/>
                                </a:rPr>
                              </m:ctrlPr>
                            </m:fPr>
                            <m:num>
                              <m:r>
                                <m:rPr>
                                  <m:sty m:val="p"/>
                                </m:rPr>
                                <a:rPr lang="en-US" sz="2000" b="0" i="0" dirty="0" smtClean="0">
                                  <a:latin typeface="Cambria Math" panose="02040503050406030204" pitchFamily="18" charset="0"/>
                                </a:rPr>
                                <m:t>L</m:t>
                              </m:r>
                              <m:r>
                                <m:rPr>
                                  <m:sty m:val="p"/>
                                </m:rPr>
                                <a:rPr lang="en-US" sz="2000" b="0" i="0" dirty="0" smtClean="0">
                                  <a:latin typeface="Cambria Math" panose="02040503050406030204" pitchFamily="18" charset="0"/>
                                  <a:ea typeface="Cambria Math" panose="02040503050406030204" pitchFamily="18" charset="0"/>
                                </a:rPr>
                                <m:t>ω</m:t>
                              </m:r>
                              <m:r>
                                <a:rPr lang="en-US" sz="2000" b="0" i="0" dirty="0" smtClean="0">
                                  <a:latin typeface="Cambria Math" panose="02040503050406030204" pitchFamily="18" charset="0"/>
                                  <a:ea typeface="Cambria Math" panose="02040503050406030204" pitchFamily="18" charset="0"/>
                                </a:rPr>
                                <m:t>−</m:t>
                              </m:r>
                              <m:f>
                                <m:fPr>
                                  <m:ctrlPr>
                                    <a:rPr lang="en-US" sz="2000" i="1" smtClean="0">
                                      <a:latin typeface="Cambria Math" panose="02040503050406030204" pitchFamily="18" charset="0"/>
                                    </a:rPr>
                                  </m:ctrlPr>
                                </m:fPr>
                                <m:num>
                                  <m:r>
                                    <a:rPr lang="en-US" sz="2000" i="0">
                                      <a:latin typeface="Cambria Math" panose="02040503050406030204" pitchFamily="18" charset="0"/>
                                    </a:rPr>
                                    <m:t>1</m:t>
                                  </m:r>
                                </m:num>
                                <m:den>
                                  <m:r>
                                    <m:rPr>
                                      <m:sty m:val="p"/>
                                    </m:rPr>
                                    <a:rPr lang="en-US" sz="2000" i="0">
                                      <a:latin typeface="Cambria Math" panose="02040503050406030204" pitchFamily="18" charset="0"/>
                                      <a:ea typeface="Cambria Math" panose="02040503050406030204" pitchFamily="18" charset="0"/>
                                    </a:rPr>
                                    <m:t>ω</m:t>
                                  </m:r>
                                  <m:r>
                                    <m:rPr>
                                      <m:sty m:val="p"/>
                                    </m:rPr>
                                    <a:rPr lang="en-US" sz="2000" i="0">
                                      <a:latin typeface="Cambria Math" panose="02040503050406030204" pitchFamily="18" charset="0"/>
                                    </a:rPr>
                                    <m:t>C</m:t>
                                  </m:r>
                                </m:den>
                              </m:f>
                            </m:num>
                            <m:den>
                              <m:r>
                                <m:rPr>
                                  <m:sty m:val="p"/>
                                </m:rPr>
                                <a:rPr lang="en-US" sz="2000" i="0" dirty="0">
                                  <a:latin typeface="Cambria Math" panose="02040503050406030204" pitchFamily="18" charset="0"/>
                                </a:rPr>
                                <m:t>R</m:t>
                              </m:r>
                            </m:den>
                          </m:f>
                        </m:e>
                      </m:d>
                    </m:oMath>
                  </m:oMathPara>
                </a14:m>
                <a:endParaRPr lang="en-IN" sz="2000" dirty="0"/>
              </a:p>
            </p:txBody>
          </p:sp>
        </mc:Choice>
        <mc:Fallback xmlns="">
          <p:sp>
            <p:nvSpPr>
              <p:cNvPr id="4" name="TextBox 3">
                <a:extLst>
                  <a:ext uri="{FF2B5EF4-FFF2-40B4-BE49-F238E27FC236}">
                    <a16:creationId xmlns:a16="http://schemas.microsoft.com/office/drawing/2014/main" id="{3A911AAD-B40B-8F9B-8983-E66EC419631C}"/>
                  </a:ext>
                </a:extLst>
              </p:cNvPr>
              <p:cNvSpPr txBox="1">
                <a:spLocks noRot="1" noChangeAspect="1" noMove="1" noResize="1" noEditPoints="1" noAdjustHandles="1" noChangeArrowheads="1" noChangeShapeType="1" noTextEdit="1"/>
              </p:cNvSpPr>
              <p:nvPr/>
            </p:nvSpPr>
            <p:spPr>
              <a:xfrm>
                <a:off x="742511" y="796246"/>
                <a:ext cx="6100762" cy="2532425"/>
              </a:xfrm>
              <a:prstGeom prst="rect">
                <a:avLst/>
              </a:prstGeom>
              <a:blipFill>
                <a:blip r:embed="rId2"/>
                <a:stretch>
                  <a:fillRect l="-899"/>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0422C0D3-D840-41BD-1A8A-2026553C20AB}"/>
              </a:ext>
            </a:extLst>
          </p:cNvPr>
          <p:cNvSpPr txBox="1"/>
          <p:nvPr/>
        </p:nvSpPr>
        <p:spPr>
          <a:xfrm>
            <a:off x="596579" y="842627"/>
            <a:ext cx="5536991" cy="2439662"/>
          </a:xfrm>
          <a:prstGeom prst="rect">
            <a:avLst/>
          </a:prstGeom>
          <a:noFill/>
          <a:ln w="19050">
            <a:solidFill>
              <a:schemeClr val="tx1"/>
            </a:solidFill>
          </a:ln>
        </p:spPr>
        <p:txBody>
          <a:bodyPr wrap="square" rtlCol="0">
            <a:spAutoFit/>
          </a:bodyPr>
          <a:lstStyle/>
          <a:p>
            <a:endParaRPr lang="en-IN" dirty="0"/>
          </a:p>
        </p:txBody>
      </p:sp>
      <p:sp>
        <p:nvSpPr>
          <p:cNvPr id="6" name="Rectangle 5">
            <a:extLst>
              <a:ext uri="{FF2B5EF4-FFF2-40B4-BE49-F238E27FC236}">
                <a16:creationId xmlns:a16="http://schemas.microsoft.com/office/drawing/2014/main" id="{607EB207-0421-73BA-AE6D-FFF592CD2F0E}"/>
              </a:ext>
            </a:extLst>
          </p:cNvPr>
          <p:cNvSpPr/>
          <p:nvPr/>
        </p:nvSpPr>
        <p:spPr>
          <a:xfrm>
            <a:off x="478676" y="3248650"/>
            <a:ext cx="5463419" cy="461665"/>
          </a:xfrm>
          <a:prstGeom prst="rect">
            <a:avLst/>
          </a:prstGeom>
        </p:spPr>
        <p:txBody>
          <a:bodyPr wrap="none">
            <a:spAutoFit/>
          </a:bodyPr>
          <a:lstStyle/>
          <a:p>
            <a:r>
              <a:rPr lang="en-IN" sz="2400" b="1" dirty="0">
                <a:solidFill>
                  <a:srgbClr val="FF0000"/>
                </a:solidFill>
                <a:latin typeface="Times New Roman"/>
                <a:cs typeface="Times New Roman"/>
              </a:rPr>
              <a:t>Inductor current lags the voltage by 90º.</a:t>
            </a:r>
            <a:endParaRPr lang="en-IN" sz="2400" b="1" dirty="0">
              <a:solidFill>
                <a:srgbClr val="FF0000"/>
              </a:solidFill>
            </a:endParaRPr>
          </a:p>
        </p:txBody>
      </p:sp>
      <p:pic>
        <p:nvPicPr>
          <p:cNvPr id="8" name="object 53">
            <a:extLst>
              <a:ext uri="{FF2B5EF4-FFF2-40B4-BE49-F238E27FC236}">
                <a16:creationId xmlns:a16="http://schemas.microsoft.com/office/drawing/2014/main" id="{9049B2D2-BAAA-74D1-5DF6-1DCED045F095}"/>
              </a:ext>
            </a:extLst>
          </p:cNvPr>
          <p:cNvPicPr/>
          <p:nvPr/>
        </p:nvPicPr>
        <p:blipFill>
          <a:blip r:embed="rId3" cstate="print"/>
          <a:stretch>
            <a:fillRect/>
          </a:stretch>
        </p:blipFill>
        <p:spPr>
          <a:xfrm>
            <a:off x="7534714" y="936403"/>
            <a:ext cx="3409950" cy="2028457"/>
          </a:xfrm>
          <a:prstGeom prst="rect">
            <a:avLst/>
          </a:prstGeom>
        </p:spPr>
      </p:pic>
      <p:sp>
        <p:nvSpPr>
          <p:cNvPr id="9" name="Rectangle 8">
            <a:extLst>
              <a:ext uri="{FF2B5EF4-FFF2-40B4-BE49-F238E27FC236}">
                <a16:creationId xmlns:a16="http://schemas.microsoft.com/office/drawing/2014/main" id="{FC03027A-C4E6-8463-601C-15E7F3850EC2}"/>
              </a:ext>
            </a:extLst>
          </p:cNvPr>
          <p:cNvSpPr/>
          <p:nvPr/>
        </p:nvSpPr>
        <p:spPr>
          <a:xfrm>
            <a:off x="480279" y="3626700"/>
            <a:ext cx="5769593" cy="461665"/>
          </a:xfrm>
          <a:prstGeom prst="rect">
            <a:avLst/>
          </a:prstGeom>
        </p:spPr>
        <p:txBody>
          <a:bodyPr wrap="none">
            <a:spAutoFit/>
          </a:bodyPr>
          <a:lstStyle/>
          <a:p>
            <a:r>
              <a:rPr lang="en-IN" sz="2400" b="1" dirty="0">
                <a:solidFill>
                  <a:srgbClr val="FF0000"/>
                </a:solidFill>
                <a:latin typeface="Times New Roman"/>
                <a:cs typeface="Times New Roman"/>
              </a:rPr>
              <a:t>Capacitor current leads the voltage by 90º.</a:t>
            </a:r>
            <a:endParaRPr lang="en-IN" sz="2400" b="1" dirty="0">
              <a:solidFill>
                <a:srgbClr val="FF0000"/>
              </a:solidFill>
            </a:endParaRPr>
          </a:p>
        </p:txBody>
      </p:sp>
    </p:spTree>
    <p:extLst>
      <p:ext uri="{BB962C8B-B14F-4D97-AF65-F5344CB8AC3E}">
        <p14:creationId xmlns:p14="http://schemas.microsoft.com/office/powerpoint/2010/main" val="244181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10331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b="1" dirty="0"/>
              <a:t>1. What type of power represents the actual energy used to perform work in an electrical circuit (B)</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977905"/>
            <a:ext cx="3777184"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 Apparent power</a:t>
            </a:r>
          </a:p>
          <a:p>
            <a:r>
              <a:rPr lang="en-US" dirty="0"/>
              <a:t>B) True power</a:t>
            </a:r>
          </a:p>
          <a:p>
            <a:r>
              <a:rPr lang="en-US" dirty="0"/>
              <a:t>C) Reactive power</a:t>
            </a:r>
          </a:p>
          <a:p>
            <a:r>
              <a:rPr lang="en-US" dirty="0"/>
              <a:t>D) Complex power</a:t>
            </a:r>
          </a:p>
        </p:txBody>
      </p:sp>
      <p:sp>
        <p:nvSpPr>
          <p:cNvPr id="13" name="Google Shape;502;p17">
            <a:extLst>
              <a:ext uri="{FF2B5EF4-FFF2-40B4-BE49-F238E27FC236}">
                <a16:creationId xmlns:a16="http://schemas.microsoft.com/office/drawing/2014/main" id="{BB41B87C-BE5F-4BF2-531D-57DC21D1A451}"/>
              </a:ext>
            </a:extLst>
          </p:cNvPr>
          <p:cNvSpPr/>
          <p:nvPr/>
        </p:nvSpPr>
        <p:spPr>
          <a:xfrm>
            <a:off x="995362" y="3788078"/>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b="1" dirty="0"/>
              <a:t>Which unit is used to measure apparent power in an electrical circuit (B)</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1026828" y="4662667"/>
            <a:ext cx="5627972" cy="1372373"/>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A) Watts (W)</a:t>
            </a:r>
          </a:p>
          <a:p>
            <a:r>
              <a:rPr lang="en-IN" dirty="0"/>
              <a:t>B) Volt-amperes (VA)</a:t>
            </a:r>
          </a:p>
          <a:p>
            <a:r>
              <a:rPr lang="en-IN" dirty="0"/>
              <a:t>C) Volt-amperes reactive (VAR)</a:t>
            </a:r>
          </a:p>
          <a:p>
            <a:r>
              <a:rPr lang="en-IN" dirty="0"/>
              <a:t>D) Amperes (A)</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1812933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10331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b="1" dirty="0"/>
              <a:t>3. Reactive power in an AC circuit is primarily associated with: (B)</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977905"/>
            <a:ext cx="3777184"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 Energy consumption</a:t>
            </a:r>
          </a:p>
          <a:p>
            <a:r>
              <a:rPr lang="en-US" dirty="0"/>
              <a:t>B) Magnetic and electric fields</a:t>
            </a:r>
          </a:p>
          <a:p>
            <a:r>
              <a:rPr lang="en-US" dirty="0"/>
              <a:t>C) Useful work output</a:t>
            </a:r>
          </a:p>
          <a:p>
            <a:r>
              <a:rPr lang="en-US" dirty="0"/>
              <a:t>D) Current flow</a:t>
            </a:r>
          </a:p>
        </p:txBody>
      </p:sp>
      <p:sp>
        <p:nvSpPr>
          <p:cNvPr id="13" name="Google Shape;502;p17">
            <a:extLst>
              <a:ext uri="{FF2B5EF4-FFF2-40B4-BE49-F238E27FC236}">
                <a16:creationId xmlns:a16="http://schemas.microsoft.com/office/drawing/2014/main" id="{BB41B87C-BE5F-4BF2-531D-57DC21D1A451}"/>
              </a:ext>
            </a:extLst>
          </p:cNvPr>
          <p:cNvSpPr/>
          <p:nvPr/>
        </p:nvSpPr>
        <p:spPr>
          <a:xfrm>
            <a:off x="995362" y="3788078"/>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b="1" dirty="0"/>
              <a:t>4. The combination of true power and reactive power in an AC circuit gives rise to: (A)</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1026828" y="4530587"/>
            <a:ext cx="5069172" cy="1628473"/>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 Apparent power</a:t>
            </a:r>
          </a:p>
          <a:p>
            <a:r>
              <a:rPr lang="en-US" dirty="0"/>
              <a:t>B) Complex power</a:t>
            </a:r>
          </a:p>
          <a:p>
            <a:r>
              <a:rPr lang="en-US" dirty="0"/>
              <a:t>C) Active power</a:t>
            </a:r>
          </a:p>
          <a:p>
            <a:r>
              <a:rPr lang="en-US" dirty="0"/>
              <a:t>D) Reactive power</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2634598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IN" sz="1600" b="1" dirty="0"/>
              <a:t>5. In an RLC circuit, what does "R" represent?</a:t>
            </a:r>
            <a:endParaRPr sz="1600" b="1"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Arial" panose="020B0604020202020204" pitchFamily="34" charset="0"/>
              </a:rPr>
              <a:t>Resistor</a:t>
            </a:r>
          </a:p>
          <a:p>
            <a:pPr marL="342900" indent="-342900">
              <a:lnSpc>
                <a:spcPct val="150000"/>
              </a:lnSpc>
              <a:buAutoNum type="alphaLcParenBoth"/>
            </a:pPr>
            <a:r>
              <a:rPr lang="en-US" sz="1600" dirty="0">
                <a:latin typeface="Arial" panose="020B0604020202020204" pitchFamily="34" charset="0"/>
              </a:rPr>
              <a:t>Reactance</a:t>
            </a:r>
          </a:p>
          <a:p>
            <a:pPr marL="342900" indent="-342900">
              <a:lnSpc>
                <a:spcPct val="150000"/>
              </a:lnSpc>
              <a:buAutoNum type="alphaLcParenBoth"/>
            </a:pPr>
            <a:r>
              <a:rPr lang="en-US" sz="1600" dirty="0">
                <a:latin typeface="Arial" panose="020B0604020202020204" pitchFamily="34" charset="0"/>
              </a:rPr>
              <a:t>Resonance</a:t>
            </a:r>
          </a:p>
          <a:p>
            <a:pPr marL="342900" indent="-342900">
              <a:lnSpc>
                <a:spcPct val="150000"/>
              </a:lnSpc>
              <a:buAutoNum type="alphaLcParenBoth"/>
            </a:pPr>
            <a:r>
              <a:rPr lang="en-US" sz="1600" dirty="0"/>
              <a:t>Real power</a:t>
            </a:r>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593037"/>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IN" sz="1600" b="1" dirty="0"/>
              <a:t>6. In which of the following circuit,  current lags voltage?</a:t>
            </a:r>
            <a:endParaRPr lang="en-IN" sz="1600" b="1"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1026828" y="4530587"/>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t>RC</a:t>
            </a:r>
          </a:p>
          <a:p>
            <a:pPr marL="342900" indent="-342900">
              <a:lnSpc>
                <a:spcPct val="150000"/>
              </a:lnSpc>
              <a:buAutoNum type="alphaLcParenBoth"/>
            </a:pPr>
            <a:r>
              <a:rPr lang="en-US" dirty="0"/>
              <a:t>RL</a:t>
            </a:r>
          </a:p>
          <a:p>
            <a:pPr marL="342900" indent="-342900">
              <a:lnSpc>
                <a:spcPct val="150000"/>
              </a:lnSpc>
              <a:buAutoNum type="alphaLcParenBoth"/>
            </a:pPr>
            <a:r>
              <a:rPr lang="en-US" dirty="0"/>
              <a:t>Both</a:t>
            </a:r>
          </a:p>
          <a:p>
            <a:pPr marL="342900" indent="-342900">
              <a:lnSpc>
                <a:spcPct val="150000"/>
              </a:lnSpc>
              <a:buAutoNum type="alphaLcParenBoth"/>
            </a:pPr>
            <a:r>
              <a:rPr lang="en-US" sz="1600" dirty="0"/>
              <a:t>None</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IN" sz="1600" b="1" dirty="0"/>
              <a:t>7.  What is the Phase angle of Voltage across Resistor?</a:t>
            </a:r>
            <a:endParaRPr sz="1600" b="1"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mj-lt"/>
              </a:rPr>
              <a:t>90 degrees</a:t>
            </a:r>
          </a:p>
          <a:p>
            <a:pPr marL="342900" indent="-342900">
              <a:lnSpc>
                <a:spcPct val="150000"/>
              </a:lnSpc>
              <a:buAutoNum type="alphaLcParenBoth"/>
            </a:pPr>
            <a:r>
              <a:rPr lang="en-US" sz="1600" dirty="0">
                <a:latin typeface="+mj-lt"/>
              </a:rPr>
              <a:t>-90 degrees</a:t>
            </a:r>
          </a:p>
          <a:p>
            <a:pPr marL="342900" indent="-342900">
              <a:lnSpc>
                <a:spcPct val="150000"/>
              </a:lnSpc>
              <a:buAutoNum type="alphaLcParenBoth"/>
            </a:pPr>
            <a:r>
              <a:rPr lang="en-US" sz="1600" dirty="0">
                <a:latin typeface="+mj-lt"/>
              </a:rPr>
              <a:t>Zero degrees</a:t>
            </a:r>
          </a:p>
          <a:p>
            <a:pPr marL="342900" indent="-342900">
              <a:lnSpc>
                <a:spcPct val="150000"/>
              </a:lnSpc>
              <a:buAutoNum type="alphaLcParenBoth"/>
            </a:pPr>
            <a:r>
              <a:rPr lang="en-US" sz="1600" dirty="0">
                <a:latin typeface="+mj-lt"/>
              </a:rPr>
              <a:t>None</a:t>
            </a:r>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IN" sz="1600" b="1" dirty="0"/>
              <a:t>8. In which of the following circuit,  current leads voltage?</a:t>
            </a:r>
            <a:endParaRPr lang="en-IN" sz="1600" b="1"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1160021" y="4530587"/>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t>RC</a:t>
            </a:r>
          </a:p>
          <a:p>
            <a:pPr marL="342900" indent="-342900">
              <a:lnSpc>
                <a:spcPct val="150000"/>
              </a:lnSpc>
              <a:buAutoNum type="alphaLcParenBoth"/>
            </a:pPr>
            <a:r>
              <a:rPr lang="en-US" dirty="0"/>
              <a:t>RL</a:t>
            </a:r>
          </a:p>
          <a:p>
            <a:pPr marL="342900" indent="-342900">
              <a:lnSpc>
                <a:spcPct val="150000"/>
              </a:lnSpc>
              <a:buAutoNum type="alphaLcParenBoth"/>
            </a:pPr>
            <a:r>
              <a:rPr lang="en-US" dirty="0"/>
              <a:t>Both</a:t>
            </a:r>
          </a:p>
          <a:p>
            <a:pPr marL="342900" indent="-342900">
              <a:lnSpc>
                <a:spcPct val="150000"/>
              </a:lnSpc>
              <a:buAutoNum type="alphaLcParenBoth"/>
            </a:pPr>
            <a:r>
              <a:rPr lang="en-US" sz="1600" dirty="0"/>
              <a:t>None</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373702265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CB51D-BF45-26F0-FD85-D7F685727A7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B01E991-101F-3D9E-8DA2-CDE6206A6842}"/>
              </a:ext>
            </a:extLst>
          </p:cNvPr>
          <p:cNvSpPr>
            <a:spLocks noGrp="1"/>
          </p:cNvSpPr>
          <p:nvPr>
            <p:ph type="sldNum" sz="quarter" idx="12"/>
          </p:nvPr>
        </p:nvSpPr>
        <p:spPr/>
        <p:txBody>
          <a:bodyPr/>
          <a:lstStyle/>
          <a:p>
            <a:fld id="{CBABCCC1-BF11-4F37-963E-1BCD5B23FD72}" type="slidenum">
              <a:rPr lang="en-IN" smtClean="0"/>
              <a:t>20</a:t>
            </a:fld>
            <a:endParaRPr lang="en-IN"/>
          </a:p>
        </p:txBody>
      </p:sp>
      <p:sp>
        <p:nvSpPr>
          <p:cNvPr id="4" name="Rounded Rectangle 17">
            <a:extLst>
              <a:ext uri="{FF2B5EF4-FFF2-40B4-BE49-F238E27FC236}">
                <a16:creationId xmlns:a16="http://schemas.microsoft.com/office/drawing/2014/main" id="{045E056E-10BD-0B9E-4ACE-A3F54C31FD9F}"/>
              </a:ext>
            </a:extLst>
          </p:cNvPr>
          <p:cNvSpPr/>
          <p:nvPr/>
        </p:nvSpPr>
        <p:spPr>
          <a:xfrm>
            <a:off x="2802808" y="253098"/>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498877" y="879995"/>
            <a:ext cx="11338560" cy="2677656"/>
          </a:xfrm>
          <a:prstGeom prst="rect">
            <a:avLst/>
          </a:prstGeom>
          <a:noFill/>
        </p:spPr>
        <p:txBody>
          <a:bodyPr wrap="square" rtlCol="0">
            <a:spAutoFit/>
          </a:bodyPr>
          <a:lstStyle/>
          <a:p>
            <a:pPr algn="just">
              <a:buFont typeface="+mj-lt"/>
              <a:buAutoNum type="arabicPeriod"/>
            </a:pPr>
            <a:r>
              <a:rPr lang="en-US" sz="2800" b="0" i="0" dirty="0">
                <a:effectLst/>
                <a:latin typeface="Söhne"/>
              </a:rPr>
              <a:t>Define true power, apparent power, reactive power, power factor.</a:t>
            </a:r>
          </a:p>
          <a:p>
            <a:pPr algn="just">
              <a:buFont typeface="+mj-lt"/>
              <a:buAutoNum type="arabicPeriod"/>
            </a:pPr>
            <a:r>
              <a:rPr lang="en-US" sz="2800" b="0" i="0" dirty="0">
                <a:effectLst/>
                <a:latin typeface="Söhne"/>
              </a:rPr>
              <a:t>Differentiate between apparent power and reactive power, emphasizing their individual contributions in AC circuits.</a:t>
            </a:r>
          </a:p>
          <a:p>
            <a:pPr marL="342900" indent="-342900" algn="just">
              <a:buAutoNum type="arabicPeriod"/>
            </a:pPr>
            <a:r>
              <a:rPr lang="en-IN" sz="2800" dirty="0">
                <a:latin typeface="Söhne"/>
              </a:rPr>
              <a:t>Describe the relation between voltage and current of RL Series circuit.</a:t>
            </a:r>
          </a:p>
          <a:p>
            <a:pPr marL="342900" indent="-342900" algn="just">
              <a:buAutoNum type="arabicPeriod"/>
            </a:pPr>
            <a:r>
              <a:rPr lang="en-IN" sz="2800" dirty="0">
                <a:latin typeface="Söhne"/>
              </a:rPr>
              <a:t>Describe the relation between voltage and current of RC Series circuit.</a:t>
            </a:r>
          </a:p>
          <a:p>
            <a:pPr marL="342900" indent="-342900" algn="just">
              <a:buFontTx/>
              <a:buAutoNum type="arabicPeriod"/>
            </a:pPr>
            <a:r>
              <a:rPr lang="en-IN" sz="2800" dirty="0">
                <a:latin typeface="Söhne"/>
              </a:rPr>
              <a:t>Describe the relation between voltage and current of RLC Series circuit.</a:t>
            </a:r>
          </a:p>
        </p:txBody>
      </p:sp>
    </p:spTree>
    <p:extLst>
      <p:ext uri="{BB962C8B-B14F-4D97-AF65-F5344CB8AC3E}">
        <p14:creationId xmlns:p14="http://schemas.microsoft.com/office/powerpoint/2010/main" val="2447975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24128" y="1172223"/>
            <a:ext cx="794374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9789" y="2156663"/>
            <a:ext cx="9608234" cy="4198522"/>
          </a:xfrm>
          <a:prstGeom prst="rect">
            <a:avLst/>
          </a:prstGeom>
          <a:noFill/>
        </p:spPr>
        <p:txBody>
          <a:bodyPr wrap="square" rtlCol="0">
            <a:spAutoFit/>
          </a:bodyPr>
          <a:lstStyle/>
          <a:p>
            <a:pPr>
              <a:lnSpc>
                <a:spcPct val="150000"/>
              </a:lnSpc>
            </a:pPr>
            <a:r>
              <a:rPr lang="en-US" b="1" dirty="0"/>
              <a:t>Reference Books:</a:t>
            </a:r>
            <a:endParaRPr lang="en-US" dirty="0"/>
          </a:p>
          <a:p>
            <a:pPr>
              <a:lnSpc>
                <a:spcPct val="150000"/>
              </a:lnSpc>
            </a:pPr>
            <a:r>
              <a:rPr lang="en-US" dirty="0"/>
              <a:t>1.  Analysis and Synthesis A Sudhakar, Shyam Mohan S </a:t>
            </a:r>
            <a:r>
              <a:rPr lang="en-US" dirty="0" err="1"/>
              <a:t>PallI</a:t>
            </a:r>
            <a:r>
              <a:rPr lang="en-US" dirty="0"/>
              <a:t>, ed, TMH</a:t>
            </a:r>
          </a:p>
          <a:p>
            <a:pPr>
              <a:lnSpc>
                <a:spcPct val="150000"/>
              </a:lnSpc>
            </a:pPr>
            <a:endParaRPr lang="en-US" dirty="0"/>
          </a:p>
          <a:p>
            <a:pPr>
              <a:lnSpc>
                <a:spcPct val="150000"/>
              </a:lnSpc>
            </a:pPr>
            <a:r>
              <a:rPr lang="en-US" b="1" dirty="0"/>
              <a:t>Sites and Web links:</a:t>
            </a:r>
          </a:p>
          <a:p>
            <a:pPr marL="342900" indent="-342900">
              <a:lnSpc>
                <a:spcPct val="150000"/>
              </a:lnSpc>
              <a:buAutoNum type="arabicPeriod"/>
            </a:pPr>
            <a:r>
              <a:rPr lang="en-US" dirty="0">
                <a:hlinkClick r:id="rId2"/>
              </a:rPr>
              <a:t>https://control.com/technical-articles/active-power-reactive-power-apparent-power-and-the-role-of-power-factor/</a:t>
            </a:r>
            <a:endParaRPr lang="en-US" dirty="0"/>
          </a:p>
          <a:p>
            <a:pPr marL="342900" indent="-342900">
              <a:lnSpc>
                <a:spcPct val="150000"/>
              </a:lnSpc>
              <a:buAutoNum type="arabicPeriod"/>
            </a:pPr>
            <a:r>
              <a:rPr lang="en-US" dirty="0">
                <a:hlinkClick r:id="rId3"/>
              </a:rPr>
              <a:t>https://www.electronics-tutorials.ws/accircuits/series-circuit.html</a:t>
            </a:r>
            <a:endParaRPr lang="en-US" dirty="0"/>
          </a:p>
          <a:p>
            <a:pPr marL="342900" indent="-342900">
              <a:lnSpc>
                <a:spcPct val="150000"/>
              </a:lnSpc>
              <a:buAutoNum type="arabicPeriod"/>
            </a:pPr>
            <a:r>
              <a:rPr lang="en-US" dirty="0"/>
              <a:t>https://www.electrical4u.com/rlc-circuit/</a:t>
            </a:r>
          </a:p>
          <a:p>
            <a:pPr>
              <a:lnSpc>
                <a:spcPct val="150000"/>
              </a:lnSpc>
            </a:pPr>
            <a:endParaRPr lang="en-US" dirty="0"/>
          </a:p>
          <a:p>
            <a:pPr>
              <a:lnSpc>
                <a:spcPct val="150000"/>
              </a:lnSpc>
            </a:pPr>
            <a:endParaRPr lang="en-US" dirty="0"/>
          </a:p>
        </p:txBody>
      </p:sp>
      <p:pic>
        <p:nvPicPr>
          <p:cNvPr id="5" name="Picture 2" descr="KL Deemed to be University Logo"/>
          <p:cNvPicPr>
            <a:picLocks noChangeAspect="1" noChangeArrowheads="1"/>
          </p:cNvPicPr>
          <p:nvPr/>
        </p:nvPicPr>
        <p:blipFill>
          <a:blip r:embed="rId4"/>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377342044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6F267B9-90E6-4D91-2F94-99937051E1E4}"/>
              </a:ext>
            </a:extLst>
          </p:cNvPr>
          <p:cNvGrpSpPr/>
          <p:nvPr/>
        </p:nvGrpSpPr>
        <p:grpSpPr>
          <a:xfrm>
            <a:off x="1473958" y="2332796"/>
            <a:ext cx="9689911" cy="2883877"/>
            <a:chOff x="2247960" y="2332796"/>
            <a:chExt cx="7920111" cy="2883877"/>
          </a:xfrm>
        </p:grpSpPr>
        <p:sp>
          <p:nvSpPr>
            <p:cNvPr id="4" name="Rounded Rectangle 3">
              <a:extLst>
                <a:ext uri="{FF2B5EF4-FFF2-40B4-BE49-F238E27FC236}">
                  <a16:creationId xmlns:a16="http://schemas.microsoft.com/office/drawing/2014/main" id="{E792BE84-3448-2348-B352-CD5BC083E5FD}"/>
                </a:ext>
              </a:extLst>
            </p:cNvPr>
            <p:cNvSpPr/>
            <p:nvPr/>
          </p:nvSpPr>
          <p:spPr>
            <a:xfrm>
              <a:off x="2247960" y="233279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a:t>
              </a:r>
              <a:r>
                <a:rPr lang="en-IN" sz="2400" b="1" dirty="0">
                  <a:latin typeface="Poppins" pitchFamily="2" charset="77"/>
                  <a:cs typeface="Poppins" pitchFamily="2" charset="77"/>
                </a:rPr>
                <a:t>BASIC ELECTRICAL &amp; ELCTRONIC CIRCUITS (BEC)</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131980" y="3092166"/>
              <a:ext cx="3235570" cy="1083212"/>
            </a:xfrm>
            <a:prstGeom prst="rect">
              <a:avLst/>
            </a:prstGeom>
            <a:noFill/>
          </p:spPr>
        </p:pic>
      </p:gr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CoE PPT Template</Template>
  <TotalTime>1719</TotalTime>
  <Words>2348</Words>
  <Application>Microsoft Office PowerPoint</Application>
  <PresentationFormat>Widescreen</PresentationFormat>
  <Paragraphs>254</Paragraphs>
  <Slides>22</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22</vt:i4>
      </vt:variant>
    </vt:vector>
  </HeadingPairs>
  <TitlesOfParts>
    <vt:vector size="34" baseType="lpstr">
      <vt:lpstr>Abadi</vt:lpstr>
      <vt:lpstr>Arial</vt:lpstr>
      <vt:lpstr>BioRhyme ExtraBold</vt:lpstr>
      <vt:lpstr>Calibri</vt:lpstr>
      <vt:lpstr>Cambria Math</vt:lpstr>
      <vt:lpstr>Gill Sans MT</vt:lpstr>
      <vt:lpstr>Poppins</vt:lpstr>
      <vt:lpstr>Söhne</vt:lpstr>
      <vt:lpstr>Symbol</vt:lpstr>
      <vt:lpstr>Times New Roman</vt:lpstr>
      <vt:lpstr>Verdana</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Tammineni Sreelatha</dc:creator>
  <cp:lastModifiedBy>Dr Ganesh Babu R</cp:lastModifiedBy>
  <cp:revision>175</cp:revision>
  <dcterms:created xsi:type="dcterms:W3CDTF">2023-05-11T04:21:37Z</dcterms:created>
  <dcterms:modified xsi:type="dcterms:W3CDTF">2025-02-13T12:59:18Z</dcterms:modified>
</cp:coreProperties>
</file>