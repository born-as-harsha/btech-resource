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71" r:id="rId2"/>
    <p:sldId id="300" r:id="rId3"/>
    <p:sldId id="258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290" r:id="rId20"/>
    <p:sldId id="321" r:id="rId21"/>
    <p:sldId id="287" r:id="rId22"/>
    <p:sldId id="301" r:id="rId23"/>
    <p:sldId id="322" r:id="rId24"/>
    <p:sldId id="302" r:id="rId25"/>
    <p:sldId id="303" r:id="rId26"/>
    <p:sldId id="30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3E2E8-D10D-081B-9985-6A3D1F451708}" v="2" dt="2025-03-13T03:26:46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nesh Babu R" userId="S::rganeshbabu@kluniversity.in::7aa6549d-3dc2-45ab-94c6-c91077cea333" providerId="AD" clId="Web-{E8A3E2E8-D10D-081B-9985-6A3D1F451708}"/>
    <pc:docChg chg="modSld">
      <pc:chgData name="Dr Ganesh Babu R" userId="S::rganeshbabu@kluniversity.in::7aa6549d-3dc2-45ab-94c6-c91077cea333" providerId="AD" clId="Web-{E8A3E2E8-D10D-081B-9985-6A3D1F451708}" dt="2025-03-13T03:26:46.958" v="1" actId="14100"/>
      <pc:docMkLst>
        <pc:docMk/>
      </pc:docMkLst>
      <pc:sldChg chg="modSp">
        <pc:chgData name="Dr Ganesh Babu R" userId="S::rganeshbabu@kluniversity.in::7aa6549d-3dc2-45ab-94c6-c91077cea333" providerId="AD" clId="Web-{E8A3E2E8-D10D-081B-9985-6A3D1F451708}" dt="2025-03-13T03:26:46.958" v="1" actId="14100"/>
        <pc:sldMkLst>
          <pc:docMk/>
          <pc:sldMk cId="4070965223" sldId="309"/>
        </pc:sldMkLst>
        <pc:picChg chg="mod">
          <ac:chgData name="Dr Ganesh Babu R" userId="S::rganeshbabu@kluniversity.in::7aa6549d-3dc2-45ab-94c6-c91077cea333" providerId="AD" clId="Web-{E8A3E2E8-D10D-081B-9985-6A3D1F451708}" dt="2025-03-13T03:26:46.958" v="1" actId="14100"/>
          <ac:picMkLst>
            <pc:docMk/>
            <pc:sldMk cId="4070965223" sldId="309"/>
            <ac:picMk id="14" creationId="{6F5212CC-8086-19E9-B138-4F68A3DDF19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Basic Electrical and Electronic Circuits 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CLIPPERS AND CLAMPERS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No.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752599" y="684469"/>
            <a:ext cx="9426389" cy="87402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aim of a session on clippers and clampers typically involves understanding and working with electronic circuits that are used to shape or modify waveforms in electronic systems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804210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426388" cy="16927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dirty="0"/>
              <a:t>The primary objective of studying clippers is to learn how to selectively clip or limit certain portions of a waveform.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/>
              <a:t>The primary objective of studying clampers is to understand how to shift the DC level or bias of a waveform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84469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60584" y="4256454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786707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599" y="4647152"/>
            <a:ext cx="9426388" cy="16927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dirty="0"/>
              <a:t>Student will be capable of analyzing the impact of clipping on the shape and characteristics of a waveform.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dirty="0"/>
              <a:t>Student will acquire a deep understanding of how clampers shift the DC level or bias of a waveform.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944525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779BA9-5924-4DC3-AE21-A1371F49D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475" y="3971722"/>
            <a:ext cx="2057578" cy="1310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32EB7-31E0-4964-55BD-2FE534917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57" y="3307386"/>
            <a:ext cx="2042337" cy="1257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DBC698-CA2C-F84D-33B7-2DC2214CFB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475" y="2660968"/>
            <a:ext cx="2042337" cy="1310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6D87C3-DF32-2882-7C55-674226D9D3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35" y="3802045"/>
            <a:ext cx="1551260" cy="14708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1407D8-CF4B-516B-0931-37640B1E8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30" y="3307385"/>
            <a:ext cx="1716603" cy="12574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46C75E-2572-9404-DBDC-A464A1DE1D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35" y="2566905"/>
            <a:ext cx="1551260" cy="12351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590375-43AA-147D-2889-BD91DA436CCC}"/>
              </a:ext>
            </a:extLst>
          </p:cNvPr>
          <p:cNvSpPr txBox="1"/>
          <p:nvPr/>
        </p:nvSpPr>
        <p:spPr>
          <a:xfrm>
            <a:off x="6940838" y="4627099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waveform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FF608-9F5B-1752-14EF-542FC40F20AC}"/>
              </a:ext>
            </a:extLst>
          </p:cNvPr>
          <p:cNvSpPr txBox="1"/>
          <p:nvPr/>
        </p:nvSpPr>
        <p:spPr>
          <a:xfrm>
            <a:off x="9124667" y="2207134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1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C7C78-18DD-02D2-8EC9-88C6CC0DAA6E}"/>
              </a:ext>
            </a:extLst>
          </p:cNvPr>
          <p:cNvSpPr txBox="1"/>
          <p:nvPr/>
        </p:nvSpPr>
        <p:spPr>
          <a:xfrm>
            <a:off x="8990256" y="5372951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2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BAC886-925D-1799-5DF6-A420F5C07A03}"/>
              </a:ext>
            </a:extLst>
          </p:cNvPr>
          <p:cNvSpPr txBox="1"/>
          <p:nvPr/>
        </p:nvSpPr>
        <p:spPr>
          <a:xfrm>
            <a:off x="1128230" y="4547041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waveform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F43D2F-8B54-17E6-B98A-15EC8AE1FC39}"/>
              </a:ext>
            </a:extLst>
          </p:cNvPr>
          <p:cNvSpPr txBox="1"/>
          <p:nvPr/>
        </p:nvSpPr>
        <p:spPr>
          <a:xfrm>
            <a:off x="2844833" y="2118065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1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B2CEC4-E39F-E60B-3AD9-64BCAC5E9C4B}"/>
              </a:ext>
            </a:extLst>
          </p:cNvPr>
          <p:cNvSpPr txBox="1"/>
          <p:nvPr/>
        </p:nvSpPr>
        <p:spPr>
          <a:xfrm>
            <a:off x="2747078" y="5394842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2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FAFE87-6FB3-F388-1B9E-252D477510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88" y="3152612"/>
            <a:ext cx="1053998" cy="142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DAA2D-E3C0-810E-FD4F-E2FD81D5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36855A8A-0E53-061C-745B-D4F4D5E47632}"/>
              </a:ext>
            </a:extLst>
          </p:cNvPr>
          <p:cNvSpPr/>
          <p:nvPr/>
        </p:nvSpPr>
        <p:spPr>
          <a:xfrm>
            <a:off x="3433350" y="1017570"/>
            <a:ext cx="4617103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+mj-lt"/>
              </a:rPr>
              <a:t>Wave Shaping Circuits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B823FDE-7CAD-B706-C202-7CA24DBB2BBB}"/>
              </a:ext>
            </a:extLst>
          </p:cNvPr>
          <p:cNvGrpSpPr/>
          <p:nvPr/>
        </p:nvGrpSpPr>
        <p:grpSpPr>
          <a:xfrm>
            <a:off x="2251800" y="2631142"/>
            <a:ext cx="7501799" cy="2333780"/>
            <a:chOff x="1726514" y="2180141"/>
            <a:chExt cx="8546168" cy="28303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5D2C74-43E6-B9F8-6715-351B8E2B8460}"/>
                </a:ext>
              </a:extLst>
            </p:cNvPr>
            <p:cNvSpPr txBox="1"/>
            <p:nvPr/>
          </p:nvSpPr>
          <p:spPr>
            <a:xfrm>
              <a:off x="4375365" y="2180141"/>
              <a:ext cx="2925412" cy="485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Wave Shaping Circuits</a:t>
              </a:r>
              <a:endParaRPr lang="en-US" sz="2000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FDE922-C9F0-994D-E72A-CFF5E589A22E}"/>
                </a:ext>
              </a:extLst>
            </p:cNvPr>
            <p:cNvSpPr txBox="1"/>
            <p:nvPr/>
          </p:nvSpPr>
          <p:spPr>
            <a:xfrm>
              <a:off x="1726514" y="3429001"/>
              <a:ext cx="2638266" cy="440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cs typeface="Times New Roman" panose="02020603050405020304" pitchFamily="18" charset="0"/>
                </a:rPr>
                <a:t>Linear Wave Shaping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8F2A53-9405-5275-7762-37EBE29C47B0}"/>
                </a:ext>
              </a:extLst>
            </p:cNvPr>
            <p:cNvSpPr txBox="1"/>
            <p:nvPr/>
          </p:nvSpPr>
          <p:spPr>
            <a:xfrm>
              <a:off x="6628004" y="3404901"/>
              <a:ext cx="3320384" cy="485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cs typeface="Times New Roman" panose="02020603050405020304" pitchFamily="18" charset="0"/>
                </a:rPr>
                <a:t>Non-Linear Wave Shaping</a:t>
              </a:r>
              <a:endParaRPr lang="en-US" sz="2000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BCD6E0D-5334-C73D-3DBD-451B5295BF83}"/>
                </a:ext>
              </a:extLst>
            </p:cNvPr>
            <p:cNvCxnSpPr>
              <a:cxnSpLocks/>
            </p:cNvCxnSpPr>
            <p:nvPr/>
          </p:nvCxnSpPr>
          <p:spPr>
            <a:xfrm>
              <a:off x="5561204" y="2550064"/>
              <a:ext cx="0" cy="6093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F284C1-71ED-3C2F-6B5F-B3DCC7F7D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2935" y="3159398"/>
              <a:ext cx="263826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8C75D06-A2C3-B746-4B5C-1997898F9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1204" y="3159398"/>
              <a:ext cx="263826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0DCD76-94EE-A6B0-9793-A7D45FCBA0A7}"/>
                </a:ext>
              </a:extLst>
            </p:cNvPr>
            <p:cNvCxnSpPr>
              <a:cxnSpLocks/>
            </p:cNvCxnSpPr>
            <p:nvPr/>
          </p:nvCxnSpPr>
          <p:spPr>
            <a:xfrm>
              <a:off x="2922935" y="3159398"/>
              <a:ext cx="0" cy="245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5E595C-A2C0-9955-78DD-7D2C943D48D9}"/>
                </a:ext>
              </a:extLst>
            </p:cNvPr>
            <p:cNvCxnSpPr>
              <a:cxnSpLocks/>
            </p:cNvCxnSpPr>
            <p:nvPr/>
          </p:nvCxnSpPr>
          <p:spPr>
            <a:xfrm>
              <a:off x="8199473" y="3159398"/>
              <a:ext cx="0" cy="245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A7D3BC-794D-C5B9-57D6-7B42C9BFA9AF}"/>
                </a:ext>
              </a:extLst>
            </p:cNvPr>
            <p:cNvSpPr txBox="1"/>
            <p:nvPr/>
          </p:nvSpPr>
          <p:spPr>
            <a:xfrm>
              <a:off x="6771438" y="4525214"/>
              <a:ext cx="1189655" cy="485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Clipper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3960A76-800C-CC2C-D985-01139374CB0B}"/>
                </a:ext>
              </a:extLst>
            </p:cNvPr>
            <p:cNvSpPr txBox="1"/>
            <p:nvPr/>
          </p:nvSpPr>
          <p:spPr>
            <a:xfrm>
              <a:off x="9003212" y="4525214"/>
              <a:ext cx="1269470" cy="485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Clamper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153D61-8491-CF07-194E-C4247DAB328A}"/>
                </a:ext>
              </a:extLst>
            </p:cNvPr>
            <p:cNvCxnSpPr>
              <a:cxnSpLocks/>
            </p:cNvCxnSpPr>
            <p:nvPr/>
          </p:nvCxnSpPr>
          <p:spPr>
            <a:xfrm>
              <a:off x="8199473" y="3792554"/>
              <a:ext cx="0" cy="4387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6D3AC3-6624-2D3B-92D3-2DB5F1784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71765" y="4231341"/>
              <a:ext cx="102770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2438E8-2DCE-5010-DC87-45D6EC352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7367" y="4231341"/>
              <a:ext cx="14193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24FEA5F-9F4E-ADA4-5C76-751B159ED9FF}"/>
                </a:ext>
              </a:extLst>
            </p:cNvPr>
            <p:cNvCxnSpPr>
              <a:cxnSpLocks/>
            </p:cNvCxnSpPr>
            <p:nvPr/>
          </p:nvCxnSpPr>
          <p:spPr>
            <a:xfrm>
              <a:off x="7163241" y="4231341"/>
              <a:ext cx="0" cy="245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FF1AC8-95F3-51E3-A361-D3449648B548}"/>
                </a:ext>
              </a:extLst>
            </p:cNvPr>
            <p:cNvCxnSpPr>
              <a:cxnSpLocks/>
            </p:cNvCxnSpPr>
            <p:nvPr/>
          </p:nvCxnSpPr>
          <p:spPr>
            <a:xfrm>
              <a:off x="9466729" y="4231341"/>
              <a:ext cx="0" cy="245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4D78107-C628-32C4-4198-B287FEF208AF}"/>
              </a:ext>
            </a:extLst>
          </p:cNvPr>
          <p:cNvSpPr txBox="1"/>
          <p:nvPr/>
        </p:nvSpPr>
        <p:spPr>
          <a:xfrm>
            <a:off x="1461247" y="2076335"/>
            <a:ext cx="9646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</a:rPr>
              <a:t>Wave shaping circuit : </a:t>
            </a:r>
            <a:r>
              <a:rPr lang="en-US" sz="1800" dirty="0">
                <a:effectLst/>
                <a:ea typeface="Calibri" panose="020F0502020204030204" pitchFamily="34" charset="0"/>
              </a:rPr>
              <a:t>It is a process of changing the shape of a waveform</a:t>
            </a:r>
            <a:br>
              <a:rPr lang="en-US" dirty="0">
                <a:ea typeface="Calibri" panose="020F0502020204030204" pitchFamily="34" charset="0"/>
              </a:rPr>
            </a:br>
            <a:r>
              <a:rPr lang="en-US" dirty="0">
                <a:ea typeface="Calibri" panose="020F0502020204030204" pitchFamily="34" charset="0"/>
              </a:rPr>
              <a:t> 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265DA-5EAD-FF3A-2AC1-C9B81E730C93}"/>
              </a:ext>
            </a:extLst>
          </p:cNvPr>
          <p:cNvSpPr txBox="1"/>
          <p:nvPr/>
        </p:nvSpPr>
        <p:spPr>
          <a:xfrm>
            <a:off x="1281953" y="5043638"/>
            <a:ext cx="9888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</a:rPr>
              <a:t>Non-linear wave shaping circuits </a:t>
            </a:r>
            <a:r>
              <a:rPr lang="en-US" b="0" i="0" dirty="0">
                <a:solidFill>
                  <a:srgbClr val="374151"/>
                </a:solidFill>
                <a:effectLst/>
              </a:rPr>
              <a:t>utilize </a:t>
            </a:r>
            <a:r>
              <a:rPr lang="en-US" b="0" i="0" dirty="0">
                <a:effectLst/>
              </a:rPr>
              <a:t>diodes</a:t>
            </a:r>
            <a:r>
              <a:rPr lang="en-US" b="0" i="0" dirty="0">
                <a:solidFill>
                  <a:srgbClr val="374151"/>
                </a:solidFill>
                <a:effectLst/>
              </a:rPr>
              <a:t> alongside resistors to modify waveforms, achieving either waveform attenuation or DC level alteration for desired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30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C1A9-4728-389C-83F5-36AEA94F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Nonlinear wave shaping circuit which can </a:t>
            </a:r>
            <a:r>
              <a:rPr lang="en-US" sz="1800" kern="1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cut or trim</a:t>
            </a:r>
            <a:r>
              <a:rPr lang="en-US" sz="1800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 unwanted portion of the waveform.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800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clipper circuit prevents the output waveform from exceeding a certain level and at the same time it </a:t>
            </a:r>
            <a:r>
              <a:rPr lang="en-US" sz="1800" kern="100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does not distort </a:t>
            </a:r>
            <a:r>
              <a:rPr lang="en-US" sz="1800" kern="100" dirty="0">
                <a:solidFill>
                  <a:srgbClr val="30303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remaining part of the waveform.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F9BFD-356E-5FA5-A532-D46E8F3D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3879E210-4E32-06AD-A04F-D139E99678AC}"/>
              </a:ext>
            </a:extLst>
          </p:cNvPr>
          <p:cNvSpPr/>
          <p:nvPr/>
        </p:nvSpPr>
        <p:spPr>
          <a:xfrm>
            <a:off x="3603679" y="1125300"/>
            <a:ext cx="4617103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+mj-lt"/>
              </a:rPr>
              <a:t>Clippers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F7808-40E4-A2F9-3714-14D2875FB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041" y="3489119"/>
            <a:ext cx="1551260" cy="1235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563276-BF46-8029-0A57-BEC87AB5F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04" y="3489119"/>
            <a:ext cx="1716603" cy="1257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EAED3D-F723-3AE2-B7C4-FDE5B8385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955" y="3489119"/>
            <a:ext cx="1551260" cy="1235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E3B76A-275F-0C4D-3DAD-AC851D826A9B}"/>
              </a:ext>
            </a:extLst>
          </p:cNvPr>
          <p:cNvSpPr txBox="1"/>
          <p:nvPr/>
        </p:nvSpPr>
        <p:spPr>
          <a:xfrm>
            <a:off x="2126736" y="4847981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waveform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EF110-1152-9B53-D87D-3687ECA89E8D}"/>
              </a:ext>
            </a:extLst>
          </p:cNvPr>
          <p:cNvSpPr txBox="1"/>
          <p:nvPr/>
        </p:nvSpPr>
        <p:spPr>
          <a:xfrm>
            <a:off x="6971956" y="4847981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1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070F8-1071-022C-B3D9-994C25E3E15B}"/>
              </a:ext>
            </a:extLst>
          </p:cNvPr>
          <p:cNvSpPr txBox="1"/>
          <p:nvPr/>
        </p:nvSpPr>
        <p:spPr>
          <a:xfrm>
            <a:off x="9111404" y="4847981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O/P waveform 2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280EE5-31ED-AF32-715E-220E2C552591}"/>
              </a:ext>
            </a:extLst>
          </p:cNvPr>
          <p:cNvSpPr/>
          <p:nvPr/>
        </p:nvSpPr>
        <p:spPr>
          <a:xfrm>
            <a:off x="4655832" y="3532183"/>
            <a:ext cx="1583969" cy="12351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Clipper circuit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C318AF4-E894-02A7-BB6F-C1BD5A0EFA3D}"/>
              </a:ext>
            </a:extLst>
          </p:cNvPr>
          <p:cNvSpPr/>
          <p:nvPr/>
        </p:nvSpPr>
        <p:spPr>
          <a:xfrm>
            <a:off x="4061012" y="4069976"/>
            <a:ext cx="457484" cy="24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BC7AED7-E4AD-2AFA-FC1C-1933BE2F273A}"/>
              </a:ext>
            </a:extLst>
          </p:cNvPr>
          <p:cNvSpPr/>
          <p:nvPr/>
        </p:nvSpPr>
        <p:spPr>
          <a:xfrm>
            <a:off x="6377136" y="4039863"/>
            <a:ext cx="457484" cy="242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81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FD2EF-999C-3C64-99EF-825099DA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339B78-BE67-33EE-9F47-95EAFD24C076}"/>
              </a:ext>
            </a:extLst>
          </p:cNvPr>
          <p:cNvCxnSpPr>
            <a:cxnSpLocks/>
          </p:cNvCxnSpPr>
          <p:nvPr/>
        </p:nvCxnSpPr>
        <p:spPr>
          <a:xfrm>
            <a:off x="5008499" y="3990688"/>
            <a:ext cx="0" cy="200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49EE6CA-C3B9-0D30-6E74-AD7D0C72FB26}"/>
              </a:ext>
            </a:extLst>
          </p:cNvPr>
          <p:cNvCxnSpPr>
            <a:cxnSpLocks/>
          </p:cNvCxnSpPr>
          <p:nvPr/>
        </p:nvCxnSpPr>
        <p:spPr>
          <a:xfrm>
            <a:off x="9789390" y="3957581"/>
            <a:ext cx="0" cy="1445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2D6EC4-2F1F-0B46-C8A2-D885EC4FE3FF}"/>
              </a:ext>
            </a:extLst>
          </p:cNvPr>
          <p:cNvGrpSpPr/>
          <p:nvPr/>
        </p:nvGrpSpPr>
        <p:grpSpPr>
          <a:xfrm>
            <a:off x="1075766" y="2083254"/>
            <a:ext cx="9895398" cy="2818523"/>
            <a:chOff x="654429" y="2083254"/>
            <a:chExt cx="11752005" cy="28185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033A25-A34E-9E14-B66D-C3DA1607B856}"/>
                </a:ext>
              </a:extLst>
            </p:cNvPr>
            <p:cNvSpPr txBox="1"/>
            <p:nvPr/>
          </p:nvSpPr>
          <p:spPr>
            <a:xfrm>
              <a:off x="4846540" y="2083254"/>
              <a:ext cx="2301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j-lt"/>
                  <a:cs typeface="Times New Roman" panose="02020603050405020304" pitchFamily="18" charset="0"/>
                </a:rPr>
                <a:t>Clipper Circuits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014C1C-0C81-1A4A-3189-7B2E2FFDFD8E}"/>
                </a:ext>
              </a:extLst>
            </p:cNvPr>
            <p:cNvSpPr txBox="1"/>
            <p:nvPr/>
          </p:nvSpPr>
          <p:spPr>
            <a:xfrm>
              <a:off x="1452779" y="3361765"/>
              <a:ext cx="30131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cs typeface="Times New Roman" panose="02020603050405020304" pitchFamily="18" charset="0"/>
                </a:rPr>
                <a:t>Series Clipper circuits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74746F-C5C9-36CE-9687-CE0C6EDD614C}"/>
                </a:ext>
              </a:extLst>
            </p:cNvPr>
            <p:cNvSpPr txBox="1"/>
            <p:nvPr/>
          </p:nvSpPr>
          <p:spPr>
            <a:xfrm>
              <a:off x="7562811" y="3347942"/>
              <a:ext cx="30131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cs typeface="Times New Roman" panose="02020603050405020304" pitchFamily="18" charset="0"/>
                </a:rPr>
                <a:t>Shunt Clipper circuits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F8E222-7179-603B-3F17-E04F1AF3C595}"/>
                </a:ext>
              </a:extLst>
            </p:cNvPr>
            <p:cNvCxnSpPr>
              <a:cxnSpLocks/>
            </p:cNvCxnSpPr>
            <p:nvPr/>
          </p:nvCxnSpPr>
          <p:spPr>
            <a:xfrm>
              <a:off x="5814566" y="2586545"/>
              <a:ext cx="0" cy="5024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0041093-7B95-17EF-AC66-1FCAB8CFA5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3224" y="3088982"/>
              <a:ext cx="31077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F7CF007-6FB3-224F-F2D4-8BF67CC63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90985" y="3088982"/>
              <a:ext cx="32571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0BB911-964E-2A6C-D738-DE59AFAB64C5}"/>
                </a:ext>
              </a:extLst>
            </p:cNvPr>
            <p:cNvCxnSpPr>
              <a:cxnSpLocks/>
            </p:cNvCxnSpPr>
            <p:nvPr/>
          </p:nvCxnSpPr>
          <p:spPr>
            <a:xfrm>
              <a:off x="2501154" y="3088982"/>
              <a:ext cx="0" cy="2126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65796C7-5C85-3516-CB1C-1C218A4287CA}"/>
                </a:ext>
              </a:extLst>
            </p:cNvPr>
            <p:cNvCxnSpPr>
              <a:cxnSpLocks/>
            </p:cNvCxnSpPr>
            <p:nvPr/>
          </p:nvCxnSpPr>
          <p:spPr>
            <a:xfrm>
              <a:off x="8848165" y="3099183"/>
              <a:ext cx="0" cy="2024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8E14F2-F996-07EA-64FF-00CDB1EDF290}"/>
                </a:ext>
              </a:extLst>
            </p:cNvPr>
            <p:cNvSpPr txBox="1"/>
            <p:nvPr/>
          </p:nvSpPr>
          <p:spPr>
            <a:xfrm>
              <a:off x="654429" y="4208239"/>
              <a:ext cx="10966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Positive</a:t>
              </a:r>
              <a:r>
                <a:rPr lang="en-US" sz="2000" dirty="0"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AF3CAD-5DEF-0A88-A357-894966B53023}"/>
                </a:ext>
              </a:extLst>
            </p:cNvPr>
            <p:cNvSpPr txBox="1"/>
            <p:nvPr/>
          </p:nvSpPr>
          <p:spPr>
            <a:xfrm>
              <a:off x="1891802" y="4241346"/>
              <a:ext cx="1328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Negative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A06E57-4AD2-822D-5607-954F748BA3B1}"/>
                </a:ext>
              </a:extLst>
            </p:cNvPr>
            <p:cNvSpPr txBox="1"/>
            <p:nvPr/>
          </p:nvSpPr>
          <p:spPr>
            <a:xfrm>
              <a:off x="3188630" y="4204273"/>
              <a:ext cx="12453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Positive biased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AF76A2-EF64-2DF9-1ECD-D54E4259B500}"/>
                </a:ext>
              </a:extLst>
            </p:cNvPr>
            <p:cNvSpPr txBox="1"/>
            <p:nvPr/>
          </p:nvSpPr>
          <p:spPr>
            <a:xfrm>
              <a:off x="4700712" y="4255446"/>
              <a:ext cx="12963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Negative biased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33AFB1-FADC-DFB6-3983-EDFB64081E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871" y="4001875"/>
              <a:ext cx="147618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334BDD-EF96-CF3A-09A9-D10AE50697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5057" y="3990688"/>
              <a:ext cx="2799978" cy="111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A5E1683-24B0-5D05-9413-27040B220FD8}"/>
                </a:ext>
              </a:extLst>
            </p:cNvPr>
            <p:cNvCxnSpPr>
              <a:cxnSpLocks/>
            </p:cNvCxnSpPr>
            <p:nvPr/>
          </p:nvCxnSpPr>
          <p:spPr>
            <a:xfrm>
              <a:off x="1048871" y="4007714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347EA8F-1AA1-652C-8403-1685AE20B7D4}"/>
                </a:ext>
              </a:extLst>
            </p:cNvPr>
            <p:cNvCxnSpPr>
              <a:cxnSpLocks/>
            </p:cNvCxnSpPr>
            <p:nvPr/>
          </p:nvCxnSpPr>
          <p:spPr>
            <a:xfrm>
              <a:off x="3748162" y="4008793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6595E8C-2475-4183-F2E1-D250911358DA}"/>
                </a:ext>
              </a:extLst>
            </p:cNvPr>
            <p:cNvCxnSpPr>
              <a:cxnSpLocks/>
            </p:cNvCxnSpPr>
            <p:nvPr/>
          </p:nvCxnSpPr>
          <p:spPr>
            <a:xfrm>
              <a:off x="2525057" y="4001875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8E60A3-A80E-FA7D-1002-09346ECEB210}"/>
                </a:ext>
              </a:extLst>
            </p:cNvPr>
            <p:cNvSpPr txBox="1"/>
            <p:nvPr/>
          </p:nvSpPr>
          <p:spPr>
            <a:xfrm>
              <a:off x="6989410" y="4158106"/>
              <a:ext cx="12009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Positive</a:t>
              </a:r>
              <a:r>
                <a:rPr lang="en-US" sz="2000" dirty="0"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5E517D5-B097-03F3-99EF-BA3804BE810B}"/>
                </a:ext>
              </a:extLst>
            </p:cNvPr>
            <p:cNvSpPr txBox="1"/>
            <p:nvPr/>
          </p:nvSpPr>
          <p:spPr>
            <a:xfrm>
              <a:off x="8203135" y="4191213"/>
              <a:ext cx="12963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Negative</a:t>
              </a:r>
              <a:r>
                <a:rPr lang="en-US" sz="2000" dirty="0"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A498E1-AEB6-C474-0BFA-14118EECB64E}"/>
                </a:ext>
              </a:extLst>
            </p:cNvPr>
            <p:cNvSpPr txBox="1"/>
            <p:nvPr/>
          </p:nvSpPr>
          <p:spPr>
            <a:xfrm>
              <a:off x="9588586" y="4209318"/>
              <a:ext cx="11571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Positive biased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91A702A-2BAD-DA0A-77C5-EC694C15462B}"/>
                </a:ext>
              </a:extLst>
            </p:cNvPr>
            <p:cNvSpPr txBox="1"/>
            <p:nvPr/>
          </p:nvSpPr>
          <p:spPr>
            <a:xfrm>
              <a:off x="10745748" y="4237380"/>
              <a:ext cx="16606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cs typeface="Times New Roman" panose="02020603050405020304" pitchFamily="18" charset="0"/>
                </a:rPr>
                <a:t>Negative biased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FE6735-3DBC-D983-1F30-BB0FD2D86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2812" y="3951742"/>
              <a:ext cx="8429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B1E489-78F3-458B-6E71-E17E8B8AB3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5743" y="3942778"/>
              <a:ext cx="2597190" cy="72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D4EBBB1-4C71-91EB-8759-44004180CC19}"/>
                </a:ext>
              </a:extLst>
            </p:cNvPr>
            <p:cNvCxnSpPr>
              <a:cxnSpLocks/>
            </p:cNvCxnSpPr>
            <p:nvPr/>
          </p:nvCxnSpPr>
          <p:spPr>
            <a:xfrm>
              <a:off x="7562812" y="3957581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5E4E92D-C3A3-31D4-63D5-C9A3D54449F0}"/>
                </a:ext>
              </a:extLst>
            </p:cNvPr>
            <p:cNvCxnSpPr>
              <a:cxnSpLocks/>
            </p:cNvCxnSpPr>
            <p:nvPr/>
          </p:nvCxnSpPr>
          <p:spPr>
            <a:xfrm>
              <a:off x="8913496" y="3950049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F01E1BD-0BA9-DEAD-7CA6-DC1B50D51F56}"/>
                </a:ext>
              </a:extLst>
            </p:cNvPr>
            <p:cNvCxnSpPr>
              <a:cxnSpLocks/>
            </p:cNvCxnSpPr>
            <p:nvPr/>
          </p:nvCxnSpPr>
          <p:spPr>
            <a:xfrm>
              <a:off x="10020109" y="3957581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164B271-8734-98D4-60A4-BBDE5C5536E0}"/>
                </a:ext>
              </a:extLst>
            </p:cNvPr>
            <p:cNvCxnSpPr>
              <a:cxnSpLocks/>
            </p:cNvCxnSpPr>
            <p:nvPr/>
          </p:nvCxnSpPr>
          <p:spPr>
            <a:xfrm>
              <a:off x="2527636" y="3801350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0717FFD-ECA3-FFAC-EC6B-99989E50D183}"/>
                </a:ext>
              </a:extLst>
            </p:cNvPr>
            <p:cNvCxnSpPr>
              <a:cxnSpLocks/>
            </p:cNvCxnSpPr>
            <p:nvPr/>
          </p:nvCxnSpPr>
          <p:spPr>
            <a:xfrm>
              <a:off x="8913496" y="3742253"/>
              <a:ext cx="0" cy="200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8" name="Rounded Rectangle 17">
            <a:extLst>
              <a:ext uri="{FF2B5EF4-FFF2-40B4-BE49-F238E27FC236}">
                <a16:creationId xmlns:a16="http://schemas.microsoft.com/office/drawing/2014/main" id="{5FB4F497-ABDE-F597-EE08-DD42E4EB5C04}"/>
              </a:ext>
            </a:extLst>
          </p:cNvPr>
          <p:cNvSpPr/>
          <p:nvPr/>
        </p:nvSpPr>
        <p:spPr>
          <a:xfrm>
            <a:off x="3412945" y="1066149"/>
            <a:ext cx="4617103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+mj-lt"/>
              </a:rPr>
              <a:t>Types of Clipper Circuits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376A44-0284-136B-28C1-E2652F144AD3}"/>
              </a:ext>
            </a:extLst>
          </p:cNvPr>
          <p:cNvSpPr txBox="1"/>
          <p:nvPr/>
        </p:nvSpPr>
        <p:spPr>
          <a:xfrm>
            <a:off x="1156448" y="4955292"/>
            <a:ext cx="10345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</a:rPr>
              <a:t>In a series clipper, the diode is connected in series with the load resistor and input signal source.</a:t>
            </a:r>
          </a:p>
          <a:p>
            <a:endParaRPr lang="en-US" b="0" i="0" dirty="0">
              <a:solidFill>
                <a:srgbClr val="37415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</a:rPr>
              <a:t> In a shunt clipper, the diode is connected in parallel (shunt) with the load resistor and input signal source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IN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22C151F-1EC3-86C7-C56B-03F8C903DC89}"/>
              </a:ext>
            </a:extLst>
          </p:cNvPr>
          <p:cNvSpPr/>
          <p:nvPr/>
        </p:nvSpPr>
        <p:spPr>
          <a:xfrm>
            <a:off x="152400" y="5112157"/>
            <a:ext cx="92336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11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CEAD-C4E9-4E38-65E5-2BAA4041C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06" y="1926085"/>
            <a:ext cx="9807388" cy="4215608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Positive Series Clipper Circuit : 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A Clipper circuit in which the diode is connected in series to the input signal and that attenuates the positive portions of the waveform, is termed as </a:t>
            </a:r>
            <a:r>
              <a:rPr lang="en-US" sz="1800" i="0" dirty="0">
                <a:solidFill>
                  <a:srgbClr val="000000"/>
                </a:solidFill>
                <a:effectLst/>
              </a:rPr>
              <a:t>Positive Series Clipper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. The following figure represents the circuit diagram for positive series clipper.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71AD3-4FC4-03F3-2C80-E6BF2F7C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6C8688B9-AA7F-8BD7-A66A-BCABA87BED67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Series Clipper Circuits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7DC4A8-0F25-D77E-CA57-A66456A9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611" y="4565361"/>
            <a:ext cx="2700647" cy="1562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BCB418-1AC0-9001-D6AA-F1C101B54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423" y="3509016"/>
            <a:ext cx="2476715" cy="13412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499B82-B359-D857-9C5B-E92807A5E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93" y="3608085"/>
            <a:ext cx="1684166" cy="1143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5212CC-8086-19E9-B138-4F68A3DDF1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709" y="3065696"/>
            <a:ext cx="2700121" cy="1512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1AF94A-168D-4518-1D3E-70E209A88CB1}"/>
              </a:ext>
            </a:extLst>
          </p:cNvPr>
          <p:cNvSpPr txBox="1"/>
          <p:nvPr/>
        </p:nvSpPr>
        <p:spPr>
          <a:xfrm>
            <a:off x="1844989" y="4995178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waveform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7D6471-F002-D7C1-5CEB-7A5EE867A75D}"/>
              </a:ext>
            </a:extLst>
          </p:cNvPr>
          <p:cNvSpPr txBox="1"/>
          <p:nvPr/>
        </p:nvSpPr>
        <p:spPr>
          <a:xfrm>
            <a:off x="9750258" y="3659866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Ideal output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D9F9A-A00E-66F4-F099-D10BD96EB791}"/>
              </a:ext>
            </a:extLst>
          </p:cNvPr>
          <p:cNvSpPr txBox="1"/>
          <p:nvPr/>
        </p:nvSpPr>
        <p:spPr>
          <a:xfrm>
            <a:off x="9750258" y="5206392"/>
            <a:ext cx="170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Practical output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E43084-4AF2-B1A8-0BAB-0B981900B3D0}"/>
              </a:ext>
            </a:extLst>
          </p:cNvPr>
          <p:cNvSpPr txBox="1"/>
          <p:nvPr/>
        </p:nvSpPr>
        <p:spPr>
          <a:xfrm>
            <a:off x="4139423" y="4995178"/>
            <a:ext cx="270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Positive series clipper </a:t>
            </a:r>
            <a:r>
              <a:rPr lang="en-US" dirty="0" err="1"/>
              <a:t>Ckt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96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3673-E3C0-DAE9-831F-55E78E006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1953"/>
            <a:ext cx="9603275" cy="571801"/>
          </a:xfrm>
        </p:spPr>
        <p:txBody>
          <a:bodyPr>
            <a:normAutofit fontScale="90000"/>
          </a:bodyPr>
          <a:lstStyle/>
          <a:p>
            <a:br>
              <a:rPr lang="en-IN" sz="1400" dirty="0"/>
            </a:br>
            <a:br>
              <a:rPr lang="en-IN" sz="1400" dirty="0"/>
            </a:b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2DB79-AE49-A678-78D8-91CCA47B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5710BA80-F70D-0094-D9BA-35F0D4AE3D2E}"/>
              </a:ext>
            </a:extLst>
          </p:cNvPr>
          <p:cNvSpPr/>
          <p:nvPr/>
        </p:nvSpPr>
        <p:spPr>
          <a:xfrm>
            <a:off x="2995351" y="129154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Series Clipper with Positive Biased (</a:t>
            </a:r>
            <a:r>
              <a:rPr lang="en-US" sz="2400" dirty="0" err="1"/>
              <a:t>Vr</a:t>
            </a:r>
            <a:r>
              <a:rPr lang="en-US" sz="2400" dirty="0"/>
              <a:t>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344039-A0B6-7521-596A-1DA338BC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187" y="2438314"/>
            <a:ext cx="9321281" cy="276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F0B9-B88B-C1E2-0E67-14EA837F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44E82BE-4291-3886-6AD2-F67D3C1848CB}"/>
              </a:ext>
            </a:extLst>
          </p:cNvPr>
          <p:cNvSpPr/>
          <p:nvPr/>
        </p:nvSpPr>
        <p:spPr>
          <a:xfrm>
            <a:off x="2855392" y="1235562"/>
            <a:ext cx="6484551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Series Clipper with Negative Biased (</a:t>
            </a:r>
            <a:r>
              <a:rPr lang="en-US" sz="2400" dirty="0" err="1"/>
              <a:t>Vr</a:t>
            </a:r>
            <a:r>
              <a:rPr lang="en-US" sz="2400" dirty="0"/>
              <a:t>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147E6-589C-DA38-0A55-8496422F9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85" y="2392589"/>
            <a:ext cx="8630816" cy="283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4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06573-18DE-D90F-7A6D-D12EA835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A8C57166-44EA-3BDE-0B85-07775EC44202}"/>
              </a:ext>
            </a:extLst>
          </p:cNvPr>
          <p:cNvSpPr/>
          <p:nvPr/>
        </p:nvSpPr>
        <p:spPr>
          <a:xfrm>
            <a:off x="3919081" y="1190938"/>
            <a:ext cx="4133237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Shunt Clipper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1A272A-AA82-5D48-9368-DCEACBD0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784" y="2487848"/>
            <a:ext cx="8574832" cy="285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088F-194C-F118-5636-3F1503B9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7622943-5ABB-DFE5-AC54-FC07F351AEDF}"/>
              </a:ext>
            </a:extLst>
          </p:cNvPr>
          <p:cNvSpPr/>
          <p:nvPr/>
        </p:nvSpPr>
        <p:spPr>
          <a:xfrm>
            <a:off x="2995351" y="129154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Shunt Clipper with Positive Biased (</a:t>
            </a:r>
            <a:r>
              <a:rPr lang="en-US" sz="2400" dirty="0" err="1"/>
              <a:t>Vr</a:t>
            </a:r>
            <a:r>
              <a:rPr lang="en-US" sz="2400" dirty="0"/>
              <a:t>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2108-DCF8-BDB8-40CD-9214B330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2476417"/>
            <a:ext cx="8948057" cy="287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7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0A34E-9CD2-A864-9558-D712E005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1570485C-2516-E2F8-0FD5-F9C318ABC504}"/>
              </a:ext>
            </a:extLst>
          </p:cNvPr>
          <p:cNvSpPr/>
          <p:nvPr/>
        </p:nvSpPr>
        <p:spPr>
          <a:xfrm>
            <a:off x="2659449" y="1120083"/>
            <a:ext cx="6559196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Shunt Clipper with Negative Biased (</a:t>
            </a:r>
            <a:r>
              <a:rPr lang="en-US" sz="2400" dirty="0" err="1"/>
              <a:t>Vr</a:t>
            </a:r>
            <a:r>
              <a:rPr lang="en-US" sz="2400" dirty="0"/>
              <a:t>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A4296-1A21-0845-3E9D-6BA5A6B2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80" y="2415452"/>
            <a:ext cx="9153330" cy="28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1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36B5F-0983-74DB-6569-272C228C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40BE02-359D-2268-F8B7-9411AB521EF6}"/>
              </a:ext>
            </a:extLst>
          </p:cNvPr>
          <p:cNvSpPr/>
          <p:nvPr/>
        </p:nvSpPr>
        <p:spPr>
          <a:xfrm>
            <a:off x="2659449" y="1120083"/>
            <a:ext cx="6559196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Negative clippers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720E6-44A1-282D-8279-DF3AEF04C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05046"/>
            <a:ext cx="8696131" cy="26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7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62180-E9CB-D8BE-DE5C-A01F885F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B06B05EA-6CA0-A3CC-70CA-6CF2EA2345EF}"/>
              </a:ext>
            </a:extLst>
          </p:cNvPr>
          <p:cNvSpPr/>
          <p:nvPr/>
        </p:nvSpPr>
        <p:spPr>
          <a:xfrm>
            <a:off x="1520890" y="1120083"/>
            <a:ext cx="9442579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Negative Shunt Clipper with Positive biased( </a:t>
            </a:r>
            <a:r>
              <a:rPr lang="en-US" sz="2400" dirty="0" err="1"/>
              <a:t>Vr</a:t>
            </a:r>
            <a:r>
              <a:rPr lang="en-US" sz="2400" dirty="0"/>
              <a:t>) and Negative Biased (</a:t>
            </a:r>
            <a:r>
              <a:rPr lang="en-US" sz="2400" dirty="0" err="1"/>
              <a:t>Vr</a:t>
            </a:r>
            <a:r>
              <a:rPr lang="en-US" sz="2400" dirty="0"/>
              <a:t>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23A9ED-9E31-0F1B-AB71-8C6FE4A10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35" y="2356829"/>
            <a:ext cx="5216212" cy="2625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387CC7-76DF-A538-261C-8EC01D606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25" y="2356829"/>
            <a:ext cx="5730737" cy="262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4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89593-7D23-171F-F36C-4D8B75B4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800" b="0" i="0" dirty="0">
                <a:solidFill>
                  <a:srgbClr val="000000"/>
                </a:solidFill>
                <a:effectLst/>
              </a:rPr>
              <a:t>A Clamper Circuit is a circuit that adds a DC level to an AC signal. Actually, the positive and negative peaks of the signals can be placed at desired levels using the clamping circuits.</a:t>
            </a:r>
          </a:p>
          <a:p>
            <a:pPr algn="just"/>
            <a:r>
              <a:rPr lang="en-US" sz="1800" b="0" i="0" dirty="0">
                <a:solidFill>
                  <a:srgbClr val="000000"/>
                </a:solidFill>
                <a:effectLst/>
              </a:rPr>
              <a:t>Clamper circuits consist of energy storage elements like capacitors. A simple clamper circuit comprises of a capacitor, a diode, a resistor and a dc battery if required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algn="just"/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48DFF-CDFF-62BF-96E5-A9B0CB60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E628FA12-3939-EBA4-5841-5AA1FCA07907}"/>
              </a:ext>
            </a:extLst>
          </p:cNvPr>
          <p:cNvSpPr/>
          <p:nvPr/>
        </p:nvSpPr>
        <p:spPr>
          <a:xfrm>
            <a:off x="4519237" y="1190938"/>
            <a:ext cx="2500380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Clampers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84F88-B8B1-7873-1EBD-45C41780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538E373-6BF4-F56E-2FD9-05F42DB91599}"/>
              </a:ext>
            </a:extLst>
          </p:cNvPr>
          <p:cNvSpPr/>
          <p:nvPr/>
        </p:nvSpPr>
        <p:spPr>
          <a:xfrm>
            <a:off x="3124406" y="1174536"/>
            <a:ext cx="6257620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Clamper and Negative clamper circuit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E632A2-3759-12EF-0683-BE6523D9D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04" y="2276669"/>
            <a:ext cx="5447617" cy="2827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5262A2-36E9-FFEB-DD88-CB3B19C5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815" y="2276668"/>
            <a:ext cx="5542117" cy="28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7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15BED-9819-4180-AD2B-B6CD1AA7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1510BE5-58D0-CF37-9C80-A9ED5B58A971}"/>
              </a:ext>
            </a:extLst>
          </p:cNvPr>
          <p:cNvSpPr/>
          <p:nvPr/>
        </p:nvSpPr>
        <p:spPr>
          <a:xfrm>
            <a:off x="2391071" y="1190938"/>
            <a:ext cx="740985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Positive Clamper with Positive biased and Negative( </a:t>
            </a:r>
            <a:r>
              <a:rPr lang="en-US" sz="2400" dirty="0" err="1"/>
              <a:t>Vr</a:t>
            </a:r>
            <a:r>
              <a:rPr lang="en-US" sz="2400" dirty="0"/>
              <a:t> 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35CE3-871C-6BD8-A0AD-5212E3FB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2" y="2350136"/>
            <a:ext cx="5921253" cy="3070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2A09D-1A85-9313-C1F0-6AD97D698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22" y="2167875"/>
            <a:ext cx="5226196" cy="325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4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1007-CFC3-6FD2-D5B1-FE4DEF99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5F956A72-0338-FC77-4BFA-7F4D96E296D6}"/>
              </a:ext>
            </a:extLst>
          </p:cNvPr>
          <p:cNvSpPr/>
          <p:nvPr/>
        </p:nvSpPr>
        <p:spPr>
          <a:xfrm>
            <a:off x="2391071" y="1190938"/>
            <a:ext cx="740985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Negative Clamper with Positive biased and Negative( </a:t>
            </a:r>
            <a:r>
              <a:rPr lang="en-US" sz="2400" dirty="0" err="1"/>
              <a:t>Vr</a:t>
            </a:r>
            <a:r>
              <a:rPr lang="en-US" sz="2400" dirty="0"/>
              <a:t> )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1B84D-46A1-9AA9-9E63-B66721C90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6" y="2322145"/>
            <a:ext cx="5906012" cy="2968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0F6563-300D-5F9D-8100-F63169ECD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10" y="2322145"/>
            <a:ext cx="5685013" cy="296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2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95352" y="111563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Solved Examples on Clamper Circuit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A27A5-6711-F845-21DF-97632D28BAFB}"/>
              </a:ext>
            </a:extLst>
          </p:cNvPr>
          <p:cNvSpPr txBox="1"/>
          <p:nvPr/>
        </p:nvSpPr>
        <p:spPr>
          <a:xfrm>
            <a:off x="1502228" y="2070137"/>
            <a:ext cx="946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Consider the clamping circuit below and plot the output waveform. Assume the diode is ideal.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9BB83-DE30-53E3-4E0C-3085A9F81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38" y="2965172"/>
            <a:ext cx="4558196" cy="2006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54899D-7D5D-E260-AFAD-40930B5C2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726" y="2965172"/>
            <a:ext cx="2485474" cy="20064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BAE30F-E0AE-F2A8-EC25-99FBF87DD21B}"/>
              </a:ext>
            </a:extLst>
          </p:cNvPr>
          <p:cNvSpPr txBox="1"/>
          <p:nvPr/>
        </p:nvSpPr>
        <p:spPr>
          <a:xfrm>
            <a:off x="9020628" y="2517655"/>
            <a:ext cx="194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87B8-189C-8B2F-C58B-AA9120047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 2 : Consider the clamping circuit below and plot the output waveform. Assume the diode is ideal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9496-715A-5549-C689-A81DE0E1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986CD-4B82-A92B-3250-B01D0EE60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918" y="3033592"/>
            <a:ext cx="4676298" cy="22800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64847F-B5FC-EDE1-D45E-F3533DD8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082" y="3033592"/>
            <a:ext cx="2891877" cy="22800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FBE3C5-0158-F22C-208C-CFDE87009785}"/>
              </a:ext>
            </a:extLst>
          </p:cNvPr>
          <p:cNvSpPr txBox="1"/>
          <p:nvPr/>
        </p:nvSpPr>
        <p:spPr>
          <a:xfrm>
            <a:off x="9059966" y="251159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40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408922" y="2015411"/>
            <a:ext cx="97608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In summary, clippers are used to limit the amplitude of a signal by removing certain voltage levels, while clampers shift the DC level of a waveform without altering its shape. Both circuits play crucial roles in signal processing and electronic system design.</a:t>
            </a:r>
            <a:endParaRPr lang="en-US" dirty="0">
              <a:latin typeface="+mj-lt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What is the primary function of a clipper circuit?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  <a:latin typeface="Söhne"/>
              </a:rPr>
              <a:t>Frequency Modulation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Amplitude modulation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Phase shifting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Pulse width modulation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dirty="0"/>
              <a:t>Which type of clipper removes the positive portion of a signal above a specified voltage level?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112532" y="4605899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Positive clipper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Negative clipper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Biased clipper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None of the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ym typeface="Calibri"/>
              </a:rPr>
              <a:t>3. </a:t>
            </a:r>
            <a:r>
              <a:rPr lang="en-US" dirty="0"/>
              <a:t>In a biased clipper circuit, the biasing voltage is applied to: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  <a:latin typeface="Söhne"/>
              </a:rPr>
              <a:t>The input signal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The diode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Capacitor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Load resistor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dirty="0"/>
              <a:t>What is the primary purpose of a clamper circuit?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112532" y="4605899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Amplitude modulation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DC level shifting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Frequency shifting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None of the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032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982" y="1705670"/>
            <a:ext cx="10705226" cy="4445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Explain the operation of a diode clipper. How does it limit the amplitude of a signal, and what are the differences between a positive and negative diode clipper?</a:t>
            </a:r>
            <a:endParaRPr lang="en-US" b="1" dirty="0"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+mj-lt"/>
              </a:rPr>
              <a:t>2.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Discuss the significance of biasing in a biased clipper circuit. How does the bias voltage affect the clipping operation, and what role does it play in shaping the output waveform?</a:t>
            </a:r>
            <a:endParaRPr lang="en-US" b="1" dirty="0">
              <a:latin typeface="+mj-lt"/>
            </a:endParaRPr>
          </a:p>
          <a:p>
            <a:pPr marL="342900" indent="-342900">
              <a:lnSpc>
                <a:spcPct val="200000"/>
              </a:lnSpc>
            </a:pPr>
            <a:r>
              <a:rPr lang="en-US" b="1" dirty="0">
                <a:latin typeface="+mj-lt"/>
              </a:rPr>
              <a:t>3.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Describe the purpose of a clamper circuit in electronic systems. Provide examples of situations where DC level shifting is crucial, and explain how a clamper accomplishes this.</a:t>
            </a:r>
            <a:endParaRPr lang="en-US" b="1" dirty="0">
              <a:latin typeface="+mj-lt"/>
            </a:endParaRPr>
          </a:p>
          <a:p>
            <a:pPr marL="342900" indent="-342900">
              <a:lnSpc>
                <a:spcPct val="200000"/>
              </a:lnSpc>
            </a:pPr>
            <a:r>
              <a:rPr lang="en-US" b="1" dirty="0">
                <a:latin typeface="+mj-lt"/>
              </a:rPr>
              <a:t>4. </a:t>
            </a:r>
            <a:r>
              <a:rPr lang="en-US" b="0" i="0" dirty="0">
                <a:solidFill>
                  <a:srgbClr val="374151"/>
                </a:solidFill>
                <a:effectLst/>
                <a:latin typeface="+mj-lt"/>
              </a:rPr>
              <a:t>Contrast the operation of a biased clamper with a simple clamper. What additional features does biasing introduce, and how does it affect the output?</a:t>
            </a:r>
            <a:endParaRPr lang="en-US" b="1" dirty="0">
              <a:latin typeface="+mj-lt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2156663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Fundamentals of IoT &amp; Sensors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355</TotalTime>
  <Words>948</Words>
  <Application>Microsoft Office PowerPoint</Application>
  <PresentationFormat>Widescreen</PresentationFormat>
  <Paragraphs>149</Paragraphs>
  <Slides>26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Tammineni Sreelatha</dc:creator>
  <cp:lastModifiedBy>BOKKISAM VENKATA SAI SAILAJA</cp:lastModifiedBy>
  <cp:revision>21</cp:revision>
  <dcterms:created xsi:type="dcterms:W3CDTF">2023-05-11T04:21:37Z</dcterms:created>
  <dcterms:modified xsi:type="dcterms:W3CDTF">2025-03-13T03:26:55Z</dcterms:modified>
</cp:coreProperties>
</file>