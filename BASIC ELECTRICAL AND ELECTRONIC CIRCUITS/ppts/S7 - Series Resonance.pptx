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71" r:id="rId5"/>
    <p:sldId id="300" r:id="rId6"/>
    <p:sldId id="258" r:id="rId7"/>
    <p:sldId id="307" r:id="rId8"/>
    <p:sldId id="321" r:id="rId9"/>
    <p:sldId id="299" r:id="rId10"/>
    <p:sldId id="318" r:id="rId11"/>
    <p:sldId id="320" r:id="rId12"/>
    <p:sldId id="301" r:id="rId13"/>
    <p:sldId id="316" r:id="rId14"/>
    <p:sldId id="302" r:id="rId15"/>
    <p:sldId id="30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8732B2-74C6-4CB8-85D5-2E5010D131FE}" v="159" dt="2024-12-18T10:54:23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038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43062" y="3131884"/>
            <a:ext cx="7948938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cs typeface="Poppins" pitchFamily="2" charset="77"/>
              </a:rPr>
              <a:t>BASIC ELECTRICAL &amp; ELCTRONIC CIRCUITS (BEEC)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C00000"/>
              </a:solidFill>
              <a:cs typeface="Poppins" pitchFamily="2" charset="77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cs typeface="Poppins" pitchFamily="2" charset="77"/>
              </a:rPr>
              <a:t>Course Code: 23EC1203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cs typeface="Poppins" pitchFamily="2" charset="77"/>
                <a:sym typeface="BioRhyme ExtraBold"/>
              </a:rPr>
              <a:t> 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  <a:cs typeface="Poppins" pitchFamily="2" charset="77"/>
                <a:sym typeface="BioRhyme ExtraBold"/>
              </a:rPr>
              <a:t>Topic: Series Resonance</a:t>
            </a:r>
            <a:endParaRPr lang="en-US" sz="2000" b="1" dirty="0">
              <a:solidFill>
                <a:srgbClr val="C00000"/>
              </a:solidFill>
              <a:cs typeface="Poppins" pitchFamily="2" charset="77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BES-II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No. 7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 flipV="1">
            <a:off x="-1" y="685800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844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359243" y="684469"/>
            <a:ext cx="10515599" cy="4267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series resonance.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3596" y="1440223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359243" y="2174675"/>
            <a:ext cx="10515599" cy="116544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This</a:t>
            </a:r>
            <a:r>
              <a:rPr lang="en-US" sz="160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Session</a:t>
            </a:r>
            <a:r>
              <a:rPr lang="en-US" sz="160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is designed to: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Define resonance and its significance in a series RLC circuit.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Derive the formula for resonant frequency and impedance &amp; various parameter behavior.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471371" y="3683877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4506464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328307" y="4282887"/>
            <a:ext cx="10577467" cy="116544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 the end of this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session</a:t>
            </a:r>
            <a:r>
              <a:rPr lang="en-US" sz="1600" b="0" i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you should be able to: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Compute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the resonant frequency and quality factor of a series RLC circuit.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Analyze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the effect of resistance, inductance, and capacitance on resonance.</a:t>
            </a: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81149" y="1176354"/>
            <a:ext cx="6863352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Resonance in RLC Series Circuit</a:t>
            </a:r>
            <a:endParaRPr 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5FB50C-8ACE-911E-80C6-3A536D637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659" y="3279075"/>
            <a:ext cx="5486400" cy="2567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E4CD28-D5DA-DBAF-944B-8B8F7C5A54B8}"/>
                  </a:ext>
                </a:extLst>
              </p:cNvPr>
              <p:cNvSpPr txBox="1"/>
              <p:nvPr/>
            </p:nvSpPr>
            <p:spPr>
              <a:xfrm>
                <a:off x="1388661" y="1943512"/>
                <a:ext cx="10424398" cy="104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Resonance occurs when the </a:t>
                </a:r>
              </a:p>
              <a:p>
                <a:endParaRPr lang="en-US" dirty="0"/>
              </a:p>
              <a:p>
                <a:r>
                  <a:rPr lang="en-US" dirty="0"/>
                  <a:t>Inductive reactance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equal to the capacitive reactance </a:t>
                </a:r>
                <a:r>
                  <a:rPr lang="en-US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𝝎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den>
                    </m:f>
                  </m:oMath>
                </a14:m>
                <a:r>
                  <a:rPr lang="en-US" b="1" dirty="0"/>
                  <a:t> )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E4CD28-D5DA-DBAF-944B-8B8F7C5A5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61" y="1943512"/>
                <a:ext cx="10424398" cy="1046440"/>
              </a:xfrm>
              <a:prstGeom prst="rect">
                <a:avLst/>
              </a:prstGeom>
              <a:blipFill>
                <a:blip r:embed="rId4"/>
                <a:stretch>
                  <a:fillRect l="-526" t="-3509" b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3C414-8666-F160-7436-0CAE2591EED1}"/>
                  </a:ext>
                </a:extLst>
              </p:cNvPr>
              <p:cNvSpPr txBox="1"/>
              <p:nvPr/>
            </p:nvSpPr>
            <p:spPr>
              <a:xfrm>
                <a:off x="1282889" y="3059668"/>
                <a:ext cx="1392072" cy="8897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    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𝜔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3C414-8666-F160-7436-0CAE2591E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889" y="3059668"/>
                <a:ext cx="1392072" cy="8897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311403-1C74-7293-05E2-E973EB895605}"/>
                  </a:ext>
                </a:extLst>
              </p:cNvPr>
              <p:cNvSpPr txBox="1"/>
              <p:nvPr/>
            </p:nvSpPr>
            <p:spPr>
              <a:xfrm>
                <a:off x="1388661" y="4053856"/>
                <a:ext cx="4015852" cy="1790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Solving for the resonant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𝝎</m:t>
                          </m:r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1800" b="1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rad>
                        </m:den>
                      </m:f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311403-1C74-7293-05E2-E973EB895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61" y="4053856"/>
                <a:ext cx="4015852" cy="1790875"/>
              </a:xfrm>
              <a:prstGeom prst="rect">
                <a:avLst/>
              </a:prstGeom>
              <a:blipFill>
                <a:blip r:embed="rId6"/>
                <a:stretch>
                  <a:fillRect l="-1366" t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511958" y="1057007"/>
            <a:ext cx="7611177" cy="64633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Impedance and Current of Circuit at resonance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A46737-B3A1-05B9-F96D-32F0DA206269}"/>
                  </a:ext>
                </a:extLst>
              </p:cNvPr>
              <p:cNvSpPr txBox="1"/>
              <p:nvPr/>
            </p:nvSpPr>
            <p:spPr>
              <a:xfrm>
                <a:off x="1364776" y="1915482"/>
                <a:ext cx="5895833" cy="3004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/>
                  <a:t>The impedance of the circuit (Z) in a series RLC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𝒁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𝑹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(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 </m:t>
                    </m:r>
                    <m:sSub>
                      <m:sSubPr>
                        <m:ctrlP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𝑪</m:t>
                        </m:r>
                      </m:sub>
                    </m:sSub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/>
                  <a:t> Now at resonance, impedance is minimum and equals the resistance (R)   of the circuit.      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𝒁</m:t>
                    </m:r>
                    <m:r>
                      <a:rPr lang="en-US" sz="1800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𝑹</m:t>
                    </m:r>
                  </m:oMath>
                </a14:m>
                <a:endParaRPr lang="en-US" b="1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/>
                  <a:t>The current (I) through the circuit is maximum.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		    I = V / Z </a:t>
                </a: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/>
                  <a:t>             Now,  at Resonance it is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  <m:sub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𝒎𝒂𝒙</m:t>
                        </m:r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𝑽</m:t>
                        </m:r>
                      </m:num>
                      <m:den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𝑹</m:t>
                        </m:r>
                      </m:den>
                    </m:f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A46737-B3A1-05B9-F96D-32F0DA206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776" y="1915482"/>
                <a:ext cx="5895833" cy="3004605"/>
              </a:xfrm>
              <a:prstGeom prst="rect">
                <a:avLst/>
              </a:prstGeom>
              <a:blipFill>
                <a:blip r:embed="rId2"/>
                <a:stretch>
                  <a:fillRect l="-724" b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7103BB2-4598-F70B-68CD-83D7B7A12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609" y="2041421"/>
            <a:ext cx="4134314" cy="340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435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8BDF-08E6-5A5F-9625-0FF66BDBE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A87EEB66-D9CC-A92B-33EE-8D3BF9503D29}"/>
              </a:ext>
            </a:extLst>
          </p:cNvPr>
          <p:cNvSpPr/>
          <p:nvPr/>
        </p:nvSpPr>
        <p:spPr>
          <a:xfrm>
            <a:off x="2552902" y="1003110"/>
            <a:ext cx="7611177" cy="64633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Voltages of L &amp; C at resonance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82203C-F580-0590-94E4-6F9974FD5FC7}"/>
                  </a:ext>
                </a:extLst>
              </p:cNvPr>
              <p:cNvSpPr txBox="1"/>
              <p:nvPr/>
            </p:nvSpPr>
            <p:spPr>
              <a:xfrm>
                <a:off x="1179623" y="1932470"/>
                <a:ext cx="4916377" cy="392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indent="-285750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en-US" dirty="0">
                    <a:effectLst/>
                  </a:rPr>
                  <a:t>Voltage in inductor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𝑳</m:t>
                        </m:r>
                      </m:sub>
                    </m:sSub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𝒋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𝝎</m:t>
                        </m:r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𝒓</m:t>
                        </m:r>
                      </m:sub>
                    </m:sSub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𝑳</m:t>
                    </m:r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  <m:sub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𝒎𝒂𝒙</m:t>
                        </m:r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en-US" dirty="0">
                    <a:effectLst/>
                  </a:rPr>
                  <a:t>Voltage in capacitor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800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𝑪</m:t>
                        </m:r>
                      </m:sub>
                    </m:sSub>
                    <m:r>
                      <a:rPr lang="en-US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den>
                    </m:f>
                  </m:oMath>
                </a14:m>
                <a:endParaRPr lang="en-US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/>
                  <a:t>The inductor and capacitor voltages can be much higher than the supply voltage, leading to a </a:t>
                </a:r>
                <a:r>
                  <a:rPr lang="en-US" b="1" dirty="0"/>
                  <a:t>voltage magnification effect</a:t>
                </a:r>
                <a:r>
                  <a:rPr lang="en-US" dirty="0"/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/>
                  <a:t>Behavior before and after resonance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b="1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  <m: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&lt; </m:t>
                        </m:r>
                        <m: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, </a:t>
                </a:r>
                <a:r>
                  <a:rPr lang="en-US" b="1" dirty="0"/>
                  <a:t>then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𝐂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&gt;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𝐋</m:t>
                        </m:r>
                      </m:sub>
                    </m:sSub>
                  </m:oMath>
                </a14:m>
                <a:endParaRPr lang="en-US" b="1" dirty="0"/>
              </a:p>
              <a:p>
                <a:pPr lvl="1">
                  <a:lnSpc>
                    <a:spcPct val="150000"/>
                  </a:lnSpc>
                </a:pPr>
                <a:r>
                  <a:rPr lang="en-US" b="1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  <m: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&gt; </m:t>
                        </m:r>
                        <m: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b>
                        <m: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𝒓</m:t>
                        </m:r>
                      </m:sub>
                    </m:sSub>
                  </m:oMath>
                </a14:m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, </a:t>
                </a:r>
                <a:r>
                  <a:rPr lang="en-US" b="1" dirty="0"/>
                  <a:t>then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𝐋</m:t>
                        </m:r>
                        <m:r>
                          <a:rPr lang="en-US" b="1" smtClean="0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  <m:r>
                      <a:rPr lang="en-US" b="1" smtClean="0">
                        <a:latin typeface="Cambria Math" panose="02040503050406030204" pitchFamily="18" charset="0"/>
                      </a:rPr>
                      <m:t>&gt;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82203C-F580-0590-94E4-6F9974FD5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623" y="1932470"/>
                <a:ext cx="4916377" cy="3922420"/>
              </a:xfrm>
              <a:prstGeom prst="rect">
                <a:avLst/>
              </a:prstGeom>
              <a:blipFill>
                <a:blip r:embed="rId2"/>
                <a:stretch>
                  <a:fillRect l="-868" t="-778" b="-1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Bandwidth of Resonant Circuits | GBC Electronics Technician">
            <a:extLst>
              <a:ext uri="{FF2B5EF4-FFF2-40B4-BE49-F238E27FC236}">
                <a16:creationId xmlns:a16="http://schemas.microsoft.com/office/drawing/2014/main" id="{7F5B2A1D-78F2-6AE9-5C23-70CC40C2D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490" y="1915482"/>
            <a:ext cx="4653887" cy="393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34625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108200" y="1106435"/>
            <a:ext cx="8373281" cy="4937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100" algn="ctr">
              <a:spcBef>
                <a:spcPts val="1225"/>
              </a:spcBef>
            </a:pPr>
            <a:r>
              <a:rPr lang="en-IN" sz="2400" dirty="0"/>
              <a:t>Quality Factor ( Q Factor) &amp; Bandwidth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65141-8B70-545E-068F-DA89C0E930EB}"/>
              </a:ext>
            </a:extLst>
          </p:cNvPr>
          <p:cNvSpPr txBox="1"/>
          <p:nvPr/>
        </p:nvSpPr>
        <p:spPr>
          <a:xfrm>
            <a:off x="1361364" y="2109222"/>
            <a:ext cx="614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quality factor (Q)</a:t>
            </a:r>
            <a:r>
              <a:rPr lang="en-US" dirty="0"/>
              <a:t> represents the sharpness of resonance: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0534A6-9649-0A16-FCFB-909C4F5AAFEF}"/>
                  </a:ext>
                </a:extLst>
              </p:cNvPr>
              <p:cNvSpPr txBox="1"/>
              <p:nvPr/>
            </p:nvSpPr>
            <p:spPr>
              <a:xfrm>
                <a:off x="7110483" y="1964855"/>
                <a:ext cx="3469943" cy="658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b="1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en-US" b="1" i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0534A6-9649-0A16-FCFB-909C4F5AA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483" y="1964855"/>
                <a:ext cx="3469943" cy="6580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CDB45C0-AF43-7675-08D9-5DFD107D318B}"/>
              </a:ext>
            </a:extLst>
          </p:cNvPr>
          <p:cNvSpPr txBox="1"/>
          <p:nvPr/>
        </p:nvSpPr>
        <p:spPr>
          <a:xfrm>
            <a:off x="1380129" y="2767287"/>
            <a:ext cx="7600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higher Q</a:t>
            </a:r>
            <a:r>
              <a:rPr lang="en-US" dirty="0"/>
              <a:t> means a </a:t>
            </a:r>
            <a:r>
              <a:rPr lang="en-US" b="1" dirty="0"/>
              <a:t>narrower</a:t>
            </a:r>
            <a:r>
              <a:rPr lang="en-US" dirty="0"/>
              <a:t> bandwidth and a sharper resonance.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F2CB1E-D64B-5C6E-0F2F-F173EDE215CB}"/>
                  </a:ext>
                </a:extLst>
              </p:cNvPr>
              <p:cNvSpPr txBox="1"/>
              <p:nvPr/>
            </p:nvSpPr>
            <p:spPr>
              <a:xfrm>
                <a:off x="1361364" y="3351116"/>
                <a:ext cx="8219364" cy="799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Bandwidth ( ∆ f ) is given by </a:t>
                </a:r>
                <a14:m>
                  <m:oMath xmlns:m="http://schemas.openxmlformats.org/officeDocument/2006/math"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∆ </m:t>
                    </m:r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</m:den>
                    </m:f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F2CB1E-D64B-5C6E-0F2F-F173EDE21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364" y="3351116"/>
                <a:ext cx="8219364" cy="799578"/>
              </a:xfrm>
              <a:prstGeom prst="rect">
                <a:avLst/>
              </a:prstGeom>
              <a:blipFill>
                <a:blip r:embed="rId3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32FCBB-8F92-8EDF-75AE-94EE0A78E035}"/>
                  </a:ext>
                </a:extLst>
              </p:cNvPr>
              <p:cNvSpPr txBox="1"/>
              <p:nvPr/>
            </p:nvSpPr>
            <p:spPr>
              <a:xfrm>
                <a:off x="1398897" y="4009181"/>
                <a:ext cx="90825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circuit behaves like a </a:t>
                </a:r>
                <a:r>
                  <a:rPr lang="en-US" b="1" dirty="0"/>
                  <a:t>band-pass filter</a:t>
                </a:r>
                <a:r>
                  <a:rPr lang="en-US" dirty="0"/>
                  <a:t>, allowing signals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​while attenuating others.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32FCBB-8F92-8EDF-75AE-94EE0A78E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897" y="4009181"/>
                <a:ext cx="9082584" cy="369332"/>
              </a:xfrm>
              <a:prstGeom prst="rect">
                <a:avLst/>
              </a:prstGeom>
              <a:blipFill>
                <a:blip r:embed="rId4"/>
                <a:stretch>
                  <a:fillRect l="-53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8B46-B532-D042-E9C8-2E07A43B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E81E659C-1BE2-4C6F-3F90-DB00BEAA8B12}"/>
              </a:ext>
            </a:extLst>
          </p:cNvPr>
          <p:cNvSpPr/>
          <p:nvPr/>
        </p:nvSpPr>
        <p:spPr>
          <a:xfrm>
            <a:off x="2108200" y="1106435"/>
            <a:ext cx="8373281" cy="4937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100" algn="ctr">
              <a:spcBef>
                <a:spcPts val="1225"/>
              </a:spcBef>
            </a:pPr>
            <a:r>
              <a:rPr lang="en-IN" sz="2400" dirty="0"/>
              <a:t>Applications of Series Resonance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FF01A-E58E-B318-AA68-3E0A6155E7A1}"/>
              </a:ext>
            </a:extLst>
          </p:cNvPr>
          <p:cNvSpPr txBox="1"/>
          <p:nvPr/>
        </p:nvSpPr>
        <p:spPr>
          <a:xfrm>
            <a:off x="1404643" y="1978058"/>
            <a:ext cx="6674832" cy="1884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Radio tuning circuits (selecting specific frequencies)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Oscillators and filters</a:t>
            </a:r>
            <a:r>
              <a:rPr lang="en-US" sz="2000" dirty="0"/>
              <a:t> (frequency-selective networks)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Impedance matching</a:t>
            </a:r>
            <a:r>
              <a:rPr lang="en-US" sz="2000" dirty="0"/>
              <a:t> in RF systems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Inductive heating and wireless power transfer</a:t>
            </a:r>
          </a:p>
        </p:txBody>
      </p:sp>
    </p:spTree>
    <p:extLst>
      <p:ext uri="{BB962C8B-B14F-4D97-AF65-F5344CB8AC3E}">
        <p14:creationId xmlns:p14="http://schemas.microsoft.com/office/powerpoint/2010/main" val="21714369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A5F5-C1B7-727C-BC2E-7BE7215E2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E51A037B-20DB-D250-B953-105F66A74D43}"/>
              </a:ext>
            </a:extLst>
          </p:cNvPr>
          <p:cNvSpPr/>
          <p:nvPr/>
        </p:nvSpPr>
        <p:spPr>
          <a:xfrm>
            <a:off x="2108200" y="1106435"/>
            <a:ext cx="8373281" cy="4937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8100" algn="ctr">
              <a:spcBef>
                <a:spcPts val="1225"/>
              </a:spcBef>
            </a:pPr>
            <a:r>
              <a:rPr lang="en-IN" sz="2400" dirty="0"/>
              <a:t>Problems on Resonance in RLC Series Circuit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F19E93-79E6-128E-4E23-929B66947E40}"/>
              </a:ext>
            </a:extLst>
          </p:cNvPr>
          <p:cNvSpPr txBox="1"/>
          <p:nvPr/>
        </p:nvSpPr>
        <p:spPr>
          <a:xfrm>
            <a:off x="1353402" y="1817734"/>
            <a:ext cx="948519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/>
              <a:t>1.  A series RLC circuit has L=50mH and C=20μF.  Calculate the resonant frequency of the circuit.</a:t>
            </a:r>
            <a:endParaRPr lang="en-IN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2.  A series RLC circuit has R=10Ω, L=0.1 H, and C=50μF.  What is the impedance of the circuit at resonance.</a:t>
            </a:r>
          </a:p>
          <a:p>
            <a:pPr algn="just"/>
            <a:endParaRPr lang="en-US" dirty="0"/>
          </a:p>
          <a:p>
            <a:pPr algn="just"/>
            <a:r>
              <a:rPr lang="en-IN" dirty="0"/>
              <a:t>3.  A series RLC circuit with R=5</a:t>
            </a:r>
            <a:r>
              <a:rPr lang="el-GR" dirty="0"/>
              <a:t>Ω, </a:t>
            </a:r>
            <a:r>
              <a:rPr lang="en-IN" dirty="0"/>
              <a:t>L=0.2 H, and C=10</a:t>
            </a:r>
            <a:r>
              <a:rPr lang="el-GR" dirty="0"/>
              <a:t>μ</a:t>
            </a:r>
            <a:r>
              <a:rPr lang="en-IN" dirty="0"/>
              <a:t>F is connected to an AC source of 50V. Determine the maximum current at resonance.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4. For a series RLC circuit with R=15</a:t>
            </a:r>
            <a:r>
              <a:rPr lang="el-GR" dirty="0"/>
              <a:t>Ω,</a:t>
            </a:r>
            <a:r>
              <a:rPr lang="en-IN" dirty="0"/>
              <a:t>L=30mH, and C=10</a:t>
            </a:r>
            <a:r>
              <a:rPr lang="el-GR" dirty="0"/>
              <a:t>μ</a:t>
            </a:r>
            <a:r>
              <a:rPr lang="en-IN" dirty="0"/>
              <a:t>F, calculate the quality factor (Q) of the circuit at resonance.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5.</a:t>
            </a:r>
            <a:r>
              <a:rPr lang="en-US" dirty="0"/>
              <a:t>  A series RLC circuit has R=20Ω,L=0.1H, and C=25μF.  At resonance, the circuit is connected to an AC source 10V.  </a:t>
            </a:r>
            <a:r>
              <a:rPr lang="en-US" altLang="en-US" dirty="0"/>
              <a:t>Find the current through the circuit &amp; Determine the voltage across the inductor and capacitor.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58336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In an RLC circuit, what does "R" represent?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+mj-lt"/>
              </a:rPr>
              <a:t>Resistor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+mj-lt"/>
              </a:rPr>
              <a:t>Reactance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+mj-lt"/>
              </a:rPr>
              <a:t>Resonance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+mj-lt"/>
              </a:rPr>
              <a:t>Real power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1600" dirty="0"/>
              <a:t>2.  In which of the following circuit,  current lags voltage ?</a:t>
            </a:r>
            <a:endParaRPr lang="en-IN"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RC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RL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Both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1600" dirty="0"/>
              <a:t>3.   What is the Phase angle of Voltage across Resistor?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+mj-lt"/>
              </a:rPr>
              <a:t>90 degrees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+mj-lt"/>
              </a:rPr>
              <a:t>-90 degrees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+mj-lt"/>
              </a:rPr>
              <a:t>Zero degrees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+mj-lt"/>
              </a:rPr>
              <a:t>None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1600" dirty="0"/>
              <a:t>4.  In which of the following circuit,  current leads voltage ?</a:t>
            </a:r>
            <a:endParaRPr lang="en-IN"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160021" y="4530587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RC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RL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Both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373702265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1883" y="1974587"/>
            <a:ext cx="8657335" cy="222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Describe the concept of resonance in a series RLC circuit.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Calculate the resonant frequency for a given RLC circuit with specific values of L and C.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Explain why the impedance of a series RLC circuit is minimum at resonance.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dirty="0"/>
              <a:t>Determine the significance of the quality factor (Q) in resonance circuits.</a:t>
            </a:r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1473958" y="2332796"/>
            <a:ext cx="9689911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THANK YOU</a:t>
              </a: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Team – </a:t>
              </a:r>
              <a:r>
                <a:rPr lang="en-IN" sz="2400" b="1" dirty="0">
                  <a:latin typeface="Poppins" pitchFamily="2" charset="77"/>
                  <a:cs typeface="Poppins" pitchFamily="2" charset="77"/>
                </a:rPr>
                <a:t>BASIC ELECTRICAL &amp; ELCTRONIC CIRCUITS (BEEC)</a:t>
              </a: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ce605b8-a107-4554-9477-cc67d03fd37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3452B85BF4764CAC002D2369B752D3" ma:contentTypeVersion="15" ma:contentTypeDescription="Create a new document." ma:contentTypeScope="" ma:versionID="bb7ffe0353ee1bdeb799506203a04785">
  <xsd:schema xmlns:xsd="http://www.w3.org/2001/XMLSchema" xmlns:xs="http://www.w3.org/2001/XMLSchema" xmlns:p="http://schemas.microsoft.com/office/2006/metadata/properties" xmlns:ns3="8ce605b8-a107-4554-9477-cc67d03fd377" xmlns:ns4="17e1f34c-e470-4a86-91ee-a2561f204f81" targetNamespace="http://schemas.microsoft.com/office/2006/metadata/properties" ma:root="true" ma:fieldsID="8c5c94fa0375a820cff2349aa85ec3db" ns3:_="" ns4:_="">
    <xsd:import namespace="8ce605b8-a107-4554-9477-cc67d03fd377"/>
    <xsd:import namespace="17e1f34c-e470-4a86-91ee-a2561f204f8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e605b8-a107-4554-9477-cc67d03fd3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1f34c-e470-4a86-91ee-a2561f204f81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7E6BF0-E649-4BF7-8BCA-8DE89EE1AF39}">
  <ds:schemaRefs>
    <ds:schemaRef ds:uri="17e1f34c-e470-4a86-91ee-a2561f204f81"/>
    <ds:schemaRef ds:uri="http://purl.org/dc/elements/1.1/"/>
    <ds:schemaRef ds:uri="8ce605b8-a107-4554-9477-cc67d03fd377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20BF2C3-C37F-47E9-9A83-4C61F2EAFE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e605b8-a107-4554-9477-cc67d03fd377"/>
    <ds:schemaRef ds:uri="17e1f34c-e470-4a86-91ee-a2561f204f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69742C-28B7-48BA-AF73-8CFED1F015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1366</TotalTime>
  <Words>729</Words>
  <Application>Microsoft Office PowerPoint</Application>
  <PresentationFormat>Widescreen</PresentationFormat>
  <Paragraphs>100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Cambria Math</vt:lpstr>
      <vt:lpstr>Gill Sans MT</vt:lpstr>
      <vt:lpstr>Poppins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Tammineni Sreelatha</dc:creator>
  <cp:lastModifiedBy>Sivaprasad Lebaka</cp:lastModifiedBy>
  <cp:revision>53</cp:revision>
  <dcterms:created xsi:type="dcterms:W3CDTF">2023-05-11T04:21:37Z</dcterms:created>
  <dcterms:modified xsi:type="dcterms:W3CDTF">2025-02-08T05:31:17Z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0x010100033452B85BF4764CAC002D2369B752D3</vt:lpwstr>
  </property>
</Properties>
</file>