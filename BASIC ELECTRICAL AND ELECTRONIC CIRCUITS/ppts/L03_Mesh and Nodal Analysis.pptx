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71" r:id="rId2"/>
    <p:sldId id="300" r:id="rId3"/>
    <p:sldId id="415" r:id="rId4"/>
    <p:sldId id="416" r:id="rId5"/>
    <p:sldId id="417" r:id="rId6"/>
    <p:sldId id="421" r:id="rId7"/>
    <p:sldId id="427" r:id="rId8"/>
    <p:sldId id="434" r:id="rId9"/>
    <p:sldId id="435" r:id="rId10"/>
    <p:sldId id="444" r:id="rId11"/>
    <p:sldId id="445" r:id="rId12"/>
    <p:sldId id="443" r:id="rId13"/>
    <p:sldId id="439" r:id="rId14"/>
    <p:sldId id="438" r:id="rId15"/>
    <p:sldId id="440" r:id="rId16"/>
    <p:sldId id="301" r:id="rId17"/>
    <p:sldId id="441" r:id="rId18"/>
    <p:sldId id="442" r:id="rId19"/>
    <p:sldId id="30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6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21-12-2024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21-12-2024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80038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=""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=""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43062" y="2795966"/>
            <a:ext cx="7722515" cy="335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BASIC ELECTRICAL &amp; ELCTRONIC CIRCUITS (</a:t>
            </a:r>
            <a:r>
              <a:rPr lang="en-US" sz="2800" b="1" dirty="0" smtClean="0">
                <a:solidFill>
                  <a:srgbClr val="C00000"/>
                </a:solidFill>
                <a:cs typeface="Poppins" pitchFamily="2" charset="77"/>
              </a:rPr>
              <a:t>BEEC</a:t>
            </a: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)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COURSE CODE : 23EC1203</a:t>
            </a:r>
            <a:r>
              <a:rPr lang="en-US" sz="32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/>
            <a:r>
              <a:rPr lang="en-US" sz="24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Mesh </a:t>
            </a:r>
            <a:r>
              <a:rPr lang="en-US" sz="2400" b="1" cap="all" dirty="0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and nodal analysis &amp;</a:t>
            </a:r>
          </a:p>
          <a:p>
            <a:pPr algn="ctr"/>
            <a:r>
              <a:rPr lang="en-US" sz="24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</a:rPr>
              <a:t>         </a:t>
            </a:r>
            <a:r>
              <a:rPr lang="en-US" sz="2400" b="1" cap="all" dirty="0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numerical </a:t>
            </a:r>
            <a:r>
              <a:rPr lang="en-US" sz="24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Examples</a:t>
            </a: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	</a:t>
            </a:r>
            <a:endParaRPr lang="en-US" sz="4000" b="1" cap="all" dirty="0" smtClean="0">
              <a:ln/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  <a:p>
            <a:pPr algn="ctr"/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		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=""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=""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</a:t>
            </a:r>
            <a:r>
              <a:rPr lang="en-US" sz="2400" dirty="0" smtClean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No.3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071155" y="684469"/>
            <a:ext cx="10800000" cy="82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US" sz="1600" b="0" i="0" dirty="0" smtClean="0">
                <a:effectLst/>
                <a:latin typeface="Poppins"/>
                <a:cs typeface="Poppins"/>
              </a:rPr>
              <a:t>concept of </a:t>
            </a:r>
            <a:r>
              <a:rPr lang="en-US" sz="1600" b="1" i="0" dirty="0" smtClean="0">
                <a:effectLst/>
                <a:latin typeface="Poppins"/>
                <a:cs typeface="Poppins"/>
              </a:rPr>
              <a:t>Mesh  and Nodal Analysis</a:t>
            </a:r>
            <a:r>
              <a:rPr lang="en-US" sz="1600" b="0" i="0" dirty="0" smtClean="0">
                <a:effectLst/>
                <a:latin typeface="Poppins"/>
                <a:cs typeface="Poppins"/>
              </a:rPr>
              <a:t> and analyzing electrical c</a:t>
            </a:r>
            <a:r>
              <a:rPr lang="en-US" sz="1600" dirty="0" smtClean="0">
                <a:latin typeface="Poppins"/>
                <a:cs typeface="Poppins"/>
              </a:rPr>
              <a:t>ircuits using </a:t>
            </a:r>
            <a:r>
              <a:rPr lang="en-US" sz="1600" dirty="0">
                <a:latin typeface="Poppins"/>
                <a:cs typeface="Poppins"/>
              </a:rPr>
              <a:t>Mesh </a:t>
            </a:r>
            <a:r>
              <a:rPr lang="en-US" sz="1600" dirty="0" smtClean="0">
                <a:latin typeface="Poppins"/>
                <a:cs typeface="Poppins"/>
              </a:rPr>
              <a:t>and Nodal Analysis.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=""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018903" y="2438605"/>
            <a:ext cx="10800000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</a:t>
            </a:r>
            <a:r>
              <a:rPr lang="en-US" sz="1600" dirty="0" smtClean="0">
                <a:latin typeface="Arial" panose="020B0604020202020204" pitchFamily="34" charset="0"/>
              </a:rPr>
              <a:t>the steps in Mesh Analysis and Demonstrate to solve some Numerical examples with Mesh Analysis.</a:t>
            </a:r>
          </a:p>
          <a:p>
            <a:pPr marL="342900" indent="-342900">
              <a:buFontTx/>
              <a:buAutoNum type="arabicPeriod"/>
            </a:pP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1600" dirty="0" smtClean="0">
                <a:latin typeface="Arial" panose="020B0604020202020204" pitchFamily="34" charset="0"/>
              </a:rPr>
              <a:t>Describe the steps in Nodal Analysis and Demonstrate to solve some Numerical examples with Nodal Analysis.</a:t>
            </a:r>
            <a:endParaRPr lang="en-US" sz="1600" dirty="0"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=""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=""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64730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=""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=""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778834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034141" y="4824480"/>
            <a:ext cx="10800000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 smtClean="0">
                <a:latin typeface="Arial" panose="020B0604020202020204" pitchFamily="34" charset="0"/>
              </a:rPr>
              <a:t>Solve electric circuits by applying the Mesh Analysis</a:t>
            </a:r>
          </a:p>
          <a:p>
            <a:pPr marL="342900" indent="-342900">
              <a:buAutoNum type="arabicPeriod"/>
            </a:pPr>
            <a:endParaRPr lang="en-US" sz="1600" dirty="0" smtClean="0"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smtClean="0">
                <a:latin typeface="Arial" panose="020B0604020202020204" pitchFamily="34" charset="0"/>
              </a:rPr>
              <a:t>Solve electric circuits by applying the Nodal Analysis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3" y="1867990"/>
            <a:ext cx="9913568" cy="424542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TW" sz="2400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 Mesh is a loop which does not contain any other loops within it</a:t>
            </a:r>
          </a:p>
          <a:p>
            <a:pPr algn="just"/>
            <a:endParaRPr lang="en-US" altLang="zh-TW" sz="2400" dirty="0" smtClean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algn="just"/>
            <a:r>
              <a:rPr lang="en-US" sz="240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Mesh </a:t>
            </a:r>
            <a:r>
              <a:rPr lang="en-US" sz="240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is defined as </a:t>
            </a:r>
            <a:r>
              <a:rPr lang="en-US" sz="2400" i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method in which the current flowing through a 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planar circuit </a:t>
            </a:r>
            <a:r>
              <a:rPr lang="en-US" sz="2400" i="1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i="1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</a:p>
          <a:p>
            <a:pPr algn="just"/>
            <a:endParaRPr lang="en-US" sz="240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Planar circuits are </a:t>
            </a:r>
            <a:r>
              <a:rPr lang="en-US" sz="240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defined as the </a:t>
            </a:r>
            <a:r>
              <a:rPr lang="en-US" sz="240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circuits </a:t>
            </a:r>
            <a:r>
              <a:rPr lang="en-US" sz="240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40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40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drawn on the plane surface in which there are no wires crossing each </a:t>
            </a:r>
            <a:r>
              <a:rPr lang="en-US" sz="240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</a:p>
          <a:p>
            <a:pPr algn="just"/>
            <a:endParaRPr lang="en-US" sz="2400" i="0" dirty="0" smtClean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i="0" dirty="0" smtClean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Mesh </a:t>
            </a:r>
            <a:r>
              <a:rPr lang="en-US" sz="240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can also be known as </a:t>
            </a:r>
            <a:r>
              <a:rPr lang="en-US" sz="2400" i="1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 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240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mesh-current </a:t>
            </a:r>
            <a:r>
              <a:rPr lang="en-US" sz="2400" i="1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240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Mesh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2090061"/>
            <a:ext cx="10711543" cy="335715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following steps are to be followed while solving the given electrical network using mesh analysis: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Step-1: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Identify the number of meshes and assign mesh currents in either clockwise or counter clockwise direction to each mesh.</a:t>
            </a:r>
          </a:p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Step-2: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Write the mesh equations to all the meshes using KVL and Ohm’s Law.</a:t>
            </a:r>
            <a:endParaRPr lang="en-US" sz="2400" i="0" dirty="0">
              <a:solidFill>
                <a:srgbClr val="444444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Step-3: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Solve the mesh equations to obtain the mesh currents.</a:t>
            </a:r>
            <a:endParaRPr lang="en-US" sz="2400" i="0" dirty="0" smtClean="0">
              <a:solidFill>
                <a:srgbClr val="444444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Procedure of Mesh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2090061"/>
            <a:ext cx="10711543" cy="3801288"/>
          </a:xfrm>
        </p:spPr>
        <p:txBody>
          <a:bodyPr>
            <a:normAutofit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Write the mesh current equations in the circuit shown in Fig.1, and determine the mesh currents using mesh analysis.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		   Fig. 1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Mesh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38961" y="3132589"/>
            <a:ext cx="4514078" cy="2183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854926"/>
            <a:ext cx="10711543" cy="4258491"/>
          </a:xfrm>
        </p:spPr>
        <p:txBody>
          <a:bodyPr>
            <a:normAutofit lnSpcReduction="10000"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Write the mesh current equations in the circuit shown in Fig.2, and determine the mesh currents using mesh analysis.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   				Fig. 2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Mesh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94018" y="2785999"/>
            <a:ext cx="5603965" cy="26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854926"/>
            <a:ext cx="10711543" cy="4258491"/>
          </a:xfrm>
        </p:spPr>
        <p:txBody>
          <a:bodyPr>
            <a:normAutofit lnSpcReduction="10000"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Determine the mesh currents in the circuit shown in Fig.3 using mesh analysis.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   				</a:t>
            </a:r>
          </a:p>
          <a:p>
            <a:pPr marL="457200" indent="-457200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Fig. 3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Mesh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66675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19029" y="2356508"/>
            <a:ext cx="5153943" cy="3273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854926"/>
            <a:ext cx="10711543" cy="4258491"/>
          </a:xfrm>
        </p:spPr>
        <p:txBody>
          <a:bodyPr>
            <a:normAutofit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 Determine the currents in the bridge circuit shown in Fig.4 using mesh analysis.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   				Fig. 4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Mesh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49464" y="2495003"/>
            <a:ext cx="4693072" cy="278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66675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854926"/>
            <a:ext cx="10711543" cy="4258491"/>
          </a:xfrm>
        </p:spPr>
        <p:txBody>
          <a:bodyPr>
            <a:normAutofit lnSpcReduction="10000"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 Write the mesh current equations in the circuit shown in Fig.5, and determine the mesh currents using mesh analysis.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   				Fig. 5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Mesh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24573" y="2696329"/>
            <a:ext cx="4742855" cy="2816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1998620"/>
            <a:ext cx="10032274" cy="4036421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Node analysis is based on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Kirchhoff’s current law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states that the algebraic sum of currents meeting at a point is zero.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Every junction where two or more branches meet is regarded as a node. One of the nodes in the network is taken as reference node. If there are n nodes in any network, the number of simultaneous equations to be solved will be (n -1).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Nodal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3" y="1972495"/>
            <a:ext cx="10110653" cy="3775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Steps to be followed in Node Analysis:</a:t>
            </a: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1. If a network has </a:t>
            </a:r>
            <a:r>
              <a:rPr lang="en-US" sz="2200" b="1" i="1" dirty="0" smtClean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assign a reference node and assign a voltage name for each remaining node.</a:t>
            </a: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2. Apply KCL at each node except for the reference node and apply Ohm’s law to the branch currents.</a:t>
            </a: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3. Solve the simultaneous equations for the unknown node voltages.</a:t>
            </a: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4. Using these voltages, find any branch currents, if required.</a:t>
            </a:r>
            <a:endParaRPr lang="en-US" sz="2200" i="0" dirty="0">
              <a:solidFill>
                <a:srgbClr val="444444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Nodal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854926"/>
            <a:ext cx="10711543" cy="4258491"/>
          </a:xfrm>
        </p:spPr>
        <p:txBody>
          <a:bodyPr>
            <a:normAutofit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Determine the value of V in the circuit shown in Fig.1 using nodal analysis.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457200" indent="-457200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Fig. 1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Nodal Analysis</a:t>
            </a:r>
            <a:endParaRPr lang="en-US" sz="3000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95283" y="2451461"/>
            <a:ext cx="4601435" cy="2825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854926"/>
            <a:ext cx="10711543" cy="4258491"/>
          </a:xfrm>
        </p:spPr>
        <p:txBody>
          <a:bodyPr>
            <a:normAutofit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Using the nodal analysis, find the node voltages in the circuit shown in Fig.2.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457200" indent="-457200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Fig. 2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Nodal Analysis</a:t>
            </a:r>
            <a:endParaRPr lang="en-US" sz="3000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94018" y="2550865"/>
            <a:ext cx="5603965" cy="26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854926"/>
            <a:ext cx="10711543" cy="4258491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Determine the node voltages at nodes A, B, and C in the circuit shown in Fig. 3 using nodal</a:t>
            </a: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analysis.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   				</a:t>
            </a:r>
          </a:p>
          <a:p>
            <a:pPr marL="457200" indent="-457200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Fig. 3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Nodal Analysis</a:t>
            </a:r>
            <a:endParaRPr lang="en-US" sz="3000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19029" y="2356513"/>
            <a:ext cx="5153943" cy="3273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7196F-2AE7-CC99-77AE-1618EBC2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854926"/>
            <a:ext cx="10711543" cy="4258491"/>
          </a:xfrm>
        </p:spPr>
        <p:txBody>
          <a:bodyPr>
            <a:normAutofit lnSpcReduction="10000"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 Determine the currents in the bridge circuit shown in Fig.4 using nodal analysis.</a:t>
            </a: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457200" indent="-457200" algn="ctr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Fig. 4</a:t>
            </a: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  <a:p>
            <a:pPr marL="457200" indent="-457200" algn="just">
              <a:buNone/>
            </a:pPr>
            <a:endParaRPr lang="en-US" altLang="zh-TW" sz="2400" dirty="0" smtClean="0">
              <a:latin typeface="Times New Roman" pitchFamily="18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0C8C6D-6F06-DF65-3638-6D33F969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348DE571-C5BA-6811-4178-988C9D0F1FBB}"/>
              </a:ext>
            </a:extLst>
          </p:cNvPr>
          <p:cNvSpPr/>
          <p:nvPr/>
        </p:nvSpPr>
        <p:spPr>
          <a:xfrm>
            <a:off x="2995353" y="647180"/>
            <a:ext cx="6201295" cy="6721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 smtClean="0"/>
              <a:t>Problems on Nodal Analysis</a:t>
            </a:r>
            <a:endParaRPr lang="en-US" sz="3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49464" y="2625633"/>
            <a:ext cx="4693072" cy="278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66675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76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=""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28557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/>
            <a:r>
              <a:rPr lang="en-US" sz="1600" dirty="0" smtClean="0"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1.  Which </a:t>
            </a:r>
            <a:r>
              <a:rPr lang="en-US" sz="1600" dirty="0"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are other names of Mesh Analysis</a:t>
            </a:r>
            <a:r>
              <a:rPr lang="en-US" sz="1600" dirty="0" smtClean="0"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?</a:t>
            </a:r>
            <a:endParaRPr sz="1600" dirty="0"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=""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12590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Mesh current method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Mesh current analysis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Loop current analysis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All the Above</a:t>
            </a: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=""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663587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/>
            <a:r>
              <a:rPr lang="en-US" sz="1600" dirty="0" smtClean="0"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2.  Mesh </a:t>
            </a:r>
            <a:r>
              <a:rPr lang="en-US" sz="1600" dirty="0"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analysis solves _____ type of electrical circuit</a:t>
            </a:r>
            <a:r>
              <a:rPr lang="en-US" sz="1600" dirty="0" smtClean="0"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?</a:t>
            </a:r>
            <a:endParaRPr sz="1600" dirty="0"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=""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26828" y="4435722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Planar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Non planar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Linear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Non of the Above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/>
          </p:cNvPr>
          <p:cNvSpPr/>
          <p:nvPr/>
        </p:nvSpPr>
        <p:spPr>
          <a:xfrm>
            <a:off x="3390900" y="434975"/>
            <a:ext cx="5410200" cy="41116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/>
          </p:cNvPr>
          <p:cNvSpPr/>
          <p:nvPr/>
        </p:nvSpPr>
        <p:spPr>
          <a:xfrm>
            <a:off x="1009650" y="1093788"/>
            <a:ext cx="10172700" cy="709612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>
                <a:latin typeface="Poppins"/>
              </a:rPr>
              <a:t>3. </a:t>
            </a:r>
            <a:r>
              <a:rPr lang="en-US" sz="1600" dirty="0">
                <a:latin typeface="Poppins"/>
              </a:rPr>
              <a:t> </a:t>
            </a:r>
            <a:r>
              <a:rPr lang="en-US" sz="1600" dirty="0" smtClean="0">
                <a:latin typeface="Poppins"/>
              </a:rPr>
              <a:t>A ____ </a:t>
            </a:r>
            <a:r>
              <a:rPr lang="en-US" sz="1600" dirty="0">
                <a:latin typeface="Poppins"/>
              </a:rPr>
              <a:t>is any region on an electrical circuit present between two circuit elements.</a:t>
            </a:r>
            <a:endParaRPr sz="1600">
              <a:solidFill>
                <a:schemeClr val="bg1"/>
              </a:solidFill>
              <a:latin typeface="Poppins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/>
          </p:cNvPr>
          <p:cNvSpPr/>
          <p:nvPr/>
        </p:nvSpPr>
        <p:spPr>
          <a:xfrm>
            <a:off x="1026828" y="189952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 smtClean="0"/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/>
              <a:t>(</a:t>
            </a:r>
            <a:r>
              <a:rPr lang="en-US" sz="1600" dirty="0"/>
              <a:t>a</a:t>
            </a:r>
            <a:r>
              <a:rPr lang="en-US" sz="1600" dirty="0" smtClean="0"/>
              <a:t>) Point</a:t>
            </a:r>
            <a:endParaRPr lang="en-US" sz="1600" dirty="0"/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(b) Node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(c) Breaker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(d</a:t>
            </a:r>
            <a:r>
              <a:rPr lang="en-US" sz="1600" dirty="0" smtClean="0"/>
              <a:t>) Region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/>
          </a:p>
        </p:txBody>
      </p:sp>
      <p:sp>
        <p:nvSpPr>
          <p:cNvPr id="13" name="Google Shape;502;p17">
            <a:extLst/>
          </p:cNvPr>
          <p:cNvSpPr/>
          <p:nvPr/>
        </p:nvSpPr>
        <p:spPr>
          <a:xfrm>
            <a:off x="1009650" y="3612105"/>
            <a:ext cx="10172700" cy="709612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>
                <a:latin typeface="Poppins"/>
              </a:rPr>
              <a:t>4.  Nodal </a:t>
            </a:r>
            <a:r>
              <a:rPr lang="en-US" sz="1600" dirty="0">
                <a:latin typeface="Poppins"/>
              </a:rPr>
              <a:t>analysis is an application of ____</a:t>
            </a:r>
            <a:endParaRPr sz="1600">
              <a:solidFill>
                <a:schemeClr val="bg1"/>
              </a:solidFill>
              <a:latin typeface="Poppins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/>
          </p:cNvPr>
          <p:cNvSpPr/>
          <p:nvPr/>
        </p:nvSpPr>
        <p:spPr>
          <a:xfrm>
            <a:off x="1009895" y="4402183"/>
            <a:ext cx="3209407" cy="160157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 smtClean="0"/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/>
              <a:t>(</a:t>
            </a:r>
            <a:r>
              <a:rPr lang="en-US" sz="1600" dirty="0"/>
              <a:t>a</a:t>
            </a:r>
            <a:r>
              <a:rPr lang="en-US" sz="1600" dirty="0" smtClean="0"/>
              <a:t>) Kepler’s </a:t>
            </a:r>
            <a:r>
              <a:rPr lang="en-US" sz="1600" dirty="0"/>
              <a:t>planetary law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(b</a:t>
            </a:r>
            <a:r>
              <a:rPr lang="en-US" sz="1600" dirty="0" smtClean="0"/>
              <a:t>) Newton’s </a:t>
            </a:r>
            <a:r>
              <a:rPr lang="en-US" sz="1600" dirty="0"/>
              <a:t>law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(c</a:t>
            </a:r>
            <a:r>
              <a:rPr lang="en-US" sz="1600" dirty="0" smtClean="0"/>
              <a:t>) Kirchhoff’s </a:t>
            </a:r>
            <a:r>
              <a:rPr lang="en-US" sz="1600" dirty="0"/>
              <a:t>current law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(d</a:t>
            </a:r>
            <a:r>
              <a:rPr lang="en-US" sz="1600" dirty="0" smtClean="0"/>
              <a:t>) Faraday’s </a:t>
            </a:r>
            <a:r>
              <a:rPr lang="en-US" sz="1600" dirty="0"/>
              <a:t>law</a:t>
            </a: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/>
          </a:p>
        </p:txBody>
      </p:sp>
      <p:pic>
        <p:nvPicPr>
          <p:cNvPr id="2868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/>
          </p:cNvPr>
          <p:cNvSpPr/>
          <p:nvPr/>
        </p:nvSpPr>
        <p:spPr>
          <a:xfrm>
            <a:off x="3390900" y="434975"/>
            <a:ext cx="5410200" cy="41116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/>
          </p:cNvPr>
          <p:cNvSpPr/>
          <p:nvPr/>
        </p:nvSpPr>
        <p:spPr>
          <a:xfrm>
            <a:off x="1009650" y="1093788"/>
            <a:ext cx="10172700" cy="709612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>
                <a:latin typeface="Poppins"/>
                <a:sym typeface="Calibri"/>
              </a:rPr>
              <a:t>5.  </a:t>
            </a:r>
            <a:r>
              <a:rPr lang="en-US" sz="1600" dirty="0" smtClean="0">
                <a:latin typeface="Poppins"/>
              </a:rPr>
              <a:t>To </a:t>
            </a:r>
            <a:r>
              <a:rPr lang="en-US" sz="1600" dirty="0">
                <a:latin typeface="Poppins"/>
              </a:rPr>
              <a:t>obtain all the node voltages, </a:t>
            </a:r>
            <a:r>
              <a:rPr lang="en-US" sz="1600" dirty="0" smtClean="0">
                <a:latin typeface="Poppins"/>
              </a:rPr>
              <a:t> ____  number of equations should </a:t>
            </a:r>
            <a:r>
              <a:rPr lang="en-US" sz="1600" dirty="0">
                <a:latin typeface="Poppins"/>
              </a:rPr>
              <a:t>be </a:t>
            </a:r>
            <a:r>
              <a:rPr lang="en-US" sz="1600" dirty="0" smtClean="0">
                <a:latin typeface="Poppins"/>
              </a:rPr>
              <a:t>solved in nodal analysis.</a:t>
            </a:r>
            <a:endParaRPr sz="1600">
              <a:latin typeface="Poppins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/>
          </p:cNvPr>
          <p:cNvSpPr/>
          <p:nvPr/>
        </p:nvSpPr>
        <p:spPr>
          <a:xfrm>
            <a:off x="1026828" y="189952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 smtClean="0"/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>
                <a:latin typeface="+mj-lt"/>
              </a:rPr>
              <a:t>(</a:t>
            </a:r>
            <a:r>
              <a:rPr lang="en-US" sz="1600" dirty="0">
                <a:latin typeface="+mj-lt"/>
              </a:rPr>
              <a:t>a</a:t>
            </a:r>
            <a:r>
              <a:rPr lang="en-US" sz="1600" dirty="0" smtClean="0">
                <a:latin typeface="+mj-lt"/>
              </a:rPr>
              <a:t>)  n</a:t>
            </a:r>
            <a:endParaRPr lang="en-US" sz="1600" dirty="0">
              <a:latin typeface="+mj-lt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j-lt"/>
              </a:rPr>
              <a:t>(</a:t>
            </a:r>
            <a:r>
              <a:rPr lang="en-US" sz="1600" dirty="0" smtClean="0">
                <a:latin typeface="+mj-lt"/>
              </a:rPr>
              <a:t>b)  n+1</a:t>
            </a:r>
            <a:endParaRPr lang="en-US" sz="1600" dirty="0">
              <a:latin typeface="+mj-lt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j-lt"/>
              </a:rPr>
              <a:t>(</a:t>
            </a:r>
            <a:r>
              <a:rPr lang="en-US" sz="1600" dirty="0" smtClean="0">
                <a:latin typeface="+mj-lt"/>
              </a:rPr>
              <a:t>c)  2n</a:t>
            </a:r>
            <a:endParaRPr lang="en-US" sz="1600" dirty="0">
              <a:latin typeface="+mj-lt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j-lt"/>
              </a:rPr>
              <a:t>(d</a:t>
            </a:r>
            <a:r>
              <a:rPr lang="en-US" sz="1600" dirty="0" smtClean="0">
                <a:latin typeface="+mj-lt"/>
              </a:rPr>
              <a:t>)  n-1</a:t>
            </a:r>
            <a:endParaRPr lang="en-US" sz="1600" dirty="0">
              <a:latin typeface="+mj-lt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/>
          </a:p>
        </p:txBody>
      </p:sp>
      <p:sp>
        <p:nvSpPr>
          <p:cNvPr id="13" name="Google Shape;502;p17">
            <a:extLst/>
          </p:cNvPr>
          <p:cNvSpPr/>
          <p:nvPr/>
        </p:nvSpPr>
        <p:spPr>
          <a:xfrm>
            <a:off x="1009650" y="3612105"/>
            <a:ext cx="10172700" cy="709612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>
                <a:latin typeface="Poppins"/>
                <a:sym typeface="Calibri"/>
              </a:rPr>
              <a:t>6.  </a:t>
            </a:r>
            <a:r>
              <a:rPr lang="en-US" sz="1600" dirty="0" smtClean="0">
                <a:latin typeface="Poppins"/>
              </a:rPr>
              <a:t>Which </a:t>
            </a:r>
            <a:r>
              <a:rPr lang="en-US" sz="1600" dirty="0">
                <a:latin typeface="Poppins"/>
              </a:rPr>
              <a:t>law is applied to the </a:t>
            </a:r>
            <a:r>
              <a:rPr lang="en-US" sz="1600" dirty="0" smtClean="0">
                <a:latin typeface="Poppins"/>
              </a:rPr>
              <a:t>super node</a:t>
            </a:r>
            <a:r>
              <a:rPr lang="en-US" sz="1600" dirty="0">
                <a:latin typeface="Poppins"/>
              </a:rPr>
              <a:t>?</a:t>
            </a:r>
            <a:endParaRPr sz="1600" dirty="0">
              <a:latin typeface="Poppins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/>
          </p:cNvPr>
          <p:cNvSpPr/>
          <p:nvPr/>
        </p:nvSpPr>
        <p:spPr>
          <a:xfrm>
            <a:off x="1009895" y="4389121"/>
            <a:ext cx="3682421" cy="161463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 smtClean="0"/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/>
              <a:t>(</a:t>
            </a:r>
            <a:r>
              <a:rPr lang="en-US" sz="1600" dirty="0"/>
              <a:t>a</a:t>
            </a:r>
            <a:r>
              <a:rPr lang="en-US" sz="1600" dirty="0" smtClean="0"/>
              <a:t>)  Kepler’s </a:t>
            </a:r>
            <a:r>
              <a:rPr lang="en-US" sz="1600" dirty="0"/>
              <a:t>planetary law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(b) </a:t>
            </a:r>
            <a:r>
              <a:rPr lang="en-US" sz="1600" dirty="0" smtClean="0"/>
              <a:t> Kirchhoff’s </a:t>
            </a:r>
            <a:r>
              <a:rPr lang="en-US" sz="1600" dirty="0"/>
              <a:t>Voltage law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(c</a:t>
            </a:r>
            <a:r>
              <a:rPr lang="en-US" sz="1600" dirty="0" smtClean="0"/>
              <a:t>)  Kirchhoff’s </a:t>
            </a:r>
            <a:r>
              <a:rPr lang="en-US" sz="1600" dirty="0"/>
              <a:t>current law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(d</a:t>
            </a:r>
            <a:r>
              <a:rPr lang="en-US" sz="1600" dirty="0" smtClean="0"/>
              <a:t>)  Both </a:t>
            </a:r>
            <a:r>
              <a:rPr lang="en-US" sz="1600" dirty="0"/>
              <a:t>b &amp; c</a:t>
            </a: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/>
          </a:p>
        </p:txBody>
      </p:sp>
      <p:pic>
        <p:nvPicPr>
          <p:cNvPr id="2970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7781" y="1856214"/>
            <a:ext cx="96082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</a:pPr>
            <a:r>
              <a:rPr lang="en-US" dirty="0" smtClean="0"/>
              <a:t>1. Circuit </a:t>
            </a:r>
            <a:r>
              <a:rPr lang="en-US" dirty="0"/>
              <a:t>Theory - Analysis and Synthesis by Abhijit Chakrabarti</a:t>
            </a:r>
          </a:p>
          <a:p>
            <a:pPr>
              <a:lnSpc>
                <a:spcPct val="150000"/>
              </a:lnSpc>
            </a:pPr>
            <a:r>
              <a:rPr lang="en-US" dirty="0"/>
              <a:t>2. Electrical Circuit Theory by B</a:t>
            </a:r>
            <a:r>
              <a:rPr lang="en-US" dirty="0" smtClean="0"/>
              <a:t>. L. </a:t>
            </a:r>
            <a:r>
              <a:rPr lang="en-US" dirty="0" err="1" smtClean="0"/>
              <a:t>Theraja</a:t>
            </a:r>
            <a:r>
              <a:rPr lang="en-US" dirty="0"/>
              <a:t>, </a:t>
            </a:r>
            <a:r>
              <a:rPr lang="en-US" dirty="0" smtClean="0"/>
              <a:t> M. E. Van </a:t>
            </a:r>
            <a:r>
              <a:rPr lang="en-US" dirty="0" err="1" smtClean="0"/>
              <a:t>Valkenburg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Fundamentals of Electric Circuits by Charles K. Alexander, </a:t>
            </a:r>
            <a:r>
              <a:rPr lang="en-US" dirty="0" smtClean="0"/>
              <a:t> Matthew </a:t>
            </a:r>
            <a:r>
              <a:rPr lang="en-US" dirty="0"/>
              <a:t>N.O. Sadiku</a:t>
            </a:r>
          </a:p>
          <a:p>
            <a:pPr>
              <a:lnSpc>
                <a:spcPct val="150000"/>
              </a:lnSpc>
            </a:pPr>
            <a:r>
              <a:rPr lang="en-US" dirty="0"/>
              <a:t>4. Engineering Circuit Analysis by William H. </a:t>
            </a:r>
            <a:r>
              <a:rPr lang="en-US" dirty="0" err="1"/>
              <a:t>Hayt</a:t>
            </a:r>
            <a:r>
              <a:rPr lang="en-US" dirty="0"/>
              <a:t>, </a:t>
            </a:r>
            <a:r>
              <a:rPr lang="en-US" dirty="0" smtClean="0"/>
              <a:t> Jack </a:t>
            </a:r>
            <a:r>
              <a:rPr lang="en-US" dirty="0" err="1"/>
              <a:t>Kemmerly</a:t>
            </a:r>
            <a:r>
              <a:rPr lang="en-US" dirty="0"/>
              <a:t>, </a:t>
            </a:r>
            <a:r>
              <a:rPr lang="en-US" dirty="0" smtClean="0"/>
              <a:t> Steven </a:t>
            </a:r>
            <a:r>
              <a:rPr lang="en-US" dirty="0"/>
              <a:t>M. Durbin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/>
              <a:t>1. https://www.youtube.com/watch?v=6A-Qtst3uZY&amp;list=PLgwJf8NK-2e5s5IUh1wLlTioszBrW58bx</a:t>
            </a:r>
          </a:p>
          <a:p>
            <a:pPr>
              <a:lnSpc>
                <a:spcPct val="150000"/>
              </a:lnSpc>
            </a:pPr>
            <a:r>
              <a:rPr lang="en-US" dirty="0"/>
              <a:t>2. https://www.tutorialspoint.com/network_theory/network_theory_mesh_analysis.htm</a:t>
            </a:r>
          </a:p>
          <a:p>
            <a:pPr>
              <a:lnSpc>
                <a:spcPct val="150000"/>
              </a:lnSpc>
            </a:pPr>
            <a:r>
              <a:rPr lang="en-US" dirty="0"/>
              <a:t>3. https://en.wikipedia.org/wiki/Mesh_analysis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7734204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=""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BEC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2884</TotalTime>
  <Words>904</Words>
  <Application>Microsoft Office PowerPoint</Application>
  <PresentationFormat>Custom</PresentationFormat>
  <Paragraphs>187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Gallery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ANM</dc:creator>
  <cp:lastModifiedBy>ASR</cp:lastModifiedBy>
  <cp:revision>68</cp:revision>
  <dcterms:created xsi:type="dcterms:W3CDTF">2023-05-11T04:21:37Z</dcterms:created>
  <dcterms:modified xsi:type="dcterms:W3CDTF">2024-12-21T04:07:25Z</dcterms:modified>
</cp:coreProperties>
</file>