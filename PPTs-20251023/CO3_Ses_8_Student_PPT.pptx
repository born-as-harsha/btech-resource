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8"/>
  </p:handoutMasterIdLst>
  <p:sldIdLst>
    <p:sldId id="345" r:id="rId3"/>
    <p:sldId id="332" r:id="rId5"/>
    <p:sldId id="354" r:id="rId6"/>
    <p:sldId id="258" r:id="rId7"/>
    <p:sldId id="577" r:id="rId8"/>
    <p:sldId id="581" r:id="rId9"/>
    <p:sldId id="583" r:id="rId10"/>
    <p:sldId id="586" r:id="rId11"/>
    <p:sldId id="589" r:id="rId12"/>
    <p:sldId id="592" r:id="rId13"/>
    <p:sldId id="595" r:id="rId14"/>
    <p:sldId id="619" r:id="rId15"/>
    <p:sldId id="622" r:id="rId16"/>
    <p:sldId id="625" r:id="rId17"/>
    <p:sldId id="628" r:id="rId18"/>
    <p:sldId id="631" r:id="rId19"/>
    <p:sldId id="364" r:id="rId20"/>
    <p:sldId id="316" r:id="rId21"/>
    <p:sldId id="365" r:id="rId22"/>
    <p:sldId id="366" r:id="rId23"/>
    <p:sldId id="367" r:id="rId24"/>
    <p:sldId id="368" r:id="rId25"/>
    <p:sldId id="357" r:id="rId26"/>
    <p:sldId id="37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0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634" autoAdjust="0"/>
    <p:restoredTop sz="94660"/>
  </p:normalViewPr>
  <p:slideViewPr>
    <p:cSldViewPr snapToGrid="0">
      <p:cViewPr varScale="1">
        <p:scale>
          <a:sx n="88" d="100"/>
          <a:sy n="88" d="100"/>
        </p:scale>
        <p:origin x="208" y="5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fld>
            <a:endParaRPr lang="en-IN"/>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GIF"/></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image" Target="../media/image12.GI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image" Target="../media/image12.GIF"/></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microsoft.com/office/2007/relationships/hdphoto" Target="../media/image25.wdp"/><Relationship Id="rId2" Type="http://schemas.openxmlformats.org/officeDocument/2006/relationships/image" Target="../media/image24.png"/><Relationship Id="rId1"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1">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3410464" y="2820599"/>
            <a:ext cx="8767699" cy="1875155"/>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   Analog electronic Circuit Design (24ec2104)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cs typeface="Poppins" panose="00000500000000000000" pitchFamily="2" charset="0"/>
              </a:rPr>
              <a:t>Active Filters-1</a:t>
            </a:r>
            <a:endParaRPr lang="en-US" sz="3200" b="1" cap="all" dirty="0">
              <a:solidFill>
                <a:srgbClr val="C00000"/>
              </a:solidFill>
              <a:cs typeface="Poppins" panose="00000500000000000000" pitchFamily="2" charset="0"/>
            </a:endParaRPr>
          </a:p>
        </p:txBody>
      </p:sp>
      <p:sp>
        <p:nvSpPr>
          <p:cNvPr id="19" name="Rectangle: Rounded Corners 18"/>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ECE</a:t>
            </a:r>
            <a:endParaRPr lang="en-US" sz="3600" dirty="0">
              <a:solidFill>
                <a:srgbClr val="C00000"/>
              </a:solidFill>
              <a:cs typeface="Poppins" pitchFamily="2" charset="77"/>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451579" y="804520"/>
            <a:ext cx="9603275" cy="690452"/>
          </a:xfrm>
        </p:spPr>
        <p:txBody>
          <a:bodyPr/>
          <a:lstStyle/>
          <a:p>
            <a:r>
              <a:rPr lang="en-US" dirty="0"/>
              <a:t>Session Content</a:t>
            </a:r>
            <a:endParaRPr lang="en-IN" dirty="0"/>
          </a:p>
        </p:txBody>
      </p:sp>
      <p:sp>
        <p:nvSpPr>
          <p:cNvPr id="4" name="Content Placeholder 3"/>
          <p:cNvSpPr>
            <a:spLocks noGrp="1"/>
          </p:cNvSpPr>
          <p:nvPr>
            <p:ph idx="1"/>
          </p:nvPr>
        </p:nvSpPr>
        <p:spPr>
          <a:xfrm>
            <a:off x="1451579" y="2015732"/>
            <a:ext cx="9603275" cy="3949639"/>
          </a:xfrm>
        </p:spPr>
        <p:txBody>
          <a:bodyPr>
            <a:normAutofit fontScale="40000" lnSpcReduction="20000"/>
          </a:bodyPr>
          <a:lstStyle/>
          <a:p>
            <a:r>
              <a:rPr lang="en-US" sz="4200" dirty="0"/>
              <a:t>Aim</a:t>
            </a:r>
            <a:r>
              <a:rPr lang="en-IN" sz="4200" dirty="0"/>
              <a:t> – Objectives – Outcomes</a:t>
            </a:r>
            <a:endParaRPr lang="en-IN" sz="4200" dirty="0"/>
          </a:p>
          <a:p>
            <a:r>
              <a:rPr lang="en-IN" sz="4200" dirty="0"/>
              <a:t>Introduction</a:t>
            </a:r>
            <a:endParaRPr lang="en-IN" sz="4200" dirty="0"/>
          </a:p>
          <a:p>
            <a:r>
              <a:rPr lang="en-IN" sz="4400" dirty="0">
                <a:latin typeface="Cambria" panose="02040503050406030204" pitchFamily="18" charset="0"/>
                <a:ea typeface="Cambria" panose="02040503050406030204" pitchFamily="18" charset="0"/>
              </a:rPr>
              <a:t>Filters</a:t>
            </a:r>
            <a:endParaRPr lang="en-IN" sz="1600" dirty="0">
              <a:latin typeface="Cambria" panose="02040503050406030204" pitchFamily="18" charset="0"/>
              <a:ea typeface="Cambria" panose="02040503050406030204" pitchFamily="18" charset="0"/>
            </a:endParaRPr>
          </a:p>
          <a:p>
            <a:r>
              <a:rPr lang="en-IN" sz="4400" dirty="0">
                <a:latin typeface="Cambria" panose="02040503050406030204" pitchFamily="18" charset="0"/>
                <a:ea typeface="Cambria" panose="02040503050406030204" pitchFamily="18" charset="0"/>
              </a:rPr>
              <a:t>Active Filters</a:t>
            </a:r>
            <a:endParaRPr lang="en-IN" sz="1600" dirty="0">
              <a:latin typeface="Cambria" panose="02040503050406030204" pitchFamily="18" charset="0"/>
              <a:ea typeface="Cambria" panose="02040503050406030204" pitchFamily="18" charset="0"/>
            </a:endParaRPr>
          </a:p>
          <a:p>
            <a:r>
              <a:rPr lang="en-IN" sz="4400" dirty="0">
                <a:latin typeface="Cambria" panose="02040503050406030204" pitchFamily="18" charset="0"/>
                <a:ea typeface="Cambria" panose="02040503050406030204" pitchFamily="18" charset="0"/>
              </a:rPr>
              <a:t>Low Pass Filters</a:t>
            </a:r>
            <a:endParaRPr lang="en-IN" sz="1600" dirty="0">
              <a:latin typeface="Cambria" panose="02040503050406030204" pitchFamily="18" charset="0"/>
              <a:ea typeface="Cambria" panose="02040503050406030204" pitchFamily="18" charset="0"/>
            </a:endParaRPr>
          </a:p>
          <a:p>
            <a:r>
              <a:rPr lang="en-US" sz="4200" dirty="0"/>
              <a:t>Summary </a:t>
            </a:r>
            <a:endParaRPr lang="en-US" sz="4200" dirty="0"/>
          </a:p>
          <a:p>
            <a:r>
              <a:rPr lang="en-US" sz="4200" dirty="0"/>
              <a:t>Example Problems</a:t>
            </a:r>
            <a:endParaRPr lang="en-US" sz="4200" dirty="0"/>
          </a:p>
          <a:p>
            <a:r>
              <a:rPr lang="en-US" sz="4200" dirty="0"/>
              <a:t>Self  Assessment  Questions</a:t>
            </a:r>
            <a:endParaRPr lang="en-US" sz="4200" dirty="0"/>
          </a:p>
          <a:p>
            <a:r>
              <a:rPr lang="en-US" sz="4200" dirty="0"/>
              <a:t>Terminal Questions</a:t>
            </a:r>
            <a:endParaRPr lang="en-US" sz="4200" dirty="0"/>
          </a:p>
          <a:p>
            <a:r>
              <a:rPr lang="en-US" sz="4200" dirty="0"/>
              <a:t>References </a:t>
            </a:r>
            <a:endParaRPr lang="en-US" sz="4200" dirty="0"/>
          </a:p>
          <a:p>
            <a:endParaRPr lang="en-US" dirty="0"/>
          </a:p>
        </p:txBody>
      </p:sp>
      <p:sp>
        <p:nvSpPr>
          <p:cNvPr id="2" name="Slide Number Placeholder 1"/>
          <p:cNvSpPr>
            <a:spLocks noGrp="1"/>
          </p:cNvSpPr>
          <p:nvPr>
            <p:ph type="sldNum" sz="quarter" idx="12"/>
          </p:nvPr>
        </p:nvSpPr>
        <p:spPr/>
        <p:txBody>
          <a:bodyPr/>
          <a:lstStyle/>
          <a:p>
            <a:fld id="{CBABCCC1-BF11-4F37-963E-1BCD5B23FD72}" type="slidenum">
              <a:rPr lang="en-IN" smtClean="0"/>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AIM OF THE SESSION</a:t>
            </a:r>
            <a:endParaRPr lang="en-US" sz="2000" dirty="0"/>
          </a:p>
        </p:txBody>
      </p:sp>
      <p:sp>
        <p:nvSpPr>
          <p:cNvPr id="5" name="TextBox 4"/>
          <p:cNvSpPr txBox="1"/>
          <p:nvPr/>
        </p:nvSpPr>
        <p:spPr>
          <a:xfrm>
            <a:off x="885748" y="637745"/>
            <a:ext cx="10731286" cy="874470"/>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GB" dirty="0"/>
              <a:t>The aim of this session is to emphasize the significance of Operational Amplifier and to understand the basics of most important applications of Op-Amp such as, </a:t>
            </a:r>
            <a:r>
              <a:rPr lang="en-IN" dirty="0"/>
              <a:t>active filters</a:t>
            </a:r>
            <a:r>
              <a:rPr lang="en-US" sz="1600" dirty="0">
                <a:latin typeface="Poppins"/>
                <a:cs typeface="Poppins"/>
              </a:rPr>
              <a:t>.</a:t>
            </a:r>
            <a:endParaRPr lang="en-IN" dirty="0"/>
          </a:p>
        </p:txBody>
      </p:sp>
      <p:sp>
        <p:nvSpPr>
          <p:cNvPr id="7" name="Rounded Rectangle 17"/>
          <p:cNvSpPr/>
          <p:nvPr/>
        </p:nvSpPr>
        <p:spPr>
          <a:xfrm>
            <a:off x="4053596" y="1630041"/>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INSTRUCTIONAL OBJECTIVES</a:t>
            </a:r>
            <a:endParaRPr lang="en-US" sz="2000" dirty="0"/>
          </a:p>
        </p:txBody>
      </p:sp>
      <p:sp>
        <p:nvSpPr>
          <p:cNvPr id="9" name="TextBox 8"/>
          <p:cNvSpPr txBox="1"/>
          <p:nvPr/>
        </p:nvSpPr>
        <p:spPr>
          <a:xfrm>
            <a:off x="885749" y="2241406"/>
            <a:ext cx="10731286" cy="1354217"/>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endParaRPr lang="en-US" sz="1600" b="0" i="0" dirty="0">
              <a:effectLst/>
              <a:latin typeface="Poppins"/>
              <a:cs typeface="Poppins"/>
            </a:endParaRPr>
          </a:p>
          <a:p>
            <a:pPr marL="800100" lvl="1" indent="-342900">
              <a:buFont typeface="+mj-lt"/>
              <a:buAutoNum type="arabicPeriod"/>
            </a:pPr>
            <a:r>
              <a:rPr lang="en-GB" sz="1600" dirty="0"/>
              <a:t>Specify the importance/necessity of the active filters using Op-Amp.</a:t>
            </a:r>
            <a:endParaRPr lang="en-GB" sz="1600" dirty="0"/>
          </a:p>
          <a:p>
            <a:pPr marL="800100" lvl="1" indent="-342900">
              <a:buFont typeface="+mj-lt"/>
              <a:buAutoNum type="arabicPeriod"/>
            </a:pPr>
            <a:r>
              <a:rPr lang="en-GB" sz="1600" dirty="0"/>
              <a:t>Describe the function of block diagram of active filters.</a:t>
            </a:r>
            <a:endParaRPr lang="en-GB" sz="1600" dirty="0"/>
          </a:p>
          <a:p>
            <a:pPr marL="800100" lvl="1" indent="-342900">
              <a:buFont typeface="+mj-lt"/>
              <a:buAutoNum type="arabicPeriod"/>
            </a:pPr>
            <a:r>
              <a:rPr lang="en-GB" sz="1600" dirty="0"/>
              <a:t>Understand the schematic symbol of the active filters.</a:t>
            </a:r>
            <a:endParaRPr lang="en-GB" sz="1600" dirty="0"/>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2445925"/>
            <a:ext cx="914400" cy="914400"/>
          </a:xfrm>
          <a:prstGeom prst="rect">
            <a:avLst/>
          </a:prstGeom>
        </p:spPr>
      </p:pic>
      <p:sp>
        <p:nvSpPr>
          <p:cNvPr id="29" name="Rounded Rectangle 17"/>
          <p:cNvSpPr/>
          <p:nvPr/>
        </p:nvSpPr>
        <p:spPr>
          <a:xfrm>
            <a:off x="4315974" y="3969959"/>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endParaRPr lang="en-US" sz="2400" dirty="0"/>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652" y="4846140"/>
            <a:ext cx="914400" cy="914400"/>
          </a:xfrm>
          <a:prstGeom prst="rect">
            <a:avLst/>
          </a:prstGeom>
        </p:spPr>
      </p:pic>
      <p:sp>
        <p:nvSpPr>
          <p:cNvPr id="37" name="TextBox 36"/>
          <p:cNvSpPr txBox="1"/>
          <p:nvPr/>
        </p:nvSpPr>
        <p:spPr>
          <a:xfrm>
            <a:off x="914400" y="4518510"/>
            <a:ext cx="10702634"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endParaRPr lang="en-US" sz="1600" b="0" i="0" dirty="0">
              <a:effectLst/>
              <a:latin typeface="Arial" panose="020B0604020202020204"/>
              <a:cs typeface="Arial" panose="020B0604020202020204"/>
            </a:endParaRPr>
          </a:p>
          <a:p>
            <a:pPr marL="800100" lvl="1" indent="-342900">
              <a:buFont typeface="+mj-lt"/>
              <a:buAutoNum type="arabicPeriod"/>
            </a:pPr>
            <a:r>
              <a:rPr lang="en-GB" sz="1600" dirty="0"/>
              <a:t>Explain the application of Op-Amp for active filters.</a:t>
            </a:r>
            <a:endParaRPr lang="en-GB" sz="1600" dirty="0"/>
          </a:p>
          <a:p>
            <a:pPr marL="800100" lvl="1" indent="-342900">
              <a:buFont typeface="+mj-lt"/>
              <a:buAutoNum type="arabicPeriod"/>
            </a:pPr>
            <a:r>
              <a:rPr lang="en-GB" sz="1600" dirty="0"/>
              <a:t>Summarize the functioning of active filters applications.</a:t>
            </a:r>
            <a:endParaRPr lang="en-GB" sz="1600" dirty="0"/>
          </a:p>
          <a:p>
            <a:pPr marL="800100" lvl="1" indent="-342900">
              <a:buFont typeface="+mj-lt"/>
              <a:buAutoNum type="arabicPeriod"/>
            </a:pPr>
            <a:r>
              <a:rPr lang="en-GB" sz="1600" dirty="0"/>
              <a:t>Identify the Pin configuration and importance of IC741 for active filters operation.</a:t>
            </a:r>
            <a:endParaRPr lang="en-GB"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2862488" y="42531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INTRODUCTION </a:t>
            </a:r>
            <a:endParaRPr lang="en-US" sz="2400"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3" name="TextBox 2"/>
          <p:cNvSpPr txBox="1"/>
          <p:nvPr/>
        </p:nvSpPr>
        <p:spPr>
          <a:xfrm>
            <a:off x="529280" y="997965"/>
            <a:ext cx="11133438" cy="5115311"/>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Active filters are frequency-selective circuits that use active components, such as operational amplifiers (op-amps), along with passive components like resistors and capacitors to filter specific frequency ranges.</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Typically operational amplifiers (op-amps) are used to amplify signals and provide the necessary gain.</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Resistors and capacitors are used to determine the frequency response of the filter.</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 Pass Filter (LPF): Passes low-frequency signals while attenuating high-frequency signals.</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Pass Filter (HPF): Passes high-frequency signals while attenuating low-frequency signals.</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Band Pass Filter (BPF): Passes a specific band of frequencies while attenuating frequencies outside this band.</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Band Stop Filter (BSF) or Notch Filter: Attenuates a specific band of frequencies while passing frequencies outside this band.</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70788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4000" dirty="0">
                <a:latin typeface="Cambria" panose="02040503050406030204" pitchFamily="18" charset="0"/>
                <a:ea typeface="Cambria" panose="02040503050406030204" pitchFamily="18" charset="0"/>
              </a:rPr>
              <a:t>Filters</a:t>
            </a:r>
            <a:endParaRPr lang="en-IN" sz="1400" dirty="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316146" y="1929188"/>
            <a:ext cx="11464522" cy="4247877"/>
          </a:xfrm>
        </p:spPr>
        <p:txBody>
          <a:bodyPr anchor="t">
            <a:noAutofit/>
          </a:bodyPr>
          <a:lstStyle/>
          <a:p>
            <a:pPr eaLnBrk="1" hangingPunct="1">
              <a:buFont typeface="Wingdings" panose="05000000000000000000" pitchFamily="2" charset="2"/>
              <a:buChar char="v"/>
            </a:pPr>
            <a:r>
              <a:rPr lang="en-US" altLang="en-US" sz="1600">
                <a:latin typeface="Cambria" panose="02040503050406030204" pitchFamily="18" charset="0"/>
                <a:ea typeface="Cambria" panose="02040503050406030204" pitchFamily="18" charset="0"/>
                <a:cs typeface="Calibri" panose="020F0502020204030204" pitchFamily="34" charset="0"/>
              </a:rPr>
              <a:t>Filter is a frequency selective circuit that passes signal of specified band of frequencies and attenuates the signals of frequencies outside the band.</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r>
              <a:rPr lang="en-US" altLang="en-US" sz="1600">
                <a:latin typeface="Cambria" panose="02040503050406030204" pitchFamily="18" charset="0"/>
                <a:ea typeface="Cambria" panose="02040503050406030204" pitchFamily="18" charset="0"/>
                <a:cs typeface="Calibri" panose="020F0502020204030204" pitchFamily="34" charset="0"/>
              </a:rPr>
              <a:t>Types of Filters</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lvl="1"/>
            <a:r>
              <a:rPr lang="en-US" altLang="en-US" sz="1600">
                <a:latin typeface="Cambria" panose="02040503050406030204" pitchFamily="18" charset="0"/>
                <a:ea typeface="Cambria" panose="02040503050406030204" pitchFamily="18" charset="0"/>
                <a:cs typeface="Calibri" panose="020F0502020204030204" pitchFamily="34" charset="0"/>
              </a:rPr>
              <a:t>Active Filter</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lvl="1"/>
            <a:r>
              <a:rPr lang="en-US" altLang="en-US" sz="1600">
                <a:latin typeface="Cambria" panose="02040503050406030204" pitchFamily="18" charset="0"/>
                <a:ea typeface="Cambria" panose="02040503050406030204" pitchFamily="18" charset="0"/>
                <a:cs typeface="Calibri" panose="020F0502020204030204" pitchFamily="34" charset="0"/>
              </a:rPr>
              <a:t>Passive Filter</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r>
              <a:rPr lang="en-US" altLang="en-US" sz="1600">
                <a:latin typeface="Cambria" panose="02040503050406030204" pitchFamily="18" charset="0"/>
                <a:ea typeface="Cambria" panose="02040503050406030204" pitchFamily="18" charset="0"/>
                <a:cs typeface="Calibri" panose="020F0502020204030204" pitchFamily="34" charset="0"/>
              </a:rPr>
              <a:t>Passive Filters</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lvl="1"/>
            <a:r>
              <a:rPr lang="en-US" altLang="en-US" sz="1600">
                <a:latin typeface="Cambria" panose="02040503050406030204" pitchFamily="18" charset="0"/>
                <a:ea typeface="Cambria" panose="02040503050406030204" pitchFamily="18" charset="0"/>
                <a:cs typeface="Calibri" panose="020F0502020204030204" pitchFamily="34" charset="0"/>
              </a:rPr>
              <a:t>Passive filters works well for high frequencies. But at audio frequencies, the inductors become problematic, as they become large, heavy and  expensive.</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lvl="1"/>
            <a:r>
              <a:rPr lang="en-US" altLang="en-US" sz="1600">
                <a:latin typeface="Cambria" panose="02040503050406030204" pitchFamily="18" charset="0"/>
                <a:ea typeface="Cambria" panose="02040503050406030204" pitchFamily="18" charset="0"/>
                <a:cs typeface="Calibri" panose="020F0502020204030204" pitchFamily="34" charset="0"/>
              </a:rPr>
              <a:t>For low frequency applications, more number of turns of wire must be used which in turn adds to the series resistance degrading inductor’s performance i.e, low Q, resulting in high power dissipation.</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marL="0" indent="0" eaLnBrk="1" hangingPunct="1">
              <a:buNone/>
            </a:pPr>
            <a:r>
              <a:rPr lang="en-US" altLang="en-US" sz="1600">
                <a:latin typeface="Cambria" panose="02040503050406030204" pitchFamily="18" charset="0"/>
                <a:ea typeface="Cambria" panose="02040503050406030204" pitchFamily="18" charset="0"/>
                <a:cs typeface="Calibri" panose="020F0502020204030204" pitchFamily="34" charset="0"/>
              </a:rPr>
              <a:t> </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marL="457200" lvl="1" indent="0">
              <a:buNone/>
            </a:pPr>
            <a:r>
              <a:rPr lang="en-US" altLang="en-US" sz="1600">
                <a:latin typeface="Cambria" panose="02040503050406030204" pitchFamily="18" charset="0"/>
                <a:ea typeface="Cambria" panose="02040503050406030204" pitchFamily="18"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70788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4000" dirty="0">
                <a:latin typeface="Cambria" panose="02040503050406030204" pitchFamily="18" charset="0"/>
                <a:ea typeface="Cambria" panose="02040503050406030204" pitchFamily="18" charset="0"/>
              </a:rPr>
              <a:t>Active Filters</a:t>
            </a:r>
            <a:endParaRPr lang="en-IN" sz="1400" dirty="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316146" y="1929188"/>
            <a:ext cx="11464522" cy="4247877"/>
          </a:xfrm>
        </p:spPr>
        <p:txBody>
          <a:bodyPr anchor="t">
            <a:noAutofit/>
          </a:bodyPr>
          <a:lstStyle/>
          <a:p>
            <a:pPr eaLnBrk="1" hangingPunct="1">
              <a:buFont typeface="Wingdings" panose="05000000000000000000" pitchFamily="2" charset="2"/>
              <a:buChar char="v"/>
            </a:pPr>
            <a:r>
              <a:rPr lang="en-US" altLang="en-US">
                <a:latin typeface="Cambria" panose="02040503050406030204" pitchFamily="18" charset="0"/>
                <a:ea typeface="Cambria" panose="02040503050406030204" pitchFamily="18" charset="0"/>
                <a:cs typeface="Calibri" panose="020F0502020204030204" pitchFamily="34" charset="0"/>
              </a:rPr>
              <a:t>Active filters used op-amp as the active element and resistors and capacitors as passive elements.</a:t>
            </a:r>
            <a:endParaRPr lang="en-US" altLang="en-US">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r>
              <a:rPr lang="en-US" altLang="en-US">
                <a:latin typeface="Cambria" panose="02040503050406030204" pitchFamily="18" charset="0"/>
                <a:ea typeface="Cambria" panose="02040503050406030204" pitchFamily="18" charset="0"/>
                <a:cs typeface="Calibri" panose="020F0502020204030204" pitchFamily="34" charset="0"/>
              </a:rPr>
              <a:t>Some commonly used active filters</a:t>
            </a:r>
            <a:endParaRPr lang="en-US" altLang="en-US">
              <a:latin typeface="Cambria" panose="02040503050406030204" pitchFamily="18" charset="0"/>
              <a:ea typeface="Cambria" panose="02040503050406030204" pitchFamily="18" charset="0"/>
              <a:cs typeface="Calibri" panose="020F0502020204030204" pitchFamily="34" charset="0"/>
            </a:endParaRPr>
          </a:p>
          <a:p>
            <a:pPr lvl="1"/>
            <a:r>
              <a:rPr lang="en-US" altLang="en-US" sz="2000">
                <a:latin typeface="Cambria" panose="02040503050406030204" pitchFamily="18" charset="0"/>
                <a:ea typeface="Cambria" panose="02040503050406030204" pitchFamily="18" charset="0"/>
                <a:cs typeface="Calibri" panose="020F0502020204030204" pitchFamily="34" charset="0"/>
              </a:rPr>
              <a:t>Low pass filter</a:t>
            </a:r>
            <a:endParaRPr lang="en-US" altLang="en-US" sz="2000">
              <a:latin typeface="Cambria" panose="02040503050406030204" pitchFamily="18" charset="0"/>
              <a:ea typeface="Cambria" panose="02040503050406030204" pitchFamily="18" charset="0"/>
              <a:cs typeface="Calibri" panose="020F0502020204030204" pitchFamily="34" charset="0"/>
            </a:endParaRPr>
          </a:p>
          <a:p>
            <a:pPr lvl="1"/>
            <a:r>
              <a:rPr lang="en-US" altLang="en-US" sz="2000">
                <a:latin typeface="Cambria" panose="02040503050406030204" pitchFamily="18" charset="0"/>
                <a:ea typeface="Cambria" panose="02040503050406030204" pitchFamily="18" charset="0"/>
                <a:cs typeface="Calibri" panose="020F0502020204030204" pitchFamily="34" charset="0"/>
              </a:rPr>
              <a:t>High pass filter</a:t>
            </a:r>
            <a:endParaRPr lang="en-US" altLang="en-US" sz="2000">
              <a:latin typeface="Cambria" panose="02040503050406030204" pitchFamily="18" charset="0"/>
              <a:ea typeface="Cambria" panose="02040503050406030204" pitchFamily="18" charset="0"/>
              <a:cs typeface="Calibri" panose="020F0502020204030204" pitchFamily="34" charset="0"/>
            </a:endParaRPr>
          </a:p>
          <a:p>
            <a:pPr lvl="1"/>
            <a:r>
              <a:rPr lang="en-US" altLang="en-US" sz="2000">
                <a:latin typeface="Cambria" panose="02040503050406030204" pitchFamily="18" charset="0"/>
                <a:ea typeface="Cambria" panose="02040503050406030204" pitchFamily="18" charset="0"/>
                <a:cs typeface="Calibri" panose="020F0502020204030204" pitchFamily="34" charset="0"/>
              </a:rPr>
              <a:t>Band pass filter</a:t>
            </a:r>
            <a:endParaRPr lang="en-US" altLang="en-US" sz="2000">
              <a:latin typeface="Cambria" panose="02040503050406030204" pitchFamily="18" charset="0"/>
              <a:ea typeface="Cambria" panose="02040503050406030204" pitchFamily="18" charset="0"/>
              <a:cs typeface="Calibri" panose="020F0502020204030204" pitchFamily="34" charset="0"/>
            </a:endParaRPr>
          </a:p>
          <a:p>
            <a:pPr lvl="1"/>
            <a:r>
              <a:rPr lang="en-US" altLang="en-US" sz="2000">
                <a:latin typeface="Cambria" panose="02040503050406030204" pitchFamily="18" charset="0"/>
                <a:ea typeface="Cambria" panose="02040503050406030204" pitchFamily="18" charset="0"/>
                <a:cs typeface="Calibri" panose="020F0502020204030204" pitchFamily="34" charset="0"/>
              </a:rPr>
              <a:t>Band reject filter</a:t>
            </a:r>
            <a:endParaRPr lang="en-US" altLang="en-US" sz="2000">
              <a:latin typeface="Cambria" panose="02040503050406030204" pitchFamily="18" charset="0"/>
              <a:ea typeface="Cambria" panose="02040503050406030204" pitchFamily="18"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marL="457200" lvl="1" indent="0">
              <a:buNone/>
            </a:pPr>
            <a:r>
              <a:rPr lang="en-US" altLang="en-US" sz="1600">
                <a:latin typeface="Calibri" panose="020F0502020204030204" pitchFamily="34"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6" name="Content Placeholder 2"/>
          <p:cNvSpPr>
            <a:spLocks noGrp="1"/>
          </p:cNvSpPr>
          <p:nvPr>
            <p:ph idx="1"/>
          </p:nvPr>
        </p:nvSpPr>
        <p:spPr>
          <a:xfrm>
            <a:off x="316146" y="1929188"/>
            <a:ext cx="11464522" cy="4247877"/>
          </a:xfrm>
        </p:spPr>
        <p:txBody>
          <a:bodyPr anchor="t">
            <a:noAutofit/>
          </a:bodyPr>
          <a:lstStyle/>
          <a:p>
            <a:pPr eaLnBrk="1" hangingPunct="1">
              <a:buFont typeface="Wingdings" panose="05000000000000000000" pitchFamily="2" charset="2"/>
              <a:buChar char="v"/>
            </a:pPr>
            <a:r>
              <a:rPr lang="en-US" altLang="en-US">
                <a:latin typeface="Cambria" panose="02040503050406030204" pitchFamily="18" charset="0"/>
                <a:ea typeface="Cambria" panose="02040503050406030204" pitchFamily="18" charset="0"/>
                <a:cs typeface="Calibri" panose="020F0502020204030204" pitchFamily="34" charset="0"/>
              </a:rPr>
              <a:t>Active filters use op-amp(s) and RC components.</a:t>
            </a:r>
            <a:endParaRPr lang="en-US" altLang="en-US">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r>
              <a:rPr lang="en-US" altLang="en-US">
                <a:latin typeface="Cambria" panose="02040503050406030204" pitchFamily="18" charset="0"/>
                <a:ea typeface="Cambria" panose="02040503050406030204" pitchFamily="18" charset="0"/>
                <a:cs typeface="Calibri" panose="020F0502020204030204" pitchFamily="34" charset="0"/>
              </a:rPr>
              <a:t>Advantages over passive filters :</a:t>
            </a:r>
            <a:endParaRPr lang="en-US" altLang="en-US">
              <a:latin typeface="Cambria" panose="02040503050406030204" pitchFamily="18" charset="0"/>
              <a:ea typeface="Cambria" panose="02040503050406030204" pitchFamily="18" charset="0"/>
              <a:cs typeface="Calibri" panose="020F0502020204030204" pitchFamily="34" charset="0"/>
            </a:endParaRPr>
          </a:p>
          <a:p>
            <a:pPr lvl="1"/>
            <a:r>
              <a:rPr lang="en-US" altLang="en-US" sz="2000">
                <a:latin typeface="Cambria" panose="02040503050406030204" pitchFamily="18" charset="0"/>
                <a:ea typeface="Cambria" panose="02040503050406030204" pitchFamily="18" charset="0"/>
                <a:cs typeface="Calibri" panose="020F0502020204030204" pitchFamily="34" charset="0"/>
              </a:rPr>
              <a:t>Op-amp(s) provide gain and overcome circuit losses </a:t>
            </a:r>
            <a:endParaRPr lang="en-US" altLang="en-US" sz="2000">
              <a:latin typeface="Cambria" panose="02040503050406030204" pitchFamily="18" charset="0"/>
              <a:ea typeface="Cambria" panose="02040503050406030204" pitchFamily="18" charset="0"/>
              <a:cs typeface="Calibri" panose="020F0502020204030204" pitchFamily="34" charset="0"/>
            </a:endParaRPr>
          </a:p>
          <a:p>
            <a:pPr lvl="1"/>
            <a:r>
              <a:rPr lang="en-US" altLang="en-US" sz="2000">
                <a:latin typeface="Cambria" panose="02040503050406030204" pitchFamily="18" charset="0"/>
                <a:ea typeface="Cambria" panose="02040503050406030204" pitchFamily="18" charset="0"/>
                <a:cs typeface="Calibri" panose="020F0502020204030204" pitchFamily="34" charset="0"/>
              </a:rPr>
              <a:t>Increase input impedance to minimize circuit loading </a:t>
            </a:r>
            <a:endParaRPr lang="en-US" altLang="en-US" sz="2000">
              <a:latin typeface="Cambria" panose="02040503050406030204" pitchFamily="18" charset="0"/>
              <a:ea typeface="Cambria" panose="02040503050406030204" pitchFamily="18" charset="0"/>
              <a:cs typeface="Calibri" panose="020F0502020204030204" pitchFamily="34" charset="0"/>
            </a:endParaRPr>
          </a:p>
          <a:p>
            <a:pPr lvl="1"/>
            <a:r>
              <a:rPr lang="en-US" altLang="en-US" sz="2000">
                <a:latin typeface="Cambria" panose="02040503050406030204" pitchFamily="18" charset="0"/>
                <a:ea typeface="Cambria" panose="02040503050406030204" pitchFamily="18" charset="0"/>
                <a:cs typeface="Calibri" panose="020F0502020204030204" pitchFamily="34" charset="0"/>
              </a:rPr>
              <a:t>Higher output power</a:t>
            </a:r>
            <a:endParaRPr lang="en-US" altLang="en-US" sz="2000">
              <a:latin typeface="Cambria" panose="02040503050406030204" pitchFamily="18" charset="0"/>
              <a:ea typeface="Cambria" panose="02040503050406030204" pitchFamily="18" charset="0"/>
              <a:cs typeface="Calibri" panose="020F0502020204030204" pitchFamily="34" charset="0"/>
            </a:endParaRPr>
          </a:p>
          <a:p>
            <a:pPr lvl="1"/>
            <a:r>
              <a:rPr lang="en-US" altLang="en-US" sz="2000">
                <a:latin typeface="Cambria" panose="02040503050406030204" pitchFamily="18" charset="0"/>
                <a:ea typeface="Cambria" panose="02040503050406030204" pitchFamily="18" charset="0"/>
                <a:cs typeface="Calibri" panose="020F0502020204030204" pitchFamily="34" charset="0"/>
              </a:rPr>
              <a:t>Sharp cut-off characteristics can be produced simply and efficiently without bulky inductors.</a:t>
            </a:r>
            <a:endParaRPr lang="en-US" altLang="en-US" sz="20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marL="457200" lvl="1" indent="0">
              <a:buNone/>
            </a:pPr>
            <a:r>
              <a:rPr lang="en-US" altLang="en-US" sz="1600">
                <a:latin typeface="Calibri" panose="020F0502020204030204" pitchFamily="34"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IN" sz="140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612314" y="2043262"/>
            <a:ext cx="6694008" cy="4247877"/>
          </a:xfrm>
        </p:spPr>
        <p:txBody>
          <a:bodyPr anchor="t">
            <a:noAutofit/>
          </a:bodyPr>
          <a:lstStyle/>
          <a:p>
            <a:pPr algn="l">
              <a:buFont typeface="Wingdings" panose="05000000000000000000" pitchFamily="2" charset="2"/>
              <a:buChar char="v"/>
            </a:pPr>
            <a:r>
              <a:rPr lang="en-US" sz="1200" b="1" i="0">
                <a:solidFill>
                  <a:srgbClr val="404041"/>
                </a:solidFill>
                <a:effectLst/>
                <a:latin typeface="Lato" panose="020F0502020204030203" pitchFamily="34" charset="0"/>
              </a:rPr>
              <a:t>Active Low Pass Filter</a:t>
            </a:r>
            <a:endParaRPr lang="en-US" sz="1200" b="1" i="0">
              <a:solidFill>
                <a:srgbClr val="404041"/>
              </a:solidFill>
              <a:effectLst/>
              <a:latin typeface="Lato" panose="020F0502020204030203" pitchFamily="34" charset="0"/>
            </a:endParaRPr>
          </a:p>
          <a:p>
            <a:pPr algn="just"/>
            <a:r>
              <a:rPr lang="en-US" sz="1200" b="0" i="0">
                <a:solidFill>
                  <a:srgbClr val="414042"/>
                </a:solidFill>
                <a:effectLst/>
                <a:latin typeface="Lato" panose="020F0502020204030203" pitchFamily="34" charset="0"/>
              </a:rPr>
              <a:t>The most common and easily understood active filter is the </a:t>
            </a:r>
            <a:r>
              <a:rPr lang="en-US" sz="1200" i="0">
                <a:solidFill>
                  <a:srgbClr val="414042"/>
                </a:solidFill>
                <a:effectLst/>
                <a:latin typeface="Lato" panose="020F0502020204030203" pitchFamily="34" charset="0"/>
              </a:rPr>
              <a:t>Active Low Pass Filter</a:t>
            </a:r>
            <a:r>
              <a:rPr lang="en-US" sz="1200" b="0" i="0">
                <a:solidFill>
                  <a:srgbClr val="414042"/>
                </a:solidFill>
                <a:effectLst/>
                <a:latin typeface="Lato" panose="020F0502020204030203" pitchFamily="34" charset="0"/>
              </a:rPr>
              <a:t>. Its principle of operation and frequency response is exactly the same as those for the previously seen passive filter, the only difference this time is that it uses an op-amp for amplification and gain control. The simplest form of a low pass active filter is to connect an inverting or non-inverting amplifier, the same as those discussed in the Op-amp tutorial, to the basic RC low pass filter circuit as shown.</a:t>
            </a:r>
            <a:endParaRPr lang="en-US" sz="1200" b="0" i="0">
              <a:solidFill>
                <a:srgbClr val="414042"/>
              </a:solidFill>
              <a:effectLst/>
              <a:latin typeface="Lato" panose="020F0502020204030203" pitchFamily="34" charset="0"/>
            </a:endParaRPr>
          </a:p>
          <a:p>
            <a:pPr algn="just" eaLnBrk="1" hangingPunct="1">
              <a:buFont typeface="Wingdings" panose="05000000000000000000" pitchFamily="2" charset="2"/>
              <a:buChar char="v"/>
            </a:pPr>
            <a:r>
              <a:rPr lang="en-US" altLang="en-US" sz="1400" b="1">
                <a:latin typeface="Calibri" panose="020F0502020204030204" pitchFamily="34" charset="0"/>
                <a:cs typeface="Calibri" panose="020F0502020204030204" pitchFamily="34" charset="0"/>
              </a:rPr>
              <a:t>First Order Low Pass Filter</a:t>
            </a:r>
            <a:endParaRPr lang="en-US" altLang="en-US" sz="1400" b="1">
              <a:latin typeface="Calibri" panose="020F0502020204030204" pitchFamily="34" charset="0"/>
              <a:cs typeface="Calibri" panose="020F0502020204030204" pitchFamily="34" charset="0"/>
            </a:endParaRPr>
          </a:p>
          <a:p>
            <a:pPr algn="just"/>
            <a:r>
              <a:rPr lang="en-US" sz="1200" b="0" i="0">
                <a:solidFill>
                  <a:srgbClr val="414042"/>
                </a:solidFill>
                <a:effectLst/>
                <a:latin typeface="Lato" panose="020F0502020204030203" pitchFamily="34" charset="0"/>
              </a:rPr>
              <a:t>This first-order low pass active filter, consists simply of a passive RC filter stage providing a low frequency path to the input of a non-inverting operational amplifier. The amplifier is configured as a voltage-follower (Buffer) giving it a DC gain of one, </a:t>
            </a:r>
            <a:r>
              <a:rPr lang="en-US" sz="1200" b="0" i="0" u="none" strike="noStrike">
                <a:solidFill>
                  <a:srgbClr val="414143"/>
                </a:solidFill>
                <a:effectLst/>
                <a:latin typeface="Lato" panose="020F0502020204030203" pitchFamily="34" charset="0"/>
              </a:rPr>
              <a:t>Av = +1</a:t>
            </a:r>
            <a:r>
              <a:rPr lang="en-US" sz="1200" b="0" i="0">
                <a:solidFill>
                  <a:srgbClr val="414042"/>
                </a:solidFill>
                <a:effectLst/>
                <a:latin typeface="Lato" panose="020F0502020204030203" pitchFamily="34" charset="0"/>
              </a:rPr>
              <a:t> or unity gain as opposed to the previous passive RC filter which has a DC gain of less than unity.</a:t>
            </a:r>
            <a:endParaRPr lang="en-US" sz="1200" b="0" i="0">
              <a:solidFill>
                <a:srgbClr val="414042"/>
              </a:solidFill>
              <a:effectLst/>
              <a:latin typeface="Lato" panose="020F0502020204030203" pitchFamily="34" charset="0"/>
            </a:endParaRPr>
          </a:p>
          <a:p>
            <a:pPr algn="just"/>
            <a:r>
              <a:rPr lang="en-US" sz="1200" b="0" i="0">
                <a:solidFill>
                  <a:srgbClr val="414042"/>
                </a:solidFill>
                <a:effectLst/>
                <a:latin typeface="Lato" panose="020F0502020204030203" pitchFamily="34" charset="0"/>
              </a:rPr>
              <a:t>The advantage of this configuration is that the op-amps high input impedance prevents excessive loading on the filters output while its low output impedance prevents the filters cut-off frequency point from being affected by changes in the impedance of the load.</a:t>
            </a:r>
            <a:endParaRPr lang="en-US" sz="1200" b="0" i="0">
              <a:solidFill>
                <a:srgbClr val="414042"/>
              </a:solidFill>
              <a:effectLst/>
              <a:latin typeface="Lato" panose="020F0502020204030203" pitchFamily="34" charset="0"/>
            </a:endParaRPr>
          </a:p>
          <a:p>
            <a:pPr algn="just" eaLnBrk="1" hangingPunct="1">
              <a:buFont typeface="Wingdings" panose="05000000000000000000" pitchFamily="2" charset="2"/>
              <a:buChar char="v"/>
            </a:pPr>
            <a:endParaRPr lang="en-US" altLang="en-US" sz="1400">
              <a:latin typeface="Calibri" panose="020F0502020204030204" pitchFamily="34" charset="0"/>
              <a:cs typeface="Calibri" panose="020F0502020204030204" pitchFamily="34" charset="0"/>
            </a:endParaRPr>
          </a:p>
          <a:p>
            <a:pPr marL="0" indent="0" eaLnBrk="1" hangingPunct="1">
              <a:buNone/>
            </a:pPr>
            <a:endParaRPr lang="en-US" altLang="en-US" sz="1400">
              <a:latin typeface="Calibri" panose="020F0502020204030204" pitchFamily="34" charset="0"/>
              <a:cs typeface="Calibri" panose="020F0502020204030204" pitchFamily="34" charset="0"/>
            </a:endParaRPr>
          </a:p>
          <a:p>
            <a:pPr marL="457200" lvl="1" indent="0">
              <a:buNone/>
            </a:pPr>
            <a:r>
              <a:rPr lang="en-US" altLang="en-US" sz="1400">
                <a:latin typeface="Calibri" panose="020F0502020204030204" pitchFamily="34" charset="0"/>
                <a:cs typeface="Calibri" panose="020F0502020204030204" pitchFamily="34" charset="0"/>
              </a:rPr>
              <a:t> </a:t>
            </a:r>
            <a:endParaRPr lang="en-IN" sz="1400">
              <a:latin typeface="Cambria" panose="02040503050406030204" pitchFamily="18" charset="0"/>
              <a:ea typeface="Cambria" panose="02040503050406030204" pitchFamily="18" charset="0"/>
            </a:endParaRPr>
          </a:p>
        </p:txBody>
      </p:sp>
      <p:pic>
        <p:nvPicPr>
          <p:cNvPr id="11274" name="Picture 10" descr="active low pass filter"/>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7537017" y="3090875"/>
            <a:ext cx="4229100" cy="21526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z="1600" smtClean="0"/>
            </a:fld>
            <a:endParaRPr lang="en-IN" sz="1600"/>
          </a:p>
        </p:txBody>
      </p:sp>
      <p:sp>
        <p:nvSpPr>
          <p:cNvPr id="7" name="TextBox 6"/>
          <p:cNvSpPr txBox="1"/>
          <p:nvPr/>
        </p:nvSpPr>
        <p:spPr>
          <a:xfrm>
            <a:off x="1154096" y="958788"/>
            <a:ext cx="1036911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IN" sz="160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612314" y="2043262"/>
            <a:ext cx="6694008" cy="4247877"/>
          </a:xfrm>
        </p:spPr>
        <p:txBody>
          <a:bodyPr anchor="t">
            <a:noAutofit/>
          </a:bodyPr>
          <a:lstStyle/>
          <a:p>
            <a:pPr algn="l">
              <a:buFont typeface="Wingdings" panose="05000000000000000000" pitchFamily="2" charset="2"/>
              <a:buChar char="v"/>
            </a:pPr>
            <a:endParaRPr lang="en-US" sz="1600" b="0" i="0">
              <a:solidFill>
                <a:srgbClr val="414042"/>
              </a:solidFill>
              <a:effectLst/>
              <a:latin typeface="Lato" panose="020F0502020204030203"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marL="457200" lvl="1" indent="0">
              <a:buNone/>
            </a:pPr>
            <a:r>
              <a:rPr lang="en-US" altLang="en-US" sz="1600">
                <a:latin typeface="Calibri" panose="020F0502020204030204" pitchFamily="34"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pic>
        <p:nvPicPr>
          <p:cNvPr id="15374" name="Picture 14" descr="frequency gain in decibels"/>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85725" y="-4511675"/>
            <a:ext cx="3676650" cy="971550"/>
          </a:xfrm>
          <a:prstGeom prst="rect">
            <a:avLst/>
          </a:prstGeom>
          <a:noFill/>
          <a:extLst>
            <a:ext uri="{909E8E84-426E-40DD-AFC4-6F175D3DCCD1}">
              <a14:hiddenFill xmlns:a14="http://schemas.microsoft.com/office/drawing/2010/main">
                <a:solidFill>
                  <a:srgbClr val="FFFFFF"/>
                </a:solidFill>
              </a14:hiddenFill>
            </a:ext>
          </a:extLst>
        </p:spPr>
      </p:pic>
      <p:pic>
        <p:nvPicPr>
          <p:cNvPr id="15378" name="Picture 18" descr="second-order active low pass filte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06322" y="2932312"/>
            <a:ext cx="4791075" cy="2076450"/>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p:cNvSpPr txBox="1"/>
          <p:nvPr/>
        </p:nvSpPr>
        <p:spPr>
          <a:xfrm>
            <a:off x="797715" y="1936489"/>
            <a:ext cx="6694008" cy="4247877"/>
          </a:xfrm>
          <a:prstGeom prst="rect">
            <a:avLst/>
          </a:prstGeom>
        </p:spPr>
        <p:txBody>
          <a:bodyPr vert="horz" lIns="91440" tIns="45720" rIns="91440" bIns="45720" rtlCol="0" anchor="t">
            <a:noAutofit/>
          </a:bodyPr>
          <a:lstStyle>
            <a:defPPr>
              <a:defRPr lang="en-US"/>
            </a:defPPr>
            <a:lvl1pPr marL="228600" indent="-228600" algn="l" defTabSz="914400" rtl="0" eaLnBrk="1" latinLnBrk="0" hangingPunct="1">
              <a:lnSpc>
                <a:spcPct val="120000"/>
              </a:lnSpc>
              <a:spcBef>
                <a:spcPts val="1000"/>
              </a:spcBef>
              <a:buClr>
                <a:schemeClr val="accent1"/>
              </a:buClr>
              <a:buSzTx/>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200" kern="1200" baseline="0">
                <a:solidFill>
                  <a:schemeClr val="tx1"/>
                </a:solidFill>
                <a:effectLst/>
                <a:latin typeface="+mn-lt"/>
                <a:ea typeface="+mn-ea"/>
                <a:cs typeface="+mn-cs"/>
              </a:defRPr>
            </a:lvl9pPr>
          </a:lstStyle>
          <a:p>
            <a:pPr>
              <a:buFont typeface="Wingdings" panose="05000000000000000000" pitchFamily="2" charset="2"/>
              <a:buChar char="v"/>
            </a:pPr>
            <a:r>
              <a:rPr lang="en-US" altLang="en-US" sz="1400" b="1">
                <a:latin typeface="Calibri" panose="020F0502020204030204" pitchFamily="34" charset="0"/>
                <a:cs typeface="Calibri" panose="020F0502020204030204" pitchFamily="34" charset="0"/>
              </a:rPr>
              <a:t>Second Order Low Pass Filter</a:t>
            </a:r>
            <a:endParaRPr lang="en-US" altLang="en-US" sz="1400" b="1">
              <a:latin typeface="Calibri" panose="020F0502020204030204" pitchFamily="34" charset="0"/>
              <a:cs typeface="Calibri" panose="020F0502020204030204" pitchFamily="34" charset="0"/>
            </a:endParaRPr>
          </a:p>
          <a:p>
            <a:r>
              <a:rPr lang="en-US" sz="1400" b="0" i="0">
                <a:solidFill>
                  <a:srgbClr val="414042"/>
                </a:solidFill>
                <a:effectLst/>
                <a:latin typeface="Calibri" panose="020F0502020204030204" pitchFamily="34" charset="0"/>
                <a:cs typeface="Calibri" panose="020F0502020204030204" pitchFamily="34" charset="0"/>
              </a:rPr>
              <a:t>When cascading together filter circuits to form higher-order filters, the overall gain of the filter is equal to the product of each stage.</a:t>
            </a:r>
            <a:endParaRPr lang="en-US" sz="1400" b="0" i="0">
              <a:solidFill>
                <a:srgbClr val="414042"/>
              </a:solidFill>
              <a:effectLst/>
              <a:latin typeface="Calibri" panose="020F0502020204030204" pitchFamily="34" charset="0"/>
              <a:cs typeface="Calibri" panose="020F0502020204030204" pitchFamily="34" charset="0"/>
            </a:endParaRPr>
          </a:p>
          <a:p>
            <a:r>
              <a:rPr lang="en-US" sz="1400" b="0" i="0">
                <a:solidFill>
                  <a:srgbClr val="414042"/>
                </a:solidFill>
                <a:effectLst/>
                <a:latin typeface="Calibri" panose="020F0502020204030204" pitchFamily="34" charset="0"/>
                <a:cs typeface="Calibri" panose="020F0502020204030204" pitchFamily="34" charset="0"/>
              </a:rPr>
              <a:t> For example, the gain of one stage may be 10 and the gain of the second stage may be 32 and the gain of a third stage may be 100. Then the overall gain will be 32,000, (10 x 32 x 100) as shown below</a:t>
            </a:r>
            <a:r>
              <a:rPr lang="en-US" sz="1100" b="0" i="0">
                <a:solidFill>
                  <a:srgbClr val="414042"/>
                </a:solidFill>
                <a:effectLst/>
                <a:latin typeface="Lato" panose="020F0502020204030203" pitchFamily="34" charset="0"/>
              </a:rPr>
              <a:t>.</a:t>
            </a:r>
            <a:endParaRPr lang="en-US" sz="1100" b="0" i="0">
              <a:solidFill>
                <a:srgbClr val="414042"/>
              </a:solidFill>
              <a:effectLst/>
              <a:latin typeface="Lato" panose="020F0502020204030203" pitchFamily="34" charset="0"/>
            </a:endParaRPr>
          </a:p>
          <a:p>
            <a:endParaRPr lang="en-US" sz="1200">
              <a:solidFill>
                <a:srgbClr val="414042"/>
              </a:solidFill>
              <a:latin typeface="Lato" panose="020F0502020204030203" pitchFamily="34" charset="0"/>
            </a:endParaRPr>
          </a:p>
          <a:p>
            <a:pPr>
              <a:buFont typeface="Wingdings" panose="05000000000000000000" pitchFamily="2" charset="2"/>
              <a:buChar char="v"/>
            </a:pPr>
            <a:endParaRPr lang="en-US" altLang="en-US" sz="140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US" altLang="en-US" sz="1400">
              <a:latin typeface="Calibri" panose="020F0502020204030204" pitchFamily="34" charset="0"/>
              <a:cs typeface="Calibri" panose="020F0502020204030204" pitchFamily="34" charset="0"/>
            </a:endParaRPr>
          </a:p>
          <a:p>
            <a:pPr marL="457200" lvl="1" indent="0">
              <a:buFont typeface="Arial" panose="020B0604020202020204" pitchFamily="34" charset="0"/>
              <a:buNone/>
            </a:pPr>
            <a:r>
              <a:rPr lang="en-US" altLang="en-US" sz="1400">
                <a:latin typeface="Calibri" panose="020F0502020204030204" pitchFamily="34" charset="0"/>
                <a:cs typeface="Calibri" panose="020F0502020204030204" pitchFamily="34" charset="0"/>
              </a:rPr>
              <a:t> </a:t>
            </a:r>
            <a:endParaRPr lang="en-IN" sz="1400">
              <a:latin typeface="Cambria" panose="02040503050406030204" pitchFamily="18" charset="0"/>
              <a:ea typeface="Cambria" panose="02040503050406030204" pitchFamily="18" charset="0"/>
            </a:endParaRPr>
          </a:p>
        </p:txBody>
      </p:sp>
      <p:pic>
        <p:nvPicPr>
          <p:cNvPr id="15383" name="Picture 23" descr="cascading voltage gain"/>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42830" y="3760655"/>
            <a:ext cx="4695825" cy="962025"/>
          </a:xfrm>
          <a:prstGeom prst="rect">
            <a:avLst/>
          </a:prstGeom>
          <a:noFill/>
          <a:extLst>
            <a:ext uri="{909E8E84-426E-40DD-AFC4-6F175D3DCCD1}">
              <a14:hiddenFill xmlns:a14="http://schemas.microsoft.com/office/drawing/2010/main">
                <a:solidFill>
                  <a:srgbClr val="FFFFFF"/>
                </a:solidFill>
              </a14:hiddenFill>
            </a:ext>
          </a:extLst>
        </p:spPr>
      </p:pic>
      <p:pic>
        <p:nvPicPr>
          <p:cNvPr id="15385" name="Picture 25" descr="cascading voltage gain in dB"/>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550690" y="4771507"/>
            <a:ext cx="2568825" cy="13640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IN" sz="140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612314" y="2043262"/>
            <a:ext cx="6694008" cy="4247877"/>
          </a:xfrm>
        </p:spPr>
        <p:txBody>
          <a:bodyPr anchor="t">
            <a:noAutofit/>
          </a:bodyPr>
          <a:lstStyle/>
          <a:p>
            <a:pPr algn="l">
              <a:buFont typeface="Wingdings" panose="05000000000000000000" pitchFamily="2" charset="2"/>
              <a:buChar char="v"/>
            </a:pPr>
            <a:r>
              <a:rPr lang="en-US" sz="1400" b="1" i="0">
                <a:solidFill>
                  <a:srgbClr val="404041"/>
                </a:solidFill>
                <a:effectLst/>
                <a:latin typeface="Calibri" panose="020F0502020204030204" pitchFamily="34" charset="0"/>
                <a:cs typeface="Calibri" panose="020F0502020204030204" pitchFamily="34" charset="0"/>
              </a:rPr>
              <a:t>Active High Pass Filter</a:t>
            </a:r>
            <a:endParaRPr lang="en-US" sz="1400" b="1" i="0">
              <a:solidFill>
                <a:srgbClr val="404041"/>
              </a:solidFill>
              <a:effectLst/>
              <a:latin typeface="Calibri" panose="020F0502020204030204" pitchFamily="34" charset="0"/>
              <a:cs typeface="Calibri" panose="020F0502020204030204" pitchFamily="34" charset="0"/>
            </a:endParaRPr>
          </a:p>
          <a:p>
            <a:pPr algn="just"/>
            <a:r>
              <a:rPr lang="en-US" sz="1400" i="0">
                <a:solidFill>
                  <a:srgbClr val="000000"/>
                </a:solidFill>
                <a:effectLst/>
                <a:latin typeface="Calibri" panose="020F0502020204030204" pitchFamily="34" charset="0"/>
                <a:cs typeface="Calibri" panose="020F0502020204030204" pitchFamily="34" charset="0"/>
              </a:rPr>
              <a:t>If an active filter allows (passes) only high frequency components and rejects (blocks) all other low frequency components, then it is called an active high pass filter.</a:t>
            </a:r>
            <a:endParaRPr lang="en-US" sz="1400" i="0">
              <a:solidFill>
                <a:srgbClr val="000000"/>
              </a:solidFill>
              <a:effectLst/>
              <a:latin typeface="Calibri" panose="020F0502020204030204" pitchFamily="34" charset="0"/>
              <a:cs typeface="Calibri" panose="020F0502020204030204" pitchFamily="34" charset="0"/>
            </a:endParaRPr>
          </a:p>
          <a:p>
            <a:pPr algn="just"/>
            <a:r>
              <a:rPr lang="en-US" sz="1400" i="0">
                <a:solidFill>
                  <a:srgbClr val="000000"/>
                </a:solidFill>
                <a:effectLst/>
                <a:latin typeface="Calibri" panose="020F0502020204030204" pitchFamily="34" charset="0"/>
                <a:cs typeface="Calibri" panose="020F0502020204030204" pitchFamily="34" charset="0"/>
              </a:rPr>
              <a:t>The circuit diagram of an active high pass filter is shown in the following figure −</a:t>
            </a:r>
            <a:endParaRPr lang="en-US" sz="1400" i="0">
              <a:solidFill>
                <a:srgbClr val="000000"/>
              </a:solidFill>
              <a:effectLst/>
              <a:latin typeface="Calibri" panose="020F0502020204030204" pitchFamily="34" charset="0"/>
              <a:cs typeface="Calibri" panose="020F0502020204030204" pitchFamily="34" charset="0"/>
            </a:endParaRPr>
          </a:p>
          <a:p>
            <a:pPr algn="just"/>
            <a:r>
              <a:rPr kumimoji="0" lang="en-US" altLang="en-US" sz="1400" i="0" u="none" strike="noStrike" cap="none" normalizeH="0" baseline="0">
                <a:ln>
                  <a:noFill/>
                </a:ln>
                <a:solidFill>
                  <a:srgbClr val="000000"/>
                </a:solidFill>
                <a:effectLst/>
                <a:latin typeface="Calibri" panose="020F0502020204030204" pitchFamily="34" charset="0"/>
                <a:cs typeface="Calibri" panose="020F0502020204030204" pitchFamily="34" charset="0"/>
              </a:rPr>
              <a:t>We know that the electric network, which is connected to the non-inverting terminal of an op-amp is a passive high pass filter. So, the input of a non-inverting terminal of op amp is the output of passive high pass filter.</a:t>
            </a:r>
            <a:endParaRPr kumimoji="0" lang="en-US" altLang="en-US" sz="1400" i="0" u="none" strike="noStrike" cap="none" normalizeH="0" baseline="0">
              <a:ln>
                <a:noFill/>
              </a:ln>
              <a:solidFill>
                <a:srgbClr val="000000"/>
              </a:solidFill>
              <a:effectLst/>
              <a:latin typeface="Calibri" panose="020F0502020204030204" pitchFamily="34" charset="0"/>
              <a:cs typeface="Calibri" panose="020F0502020204030204" pitchFamily="34" charset="0"/>
            </a:endParaRPr>
          </a:p>
          <a:p>
            <a:pPr algn="just"/>
            <a:r>
              <a:rPr kumimoji="0" lang="en-US" altLang="en-US" sz="1400" i="0" u="none" strike="noStrike" cap="none" normalizeH="0" baseline="0">
                <a:ln>
                  <a:noFill/>
                </a:ln>
                <a:solidFill>
                  <a:srgbClr val="000000"/>
                </a:solidFill>
                <a:effectLst/>
                <a:latin typeface="Calibri" panose="020F0502020204030204" pitchFamily="34" charset="0"/>
                <a:cs typeface="Calibri" panose="020F0502020204030204" pitchFamily="34" charset="0"/>
              </a:rPr>
              <a:t>Now, the above circuit resembles a non-inverting amplifier. It is having the output of a passive high pass filter as an input to non-inverting terminal of op-amp. Hence, it produces an output, which is (1+RfR1)(1+𝑅𝑓𝑅1) times the input present at its non-inverting terminal.</a:t>
            </a:r>
            <a:endParaRPr lang="en-US" altLang="en-US" sz="1400">
              <a:latin typeface="Calibri" panose="020F0502020204030204" pitchFamily="34" charset="0"/>
              <a:cs typeface="Calibri" panose="020F0502020204030204" pitchFamily="34" charset="0"/>
            </a:endParaRPr>
          </a:p>
          <a:p>
            <a:pPr algn="just"/>
            <a:r>
              <a:rPr kumimoji="0" lang="en-US" altLang="en-US" sz="1400" i="0" u="none" strike="noStrike" cap="none" normalizeH="0" baseline="0">
                <a:ln>
                  <a:noFill/>
                </a:ln>
                <a:solidFill>
                  <a:srgbClr val="000000"/>
                </a:solidFill>
                <a:effectLst/>
                <a:latin typeface="Calibri" panose="020F0502020204030204" pitchFamily="34" charset="0"/>
                <a:cs typeface="Calibri" panose="020F0502020204030204" pitchFamily="34" charset="0"/>
              </a:rPr>
              <a:t>We can choose the values of Rf𝑅𝑓 and R1𝑅1 suitably in order to obtain the desired gain at the output. </a:t>
            </a:r>
            <a:endParaRPr lang="en-US" sz="1400" i="0">
              <a:solidFill>
                <a:srgbClr val="000000"/>
              </a:solidFill>
              <a:effectLst/>
              <a:latin typeface="Calibri" panose="020F0502020204030204" pitchFamily="34" charset="0"/>
              <a:cs typeface="Calibri" panose="020F0502020204030204" pitchFamily="34" charset="0"/>
            </a:endParaRPr>
          </a:p>
          <a:p>
            <a:endParaRPr lang="en-US" altLang="en-US" sz="1400">
              <a:latin typeface="Calibri" panose="020F0502020204030204" pitchFamily="34" charset="0"/>
              <a:cs typeface="Calibri" panose="020F0502020204030204" pitchFamily="34" charset="0"/>
            </a:endParaRPr>
          </a:p>
          <a:p>
            <a:pPr marL="0" indent="0" eaLnBrk="1" hangingPunct="1">
              <a:buNone/>
            </a:pPr>
            <a:endParaRPr lang="en-US" altLang="en-US" sz="1400">
              <a:latin typeface="Calibri" panose="020F0502020204030204" pitchFamily="34" charset="0"/>
              <a:cs typeface="Calibri" panose="020F0502020204030204" pitchFamily="34" charset="0"/>
            </a:endParaRPr>
          </a:p>
          <a:p>
            <a:pPr marL="457200" lvl="1" indent="0">
              <a:buNone/>
            </a:pPr>
            <a:r>
              <a:rPr lang="en-US" altLang="en-US" sz="1400">
                <a:latin typeface="Calibri" panose="020F0502020204030204" pitchFamily="34" charset="0"/>
                <a:cs typeface="Calibri" panose="020F0502020204030204" pitchFamily="34" charset="0"/>
              </a:rPr>
              <a:t> </a:t>
            </a:r>
            <a:endParaRPr lang="en-IN" sz="1400">
              <a:latin typeface="Calibri" panose="020F0502020204030204" pitchFamily="34" charset="0"/>
              <a:ea typeface="Cambria" panose="02040503050406030204" pitchFamily="18" charset="0"/>
              <a:cs typeface="Calibri" panose="020F0502020204030204" pitchFamily="34" charset="0"/>
            </a:endParaRPr>
          </a:p>
        </p:txBody>
      </p:sp>
      <p:pic>
        <p:nvPicPr>
          <p:cNvPr id="16388" name="Picture 4" descr="High Pass Filter"/>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7615191" y="2374776"/>
            <a:ext cx="4174354" cy="30055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IN" sz="140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621192" y="1936730"/>
            <a:ext cx="6694008" cy="4247877"/>
          </a:xfrm>
        </p:spPr>
        <p:txBody>
          <a:bodyPr anchor="t">
            <a:noAutofit/>
          </a:bodyPr>
          <a:lstStyle/>
          <a:p>
            <a:pPr>
              <a:buFont typeface="Wingdings" panose="05000000000000000000" pitchFamily="2" charset="2"/>
              <a:buChar char="v"/>
            </a:pPr>
            <a:r>
              <a:rPr lang="en-IN" sz="1400" b="1" i="0">
                <a:effectLst/>
                <a:latin typeface="Calibri" panose="020F0502020204030204" pitchFamily="34" charset="0"/>
                <a:cs typeface="Calibri" panose="020F0502020204030204" pitchFamily="34" charset="0"/>
              </a:rPr>
              <a:t>Active Band Pass Filter</a:t>
            </a:r>
            <a:endParaRPr lang="en-IN" sz="1400" b="1" i="0">
              <a:effectLst/>
              <a:latin typeface="Calibri" panose="020F0502020204030204" pitchFamily="34" charset="0"/>
              <a:cs typeface="Calibri" panose="020F0502020204030204" pitchFamily="34" charset="0"/>
            </a:endParaRPr>
          </a:p>
          <a:p>
            <a:r>
              <a:rPr lang="en-US" sz="1400" b="0" i="0">
                <a:solidFill>
                  <a:srgbClr val="000000"/>
                </a:solidFill>
                <a:effectLst/>
                <a:latin typeface="Calibri" panose="020F0502020204030204" pitchFamily="34" charset="0"/>
                <a:cs typeface="Calibri" panose="020F0502020204030204" pitchFamily="34" charset="0"/>
              </a:rPr>
              <a:t>If an active filter allows (passes) only one band of frequencies, then it is called as an</a:t>
            </a:r>
            <a:r>
              <a:rPr lang="en-US" sz="1400" i="0">
                <a:solidFill>
                  <a:srgbClr val="000000"/>
                </a:solidFill>
                <a:effectLst/>
                <a:latin typeface="Calibri" panose="020F0502020204030204" pitchFamily="34" charset="0"/>
                <a:cs typeface="Calibri" panose="020F0502020204030204" pitchFamily="34" charset="0"/>
              </a:rPr>
              <a:t> active band pass filter</a:t>
            </a:r>
            <a:r>
              <a:rPr lang="en-US" sz="1400" b="0" i="0">
                <a:solidFill>
                  <a:srgbClr val="000000"/>
                </a:solidFill>
                <a:effectLst/>
                <a:latin typeface="Calibri" panose="020F0502020204030204" pitchFamily="34" charset="0"/>
                <a:cs typeface="Calibri" panose="020F0502020204030204" pitchFamily="34" charset="0"/>
              </a:rPr>
              <a:t>. In general, this frequency band lies between low frequency range and high frequency range. So, active band pass filter rejects (blocks) both low and high frequency components.</a:t>
            </a:r>
            <a:endParaRPr lang="en-US" sz="1400" b="0" i="0">
              <a:solidFill>
                <a:srgbClr val="000000"/>
              </a:solidFill>
              <a:effectLst/>
              <a:latin typeface="Calibri" panose="020F0502020204030204" pitchFamily="34" charset="0"/>
              <a:cs typeface="Calibri" panose="020F0502020204030204" pitchFamily="34" charset="0"/>
            </a:endParaRPr>
          </a:p>
          <a:p>
            <a:r>
              <a:rPr lang="en-US" sz="1400" b="0" i="0">
                <a:solidFill>
                  <a:srgbClr val="000000"/>
                </a:solidFill>
                <a:effectLst/>
                <a:latin typeface="Calibri" panose="020F0502020204030204" pitchFamily="34" charset="0"/>
                <a:cs typeface="Calibri" panose="020F0502020204030204" pitchFamily="34" charset="0"/>
              </a:rPr>
              <a:t>The output of the active high pass filter is applied as an input of the active low pass filter. That means, both active high pass filter and active low pass filter are</a:t>
            </a:r>
            <a:r>
              <a:rPr lang="en-US" sz="1400" i="0">
                <a:solidFill>
                  <a:srgbClr val="000000"/>
                </a:solidFill>
                <a:effectLst/>
                <a:latin typeface="Calibri" panose="020F0502020204030204" pitchFamily="34" charset="0"/>
                <a:cs typeface="Calibri" panose="020F0502020204030204" pitchFamily="34" charset="0"/>
              </a:rPr>
              <a:t> cascaded </a:t>
            </a:r>
            <a:r>
              <a:rPr lang="en-US" sz="1400" b="0" i="0">
                <a:solidFill>
                  <a:srgbClr val="000000"/>
                </a:solidFill>
                <a:effectLst/>
                <a:latin typeface="Calibri" panose="020F0502020204030204" pitchFamily="34" charset="0"/>
                <a:cs typeface="Calibri" panose="020F0502020204030204" pitchFamily="34" charset="0"/>
              </a:rPr>
              <a:t>in order to obtain the output in such a way that it contains only a particular band of frequencies.</a:t>
            </a:r>
            <a:endParaRPr lang="en-IN" sz="1400" b="0" i="0">
              <a:effectLst/>
              <a:latin typeface="Calibri" panose="020F0502020204030204" pitchFamily="34" charset="0"/>
              <a:cs typeface="Calibri" panose="020F0502020204030204" pitchFamily="34" charset="0"/>
            </a:endParaRPr>
          </a:p>
          <a:p>
            <a:pPr>
              <a:buFont typeface="Wingdings" panose="05000000000000000000" pitchFamily="2" charset="2"/>
              <a:buChar char="v"/>
            </a:pPr>
            <a:r>
              <a:rPr lang="en-IN" sz="1400" b="1" i="0">
                <a:effectLst/>
                <a:latin typeface="Calibri" panose="020F0502020204030204" pitchFamily="34" charset="0"/>
                <a:cs typeface="Calibri" panose="020F0502020204030204" pitchFamily="34" charset="0"/>
              </a:rPr>
              <a:t>Active Band Stop Filter</a:t>
            </a:r>
            <a:endParaRPr lang="en-IN" sz="1400" b="1" i="0">
              <a:effectLst/>
              <a:latin typeface="Calibri" panose="020F0502020204030204" pitchFamily="34" charset="0"/>
              <a:cs typeface="Calibri" panose="020F0502020204030204" pitchFamily="34" charset="0"/>
            </a:endParaRPr>
          </a:p>
          <a:p>
            <a:r>
              <a:rPr lang="en-US" sz="1400" b="0" i="0">
                <a:solidFill>
                  <a:srgbClr val="000000"/>
                </a:solidFill>
                <a:effectLst/>
                <a:latin typeface="Calibri" panose="020F0502020204030204" pitchFamily="34" charset="0"/>
                <a:cs typeface="Calibri" panose="020F0502020204030204" pitchFamily="34" charset="0"/>
              </a:rPr>
              <a:t>If an active filter rejects (blocks) a particular band of frequencies, then it is called as an </a:t>
            </a:r>
            <a:r>
              <a:rPr lang="en-US" sz="1400" i="0">
                <a:solidFill>
                  <a:srgbClr val="000000"/>
                </a:solidFill>
                <a:effectLst/>
                <a:latin typeface="Calibri" panose="020F0502020204030204" pitchFamily="34" charset="0"/>
                <a:cs typeface="Calibri" panose="020F0502020204030204" pitchFamily="34" charset="0"/>
              </a:rPr>
              <a:t>active band stop filter</a:t>
            </a:r>
            <a:r>
              <a:rPr lang="en-US" sz="1400" b="0" i="0">
                <a:solidFill>
                  <a:srgbClr val="000000"/>
                </a:solidFill>
                <a:effectLst/>
                <a:latin typeface="Calibri" panose="020F0502020204030204" pitchFamily="34" charset="0"/>
                <a:cs typeface="Calibri" panose="020F0502020204030204" pitchFamily="34" charset="0"/>
              </a:rPr>
              <a:t>. In general, this frequency band lies between low frequency range and high frequency range. So, active band stop filter allows (passes) both low and high frequency components.</a:t>
            </a:r>
            <a:endParaRPr lang="en-IN" sz="1400" b="0" i="0">
              <a:effectLst/>
              <a:latin typeface="Calibri" panose="020F0502020204030204" pitchFamily="34" charset="0"/>
              <a:cs typeface="Calibri" panose="020F0502020204030204" pitchFamily="34" charset="0"/>
            </a:endParaRPr>
          </a:p>
          <a:p>
            <a:pPr marL="0" indent="0">
              <a:buNone/>
            </a:pPr>
            <a:endParaRPr lang="en-US" altLang="en-US" sz="1400">
              <a:latin typeface="Calibri" panose="020F0502020204030204" pitchFamily="34" charset="0"/>
              <a:cs typeface="Calibri" panose="020F0502020204030204" pitchFamily="34" charset="0"/>
            </a:endParaRPr>
          </a:p>
          <a:p>
            <a:pPr marL="0" indent="0" eaLnBrk="1" hangingPunct="1">
              <a:buNone/>
            </a:pPr>
            <a:endParaRPr lang="en-US" altLang="en-US" sz="1400">
              <a:latin typeface="Calibri" panose="020F0502020204030204" pitchFamily="34" charset="0"/>
              <a:cs typeface="Calibri" panose="020F0502020204030204" pitchFamily="34" charset="0"/>
            </a:endParaRPr>
          </a:p>
          <a:p>
            <a:pPr marL="457200" lvl="1" indent="0">
              <a:buNone/>
            </a:pPr>
            <a:r>
              <a:rPr lang="en-US" altLang="en-US" sz="1400">
                <a:latin typeface="Calibri" panose="020F0502020204030204" pitchFamily="34" charset="0"/>
                <a:cs typeface="Calibri" panose="020F0502020204030204" pitchFamily="34" charset="0"/>
              </a:rPr>
              <a:t> </a:t>
            </a:r>
            <a:endParaRPr lang="en-IN" sz="1400">
              <a:latin typeface="Calibri" panose="020F0502020204030204" pitchFamily="34" charset="0"/>
              <a:ea typeface="Cambria" panose="02040503050406030204" pitchFamily="18" charset="0"/>
              <a:cs typeface="Calibri" panose="020F0502020204030204" pitchFamily="34" charset="0"/>
            </a:endParaRPr>
          </a:p>
        </p:txBody>
      </p:sp>
      <p:pic>
        <p:nvPicPr>
          <p:cNvPr id="17410" name="Picture 2" descr="Active Band Stop Filter"/>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7554897" y="4163627"/>
            <a:ext cx="4163627" cy="1961055"/>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Active Band Pass"/>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54897" y="1955643"/>
            <a:ext cx="4163627" cy="21050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70788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4000" dirty="0">
                <a:latin typeface="Cambria" panose="02040503050406030204" pitchFamily="18" charset="0"/>
                <a:ea typeface="Cambria" panose="02040503050406030204" pitchFamily="18" charset="0"/>
              </a:rPr>
              <a:t>Low Pass Filters</a:t>
            </a:r>
            <a:endParaRPr lang="en-IN" sz="1400" dirty="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185518" y="2043262"/>
            <a:ext cx="7417002" cy="1931579"/>
          </a:xfrm>
        </p:spPr>
        <p:txBody>
          <a:bodyPr anchor="t">
            <a:noAutofit/>
          </a:bodyPr>
          <a:lstStyle/>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eaLnBrk="1" hangingPunct="1">
              <a:buFont typeface="Wingdings" panose="05000000000000000000" pitchFamily="2" charset="2"/>
              <a:buChar char="v"/>
            </a:pPr>
            <a:r>
              <a:rPr lang="en-US" altLang="en-US" sz="1600">
                <a:latin typeface="Cambria" panose="02040503050406030204" pitchFamily="18" charset="0"/>
                <a:ea typeface="Cambria" panose="02040503050406030204" pitchFamily="18" charset="0"/>
                <a:cs typeface="Calibri" panose="020F0502020204030204" pitchFamily="34" charset="0"/>
              </a:rPr>
              <a:t>Low pass filter is a filter which passes all frequencies from DC to upper cut-off frequency fH and rejects any signals above this frequency</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r>
              <a:rPr lang="en-US" sz="1600">
                <a:effectLst/>
                <a:latin typeface="Cambria" panose="02040503050406030204" pitchFamily="18" charset="0"/>
                <a:ea typeface="Cambria" panose="02040503050406030204" pitchFamily="18" charset="0"/>
              </a:rPr>
              <a:t>In ideal case, the frequency response curve drops at the cut-off frequency. Practically the signal will not drop suddenly but drops gradually from transition region to the stop band region.</a:t>
            </a:r>
            <a:endParaRPr lang="en-US" sz="1600">
              <a:effectLst/>
              <a:latin typeface="Cambria" panose="02040503050406030204" pitchFamily="18" charset="0"/>
              <a:ea typeface="Cambria" panose="02040503050406030204" pitchFamily="18" charset="0"/>
            </a:endParaRPr>
          </a:p>
          <a:p>
            <a:pPr eaLnBrk="1" hangingPunct="1">
              <a:buFont typeface="Wingdings" panose="05000000000000000000" pitchFamily="2" charset="2"/>
              <a:buChar char="v"/>
            </a:pPr>
            <a:r>
              <a:rPr lang="en-US" sz="1600">
                <a:effectLst/>
                <a:latin typeface="Cambria" panose="02040503050406030204" pitchFamily="18" charset="0"/>
                <a:ea typeface="Cambria" panose="02040503050406030204" pitchFamily="18" charset="0"/>
              </a:rPr>
              <a:t>Cut-off frequency means the point where the response drops -3 dB or 70.7% from the pass band. Transition region means the area where falloff occurs.</a:t>
            </a:r>
            <a:endParaRPr lang="en-US" altLang="en-US" sz="1600">
              <a:latin typeface="Cambria" panose="02040503050406030204" pitchFamily="18" charset="0"/>
              <a:ea typeface="Cambria" panose="02040503050406030204" pitchFamily="18" charset="0"/>
              <a:cs typeface="Calibri" panose="020F0502020204030204" pitchFamily="34" charset="0"/>
            </a:endParaRPr>
          </a:p>
          <a:p>
            <a:pPr eaLnBrk="1" hangingPunct="1">
              <a:buFont typeface="Wingdings" panose="05000000000000000000" pitchFamily="2" charset="2"/>
              <a:buChar char="v"/>
            </a:pPr>
            <a:r>
              <a:rPr lang="en-US" sz="1400">
                <a:effectLst/>
                <a:latin typeface="Cambria" panose="02040503050406030204" pitchFamily="18" charset="0"/>
                <a:ea typeface="Cambria" panose="02040503050406030204" pitchFamily="18" charset="0"/>
              </a:rPr>
              <a:t>The ideal response is shown: </a:t>
            </a:r>
            <a:endParaRPr lang="en-US" sz="1400">
              <a:effectLst/>
              <a:latin typeface="Cambria" panose="02040503050406030204" pitchFamily="18" charset="0"/>
              <a:ea typeface="Cambria" panose="02040503050406030204" pitchFamily="18"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marL="457200" lvl="1" indent="0">
              <a:buNone/>
            </a:pPr>
            <a:r>
              <a:rPr lang="en-US" altLang="en-US" sz="1600">
                <a:latin typeface="Calibri" panose="020F0502020204030204" pitchFamily="34"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1"/>
          <a:stretch>
            <a:fillRect/>
          </a:stretch>
        </p:blipFill>
        <p:spPr>
          <a:xfrm>
            <a:off x="7602520" y="2556589"/>
            <a:ext cx="3463586" cy="31817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70788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4000">
                <a:latin typeface="Cambria" panose="02040503050406030204" pitchFamily="18" charset="0"/>
                <a:ea typeface="Cambria" panose="02040503050406030204" pitchFamily="18" charset="0"/>
              </a:rPr>
              <a:t>Active Filter</a:t>
            </a:r>
            <a:endParaRPr lang="en-IN" sz="140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185518" y="2043262"/>
            <a:ext cx="6952400" cy="3518089"/>
          </a:xfrm>
        </p:spPr>
        <p:txBody>
          <a:bodyPr anchor="t">
            <a:noAutofit/>
          </a:bodyPr>
          <a:lstStyle/>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rtl="0"/>
            <a:r>
              <a:rPr lang="en-US" sz="1400">
                <a:effectLst/>
                <a:latin typeface="Cambria" panose="02040503050406030204" pitchFamily="18" charset="0"/>
                <a:ea typeface="Cambria" panose="02040503050406030204" pitchFamily="18" charset="0"/>
              </a:rPr>
              <a:t>An active filter is a type of filter that includes one or more active circuit components such as a transistor or an operational amplifier (Op-Amp). </a:t>
            </a:r>
            <a:endParaRPr lang="en-US" sz="14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They derive their energy from an external source of energy and use it to increase or amplify the signal output.</a:t>
            </a:r>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Operational amplifiers adjust the filter’s output by narrowing or widening the bandwidth, creating a selective response to frequencies.</a:t>
            </a:r>
            <a:endParaRPr lang="en-US" sz="14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An Op-Amp has a high input impedance, a low output impedance and a voltage gain within its feedback loop arising from the mixture of the resistor. </a:t>
            </a:r>
            <a:endParaRPr lang="en-US" sz="14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Active filters, when used with careful circuit design, generate excellent performance features, very good precision with a steep roll-off and low noise.</a:t>
            </a:r>
            <a:endParaRPr lang="en-US" sz="1400">
              <a:latin typeface="Cambria" panose="02040503050406030204" pitchFamily="18" charset="0"/>
              <a:ea typeface="Cambria" panose="02040503050406030204" pitchFamily="18"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marL="457200" lvl="1" indent="0">
              <a:buNone/>
            </a:pPr>
            <a:r>
              <a:rPr lang="en-US" altLang="en-US" sz="1600">
                <a:latin typeface="Calibri" panose="020F0502020204030204" pitchFamily="34"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pic>
        <p:nvPicPr>
          <p:cNvPr id="5" name="Picture 4"/>
          <p:cNvPicPr>
            <a:picLocks noChangeAspect="1"/>
          </p:cNvPicPr>
          <p:nvPr/>
        </p:nvPicPr>
        <p:blipFill>
          <a:blip r:embed="rId1"/>
          <a:stretch>
            <a:fillRect/>
          </a:stretch>
        </p:blipFill>
        <p:spPr>
          <a:xfrm>
            <a:off x="7137918" y="2417662"/>
            <a:ext cx="3953427" cy="31436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70788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4000">
                <a:latin typeface="Cambria" panose="02040503050406030204" pitchFamily="18" charset="0"/>
                <a:ea typeface="Cambria" panose="02040503050406030204" pitchFamily="18" charset="0"/>
              </a:rPr>
              <a:t>Active Low Pass Filter</a:t>
            </a:r>
            <a:endParaRPr lang="en-IN" sz="140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558651" y="2033931"/>
            <a:ext cx="10964564" cy="3518089"/>
          </a:xfrm>
        </p:spPr>
        <p:txBody>
          <a:bodyPr anchor="t">
            <a:noAutofit/>
          </a:bodyPr>
          <a:lstStyle/>
          <a:p>
            <a:pPr rtl="0"/>
            <a:r>
              <a:rPr lang="en-US" sz="1400">
                <a:effectLst/>
                <a:latin typeface="Cambria" panose="02040503050406030204" pitchFamily="18" charset="0"/>
                <a:ea typeface="Cambria" panose="02040503050406030204" pitchFamily="18" charset="0"/>
              </a:rPr>
              <a:t>An Active Low Pass Filter only allows low-frequency signals to pass while blocking high frequencies, utilizing an Op-Amp that converts high impedance inputs to low impedance outputs.</a:t>
            </a:r>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The performance of the amplifier plays a very important factor when designing an active low pass filter.</a:t>
            </a:r>
            <a:endParaRPr lang="en-US" sz="14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 There are two primary kinds of active low-pass filters namely switched capacitor type and continuous capacitor type. </a:t>
            </a:r>
            <a:endParaRPr lang="en-US" sz="14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The filters are available from first-order until the eighth order of design.</a:t>
            </a:r>
            <a:endParaRPr lang="en-US" sz="1200">
              <a:effectLst/>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The circuit’s frequency response mirrors that of a passive RC filter, but with a passband voltage gain that boosts the output signal’s amplitude.</a:t>
            </a:r>
            <a:endParaRPr lang="en-US" sz="1400">
              <a:latin typeface="Cambria" panose="02040503050406030204" pitchFamily="18" charset="0"/>
              <a:ea typeface="Cambria" panose="02040503050406030204" pitchFamily="18" charset="0"/>
            </a:endParaRPr>
          </a:p>
          <a:p>
            <a:pPr rtl="0"/>
            <a:r>
              <a:rPr lang="en-US" sz="1400">
                <a:effectLst/>
                <a:latin typeface="Cambria" panose="02040503050406030204" pitchFamily="18" charset="0"/>
                <a:ea typeface="Cambria" panose="02040503050406030204" pitchFamily="18" charset="0"/>
              </a:rPr>
              <a:t>The passband begins from 0Hz or DC for a low pass filter and continues at -3dB to the designated cut-off point. Signals are attenuated beyond the cut off frequency. Active low pass filters are grouped according to the order of the filter. We will discuss 1st &amp; 2nd order active low pass filters.</a:t>
            </a:r>
            <a:endParaRPr lang="en-US" sz="1400">
              <a:latin typeface="Cambria" panose="02040503050406030204" pitchFamily="18" charset="0"/>
              <a:ea typeface="Cambria" panose="02040503050406030204" pitchFamily="18" charset="0"/>
            </a:endParaRPr>
          </a:p>
          <a:p>
            <a:pPr rtl="0"/>
            <a:endParaRPr lang="en-US" altLang="en-US" sz="1600">
              <a:latin typeface="Calibri" panose="020F0502020204030204" pitchFamily="34" charset="0"/>
              <a:cs typeface="Calibri" panose="020F0502020204030204"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marL="457200" lvl="1" indent="0">
              <a:buNone/>
            </a:pPr>
            <a:r>
              <a:rPr lang="en-US" altLang="en-US" sz="1600">
                <a:latin typeface="Calibri" panose="020F0502020204030204" pitchFamily="34"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7" name="TextBox 6"/>
          <p:cNvSpPr txBox="1"/>
          <p:nvPr/>
        </p:nvSpPr>
        <p:spPr>
          <a:xfrm>
            <a:off x="1154096" y="958788"/>
            <a:ext cx="10369119" cy="30777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IN" sz="140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612314" y="2043262"/>
            <a:ext cx="5676520" cy="3676403"/>
          </a:xfrm>
        </p:spPr>
        <p:txBody>
          <a:bodyPr anchor="t">
            <a:noAutofit/>
          </a:bodyPr>
          <a:lstStyle/>
          <a:p>
            <a:pPr rtl="0"/>
            <a:r>
              <a:rPr lang="en-US" sz="1600" b="1" i="0">
                <a:solidFill>
                  <a:srgbClr val="404041"/>
                </a:solidFill>
                <a:effectLst/>
                <a:latin typeface="Cambria" panose="02040503050406030204" pitchFamily="18" charset="0"/>
                <a:ea typeface="Cambria" panose="02040503050406030204" pitchFamily="18" charset="0"/>
              </a:rPr>
              <a:t>Active Low Pass Filter: </a:t>
            </a:r>
            <a:r>
              <a:rPr lang="en-US" sz="1600">
                <a:effectLst/>
                <a:latin typeface="Cambria" panose="02040503050406030204" pitchFamily="18" charset="0"/>
                <a:ea typeface="Cambria" panose="02040503050406030204" pitchFamily="18" charset="0"/>
              </a:rPr>
              <a:t>The attenuation of the signal i.e. the amplitude of the output signal is lesser than amplitude of the input signal in the passive circuit. In order to overcome this disadvantage of passive filter, active filter is designed. A Passive Low Pass Filter connected to either inverting or non-inverting op-amp gives us a simple Active Low Pass Filter.</a:t>
            </a:r>
            <a:endParaRPr lang="en-US" sz="1600">
              <a:effectLst/>
              <a:latin typeface="Cambria" panose="02040503050406030204" pitchFamily="18" charset="0"/>
              <a:ea typeface="Cambria" panose="02040503050406030204" pitchFamily="18" charset="0"/>
            </a:endParaRPr>
          </a:p>
          <a:p>
            <a:pPr rtl="0"/>
            <a:r>
              <a:rPr lang="en-US" sz="1600">
                <a:effectLst/>
                <a:latin typeface="Cambria" panose="02040503050406030204" pitchFamily="18" charset="0"/>
                <a:ea typeface="Cambria" panose="02040503050406030204" pitchFamily="18" charset="0"/>
              </a:rPr>
              <a:t>First order active filter is formed by a single op-amp with RC circuit.  A simple RC Passive Filter connected to the non-inverting terminal of an operational amplifier is shown below.</a:t>
            </a:r>
            <a:endParaRPr lang="en-US" sz="1600">
              <a:latin typeface="Cambria" panose="02040503050406030204" pitchFamily="18" charset="0"/>
              <a:ea typeface="Cambria" panose="02040503050406030204" pitchFamily="18" charset="0"/>
            </a:endParaRPr>
          </a:p>
          <a:p>
            <a:pPr rtl="0"/>
            <a:endParaRPr lang="en-US" sz="1400" b="1" i="0">
              <a:solidFill>
                <a:srgbClr val="404041"/>
              </a:solidFill>
              <a:effectLst/>
              <a:latin typeface="Lato" panose="020F0502020204030203" pitchFamily="34" charset="0"/>
            </a:endParaRPr>
          </a:p>
          <a:p>
            <a:pPr marL="0" indent="0" algn="just" eaLnBrk="1" hangingPunct="1">
              <a:buNone/>
            </a:pPr>
            <a:endParaRPr lang="en-US" altLang="en-US" sz="1400">
              <a:latin typeface="Calibri" panose="020F0502020204030204" pitchFamily="34" charset="0"/>
              <a:cs typeface="Calibri" panose="020F0502020204030204" pitchFamily="34" charset="0"/>
            </a:endParaRPr>
          </a:p>
          <a:p>
            <a:pPr marL="0" indent="0" eaLnBrk="1" hangingPunct="1">
              <a:buNone/>
            </a:pPr>
            <a:endParaRPr lang="en-US" altLang="en-US" sz="1400">
              <a:latin typeface="Calibri" panose="020F0502020204030204" pitchFamily="34" charset="0"/>
              <a:cs typeface="Calibri" panose="020F0502020204030204" pitchFamily="34" charset="0"/>
            </a:endParaRPr>
          </a:p>
          <a:p>
            <a:pPr marL="457200" lvl="1" indent="0">
              <a:buNone/>
            </a:pPr>
            <a:r>
              <a:rPr lang="en-US" altLang="en-US" sz="1400">
                <a:latin typeface="Calibri" panose="020F0502020204030204" pitchFamily="34" charset="0"/>
                <a:cs typeface="Calibri" panose="020F0502020204030204" pitchFamily="34" charset="0"/>
              </a:rPr>
              <a:t> </a:t>
            </a:r>
            <a:endParaRPr lang="en-IN" sz="140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1"/>
          <a:stretch>
            <a:fillRect/>
          </a:stretch>
        </p:blipFill>
        <p:spPr>
          <a:xfrm>
            <a:off x="6501509" y="2481943"/>
            <a:ext cx="5199079" cy="302538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z="1600" smtClean="0"/>
            </a:fld>
            <a:endParaRPr lang="en-IN" sz="1600"/>
          </a:p>
        </p:txBody>
      </p:sp>
      <p:sp>
        <p:nvSpPr>
          <p:cNvPr id="7" name="TextBox 6"/>
          <p:cNvSpPr txBox="1"/>
          <p:nvPr/>
        </p:nvSpPr>
        <p:spPr>
          <a:xfrm>
            <a:off x="1154096" y="958788"/>
            <a:ext cx="10369119"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IN" sz="1600">
              <a:latin typeface="Cambria" panose="02040503050406030204" pitchFamily="18" charset="0"/>
              <a:ea typeface="Cambria" panose="02040503050406030204" pitchFamily="18" charset="0"/>
            </a:endParaRPr>
          </a:p>
        </p:txBody>
      </p:sp>
      <p:sp>
        <p:nvSpPr>
          <p:cNvPr id="6" name="Content Placeholder 2"/>
          <p:cNvSpPr>
            <a:spLocks noGrp="1"/>
          </p:cNvSpPr>
          <p:nvPr>
            <p:ph idx="1"/>
          </p:nvPr>
        </p:nvSpPr>
        <p:spPr>
          <a:xfrm>
            <a:off x="612314" y="2043262"/>
            <a:ext cx="6694008" cy="4247877"/>
          </a:xfrm>
        </p:spPr>
        <p:txBody>
          <a:bodyPr anchor="t">
            <a:noAutofit/>
          </a:bodyPr>
          <a:lstStyle/>
          <a:p>
            <a:pPr algn="l">
              <a:buFont typeface="Wingdings" panose="05000000000000000000" pitchFamily="2" charset="2"/>
              <a:buChar char="v"/>
            </a:pPr>
            <a:endParaRPr lang="en-US" sz="1600" b="0" i="0">
              <a:solidFill>
                <a:srgbClr val="414042"/>
              </a:solidFill>
              <a:effectLst/>
              <a:latin typeface="Lato" panose="020F0502020204030203" pitchFamily="34" charset="0"/>
            </a:endParaRPr>
          </a:p>
          <a:p>
            <a:pPr eaLnBrk="1" hangingPunct="1">
              <a:buFont typeface="Wingdings" panose="05000000000000000000" pitchFamily="2" charset="2"/>
              <a:buChar char="v"/>
            </a:pPr>
            <a:endParaRPr lang="en-US" altLang="en-US" sz="1600">
              <a:latin typeface="Calibri" panose="020F0502020204030204" pitchFamily="34" charset="0"/>
              <a:cs typeface="Calibri" panose="020F0502020204030204" pitchFamily="34" charset="0"/>
            </a:endParaRPr>
          </a:p>
          <a:p>
            <a:pPr marL="0" indent="0" eaLnBrk="1" hangingPunct="1">
              <a:buNone/>
            </a:pPr>
            <a:endParaRPr lang="en-US" altLang="en-US" sz="1600">
              <a:latin typeface="Calibri" panose="020F0502020204030204" pitchFamily="34" charset="0"/>
              <a:cs typeface="Calibri" panose="020F0502020204030204" pitchFamily="34" charset="0"/>
            </a:endParaRPr>
          </a:p>
          <a:p>
            <a:pPr marL="457200" lvl="1" indent="0">
              <a:buNone/>
            </a:pPr>
            <a:r>
              <a:rPr lang="en-US" altLang="en-US" sz="1600">
                <a:latin typeface="Calibri" panose="020F0502020204030204" pitchFamily="34" charset="0"/>
                <a:cs typeface="Calibri" panose="020F0502020204030204" pitchFamily="34" charset="0"/>
              </a:rPr>
              <a:t> </a:t>
            </a:r>
            <a:endParaRPr lang="en-IN" sz="1600">
              <a:latin typeface="Cambria" panose="02040503050406030204" pitchFamily="18" charset="0"/>
              <a:ea typeface="Cambria" panose="02040503050406030204" pitchFamily="18" charset="0"/>
            </a:endParaRPr>
          </a:p>
        </p:txBody>
      </p:sp>
      <p:pic>
        <p:nvPicPr>
          <p:cNvPr id="15374" name="Picture 14" descr="frequency gain in decibels"/>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85725" y="-4511675"/>
            <a:ext cx="3676650" cy="971550"/>
          </a:xfrm>
          <a:prstGeom prst="rect">
            <a:avLst/>
          </a:prstGeom>
          <a:noFill/>
          <a:extLst>
            <a:ext uri="{909E8E84-426E-40DD-AFC4-6F175D3DCCD1}">
              <a14:hiddenFill xmlns:a14="http://schemas.microsoft.com/office/drawing/2010/main">
                <a:solidFill>
                  <a:srgbClr val="FFFFFF"/>
                </a:solidFill>
              </a14:hiddenFill>
            </a:ext>
          </a:extLst>
        </p:spPr>
      </p:pic>
      <p:pic>
        <p:nvPicPr>
          <p:cNvPr id="15378" name="Picture 18" descr="second-order active low pass filte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06322" y="2932312"/>
            <a:ext cx="4791075" cy="2076450"/>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p:cNvSpPr txBox="1"/>
          <p:nvPr/>
        </p:nvSpPr>
        <p:spPr>
          <a:xfrm>
            <a:off x="797715" y="1936489"/>
            <a:ext cx="6694008" cy="4247877"/>
          </a:xfrm>
          <a:prstGeom prst="rect">
            <a:avLst/>
          </a:prstGeom>
        </p:spPr>
        <p:txBody>
          <a:bodyPr vert="horz" lIns="91440" tIns="45720" rIns="91440" bIns="45720" rtlCol="0" anchor="t">
            <a:noAutofit/>
          </a:bodyPr>
          <a:lstStyle>
            <a:defPPr>
              <a:defRPr lang="en-US"/>
            </a:defPPr>
            <a:lvl1pPr marL="228600" indent="-228600" algn="l" defTabSz="914400" rtl="0" eaLnBrk="1" latinLnBrk="0" hangingPunct="1">
              <a:lnSpc>
                <a:spcPct val="120000"/>
              </a:lnSpc>
              <a:spcBef>
                <a:spcPts val="1000"/>
              </a:spcBef>
              <a:buClr>
                <a:schemeClr val="accent1"/>
              </a:buClr>
              <a:buSzTx/>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Tx/>
              <a:buFont typeface="Arial" panose="020B0604020202020204" pitchFamily="34" charset="0"/>
              <a:buChar char="•"/>
              <a:defRPr sz="1200" kern="1200" baseline="0">
                <a:solidFill>
                  <a:schemeClr val="tx1"/>
                </a:solidFill>
                <a:effectLst/>
                <a:latin typeface="+mn-lt"/>
                <a:ea typeface="+mn-ea"/>
                <a:cs typeface="+mn-cs"/>
              </a:defRPr>
            </a:lvl9pPr>
          </a:lstStyle>
          <a:p>
            <a:pPr>
              <a:buFont typeface="Wingdings" panose="05000000000000000000" pitchFamily="2" charset="2"/>
              <a:buChar char="v"/>
            </a:pPr>
            <a:r>
              <a:rPr lang="en-US" altLang="en-US" sz="1400" b="1">
                <a:latin typeface="Calibri" panose="020F0502020204030204" pitchFamily="34" charset="0"/>
                <a:cs typeface="Calibri" panose="020F0502020204030204" pitchFamily="34" charset="0"/>
              </a:rPr>
              <a:t>Second Order Low Pass Filter</a:t>
            </a:r>
            <a:endParaRPr lang="en-US" altLang="en-US" sz="1400" b="1">
              <a:latin typeface="Calibri" panose="020F0502020204030204" pitchFamily="34" charset="0"/>
              <a:cs typeface="Calibri" panose="020F0502020204030204" pitchFamily="34" charset="0"/>
            </a:endParaRPr>
          </a:p>
          <a:p>
            <a:r>
              <a:rPr lang="en-US" sz="1400" b="0" i="0">
                <a:solidFill>
                  <a:srgbClr val="414042"/>
                </a:solidFill>
                <a:effectLst/>
                <a:latin typeface="Calibri" panose="020F0502020204030204" pitchFamily="34" charset="0"/>
                <a:cs typeface="Calibri" panose="020F0502020204030204" pitchFamily="34" charset="0"/>
              </a:rPr>
              <a:t>When cascading together filter circuits to form higher-order filters, the overall gain of the filter is equal to the product of each stage.</a:t>
            </a:r>
            <a:endParaRPr lang="en-US" sz="1400" b="0" i="0">
              <a:solidFill>
                <a:srgbClr val="414042"/>
              </a:solidFill>
              <a:effectLst/>
              <a:latin typeface="Calibri" panose="020F0502020204030204" pitchFamily="34" charset="0"/>
              <a:cs typeface="Calibri" panose="020F0502020204030204" pitchFamily="34" charset="0"/>
            </a:endParaRPr>
          </a:p>
          <a:p>
            <a:r>
              <a:rPr lang="en-US" sz="1400" b="0" i="0">
                <a:solidFill>
                  <a:srgbClr val="414042"/>
                </a:solidFill>
                <a:effectLst/>
                <a:latin typeface="Calibri" panose="020F0502020204030204" pitchFamily="34" charset="0"/>
                <a:cs typeface="Calibri" panose="020F0502020204030204" pitchFamily="34" charset="0"/>
              </a:rPr>
              <a:t> For example, the gain of one stage may be 10 and the gain of the second stage may be 32 and the gain of a third stage may be 100. Then the overall gain will be 32,000, (10 x 32 x 100) as shown below</a:t>
            </a:r>
            <a:r>
              <a:rPr lang="en-US" sz="1100" b="0" i="0">
                <a:solidFill>
                  <a:srgbClr val="414042"/>
                </a:solidFill>
                <a:effectLst/>
                <a:latin typeface="Lato" panose="020F0502020204030203" pitchFamily="34" charset="0"/>
              </a:rPr>
              <a:t>.</a:t>
            </a:r>
            <a:endParaRPr lang="en-US" sz="1100" b="0" i="0">
              <a:solidFill>
                <a:srgbClr val="414042"/>
              </a:solidFill>
              <a:effectLst/>
              <a:latin typeface="Lato" panose="020F0502020204030203" pitchFamily="34" charset="0"/>
            </a:endParaRPr>
          </a:p>
          <a:p>
            <a:endParaRPr lang="en-US" sz="1200">
              <a:solidFill>
                <a:srgbClr val="414042"/>
              </a:solidFill>
              <a:latin typeface="Lato" panose="020F0502020204030203" pitchFamily="34" charset="0"/>
            </a:endParaRPr>
          </a:p>
          <a:p>
            <a:pPr>
              <a:buFont typeface="Wingdings" panose="05000000000000000000" pitchFamily="2" charset="2"/>
              <a:buChar char="v"/>
            </a:pPr>
            <a:endParaRPr lang="en-US" altLang="en-US" sz="1400">
              <a:latin typeface="Calibri" panose="020F0502020204030204" pitchFamily="34" charset="0"/>
              <a:cs typeface="Calibri" panose="020F0502020204030204" pitchFamily="34" charset="0"/>
            </a:endParaRPr>
          </a:p>
          <a:p>
            <a:pPr marL="0" indent="0">
              <a:buFont typeface="Arial" panose="020B0604020202020204" pitchFamily="34" charset="0"/>
              <a:buNone/>
            </a:pPr>
            <a:endParaRPr lang="en-US" altLang="en-US" sz="1400">
              <a:latin typeface="Calibri" panose="020F0502020204030204" pitchFamily="34" charset="0"/>
              <a:cs typeface="Calibri" panose="020F0502020204030204" pitchFamily="34" charset="0"/>
            </a:endParaRPr>
          </a:p>
          <a:p>
            <a:pPr marL="457200" lvl="1" indent="0">
              <a:buFont typeface="Arial" panose="020B0604020202020204" pitchFamily="34" charset="0"/>
              <a:buNone/>
            </a:pPr>
            <a:r>
              <a:rPr lang="en-US" altLang="en-US" sz="1400">
                <a:latin typeface="Calibri" panose="020F0502020204030204" pitchFamily="34" charset="0"/>
                <a:cs typeface="Calibri" panose="020F0502020204030204" pitchFamily="34" charset="0"/>
              </a:rPr>
              <a:t> </a:t>
            </a:r>
            <a:endParaRPr lang="en-IN" sz="1400">
              <a:latin typeface="Cambria" panose="02040503050406030204" pitchFamily="18" charset="0"/>
              <a:ea typeface="Cambria" panose="02040503050406030204" pitchFamily="18" charset="0"/>
            </a:endParaRPr>
          </a:p>
        </p:txBody>
      </p:sp>
      <p:pic>
        <p:nvPicPr>
          <p:cNvPr id="15383" name="Picture 23" descr="cascading voltage gain"/>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642830" y="3760655"/>
            <a:ext cx="4695825" cy="962025"/>
          </a:xfrm>
          <a:prstGeom prst="rect">
            <a:avLst/>
          </a:prstGeom>
          <a:noFill/>
          <a:extLst>
            <a:ext uri="{909E8E84-426E-40DD-AFC4-6F175D3DCCD1}">
              <a14:hiddenFill xmlns:a14="http://schemas.microsoft.com/office/drawing/2010/main">
                <a:solidFill>
                  <a:srgbClr val="FFFFFF"/>
                </a:solidFill>
              </a14:hiddenFill>
            </a:ext>
          </a:extLst>
        </p:spPr>
      </p:pic>
      <p:pic>
        <p:nvPicPr>
          <p:cNvPr id="15385" name="Picture 25" descr="cascading voltage gain in dB"/>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507664" y="4771507"/>
            <a:ext cx="2876550" cy="13640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endParaRPr lang="en-US" sz="2400" dirty="0"/>
          </a:p>
        </p:txBody>
      </p:sp>
      <p:pic>
        <p:nvPicPr>
          <p:cNvPr id="17"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
        <p:nvSpPr>
          <p:cNvPr id="18" name="TextBox 17"/>
          <p:cNvSpPr txBox="1"/>
          <p:nvPr/>
        </p:nvSpPr>
        <p:spPr>
          <a:xfrm>
            <a:off x="1436914" y="2234519"/>
            <a:ext cx="9647854" cy="3268652"/>
          </a:xfrm>
          <a:prstGeom prst="rect">
            <a:avLst/>
          </a:prstGeom>
          <a:noFill/>
        </p:spPr>
        <p:txBody>
          <a:bodyPr wrap="square" rtlCol="0">
            <a:spAutoFit/>
          </a:bodyPr>
          <a:lstStyle/>
          <a:p>
            <a:pPr marL="357505" indent="-346075"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Active filters are frequency-selective circuits that utilize active components such as operational amplifiers (op-amps) to achieve desired filtering characteristics.</a:t>
            </a:r>
            <a:endParaRPr lang="en-IN" sz="2000" dirty="0">
              <a:latin typeface="Times New Roman" panose="02020603050405020304" pitchFamily="18" charset="0"/>
              <a:cs typeface="Times New Roman" panose="02020603050405020304" pitchFamily="18" charset="0"/>
            </a:endParaRPr>
          </a:p>
          <a:p>
            <a:pPr marL="357505" indent="-346075"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They offer advantages like flexibility, precision, and ease of design compared to passive filters.</a:t>
            </a:r>
            <a:endParaRPr lang="en-IN" sz="2000" dirty="0">
              <a:latin typeface="Times New Roman" panose="02020603050405020304" pitchFamily="18" charset="0"/>
              <a:cs typeface="Times New Roman" panose="02020603050405020304" pitchFamily="18" charset="0"/>
            </a:endParaRPr>
          </a:p>
          <a:p>
            <a:pPr marL="357505" indent="-346075"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Active Filters: Employ op-amps and other active components for filtering.</a:t>
            </a:r>
            <a:endParaRPr lang="en-IN" sz="2000" dirty="0">
              <a:latin typeface="Times New Roman" panose="02020603050405020304" pitchFamily="18" charset="0"/>
              <a:cs typeface="Times New Roman" panose="02020603050405020304" pitchFamily="18" charset="0"/>
            </a:endParaRPr>
          </a:p>
          <a:p>
            <a:pPr marL="357505" indent="-346075"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Passive Filters: Rely solely on passive components like resistors, capacitors, and inductors.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2707336" y="265376"/>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Example Problem</a:t>
            </a:r>
            <a:endParaRPr lang="en-US" sz="2400" dirty="0"/>
          </a:p>
        </p:txBody>
      </p:sp>
      <p:sp>
        <p:nvSpPr>
          <p:cNvPr id="2" name="Slide Number Placeholder 1"/>
          <p:cNvSpPr>
            <a:spLocks noGrp="1"/>
          </p:cNvSpPr>
          <p:nvPr>
            <p:ph type="sldNum" sz="quarter" idx="12"/>
          </p:nvPr>
        </p:nvSpPr>
        <p:spPr/>
        <p:txBody>
          <a:bodyPr/>
          <a:lstStyle/>
          <a:p>
            <a:fld id="{CBABCCC1-BF11-4F37-963E-1BCD5B23FD72}" type="slidenum">
              <a:rPr lang="en-IN" smtClean="0"/>
            </a:fld>
            <a:endParaRPr lang="en-IN"/>
          </a:p>
        </p:txBody>
      </p:sp>
      <p:sp>
        <p:nvSpPr>
          <p:cNvPr id="4" name="TextBox 3"/>
          <p:cNvSpPr txBox="1"/>
          <p:nvPr/>
        </p:nvSpPr>
        <p:spPr>
          <a:xfrm>
            <a:off x="294410" y="1035585"/>
            <a:ext cx="5788891" cy="923330"/>
          </a:xfrm>
          <a:prstGeom prst="rect">
            <a:avLst/>
          </a:prstGeom>
          <a:noFill/>
        </p:spPr>
        <p:txBody>
          <a:bodyPr wrap="square">
            <a:spAutoFit/>
          </a:bodyPr>
          <a:lstStyle/>
          <a:p>
            <a:pPr algn="just"/>
            <a:r>
              <a:rPr lang="en-IN" sz="1800" dirty="0">
                <a:effectLst/>
                <a:latin typeface="Times"/>
              </a:rPr>
              <a:t>Determine the critical frequency of the Sallen-Key low-pass filter in Figure, and set the value of </a:t>
            </a:r>
            <a:r>
              <a:rPr lang="en-IN" sz="1800" i="1" dirty="0">
                <a:effectLst/>
                <a:latin typeface="Times"/>
              </a:rPr>
              <a:t>R</a:t>
            </a:r>
            <a:r>
              <a:rPr lang="en-IN" sz="1400" dirty="0">
                <a:effectLst/>
                <a:latin typeface="Times"/>
              </a:rPr>
              <a:t>1 </a:t>
            </a:r>
            <a:r>
              <a:rPr lang="en-IN" sz="1800" dirty="0">
                <a:effectLst/>
                <a:latin typeface="Times"/>
              </a:rPr>
              <a:t>for an approximate Butterworth response. </a:t>
            </a:r>
            <a:endParaRPr lang="en-IN" dirty="0"/>
          </a:p>
        </p:txBody>
      </p:sp>
      <p:sp>
        <p:nvSpPr>
          <p:cNvPr id="5" name="TextBox 4"/>
          <p:cNvSpPr txBox="1"/>
          <p:nvPr/>
        </p:nvSpPr>
        <p:spPr>
          <a:xfrm>
            <a:off x="294410" y="666253"/>
            <a:ext cx="1312718" cy="369332"/>
          </a:xfrm>
          <a:prstGeom prst="rect">
            <a:avLst/>
          </a:prstGeom>
          <a:noFill/>
        </p:spPr>
        <p:txBody>
          <a:bodyPr wrap="square">
            <a:spAutoFit/>
          </a:bodyPr>
          <a:lstStyle/>
          <a:p>
            <a:r>
              <a:rPr lang="en-IN" sz="1800" b="1" dirty="0">
                <a:effectLst/>
                <a:latin typeface="Times"/>
              </a:rPr>
              <a:t>Problem: </a:t>
            </a:r>
            <a:endParaRPr lang="en-IN" b="1" dirty="0"/>
          </a:p>
        </p:txBody>
      </p:sp>
      <p:pic>
        <p:nvPicPr>
          <p:cNvPr id="7" name="Picture 6" descr="A diagram of a circui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08700" y="771121"/>
            <a:ext cx="6083300" cy="3797300"/>
          </a:xfrm>
          <a:prstGeom prst="rect">
            <a:avLst/>
          </a:prstGeom>
        </p:spPr>
      </p:pic>
      <p:pic>
        <p:nvPicPr>
          <p:cNvPr id="9" name="Picture 8" descr="A math equations and numbers&#10;&#10;Description automatically generated"/>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94410" y="2466129"/>
            <a:ext cx="7581900" cy="2743200"/>
          </a:xfrm>
          <a:prstGeom prst="rect">
            <a:avLst/>
          </a:prstGeom>
        </p:spPr>
      </p:pic>
      <p:sp>
        <p:nvSpPr>
          <p:cNvPr id="10" name="TextBox 9"/>
          <p:cNvSpPr txBox="1"/>
          <p:nvPr/>
        </p:nvSpPr>
        <p:spPr>
          <a:xfrm>
            <a:off x="294410" y="2096797"/>
            <a:ext cx="1312718" cy="369332"/>
          </a:xfrm>
          <a:prstGeom prst="rect">
            <a:avLst/>
          </a:prstGeom>
          <a:noFill/>
        </p:spPr>
        <p:txBody>
          <a:bodyPr wrap="square">
            <a:spAutoFit/>
          </a:bodyPr>
          <a:lstStyle/>
          <a:p>
            <a:r>
              <a:rPr lang="en-IN" sz="1800" b="1" dirty="0">
                <a:effectLst/>
                <a:latin typeface="Times"/>
              </a:rPr>
              <a:t>Solution: </a:t>
            </a:r>
            <a:endParaRPr lang="en-IN"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IN" b="0" i="0" u="none" strike="noStrike" dirty="0">
                <a:solidFill>
                  <a:srgbClr val="000000"/>
                </a:solidFill>
                <a:effectLst/>
                <a:latin typeface="-webkit-standard"/>
              </a:rPr>
              <a:t>Active filters utilize:</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026828" y="1977905"/>
            <a:ext cx="9884188"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t>Only passive components (resistors, capacitors, inductors). </a:t>
            </a:r>
            <a:endParaRPr lang="en-IN" dirty="0"/>
          </a:p>
          <a:p>
            <a:pPr marL="342900" indent="-342900">
              <a:lnSpc>
                <a:spcPct val="150000"/>
              </a:lnSpc>
              <a:buAutoNum type="alphaLcParenBoth"/>
            </a:pPr>
            <a:r>
              <a:rPr lang="en-IN" dirty="0"/>
              <a:t>Only active components (transistors, op-amps). </a:t>
            </a:r>
            <a:endParaRPr lang="en-IN" dirty="0"/>
          </a:p>
          <a:p>
            <a:pPr marL="342900" indent="-342900">
              <a:lnSpc>
                <a:spcPct val="150000"/>
              </a:lnSpc>
              <a:buAutoNum type="alphaLcParenBoth"/>
            </a:pPr>
            <a:r>
              <a:rPr lang="en-IN" dirty="0"/>
              <a:t>A combination of active and passive components.</a:t>
            </a:r>
            <a:endParaRPr lang="en-IN" dirty="0"/>
          </a:p>
          <a:p>
            <a:pPr marL="342900" indent="-342900">
              <a:lnSpc>
                <a:spcPct val="150000"/>
              </a:lnSpc>
              <a:buAutoNum type="alphaLcParenBoth"/>
            </a:pPr>
            <a:r>
              <a:rPr lang="en-IN" dirty="0"/>
              <a:t>None of the above.</a:t>
            </a:r>
            <a:endParaRPr lang="en-US" sz="1600" dirty="0">
              <a:solidFill>
                <a:schemeClr val="bg1"/>
              </a:solidFill>
              <a:latin typeface="+mj-lt"/>
            </a:endParaRPr>
          </a:p>
        </p:txBody>
      </p:sp>
      <p:sp>
        <p:nvSpPr>
          <p:cNvPr id="13" name="Google Shape;502;p17"/>
          <p:cNvSpPr/>
          <p:nvPr/>
        </p:nvSpPr>
        <p:spPr>
          <a:xfrm>
            <a:off x="1026828" y="37475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IN" dirty="0"/>
              <a:t>Which of the following is NOT a basic type of passive filter?</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009895" y="4486010"/>
            <a:ext cx="684563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solidFill>
                  <a:schemeClr val="bg1"/>
                </a:solidFill>
              </a:rPr>
              <a:t>Low-pass filter</a:t>
            </a:r>
            <a:endParaRPr lang="en-IN" dirty="0">
              <a:solidFill>
                <a:schemeClr val="bg1"/>
              </a:solidFill>
            </a:endParaRPr>
          </a:p>
          <a:p>
            <a:pPr marL="342900" indent="-342900">
              <a:lnSpc>
                <a:spcPct val="150000"/>
              </a:lnSpc>
              <a:buAutoNum type="alphaLcParenBoth"/>
            </a:pPr>
            <a:r>
              <a:rPr lang="en-IN" dirty="0">
                <a:solidFill>
                  <a:schemeClr val="bg1"/>
                </a:solidFill>
              </a:rPr>
              <a:t>Band-reject filter </a:t>
            </a:r>
            <a:endParaRPr lang="en-IN" dirty="0">
              <a:solidFill>
                <a:schemeClr val="bg1"/>
              </a:solidFill>
            </a:endParaRPr>
          </a:p>
          <a:p>
            <a:pPr marL="342900" indent="-342900">
              <a:lnSpc>
                <a:spcPct val="150000"/>
              </a:lnSpc>
              <a:buAutoNum type="alphaLcParenBoth"/>
            </a:pPr>
            <a:r>
              <a:rPr lang="en-IN" dirty="0">
                <a:solidFill>
                  <a:schemeClr val="bg1"/>
                </a:solidFill>
              </a:rPr>
              <a:t>All-pass filter </a:t>
            </a:r>
            <a:endParaRPr lang="en-IN" dirty="0">
              <a:solidFill>
                <a:schemeClr val="bg1"/>
              </a:solidFill>
            </a:endParaRPr>
          </a:p>
          <a:p>
            <a:pPr marL="342900" indent="-342900">
              <a:lnSpc>
                <a:spcPct val="150000"/>
              </a:lnSpc>
              <a:buAutoNum type="alphaLcParenBoth"/>
            </a:pPr>
            <a:r>
              <a:rPr lang="en-IN" dirty="0">
                <a:solidFill>
                  <a:schemeClr val="bg1"/>
                </a:solidFill>
              </a:rPr>
              <a:t>High-impedance filter</a:t>
            </a:r>
            <a:endParaRPr lang="en-US" sz="1600" dirty="0"/>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3.	</a:t>
            </a:r>
            <a:r>
              <a:rPr lang="en-IN" dirty="0"/>
              <a:t>The cutoff frequency of a filter separates the:</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442464" y="1905217"/>
            <a:ext cx="506917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t>Passband from the stopband. </a:t>
            </a:r>
            <a:endParaRPr lang="en-IN" dirty="0"/>
          </a:p>
          <a:p>
            <a:pPr marL="342900" indent="-342900">
              <a:lnSpc>
                <a:spcPct val="150000"/>
              </a:lnSpc>
              <a:buAutoNum type="alphaLcParenBoth"/>
            </a:pPr>
            <a:r>
              <a:rPr lang="en-IN" dirty="0"/>
              <a:t>DC component from the AC component. </a:t>
            </a:r>
            <a:endParaRPr lang="en-IN" dirty="0"/>
          </a:p>
          <a:p>
            <a:pPr marL="342900" indent="-342900">
              <a:lnSpc>
                <a:spcPct val="150000"/>
              </a:lnSpc>
              <a:buAutoNum type="alphaLcParenBoth"/>
            </a:pPr>
            <a:r>
              <a:rPr lang="en-IN" dirty="0"/>
              <a:t>High frequencies from the low frequencies. </a:t>
            </a:r>
            <a:endParaRPr lang="en-IN" dirty="0"/>
          </a:p>
          <a:p>
            <a:pPr marL="342900" indent="-342900">
              <a:lnSpc>
                <a:spcPct val="150000"/>
              </a:lnSpc>
              <a:buAutoNum type="alphaLcParenBoth"/>
            </a:pPr>
            <a:r>
              <a:rPr lang="en-IN" dirty="0"/>
              <a:t>All of the above.</a:t>
            </a:r>
            <a:endParaRPr lang="en-US" sz="1600" dirty="0">
              <a:solidFill>
                <a:schemeClr val="bg1"/>
              </a:solidFill>
            </a:endParaRPr>
          </a:p>
        </p:txBody>
      </p:sp>
      <p:sp>
        <p:nvSpPr>
          <p:cNvPr id="13" name="Google Shape;502;p17"/>
          <p:cNvSpPr/>
          <p:nvPr/>
        </p:nvSpPr>
        <p:spPr>
          <a:xfrm>
            <a:off x="1009895" y="371852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4.	</a:t>
            </a:r>
            <a:r>
              <a:rPr lang="en-IN" dirty="0"/>
              <a:t>To design a passive filter with a specific cutoff frequency, you would primarily adjust the values of:</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162295" y="4530587"/>
            <a:ext cx="6498894"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t>Resistors only. </a:t>
            </a:r>
            <a:endParaRPr lang="en-IN" dirty="0"/>
          </a:p>
          <a:p>
            <a:pPr marL="342900" indent="-342900">
              <a:lnSpc>
                <a:spcPct val="150000"/>
              </a:lnSpc>
              <a:buAutoNum type="alphaLcParenBoth"/>
            </a:pPr>
            <a:r>
              <a:rPr lang="en-IN" dirty="0"/>
              <a:t>Capacitors only. </a:t>
            </a:r>
            <a:endParaRPr lang="en-IN" dirty="0"/>
          </a:p>
          <a:p>
            <a:pPr marL="342900" indent="-342900">
              <a:lnSpc>
                <a:spcPct val="150000"/>
              </a:lnSpc>
              <a:buAutoNum type="alphaLcParenBoth"/>
            </a:pPr>
            <a:r>
              <a:rPr lang="en-IN" dirty="0"/>
              <a:t>Inductors only. </a:t>
            </a:r>
            <a:endParaRPr lang="en-IN" dirty="0"/>
          </a:p>
          <a:p>
            <a:pPr marL="342900" indent="-342900">
              <a:lnSpc>
                <a:spcPct val="150000"/>
              </a:lnSpc>
              <a:buAutoNum type="alphaLcParenBoth"/>
            </a:pPr>
            <a:r>
              <a:rPr lang="en-IN" dirty="0"/>
              <a:t>Any combination of resistors, capacitors, and inductors.</a:t>
            </a:r>
            <a:endParaRPr lang="en-US" sz="1600" dirty="0">
              <a:solidFill>
                <a:schemeClr val="bg1"/>
              </a:solidFill>
            </a:endParaRPr>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IN" dirty="0"/>
              <a:t>c</a:t>
            </a:r>
            <a:endParaRPr lang="en-IN" dirty="0"/>
          </a:p>
          <a:p>
            <a:pPr marL="457200" indent="-457200">
              <a:buFont typeface="+mj-lt"/>
              <a:buAutoNum type="arabicPeriod"/>
            </a:pPr>
            <a:r>
              <a:rPr lang="en-IN" dirty="0"/>
              <a:t>d</a:t>
            </a:r>
            <a:endParaRPr lang="en-IN" dirty="0"/>
          </a:p>
          <a:p>
            <a:pPr marL="457200" indent="-457200">
              <a:buFont typeface="+mj-lt"/>
              <a:buAutoNum type="arabicPeriod"/>
            </a:pPr>
            <a:r>
              <a:rPr lang="en-IN" dirty="0"/>
              <a:t>a</a:t>
            </a:r>
            <a:endParaRPr lang="en-IN" dirty="0"/>
          </a:p>
          <a:p>
            <a:pPr marL="457200" indent="-457200">
              <a:buFont typeface="+mj-lt"/>
              <a:buAutoNum type="arabicPeriod"/>
            </a:pPr>
            <a:r>
              <a:rPr lang="en-IN" dirty="0"/>
              <a:t>d</a:t>
            </a:r>
            <a:endParaRPr lang="en-IN" dirty="0"/>
          </a:p>
          <a:p>
            <a:pPr marL="0" indent="0">
              <a:buNone/>
            </a:pPr>
            <a:endParaRPr lang="en-IN" dirty="0"/>
          </a:p>
          <a:p>
            <a:pPr marL="457200" indent="-457200">
              <a:buFont typeface="+mj-lt"/>
              <a:buAutoNum type="arabicPeriod"/>
            </a:pP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ounded Rectangle 17"/>
          <p:cNvSpPr/>
          <p:nvPr/>
        </p:nvSpPr>
        <p:spPr>
          <a:xfrm>
            <a:off x="3390635" y="118550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ANSWERS</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endParaRPr lang="en-US" sz="2400" dirty="0"/>
          </a:p>
        </p:txBody>
      </p:sp>
      <p:sp>
        <p:nvSpPr>
          <p:cNvPr id="9" name="TextBox 8"/>
          <p:cNvSpPr txBox="1"/>
          <p:nvPr/>
        </p:nvSpPr>
        <p:spPr>
          <a:xfrm>
            <a:off x="1380930" y="1967920"/>
            <a:ext cx="9694506" cy="2778838"/>
          </a:xfrm>
          <a:prstGeom prst="rect">
            <a:avLst/>
          </a:prstGeom>
          <a:noFill/>
        </p:spPr>
        <p:txBody>
          <a:bodyPr wrap="square" rtlCol="0">
            <a:spAutoFit/>
          </a:bodyPr>
          <a:lstStyle/>
          <a:p>
            <a:pPr marL="342900" indent="-342900" algn="just">
              <a:lnSpc>
                <a:spcPct val="200000"/>
              </a:lnSpc>
              <a:buFont typeface="+mj-lt"/>
              <a:buAutoNum type="arabicPeriod"/>
            </a:pPr>
            <a:r>
              <a:rPr lang="en-US" dirty="0"/>
              <a:t>Describe the basic principle of operation of active filters and how they differ from passive filters.</a:t>
            </a:r>
            <a:endParaRPr lang="en-US" dirty="0"/>
          </a:p>
          <a:p>
            <a:pPr marL="342900" indent="-342900" algn="just">
              <a:lnSpc>
                <a:spcPct val="200000"/>
              </a:lnSpc>
              <a:buFont typeface="+mj-lt"/>
              <a:buAutoNum type="arabicPeriod"/>
            </a:pPr>
            <a:r>
              <a:rPr lang="en-US" dirty="0"/>
              <a:t>Discuss the key advantages of using active filters in electronic circuits, including flexibility, precision, and ease of design.</a:t>
            </a:r>
            <a:endParaRPr lang="en-US" dirty="0"/>
          </a:p>
          <a:p>
            <a:pPr marL="342900" indent="-342900" algn="just">
              <a:lnSpc>
                <a:spcPct val="200000"/>
              </a:lnSpc>
              <a:buFont typeface="+mj-lt"/>
              <a:buAutoNum type="arabicPeriod"/>
            </a:pPr>
            <a:r>
              <a:rPr lang="en-US" dirty="0"/>
              <a:t>Provide examples of real-world applications where active filters excel and explain how their active components contribute to their effectiveness.</a:t>
            </a:r>
            <a:endParaRPr lang="en-US" dirty="0"/>
          </a:p>
        </p:txBody>
      </p:sp>
      <p:pic>
        <p:nvPicPr>
          <p:cNvPr id="10"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1534940" y="2100679"/>
            <a:ext cx="9608234" cy="2031325"/>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Op-Amps and Linear Integrated Circuit; 4th Ed., </a:t>
            </a:r>
            <a:r>
              <a:rPr lang="en-GB" dirty="0" err="1"/>
              <a:t>Gayakwad</a:t>
            </a:r>
            <a:r>
              <a:rPr lang="en-GB" dirty="0"/>
              <a:t>, Ramakant A.</a:t>
            </a:r>
            <a:endParaRPr lang="en-US" dirty="0"/>
          </a:p>
          <a:p>
            <a:pPr>
              <a:lnSpc>
                <a:spcPct val="150000"/>
              </a:lnSpc>
            </a:pPr>
            <a:endParaRPr lang="en-US" dirty="0"/>
          </a:p>
          <a:p>
            <a:pPr>
              <a:lnSpc>
                <a:spcPct val="150000"/>
              </a:lnSpc>
            </a:pPr>
            <a:r>
              <a:rPr lang="en-US" b="1" dirty="0"/>
              <a:t>Sites and Web links:</a:t>
            </a:r>
            <a:endParaRPr lang="en-US" b="1" dirty="0"/>
          </a:p>
          <a:p>
            <a:pPr algn="l">
              <a:buFont typeface="+mj-lt"/>
              <a:buAutoNum type="arabicPeriod"/>
            </a:pPr>
            <a:r>
              <a:rPr lang="en-US" dirty="0"/>
              <a:t>1. </a:t>
            </a:r>
            <a:r>
              <a:rPr lang="en-IN" b="0" i="0" dirty="0">
                <a:solidFill>
                  <a:srgbClr val="374151"/>
                </a:solidFill>
                <a:effectLst/>
                <a:latin typeface="Söhne"/>
              </a:rPr>
              <a:t>https://electronicsforyou.in/introduction-to-op-amp</a:t>
            </a:r>
            <a:endParaRPr lang="en-IN" b="0" i="0" dirty="0">
              <a:solidFill>
                <a:srgbClr val="374151"/>
              </a:solidFill>
              <a:effectLst/>
              <a:latin typeface="Söhne"/>
            </a:endParaRPr>
          </a:p>
        </p:txBody>
      </p:sp>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47960" y="2332796"/>
            <a:ext cx="7920111" cy="2883877"/>
            <a:chOff x="2247960" y="2332796"/>
            <a:chExt cx="7920111" cy="2883877"/>
          </a:xfrm>
        </p:grpSpPr>
        <p:sp>
          <p:nvSpPr>
            <p:cNvPr id="4" name="Rounded Rectangle 3"/>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b="1"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ANALOG ELECTRONIC CIRCUIT DESIGN</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5131980" y="3092166"/>
              <a:ext cx="3235570" cy="1083212"/>
            </a:xfrm>
            <a:prstGeom prst="rect">
              <a:avLst/>
            </a:prstGeom>
            <a:noFill/>
          </p:spPr>
        </p:pic>
      </p:grpSp>
      <p:sp>
        <p:nvSpPr>
          <p:cNvPr id="3" name="Slide Number Placeholder 2"/>
          <p:cNvSpPr>
            <a:spLocks noGrp="1"/>
          </p:cNvSpPr>
          <p:nvPr>
            <p:ph type="sldNum" sz="quarter" idx="12"/>
          </p:nvPr>
        </p:nvSpPr>
        <p:spPr/>
        <p:txBody>
          <a:bodyPr/>
          <a:lstStyle/>
          <a:p>
            <a:fld id="{CBABCCC1-BF11-4F37-963E-1BCD5B23FD72}" type="slidenum">
              <a:rPr lang="en-IN" smtClean="0"/>
            </a:fld>
            <a:endParaRPr lang="en-IN"/>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0</TotalTime>
  <Words>11335</Words>
  <Application>WPS Presentation</Application>
  <PresentationFormat>Widescreen</PresentationFormat>
  <Paragraphs>296</Paragraphs>
  <Slides>24</Slides>
  <Notes>3</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24</vt:i4>
      </vt:variant>
    </vt:vector>
  </HeadingPairs>
  <TitlesOfParts>
    <vt:vector size="45" baseType="lpstr">
      <vt:lpstr>Arial</vt:lpstr>
      <vt:lpstr>SimSun</vt:lpstr>
      <vt:lpstr>Wingdings</vt:lpstr>
      <vt:lpstr>Arial</vt:lpstr>
      <vt:lpstr>Calibri</vt:lpstr>
      <vt:lpstr>Poppins</vt:lpstr>
      <vt:lpstr>Segoe Print</vt:lpstr>
      <vt:lpstr>BioRhyme ExtraBold</vt:lpstr>
      <vt:lpstr>Poppins</vt:lpstr>
      <vt:lpstr>Poppins</vt:lpstr>
      <vt:lpstr>Cambria</vt:lpstr>
      <vt:lpstr>Times New Roman</vt:lpstr>
      <vt:lpstr>Calibri</vt:lpstr>
      <vt:lpstr>Lato</vt:lpstr>
      <vt:lpstr>Gill Sans MT</vt:lpstr>
      <vt:lpstr>Microsoft YaHei</vt:lpstr>
      <vt:lpstr>Arial Unicode MS</vt:lpstr>
      <vt:lpstr>Times</vt:lpstr>
      <vt:lpstr>-webkit-standard</vt:lpstr>
      <vt:lpstr>Söhne</vt:lpstr>
      <vt:lpstr>Gallery</vt:lpstr>
      <vt:lpstr>PowerPoint 演示文稿</vt:lpstr>
      <vt:lpstr>Session Content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MEMS</dc:title>
  <dc:creator>வெ. விவேகானந்தன்</dc:creator>
  <cp:lastModifiedBy>Uday Kiran</cp:lastModifiedBy>
  <cp:revision>365</cp:revision>
  <dcterms:created xsi:type="dcterms:W3CDTF">2023-05-02T05:06:00Z</dcterms:created>
  <dcterms:modified xsi:type="dcterms:W3CDTF">2025-09-08T03:48:27Z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D8E04EDF25F94D85926C117088F8A98D_13</vt:lpwstr>
  </property>
  <property fmtid="{D5CDD505-2E9C-101B-9397-08002B2CF9AE}" pid="3" name="KSOProductBuildVer">
    <vt:lpwstr>1033-12.2.0.22222</vt:lpwstr>
  </property>
</Properties>
</file>