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95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0C64A-1DBB-5A16-1054-B29AA0B905B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597ADC2-DBD7-DB25-07A4-BC8CD5D959E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F9F83D2-B92C-B170-4927-4954033144CE}"/>
              </a:ext>
            </a:extLst>
          </p:cNvPr>
          <p:cNvSpPr>
            <a:spLocks noGrp="1"/>
          </p:cNvSpPr>
          <p:nvPr>
            <p:ph type="dt" sz="half" idx="10"/>
          </p:nvPr>
        </p:nvSpPr>
        <p:spPr/>
        <p:txBody>
          <a:bodyPr/>
          <a:lstStyle/>
          <a:p>
            <a:fld id="{1D3CECF4-A038-4507-BFDF-DE6E32FF5268}" type="datetimeFigureOut">
              <a:rPr lang="en-IN" smtClean="0"/>
              <a:t>26-08-2025</a:t>
            </a:fld>
            <a:endParaRPr lang="en-IN"/>
          </a:p>
        </p:txBody>
      </p:sp>
      <p:sp>
        <p:nvSpPr>
          <p:cNvPr id="5" name="Footer Placeholder 4">
            <a:extLst>
              <a:ext uri="{FF2B5EF4-FFF2-40B4-BE49-F238E27FC236}">
                <a16:creationId xmlns:a16="http://schemas.microsoft.com/office/drawing/2014/main" id="{84989DE7-4473-0ABC-D082-186CF7CC421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EF5F01-C794-D08E-AD57-EEF98D0596C9}"/>
              </a:ext>
            </a:extLst>
          </p:cNvPr>
          <p:cNvSpPr>
            <a:spLocks noGrp="1"/>
          </p:cNvSpPr>
          <p:nvPr>
            <p:ph type="sldNum" sz="quarter" idx="12"/>
          </p:nvPr>
        </p:nvSpPr>
        <p:spPr/>
        <p:txBody>
          <a:bodyPr/>
          <a:lstStyle/>
          <a:p>
            <a:fld id="{2249A141-21FF-41B4-8E7F-0C33BD4E9F3C}" type="slidenum">
              <a:rPr lang="en-IN" smtClean="0"/>
              <a:t>‹#›</a:t>
            </a:fld>
            <a:endParaRPr lang="en-IN"/>
          </a:p>
        </p:txBody>
      </p:sp>
    </p:spTree>
    <p:extLst>
      <p:ext uri="{BB962C8B-B14F-4D97-AF65-F5344CB8AC3E}">
        <p14:creationId xmlns:p14="http://schemas.microsoft.com/office/powerpoint/2010/main" val="3161020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0CEA1-A1CC-5E55-1767-9CC43460E3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5AD230B-C413-CC3F-D3AF-529340EE10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0FA69DC-F391-CB84-2D53-A8D5EC8E52B3}"/>
              </a:ext>
            </a:extLst>
          </p:cNvPr>
          <p:cNvSpPr>
            <a:spLocks noGrp="1"/>
          </p:cNvSpPr>
          <p:nvPr>
            <p:ph type="dt" sz="half" idx="10"/>
          </p:nvPr>
        </p:nvSpPr>
        <p:spPr/>
        <p:txBody>
          <a:bodyPr/>
          <a:lstStyle/>
          <a:p>
            <a:fld id="{1D3CECF4-A038-4507-BFDF-DE6E32FF5268}" type="datetimeFigureOut">
              <a:rPr lang="en-IN" smtClean="0"/>
              <a:t>26-08-2025</a:t>
            </a:fld>
            <a:endParaRPr lang="en-IN"/>
          </a:p>
        </p:txBody>
      </p:sp>
      <p:sp>
        <p:nvSpPr>
          <p:cNvPr id="5" name="Footer Placeholder 4">
            <a:extLst>
              <a:ext uri="{FF2B5EF4-FFF2-40B4-BE49-F238E27FC236}">
                <a16:creationId xmlns:a16="http://schemas.microsoft.com/office/drawing/2014/main" id="{96D48F46-DF15-585E-2BE6-FD60A4E79D5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9A37B6-9B44-57E8-72E2-F932D6DC6203}"/>
              </a:ext>
            </a:extLst>
          </p:cNvPr>
          <p:cNvSpPr>
            <a:spLocks noGrp="1"/>
          </p:cNvSpPr>
          <p:nvPr>
            <p:ph type="sldNum" sz="quarter" idx="12"/>
          </p:nvPr>
        </p:nvSpPr>
        <p:spPr/>
        <p:txBody>
          <a:bodyPr/>
          <a:lstStyle/>
          <a:p>
            <a:fld id="{2249A141-21FF-41B4-8E7F-0C33BD4E9F3C}" type="slidenum">
              <a:rPr lang="en-IN" smtClean="0"/>
              <a:t>‹#›</a:t>
            </a:fld>
            <a:endParaRPr lang="en-IN"/>
          </a:p>
        </p:txBody>
      </p:sp>
    </p:spTree>
    <p:extLst>
      <p:ext uri="{BB962C8B-B14F-4D97-AF65-F5344CB8AC3E}">
        <p14:creationId xmlns:p14="http://schemas.microsoft.com/office/powerpoint/2010/main" val="6369329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2CA94-95A9-6E94-BC35-3BB32498A7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6E4AC13-968F-E1DB-DFAC-D21255EAF7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971D91A-1EAC-886F-DE3E-855E1BEEDD75}"/>
              </a:ext>
            </a:extLst>
          </p:cNvPr>
          <p:cNvSpPr>
            <a:spLocks noGrp="1"/>
          </p:cNvSpPr>
          <p:nvPr>
            <p:ph type="dt" sz="half" idx="10"/>
          </p:nvPr>
        </p:nvSpPr>
        <p:spPr/>
        <p:txBody>
          <a:bodyPr/>
          <a:lstStyle/>
          <a:p>
            <a:fld id="{1D3CECF4-A038-4507-BFDF-DE6E32FF5268}" type="datetimeFigureOut">
              <a:rPr lang="en-IN" smtClean="0"/>
              <a:t>26-08-2025</a:t>
            </a:fld>
            <a:endParaRPr lang="en-IN"/>
          </a:p>
        </p:txBody>
      </p:sp>
      <p:sp>
        <p:nvSpPr>
          <p:cNvPr id="5" name="Footer Placeholder 4">
            <a:extLst>
              <a:ext uri="{FF2B5EF4-FFF2-40B4-BE49-F238E27FC236}">
                <a16:creationId xmlns:a16="http://schemas.microsoft.com/office/drawing/2014/main" id="{D639EBF0-DFD2-E229-1F70-6EE4A62A17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653CFE1-EEE5-6857-2028-975ED5E9B9BF}"/>
              </a:ext>
            </a:extLst>
          </p:cNvPr>
          <p:cNvSpPr>
            <a:spLocks noGrp="1"/>
          </p:cNvSpPr>
          <p:nvPr>
            <p:ph type="sldNum" sz="quarter" idx="12"/>
          </p:nvPr>
        </p:nvSpPr>
        <p:spPr/>
        <p:txBody>
          <a:bodyPr/>
          <a:lstStyle/>
          <a:p>
            <a:fld id="{2249A141-21FF-41B4-8E7F-0C33BD4E9F3C}" type="slidenum">
              <a:rPr lang="en-IN" smtClean="0"/>
              <a:t>‹#›</a:t>
            </a:fld>
            <a:endParaRPr lang="en-IN"/>
          </a:p>
        </p:txBody>
      </p:sp>
    </p:spTree>
    <p:extLst>
      <p:ext uri="{BB962C8B-B14F-4D97-AF65-F5344CB8AC3E}">
        <p14:creationId xmlns:p14="http://schemas.microsoft.com/office/powerpoint/2010/main" val="800190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2667C-4297-D1EE-42B3-D256F7BBE1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3F195E-473F-68A7-1C38-24B6EF6ED1B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EBD8E7D-DD68-7033-71C1-701E7D9B26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A4BF228-7F39-8569-F993-C255B91716AD}"/>
              </a:ext>
            </a:extLst>
          </p:cNvPr>
          <p:cNvSpPr>
            <a:spLocks noGrp="1"/>
          </p:cNvSpPr>
          <p:nvPr>
            <p:ph type="dt" sz="half" idx="10"/>
          </p:nvPr>
        </p:nvSpPr>
        <p:spPr/>
        <p:txBody>
          <a:bodyPr/>
          <a:lstStyle/>
          <a:p>
            <a:fld id="{1D3CECF4-A038-4507-BFDF-DE6E32FF5268}" type="datetimeFigureOut">
              <a:rPr lang="en-IN" smtClean="0"/>
              <a:t>26-08-2025</a:t>
            </a:fld>
            <a:endParaRPr lang="en-IN"/>
          </a:p>
        </p:txBody>
      </p:sp>
      <p:sp>
        <p:nvSpPr>
          <p:cNvPr id="6" name="Footer Placeholder 5">
            <a:extLst>
              <a:ext uri="{FF2B5EF4-FFF2-40B4-BE49-F238E27FC236}">
                <a16:creationId xmlns:a16="http://schemas.microsoft.com/office/drawing/2014/main" id="{D2303366-272B-AE11-788B-35FF96F422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07BDC11-3FE3-73D4-F962-AC71D13F0B4C}"/>
              </a:ext>
            </a:extLst>
          </p:cNvPr>
          <p:cNvSpPr>
            <a:spLocks noGrp="1"/>
          </p:cNvSpPr>
          <p:nvPr>
            <p:ph type="sldNum" sz="quarter" idx="12"/>
          </p:nvPr>
        </p:nvSpPr>
        <p:spPr/>
        <p:txBody>
          <a:bodyPr/>
          <a:lstStyle/>
          <a:p>
            <a:fld id="{2249A141-21FF-41B4-8E7F-0C33BD4E9F3C}" type="slidenum">
              <a:rPr lang="en-IN" smtClean="0"/>
              <a:t>‹#›</a:t>
            </a:fld>
            <a:endParaRPr lang="en-IN"/>
          </a:p>
        </p:txBody>
      </p:sp>
    </p:spTree>
    <p:extLst>
      <p:ext uri="{BB962C8B-B14F-4D97-AF65-F5344CB8AC3E}">
        <p14:creationId xmlns:p14="http://schemas.microsoft.com/office/powerpoint/2010/main" val="37158810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FF35F-002D-F493-5670-46BEA358A4D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105E2E-3F94-9061-8878-E7890D43175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A9039BB-069E-DC04-FA11-9A493747506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6432E2B-6813-EDE6-828C-9321063267C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77C011-99B6-4EC0-44D6-573C9233B3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136F763A-B896-451D-15B3-29569A85B70C}"/>
              </a:ext>
            </a:extLst>
          </p:cNvPr>
          <p:cNvSpPr>
            <a:spLocks noGrp="1"/>
          </p:cNvSpPr>
          <p:nvPr>
            <p:ph type="dt" sz="half" idx="10"/>
          </p:nvPr>
        </p:nvSpPr>
        <p:spPr/>
        <p:txBody>
          <a:bodyPr/>
          <a:lstStyle/>
          <a:p>
            <a:fld id="{1D3CECF4-A038-4507-BFDF-DE6E32FF5268}" type="datetimeFigureOut">
              <a:rPr lang="en-IN" smtClean="0"/>
              <a:t>26-08-2025</a:t>
            </a:fld>
            <a:endParaRPr lang="en-IN"/>
          </a:p>
        </p:txBody>
      </p:sp>
      <p:sp>
        <p:nvSpPr>
          <p:cNvPr id="8" name="Footer Placeholder 7">
            <a:extLst>
              <a:ext uri="{FF2B5EF4-FFF2-40B4-BE49-F238E27FC236}">
                <a16:creationId xmlns:a16="http://schemas.microsoft.com/office/drawing/2014/main" id="{A8D5AF65-11C0-C19E-5EE6-B329CF2CD55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30D9396-C9FD-ABB0-B1DE-F45DB2E857BC}"/>
              </a:ext>
            </a:extLst>
          </p:cNvPr>
          <p:cNvSpPr>
            <a:spLocks noGrp="1"/>
          </p:cNvSpPr>
          <p:nvPr>
            <p:ph type="sldNum" sz="quarter" idx="12"/>
          </p:nvPr>
        </p:nvSpPr>
        <p:spPr/>
        <p:txBody>
          <a:bodyPr/>
          <a:lstStyle/>
          <a:p>
            <a:fld id="{2249A141-21FF-41B4-8E7F-0C33BD4E9F3C}" type="slidenum">
              <a:rPr lang="en-IN" smtClean="0"/>
              <a:t>‹#›</a:t>
            </a:fld>
            <a:endParaRPr lang="en-IN"/>
          </a:p>
        </p:txBody>
      </p:sp>
    </p:spTree>
    <p:extLst>
      <p:ext uri="{BB962C8B-B14F-4D97-AF65-F5344CB8AC3E}">
        <p14:creationId xmlns:p14="http://schemas.microsoft.com/office/powerpoint/2010/main" val="2052306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786E4-F0D1-78CB-A395-C0135C790D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795B216-58CA-BEC0-D7B8-74F5C4835D17}"/>
              </a:ext>
            </a:extLst>
          </p:cNvPr>
          <p:cNvSpPr>
            <a:spLocks noGrp="1"/>
          </p:cNvSpPr>
          <p:nvPr>
            <p:ph type="dt" sz="half" idx="10"/>
          </p:nvPr>
        </p:nvSpPr>
        <p:spPr/>
        <p:txBody>
          <a:bodyPr/>
          <a:lstStyle/>
          <a:p>
            <a:fld id="{1D3CECF4-A038-4507-BFDF-DE6E32FF5268}" type="datetimeFigureOut">
              <a:rPr lang="en-IN" smtClean="0"/>
              <a:t>26-08-2025</a:t>
            </a:fld>
            <a:endParaRPr lang="en-IN"/>
          </a:p>
        </p:txBody>
      </p:sp>
      <p:sp>
        <p:nvSpPr>
          <p:cNvPr id="4" name="Footer Placeholder 3">
            <a:extLst>
              <a:ext uri="{FF2B5EF4-FFF2-40B4-BE49-F238E27FC236}">
                <a16:creationId xmlns:a16="http://schemas.microsoft.com/office/drawing/2014/main" id="{DF387545-DE50-B40F-C982-D8C343FCE98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F3A541E-CA94-DF3B-6DCE-A324D269EF82}"/>
              </a:ext>
            </a:extLst>
          </p:cNvPr>
          <p:cNvSpPr>
            <a:spLocks noGrp="1"/>
          </p:cNvSpPr>
          <p:nvPr>
            <p:ph type="sldNum" sz="quarter" idx="12"/>
          </p:nvPr>
        </p:nvSpPr>
        <p:spPr/>
        <p:txBody>
          <a:bodyPr/>
          <a:lstStyle/>
          <a:p>
            <a:fld id="{2249A141-21FF-41B4-8E7F-0C33BD4E9F3C}" type="slidenum">
              <a:rPr lang="en-IN" smtClean="0"/>
              <a:t>‹#›</a:t>
            </a:fld>
            <a:endParaRPr lang="en-IN"/>
          </a:p>
        </p:txBody>
      </p:sp>
    </p:spTree>
    <p:extLst>
      <p:ext uri="{BB962C8B-B14F-4D97-AF65-F5344CB8AC3E}">
        <p14:creationId xmlns:p14="http://schemas.microsoft.com/office/powerpoint/2010/main" val="22312338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188BD9-421E-1B20-DD43-2CEE521CF6BB}"/>
              </a:ext>
            </a:extLst>
          </p:cNvPr>
          <p:cNvSpPr>
            <a:spLocks noGrp="1"/>
          </p:cNvSpPr>
          <p:nvPr>
            <p:ph type="dt" sz="half" idx="10"/>
          </p:nvPr>
        </p:nvSpPr>
        <p:spPr/>
        <p:txBody>
          <a:bodyPr/>
          <a:lstStyle/>
          <a:p>
            <a:fld id="{1D3CECF4-A038-4507-BFDF-DE6E32FF5268}" type="datetimeFigureOut">
              <a:rPr lang="en-IN" smtClean="0"/>
              <a:t>26-08-2025</a:t>
            </a:fld>
            <a:endParaRPr lang="en-IN"/>
          </a:p>
        </p:txBody>
      </p:sp>
      <p:sp>
        <p:nvSpPr>
          <p:cNvPr id="3" name="Footer Placeholder 2">
            <a:extLst>
              <a:ext uri="{FF2B5EF4-FFF2-40B4-BE49-F238E27FC236}">
                <a16:creationId xmlns:a16="http://schemas.microsoft.com/office/drawing/2014/main" id="{927A372D-8AEB-6F4D-E0B4-34C063594F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8A0F8ED-6757-AB7C-3324-6E1F7DAFD83D}"/>
              </a:ext>
            </a:extLst>
          </p:cNvPr>
          <p:cNvSpPr>
            <a:spLocks noGrp="1"/>
          </p:cNvSpPr>
          <p:nvPr>
            <p:ph type="sldNum" sz="quarter" idx="12"/>
          </p:nvPr>
        </p:nvSpPr>
        <p:spPr/>
        <p:txBody>
          <a:bodyPr/>
          <a:lstStyle/>
          <a:p>
            <a:fld id="{2249A141-21FF-41B4-8E7F-0C33BD4E9F3C}" type="slidenum">
              <a:rPr lang="en-IN" smtClean="0"/>
              <a:t>‹#›</a:t>
            </a:fld>
            <a:endParaRPr lang="en-IN"/>
          </a:p>
        </p:txBody>
      </p:sp>
    </p:spTree>
    <p:extLst>
      <p:ext uri="{BB962C8B-B14F-4D97-AF65-F5344CB8AC3E}">
        <p14:creationId xmlns:p14="http://schemas.microsoft.com/office/powerpoint/2010/main" val="12738797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72DE4-D92F-74CA-2016-5B7B2226C52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DC66E9-24D2-D5A2-52EA-E1ED1FBFD3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9A6A91A-7D5E-4C25-1C95-2F281BAEB9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E738E-8861-3ACC-2381-4D898ECB6916}"/>
              </a:ext>
            </a:extLst>
          </p:cNvPr>
          <p:cNvSpPr>
            <a:spLocks noGrp="1"/>
          </p:cNvSpPr>
          <p:nvPr>
            <p:ph type="dt" sz="half" idx="10"/>
          </p:nvPr>
        </p:nvSpPr>
        <p:spPr/>
        <p:txBody>
          <a:bodyPr/>
          <a:lstStyle/>
          <a:p>
            <a:fld id="{1D3CECF4-A038-4507-BFDF-DE6E32FF5268}" type="datetimeFigureOut">
              <a:rPr lang="en-IN" smtClean="0"/>
              <a:t>26-08-2025</a:t>
            </a:fld>
            <a:endParaRPr lang="en-IN"/>
          </a:p>
        </p:txBody>
      </p:sp>
      <p:sp>
        <p:nvSpPr>
          <p:cNvPr id="6" name="Footer Placeholder 5">
            <a:extLst>
              <a:ext uri="{FF2B5EF4-FFF2-40B4-BE49-F238E27FC236}">
                <a16:creationId xmlns:a16="http://schemas.microsoft.com/office/drawing/2014/main" id="{48CE39B4-888A-DEEB-0130-271350F33B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CD9A927-DCA9-77AA-3714-58BCE1DB06FF}"/>
              </a:ext>
            </a:extLst>
          </p:cNvPr>
          <p:cNvSpPr>
            <a:spLocks noGrp="1"/>
          </p:cNvSpPr>
          <p:nvPr>
            <p:ph type="sldNum" sz="quarter" idx="12"/>
          </p:nvPr>
        </p:nvSpPr>
        <p:spPr/>
        <p:txBody>
          <a:bodyPr/>
          <a:lstStyle/>
          <a:p>
            <a:fld id="{2249A141-21FF-41B4-8E7F-0C33BD4E9F3C}" type="slidenum">
              <a:rPr lang="en-IN" smtClean="0"/>
              <a:t>‹#›</a:t>
            </a:fld>
            <a:endParaRPr lang="en-IN"/>
          </a:p>
        </p:txBody>
      </p:sp>
    </p:spTree>
    <p:extLst>
      <p:ext uri="{BB962C8B-B14F-4D97-AF65-F5344CB8AC3E}">
        <p14:creationId xmlns:p14="http://schemas.microsoft.com/office/powerpoint/2010/main" val="2183026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3F73B3-C08F-DA70-4DAD-9227A0AA41D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D8BBCC98-9578-6580-B696-B8416B35CE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71E21ED-5042-AD0E-EB9E-2DF5B3BCA7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0EBF93-EAB8-582D-1B4D-0B9C273F1F7E}"/>
              </a:ext>
            </a:extLst>
          </p:cNvPr>
          <p:cNvSpPr>
            <a:spLocks noGrp="1"/>
          </p:cNvSpPr>
          <p:nvPr>
            <p:ph type="dt" sz="half" idx="10"/>
          </p:nvPr>
        </p:nvSpPr>
        <p:spPr/>
        <p:txBody>
          <a:bodyPr/>
          <a:lstStyle/>
          <a:p>
            <a:fld id="{1D3CECF4-A038-4507-BFDF-DE6E32FF5268}" type="datetimeFigureOut">
              <a:rPr lang="en-IN" smtClean="0"/>
              <a:t>26-08-2025</a:t>
            </a:fld>
            <a:endParaRPr lang="en-IN"/>
          </a:p>
        </p:txBody>
      </p:sp>
      <p:sp>
        <p:nvSpPr>
          <p:cNvPr id="6" name="Footer Placeholder 5">
            <a:extLst>
              <a:ext uri="{FF2B5EF4-FFF2-40B4-BE49-F238E27FC236}">
                <a16:creationId xmlns:a16="http://schemas.microsoft.com/office/drawing/2014/main" id="{914913DD-C8F3-43B2-54C9-BC8982E2C9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B2918C-C5CD-1A3B-D447-F328581B705E}"/>
              </a:ext>
            </a:extLst>
          </p:cNvPr>
          <p:cNvSpPr>
            <a:spLocks noGrp="1"/>
          </p:cNvSpPr>
          <p:nvPr>
            <p:ph type="sldNum" sz="quarter" idx="12"/>
          </p:nvPr>
        </p:nvSpPr>
        <p:spPr/>
        <p:txBody>
          <a:bodyPr/>
          <a:lstStyle/>
          <a:p>
            <a:fld id="{2249A141-21FF-41B4-8E7F-0C33BD4E9F3C}" type="slidenum">
              <a:rPr lang="en-IN" smtClean="0"/>
              <a:t>‹#›</a:t>
            </a:fld>
            <a:endParaRPr lang="en-IN"/>
          </a:p>
        </p:txBody>
      </p:sp>
    </p:spTree>
    <p:extLst>
      <p:ext uri="{BB962C8B-B14F-4D97-AF65-F5344CB8AC3E}">
        <p14:creationId xmlns:p14="http://schemas.microsoft.com/office/powerpoint/2010/main" val="35006834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117E0-E3BA-0BB2-AB6D-7BBF2B4B00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A4715E2-400A-620E-0720-2BA137FC3F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3098557-FF50-7F4E-DB1D-025D694F4BBF}"/>
              </a:ext>
            </a:extLst>
          </p:cNvPr>
          <p:cNvSpPr>
            <a:spLocks noGrp="1"/>
          </p:cNvSpPr>
          <p:nvPr>
            <p:ph type="dt" sz="half" idx="10"/>
          </p:nvPr>
        </p:nvSpPr>
        <p:spPr/>
        <p:txBody>
          <a:bodyPr/>
          <a:lstStyle/>
          <a:p>
            <a:fld id="{1D3CECF4-A038-4507-BFDF-DE6E32FF5268}" type="datetimeFigureOut">
              <a:rPr lang="en-IN" smtClean="0"/>
              <a:t>26-08-2025</a:t>
            </a:fld>
            <a:endParaRPr lang="en-IN"/>
          </a:p>
        </p:txBody>
      </p:sp>
      <p:sp>
        <p:nvSpPr>
          <p:cNvPr id="5" name="Footer Placeholder 4">
            <a:extLst>
              <a:ext uri="{FF2B5EF4-FFF2-40B4-BE49-F238E27FC236}">
                <a16:creationId xmlns:a16="http://schemas.microsoft.com/office/drawing/2014/main" id="{A8D9897D-8450-F8DA-C498-E19A15F5B8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AA79C29-38C3-60B9-5D87-CB0166AD60ED}"/>
              </a:ext>
            </a:extLst>
          </p:cNvPr>
          <p:cNvSpPr>
            <a:spLocks noGrp="1"/>
          </p:cNvSpPr>
          <p:nvPr>
            <p:ph type="sldNum" sz="quarter" idx="12"/>
          </p:nvPr>
        </p:nvSpPr>
        <p:spPr/>
        <p:txBody>
          <a:bodyPr/>
          <a:lstStyle/>
          <a:p>
            <a:fld id="{2249A141-21FF-41B4-8E7F-0C33BD4E9F3C}" type="slidenum">
              <a:rPr lang="en-IN" smtClean="0"/>
              <a:t>‹#›</a:t>
            </a:fld>
            <a:endParaRPr lang="en-IN"/>
          </a:p>
        </p:txBody>
      </p:sp>
    </p:spTree>
    <p:extLst>
      <p:ext uri="{BB962C8B-B14F-4D97-AF65-F5344CB8AC3E}">
        <p14:creationId xmlns:p14="http://schemas.microsoft.com/office/powerpoint/2010/main" val="3582540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B16AEBE-6F60-C1F1-5BF2-E3F05E60F83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F41F2BC-B96C-809A-1B28-4A5219EE0EA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CD4AEB3-72BF-10DE-A842-37DCB7D12F9E}"/>
              </a:ext>
            </a:extLst>
          </p:cNvPr>
          <p:cNvSpPr>
            <a:spLocks noGrp="1"/>
          </p:cNvSpPr>
          <p:nvPr>
            <p:ph type="dt" sz="half" idx="10"/>
          </p:nvPr>
        </p:nvSpPr>
        <p:spPr/>
        <p:txBody>
          <a:bodyPr/>
          <a:lstStyle/>
          <a:p>
            <a:fld id="{1D3CECF4-A038-4507-BFDF-DE6E32FF5268}" type="datetimeFigureOut">
              <a:rPr lang="en-IN" smtClean="0"/>
              <a:t>26-08-2025</a:t>
            </a:fld>
            <a:endParaRPr lang="en-IN"/>
          </a:p>
        </p:txBody>
      </p:sp>
      <p:sp>
        <p:nvSpPr>
          <p:cNvPr id="5" name="Footer Placeholder 4">
            <a:extLst>
              <a:ext uri="{FF2B5EF4-FFF2-40B4-BE49-F238E27FC236}">
                <a16:creationId xmlns:a16="http://schemas.microsoft.com/office/drawing/2014/main" id="{4D2BDF75-EBB0-47BD-4477-221DA90EC4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FE4C87B-3C3F-A63B-19E4-DA1B75E11A59}"/>
              </a:ext>
            </a:extLst>
          </p:cNvPr>
          <p:cNvSpPr>
            <a:spLocks noGrp="1"/>
          </p:cNvSpPr>
          <p:nvPr>
            <p:ph type="sldNum" sz="quarter" idx="12"/>
          </p:nvPr>
        </p:nvSpPr>
        <p:spPr/>
        <p:txBody>
          <a:bodyPr/>
          <a:lstStyle/>
          <a:p>
            <a:fld id="{2249A141-21FF-41B4-8E7F-0C33BD4E9F3C}" type="slidenum">
              <a:rPr lang="en-IN" smtClean="0"/>
              <a:t>‹#›</a:t>
            </a:fld>
            <a:endParaRPr lang="en-IN"/>
          </a:p>
        </p:txBody>
      </p:sp>
    </p:spTree>
    <p:extLst>
      <p:ext uri="{BB962C8B-B14F-4D97-AF65-F5344CB8AC3E}">
        <p14:creationId xmlns:p14="http://schemas.microsoft.com/office/powerpoint/2010/main" val="23246002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EC2199-B363-843B-9776-C93B9711D2A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579A6D-CEEF-274D-FBFB-B7BBC59BA3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4366C6E-FB86-E0A1-15A3-513D392F44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3CECF4-A038-4507-BFDF-DE6E32FF5268}" type="datetimeFigureOut">
              <a:rPr lang="en-IN" smtClean="0"/>
              <a:t>26-08-2025</a:t>
            </a:fld>
            <a:endParaRPr lang="en-IN"/>
          </a:p>
        </p:txBody>
      </p:sp>
      <p:sp>
        <p:nvSpPr>
          <p:cNvPr id="5" name="Footer Placeholder 4">
            <a:extLst>
              <a:ext uri="{FF2B5EF4-FFF2-40B4-BE49-F238E27FC236}">
                <a16:creationId xmlns:a16="http://schemas.microsoft.com/office/drawing/2014/main" id="{AA497001-48F4-18FA-C04B-4D348FBB67D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0651F42A-F1E0-934C-992D-02B2EB96577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249A141-21FF-41B4-8E7F-0C33BD4E9F3C}" type="slidenum">
              <a:rPr lang="en-IN" smtClean="0"/>
              <a:t>‹#›</a:t>
            </a:fld>
            <a:endParaRPr lang="en-IN"/>
          </a:p>
        </p:txBody>
      </p:sp>
    </p:spTree>
    <p:extLst>
      <p:ext uri="{BB962C8B-B14F-4D97-AF65-F5344CB8AC3E}">
        <p14:creationId xmlns:p14="http://schemas.microsoft.com/office/powerpoint/2010/main" val="12580349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11" Type="http://schemas.openxmlformats.org/officeDocument/2006/relationships/image" Target="../media/image18.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pn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png"/><Relationship Id="rId2" Type="http://schemas.openxmlformats.org/officeDocument/2006/relationships/image" Target="../media/image26.png"/><Relationship Id="rId16" Type="http://schemas.openxmlformats.org/officeDocument/2006/relationships/image" Target="../media/image40.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5" Type="http://schemas.openxmlformats.org/officeDocument/2006/relationships/image" Target="../media/image3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 Id="rId1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0CD6A44-5956-47B6-7CFF-73656FFC19DE}"/>
              </a:ext>
            </a:extLst>
          </p:cNvPr>
          <p:cNvSpPr txBox="1"/>
          <p:nvPr/>
        </p:nvSpPr>
        <p:spPr>
          <a:xfrm>
            <a:off x="415047" y="133104"/>
            <a:ext cx="6096000" cy="369332"/>
          </a:xfrm>
          <a:prstGeom prst="rect">
            <a:avLst/>
          </a:prstGeom>
          <a:noFill/>
        </p:spPr>
        <p:txBody>
          <a:bodyPr wrap="square">
            <a:spAutoFit/>
          </a:bodyPr>
          <a:lstStyle/>
          <a:p>
            <a:pPr algn="l"/>
            <a:r>
              <a:rPr lang="en-IN" b="1" dirty="0">
                <a:solidFill>
                  <a:srgbClr val="0372A6"/>
                </a:solidFill>
                <a:effectLst/>
                <a:highlight>
                  <a:srgbClr val="FFFFFF"/>
                </a:highlight>
              </a:rPr>
              <a:t>5.4: Voltage Divider Bias</a:t>
            </a:r>
          </a:p>
        </p:txBody>
      </p:sp>
      <p:sp>
        <p:nvSpPr>
          <p:cNvPr id="6" name="Rectangle 1">
            <a:extLst>
              <a:ext uri="{FF2B5EF4-FFF2-40B4-BE49-F238E27FC236}">
                <a16:creationId xmlns:a16="http://schemas.microsoft.com/office/drawing/2014/main" id="{4DC80EE4-AD29-151F-1831-582830240414}"/>
              </a:ext>
            </a:extLst>
          </p:cNvPr>
          <p:cNvSpPr>
            <a:spLocks noChangeArrowheads="1"/>
          </p:cNvSpPr>
          <p:nvPr/>
        </p:nvSpPr>
        <p:spPr bwMode="auto">
          <a:xfrm>
            <a:off x="120140" y="506497"/>
            <a:ext cx="1177354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to avoid issues with a second power supply, this base voltage is derived from the collector power supply via a voltage divider. The bias template is shown in Figure </a:t>
            </a:r>
            <a:r>
              <a:rPr lang="en-US" altLang="en-US" sz="1600" dirty="0">
                <a:solidFill>
                  <a:srgbClr val="000000"/>
                </a:solidFill>
                <a:latin typeface="Tahoma" panose="020B0604030504040204" pitchFamily="34" charset="0"/>
                <a:cs typeface="Tahoma" panose="020B0604030504040204" pitchFamily="34" charset="0"/>
              </a:rPr>
              <a:t>5.4.1</a:t>
            </a:r>
          </a:p>
        </p:txBody>
      </p:sp>
      <p:pic>
        <p:nvPicPr>
          <p:cNvPr id="8" name="Picture 7">
            <a:extLst>
              <a:ext uri="{FF2B5EF4-FFF2-40B4-BE49-F238E27FC236}">
                <a16:creationId xmlns:a16="http://schemas.microsoft.com/office/drawing/2014/main" id="{44556206-4F57-EEB6-B3ED-A81CF77A19C6}"/>
              </a:ext>
            </a:extLst>
          </p:cNvPr>
          <p:cNvPicPr>
            <a:picLocks noChangeAspect="1"/>
          </p:cNvPicPr>
          <p:nvPr/>
        </p:nvPicPr>
        <p:blipFill>
          <a:blip r:embed="rId2"/>
          <a:stretch>
            <a:fillRect/>
          </a:stretch>
        </p:blipFill>
        <p:spPr>
          <a:xfrm>
            <a:off x="26658" y="1230965"/>
            <a:ext cx="3437754" cy="2120286"/>
          </a:xfrm>
          <a:prstGeom prst="rect">
            <a:avLst/>
          </a:prstGeom>
        </p:spPr>
      </p:pic>
      <p:sp>
        <p:nvSpPr>
          <p:cNvPr id="9" name="Rectangle 2">
            <a:extLst>
              <a:ext uri="{FF2B5EF4-FFF2-40B4-BE49-F238E27FC236}">
                <a16:creationId xmlns:a16="http://schemas.microsoft.com/office/drawing/2014/main" id="{B84B0288-6866-DA76-6DB4-3CCDFD5D6FE1}"/>
              </a:ext>
            </a:extLst>
          </p:cNvPr>
          <p:cNvSpPr>
            <a:spLocks noChangeArrowheads="1"/>
          </p:cNvSpPr>
          <p:nvPr/>
        </p:nvSpPr>
        <p:spPr bwMode="auto">
          <a:xfrm>
            <a:off x="3464412" y="1174099"/>
            <a:ext cx="8429273"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Tahoma" panose="020B0604030504040204" pitchFamily="34" charset="0"/>
                <a:cs typeface="Tahoma" panose="020B0604030504040204" pitchFamily="34" charset="0"/>
              </a:rPr>
              <a:t>Let's derive the equations for the load line. First, let's consider the saturation and cutoff endpoints. For saturation, assume VCEVCE goes to 0. What resistances are left to limit the current? </a:t>
            </a:r>
          </a:p>
        </p:txBody>
      </p:sp>
      <p:pic>
        <p:nvPicPr>
          <p:cNvPr id="11" name="Picture 10">
            <a:extLst>
              <a:ext uri="{FF2B5EF4-FFF2-40B4-BE49-F238E27FC236}">
                <a16:creationId xmlns:a16="http://schemas.microsoft.com/office/drawing/2014/main" id="{EC55B1DA-2EEA-C8FF-030A-D1F6F62DE874}"/>
              </a:ext>
            </a:extLst>
          </p:cNvPr>
          <p:cNvPicPr>
            <a:picLocks noChangeAspect="1"/>
          </p:cNvPicPr>
          <p:nvPr/>
        </p:nvPicPr>
        <p:blipFill>
          <a:blip r:embed="rId3"/>
          <a:stretch>
            <a:fillRect/>
          </a:stretch>
        </p:blipFill>
        <p:spPr>
          <a:xfrm>
            <a:off x="4405707" y="1990094"/>
            <a:ext cx="7016026" cy="549743"/>
          </a:xfrm>
          <a:prstGeom prst="rect">
            <a:avLst/>
          </a:prstGeom>
        </p:spPr>
      </p:pic>
      <p:sp>
        <p:nvSpPr>
          <p:cNvPr id="12" name="Rectangle 3">
            <a:extLst>
              <a:ext uri="{FF2B5EF4-FFF2-40B4-BE49-F238E27FC236}">
                <a16:creationId xmlns:a16="http://schemas.microsoft.com/office/drawing/2014/main" id="{2F059901-8249-449D-AF02-0067E072769E}"/>
              </a:ext>
            </a:extLst>
          </p:cNvPr>
          <p:cNvSpPr>
            <a:spLocks noChangeArrowheads="1"/>
          </p:cNvSpPr>
          <p:nvPr/>
        </p:nvSpPr>
        <p:spPr bwMode="auto">
          <a:xfrm>
            <a:off x="3669283" y="2658605"/>
            <a:ext cx="849605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1600" dirty="0">
                <a:solidFill>
                  <a:srgbClr val="000000"/>
                </a:solidFill>
                <a:latin typeface="Tahoma" panose="020B0604030504040204" pitchFamily="34" charset="0"/>
                <a:cs typeface="Tahoma" panose="020B0604030504040204" pitchFamily="34" charset="0"/>
              </a:rPr>
              <a:t>VCE (cutoff) occurs when IC=0 and that means that there will be no potentials across RC and RE. Therefore, VCE takes on the entire available source voltage. </a:t>
            </a:r>
          </a:p>
        </p:txBody>
      </p:sp>
      <p:pic>
        <p:nvPicPr>
          <p:cNvPr id="14" name="Picture 13">
            <a:extLst>
              <a:ext uri="{FF2B5EF4-FFF2-40B4-BE49-F238E27FC236}">
                <a16:creationId xmlns:a16="http://schemas.microsoft.com/office/drawing/2014/main" id="{0619C205-2D17-659F-F225-9932F26448DA}"/>
              </a:ext>
            </a:extLst>
          </p:cNvPr>
          <p:cNvPicPr>
            <a:picLocks noChangeAspect="1"/>
          </p:cNvPicPr>
          <p:nvPr/>
        </p:nvPicPr>
        <p:blipFill>
          <a:blip r:embed="rId4"/>
          <a:stretch>
            <a:fillRect/>
          </a:stretch>
        </p:blipFill>
        <p:spPr>
          <a:xfrm>
            <a:off x="4578413" y="3344447"/>
            <a:ext cx="6825521" cy="321137"/>
          </a:xfrm>
          <a:prstGeom prst="rect">
            <a:avLst/>
          </a:prstGeom>
        </p:spPr>
      </p:pic>
      <p:sp>
        <p:nvSpPr>
          <p:cNvPr id="15" name="Rectangle 4">
            <a:extLst>
              <a:ext uri="{FF2B5EF4-FFF2-40B4-BE49-F238E27FC236}">
                <a16:creationId xmlns:a16="http://schemas.microsoft.com/office/drawing/2014/main" id="{A0141331-C8F5-C518-F98F-B8CF148BAB08}"/>
              </a:ext>
            </a:extLst>
          </p:cNvPr>
          <p:cNvSpPr>
            <a:spLocks noChangeArrowheads="1"/>
          </p:cNvSpPr>
          <p:nvPr/>
        </p:nvSpPr>
        <p:spPr bwMode="auto">
          <a:xfrm>
            <a:off x="152400" y="3860948"/>
            <a:ext cx="11887200"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The key to finding the Q point (and pretty much any other current or voltage in the circuit) is to find IC. To simplify the process, </a:t>
            </a:r>
            <a:r>
              <a:rPr kumimoji="0" lang="en-US" altLang="en-US" sz="1200" b="0" i="0" u="none" strike="noStrike" cap="none" normalizeH="0" baseline="0" dirty="0" err="1">
                <a:ln>
                  <a:noFill/>
                </a:ln>
                <a:solidFill>
                  <a:srgbClr val="000000"/>
                </a:solidFill>
                <a:effectLst/>
                <a:latin typeface="Tahoma" panose="020B0604030504040204" pitchFamily="34" charset="0"/>
                <a:cs typeface="Tahoma" panose="020B0604030504040204" pitchFamily="34" charset="0"/>
              </a:rPr>
              <a:t>Thevenize</a:t>
            </a:r>
            <a:r>
              <a:rPr kumimoji="0" lang="en-US" altLang="en-US" sz="12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 the voltage divider as shown in Figure </a:t>
            </a:r>
            <a:r>
              <a:rPr kumimoji="0" lang="en-US" altLang="en-US" sz="1300" b="0" i="0" u="none" strike="noStrike" cap="none" normalizeH="0" baseline="0" dirty="0">
                <a:ln>
                  <a:noFill/>
                </a:ln>
                <a:solidFill>
                  <a:srgbClr val="000000"/>
                </a:solidFill>
                <a:effectLst/>
                <a:latin typeface="MathJax_Main"/>
                <a:cs typeface="Tahoma" panose="020B0604030504040204" pitchFamily="34" charset="0"/>
              </a:rPr>
              <a:t>5.4.2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7" name="Picture 16">
            <a:extLst>
              <a:ext uri="{FF2B5EF4-FFF2-40B4-BE49-F238E27FC236}">
                <a16:creationId xmlns:a16="http://schemas.microsoft.com/office/drawing/2014/main" id="{DA997718-83D4-A836-1DCF-22D338623DE3}"/>
              </a:ext>
            </a:extLst>
          </p:cNvPr>
          <p:cNvPicPr>
            <a:picLocks noChangeAspect="1"/>
          </p:cNvPicPr>
          <p:nvPr/>
        </p:nvPicPr>
        <p:blipFill>
          <a:blip r:embed="rId5"/>
          <a:stretch>
            <a:fillRect/>
          </a:stretch>
        </p:blipFill>
        <p:spPr>
          <a:xfrm>
            <a:off x="152400" y="4357191"/>
            <a:ext cx="4082250" cy="2367705"/>
          </a:xfrm>
          <a:prstGeom prst="rect">
            <a:avLst/>
          </a:prstGeom>
        </p:spPr>
      </p:pic>
      <p:pic>
        <p:nvPicPr>
          <p:cNvPr id="19" name="Picture 18">
            <a:extLst>
              <a:ext uri="{FF2B5EF4-FFF2-40B4-BE49-F238E27FC236}">
                <a16:creationId xmlns:a16="http://schemas.microsoft.com/office/drawing/2014/main" id="{69F524D5-EFE4-A4F9-E171-0D9506A2838B}"/>
              </a:ext>
            </a:extLst>
          </p:cNvPr>
          <p:cNvPicPr>
            <a:picLocks noChangeAspect="1"/>
          </p:cNvPicPr>
          <p:nvPr/>
        </p:nvPicPr>
        <p:blipFill>
          <a:blip r:embed="rId6"/>
          <a:stretch>
            <a:fillRect/>
          </a:stretch>
        </p:blipFill>
        <p:spPr>
          <a:xfrm>
            <a:off x="4868603" y="4191557"/>
            <a:ext cx="2860413" cy="2614984"/>
          </a:xfrm>
          <a:prstGeom prst="rect">
            <a:avLst/>
          </a:prstGeom>
        </p:spPr>
      </p:pic>
    </p:spTree>
    <p:extLst>
      <p:ext uri="{BB962C8B-B14F-4D97-AF65-F5344CB8AC3E}">
        <p14:creationId xmlns:p14="http://schemas.microsoft.com/office/powerpoint/2010/main" val="2728137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7C102B8-CBAC-1336-CB96-25AA7D4A80C0}"/>
              </a:ext>
            </a:extLst>
          </p:cNvPr>
          <p:cNvPicPr>
            <a:picLocks noChangeAspect="1"/>
          </p:cNvPicPr>
          <p:nvPr/>
        </p:nvPicPr>
        <p:blipFill>
          <a:blip r:embed="rId2"/>
          <a:stretch>
            <a:fillRect/>
          </a:stretch>
        </p:blipFill>
        <p:spPr>
          <a:xfrm>
            <a:off x="642888" y="124562"/>
            <a:ext cx="10530950" cy="4038876"/>
          </a:xfrm>
          <a:prstGeom prst="rect">
            <a:avLst/>
          </a:prstGeom>
        </p:spPr>
      </p:pic>
      <p:sp>
        <p:nvSpPr>
          <p:cNvPr id="6" name="Rectangle 1">
            <a:extLst>
              <a:ext uri="{FF2B5EF4-FFF2-40B4-BE49-F238E27FC236}">
                <a16:creationId xmlns:a16="http://schemas.microsoft.com/office/drawing/2014/main" id="{703CA971-08D1-3538-4AE2-D27322DFEB07}"/>
              </a:ext>
            </a:extLst>
          </p:cNvPr>
          <p:cNvSpPr>
            <a:spLocks noChangeArrowheads="1"/>
          </p:cNvSpPr>
          <p:nvPr/>
        </p:nvSpPr>
        <p:spPr bwMode="auto">
          <a:xfrm>
            <a:off x="116731" y="4315091"/>
            <a:ext cx="11861260"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FF0000"/>
                </a:solidFill>
                <a:effectLst/>
                <a:latin typeface="Tahoma" panose="020B0604030504040204" pitchFamily="34" charset="0"/>
                <a:cs typeface="Tahoma" panose="020B0604030504040204" pitchFamily="34" charset="0"/>
              </a:rPr>
              <a:t>If we assume that the voltage divider of R1</a:t>
            </a:r>
            <a:r>
              <a:rPr kumimoji="0" lang="en-US" altLang="en-US" sz="600" b="0" i="0" u="none" strike="noStrike" cap="none" normalizeH="0" baseline="0" dirty="0">
                <a:ln>
                  <a:noFill/>
                </a:ln>
                <a:solidFill>
                  <a:srgbClr val="FF0000"/>
                </a:solidFill>
                <a:effectLst/>
                <a:latin typeface="Tahoma" panose="020B0604030504040204" pitchFamily="34" charset="0"/>
                <a:cs typeface="Tahoma" panose="020B0604030504040204" pitchFamily="34" charset="0"/>
              </a:rPr>
              <a:t> </a:t>
            </a:r>
            <a:r>
              <a:rPr kumimoji="0" lang="en-US" altLang="en-US" sz="1800" b="0" i="0" u="none" strike="noStrike" cap="none" normalizeH="0" baseline="0" dirty="0">
                <a:ln>
                  <a:noFill/>
                </a:ln>
                <a:solidFill>
                  <a:srgbClr val="FF0000"/>
                </a:solidFill>
                <a:effectLst/>
                <a:latin typeface="Tahoma" panose="020B0604030504040204" pitchFamily="34" charset="0"/>
                <a:cs typeface="Tahoma" panose="020B0604030504040204" pitchFamily="34" charset="0"/>
              </a:rPr>
              <a:t>and R2 is lightly loaded, in other words, that the divider current is much, much less than the base current, finding IC is easy. </a:t>
            </a:r>
            <a:r>
              <a:rPr kumimoji="0" lang="en-US" altLang="en-US" sz="18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The divider voltage yields the base voltage. We then </a:t>
            </a:r>
            <a:r>
              <a:rPr kumimoji="0" lang="en-US" altLang="en-US" sz="1800" b="0" i="0" u="none" strike="noStrike" cap="none" normalizeH="0" baseline="0" dirty="0">
                <a:ln>
                  <a:noFill/>
                </a:ln>
                <a:solidFill>
                  <a:srgbClr val="FF0000"/>
                </a:solidFill>
                <a:effectLst/>
                <a:latin typeface="Tahoma" panose="020B0604030504040204" pitchFamily="34" charset="0"/>
                <a:cs typeface="Tahoma" panose="020B0604030504040204" pitchFamily="34" charset="0"/>
              </a:rPr>
              <a:t>subtract the 0.7 volt drop on the base-emitter</a:t>
            </a:r>
            <a:r>
              <a:rPr kumimoji="0" lang="en-US" altLang="en-US" sz="18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 and what's left drops across RE</a:t>
            </a:r>
            <a:r>
              <a:rPr lang="en-US" altLang="en-US" dirty="0">
                <a:solidFill>
                  <a:srgbClr val="000000"/>
                </a:solidFill>
                <a:latin typeface="Tahoma" panose="020B0604030504040204" pitchFamily="34" charset="0"/>
                <a:cs typeface="Tahoma" panose="020B0604030504040204" pitchFamily="34" charset="0"/>
              </a:rPr>
              <a:t>. From there it's one short application of Ohm's law to get IE, which is approximately equal to IC. But how do we know if the divider is lightly loaded in the first place without going through the Thevenin equivalent? Looking at Equation 5.4.3, </a:t>
            </a:r>
            <a:r>
              <a:rPr lang="en-US" altLang="en-US" dirty="0">
                <a:solidFill>
                  <a:srgbClr val="FF0000"/>
                </a:solidFill>
                <a:latin typeface="Tahoma" panose="020B0604030504040204" pitchFamily="34" charset="0"/>
                <a:cs typeface="Tahoma" panose="020B0604030504040204" pitchFamily="34" charset="0"/>
              </a:rPr>
              <a:t>as long as RE≫RTH/β, we can ignore the second term in the denominator</a:t>
            </a:r>
            <a:r>
              <a:rPr lang="en-US" altLang="en-US" dirty="0">
                <a:solidFill>
                  <a:srgbClr val="000000"/>
                </a:solidFill>
                <a:latin typeface="Tahoma" panose="020B0604030504040204" pitchFamily="34" charset="0"/>
                <a:cs typeface="Tahoma" panose="020B0604030504040204" pitchFamily="34" charset="0"/>
              </a:rPr>
              <a:t>, leaving us with our quick approximation. Given typical values for </a:t>
            </a:r>
            <a:r>
              <a:rPr lang="en-US" altLang="en-US" dirty="0">
                <a:solidFill>
                  <a:srgbClr val="FF0000"/>
                </a:solidFill>
                <a:latin typeface="Tahoma" panose="020B0604030504040204" pitchFamily="34" charset="0"/>
                <a:cs typeface="Tahoma" panose="020B0604030504040204" pitchFamily="34" charset="0"/>
              </a:rPr>
              <a:t>β, as long as R2 </a:t>
            </a:r>
            <a:r>
              <a:rPr kumimoji="0" lang="en-US" altLang="en-US" sz="1800" b="0" i="0" u="none" strike="noStrike" cap="none" normalizeH="0" baseline="0" dirty="0">
                <a:ln>
                  <a:noFill/>
                </a:ln>
                <a:solidFill>
                  <a:srgbClr val="FF0000"/>
                </a:solidFill>
                <a:effectLst/>
                <a:latin typeface="Tahoma" panose="020B0604030504040204" pitchFamily="34" charset="0"/>
                <a:cs typeface="Tahoma" panose="020B0604030504040204" pitchFamily="34" charset="0"/>
              </a:rPr>
              <a:t>is not much larger than</a:t>
            </a:r>
            <a:r>
              <a:rPr kumimoji="0" lang="en-US" altLang="en-US" sz="1800" b="0" i="0" u="none" strike="noStrike" cap="none" normalizeH="0" dirty="0">
                <a:ln>
                  <a:noFill/>
                </a:ln>
                <a:solidFill>
                  <a:srgbClr val="FF0000"/>
                </a:solidFill>
                <a:effectLst/>
                <a:latin typeface="Tahoma" panose="020B0604030504040204" pitchFamily="34" charset="0"/>
                <a:cs typeface="Tahoma" panose="020B0604030504040204" pitchFamily="34" charset="0"/>
              </a:rPr>
              <a:t> RE,</a:t>
            </a:r>
            <a:r>
              <a:rPr kumimoji="0" lang="en-US" altLang="en-US" sz="600" b="0" i="0" u="none" strike="noStrike" cap="none" normalizeH="0" baseline="0" dirty="0">
                <a:ln>
                  <a:noFill/>
                </a:ln>
                <a:solidFill>
                  <a:srgbClr val="FF0000"/>
                </a:solidFill>
                <a:effectLst/>
                <a:latin typeface="Tahoma" panose="020B0604030504040204" pitchFamily="34" charset="0"/>
                <a:cs typeface="Tahoma" panose="020B0604030504040204" pitchFamily="34" charset="0"/>
              </a:rPr>
              <a:t> </a:t>
            </a:r>
            <a:r>
              <a:rPr lang="en-US" altLang="en-US" dirty="0">
                <a:solidFill>
                  <a:srgbClr val="FF0000"/>
                </a:solidFill>
                <a:latin typeface="Tahoma" panose="020B0604030504040204" pitchFamily="34" charset="0"/>
                <a:cs typeface="Tahoma" panose="020B0604030504040204" pitchFamily="34" charset="0"/>
              </a:rPr>
              <a:t>the approximation will be reasonably accurate.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Once IC is obtained we can find the transistor's collector-emitter voltage, VCE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664960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E4206A7-4FA4-490A-3745-F482D4028562}"/>
              </a:ext>
            </a:extLst>
          </p:cNvPr>
          <p:cNvPicPr>
            <a:picLocks noChangeAspect="1"/>
          </p:cNvPicPr>
          <p:nvPr/>
        </p:nvPicPr>
        <p:blipFill>
          <a:blip r:embed="rId2"/>
          <a:stretch>
            <a:fillRect/>
          </a:stretch>
        </p:blipFill>
        <p:spPr>
          <a:xfrm>
            <a:off x="401492" y="246596"/>
            <a:ext cx="11118384" cy="1167157"/>
          </a:xfrm>
          <a:prstGeom prst="rect">
            <a:avLst/>
          </a:prstGeom>
        </p:spPr>
      </p:pic>
      <p:pic>
        <p:nvPicPr>
          <p:cNvPr id="7" name="Picture 6">
            <a:extLst>
              <a:ext uri="{FF2B5EF4-FFF2-40B4-BE49-F238E27FC236}">
                <a16:creationId xmlns:a16="http://schemas.microsoft.com/office/drawing/2014/main" id="{7388FD35-C179-5138-6480-21C43827BD79}"/>
              </a:ext>
            </a:extLst>
          </p:cNvPr>
          <p:cNvPicPr>
            <a:picLocks noChangeAspect="1"/>
          </p:cNvPicPr>
          <p:nvPr/>
        </p:nvPicPr>
        <p:blipFill>
          <a:blip r:embed="rId3"/>
          <a:stretch>
            <a:fillRect/>
          </a:stretch>
        </p:blipFill>
        <p:spPr>
          <a:xfrm>
            <a:off x="628478" y="2562564"/>
            <a:ext cx="9408569" cy="3008142"/>
          </a:xfrm>
          <a:prstGeom prst="rect">
            <a:avLst/>
          </a:prstGeom>
        </p:spPr>
      </p:pic>
    </p:spTree>
    <p:extLst>
      <p:ext uri="{BB962C8B-B14F-4D97-AF65-F5344CB8AC3E}">
        <p14:creationId xmlns:p14="http://schemas.microsoft.com/office/powerpoint/2010/main" val="632941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553DD32-74F3-BAFC-84A3-1B8A86251CB4}"/>
              </a:ext>
            </a:extLst>
          </p:cNvPr>
          <p:cNvPicPr>
            <a:picLocks noChangeAspect="1"/>
          </p:cNvPicPr>
          <p:nvPr/>
        </p:nvPicPr>
        <p:blipFill>
          <a:blip r:embed="rId2"/>
          <a:stretch>
            <a:fillRect/>
          </a:stretch>
        </p:blipFill>
        <p:spPr>
          <a:xfrm>
            <a:off x="843444" y="568002"/>
            <a:ext cx="2120250" cy="2064617"/>
          </a:xfrm>
          <a:prstGeom prst="rect">
            <a:avLst/>
          </a:prstGeom>
        </p:spPr>
      </p:pic>
      <p:pic>
        <p:nvPicPr>
          <p:cNvPr id="11" name="Picture 10">
            <a:extLst>
              <a:ext uri="{FF2B5EF4-FFF2-40B4-BE49-F238E27FC236}">
                <a16:creationId xmlns:a16="http://schemas.microsoft.com/office/drawing/2014/main" id="{E5E3EB7A-86EB-6197-6FA4-4308C0ECE221}"/>
              </a:ext>
            </a:extLst>
          </p:cNvPr>
          <p:cNvPicPr>
            <a:picLocks noChangeAspect="1"/>
          </p:cNvPicPr>
          <p:nvPr/>
        </p:nvPicPr>
        <p:blipFill>
          <a:blip r:embed="rId3"/>
          <a:stretch>
            <a:fillRect/>
          </a:stretch>
        </p:blipFill>
        <p:spPr>
          <a:xfrm>
            <a:off x="274471" y="124024"/>
            <a:ext cx="5433465" cy="353807"/>
          </a:xfrm>
          <a:prstGeom prst="rect">
            <a:avLst/>
          </a:prstGeom>
        </p:spPr>
      </p:pic>
      <p:pic>
        <p:nvPicPr>
          <p:cNvPr id="13" name="Picture 12">
            <a:extLst>
              <a:ext uri="{FF2B5EF4-FFF2-40B4-BE49-F238E27FC236}">
                <a16:creationId xmlns:a16="http://schemas.microsoft.com/office/drawing/2014/main" id="{B9584246-2F52-3440-469B-6381A6AB3E78}"/>
              </a:ext>
            </a:extLst>
          </p:cNvPr>
          <p:cNvPicPr>
            <a:picLocks noChangeAspect="1"/>
          </p:cNvPicPr>
          <p:nvPr/>
        </p:nvPicPr>
        <p:blipFill>
          <a:blip r:embed="rId4"/>
          <a:stretch>
            <a:fillRect/>
          </a:stretch>
        </p:blipFill>
        <p:spPr>
          <a:xfrm>
            <a:off x="274470" y="2707481"/>
            <a:ext cx="4641397" cy="301607"/>
          </a:xfrm>
          <a:prstGeom prst="rect">
            <a:avLst/>
          </a:prstGeom>
        </p:spPr>
      </p:pic>
      <p:pic>
        <p:nvPicPr>
          <p:cNvPr id="15" name="Picture 14">
            <a:extLst>
              <a:ext uri="{FF2B5EF4-FFF2-40B4-BE49-F238E27FC236}">
                <a16:creationId xmlns:a16="http://schemas.microsoft.com/office/drawing/2014/main" id="{45B3CC24-227E-D183-D7FB-FB79F98837E8}"/>
              </a:ext>
            </a:extLst>
          </p:cNvPr>
          <p:cNvPicPr>
            <a:picLocks noChangeAspect="1"/>
          </p:cNvPicPr>
          <p:nvPr/>
        </p:nvPicPr>
        <p:blipFill>
          <a:blip r:embed="rId5"/>
          <a:stretch>
            <a:fillRect/>
          </a:stretch>
        </p:blipFill>
        <p:spPr>
          <a:xfrm>
            <a:off x="615423" y="3205407"/>
            <a:ext cx="2296390" cy="2767790"/>
          </a:xfrm>
          <a:prstGeom prst="rect">
            <a:avLst/>
          </a:prstGeom>
        </p:spPr>
      </p:pic>
      <p:pic>
        <p:nvPicPr>
          <p:cNvPr id="17" name="Picture 16">
            <a:extLst>
              <a:ext uri="{FF2B5EF4-FFF2-40B4-BE49-F238E27FC236}">
                <a16:creationId xmlns:a16="http://schemas.microsoft.com/office/drawing/2014/main" id="{BB0DEAA6-A385-C6CC-1983-A794F69652C2}"/>
              </a:ext>
            </a:extLst>
          </p:cNvPr>
          <p:cNvPicPr>
            <a:picLocks noChangeAspect="1"/>
          </p:cNvPicPr>
          <p:nvPr/>
        </p:nvPicPr>
        <p:blipFill>
          <a:blip r:embed="rId6"/>
          <a:stretch>
            <a:fillRect/>
          </a:stretch>
        </p:blipFill>
        <p:spPr>
          <a:xfrm>
            <a:off x="7400412" y="192067"/>
            <a:ext cx="2057501" cy="285764"/>
          </a:xfrm>
          <a:prstGeom prst="rect">
            <a:avLst/>
          </a:prstGeom>
        </p:spPr>
      </p:pic>
      <p:pic>
        <p:nvPicPr>
          <p:cNvPr id="19" name="Picture 18">
            <a:extLst>
              <a:ext uri="{FF2B5EF4-FFF2-40B4-BE49-F238E27FC236}">
                <a16:creationId xmlns:a16="http://schemas.microsoft.com/office/drawing/2014/main" id="{14DAA5F0-553F-C4AB-104E-42B23AA92268}"/>
              </a:ext>
            </a:extLst>
          </p:cNvPr>
          <p:cNvPicPr>
            <a:picLocks noChangeAspect="1"/>
          </p:cNvPicPr>
          <p:nvPr/>
        </p:nvPicPr>
        <p:blipFill>
          <a:blip r:embed="rId7"/>
          <a:stretch>
            <a:fillRect/>
          </a:stretch>
        </p:blipFill>
        <p:spPr>
          <a:xfrm>
            <a:off x="7482080" y="568002"/>
            <a:ext cx="2057500" cy="1454440"/>
          </a:xfrm>
          <a:prstGeom prst="rect">
            <a:avLst/>
          </a:prstGeom>
        </p:spPr>
      </p:pic>
      <p:pic>
        <p:nvPicPr>
          <p:cNvPr id="21" name="Picture 20">
            <a:extLst>
              <a:ext uri="{FF2B5EF4-FFF2-40B4-BE49-F238E27FC236}">
                <a16:creationId xmlns:a16="http://schemas.microsoft.com/office/drawing/2014/main" id="{683365F4-059D-1316-725A-3372D3232389}"/>
              </a:ext>
            </a:extLst>
          </p:cNvPr>
          <p:cNvPicPr>
            <a:picLocks noChangeAspect="1"/>
          </p:cNvPicPr>
          <p:nvPr/>
        </p:nvPicPr>
        <p:blipFill>
          <a:blip r:embed="rId8"/>
          <a:stretch>
            <a:fillRect/>
          </a:stretch>
        </p:blipFill>
        <p:spPr>
          <a:xfrm>
            <a:off x="5479914" y="2172191"/>
            <a:ext cx="6528374" cy="276626"/>
          </a:xfrm>
          <a:prstGeom prst="rect">
            <a:avLst/>
          </a:prstGeom>
        </p:spPr>
      </p:pic>
      <p:pic>
        <p:nvPicPr>
          <p:cNvPr id="23" name="Picture 22">
            <a:extLst>
              <a:ext uri="{FF2B5EF4-FFF2-40B4-BE49-F238E27FC236}">
                <a16:creationId xmlns:a16="http://schemas.microsoft.com/office/drawing/2014/main" id="{8BC14816-46A4-00FD-2E13-AE2AAA445CAC}"/>
              </a:ext>
            </a:extLst>
          </p:cNvPr>
          <p:cNvPicPr>
            <a:picLocks noChangeAspect="1"/>
          </p:cNvPicPr>
          <p:nvPr/>
        </p:nvPicPr>
        <p:blipFill>
          <a:blip r:embed="rId9"/>
          <a:stretch>
            <a:fillRect/>
          </a:stretch>
        </p:blipFill>
        <p:spPr>
          <a:xfrm>
            <a:off x="7765663" y="2525032"/>
            <a:ext cx="1692250" cy="1448844"/>
          </a:xfrm>
          <a:prstGeom prst="rect">
            <a:avLst/>
          </a:prstGeom>
        </p:spPr>
      </p:pic>
      <p:pic>
        <p:nvPicPr>
          <p:cNvPr id="25" name="Picture 24">
            <a:extLst>
              <a:ext uri="{FF2B5EF4-FFF2-40B4-BE49-F238E27FC236}">
                <a16:creationId xmlns:a16="http://schemas.microsoft.com/office/drawing/2014/main" id="{D64A47BB-BE95-3A9D-B650-4B06FCE9BB2D}"/>
              </a:ext>
            </a:extLst>
          </p:cNvPr>
          <p:cNvPicPr>
            <a:picLocks noChangeAspect="1"/>
          </p:cNvPicPr>
          <p:nvPr/>
        </p:nvPicPr>
        <p:blipFill>
          <a:blip r:embed="rId10"/>
          <a:stretch>
            <a:fillRect/>
          </a:stretch>
        </p:blipFill>
        <p:spPr>
          <a:xfrm>
            <a:off x="5800215" y="4109976"/>
            <a:ext cx="3657697" cy="293791"/>
          </a:xfrm>
          <a:prstGeom prst="rect">
            <a:avLst/>
          </a:prstGeom>
        </p:spPr>
      </p:pic>
      <p:pic>
        <p:nvPicPr>
          <p:cNvPr id="27" name="Picture 26">
            <a:extLst>
              <a:ext uri="{FF2B5EF4-FFF2-40B4-BE49-F238E27FC236}">
                <a16:creationId xmlns:a16="http://schemas.microsoft.com/office/drawing/2014/main" id="{381914FE-9582-9980-1E54-63C913EF58C8}"/>
              </a:ext>
            </a:extLst>
          </p:cNvPr>
          <p:cNvPicPr>
            <a:picLocks noChangeAspect="1"/>
          </p:cNvPicPr>
          <p:nvPr/>
        </p:nvPicPr>
        <p:blipFill>
          <a:blip r:embed="rId11"/>
          <a:stretch>
            <a:fillRect/>
          </a:stretch>
        </p:blipFill>
        <p:spPr>
          <a:xfrm>
            <a:off x="6328711" y="4755364"/>
            <a:ext cx="2873904" cy="1017841"/>
          </a:xfrm>
          <a:prstGeom prst="rect">
            <a:avLst/>
          </a:prstGeom>
        </p:spPr>
      </p:pic>
    </p:spTree>
    <p:extLst>
      <p:ext uri="{BB962C8B-B14F-4D97-AF65-F5344CB8AC3E}">
        <p14:creationId xmlns:p14="http://schemas.microsoft.com/office/powerpoint/2010/main" val="41510569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B956143C-26F7-59AE-E6AB-861A61398940}"/>
              </a:ext>
            </a:extLst>
          </p:cNvPr>
          <p:cNvSpPr>
            <a:spLocks noChangeArrowheads="1"/>
          </p:cNvSpPr>
          <p:nvPr/>
        </p:nvSpPr>
        <p:spPr bwMode="auto">
          <a:xfrm>
            <a:off x="90791" y="72423"/>
            <a:ext cx="11293174"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As far as finding VB is concerned, a decent approximation would be the value of VTH because we have determined that the divider is lightly loaded. In a more general sense, we could also find the drop across RE and then add VBE. The approximation yields 4.8 volts and the more accurate method yields</a:t>
            </a:r>
            <a:r>
              <a:rPr kumimoji="0" lang="en-US" altLang="en-US" sz="1600" b="0" i="0" u="none" strike="noStrike" cap="none" normalizeH="0" baseline="0" dirty="0">
                <a:ln>
                  <a:noFill/>
                </a:ln>
                <a:solidFill>
                  <a:schemeClr val="tx1"/>
                </a:solidFill>
                <a:effectLst/>
              </a:rPr>
              <a:t> </a:t>
            </a:r>
          </a:p>
        </p:txBody>
      </p:sp>
      <p:pic>
        <p:nvPicPr>
          <p:cNvPr id="6" name="Picture 5">
            <a:extLst>
              <a:ext uri="{FF2B5EF4-FFF2-40B4-BE49-F238E27FC236}">
                <a16:creationId xmlns:a16="http://schemas.microsoft.com/office/drawing/2014/main" id="{F3BF5AB8-4F02-8338-56C5-E4FDA6265682}"/>
              </a:ext>
            </a:extLst>
          </p:cNvPr>
          <p:cNvPicPr>
            <a:picLocks noChangeAspect="1"/>
          </p:cNvPicPr>
          <p:nvPr/>
        </p:nvPicPr>
        <p:blipFill>
          <a:blip r:embed="rId2"/>
          <a:stretch>
            <a:fillRect/>
          </a:stretch>
        </p:blipFill>
        <p:spPr>
          <a:xfrm>
            <a:off x="3569730" y="1005931"/>
            <a:ext cx="2666795" cy="1134154"/>
          </a:xfrm>
          <a:prstGeom prst="rect">
            <a:avLst/>
          </a:prstGeom>
        </p:spPr>
      </p:pic>
      <p:pic>
        <p:nvPicPr>
          <p:cNvPr id="8" name="Picture 7">
            <a:extLst>
              <a:ext uri="{FF2B5EF4-FFF2-40B4-BE49-F238E27FC236}">
                <a16:creationId xmlns:a16="http://schemas.microsoft.com/office/drawing/2014/main" id="{F31B352B-0D87-3D06-64B6-23ED819A313D}"/>
              </a:ext>
            </a:extLst>
          </p:cNvPr>
          <p:cNvPicPr>
            <a:picLocks noChangeAspect="1"/>
          </p:cNvPicPr>
          <p:nvPr/>
        </p:nvPicPr>
        <p:blipFill>
          <a:blip r:embed="rId3"/>
          <a:stretch>
            <a:fillRect/>
          </a:stretch>
        </p:blipFill>
        <p:spPr>
          <a:xfrm>
            <a:off x="1635186" y="2436363"/>
            <a:ext cx="7002182" cy="417083"/>
          </a:xfrm>
          <a:prstGeom prst="rect">
            <a:avLst/>
          </a:prstGeom>
        </p:spPr>
      </p:pic>
      <p:pic>
        <p:nvPicPr>
          <p:cNvPr id="10" name="Picture 9">
            <a:extLst>
              <a:ext uri="{FF2B5EF4-FFF2-40B4-BE49-F238E27FC236}">
                <a16:creationId xmlns:a16="http://schemas.microsoft.com/office/drawing/2014/main" id="{5A810737-FAEA-29BF-198E-4B821ECB9BCF}"/>
              </a:ext>
            </a:extLst>
          </p:cNvPr>
          <p:cNvPicPr>
            <a:picLocks noChangeAspect="1"/>
          </p:cNvPicPr>
          <p:nvPr/>
        </p:nvPicPr>
        <p:blipFill>
          <a:blip r:embed="rId4"/>
          <a:stretch>
            <a:fillRect/>
          </a:stretch>
        </p:blipFill>
        <p:spPr>
          <a:xfrm>
            <a:off x="3309088" y="2853446"/>
            <a:ext cx="4082250" cy="2912005"/>
          </a:xfrm>
          <a:prstGeom prst="rect">
            <a:avLst/>
          </a:prstGeom>
        </p:spPr>
      </p:pic>
    </p:spTree>
    <p:extLst>
      <p:ext uri="{BB962C8B-B14F-4D97-AF65-F5344CB8AC3E}">
        <p14:creationId xmlns:p14="http://schemas.microsoft.com/office/powerpoint/2010/main" val="689412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18DF11E7-0D97-BAE5-CA83-8C892C5B1A61}"/>
              </a:ext>
            </a:extLst>
          </p:cNvPr>
          <p:cNvSpPr>
            <a:spLocks noChangeArrowheads="1"/>
          </p:cNvSpPr>
          <p:nvPr/>
        </p:nvSpPr>
        <p:spPr bwMode="auto">
          <a:xfrm>
            <a:off x="262528" y="183105"/>
            <a:ext cx="11666943" cy="26586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5870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0372A6"/>
                </a:solidFill>
                <a:effectLst/>
                <a:latin typeface="Tahoma" panose="020B0604030504040204" pitchFamily="34" charset="0"/>
                <a:cs typeface="Tahoma" panose="020B0604030504040204" pitchFamily="34" charset="0"/>
              </a:rPr>
              <a:t>5.4.2: PNP Voltage Divider Bias</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To create the PNP version of the voltage divider bias, we replace the NPN with a PNP and then change the sign of the power supply. As mentioned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with the two-supply emitter bias, these circuits are usually flipped top to bottom resulting in the flow of DC current going down the page. All of the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currents and component voltages are unchanged except that their directions and polarities are reversed. The current equations and so forth remain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valid. Something a little odd-looking happens with the voltage divider bias, though: we end up with ground being the most positive potential and a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negative supply at the bottom of the schematic. It works, but it's an issue if we're using a traditional positive supply elsewhere in the circuit. After all, why have two supplies where one will do? It turns out that we can make a positive supply version fairly easily. All we need to do is add the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magnitude of the negative source voltage to the ground and power connections. This progression is shown in Figure 5.4.5.</a:t>
            </a:r>
            <a:endParaRPr kumimoji="0" lang="en-US" altLang="en-US" sz="1400" b="0" i="0" u="none" strike="noStrike" cap="none" normalizeH="0" baseline="0" dirty="0">
              <a:ln>
                <a:noFill/>
              </a:ln>
              <a:solidFill>
                <a:schemeClr val="tx1"/>
              </a:solidFill>
              <a:effectLst/>
            </a:endParaRPr>
          </a:p>
        </p:txBody>
      </p:sp>
      <p:pic>
        <p:nvPicPr>
          <p:cNvPr id="6" name="Picture 5">
            <a:extLst>
              <a:ext uri="{FF2B5EF4-FFF2-40B4-BE49-F238E27FC236}">
                <a16:creationId xmlns:a16="http://schemas.microsoft.com/office/drawing/2014/main" id="{30E8CA85-A9C5-5FFC-42C7-04480DB56EEF}"/>
              </a:ext>
            </a:extLst>
          </p:cNvPr>
          <p:cNvPicPr>
            <a:picLocks noChangeAspect="1"/>
          </p:cNvPicPr>
          <p:nvPr/>
        </p:nvPicPr>
        <p:blipFill>
          <a:blip r:embed="rId2"/>
          <a:stretch>
            <a:fillRect/>
          </a:stretch>
        </p:blipFill>
        <p:spPr>
          <a:xfrm>
            <a:off x="3068927" y="2910669"/>
            <a:ext cx="5640571" cy="2491426"/>
          </a:xfrm>
          <a:prstGeom prst="rect">
            <a:avLst/>
          </a:prstGeom>
        </p:spPr>
      </p:pic>
      <p:pic>
        <p:nvPicPr>
          <p:cNvPr id="8" name="Picture 7">
            <a:extLst>
              <a:ext uri="{FF2B5EF4-FFF2-40B4-BE49-F238E27FC236}">
                <a16:creationId xmlns:a16="http://schemas.microsoft.com/office/drawing/2014/main" id="{827D4FFF-7C44-9008-C409-288ED37277BA}"/>
              </a:ext>
            </a:extLst>
          </p:cNvPr>
          <p:cNvPicPr>
            <a:picLocks noChangeAspect="1"/>
          </p:cNvPicPr>
          <p:nvPr/>
        </p:nvPicPr>
        <p:blipFill>
          <a:blip r:embed="rId3"/>
          <a:stretch>
            <a:fillRect/>
          </a:stretch>
        </p:blipFill>
        <p:spPr>
          <a:xfrm>
            <a:off x="3584512" y="5470968"/>
            <a:ext cx="4863359" cy="216470"/>
          </a:xfrm>
          <a:prstGeom prst="rect">
            <a:avLst/>
          </a:prstGeom>
        </p:spPr>
      </p:pic>
      <p:sp>
        <p:nvSpPr>
          <p:cNvPr id="9" name="Rectangle 2">
            <a:extLst>
              <a:ext uri="{FF2B5EF4-FFF2-40B4-BE49-F238E27FC236}">
                <a16:creationId xmlns:a16="http://schemas.microsoft.com/office/drawing/2014/main" id="{0C2B81AE-44B8-D05D-B02D-96232E5DC26B}"/>
              </a:ext>
            </a:extLst>
          </p:cNvPr>
          <p:cNvSpPr>
            <a:spLocks noChangeArrowheads="1"/>
          </p:cNvSpPr>
          <p:nvPr/>
        </p:nvSpPr>
        <p:spPr bwMode="auto">
          <a:xfrm>
            <a:off x="473413" y="5787465"/>
            <a:ext cx="1160834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Figure 5.4.5: Progression of PNP voltage divider bias circuit. a. Direct conversion from NPN. b. Top-to-bottom flip. c. DC supply offset added to achieve a positive supply.</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894464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64EA95A-A187-9549-60C0-D8277B9504ED}"/>
              </a:ext>
            </a:extLst>
          </p:cNvPr>
          <p:cNvSpPr>
            <a:spLocks noChangeArrowheads="1"/>
          </p:cNvSpPr>
          <p:nvPr/>
        </p:nvSpPr>
        <p:spPr bwMode="auto">
          <a:xfrm>
            <a:off x="77820" y="184512"/>
            <a:ext cx="11880715" cy="14468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There is nothing magic about this procedure. In essence, all we've really done is renamed the reference point. All of the individual component voltages remain unchanged.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For example, looking at Figure 5.4.5c versus 5.4.5b, it is still the case that the top connection to </a:t>
            </a:r>
            <a:r>
              <a:rPr kumimoji="0" lang="en-US" altLang="en-US" sz="1200" b="0" i="0" u="none" strike="noStrike" cap="none" normalizeH="0" baseline="0" dirty="0">
                <a:ln>
                  <a:noFill/>
                </a:ln>
                <a:solidFill>
                  <a:srgbClr val="000000"/>
                </a:solidFill>
                <a:effectLst/>
                <a:latin typeface="MathJax_Math-italic"/>
                <a:cs typeface="Tahoma" panose="020B0604030504040204" pitchFamily="34" charset="0"/>
              </a:rPr>
              <a:t>RE</a:t>
            </a:r>
            <a:r>
              <a:rPr kumimoji="0" lang="en-US" altLang="en-US" sz="12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RE is more positive than the bottom connection to RC by the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voltage VCC (although we did rename the supply to VEE to be consistent with where it's connected). What has happened is that all ground-referenced (i.e., single subscript) voltages have changed. For example,</a:t>
            </a:r>
            <a:r>
              <a:rPr kumimoji="0" lang="en-US" altLang="en-US" sz="1200" b="0" i="0" u="none" strike="noStrike" cap="none" normalizeH="0" dirty="0">
                <a:ln>
                  <a:noFill/>
                </a:ln>
                <a:solidFill>
                  <a:srgbClr val="000000"/>
                </a:solidFill>
                <a:effectLst/>
                <a:latin typeface="Tahoma" panose="020B0604030504040204" pitchFamily="34" charset="0"/>
                <a:cs typeface="Tahoma" panose="020B0604030504040204" pitchFamily="34" charset="0"/>
              </a:rPr>
              <a:t> </a:t>
            </a:r>
            <a:r>
              <a:rPr kumimoji="0" lang="en-US" altLang="en-US" sz="12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VB in Figures </a:t>
            </a:r>
            <a:r>
              <a:rPr kumimoji="0" lang="en-US" altLang="en-US" sz="1200" b="0" i="0" u="none" strike="noStrike" cap="none" normalizeH="0" baseline="0" dirty="0">
                <a:ln>
                  <a:noFill/>
                </a:ln>
                <a:solidFill>
                  <a:srgbClr val="000000"/>
                </a:solidFill>
                <a:effectLst/>
                <a:latin typeface="MathJax_Main"/>
                <a:cs typeface="Tahoma" panose="020B0604030504040204" pitchFamily="34" charset="0"/>
              </a:rPr>
              <a:t>5.4.5</a:t>
            </a:r>
            <a:r>
              <a:rPr kumimoji="0" lang="en-US" altLang="en-US" sz="1200" b="0" i="0" u="none" strike="noStrike" cap="none" normalizeH="0" baseline="0" dirty="0">
                <a:ln>
                  <a:noFill/>
                </a:ln>
                <a:solidFill>
                  <a:srgbClr val="000000"/>
                </a:solidFill>
                <a:effectLst/>
                <a:latin typeface="MathJax_Math-italic"/>
                <a:cs typeface="Tahoma" panose="020B0604030504040204" pitchFamily="34" charset="0"/>
              </a:rPr>
              <a:t>a</a:t>
            </a:r>
            <a:r>
              <a:rPr kumimoji="0" lang="en-US" altLang="en-US" sz="12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5.4.5a and </a:t>
            </a:r>
            <a:r>
              <a:rPr kumimoji="0" lang="en-US" altLang="en-US" sz="1200" b="0" i="0" u="none" strike="noStrike" cap="none" normalizeH="0" baseline="0" dirty="0">
                <a:ln>
                  <a:noFill/>
                </a:ln>
                <a:solidFill>
                  <a:srgbClr val="000000"/>
                </a:solidFill>
                <a:effectLst/>
                <a:latin typeface="MathJax_Main"/>
                <a:cs typeface="Tahoma" panose="020B0604030504040204" pitchFamily="34" charset="0"/>
              </a:rPr>
              <a:t>5.4.5</a:t>
            </a:r>
            <a:r>
              <a:rPr kumimoji="0" lang="en-US" altLang="en-US" sz="1200" b="0" i="0" u="none" strike="noStrike" cap="none" normalizeH="0" baseline="0" dirty="0">
                <a:ln>
                  <a:noFill/>
                </a:ln>
                <a:solidFill>
                  <a:srgbClr val="000000"/>
                </a:solidFill>
                <a:effectLst/>
                <a:latin typeface="MathJax_Math-italic"/>
                <a:cs typeface="Tahoma" panose="020B0604030504040204" pitchFamily="34" charset="0"/>
              </a:rPr>
              <a:t>b</a:t>
            </a:r>
            <a:r>
              <a:rPr kumimoji="0" lang="en-US" altLang="en-US" sz="12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5.4.5b is the voltage across </a:t>
            </a:r>
            <a:r>
              <a:rPr kumimoji="0" lang="en-US" altLang="en-US" sz="1200" b="0" i="0" u="none" strike="noStrike" cap="none" normalizeH="0" baseline="0" dirty="0">
                <a:ln>
                  <a:noFill/>
                </a:ln>
                <a:solidFill>
                  <a:srgbClr val="000000"/>
                </a:solidFill>
                <a:effectLst/>
                <a:latin typeface="MathJax_Math-italic"/>
                <a:cs typeface="Tahoma" panose="020B0604030504040204" pitchFamily="34" charset="0"/>
              </a:rPr>
              <a:t>R</a:t>
            </a:r>
            <a:r>
              <a:rPr kumimoji="0" lang="en-US" altLang="en-US" sz="1200" b="0" i="0" u="none" strike="noStrike" cap="none" normalizeH="0" baseline="0" dirty="0">
                <a:ln>
                  <a:noFill/>
                </a:ln>
                <a:solidFill>
                  <a:srgbClr val="000000"/>
                </a:solidFill>
                <a:effectLst/>
                <a:latin typeface="MathJax_Main"/>
                <a:cs typeface="Tahoma" panose="020B0604030504040204" pitchFamily="34" charset="0"/>
              </a:rPr>
              <a:t>2</a:t>
            </a:r>
            <a:r>
              <a:rPr kumimoji="0" lang="en-US" altLang="en-US" sz="12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R2. In contrast, </a:t>
            </a:r>
            <a:r>
              <a:rPr kumimoji="0" lang="en-US" altLang="en-US" sz="1200" b="0" i="0" u="none" strike="noStrike" cap="none" normalizeH="0" baseline="0" dirty="0">
                <a:ln>
                  <a:noFill/>
                </a:ln>
                <a:solidFill>
                  <a:srgbClr val="000000"/>
                </a:solidFill>
                <a:effectLst/>
                <a:latin typeface="MathJax_Math-italic"/>
                <a:cs typeface="Tahoma" panose="020B0604030504040204" pitchFamily="34" charset="0"/>
              </a:rPr>
              <a:t>VB</a:t>
            </a:r>
            <a:r>
              <a:rPr kumimoji="0" lang="en-US" altLang="en-US" sz="12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VB in Figure </a:t>
            </a:r>
            <a:r>
              <a:rPr kumimoji="0" lang="en-US" altLang="en-US" sz="1200" b="0" i="0" u="none" strike="noStrike" cap="none" normalizeH="0" baseline="0" dirty="0">
                <a:ln>
                  <a:noFill/>
                </a:ln>
                <a:solidFill>
                  <a:srgbClr val="000000"/>
                </a:solidFill>
                <a:effectLst/>
                <a:latin typeface="MathJax_Main"/>
                <a:cs typeface="Tahoma" panose="020B0604030504040204" pitchFamily="34" charset="0"/>
              </a:rPr>
              <a:t>5.4.5</a:t>
            </a:r>
            <a:r>
              <a:rPr kumimoji="0" lang="en-US" altLang="en-US" sz="1200" b="0" i="0" u="none" strike="noStrike" cap="none" normalizeH="0" baseline="0" dirty="0">
                <a:ln>
                  <a:noFill/>
                </a:ln>
                <a:solidFill>
                  <a:srgbClr val="000000"/>
                </a:solidFill>
                <a:effectLst/>
                <a:latin typeface="MathJax_Math-italic"/>
                <a:cs typeface="Tahoma" panose="020B0604030504040204" pitchFamily="34" charset="0"/>
              </a:rPr>
              <a:t>c</a:t>
            </a:r>
            <a:r>
              <a:rPr kumimoji="0" lang="en-US" altLang="en-US" sz="12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5.4.5c is the voltage across </a:t>
            </a:r>
            <a:r>
              <a:rPr kumimoji="0" lang="en-US" altLang="en-US" sz="1200" b="0" i="0" u="none" strike="noStrike" cap="none" normalizeH="0" baseline="0" dirty="0">
                <a:ln>
                  <a:noFill/>
                </a:ln>
                <a:solidFill>
                  <a:srgbClr val="000000"/>
                </a:solidFill>
                <a:effectLst/>
                <a:latin typeface="MathJax_Math-italic"/>
                <a:cs typeface="Tahoma" panose="020B0604030504040204" pitchFamily="34" charset="0"/>
              </a:rPr>
              <a:t>R</a:t>
            </a:r>
            <a:r>
              <a:rPr kumimoji="0" lang="en-US" altLang="en-US" sz="1200" b="0" i="0" u="none" strike="noStrike" cap="none" normalizeH="0" baseline="0" dirty="0">
                <a:ln>
                  <a:noFill/>
                </a:ln>
                <a:solidFill>
                  <a:srgbClr val="000000"/>
                </a:solidFill>
                <a:effectLst/>
                <a:latin typeface="MathJax_Main"/>
                <a:cs typeface="Tahoma" panose="020B0604030504040204" pitchFamily="34" charset="0"/>
              </a:rPr>
              <a:t>1</a:t>
            </a:r>
            <a:r>
              <a:rPr kumimoji="0" lang="en-US" altLang="en-US" sz="1200" b="0" i="0" u="none" strike="noStrike" cap="none" normalizeH="0" baseline="0" dirty="0">
                <a:ln>
                  <a:noFill/>
                </a:ln>
                <a:solidFill>
                  <a:srgbClr val="000000"/>
                </a:solidFill>
                <a:effectLst/>
                <a:latin typeface="Tahoma" panose="020B0604030504040204" pitchFamily="34" charset="0"/>
                <a:cs typeface="Tahoma" panose="020B0604030504040204" pitchFamily="34" charset="0"/>
              </a:rPr>
              <a:t>R1. That makes sense. If we move the reference then any voltage that is measured against the reference will change.</a:t>
            </a:r>
            <a:r>
              <a:rPr kumimoji="0" lang="en-US" altLang="en-US" sz="1200" b="0" i="0" u="none" strike="noStrike" cap="none" normalizeH="0" baseline="0" dirty="0">
                <a:ln>
                  <a:noFill/>
                </a:ln>
                <a:solidFill>
                  <a:schemeClr val="tx1"/>
                </a:solidFill>
                <a:effectLst/>
              </a:rPr>
              <a:t> </a:t>
            </a:r>
          </a:p>
        </p:txBody>
      </p:sp>
      <p:pic>
        <p:nvPicPr>
          <p:cNvPr id="6" name="Picture 5">
            <a:extLst>
              <a:ext uri="{FF2B5EF4-FFF2-40B4-BE49-F238E27FC236}">
                <a16:creationId xmlns:a16="http://schemas.microsoft.com/office/drawing/2014/main" id="{181C1C92-8A49-6495-874C-AA58F170D89B}"/>
              </a:ext>
            </a:extLst>
          </p:cNvPr>
          <p:cNvPicPr>
            <a:picLocks noChangeAspect="1"/>
          </p:cNvPicPr>
          <p:nvPr/>
        </p:nvPicPr>
        <p:blipFill>
          <a:blip r:embed="rId2"/>
          <a:stretch>
            <a:fillRect/>
          </a:stretch>
        </p:blipFill>
        <p:spPr>
          <a:xfrm>
            <a:off x="1738879" y="1631318"/>
            <a:ext cx="8714242" cy="2933777"/>
          </a:xfrm>
          <a:prstGeom prst="rect">
            <a:avLst/>
          </a:prstGeom>
        </p:spPr>
      </p:pic>
      <p:pic>
        <p:nvPicPr>
          <p:cNvPr id="8" name="Picture 7">
            <a:extLst>
              <a:ext uri="{FF2B5EF4-FFF2-40B4-BE49-F238E27FC236}">
                <a16:creationId xmlns:a16="http://schemas.microsoft.com/office/drawing/2014/main" id="{106DB152-2020-A46D-6A8A-8320074D357F}"/>
              </a:ext>
            </a:extLst>
          </p:cNvPr>
          <p:cNvPicPr>
            <a:picLocks noChangeAspect="1"/>
          </p:cNvPicPr>
          <p:nvPr/>
        </p:nvPicPr>
        <p:blipFill>
          <a:blip r:embed="rId3"/>
          <a:stretch>
            <a:fillRect/>
          </a:stretch>
        </p:blipFill>
        <p:spPr>
          <a:xfrm>
            <a:off x="272374" y="4947661"/>
            <a:ext cx="11686161" cy="1134819"/>
          </a:xfrm>
          <a:prstGeom prst="rect">
            <a:avLst/>
          </a:prstGeom>
        </p:spPr>
      </p:pic>
    </p:spTree>
    <p:extLst>
      <p:ext uri="{BB962C8B-B14F-4D97-AF65-F5344CB8AC3E}">
        <p14:creationId xmlns:p14="http://schemas.microsoft.com/office/powerpoint/2010/main" val="959066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546FEA-700C-BA65-B758-5219FA198FC4}"/>
              </a:ext>
            </a:extLst>
          </p:cNvPr>
          <p:cNvPicPr>
            <a:picLocks noChangeAspect="1"/>
          </p:cNvPicPr>
          <p:nvPr/>
        </p:nvPicPr>
        <p:blipFill>
          <a:blip r:embed="rId2"/>
          <a:stretch>
            <a:fillRect/>
          </a:stretch>
        </p:blipFill>
        <p:spPr>
          <a:xfrm>
            <a:off x="373046" y="221404"/>
            <a:ext cx="1799465" cy="1227729"/>
          </a:xfrm>
          <a:prstGeom prst="rect">
            <a:avLst/>
          </a:prstGeom>
        </p:spPr>
      </p:pic>
      <p:pic>
        <p:nvPicPr>
          <p:cNvPr id="7" name="Picture 6">
            <a:extLst>
              <a:ext uri="{FF2B5EF4-FFF2-40B4-BE49-F238E27FC236}">
                <a16:creationId xmlns:a16="http://schemas.microsoft.com/office/drawing/2014/main" id="{A3D56815-0812-06CC-92CA-AB3B486D5326}"/>
              </a:ext>
            </a:extLst>
          </p:cNvPr>
          <p:cNvPicPr>
            <a:picLocks noChangeAspect="1"/>
          </p:cNvPicPr>
          <p:nvPr/>
        </p:nvPicPr>
        <p:blipFill>
          <a:blip r:embed="rId3"/>
          <a:stretch>
            <a:fillRect/>
          </a:stretch>
        </p:blipFill>
        <p:spPr>
          <a:xfrm>
            <a:off x="1020763" y="1449133"/>
            <a:ext cx="332023" cy="179619"/>
          </a:xfrm>
          <a:prstGeom prst="rect">
            <a:avLst/>
          </a:prstGeom>
        </p:spPr>
      </p:pic>
      <p:pic>
        <p:nvPicPr>
          <p:cNvPr id="9" name="Picture 8">
            <a:extLst>
              <a:ext uri="{FF2B5EF4-FFF2-40B4-BE49-F238E27FC236}">
                <a16:creationId xmlns:a16="http://schemas.microsoft.com/office/drawing/2014/main" id="{D9AA35A3-2F94-62CC-5AF8-118ACBE86936}"/>
              </a:ext>
            </a:extLst>
          </p:cNvPr>
          <p:cNvPicPr>
            <a:picLocks noChangeAspect="1"/>
          </p:cNvPicPr>
          <p:nvPr/>
        </p:nvPicPr>
        <p:blipFill>
          <a:blip r:embed="rId4"/>
          <a:stretch>
            <a:fillRect/>
          </a:stretch>
        </p:blipFill>
        <p:spPr>
          <a:xfrm>
            <a:off x="446181" y="1703257"/>
            <a:ext cx="1726329" cy="1091866"/>
          </a:xfrm>
          <a:prstGeom prst="rect">
            <a:avLst/>
          </a:prstGeom>
        </p:spPr>
      </p:pic>
      <p:pic>
        <p:nvPicPr>
          <p:cNvPr id="11" name="Picture 10">
            <a:extLst>
              <a:ext uri="{FF2B5EF4-FFF2-40B4-BE49-F238E27FC236}">
                <a16:creationId xmlns:a16="http://schemas.microsoft.com/office/drawing/2014/main" id="{1DAFEDDD-0385-ECCF-B857-35A39F249005}"/>
              </a:ext>
            </a:extLst>
          </p:cNvPr>
          <p:cNvPicPr>
            <a:picLocks noChangeAspect="1"/>
          </p:cNvPicPr>
          <p:nvPr/>
        </p:nvPicPr>
        <p:blipFill>
          <a:blip r:embed="rId5"/>
          <a:stretch>
            <a:fillRect/>
          </a:stretch>
        </p:blipFill>
        <p:spPr>
          <a:xfrm>
            <a:off x="446181" y="2831527"/>
            <a:ext cx="598730" cy="217720"/>
          </a:xfrm>
          <a:prstGeom prst="rect">
            <a:avLst/>
          </a:prstGeom>
        </p:spPr>
      </p:pic>
      <p:pic>
        <p:nvPicPr>
          <p:cNvPr id="13" name="Picture 12">
            <a:extLst>
              <a:ext uri="{FF2B5EF4-FFF2-40B4-BE49-F238E27FC236}">
                <a16:creationId xmlns:a16="http://schemas.microsoft.com/office/drawing/2014/main" id="{EF02B02E-AC28-2253-9308-F188326A3AE9}"/>
              </a:ext>
            </a:extLst>
          </p:cNvPr>
          <p:cNvPicPr>
            <a:picLocks noChangeAspect="1"/>
          </p:cNvPicPr>
          <p:nvPr/>
        </p:nvPicPr>
        <p:blipFill>
          <a:blip r:embed="rId6"/>
          <a:stretch>
            <a:fillRect/>
          </a:stretch>
        </p:blipFill>
        <p:spPr>
          <a:xfrm>
            <a:off x="469520" y="3028925"/>
            <a:ext cx="1369649" cy="1559658"/>
          </a:xfrm>
          <a:prstGeom prst="rect">
            <a:avLst/>
          </a:prstGeom>
        </p:spPr>
      </p:pic>
      <p:pic>
        <p:nvPicPr>
          <p:cNvPr id="15" name="Picture 14">
            <a:extLst>
              <a:ext uri="{FF2B5EF4-FFF2-40B4-BE49-F238E27FC236}">
                <a16:creationId xmlns:a16="http://schemas.microsoft.com/office/drawing/2014/main" id="{48490ACE-A518-2F40-315C-B216B30B4C9B}"/>
              </a:ext>
            </a:extLst>
          </p:cNvPr>
          <p:cNvPicPr>
            <a:picLocks noChangeAspect="1"/>
          </p:cNvPicPr>
          <p:nvPr/>
        </p:nvPicPr>
        <p:blipFill>
          <a:blip r:embed="rId7"/>
          <a:stretch>
            <a:fillRect/>
          </a:stretch>
        </p:blipFill>
        <p:spPr>
          <a:xfrm>
            <a:off x="203599" y="4785981"/>
            <a:ext cx="3934870" cy="551262"/>
          </a:xfrm>
          <a:prstGeom prst="rect">
            <a:avLst/>
          </a:prstGeom>
        </p:spPr>
      </p:pic>
      <p:pic>
        <p:nvPicPr>
          <p:cNvPr id="17" name="Picture 16">
            <a:extLst>
              <a:ext uri="{FF2B5EF4-FFF2-40B4-BE49-F238E27FC236}">
                <a16:creationId xmlns:a16="http://schemas.microsoft.com/office/drawing/2014/main" id="{34CEB793-7DF3-D3B9-BFCA-E8DA529F5763}"/>
              </a:ext>
            </a:extLst>
          </p:cNvPr>
          <p:cNvPicPr>
            <a:picLocks noChangeAspect="1"/>
          </p:cNvPicPr>
          <p:nvPr/>
        </p:nvPicPr>
        <p:blipFill>
          <a:blip r:embed="rId8"/>
          <a:stretch>
            <a:fillRect/>
          </a:stretch>
        </p:blipFill>
        <p:spPr>
          <a:xfrm>
            <a:off x="446181" y="5408867"/>
            <a:ext cx="1940982" cy="1378767"/>
          </a:xfrm>
          <a:prstGeom prst="rect">
            <a:avLst/>
          </a:prstGeom>
        </p:spPr>
      </p:pic>
      <p:pic>
        <p:nvPicPr>
          <p:cNvPr id="19" name="Picture 18">
            <a:extLst>
              <a:ext uri="{FF2B5EF4-FFF2-40B4-BE49-F238E27FC236}">
                <a16:creationId xmlns:a16="http://schemas.microsoft.com/office/drawing/2014/main" id="{A40833AE-E361-869D-00B3-2AED14E4BBF1}"/>
              </a:ext>
            </a:extLst>
          </p:cNvPr>
          <p:cNvPicPr>
            <a:picLocks noChangeAspect="1"/>
          </p:cNvPicPr>
          <p:nvPr/>
        </p:nvPicPr>
        <p:blipFill>
          <a:blip r:embed="rId9"/>
          <a:stretch>
            <a:fillRect/>
          </a:stretch>
        </p:blipFill>
        <p:spPr>
          <a:xfrm>
            <a:off x="3742877" y="78673"/>
            <a:ext cx="6360957" cy="278010"/>
          </a:xfrm>
          <a:prstGeom prst="rect">
            <a:avLst/>
          </a:prstGeom>
        </p:spPr>
      </p:pic>
      <p:pic>
        <p:nvPicPr>
          <p:cNvPr id="21" name="Picture 20">
            <a:extLst>
              <a:ext uri="{FF2B5EF4-FFF2-40B4-BE49-F238E27FC236}">
                <a16:creationId xmlns:a16="http://schemas.microsoft.com/office/drawing/2014/main" id="{E90EE8BB-FB05-6A9C-0F6E-8C3B1A6C7178}"/>
              </a:ext>
            </a:extLst>
          </p:cNvPr>
          <p:cNvPicPr>
            <a:picLocks noChangeAspect="1"/>
          </p:cNvPicPr>
          <p:nvPr/>
        </p:nvPicPr>
        <p:blipFill>
          <a:blip r:embed="rId10"/>
          <a:stretch>
            <a:fillRect/>
          </a:stretch>
        </p:blipFill>
        <p:spPr>
          <a:xfrm>
            <a:off x="4338520" y="382381"/>
            <a:ext cx="1511045" cy="1025352"/>
          </a:xfrm>
          <a:prstGeom prst="rect">
            <a:avLst/>
          </a:prstGeom>
        </p:spPr>
      </p:pic>
      <p:pic>
        <p:nvPicPr>
          <p:cNvPr id="23" name="Picture 22">
            <a:extLst>
              <a:ext uri="{FF2B5EF4-FFF2-40B4-BE49-F238E27FC236}">
                <a16:creationId xmlns:a16="http://schemas.microsoft.com/office/drawing/2014/main" id="{B34C44E7-B98D-CF64-CE36-C50D816D3674}"/>
              </a:ext>
            </a:extLst>
          </p:cNvPr>
          <p:cNvPicPr>
            <a:picLocks noChangeAspect="1"/>
          </p:cNvPicPr>
          <p:nvPr/>
        </p:nvPicPr>
        <p:blipFill>
          <a:blip r:embed="rId11"/>
          <a:stretch>
            <a:fillRect/>
          </a:stretch>
        </p:blipFill>
        <p:spPr>
          <a:xfrm>
            <a:off x="3742877" y="1430036"/>
            <a:ext cx="5373913" cy="324218"/>
          </a:xfrm>
          <a:prstGeom prst="rect">
            <a:avLst/>
          </a:prstGeom>
        </p:spPr>
      </p:pic>
      <p:pic>
        <p:nvPicPr>
          <p:cNvPr id="25" name="Picture 24">
            <a:extLst>
              <a:ext uri="{FF2B5EF4-FFF2-40B4-BE49-F238E27FC236}">
                <a16:creationId xmlns:a16="http://schemas.microsoft.com/office/drawing/2014/main" id="{6027C8EF-9E93-1C82-68F8-E3BC1CBF0AF9}"/>
              </a:ext>
            </a:extLst>
          </p:cNvPr>
          <p:cNvPicPr>
            <a:picLocks noChangeAspect="1"/>
          </p:cNvPicPr>
          <p:nvPr/>
        </p:nvPicPr>
        <p:blipFill>
          <a:blip r:embed="rId12"/>
          <a:stretch>
            <a:fillRect/>
          </a:stretch>
        </p:blipFill>
        <p:spPr>
          <a:xfrm>
            <a:off x="4338519" y="1790357"/>
            <a:ext cx="1513915" cy="966198"/>
          </a:xfrm>
          <a:prstGeom prst="rect">
            <a:avLst/>
          </a:prstGeom>
        </p:spPr>
      </p:pic>
      <p:pic>
        <p:nvPicPr>
          <p:cNvPr id="27" name="Picture 26">
            <a:extLst>
              <a:ext uri="{FF2B5EF4-FFF2-40B4-BE49-F238E27FC236}">
                <a16:creationId xmlns:a16="http://schemas.microsoft.com/office/drawing/2014/main" id="{22C191FB-1965-7CF7-063B-42BEE7B14BD9}"/>
              </a:ext>
            </a:extLst>
          </p:cNvPr>
          <p:cNvPicPr>
            <a:picLocks noChangeAspect="1"/>
          </p:cNvPicPr>
          <p:nvPr/>
        </p:nvPicPr>
        <p:blipFill>
          <a:blip r:embed="rId13"/>
          <a:stretch>
            <a:fillRect/>
          </a:stretch>
        </p:blipFill>
        <p:spPr>
          <a:xfrm>
            <a:off x="3742877" y="2784525"/>
            <a:ext cx="7278966" cy="565295"/>
          </a:xfrm>
          <a:prstGeom prst="rect">
            <a:avLst/>
          </a:prstGeom>
        </p:spPr>
      </p:pic>
      <p:pic>
        <p:nvPicPr>
          <p:cNvPr id="29" name="Picture 28">
            <a:extLst>
              <a:ext uri="{FF2B5EF4-FFF2-40B4-BE49-F238E27FC236}">
                <a16:creationId xmlns:a16="http://schemas.microsoft.com/office/drawing/2014/main" id="{6B7D3698-5740-7A69-907C-82BCDAFC6DE9}"/>
              </a:ext>
            </a:extLst>
          </p:cNvPr>
          <p:cNvPicPr>
            <a:picLocks noChangeAspect="1"/>
          </p:cNvPicPr>
          <p:nvPr/>
        </p:nvPicPr>
        <p:blipFill>
          <a:blip r:embed="rId14"/>
          <a:stretch>
            <a:fillRect/>
          </a:stretch>
        </p:blipFill>
        <p:spPr>
          <a:xfrm>
            <a:off x="4405422" y="3399162"/>
            <a:ext cx="2517933" cy="826284"/>
          </a:xfrm>
          <a:prstGeom prst="rect">
            <a:avLst/>
          </a:prstGeom>
        </p:spPr>
      </p:pic>
      <p:pic>
        <p:nvPicPr>
          <p:cNvPr id="31" name="Picture 30">
            <a:extLst>
              <a:ext uri="{FF2B5EF4-FFF2-40B4-BE49-F238E27FC236}">
                <a16:creationId xmlns:a16="http://schemas.microsoft.com/office/drawing/2014/main" id="{ADA59AD2-F56B-C49A-6AC6-1F367498B599}"/>
              </a:ext>
            </a:extLst>
          </p:cNvPr>
          <p:cNvPicPr>
            <a:picLocks noChangeAspect="1"/>
          </p:cNvPicPr>
          <p:nvPr/>
        </p:nvPicPr>
        <p:blipFill>
          <a:blip r:embed="rId15"/>
          <a:stretch>
            <a:fillRect/>
          </a:stretch>
        </p:blipFill>
        <p:spPr>
          <a:xfrm>
            <a:off x="4280172" y="4266110"/>
            <a:ext cx="7412477" cy="565295"/>
          </a:xfrm>
          <a:prstGeom prst="rect">
            <a:avLst/>
          </a:prstGeom>
        </p:spPr>
      </p:pic>
      <p:pic>
        <p:nvPicPr>
          <p:cNvPr id="33" name="Picture 32">
            <a:extLst>
              <a:ext uri="{FF2B5EF4-FFF2-40B4-BE49-F238E27FC236}">
                <a16:creationId xmlns:a16="http://schemas.microsoft.com/office/drawing/2014/main" id="{4D3CED4D-6573-C670-F0AB-962CC100E46C}"/>
              </a:ext>
            </a:extLst>
          </p:cNvPr>
          <p:cNvPicPr>
            <a:picLocks noChangeAspect="1"/>
          </p:cNvPicPr>
          <p:nvPr/>
        </p:nvPicPr>
        <p:blipFill>
          <a:blip r:embed="rId16"/>
          <a:stretch>
            <a:fillRect/>
          </a:stretch>
        </p:blipFill>
        <p:spPr>
          <a:xfrm>
            <a:off x="5242285" y="5048453"/>
            <a:ext cx="1415180" cy="1730874"/>
          </a:xfrm>
          <a:prstGeom prst="rect">
            <a:avLst/>
          </a:prstGeom>
        </p:spPr>
      </p:pic>
    </p:spTree>
    <p:extLst>
      <p:ext uri="{BB962C8B-B14F-4D97-AF65-F5344CB8AC3E}">
        <p14:creationId xmlns:p14="http://schemas.microsoft.com/office/powerpoint/2010/main" val="34484343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492</TotalTime>
  <Words>759</Words>
  <Application>Microsoft Office PowerPoint</Application>
  <PresentationFormat>Widescreen</PresentationFormat>
  <Paragraphs>19</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Calibri</vt:lpstr>
      <vt:lpstr>Calibri Light</vt:lpstr>
      <vt:lpstr>MathJax_Main</vt:lpstr>
      <vt:lpstr>MathJax_Math-italic</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SANDIP SWARNAKAR</dc:creator>
  <cp:lastModifiedBy>syam sundar pillalamarri</cp:lastModifiedBy>
  <cp:revision>17</cp:revision>
  <dcterms:created xsi:type="dcterms:W3CDTF">2024-08-27T05:25:43Z</dcterms:created>
  <dcterms:modified xsi:type="dcterms:W3CDTF">2025-08-26T11:31:15Z</dcterms:modified>
</cp:coreProperties>
</file>