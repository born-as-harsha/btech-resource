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71" r:id="rId3"/>
    <p:sldId id="300" r:id="rId5"/>
    <p:sldId id="318" r:id="rId6"/>
    <p:sldId id="320" r:id="rId7"/>
    <p:sldId id="321" r:id="rId8"/>
    <p:sldId id="319" r:id="rId9"/>
    <p:sldId id="301" r:id="rId10"/>
    <p:sldId id="311" r:id="rId11"/>
    <p:sldId id="315" r:id="rId12"/>
    <p:sldId id="302" r:id="rId13"/>
    <p:sldId id="303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1" d="100"/>
          <a:sy n="71" d="100"/>
        </p:scale>
        <p:origin x="696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>
            <a:fillRect/>
          </a:stretch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>
            <a:fillRect/>
          </a:stretch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emf"/><Relationship Id="rId4" Type="http://schemas.openxmlformats.org/officeDocument/2006/relationships/image" Target="../media/image15.emf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29226" y="2820599"/>
            <a:ext cx="7948938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Analog electronic Circuit Design</a:t>
            </a: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24ec2104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Op-amp with negative feedback_2</a:t>
            </a:r>
            <a:endParaRPr lang="en-US" sz="32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ECE</a:t>
            </a:r>
            <a:endParaRPr lang="en-US" sz="3600" dirty="0">
              <a:solidFill>
                <a:srgbClr val="C00000"/>
              </a:solidFill>
              <a:cs typeface="Poppins" pitchFamily="2" charset="77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1" y="844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AIM OF THE SESSION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885748" y="637745"/>
            <a:ext cx="10731286" cy="4664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This session aims to discuss the significance of voltage shunt feedback amplifier and differential amplifier.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053596" y="1630041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INSTRUCTIONAL OBJECTIVES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885749" y="2241406"/>
            <a:ext cx="10731286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Illustrate the working of inverting amplifier and differential amplifier with feedback.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Compare the </a:t>
            </a:r>
            <a:r>
              <a:rPr lang="en-GB" sz="1600" dirty="0" err="1"/>
              <a:t>behavior</a:t>
            </a:r>
            <a:r>
              <a:rPr lang="en-GB" sz="1600" dirty="0"/>
              <a:t> of inverting and non-inverting amplifiers.</a:t>
            </a:r>
            <a:endParaRPr lang="en-GB" sz="1600" dirty="0"/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44592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315974" y="396995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  <a:endParaRPr lang="en-US" sz="2400" dirty="0"/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8652" y="4846140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14400" y="4518510"/>
            <a:ext cx="10702634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At the end of this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session</a:t>
            </a: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, you should be able to:</a:t>
            </a:r>
            <a:endParaRPr lang="en-US" sz="1600" b="0" i="0" dirty="0">
              <a:effectLst/>
              <a:latin typeface="Arial" panose="020B0604020202020204"/>
              <a:cs typeface="Arial" panose="020B0604020202020204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Understand the working of inverting amplifier and differential amplifier with feedback </a:t>
            </a:r>
            <a:endParaRPr lang="en-GB" sz="1600" dirty="0"/>
          </a:p>
          <a:p>
            <a:pPr marL="800100" lvl="1" indent="-342900">
              <a:buFont typeface="+mj-lt"/>
              <a:buAutoNum type="arabicPeriod"/>
            </a:pPr>
            <a:r>
              <a:rPr lang="en-GB" sz="1600" dirty="0"/>
              <a:t>Differentiate between inverting and non-inverting amplifier modes.</a:t>
            </a:r>
            <a:endParaRPr lang="en-GB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887776" y="405435"/>
            <a:ext cx="8102139" cy="74631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Voltage – Shunt Feedback Amplifier  or Inverting Amplifier with feedback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636" y="2048067"/>
            <a:ext cx="5802391" cy="249358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0973" y="1369755"/>
            <a:ext cx="7202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following figure illustrates the voltage-shunt feedback amplifier and is also referred to as inverting amplifier with feedback.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70973" y="1969919"/>
                <a:ext cx="4461731" cy="2583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/>
                  <a:t>Closed loop voltage gain</a:t>
                </a:r>
                <a:endParaRPr lang="en-US" sz="1800" dirty="0"/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I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b="0" dirty="0"/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is the gain of the feedback circuit</a:t>
                </a:r>
                <a:endParaRPr lang="en-US" sz="1800" dirty="0"/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1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den>
                    </m:f>
                    <m:r>
                      <a:rPr lang="en-IN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is the voltage attenuation factor</a:t>
                </a:r>
                <a:endParaRPr lang="en-US" sz="18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3" y="1969919"/>
                <a:ext cx="4461731" cy="2583977"/>
              </a:xfrm>
              <a:prstGeom prst="rect">
                <a:avLst/>
              </a:prstGeom>
              <a:blipFill rotWithShape="1">
                <a:blip r:embed="rId2"/>
                <a:stretch>
                  <a:fillRect l="-11" t="-6" r="2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0973" y="4809933"/>
                <a:ext cx="3302058" cy="11680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Input resistance with feedback</a:t>
                </a:r>
                <a:endParaRPr lang="en-IN" dirty="0"/>
              </a:p>
              <a:p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𝑖𝐹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3" y="4809933"/>
                <a:ext cx="3302058" cy="1168012"/>
              </a:xfrm>
              <a:prstGeom prst="rect">
                <a:avLst/>
              </a:prstGeom>
              <a:blipFill rotWithShape="1">
                <a:blip r:embed="rId3"/>
                <a:stretch>
                  <a:fillRect l="-15" t="-38" r="17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761325" y="4809933"/>
                <a:ext cx="3512052" cy="12373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Output resistance with feedback</a:t>
                </a:r>
                <a:endParaRPr lang="en-IN" dirty="0"/>
              </a:p>
              <a:p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𝑜𝐹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325" y="4809933"/>
                <a:ext cx="3512052" cy="1237390"/>
              </a:xfrm>
              <a:prstGeom prst="rect">
                <a:avLst/>
              </a:prstGeom>
              <a:blipFill rotWithShape="1">
                <a:blip r:embed="rId4"/>
                <a:stretch>
                  <a:fillRect l="-6" t="-36" r="2" b="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8526048" y="4809933"/>
                <a:ext cx="28177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Bandwidth with feedback</a:t>
                </a:r>
                <a:endParaRPr lang="en-IN" dirty="0"/>
              </a:p>
              <a:p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048" y="4809933"/>
                <a:ext cx="2817759" cy="923330"/>
              </a:xfrm>
              <a:prstGeom prst="rect">
                <a:avLst/>
              </a:prstGeom>
              <a:blipFill rotWithShape="1">
                <a:blip r:embed="rId5"/>
                <a:stretch>
                  <a:fillRect l="-19" t="-48" r="6" b="5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887776" y="405435"/>
            <a:ext cx="8102139" cy="74631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Voltage – Shunt Feedback Amplifier  or Inverting Amplifier with feedback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0" y="1475062"/>
                <a:ext cx="3302058" cy="11680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Input resistance with feedback</a:t>
                </a:r>
                <a:endParaRPr lang="en-IN" dirty="0"/>
              </a:p>
              <a:p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𝑖𝐹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75062"/>
                <a:ext cx="3302058" cy="1168012"/>
              </a:xfrm>
              <a:prstGeom prst="rect">
                <a:avLst/>
              </a:prstGeom>
              <a:blipFill rotWithShape="1">
                <a:blip r:embed="rId1"/>
                <a:stretch>
                  <a:fillRect t="-51" r="2" b="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742961" y="1475062"/>
                <a:ext cx="3512052" cy="12373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Output resistance with feedback</a:t>
                </a:r>
                <a:endParaRPr lang="en-IN" dirty="0"/>
              </a:p>
              <a:p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𝑜𝐹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961" y="1475062"/>
                <a:ext cx="3512052" cy="1237390"/>
              </a:xfrm>
              <a:prstGeom prst="rect">
                <a:avLst/>
              </a:prstGeom>
              <a:blipFill rotWithShape="1">
                <a:blip r:embed="rId2"/>
                <a:stretch>
                  <a:fillRect l="-4" t="-48" b="3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8781542" y="3814851"/>
                <a:ext cx="28177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Bandwidth with feedback</a:t>
                </a:r>
                <a:endParaRPr lang="en-IN" dirty="0"/>
              </a:p>
              <a:p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542" y="3814851"/>
                <a:ext cx="2817759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5" t="-44" r="14" b="4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6" y="3194909"/>
            <a:ext cx="3722914" cy="218802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772" y="2810688"/>
            <a:ext cx="3102429" cy="26697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9119303" y="2648333"/>
                <a:ext cx="1505027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𝑜𝑜𝑇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𝐴𝐵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303" y="2648333"/>
                <a:ext cx="1505027" cy="523157"/>
              </a:xfrm>
              <a:prstGeom prst="rect">
                <a:avLst/>
              </a:prstGeom>
              <a:blipFill rotWithShape="1">
                <a:blip r:embed="rId6"/>
                <a:stretch>
                  <a:fillRect l="-5" t="-73" r="-1172" b="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8781542" y="2273742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Total output offset voltage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887776" y="405435"/>
            <a:ext cx="8102139" cy="74631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Differential Amplifier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9021" y="1403669"/>
            <a:ext cx="97086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Differential amplifiers are used in instrumentation and industrial applications to amplify the differences between two input signals, like Wheatstone bridge circuits. </a:t>
            </a:r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These can reject common-mode (noise) voltages better than inverting and non-inverting circuits.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362" y="2837329"/>
            <a:ext cx="6089638" cy="32676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-1852218" y="3413080"/>
                <a:ext cx="6104964" cy="690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den>
                      </m:f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52218" y="3413080"/>
                <a:ext cx="6104964" cy="690510"/>
              </a:xfrm>
              <a:prstGeom prst="rect">
                <a:avLst/>
              </a:prstGeom>
              <a:blipFill rotWithShape="1">
                <a:blip r:embed="rId2"/>
                <a:stretch>
                  <a:fillRect l="9" t="-85" r="2" b="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72453" y="3055159"/>
            <a:ext cx="6185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Voltage gain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272453" y="4276845"/>
            <a:ext cx="6609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Input resistance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-2245637" y="4671669"/>
                <a:ext cx="66092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𝑖𝐹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45637" y="4671669"/>
                <a:ext cx="6609228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4" t="-165" r="8" b="10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-1960943" y="5051400"/>
                <a:ext cx="660922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𝑖𝐹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60943" y="5051400"/>
                <a:ext cx="6609228" cy="391261"/>
              </a:xfrm>
              <a:prstGeom prst="rect">
                <a:avLst/>
              </a:prstGeom>
              <a:blipFill rotWithShape="1">
                <a:blip r:embed="rId4"/>
                <a:stretch>
                  <a:fillRect l="1" t="-156" r="1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496720" y="3139640"/>
                <a:ext cx="3512052" cy="14537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Output resistance with feedback</a:t>
                </a:r>
                <a:endParaRPr lang="en-IN" dirty="0"/>
              </a:p>
              <a:p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𝑜𝐹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720" y="3139640"/>
                <a:ext cx="3512052" cy="1453731"/>
              </a:xfrm>
              <a:prstGeom prst="rect">
                <a:avLst/>
              </a:prstGeom>
              <a:blipFill rotWithShape="1">
                <a:blip r:embed="rId5"/>
                <a:stretch>
                  <a:fillRect l="-15" t="-14" r="11" b="2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048301" y="4819432"/>
                <a:ext cx="2817759" cy="1218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Bandwidth with feedback</a:t>
                </a:r>
                <a:endParaRPr lang="en-IN" dirty="0"/>
              </a:p>
              <a:p>
                <a:endParaRPr lang="en-I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301" y="4819432"/>
                <a:ext cx="2817759" cy="1218219"/>
              </a:xfrm>
              <a:prstGeom prst="rect">
                <a:avLst/>
              </a:prstGeom>
              <a:blipFill rotWithShape="1">
                <a:blip r:embed="rId6"/>
                <a:stretch>
                  <a:fillRect l="-11" t="-34" r="20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532" y="1015541"/>
            <a:ext cx="9084856" cy="5021846"/>
          </a:xfrm>
          <a:prstGeom prst="rect">
            <a:avLst/>
          </a:prstGeom>
        </p:spPr>
      </p:pic>
      <p:sp>
        <p:nvSpPr>
          <p:cNvPr id="5" name="Rounded Rectangle 17"/>
          <p:cNvSpPr/>
          <p:nvPr/>
        </p:nvSpPr>
        <p:spPr>
          <a:xfrm>
            <a:off x="2044929" y="176835"/>
            <a:ext cx="8102139" cy="74631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Non-Inverting and Inverting Amplifier with feedback-Summary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  <a:endParaRPr lang="en-US" sz="2400" dirty="0"/>
          </a:p>
        </p:txBody>
      </p:sp>
      <p:sp>
        <p:nvSpPr>
          <p:cNvPr id="7" name="Google Shape;502;p17"/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A Differential Amplifier amplifies</a:t>
            </a:r>
            <a:endParaRPr lang="en-US" dirty="0"/>
          </a:p>
        </p:txBody>
      </p:sp>
      <p:sp>
        <p:nvSpPr>
          <p:cNvPr id="11" name="Rounded Rectangle 17"/>
          <p:cNvSpPr/>
          <p:nvPr/>
        </p:nvSpPr>
        <p:spPr>
          <a:xfrm>
            <a:off x="1026828" y="1977905"/>
            <a:ext cx="4405784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  <a:latin typeface="+mj-lt"/>
              </a:rPr>
              <a:t>Input signal with higher voltage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  <a:latin typeface="+mj-lt"/>
              </a:rPr>
              <a:t>Input signal with smaller voltage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  <a:latin typeface="+mj-lt"/>
              </a:rPr>
              <a:t>Sum of the input signals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GB" sz="1600" dirty="0">
                <a:solidFill>
                  <a:schemeClr val="bg1"/>
                </a:solidFill>
                <a:latin typeface="+mj-lt"/>
              </a:rPr>
              <a:t>None of the above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Google Shape;502;p17"/>
          <p:cNvSpPr/>
          <p:nvPr/>
        </p:nvSpPr>
        <p:spPr>
          <a:xfrm>
            <a:off x="1026828" y="37475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US" dirty="0"/>
              <a:t>A differential amplifier is capable of amplifying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4" name="Rounded Rectangle 17"/>
          <p:cNvSpPr/>
          <p:nvPr/>
        </p:nvSpPr>
        <p:spPr>
          <a:xfrm>
            <a:off x="1009895" y="4486010"/>
            <a:ext cx="6845632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>
                <a:solidFill>
                  <a:schemeClr val="bg1"/>
                </a:solidFill>
              </a:rPr>
              <a:t>DC signal only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solidFill>
                  <a:schemeClr val="bg1"/>
                </a:solidFill>
              </a:rPr>
              <a:t>AC signal only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solidFill>
                  <a:schemeClr val="bg1"/>
                </a:solidFill>
              </a:rPr>
              <a:t>both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solidFill>
                  <a:schemeClr val="bg1"/>
                </a:solidFill>
              </a:rPr>
              <a:t>None of the above</a:t>
            </a:r>
            <a:endParaRPr lang="en-US" sz="160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  <a:endParaRPr lang="en-US" sz="2400" dirty="0"/>
          </a:p>
        </p:txBody>
      </p:sp>
      <p:sp>
        <p:nvSpPr>
          <p:cNvPr id="7" name="Google Shape;502;p17"/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/>
              <a:t>3.	</a:t>
            </a:r>
            <a:r>
              <a:rPr lang="en-US" dirty="0"/>
              <a:t>Which factor determines the gain of the voltage shunt feedback amplifier?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1442464" y="1905217"/>
            <a:ext cx="5069172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solidFill>
                  <a:schemeClr val="bg1"/>
                </a:solidFill>
              </a:rPr>
              <a:t>Open-loop voltage gain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GB" sz="1600" dirty="0">
                <a:solidFill>
                  <a:schemeClr val="bg1"/>
                </a:solidFill>
              </a:rPr>
              <a:t>Feedback voltage</a:t>
            </a:r>
            <a:endParaRPr lang="en-GB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solidFill>
                  <a:schemeClr val="bg1"/>
                </a:solidFill>
              </a:rPr>
              <a:t>Ratio of two resistors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GB" sz="1600" dirty="0">
                <a:solidFill>
                  <a:schemeClr val="bg1"/>
                </a:solidFill>
              </a:rPr>
              <a:t>Gain of feedback </a:t>
            </a:r>
            <a:r>
              <a:rPr lang="en-GB" sz="1600" dirty="0" err="1">
                <a:solidFill>
                  <a:schemeClr val="bg1"/>
                </a:solidFill>
              </a:rPr>
              <a:t>cicruit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Google Shape;502;p17"/>
          <p:cNvSpPr/>
          <p:nvPr/>
        </p:nvSpPr>
        <p:spPr>
          <a:xfrm>
            <a:off x="1009895" y="371852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/>
              <a:t>4.	For the inverting feedback amplifier, the output voltage is…..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4" name="Rounded Rectangle 17"/>
          <p:cNvSpPr/>
          <p:nvPr/>
        </p:nvSpPr>
        <p:spPr>
          <a:xfrm>
            <a:off x="1162295" y="4530587"/>
            <a:ext cx="66101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In phase with the input 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180 degrees out of phase with input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solidFill>
                  <a:schemeClr val="bg1"/>
                </a:solidFill>
              </a:rPr>
              <a:t>zero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solidFill>
                  <a:schemeClr val="bg1"/>
                </a:solidFill>
              </a:rPr>
              <a:t>infinity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d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b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sp>
        <p:nvSpPr>
          <p:cNvPr id="5" name="Rounded Rectangle 17"/>
          <p:cNvSpPr/>
          <p:nvPr/>
        </p:nvSpPr>
        <p:spPr>
          <a:xfrm>
            <a:off x="3390635" y="118550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ANSWERS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380930" y="1967920"/>
            <a:ext cx="9694506" cy="3957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/>
              <a:t>How does negative feedback affect the performance of an inverting amplifier?</a:t>
            </a:r>
            <a:endParaRPr lang="en-US" sz="1600" b="1" dirty="0"/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/>
              <a:t>List two special cases of inverting amplifiers.</a:t>
            </a:r>
            <a:endParaRPr lang="en-US" sz="1600" b="1" dirty="0"/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/>
              <a:t>Illustrate how negative feedback improves the working of differential amplifier.</a:t>
            </a:r>
            <a:endParaRPr lang="en-US" sz="1600" b="1" dirty="0"/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/>
              <a:t>The 741C op-amp having the following parameters is connected as inverting amplifier with R</a:t>
            </a:r>
            <a:r>
              <a:rPr lang="en-US" sz="1600" b="1" baseline="-25000" dirty="0"/>
              <a:t>1</a:t>
            </a:r>
            <a:r>
              <a:rPr lang="en-US" sz="1600" b="1" dirty="0"/>
              <a:t> = 1 kΩ , and R</a:t>
            </a:r>
            <a:r>
              <a:rPr lang="en-US" sz="1600" b="1" baseline="-25000" dirty="0"/>
              <a:t>F</a:t>
            </a:r>
            <a:r>
              <a:rPr lang="en-US" sz="1600" b="1" dirty="0"/>
              <a:t>=10kΩ,  A= 200000, R</a:t>
            </a:r>
            <a:r>
              <a:rPr lang="en-US" sz="1600" b="1" baseline="-25000" dirty="0"/>
              <a:t>i</a:t>
            </a:r>
            <a:r>
              <a:rPr lang="en-US" sz="1600" b="1" dirty="0"/>
              <a:t>= 2MΩ, R</a:t>
            </a:r>
            <a:r>
              <a:rPr lang="en-US" sz="1600" b="1" baseline="-25000" dirty="0"/>
              <a:t>o</a:t>
            </a:r>
            <a:r>
              <a:rPr lang="en-US" sz="1600" b="1" dirty="0"/>
              <a:t>=75Ω, f</a:t>
            </a:r>
            <a:r>
              <a:rPr lang="en-US" sz="1600" b="1" baseline="-25000" dirty="0"/>
              <a:t>o</a:t>
            </a:r>
            <a:r>
              <a:rPr lang="en-US" sz="1600" b="1" dirty="0"/>
              <a:t>=5Hz, supply voltages = ±15V, output swing = ±13 V, UGB = 1 MHz; </a:t>
            </a:r>
            <a:endParaRPr lang="en-US" sz="1600" b="1" dirty="0"/>
          </a:p>
          <a:p>
            <a:pPr marL="342900" indent="-342900" algn="just">
              <a:lnSpc>
                <a:spcPct val="200000"/>
              </a:lnSpc>
              <a:buAutoNum type="alphaLcParenR"/>
            </a:pPr>
            <a:r>
              <a:rPr lang="en-US" sz="1600" b="1" dirty="0"/>
              <a:t>Calculate the exact closed-loop gain             b) Calculate the ideal closed-loop gain</a:t>
            </a:r>
            <a:endParaRPr lang="en-US" sz="1600" b="1" dirty="0"/>
          </a:p>
          <a:p>
            <a:pPr algn="just">
              <a:lnSpc>
                <a:spcPct val="200000"/>
              </a:lnSpc>
            </a:pPr>
            <a:r>
              <a:rPr lang="en-US" sz="1600" b="1" dirty="0"/>
              <a:t>c)  Compare the results of (a) and (b).</a:t>
            </a:r>
            <a:endParaRPr lang="en-US" sz="1600" b="1" dirty="0"/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4940" y="2100679"/>
            <a:ext cx="96082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Op-Amps and Linear Integrated Circuit; 4th Ed., </a:t>
            </a:r>
            <a:r>
              <a:rPr lang="en-GB" dirty="0" err="1"/>
              <a:t>Gayakwad</a:t>
            </a:r>
            <a:r>
              <a:rPr lang="en-GB" dirty="0"/>
              <a:t>, Ramakant A.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  <a:endParaRPr lang="en-US" b="1" dirty="0"/>
          </a:p>
          <a:p>
            <a:pPr algn="l">
              <a:buFont typeface="+mj-lt"/>
              <a:buAutoNum type="arabicPeriod"/>
            </a:pPr>
            <a:r>
              <a:rPr lang="en-US" dirty="0"/>
              <a:t>https://circuitdigest.com/electronic-circuits/positive-and-negative-feedback-in-op-amp-circuits</a:t>
            </a:r>
            <a:endParaRPr lang="en-IN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247960" y="2332796"/>
            <a:ext cx="7920111" cy="2883877"/>
            <a:chOff x="2247960" y="2332796"/>
            <a:chExt cx="7920111" cy="2883877"/>
          </a:xfrm>
        </p:grpSpPr>
        <p:sp>
          <p:nvSpPr>
            <p:cNvPr id="4" name="Rounded Rectangle 3"/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THANK YOU</a:t>
              </a:r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Team – AECD</a:t>
              </a:r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3598</Words>
  <Application>WPS Presentation</Application>
  <PresentationFormat>Widescreen</PresentationFormat>
  <Paragraphs>163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Poppins</vt:lpstr>
      <vt:lpstr>Segoe Print</vt:lpstr>
      <vt:lpstr>BioRhyme ExtraBold</vt:lpstr>
      <vt:lpstr>Poppins</vt:lpstr>
      <vt:lpstr>Poppins</vt:lpstr>
      <vt:lpstr>Cambria Math</vt:lpstr>
      <vt:lpstr>Söhne</vt:lpstr>
      <vt:lpstr>Gill Sans MT</vt:lpstr>
      <vt:lpstr>Microsoft YaHei</vt:lpstr>
      <vt:lpstr>Arial Unicode MS</vt:lpstr>
      <vt:lpstr>Gallery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Subba Reddy Vasipalli</dc:creator>
  <cp:lastModifiedBy>Uday Kiran</cp:lastModifiedBy>
  <cp:revision>53</cp:revision>
  <dcterms:created xsi:type="dcterms:W3CDTF">2023-05-11T04:21:00Z</dcterms:created>
  <dcterms:modified xsi:type="dcterms:W3CDTF">2025-09-08T03:47:43Z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E2F11EB17E30466594431F93FF51AA9A_13</vt:lpwstr>
  </property>
  <property fmtid="{D5CDD505-2E9C-101B-9397-08002B2CF9AE}" pid="3" name="KSOProductBuildVer">
    <vt:lpwstr>1033-12.2.0.22222</vt:lpwstr>
  </property>
</Properties>
</file>