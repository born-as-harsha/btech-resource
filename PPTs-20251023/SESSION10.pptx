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15"/>
  </p:notesMasterIdLst>
  <p:sldIdLst>
    <p:sldId id="324" r:id="rId3"/>
    <p:sldId id="325" r:id="rId4"/>
    <p:sldId id="326" r:id="rId5"/>
    <p:sldId id="256" r:id="rId6"/>
    <p:sldId id="257" r:id="rId7"/>
    <p:sldId id="258" r:id="rId8"/>
    <p:sldId id="259" r:id="rId9"/>
    <p:sldId id="260" r:id="rId10"/>
    <p:sldId id="261" r:id="rId11"/>
    <p:sldId id="274" r:id="rId12"/>
    <p:sldId id="262" r:id="rId13"/>
    <p:sldId id="276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700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B1F6E4-63B8-4C71-A17F-219FC1BFBBBA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8020FD-1EFA-4CD0-AD6A-7EDBBDD53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52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5988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339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6512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8042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1350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6055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2394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5203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7079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07671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6204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74252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29561" y="465200"/>
            <a:ext cx="8532876" cy="69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64411" y="1565275"/>
            <a:ext cx="9518650" cy="36849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55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ectrical4u.com/voltage-or-electric-potential-difference/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ectrical4u.com/voltage-drop-calculation/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ectrical4u.com/inverting-amplifier/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2" y="167951"/>
            <a:ext cx="6170855" cy="6111678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4229226" y="2820599"/>
            <a:ext cx="7948938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all" spc="0" normalizeH="0" baseline="0" noProof="0" dirty="0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  <a:sym typeface="BioRhyme ExtraBold"/>
              </a:rPr>
              <a:t>Analog electronic Circuit Design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all" spc="0" normalizeH="0" baseline="0" noProof="0" dirty="0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  <a:sym typeface="BioRhyme ExtraBold"/>
              </a:rPr>
              <a:t>23ec2104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Gill Sans MT" panose="020B0502020104020203"/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ill Sans MT" panose="020B0502020104020203"/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none" strike="noStrike" kern="1200" cap="all" spc="0" normalizeH="0" baseline="0" noProof="0" dirty="0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</a:rPr>
              <a:t>Design of BJT amplifier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Gill Sans MT" panose="020B0502020104020203"/>
              <a:ea typeface="+mn-ea"/>
              <a:cs typeface="Poppins" panose="000005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87807" y="1913706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75" name="Google Shape;475;p16"/>
          <p:cNvSpPr txBox="1"/>
          <p:nvPr/>
        </p:nvSpPr>
        <p:spPr>
          <a:xfrm>
            <a:off x="6233250" y="1880470"/>
            <a:ext cx="4595447" cy="64629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itchFamily="2" charset="77"/>
              </a:rPr>
              <a:t>Department of ECE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099973" y="5511484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Calibri"/>
                <a:cs typeface="Poppins" panose="00000500000000000000" pitchFamily="2" charset="0"/>
                <a:sym typeface="Calibri"/>
              </a:rPr>
              <a:t>Session - </a:t>
            </a:r>
            <a:r>
              <a:rPr lang="en-US" sz="2400" kern="1200" dirty="0">
                <a:solidFill>
                  <a:prstClr val="white"/>
                </a:solidFill>
                <a:latin typeface="Gill Sans MT" panose="020B0502020104020203"/>
                <a:ea typeface="Calibri"/>
                <a:cs typeface="Poppins" panose="00000500000000000000" pitchFamily="2" charset="0"/>
                <a:sym typeface="Calibri"/>
              </a:rPr>
              <a:t>10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Google Shape;476;p16">
            <a:extLst>
              <a:ext uri="{FF2B5EF4-FFF2-40B4-BE49-F238E27FC236}">
                <a16:creationId xmlns:a16="http://schemas.microsoft.com/office/drawing/2014/main" id="{BD962D83-B115-FC20-1289-5B661BED384C}"/>
              </a:ext>
            </a:extLst>
          </p:cNvPr>
          <p:cNvSpPr txBox="1"/>
          <p:nvPr/>
        </p:nvSpPr>
        <p:spPr>
          <a:xfrm>
            <a:off x="7099973" y="859631"/>
            <a:ext cx="247777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all" spc="0" normalizeH="0" baseline="0" noProof="0" dirty="0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  <a:sym typeface="BioRhyme ExtraBold"/>
              </a:rPr>
              <a:t>AY-2025-2026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all" spc="0" normalizeH="0" baseline="0" noProof="0" dirty="0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  <a:sym typeface="BioRhyme ExtraBold"/>
              </a:rPr>
              <a:t>ODD SEM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Gill Sans MT" panose="020B0502020104020203"/>
              <a:ea typeface="+mn-ea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839A5-5633-E116-AFEC-1DF4CABB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Session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3C4F1-2803-C707-E9AA-178504830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0375" indent="-447675">
              <a:lnSpc>
                <a:spcPct val="100000"/>
              </a:lnSpc>
              <a:spcBef>
                <a:spcPts val="775"/>
              </a:spcBef>
              <a:buFont typeface="Wingdings"/>
              <a:buChar char=""/>
              <a:tabLst>
                <a:tab pos="460375" algn="l"/>
              </a:tabLst>
            </a:pPr>
            <a:r>
              <a:rPr lang="en-IN" dirty="0"/>
              <a:t>Design of BJT amplifier</a:t>
            </a:r>
            <a:endParaRPr lang="en-US" sz="2400" dirty="0">
              <a:latin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3BD68-38B6-EBC9-FAD4-A45D129C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ABCCC1-BF11-4F37-963E-1BCD5B23FD72}" type="slidenum">
              <a:rPr kumimoji="0" lang="en-IN" sz="2200" b="0" i="0" u="none" strike="noStrike" kern="1200" cap="none" spc="0" normalizeH="0" baseline="0" noProof="0" smtClean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2200" b="0" i="0" u="none" strike="noStrike" kern="1200" cap="none" spc="0" normalizeH="0" baseline="0" noProof="0">
              <a:ln>
                <a:noFill/>
              </a:ln>
              <a:solidFill>
                <a:srgbClr val="B71E42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1019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1" y="135208"/>
            <a:ext cx="356004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895079" y="533400"/>
            <a:ext cx="11215640" cy="79419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kern="1200" dirty="0">
                <a:solidFill>
                  <a:prstClr val="black"/>
                </a:solidFill>
                <a:latin typeface="Gill Sans MT" panose="020B0502020104020203"/>
                <a:ea typeface="+mn-ea"/>
                <a:cs typeface="+mn-cs"/>
              </a:rPr>
              <a:t>To understand the principles and steps involved in designing BJT amplifiers, and to apply design techniques to achieve desired amplifier specifications such as gain, bandwidth, and stability.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053594" y="1432883"/>
            <a:ext cx="4395589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885748" y="1905000"/>
            <a:ext cx="11224971" cy="175676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The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/>
                <a:cs typeface="Poppins"/>
              </a:rPr>
              <a:t>Session is designed to: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400" kern="1200" dirty="0">
                <a:solidFill>
                  <a:prstClr val="black"/>
                </a:solidFill>
                <a:latin typeface="Poppins"/>
                <a:ea typeface="+mn-ea"/>
                <a:cs typeface="Poppins"/>
              </a:rPr>
              <a:t>Explain the general approach for designing a BJT amplifier.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400" kern="1200" dirty="0">
                <a:solidFill>
                  <a:prstClr val="black"/>
                </a:solidFill>
                <a:latin typeface="Poppins"/>
                <a:ea typeface="+mn-ea"/>
                <a:cs typeface="Poppins"/>
              </a:rPr>
              <a:t>Select appropriate biasing techniques to ensure proper Q-point operation.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400" kern="1200" dirty="0">
                <a:solidFill>
                  <a:prstClr val="black"/>
                </a:solidFill>
                <a:latin typeface="Poppins"/>
                <a:ea typeface="+mn-ea"/>
                <a:cs typeface="Poppins"/>
              </a:rPr>
              <a:t>Design small-signal equivalent models for amplifier analysis.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244592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315972" y="3848473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8652" y="4846140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848877" y="4364708"/>
            <a:ext cx="11196319" cy="131965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At the end of this session, learners will be able to: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400" kern="1200" dirty="0">
                <a:solidFill>
                  <a:prstClr val="black"/>
                </a:solidFill>
                <a:latin typeface="Arial"/>
                <a:ea typeface="+mn-ea"/>
                <a:cs typeface="Arial"/>
              </a:rPr>
              <a:t>Design a BJT amplifier circuit to meet specified requirements.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400" kern="1200" dirty="0">
                <a:solidFill>
                  <a:prstClr val="black"/>
                </a:solidFill>
                <a:latin typeface="Arial"/>
                <a:ea typeface="+mn-ea"/>
                <a:cs typeface="Arial"/>
              </a:rPr>
              <a:t>Determine suitable biasing components for thermal and operating point stability.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79625">
              <a:lnSpc>
                <a:spcPct val="100000"/>
              </a:lnSpc>
              <a:spcBef>
                <a:spcPts val="90"/>
              </a:spcBef>
            </a:pPr>
            <a:r>
              <a:rPr dirty="0"/>
              <a:t>CE</a:t>
            </a:r>
            <a:r>
              <a:rPr spc="-105" dirty="0"/>
              <a:t> </a:t>
            </a:r>
            <a:r>
              <a:rPr dirty="0"/>
              <a:t>Amplifier</a:t>
            </a:r>
            <a:r>
              <a:rPr spc="-80" dirty="0"/>
              <a:t> </a:t>
            </a:r>
            <a:r>
              <a:rPr spc="-10" dirty="0"/>
              <a:t>Circuit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8111" y="1572767"/>
            <a:ext cx="4294632" cy="354890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200515" y="1372870"/>
            <a:ext cx="9620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(output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32753" y="1372870"/>
            <a:ext cx="346456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2540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"/>
              <a:tabLst>
                <a:tab pos="283210" algn="l"/>
                <a:tab pos="1557655" algn="l"/>
                <a:tab pos="1762125" algn="l"/>
                <a:tab pos="2155825" algn="l"/>
              </a:tabLst>
            </a:pPr>
            <a:r>
              <a:rPr sz="2400" spc="-10" dirty="0">
                <a:latin typeface="Calibri"/>
                <a:cs typeface="Calibri"/>
              </a:rPr>
              <a:t>	Collector</a:t>
            </a:r>
            <a:r>
              <a:rPr sz="2400" dirty="0">
                <a:latin typeface="Calibri"/>
                <a:cs typeface="Calibri"/>
              </a:rPr>
              <a:t>		</a:t>
            </a:r>
            <a:r>
              <a:rPr sz="2400" spc="-10" dirty="0">
                <a:latin typeface="Calibri"/>
                <a:cs typeface="Calibri"/>
              </a:rPr>
              <a:t>terminal terminal)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is</a:t>
            </a:r>
            <a:r>
              <a:rPr sz="2400" dirty="0">
                <a:latin typeface="Calibri"/>
                <a:cs typeface="Calibri"/>
              </a:rPr>
              <a:t>		</a:t>
            </a:r>
            <a:r>
              <a:rPr sz="2400" spc="-20" dirty="0">
                <a:latin typeface="Calibri"/>
                <a:cs typeface="Calibri"/>
              </a:rPr>
              <a:t>connected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77170" y="1738325"/>
            <a:ext cx="2851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to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07353" y="2104771"/>
            <a:ext cx="4184650" cy="222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supply</a:t>
            </a:r>
            <a:r>
              <a:rPr sz="2400" spc="565" dirty="0"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voltage</a:t>
            </a:r>
            <a:r>
              <a:rPr sz="2400" spc="5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</a:t>
            </a:r>
            <a:r>
              <a:rPr sz="2400" baseline="-20833" dirty="0">
                <a:latin typeface="Calibri"/>
                <a:cs typeface="Calibri"/>
              </a:rPr>
              <a:t>CC</a:t>
            </a:r>
            <a:r>
              <a:rPr sz="2400" spc="277" baseline="-20833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through</a:t>
            </a:r>
            <a:r>
              <a:rPr sz="2400" spc="5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collector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resistor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R</a:t>
            </a:r>
            <a:r>
              <a:rPr sz="2400" spc="-37" baseline="-20833" dirty="0">
                <a:latin typeface="Calibri"/>
                <a:cs typeface="Calibri"/>
              </a:rPr>
              <a:t>C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38100" marR="30480" indent="-2540" algn="just">
              <a:lnSpc>
                <a:spcPct val="100000"/>
              </a:lnSpc>
              <a:buSzPct val="95833"/>
              <a:buFont typeface="Wingdings"/>
              <a:buChar char=""/>
              <a:tabLst>
                <a:tab pos="308610" algn="l"/>
              </a:tabLst>
            </a:pPr>
            <a:r>
              <a:rPr sz="2400" dirty="0">
                <a:latin typeface="Calibri"/>
                <a:cs typeface="Calibri"/>
              </a:rPr>
              <a:t>	Base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terminal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provided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with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signal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needs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be </a:t>
            </a:r>
            <a:r>
              <a:rPr sz="2400" spc="-10" dirty="0">
                <a:latin typeface="Calibri"/>
                <a:cs typeface="Calibri"/>
              </a:rPr>
              <a:t>amplified.</a:t>
            </a:r>
            <a:endParaRPr sz="2400">
              <a:latin typeface="Calibri"/>
              <a:cs typeface="Calibri"/>
            </a:endParaRPr>
          </a:p>
          <a:p>
            <a:pPr marL="308610" indent="-273050" algn="just">
              <a:lnSpc>
                <a:spcPct val="100000"/>
              </a:lnSpc>
              <a:spcBef>
                <a:spcPts val="5"/>
              </a:spcBef>
              <a:buSzPct val="95833"/>
              <a:buFont typeface="Wingdings"/>
              <a:buChar char=""/>
              <a:tabLst>
                <a:tab pos="308610" algn="l"/>
              </a:tabLst>
            </a:pPr>
            <a:r>
              <a:rPr sz="2400" dirty="0">
                <a:latin typeface="Calibri"/>
                <a:cs typeface="Calibri"/>
              </a:rPr>
              <a:t>Emitter</a:t>
            </a:r>
            <a:r>
              <a:rPr sz="2400" spc="4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terminal</a:t>
            </a:r>
            <a:r>
              <a:rPr sz="2400" spc="7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5" dirty="0">
                <a:latin typeface="Calibri"/>
                <a:cs typeface="Calibri"/>
              </a:rPr>
              <a:t>  </a:t>
            </a:r>
            <a:r>
              <a:rPr sz="2400" spc="-10" dirty="0">
                <a:latin typeface="Calibri"/>
                <a:cs typeface="Calibri"/>
              </a:rPr>
              <a:t>grounded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18803" y="4300220"/>
            <a:ext cx="9467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8265">
              <a:lnSpc>
                <a:spcPct val="100000"/>
              </a:lnSpc>
              <a:spcBef>
                <a:spcPts val="100"/>
              </a:spcBef>
              <a:tabLst>
                <a:tab pos="667385" algn="l"/>
              </a:tabLst>
            </a:pPr>
            <a:r>
              <a:rPr sz="2400" spc="-25" dirty="0">
                <a:latin typeface="Calibri"/>
                <a:cs typeface="Calibri"/>
              </a:rPr>
              <a:t>to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as </a:t>
            </a:r>
            <a:r>
              <a:rPr sz="2400" spc="-10" dirty="0">
                <a:latin typeface="Calibri"/>
                <a:cs typeface="Calibri"/>
              </a:rPr>
              <a:t>Emitter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32753" y="4300220"/>
            <a:ext cx="299275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167765" algn="l"/>
                <a:tab pos="1969770" algn="l"/>
              </a:tabLst>
            </a:pPr>
            <a:r>
              <a:rPr sz="2400" spc="-10" dirty="0">
                <a:latin typeface="Calibri"/>
                <a:cs typeface="Calibri"/>
              </a:rPr>
              <a:t>(hence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also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30" dirty="0">
                <a:latin typeface="Calibri"/>
                <a:cs typeface="Calibri"/>
              </a:rPr>
              <a:t>referred </a:t>
            </a:r>
            <a:r>
              <a:rPr sz="2400" spc="-10" dirty="0">
                <a:latin typeface="Calibri"/>
                <a:cs typeface="Calibri"/>
              </a:rPr>
              <a:t>Grounded configuration).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255" y="5215128"/>
            <a:ext cx="2804160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79625">
              <a:lnSpc>
                <a:spcPct val="100000"/>
              </a:lnSpc>
              <a:spcBef>
                <a:spcPts val="90"/>
              </a:spcBef>
            </a:pPr>
            <a:r>
              <a:rPr dirty="0"/>
              <a:t>CE</a:t>
            </a:r>
            <a:r>
              <a:rPr spc="-105" dirty="0"/>
              <a:t> </a:t>
            </a:r>
            <a:r>
              <a:rPr dirty="0"/>
              <a:t>Amplifier</a:t>
            </a:r>
            <a:r>
              <a:rPr spc="-80" dirty="0"/>
              <a:t> </a:t>
            </a:r>
            <a:r>
              <a:rPr spc="-10" dirty="0"/>
              <a:t>Circuit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8111" y="1572767"/>
            <a:ext cx="4294632" cy="354890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905753" y="1372870"/>
            <a:ext cx="4499610" cy="4050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0" marR="102870" indent="-2540" algn="just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"/>
              <a:tabLst>
                <a:tab pos="410209" algn="l"/>
              </a:tabLst>
            </a:pPr>
            <a:r>
              <a:rPr sz="2400" dirty="0">
                <a:latin typeface="Calibri"/>
                <a:cs typeface="Calibri"/>
              </a:rPr>
              <a:t>	In</a:t>
            </a:r>
            <a:r>
              <a:rPr sz="2400" spc="2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kind</a:t>
            </a:r>
            <a:r>
              <a:rPr sz="2400" spc="2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arrangement,</a:t>
            </a:r>
            <a:r>
              <a:rPr sz="2400" spc="2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as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voltage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</a:t>
            </a:r>
            <a:r>
              <a:rPr sz="2400" baseline="-20833" dirty="0">
                <a:latin typeface="Calibri"/>
                <a:cs typeface="Calibri"/>
              </a:rPr>
              <a:t>i</a:t>
            </a:r>
            <a:r>
              <a:rPr sz="2400" spc="315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increases,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base</a:t>
            </a:r>
            <a:r>
              <a:rPr sz="2400" spc="34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current</a:t>
            </a:r>
            <a:r>
              <a:rPr sz="2400" spc="35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baseline="-20833" dirty="0">
                <a:latin typeface="Calibri"/>
                <a:cs typeface="Calibri"/>
              </a:rPr>
              <a:t>B</a:t>
            </a:r>
            <a:r>
              <a:rPr sz="2400" spc="337" baseline="-20833" dirty="0">
                <a:latin typeface="Calibri"/>
                <a:cs typeface="Calibri"/>
              </a:rPr>
              <a:t>  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325" dirty="0">
                <a:latin typeface="Calibri"/>
                <a:cs typeface="Calibri"/>
              </a:rPr>
              <a:t>  </a:t>
            </a:r>
            <a:r>
              <a:rPr sz="2400" spc="-10" dirty="0">
                <a:latin typeface="Calibri"/>
                <a:cs typeface="Calibri"/>
              </a:rPr>
              <a:t>increases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225" dirty="0">
                <a:latin typeface="Calibri"/>
                <a:cs typeface="Calibri"/>
              </a:rPr>
              <a:t>  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59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turn</a:t>
            </a:r>
            <a:r>
              <a:rPr sz="2400" spc="220" dirty="0">
                <a:latin typeface="Calibri"/>
                <a:cs typeface="Calibri"/>
              </a:rPr>
              <a:t>   </a:t>
            </a:r>
            <a:r>
              <a:rPr sz="2400" dirty="0">
                <a:latin typeface="Calibri"/>
                <a:cs typeface="Calibri"/>
              </a:rPr>
              <a:t>increases</a:t>
            </a:r>
            <a:r>
              <a:rPr sz="2400" spc="220" dirty="0">
                <a:latin typeface="Calibri"/>
                <a:cs typeface="Calibri"/>
              </a:rPr>
              <a:t>  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collector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current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</a:t>
            </a:r>
            <a:r>
              <a:rPr sz="2400" spc="-37" baseline="-20833" dirty="0">
                <a:latin typeface="Calibri"/>
                <a:cs typeface="Calibri"/>
              </a:rPr>
              <a:t>C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139700" marR="101600" indent="-1905" algn="just">
              <a:lnSpc>
                <a:spcPct val="100000"/>
              </a:lnSpc>
              <a:spcBef>
                <a:spcPts val="5"/>
              </a:spcBef>
              <a:buSzPct val="95833"/>
              <a:buFont typeface="Wingdings"/>
              <a:buChar char=""/>
              <a:tabLst>
                <a:tab pos="410845" algn="l"/>
              </a:tabLst>
            </a:pPr>
            <a:r>
              <a:rPr sz="2400" dirty="0">
                <a:latin typeface="Calibri"/>
                <a:cs typeface="Calibri"/>
              </a:rPr>
              <a:t>	This</a:t>
            </a:r>
            <a:r>
              <a:rPr sz="2400" spc="4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causes</a:t>
            </a:r>
            <a:r>
              <a:rPr sz="2400" spc="4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4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increase</a:t>
            </a:r>
            <a:r>
              <a:rPr sz="2400" spc="45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4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voltage</a:t>
            </a:r>
            <a:r>
              <a:rPr sz="2400" u="sng" spc="37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4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drop</a:t>
            </a:r>
            <a:r>
              <a:rPr sz="2400" spc="3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across</a:t>
            </a:r>
            <a:r>
              <a:rPr sz="2400" spc="3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collector </a:t>
            </a:r>
            <a:r>
              <a:rPr sz="2400" dirty="0">
                <a:latin typeface="Calibri"/>
                <a:cs typeface="Calibri"/>
              </a:rPr>
              <a:t>resistor,</a:t>
            </a:r>
            <a:r>
              <a:rPr sz="2400" spc="23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R</a:t>
            </a:r>
            <a:r>
              <a:rPr sz="2400" baseline="-20833" dirty="0">
                <a:latin typeface="Calibri"/>
                <a:cs typeface="Calibri"/>
              </a:rPr>
              <a:t>C</a:t>
            </a:r>
            <a:r>
              <a:rPr sz="2400" spc="637" baseline="-20833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229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results</a:t>
            </a:r>
            <a:r>
              <a:rPr sz="2400" spc="24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240" dirty="0">
                <a:latin typeface="Calibri"/>
                <a:cs typeface="Calibri"/>
              </a:rPr>
              <a:t>  </a:t>
            </a:r>
            <a:r>
              <a:rPr sz="2400" spc="-50" dirty="0">
                <a:latin typeface="Calibri"/>
                <a:cs typeface="Calibri"/>
              </a:rPr>
              <a:t>a </a:t>
            </a:r>
            <a:r>
              <a:rPr sz="2400" dirty="0">
                <a:latin typeface="Calibri"/>
                <a:cs typeface="Calibri"/>
              </a:rPr>
              <a:t>decreased</a:t>
            </a:r>
            <a:r>
              <a:rPr sz="2400" spc="8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9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voltage</a:t>
            </a:r>
            <a:r>
              <a:rPr sz="2400" spc="9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V</a:t>
            </a:r>
            <a:r>
              <a:rPr sz="2400" baseline="-20833" dirty="0">
                <a:latin typeface="Calibri"/>
                <a:cs typeface="Calibri"/>
              </a:rPr>
              <a:t>0</a:t>
            </a:r>
            <a:r>
              <a:rPr sz="2400" spc="397" baseline="-20833" dirty="0">
                <a:latin typeface="Calibri"/>
                <a:cs typeface="Calibri"/>
              </a:rPr>
              <a:t>  </a:t>
            </a:r>
            <a:r>
              <a:rPr sz="2400" spc="-25" dirty="0">
                <a:latin typeface="Calibri"/>
                <a:cs typeface="Calibri"/>
              </a:rPr>
              <a:t>as </a:t>
            </a:r>
            <a:r>
              <a:rPr sz="2400" dirty="0">
                <a:latin typeface="Calibri"/>
                <a:cs typeface="Calibri"/>
              </a:rPr>
              <a:t>emphasized</a:t>
            </a:r>
            <a:r>
              <a:rPr sz="2400" spc="229" dirty="0">
                <a:latin typeface="Calibri"/>
                <a:cs typeface="Calibri"/>
              </a:rPr>
              <a:t>  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240" dirty="0">
                <a:latin typeface="Calibri"/>
                <a:cs typeface="Calibri"/>
              </a:rPr>
              <a:t>  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35" dirty="0">
                <a:latin typeface="Calibri"/>
                <a:cs typeface="Calibri"/>
              </a:rPr>
              <a:t>   </a:t>
            </a:r>
            <a:r>
              <a:rPr sz="2400" spc="-10" dirty="0">
                <a:latin typeface="Calibri"/>
                <a:cs typeface="Calibri"/>
              </a:rPr>
              <a:t>following relationship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52615" y="5428488"/>
            <a:ext cx="2804160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6614" y="465200"/>
            <a:ext cx="4397375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CE</a:t>
            </a:r>
            <a:r>
              <a:rPr spc="-105" dirty="0"/>
              <a:t> </a:t>
            </a:r>
            <a:r>
              <a:rPr dirty="0"/>
              <a:t>Amplifier</a:t>
            </a:r>
            <a:r>
              <a:rPr spc="-80" dirty="0"/>
              <a:t> </a:t>
            </a:r>
            <a:r>
              <a:rPr spc="-10" dirty="0"/>
              <a:t>Circuit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8111" y="1572767"/>
            <a:ext cx="4294632" cy="354890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981953" y="1086992"/>
            <a:ext cx="5234940" cy="5514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 marR="57785" indent="-2540" algn="just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"/>
              <a:tabLst>
                <a:tab pos="334010" algn="l"/>
              </a:tabLst>
            </a:pPr>
            <a:r>
              <a:rPr sz="2400" dirty="0">
                <a:latin typeface="Calibri"/>
                <a:cs typeface="Calibri"/>
              </a:rPr>
              <a:t>	Similarly</a:t>
            </a:r>
            <a:r>
              <a:rPr sz="2400" spc="2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2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voltage</a:t>
            </a:r>
            <a:r>
              <a:rPr sz="2400" spc="2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goes</a:t>
            </a:r>
            <a:r>
              <a:rPr sz="2400" spc="2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on </a:t>
            </a:r>
            <a:r>
              <a:rPr sz="2400" dirty="0">
                <a:latin typeface="Calibri"/>
                <a:cs typeface="Calibri"/>
              </a:rPr>
              <a:t>decreasing,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baseline="-20833" dirty="0">
                <a:latin typeface="Calibri"/>
                <a:cs typeface="Calibri"/>
              </a:rPr>
              <a:t>B</a:t>
            </a:r>
            <a:r>
              <a:rPr sz="2400" spc="209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hence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baseline="-20833" dirty="0">
                <a:latin typeface="Calibri"/>
                <a:cs typeface="Calibri"/>
              </a:rPr>
              <a:t>C</a:t>
            </a:r>
            <a:r>
              <a:rPr sz="2400" spc="225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decrease,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due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voltage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drop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across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</a:t>
            </a:r>
            <a:r>
              <a:rPr sz="2400" baseline="-20833" dirty="0">
                <a:latin typeface="Calibri"/>
                <a:cs typeface="Calibri"/>
              </a:rPr>
              <a:t>C</a:t>
            </a:r>
            <a:r>
              <a:rPr sz="2400" spc="487" baseline="-20833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also </a:t>
            </a:r>
            <a:r>
              <a:rPr sz="2400" dirty="0">
                <a:latin typeface="Calibri"/>
                <a:cs typeface="Calibri"/>
              </a:rPr>
              <a:t>decreases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thereby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increasing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output voltage.</a:t>
            </a:r>
            <a:endParaRPr sz="2400">
              <a:latin typeface="Calibri"/>
              <a:cs typeface="Calibri"/>
            </a:endParaRPr>
          </a:p>
          <a:p>
            <a:pPr marL="63500" marR="55880" indent="-1905" algn="just">
              <a:lnSpc>
                <a:spcPct val="100000"/>
              </a:lnSpc>
              <a:spcBef>
                <a:spcPts val="5"/>
              </a:spcBef>
              <a:buSzPct val="95833"/>
              <a:buFont typeface="Wingdings"/>
              <a:buChar char=""/>
              <a:tabLst>
                <a:tab pos="334645" algn="l"/>
              </a:tabLst>
            </a:pPr>
            <a:r>
              <a:rPr sz="2400" dirty="0">
                <a:latin typeface="Calibri"/>
                <a:cs typeface="Calibri"/>
              </a:rPr>
              <a:t>	This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indicates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positive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half- </a:t>
            </a:r>
            <a:r>
              <a:rPr sz="2400" dirty="0">
                <a:latin typeface="Calibri"/>
                <a:cs typeface="Calibri"/>
              </a:rPr>
              <a:t>cycle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waveform,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would </a:t>
            </a:r>
            <a:r>
              <a:rPr sz="2400" dirty="0">
                <a:latin typeface="Calibri"/>
                <a:cs typeface="Calibri"/>
              </a:rPr>
              <a:t>get</a:t>
            </a:r>
            <a:r>
              <a:rPr sz="2400" spc="5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amplified</a:t>
            </a:r>
            <a:r>
              <a:rPr sz="2400" spc="5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negative</a:t>
            </a:r>
            <a:r>
              <a:rPr sz="2400" spc="30" dirty="0">
                <a:latin typeface="Calibri"/>
                <a:cs typeface="Calibri"/>
              </a:rPr>
              <a:t>  </a:t>
            </a:r>
            <a:r>
              <a:rPr sz="2400" spc="-10" dirty="0">
                <a:latin typeface="Calibri"/>
                <a:cs typeface="Calibri"/>
              </a:rPr>
              <a:t>half-</a:t>
            </a:r>
            <a:r>
              <a:rPr sz="2400" dirty="0">
                <a:latin typeface="Calibri"/>
                <a:cs typeface="Calibri"/>
              </a:rPr>
              <a:t>cycle</a:t>
            </a:r>
            <a:r>
              <a:rPr sz="2400" spc="40" dirty="0">
                <a:latin typeface="Calibri"/>
                <a:cs typeface="Calibri"/>
              </a:rPr>
              <a:t>  </a:t>
            </a:r>
            <a:r>
              <a:rPr sz="2400" spc="-10" dirty="0">
                <a:latin typeface="Calibri"/>
                <a:cs typeface="Calibri"/>
              </a:rPr>
              <a:t>while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negative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pulse,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output </a:t>
            </a:r>
            <a:r>
              <a:rPr sz="2400" dirty="0">
                <a:latin typeface="Calibri"/>
                <a:cs typeface="Calibri"/>
              </a:rPr>
              <a:t>would</a:t>
            </a:r>
            <a:r>
              <a:rPr sz="2400" spc="22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22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22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amplified</a:t>
            </a:r>
            <a:r>
              <a:rPr sz="2400" spc="22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positive</a:t>
            </a:r>
            <a:r>
              <a:rPr sz="2400" spc="225" dirty="0">
                <a:latin typeface="Calibri"/>
                <a:cs typeface="Calibri"/>
              </a:rPr>
              <a:t>  </a:t>
            </a:r>
            <a:r>
              <a:rPr sz="2400" spc="-10" dirty="0">
                <a:latin typeface="Calibri"/>
                <a:cs typeface="Calibri"/>
              </a:rPr>
              <a:t>pulse. </a:t>
            </a:r>
            <a:r>
              <a:rPr sz="2400" dirty="0">
                <a:latin typeface="Calibri"/>
                <a:cs typeface="Calibri"/>
              </a:rPr>
              <a:t>Hence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exists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phase-</a:t>
            </a:r>
            <a:r>
              <a:rPr sz="2400" dirty="0">
                <a:latin typeface="Calibri"/>
                <a:cs typeface="Calibri"/>
              </a:rPr>
              <a:t>shift</a:t>
            </a:r>
            <a:r>
              <a:rPr sz="2400" spc="2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180</a:t>
            </a:r>
            <a:r>
              <a:rPr sz="2400" spc="-30" baseline="24305" dirty="0">
                <a:latin typeface="Calibri"/>
                <a:cs typeface="Calibri"/>
              </a:rPr>
              <a:t>o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39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8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39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37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75" dirty="0">
                <a:latin typeface="Calibri"/>
                <a:cs typeface="Calibri"/>
              </a:rPr>
              <a:t>  </a:t>
            </a:r>
            <a:r>
              <a:rPr sz="2400" spc="-10" dirty="0">
                <a:latin typeface="Calibri"/>
                <a:cs typeface="Calibri"/>
              </a:rPr>
              <a:t>output </a:t>
            </a:r>
            <a:r>
              <a:rPr sz="2400" dirty="0">
                <a:latin typeface="Calibri"/>
                <a:cs typeface="Calibri"/>
              </a:rPr>
              <a:t>waveforms</a:t>
            </a:r>
            <a:r>
              <a:rPr sz="2400" spc="42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42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20" dirty="0">
                <a:latin typeface="Calibri"/>
                <a:cs typeface="Calibri"/>
              </a:rPr>
              <a:t>  </a:t>
            </a:r>
            <a:r>
              <a:rPr sz="2400" b="1" dirty="0">
                <a:latin typeface="Calibri"/>
                <a:cs typeface="Calibri"/>
              </a:rPr>
              <a:t>common</a:t>
            </a:r>
            <a:r>
              <a:rPr sz="2400" b="1" spc="445" dirty="0">
                <a:latin typeface="Calibri"/>
                <a:cs typeface="Calibri"/>
              </a:rPr>
              <a:t>  </a:t>
            </a:r>
            <a:r>
              <a:rPr sz="2400" b="1" spc="-10" dirty="0">
                <a:latin typeface="Calibri"/>
                <a:cs typeface="Calibri"/>
              </a:rPr>
              <a:t>emitter </a:t>
            </a:r>
            <a:r>
              <a:rPr sz="2400" b="1" dirty="0">
                <a:latin typeface="Calibri"/>
                <a:cs typeface="Calibri"/>
              </a:rPr>
              <a:t>amplifier</a:t>
            </a:r>
            <a:r>
              <a:rPr sz="2400" b="1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referred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Inverting</a:t>
            </a:r>
            <a:r>
              <a:rPr sz="2400" u="sng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4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Amplifier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255" y="5215128"/>
            <a:ext cx="2804160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6614" y="465200"/>
            <a:ext cx="4397375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CE</a:t>
            </a:r>
            <a:r>
              <a:rPr spc="-105" dirty="0"/>
              <a:t> </a:t>
            </a:r>
            <a:r>
              <a:rPr dirty="0"/>
              <a:t>Amplifier</a:t>
            </a:r>
            <a:r>
              <a:rPr spc="-80" dirty="0"/>
              <a:t> </a:t>
            </a:r>
            <a:r>
              <a:rPr spc="-10" dirty="0"/>
              <a:t>Circuit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67383" y="1143000"/>
            <a:ext cx="6998334" cy="4715510"/>
            <a:chOff x="1167383" y="1143000"/>
            <a:chExt cx="6998334" cy="47155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5167" y="1143000"/>
              <a:ext cx="6178296" cy="47152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79592" y="3715511"/>
              <a:ext cx="2286000" cy="189585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7383" y="4072127"/>
              <a:ext cx="2039112" cy="856488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319009" y="1090041"/>
            <a:ext cx="3558540" cy="27686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38125" indent="-227329" algn="just">
              <a:lnSpc>
                <a:spcPct val="100000"/>
              </a:lnSpc>
              <a:spcBef>
                <a:spcPts val="90"/>
              </a:spcBef>
              <a:buSzPct val="95000"/>
              <a:buFont typeface="Wingdings"/>
              <a:buChar char=""/>
              <a:tabLst>
                <a:tab pos="238125" algn="l"/>
              </a:tabLst>
            </a:pPr>
            <a:r>
              <a:rPr sz="2000" b="1" dirty="0">
                <a:latin typeface="Calibri"/>
                <a:cs typeface="Calibri"/>
              </a:rPr>
              <a:t>R1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R2</a:t>
            </a:r>
            <a:r>
              <a:rPr sz="2000" spc="-20" dirty="0">
                <a:latin typeface="Calibri"/>
                <a:cs typeface="Calibri"/>
              </a:rPr>
              <a:t>-</a:t>
            </a:r>
            <a:r>
              <a:rPr sz="2000" spc="-10" dirty="0">
                <a:latin typeface="Calibri"/>
                <a:cs typeface="Calibri"/>
              </a:rPr>
              <a:t>Voltage</a:t>
            </a:r>
            <a:r>
              <a:rPr sz="2000" dirty="0">
                <a:latin typeface="Calibri"/>
                <a:cs typeface="Calibri"/>
              </a:rPr>
              <a:t> Divider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Bias</a:t>
            </a:r>
            <a:endParaRPr sz="2000">
              <a:latin typeface="Calibri"/>
              <a:cs typeface="Calibri"/>
            </a:endParaRPr>
          </a:p>
          <a:p>
            <a:pPr marL="356870" marR="5080" indent="-344805" algn="just">
              <a:lnSpc>
                <a:spcPct val="100000"/>
              </a:lnSpc>
              <a:buSzPct val="95000"/>
              <a:buFont typeface="Wingdings"/>
              <a:buChar char=""/>
              <a:tabLst>
                <a:tab pos="356870" algn="l"/>
              </a:tabLst>
            </a:pPr>
            <a:r>
              <a:rPr sz="2000" dirty="0">
                <a:latin typeface="Calibri"/>
                <a:cs typeface="Calibri"/>
              </a:rPr>
              <a:t>Ci</a:t>
            </a:r>
            <a:r>
              <a:rPr sz="2000" spc="48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25" dirty="0">
                <a:latin typeface="Calibri"/>
                <a:cs typeface="Calibri"/>
              </a:rPr>
              <a:t>  </a:t>
            </a:r>
            <a:r>
              <a:rPr sz="2000" spc="-10" dirty="0">
                <a:latin typeface="Calibri"/>
                <a:cs typeface="Calibri"/>
              </a:rPr>
              <a:t>Co-</a:t>
            </a:r>
            <a:r>
              <a:rPr sz="2000" dirty="0">
                <a:latin typeface="Calibri"/>
                <a:cs typeface="Calibri"/>
              </a:rPr>
              <a:t>Coupling</a:t>
            </a:r>
            <a:r>
              <a:rPr sz="2000" spc="30" dirty="0">
                <a:latin typeface="Calibri"/>
                <a:cs typeface="Calibri"/>
              </a:rPr>
              <a:t>  </a:t>
            </a:r>
            <a:r>
              <a:rPr sz="2000" spc="-10" dirty="0">
                <a:latin typeface="Calibri"/>
                <a:cs typeface="Calibri"/>
              </a:rPr>
              <a:t>Capacitor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blocks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any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DC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Components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45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passes</a:t>
            </a:r>
            <a:r>
              <a:rPr sz="2000" spc="44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AC</a:t>
            </a:r>
            <a:r>
              <a:rPr sz="2000" spc="44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Signal</a:t>
            </a:r>
            <a:r>
              <a:rPr sz="2000" spc="445" dirty="0">
                <a:latin typeface="Calibri"/>
                <a:cs typeface="Calibri"/>
              </a:rPr>
              <a:t>  </a:t>
            </a:r>
            <a:r>
              <a:rPr sz="2000" spc="-25" dirty="0">
                <a:latin typeface="Calibri"/>
                <a:cs typeface="Calibri"/>
              </a:rPr>
              <a:t>for </a:t>
            </a:r>
            <a:r>
              <a:rPr sz="2000" spc="-10" dirty="0">
                <a:latin typeface="Calibri"/>
                <a:cs typeface="Calibri"/>
              </a:rPr>
              <a:t>Amplification</a:t>
            </a:r>
            <a:endParaRPr sz="2000">
              <a:latin typeface="Calibri"/>
              <a:cs typeface="Calibri"/>
            </a:endParaRPr>
          </a:p>
          <a:p>
            <a:pPr marL="356870" indent="-344170" algn="just">
              <a:lnSpc>
                <a:spcPct val="100000"/>
              </a:lnSpc>
              <a:spcBef>
                <a:spcPts val="5"/>
              </a:spcBef>
              <a:buSzPct val="95000"/>
              <a:buFont typeface="Wingdings"/>
              <a:buChar char=""/>
              <a:tabLst>
                <a:tab pos="356870" algn="l"/>
              </a:tabLst>
            </a:pPr>
            <a:r>
              <a:rPr sz="2000" dirty="0">
                <a:latin typeface="Calibri"/>
                <a:cs typeface="Calibri"/>
              </a:rPr>
              <a:t>Rc</a:t>
            </a:r>
            <a:r>
              <a:rPr sz="2000" spc="459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46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Controlling</a:t>
            </a:r>
            <a:r>
              <a:rPr sz="2000" spc="46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Ic</a:t>
            </a:r>
            <a:r>
              <a:rPr sz="2000" spc="459" dirty="0">
                <a:latin typeface="Calibri"/>
                <a:cs typeface="Calibri"/>
              </a:rPr>
              <a:t>  </a:t>
            </a:r>
            <a:r>
              <a:rPr sz="2000" spc="-25" dirty="0"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  <a:p>
            <a:pPr marL="356870" algn="just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Provide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Output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Voltage.</a:t>
            </a:r>
            <a:endParaRPr sz="2000">
              <a:latin typeface="Calibri"/>
              <a:cs typeface="Calibri"/>
            </a:endParaRPr>
          </a:p>
          <a:p>
            <a:pPr marL="356870" indent="-344170" algn="just">
              <a:lnSpc>
                <a:spcPct val="100000"/>
              </a:lnSpc>
              <a:spcBef>
                <a:spcPts val="5"/>
              </a:spcBef>
              <a:buSzPct val="95000"/>
              <a:buFont typeface="Wingdings"/>
              <a:buChar char=""/>
              <a:tabLst>
                <a:tab pos="356870" algn="l"/>
                <a:tab pos="1277620" algn="l"/>
                <a:tab pos="2816860" algn="l"/>
              </a:tabLst>
            </a:pPr>
            <a:r>
              <a:rPr sz="2000" spc="-25" dirty="0">
                <a:latin typeface="Calibri"/>
                <a:cs typeface="Calibri"/>
              </a:rPr>
              <a:t>RE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provides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biasing</a:t>
            </a:r>
            <a:endParaRPr sz="2000">
              <a:latin typeface="Calibri"/>
              <a:cs typeface="Calibri"/>
            </a:endParaRPr>
          </a:p>
          <a:p>
            <a:pPr marL="35687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stabilization.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41969" y="3834510"/>
            <a:ext cx="273304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113155" algn="l"/>
                <a:tab pos="1704339" algn="l"/>
              </a:tabLst>
            </a:pPr>
            <a:r>
              <a:rPr sz="2000" spc="-10" dirty="0">
                <a:latin typeface="Calibri"/>
                <a:cs typeface="Calibri"/>
              </a:rPr>
              <a:t>provides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low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reactance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61680" y="4139006"/>
            <a:ext cx="251714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4025" algn="l"/>
                <a:tab pos="1024255" algn="l"/>
                <a:tab pos="2222500" algn="l"/>
              </a:tabLst>
            </a:pPr>
            <a:r>
              <a:rPr sz="2000" spc="-25" dirty="0">
                <a:latin typeface="Calibri"/>
                <a:cs typeface="Calibri"/>
              </a:rPr>
              <a:t>to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the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amplified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AC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19009" y="3834510"/>
            <a:ext cx="1022350" cy="939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0"/>
              </a:spcBef>
              <a:buFont typeface="Wingdings"/>
              <a:buChar char=""/>
              <a:tabLst>
                <a:tab pos="356870" algn="l"/>
              </a:tabLst>
            </a:pPr>
            <a:r>
              <a:rPr sz="2000" spc="-25" dirty="0">
                <a:latin typeface="Calibri"/>
                <a:cs typeface="Calibri"/>
              </a:rPr>
              <a:t>CE</a:t>
            </a:r>
            <a:endParaRPr sz="2000">
              <a:latin typeface="Calibri"/>
              <a:cs typeface="Calibri"/>
            </a:endParaRPr>
          </a:p>
          <a:p>
            <a:pPr marL="356870">
              <a:lnSpc>
                <a:spcPct val="100000"/>
              </a:lnSpc>
            </a:pPr>
            <a:r>
              <a:rPr sz="2000" spc="-20" dirty="0">
                <a:latin typeface="Calibri"/>
                <a:cs typeface="Calibri"/>
              </a:rPr>
              <a:t>path</a:t>
            </a:r>
            <a:endParaRPr sz="2000">
              <a:latin typeface="Calibri"/>
              <a:cs typeface="Calibri"/>
            </a:endParaRPr>
          </a:p>
          <a:p>
            <a:pPr marL="35687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signal.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63750">
              <a:lnSpc>
                <a:spcPct val="100000"/>
              </a:lnSpc>
              <a:spcBef>
                <a:spcPts val="90"/>
              </a:spcBef>
            </a:pPr>
            <a:r>
              <a:rPr dirty="0"/>
              <a:t>CB</a:t>
            </a:r>
            <a:r>
              <a:rPr spc="-105" dirty="0"/>
              <a:t> </a:t>
            </a:r>
            <a:r>
              <a:rPr dirty="0"/>
              <a:t>Amplifier</a:t>
            </a:r>
            <a:r>
              <a:rPr spc="-60" dirty="0"/>
              <a:t> </a:t>
            </a:r>
            <a:r>
              <a:rPr spc="-10" dirty="0"/>
              <a:t>Circuit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7616" y="1648967"/>
            <a:ext cx="9906375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CC</a:t>
            </a:r>
            <a:r>
              <a:rPr spc="-165" dirty="0"/>
              <a:t> </a:t>
            </a:r>
            <a:r>
              <a:rPr dirty="0"/>
              <a:t>Amplifier</a:t>
            </a:r>
            <a:r>
              <a:rPr spc="-165" dirty="0"/>
              <a:t> </a:t>
            </a:r>
            <a:r>
              <a:rPr spc="-10" dirty="0"/>
              <a:t>Circuit(Emitter</a:t>
            </a:r>
            <a:r>
              <a:rPr spc="-75" dirty="0"/>
              <a:t> </a:t>
            </a:r>
            <a:r>
              <a:rPr spc="-10" dirty="0"/>
              <a:t>Follower)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4198" y="1599985"/>
            <a:ext cx="5940787" cy="41820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2067312"/>
            <a:ext cx="9067800" cy="3419088"/>
            <a:chOff x="2340352" y="2286000"/>
            <a:chExt cx="3952875" cy="29692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40352" y="2286000"/>
              <a:ext cx="3952627" cy="28834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30623" y="5108448"/>
              <a:ext cx="195072" cy="146303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2639377" y="6013229"/>
            <a:ext cx="6913245" cy="594393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32105" indent="-319405">
              <a:spcBef>
                <a:spcPts val="215"/>
              </a:spcBef>
              <a:buAutoNum type="alphaLcParenBoth"/>
              <a:tabLst>
                <a:tab pos="332105" algn="l"/>
              </a:tabLst>
            </a:pPr>
            <a:r>
              <a:rPr b="1" dirty="0">
                <a:latin typeface="Times New Roman"/>
                <a:cs typeface="Times New Roman"/>
              </a:rPr>
              <a:t>Gain</a:t>
            </a:r>
            <a:r>
              <a:rPr b="1" spc="-5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vs.</a:t>
            </a:r>
            <a:r>
              <a:rPr b="1" spc="-7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frequency</a:t>
            </a:r>
            <a:r>
              <a:rPr b="1" spc="5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for</a:t>
            </a:r>
            <a:r>
              <a:rPr b="1" spc="2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</a:t>
            </a:r>
            <a:r>
              <a:rPr b="1" spc="355" dirty="0">
                <a:latin typeface="Times New Roman"/>
                <a:cs typeface="Times New Roman"/>
              </a:rPr>
              <a:t> </a:t>
            </a:r>
            <a:r>
              <a:rPr b="1" spc="-80" dirty="0">
                <a:latin typeface="Times New Roman"/>
                <a:cs typeface="Times New Roman"/>
              </a:rPr>
              <a:t>CE</a:t>
            </a:r>
            <a:r>
              <a:rPr b="1" spc="-26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amplifier</a:t>
            </a:r>
            <a:endParaRPr dirty="0">
              <a:latin typeface="Times New Roman"/>
              <a:cs typeface="Times New Roman"/>
            </a:endParaRPr>
          </a:p>
          <a:p>
            <a:pPr marL="349885" indent="-337185">
              <a:spcBef>
                <a:spcPts val="120"/>
              </a:spcBef>
              <a:buAutoNum type="alphaLcParenBoth"/>
              <a:tabLst>
                <a:tab pos="349885" algn="l"/>
              </a:tabLst>
            </a:pPr>
            <a:r>
              <a:rPr b="1" spc="-55" dirty="0">
                <a:latin typeface="Times New Roman"/>
                <a:cs typeface="Times New Roman"/>
              </a:rPr>
              <a:t>Phase</a:t>
            </a:r>
            <a:r>
              <a:rPr b="1" spc="-22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angle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vs.</a:t>
            </a:r>
            <a:r>
              <a:rPr b="1" spc="-7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frequency</a:t>
            </a:r>
            <a:r>
              <a:rPr b="1" spc="10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for</a:t>
            </a:r>
            <a:r>
              <a:rPr b="1" spc="3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</a:t>
            </a:r>
            <a:r>
              <a:rPr b="1" spc="95" dirty="0">
                <a:latin typeface="Times New Roman"/>
                <a:cs typeface="Times New Roman"/>
              </a:rPr>
              <a:t> </a:t>
            </a:r>
            <a:r>
              <a:rPr b="1" spc="-75" dirty="0">
                <a:latin typeface="Times New Roman"/>
                <a:cs typeface="Times New Roman"/>
              </a:rPr>
              <a:t>CE</a:t>
            </a:r>
            <a:r>
              <a:rPr b="1" spc="-26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amplifier</a:t>
            </a:r>
            <a:endParaRPr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8600" y="76201"/>
            <a:ext cx="11734800" cy="389850"/>
          </a:xfrm>
          <a:prstGeom prst="rect">
            <a:avLst/>
          </a:prstGeom>
          <a:solidFill>
            <a:srgbClr val="FFCE33"/>
          </a:solidFill>
        </p:spPr>
        <p:txBody>
          <a:bodyPr vert="horz" wrap="square" lIns="0" tIns="81280" rIns="0" bIns="0" rtlCol="0">
            <a:spAutoFit/>
          </a:bodyPr>
          <a:lstStyle/>
          <a:p>
            <a:pPr marL="353695">
              <a:spcBef>
                <a:spcPts val="640"/>
              </a:spcBef>
            </a:pPr>
            <a:r>
              <a:rPr sz="2000" spc="-30" dirty="0">
                <a:solidFill>
                  <a:srgbClr val="0000CC"/>
                </a:solidFill>
                <a:latin typeface="Times New Roman"/>
                <a:cs typeface="Times New Roman"/>
              </a:rPr>
              <a:t>FREQUENCY</a:t>
            </a:r>
            <a:r>
              <a:rPr sz="200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00CC"/>
                </a:solidFill>
                <a:latin typeface="Times New Roman"/>
                <a:cs typeface="Times New Roman"/>
              </a:rPr>
              <a:t>RESPONSE</a:t>
            </a:r>
            <a:r>
              <a:rPr sz="2000" spc="-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CC"/>
                </a:solidFill>
                <a:latin typeface="Times New Roman"/>
                <a:cs typeface="Times New Roman"/>
              </a:rPr>
              <a:t>FOR</a:t>
            </a:r>
            <a:r>
              <a:rPr sz="20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CC"/>
                </a:solidFill>
                <a:latin typeface="Times New Roman"/>
                <a:cs typeface="Times New Roman"/>
              </a:rPr>
              <a:t>CE</a:t>
            </a:r>
            <a:r>
              <a:rPr sz="200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00CC"/>
                </a:solidFill>
                <a:latin typeface="Times New Roman"/>
                <a:cs typeface="Times New Roman"/>
              </a:rPr>
              <a:t>AMPLIFIER</a:t>
            </a:r>
            <a:r>
              <a:rPr sz="2000" spc="-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00CC"/>
                </a:solidFill>
                <a:latin typeface="Times New Roman"/>
                <a:cs typeface="Times New Roman"/>
              </a:rPr>
              <a:t>WITH</a:t>
            </a:r>
            <a:r>
              <a:rPr sz="2000" spc="-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0000CC"/>
                </a:solidFill>
                <a:latin typeface="Times New Roman"/>
                <a:cs typeface="Times New Roman"/>
              </a:rPr>
              <a:t>AND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0000CC"/>
                </a:solidFill>
                <a:latin typeface="Times New Roman"/>
                <a:cs typeface="Times New Roman"/>
              </a:rPr>
              <a:t>WITHOUTSOURCE</a:t>
            </a:r>
            <a:r>
              <a:rPr sz="2000" spc="-10" dirty="0">
                <a:solidFill>
                  <a:srgbClr val="0000CC"/>
                </a:solidFill>
                <a:latin typeface="Times New Roman"/>
                <a:cs typeface="Times New Roman"/>
              </a:rPr>
              <a:t> IMPEDANCE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9599" y="844771"/>
            <a:ext cx="109728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spcBef>
                <a:spcPts val="100"/>
              </a:spcBef>
            </a:pPr>
            <a:r>
              <a:rPr dirty="0">
                <a:latin typeface="Arial MT"/>
                <a:cs typeface="Arial MT"/>
              </a:rPr>
              <a:t>At</a:t>
            </a:r>
            <a:r>
              <a:rPr spc="2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different</a:t>
            </a:r>
            <a:r>
              <a:rPr spc="2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frequencies</a:t>
            </a:r>
            <a:r>
              <a:rPr spc="2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of</a:t>
            </a:r>
            <a:r>
              <a:rPr spc="2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229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input</a:t>
            </a:r>
            <a:r>
              <a:rPr spc="2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signal,</a:t>
            </a:r>
            <a:r>
              <a:rPr spc="254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2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performance</a:t>
            </a:r>
            <a:r>
              <a:rPr spc="254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of</a:t>
            </a:r>
            <a:r>
              <a:rPr spc="229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2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device</a:t>
            </a:r>
            <a:r>
              <a:rPr spc="235" dirty="0">
                <a:latin typeface="Arial MT"/>
                <a:cs typeface="Arial MT"/>
              </a:rPr>
              <a:t> </a:t>
            </a:r>
            <a:r>
              <a:rPr spc="-25" dirty="0">
                <a:latin typeface="Arial MT"/>
                <a:cs typeface="Arial MT"/>
              </a:rPr>
              <a:t>is </a:t>
            </a:r>
            <a:r>
              <a:rPr spc="-10" dirty="0">
                <a:latin typeface="Arial MT"/>
                <a:cs typeface="Arial MT"/>
              </a:rPr>
              <a:t>different.</a:t>
            </a:r>
            <a:r>
              <a:rPr spc="1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analysis</a:t>
            </a:r>
            <a:r>
              <a:rPr spc="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till</a:t>
            </a:r>
            <a:r>
              <a:rPr spc="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now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has</a:t>
            </a:r>
            <a:r>
              <a:rPr spc="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been</a:t>
            </a:r>
            <a:r>
              <a:rPr spc="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limited</a:t>
            </a:r>
            <a:r>
              <a:rPr spc="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2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mid-</a:t>
            </a:r>
            <a:r>
              <a:rPr dirty="0">
                <a:latin typeface="Arial MT"/>
                <a:cs typeface="Arial MT"/>
              </a:rPr>
              <a:t>frequency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spectrum. </a:t>
            </a:r>
            <a:r>
              <a:rPr dirty="0">
                <a:latin typeface="Arial MT"/>
                <a:cs typeface="Arial MT"/>
              </a:rPr>
              <a:t>Frequency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response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of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an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amplifier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refers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variation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of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magnitude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spc="-25" dirty="0">
                <a:latin typeface="Arial MT"/>
                <a:cs typeface="Arial MT"/>
              </a:rPr>
              <a:t>and </a:t>
            </a:r>
            <a:r>
              <a:rPr dirty="0">
                <a:latin typeface="Arial MT"/>
                <a:cs typeface="Arial MT"/>
              </a:rPr>
              <a:t>phase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of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amplifier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with</a:t>
            </a:r>
            <a:r>
              <a:rPr spc="3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frequency.</a:t>
            </a:r>
            <a:endParaRPr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055370">
              <a:lnSpc>
                <a:spcPct val="100000"/>
              </a:lnSpc>
              <a:spcBef>
                <a:spcPts val="90"/>
              </a:spcBef>
            </a:pPr>
            <a:r>
              <a:rPr dirty="0"/>
              <a:t>Comparison</a:t>
            </a:r>
            <a:r>
              <a:rPr spc="-75" dirty="0"/>
              <a:t> </a:t>
            </a:r>
            <a:r>
              <a:rPr dirty="0"/>
              <a:t>of</a:t>
            </a:r>
            <a:r>
              <a:rPr spc="-100" dirty="0"/>
              <a:t> </a:t>
            </a:r>
            <a:r>
              <a:rPr dirty="0"/>
              <a:t>BJT</a:t>
            </a:r>
            <a:r>
              <a:rPr spc="-105" dirty="0"/>
              <a:t> </a:t>
            </a:r>
            <a:r>
              <a:rPr spc="-10" dirty="0"/>
              <a:t>Amplifier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02511" y="1565275"/>
          <a:ext cx="9431019" cy="36849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57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77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7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04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Characteristics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CE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 Amplifier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CB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 Amplifier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CC</a:t>
                      </a:r>
                      <a:r>
                        <a:rPr sz="20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amplifier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(Emitter</a:t>
                      </a:r>
                      <a:r>
                        <a:rPr sz="2000" b="1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Follower)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Current</a:t>
                      </a:r>
                      <a:r>
                        <a:rPr sz="2000" b="1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0" dirty="0">
                          <a:latin typeface="Calibri"/>
                          <a:cs typeface="Calibri"/>
                        </a:rPr>
                        <a:t>Gain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High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Less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Than</a:t>
                      </a:r>
                      <a:r>
                        <a:rPr sz="20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Unity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High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Voltage</a:t>
                      </a:r>
                      <a:r>
                        <a:rPr sz="2000" b="1" spc="2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0" dirty="0">
                          <a:latin typeface="Calibri"/>
                          <a:cs typeface="Calibri"/>
                        </a:rPr>
                        <a:t>Gain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High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High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Less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Than</a:t>
                      </a:r>
                      <a:r>
                        <a:rPr sz="20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Unity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Input</a:t>
                      </a:r>
                      <a:r>
                        <a:rPr sz="20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Resistance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Medium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Lowest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Highest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Output</a:t>
                      </a:r>
                      <a:r>
                        <a:rPr sz="20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Resistance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Moderately</a:t>
                      </a:r>
                      <a:r>
                        <a:rPr sz="20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High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Highest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Lowest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04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Phase Shift</a:t>
                      </a:r>
                      <a:r>
                        <a:rPr sz="2000" b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between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Input</a:t>
                      </a:r>
                      <a:r>
                        <a:rPr sz="20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0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180</a:t>
                      </a:r>
                      <a:r>
                        <a:rPr sz="20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°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0°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0°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Application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8509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000" spc="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Audio</a:t>
                      </a:r>
                      <a:r>
                        <a:rPr sz="2000" spc="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Frequency Applications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 marR="85090">
                        <a:lnSpc>
                          <a:spcPct val="100000"/>
                        </a:lnSpc>
                        <a:spcBef>
                          <a:spcPts val="250"/>
                        </a:spcBef>
                        <a:tabLst>
                          <a:tab pos="571500" algn="l"/>
                          <a:tab pos="1184275" algn="l"/>
                        </a:tabLst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High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Frequency Applications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 marR="85725">
                        <a:lnSpc>
                          <a:spcPct val="100000"/>
                        </a:lnSpc>
                        <a:spcBef>
                          <a:spcPts val="250"/>
                        </a:spcBef>
                        <a:tabLst>
                          <a:tab pos="1114425" algn="l"/>
                        </a:tabLst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Impedance Matching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0" y="1286256"/>
            <a:ext cx="7479792" cy="336499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5669280" y="6377940"/>
            <a:ext cx="3901440" cy="866904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698500" marR="5080" indent="-686435">
              <a:spcBef>
                <a:spcPts val="280"/>
              </a:spcBef>
            </a:pPr>
            <a:r>
              <a:rPr spc="-10" dirty="0"/>
              <a:t>RCEW,</a:t>
            </a:r>
            <a:r>
              <a:rPr spc="-85" dirty="0"/>
              <a:t> </a:t>
            </a:r>
            <a:r>
              <a:rPr dirty="0"/>
              <a:t>Pasupula</a:t>
            </a:r>
            <a:r>
              <a:rPr spc="-80" dirty="0"/>
              <a:t> </a:t>
            </a:r>
            <a:r>
              <a:rPr dirty="0"/>
              <a:t>(V),</a:t>
            </a:r>
            <a:r>
              <a:rPr spc="-65" dirty="0"/>
              <a:t> </a:t>
            </a:r>
            <a:r>
              <a:rPr dirty="0"/>
              <a:t>Nandikotkur</a:t>
            </a:r>
            <a:r>
              <a:rPr spc="-70" dirty="0"/>
              <a:t> </a:t>
            </a:r>
            <a:r>
              <a:rPr spc="-10" dirty="0"/>
              <a:t>Road, </a:t>
            </a:r>
            <a:r>
              <a:rPr dirty="0"/>
              <a:t>Near</a:t>
            </a:r>
            <a:r>
              <a:rPr spc="-15" dirty="0"/>
              <a:t> </a:t>
            </a:r>
            <a:r>
              <a:rPr spc="-10" dirty="0"/>
              <a:t>Venkayapalli,</a:t>
            </a:r>
            <a:r>
              <a:rPr spc="-30" dirty="0"/>
              <a:t> </a:t>
            </a:r>
            <a:r>
              <a:rPr spc="-10" dirty="0"/>
              <a:t>KURNOOL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574</Words>
  <Application>Microsoft Office PowerPoint</Application>
  <PresentationFormat>Widescreen</PresentationFormat>
  <Paragraphs>87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Aptos</vt:lpstr>
      <vt:lpstr>Arial</vt:lpstr>
      <vt:lpstr>Arial MT</vt:lpstr>
      <vt:lpstr>Calibri</vt:lpstr>
      <vt:lpstr>Gill Sans MT</vt:lpstr>
      <vt:lpstr>Poppins</vt:lpstr>
      <vt:lpstr>Times New Roman</vt:lpstr>
      <vt:lpstr>Wingdings</vt:lpstr>
      <vt:lpstr>Office Theme</vt:lpstr>
      <vt:lpstr>Gallery</vt:lpstr>
      <vt:lpstr>PowerPoint Presentation</vt:lpstr>
      <vt:lpstr>Session content</vt:lpstr>
      <vt:lpstr>PowerPoint Presentation</vt:lpstr>
      <vt:lpstr>CE Amplifier Circuit</vt:lpstr>
      <vt:lpstr>CE Amplifier Circuit</vt:lpstr>
      <vt:lpstr>CE Amplifier Circuit</vt:lpstr>
      <vt:lpstr>CE Amplifier Circuit</vt:lpstr>
      <vt:lpstr>CB Amplifier Circuit</vt:lpstr>
      <vt:lpstr>CC Amplifier Circuit(Emitter Follower)</vt:lpstr>
      <vt:lpstr>PowerPoint Presentation</vt:lpstr>
      <vt:lpstr>Comparison of BJT Amplifier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GORLA VENKATA GANESH</cp:lastModifiedBy>
  <cp:revision>7</cp:revision>
  <dcterms:created xsi:type="dcterms:W3CDTF">2025-07-04T04:02:25Z</dcterms:created>
  <dcterms:modified xsi:type="dcterms:W3CDTF">2025-07-04T04:34:38Z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2025-07-04T00:00:00Z</vt:filetime>
  </property>
  <property fmtid="{D5CDD505-2E9C-101B-9397-08002B2CF9AE}" pid="3" name="LastSaved">
    <vt:filetime>2025-07-04T00:00:00Z</vt:filetime>
  </property>
  <property fmtid="{D5CDD505-2E9C-101B-9397-08002B2CF9AE}" pid="4" name="Producer">
    <vt:lpwstr>iLovePDF</vt:lpwstr>
  </property>
</Properties>
</file>