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24"/>
  </p:notesMasterIdLst>
  <p:handoutMasterIdLst>
    <p:handoutMasterId r:id="rId25"/>
  </p:handoutMasterIdLst>
  <p:sldIdLst>
    <p:sldId id="271" r:id="rId3"/>
    <p:sldId id="308" r:id="rId4"/>
    <p:sldId id="300" r:id="rId5"/>
    <p:sldId id="413" r:id="rId6"/>
    <p:sldId id="414" r:id="rId7"/>
    <p:sldId id="415" r:id="rId8"/>
    <p:sldId id="417" r:id="rId9"/>
    <p:sldId id="263" r:id="rId10"/>
    <p:sldId id="264" r:id="rId11"/>
    <p:sldId id="265" r:id="rId12"/>
    <p:sldId id="266" r:id="rId13"/>
    <p:sldId id="267" r:id="rId14"/>
    <p:sldId id="416" r:id="rId15"/>
    <p:sldId id="418" r:id="rId16"/>
    <p:sldId id="419" r:id="rId17"/>
    <p:sldId id="301" r:id="rId18"/>
    <p:sldId id="328" r:id="rId19"/>
    <p:sldId id="315" r:id="rId20"/>
    <p:sldId id="302" r:id="rId21"/>
    <p:sldId id="303" r:id="rId22"/>
    <p:sldId id="42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8079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0814" y="465200"/>
            <a:ext cx="931037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2520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242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5005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492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0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3886" y="190322"/>
            <a:ext cx="9844227" cy="970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10650"/>
            <a:ext cx="10819765" cy="4433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42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24ec2104</a:t>
            </a:r>
            <a:endParaRPr lang="en-US" sz="24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Voltage divider bias 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- 05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  <a:sym typeface="BioRhyme ExtraBold"/>
              </a:rPr>
              <a:t>ODD SEM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Voltage Divider Bias Circuit</a:t>
            </a:r>
          </a:p>
          <a:p>
            <a:r>
              <a:rPr lang="en-IN" sz="2400" dirty="0"/>
              <a:t>Equivalent Circuit </a:t>
            </a:r>
          </a:p>
          <a:p>
            <a:r>
              <a:rPr lang="en-IN" sz="2400" dirty="0"/>
              <a:t>Analysis</a:t>
            </a:r>
          </a:p>
          <a:p>
            <a:r>
              <a:rPr lang="en-IN" sz="2400" dirty="0"/>
              <a:t>Design of Bias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658894"/>
            <a:ext cx="11215640" cy="4248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To demonstrate Biasing of BJT using Voltage Divider Bias</a:t>
            </a:r>
            <a:endParaRPr lang="en-US" sz="14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533835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2023900"/>
            <a:ext cx="11224971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latin typeface="Poppins"/>
                <a:cs typeface="Poppins"/>
              </a:rPr>
              <a:t>This</a:t>
            </a:r>
            <a:r>
              <a:rPr lang="en-US" sz="1400" b="0" i="0" dirty="0">
                <a:effectLst/>
                <a:latin typeface="Poppins"/>
                <a:cs typeface="Poppins"/>
              </a:rPr>
              <a:t> </a:t>
            </a:r>
            <a:r>
              <a:rPr lang="en-US" sz="1400" dirty="0">
                <a:latin typeface="Poppins"/>
                <a:cs typeface="Poppins"/>
              </a:rPr>
              <a:t>Session</a:t>
            </a:r>
            <a:r>
              <a:rPr lang="en-US" sz="14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Demonstrate Voltage divider bias for BJT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Select bias components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4" y="3523536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399" y="4028757"/>
            <a:ext cx="11196319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400" dirty="0">
                <a:latin typeface="Arial"/>
                <a:cs typeface="Arial"/>
              </a:rPr>
              <a:t>session</a:t>
            </a:r>
            <a:r>
              <a:rPr lang="en-US" sz="14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Describe voltage divider biasing circuit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Design component values for desired operating point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VOLTAGE DIVIDER BIAS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1293C-A004-4E31-F0BE-4195E72D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7" y="1970995"/>
            <a:ext cx="2287188" cy="3378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2FF2FB-1A3F-8B16-DBA0-6BA5019DEAB1}"/>
              </a:ext>
            </a:extLst>
          </p:cNvPr>
          <p:cNvSpPr txBox="1"/>
          <p:nvPr/>
        </p:nvSpPr>
        <p:spPr>
          <a:xfrm>
            <a:off x="3850433" y="1864194"/>
            <a:ext cx="74022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V</a:t>
            </a:r>
            <a:r>
              <a:rPr lang="en-IN" baseline="-25000" dirty="0"/>
              <a:t>CC</a:t>
            </a:r>
            <a:r>
              <a:rPr lang="en-IN" dirty="0"/>
              <a:t>, R</a:t>
            </a:r>
            <a:r>
              <a:rPr lang="en-IN" baseline="-25000" dirty="0"/>
              <a:t>1</a:t>
            </a:r>
            <a:r>
              <a:rPr lang="en-IN" dirty="0"/>
              <a:t>, R</a:t>
            </a:r>
            <a:r>
              <a:rPr lang="en-IN" baseline="-25000" dirty="0"/>
              <a:t>2</a:t>
            </a:r>
            <a:r>
              <a:rPr lang="en-IN" dirty="0"/>
              <a:t>, and R</a:t>
            </a:r>
            <a:r>
              <a:rPr lang="en-IN" baseline="-25000" dirty="0"/>
              <a:t>C</a:t>
            </a:r>
            <a:r>
              <a:rPr lang="en-IN" dirty="0"/>
              <a:t> control the saturation current and the cutoff voltage. A change in any of these quantities will change I</a:t>
            </a:r>
            <a:r>
              <a:rPr lang="en-IN" baseline="-25000" dirty="0"/>
              <a:t>C(sat)</a:t>
            </a:r>
            <a:r>
              <a:rPr lang="en-IN" dirty="0"/>
              <a:t> and/or V</a:t>
            </a:r>
            <a:r>
              <a:rPr lang="en-IN" baseline="-25000" dirty="0"/>
              <a:t>CE(cutoff)</a:t>
            </a:r>
            <a:r>
              <a:rPr lang="en-IN" dirty="0"/>
              <a:t>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Once the designer has established the values of the foregoing variables, the emitter resistance is varied to set the Q point at any position along the load line.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If R</a:t>
            </a:r>
            <a:r>
              <a:rPr lang="en-IN" baseline="-25000" dirty="0"/>
              <a:t>E</a:t>
            </a:r>
            <a:r>
              <a:rPr lang="en-IN" dirty="0"/>
              <a:t> is too large, the Q point moves into the cutoff point. If R</a:t>
            </a:r>
            <a:r>
              <a:rPr lang="en-IN" baseline="-25000" dirty="0"/>
              <a:t>E</a:t>
            </a:r>
            <a:r>
              <a:rPr lang="en-IN" dirty="0"/>
              <a:t> is too small, the Q point moves into saturation. Usually designers set the Q point at the middle of the load line.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 When we examine transistor amplifiers, the dc load line Q point will be adjusted from the middle of the dc load line to achieve maximum output signal.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1606C-3E4D-5E44-29B8-1A3CF53763B6}"/>
              </a:ext>
            </a:extLst>
          </p:cNvPr>
          <p:cNvSpPr txBox="1"/>
          <p:nvPr/>
        </p:nvSpPr>
        <p:spPr>
          <a:xfrm>
            <a:off x="423124" y="5349233"/>
            <a:ext cx="2777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5.1. Voltage divider bias for BJT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8108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Thevenin's voltage at input terminals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B3C39-57B8-10F8-0B13-9A96A62C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031" y="2125485"/>
            <a:ext cx="1790012" cy="3172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E98EA-11F4-8CF4-8CE9-23E3DFBA3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22" y="2125485"/>
            <a:ext cx="1867309" cy="31721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6F5F3C-0B2E-333F-0B07-2CA802C1F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041" y="3441038"/>
            <a:ext cx="2345757" cy="10280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E329FF-B7A9-DC6A-DAD3-8E930DA069DB}"/>
              </a:ext>
            </a:extLst>
          </p:cNvPr>
          <p:cNvSpPr txBox="1"/>
          <p:nvPr/>
        </p:nvSpPr>
        <p:spPr>
          <a:xfrm>
            <a:off x="423123" y="5349233"/>
            <a:ext cx="35409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5.2. Voltage divider bias for BJT – Equivalent Thevenin’s voltage across base-ground terminals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25EA-5050-B73C-5D57-97A16905FDA7}"/>
              </a:ext>
            </a:extLst>
          </p:cNvPr>
          <p:cNvSpPr txBox="1"/>
          <p:nvPr/>
        </p:nvSpPr>
        <p:spPr>
          <a:xfrm>
            <a:off x="4041340" y="1931890"/>
            <a:ext cx="74022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Open the load terminals to obtain equivalent as shown in Fig. 5.2.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Now, Determine the open circuit voltage.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Applying series voltage division rule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98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Thevenin's resistance at input terminal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1293C-A004-4E31-F0BE-4195E72D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22" y="1864194"/>
            <a:ext cx="1867309" cy="31721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CCBBCA-8DC6-B9FA-B54D-E10DAC83B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031" y="1921382"/>
            <a:ext cx="2020078" cy="31149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D15325-7A85-82FB-6667-CBB724BF8461}"/>
              </a:ext>
            </a:extLst>
          </p:cNvPr>
          <p:cNvSpPr txBox="1"/>
          <p:nvPr/>
        </p:nvSpPr>
        <p:spPr>
          <a:xfrm>
            <a:off x="4302190" y="3740181"/>
            <a:ext cx="202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TH</a:t>
            </a:r>
            <a:r>
              <a:rPr lang="en-US" dirty="0"/>
              <a:t> = R</a:t>
            </a:r>
            <a:r>
              <a:rPr lang="en-US" baseline="-25000" dirty="0"/>
              <a:t>1</a:t>
            </a:r>
            <a:r>
              <a:rPr lang="en-US" dirty="0"/>
              <a:t> // R</a:t>
            </a:r>
            <a:r>
              <a:rPr lang="en-US" baseline="-25000" dirty="0"/>
              <a:t>2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D9ABA-37C8-3F7E-05C1-181497569894}"/>
              </a:ext>
            </a:extLst>
          </p:cNvPr>
          <p:cNvSpPr txBox="1"/>
          <p:nvPr/>
        </p:nvSpPr>
        <p:spPr>
          <a:xfrm>
            <a:off x="277311" y="5093556"/>
            <a:ext cx="35409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5.3. Voltage divider bias for BJT – Equivalent Thevenin’s Resistance across base-ground terminals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E89B3-A732-1B5B-A266-93F95D8E6053}"/>
              </a:ext>
            </a:extLst>
          </p:cNvPr>
          <p:cNvSpPr txBox="1"/>
          <p:nvPr/>
        </p:nvSpPr>
        <p:spPr>
          <a:xfrm>
            <a:off x="4194109" y="1921382"/>
            <a:ext cx="74022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Consider the terminals as shown in Fig. 5.3.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Now, Determine the Resistance seen through the terminal.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While finding equivalent resistance the </a:t>
            </a:r>
            <a:r>
              <a:rPr lang="en-IN" dirty="0" err="1"/>
              <a:t>idel</a:t>
            </a:r>
            <a:r>
              <a:rPr lang="en-IN" dirty="0"/>
              <a:t> voltage sources are short circuited. Therefore</a:t>
            </a:r>
          </a:p>
        </p:txBody>
      </p:sp>
    </p:spTree>
    <p:extLst>
      <p:ext uri="{BB962C8B-B14F-4D97-AF65-F5344CB8AC3E}">
        <p14:creationId xmlns:p14="http://schemas.microsoft.com/office/powerpoint/2010/main" val="132257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Analysis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6EEF18D-2B6E-359A-0988-7D1FFE0EB852}"/>
              </a:ext>
            </a:extLst>
          </p:cNvPr>
          <p:cNvSpPr txBox="1">
            <a:spLocks noChangeArrowheads="1"/>
          </p:cNvSpPr>
          <p:nvPr/>
        </p:nvSpPr>
        <p:spPr>
          <a:xfrm>
            <a:off x="6629400" y="1920472"/>
            <a:ext cx="2149618" cy="503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Circuit Equations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41C04-0D09-F7F3-5096-D3906E006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11" y="2274725"/>
            <a:ext cx="3550197" cy="27190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31E55-C23B-DE05-ED8B-B69318380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538" y="3832961"/>
            <a:ext cx="2667844" cy="7854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916D20-5463-B1E2-7029-6EC3D8A02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617" y="3164862"/>
            <a:ext cx="2437323" cy="13361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4F216F-BF6D-3BFA-39C8-129409CF6FD4}"/>
              </a:ext>
            </a:extLst>
          </p:cNvPr>
          <p:cNvSpPr txBox="1"/>
          <p:nvPr/>
        </p:nvSpPr>
        <p:spPr>
          <a:xfrm>
            <a:off x="4211105" y="2444777"/>
            <a:ext cx="4580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Applying KVL in the input loop:</a:t>
            </a:r>
          </a:p>
          <a:p>
            <a:r>
              <a:rPr lang="en-US" dirty="0"/>
              <a:t>V</a:t>
            </a:r>
            <a:r>
              <a:rPr lang="en-US" baseline="-25000" dirty="0"/>
              <a:t>BB</a:t>
            </a:r>
            <a:r>
              <a:rPr lang="en-US" dirty="0"/>
              <a:t> = I</a:t>
            </a:r>
            <a:r>
              <a:rPr lang="en-US" baseline="-25000" dirty="0"/>
              <a:t>B </a:t>
            </a:r>
            <a:r>
              <a:rPr lang="en-US" dirty="0"/>
              <a:t>R</a:t>
            </a:r>
            <a:r>
              <a:rPr lang="en-US" baseline="-25000" dirty="0"/>
              <a:t>TH</a:t>
            </a:r>
            <a:r>
              <a:rPr lang="en-US" dirty="0"/>
              <a:t> + V</a:t>
            </a:r>
            <a:r>
              <a:rPr lang="en-US" baseline="-25000" dirty="0"/>
              <a:t>BE </a:t>
            </a:r>
            <a:r>
              <a:rPr lang="en-US" dirty="0"/>
              <a:t>+ I</a:t>
            </a:r>
            <a:r>
              <a:rPr lang="en-US" baseline="-25000" dirty="0"/>
              <a:t>E</a:t>
            </a:r>
            <a:r>
              <a:rPr lang="en-US" dirty="0"/>
              <a:t> R</a:t>
            </a:r>
            <a:r>
              <a:rPr lang="en-US" baseline="-25000" dirty="0"/>
              <a:t>E</a:t>
            </a:r>
          </a:p>
          <a:p>
            <a:r>
              <a:rPr lang="en-US" dirty="0"/>
              <a:t>Now, I</a:t>
            </a:r>
            <a:r>
              <a:rPr lang="en-US" baseline="-25000" dirty="0"/>
              <a:t>B</a:t>
            </a:r>
            <a:r>
              <a:rPr lang="en-US" dirty="0"/>
              <a:t>= I</a:t>
            </a:r>
            <a:r>
              <a:rPr lang="en-US" baseline="-25000" dirty="0"/>
              <a:t>E</a:t>
            </a:r>
            <a:r>
              <a:rPr lang="en-US" dirty="0"/>
              <a:t>/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120E8-F7FF-1B3A-2BD1-441424796252}"/>
              </a:ext>
            </a:extLst>
          </p:cNvPr>
          <p:cNvSpPr txBox="1"/>
          <p:nvPr/>
        </p:nvSpPr>
        <p:spPr>
          <a:xfrm>
            <a:off x="8154955" y="2444777"/>
            <a:ext cx="326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Applying KVL in the output loop: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E5ABE-9905-8D81-EFA9-79AEB6D03FEA}"/>
              </a:ext>
            </a:extLst>
          </p:cNvPr>
          <p:cNvSpPr txBox="1"/>
          <p:nvPr/>
        </p:nvSpPr>
        <p:spPr>
          <a:xfrm>
            <a:off x="277311" y="5093556"/>
            <a:ext cx="35409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5.4. Voltage divider bias for BJT – Equivalent circuit with Thevenin’s equivalent in input loop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14175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62560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Self</a:t>
            </a:r>
            <a:r>
              <a:rPr sz="4400" b="0" spc="-130" dirty="0">
                <a:latin typeface="Calibri"/>
                <a:cs typeface="Calibri"/>
              </a:rPr>
              <a:t> </a:t>
            </a:r>
            <a:r>
              <a:rPr sz="4400" b="0" spc="-25" dirty="0">
                <a:latin typeface="Calibri"/>
                <a:cs typeface="Calibri"/>
              </a:rPr>
              <a:t>Bias/Voltage</a:t>
            </a:r>
            <a:r>
              <a:rPr sz="4400" b="0" spc="-10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Divider</a:t>
            </a:r>
            <a:r>
              <a:rPr sz="4400" b="0" spc="-13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80616" y="1143000"/>
            <a:ext cx="6144895" cy="4502150"/>
            <a:chOff x="1880616" y="1143000"/>
            <a:chExt cx="6144895" cy="450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0616" y="1143000"/>
              <a:ext cx="2356104" cy="4337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80" y="1286255"/>
              <a:ext cx="3956304" cy="43586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02486" y="5449315"/>
            <a:ext cx="62210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Classical</a:t>
            </a:r>
            <a:r>
              <a:rPr kumimoji="0" sz="18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biasing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BJTs</a:t>
            </a:r>
            <a:r>
              <a:rPr kumimoji="0" sz="1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18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18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supply:</a:t>
            </a:r>
            <a:r>
              <a:rPr kumimoji="0" sz="18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(a)</a:t>
            </a:r>
            <a:r>
              <a:rPr kumimoji="0" sz="1800" b="1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circuit;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(b)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</a:t>
            </a:r>
            <a:r>
              <a:rPr kumimoji="0" sz="1800" b="1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r>
              <a:rPr kumimoji="0" sz="18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divider</a:t>
            </a:r>
            <a:r>
              <a:rPr kumimoji="0" sz="18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supplying</a:t>
            </a:r>
            <a:r>
              <a:rPr kumimoji="0" sz="1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replaced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Thévenin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equivalent.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2138" y="1590294"/>
            <a:ext cx="2774315" cy="3683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620" lvl="0" indent="-1905" algn="just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Pct val="95000"/>
              <a:buFont typeface="Wingdings"/>
              <a:buChar char=""/>
              <a:tabLst>
                <a:tab pos="23812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The</a:t>
            </a:r>
            <a:r>
              <a:rPr kumimoji="0" sz="20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arrangement</a:t>
            </a:r>
            <a:r>
              <a:rPr kumimoji="0" sz="20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most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commonly</a:t>
            </a:r>
            <a:r>
              <a:rPr kumimoji="0" sz="20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2000" b="0" i="0" u="none" strike="noStrike" kern="0" cap="none" spc="3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biasing</a:t>
            </a:r>
            <a:r>
              <a:rPr kumimoji="0" sz="2000" b="0" i="0" u="none" strike="noStrike" kern="0" cap="none" spc="2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discrete-circuit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r>
              <a:rPr kumimoji="0" sz="20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amplifier</a:t>
            </a:r>
            <a:r>
              <a:rPr kumimoji="0" sz="20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20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45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2000" b="1" i="0" u="none" strike="noStrike" kern="0" cap="none" spc="45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2000" b="1" i="0" u="none" strike="noStrike" kern="0" cap="none" spc="4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</a:t>
            </a:r>
            <a:r>
              <a:rPr kumimoji="0" sz="2000" b="1" i="0" u="none" strike="noStrike" kern="0" cap="none" spc="4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available.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-1905" algn="just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Pct val="95000"/>
              <a:buFont typeface="Wingdings"/>
              <a:buChar char=""/>
              <a:tabLst>
                <a:tab pos="23812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The</a:t>
            </a:r>
            <a:r>
              <a:rPr kumimoji="0" sz="20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technique</a:t>
            </a:r>
            <a:r>
              <a:rPr kumimoji="0" sz="20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consists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000" b="0" i="0" u="none" strike="noStrike" kern="0" cap="none" spc="4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supplying</a:t>
            </a:r>
            <a:r>
              <a:rPr kumimoji="0" sz="20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20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r>
              <a:rPr kumimoji="0" sz="2000" b="0" i="0" u="none" strike="noStrike" kern="0" cap="none" spc="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fraction</a:t>
            </a:r>
            <a:r>
              <a:rPr kumimoji="0" sz="2000" b="0" i="0" u="none" strike="noStrike" kern="0" cap="none" spc="45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000" b="0" i="0" u="none" strike="noStrike" kern="0" cap="none" spc="4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45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r>
              <a:rPr kumimoji="0" sz="20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VCC</a:t>
            </a:r>
            <a:r>
              <a:rPr kumimoji="0" sz="2000" b="0" i="1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000" b="0" i="1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0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r>
              <a:rPr kumimoji="0" sz="2000" b="1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divider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R1,</a:t>
            </a:r>
            <a:r>
              <a:rPr kumimoji="0" sz="2000" b="1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R2.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2138" y="5249671"/>
            <a:ext cx="277368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lvl="0" indent="-1905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Pct val="95000"/>
              <a:buFont typeface="Wingdings"/>
              <a:buChar char=""/>
              <a:tabLst>
                <a:tab pos="238125" algn="l"/>
                <a:tab pos="457200" algn="l"/>
                <a:tab pos="597535" algn="l"/>
                <a:tab pos="792480" algn="l"/>
                <a:tab pos="1679575" algn="l"/>
                <a:tab pos="1978660" algn="l"/>
                <a:tab pos="2033270" algn="l"/>
                <a:tab pos="2423795" algn="l"/>
              </a:tabLst>
              <a:defRPr/>
            </a:pP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In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	</a:t>
            </a:r>
            <a:r>
              <a:rPr kumimoji="0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addition,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2000" b="1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resistor 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</a:t>
            </a:r>
            <a:r>
              <a:rPr kumimoji="0" sz="20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connected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	</a:t>
            </a: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2138" y="5858967"/>
            <a:ext cx="8210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emitter.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62560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Self</a:t>
            </a:r>
            <a:r>
              <a:rPr sz="4400" b="0" spc="-130" dirty="0">
                <a:latin typeface="Calibri"/>
                <a:cs typeface="Calibri"/>
              </a:rPr>
              <a:t> </a:t>
            </a:r>
            <a:r>
              <a:rPr sz="4400" b="0" spc="-25" dirty="0">
                <a:latin typeface="Calibri"/>
                <a:cs typeface="Calibri"/>
              </a:rPr>
              <a:t>Bias/Voltage</a:t>
            </a:r>
            <a:r>
              <a:rPr sz="4400" b="0" spc="-10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Divider</a:t>
            </a:r>
            <a:r>
              <a:rPr sz="4400" b="0" spc="-13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80616" y="1143000"/>
            <a:ext cx="6144895" cy="4502150"/>
            <a:chOff x="1880616" y="1143000"/>
            <a:chExt cx="6144895" cy="450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0616" y="1143000"/>
              <a:ext cx="2356104" cy="4337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80" y="1286255"/>
              <a:ext cx="3956304" cy="43586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02486" y="5449315"/>
            <a:ext cx="62210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Classical</a:t>
            </a:r>
            <a:r>
              <a:rPr kumimoji="0" sz="18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biasing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BJTs</a:t>
            </a:r>
            <a:r>
              <a:rPr kumimoji="0" sz="1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18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18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supply:</a:t>
            </a:r>
            <a:r>
              <a:rPr kumimoji="0" sz="18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(a)</a:t>
            </a:r>
            <a:r>
              <a:rPr kumimoji="0" sz="1800" b="1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circuit;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(b)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</a:t>
            </a:r>
            <a:r>
              <a:rPr kumimoji="0" sz="1800" b="1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r>
              <a:rPr kumimoji="0" sz="18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divider</a:t>
            </a:r>
            <a:r>
              <a:rPr kumimoji="0" sz="18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supplying</a:t>
            </a:r>
            <a:r>
              <a:rPr kumimoji="0" sz="1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replaced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Thévenin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equivalent.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6535" y="2749919"/>
            <a:ext cx="13716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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46535" y="2541388"/>
            <a:ext cx="13716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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46534" y="2349157"/>
            <a:ext cx="13716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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0195" y="2749918"/>
            <a:ext cx="13716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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10195" y="2942167"/>
            <a:ext cx="13716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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10195" y="2349157"/>
            <a:ext cx="13716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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34847" y="2828867"/>
            <a:ext cx="19113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12133" y="2776138"/>
            <a:ext cx="983615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673735" algn="l"/>
              </a:tabLst>
              <a:defRPr/>
            </a:pPr>
            <a:r>
              <a:rPr kumimoji="0" sz="3550" b="0" i="1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355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3550" b="0" i="1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endParaRPr kumimoji="0" sz="3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77726" y="2316907"/>
            <a:ext cx="68199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371475" algn="l"/>
              </a:tabLst>
              <a:defRPr/>
            </a:pPr>
            <a:r>
              <a:rPr kumimoji="0" sz="3550" b="0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kumimoji="0" sz="3550" b="0" i="1" u="sng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endParaRPr kumimoji="0" sz="3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9894" y="2708945"/>
            <a:ext cx="852805" cy="387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325" b="0" i="1" u="none" strike="noStrike" kern="0" cap="none" spc="254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5325" b="0" i="1" u="none" strike="noStrike" kern="0" cap="none" spc="-569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350" b="0" i="1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CC</a:t>
            </a:r>
            <a:r>
              <a:rPr kumimoji="0" sz="1350" b="0" i="1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15" normalizeH="0" baseline="307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</a:t>
            </a:r>
            <a:endParaRPr kumimoji="0" sz="3525" b="0" i="0" u="none" strike="noStrike" kern="0" cap="none" spc="0" normalizeH="0" baseline="307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93259" y="2942167"/>
            <a:ext cx="29083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1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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97837" y="3066588"/>
            <a:ext cx="107314" cy="23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56910" y="2606751"/>
            <a:ext cx="461645" cy="23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>
                <a:tab pos="448309" algn="l"/>
              </a:tabLst>
              <a:defRPr/>
            </a:pPr>
            <a:r>
              <a:rPr kumimoji="0" sz="1350" b="0" i="0" u="sng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kumimoji="0" sz="135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83626" y="2794795"/>
            <a:ext cx="257175" cy="23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68051" y="2593826"/>
            <a:ext cx="7620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0865" algn="l"/>
              </a:tabLst>
              <a:defRPr/>
            </a:pPr>
            <a:r>
              <a:rPr kumimoji="0" sz="235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904988" y="2318004"/>
            <a:ext cx="3027045" cy="1036319"/>
          </a:xfrm>
          <a:custGeom>
            <a:avLst/>
            <a:gdLst/>
            <a:ahLst/>
            <a:cxnLst/>
            <a:rect l="l" t="t" r="r" b="b"/>
            <a:pathLst>
              <a:path w="3027045" h="1036320">
                <a:moveTo>
                  <a:pt x="0" y="1036320"/>
                </a:moveTo>
                <a:lnTo>
                  <a:pt x="3026663" y="1036320"/>
                </a:lnTo>
                <a:lnTo>
                  <a:pt x="3026663" y="0"/>
                </a:lnTo>
                <a:lnTo>
                  <a:pt x="0" y="0"/>
                </a:lnTo>
                <a:lnTo>
                  <a:pt x="0" y="1036320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19872" y="4463237"/>
            <a:ext cx="13779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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94472" y="4068820"/>
            <a:ext cx="152273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</a:t>
            </a: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5325" b="0" i="1" u="none" strike="noStrike" kern="0" cap="none" spc="254" normalizeH="0" baseline="-2034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5325" b="0" i="1" u="none" strike="noStrike" kern="0" cap="none" spc="150" normalizeH="0" baseline="-2034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150" normalizeH="0" baseline="-1182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3525" b="0" i="0" u="none" strike="noStrike" kern="0" cap="none" spc="-30" normalizeH="0" baseline="-1182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5325" b="0" i="1" u="none" strike="noStrike" kern="0" cap="none" spc="254" normalizeH="0" baseline="-2034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5325" b="0" i="1" u="none" strike="noStrike" kern="0" cap="none" spc="592" normalizeH="0" baseline="-2034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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76069" y="4396344"/>
            <a:ext cx="34099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135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30" normalizeH="0" baseline="-1300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</a:t>
            </a:r>
            <a:endParaRPr kumimoji="0" sz="3525" b="0" i="0" u="none" strike="noStrike" kern="0" cap="none" spc="0" normalizeH="0" baseline="-1300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07578" y="4521966"/>
            <a:ext cx="107314" cy="23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51895" y="3936533"/>
            <a:ext cx="17653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36675" algn="l"/>
                <a:tab pos="1560830" algn="l"/>
              </a:tabLst>
              <a:defRPr/>
            </a:pPr>
            <a:r>
              <a:rPr kumimoji="0" sz="3525" b="0" i="0" u="none" strike="noStrike" kern="0" cap="none" spc="150" normalizeH="0" baseline="-2127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3525" b="0" i="0" u="none" strike="noStrike" kern="0" cap="none" spc="0" normalizeH="0" baseline="-2127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104" normalizeH="0" baseline="118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</a:t>
            </a:r>
            <a:r>
              <a:rPr kumimoji="0" sz="3525" b="0" i="0" u="none" strike="noStrike" kern="0" cap="none" spc="-292" normalizeH="0" baseline="118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35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kumimoji="0" sz="1350" b="0" i="0" u="sng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kumimoji="0" sz="135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kumimoji="0" sz="1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104" normalizeH="0" baseline="118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</a:t>
            </a:r>
            <a:endParaRPr kumimoji="0" sz="3525" b="0" i="0" u="none" strike="noStrike" kern="0" cap="none" spc="0" normalizeH="0" baseline="118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45801" y="4250168"/>
            <a:ext cx="139065" cy="23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94472" y="3588521"/>
            <a:ext cx="152273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339090" algn="l"/>
                <a:tab pos="1359535" algn="l"/>
              </a:tabLst>
              <a:defRPr/>
            </a:pP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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5325" b="0" i="1" u="none" strike="noStrike" kern="0" cap="none" spc="135" normalizeH="0" baseline="-1877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3525" b="0" i="0" u="none" strike="noStrike" kern="0" cap="none" spc="135" normalizeH="0" baseline="-3427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5325" b="0" i="1" u="none" strike="noStrike" kern="0" cap="none" spc="135" normalizeH="0" baseline="-1173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5325" b="0" i="1" u="none" strike="noStrike" kern="0" cap="none" spc="0" normalizeH="0" baseline="-1173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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94780" y="4049231"/>
            <a:ext cx="22923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32292" y="3698747"/>
            <a:ext cx="2326005" cy="1186180"/>
          </a:xfrm>
          <a:custGeom>
            <a:avLst/>
            <a:gdLst/>
            <a:ahLst/>
            <a:cxnLst/>
            <a:rect l="l" t="t" r="r" b="b"/>
            <a:pathLst>
              <a:path w="2326004" h="1186179">
                <a:moveTo>
                  <a:pt x="0" y="1185671"/>
                </a:moveTo>
                <a:lnTo>
                  <a:pt x="2325624" y="1185671"/>
                </a:lnTo>
                <a:lnTo>
                  <a:pt x="2325624" y="0"/>
                </a:lnTo>
                <a:lnTo>
                  <a:pt x="0" y="0"/>
                </a:lnTo>
                <a:lnTo>
                  <a:pt x="0" y="1185671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62560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Self</a:t>
            </a:r>
            <a:r>
              <a:rPr sz="4400" b="0" spc="-130" dirty="0">
                <a:latin typeface="Calibri"/>
                <a:cs typeface="Calibri"/>
              </a:rPr>
              <a:t> </a:t>
            </a:r>
            <a:r>
              <a:rPr sz="4400" b="0" spc="-25" dirty="0">
                <a:latin typeface="Calibri"/>
                <a:cs typeface="Calibri"/>
              </a:rPr>
              <a:t>Bias/Voltage</a:t>
            </a:r>
            <a:r>
              <a:rPr sz="4400" b="0" spc="-10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Divider</a:t>
            </a:r>
            <a:r>
              <a:rPr sz="4400" b="0" spc="-13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67383" y="1143000"/>
            <a:ext cx="8181340" cy="4502150"/>
            <a:chOff x="1167383" y="1143000"/>
            <a:chExt cx="8181340" cy="450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1143000"/>
              <a:ext cx="2356104" cy="4337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0127" y="1286255"/>
              <a:ext cx="3953255" cy="43586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89445" y="2975731"/>
              <a:ext cx="652780" cy="0"/>
            </a:xfrm>
            <a:custGeom>
              <a:avLst/>
              <a:gdLst/>
              <a:ahLst/>
              <a:cxnLst/>
              <a:rect l="l" t="t" r="r" b="b"/>
              <a:pathLst>
                <a:path w="652779">
                  <a:moveTo>
                    <a:pt x="0" y="0"/>
                  </a:moveTo>
                  <a:lnTo>
                    <a:pt x="652446" y="0"/>
                  </a:lnTo>
                </a:path>
              </a:pathLst>
            </a:custGeom>
            <a:ln w="125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98643" y="2937607"/>
            <a:ext cx="1403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4334" y="2735736"/>
            <a:ext cx="54864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</a:tabLst>
              <a:defRPr/>
            </a:pPr>
            <a:r>
              <a:rPr kumimoji="0" sz="23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91105" y="2502983"/>
            <a:ext cx="703580" cy="8623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87960" marR="0" lvl="0" indent="0" defTabSz="91440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14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100" b="0" i="0" u="none" strike="noStrike" kern="0" cap="none" spc="0" normalizeH="0" baseline="-23809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</a:t>
            </a:r>
            <a:r>
              <a:rPr kumimoji="0" sz="25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1668" y="2558795"/>
            <a:ext cx="1405255" cy="859790"/>
          </a:xfrm>
          <a:custGeom>
            <a:avLst/>
            <a:gdLst/>
            <a:ahLst/>
            <a:cxnLst/>
            <a:rect l="l" t="t" r="r" b="b"/>
            <a:pathLst>
              <a:path w="1405254" h="859789">
                <a:moveTo>
                  <a:pt x="0" y="859536"/>
                </a:moveTo>
                <a:lnTo>
                  <a:pt x="1405127" y="859536"/>
                </a:lnTo>
                <a:lnTo>
                  <a:pt x="1405127" y="0"/>
                </a:lnTo>
                <a:lnTo>
                  <a:pt x="0" y="0"/>
                </a:lnTo>
                <a:lnTo>
                  <a:pt x="0" y="8595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827803" y="5623184"/>
            <a:ext cx="1461770" cy="0"/>
          </a:xfrm>
          <a:custGeom>
            <a:avLst/>
            <a:gdLst/>
            <a:ahLst/>
            <a:cxnLst/>
            <a:rect l="l" t="t" r="r" b="b"/>
            <a:pathLst>
              <a:path w="1461770">
                <a:moveTo>
                  <a:pt x="0" y="0"/>
                </a:moveTo>
                <a:lnTo>
                  <a:pt x="1461221" y="0"/>
                </a:lnTo>
              </a:path>
            </a:pathLst>
          </a:custGeom>
          <a:ln w="12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6436" y="5762210"/>
            <a:ext cx="230504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2486" y="5383093"/>
            <a:ext cx="6734175" cy="915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>
                <a:tab pos="6612255" algn="l"/>
              </a:tabLst>
              <a:defRPr/>
            </a:pP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Classical</a:t>
            </a:r>
            <a:r>
              <a:rPr kumimoji="0" sz="2700" b="0" i="0" u="none" strike="noStrike" kern="0" cap="none" spc="30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biasing</a:t>
            </a:r>
            <a:r>
              <a:rPr kumimoji="0" sz="2700" b="0" i="0" u="none" strike="noStrike" kern="0" cap="none" spc="284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700" b="0" i="0" u="none" strike="noStrike" kern="0" cap="none" spc="284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BJTs</a:t>
            </a:r>
            <a:r>
              <a:rPr kumimoji="0" sz="2700" b="0" i="0" u="none" strike="noStrike" kern="0" cap="none" spc="27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700" b="0" i="0" u="none" strike="noStrike" kern="0" cap="none" spc="27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700" b="0" i="0" u="none" strike="noStrike" kern="0" cap="none" spc="315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2700" b="0" i="0" u="none" strike="noStrike" kern="0" cap="none" spc="30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2700" b="0" i="0" u="none" strike="noStrike" kern="0" cap="none" spc="277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supply:</a:t>
            </a:r>
            <a:r>
              <a:rPr kumimoji="0" sz="2700" b="0" i="0" u="none" strike="noStrike" kern="0" cap="none" spc="277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1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(a)</a:t>
            </a:r>
            <a:r>
              <a:rPr kumimoji="0" sz="2700" b="1" i="0" u="none" strike="noStrike" kern="0" cap="none" spc="27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1" i="0" u="none" strike="noStrike" kern="0" cap="none" spc="-15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circuit;</a:t>
            </a:r>
            <a:r>
              <a:rPr kumimoji="0" sz="2700" b="1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23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(b)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</a:t>
            </a:r>
            <a:r>
              <a:rPr kumimoji="0" sz="1800" b="1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r>
              <a:rPr kumimoji="0" sz="18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divider</a:t>
            </a:r>
            <a:r>
              <a:rPr kumimoji="0" sz="18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supplying</a:t>
            </a:r>
            <a:r>
              <a:rPr kumimoji="0" sz="1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replaced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Thévenin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equivalent.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28087" y="5964051"/>
            <a:ext cx="1289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39411" y="5584934"/>
            <a:ext cx="1289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11513" y="5576844"/>
            <a:ext cx="81280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25" b="0" i="0" u="none" strike="noStrike" kern="0" cap="none" spc="172" normalizeH="0" baseline="-3427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3525" b="0" i="0" u="none" strike="noStrike" kern="0" cap="none" spc="-120" normalizeH="0" baseline="-3427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sng" strike="noStrike" kern="0" cap="none" spc="4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350" b="0" i="0" u="sng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kumimoji="0" sz="2025" b="0" i="0" u="none" strike="noStrike" kern="0" cap="none" spc="330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endParaRPr kumimoji="0" sz="2025" b="0" i="0" u="none" strike="noStrike" kern="0" cap="none" spc="0" normalizeH="0" baseline="-24691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08024" y="5974212"/>
            <a:ext cx="65405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</a:t>
            </a:r>
            <a:r>
              <a:rPr kumimoji="0" sz="25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3604" y="5118837"/>
            <a:ext cx="176720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25" b="0" i="0" u="none" strike="noStrike" kern="0" cap="none" spc="172" normalizeH="0" baseline="-2127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3525" b="0" i="0" u="none" strike="noStrike" kern="0" cap="none" spc="-247" normalizeH="0" baseline="-2127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5325" b="0" i="1" u="none" strike="noStrike" kern="0" cap="none" spc="254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5325" b="0" i="1" u="none" strike="noStrike" kern="0" cap="none" spc="-450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350" b="0" i="1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r>
              <a:rPr kumimoji="0" sz="1350" b="0" i="1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247" normalizeH="0" baseline="2127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</a:t>
            </a:r>
            <a:r>
              <a:rPr kumimoji="0" sz="5325" b="0" i="1" u="none" strike="noStrike" kern="0" cap="none" spc="247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5325" b="0" i="1" u="none" strike="noStrike" kern="0" cap="none" spc="-450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350" b="0" i="1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51876" y="5131308"/>
            <a:ext cx="2219325" cy="1310640"/>
          </a:xfrm>
          <a:custGeom>
            <a:avLst/>
            <a:gdLst/>
            <a:ahLst/>
            <a:cxnLst/>
            <a:rect l="l" t="t" r="r" b="b"/>
            <a:pathLst>
              <a:path w="2219325" h="1310639">
                <a:moveTo>
                  <a:pt x="0" y="1310640"/>
                </a:moveTo>
                <a:lnTo>
                  <a:pt x="2218944" y="1310640"/>
                </a:lnTo>
                <a:lnTo>
                  <a:pt x="2218944" y="0"/>
                </a:lnTo>
                <a:lnTo>
                  <a:pt x="0" y="0"/>
                </a:lnTo>
                <a:lnTo>
                  <a:pt x="0" y="1310640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76133" y="1161415"/>
            <a:ext cx="185991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76910" algn="l"/>
                <a:tab pos="1402715" algn="l"/>
                <a:tab pos="1677035" algn="l"/>
              </a:tabLst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current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	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IE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determined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09201" y="1161415"/>
            <a:ext cx="1127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48970" algn="l"/>
              </a:tabLst>
              <a:defRPr/>
            </a:pP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6985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81075" algn="l"/>
              </a:tabLst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writing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6133" y="1710309"/>
            <a:ext cx="30549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Kirchhoff</a:t>
            </a:r>
            <a:r>
              <a:rPr kumimoji="0" sz="1800" b="0" i="1" u="none" strike="noStrike" kern="0" cap="none" spc="3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loop</a:t>
            </a:r>
            <a:r>
              <a:rPr kumimoji="0" sz="1800" b="0" i="1" u="none" strike="noStrike" kern="0" cap="none" spc="3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equation</a:t>
            </a:r>
            <a:r>
              <a:rPr kumimoji="0" sz="1800" b="0" i="1" u="none" strike="noStrike" kern="0" cap="none" spc="3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1" u="none" strike="noStrike" kern="0" cap="none" spc="3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base–emitter–</a:t>
            </a:r>
            <a:r>
              <a:rPr kumimoji="0" sz="1800" b="0" i="1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ground</a:t>
            </a:r>
            <a:r>
              <a:rPr kumimoji="0" sz="1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loop,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labeled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L,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substituting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37475" y="4485974"/>
            <a:ext cx="651510" cy="0"/>
          </a:xfrm>
          <a:custGeom>
            <a:avLst/>
            <a:gdLst/>
            <a:ahLst/>
            <a:cxnLst/>
            <a:rect l="l" t="t" r="r" b="b"/>
            <a:pathLst>
              <a:path w="651509">
                <a:moveTo>
                  <a:pt x="0" y="0"/>
                </a:moveTo>
                <a:lnTo>
                  <a:pt x="650934" y="0"/>
                </a:lnTo>
              </a:path>
            </a:pathLst>
          </a:custGeom>
          <a:ln w="1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43811" y="4448097"/>
            <a:ext cx="51689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>
                <a:tab pos="387350" algn="l"/>
              </a:tabLst>
              <a:defRPr/>
            </a:pPr>
            <a:r>
              <a:rPr kumimoji="0" sz="1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1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1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10834" y="4448097"/>
            <a:ext cx="1390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72288" y="4448097"/>
            <a:ext cx="255904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57487" y="4246950"/>
            <a:ext cx="23495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32087" y="3583815"/>
            <a:ext cx="521334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25" b="0" i="0" u="none" strike="noStrike" kern="0" cap="none" spc="-37" normalizeH="0" baseline="1418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3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21722" y="4246950"/>
            <a:ext cx="158940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>
                <a:tab pos="859790" algn="l"/>
                <a:tab pos="1358900" algn="l"/>
              </a:tabLst>
              <a:defRPr/>
            </a:pPr>
            <a:r>
              <a:rPr kumimoji="0" sz="23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02071" y="4056957"/>
            <a:ext cx="151320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>
                <a:tab pos="624205" algn="l"/>
                <a:tab pos="1126490" algn="l"/>
              </a:tabLst>
              <a:defRPr/>
            </a:pPr>
            <a:r>
              <a:rPr kumimoji="0" sz="3525" b="0" i="0" u="none" strike="noStrike" kern="0" cap="none" spc="172" normalizeH="0" baseline="-3546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3525" b="0" i="0" u="none" strike="noStrike" kern="0" cap="none" spc="-127" normalizeH="0" baseline="-3546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525" b="0" i="0" u="none" strike="noStrike" kern="0" cap="none" spc="30" normalizeH="0" baseline="118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</a:t>
            </a:r>
            <a:r>
              <a:rPr kumimoji="0" sz="3525" b="0" i="0" u="none" strike="noStrike" kern="0" cap="none" spc="0" normalizeH="0" baseline="118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025" b="0" i="0" u="none" strike="noStrike" kern="0" cap="none" spc="157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025" b="0" i="0" u="none" strike="noStrike" kern="0" cap="none" spc="0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3525" b="0" i="0" u="none" strike="noStrike" kern="0" cap="none" spc="150" normalizeH="0" baseline="118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</a:t>
            </a:r>
            <a:r>
              <a:rPr kumimoji="0" sz="3525" b="0" i="0" u="none" strike="noStrike" kern="0" cap="none" spc="150" normalizeH="0" baseline="-3546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endParaRPr kumimoji="0" sz="3525" b="0" i="0" u="none" strike="noStrike" kern="0" cap="none" spc="0" normalizeH="0" baseline="-3546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11703" y="4488032"/>
            <a:ext cx="62738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325" b="0" i="1" u="none" strike="noStrike" kern="0" cap="none" spc="254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5325" b="0" i="1" u="none" strike="noStrike" kern="0" cap="none" spc="-465" normalizeH="0" baseline="23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350" b="0" i="1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02071" y="3357816"/>
            <a:ext cx="2767330" cy="568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025" b="0" i="0" u="none" strike="noStrike" kern="0" cap="none" spc="322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350" b="0" i="0" u="none" strike="noStrike" kern="0" cap="none" spc="2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025" b="0" i="0" u="none" strike="noStrike" kern="0" cap="none" spc="322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025" b="0" i="0" u="none" strike="noStrike" kern="0" cap="none" spc="494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5325" b="0" i="1" u="none" strike="noStrike" kern="0" cap="none" spc="277" normalizeH="0" baseline="-1173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5325" b="0" i="1" u="none" strike="noStrike" kern="0" cap="none" spc="-450" normalizeH="0" baseline="-1173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25" b="0" i="1" u="none" strike="noStrike" kern="0" cap="none" spc="157" normalizeH="0" baseline="-3703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r>
              <a:rPr kumimoji="0" sz="2025" b="0" i="1" u="none" strike="noStrike" kern="0" cap="none" spc="225" normalizeH="0" baseline="-3703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025" b="0" i="0" u="none" strike="noStrike" kern="0" cap="none" spc="307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35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025" b="0" i="0" u="none" strike="noStrike" kern="0" cap="none" spc="307" normalizeH="0" baseline="-2469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025" b="0" i="0" u="none" strike="noStrike" kern="0" cap="none" spc="0" normalizeH="0" baseline="-24691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32243" y="4463465"/>
            <a:ext cx="1072515" cy="469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82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25" b="0" i="0" u="none" strike="noStrike" kern="0" cap="none" spc="120" normalizeH="0" baseline="4373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</a:t>
            </a:r>
            <a:r>
              <a:rPr kumimoji="0" sz="3525" b="0" i="0" u="none" strike="noStrike" kern="0" cap="none" spc="-52" normalizeH="0" baseline="4373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</a:t>
            </a:r>
            <a:r>
              <a:rPr kumimoji="0" sz="25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3525" b="0" i="0" u="none" strike="noStrike" kern="0" cap="none" spc="300" normalizeH="0" baseline="4373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</a:t>
            </a:r>
            <a:endParaRPr kumimoji="0" sz="3525" b="0" i="0" u="none" strike="noStrike" kern="0" cap="none" spc="0" normalizeH="0" baseline="43735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  <a:p>
            <a:pPr marL="38100" marR="0" lvl="0" indent="0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95985" algn="l"/>
              </a:tabLst>
              <a:defRPr/>
            </a:pPr>
            <a:r>
              <a:rPr kumimoji="0" sz="2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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3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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94804" y="3485388"/>
            <a:ext cx="4136390" cy="1490980"/>
          </a:xfrm>
          <a:custGeom>
            <a:avLst/>
            <a:gdLst/>
            <a:ahLst/>
            <a:cxnLst/>
            <a:rect l="l" t="t" r="r" b="b"/>
            <a:pathLst>
              <a:path w="4136390" h="1490979">
                <a:moveTo>
                  <a:pt x="0" y="1490472"/>
                </a:moveTo>
                <a:lnTo>
                  <a:pt x="4136136" y="1490472"/>
                </a:lnTo>
                <a:lnTo>
                  <a:pt x="4136136" y="0"/>
                </a:lnTo>
                <a:lnTo>
                  <a:pt x="0" y="0"/>
                </a:lnTo>
                <a:lnTo>
                  <a:pt x="0" y="149047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8" y="465200"/>
            <a:ext cx="661162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Self</a:t>
            </a:r>
            <a:r>
              <a:rPr sz="4400" b="0" spc="-130" dirty="0">
                <a:latin typeface="Calibri"/>
                <a:cs typeface="Calibri"/>
              </a:rPr>
              <a:t> </a:t>
            </a:r>
            <a:r>
              <a:rPr sz="4400" b="0" spc="-25" dirty="0">
                <a:latin typeface="Calibri"/>
                <a:cs typeface="Calibri"/>
              </a:rPr>
              <a:t>Bias/Voltage</a:t>
            </a:r>
            <a:r>
              <a:rPr sz="4400" b="0" spc="-10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Divider</a:t>
            </a:r>
            <a:r>
              <a:rPr sz="4400" b="0" spc="-13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67383" y="1143000"/>
            <a:ext cx="6096000" cy="4502150"/>
            <a:chOff x="1167383" y="1143000"/>
            <a:chExt cx="6096000" cy="450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1143000"/>
              <a:ext cx="2356104" cy="4337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0127" y="1286255"/>
              <a:ext cx="3953255" cy="43586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02486" y="5449315"/>
            <a:ext cx="62210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Classical</a:t>
            </a:r>
            <a:r>
              <a:rPr kumimoji="0" sz="18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biasing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BJTs</a:t>
            </a:r>
            <a:r>
              <a:rPr kumimoji="0" sz="1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18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18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supply:</a:t>
            </a:r>
            <a:r>
              <a:rPr kumimoji="0" sz="18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(a)</a:t>
            </a:r>
            <a:r>
              <a:rPr kumimoji="0" sz="1800" b="1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circuit;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(b)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</a:t>
            </a:r>
            <a:r>
              <a:rPr kumimoji="0" sz="1800" b="1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r>
              <a:rPr kumimoji="0" sz="18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divider</a:t>
            </a:r>
            <a:r>
              <a:rPr kumimoji="0" sz="18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supplying</a:t>
            </a:r>
            <a:r>
              <a:rPr kumimoji="0" sz="1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replaced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Thévenin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equivalent.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89423" y="3135217"/>
            <a:ext cx="508634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25" b="0" i="0" u="none" strike="noStrike" kern="0" cap="none" spc="-37" normalizeH="0" baseline="1418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5573" y="3059037"/>
            <a:ext cx="261048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235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100" b="0" i="0" u="none" strike="noStrike" kern="0" cap="none" spc="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CC</a:t>
            </a:r>
            <a:r>
              <a:rPr kumimoji="0" sz="2100" b="0" i="0" u="none" strike="noStrike" kern="0" cap="none" spc="47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2350" b="0" i="0" u="none" strike="noStrike" kern="0" cap="none" spc="-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r>
              <a:rPr kumimoji="0" sz="2100" b="0" i="0" u="none" strike="noStrike" kern="0" cap="none" spc="48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</a:t>
            </a:r>
            <a:r>
              <a:rPr kumimoji="0" sz="2350" b="0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307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35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307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100" b="0" i="0" u="none" strike="noStrike" kern="0" cap="none" spc="0" normalizeH="0" baseline="-23809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52131" y="3058667"/>
            <a:ext cx="3246120" cy="481965"/>
          </a:xfrm>
          <a:custGeom>
            <a:avLst/>
            <a:gdLst/>
            <a:ahLst/>
            <a:cxnLst/>
            <a:rect l="l" t="t" r="r" b="b"/>
            <a:pathLst>
              <a:path w="3246120" h="481964">
                <a:moveTo>
                  <a:pt x="0" y="481584"/>
                </a:moveTo>
                <a:lnTo>
                  <a:pt x="3246120" y="481584"/>
                </a:lnTo>
                <a:lnTo>
                  <a:pt x="3246120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62591" y="1561851"/>
            <a:ext cx="512445" cy="948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 marR="30480" lvl="0" indent="0" defTabSz="914400" eaLnBrk="1" fontAlgn="auto" latinLnBrk="0" hangingPunct="1">
              <a:lnSpc>
                <a:spcPct val="1288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25" b="0" i="0" u="none" strike="noStrike" kern="0" cap="none" spc="-37" normalizeH="0" baseline="1418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 </a:t>
            </a:r>
            <a:r>
              <a:rPr kumimoji="0" sz="3525" b="0" i="0" u="none" strike="noStrike" kern="0" cap="none" spc="-37" normalizeH="0" baseline="1418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30698" y="1487175"/>
            <a:ext cx="3546475" cy="9467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V</a:t>
            </a:r>
            <a:r>
              <a:rPr kumimoji="0" sz="2100" b="0" i="0" u="none" strike="noStrike" kern="0" cap="none" spc="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r>
              <a:rPr kumimoji="0" sz="2100" b="0" i="0" u="none" strike="noStrike" kern="0" cap="none" spc="434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2350" b="0" i="0" u="none" strike="noStrike" kern="0" cap="none" spc="-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100" b="0" i="0" u="none" strike="noStrike" kern="0" cap="none" spc="47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</a:t>
            </a:r>
            <a:r>
              <a:rPr kumimoji="0" sz="2350" b="0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(I</a:t>
            </a:r>
            <a:r>
              <a:rPr kumimoji="0" sz="2100" b="0" i="0" u="none" strike="noStrike" kern="0" cap="none" spc="179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100" b="0" i="0" u="none" strike="noStrike" kern="0" cap="none" spc="47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157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r>
              <a:rPr kumimoji="0" sz="2100" b="0" i="0" u="none" strike="noStrike" kern="0" cap="none" spc="-97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)R</a:t>
            </a:r>
            <a:r>
              <a:rPr kumimoji="0" sz="2350" b="0" i="0" u="none" strike="noStrike" kern="0" cap="none" spc="-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100" b="0" i="0" u="none" strike="noStrike" kern="0" cap="none" spc="2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100" b="0" i="0" u="none" strike="noStrike" kern="0" cap="none" spc="0" normalizeH="0" baseline="-23809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V</a:t>
            </a:r>
            <a:r>
              <a:rPr kumimoji="0" sz="2100" b="0" i="0" u="none" strike="noStrike" kern="0" cap="none" spc="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r>
              <a:rPr kumimoji="0" sz="2100" b="0" i="0" u="none" strike="noStrike" kern="0" cap="none" spc="434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2350" b="0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179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100" b="0" i="0" u="none" strike="noStrike" kern="0" cap="none" spc="-135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(R</a:t>
            </a:r>
            <a:r>
              <a:rPr kumimoji="0" sz="2350" b="0" i="0" u="none" strike="noStrike" kern="0" cap="none" spc="-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100" b="0" i="0" u="none" strike="noStrike" kern="0" cap="none" spc="8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100" b="0" i="0" u="none" strike="noStrike" kern="0" cap="none" spc="47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35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100" b="0" i="0" u="none" strike="noStrike" kern="0" cap="none" spc="-37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35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</a:t>
            </a:r>
            <a:r>
              <a:rPr kumimoji="0" sz="235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27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r>
              <a:rPr kumimoji="0" sz="235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27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100" b="0" i="0" u="none" strike="noStrike" kern="0" cap="none" spc="0" normalizeH="0" baseline="-23809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2591" y="1124786"/>
            <a:ext cx="326707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100" b="0" i="0" u="none" strike="noStrike" kern="0" cap="none" spc="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BB</a:t>
            </a:r>
            <a:r>
              <a:rPr kumimoji="0" sz="2100" b="0" i="0" u="none" strike="noStrike" kern="0" cap="none" spc="112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23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100" b="0" i="0" u="none" strike="noStrike" kern="0" cap="none" spc="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r>
              <a:rPr kumimoji="0" sz="2100" b="0" i="0" u="none" strike="noStrike" kern="0" cap="none" spc="615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100" b="0" i="0" u="none" strike="noStrike" kern="0" cap="none" spc="487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235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35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100" b="0" i="0" u="none" strike="noStrike" kern="0" cap="none" spc="30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100" b="0" i="0" u="none" strike="noStrike" kern="0" cap="none" spc="0" normalizeH="0" baseline="-23809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25411" y="1129283"/>
            <a:ext cx="4188460" cy="1390015"/>
          </a:xfrm>
          <a:custGeom>
            <a:avLst/>
            <a:gdLst/>
            <a:ahLst/>
            <a:cxnLst/>
            <a:rect l="l" t="t" r="r" b="b"/>
            <a:pathLst>
              <a:path w="4188459" h="1390014">
                <a:moveTo>
                  <a:pt x="0" y="1389888"/>
                </a:moveTo>
                <a:lnTo>
                  <a:pt x="4187952" y="1389888"/>
                </a:lnTo>
                <a:lnTo>
                  <a:pt x="4187952" y="0"/>
                </a:lnTo>
                <a:lnTo>
                  <a:pt x="0" y="0"/>
                </a:lnTo>
                <a:lnTo>
                  <a:pt x="0" y="13898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62560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Self</a:t>
            </a:r>
            <a:r>
              <a:rPr sz="4400" b="0" spc="-130" dirty="0">
                <a:latin typeface="Calibri"/>
                <a:cs typeface="Calibri"/>
              </a:rPr>
              <a:t> </a:t>
            </a:r>
            <a:r>
              <a:rPr sz="4400" b="0" spc="-25" dirty="0">
                <a:latin typeface="Calibri"/>
                <a:cs typeface="Calibri"/>
              </a:rPr>
              <a:t>Bias/Voltage</a:t>
            </a:r>
            <a:r>
              <a:rPr sz="4400" b="0" spc="-10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Divider</a:t>
            </a:r>
            <a:r>
              <a:rPr sz="4400" b="0" spc="-13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488" y="1429511"/>
            <a:ext cx="2898986" cy="43211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0872" y="1447291"/>
            <a:ext cx="441642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lvl="0" indent="-635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94444"/>
              <a:buFont typeface="Wingdings"/>
              <a:buChar char=""/>
              <a:tabLst>
                <a:tab pos="21653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Biasing</a:t>
            </a:r>
            <a:r>
              <a:rPr kumimoji="0" sz="1800" b="0" i="0" u="none" strike="noStrike" kern="0" cap="none" spc="4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4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BJT</a:t>
            </a:r>
            <a:r>
              <a:rPr kumimoji="0" sz="1800" b="0" i="0" u="none" strike="noStrike" kern="0" cap="none" spc="40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800" b="0" i="0" u="none" strike="noStrike" kern="0" cap="none" spc="4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1800" b="0" i="0" u="none" strike="noStrike" kern="0" cap="none" spc="43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1800" b="0" i="0" u="none" strike="noStrike" kern="0" cap="none" spc="4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supplies.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Resistor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RB</a:t>
            </a:r>
            <a:r>
              <a:rPr kumimoji="0" sz="1800" b="0" i="1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1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needed</a:t>
            </a:r>
            <a:r>
              <a:rPr kumimoji="0" sz="1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8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</a:t>
            </a:r>
            <a:r>
              <a:rPr kumimoji="0" sz="18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capacitively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coupled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255904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4444"/>
              <a:buFont typeface="Wingdings"/>
              <a:buChar char=""/>
              <a:tabLst>
                <a:tab pos="26860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Otherwise,</a:t>
            </a:r>
            <a:r>
              <a:rPr kumimoji="0" sz="18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directly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ground,</a:t>
            </a:r>
            <a:r>
              <a:rPr kumimoji="0" sz="18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4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4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grounded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source,</a:t>
            </a:r>
            <a:r>
              <a:rPr kumimoji="0" sz="1800" b="0" i="0" u="none" strike="noStrike" kern="0" cap="none" spc="4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resulting</a:t>
            </a:r>
            <a:r>
              <a:rPr kumimoji="0" sz="1800" b="0" i="0" u="none" strike="noStrike" kern="0" cap="none" spc="4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4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almost</a:t>
            </a:r>
            <a:r>
              <a:rPr kumimoji="0" sz="1800" b="0" i="0" u="none" strike="noStrike" kern="0" cap="none" spc="4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total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β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-independence</a:t>
            </a:r>
            <a:r>
              <a:rPr kumimoji="0" sz="18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bias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current.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68573" y="4389499"/>
            <a:ext cx="2094230" cy="497205"/>
            <a:chOff x="7168573" y="4389499"/>
            <a:chExt cx="2094230" cy="497205"/>
          </a:xfrm>
        </p:grpSpPr>
        <p:sp>
          <p:nvSpPr>
            <p:cNvPr id="6" name="object 6"/>
            <p:cNvSpPr/>
            <p:nvPr/>
          </p:nvSpPr>
          <p:spPr>
            <a:xfrm>
              <a:off x="8247528" y="4882390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6507" y="0"/>
                  </a:lnTo>
                </a:path>
              </a:pathLst>
            </a:custGeom>
            <a:ln w="7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176828" y="4397754"/>
              <a:ext cx="2077720" cy="0"/>
            </a:xfrm>
            <a:custGeom>
              <a:avLst/>
              <a:gdLst/>
              <a:ahLst/>
              <a:cxnLst/>
              <a:rect l="l" t="t" r="r" b="b"/>
              <a:pathLst>
                <a:path w="2077720">
                  <a:moveTo>
                    <a:pt x="0" y="0"/>
                  </a:moveTo>
                  <a:lnTo>
                    <a:pt x="2077128" y="0"/>
                  </a:lnTo>
                </a:path>
              </a:pathLst>
            </a:custGeom>
            <a:ln w="16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26584" y="4341983"/>
            <a:ext cx="321310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50" b="0" i="0" u="none" strike="noStrike" kern="0" cap="none" spc="3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endParaRPr kumimoji="0" sz="3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9043" y="4093916"/>
            <a:ext cx="16700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5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endParaRPr kumimoji="0" sz="3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5352" y="4352341"/>
            <a:ext cx="17716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4496" y="4599646"/>
            <a:ext cx="532130" cy="765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50" b="0" i="0" u="none" strike="noStrike" kern="0" cap="none" spc="40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3050" b="0" i="0" u="none" strike="noStrike" kern="0" cap="none" spc="40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3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4869" y="4549828"/>
            <a:ext cx="1353185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>
                <a:tab pos="676910" algn="l"/>
              </a:tabLst>
              <a:defRPr/>
            </a:pPr>
            <a:r>
              <a:rPr kumimoji="0" sz="3050" b="0" i="0" u="none" strike="noStrike" kern="0" cap="none" spc="45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sz="2625" b="0" i="0" u="none" strike="noStrike" kern="0" cap="none" spc="69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625" b="0" i="0" u="none" strike="noStrike" kern="0" cap="none" spc="0" normalizeH="0" baseline="-23809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3050" b="0" i="0" u="none" strike="noStrike" kern="0" cap="none" spc="3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</a:t>
            </a:r>
            <a:r>
              <a:rPr kumimoji="0" sz="305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4875" b="0" i="0" u="none" strike="noStrike" kern="0" cap="none" spc="217" normalizeH="0" baseline="-4017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</a:t>
            </a:r>
            <a:endParaRPr kumimoji="0" sz="4875" b="0" i="0" u="none" strike="noStrike" kern="0" cap="none" spc="0" normalizeH="0" baseline="-4017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5016" y="3755579"/>
            <a:ext cx="2483485" cy="723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75" b="0" i="0" u="none" strike="noStrike" kern="0" cap="none" spc="472" normalizeH="0" baseline="-209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</a:t>
            </a:r>
            <a:r>
              <a:rPr kumimoji="0" sz="4575" b="0" i="0" u="none" strike="noStrike" kern="0" cap="none" spc="-247" normalizeH="0" baseline="-209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6825" b="0" i="1" u="none" strike="noStrike" kern="0" cap="none" spc="832" normalizeH="0" baseline="244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6825" b="0" i="1" u="none" strike="noStrike" kern="0" cap="none" spc="-457" normalizeH="0" baseline="244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EE </a:t>
            </a:r>
            <a:r>
              <a:rPr kumimoji="0" sz="4575" b="0" i="0" u="none" strike="noStrike" kern="0" cap="none" spc="705" normalizeH="0" baseline="2094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</a:t>
            </a:r>
            <a:r>
              <a:rPr kumimoji="0" sz="6825" b="0" i="1" u="none" strike="noStrike" kern="0" cap="none" spc="705" normalizeH="0" baseline="244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6825" b="0" i="1" u="none" strike="noStrike" kern="0" cap="none" spc="-457" normalizeH="0" baseline="244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25540" y="3771900"/>
            <a:ext cx="3130550" cy="1670685"/>
          </a:xfrm>
          <a:custGeom>
            <a:avLst/>
            <a:gdLst/>
            <a:ahLst/>
            <a:cxnLst/>
            <a:rect l="l" t="t" r="r" b="b"/>
            <a:pathLst>
              <a:path w="3130550" h="1670685">
                <a:moveTo>
                  <a:pt x="0" y="1670303"/>
                </a:moveTo>
                <a:lnTo>
                  <a:pt x="3130295" y="1670303"/>
                </a:lnTo>
                <a:lnTo>
                  <a:pt x="3130295" y="0"/>
                </a:lnTo>
                <a:lnTo>
                  <a:pt x="0" y="0"/>
                </a:lnTo>
                <a:lnTo>
                  <a:pt x="0" y="1670303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DESIGN OF VOLTAGE DIVIDER BIAS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319CB-13EC-C040-756A-82F44F47D37A}"/>
              </a:ext>
            </a:extLst>
          </p:cNvPr>
          <p:cNvSpPr txBox="1"/>
          <p:nvPr/>
        </p:nvSpPr>
        <p:spPr>
          <a:xfrm>
            <a:off x="1719477" y="2723805"/>
            <a:ext cx="1581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</a:t>
            </a:r>
            <a:r>
              <a:rPr lang="en-IN" b="1" baseline="-25000" dirty="0"/>
              <a:t>E</a:t>
            </a:r>
            <a:r>
              <a:rPr lang="en-IN" b="1" dirty="0"/>
              <a:t> = 0.1 V</a:t>
            </a:r>
            <a:r>
              <a:rPr lang="en-IN" b="1" baseline="-25000" dirty="0"/>
              <a:t>CC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A67CF7-7399-7CF4-0178-08066462107B}"/>
              </a:ext>
            </a:extLst>
          </p:cNvPr>
          <p:cNvSpPr txBox="1"/>
          <p:nvPr/>
        </p:nvSpPr>
        <p:spPr>
          <a:xfrm>
            <a:off x="7141029" y="5503796"/>
            <a:ext cx="3913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</a:t>
            </a:r>
            <a:r>
              <a:rPr lang="en-IN" b="1" baseline="-25000" dirty="0"/>
              <a:t>2</a:t>
            </a:r>
            <a:r>
              <a:rPr lang="en-IN" b="1" dirty="0"/>
              <a:t> &lt;= 0.01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b="1" baseline="-25000" dirty="0"/>
              <a:t>dc</a:t>
            </a:r>
            <a:r>
              <a:rPr lang="en-IN" b="1" dirty="0"/>
              <a:t> R</a:t>
            </a:r>
            <a:r>
              <a:rPr lang="en-IN" b="1" baseline="-25000" dirty="0"/>
              <a:t>E</a:t>
            </a:r>
            <a:r>
              <a:rPr lang="en-IN" b="1" dirty="0"/>
              <a:t> </a:t>
            </a:r>
            <a:r>
              <a:rPr lang="en-IN" dirty="0"/>
              <a:t>and </a:t>
            </a:r>
            <a:r>
              <a:rPr lang="en-IN" b="1" dirty="0"/>
              <a:t>R</a:t>
            </a:r>
            <a:r>
              <a:rPr lang="en-IN" b="1" baseline="-25000" dirty="0"/>
              <a:t>1</a:t>
            </a:r>
            <a:r>
              <a:rPr lang="en-IN" b="1" dirty="0"/>
              <a:t> = (V</a:t>
            </a:r>
            <a:r>
              <a:rPr lang="en-IN" b="1" baseline="-25000" dirty="0"/>
              <a:t>1</a:t>
            </a:r>
            <a:r>
              <a:rPr lang="en-IN" b="1" dirty="0"/>
              <a:t>/V</a:t>
            </a:r>
            <a:r>
              <a:rPr lang="en-IN" b="1" baseline="-25000" dirty="0"/>
              <a:t>2</a:t>
            </a:r>
            <a:r>
              <a:rPr lang="en-IN" b="1" dirty="0"/>
              <a:t>)R</a:t>
            </a:r>
            <a:r>
              <a:rPr lang="en-IN" b="1" baseline="-25000" dirty="0"/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A3EF9C-6330-115C-128B-ECD1D5AFD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029" y="2237156"/>
            <a:ext cx="2980087" cy="22320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62B6AA-003C-A28C-C948-B01F934604E4}"/>
              </a:ext>
            </a:extLst>
          </p:cNvPr>
          <p:cNvSpPr txBox="1"/>
          <p:nvPr/>
        </p:nvSpPr>
        <p:spPr>
          <a:xfrm>
            <a:off x="100524" y="1831167"/>
            <a:ext cx="6400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circuit is biased for VCE to be at a midpoint value with a specified collector current. Start by making the emitter voltage approximately one-tenth of the supply voltage: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20A76-EE74-35C7-2ACE-CA4E915B7048}"/>
              </a:ext>
            </a:extLst>
          </p:cNvPr>
          <p:cNvSpPr txBox="1"/>
          <p:nvPr/>
        </p:nvSpPr>
        <p:spPr>
          <a:xfrm>
            <a:off x="149814" y="3063705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calculate the value of R</a:t>
            </a:r>
            <a:r>
              <a:rPr lang="en-IN" baseline="-25000" dirty="0"/>
              <a:t>E </a:t>
            </a:r>
            <a:r>
              <a:rPr lang="en-IN" dirty="0"/>
              <a:t>to set up the specified collector current</a:t>
            </a:r>
          </a:p>
          <a:p>
            <a:r>
              <a:rPr lang="en-IN" dirty="0"/>
              <a:t>                          </a:t>
            </a:r>
            <a:r>
              <a:rPr lang="en-IN" b="1" dirty="0"/>
              <a:t>R</a:t>
            </a:r>
            <a:r>
              <a:rPr lang="en-IN" b="1" baseline="-25000" dirty="0"/>
              <a:t>E</a:t>
            </a:r>
            <a:r>
              <a:rPr lang="en-IN" b="1" dirty="0"/>
              <a:t> = V</a:t>
            </a:r>
            <a:r>
              <a:rPr lang="en-IN" b="1" baseline="-25000" dirty="0"/>
              <a:t>E</a:t>
            </a:r>
            <a:r>
              <a:rPr lang="en-IN" b="1" dirty="0"/>
              <a:t>/I</a:t>
            </a:r>
            <a:r>
              <a:rPr lang="en-IN" b="1" baseline="-25000" dirty="0"/>
              <a:t>E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92AE7-7F51-B06C-AA9F-AECEC6849BC1}"/>
              </a:ext>
            </a:extLst>
          </p:cNvPr>
          <p:cNvSpPr txBox="1"/>
          <p:nvPr/>
        </p:nvSpPr>
        <p:spPr>
          <a:xfrm>
            <a:off x="0" y="3987035"/>
            <a:ext cx="610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Since the Q point needs to be at approximately the middle of the dc load </a:t>
            </a:r>
          </a:p>
          <a:p>
            <a:pPr algn="just"/>
            <a:r>
              <a:rPr lang="en-IN" dirty="0"/>
              <a:t>line, about 0.5V</a:t>
            </a:r>
            <a:r>
              <a:rPr lang="en-IN" baseline="-25000" dirty="0"/>
              <a:t>CC</a:t>
            </a:r>
            <a:r>
              <a:rPr lang="en-IN" dirty="0"/>
              <a:t> appears across the collector-emitter terminals. The remaining </a:t>
            </a:r>
          </a:p>
          <a:p>
            <a:pPr algn="just"/>
            <a:r>
              <a:rPr lang="en-IN" dirty="0"/>
              <a:t>0.4 V</a:t>
            </a:r>
            <a:r>
              <a:rPr lang="en-IN" baseline="-25000" dirty="0"/>
              <a:t>CC</a:t>
            </a:r>
            <a:r>
              <a:rPr lang="en-IN" dirty="0"/>
              <a:t> appears across the collector resistor; therefore: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1F6BB7-DA1F-578B-D88C-A8E597355EB6}"/>
              </a:ext>
            </a:extLst>
          </p:cNvPr>
          <p:cNvSpPr txBox="1"/>
          <p:nvPr/>
        </p:nvSpPr>
        <p:spPr>
          <a:xfrm>
            <a:off x="1807983" y="5508419"/>
            <a:ext cx="1404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</a:t>
            </a:r>
            <a:r>
              <a:rPr lang="en-IN" b="1" baseline="-25000" dirty="0"/>
              <a:t>C</a:t>
            </a:r>
            <a:r>
              <a:rPr lang="en-IN" b="1" dirty="0"/>
              <a:t> = 4 R</a:t>
            </a:r>
            <a:r>
              <a:rPr lang="en-IN" b="1" baseline="-25000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54BA2-DD66-B443-A1C8-EF9CA3371F77}"/>
              </a:ext>
            </a:extLst>
          </p:cNvPr>
          <p:cNvSpPr txBox="1"/>
          <p:nvPr/>
        </p:nvSpPr>
        <p:spPr>
          <a:xfrm>
            <a:off x="7010400" y="1831167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Design for a stiff voltage divider using the 100 :1 rule: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2879F2-D133-C835-71FD-C7FD4C2070C1}"/>
              </a:ext>
            </a:extLst>
          </p:cNvPr>
          <p:cNvSpPr txBox="1"/>
          <p:nvPr/>
        </p:nvSpPr>
        <p:spPr>
          <a:xfrm>
            <a:off x="7141029" y="4943253"/>
            <a:ext cx="4872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</a:t>
            </a:r>
            <a:r>
              <a:rPr lang="en-IN" b="1" baseline="-25000" dirty="0"/>
              <a:t>TH</a:t>
            </a:r>
            <a:r>
              <a:rPr lang="en-IN" b="1" dirty="0"/>
              <a:t> &lt;= 0.01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b="1" baseline="-25000" dirty="0"/>
              <a:t>dc</a:t>
            </a:r>
            <a:r>
              <a:rPr lang="en-IN" b="1" dirty="0"/>
              <a:t> R</a:t>
            </a:r>
            <a:r>
              <a:rPr lang="en-IN" b="1" baseline="-25000" dirty="0"/>
              <a:t>E</a:t>
            </a:r>
            <a:r>
              <a:rPr lang="en-IN" b="1" dirty="0"/>
              <a:t> </a:t>
            </a:r>
            <a:r>
              <a:rPr lang="en-IN" dirty="0"/>
              <a:t>Usually, R</a:t>
            </a:r>
            <a:r>
              <a:rPr lang="en-IN" baseline="-25000" dirty="0"/>
              <a:t>2</a:t>
            </a:r>
            <a:r>
              <a:rPr lang="en-IN" dirty="0"/>
              <a:t> is very small, therefore</a:t>
            </a:r>
            <a:endParaRPr lang="en-IN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31199-7AE6-5781-C94C-B4444F0301C6}"/>
              </a:ext>
            </a:extLst>
          </p:cNvPr>
          <p:cNvSpPr txBox="1"/>
          <p:nvPr/>
        </p:nvSpPr>
        <p:spPr>
          <a:xfrm>
            <a:off x="7010400" y="4469205"/>
            <a:ext cx="404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5.5. Input Resistance seen by source terminals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310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5.1  Calculate the Q-point for voltage divider bias as shown in Fig. 5.6 for R</a:t>
            </a:r>
            <a:r>
              <a:rPr lang="en-IN" baseline="-25000" dirty="0"/>
              <a:t>E</a:t>
            </a:r>
            <a:r>
              <a:rPr lang="en-IN" dirty="0"/>
              <a:t>= 1</a:t>
            </a:r>
            <a:r>
              <a:rPr lang="en-US" dirty="0"/>
              <a:t> k</a:t>
            </a:r>
            <a:r>
              <a:rPr lang="el-GR" dirty="0"/>
              <a:t>Ω</a:t>
            </a:r>
            <a:r>
              <a:rPr lang="en-US" dirty="0"/>
              <a:t>, and </a:t>
            </a:r>
            <a:r>
              <a:rPr lang="en-IN" dirty="0"/>
              <a:t>2.2 k</a:t>
            </a:r>
            <a:r>
              <a:rPr lang="el-GR" dirty="0"/>
              <a:t>Ω</a:t>
            </a:r>
            <a:r>
              <a:rPr lang="en-US" dirty="0"/>
              <a:t>, and 510</a:t>
            </a:r>
            <a:r>
              <a:rPr lang="el-GR" dirty="0"/>
              <a:t> Ω</a:t>
            </a:r>
            <a:r>
              <a:rPr lang="en-US" dirty="0"/>
              <a:t> Consider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BJT to be 100.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1.08 mA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1.08 mA * </a:t>
            </a:r>
            <a:r>
              <a:rPr lang="en-IN" dirty="0"/>
              <a:t>1</a:t>
            </a:r>
            <a:r>
              <a:rPr lang="en-US" dirty="0"/>
              <a:t> k</a:t>
            </a:r>
            <a:r>
              <a:rPr lang="el-GR" dirty="0"/>
              <a:t>Ω</a:t>
            </a:r>
            <a:r>
              <a:rPr lang="en-US" dirty="0"/>
              <a:t> = 1.08 V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10-(1.08 mA * 3.6</a:t>
            </a:r>
            <a:r>
              <a:rPr lang="en-US" dirty="0"/>
              <a:t> k</a:t>
            </a:r>
            <a:r>
              <a:rPr lang="el-GR" dirty="0"/>
              <a:t>Ω</a:t>
            </a:r>
            <a:r>
              <a:rPr lang="en-US" dirty="0"/>
              <a:t>)-1.08 =5.032 V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for 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dirty="0"/>
              <a:t> 2.2 k</a:t>
            </a:r>
            <a:r>
              <a:rPr lang="el-GR" dirty="0"/>
              <a:t>Ω</a:t>
            </a:r>
            <a:r>
              <a:rPr lang="en-US" dirty="0"/>
              <a:t>, the Q-point is ( 7.12 V,0.495 mA). It is observed that Q-point is moved down on load line.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for 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dirty="0"/>
              <a:t> 2.2 k</a:t>
            </a:r>
            <a:r>
              <a:rPr lang="el-GR" dirty="0"/>
              <a:t>Ω</a:t>
            </a:r>
            <a:r>
              <a:rPr lang="en-US" dirty="0"/>
              <a:t>, the Q-point is ( 1.45 V, 2.08 mA). It is observed that Q-point is moved up on load line.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AF12B-6480-1A97-4A1A-01F87F5CD8E1}"/>
              </a:ext>
            </a:extLst>
          </p:cNvPr>
          <p:cNvSpPr txBox="1"/>
          <p:nvPr/>
        </p:nvSpPr>
        <p:spPr>
          <a:xfrm>
            <a:off x="3748751" y="3063594"/>
            <a:ext cx="3133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5.6. Voltage Divider Bias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16FC9-B88C-C4EF-EF43-E4524770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58" y="1448148"/>
            <a:ext cx="1541853" cy="1615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06884D-4652-0695-DCBB-802B12D24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829" y="3371371"/>
            <a:ext cx="2176485" cy="6407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5.2. Design voltage divider bias for circuit shown in Fig. 5.7 to meet the following specifications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66167-9CAB-8699-9687-8AE9841D2570}"/>
              </a:ext>
            </a:extLst>
          </p:cNvPr>
          <p:cNvSpPr txBox="1"/>
          <p:nvPr/>
        </p:nvSpPr>
        <p:spPr>
          <a:xfrm>
            <a:off x="9008021" y="3364760"/>
            <a:ext cx="3133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5.7. Voltage divider for BJT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F59A2-2D3A-6DEE-4912-988CA50B2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473" y="872469"/>
            <a:ext cx="1332558" cy="2402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0D5D02-11A1-DE9B-462A-C28BF6A1C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93" y="1244222"/>
            <a:ext cx="3218378" cy="5472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ACC77A-E6B7-12B4-6136-179631D4F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44" y="2054929"/>
            <a:ext cx="5709242" cy="39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1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Which Bias is suitable for Amplifier?</a:t>
            </a:r>
            <a:endParaRPr lang="en-US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Emitter Bias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Base Bias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Collector feedback Bias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Voltage divider bias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831771"/>
            <a:ext cx="12192000" cy="546046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dirty="0"/>
              <a:t>Which of the following bias is less effected by Beta variation?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divider bias</a:t>
            </a: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US" dirty="0"/>
              <a:t>Collector feedback bias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3. Which of the following is usual design for operating point </a:t>
            </a:r>
            <a:r>
              <a:rPr lang="en-US" dirty="0" err="1"/>
              <a:t>voltge</a:t>
            </a:r>
            <a:r>
              <a:rPr lang="en-US" dirty="0"/>
              <a:t>?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0.8 V</a:t>
            </a:r>
            <a:r>
              <a:rPr lang="en-US" sz="1600" baseline="-25000" dirty="0"/>
              <a:t>CC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0.2 V</a:t>
            </a:r>
            <a:r>
              <a:rPr lang="en-US" sz="1600" baseline="-25000" dirty="0"/>
              <a:t>CC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0.5 V</a:t>
            </a:r>
            <a:r>
              <a:rPr lang="en-US" sz="1600" baseline="-25000" dirty="0"/>
              <a:t>CC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0.1 V</a:t>
            </a:r>
            <a:r>
              <a:rPr lang="en-US" sz="1600" baseline="-25000" dirty="0"/>
              <a:t>CC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788229"/>
            <a:ext cx="12192000" cy="589588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4. Operating point of the BJT does not depend on Current Gain</a:t>
            </a:r>
            <a:endParaRPr lang="en-IN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False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True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979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2616-E55E-DAB7-B0A0-D8540B2F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ACF-481C-7213-C089-BDAC243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7DA82E-43B9-32C7-5D30-307DE1BBBD76}"/>
              </a:ext>
            </a:extLst>
          </p:cNvPr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2572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23" y="2146654"/>
            <a:ext cx="11643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Describe the operation of Voltage Divider bias. Sketch circuit and obtain operating point.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Describe the equivalent input loop circuit for voltage divider bias.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Obtain the input and output circuit equations for voltage divider bias.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Identify the circuit requirements to design voltage divider bias.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Develop the design steps to bias BJT in to middle point  of load line using voltage divider bias.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Albert </a:t>
            </a:r>
            <a:r>
              <a:rPr lang="en-GB" dirty="0" err="1"/>
              <a:t>Malvino</a:t>
            </a:r>
            <a:r>
              <a:rPr lang="en-GB" dirty="0"/>
              <a:t>, David Bate, “Electronic Principles”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Robert L. </a:t>
            </a:r>
            <a:r>
              <a:rPr lang="en-IN" dirty="0" err="1"/>
              <a:t>Boylestad</a:t>
            </a:r>
            <a:r>
              <a:rPr lang="en-IN" dirty="0"/>
              <a:t> and Louis </a:t>
            </a:r>
            <a:r>
              <a:rPr lang="en-IN" dirty="0" err="1"/>
              <a:t>Nashelsky</a:t>
            </a:r>
            <a:r>
              <a:rPr lang="en-IN" dirty="0"/>
              <a:t> - “Electronic Devices and Circuit Theory”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1780855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3200" b="1" dirty="0"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cs typeface="Poppins" pitchFamily="2" charset="77"/>
                </a:rPr>
                <a:t>Team – </a:t>
              </a:r>
              <a:r>
                <a:rPr lang="en-US" sz="2000" b="1" cap="all" dirty="0">
                  <a:ln/>
                  <a:solidFill>
                    <a:schemeClr val="bg1"/>
                  </a:solidFill>
                  <a:cs typeface="Poppins" panose="00000500000000000000" pitchFamily="2" charset="0"/>
                  <a:sym typeface="BioRhyme ExtraBold"/>
                </a:rPr>
                <a:t>Analog electronic Circuit Design</a:t>
              </a:r>
              <a:endParaRPr lang="en-US" sz="2000" dirty="0">
                <a:solidFill>
                  <a:schemeClr val="bg1"/>
                </a:solidFill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641EAF-9950-CBC7-0185-84F0EED5A950}"/>
              </a:ext>
            </a:extLst>
          </p:cNvPr>
          <p:cNvSpPr txBox="1"/>
          <p:nvPr/>
        </p:nvSpPr>
        <p:spPr>
          <a:xfrm>
            <a:off x="-6221" y="5763439"/>
            <a:ext cx="6102220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2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Prepared by – Mr. S. Ravi Teja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2688</TotalTime>
  <Words>1421</Words>
  <Application>Microsoft Office PowerPoint</Application>
  <PresentationFormat>Widescreen</PresentationFormat>
  <Paragraphs>232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BioRhyme ExtraBold</vt:lpstr>
      <vt:lpstr>Calibri</vt:lpstr>
      <vt:lpstr>Gill Sans MT</vt:lpstr>
      <vt:lpstr>Poppins</vt:lpstr>
      <vt:lpstr>Symbol</vt:lpstr>
      <vt:lpstr>Times New Roman</vt:lpstr>
      <vt:lpstr>Wingdings</vt:lpstr>
      <vt:lpstr>Gallery</vt:lpstr>
      <vt:lpstr>Office Theme</vt:lpstr>
      <vt:lpstr>PowerPoint Presentation</vt:lpstr>
      <vt:lpstr>Session content</vt:lpstr>
      <vt:lpstr>PowerPoint Presentation</vt:lpstr>
      <vt:lpstr>VOLTAGE DIVIDER BIAS</vt:lpstr>
      <vt:lpstr>Thevenin's voltage at input terminals</vt:lpstr>
      <vt:lpstr>Thevenin's resistance at input terminal</vt:lpstr>
      <vt:lpstr>Analysis</vt:lpstr>
      <vt:lpstr>Self Bias/Voltage Divider Bias</vt:lpstr>
      <vt:lpstr>Self Bias/Voltage Divider Bias</vt:lpstr>
      <vt:lpstr>Self Bias/Voltage Divider Bias</vt:lpstr>
      <vt:lpstr>Self Bias/Voltage Divider Bias</vt:lpstr>
      <vt:lpstr>Self Bias/Voltage Divider Bias</vt:lpstr>
      <vt:lpstr>DESIGN OF VOLTAGE DIVIDER BIAS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CO-4: Feedback &amp; Oscillator Circuits</dc:title>
  <dc:creator>shruti suman</dc:creator>
  <cp:lastModifiedBy>syam sundar pillalamarri</cp:lastModifiedBy>
  <cp:revision>184</cp:revision>
  <dcterms:created xsi:type="dcterms:W3CDTF">2023-05-04T05:19:29Z</dcterms:created>
  <dcterms:modified xsi:type="dcterms:W3CDTF">2025-07-28T06:34:12Z</dcterms:modified>
</cp:coreProperties>
</file>