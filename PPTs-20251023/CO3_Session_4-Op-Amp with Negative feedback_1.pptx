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0"/>
  </p:handoutMasterIdLst>
  <p:sldIdLst>
    <p:sldId id="271" r:id="rId3"/>
    <p:sldId id="300" r:id="rId5"/>
    <p:sldId id="288" r:id="rId6"/>
    <p:sldId id="258" r:id="rId7"/>
    <p:sldId id="316" r:id="rId8"/>
    <p:sldId id="314" r:id="rId9"/>
    <p:sldId id="313" r:id="rId10"/>
    <p:sldId id="310" r:id="rId11"/>
    <p:sldId id="317" r:id="rId12"/>
    <p:sldId id="318" r:id="rId13"/>
    <p:sldId id="301" r:id="rId14"/>
    <p:sldId id="311" r:id="rId15"/>
    <p:sldId id="315" r:id="rId16"/>
    <p:sldId id="302" r:id="rId17"/>
    <p:sldId id="30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fld>
            <a:endParaRPr lang="en-IN"/>
          </a:p>
        </p:txBody>
      </p:sp>
    </p:spTree>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4">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emf"/><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emf"/></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3.png"/><Relationship Id="rId7" Type="http://schemas.openxmlformats.org/officeDocument/2006/relationships/image" Target="../media/image22.emf"/><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emf"/><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emf"/></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1">
            <a:extLst>
              <a:ext uri="{28A0092B-C50C-407E-A947-70E740481C1C}">
                <a14:useLocalDpi xmlns:a14="http://schemas.microsoft.com/office/drawing/2010/main" val="0"/>
              </a:ext>
            </a:extLst>
          </a:blip>
          <a:stretch>
            <a:fillRect/>
          </a:stretch>
        </p:blipFill>
        <p:spPr>
          <a:xfrm>
            <a:off x="62392" y="167951"/>
            <a:ext cx="6170855" cy="6111678"/>
          </a:xfrm>
          <a:prstGeom prst="rect">
            <a:avLst/>
          </a:prstGeom>
          <a:noFill/>
          <a:ln>
            <a:noFill/>
          </a:ln>
        </p:spPr>
      </p:pic>
      <p:sp>
        <p:nvSpPr>
          <p:cNvPr id="476" name="Google Shape;476;p16"/>
          <p:cNvSpPr txBox="1"/>
          <p:nvPr/>
        </p:nvSpPr>
        <p:spPr>
          <a:xfrm>
            <a:off x="4229226" y="2820599"/>
            <a:ext cx="7948938" cy="286004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Analog electronic Circuit Design</a:t>
            </a:r>
            <a:endParaRPr 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24ec2104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3200" b="1" cap="all" dirty="0">
                <a:solidFill>
                  <a:srgbClr val="C00000"/>
                </a:solidFill>
                <a:effectLst/>
                <a:cs typeface="Poppins" panose="00000500000000000000" pitchFamily="2" charset="0"/>
              </a:rPr>
              <a:t>Op-amp with negative feedback_1</a:t>
            </a:r>
            <a:endParaRPr lang="en-US" sz="3200" b="1" dirty="0">
              <a:solidFill>
                <a:srgbClr val="C00000"/>
              </a:solidFill>
              <a:effectLst/>
              <a:cs typeface="Poppins" panose="00000500000000000000" pitchFamily="2" charset="0"/>
            </a:endParaRPr>
          </a:p>
        </p:txBody>
      </p:sp>
      <p:sp>
        <p:nvSpPr>
          <p:cNvPr id="19" name="Rectangle: Rounded Corners 18"/>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ECE</a:t>
            </a:r>
            <a:endParaRPr lang="en-US" sz="3600" dirty="0">
              <a:solidFill>
                <a:srgbClr val="C00000"/>
              </a:solidFill>
              <a:cs typeface="Poppins" pitchFamily="2" charset="77"/>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AIM OF THE SESSION</a:t>
            </a:r>
            <a:endParaRPr lang="en-US" sz="2000" dirty="0"/>
          </a:p>
        </p:txBody>
      </p:sp>
      <p:sp>
        <p:nvSpPr>
          <p:cNvPr id="5" name="TextBox 4"/>
          <p:cNvSpPr txBox="1"/>
          <p:nvPr/>
        </p:nvSpPr>
        <p:spPr>
          <a:xfrm>
            <a:off x="885748" y="637745"/>
            <a:ext cx="10731286" cy="466410"/>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GB" dirty="0"/>
              <a:t>This session aims to discuss the significance of negative feedback for Op-Amp.</a:t>
            </a:r>
            <a:endParaRPr lang="en-US" sz="1600" b="0" i="0" dirty="0">
              <a:effectLst/>
              <a:latin typeface="Poppins"/>
              <a:cs typeface="Poppins"/>
            </a:endParaRPr>
          </a:p>
        </p:txBody>
      </p:sp>
      <p:sp>
        <p:nvSpPr>
          <p:cNvPr id="7" name="Rounded Rectangle 17"/>
          <p:cNvSpPr/>
          <p:nvPr/>
        </p:nvSpPr>
        <p:spPr>
          <a:xfrm>
            <a:off x="4053596" y="1630041"/>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INSTRUCTIONAL OBJECTIVES</a:t>
            </a:r>
            <a:endParaRPr lang="en-US" sz="2000" dirty="0"/>
          </a:p>
        </p:txBody>
      </p:sp>
      <p:sp>
        <p:nvSpPr>
          <p:cNvPr id="9" name="TextBox 8"/>
          <p:cNvSpPr txBox="1"/>
          <p:nvPr/>
        </p:nvSpPr>
        <p:spPr>
          <a:xfrm>
            <a:off x="885749" y="2241406"/>
            <a:ext cx="10731286"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endParaRPr lang="en-US" sz="1600" b="0" i="0" dirty="0">
              <a:effectLst/>
              <a:latin typeface="Poppins"/>
              <a:cs typeface="Poppins"/>
            </a:endParaRPr>
          </a:p>
          <a:p>
            <a:pPr marL="800100" lvl="1" indent="-342900">
              <a:buFont typeface="+mj-lt"/>
              <a:buAutoNum type="arabicPeriod"/>
            </a:pPr>
            <a:r>
              <a:rPr lang="en-GB" sz="1600" dirty="0"/>
              <a:t>Understand the advantages of negative feedback.</a:t>
            </a:r>
            <a:endParaRPr lang="en-GB" sz="1600" dirty="0"/>
          </a:p>
          <a:p>
            <a:pPr marL="800100" lvl="1" indent="-342900">
              <a:buFont typeface="+mj-lt"/>
              <a:buAutoNum type="arabicPeriod"/>
            </a:pPr>
            <a:r>
              <a:rPr lang="en-GB" sz="1600" dirty="0"/>
              <a:t>Discuss the non-inverting amplifier with negative feedback.</a:t>
            </a:r>
            <a:endParaRPr lang="en-GB" sz="1600" dirty="0"/>
          </a:p>
        </p:txBody>
      </p:sp>
      <p:pic>
        <p:nvPicPr>
          <p:cNvPr id="11" name="Graphic 10" descr="Bullseye outline"/>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2445925"/>
            <a:ext cx="914400" cy="914400"/>
          </a:xfrm>
          <a:prstGeom prst="rect">
            <a:avLst/>
          </a:prstGeom>
        </p:spPr>
      </p:pic>
      <p:sp>
        <p:nvSpPr>
          <p:cNvPr id="29" name="Rounded Rectangle 17"/>
          <p:cNvSpPr/>
          <p:nvPr/>
        </p:nvSpPr>
        <p:spPr>
          <a:xfrm>
            <a:off x="4315974" y="3969959"/>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endParaRPr lang="en-US" sz="2400" dirty="0"/>
          </a:p>
        </p:txBody>
      </p:sp>
      <p:pic>
        <p:nvPicPr>
          <p:cNvPr id="31" name="Graphic 30" descr="Idea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652" y="4846140"/>
            <a:ext cx="914400" cy="914400"/>
          </a:xfrm>
          <a:prstGeom prst="rect">
            <a:avLst/>
          </a:prstGeom>
        </p:spPr>
      </p:pic>
      <p:sp>
        <p:nvSpPr>
          <p:cNvPr id="37" name="TextBox 36"/>
          <p:cNvSpPr txBox="1"/>
          <p:nvPr/>
        </p:nvSpPr>
        <p:spPr>
          <a:xfrm>
            <a:off x="914400" y="4518510"/>
            <a:ext cx="10702634"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endParaRPr lang="en-US" sz="1600" b="0" i="0" dirty="0">
              <a:effectLst/>
              <a:latin typeface="Arial" panose="020B0604020202020204"/>
              <a:cs typeface="Arial" panose="020B0604020202020204"/>
            </a:endParaRPr>
          </a:p>
          <a:p>
            <a:pPr marL="800100" lvl="1" indent="-342900">
              <a:buFont typeface="+mj-lt"/>
              <a:buAutoNum type="arabicPeriod"/>
            </a:pPr>
            <a:r>
              <a:rPr lang="en-GB" sz="1600" dirty="0"/>
              <a:t>Understand the working of op-amp with negative feedback</a:t>
            </a:r>
            <a:endParaRPr lang="en-GB" sz="1600" dirty="0"/>
          </a:p>
          <a:p>
            <a:pPr marL="800100" lvl="1" indent="-342900">
              <a:buFont typeface="+mj-lt"/>
              <a:buAutoNum type="arabicPeriod"/>
            </a:pPr>
            <a:r>
              <a:rPr lang="en-GB" sz="1600" dirty="0"/>
              <a:t>Calculate and compare the electrical parameters of non-inverting amplifier with and without feedback.</a:t>
            </a:r>
            <a:endParaRPr lang="en-GB"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152440" y="895789"/>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Types of Feedback</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7" name="TextBox 6"/>
          <p:cNvSpPr txBox="1"/>
          <p:nvPr/>
        </p:nvSpPr>
        <p:spPr>
          <a:xfrm>
            <a:off x="1269423" y="1956092"/>
            <a:ext cx="9653154" cy="5029518"/>
          </a:xfrm>
          <a:prstGeom prst="rect">
            <a:avLst/>
          </a:prstGeom>
          <a:noFill/>
        </p:spPr>
        <p:txBody>
          <a:bodyPr wrap="square">
            <a:spAutoFit/>
          </a:bodyPr>
          <a:lstStyle/>
          <a:p>
            <a:pPr algn="just">
              <a:lnSpc>
                <a:spcPct val="150000"/>
              </a:lnSpc>
            </a:pPr>
            <a:r>
              <a:rPr lang="en-US" dirty="0"/>
              <a:t>If the output signal is fed back to the input either directly or via another network, it is referred to as a circuit with feedback.</a:t>
            </a:r>
            <a:endParaRPr lang="en-US" dirty="0"/>
          </a:p>
          <a:p>
            <a:pPr algn="just">
              <a:lnSpc>
                <a:spcPct val="150000"/>
              </a:lnSpc>
            </a:pPr>
            <a:r>
              <a:rPr lang="en-US" dirty="0"/>
              <a:t>If the signal fed back is of opposite polarity or out of phase by 180º, with respect to the input signal, the feedback is called negative feedback. It is also known as degenerative feedback. </a:t>
            </a:r>
            <a:endParaRPr lang="en-US" dirty="0"/>
          </a:p>
          <a:p>
            <a:pPr algn="just">
              <a:lnSpc>
                <a:spcPct val="150000"/>
              </a:lnSpc>
            </a:pPr>
            <a:r>
              <a:rPr lang="en-US" dirty="0"/>
              <a:t>If the signal fed back is of the same polarity or in phase with the input signal, the feedback is called positive feedback or regenerative feedback.</a:t>
            </a:r>
            <a:endParaRPr lang="en-US" dirty="0"/>
          </a:p>
          <a:p>
            <a:pPr algn="just">
              <a:lnSpc>
                <a:spcPct val="150000"/>
              </a:lnSpc>
            </a:pPr>
            <a:r>
              <a:rPr lang="en-US" dirty="0"/>
              <a:t>Negative feedback is used in amplifier circuits, whereas positive feedback is used in oscillator circuits.</a:t>
            </a:r>
            <a:endParaRPr lang="en-US" dirty="0"/>
          </a:p>
          <a:p>
            <a:pPr algn="just">
              <a:lnSpc>
                <a:spcPct val="150000"/>
              </a:lnSpc>
            </a:pPr>
            <a:r>
              <a:rPr lang="en-US" dirty="0"/>
              <a:t>Negative feedback stabilizes the gain, increases the bandwidth, changes the input and output resistances, decreases the nonlinear distortion, and reduces the effect of temperature and supply voltage variations on the output.</a:t>
            </a:r>
            <a:endParaRPr lang="en-US" dirty="0"/>
          </a:p>
          <a:p>
            <a:pPr algn="just">
              <a:lnSpc>
                <a:spcPct val="150000"/>
              </a:lnSpc>
            </a:pPr>
            <a:endParaRPr lang="en-US" dirty="0"/>
          </a:p>
          <a:p>
            <a:pPr algn="just">
              <a:lnSpc>
                <a:spcPct val="150000"/>
              </a:lnSpc>
            </a:pP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2862488" y="85780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Op-Amp with Feedback- Feedback Configurations </a:t>
            </a:r>
            <a:endParaRPr lang="en-US" sz="2400" dirty="0"/>
          </a:p>
        </p:txBody>
      </p:sp>
      <p:sp>
        <p:nvSpPr>
          <p:cNvPr id="2" name="TextBox 1"/>
          <p:cNvSpPr txBox="1"/>
          <p:nvPr/>
        </p:nvSpPr>
        <p:spPr>
          <a:xfrm>
            <a:off x="1342015" y="2090057"/>
            <a:ext cx="9340500" cy="2536528"/>
          </a:xfrm>
          <a:prstGeom prst="rect">
            <a:avLst/>
          </a:prstGeom>
          <a:noFill/>
        </p:spPr>
        <p:txBody>
          <a:bodyPr wrap="square" rtlCol="0">
            <a:spAutoFit/>
          </a:bodyPr>
          <a:lstStyle/>
          <a:p>
            <a:pPr>
              <a:lnSpc>
                <a:spcPct val="150000"/>
              </a:lnSpc>
            </a:pPr>
            <a:r>
              <a:rPr lang="en-IN" dirty="0"/>
              <a:t>A feedback amplifier or a closed-loop amplifier consists of two parts, an op-amp, and a feedback circuit.  There are four configurations as listed below:</a:t>
            </a:r>
            <a:endParaRPr lang="en-IN" dirty="0"/>
          </a:p>
          <a:p>
            <a:pPr>
              <a:lnSpc>
                <a:spcPct val="150000"/>
              </a:lnSpc>
            </a:pPr>
            <a:r>
              <a:rPr lang="en-IN" dirty="0"/>
              <a:t>	1. Voltage-series feedback</a:t>
            </a:r>
            <a:endParaRPr lang="en-IN" dirty="0"/>
          </a:p>
          <a:p>
            <a:pPr>
              <a:lnSpc>
                <a:spcPct val="150000"/>
              </a:lnSpc>
            </a:pPr>
            <a:r>
              <a:rPr lang="en-IN" dirty="0"/>
              <a:t>       2. Voltage-shunt feedback</a:t>
            </a:r>
            <a:endParaRPr lang="en-IN" dirty="0"/>
          </a:p>
          <a:p>
            <a:pPr>
              <a:lnSpc>
                <a:spcPct val="150000"/>
              </a:lnSpc>
            </a:pPr>
            <a:r>
              <a:rPr lang="en-IN" dirty="0"/>
              <a:t>       3. Current-series feedback</a:t>
            </a:r>
            <a:endParaRPr lang="en-IN" dirty="0"/>
          </a:p>
          <a:p>
            <a:pPr>
              <a:lnSpc>
                <a:spcPct val="150000"/>
              </a:lnSpc>
            </a:pPr>
            <a:r>
              <a:rPr lang="en-IN" dirty="0"/>
              <a:t>       4. Current-shunt feedback</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33469" y="884861"/>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Feedback Configurations</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8" name="Picture 7"/>
          <p:cNvPicPr>
            <a:picLocks noChangeAspect="1"/>
          </p:cNvPicPr>
          <p:nvPr/>
        </p:nvPicPr>
        <p:blipFill>
          <a:blip r:embed="rId1"/>
          <a:stretch>
            <a:fillRect/>
          </a:stretch>
        </p:blipFill>
        <p:spPr>
          <a:xfrm>
            <a:off x="382978" y="2030076"/>
            <a:ext cx="3025239" cy="2281970"/>
          </a:xfrm>
          <a:prstGeom prst="rect">
            <a:avLst/>
          </a:prstGeom>
        </p:spPr>
      </p:pic>
      <p:pic>
        <p:nvPicPr>
          <p:cNvPr id="10" name="Picture 9"/>
          <p:cNvPicPr>
            <a:picLocks noChangeAspect="1"/>
          </p:cNvPicPr>
          <p:nvPr/>
        </p:nvPicPr>
        <p:blipFill>
          <a:blip r:embed="rId2"/>
          <a:stretch>
            <a:fillRect/>
          </a:stretch>
        </p:blipFill>
        <p:spPr>
          <a:xfrm>
            <a:off x="3527680" y="2159597"/>
            <a:ext cx="2841732" cy="2022928"/>
          </a:xfrm>
          <a:prstGeom prst="rect">
            <a:avLst/>
          </a:prstGeom>
        </p:spPr>
      </p:pic>
      <p:pic>
        <p:nvPicPr>
          <p:cNvPr id="12" name="Picture 11"/>
          <p:cNvPicPr>
            <a:picLocks noChangeAspect="1"/>
          </p:cNvPicPr>
          <p:nvPr/>
        </p:nvPicPr>
        <p:blipFill>
          <a:blip r:embed="rId3"/>
          <a:stretch>
            <a:fillRect/>
          </a:stretch>
        </p:blipFill>
        <p:spPr>
          <a:xfrm>
            <a:off x="6488875" y="2159597"/>
            <a:ext cx="2492334" cy="1880182"/>
          </a:xfrm>
          <a:prstGeom prst="rect">
            <a:avLst/>
          </a:prstGeom>
        </p:spPr>
      </p:pic>
      <p:pic>
        <p:nvPicPr>
          <p:cNvPr id="14" name="Picture 13"/>
          <p:cNvPicPr>
            <a:picLocks noChangeAspect="1"/>
          </p:cNvPicPr>
          <p:nvPr/>
        </p:nvPicPr>
        <p:blipFill>
          <a:blip r:embed="rId4"/>
          <a:stretch>
            <a:fillRect/>
          </a:stretch>
        </p:blipFill>
        <p:spPr>
          <a:xfrm>
            <a:off x="9234764" y="2230970"/>
            <a:ext cx="2421928" cy="1880182"/>
          </a:xfrm>
          <a:prstGeom prst="rect">
            <a:avLst/>
          </a:prstGeom>
        </p:spPr>
      </p:pic>
      <p:sp>
        <p:nvSpPr>
          <p:cNvPr id="15" name="TextBox 14"/>
          <p:cNvSpPr txBox="1"/>
          <p:nvPr/>
        </p:nvSpPr>
        <p:spPr>
          <a:xfrm>
            <a:off x="1693908" y="4499691"/>
            <a:ext cx="9589933" cy="369332"/>
          </a:xfrm>
          <a:prstGeom prst="rect">
            <a:avLst/>
          </a:prstGeom>
          <a:noFill/>
        </p:spPr>
        <p:txBody>
          <a:bodyPr wrap="none" rtlCol="0">
            <a:spAutoFit/>
          </a:bodyPr>
          <a:lstStyle/>
          <a:p>
            <a:r>
              <a:rPr lang="en-IN" dirty="0"/>
              <a:t>Feedback Configurations    a) Voltage-Series    b) Voltage-shunt    c) Current-series   d) Current-shunt</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995352" y="957790"/>
            <a:ext cx="8102139" cy="74631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Voltage – Series Feedback Amplifier  or Non-Inverting Amplifier with feedback</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8" name="Picture 7"/>
          <p:cNvPicPr>
            <a:picLocks noChangeAspect="1"/>
          </p:cNvPicPr>
          <p:nvPr/>
        </p:nvPicPr>
        <p:blipFill>
          <a:blip r:embed="rId1"/>
          <a:stretch>
            <a:fillRect/>
          </a:stretch>
        </p:blipFill>
        <p:spPr>
          <a:xfrm>
            <a:off x="7182593" y="2649587"/>
            <a:ext cx="4370585" cy="3250623"/>
          </a:xfrm>
          <a:prstGeom prst="rect">
            <a:avLst/>
          </a:prstGeom>
        </p:spPr>
      </p:pic>
      <mc:AlternateContent xmlns:mc="http://schemas.openxmlformats.org/markup-compatibility/2006">
        <mc:Choice xmlns:a14="http://schemas.microsoft.com/office/drawing/2010/main" Requires="a14">
          <p:sp>
            <p:nvSpPr>
              <p:cNvPr id="2" name="TextBox 1"/>
              <p:cNvSpPr txBox="1"/>
              <p:nvPr/>
            </p:nvSpPr>
            <p:spPr>
              <a:xfrm>
                <a:off x="854202" y="2187922"/>
                <a:ext cx="7202404" cy="2437399"/>
              </a:xfrm>
              <a:prstGeom prst="rect">
                <a:avLst/>
              </a:prstGeom>
              <a:noFill/>
            </p:spPr>
            <p:txBody>
              <a:bodyPr wrap="square" rtlCol="0">
                <a:spAutoFit/>
              </a:bodyPr>
              <a:lstStyle/>
              <a:p>
                <a:r>
                  <a:rPr lang="en-IN" dirty="0"/>
                  <a:t>The following figure illustrates the voltage-series feedback amplifier containing op-amp and the feedback circuit with two resistors R1 and R2 </a:t>
                </a:r>
                <a:endParaRPr lang="en-IN" dirty="0"/>
              </a:p>
              <a:p>
                <a:r>
                  <a:rPr lang="en-IN" dirty="0"/>
                  <a:t>This circuit is also referred to as non-inverting amplifier with feedback.</a:t>
                </a:r>
                <a:endParaRPr lang="en-IN" dirty="0"/>
              </a:p>
              <a:p>
                <a:endParaRPr lang="en-IN" dirty="0"/>
              </a:p>
              <a:p>
                <a:r>
                  <a:rPr lang="en-IN" dirty="0"/>
                  <a:t>Open-loop voltage gain (or gain without feedback)  A= </a:t>
                </a:r>
                <a14:m>
                  <m:oMath xmlns:m="http://schemas.openxmlformats.org/officeDocument/2006/math">
                    <m:f>
                      <m:fPr>
                        <m:ctrlPr>
                          <a:rPr lang="en-IN" i="1" smtClean="0">
                            <a:latin typeface="Cambria Math" panose="02040503050406030204" pitchFamily="18" charset="0"/>
                          </a:rPr>
                        </m:ctrlPr>
                      </m:fPr>
                      <m:num>
                        <m:sSub>
                          <m:sSubPr>
                            <m:ctrlPr>
                              <a:rPr lang="en-IN"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𝑜</m:t>
                            </m:r>
                          </m:sub>
                        </m:sSub>
                      </m:num>
                      <m:den>
                        <m:sSub>
                          <m:sSubPr>
                            <m:ctrlPr>
                              <a:rPr lang="en-IN"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𝑖𝑑</m:t>
                            </m:r>
                          </m:sub>
                        </m:sSub>
                      </m:den>
                    </m:f>
                  </m:oMath>
                </a14:m>
                <a:endParaRPr lang="en-IN" dirty="0"/>
              </a:p>
              <a:p>
                <a:r>
                  <a:rPr lang="en-IN" dirty="0"/>
                  <a:t>Closed-loop voltage gain (or gain with feedback)    </a:t>
                </a:r>
                <a14:m>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𝐴</m:t>
                        </m:r>
                      </m:e>
                      <m:sub>
                        <m:r>
                          <a:rPr lang="en-IN" b="0" i="1" smtClean="0">
                            <a:latin typeface="Cambria Math" panose="02040503050406030204" pitchFamily="18" charset="0"/>
                          </a:rPr>
                          <m:t>𝐹</m:t>
                        </m:r>
                      </m:sub>
                    </m:sSub>
                    <m:r>
                      <a:rPr lang="en-IN" b="0" i="1" smtClean="0">
                        <a:latin typeface="Cambria Math" panose="02040503050406030204" pitchFamily="18" charset="0"/>
                      </a:rPr>
                      <m:t>=</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𝑜</m:t>
                            </m:r>
                          </m:sub>
                        </m:sSub>
                      </m:num>
                      <m:den>
                        <m:sSub>
                          <m:sSubPr>
                            <m:ctrlPr>
                              <a:rPr lang="en-IN" b="0"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𝑖𝑛</m:t>
                            </m:r>
                          </m:sub>
                        </m:sSub>
                      </m:den>
                    </m:f>
                  </m:oMath>
                </a14:m>
                <a:endParaRPr lang="en-IN" dirty="0"/>
              </a:p>
              <a:p>
                <a:r>
                  <a:rPr lang="en-IN" dirty="0"/>
                  <a:t>Gain of the feedback circuit      B = </a:t>
                </a:r>
                <a14:m>
                  <m:oMath xmlns:m="http://schemas.openxmlformats.org/officeDocument/2006/math">
                    <m:f>
                      <m:fPr>
                        <m:ctrlPr>
                          <a:rPr lang="en-IN" i="1" smtClean="0">
                            <a:latin typeface="Cambria Math" panose="02040503050406030204" pitchFamily="18" charset="0"/>
                          </a:rPr>
                        </m:ctrlPr>
                      </m:fPr>
                      <m:num>
                        <m:sSub>
                          <m:sSubPr>
                            <m:ctrlPr>
                              <a:rPr lang="en-IN"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𝑓</m:t>
                            </m:r>
                          </m:sub>
                        </m:sSub>
                      </m:num>
                      <m:den>
                        <m:sSub>
                          <m:sSubPr>
                            <m:ctrlPr>
                              <a:rPr lang="en-IN"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𝑜</m:t>
                            </m:r>
                          </m:sub>
                        </m:sSub>
                      </m:den>
                    </m:f>
                  </m:oMath>
                </a14:m>
                <a:endParaRPr lang="en-IN" dirty="0"/>
              </a:p>
            </p:txBody>
          </p:sp>
        </mc:Choice>
        <mc:Fallback>
          <p:sp>
            <p:nvSpPr>
              <p:cNvPr id="2" name="TextBox 1"/>
              <p:cNvSpPr txBox="1">
                <a:spLocks noRot="1" noChangeAspect="1" noMove="1" noResize="1" noEditPoints="1" noAdjustHandles="1" noChangeArrowheads="1" noChangeShapeType="1" noTextEdit="1"/>
              </p:cNvSpPr>
              <p:nvPr/>
            </p:nvSpPr>
            <p:spPr>
              <a:xfrm>
                <a:off x="854202" y="2187922"/>
                <a:ext cx="7202404" cy="2437399"/>
              </a:xfrm>
              <a:prstGeom prst="rect">
                <a:avLst/>
              </a:prstGeom>
              <a:blipFill rotWithShape="1">
                <a:blip r:embed="rId2"/>
                <a:stretch>
                  <a:fillRect l="-2" t="-14" r="5" b="25"/>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16" name="Rounded Rectangle 17"/>
          <p:cNvSpPr/>
          <p:nvPr/>
        </p:nvSpPr>
        <p:spPr>
          <a:xfrm>
            <a:off x="2995351" y="505493"/>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400" dirty="0"/>
              <a:t>Voltage-Series Feedback Amplifier</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mc:AlternateContent xmlns:mc="http://schemas.openxmlformats.org/markup-compatibility/2006">
        <mc:Choice xmlns:a14="http://schemas.microsoft.com/office/drawing/2010/main" Requires="a14">
          <p:sp>
            <p:nvSpPr>
              <p:cNvPr id="3" name="TextBox 2"/>
              <p:cNvSpPr txBox="1"/>
              <p:nvPr/>
            </p:nvSpPr>
            <p:spPr>
              <a:xfrm>
                <a:off x="347018" y="1319690"/>
                <a:ext cx="9601200" cy="139454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800" dirty="0"/>
                  <a:t>Closed loop voltage gain</a:t>
                </a:r>
                <a:endParaRPr lang="en-US" sz="1800" dirty="0"/>
              </a:p>
              <a:p>
                <a:pPr algn="just">
                  <a:lnSpc>
                    <a:spcPct val="150000"/>
                  </a:lnSpc>
                </a:pPr>
                <a14:m>
                  <m:oMathPara xmlns:m="http://schemas.openxmlformats.org/officeDocument/2006/math">
                    <m:oMathParaPr>
                      <m:jc m:val="left"/>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𝐴</m:t>
                          </m:r>
                        </m:e>
                        <m:sub>
                          <m:r>
                            <a:rPr lang="en-IN" b="0" i="1" smtClean="0">
                              <a:latin typeface="Cambria Math" panose="02040503050406030204" pitchFamily="18" charset="0"/>
                            </a:rPr>
                            <m:t>𝐹</m:t>
                          </m:r>
                        </m:sub>
                      </m:sSub>
                      <m:r>
                        <a:rPr lang="en-IN" b="0" i="1" smtClean="0">
                          <a:latin typeface="Cambria Math" panose="02040503050406030204" pitchFamily="18" charset="0"/>
                        </a:rPr>
                        <m:t>=</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𝑜</m:t>
                              </m:r>
                            </m:sub>
                          </m:sSub>
                        </m:num>
                        <m:den>
                          <m:sSub>
                            <m:sSubPr>
                              <m:ctrlPr>
                                <a:rPr lang="en-IN" b="0"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𝑖𝑛</m:t>
                              </m:r>
                            </m:sub>
                          </m:sSub>
                        </m:den>
                      </m:f>
                      <m:r>
                        <a:rPr lang="en-IN" b="0" i="0"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𝐴</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𝐹</m:t>
                              </m:r>
                            </m:sub>
                          </m:sSub>
                          <m:r>
                            <a:rPr lang="en-IN" b="0" i="1" smtClean="0">
                              <a:latin typeface="Cambria Math" panose="02040503050406030204" pitchFamily="18" charset="0"/>
                            </a:rPr>
                            <m:t>)</m:t>
                          </m:r>
                        </m:num>
                        <m:den>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𝐹</m:t>
                              </m:r>
                            </m:sub>
                          </m:sSub>
                          <m:r>
                            <a:rPr lang="en-IN" b="0" i="1" smtClean="0">
                              <a:latin typeface="Cambria Math" panose="02040503050406030204" pitchFamily="18" charset="0"/>
                            </a:rPr>
                            <m:t>+</m:t>
                          </m:r>
                          <m:r>
                            <a:rPr lang="en-IN" b="0" i="1" smtClean="0">
                              <a:latin typeface="Cambria Math" panose="02040503050406030204" pitchFamily="18" charset="0"/>
                            </a:rPr>
                            <m:t>𝐴</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1</m:t>
                              </m:r>
                            </m:sub>
                          </m:sSub>
                        </m:den>
                      </m:f>
                      <m:r>
                        <a:rPr lang="en-IN">
                          <a:latin typeface="Cambria Math" panose="02040503050406030204" pitchFamily="18" charset="0"/>
                          <a:ea typeface="Cambria Math" panose="02040503050406030204" pitchFamily="18" charset="0"/>
                        </a:rPr>
                        <m:t>≅</m:t>
                      </m:r>
                      <m:r>
                        <a:rPr lang="en-IN" b="0" i="0" smtClean="0">
                          <a:latin typeface="Cambria Math" panose="02040503050406030204" pitchFamily="18" charset="0"/>
                        </a:rPr>
                        <m:t>1</m:t>
                      </m:r>
                      <m:r>
                        <a:rPr lang="en-IN" b="0" i="0" smtClean="0">
                          <a:latin typeface="Cambria Math" panose="02040503050406030204" pitchFamily="18" charset="0"/>
                        </a:rPr>
                        <m:t>+</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𝐹</m:t>
                              </m:r>
                            </m:sub>
                          </m:sSub>
                        </m:num>
                        <m:den>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1</m:t>
                              </m:r>
                            </m:sub>
                          </m:sSub>
                        </m:den>
                      </m:f>
                    </m:oMath>
                  </m:oMathPara>
                </a14:m>
                <a:endParaRPr lang="en-US" sz="1800" dirty="0"/>
              </a:p>
            </p:txBody>
          </p:sp>
        </mc:Choice>
        <mc:Fallback>
          <p:sp>
            <p:nvSpPr>
              <p:cNvPr id="3" name="TextBox 2"/>
              <p:cNvSpPr txBox="1">
                <a:spLocks noRot="1" noChangeAspect="1" noMove="1" noResize="1" noEditPoints="1" noAdjustHandles="1" noChangeArrowheads="1" noChangeShapeType="1" noTextEdit="1"/>
              </p:cNvSpPr>
              <p:nvPr/>
            </p:nvSpPr>
            <p:spPr>
              <a:xfrm>
                <a:off x="347018" y="1319690"/>
                <a:ext cx="9601200" cy="1394549"/>
              </a:xfrm>
              <a:prstGeom prst="rect">
                <a:avLst/>
              </a:prstGeom>
              <a:blipFill rotWithShape="1">
                <a:blip r:embed="rId1"/>
                <a:stretch>
                  <a:fillRect l="-3" t="-11" r="3" b="18"/>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5" name="TextBox 4"/>
              <p:cNvSpPr txBox="1"/>
              <p:nvPr/>
            </p:nvSpPr>
            <p:spPr>
              <a:xfrm>
                <a:off x="465649" y="2686310"/>
                <a:ext cx="1340816" cy="52501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𝐴</m:t>
                          </m:r>
                        </m:e>
                        <m:sub>
                          <m:r>
                            <a:rPr lang="en-IN" b="0" i="1" smtClean="0">
                              <a:latin typeface="Cambria Math" panose="02040503050406030204" pitchFamily="18" charset="0"/>
                            </a:rPr>
                            <m:t>𝐹</m:t>
                          </m:r>
                        </m:sub>
                      </m:sSub>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𝐴</m:t>
                          </m:r>
                        </m:num>
                        <m:den>
                          <m:r>
                            <a:rPr lang="en-IN" b="0" i="1" smtClean="0">
                              <a:latin typeface="Cambria Math" panose="02040503050406030204" pitchFamily="18" charset="0"/>
                            </a:rPr>
                            <m:t>1</m:t>
                          </m:r>
                          <m:r>
                            <a:rPr lang="en-IN" b="0" i="1" smtClean="0">
                              <a:latin typeface="Cambria Math" panose="02040503050406030204" pitchFamily="18" charset="0"/>
                            </a:rPr>
                            <m:t>+</m:t>
                          </m:r>
                          <m:r>
                            <a:rPr lang="en-IN" b="0" i="1" smtClean="0">
                              <a:latin typeface="Cambria Math" panose="02040503050406030204" pitchFamily="18" charset="0"/>
                            </a:rPr>
                            <m:t>𝐴𝐵</m:t>
                          </m:r>
                        </m:den>
                      </m:f>
                    </m:oMath>
                  </m:oMathPara>
                </a14:m>
                <a:endParaRPr lang="en-IN" dirty="0"/>
              </a:p>
            </p:txBody>
          </p:sp>
        </mc:Choice>
        <mc:Fallback>
          <p:sp>
            <p:nvSpPr>
              <p:cNvPr id="5" name="TextBox 4"/>
              <p:cNvSpPr txBox="1">
                <a:spLocks noRot="1" noChangeAspect="1" noMove="1" noResize="1" noEditPoints="1" noAdjustHandles="1" noChangeArrowheads="1" noChangeShapeType="1" noTextEdit="1"/>
              </p:cNvSpPr>
              <p:nvPr/>
            </p:nvSpPr>
            <p:spPr>
              <a:xfrm>
                <a:off x="465649" y="2686310"/>
                <a:ext cx="1340816" cy="525016"/>
              </a:xfrm>
              <a:prstGeom prst="rect">
                <a:avLst/>
              </a:prstGeom>
              <a:blipFill rotWithShape="1">
                <a:blip r:embed="rId2"/>
                <a:stretch>
                  <a:fillRect l="-14" t="-50" r="-292" b="25"/>
                </a:stretch>
              </a:blipFill>
            </p:spPr>
            <p:txBody>
              <a:bodyPr/>
              <a:lstStyle/>
              <a:p>
                <a:r>
                  <a:rPr lang="en-US" altLang="en-US">
                    <a:noFill/>
                  </a:rPr>
                  <a:t> </a:t>
                </a:r>
              </a:p>
            </p:txBody>
          </p:sp>
        </mc:Fallback>
      </mc:AlternateContent>
      <p:sp>
        <p:nvSpPr>
          <p:cNvPr id="7" name="TextBox 6"/>
          <p:cNvSpPr txBox="1"/>
          <p:nvPr/>
        </p:nvSpPr>
        <p:spPr>
          <a:xfrm>
            <a:off x="1756026" y="2801299"/>
            <a:ext cx="3179268" cy="369332"/>
          </a:xfrm>
          <a:prstGeom prst="rect">
            <a:avLst/>
          </a:prstGeom>
          <a:noFill/>
        </p:spPr>
        <p:txBody>
          <a:bodyPr wrap="square" rtlCol="0">
            <a:spAutoFit/>
          </a:bodyPr>
          <a:lstStyle/>
          <a:p>
            <a:r>
              <a:rPr lang="en-IN" dirty="0"/>
              <a:t>where AB is the loop gain</a:t>
            </a:r>
            <a:endParaRPr lang="en-IN" dirty="0"/>
          </a:p>
        </p:txBody>
      </p:sp>
      <mc:AlternateContent xmlns:mc="http://schemas.openxmlformats.org/markup-compatibility/2006">
        <mc:Choice xmlns:a14="http://schemas.microsoft.com/office/drawing/2010/main" Requires="a14">
          <p:sp>
            <p:nvSpPr>
              <p:cNvPr id="8" name="TextBox 7"/>
              <p:cNvSpPr txBox="1"/>
              <p:nvPr/>
            </p:nvSpPr>
            <p:spPr>
              <a:xfrm>
                <a:off x="4360098" y="1448168"/>
                <a:ext cx="3302058" cy="1168012"/>
              </a:xfrm>
              <a:prstGeom prst="rect">
                <a:avLst/>
              </a:prstGeom>
              <a:noFill/>
            </p:spPr>
            <p:txBody>
              <a:bodyPr wrap="none" rtlCol="0">
                <a:spAutoFit/>
              </a:bodyPr>
              <a:lstStyle/>
              <a:p>
                <a:pPr marL="285750" indent="-285750">
                  <a:buFont typeface="Arial" panose="020B0604020202020204" pitchFamily="34" charset="0"/>
                  <a:buChar char="•"/>
                </a:pPr>
                <a:r>
                  <a:rPr lang="en-IN" dirty="0"/>
                  <a:t>Input resistance with feedback</a:t>
                </a:r>
                <a:endParaRPr lang="en-IN" dirty="0"/>
              </a:p>
              <a:p>
                <a:endParaRPr lang="en-IN" dirty="0"/>
              </a:p>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𝑖𝐹</m:t>
                          </m:r>
                        </m:sub>
                      </m:sSub>
                      <m:r>
                        <a:rPr lang="en-IN" b="0" i="1" smtClean="0">
                          <a:latin typeface="Cambria Math" panose="02040503050406030204" pitchFamily="18" charset="0"/>
                        </a:rPr>
                        <m:t>= </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𝑖𝑛</m:t>
                              </m:r>
                            </m:sub>
                          </m:sSub>
                        </m:num>
                        <m:den>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𝑖𝑛</m:t>
                              </m:r>
                            </m:sub>
                          </m:sSub>
                        </m:den>
                      </m:f>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𝑖</m:t>
                          </m:r>
                        </m:sub>
                      </m:sSub>
                      <m:r>
                        <a:rPr lang="en-IN" b="0" i="1" smtClean="0">
                          <a:latin typeface="Cambria Math" panose="02040503050406030204" pitchFamily="18" charset="0"/>
                        </a:rPr>
                        <m:t>(</m:t>
                      </m:r>
                      <m:r>
                        <a:rPr lang="en-IN" b="0" i="1" smtClean="0">
                          <a:latin typeface="Cambria Math" panose="02040503050406030204" pitchFamily="18" charset="0"/>
                        </a:rPr>
                        <m:t>1</m:t>
                      </m:r>
                      <m:r>
                        <a:rPr lang="en-IN" b="0" i="1" smtClean="0">
                          <a:latin typeface="Cambria Math" panose="02040503050406030204" pitchFamily="18" charset="0"/>
                        </a:rPr>
                        <m:t>+</m:t>
                      </m:r>
                      <m:r>
                        <a:rPr lang="en-IN" b="0" i="1" smtClean="0">
                          <a:latin typeface="Cambria Math" panose="02040503050406030204" pitchFamily="18" charset="0"/>
                        </a:rPr>
                        <m:t>𝐴𝐵</m:t>
                      </m:r>
                      <m:r>
                        <a:rPr lang="en-IN" b="0" i="1" smtClean="0">
                          <a:latin typeface="Cambria Math" panose="02040503050406030204" pitchFamily="18" charset="0"/>
                        </a:rPr>
                        <m:t>)</m:t>
                      </m:r>
                    </m:oMath>
                  </m:oMathPara>
                </a14:m>
                <a:endParaRPr lang="en-IN" dirty="0"/>
              </a:p>
            </p:txBody>
          </p:sp>
        </mc:Choice>
        <mc:Fallback>
          <p:sp>
            <p:nvSpPr>
              <p:cNvPr id="8" name="TextBox 7"/>
              <p:cNvSpPr txBox="1">
                <a:spLocks noRot="1" noChangeAspect="1" noMove="1" noResize="1" noEditPoints="1" noAdjustHandles="1" noChangeArrowheads="1" noChangeShapeType="1" noTextEdit="1"/>
              </p:cNvSpPr>
              <p:nvPr/>
            </p:nvSpPr>
            <p:spPr>
              <a:xfrm>
                <a:off x="4360098" y="1448168"/>
                <a:ext cx="3302058" cy="1168012"/>
              </a:xfrm>
              <a:prstGeom prst="rect">
                <a:avLst/>
              </a:prstGeom>
              <a:blipFill rotWithShape="1">
                <a:blip r:embed="rId3"/>
                <a:stretch>
                  <a:fillRect l="-6" t="-32" r="7" b="53"/>
                </a:stretch>
              </a:blipFill>
            </p:spPr>
            <p:txBody>
              <a:bodyPr/>
              <a:lstStyle/>
              <a:p>
                <a:r>
                  <a:rPr lang="en-US" altLang="en-US">
                    <a:noFill/>
                  </a:rPr>
                  <a:t> </a:t>
                </a:r>
              </a:p>
            </p:txBody>
          </p:sp>
        </mc:Fallback>
      </mc:AlternateContent>
      <p:pic>
        <p:nvPicPr>
          <p:cNvPr id="10" name="Picture 9"/>
          <p:cNvPicPr>
            <a:picLocks noChangeAspect="1"/>
          </p:cNvPicPr>
          <p:nvPr/>
        </p:nvPicPr>
        <p:blipFill>
          <a:blip r:embed="rId4"/>
          <a:stretch>
            <a:fillRect/>
          </a:stretch>
        </p:blipFill>
        <p:spPr>
          <a:xfrm>
            <a:off x="7980192" y="971403"/>
            <a:ext cx="4173314" cy="3060270"/>
          </a:xfrm>
          <a:prstGeom prst="rect">
            <a:avLst/>
          </a:prstGeom>
        </p:spPr>
      </p:pic>
      <mc:AlternateContent xmlns:mc="http://schemas.openxmlformats.org/markup-compatibility/2006">
        <mc:Choice xmlns:a14="http://schemas.microsoft.com/office/drawing/2010/main" Requires="a14">
          <p:sp>
            <p:nvSpPr>
              <p:cNvPr id="11" name="TextBox 10"/>
              <p:cNvSpPr txBox="1"/>
              <p:nvPr/>
            </p:nvSpPr>
            <p:spPr>
              <a:xfrm>
                <a:off x="23982" y="3427268"/>
                <a:ext cx="3512052" cy="1237390"/>
              </a:xfrm>
              <a:prstGeom prst="rect">
                <a:avLst/>
              </a:prstGeom>
              <a:noFill/>
            </p:spPr>
            <p:txBody>
              <a:bodyPr wrap="none" rtlCol="0">
                <a:spAutoFit/>
              </a:bodyPr>
              <a:lstStyle/>
              <a:p>
                <a:pPr marL="285750" indent="-285750">
                  <a:buFont typeface="Arial" panose="020B0604020202020204" pitchFamily="34" charset="0"/>
                  <a:buChar char="•"/>
                </a:pPr>
                <a:r>
                  <a:rPr lang="en-IN" dirty="0"/>
                  <a:t>Output resistance with feedback</a:t>
                </a:r>
                <a:endParaRPr lang="en-IN" dirty="0"/>
              </a:p>
              <a:p>
                <a:endParaRPr lang="en-IN" dirty="0"/>
              </a:p>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𝑜𝐹</m:t>
                          </m:r>
                        </m:sub>
                      </m:sSub>
                      <m:r>
                        <a:rPr lang="en-IN" b="0" i="1" smtClean="0">
                          <a:latin typeface="Cambria Math" panose="02040503050406030204" pitchFamily="18" charset="0"/>
                        </a:rPr>
                        <m:t>= </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𝑜</m:t>
                              </m:r>
                            </m:sub>
                          </m:sSub>
                        </m:num>
                        <m:den>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𝑜</m:t>
                              </m:r>
                            </m:sub>
                          </m:sSub>
                        </m:den>
                      </m:f>
                      <m:r>
                        <a:rPr lang="en-IN" b="0" i="1" smtClean="0">
                          <a:latin typeface="Cambria Math" panose="02040503050406030204" pitchFamily="18" charset="0"/>
                        </a:rPr>
                        <m:t>= </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𝑜</m:t>
                              </m:r>
                            </m:sub>
                          </m:sSub>
                        </m:num>
                        <m:den>
                          <m:r>
                            <a:rPr lang="en-IN" b="0" i="1" smtClean="0">
                              <a:latin typeface="Cambria Math" panose="02040503050406030204" pitchFamily="18" charset="0"/>
                            </a:rPr>
                            <m:t>1</m:t>
                          </m:r>
                          <m:r>
                            <a:rPr lang="en-IN" b="0" i="1" smtClean="0">
                              <a:latin typeface="Cambria Math" panose="02040503050406030204" pitchFamily="18" charset="0"/>
                            </a:rPr>
                            <m:t>+</m:t>
                          </m:r>
                          <m:r>
                            <a:rPr lang="en-IN" b="0" i="1" smtClean="0">
                              <a:latin typeface="Cambria Math" panose="02040503050406030204" pitchFamily="18" charset="0"/>
                            </a:rPr>
                            <m:t>𝐴𝐵</m:t>
                          </m:r>
                        </m:den>
                      </m:f>
                    </m:oMath>
                  </m:oMathPara>
                </a14:m>
                <a:endParaRPr lang="en-IN" dirty="0"/>
              </a:p>
            </p:txBody>
          </p:sp>
        </mc:Choice>
        <mc:Fallback>
          <p:sp>
            <p:nvSpPr>
              <p:cNvPr id="11" name="TextBox 10"/>
              <p:cNvSpPr txBox="1">
                <a:spLocks noRot="1" noChangeAspect="1" noMove="1" noResize="1" noEditPoints="1" noAdjustHandles="1" noChangeArrowheads="1" noChangeShapeType="1" noTextEdit="1"/>
              </p:cNvSpPr>
              <p:nvPr/>
            </p:nvSpPr>
            <p:spPr>
              <a:xfrm>
                <a:off x="23982" y="3427268"/>
                <a:ext cx="3512052" cy="1237390"/>
              </a:xfrm>
              <a:prstGeom prst="rect">
                <a:avLst/>
              </a:prstGeom>
              <a:blipFill rotWithShape="1">
                <a:blip r:embed="rId5"/>
                <a:stretch>
                  <a:fillRect l="-14" t="-14" r="10" b="47"/>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 name="TextBox 1"/>
              <p:cNvSpPr txBox="1"/>
              <p:nvPr/>
            </p:nvSpPr>
            <p:spPr>
              <a:xfrm>
                <a:off x="8526048" y="4591061"/>
                <a:ext cx="2817759" cy="923330"/>
              </a:xfrm>
              <a:prstGeom prst="rect">
                <a:avLst/>
              </a:prstGeom>
              <a:noFill/>
            </p:spPr>
            <p:txBody>
              <a:bodyPr wrap="none" rtlCol="0">
                <a:spAutoFit/>
              </a:bodyPr>
              <a:lstStyle/>
              <a:p>
                <a:pPr marL="285750" indent="-285750">
                  <a:buFont typeface="Arial" panose="020B0604020202020204" pitchFamily="34" charset="0"/>
                  <a:buChar char="•"/>
                </a:pPr>
                <a:r>
                  <a:rPr lang="en-IN" dirty="0"/>
                  <a:t>Bandwidth with feedback</a:t>
                </a:r>
                <a:endParaRPr lang="en-IN" dirty="0"/>
              </a:p>
              <a:p>
                <a:endParaRPr lang="en-IN" dirty="0"/>
              </a:p>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𝑓</m:t>
                          </m:r>
                        </m:e>
                        <m:sub>
                          <m:r>
                            <a:rPr lang="en-IN" b="0" i="1" smtClean="0">
                              <a:latin typeface="Cambria Math" panose="02040503050406030204" pitchFamily="18" charset="0"/>
                            </a:rPr>
                            <m:t>𝐹</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𝑓</m:t>
                          </m:r>
                        </m:e>
                        <m:sub>
                          <m:r>
                            <a:rPr lang="en-IN" b="0" i="1" smtClean="0">
                              <a:latin typeface="Cambria Math" panose="02040503050406030204" pitchFamily="18" charset="0"/>
                            </a:rPr>
                            <m:t>𝑜</m:t>
                          </m:r>
                        </m:sub>
                      </m:sSub>
                      <m:r>
                        <a:rPr lang="en-IN" b="0" i="1" smtClean="0">
                          <a:latin typeface="Cambria Math" panose="02040503050406030204" pitchFamily="18" charset="0"/>
                        </a:rPr>
                        <m:t>(</m:t>
                      </m:r>
                      <m:r>
                        <a:rPr lang="en-IN" b="0" i="1" smtClean="0">
                          <a:latin typeface="Cambria Math" panose="02040503050406030204" pitchFamily="18" charset="0"/>
                        </a:rPr>
                        <m:t>1</m:t>
                      </m:r>
                      <m:r>
                        <a:rPr lang="en-IN" b="0" i="1" smtClean="0">
                          <a:latin typeface="Cambria Math" panose="02040503050406030204" pitchFamily="18" charset="0"/>
                        </a:rPr>
                        <m:t>+</m:t>
                      </m:r>
                      <m:r>
                        <a:rPr lang="en-IN" b="0" i="1" smtClean="0">
                          <a:latin typeface="Cambria Math" panose="02040503050406030204" pitchFamily="18" charset="0"/>
                        </a:rPr>
                        <m:t>𝐴𝐵</m:t>
                      </m:r>
                      <m:r>
                        <a:rPr lang="en-IN" b="0" i="1" smtClean="0">
                          <a:latin typeface="Cambria Math" panose="02040503050406030204" pitchFamily="18" charset="0"/>
                        </a:rPr>
                        <m:t>)</m:t>
                      </m:r>
                    </m:oMath>
                  </m:oMathPara>
                </a14:m>
                <a:endParaRPr lang="en-IN" dirty="0"/>
              </a:p>
            </p:txBody>
          </p:sp>
        </mc:Choice>
        <mc:Fallback>
          <p:sp>
            <p:nvSpPr>
              <p:cNvPr id="2" name="TextBox 1"/>
              <p:cNvSpPr txBox="1">
                <a:spLocks noRot="1" noChangeAspect="1" noMove="1" noResize="1" noEditPoints="1" noAdjustHandles="1" noChangeArrowheads="1" noChangeShapeType="1" noTextEdit="1"/>
              </p:cNvSpPr>
              <p:nvPr/>
            </p:nvSpPr>
            <p:spPr>
              <a:xfrm>
                <a:off x="8526048" y="4591061"/>
                <a:ext cx="2817759" cy="923330"/>
              </a:xfrm>
              <a:prstGeom prst="rect">
                <a:avLst/>
              </a:prstGeom>
              <a:blipFill rotWithShape="1">
                <a:blip r:embed="rId6"/>
                <a:stretch>
                  <a:fillRect l="-19" t="-1" r="6" b="6"/>
                </a:stretch>
              </a:blipFill>
            </p:spPr>
            <p:txBody>
              <a:bodyPr/>
              <a:lstStyle/>
              <a:p>
                <a:r>
                  <a:rPr lang="en-US" altLang="en-US">
                    <a:noFill/>
                  </a:rPr>
                  <a:t> </a:t>
                </a:r>
              </a:p>
            </p:txBody>
          </p:sp>
        </mc:Fallback>
      </mc:AlternateContent>
      <p:pic>
        <p:nvPicPr>
          <p:cNvPr id="9" name="Picture 8"/>
          <p:cNvPicPr>
            <a:picLocks noChangeAspect="1"/>
          </p:cNvPicPr>
          <p:nvPr/>
        </p:nvPicPr>
        <p:blipFill>
          <a:blip r:embed="rId7"/>
          <a:stretch>
            <a:fillRect/>
          </a:stretch>
        </p:blipFill>
        <p:spPr>
          <a:xfrm>
            <a:off x="3459271" y="3182425"/>
            <a:ext cx="4462438" cy="2943423"/>
          </a:xfrm>
          <a:prstGeom prst="rect">
            <a:avLst/>
          </a:prstGeom>
        </p:spPr>
      </p:pic>
      <mc:AlternateContent xmlns:mc="http://schemas.openxmlformats.org/markup-compatibility/2006">
        <mc:Choice xmlns:a14="http://schemas.microsoft.com/office/drawing/2010/main" Requires="a14">
          <p:sp>
            <p:nvSpPr>
              <p:cNvPr id="6" name="TextBox 5"/>
              <p:cNvSpPr txBox="1"/>
              <p:nvPr/>
            </p:nvSpPr>
            <p:spPr>
              <a:xfrm>
                <a:off x="337761" y="5377687"/>
                <a:ext cx="1505027" cy="52315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𝑉</m:t>
                          </m:r>
                        </m:e>
                        <m:sub>
                          <m:r>
                            <a:rPr lang="en-IN" b="0" i="1" smtClean="0">
                              <a:latin typeface="Cambria Math" panose="02040503050406030204" pitchFamily="18" charset="0"/>
                            </a:rPr>
                            <m:t>𝑜𝑜𝑇</m:t>
                          </m:r>
                        </m:sub>
                      </m:sSub>
                      <m:r>
                        <a:rPr lang="en-IN" b="0" i="1" smtClean="0">
                          <a:latin typeface="Cambria Math" panose="02040503050406030204" pitchFamily="18" charset="0"/>
                        </a:rPr>
                        <m:t>=</m:t>
                      </m:r>
                      <m:f>
                        <m:fPr>
                          <m:ctrlPr>
                            <a:rPr lang="en-IN" b="0" i="1" smtClean="0">
                              <a:latin typeface="Cambria Math" panose="02040503050406030204" pitchFamily="18" charset="0"/>
                              <a:ea typeface="Cambria Math" panose="02040503050406030204" pitchFamily="18" charset="0"/>
                            </a:rPr>
                          </m:ctrlPr>
                        </m:fPr>
                        <m:num>
                          <m:r>
                            <a:rPr lang="en-IN" b="0" i="1" smtClean="0">
                              <a:latin typeface="Cambria Math" panose="02040503050406030204" pitchFamily="18" charset="0"/>
                              <a:ea typeface="Cambria Math" panose="02040503050406030204" pitchFamily="18" charset="0"/>
                            </a:rPr>
                            <m:t>±</m:t>
                          </m:r>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𝑉</m:t>
                              </m:r>
                            </m:e>
                            <m:sub>
                              <m:r>
                                <a:rPr lang="en-IN" b="0" i="1" smtClean="0">
                                  <a:latin typeface="Cambria Math" panose="02040503050406030204" pitchFamily="18" charset="0"/>
                                  <a:ea typeface="Cambria Math" panose="02040503050406030204" pitchFamily="18" charset="0"/>
                                </a:rPr>
                                <m:t>𝑠𝑎𝑡</m:t>
                              </m:r>
                            </m:sub>
                          </m:sSub>
                        </m:num>
                        <m:den>
                          <m:r>
                            <a:rPr lang="en-IN" b="0" i="1" smtClean="0">
                              <a:latin typeface="Cambria Math" panose="02040503050406030204" pitchFamily="18" charset="0"/>
                              <a:ea typeface="Cambria Math" panose="02040503050406030204" pitchFamily="18" charset="0"/>
                            </a:rPr>
                            <m:t>1</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𝐴𝐵</m:t>
                          </m:r>
                        </m:den>
                      </m:f>
                    </m:oMath>
                  </m:oMathPara>
                </a14:m>
                <a:endParaRPr lang="en-IN" dirty="0"/>
              </a:p>
            </p:txBody>
          </p:sp>
        </mc:Choice>
        <mc:Fallback>
          <p:sp>
            <p:nvSpPr>
              <p:cNvPr id="6" name="TextBox 5"/>
              <p:cNvSpPr txBox="1">
                <a:spLocks noRot="1" noChangeAspect="1" noMove="1" noResize="1" noEditPoints="1" noAdjustHandles="1" noChangeArrowheads="1" noChangeShapeType="1" noTextEdit="1"/>
              </p:cNvSpPr>
              <p:nvPr/>
            </p:nvSpPr>
            <p:spPr>
              <a:xfrm>
                <a:off x="337761" y="5377687"/>
                <a:ext cx="1505027" cy="523157"/>
              </a:xfrm>
              <a:prstGeom prst="rect">
                <a:avLst/>
              </a:prstGeom>
              <a:blipFill rotWithShape="1">
                <a:blip r:embed="rId8"/>
                <a:stretch>
                  <a:fillRect l="-38" t="-97" r="-1138" b="81"/>
                </a:stretch>
              </a:blipFill>
            </p:spPr>
            <p:txBody>
              <a:bodyPr/>
              <a:lstStyle/>
              <a:p>
                <a:r>
                  <a:rPr lang="en-US" altLang="en-US">
                    <a:noFill/>
                  </a:rPr>
                  <a:t> </a:t>
                </a:r>
              </a:p>
            </p:txBody>
          </p:sp>
        </mc:Fallback>
      </mc:AlternateContent>
      <p:sp>
        <p:nvSpPr>
          <p:cNvPr id="13" name="TextBox 12"/>
          <p:cNvSpPr txBox="1"/>
          <p:nvPr/>
        </p:nvSpPr>
        <p:spPr>
          <a:xfrm>
            <a:off x="0" y="5003096"/>
            <a:ext cx="6109854" cy="369332"/>
          </a:xfrm>
          <a:prstGeom prst="rect">
            <a:avLst/>
          </a:prstGeom>
          <a:noFill/>
        </p:spPr>
        <p:txBody>
          <a:bodyPr wrap="square">
            <a:spAutoFit/>
          </a:bodyPr>
          <a:lstStyle/>
          <a:p>
            <a:pPr marL="285750" indent="-285750">
              <a:buFont typeface="Arial" panose="020B0604020202020204" pitchFamily="34" charset="0"/>
              <a:buChar char="•"/>
            </a:pPr>
            <a:r>
              <a:rPr lang="en-IN" dirty="0"/>
              <a:t>Total output offset voltage</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6"/>
                                        </p:tgtEl>
                                      </p:cBhvr>
                                    </p:animEffect>
                                    <p:animScale>
                                      <p:cBhvr>
                                        <p:cTn id="7" dur="250" autoRev="1"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Rounded Rectangle 17"/>
          <p:cNvSpPr/>
          <p:nvPr/>
        </p:nvSpPr>
        <p:spPr>
          <a:xfrm>
            <a:off x="2995352" y="1101780"/>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Voltage Follower</a:t>
            </a:r>
            <a:endParaRPr lang="en-US" sz="2400" dirty="0"/>
          </a:p>
        </p:txBody>
      </p:sp>
      <p:sp>
        <p:nvSpPr>
          <p:cNvPr id="3" name="Content Placeholder 2"/>
          <p:cNvSpPr>
            <a:spLocks noGrp="1"/>
          </p:cNvSpPr>
          <p:nvPr>
            <p:ph idx="1"/>
          </p:nvPr>
        </p:nvSpPr>
        <p:spPr>
          <a:xfrm>
            <a:off x="1493144" y="2001874"/>
            <a:ext cx="6528638" cy="4010995"/>
          </a:xfrm>
        </p:spPr>
        <p:txBody>
          <a:bodyPr>
            <a:normAutofit/>
          </a:bodyPr>
          <a:lstStyle/>
          <a:p>
            <a:pPr marL="0" indent="0" algn="just">
              <a:buNone/>
            </a:pPr>
            <a:r>
              <a:rPr lang="en-IN" sz="1800" dirty="0"/>
              <a:t>When the inverting amplifier is configured for unity gain, it is called a voltage follower because the output voltage is equal to and in phase with the input.  In other words, in the voltage follower the output follows the input. The voltage follower is also known as non-inverting buffer, as it removes the loading effect when placed between two networks.</a:t>
            </a:r>
            <a:endParaRPr lang="en-IN" sz="1800" dirty="0"/>
          </a:p>
        </p:txBody>
      </p:sp>
      <p:pic>
        <p:nvPicPr>
          <p:cNvPr id="7" name="Picture 6"/>
          <p:cNvPicPr>
            <a:picLocks noChangeAspect="1"/>
          </p:cNvPicPr>
          <p:nvPr/>
        </p:nvPicPr>
        <p:blipFill>
          <a:blip r:embed="rId1"/>
          <a:stretch>
            <a:fillRect/>
          </a:stretch>
        </p:blipFill>
        <p:spPr>
          <a:xfrm>
            <a:off x="8565571" y="2223903"/>
            <a:ext cx="3491965" cy="2154134"/>
          </a:xfrm>
          <a:prstGeom prst="rect">
            <a:avLst/>
          </a:prstGeom>
        </p:spPr>
      </p:pic>
      <mc:AlternateContent xmlns:mc="http://schemas.openxmlformats.org/markup-compatibility/2006">
        <mc:Choice xmlns:a14="http://schemas.microsoft.com/office/drawing/2010/main" Requires="a14">
          <p:sp>
            <p:nvSpPr>
              <p:cNvPr id="8" name="TextBox 7"/>
              <p:cNvSpPr txBox="1"/>
              <p:nvPr/>
            </p:nvSpPr>
            <p:spPr>
              <a:xfrm>
                <a:off x="2933086" y="4112401"/>
                <a:ext cx="2560212" cy="2178738"/>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𝐴</m:t>
                          </m:r>
                        </m:e>
                        <m:sub>
                          <m:r>
                            <a:rPr lang="en-IN" b="0" i="1" smtClean="0">
                              <a:latin typeface="Cambria Math" panose="02040503050406030204" pitchFamily="18" charset="0"/>
                            </a:rPr>
                            <m:t>𝐹</m:t>
                          </m:r>
                        </m:sub>
                      </m:sSub>
                      <m:r>
                        <a:rPr lang="en-IN" b="0" i="1" smtClean="0">
                          <a:latin typeface="Cambria Math" panose="02040503050406030204" pitchFamily="18" charset="0"/>
                        </a:rPr>
                        <m:t>=</m:t>
                      </m:r>
                      <m:r>
                        <a:rPr lang="en-IN" b="0" i="1" smtClean="0">
                          <a:latin typeface="Cambria Math" panose="02040503050406030204" pitchFamily="18" charset="0"/>
                        </a:rPr>
                        <m:t>1</m:t>
                      </m:r>
                    </m:oMath>
                  </m:oMathPara>
                </a14:m>
                <a:endParaRPr lang="en-IN" b="0" dirty="0"/>
              </a:p>
              <a:p>
                <a:endParaRPr lang="en-IN" b="0" dirty="0"/>
              </a:p>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𝑖𝐹</m:t>
                          </m:r>
                        </m:sub>
                      </m:sSub>
                      <m:r>
                        <a:rPr lang="en-IN" b="0" i="1" smtClean="0">
                          <a:latin typeface="Cambria Math" panose="02040503050406030204" pitchFamily="18" charset="0"/>
                        </a:rPr>
                        <m:t>=</m:t>
                      </m:r>
                      <m:r>
                        <a:rPr lang="en-IN" b="0" i="1" smtClean="0">
                          <a:latin typeface="Cambria Math" panose="02040503050406030204" pitchFamily="18" charset="0"/>
                        </a:rPr>
                        <m:t>𝐴</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𝑖</m:t>
                          </m:r>
                        </m:sub>
                      </m:sSub>
                    </m:oMath>
                  </m:oMathPara>
                </a14:m>
                <a:endParaRPr lang="en-IN" b="0" dirty="0"/>
              </a:p>
              <a:p>
                <a:endParaRPr lang="en-IN" b="0" dirty="0"/>
              </a:p>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𝑜𝐹</m:t>
                          </m:r>
                        </m:sub>
                      </m:sSub>
                      <m:r>
                        <a:rPr lang="en-IN" b="0" i="1" smtClean="0">
                          <a:latin typeface="Cambria Math" panose="02040503050406030204" pitchFamily="18" charset="0"/>
                        </a:rPr>
                        <m:t>=</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𝑜</m:t>
                              </m:r>
                            </m:sub>
                          </m:sSub>
                        </m:num>
                        <m:den>
                          <m:r>
                            <a:rPr lang="en-IN" b="0" i="1" smtClean="0">
                              <a:latin typeface="Cambria Math" panose="02040503050406030204" pitchFamily="18" charset="0"/>
                            </a:rPr>
                            <m:t>𝐴</m:t>
                          </m:r>
                        </m:den>
                      </m:f>
                    </m:oMath>
                  </m:oMathPara>
                </a14:m>
                <a:endParaRPr lang="en-IN" b="0" dirty="0"/>
              </a:p>
              <a:p>
                <a:endParaRPr lang="en-IN" b="0" dirty="0"/>
              </a:p>
              <a:p>
                <a:endParaRPr lang="en-IN" dirty="0"/>
              </a:p>
            </p:txBody>
          </p:sp>
        </mc:Choice>
        <mc:Fallback>
          <p:sp>
            <p:nvSpPr>
              <p:cNvPr id="8" name="TextBox 7"/>
              <p:cNvSpPr txBox="1">
                <a:spLocks noRot="1" noChangeAspect="1" noMove="1" noResize="1" noEditPoints="1" noAdjustHandles="1" noChangeArrowheads="1" noChangeShapeType="1" noTextEdit="1"/>
              </p:cNvSpPr>
              <p:nvPr/>
            </p:nvSpPr>
            <p:spPr>
              <a:xfrm>
                <a:off x="2933086" y="4112401"/>
                <a:ext cx="2560212" cy="2178738"/>
              </a:xfrm>
              <a:prstGeom prst="rect">
                <a:avLst/>
              </a:prstGeom>
              <a:blipFill rotWithShape="1">
                <a:blip r:embed="rId2"/>
                <a:stretch>
                  <a:fillRect l="-1" t="-6" r="21" b="9"/>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2995352" y="4435102"/>
                <a:ext cx="6102926" cy="116307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𝑓</m:t>
                          </m:r>
                        </m:e>
                        <m:sub>
                          <m:r>
                            <a:rPr lang="en-IN" b="0" i="1" smtClean="0">
                              <a:latin typeface="Cambria Math" panose="02040503050406030204" pitchFamily="18" charset="0"/>
                            </a:rPr>
                            <m:t>𝐹</m:t>
                          </m:r>
                        </m:sub>
                      </m:sSub>
                      <m:r>
                        <a:rPr lang="en-IN" b="0" i="1" smtClean="0">
                          <a:latin typeface="Cambria Math" panose="02040503050406030204" pitchFamily="18" charset="0"/>
                        </a:rPr>
                        <m:t>=</m:t>
                      </m:r>
                      <m:r>
                        <a:rPr lang="en-IN" b="0" i="1" smtClean="0">
                          <a:latin typeface="Cambria Math" panose="02040503050406030204" pitchFamily="18" charset="0"/>
                        </a:rPr>
                        <m:t>𝐴</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𝑓</m:t>
                          </m:r>
                        </m:e>
                        <m:sub>
                          <m:r>
                            <a:rPr lang="en-IN" b="0" i="1" smtClean="0">
                              <a:latin typeface="Cambria Math" panose="02040503050406030204" pitchFamily="18" charset="0"/>
                            </a:rPr>
                            <m:t>𝑜</m:t>
                          </m:r>
                        </m:sub>
                      </m:sSub>
                    </m:oMath>
                  </m:oMathPara>
                </a14:m>
                <a:endParaRPr lang="en-IN" b="0" dirty="0"/>
              </a:p>
              <a:p>
                <a:endParaRPr lang="en-IN" b="0" dirty="0"/>
              </a:p>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𝑉</m:t>
                          </m:r>
                        </m:e>
                        <m:sub>
                          <m:r>
                            <a:rPr lang="en-IN" b="0" i="1" smtClean="0">
                              <a:latin typeface="Cambria Math" panose="02040503050406030204" pitchFamily="18" charset="0"/>
                            </a:rPr>
                            <m:t>𝑜𝑜𝑇</m:t>
                          </m:r>
                        </m:sub>
                      </m:sSub>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ea typeface="Cambria Math" panose="02040503050406030204" pitchFamily="18" charset="0"/>
                            </a:rPr>
                            <m:t>±</m:t>
                          </m:r>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𝑉</m:t>
                              </m:r>
                            </m:e>
                            <m:sub>
                              <m:r>
                                <a:rPr lang="en-IN" b="0" i="1" smtClean="0">
                                  <a:latin typeface="Cambria Math" panose="02040503050406030204" pitchFamily="18" charset="0"/>
                                  <a:ea typeface="Cambria Math" panose="02040503050406030204" pitchFamily="18" charset="0"/>
                                </a:rPr>
                                <m:t>𝑠𝑎𝑡</m:t>
                              </m:r>
                            </m:sub>
                          </m:sSub>
                        </m:num>
                        <m:den>
                          <m:r>
                            <a:rPr lang="en-IN" b="0" i="1" smtClean="0">
                              <a:latin typeface="Cambria Math" panose="02040503050406030204" pitchFamily="18" charset="0"/>
                            </a:rPr>
                            <m:t>𝐴</m:t>
                          </m:r>
                        </m:den>
                      </m:f>
                    </m:oMath>
                  </m:oMathPara>
                </a14:m>
                <a:endParaRPr lang="en-IN" dirty="0"/>
              </a:p>
            </p:txBody>
          </p:sp>
        </mc:Choice>
        <mc:Fallback>
          <p:sp>
            <p:nvSpPr>
              <p:cNvPr id="10" name="TextBox 9"/>
              <p:cNvSpPr txBox="1">
                <a:spLocks noRot="1" noChangeAspect="1" noMove="1" noResize="1" noEditPoints="1" noAdjustHandles="1" noChangeArrowheads="1" noChangeShapeType="1" noTextEdit="1"/>
              </p:cNvSpPr>
              <p:nvPr/>
            </p:nvSpPr>
            <p:spPr>
              <a:xfrm>
                <a:off x="2995352" y="4435102"/>
                <a:ext cx="6102926" cy="1163075"/>
              </a:xfrm>
              <a:prstGeom prst="rect">
                <a:avLst/>
              </a:prstGeom>
              <a:blipFill rotWithShape="1">
                <a:blip r:embed="rId3"/>
                <a:stretch>
                  <a:fillRect l="-1" t="-23" r="10" b="1"/>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Rounded Rectangle 17"/>
          <p:cNvSpPr/>
          <p:nvPr/>
        </p:nvSpPr>
        <p:spPr>
          <a:xfrm>
            <a:off x="2995352" y="1101780"/>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a:t>
            </a:r>
            <a:endParaRPr lang="en-US" sz="24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283439" y="1823760"/>
                <a:ext cx="10186238" cy="4010995"/>
              </a:xfrm>
            </p:spPr>
            <p:txBody>
              <a:bodyPr>
                <a:normAutofit/>
              </a:bodyPr>
              <a:lstStyle/>
              <a:p>
                <a:pPr marL="0" indent="0" algn="just">
                  <a:buNone/>
                </a:pPr>
                <a:r>
                  <a:rPr lang="en-IN" sz="1800" dirty="0"/>
                  <a:t>The 741C op-amp having the following parameters is connected as non-inverting amplifier with R</a:t>
                </a:r>
                <a:r>
                  <a:rPr lang="en-IN" sz="1800" baseline="-25000" dirty="0"/>
                  <a:t>1</a:t>
                </a:r>
                <a:r>
                  <a:rPr lang="en-IN" sz="1800" dirty="0"/>
                  <a:t> = 1 k</a:t>
                </a:r>
                <a:r>
                  <a:rPr lang="el-GR" sz="1800" dirty="0"/>
                  <a:t>Ω</a:t>
                </a:r>
                <a:r>
                  <a:rPr lang="en-IN" sz="1800" dirty="0"/>
                  <a:t> , and R</a:t>
                </a:r>
                <a:r>
                  <a:rPr lang="en-IN" sz="1800" baseline="-25000" dirty="0"/>
                  <a:t>F</a:t>
                </a:r>
                <a:r>
                  <a:rPr lang="en-IN" sz="1800" dirty="0"/>
                  <a:t>=10k</a:t>
                </a:r>
                <a:r>
                  <a:rPr lang="el-GR" sz="1800" dirty="0"/>
                  <a:t>Ω</a:t>
                </a:r>
                <a:r>
                  <a:rPr lang="en-IN" sz="1800" dirty="0"/>
                  <a:t>,  A= 200000, R</a:t>
                </a:r>
                <a:r>
                  <a:rPr lang="en-IN" sz="1800" baseline="-25000" dirty="0"/>
                  <a:t>i</a:t>
                </a:r>
                <a:r>
                  <a:rPr lang="en-IN" sz="1800" dirty="0"/>
                  <a:t>= 2M</a:t>
                </a:r>
                <a:r>
                  <a:rPr lang="el-GR" sz="1800" dirty="0"/>
                  <a:t>Ω</a:t>
                </a:r>
                <a:r>
                  <a:rPr lang="en-IN" sz="1800" dirty="0"/>
                  <a:t>, R</a:t>
                </a:r>
                <a:r>
                  <a:rPr lang="en-IN" sz="1800" baseline="-25000" dirty="0"/>
                  <a:t>o</a:t>
                </a:r>
                <a:r>
                  <a:rPr lang="en-IN" sz="1800" dirty="0"/>
                  <a:t>=75</a:t>
                </a:r>
                <a:r>
                  <a:rPr lang="el-GR" sz="1800" dirty="0"/>
                  <a:t>Ω</a:t>
                </a:r>
                <a:r>
                  <a:rPr lang="en-IN" sz="1800" dirty="0"/>
                  <a:t>, f</a:t>
                </a:r>
                <a:r>
                  <a:rPr lang="en-IN" sz="1800" baseline="-25000" dirty="0"/>
                  <a:t>o</a:t>
                </a:r>
                <a:r>
                  <a:rPr lang="en-IN" sz="1800" dirty="0"/>
                  <a:t>=5Hz, supply voltages = ±15V, output swing = ±13 V; Compute the values of A</a:t>
                </a:r>
                <a:r>
                  <a:rPr lang="en-IN" sz="1800" baseline="-25000" dirty="0"/>
                  <a:t>F</a:t>
                </a:r>
                <a:r>
                  <a:rPr lang="en-IN" sz="1800" dirty="0"/>
                  <a:t>, R</a:t>
                </a:r>
                <a:r>
                  <a:rPr lang="en-IN" sz="1800" baseline="-25000" dirty="0"/>
                  <a:t>iF</a:t>
                </a:r>
                <a:r>
                  <a:rPr lang="en-IN" sz="1800" dirty="0"/>
                  <a:t>, R</a:t>
                </a:r>
                <a:r>
                  <a:rPr lang="en-IN" sz="1800" baseline="-25000" dirty="0"/>
                  <a:t>oF</a:t>
                </a:r>
                <a:r>
                  <a:rPr lang="en-IN" sz="1800" dirty="0"/>
                  <a:t>, f</a:t>
                </a:r>
                <a:r>
                  <a:rPr lang="en-IN" sz="1800" baseline="-25000" dirty="0"/>
                  <a:t>F</a:t>
                </a:r>
                <a:r>
                  <a:rPr lang="en-IN" sz="1800" dirty="0"/>
                  <a:t>, and V</a:t>
                </a:r>
                <a:r>
                  <a:rPr lang="en-IN" sz="1800" baseline="-25000" dirty="0"/>
                  <a:t>ooT.</a:t>
                </a:r>
                <a:endParaRPr lang="en-IN" sz="1800" dirty="0"/>
              </a:p>
              <a:p>
                <a:pPr marL="0" indent="0" algn="just">
                  <a:buNone/>
                </a:pPr>
                <a:r>
                  <a:rPr lang="en-IN" sz="1800" dirty="0"/>
                  <a:t>			B = </a:t>
                </a:r>
                <a14:m>
                  <m:oMath xmlns:m="http://schemas.openxmlformats.org/officeDocument/2006/math">
                    <m:f>
                      <m:fPr>
                        <m:ctrlPr>
                          <a:rPr lang="en-IN" sz="2400" i="1" smtClean="0">
                            <a:latin typeface="Cambria Math" panose="02040503050406030204" pitchFamily="18" charset="0"/>
                          </a:rPr>
                        </m:ctrlPr>
                      </m:fPr>
                      <m:num>
                        <m:sSub>
                          <m:sSubPr>
                            <m:ctrlPr>
                              <a:rPr lang="en-IN" sz="2400" i="1" smtClean="0">
                                <a:latin typeface="Cambria Math" panose="02040503050406030204" pitchFamily="18" charset="0"/>
                              </a:rPr>
                            </m:ctrlPr>
                          </m:sSubPr>
                          <m:e>
                            <m:r>
                              <a:rPr lang="en-IN" sz="2400" b="0" i="1" smtClean="0">
                                <a:latin typeface="Cambria Math" panose="02040503050406030204" pitchFamily="18" charset="0"/>
                              </a:rPr>
                              <m:t>𝑅</m:t>
                            </m:r>
                          </m:e>
                          <m:sub>
                            <m:r>
                              <a:rPr lang="en-IN" sz="2400" b="0" i="1" smtClean="0">
                                <a:latin typeface="Cambria Math" panose="02040503050406030204" pitchFamily="18" charset="0"/>
                              </a:rPr>
                              <m:t>1</m:t>
                            </m:r>
                          </m:sub>
                        </m:sSub>
                      </m:num>
                      <m:den>
                        <m:sSub>
                          <m:sSubPr>
                            <m:ctrlPr>
                              <a:rPr lang="en-IN" sz="2400" i="1" smtClean="0">
                                <a:latin typeface="Cambria Math" panose="02040503050406030204" pitchFamily="18" charset="0"/>
                              </a:rPr>
                            </m:ctrlPr>
                          </m:sSubPr>
                          <m:e>
                            <m:r>
                              <a:rPr lang="en-IN" sz="2400" b="0" i="1" smtClean="0">
                                <a:latin typeface="Cambria Math" panose="02040503050406030204" pitchFamily="18" charset="0"/>
                              </a:rPr>
                              <m:t>𝑅</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𝑅</m:t>
                            </m:r>
                          </m:e>
                          <m:sub>
                            <m:r>
                              <a:rPr lang="en-IN" sz="2400" b="0" i="1" smtClean="0">
                                <a:latin typeface="Cambria Math" panose="02040503050406030204" pitchFamily="18" charset="0"/>
                              </a:rPr>
                              <m:t>𝐹</m:t>
                            </m:r>
                          </m:sub>
                        </m:sSub>
                      </m:den>
                    </m:f>
                  </m:oMath>
                </a14:m>
                <a:r>
                  <a:rPr lang="en-IN" sz="1800" dirty="0"/>
                  <a:t> = </a:t>
                </a:r>
                <a14:m>
                  <m:oMath xmlns:m="http://schemas.openxmlformats.org/officeDocument/2006/math">
                    <m:f>
                      <m:fPr>
                        <m:ctrlPr>
                          <a:rPr lang="en-IN" sz="1800" i="1" smtClean="0">
                            <a:latin typeface="Cambria Math" panose="02040503050406030204" pitchFamily="18" charset="0"/>
                          </a:rPr>
                        </m:ctrlPr>
                      </m:fPr>
                      <m:num>
                        <m:r>
                          <a:rPr lang="en-IN" sz="1800" b="0" i="1" smtClean="0">
                            <a:latin typeface="Cambria Math" panose="02040503050406030204" pitchFamily="18" charset="0"/>
                          </a:rPr>
                          <m:t>1</m:t>
                        </m:r>
                      </m:num>
                      <m:den>
                        <m:r>
                          <a:rPr lang="en-IN" sz="1800" b="0" i="1" smtClean="0">
                            <a:latin typeface="Cambria Math" panose="02040503050406030204" pitchFamily="18" charset="0"/>
                          </a:rPr>
                          <m:t>11</m:t>
                        </m:r>
                      </m:den>
                    </m:f>
                  </m:oMath>
                </a14:m>
                <a:endParaRPr lang="en-IN" sz="1800" dirty="0"/>
              </a:p>
              <a:p>
                <a:pPr marL="0" indent="0" algn="just">
                  <a:buNone/>
                </a:pPr>
                <a:r>
                  <a:rPr lang="en-IN" sz="1800" dirty="0"/>
                  <a:t>1+AB=18182.8</a:t>
                </a:r>
                <a:endParaRPr lang="en-IN" sz="1800" dirty="0"/>
              </a:p>
              <a:p>
                <a:pPr marL="0" indent="0" algn="just">
                  <a:buNone/>
                </a:pPr>
                <a:endParaRPr lang="en-IN" sz="18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283439" y="1823760"/>
                <a:ext cx="10186238" cy="4010995"/>
              </a:xfrm>
              <a:blipFill rotWithShape="1">
                <a:blip r:embed="rId1"/>
                <a:stretch>
                  <a:fillRect l="-1" t="-1" r="3" b="9"/>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1506999" y="4390419"/>
                <a:ext cx="2203232" cy="52501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𝐴</m:t>
                          </m:r>
                        </m:e>
                        <m:sub>
                          <m:r>
                            <a:rPr lang="en-IN" b="0" i="1" smtClean="0">
                              <a:latin typeface="Cambria Math" panose="02040503050406030204" pitchFamily="18" charset="0"/>
                            </a:rPr>
                            <m:t>𝐹</m:t>
                          </m:r>
                        </m:sub>
                      </m:sSub>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𝐴</m:t>
                          </m:r>
                        </m:num>
                        <m:den>
                          <m:r>
                            <a:rPr lang="en-IN" b="0" i="1" smtClean="0">
                              <a:latin typeface="Cambria Math" panose="02040503050406030204" pitchFamily="18" charset="0"/>
                            </a:rPr>
                            <m:t>1</m:t>
                          </m:r>
                          <m:r>
                            <a:rPr lang="en-IN" b="0" i="1" smtClean="0">
                              <a:latin typeface="Cambria Math" panose="02040503050406030204" pitchFamily="18" charset="0"/>
                            </a:rPr>
                            <m:t>+</m:t>
                          </m:r>
                          <m:r>
                            <a:rPr lang="en-IN" b="0" i="1" smtClean="0">
                              <a:latin typeface="Cambria Math" panose="02040503050406030204" pitchFamily="18" charset="0"/>
                            </a:rPr>
                            <m:t>𝐴𝐵</m:t>
                          </m:r>
                        </m:den>
                      </m:f>
                      <m:r>
                        <a:rPr lang="en-IN" b="0" i="1" smtClean="0">
                          <a:latin typeface="Cambria Math" panose="02040503050406030204" pitchFamily="18" charset="0"/>
                        </a:rPr>
                        <m:t>=</m:t>
                      </m:r>
                      <m:r>
                        <a:rPr lang="en-IN" b="0" i="1" smtClean="0">
                          <a:latin typeface="Cambria Math" panose="02040503050406030204" pitchFamily="18" charset="0"/>
                        </a:rPr>
                        <m:t>10</m:t>
                      </m:r>
                      <m:r>
                        <a:rPr lang="en-IN" b="0" i="1" smtClean="0">
                          <a:latin typeface="Cambria Math" panose="02040503050406030204" pitchFamily="18" charset="0"/>
                        </a:rPr>
                        <m:t>.</m:t>
                      </m:r>
                      <m:r>
                        <a:rPr lang="en-IN" b="0" i="1" smtClean="0">
                          <a:latin typeface="Cambria Math" panose="02040503050406030204" pitchFamily="18" charset="0"/>
                        </a:rPr>
                        <m:t>99</m:t>
                      </m:r>
                    </m:oMath>
                  </m:oMathPara>
                </a14:m>
                <a:endParaRPr lang="en-IN" dirty="0"/>
              </a:p>
            </p:txBody>
          </p:sp>
        </mc:Choice>
        <mc:Fallback>
          <p:sp>
            <p:nvSpPr>
              <p:cNvPr id="9" name="TextBox 8"/>
              <p:cNvSpPr txBox="1">
                <a:spLocks noRot="1" noChangeAspect="1" noMove="1" noResize="1" noEditPoints="1" noAdjustHandles="1" noChangeArrowheads="1" noChangeShapeType="1" noTextEdit="1"/>
              </p:cNvSpPr>
              <p:nvPr/>
            </p:nvSpPr>
            <p:spPr>
              <a:xfrm>
                <a:off x="1506999" y="4390419"/>
                <a:ext cx="2203232" cy="525016"/>
              </a:xfrm>
              <a:prstGeom prst="rect">
                <a:avLst/>
              </a:prstGeom>
              <a:blipFill rotWithShape="1">
                <a:blip r:embed="rId2"/>
                <a:stretch>
                  <a:fillRect l="-7" t="-6" r="25" b="102"/>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287482" y="5079723"/>
                <a:ext cx="6102926"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𝑖𝐹</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𝑖</m:t>
                          </m:r>
                        </m:sub>
                      </m:sSub>
                      <m:d>
                        <m:dPr>
                          <m:ctrlPr>
                            <a:rPr lang="en-IN" b="0" i="1" smtClean="0">
                              <a:latin typeface="Cambria Math" panose="02040503050406030204" pitchFamily="18" charset="0"/>
                            </a:rPr>
                          </m:ctrlPr>
                        </m:dPr>
                        <m:e>
                          <m:r>
                            <a:rPr lang="en-IN" b="0" i="1" smtClean="0">
                              <a:latin typeface="Cambria Math" panose="02040503050406030204" pitchFamily="18" charset="0"/>
                            </a:rPr>
                            <m:t>1</m:t>
                          </m:r>
                          <m:r>
                            <a:rPr lang="en-IN" b="0" i="1" smtClean="0">
                              <a:latin typeface="Cambria Math" panose="02040503050406030204" pitchFamily="18" charset="0"/>
                            </a:rPr>
                            <m:t>+</m:t>
                          </m:r>
                          <m:r>
                            <a:rPr lang="en-IN" b="0" i="1" smtClean="0">
                              <a:latin typeface="Cambria Math" panose="02040503050406030204" pitchFamily="18" charset="0"/>
                            </a:rPr>
                            <m:t>𝐴𝐵</m:t>
                          </m:r>
                        </m:e>
                      </m:d>
                      <m:r>
                        <a:rPr lang="en-IN" b="0" i="1" smtClean="0">
                          <a:latin typeface="Cambria Math" panose="02040503050406030204" pitchFamily="18" charset="0"/>
                        </a:rPr>
                        <m:t>=</m:t>
                      </m:r>
                      <m:r>
                        <a:rPr lang="en-IN" b="0" i="1" smtClean="0">
                          <a:latin typeface="Cambria Math" panose="02040503050406030204" pitchFamily="18" charset="0"/>
                        </a:rPr>
                        <m:t>36</m:t>
                      </m:r>
                      <m:r>
                        <a:rPr lang="en-IN" b="0" i="1" smtClean="0">
                          <a:latin typeface="Cambria Math" panose="02040503050406030204" pitchFamily="18" charset="0"/>
                        </a:rPr>
                        <m:t>.</m:t>
                      </m:r>
                      <m:r>
                        <a:rPr lang="en-IN" b="0" i="1" smtClean="0">
                          <a:latin typeface="Cambria Math" panose="02040503050406030204" pitchFamily="18" charset="0"/>
                        </a:rPr>
                        <m:t>4</m:t>
                      </m:r>
                      <m:r>
                        <a:rPr lang="en-IN" b="0" i="1" smtClean="0">
                          <a:latin typeface="Cambria Math" panose="02040503050406030204" pitchFamily="18" charset="0"/>
                        </a:rPr>
                        <m:t> </m:t>
                      </m:r>
                      <m:r>
                        <a:rPr lang="en-IN" b="0" i="1" smtClean="0">
                          <a:latin typeface="Cambria Math" panose="02040503050406030204" pitchFamily="18" charset="0"/>
                        </a:rPr>
                        <m:t>𝐺</m:t>
                      </m:r>
                      <m:r>
                        <a:rPr lang="el-GR" b="0" i="1" smtClean="0">
                          <a:latin typeface="Cambria Math" panose="02040503050406030204" pitchFamily="18" charset="0"/>
                        </a:rPr>
                        <m:t>Ω</m:t>
                      </m:r>
                    </m:oMath>
                  </m:oMathPara>
                </a14:m>
                <a:endParaRPr lang="en-IN" dirty="0"/>
              </a:p>
            </p:txBody>
          </p:sp>
        </mc:Choice>
        <mc:Fallback>
          <p:sp>
            <p:nvSpPr>
              <p:cNvPr id="12" name="TextBox 11"/>
              <p:cNvSpPr txBox="1">
                <a:spLocks noRot="1" noChangeAspect="1" noMove="1" noResize="1" noEditPoints="1" noAdjustHandles="1" noChangeArrowheads="1" noChangeShapeType="1" noTextEdit="1"/>
              </p:cNvSpPr>
              <p:nvPr/>
            </p:nvSpPr>
            <p:spPr>
              <a:xfrm>
                <a:off x="-287482" y="5079723"/>
                <a:ext cx="6102926" cy="369332"/>
              </a:xfrm>
              <a:prstGeom prst="rect">
                <a:avLst/>
              </a:prstGeom>
              <a:blipFill rotWithShape="1">
                <a:blip r:embed="rId3"/>
                <a:stretch>
                  <a:fillRect l="8" t="-97" r="2" b="32"/>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4745181" y="4273118"/>
                <a:ext cx="6248400" cy="485582"/>
              </a:xfrm>
              <a:prstGeom prst="rect">
                <a:avLst/>
              </a:prstGeom>
              <a:noFill/>
            </p:spPr>
            <p:txBody>
              <a:bodyPr wrap="square">
                <a:spAutoFit/>
              </a:bodyPr>
              <a:lstStyle/>
              <a:p>
                <a14:m>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𝑜𝐹</m:t>
                        </m:r>
                      </m:sub>
                    </m:sSub>
                    <m:r>
                      <a:rPr lang="en-IN" b="0" i="1" smtClean="0">
                        <a:latin typeface="Cambria Math" panose="02040503050406030204" pitchFamily="18" charset="0"/>
                      </a:rPr>
                      <m:t>= </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𝑜</m:t>
                            </m:r>
                          </m:sub>
                        </m:sSub>
                      </m:num>
                      <m:den>
                        <m:r>
                          <a:rPr lang="en-IN" b="0" i="1" smtClean="0">
                            <a:latin typeface="Cambria Math" panose="02040503050406030204" pitchFamily="18" charset="0"/>
                          </a:rPr>
                          <m:t>1</m:t>
                        </m:r>
                        <m:r>
                          <a:rPr lang="en-IN" b="0" i="1" smtClean="0">
                            <a:latin typeface="Cambria Math" panose="02040503050406030204" pitchFamily="18" charset="0"/>
                          </a:rPr>
                          <m:t>+</m:t>
                        </m:r>
                        <m:r>
                          <a:rPr lang="en-IN" b="0" i="1" smtClean="0">
                            <a:latin typeface="Cambria Math" panose="02040503050406030204" pitchFamily="18" charset="0"/>
                          </a:rPr>
                          <m:t>𝐴𝐵</m:t>
                        </m:r>
                      </m:den>
                    </m:f>
                    <m:r>
                      <a:rPr lang="en-IN" b="0" i="1" smtClean="0">
                        <a:latin typeface="Cambria Math" panose="02040503050406030204" pitchFamily="18" charset="0"/>
                      </a:rPr>
                      <m:t>=</m:t>
                    </m:r>
                    <m:r>
                      <a:rPr lang="en-IN" b="0" i="1" smtClean="0">
                        <a:latin typeface="Cambria Math" panose="02040503050406030204" pitchFamily="18" charset="0"/>
                      </a:rPr>
                      <m:t>4</m:t>
                    </m:r>
                    <m:r>
                      <a:rPr lang="en-IN" b="0" i="1" smtClean="0">
                        <a:latin typeface="Cambria Math" panose="02040503050406030204" pitchFamily="18" charset="0"/>
                      </a:rPr>
                      <m:t>.</m:t>
                    </m:r>
                    <m:r>
                      <a:rPr lang="en-IN" b="0" i="1" smtClean="0">
                        <a:latin typeface="Cambria Math" panose="02040503050406030204" pitchFamily="18" charset="0"/>
                      </a:rPr>
                      <m:t>12</m:t>
                    </m:r>
                    <m:r>
                      <a:rPr lang="en-IN" b="0" i="1" smtClean="0">
                        <a:latin typeface="Cambria Math" panose="02040503050406030204" pitchFamily="18" charset="0"/>
                      </a:rPr>
                      <m:t> </m:t>
                    </m:r>
                    <m:r>
                      <a:rPr lang="en-IN" b="0" i="1" smtClean="0">
                        <a:latin typeface="Cambria Math" panose="02040503050406030204" pitchFamily="18" charset="0"/>
                      </a:rPr>
                      <m:t>𝑚</m:t>
                    </m:r>
                    <m:r>
                      <a:rPr lang="el-GR" b="0" i="1" smtClean="0">
                        <a:latin typeface="Cambria Math" panose="02040503050406030204" pitchFamily="18" charset="0"/>
                      </a:rPr>
                      <m:t>Ω</m:t>
                    </m:r>
                  </m:oMath>
                </a14:m>
                <a:r>
                  <a:rPr lang="en-IN" dirty="0"/>
                  <a:t>  </a:t>
                </a:r>
                <a:endParaRPr lang="en-IN" dirty="0"/>
              </a:p>
            </p:txBody>
          </p:sp>
        </mc:Choice>
        <mc:Fallback>
          <p:sp>
            <p:nvSpPr>
              <p:cNvPr id="14" name="TextBox 13"/>
              <p:cNvSpPr txBox="1">
                <a:spLocks noRot="1" noChangeAspect="1" noMove="1" noResize="1" noEditPoints="1" noAdjustHandles="1" noChangeArrowheads="1" noChangeShapeType="1" noTextEdit="1"/>
              </p:cNvSpPr>
              <p:nvPr/>
            </p:nvSpPr>
            <p:spPr>
              <a:xfrm>
                <a:off x="4745181" y="4273118"/>
                <a:ext cx="6248400" cy="485582"/>
              </a:xfrm>
              <a:prstGeom prst="rect">
                <a:avLst/>
              </a:prstGeom>
              <a:blipFill rotWithShape="1">
                <a:blip r:embed="rId4"/>
                <a:stretch>
                  <a:fillRect l="-7" t="-42" r="7" b="2"/>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6" name="TextBox 15"/>
              <p:cNvSpPr txBox="1"/>
              <p:nvPr/>
            </p:nvSpPr>
            <p:spPr>
              <a:xfrm>
                <a:off x="3096492" y="5009039"/>
                <a:ext cx="6248400"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𝑓</m:t>
                          </m:r>
                        </m:e>
                        <m:sub>
                          <m:r>
                            <a:rPr lang="en-IN" b="0" i="1" smtClean="0">
                              <a:latin typeface="Cambria Math" panose="02040503050406030204" pitchFamily="18" charset="0"/>
                            </a:rPr>
                            <m:t>𝐹</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𝑓</m:t>
                          </m:r>
                        </m:e>
                        <m:sub>
                          <m:r>
                            <a:rPr lang="en-IN" b="0" i="1" smtClean="0">
                              <a:latin typeface="Cambria Math" panose="02040503050406030204" pitchFamily="18" charset="0"/>
                            </a:rPr>
                            <m:t>𝑜</m:t>
                          </m:r>
                        </m:sub>
                      </m:sSub>
                      <m:d>
                        <m:dPr>
                          <m:ctrlPr>
                            <a:rPr lang="en-IN" b="0" i="1" smtClean="0">
                              <a:latin typeface="Cambria Math" panose="02040503050406030204" pitchFamily="18" charset="0"/>
                            </a:rPr>
                          </m:ctrlPr>
                        </m:dPr>
                        <m:e>
                          <m:r>
                            <a:rPr lang="en-IN" b="0" i="1" smtClean="0">
                              <a:latin typeface="Cambria Math" panose="02040503050406030204" pitchFamily="18" charset="0"/>
                            </a:rPr>
                            <m:t>1</m:t>
                          </m:r>
                          <m:r>
                            <a:rPr lang="en-IN" b="0" i="1" smtClean="0">
                              <a:latin typeface="Cambria Math" panose="02040503050406030204" pitchFamily="18" charset="0"/>
                            </a:rPr>
                            <m:t>+</m:t>
                          </m:r>
                          <m:r>
                            <a:rPr lang="en-IN" b="0" i="1" smtClean="0">
                              <a:latin typeface="Cambria Math" panose="02040503050406030204" pitchFamily="18" charset="0"/>
                            </a:rPr>
                            <m:t>𝐴𝐵</m:t>
                          </m:r>
                        </m:e>
                      </m:d>
                      <m:r>
                        <a:rPr lang="en-IN" b="0" i="1" smtClean="0">
                          <a:latin typeface="Cambria Math" panose="02040503050406030204" pitchFamily="18" charset="0"/>
                        </a:rPr>
                        <m:t>=</m:t>
                      </m:r>
                      <m:r>
                        <a:rPr lang="en-IN" b="0" i="1" smtClean="0">
                          <a:latin typeface="Cambria Math" panose="02040503050406030204" pitchFamily="18" charset="0"/>
                        </a:rPr>
                        <m:t>90</m:t>
                      </m:r>
                      <m:r>
                        <a:rPr lang="en-IN" b="0" i="1" smtClean="0">
                          <a:latin typeface="Cambria Math" panose="02040503050406030204" pitchFamily="18" charset="0"/>
                        </a:rPr>
                        <m:t>.</m:t>
                      </m:r>
                      <m:r>
                        <a:rPr lang="en-IN" b="0" i="1" smtClean="0">
                          <a:latin typeface="Cambria Math" panose="02040503050406030204" pitchFamily="18" charset="0"/>
                        </a:rPr>
                        <m:t>9</m:t>
                      </m:r>
                      <m:r>
                        <a:rPr lang="en-IN" b="0" i="1" smtClean="0">
                          <a:latin typeface="Cambria Math" panose="02040503050406030204" pitchFamily="18" charset="0"/>
                        </a:rPr>
                        <m:t> </m:t>
                      </m:r>
                      <m:r>
                        <a:rPr lang="en-IN" b="0" i="1" smtClean="0">
                          <a:latin typeface="Cambria Math" panose="02040503050406030204" pitchFamily="18" charset="0"/>
                        </a:rPr>
                        <m:t>𝑘𝐻𝑧</m:t>
                      </m:r>
                    </m:oMath>
                  </m:oMathPara>
                </a14:m>
                <a:endParaRPr lang="en-IN" dirty="0"/>
              </a:p>
            </p:txBody>
          </p:sp>
        </mc:Choice>
        <mc:Fallback>
          <p:sp>
            <p:nvSpPr>
              <p:cNvPr id="16" name="TextBox 15"/>
              <p:cNvSpPr txBox="1">
                <a:spLocks noRot="1" noChangeAspect="1" noMove="1" noResize="1" noEditPoints="1" noAdjustHandles="1" noChangeArrowheads="1" noChangeShapeType="1" noTextEdit="1"/>
              </p:cNvSpPr>
              <p:nvPr/>
            </p:nvSpPr>
            <p:spPr>
              <a:xfrm>
                <a:off x="3096492" y="5009039"/>
                <a:ext cx="6248400" cy="369332"/>
              </a:xfrm>
              <a:prstGeom prst="rect">
                <a:avLst/>
              </a:prstGeom>
              <a:blipFill rotWithShape="1">
                <a:blip r:embed="rId5"/>
                <a:stretch>
                  <a:fillRect l="-4" t="-43" r="4" b="151"/>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7" name="TextBox 16"/>
              <p:cNvSpPr txBox="1"/>
              <p:nvPr/>
            </p:nvSpPr>
            <p:spPr>
              <a:xfrm>
                <a:off x="8243276" y="4267420"/>
                <a:ext cx="2937407" cy="52315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𝑉</m:t>
                          </m:r>
                        </m:e>
                        <m:sub>
                          <m:r>
                            <a:rPr lang="en-IN" b="0" i="1" smtClean="0">
                              <a:latin typeface="Cambria Math" panose="02040503050406030204" pitchFamily="18" charset="0"/>
                            </a:rPr>
                            <m:t>𝑜𝑜𝑇</m:t>
                          </m:r>
                        </m:sub>
                      </m:sSub>
                      <m:r>
                        <a:rPr lang="en-IN" b="0" i="1" smtClean="0">
                          <a:latin typeface="Cambria Math" panose="02040503050406030204" pitchFamily="18" charset="0"/>
                        </a:rPr>
                        <m:t>=</m:t>
                      </m:r>
                      <m:f>
                        <m:fPr>
                          <m:ctrlPr>
                            <a:rPr lang="en-IN" b="0" i="1" smtClean="0">
                              <a:latin typeface="Cambria Math" panose="02040503050406030204" pitchFamily="18" charset="0"/>
                              <a:ea typeface="Cambria Math" panose="02040503050406030204" pitchFamily="18" charset="0"/>
                            </a:rPr>
                          </m:ctrlPr>
                        </m:fPr>
                        <m:num>
                          <m:r>
                            <a:rPr lang="en-IN" b="0" i="1" smtClean="0">
                              <a:latin typeface="Cambria Math" panose="02040503050406030204" pitchFamily="18" charset="0"/>
                              <a:ea typeface="Cambria Math" panose="02040503050406030204" pitchFamily="18" charset="0"/>
                            </a:rPr>
                            <m:t>±</m:t>
                          </m:r>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𝑉</m:t>
                              </m:r>
                            </m:e>
                            <m:sub>
                              <m:r>
                                <a:rPr lang="en-IN" b="0" i="1" smtClean="0">
                                  <a:latin typeface="Cambria Math" panose="02040503050406030204" pitchFamily="18" charset="0"/>
                                  <a:ea typeface="Cambria Math" panose="02040503050406030204" pitchFamily="18" charset="0"/>
                                </a:rPr>
                                <m:t>𝑠𝑎𝑡</m:t>
                              </m:r>
                            </m:sub>
                          </m:sSub>
                        </m:num>
                        <m:den>
                          <m:r>
                            <a:rPr lang="en-IN" b="0" i="1" smtClean="0">
                              <a:latin typeface="Cambria Math" panose="02040503050406030204" pitchFamily="18" charset="0"/>
                              <a:ea typeface="Cambria Math" panose="02040503050406030204" pitchFamily="18" charset="0"/>
                            </a:rPr>
                            <m:t>1</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𝐴𝐵</m:t>
                          </m:r>
                        </m:den>
                      </m:f>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0</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715</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𝑚𝑉</m:t>
                      </m:r>
                    </m:oMath>
                  </m:oMathPara>
                </a14:m>
                <a:endParaRPr lang="en-IN" dirty="0"/>
              </a:p>
            </p:txBody>
          </p:sp>
        </mc:Choice>
        <mc:Fallback>
          <p:sp>
            <p:nvSpPr>
              <p:cNvPr id="17" name="TextBox 16"/>
              <p:cNvSpPr txBox="1">
                <a:spLocks noRot="1" noChangeAspect="1" noMove="1" noResize="1" noEditPoints="1" noAdjustHandles="1" noChangeArrowheads="1" noChangeShapeType="1" noTextEdit="1"/>
              </p:cNvSpPr>
              <p:nvPr/>
            </p:nvSpPr>
            <p:spPr>
              <a:xfrm>
                <a:off x="8243276" y="4267420"/>
                <a:ext cx="2937407" cy="523157"/>
              </a:xfrm>
              <a:prstGeom prst="rect">
                <a:avLst/>
              </a:prstGeom>
              <a:blipFill rotWithShape="1">
                <a:blip r:embed="rId6"/>
                <a:stretch>
                  <a:fillRect l="-12" t="-42" r="8" b="26"/>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887776" y="405435"/>
            <a:ext cx="8102139" cy="74631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Voltage – Shunt Feedback Amplifier  or Inverting Amplifier with feedback</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5" name="Picture 4"/>
          <p:cNvPicPr>
            <a:picLocks noChangeAspect="1"/>
          </p:cNvPicPr>
          <p:nvPr/>
        </p:nvPicPr>
        <p:blipFill>
          <a:blip r:embed="rId1"/>
          <a:stretch>
            <a:fillRect/>
          </a:stretch>
        </p:blipFill>
        <p:spPr>
          <a:xfrm>
            <a:off x="6389609" y="1794328"/>
            <a:ext cx="5802391" cy="2493589"/>
          </a:xfrm>
          <a:prstGeom prst="rect">
            <a:avLst/>
          </a:prstGeom>
        </p:spPr>
      </p:pic>
      <p:sp>
        <p:nvSpPr>
          <p:cNvPr id="2" name="TextBox 1"/>
          <p:cNvSpPr txBox="1"/>
          <p:nvPr/>
        </p:nvSpPr>
        <p:spPr>
          <a:xfrm>
            <a:off x="70973" y="1369755"/>
            <a:ext cx="7202404" cy="1200329"/>
          </a:xfrm>
          <a:prstGeom prst="rect">
            <a:avLst/>
          </a:prstGeom>
          <a:noFill/>
        </p:spPr>
        <p:txBody>
          <a:bodyPr wrap="square" rtlCol="0">
            <a:spAutoFit/>
          </a:bodyPr>
          <a:lstStyle/>
          <a:p>
            <a:r>
              <a:rPr lang="en-IN" dirty="0"/>
              <a:t>The following figure illustrates the voltage-shunt feedback amplifier and is also referred to as inverting amplifier with feedback.</a:t>
            </a:r>
            <a:endParaRPr lang="en-IN" dirty="0"/>
          </a:p>
          <a:p>
            <a:endParaRPr lang="en-IN" dirty="0"/>
          </a:p>
          <a:p>
            <a:endParaRPr lang="en-IN" dirty="0"/>
          </a:p>
        </p:txBody>
      </p:sp>
      <mc:AlternateContent xmlns:mc="http://schemas.openxmlformats.org/markup-compatibility/2006">
        <mc:Choice xmlns:a14="http://schemas.microsoft.com/office/drawing/2010/main" Requires="a14">
          <p:sp>
            <p:nvSpPr>
              <p:cNvPr id="3" name="TextBox 2"/>
              <p:cNvSpPr txBox="1"/>
              <p:nvPr/>
            </p:nvSpPr>
            <p:spPr>
              <a:xfrm>
                <a:off x="70973" y="1969919"/>
                <a:ext cx="4461731" cy="258397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800" dirty="0"/>
                  <a:t>Closed loop voltage gain</a:t>
                </a:r>
                <a:endParaRPr lang="en-US" sz="1800" dirty="0"/>
              </a:p>
              <a:p>
                <a:pPr algn="just">
                  <a:lnSpc>
                    <a:spcPct val="150000"/>
                  </a:lnSpc>
                </a:pPr>
                <a14:m>
                  <m:oMathPara xmlns:m="http://schemas.openxmlformats.org/officeDocument/2006/math">
                    <m:oMathParaPr>
                      <m:jc m:val="left"/>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𝐴</m:t>
                          </m:r>
                        </m:e>
                        <m:sub>
                          <m:r>
                            <a:rPr lang="en-IN" b="0" i="1" smtClean="0">
                              <a:latin typeface="Cambria Math" panose="02040503050406030204" pitchFamily="18" charset="0"/>
                            </a:rPr>
                            <m:t>𝐹</m:t>
                          </m:r>
                        </m:sub>
                      </m:sSub>
                      <m:r>
                        <a:rPr lang="en-IN" b="0" i="1" smtClean="0">
                          <a:latin typeface="Cambria Math" panose="02040503050406030204" pitchFamily="18" charset="0"/>
                        </a:rPr>
                        <m:t>=</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𝑜</m:t>
                              </m:r>
                            </m:sub>
                          </m:sSub>
                        </m:num>
                        <m:den>
                          <m:sSub>
                            <m:sSubPr>
                              <m:ctrlPr>
                                <a:rPr lang="en-IN" b="0"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𝑖𝑛</m:t>
                              </m:r>
                            </m:sub>
                          </m:sSub>
                        </m:den>
                      </m:f>
                      <m:r>
                        <a:rPr lang="en-IN" b="0" i="0"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𝐴</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𝐹</m:t>
                              </m:r>
                            </m:sub>
                          </m:sSub>
                        </m:num>
                        <m:den>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𝐹</m:t>
                              </m:r>
                            </m:sub>
                          </m:sSub>
                          <m:r>
                            <a:rPr lang="en-IN" b="0" i="1" smtClean="0">
                              <a:latin typeface="Cambria Math" panose="02040503050406030204" pitchFamily="18" charset="0"/>
                            </a:rPr>
                            <m:t>+</m:t>
                          </m:r>
                          <m:r>
                            <a:rPr lang="en-IN" b="0" i="1" smtClean="0">
                              <a:latin typeface="Cambria Math" panose="02040503050406030204" pitchFamily="18" charset="0"/>
                            </a:rPr>
                            <m:t>𝐴</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1</m:t>
                              </m:r>
                            </m:sub>
                          </m:sSub>
                        </m:den>
                      </m:f>
                      <m:r>
                        <a:rPr lang="en-IN">
                          <a:latin typeface="Cambria Math" panose="02040503050406030204" pitchFamily="18" charset="0"/>
                          <a:ea typeface="Cambria Math" panose="02040503050406030204" pitchFamily="18" charset="0"/>
                        </a:rPr>
                        <m:t>≅</m:t>
                      </m:r>
                      <m:r>
                        <a:rPr lang="en-IN" b="0" i="0" smtClean="0">
                          <a:latin typeface="Cambria Math" panose="02040503050406030204" pitchFamily="18" charset="0"/>
                          <a:ea typeface="Cambria Math" panose="02040503050406030204" pitchFamily="18" charset="0"/>
                        </a:rPr>
                        <m:t>−</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𝐹</m:t>
                              </m:r>
                            </m:sub>
                          </m:sSub>
                        </m:num>
                        <m:den>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1</m:t>
                              </m:r>
                            </m:sub>
                          </m:sSub>
                        </m:den>
                      </m:f>
                    </m:oMath>
                  </m:oMathPara>
                </a14:m>
                <a:endParaRPr lang="en-IN" b="0" dirty="0"/>
              </a:p>
              <a:p>
                <a:pPr algn="just">
                  <a:lnSpc>
                    <a:spcPct val="150000"/>
                  </a:lnSpc>
                </a:pPr>
                <a14:m>
                  <m:oMath xmlns:m="http://schemas.openxmlformats.org/officeDocument/2006/math">
                    <m:r>
                      <a:rPr lang="en-IN" b="0" i="1" smtClean="0">
                        <a:latin typeface="Cambria Math" panose="02040503050406030204" pitchFamily="18" charset="0"/>
                      </a:rPr>
                      <m:t>𝐵</m:t>
                    </m:r>
                    <m:r>
                      <a:rPr lang="en-IN" i="1">
                        <a:latin typeface="Cambria Math" panose="02040503050406030204" pitchFamily="18" charset="0"/>
                      </a:rPr>
                      <m:t>=</m:t>
                    </m:r>
                    <m:f>
                      <m:fPr>
                        <m:ctrlPr>
                          <a:rPr lang="en-IN" i="1">
                            <a:latin typeface="Cambria Math" panose="02040503050406030204" pitchFamily="18" charset="0"/>
                          </a:rPr>
                        </m:ctrlPr>
                      </m:fPr>
                      <m:num>
                        <m:sSub>
                          <m:sSubPr>
                            <m:ctrlPr>
                              <a:rPr lang="en-IN" i="1">
                                <a:latin typeface="Cambria Math" panose="02040503050406030204" pitchFamily="18" charset="0"/>
                              </a:rPr>
                            </m:ctrlPr>
                          </m:sSubPr>
                          <m:e>
                            <m:r>
                              <a:rPr lang="en-IN" i="1">
                                <a:latin typeface="Cambria Math" panose="02040503050406030204" pitchFamily="18" charset="0"/>
                              </a:rPr>
                              <m:t>𝑅</m:t>
                            </m:r>
                          </m:e>
                          <m:sub>
                            <m:r>
                              <a:rPr lang="en-IN" b="0" i="1" smtClean="0">
                                <a:latin typeface="Cambria Math" panose="02040503050406030204" pitchFamily="18" charset="0"/>
                              </a:rPr>
                              <m:t>1</m:t>
                            </m:r>
                          </m:sub>
                        </m:sSub>
                      </m:num>
                      <m:den>
                        <m:sSub>
                          <m:sSubPr>
                            <m:ctrlPr>
                              <a:rPr lang="en-IN" i="1">
                                <a:latin typeface="Cambria Math" panose="02040503050406030204" pitchFamily="18" charset="0"/>
                              </a:rPr>
                            </m:ctrlPr>
                          </m:sSubPr>
                          <m:e>
                            <m:r>
                              <a:rPr lang="en-IN" i="1">
                                <a:latin typeface="Cambria Math" panose="02040503050406030204" pitchFamily="18" charset="0"/>
                              </a:rPr>
                              <m:t>𝑅</m:t>
                            </m:r>
                          </m:e>
                          <m:sub>
                            <m:r>
                              <a:rPr lang="en-IN" i="1">
                                <a:latin typeface="Cambria Math" panose="02040503050406030204" pitchFamily="18" charset="0"/>
                              </a:rPr>
                              <m:t>1</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𝑅</m:t>
                            </m:r>
                          </m:e>
                          <m:sub>
                            <m:r>
                              <a:rPr lang="en-IN" i="1">
                                <a:latin typeface="Cambria Math" panose="02040503050406030204" pitchFamily="18" charset="0"/>
                              </a:rPr>
                              <m:t>𝐹</m:t>
                            </m:r>
                          </m:sub>
                        </m:sSub>
                      </m:den>
                    </m:f>
                    <m:r>
                      <a:rPr lang="en-IN" i="1">
                        <a:latin typeface="Cambria Math" panose="02040503050406030204" pitchFamily="18" charset="0"/>
                      </a:rPr>
                      <m:t> </m:t>
                    </m:r>
                    <m:r>
                      <a:rPr lang="en-IN">
                        <a:latin typeface="Cambria Math" panose="02040503050406030204" pitchFamily="18" charset="0"/>
                      </a:rPr>
                      <m:t> </m:t>
                    </m:r>
                  </m:oMath>
                </a14:m>
                <a:r>
                  <a:rPr lang="en-US" sz="1800" dirty="0"/>
                  <a:t>is the gain of the feedback circuit</a:t>
                </a:r>
                <a:endParaRPr lang="en-US" sz="1800" dirty="0"/>
              </a:p>
              <a:p>
                <a:pPr algn="just">
                  <a:lnSpc>
                    <a:spcPct val="150000"/>
                  </a:lnSpc>
                </a:pPr>
                <a14:m>
                  <m:oMath xmlns:m="http://schemas.openxmlformats.org/officeDocument/2006/math">
                    <m:r>
                      <a:rPr lang="en-IN" sz="1800" b="0" i="1" smtClean="0">
                        <a:latin typeface="Cambria Math" panose="02040503050406030204" pitchFamily="18" charset="0"/>
                      </a:rPr>
                      <m:t>𝐾</m:t>
                    </m:r>
                    <m:r>
                      <a:rPr lang="en-IN" sz="1800" b="0" i="1" smtClean="0">
                        <a:latin typeface="Cambria Math" panose="02040503050406030204" pitchFamily="18" charset="0"/>
                      </a:rPr>
                      <m:t>=</m:t>
                    </m:r>
                    <m:f>
                      <m:fPr>
                        <m:ctrlPr>
                          <a:rPr lang="en-IN" sz="1800" b="0" i="1" smtClean="0">
                            <a:latin typeface="Cambria Math" panose="02040503050406030204" pitchFamily="18" charset="0"/>
                          </a:rPr>
                        </m:ctrlPr>
                      </m:fPr>
                      <m:num>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𝑅</m:t>
                            </m:r>
                          </m:e>
                          <m:sub>
                            <m:r>
                              <a:rPr lang="en-IN" sz="1800" b="0" i="1" smtClean="0">
                                <a:latin typeface="Cambria Math" panose="02040503050406030204" pitchFamily="18" charset="0"/>
                              </a:rPr>
                              <m:t>𝐹</m:t>
                            </m:r>
                          </m:sub>
                        </m:sSub>
                      </m:num>
                      <m:den>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𝑅</m:t>
                            </m:r>
                          </m:e>
                          <m:sub>
                            <m:r>
                              <a:rPr lang="en-IN" sz="1800" b="0" i="1" smtClean="0">
                                <a:latin typeface="Cambria Math" panose="02040503050406030204" pitchFamily="18" charset="0"/>
                              </a:rPr>
                              <m:t>1</m:t>
                            </m:r>
                          </m:sub>
                        </m:sSub>
                        <m:r>
                          <a:rPr lang="en-IN" sz="1800" b="0" i="1" smtClean="0">
                            <a:latin typeface="Cambria Math" panose="02040503050406030204" pitchFamily="18" charset="0"/>
                          </a:rPr>
                          <m:t>+</m:t>
                        </m:r>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𝑅</m:t>
                            </m:r>
                          </m:e>
                          <m:sub>
                            <m:r>
                              <a:rPr lang="en-IN" sz="1800" b="0" i="1" smtClean="0">
                                <a:latin typeface="Cambria Math" panose="02040503050406030204" pitchFamily="18" charset="0"/>
                              </a:rPr>
                              <m:t>𝐹</m:t>
                            </m:r>
                          </m:sub>
                        </m:sSub>
                      </m:den>
                    </m:f>
                    <m:r>
                      <a:rPr lang="en-IN" sz="1800" b="0" i="1" smtClean="0">
                        <a:latin typeface="Cambria Math" panose="02040503050406030204" pitchFamily="18" charset="0"/>
                      </a:rPr>
                      <m:t> </m:t>
                    </m:r>
                    <m:r>
                      <a:rPr lang="en-IN" sz="1800" b="0" i="0" smtClean="0">
                        <a:latin typeface="Cambria Math" panose="02040503050406030204" pitchFamily="18" charset="0"/>
                      </a:rPr>
                      <m:t> </m:t>
                    </m:r>
                  </m:oMath>
                </a14:m>
                <a:r>
                  <a:rPr lang="en-US" sz="1800" dirty="0"/>
                  <a:t>is the voltage attenuation factor</a:t>
                </a:r>
                <a:endParaRPr lang="en-US" sz="1800" dirty="0"/>
              </a:p>
            </p:txBody>
          </p:sp>
        </mc:Choice>
        <mc:Fallback>
          <p:sp>
            <p:nvSpPr>
              <p:cNvPr id="3" name="TextBox 2"/>
              <p:cNvSpPr txBox="1">
                <a:spLocks noRot="1" noChangeAspect="1" noMove="1" noResize="1" noEditPoints="1" noAdjustHandles="1" noChangeArrowheads="1" noChangeShapeType="1" noTextEdit="1"/>
              </p:cNvSpPr>
              <p:nvPr/>
            </p:nvSpPr>
            <p:spPr>
              <a:xfrm>
                <a:off x="70973" y="1969919"/>
                <a:ext cx="4461731" cy="2583977"/>
              </a:xfrm>
              <a:prstGeom prst="rect">
                <a:avLst/>
              </a:prstGeom>
              <a:blipFill rotWithShape="1">
                <a:blip r:embed="rId2"/>
                <a:stretch>
                  <a:fillRect l="-11" t="-6" r="2" b="12"/>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70973" y="4809933"/>
                <a:ext cx="3302058" cy="1168012"/>
              </a:xfrm>
              <a:prstGeom prst="rect">
                <a:avLst/>
              </a:prstGeom>
              <a:noFill/>
            </p:spPr>
            <p:txBody>
              <a:bodyPr wrap="none" rtlCol="0">
                <a:spAutoFit/>
              </a:bodyPr>
              <a:lstStyle/>
              <a:p>
                <a:pPr marL="285750" indent="-285750">
                  <a:buFont typeface="Arial" panose="020B0604020202020204" pitchFamily="34" charset="0"/>
                  <a:buChar char="•"/>
                </a:pPr>
                <a:r>
                  <a:rPr lang="en-IN" dirty="0"/>
                  <a:t>Input resistance with feedback</a:t>
                </a:r>
                <a:endParaRPr lang="en-IN" dirty="0"/>
              </a:p>
              <a:p>
                <a:endParaRPr lang="en-IN" dirty="0"/>
              </a:p>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𝑖𝐹</m:t>
                          </m:r>
                        </m:sub>
                      </m:sSub>
                      <m:r>
                        <a:rPr lang="en-IN" b="0" i="1" smtClean="0">
                          <a:latin typeface="Cambria Math" panose="02040503050406030204" pitchFamily="18" charset="0"/>
                        </a:rPr>
                        <m:t>= </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𝑖𝑛</m:t>
                              </m:r>
                            </m:sub>
                          </m:sSub>
                        </m:num>
                        <m:den>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𝑖𝑛</m:t>
                              </m:r>
                            </m:sub>
                          </m:sSub>
                        </m:den>
                      </m:f>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𝑖</m:t>
                          </m:r>
                        </m:sub>
                      </m:sSub>
                    </m:oMath>
                  </m:oMathPara>
                </a14:m>
                <a:endParaRPr lang="en-IN" dirty="0"/>
              </a:p>
            </p:txBody>
          </p:sp>
        </mc:Choice>
        <mc:Fallback>
          <p:sp>
            <p:nvSpPr>
              <p:cNvPr id="6" name="TextBox 5"/>
              <p:cNvSpPr txBox="1">
                <a:spLocks noRot="1" noChangeAspect="1" noMove="1" noResize="1" noEditPoints="1" noAdjustHandles="1" noChangeArrowheads="1" noChangeShapeType="1" noTextEdit="1"/>
              </p:cNvSpPr>
              <p:nvPr/>
            </p:nvSpPr>
            <p:spPr>
              <a:xfrm>
                <a:off x="70973" y="4809933"/>
                <a:ext cx="3302058" cy="1168012"/>
              </a:xfrm>
              <a:prstGeom prst="rect">
                <a:avLst/>
              </a:prstGeom>
              <a:blipFill rotWithShape="1">
                <a:blip r:embed="rId3"/>
                <a:stretch>
                  <a:fillRect l="-15" t="-38" r="17" b="5"/>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3761325" y="4809933"/>
                <a:ext cx="3512052" cy="1237390"/>
              </a:xfrm>
              <a:prstGeom prst="rect">
                <a:avLst/>
              </a:prstGeom>
              <a:noFill/>
            </p:spPr>
            <p:txBody>
              <a:bodyPr wrap="none" rtlCol="0">
                <a:spAutoFit/>
              </a:bodyPr>
              <a:lstStyle/>
              <a:p>
                <a:pPr marL="285750" indent="-285750">
                  <a:buFont typeface="Arial" panose="020B0604020202020204" pitchFamily="34" charset="0"/>
                  <a:buChar char="•"/>
                </a:pPr>
                <a:r>
                  <a:rPr lang="en-IN" dirty="0"/>
                  <a:t>Output resistance with feedback</a:t>
                </a:r>
                <a:endParaRPr lang="en-IN" dirty="0"/>
              </a:p>
              <a:p>
                <a:endParaRPr lang="en-IN" dirty="0"/>
              </a:p>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𝑜𝐹</m:t>
                          </m:r>
                        </m:sub>
                      </m:sSub>
                      <m:r>
                        <a:rPr lang="en-IN" b="0" i="1" smtClean="0">
                          <a:latin typeface="Cambria Math" panose="02040503050406030204" pitchFamily="18" charset="0"/>
                        </a:rPr>
                        <m:t>= </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𝑜</m:t>
                              </m:r>
                            </m:sub>
                          </m:sSub>
                        </m:num>
                        <m:den>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𝑜</m:t>
                              </m:r>
                            </m:sub>
                          </m:sSub>
                        </m:den>
                      </m:f>
                      <m:r>
                        <a:rPr lang="en-IN" b="0" i="1" smtClean="0">
                          <a:latin typeface="Cambria Math" panose="02040503050406030204" pitchFamily="18" charset="0"/>
                        </a:rPr>
                        <m:t>= </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𝑜</m:t>
                              </m:r>
                            </m:sub>
                          </m:sSub>
                        </m:num>
                        <m:den>
                          <m:r>
                            <a:rPr lang="en-IN" b="0" i="1" smtClean="0">
                              <a:latin typeface="Cambria Math" panose="02040503050406030204" pitchFamily="18" charset="0"/>
                            </a:rPr>
                            <m:t>1</m:t>
                          </m:r>
                          <m:r>
                            <a:rPr lang="en-IN" b="0" i="1" smtClean="0">
                              <a:latin typeface="Cambria Math" panose="02040503050406030204" pitchFamily="18" charset="0"/>
                            </a:rPr>
                            <m:t>+</m:t>
                          </m:r>
                          <m:r>
                            <a:rPr lang="en-IN" b="0" i="1" smtClean="0">
                              <a:latin typeface="Cambria Math" panose="02040503050406030204" pitchFamily="18" charset="0"/>
                            </a:rPr>
                            <m:t>𝐴𝐵</m:t>
                          </m:r>
                        </m:den>
                      </m:f>
                    </m:oMath>
                  </m:oMathPara>
                </a14:m>
                <a:endParaRPr lang="en-IN" dirty="0"/>
              </a:p>
            </p:txBody>
          </p:sp>
        </mc:Choice>
        <mc:Fallback>
          <p:sp>
            <p:nvSpPr>
              <p:cNvPr id="7" name="TextBox 6"/>
              <p:cNvSpPr txBox="1">
                <a:spLocks noRot="1" noChangeAspect="1" noMove="1" noResize="1" noEditPoints="1" noAdjustHandles="1" noChangeArrowheads="1" noChangeShapeType="1" noTextEdit="1"/>
              </p:cNvSpPr>
              <p:nvPr/>
            </p:nvSpPr>
            <p:spPr>
              <a:xfrm>
                <a:off x="3761325" y="4809933"/>
                <a:ext cx="3512052" cy="1237390"/>
              </a:xfrm>
              <a:prstGeom prst="rect">
                <a:avLst/>
              </a:prstGeom>
              <a:blipFill rotWithShape="1">
                <a:blip r:embed="rId4"/>
                <a:stretch>
                  <a:fillRect l="-6" t="-36" r="2" b="18"/>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8526048" y="4809933"/>
                <a:ext cx="2817759" cy="923330"/>
              </a:xfrm>
              <a:prstGeom prst="rect">
                <a:avLst/>
              </a:prstGeom>
              <a:noFill/>
            </p:spPr>
            <p:txBody>
              <a:bodyPr wrap="none" rtlCol="0">
                <a:spAutoFit/>
              </a:bodyPr>
              <a:lstStyle/>
              <a:p>
                <a:pPr marL="285750" indent="-285750">
                  <a:buFont typeface="Arial" panose="020B0604020202020204" pitchFamily="34" charset="0"/>
                  <a:buChar char="•"/>
                </a:pPr>
                <a:r>
                  <a:rPr lang="en-IN" dirty="0"/>
                  <a:t>Bandwidth with feedback</a:t>
                </a:r>
                <a:endParaRPr lang="en-IN" dirty="0"/>
              </a:p>
              <a:p>
                <a:endParaRPr lang="en-IN" dirty="0"/>
              </a:p>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𝑓</m:t>
                          </m:r>
                        </m:e>
                        <m:sub>
                          <m:r>
                            <a:rPr lang="en-IN" b="0" i="1" smtClean="0">
                              <a:latin typeface="Cambria Math" panose="02040503050406030204" pitchFamily="18" charset="0"/>
                            </a:rPr>
                            <m:t>𝐹</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𝑓</m:t>
                          </m:r>
                        </m:e>
                        <m:sub>
                          <m:r>
                            <a:rPr lang="en-IN" b="0" i="1" smtClean="0">
                              <a:latin typeface="Cambria Math" panose="02040503050406030204" pitchFamily="18" charset="0"/>
                            </a:rPr>
                            <m:t>𝑜</m:t>
                          </m:r>
                        </m:sub>
                      </m:sSub>
                      <m:r>
                        <a:rPr lang="en-IN" b="0" i="1" smtClean="0">
                          <a:latin typeface="Cambria Math" panose="02040503050406030204" pitchFamily="18" charset="0"/>
                        </a:rPr>
                        <m:t>(</m:t>
                      </m:r>
                      <m:r>
                        <a:rPr lang="en-IN" b="0" i="1" smtClean="0">
                          <a:latin typeface="Cambria Math" panose="02040503050406030204" pitchFamily="18" charset="0"/>
                        </a:rPr>
                        <m:t>1</m:t>
                      </m:r>
                      <m:r>
                        <a:rPr lang="en-IN" b="0" i="1" smtClean="0">
                          <a:latin typeface="Cambria Math" panose="02040503050406030204" pitchFamily="18" charset="0"/>
                        </a:rPr>
                        <m:t>+</m:t>
                      </m:r>
                      <m:r>
                        <a:rPr lang="en-IN" b="0" i="1" smtClean="0">
                          <a:latin typeface="Cambria Math" panose="02040503050406030204" pitchFamily="18" charset="0"/>
                        </a:rPr>
                        <m:t>𝐴𝐵</m:t>
                      </m:r>
                      <m:r>
                        <a:rPr lang="en-IN" b="0" i="1" smtClean="0">
                          <a:latin typeface="Cambria Math" panose="02040503050406030204" pitchFamily="18" charset="0"/>
                        </a:rPr>
                        <m:t>)</m:t>
                      </m:r>
                    </m:oMath>
                  </m:oMathPara>
                </a14:m>
                <a:endParaRPr lang="en-IN" dirty="0"/>
              </a:p>
            </p:txBody>
          </p:sp>
        </mc:Choice>
        <mc:Fallback>
          <p:sp>
            <p:nvSpPr>
              <p:cNvPr id="8" name="TextBox 7"/>
              <p:cNvSpPr txBox="1">
                <a:spLocks noRot="1" noChangeAspect="1" noMove="1" noResize="1" noEditPoints="1" noAdjustHandles="1" noChangeArrowheads="1" noChangeShapeType="1" noTextEdit="1"/>
              </p:cNvSpPr>
              <p:nvPr/>
            </p:nvSpPr>
            <p:spPr>
              <a:xfrm>
                <a:off x="8526048" y="4809933"/>
                <a:ext cx="2817759" cy="923330"/>
              </a:xfrm>
              <a:prstGeom prst="rect">
                <a:avLst/>
              </a:prstGeom>
              <a:blipFill rotWithShape="1">
                <a:blip r:embed="rId5"/>
                <a:stretch>
                  <a:fillRect l="-19" t="-48" r="6" b="52"/>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dirty="0"/>
              <a:t>When negative voltage feedback is applied to an amplifier, its voltage gain ……………….</a:t>
            </a:r>
            <a:endParaRPr lang="en-US" dirty="0"/>
          </a:p>
        </p:txBody>
      </p:sp>
      <p:sp>
        <p:nvSpPr>
          <p:cNvPr id="11" name="Rounded Rectangle 17"/>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sz="1600" dirty="0">
                <a:solidFill>
                  <a:schemeClr val="bg1"/>
                </a:solidFill>
                <a:latin typeface="+mj-lt"/>
              </a:rPr>
              <a:t>Is increased</a:t>
            </a:r>
            <a:endParaRPr lang="en-US" sz="1600" dirty="0">
              <a:solidFill>
                <a:schemeClr val="bg1"/>
              </a:solidFill>
              <a:latin typeface="+mj-lt"/>
            </a:endParaRPr>
          </a:p>
          <a:p>
            <a:pPr marL="342900" indent="-342900">
              <a:lnSpc>
                <a:spcPct val="150000"/>
              </a:lnSpc>
              <a:buAutoNum type="alphaLcParenBoth"/>
            </a:pPr>
            <a:r>
              <a:rPr lang="en-IN" sz="1600" dirty="0">
                <a:solidFill>
                  <a:schemeClr val="bg1"/>
                </a:solidFill>
                <a:latin typeface="+mj-lt"/>
              </a:rPr>
              <a:t>Remains the same</a:t>
            </a:r>
            <a:endParaRPr lang="en-US" sz="1600" dirty="0">
              <a:solidFill>
                <a:schemeClr val="bg1"/>
              </a:solidFill>
              <a:latin typeface="+mj-lt"/>
            </a:endParaRPr>
          </a:p>
          <a:p>
            <a:pPr marL="342900" indent="-342900">
              <a:lnSpc>
                <a:spcPct val="150000"/>
              </a:lnSpc>
              <a:buAutoNum type="alphaLcParenBoth"/>
            </a:pPr>
            <a:r>
              <a:rPr lang="en-IN" sz="1600" dirty="0">
                <a:solidFill>
                  <a:schemeClr val="bg1"/>
                </a:solidFill>
                <a:latin typeface="+mj-lt"/>
              </a:rPr>
              <a:t>Is reduced</a:t>
            </a:r>
            <a:endParaRPr lang="en-US" sz="1600" dirty="0">
              <a:solidFill>
                <a:schemeClr val="bg1"/>
              </a:solidFill>
              <a:latin typeface="+mj-lt"/>
            </a:endParaRPr>
          </a:p>
          <a:p>
            <a:pPr marL="342900" indent="-342900">
              <a:lnSpc>
                <a:spcPct val="150000"/>
              </a:lnSpc>
              <a:buAutoNum type="alphaLcParenBoth"/>
            </a:pPr>
            <a:r>
              <a:rPr lang="en-GB" sz="1600" dirty="0">
                <a:solidFill>
                  <a:schemeClr val="bg1"/>
                </a:solidFill>
                <a:latin typeface="+mj-lt"/>
              </a:rPr>
              <a:t>None of the above</a:t>
            </a:r>
            <a:endParaRPr lang="en-US" sz="1600" dirty="0">
              <a:solidFill>
                <a:schemeClr val="bg1"/>
              </a:solidFill>
              <a:latin typeface="+mj-lt"/>
            </a:endParaRPr>
          </a:p>
        </p:txBody>
      </p:sp>
      <p:sp>
        <p:nvSpPr>
          <p:cNvPr id="13" name="Google Shape;502;p17"/>
          <p:cNvSpPr/>
          <p:nvPr/>
        </p:nvSpPr>
        <p:spPr>
          <a:xfrm>
            <a:off x="1026828" y="37475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dirty="0"/>
              <a:t>The gain of an amplifier with feedback is known as ………….. Gain.</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009895" y="4486010"/>
            <a:ext cx="684563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solidFill>
                  <a:schemeClr val="bg1"/>
                </a:solidFill>
              </a:rPr>
              <a:t>Closed-loop</a:t>
            </a:r>
            <a:endParaRPr lang="en-US" dirty="0">
              <a:solidFill>
                <a:schemeClr val="bg1"/>
              </a:solidFill>
            </a:endParaRPr>
          </a:p>
          <a:p>
            <a:pPr marL="342900" indent="-342900">
              <a:lnSpc>
                <a:spcPct val="150000"/>
              </a:lnSpc>
              <a:buAutoNum type="alphaLcParenBoth"/>
            </a:pPr>
            <a:r>
              <a:rPr lang="en-US" dirty="0">
                <a:solidFill>
                  <a:schemeClr val="bg1"/>
                </a:solidFill>
              </a:rPr>
              <a:t>Open-loop</a:t>
            </a:r>
            <a:endParaRPr lang="en-US" dirty="0">
              <a:solidFill>
                <a:schemeClr val="bg1"/>
              </a:solidFill>
            </a:endParaRPr>
          </a:p>
          <a:p>
            <a:pPr marL="342900" indent="-342900">
              <a:lnSpc>
                <a:spcPct val="150000"/>
              </a:lnSpc>
              <a:buAutoNum type="alphaLcParenBoth"/>
            </a:pPr>
            <a:r>
              <a:rPr lang="en-US" dirty="0">
                <a:solidFill>
                  <a:schemeClr val="bg1"/>
                </a:solidFill>
              </a:rPr>
              <a:t>both</a:t>
            </a:r>
            <a:endParaRPr lang="en-US" dirty="0">
              <a:solidFill>
                <a:schemeClr val="bg1"/>
              </a:solidFill>
            </a:endParaRPr>
          </a:p>
          <a:p>
            <a:pPr marL="342900" indent="-342900">
              <a:lnSpc>
                <a:spcPct val="150000"/>
              </a:lnSpc>
              <a:buAutoNum type="alphaLcParenBoth"/>
            </a:pPr>
            <a:r>
              <a:rPr lang="en-US" dirty="0">
                <a:solidFill>
                  <a:schemeClr val="bg1"/>
                </a:solidFill>
              </a:rPr>
              <a:t>None of the above</a:t>
            </a:r>
            <a:endParaRPr lang="en-US" sz="1600" dirty="0"/>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3"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GB" dirty="0"/>
              <a:t>3.	</a:t>
            </a:r>
            <a:r>
              <a:rPr lang="en-US" dirty="0"/>
              <a:t>Negative feedback is employed in ……………..</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442464" y="1905217"/>
            <a:ext cx="506917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sz="1600" dirty="0">
                <a:solidFill>
                  <a:schemeClr val="bg1"/>
                </a:solidFill>
              </a:rPr>
              <a:t>oscillators</a:t>
            </a:r>
            <a:endParaRPr lang="en-US" sz="1600" dirty="0">
              <a:solidFill>
                <a:schemeClr val="bg1"/>
              </a:solidFill>
            </a:endParaRPr>
          </a:p>
          <a:p>
            <a:pPr marL="342900" indent="-342900">
              <a:lnSpc>
                <a:spcPct val="150000"/>
              </a:lnSpc>
              <a:buAutoNum type="alphaLcParenBoth"/>
            </a:pPr>
            <a:r>
              <a:rPr lang="en-GB" sz="1600" dirty="0">
                <a:solidFill>
                  <a:schemeClr val="bg1"/>
                </a:solidFill>
              </a:rPr>
              <a:t>amplifiers</a:t>
            </a:r>
            <a:endParaRPr lang="en-GB" sz="1600" dirty="0">
              <a:solidFill>
                <a:schemeClr val="bg1"/>
              </a:solidFill>
            </a:endParaRPr>
          </a:p>
          <a:p>
            <a:pPr marL="342900" indent="-342900">
              <a:lnSpc>
                <a:spcPct val="150000"/>
              </a:lnSpc>
              <a:buAutoNum type="alphaLcParenBoth"/>
            </a:pPr>
            <a:r>
              <a:rPr lang="en-US" sz="1600" dirty="0">
                <a:solidFill>
                  <a:schemeClr val="bg1"/>
                </a:solidFill>
              </a:rPr>
              <a:t>comparators</a:t>
            </a:r>
            <a:endParaRPr lang="en-US" sz="1600" dirty="0">
              <a:solidFill>
                <a:schemeClr val="bg1"/>
              </a:solidFill>
            </a:endParaRPr>
          </a:p>
          <a:p>
            <a:pPr marL="342900" indent="-342900">
              <a:lnSpc>
                <a:spcPct val="150000"/>
              </a:lnSpc>
              <a:buAutoNum type="alphaLcParenBoth"/>
            </a:pPr>
            <a:r>
              <a:rPr lang="en-GB" sz="1600" dirty="0">
                <a:solidFill>
                  <a:schemeClr val="bg1"/>
                </a:solidFill>
              </a:rPr>
              <a:t>rectifiers</a:t>
            </a:r>
            <a:endParaRPr lang="en-US" sz="1600" dirty="0">
              <a:solidFill>
                <a:schemeClr val="bg1"/>
              </a:solidFill>
            </a:endParaRPr>
          </a:p>
        </p:txBody>
      </p:sp>
      <p:sp>
        <p:nvSpPr>
          <p:cNvPr id="13" name="Google Shape;502;p17"/>
          <p:cNvSpPr/>
          <p:nvPr/>
        </p:nvSpPr>
        <p:spPr>
          <a:xfrm>
            <a:off x="1009895" y="371852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GB" dirty="0"/>
              <a:t>4.	For the non-inverting feedback amplifier, the output voltage is…..</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162295" y="4530587"/>
            <a:ext cx="66101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In phase with the input </a:t>
            </a:r>
            <a:endParaRPr lang="en-US" dirty="0"/>
          </a:p>
          <a:p>
            <a:pPr marL="342900" indent="-342900">
              <a:lnSpc>
                <a:spcPct val="150000"/>
              </a:lnSpc>
              <a:buAutoNum type="alphaLcParenBoth"/>
            </a:pPr>
            <a:r>
              <a:rPr lang="en-US" dirty="0"/>
              <a:t>180 degrees out of phase with input</a:t>
            </a:r>
            <a:endParaRPr lang="en-US" dirty="0"/>
          </a:p>
          <a:p>
            <a:pPr marL="342900" indent="-342900">
              <a:lnSpc>
                <a:spcPct val="150000"/>
              </a:lnSpc>
              <a:buAutoNum type="alphaLcParenBoth"/>
            </a:pPr>
            <a:r>
              <a:rPr lang="en-US" dirty="0">
                <a:solidFill>
                  <a:schemeClr val="bg1"/>
                </a:solidFill>
              </a:rPr>
              <a:t>zero</a:t>
            </a:r>
            <a:endParaRPr lang="en-US" dirty="0">
              <a:solidFill>
                <a:schemeClr val="bg1"/>
              </a:solidFill>
            </a:endParaRPr>
          </a:p>
          <a:p>
            <a:pPr marL="342900" indent="-342900">
              <a:lnSpc>
                <a:spcPct val="150000"/>
              </a:lnSpc>
              <a:buAutoNum type="alphaLcParenBoth"/>
            </a:pPr>
            <a:r>
              <a:rPr lang="en-US" sz="1600" dirty="0">
                <a:solidFill>
                  <a:schemeClr val="bg1"/>
                </a:solidFill>
              </a:rPr>
              <a:t>infinity</a:t>
            </a:r>
            <a:endParaRPr lang="en-US" sz="1600" dirty="0">
              <a:solidFill>
                <a:schemeClr val="bg1"/>
              </a:solidFill>
            </a:endParaRPr>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mj-lt"/>
              <a:buAutoNum type="arabicPeriod"/>
            </a:pPr>
            <a:r>
              <a:rPr lang="en-IN" dirty="0"/>
              <a:t>c</a:t>
            </a:r>
            <a:endParaRPr lang="en-IN" dirty="0"/>
          </a:p>
          <a:p>
            <a:pPr marL="457200" indent="-457200">
              <a:buFont typeface="+mj-lt"/>
              <a:buAutoNum type="arabicPeriod"/>
            </a:pPr>
            <a:r>
              <a:rPr lang="en-IN" dirty="0"/>
              <a:t>a</a:t>
            </a:r>
            <a:endParaRPr lang="en-IN" dirty="0"/>
          </a:p>
          <a:p>
            <a:pPr marL="457200" indent="-457200">
              <a:buFont typeface="+mj-lt"/>
              <a:buAutoNum type="arabicPeriod"/>
            </a:pPr>
            <a:r>
              <a:rPr lang="en-IN" dirty="0"/>
              <a:t>b</a:t>
            </a:r>
            <a:endParaRPr lang="en-IN" dirty="0"/>
          </a:p>
          <a:p>
            <a:pPr marL="457200" indent="-457200">
              <a:buFont typeface="+mj-lt"/>
              <a:buAutoNum type="arabicPeriod"/>
            </a:pPr>
            <a:r>
              <a:rPr lang="en-IN" dirty="0"/>
              <a:t>b</a:t>
            </a:r>
            <a:endParaRPr lang="en-IN" dirty="0"/>
          </a:p>
          <a:p>
            <a:pPr marL="0" indent="0">
              <a:buNone/>
            </a:pPr>
            <a:endParaRPr lang="en-IN" dirty="0"/>
          </a:p>
          <a:p>
            <a:pPr marL="457200" indent="-457200">
              <a:buFont typeface="+mj-lt"/>
              <a:buAutoNum type="arabicPeriod"/>
            </a:pP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Rounded Rectangle 17"/>
          <p:cNvSpPr/>
          <p:nvPr/>
        </p:nvSpPr>
        <p:spPr>
          <a:xfrm>
            <a:off x="3390635" y="118550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ANSWERS</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116761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endParaRPr lang="en-US" sz="2400" dirty="0"/>
          </a:p>
        </p:txBody>
      </p:sp>
      <p:sp>
        <p:nvSpPr>
          <p:cNvPr id="9" name="TextBox 8"/>
          <p:cNvSpPr txBox="1"/>
          <p:nvPr/>
        </p:nvSpPr>
        <p:spPr>
          <a:xfrm>
            <a:off x="1380930" y="1967920"/>
            <a:ext cx="9694506" cy="3957750"/>
          </a:xfrm>
          <a:prstGeom prst="rect">
            <a:avLst/>
          </a:prstGeom>
          <a:noFill/>
        </p:spPr>
        <p:txBody>
          <a:bodyPr wrap="square" rtlCol="0">
            <a:spAutoFit/>
          </a:bodyPr>
          <a:lstStyle/>
          <a:p>
            <a:pPr marL="342900" indent="-342900" algn="just">
              <a:lnSpc>
                <a:spcPct val="200000"/>
              </a:lnSpc>
              <a:buFont typeface="+mj-lt"/>
              <a:buAutoNum type="arabicPeriod"/>
            </a:pPr>
            <a:r>
              <a:rPr lang="en-US" sz="1600" b="1" dirty="0"/>
              <a:t>Give two reasons why an open-loop op-amp is unsuitable for linear applications.</a:t>
            </a:r>
            <a:endParaRPr lang="en-US" sz="1600" b="1" dirty="0"/>
          </a:p>
          <a:p>
            <a:pPr marL="342900" indent="-342900" algn="just">
              <a:lnSpc>
                <a:spcPct val="200000"/>
              </a:lnSpc>
              <a:buFont typeface="+mj-lt"/>
              <a:buAutoNum type="arabicPeriod"/>
            </a:pPr>
            <a:r>
              <a:rPr lang="en-US" sz="1600" b="1" dirty="0"/>
              <a:t>List the four negative feedback configurations. Which two are most widely used?</a:t>
            </a:r>
            <a:endParaRPr lang="en-US" sz="1600" b="1" dirty="0"/>
          </a:p>
          <a:p>
            <a:pPr marL="342900" indent="-342900" algn="just">
              <a:lnSpc>
                <a:spcPct val="200000"/>
              </a:lnSpc>
              <a:buFont typeface="+mj-lt"/>
              <a:buAutoNum type="arabicPeriod"/>
            </a:pPr>
            <a:r>
              <a:rPr lang="en-US" sz="1600" b="1" dirty="0"/>
              <a:t>What is the effect of negative feedback in non-inverting amplifiers?</a:t>
            </a:r>
            <a:endParaRPr lang="en-US" sz="1600" b="1" dirty="0"/>
          </a:p>
          <a:p>
            <a:pPr marL="342900" indent="-342900" algn="just">
              <a:lnSpc>
                <a:spcPct val="200000"/>
              </a:lnSpc>
              <a:buFont typeface="+mj-lt"/>
              <a:buAutoNum type="arabicPeriod"/>
            </a:pPr>
            <a:r>
              <a:rPr lang="en-US" sz="1600" b="1" dirty="0"/>
              <a:t>The 741C op-amp having the following parameters is connected as non- inverting amplifier with R</a:t>
            </a:r>
            <a:r>
              <a:rPr lang="en-US" sz="1600" b="1" baseline="-25000" dirty="0"/>
              <a:t>1</a:t>
            </a:r>
            <a:r>
              <a:rPr lang="en-US" sz="1600" b="1" dirty="0"/>
              <a:t> = 1 kΩ , and R</a:t>
            </a:r>
            <a:r>
              <a:rPr lang="en-US" sz="1600" b="1" baseline="-25000" dirty="0"/>
              <a:t>F</a:t>
            </a:r>
            <a:r>
              <a:rPr lang="en-US" sz="1600" b="1" dirty="0"/>
              <a:t>=10kΩ,  A= 200000, R</a:t>
            </a:r>
            <a:r>
              <a:rPr lang="en-US" sz="1600" b="1" baseline="-25000" dirty="0"/>
              <a:t>i</a:t>
            </a:r>
            <a:r>
              <a:rPr lang="en-US" sz="1600" b="1" dirty="0"/>
              <a:t>= 2MΩ, R</a:t>
            </a:r>
            <a:r>
              <a:rPr lang="en-US" sz="1600" b="1" baseline="-25000" dirty="0"/>
              <a:t>o</a:t>
            </a:r>
            <a:r>
              <a:rPr lang="en-US" sz="1600" b="1" dirty="0"/>
              <a:t>=75Ω, f</a:t>
            </a:r>
            <a:r>
              <a:rPr lang="en-US" sz="1600" b="1" baseline="-25000" dirty="0"/>
              <a:t>o</a:t>
            </a:r>
            <a:r>
              <a:rPr lang="en-US" sz="1600" b="1" dirty="0"/>
              <a:t>=5Hz, supply voltages = ±15V, output swing = ±13 V, UGB = 1 MHz; </a:t>
            </a:r>
            <a:endParaRPr lang="en-US" sz="1600" b="1" dirty="0"/>
          </a:p>
          <a:p>
            <a:pPr marL="342900" indent="-342900" algn="just">
              <a:lnSpc>
                <a:spcPct val="200000"/>
              </a:lnSpc>
              <a:buAutoNum type="alphaLcParenR"/>
            </a:pPr>
            <a:r>
              <a:rPr lang="en-US" sz="1600" b="1" dirty="0"/>
              <a:t>Calculate the exact closed-loop gain             b) Calculate the ideal closed-loop gain</a:t>
            </a:r>
            <a:endParaRPr lang="en-US" sz="1600" b="1" dirty="0"/>
          </a:p>
          <a:p>
            <a:pPr algn="just">
              <a:lnSpc>
                <a:spcPct val="200000"/>
              </a:lnSpc>
            </a:pPr>
            <a:r>
              <a:rPr lang="en-US" sz="1600" b="1" dirty="0"/>
              <a:t>c)  Compare the results of (a) and (b).</a:t>
            </a:r>
            <a:endParaRPr lang="en-US" sz="1600" b="1" dirty="0"/>
          </a:p>
        </p:txBody>
      </p:sp>
      <p:pic>
        <p:nvPicPr>
          <p:cNvPr id="10"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1534940" y="2100679"/>
            <a:ext cx="9608234" cy="2031325"/>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Op-Amps and Linear Integrated Circuit; 4th Ed., </a:t>
            </a:r>
            <a:r>
              <a:rPr lang="en-GB" dirty="0" err="1"/>
              <a:t>Gayakwad</a:t>
            </a:r>
            <a:r>
              <a:rPr lang="en-GB" dirty="0"/>
              <a:t>, Ramakant A.</a:t>
            </a:r>
            <a:endParaRPr lang="en-US" dirty="0"/>
          </a:p>
          <a:p>
            <a:pPr>
              <a:lnSpc>
                <a:spcPct val="150000"/>
              </a:lnSpc>
            </a:pPr>
            <a:endParaRPr lang="en-US" dirty="0"/>
          </a:p>
          <a:p>
            <a:pPr>
              <a:lnSpc>
                <a:spcPct val="150000"/>
              </a:lnSpc>
            </a:pPr>
            <a:r>
              <a:rPr lang="en-US" b="1" dirty="0"/>
              <a:t>Sites and Web links:</a:t>
            </a:r>
            <a:endParaRPr lang="en-US" b="1" dirty="0"/>
          </a:p>
          <a:p>
            <a:pPr algn="l">
              <a:buFont typeface="+mj-lt"/>
              <a:buAutoNum type="arabicPeriod"/>
            </a:pPr>
            <a:r>
              <a:rPr lang="en-US" dirty="0"/>
              <a:t>https://circuitdigest.com/electronic-circuits/positive-and-negative-feedback-in-op-amp-circuits</a:t>
            </a:r>
            <a:endParaRPr lang="en-IN" b="0" i="0" dirty="0">
              <a:solidFill>
                <a:srgbClr val="374151"/>
              </a:solidFill>
              <a:effectLst/>
              <a:latin typeface="Söhne"/>
            </a:endParaRPr>
          </a:p>
        </p:txBody>
      </p:sp>
      <p:pic>
        <p:nvPicPr>
          <p:cNvPr id="5"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47960" y="2332796"/>
            <a:ext cx="7920111" cy="2883877"/>
            <a:chOff x="2247960" y="2332796"/>
            <a:chExt cx="7920111" cy="2883877"/>
          </a:xfrm>
        </p:grpSpPr>
        <p:sp>
          <p:nvSpPr>
            <p:cNvPr id="4" name="Rounded Rectangle 3"/>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b="1"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AECD</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1"/>
            <a:srcRect/>
            <a:stretch>
              <a:fillRect/>
            </a:stretch>
          </p:blipFill>
          <p:spPr bwMode="auto">
            <a:xfrm>
              <a:off x="5131980" y="3092166"/>
              <a:ext cx="3235570" cy="1083212"/>
            </a:xfrm>
            <a:prstGeom prst="rect">
              <a:avLst/>
            </a:prstGeom>
            <a:noFill/>
          </p:spPr>
        </p:pic>
      </p:gr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5764</Words>
  <Application>WPS Presentation</Application>
  <PresentationFormat>Widescreen</PresentationFormat>
  <Paragraphs>212</Paragraphs>
  <Slides>16</Slides>
  <Notes>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16</vt:i4>
      </vt:variant>
    </vt:vector>
  </HeadingPairs>
  <TitlesOfParts>
    <vt:vector size="32" baseType="lpstr">
      <vt:lpstr>Arial</vt:lpstr>
      <vt:lpstr>SimSun</vt:lpstr>
      <vt:lpstr>Wingdings</vt:lpstr>
      <vt:lpstr>Arial</vt:lpstr>
      <vt:lpstr>Calibri</vt:lpstr>
      <vt:lpstr>Poppins</vt:lpstr>
      <vt:lpstr>Segoe Print</vt:lpstr>
      <vt:lpstr>BioRhyme ExtraBold</vt:lpstr>
      <vt:lpstr>Poppins</vt:lpstr>
      <vt:lpstr>Poppins</vt:lpstr>
      <vt:lpstr>Cambria Math</vt:lpstr>
      <vt:lpstr>Söhne</vt:lpstr>
      <vt:lpstr>Gill Sans MT</vt:lpstr>
      <vt:lpstr>Microsoft YaHei</vt:lpstr>
      <vt:lpstr>Arial Unicode MS</vt:lpstr>
      <vt:lpstr>Gallery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Subba Reddy Vasipalli</dc:creator>
  <cp:lastModifiedBy>Uday Kiran</cp:lastModifiedBy>
  <cp:revision>52</cp:revision>
  <dcterms:created xsi:type="dcterms:W3CDTF">2023-05-11T04:21:00Z</dcterms:created>
  <dcterms:modified xsi:type="dcterms:W3CDTF">2025-09-08T03:47:28Z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D4839034B38A44B986DE1E8BADEA9C43_13</vt:lpwstr>
  </property>
  <property fmtid="{D5CDD505-2E9C-101B-9397-08002B2CF9AE}" pid="3" name="KSOProductBuildVer">
    <vt:lpwstr>1033-12.2.0.22222</vt:lpwstr>
  </property>
</Properties>
</file>