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2"/>
  </p:notesMasterIdLst>
  <p:handoutMasterIdLst>
    <p:handoutMasterId r:id="rId23"/>
  </p:handoutMasterIdLst>
  <p:sldIdLst>
    <p:sldId id="271" r:id="rId2"/>
    <p:sldId id="300" r:id="rId3"/>
    <p:sldId id="288" r:id="rId4"/>
    <p:sldId id="258" r:id="rId5"/>
    <p:sldId id="316" r:id="rId6"/>
    <p:sldId id="314" r:id="rId7"/>
    <p:sldId id="313" r:id="rId8"/>
    <p:sldId id="310" r:id="rId9"/>
    <p:sldId id="287" r:id="rId10"/>
    <p:sldId id="317" r:id="rId11"/>
    <p:sldId id="318" r:id="rId12"/>
    <p:sldId id="322" r:id="rId13"/>
    <p:sldId id="320" r:id="rId14"/>
    <p:sldId id="321" r:id="rId15"/>
    <p:sldId id="301" r:id="rId16"/>
    <p:sldId id="311" r:id="rId17"/>
    <p:sldId id="315" r:id="rId18"/>
    <p:sldId id="302" r:id="rId19"/>
    <p:sldId id="30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11-09-2025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11-09-2025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hemeOverride" Target="../theme/themeOverride4.xml"/><Relationship Id="rId5" Type="http://schemas.openxmlformats.org/officeDocument/2006/relationships/image" Target="../media/image17.jpeg"/><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hemeOverride" Target="../theme/themeOverride5.xml"/><Relationship Id="rId5" Type="http://schemas.openxmlformats.org/officeDocument/2006/relationships/image" Target="../media/image21.png"/><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4229226" y="2820599"/>
            <a:ext cx="7948938" cy="236728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Analog electronic Circuit Design</a:t>
            </a:r>
          </a:p>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24ec2104</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3200" b="1" cap="all" dirty="0">
                <a:solidFill>
                  <a:srgbClr val="C00000"/>
                </a:solidFill>
                <a:effectLst/>
                <a:cs typeface="Poppins" panose="00000500000000000000" pitchFamily="2" charset="0"/>
              </a:rPr>
              <a:t>Op-Amp characteristics</a:t>
            </a:r>
            <a:endParaRPr lang="en-US" sz="3200" b="1" dirty="0">
              <a:solidFill>
                <a:srgbClr val="C00000"/>
              </a:solidFill>
              <a:effectLst/>
              <a:cs typeface="Poppins" panose="00000500000000000000" pitchFamily="2" charset="0"/>
            </a:endParaRPr>
          </a:p>
        </p:txBody>
      </p:sp>
      <p:sp>
        <p:nvSpPr>
          <p:cNvPr id="19" name="Rectangle: Rounded Corners 18"/>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ECE</a:t>
            </a: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AIM OF THE SESSION</a:t>
            </a:r>
          </a:p>
        </p:txBody>
      </p:sp>
      <p:sp>
        <p:nvSpPr>
          <p:cNvPr id="5" name="TextBox 4"/>
          <p:cNvSpPr txBox="1"/>
          <p:nvPr/>
        </p:nvSpPr>
        <p:spPr>
          <a:xfrm>
            <a:off x="885748" y="637745"/>
            <a:ext cx="10731286" cy="881908"/>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GB" dirty="0"/>
              <a:t>This session aims to discuss the DC and AC characteristics of Op-Amp and their interpretation for ideal and practical Op-Amps.</a:t>
            </a:r>
            <a:endParaRPr lang="en-US" sz="1600" b="0" i="0" dirty="0">
              <a:effectLst/>
              <a:latin typeface="Poppins"/>
              <a:cs typeface="Poppins"/>
            </a:endParaRPr>
          </a:p>
        </p:txBody>
      </p:sp>
      <p:sp>
        <p:nvSpPr>
          <p:cNvPr id="7" name="Rounded Rectangle 17"/>
          <p:cNvSpPr/>
          <p:nvPr/>
        </p:nvSpPr>
        <p:spPr>
          <a:xfrm>
            <a:off x="4053596" y="1630041"/>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INSTRUCTIONAL OBJECTIVES</a:t>
            </a:r>
          </a:p>
        </p:txBody>
      </p:sp>
      <p:sp>
        <p:nvSpPr>
          <p:cNvPr id="9" name="TextBox 8"/>
          <p:cNvSpPr txBox="1"/>
          <p:nvPr/>
        </p:nvSpPr>
        <p:spPr>
          <a:xfrm>
            <a:off x="885749" y="2241406"/>
            <a:ext cx="10731286"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800100" lvl="1" indent="-342900">
              <a:buFont typeface="+mj-lt"/>
              <a:buAutoNum type="arabicPeriod"/>
            </a:pPr>
            <a:r>
              <a:rPr lang="en-GB" sz="1600" dirty="0"/>
              <a:t>Define the electrical parameters/characteristics of the Op-Amp.</a:t>
            </a:r>
          </a:p>
          <a:p>
            <a:pPr marL="800100" lvl="1" indent="-342900">
              <a:buFont typeface="+mj-lt"/>
              <a:buAutoNum type="arabicPeriod"/>
            </a:pPr>
            <a:r>
              <a:rPr lang="en-GB" sz="1600" dirty="0"/>
              <a:t>Discuss the characteristics of ideal Op-Amp.</a:t>
            </a:r>
          </a:p>
          <a:p>
            <a:pPr marL="800100" lvl="1" indent="-342900">
              <a:buFont typeface="+mj-lt"/>
              <a:buAutoNum type="arabicPeriod"/>
            </a:pPr>
            <a:r>
              <a:rPr lang="en-GB" sz="1600" dirty="0"/>
              <a:t>Illustrate the significance of Practical Op-Amp.</a:t>
            </a:r>
          </a:p>
        </p:txBody>
      </p:sp>
      <p:pic>
        <p:nvPicPr>
          <p:cNvPr id="11" name="Graphic 10" descr="Bullseye outlin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0" y="2445925"/>
            <a:ext cx="914400" cy="914400"/>
          </a:xfrm>
          <a:prstGeom prst="rect">
            <a:avLst/>
          </a:prstGeom>
        </p:spPr>
      </p:pic>
      <p:sp>
        <p:nvSpPr>
          <p:cNvPr id="29" name="Rounded Rectangle 17"/>
          <p:cNvSpPr/>
          <p:nvPr/>
        </p:nvSpPr>
        <p:spPr>
          <a:xfrm>
            <a:off x="4315974" y="3969959"/>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652" y="4846140"/>
            <a:ext cx="914400" cy="914400"/>
          </a:xfrm>
          <a:prstGeom prst="rect">
            <a:avLst/>
          </a:prstGeom>
        </p:spPr>
      </p:pic>
      <p:sp>
        <p:nvSpPr>
          <p:cNvPr id="37" name="TextBox 36"/>
          <p:cNvSpPr txBox="1"/>
          <p:nvPr/>
        </p:nvSpPr>
        <p:spPr>
          <a:xfrm>
            <a:off x="914400" y="4518510"/>
            <a:ext cx="10702634"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p>
          <a:p>
            <a:pPr marL="800100" lvl="1" indent="-342900">
              <a:buFont typeface="+mj-lt"/>
              <a:buAutoNum type="arabicPeriod"/>
            </a:pPr>
            <a:r>
              <a:rPr lang="en-GB" sz="1600" dirty="0"/>
              <a:t>Understand the DC and AC characteristics of the Op-Amp.</a:t>
            </a:r>
          </a:p>
          <a:p>
            <a:pPr marL="800100" lvl="1" indent="-342900">
              <a:buFont typeface="+mj-lt"/>
              <a:buAutoNum type="arabicPeriod"/>
            </a:pPr>
            <a:r>
              <a:rPr lang="en-GB" sz="1600" dirty="0"/>
              <a:t>Differentiate between ideal Op-Amp and Practical Op-Amp.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152440" y="895789"/>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DC Characteristics of Op-Amp</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2" name="Content Placeholder 2"/>
          <p:cNvSpPr>
            <a:spLocks noGrp="1"/>
          </p:cNvSpPr>
          <p:nvPr>
            <p:ph idx="1"/>
          </p:nvPr>
        </p:nvSpPr>
        <p:spPr>
          <a:xfrm>
            <a:off x="1199271" y="2015553"/>
            <a:ext cx="10050620" cy="3450613"/>
          </a:xfrm>
        </p:spPr>
        <p:txBody>
          <a:bodyPr>
            <a:noAutofit/>
          </a:bodyPr>
          <a:lstStyle/>
          <a:p>
            <a:pPr marL="0" indent="0" algn="just">
              <a:buNone/>
              <a:defRPr/>
            </a:pPr>
            <a:r>
              <a:rPr lang="en-US" sz="1800" dirty="0">
                <a:latin typeface="Cambria" panose="02040503050406030204" pitchFamily="18" charset="0"/>
                <a:ea typeface="Cambria" panose="02040503050406030204" pitchFamily="18" charset="0"/>
                <a:cs typeface="Times New Roman" panose="02020603050405020304" pitchFamily="18" charset="0"/>
              </a:rPr>
              <a:t>The DC characteristics represent internal errors that occur as a result of mismatches between devices and components inside the op-amp. These errors are always present from the time the power is turned on (for example, before, during, and after any input signal is applied), and they determine how precisely the output matches the ideal op amp model. Thus, the precision of the op-amp is determined by the magnitude of the DC errors. </a:t>
            </a:r>
          </a:p>
          <a:p>
            <a:pPr marL="0" indent="0">
              <a:buNone/>
              <a:defRPr/>
            </a:pPr>
            <a:r>
              <a:rPr lang="en-US" sz="1800" dirty="0">
                <a:latin typeface="Cambria" panose="02040503050406030204" pitchFamily="18" charset="0"/>
                <a:ea typeface="Cambria" panose="02040503050406030204" pitchFamily="18" charset="0"/>
                <a:cs typeface="Times New Roman" panose="02020603050405020304" pitchFamily="18" charset="0"/>
              </a:rPr>
              <a:t>DC Characteristics of Op-Amp are:</a:t>
            </a:r>
          </a:p>
          <a:p>
            <a:pPr marL="0" indent="0">
              <a:buNone/>
              <a:defRPr/>
            </a:pPr>
            <a:r>
              <a:rPr lang="en-US" sz="1800" dirty="0">
                <a:latin typeface="Cambria" panose="02040503050406030204" pitchFamily="18" charset="0"/>
                <a:ea typeface="Cambria" panose="02040503050406030204" pitchFamily="18" charset="0"/>
                <a:cs typeface="Times New Roman" panose="02020603050405020304" pitchFamily="18" charset="0"/>
              </a:rPr>
              <a:t>	1. Input Offset Voltage                                              2. Input Offset Current</a:t>
            </a:r>
          </a:p>
          <a:p>
            <a:pPr marL="0" indent="0">
              <a:buNone/>
              <a:defRPr/>
            </a:pPr>
            <a:r>
              <a:rPr lang="en-US" sz="1800" dirty="0">
                <a:latin typeface="Cambria" panose="02040503050406030204" pitchFamily="18" charset="0"/>
                <a:ea typeface="Cambria" panose="02040503050406030204" pitchFamily="18" charset="0"/>
                <a:cs typeface="Times New Roman" panose="02020603050405020304" pitchFamily="18" charset="0"/>
              </a:rPr>
              <a:t>	3. Input Bias Current                                                 4. Common Mode Rejection Ratio (CMRR)</a:t>
            </a:r>
          </a:p>
          <a:p>
            <a:pPr marL="0" indent="0">
              <a:buNone/>
              <a:defRPr/>
            </a:pPr>
            <a:r>
              <a:rPr lang="en-US" sz="1800" dirty="0">
                <a:latin typeface="Cambria" panose="02040503050406030204" pitchFamily="18" charset="0"/>
                <a:ea typeface="Cambria" panose="02040503050406030204" pitchFamily="18" charset="0"/>
                <a:cs typeface="Times New Roman" panose="02020603050405020304" pitchFamily="18" charset="0"/>
              </a:rPr>
              <a:t>	5. Supply Voltage Rejection Ratio (SVRR)            6. Large Signal Voltage Gain</a:t>
            </a:r>
          </a:p>
          <a:p>
            <a:pPr marL="0" indent="0">
              <a:buNone/>
              <a:defRPr/>
            </a:pP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marL="0" indent="0">
              <a:buNone/>
            </a:pPr>
            <a:endParaRPr lang="en-GB" sz="18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2862488" y="85780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Input Offset Voltage</a:t>
            </a:r>
          </a:p>
        </p:txBody>
      </p:sp>
      <p:pic>
        <p:nvPicPr>
          <p:cNvPr id="5" name="Picture 4"/>
          <p:cNvPicPr>
            <a:picLocks noChangeAspect="1"/>
          </p:cNvPicPr>
          <p:nvPr/>
        </p:nvPicPr>
        <p:blipFill>
          <a:blip r:embed="rId3"/>
          <a:stretch>
            <a:fillRect/>
          </a:stretch>
        </p:blipFill>
        <p:spPr>
          <a:xfrm>
            <a:off x="7254342" y="3707126"/>
            <a:ext cx="4937658" cy="2208597"/>
          </a:xfrm>
          <a:prstGeom prst="rect">
            <a:avLst/>
          </a:prstGeom>
        </p:spPr>
      </p:pic>
      <p:sp>
        <p:nvSpPr>
          <p:cNvPr id="3" name="Content Placeholder 2"/>
          <p:cNvSpPr>
            <a:spLocks noGrp="1"/>
          </p:cNvSpPr>
          <p:nvPr>
            <p:ph idx="1"/>
          </p:nvPr>
        </p:nvSpPr>
        <p:spPr>
          <a:xfrm>
            <a:off x="1396162" y="1981820"/>
            <a:ext cx="9826019" cy="3450613"/>
          </a:xfrm>
        </p:spPr>
        <p:txBody>
          <a:bodyPr>
            <a:normAutofit/>
          </a:bodyPr>
          <a:lstStyle/>
          <a:p>
            <a:pPr marL="0" indent="0" algn="just">
              <a:buNone/>
            </a:pPr>
            <a:r>
              <a:rPr lang="en-US" dirty="0"/>
              <a:t>The input offset voltage (V</a:t>
            </a:r>
            <a:r>
              <a:rPr lang="en-US" baseline="-25000" dirty="0"/>
              <a:t>io</a:t>
            </a:r>
            <a:r>
              <a:rPr lang="en-US" dirty="0"/>
              <a:t>) is defined as the voltage that must be applied between the two input terminals of the op-amp to obtain zero volts at the output. V</a:t>
            </a:r>
            <a:r>
              <a:rPr lang="en-US" baseline="-25000" dirty="0"/>
              <a:t>io</a:t>
            </a:r>
            <a:r>
              <a:rPr lang="en-US" dirty="0"/>
              <a:t> is considered to be a DC error and is present from the moment that power is applied until it is turned off, with or without an input signal. It occurs during the biasing of the op-amp and its effect can only be reduced, not eliminated.</a:t>
            </a:r>
          </a:p>
          <a:p>
            <a:pPr marL="0" indent="0" algn="just">
              <a:buNone/>
            </a:pPr>
            <a:r>
              <a:rPr lang="en-US" dirty="0"/>
              <a:t>V</a:t>
            </a:r>
            <a:r>
              <a:rPr lang="en-US" baseline="-25000" dirty="0"/>
              <a:t>dc1</a:t>
            </a:r>
            <a:r>
              <a:rPr lang="en-US" dirty="0"/>
              <a:t> and V</a:t>
            </a:r>
            <a:r>
              <a:rPr lang="en-US" baseline="-25000" dirty="0"/>
              <a:t>dc2</a:t>
            </a:r>
            <a:r>
              <a:rPr lang="en-US" dirty="0"/>
              <a:t> are the DC voltages and R</a:t>
            </a:r>
            <a:r>
              <a:rPr lang="en-US" baseline="-25000" dirty="0"/>
              <a:t>s</a:t>
            </a:r>
            <a:r>
              <a:rPr lang="en-US" dirty="0"/>
              <a:t> is the source resistance.</a:t>
            </a:r>
          </a:p>
          <a:p>
            <a:pPr marL="0" indent="0" algn="just">
              <a:buNone/>
            </a:pPr>
            <a:r>
              <a:rPr lang="en-US" dirty="0"/>
              <a:t>V</a:t>
            </a:r>
            <a:r>
              <a:rPr lang="en-US" baseline="-25000" dirty="0"/>
              <a:t>io</a:t>
            </a:r>
            <a:r>
              <a:rPr lang="en-US" dirty="0"/>
              <a:t>=</a:t>
            </a:r>
            <a:r>
              <a:rPr lang="en-US" baseline="-25000" dirty="0"/>
              <a:t> </a:t>
            </a:r>
            <a:r>
              <a:rPr lang="en-US" dirty="0"/>
              <a:t>V</a:t>
            </a:r>
            <a:r>
              <a:rPr lang="en-US" baseline="-25000" dirty="0"/>
              <a:t>dc1</a:t>
            </a:r>
            <a:r>
              <a:rPr lang="en-US" dirty="0"/>
              <a:t> -  V</a:t>
            </a:r>
            <a:r>
              <a:rPr lang="en-US" baseline="-25000" dirty="0"/>
              <a:t>dc2</a:t>
            </a:r>
            <a:r>
              <a:rPr lang="en-US" dirty="0"/>
              <a:t> </a:t>
            </a:r>
          </a:p>
        </p:txBody>
      </p:sp>
      <p:sp>
        <p:nvSpPr>
          <p:cNvPr id="7" name="TextBox 6"/>
          <p:cNvSpPr txBox="1"/>
          <p:nvPr/>
        </p:nvSpPr>
        <p:spPr>
          <a:xfrm>
            <a:off x="1396162" y="5109267"/>
            <a:ext cx="6102926" cy="646331"/>
          </a:xfrm>
          <a:prstGeom prst="rect">
            <a:avLst/>
          </a:prstGeom>
          <a:noFill/>
        </p:spPr>
        <p:txBody>
          <a:bodyPr wrap="square">
            <a:spAutoFit/>
          </a:bodyPr>
          <a:lstStyle/>
          <a:p>
            <a:pPr marL="0" indent="0" algn="just">
              <a:buNone/>
            </a:pPr>
            <a:r>
              <a:rPr lang="en-US" dirty="0"/>
              <a:t>The smaller the value of V</a:t>
            </a:r>
            <a:r>
              <a:rPr lang="en-US" baseline="-25000" dirty="0"/>
              <a:t>io</a:t>
            </a:r>
            <a:r>
              <a:rPr lang="en-US" dirty="0"/>
              <a:t>, the better the input terminals are matched.</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4"/>
          <p:cNvGrpSpPr>
            <a:grpSpLocks noChangeAspect="1"/>
          </p:cNvGrpSpPr>
          <p:nvPr/>
        </p:nvGrpSpPr>
        <p:grpSpPr bwMode="auto">
          <a:xfrm>
            <a:off x="8428181" y="4037977"/>
            <a:ext cx="3663950" cy="1935162"/>
            <a:chOff x="5152" y="2481"/>
            <a:chExt cx="2308" cy="1219"/>
          </a:xfrm>
        </p:grpSpPr>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2" y="2481"/>
              <a:ext cx="2316" cy="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AutoShape 3"/>
            <p:cNvSpPr>
              <a:spLocks noChangeAspect="1" noChangeArrowheads="1" noTextEdit="1"/>
            </p:cNvSpPr>
            <p:nvPr/>
          </p:nvSpPr>
          <p:spPr bwMode="auto">
            <a:xfrm>
              <a:off x="5152" y="2481"/>
              <a:ext cx="2308" cy="1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IN"/>
            </a:p>
          </p:txBody>
        </p:sp>
      </p:grpSp>
      <p:sp>
        <p:nvSpPr>
          <p:cNvPr id="4" name="Rounded Rectangle 17"/>
          <p:cNvSpPr/>
          <p:nvPr/>
        </p:nvSpPr>
        <p:spPr>
          <a:xfrm>
            <a:off x="3033469" y="884861"/>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Input Offset Current</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7" name="Content Placeholder 2"/>
          <p:cNvSpPr>
            <a:spLocks noGrp="1"/>
          </p:cNvSpPr>
          <p:nvPr>
            <p:ph idx="1"/>
          </p:nvPr>
        </p:nvSpPr>
        <p:spPr>
          <a:xfrm>
            <a:off x="1382307" y="2051093"/>
            <a:ext cx="9826019" cy="3450613"/>
          </a:xfrm>
        </p:spPr>
        <p:txBody>
          <a:bodyPr>
            <a:normAutofit/>
          </a:bodyPr>
          <a:lstStyle/>
          <a:p>
            <a:pPr marL="0" indent="0" algn="just">
              <a:buNone/>
            </a:pPr>
            <a:r>
              <a:rPr lang="en-US" dirty="0"/>
              <a:t>The input offset current (I</a:t>
            </a:r>
            <a:r>
              <a:rPr lang="en-US" baseline="-25000" dirty="0"/>
              <a:t>io</a:t>
            </a:r>
            <a:r>
              <a:rPr lang="en-US" dirty="0"/>
              <a:t>) is defined as t</a:t>
            </a:r>
            <a:r>
              <a:rPr lang="en-US" sz="2000" baseline="0" dirty="0"/>
              <a:t>he algebraic difference between the currents into the inverting and non-inverting</a:t>
            </a:r>
            <a:r>
              <a:rPr lang="en-US" sz="2000" dirty="0"/>
              <a:t> terminals.</a:t>
            </a:r>
          </a:p>
          <a:p>
            <a:pPr marL="0" indent="0" algn="just">
              <a:buNone/>
            </a:pPr>
            <a:r>
              <a:rPr lang="en-US" sz="2000" dirty="0"/>
              <a:t> I</a:t>
            </a:r>
            <a:r>
              <a:rPr lang="en-US" sz="1800" baseline="-25000" dirty="0"/>
              <a:t>io</a:t>
            </a:r>
            <a:r>
              <a:rPr lang="en-US" sz="2000" dirty="0"/>
              <a:t> = | I</a:t>
            </a:r>
            <a:r>
              <a:rPr lang="en-US" sz="2000" baseline="-25000" dirty="0"/>
              <a:t>B1</a:t>
            </a:r>
            <a:r>
              <a:rPr lang="en-US" sz="2000" dirty="0"/>
              <a:t> – I</a:t>
            </a:r>
            <a:r>
              <a:rPr lang="en-US" sz="2000" baseline="-25000" dirty="0"/>
              <a:t>B2</a:t>
            </a:r>
            <a:r>
              <a:rPr lang="en-US" sz="2000" dirty="0"/>
              <a:t> |</a:t>
            </a:r>
          </a:p>
          <a:p>
            <a:pPr marL="0" indent="0" algn="just">
              <a:buNone/>
            </a:pPr>
            <a:r>
              <a:rPr lang="en-US" dirty="0"/>
              <a:t>w</a:t>
            </a:r>
            <a:r>
              <a:rPr lang="en-US" sz="2000" dirty="0"/>
              <a:t>here I</a:t>
            </a:r>
            <a:r>
              <a:rPr lang="en-US" sz="2000" baseline="-25000" dirty="0"/>
              <a:t>B1</a:t>
            </a:r>
            <a:r>
              <a:rPr lang="en-US" sz="2000" dirty="0"/>
              <a:t> is the current into the non-inverting input and I</a:t>
            </a:r>
            <a:r>
              <a:rPr lang="en-US" sz="2000" baseline="-25000" dirty="0"/>
              <a:t>B2</a:t>
            </a:r>
            <a:r>
              <a:rPr lang="en-US" sz="2000" dirty="0"/>
              <a:t> is the current into the inverting input .</a:t>
            </a:r>
          </a:p>
          <a:p>
            <a:pPr marL="0" indent="0" algn="just">
              <a:buNone/>
            </a:pPr>
            <a:r>
              <a:rPr lang="en-US" dirty="0"/>
              <a:t>As the matching between two input terminals is improved, </a:t>
            </a:r>
          </a:p>
          <a:p>
            <a:pPr marL="0" indent="0" algn="just">
              <a:buNone/>
            </a:pPr>
            <a:r>
              <a:rPr lang="en-US" dirty="0"/>
              <a:t>the </a:t>
            </a:r>
            <a:r>
              <a:rPr lang="en-US" sz="2400" dirty="0"/>
              <a:t>I</a:t>
            </a:r>
            <a:r>
              <a:rPr lang="en-US" sz="2000" baseline="-25000" dirty="0"/>
              <a:t>io</a:t>
            </a:r>
            <a:r>
              <a:rPr lang="en-US" dirty="0"/>
              <a:t> value decreases further.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995352" y="957790"/>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Input Bias Current</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mc:AlternateContent xmlns:mc="http://schemas.openxmlformats.org/markup-compatibility/2006" xmlns:a14="http://schemas.microsoft.com/office/drawing/2010/main">
        <mc:Choice Requires="a14">
          <p:sp>
            <p:nvSpPr>
              <p:cNvPr id="2" name="Content Placeholder 2"/>
              <p:cNvSpPr>
                <a:spLocks noGrp="1"/>
              </p:cNvSpPr>
              <p:nvPr>
                <p:ph idx="1"/>
              </p:nvPr>
            </p:nvSpPr>
            <p:spPr>
              <a:xfrm>
                <a:off x="1451579" y="2015732"/>
                <a:ext cx="9603275" cy="3450613"/>
              </a:xfrm>
            </p:spPr>
            <p:txBody>
              <a:bodyPr>
                <a:normAutofit/>
              </a:bodyPr>
              <a:lstStyle/>
              <a:p>
                <a:pPr marL="0" indent="0" algn="just">
                  <a:buNone/>
                </a:pPr>
                <a:r>
                  <a:rPr lang="en-US" sz="2000" dirty="0"/>
                  <a:t>Input Bias current </a:t>
                </a:r>
                <a14:m>
                  <m:oMath xmlns:m="http://schemas.openxmlformats.org/officeDocument/2006/math">
                    <m:sSub>
                      <m:sSubPr>
                        <m:ctrlPr>
                          <a:rPr lang="en-US" sz="200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𝐵</m:t>
                        </m:r>
                      </m:sub>
                    </m:sSub>
                  </m:oMath>
                </a14:m>
                <a:r>
                  <a:rPr lang="en-US" sz="1800" dirty="0"/>
                  <a:t> ,  </a:t>
                </a:r>
                <a:r>
                  <a:rPr lang="en-US" sz="2000" dirty="0"/>
                  <a:t>is the average of the currents that flow into the inverting and non-inverting input terminals of Op-Amp.</a:t>
                </a:r>
              </a:p>
              <a:p>
                <a:pPr marL="0" indent="0" algn="just">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𝐵</m:t>
                          </m:r>
                        </m:sub>
                      </m:sSub>
                      <m:r>
                        <a:rPr lang="en-IN" sz="2000" b="0" i="1" smtClean="0">
                          <a:latin typeface="Cambria Math" panose="02040503050406030204" pitchFamily="18" charset="0"/>
                        </a:rPr>
                        <m:t>=</m:t>
                      </m:r>
                      <m:f>
                        <m:fPr>
                          <m:ctrlPr>
                            <a:rPr lang="en-IN" sz="2000" b="0" i="1" smtClean="0">
                              <a:latin typeface="Cambria Math" panose="02040503050406030204" pitchFamily="18" charset="0"/>
                            </a:rPr>
                          </m:ctrlPr>
                        </m:fPr>
                        <m:num>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𝐵</m:t>
                              </m:r>
                              <m:r>
                                <a:rPr lang="en-IN" sz="2000" b="0" i="1" smtClean="0">
                                  <a:latin typeface="Cambria Math" panose="02040503050406030204" pitchFamily="18" charset="0"/>
                                </a:rPr>
                                <m:t>1</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𝐵</m:t>
                              </m:r>
                              <m:r>
                                <a:rPr lang="en-IN" sz="2000" b="0" i="1" smtClean="0">
                                  <a:latin typeface="Cambria Math" panose="02040503050406030204" pitchFamily="18" charset="0"/>
                                </a:rPr>
                                <m:t>2</m:t>
                              </m:r>
                            </m:sub>
                          </m:sSub>
                        </m:num>
                        <m:den>
                          <m:r>
                            <a:rPr lang="en-IN" sz="2000" b="0" i="1" smtClean="0">
                              <a:latin typeface="Cambria Math" panose="02040503050406030204" pitchFamily="18" charset="0"/>
                            </a:rPr>
                            <m:t>2</m:t>
                          </m:r>
                        </m:den>
                      </m:f>
                    </m:oMath>
                  </m:oMathPara>
                </a14:m>
                <a:endParaRPr lang="en-IN" dirty="0"/>
              </a:p>
              <a:p>
                <a:pPr marL="0" indent="0" algn="just">
                  <a:buNone/>
                </a:pPr>
                <a:r>
                  <a:rPr lang="en-IN" dirty="0"/>
                  <a:t>Where </a:t>
                </a:r>
                <a14:m>
                  <m:oMath xmlns:m="http://schemas.openxmlformats.org/officeDocument/2006/math">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𝐵</m:t>
                        </m:r>
                        <m:r>
                          <a:rPr lang="en-IN" sz="2000" b="0" i="1" smtClean="0">
                            <a:latin typeface="Cambria Math" panose="02040503050406030204" pitchFamily="18" charset="0"/>
                          </a:rPr>
                          <m:t>1</m:t>
                        </m:r>
                      </m:sub>
                    </m:sSub>
                  </m:oMath>
                </a14:m>
                <a:r>
                  <a:rPr lang="en-IN" dirty="0"/>
                  <a:t> and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𝐼</m:t>
                        </m:r>
                      </m:e>
                      <m:sub>
                        <m:r>
                          <a:rPr lang="en-IN" i="1">
                            <a:latin typeface="Cambria Math" panose="02040503050406030204" pitchFamily="18" charset="0"/>
                          </a:rPr>
                          <m:t>𝐵</m:t>
                        </m:r>
                        <m:r>
                          <a:rPr lang="en-IN" b="0" i="1" smtClean="0">
                            <a:latin typeface="Cambria Math" panose="02040503050406030204" pitchFamily="18" charset="0"/>
                          </a:rPr>
                          <m:t>2</m:t>
                        </m:r>
                      </m:sub>
                    </m:sSub>
                  </m:oMath>
                </a14:m>
                <a:r>
                  <a:rPr lang="en-IN" dirty="0"/>
                  <a:t> are the base currents of the first differential amplifier stage.</a:t>
                </a:r>
              </a:p>
              <a:p>
                <a:pPr marL="0" indent="0" algn="just">
                  <a:buNone/>
                </a:pPr>
                <a:endParaRPr lang="en-IN" dirty="0"/>
              </a:p>
            </p:txBody>
          </p:sp>
        </mc:Choice>
        <mc:Fallback xmlns="">
          <p:sp>
            <p:nvSpPr>
              <p:cNvPr id="2" name="Content Placeholder 2"/>
              <p:cNvSpPr>
                <a:spLocks noRot="1" noChangeAspect="1" noMove="1" noResize="1" noEditPoints="1" noAdjustHandles="1" noChangeArrowheads="1" noChangeShapeType="1" noTextEdit="1"/>
              </p:cNvSpPr>
              <p:nvPr>
                <p:ph idx="1"/>
              </p:nvPr>
            </p:nvSpPr>
            <p:spPr>
              <a:xfrm>
                <a:off x="1451579" y="2015732"/>
                <a:ext cx="9603275" cy="3450613"/>
              </a:xfrm>
              <a:blipFill rotWithShape="1">
                <a:blip r:embed="rId2"/>
                <a:stretch>
                  <a:fillRect l="-6" t="-7" r="1" b="8"/>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7</a:t>
            </a:fld>
            <a:endParaRPr lang="en-IN"/>
          </a:p>
        </p:txBody>
      </p:sp>
      <p:sp>
        <p:nvSpPr>
          <p:cNvPr id="16" name="Rounded Rectangle 17"/>
          <p:cNvSpPr/>
          <p:nvPr/>
        </p:nvSpPr>
        <p:spPr>
          <a:xfrm>
            <a:off x="3152441" y="1138767"/>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400" dirty="0"/>
              <a:t>Common Mode Rejection Ratio (CMRR)</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mc:AlternateContent xmlns:mc="http://schemas.openxmlformats.org/markup-compatibility/2006" xmlns:a14="http://schemas.microsoft.com/office/drawing/2010/main">
        <mc:Choice Requires="a14">
          <p:sp>
            <p:nvSpPr>
              <p:cNvPr id="28" name="TextBox 27"/>
              <p:cNvSpPr txBox="1"/>
              <p:nvPr/>
            </p:nvSpPr>
            <p:spPr>
              <a:xfrm>
                <a:off x="1299549" y="1997747"/>
                <a:ext cx="9592899" cy="4186595"/>
              </a:xfrm>
              <a:prstGeom prst="rect">
                <a:avLst/>
              </a:prstGeom>
              <a:noFill/>
            </p:spPr>
            <p:txBody>
              <a:bodyPr wrap="square" rtlCol="0">
                <a:spAutoFit/>
              </a:bodyPr>
              <a:lstStyle/>
              <a:p>
                <a:pPr algn="just"/>
                <a:r>
                  <a:rPr lang="en-IN" dirty="0">
                    <a:solidFill>
                      <a:schemeClr val="tx1"/>
                    </a:solidFill>
                  </a:rPr>
                  <a:t>When the same voltage is applied to both input terminals, the voltage is called a common-mode voltage and the op-amp is said to be operating in the common-mode configuration.</a:t>
                </a:r>
              </a:p>
              <a:p>
                <a:r>
                  <a:rPr lang="en-IN" dirty="0">
                    <a:solidFill>
                      <a:schemeClr val="tx1"/>
                    </a:solidFill>
                  </a:rPr>
                  <a:t>The Common-mode rejection ratio (CMRR) is defined as the ratio of the differential voltage gain A</a:t>
                </a:r>
                <a:r>
                  <a:rPr lang="en-IN" baseline="-25000" dirty="0">
                    <a:solidFill>
                      <a:schemeClr val="tx1"/>
                    </a:solidFill>
                  </a:rPr>
                  <a:t>d</a:t>
                </a:r>
                <a:r>
                  <a:rPr lang="en-IN" dirty="0">
                    <a:solidFill>
                      <a:schemeClr val="tx1"/>
                    </a:solidFill>
                  </a:rPr>
                  <a:t> to the common-mode voltage gain A</a:t>
                </a:r>
                <a:r>
                  <a:rPr lang="en-IN" baseline="-25000" dirty="0">
                    <a:solidFill>
                      <a:schemeClr val="tx1"/>
                    </a:solidFill>
                  </a:rPr>
                  <a:t>cm</a:t>
                </a:r>
                <a:r>
                  <a:rPr lang="en-IN" dirty="0">
                    <a:solidFill>
                      <a:schemeClr val="tx1"/>
                    </a:solidFill>
                  </a:rPr>
                  <a:t>.</a:t>
                </a:r>
              </a:p>
              <a:p>
                <a:r>
                  <a:rPr lang="en-IN" dirty="0">
                    <a:solidFill>
                      <a:schemeClr val="tx1"/>
                    </a:solidFill>
                  </a:rPr>
                  <a:t>							CMRR= </a:t>
                </a:r>
                <a14:m>
                  <m:oMath xmlns:m="http://schemas.openxmlformats.org/officeDocument/2006/math">
                    <m:f>
                      <m:fPr>
                        <m:ctrlPr>
                          <a:rPr lang="en-IN" sz="2400" i="1" smtClean="0">
                            <a:solidFill>
                              <a:schemeClr val="tx1"/>
                            </a:solidFill>
                            <a:latin typeface="Cambria Math" panose="02040503050406030204" pitchFamily="18" charset="0"/>
                          </a:rPr>
                        </m:ctrlPr>
                      </m:fPr>
                      <m:num>
                        <m:sSub>
                          <m:sSubPr>
                            <m:ctrlPr>
                              <a:rPr lang="en-IN" sz="2400" i="1" smtClean="0">
                                <a:solidFill>
                                  <a:schemeClr val="tx1"/>
                                </a:solidFill>
                                <a:latin typeface="Cambria Math" panose="02040503050406030204" pitchFamily="18" charset="0"/>
                              </a:rPr>
                            </m:ctrlPr>
                          </m:sSubPr>
                          <m:e>
                            <m:r>
                              <a:rPr lang="en-IN" sz="2400" b="0" i="1" smtClean="0">
                                <a:solidFill>
                                  <a:schemeClr val="tx1"/>
                                </a:solidFill>
                                <a:latin typeface="Cambria Math" panose="02040503050406030204" pitchFamily="18" charset="0"/>
                              </a:rPr>
                              <m:t>𝐴</m:t>
                            </m:r>
                          </m:e>
                          <m:sub>
                            <m:r>
                              <a:rPr lang="en-IN" sz="2400" b="0" i="1" smtClean="0">
                                <a:solidFill>
                                  <a:schemeClr val="tx1"/>
                                </a:solidFill>
                                <a:latin typeface="Cambria Math" panose="02040503050406030204" pitchFamily="18" charset="0"/>
                              </a:rPr>
                              <m:t>𝑑</m:t>
                            </m:r>
                          </m:sub>
                        </m:sSub>
                      </m:num>
                      <m:den>
                        <m:sSub>
                          <m:sSubPr>
                            <m:ctrlPr>
                              <a:rPr lang="en-IN" sz="2400" i="1" smtClean="0">
                                <a:solidFill>
                                  <a:schemeClr val="tx1"/>
                                </a:solidFill>
                                <a:latin typeface="Cambria Math" panose="02040503050406030204" pitchFamily="18" charset="0"/>
                              </a:rPr>
                            </m:ctrlPr>
                          </m:sSubPr>
                          <m:e>
                            <m:r>
                              <a:rPr lang="en-IN" sz="2400" b="0" i="1" smtClean="0">
                                <a:solidFill>
                                  <a:schemeClr val="tx1"/>
                                </a:solidFill>
                                <a:latin typeface="Cambria Math" panose="02040503050406030204" pitchFamily="18" charset="0"/>
                              </a:rPr>
                              <m:t>𝐴</m:t>
                            </m:r>
                          </m:e>
                          <m:sub>
                            <m:r>
                              <a:rPr lang="en-IN" sz="2400" b="0" i="1" smtClean="0">
                                <a:solidFill>
                                  <a:schemeClr val="tx1"/>
                                </a:solidFill>
                                <a:latin typeface="Cambria Math" panose="02040503050406030204" pitchFamily="18" charset="0"/>
                              </a:rPr>
                              <m:t>𝑐𝑚</m:t>
                            </m:r>
                          </m:sub>
                        </m:sSub>
                      </m:den>
                    </m:f>
                  </m:oMath>
                </a14:m>
                <a:endParaRPr lang="en-IN" dirty="0">
                  <a:solidFill>
                    <a:schemeClr val="tx1"/>
                  </a:solidFill>
                </a:endParaRPr>
              </a:p>
              <a:p>
                <a:r>
                  <a:rPr lang="en-IN" dirty="0">
                    <a:solidFill>
                      <a:schemeClr val="tx1"/>
                    </a:solidFill>
                  </a:rPr>
                  <a:t>The differential voltage gain A</a:t>
                </a:r>
                <a:r>
                  <a:rPr lang="en-IN" baseline="-25000" dirty="0">
                    <a:solidFill>
                      <a:schemeClr val="tx1"/>
                    </a:solidFill>
                  </a:rPr>
                  <a:t>d</a:t>
                </a:r>
                <a:r>
                  <a:rPr lang="en-IN" dirty="0">
                    <a:solidFill>
                      <a:schemeClr val="tx1"/>
                    </a:solidFill>
                  </a:rPr>
                  <a:t> is the same as the large signal voltage gain A which is specified on the data sheets.</a:t>
                </a:r>
              </a:p>
              <a:p>
                <a:r>
                  <a:rPr lang="en-IN" dirty="0">
                    <a:solidFill>
                      <a:schemeClr val="tx1"/>
                    </a:solidFill>
                  </a:rPr>
                  <a:t>The common mode voltage gain  is given by </a:t>
                </a:r>
              </a:p>
              <a:p>
                <a:r>
                  <a:rPr lang="en-IN" dirty="0">
                    <a:solidFill>
                      <a:schemeClr val="tx1"/>
                    </a:solidFill>
                  </a:rPr>
                  <a:t>							</a:t>
                </a:r>
                <a14:m>
                  <m:oMath xmlns:m="http://schemas.openxmlformats.org/officeDocument/2006/math">
                    <m:sSub>
                      <m:sSubPr>
                        <m:ctrlPr>
                          <a:rPr lang="en-IN" sz="200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𝐴</m:t>
                        </m:r>
                      </m:e>
                      <m:sub>
                        <m:r>
                          <a:rPr lang="en-IN" sz="2000" b="0" i="1" smtClean="0">
                            <a:solidFill>
                              <a:schemeClr val="tx1"/>
                            </a:solidFill>
                            <a:latin typeface="Cambria Math" panose="02040503050406030204" pitchFamily="18" charset="0"/>
                          </a:rPr>
                          <m:t>𝑐𝑚</m:t>
                        </m:r>
                      </m:sub>
                    </m:sSub>
                    <m:r>
                      <a:rPr lang="en-IN" sz="2000" b="0" i="1" smtClean="0">
                        <a:solidFill>
                          <a:schemeClr val="tx1"/>
                        </a:solidFill>
                        <a:latin typeface="Cambria Math" panose="02040503050406030204" pitchFamily="18" charset="0"/>
                      </a:rPr>
                      <m:t>=</m:t>
                    </m:r>
                    <m:f>
                      <m:fPr>
                        <m:ctrlPr>
                          <a:rPr lang="en-IN" sz="2000" b="0" i="1" smtClean="0">
                            <a:solidFill>
                              <a:schemeClr val="tx1"/>
                            </a:solidFill>
                            <a:latin typeface="Cambria Math" panose="02040503050406030204" pitchFamily="18" charset="0"/>
                          </a:rPr>
                        </m:ctrlPr>
                      </m:fPr>
                      <m:num>
                        <m:sSub>
                          <m:sSubPr>
                            <m:ctrlPr>
                              <a:rPr lang="en-IN" sz="2000" b="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𝑉</m:t>
                            </m:r>
                          </m:e>
                          <m:sub>
                            <m:r>
                              <a:rPr lang="en-IN" sz="2000" b="0" i="1" smtClean="0">
                                <a:solidFill>
                                  <a:schemeClr val="tx1"/>
                                </a:solidFill>
                                <a:latin typeface="Cambria Math" panose="02040503050406030204" pitchFamily="18" charset="0"/>
                              </a:rPr>
                              <m:t>𝑜𝑐𝑚</m:t>
                            </m:r>
                          </m:sub>
                        </m:sSub>
                      </m:num>
                      <m:den>
                        <m:sSub>
                          <m:sSubPr>
                            <m:ctrlPr>
                              <a:rPr lang="en-IN" sz="2000" b="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𝑉</m:t>
                            </m:r>
                          </m:e>
                          <m:sub>
                            <m:r>
                              <a:rPr lang="en-IN" sz="2000" b="0" i="1" smtClean="0">
                                <a:solidFill>
                                  <a:schemeClr val="tx1"/>
                                </a:solidFill>
                                <a:latin typeface="Cambria Math" panose="02040503050406030204" pitchFamily="18" charset="0"/>
                              </a:rPr>
                              <m:t>𝑐𝑚</m:t>
                            </m:r>
                          </m:sub>
                        </m:sSub>
                      </m:den>
                    </m:f>
                  </m:oMath>
                </a14:m>
                <a:endParaRPr lang="en-IN" dirty="0">
                  <a:solidFill>
                    <a:schemeClr val="tx1"/>
                  </a:solidFill>
                </a:endParaRPr>
              </a:p>
              <a:p>
                <a:r>
                  <a:rPr lang="en-IN" dirty="0">
                    <a:solidFill>
                      <a:schemeClr val="tx1"/>
                    </a:solidFill>
                  </a:rPr>
                  <a:t>CMRR is a large value and is usually expressed in Decibels (dB).</a:t>
                </a:r>
              </a:p>
              <a:p>
                <a:r>
                  <a:rPr lang="en-IN" dirty="0">
                    <a:solidFill>
                      <a:schemeClr val="tx1"/>
                    </a:solidFill>
                  </a:rPr>
                  <a:t>Higher the value of CMRR, the better is the matching between two input terminals and smaller is the common mode voltage.</a:t>
                </a:r>
              </a:p>
              <a:p>
                <a:endParaRPr lang="en-IN" dirty="0">
                  <a:solidFill>
                    <a:schemeClr val="tx1"/>
                  </a:solidFill>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1299549" y="1997747"/>
                <a:ext cx="9592899" cy="4186595"/>
              </a:xfrm>
              <a:prstGeom prst="rect">
                <a:avLst/>
              </a:prstGeom>
              <a:blipFill rotWithShape="1">
                <a:blip r:embed="rId2"/>
                <a:stretch>
                  <a:fillRect l="-4" t="-1" r="3" b="2"/>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6"/>
                                        </p:tgtEl>
                                      </p:cBhvr>
                                    </p:animEffect>
                                    <p:animScale>
                                      <p:cBhvr>
                                        <p:cTn id="7" dur="250" autoRev="1"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8</a:t>
            </a:fld>
            <a:endParaRPr lang="en-IN"/>
          </a:p>
        </p:txBody>
      </p:sp>
      <p:sp>
        <p:nvSpPr>
          <p:cNvPr id="5" name="Rounded Rectangle 17"/>
          <p:cNvSpPr/>
          <p:nvPr/>
        </p:nvSpPr>
        <p:spPr>
          <a:xfrm>
            <a:off x="2995352" y="1101780"/>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Supply Voltage Rejection Ratio (SVRR)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51579" y="2015732"/>
                <a:ext cx="9990143" cy="3651330"/>
              </a:xfrm>
            </p:spPr>
            <p:txBody>
              <a:bodyPr>
                <a:normAutofit/>
              </a:bodyPr>
              <a:lstStyle/>
              <a:p>
                <a:pPr marL="0" indent="0" algn="just">
                  <a:buNone/>
                </a:pPr>
                <a:r>
                  <a:rPr lang="en-IN" sz="1800" dirty="0"/>
                  <a:t>The change in an Op-amp’s input offset voltage Vio, caused by variations in supply voltages is called the Supply Voltage Rejection ratio (SVRR).  It is also known as the power supply rejection ratio (PSRR) and the power supply sensitivity (PSS). The units are either microvolts per volt or in decibels. If the change in supply voltages is ∆V and the corresponding change in input offset voltage is ∆V</a:t>
                </a:r>
                <a:r>
                  <a:rPr lang="en-IN" sz="1800" baseline="-25000" dirty="0"/>
                  <a:t>io</a:t>
                </a:r>
                <a:r>
                  <a:rPr lang="en-IN" sz="1800" dirty="0"/>
                  <a:t>, SVRR is  given by</a:t>
                </a:r>
              </a:p>
              <a:p>
                <a:pPr marL="0" indent="0">
                  <a:buNone/>
                </a:pPr>
                <a:r>
                  <a:rPr lang="en-IN" sz="1800" dirty="0"/>
                  <a:t>			SVRR = </a:t>
                </a:r>
                <a14:m>
                  <m:oMath xmlns:m="http://schemas.openxmlformats.org/officeDocument/2006/math">
                    <m:f>
                      <m:fPr>
                        <m:ctrlPr>
                          <a:rPr lang="en-IN" sz="1800" i="1" smtClean="0">
                            <a:latin typeface="Cambria Math" panose="02040503050406030204" pitchFamily="18" charset="0"/>
                          </a:rPr>
                        </m:ctrlPr>
                      </m:fPr>
                      <m:num>
                        <m:r>
                          <m:rPr>
                            <m:nor/>
                          </m:rPr>
                          <a:rPr lang="en-IN" sz="1800" dirty="0">
                            <a:latin typeface="Cambria Math" panose="02040503050406030204" pitchFamily="18" charset="0"/>
                          </a:rPr>
                          <m:t>∆</m:t>
                        </m:r>
                        <m:r>
                          <m:rPr>
                            <m:nor/>
                          </m:rPr>
                          <a:rPr lang="en-IN" sz="1800" dirty="0">
                            <a:latin typeface="Cambria Math" panose="02040503050406030204" pitchFamily="18" charset="0"/>
                          </a:rPr>
                          <m:t>Vio</m:t>
                        </m:r>
                      </m:num>
                      <m:den>
                        <m:r>
                          <m:rPr>
                            <m:nor/>
                          </m:rPr>
                          <a:rPr lang="en-IN" sz="1800" dirty="0">
                            <a:latin typeface="Cambria Math" panose="02040503050406030204" pitchFamily="18" charset="0"/>
                          </a:rPr>
                          <m:t>∆</m:t>
                        </m:r>
                        <m:r>
                          <m:rPr>
                            <m:nor/>
                          </m:rPr>
                          <a:rPr lang="en-IN" sz="1800" dirty="0">
                            <a:latin typeface="Cambria Math" panose="02040503050406030204" pitchFamily="18" charset="0"/>
                          </a:rPr>
                          <m:t>V</m:t>
                        </m:r>
                      </m:den>
                    </m:f>
                  </m:oMath>
                </a14:m>
                <a:endParaRPr lang="en-IN" sz="1800" dirty="0"/>
              </a:p>
              <a:p>
                <a:pPr marL="0" indent="0">
                  <a:buNone/>
                </a:pPr>
                <a:r>
                  <a:rPr lang="en-IN" sz="1800" dirty="0"/>
                  <a:t>The lower the value of SVRR in microvolts/volt, the better the op-amp performance.</a:t>
                </a: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1451579" y="2015732"/>
                <a:ext cx="9990143" cy="3651330"/>
              </a:xfrm>
              <a:blipFill rotWithShape="1">
                <a:blip r:embed="rId2"/>
                <a:stretch>
                  <a:fillRect l="-6" t="-7" r="3" b="9"/>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ounded Rectangle 17"/>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Large Signal Voltage Gain</a:t>
            </a:r>
          </a:p>
        </p:txBody>
      </p:sp>
      <p:pic>
        <p:nvPicPr>
          <p:cNvPr id="17"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mc:AlternateContent xmlns:mc="http://schemas.openxmlformats.org/markup-compatibility/2006" xmlns:a14="http://schemas.microsoft.com/office/drawing/2010/main">
        <mc:Choice Requires="a14">
          <p:sp>
            <p:nvSpPr>
              <p:cNvPr id="18" name="TextBox 17"/>
              <p:cNvSpPr txBox="1"/>
              <p:nvPr/>
            </p:nvSpPr>
            <p:spPr>
              <a:xfrm>
                <a:off x="1436914" y="2234519"/>
                <a:ext cx="9647854" cy="2862835"/>
              </a:xfrm>
              <a:prstGeom prst="rect">
                <a:avLst/>
              </a:prstGeom>
              <a:noFill/>
            </p:spPr>
            <p:txBody>
              <a:bodyPr wrap="square" rtlCol="0">
                <a:spAutoFit/>
              </a:bodyPr>
              <a:lstStyle/>
              <a:p>
                <a:pPr algn="just">
                  <a:lnSpc>
                    <a:spcPct val="150000"/>
                  </a:lnSpc>
                </a:pPr>
                <a:r>
                  <a:rPr lang="en-GB" sz="2000" b="0" i="0" dirty="0">
                    <a:solidFill>
                      <a:schemeClr val="tx1"/>
                    </a:solidFill>
                    <a:effectLst/>
                  </a:rPr>
                  <a:t>The voltage gain of the amplifier is defined as</a:t>
                </a:r>
              </a:p>
              <a:p>
                <a:pPr algn="just">
                  <a:lnSpc>
                    <a:spcPct val="150000"/>
                  </a:lnSpc>
                </a:pPr>
                <a:r>
                  <a:rPr lang="en-GB" sz="2000" dirty="0">
                    <a:solidFill>
                      <a:schemeClr val="tx1"/>
                    </a:solidFill>
                  </a:rPr>
                  <a:t>			Voltage gain = </a:t>
                </a:r>
                <a14:m>
                  <m:oMath xmlns:m="http://schemas.openxmlformats.org/officeDocument/2006/math">
                    <m:f>
                      <m:fPr>
                        <m:ctrlPr>
                          <a:rPr lang="en-GB" sz="2000" i="1" smtClean="0">
                            <a:solidFill>
                              <a:schemeClr val="tx1"/>
                            </a:solidFill>
                            <a:latin typeface="Cambria Math" panose="02040503050406030204" pitchFamily="18" charset="0"/>
                          </a:rPr>
                        </m:ctrlPr>
                      </m:fPr>
                      <m:num>
                        <m:r>
                          <a:rPr lang="en-IN" sz="2000" b="0" i="1" smtClean="0">
                            <a:solidFill>
                              <a:schemeClr val="tx1"/>
                            </a:solidFill>
                            <a:latin typeface="Cambria Math" panose="02040503050406030204" pitchFamily="18" charset="0"/>
                          </a:rPr>
                          <m:t>𝑜𝑢𝑡𝑝𝑢𝑡</m:t>
                        </m:r>
                        <m:r>
                          <a:rPr lang="en-IN" sz="2000" b="0" i="1" smtClean="0">
                            <a:solidFill>
                              <a:schemeClr val="tx1"/>
                            </a:solidFill>
                            <a:latin typeface="Cambria Math" panose="02040503050406030204" pitchFamily="18" charset="0"/>
                          </a:rPr>
                          <m:t> </m:t>
                        </m:r>
                        <m:r>
                          <a:rPr lang="en-IN" sz="2000" b="0" i="1" smtClean="0">
                            <a:solidFill>
                              <a:schemeClr val="tx1"/>
                            </a:solidFill>
                            <a:latin typeface="Cambria Math" panose="02040503050406030204" pitchFamily="18" charset="0"/>
                          </a:rPr>
                          <m:t>𝑣𝑜𝑙𝑡𝑎𝑔𝑒</m:t>
                        </m:r>
                      </m:num>
                      <m:den>
                        <m:r>
                          <a:rPr lang="en-IN" sz="2000" b="0" i="1" smtClean="0">
                            <a:solidFill>
                              <a:schemeClr val="tx1"/>
                            </a:solidFill>
                            <a:latin typeface="Cambria Math" panose="02040503050406030204" pitchFamily="18" charset="0"/>
                          </a:rPr>
                          <m:t>𝑑𝑖𝑓𝑓𝑒𝑟𝑒𝑛𝑡𝑖𝑎𝑙</m:t>
                        </m:r>
                        <m:r>
                          <a:rPr lang="en-IN" sz="2000" b="0" i="1" smtClean="0">
                            <a:solidFill>
                              <a:schemeClr val="tx1"/>
                            </a:solidFill>
                            <a:latin typeface="Cambria Math" panose="02040503050406030204" pitchFamily="18" charset="0"/>
                          </a:rPr>
                          <m:t> </m:t>
                        </m:r>
                        <m:r>
                          <a:rPr lang="en-IN" sz="2000" b="0" i="1" smtClean="0">
                            <a:solidFill>
                              <a:schemeClr val="tx1"/>
                            </a:solidFill>
                            <a:latin typeface="Cambria Math" panose="02040503050406030204" pitchFamily="18" charset="0"/>
                          </a:rPr>
                          <m:t>𝑖𝑛𝑝𝑢𝑡</m:t>
                        </m:r>
                        <m:r>
                          <a:rPr lang="en-IN" sz="2000" b="0" i="1" smtClean="0">
                            <a:solidFill>
                              <a:schemeClr val="tx1"/>
                            </a:solidFill>
                            <a:latin typeface="Cambria Math" panose="02040503050406030204" pitchFamily="18" charset="0"/>
                          </a:rPr>
                          <m:t> </m:t>
                        </m:r>
                        <m:r>
                          <a:rPr lang="en-IN" sz="2000" b="0" i="1" smtClean="0">
                            <a:solidFill>
                              <a:schemeClr val="tx1"/>
                            </a:solidFill>
                            <a:latin typeface="Cambria Math" panose="02040503050406030204" pitchFamily="18" charset="0"/>
                          </a:rPr>
                          <m:t>𝑣𝑜𝑙𝑡𝑎𝑔𝑒</m:t>
                        </m:r>
                      </m:den>
                    </m:f>
                  </m:oMath>
                </a14:m>
                <a:endParaRPr lang="en-GB" sz="2000" b="0" i="0" dirty="0">
                  <a:solidFill>
                    <a:schemeClr val="tx1"/>
                  </a:solidFill>
                  <a:effectLst/>
                </a:endParaRPr>
              </a:p>
              <a:p>
                <a:pPr algn="just">
                  <a:lnSpc>
                    <a:spcPct val="150000"/>
                  </a:lnSpc>
                </a:pPr>
                <a:r>
                  <a:rPr lang="en-GB" sz="2000" dirty="0">
                    <a:solidFill>
                      <a:schemeClr val="tx1"/>
                    </a:solidFill>
                  </a:rPr>
                  <a:t>					or       A = </a:t>
                </a:r>
                <a14:m>
                  <m:oMath xmlns:m="http://schemas.openxmlformats.org/officeDocument/2006/math">
                    <m:f>
                      <m:fPr>
                        <m:ctrlPr>
                          <a:rPr lang="en-GB" sz="2000" i="1" smtClean="0">
                            <a:solidFill>
                              <a:schemeClr val="tx1"/>
                            </a:solidFill>
                            <a:latin typeface="Cambria Math" panose="02040503050406030204" pitchFamily="18" charset="0"/>
                          </a:rPr>
                        </m:ctrlPr>
                      </m:fPr>
                      <m:num>
                        <m:sSub>
                          <m:sSubPr>
                            <m:ctrlPr>
                              <a:rPr lang="en-GB" sz="200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𝑉</m:t>
                            </m:r>
                          </m:e>
                          <m:sub>
                            <m:r>
                              <a:rPr lang="en-IN" sz="2000" b="0" i="1" smtClean="0">
                                <a:solidFill>
                                  <a:schemeClr val="tx1"/>
                                </a:solidFill>
                                <a:latin typeface="Cambria Math" panose="02040503050406030204" pitchFamily="18" charset="0"/>
                              </a:rPr>
                              <m:t>0</m:t>
                            </m:r>
                          </m:sub>
                        </m:sSub>
                      </m:num>
                      <m:den>
                        <m:sSub>
                          <m:sSubPr>
                            <m:ctrlPr>
                              <a:rPr lang="en-GB" sz="200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𝑉</m:t>
                            </m:r>
                          </m:e>
                          <m:sub>
                            <m:r>
                              <a:rPr lang="en-IN" sz="2000" b="0" i="1" smtClean="0">
                                <a:solidFill>
                                  <a:schemeClr val="tx1"/>
                                </a:solidFill>
                                <a:latin typeface="Cambria Math" panose="02040503050406030204" pitchFamily="18" charset="0"/>
                              </a:rPr>
                              <m:t>𝑖𝑑</m:t>
                            </m:r>
                          </m:sub>
                        </m:sSub>
                      </m:den>
                    </m:f>
                  </m:oMath>
                </a14:m>
                <a:endParaRPr lang="en-GB" sz="2000" b="0" i="0" dirty="0">
                  <a:solidFill>
                    <a:schemeClr val="tx1"/>
                  </a:solidFill>
                  <a:effectLst/>
                </a:endParaRPr>
              </a:p>
              <a:p>
                <a:pPr algn="just">
                  <a:lnSpc>
                    <a:spcPct val="150000"/>
                  </a:lnSpc>
                </a:pPr>
                <a:r>
                  <a:rPr lang="en-GB" sz="2000" dirty="0">
                    <a:solidFill>
                      <a:schemeClr val="tx1"/>
                    </a:solidFill>
                  </a:rPr>
                  <a:t>As the output signal amplitude is larger than the input signal, the voltage gain is usually known as large signal voltage gain.</a:t>
                </a:r>
                <a:endParaRPr lang="en-GB" sz="2000" b="0" i="0" dirty="0">
                  <a:solidFill>
                    <a:schemeClr val="tx1"/>
                  </a:solidFill>
                  <a:effectLst/>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1436914" y="2234519"/>
                <a:ext cx="9647854" cy="2862835"/>
              </a:xfrm>
              <a:prstGeom prst="rect">
                <a:avLst/>
              </a:prstGeom>
              <a:blipFill rotWithShape="1">
                <a:blip r:embed="rId4"/>
                <a:stretch>
                  <a:fillRect l="-6" t="-21" r="2" b="7"/>
                </a:stretch>
              </a:blipFill>
            </p:spPr>
            <p:txBody>
              <a:bodyPr/>
              <a:lstStyle/>
              <a:p>
                <a:r>
                  <a:rPr lang="en-US" altLang="en-US">
                    <a:noFill/>
                  </a:rPr>
                  <a:t> </a:t>
                </a:r>
              </a:p>
            </p:txBody>
          </p:sp>
        </mc:Fallback>
      </mc:AlternateContent>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ounded Rectangle 17"/>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 Characteristics</a:t>
            </a:r>
          </a:p>
        </p:txBody>
      </p:sp>
      <p:pic>
        <p:nvPicPr>
          <p:cNvPr id="17"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mc:AlternateContent xmlns:mc="http://schemas.openxmlformats.org/markup-compatibility/2006" xmlns:a14="http://schemas.microsoft.com/office/drawing/2010/main">
        <mc:Choice Requires="a14">
          <p:sp>
            <p:nvSpPr>
              <p:cNvPr id="18" name="TextBox 17"/>
              <p:cNvSpPr txBox="1"/>
              <p:nvPr/>
            </p:nvSpPr>
            <p:spPr>
              <a:xfrm>
                <a:off x="1436914" y="2234519"/>
                <a:ext cx="9647854" cy="2353850"/>
              </a:xfrm>
              <a:prstGeom prst="rect">
                <a:avLst/>
              </a:prstGeom>
              <a:noFill/>
            </p:spPr>
            <p:txBody>
              <a:bodyPr wrap="square" rtlCol="0">
                <a:spAutoFit/>
              </a:bodyPr>
              <a:lstStyle/>
              <a:p>
                <a:pPr algn="just">
                  <a:lnSpc>
                    <a:spcPct val="150000"/>
                  </a:lnSpc>
                </a:pPr>
                <a:r>
                  <a:rPr lang="en-IN" sz="2000" b="0" i="0" dirty="0">
                    <a:solidFill>
                      <a:schemeClr val="tx1"/>
                    </a:solidFill>
                    <a:effectLst/>
                  </a:rPr>
                  <a:t>Slew Rate:</a:t>
                </a:r>
              </a:p>
              <a:p>
                <a:pPr algn="just">
                  <a:lnSpc>
                    <a:spcPct val="150000"/>
                  </a:lnSpc>
                </a:pPr>
                <a:r>
                  <a:rPr lang="en-IN" sz="2000" dirty="0"/>
                  <a:t>Slew Rate (SR) is defined as the maximum rate of change of output voltage per unit of time and is expressed in volts per microseconds.</a:t>
                </a:r>
              </a:p>
              <a:p>
                <a:pPr algn="just">
                  <a:lnSpc>
                    <a:spcPct val="150000"/>
                  </a:lnSpc>
                </a:pPr>
                <a14:m>
                  <m:oMathPara xmlns:m="http://schemas.openxmlformats.org/officeDocument/2006/math">
                    <m:oMathParaPr>
                      <m:jc m:val="centerGroup"/>
                    </m:oMathParaPr>
                    <m:oMath xmlns:m="http://schemas.openxmlformats.org/officeDocument/2006/math">
                      <m:r>
                        <a:rPr lang="en-IN" sz="2000" b="0" i="1" smtClean="0">
                          <a:solidFill>
                            <a:schemeClr val="tx1"/>
                          </a:solidFill>
                          <a:effectLst/>
                          <a:latin typeface="Cambria Math" panose="02040503050406030204" pitchFamily="18" charset="0"/>
                        </a:rPr>
                        <m:t>𝑆𝑅</m:t>
                      </m:r>
                      <m:r>
                        <a:rPr lang="en-IN" sz="2000" b="0" i="1" smtClean="0">
                          <a:solidFill>
                            <a:schemeClr val="tx1"/>
                          </a:solidFill>
                          <a:effectLst/>
                          <a:latin typeface="Cambria Math" panose="02040503050406030204" pitchFamily="18" charset="0"/>
                        </a:rPr>
                        <m:t>=</m:t>
                      </m:r>
                      <m:f>
                        <m:fPr>
                          <m:ctrlPr>
                            <a:rPr lang="en-IN" sz="2000" b="0" i="1" smtClean="0">
                              <a:solidFill>
                                <a:schemeClr val="tx1"/>
                              </a:solidFill>
                              <a:effectLst/>
                              <a:latin typeface="Cambria Math" panose="02040503050406030204" pitchFamily="18" charset="0"/>
                            </a:rPr>
                          </m:ctrlPr>
                        </m:fPr>
                        <m:num>
                          <m:r>
                            <a:rPr lang="en-IN" sz="2000" b="0" i="1" smtClean="0">
                              <a:solidFill>
                                <a:schemeClr val="tx1"/>
                              </a:solidFill>
                              <a:effectLst/>
                              <a:latin typeface="Cambria Math" panose="02040503050406030204" pitchFamily="18" charset="0"/>
                            </a:rPr>
                            <m:t>𝑑</m:t>
                          </m:r>
                          <m:sSub>
                            <m:sSubPr>
                              <m:ctrlPr>
                                <a:rPr lang="en-IN" sz="2000" b="0" i="1" smtClean="0">
                                  <a:solidFill>
                                    <a:schemeClr val="tx1"/>
                                  </a:solidFill>
                                  <a:effectLst/>
                                  <a:latin typeface="Cambria Math" panose="02040503050406030204" pitchFamily="18" charset="0"/>
                                </a:rPr>
                              </m:ctrlPr>
                            </m:sSubPr>
                            <m:e>
                              <m:r>
                                <a:rPr lang="en-IN" sz="2000" b="0" i="1" smtClean="0">
                                  <a:solidFill>
                                    <a:schemeClr val="tx1"/>
                                  </a:solidFill>
                                  <a:effectLst/>
                                  <a:latin typeface="Cambria Math" panose="02040503050406030204" pitchFamily="18" charset="0"/>
                                </a:rPr>
                                <m:t>𝑉</m:t>
                              </m:r>
                            </m:e>
                            <m:sub>
                              <m:r>
                                <a:rPr lang="en-IN" sz="2000" b="0" i="1" smtClean="0">
                                  <a:solidFill>
                                    <a:schemeClr val="tx1"/>
                                  </a:solidFill>
                                  <a:effectLst/>
                                  <a:latin typeface="Cambria Math" panose="02040503050406030204" pitchFamily="18" charset="0"/>
                                </a:rPr>
                                <m:t>0</m:t>
                              </m:r>
                            </m:sub>
                          </m:sSub>
                        </m:num>
                        <m:den>
                          <m:r>
                            <a:rPr lang="en-IN" sz="2000" b="0" i="1" smtClean="0">
                              <a:solidFill>
                                <a:schemeClr val="tx1"/>
                              </a:solidFill>
                              <a:effectLst/>
                              <a:latin typeface="Cambria Math" panose="02040503050406030204" pitchFamily="18" charset="0"/>
                            </a:rPr>
                            <m:t>𝑑𝑡</m:t>
                          </m:r>
                        </m:den>
                      </m:f>
                    </m:oMath>
                  </m:oMathPara>
                </a14:m>
                <a:endParaRPr lang="en-GB" sz="2000" b="0" i="0" dirty="0">
                  <a:solidFill>
                    <a:schemeClr val="tx1"/>
                  </a:solidFill>
                  <a:effectLst/>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1436914" y="2234519"/>
                <a:ext cx="9647854" cy="2353850"/>
              </a:xfrm>
              <a:prstGeom prst="rect">
                <a:avLst/>
              </a:prstGeom>
              <a:blipFill rotWithShape="1">
                <a:blip r:embed="rId4"/>
                <a:stretch>
                  <a:fillRect l="-6" t="-25" r="2" b="21"/>
                </a:stretch>
              </a:blipFill>
            </p:spPr>
            <p:txBody>
              <a:bodyPr/>
              <a:lstStyle/>
              <a:p>
                <a:r>
                  <a:rPr lang="en-US" altLang="en-US">
                    <a:noFill/>
                  </a:rPr>
                  <a:t> </a:t>
                </a:r>
              </a:p>
            </p:txBody>
          </p:sp>
        </mc:Fallback>
      </mc:AlternateContent>
      <p:cxnSp>
        <p:nvCxnSpPr>
          <p:cNvPr id="3" name="Straight Connector 2"/>
          <p:cNvCxnSpPr/>
          <p:nvPr/>
        </p:nvCxnSpPr>
        <p:spPr>
          <a:xfrm>
            <a:off x="6830291" y="3906982"/>
            <a:ext cx="0" cy="540327"/>
          </a:xfrm>
          <a:prstGeom prst="line">
            <a:avLst/>
          </a:prstGeom>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6830291" y="4177145"/>
            <a:ext cx="575799" cy="369332"/>
          </a:xfrm>
          <a:prstGeom prst="rect">
            <a:avLst/>
          </a:prstGeom>
          <a:noFill/>
        </p:spPr>
        <p:txBody>
          <a:bodyPr wrap="none" rtlCol="0">
            <a:spAutoFit/>
          </a:bodyPr>
          <a:lstStyle/>
          <a:p>
            <a:r>
              <a:rPr lang="en-IN" dirty="0"/>
              <a:t>max</a:t>
            </a:r>
          </a:p>
        </p:txBody>
      </p:sp>
      <p:sp>
        <p:nvSpPr>
          <p:cNvPr id="8" name="TextBox 7"/>
          <p:cNvSpPr txBox="1"/>
          <p:nvPr/>
        </p:nvSpPr>
        <p:spPr>
          <a:xfrm>
            <a:off x="7406090" y="3992479"/>
            <a:ext cx="620683" cy="369332"/>
          </a:xfrm>
          <a:prstGeom prst="rect">
            <a:avLst/>
          </a:prstGeom>
          <a:noFill/>
        </p:spPr>
        <p:txBody>
          <a:bodyPr wrap="none" rtlCol="0">
            <a:spAutoFit/>
          </a:bodyPr>
          <a:lstStyle/>
          <a:p>
            <a:r>
              <a:rPr lang="en-IN" dirty="0"/>
              <a:t>V/µS</a:t>
            </a:r>
          </a:p>
        </p:txBody>
      </p:sp>
      <p:sp>
        <p:nvSpPr>
          <p:cNvPr id="9" name="TextBox 8"/>
          <p:cNvSpPr txBox="1"/>
          <p:nvPr/>
        </p:nvSpPr>
        <p:spPr>
          <a:xfrm>
            <a:off x="1436913" y="4588369"/>
            <a:ext cx="10436429" cy="646331"/>
          </a:xfrm>
          <a:prstGeom prst="rect">
            <a:avLst/>
          </a:prstGeom>
          <a:noFill/>
        </p:spPr>
        <p:txBody>
          <a:bodyPr wrap="square" rtlCol="0">
            <a:spAutoFit/>
          </a:bodyPr>
          <a:lstStyle/>
          <a:p>
            <a:r>
              <a:rPr lang="en-IN" dirty="0"/>
              <a:t>Slew rate indicates how rapidly the output of an op-amp can change in response to changes in the input frequency.  The SR changes with a change in voltage gain and is normally specified at unity gain.</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ounded Rectangle 17"/>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Ideal Op-Amp</a:t>
            </a:r>
          </a:p>
        </p:txBody>
      </p:sp>
      <p:pic>
        <p:nvPicPr>
          <p:cNvPr id="17"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p:cNvSpPr txBox="1"/>
          <p:nvPr/>
        </p:nvSpPr>
        <p:spPr>
          <a:xfrm>
            <a:off x="1676400" y="1945002"/>
            <a:ext cx="9296400" cy="4093428"/>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An ideal Op-Amp would exhibit the following characteristics</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 Infinite voltage gain A</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 Infinite input resistance R</a:t>
            </a:r>
            <a:r>
              <a:rPr kumimoji="0" lang="en-US" sz="2000" b="0" i="0" u="none" strike="noStrike" cap="none" normalizeH="0" baseline="-25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 </a:t>
            </a: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 that almost any signal source can drive it and there is no loading of the preceding stage.</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 Zero output resistance R</a:t>
            </a:r>
            <a:r>
              <a:rPr kumimoji="0" lang="en-US" sz="2000" b="0" i="0" u="none" strike="noStrike" cap="none" normalizeH="0" baseline="-25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a:t>
            </a: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so that the output can drive an infinite number of other devices.</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 Zero output voltage when input voltage is zero.</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 Infinite bandwidth so that any frequency signal from 0 to ∞ Hz can be amplified without attenuation.</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 Infinite common-mode rejection ratio so that the output common-mode noise voltage is zero.</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 Infinite slew rate so that output voltage changes occur simultaneously with input voltage changes.</a:t>
            </a:r>
            <a:endParaRPr kumimoji="0" 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ounded Rectangle 17"/>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Ideal Op-Amp</a:t>
            </a:r>
          </a:p>
        </p:txBody>
      </p:sp>
      <p:pic>
        <p:nvPicPr>
          <p:cNvPr id="17"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pic>
        <p:nvPicPr>
          <p:cNvPr id="2" name="Picture 3" descr="Ideal Voltage Transfer Curve of Op Amp"/>
          <p:cNvPicPr>
            <a:picLocks noChangeAspect="1" noChangeArrowheads="1"/>
          </p:cNvPicPr>
          <p:nvPr/>
        </p:nvPicPr>
        <p:blipFill rotWithShape="1">
          <a:blip r:embed="rId4"/>
          <a:srcRect b="11922"/>
          <a:stretch>
            <a:fillRect/>
          </a:stretch>
        </p:blipFill>
        <p:spPr bwMode="auto">
          <a:xfrm>
            <a:off x="645668" y="2527477"/>
            <a:ext cx="5429466" cy="3415811"/>
          </a:xfrm>
          <a:prstGeom prst="rect">
            <a:avLst/>
          </a:prstGeom>
          <a:noFill/>
        </p:spPr>
      </p:pic>
      <p:sp>
        <p:nvSpPr>
          <p:cNvPr id="5" name="TextBox 4"/>
          <p:cNvSpPr txBox="1"/>
          <p:nvPr/>
        </p:nvSpPr>
        <p:spPr>
          <a:xfrm>
            <a:off x="1856509" y="2100886"/>
            <a:ext cx="2702984" cy="369332"/>
          </a:xfrm>
          <a:prstGeom prst="rect">
            <a:avLst/>
          </a:prstGeom>
          <a:noFill/>
        </p:spPr>
        <p:txBody>
          <a:bodyPr wrap="none" rtlCol="0">
            <a:spAutoFit/>
          </a:bodyPr>
          <a:lstStyle/>
          <a:p>
            <a:r>
              <a:rPr lang="en-IN" dirty="0"/>
              <a:t>Ideal voltage transfer curve</a:t>
            </a:r>
          </a:p>
        </p:txBody>
      </p:sp>
      <p:pic>
        <p:nvPicPr>
          <p:cNvPr id="1026" name="Picture 2" descr="Ideal Op Am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49199" y="2839855"/>
            <a:ext cx="4769428" cy="272652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8101638" y="2285552"/>
            <a:ext cx="1844416" cy="369332"/>
          </a:xfrm>
          <a:prstGeom prst="rect">
            <a:avLst/>
          </a:prstGeom>
          <a:noFill/>
        </p:spPr>
        <p:txBody>
          <a:bodyPr wrap="none" rtlCol="0">
            <a:spAutoFit/>
          </a:bodyPr>
          <a:lstStyle/>
          <a:p>
            <a:r>
              <a:rPr lang="en-IN" dirty="0"/>
              <a:t>Equivalent Circuit</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ounded Rectangle 17"/>
          <p:cNvSpPr/>
          <p:nvPr/>
        </p:nvSpPr>
        <p:spPr>
          <a:xfrm>
            <a:off x="1990725" y="1046801"/>
            <a:ext cx="9203748"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Practical Op-Amp</a:t>
            </a:r>
          </a:p>
        </p:txBody>
      </p:sp>
      <p:pic>
        <p:nvPicPr>
          <p:cNvPr id="17"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pic>
        <p:nvPicPr>
          <p:cNvPr id="2" name="Picture 1" descr="Equivalent Circuit of Operational Amplifier"/>
          <p:cNvPicPr/>
          <p:nvPr/>
        </p:nvPicPr>
        <p:blipFill rotWithShape="1">
          <a:blip r:embed="rId4"/>
          <a:srcRect b="8471"/>
          <a:stretch>
            <a:fillRect/>
          </a:stretch>
        </p:blipFill>
        <p:spPr bwMode="auto">
          <a:xfrm>
            <a:off x="8104908" y="3228109"/>
            <a:ext cx="4087091" cy="2214563"/>
          </a:xfrm>
          <a:prstGeom prst="rect">
            <a:avLst/>
          </a:prstGeom>
          <a:noFill/>
          <a:ln w="12700">
            <a:solidFill>
              <a:schemeClr val="tx1"/>
            </a:solidFill>
            <a:miter lim="800000"/>
            <a:headEnd/>
            <a:tailEnd/>
          </a:ln>
        </p:spPr>
      </p:pic>
      <mc:AlternateContent xmlns:mc="http://schemas.openxmlformats.org/markup-compatibility/2006" xmlns:a14="http://schemas.microsoft.com/office/drawing/2010/main">
        <mc:Choice Requires="a14">
          <p:sp>
            <p:nvSpPr>
              <p:cNvPr id="3" name="Rectangle 2"/>
              <p:cNvSpPr>
                <a:spLocks noChangeArrowheads="1"/>
              </p:cNvSpPr>
              <p:nvPr/>
            </p:nvSpPr>
            <p:spPr bwMode="auto">
              <a:xfrm>
                <a:off x="817419" y="1930525"/>
                <a:ext cx="7287490" cy="2739211"/>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AV</a:t>
                </a:r>
                <a:r>
                  <a:rPr kumimoji="0" lang="en-US" sz="2000" b="0" i="0" u="none" strike="noStrike" cap="none" normalizeH="0" baseline="-25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id</a:t>
                </a: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is the Equivalent Thevenin voltage source</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a:t>
                </a:r>
                <a:r>
                  <a:rPr kumimoji="0" lang="en-US" sz="2000" b="0" i="0" u="none" strike="noStrike" cap="none" normalizeH="0" baseline="-25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a:t>
                </a: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is the </a:t>
                </a:r>
                <a:r>
                  <a:rPr kumimoji="0" lang="en-US"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Thevenin</a:t>
                </a: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Equivalent resistance looking back into the output terminal of Op-Amp.</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Arial" panose="020B0604020202020204" pitchFamily="34" charset="0"/>
                  </a:rPr>
                  <a:t>The basic operating principles of an Op-Amp can be analyzed with the help of the equivalent</a:t>
                </a: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circuit </a:t>
                </a:r>
                <a:r>
                  <a:rPr kumimoji="0" 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latin typeface="Calibri" panose="020F0502020204030204" pitchFamily="34" charset="0"/>
                    <a:ea typeface="Calibri" panose="020F0502020204030204" pitchFamily="34" charset="0"/>
                    <a:cs typeface="Times New Roman" panose="02020603050405020304" pitchFamily="18" charset="0"/>
                  </a:rPr>
                  <a:t>The equation given below  is the basic Op-Amp equation , in which output offset voltage is assumed to be zero.</a:t>
                </a:r>
              </a:p>
              <a:p>
                <a:pPr marL="0" marR="0" lvl="0" indent="0" algn="l"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sSub>
                        <m:sSubPr>
                          <m:ctrlPr>
                            <a:rPr kumimoji="0" lang="en-US"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ctrlPr>
                        </m:sSubPr>
                        <m:e>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𝑉</m:t>
                          </m:r>
                        </m:e>
                        <m: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0</m:t>
                          </m:r>
                        </m:sub>
                      </m:s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m:t>
                      </m:r>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𝐴</m:t>
                      </m:r>
                      <m:sSub>
                        <m:sSubPr>
                          <m:ctrlP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ctrlPr>
                        </m:sSubPr>
                        <m:e>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𝑉</m:t>
                          </m:r>
                        </m:e>
                        <m: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𝑖𝑑</m:t>
                          </m:r>
                        </m:sub>
                      </m:s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m:t>
                      </m:r>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𝐴</m:t>
                      </m:r>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m:t>
                      </m:r>
                      <m:sSub>
                        <m:sSubPr>
                          <m:ctrlP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ctrlPr>
                        </m:sSubPr>
                        <m:e>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𝑉</m:t>
                          </m:r>
                        </m:e>
                        <m: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1</m:t>
                          </m:r>
                        </m:sub>
                      </m:s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m:t>
                      </m:r>
                      <m:sSub>
                        <m:sSubPr>
                          <m:ctrlP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ctrlPr>
                        </m:sSubPr>
                        <m:e>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𝑉</m:t>
                          </m:r>
                        </m:e>
                        <m: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2</m:t>
                          </m:r>
                        </m:sub>
                      </m:s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m:t>
                      </m:r>
                    </m:oMath>
                  </m:oMathPara>
                </a14:m>
                <a:endParaRPr kumimoji="0" 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mc:Choice>
        <mc:Fallback xmlns="">
          <p:sp>
            <p:nvSpPr>
              <p:cNvPr id="3" name="Rectangle 2"/>
              <p:cNvSpPr>
                <a:spLocks noRot="1" noChangeAspect="1" noMove="1" noResize="1" noEditPoints="1" noAdjustHandles="1" noChangeArrowheads="1" noChangeShapeType="1" noTextEdit="1"/>
              </p:cNvSpPr>
              <p:nvPr/>
            </p:nvSpPr>
            <p:spPr bwMode="auto">
              <a:xfrm>
                <a:off x="817419" y="1930525"/>
                <a:ext cx="7287490" cy="2739211"/>
              </a:xfrm>
              <a:prstGeom prst="rect">
                <a:avLst/>
              </a:prstGeom>
              <a:blipFill rotWithShape="1">
                <a:blip r:embed="rId5"/>
                <a:stretch>
                  <a:fillRect l="-2" t="-5" r="6" b="21"/>
                </a:stretch>
              </a:blipFill>
              <a:ln w="9525">
                <a:noFill/>
                <a:miter lim="800000"/>
              </a:ln>
              <a:effectLst/>
            </p:spPr>
            <p:txBody>
              <a:bodyPr/>
              <a:lstStyle/>
              <a:p>
                <a:r>
                  <a:rPr lang="en-US" altLang="en-US">
                    <a:noFill/>
                  </a:rPr>
                  <a:t> </a:t>
                </a:r>
              </a:p>
            </p:txBody>
          </p:sp>
        </mc:Fallback>
      </mc:AlternateContent>
      <p:sp>
        <p:nvSpPr>
          <p:cNvPr id="8" name="TextBox 7"/>
          <p:cNvSpPr txBox="1"/>
          <p:nvPr/>
        </p:nvSpPr>
        <p:spPr>
          <a:xfrm>
            <a:off x="995362" y="4522857"/>
            <a:ext cx="7287490" cy="1200329"/>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lang="en-US" dirty="0">
                <a:solidFill>
                  <a:srgbClr val="000000"/>
                </a:solidFill>
                <a:latin typeface="Calibri" panose="020F0502020204030204" pitchFamily="34" charset="0"/>
                <a:ea typeface="Times New Roman" panose="02020603050405020304" pitchFamily="18" charset="0"/>
                <a:cs typeface="Arial" panose="020B0604020202020204" pitchFamily="34" charset="0"/>
              </a:rPr>
              <a:t>w</a:t>
            </a: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here </a:t>
            </a: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tab pos="457200" algn="l"/>
              </a:tabLst>
            </a:pP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A = large signal voltage gain , V</a:t>
            </a:r>
            <a:r>
              <a:rPr kumimoji="0" lang="en-US" sz="1800" b="0" i="0" u="none" strike="noStrike" cap="none" normalizeH="0" baseline="-3000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id</a:t>
            </a: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 = differential input voltage</a:t>
            </a: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tab pos="457200" algn="l"/>
              </a:tabLst>
            </a:pP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V</a:t>
            </a:r>
            <a:r>
              <a:rPr kumimoji="0" lang="en-US" sz="1800" b="0" i="0" u="none" strike="noStrike" cap="none" normalizeH="0" baseline="-3000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1</a:t>
            </a: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 = voltage at Inverting terminal with respect to ground.</a:t>
            </a: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tab pos="457200" algn="l"/>
              </a:tabLst>
            </a:pP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V</a:t>
            </a:r>
            <a:r>
              <a:rPr kumimoji="0" lang="en-US" sz="1800" b="0" i="0" u="none" strike="noStrike" cap="none" normalizeH="0" baseline="-3000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2</a:t>
            </a: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 = voltage at non-inverting terminal with respect to ground.</a:t>
            </a: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ounded Rectangle 17"/>
          <p:cNvSpPr/>
          <p:nvPr/>
        </p:nvSpPr>
        <p:spPr>
          <a:xfrm>
            <a:off x="1990725" y="1046801"/>
            <a:ext cx="9203748"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Comparison of Ideal and Practical Op-Amp</a:t>
            </a:r>
          </a:p>
        </p:txBody>
      </p:sp>
      <p:pic>
        <p:nvPicPr>
          <p:cNvPr id="17"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pic>
        <p:nvPicPr>
          <p:cNvPr id="3" name="Picture 2" descr="Table 1.1 from . Characteristics and Parameters of Operational Amplifiers |  Semantic Scholar"/>
          <p:cNvPicPr>
            <a:picLocks noChangeAspect="1" noChangeArrowheads="1"/>
          </p:cNvPicPr>
          <p:nvPr/>
        </p:nvPicPr>
        <p:blipFill rotWithShape="1">
          <a:blip r:embed="rId4"/>
          <a:srcRect t="4301"/>
          <a:stretch>
            <a:fillRect/>
          </a:stretch>
        </p:blipFill>
        <p:spPr bwMode="auto">
          <a:xfrm>
            <a:off x="3727532" y="2112021"/>
            <a:ext cx="5153892" cy="3699178"/>
          </a:xfrm>
          <a:prstGeom prst="rect">
            <a:avLst/>
          </a:prstGeom>
          <a:noFill/>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dirty="0"/>
              <a:t>CMRR for an Op-Amp should be</a:t>
            </a:r>
          </a:p>
        </p:txBody>
      </p:sp>
      <p:sp>
        <p:nvSpPr>
          <p:cNvPr id="11" name="Rounded Rectangle 17"/>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sz="1600" dirty="0">
                <a:solidFill>
                  <a:schemeClr val="bg1"/>
                </a:solidFill>
                <a:latin typeface="+mj-lt"/>
              </a:rPr>
              <a:t>As large as possible</a:t>
            </a:r>
            <a:endParaRPr lang="en-US" sz="1600" dirty="0">
              <a:solidFill>
                <a:schemeClr val="bg1"/>
              </a:solidFill>
              <a:latin typeface="+mj-lt"/>
            </a:endParaRPr>
          </a:p>
          <a:p>
            <a:pPr marL="342900" indent="-342900">
              <a:lnSpc>
                <a:spcPct val="150000"/>
              </a:lnSpc>
              <a:buAutoNum type="alphaLcParenBoth"/>
            </a:pPr>
            <a:r>
              <a:rPr lang="en-IN" sz="1600" dirty="0">
                <a:solidFill>
                  <a:schemeClr val="bg1"/>
                </a:solidFill>
                <a:latin typeface="+mj-lt"/>
              </a:rPr>
              <a:t>Close to Unity</a:t>
            </a:r>
            <a:endParaRPr lang="en-US" sz="1600" dirty="0">
              <a:solidFill>
                <a:schemeClr val="bg1"/>
              </a:solidFill>
              <a:latin typeface="+mj-lt"/>
            </a:endParaRPr>
          </a:p>
          <a:p>
            <a:pPr marL="342900" indent="-342900">
              <a:lnSpc>
                <a:spcPct val="150000"/>
              </a:lnSpc>
              <a:buAutoNum type="alphaLcParenBoth"/>
            </a:pPr>
            <a:r>
              <a:rPr lang="en-IN" sz="1600" dirty="0">
                <a:solidFill>
                  <a:schemeClr val="bg1"/>
                </a:solidFill>
                <a:latin typeface="+mj-lt"/>
              </a:rPr>
              <a:t>Zero</a:t>
            </a:r>
            <a:endParaRPr lang="en-US" sz="1600" dirty="0">
              <a:solidFill>
                <a:schemeClr val="bg1"/>
              </a:solidFill>
              <a:latin typeface="+mj-lt"/>
            </a:endParaRPr>
          </a:p>
          <a:p>
            <a:pPr marL="342900" indent="-342900">
              <a:lnSpc>
                <a:spcPct val="150000"/>
              </a:lnSpc>
              <a:buAutoNum type="alphaLcParenBoth"/>
            </a:pPr>
            <a:r>
              <a:rPr lang="en-GB" sz="1600" dirty="0">
                <a:solidFill>
                  <a:schemeClr val="bg1"/>
                </a:solidFill>
                <a:latin typeface="+mj-lt"/>
              </a:rPr>
              <a:t>As small as possible</a:t>
            </a:r>
            <a:endParaRPr lang="en-US" sz="1600" dirty="0">
              <a:solidFill>
                <a:schemeClr val="bg1"/>
              </a:solidFill>
              <a:latin typeface="+mj-lt"/>
            </a:endParaRPr>
          </a:p>
        </p:txBody>
      </p:sp>
      <p:sp>
        <p:nvSpPr>
          <p:cNvPr id="13" name="Google Shape;502;p17"/>
          <p:cNvSpPr/>
          <p:nvPr/>
        </p:nvSpPr>
        <p:spPr>
          <a:xfrm>
            <a:off x="1026828" y="37475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GB" dirty="0"/>
              <a:t>In an Op-Amp, the input impedance is _____ and the output impedance is ________.</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009895" y="4486010"/>
            <a:ext cx="684563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solidFill>
                  <a:schemeClr val="bg1"/>
                </a:solidFill>
              </a:rPr>
              <a:t>Low; Low</a:t>
            </a:r>
            <a:endParaRPr lang="en-US" dirty="0">
              <a:solidFill>
                <a:schemeClr val="bg1"/>
              </a:solidFill>
            </a:endParaRPr>
          </a:p>
          <a:p>
            <a:pPr marL="342900" indent="-342900">
              <a:lnSpc>
                <a:spcPct val="150000"/>
              </a:lnSpc>
              <a:buAutoNum type="alphaLcParenBoth"/>
            </a:pPr>
            <a:r>
              <a:rPr lang="en-US" dirty="0">
                <a:solidFill>
                  <a:schemeClr val="bg1"/>
                </a:solidFill>
              </a:rPr>
              <a:t>Low; High</a:t>
            </a:r>
          </a:p>
          <a:p>
            <a:pPr marL="342900" indent="-342900">
              <a:lnSpc>
                <a:spcPct val="150000"/>
              </a:lnSpc>
              <a:buAutoNum type="alphaLcParenBoth"/>
            </a:pPr>
            <a:r>
              <a:rPr lang="en-US" dirty="0">
                <a:solidFill>
                  <a:schemeClr val="bg1"/>
                </a:solidFill>
              </a:rPr>
              <a:t>High; Low</a:t>
            </a:r>
          </a:p>
          <a:p>
            <a:pPr marL="342900" indent="-342900">
              <a:lnSpc>
                <a:spcPct val="150000"/>
              </a:lnSpc>
              <a:buAutoNum type="alphaLcParenBoth"/>
            </a:pPr>
            <a:r>
              <a:rPr lang="en-US" dirty="0">
                <a:solidFill>
                  <a:schemeClr val="bg1"/>
                </a:solidFill>
              </a:rPr>
              <a:t>High; High</a:t>
            </a: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GB" dirty="0"/>
              <a:t>3.	In order for an output to swing above and below a zero reference, the Op-Amp circuit requires</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442464" y="1905217"/>
            <a:ext cx="506917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sz="1600" dirty="0">
                <a:solidFill>
                  <a:schemeClr val="bg1"/>
                </a:solidFill>
              </a:rPr>
              <a:t>A resistive feedback network</a:t>
            </a:r>
            <a:endParaRPr lang="en-US" sz="1600" dirty="0">
              <a:solidFill>
                <a:schemeClr val="bg1"/>
              </a:solidFill>
            </a:endParaRPr>
          </a:p>
          <a:p>
            <a:pPr marL="342900" indent="-342900">
              <a:lnSpc>
                <a:spcPct val="150000"/>
              </a:lnSpc>
              <a:buAutoNum type="alphaLcParenBoth"/>
            </a:pPr>
            <a:r>
              <a:rPr lang="en-GB" sz="1600" dirty="0">
                <a:solidFill>
                  <a:schemeClr val="bg1"/>
                </a:solidFill>
              </a:rPr>
              <a:t>+VCC and - VEE</a:t>
            </a:r>
          </a:p>
          <a:p>
            <a:pPr marL="342900" indent="-342900">
              <a:lnSpc>
                <a:spcPct val="150000"/>
              </a:lnSpc>
              <a:buAutoNum type="alphaLcParenBoth"/>
            </a:pPr>
            <a:r>
              <a:rPr lang="en-US" sz="1600" dirty="0">
                <a:solidFill>
                  <a:schemeClr val="bg1"/>
                </a:solidFill>
              </a:rPr>
              <a:t>Zero Offset</a:t>
            </a:r>
          </a:p>
          <a:p>
            <a:pPr marL="342900" indent="-342900">
              <a:lnSpc>
                <a:spcPct val="150000"/>
              </a:lnSpc>
              <a:buAutoNum type="alphaLcParenBoth"/>
            </a:pPr>
            <a:r>
              <a:rPr lang="en-GB" sz="1600" dirty="0">
                <a:solidFill>
                  <a:schemeClr val="bg1"/>
                </a:solidFill>
              </a:rPr>
              <a:t>Wide bandwidth</a:t>
            </a:r>
            <a:endParaRPr lang="en-US" sz="1600" dirty="0">
              <a:solidFill>
                <a:schemeClr val="bg1"/>
              </a:solidFill>
            </a:endParaRPr>
          </a:p>
        </p:txBody>
      </p:sp>
      <p:sp>
        <p:nvSpPr>
          <p:cNvPr id="13" name="Google Shape;502;p17"/>
          <p:cNvSpPr/>
          <p:nvPr/>
        </p:nvSpPr>
        <p:spPr>
          <a:xfrm>
            <a:off x="1009895" y="371852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GB" dirty="0"/>
              <a:t>4.	For an Ideal Op-Amp, which of the following is correct?</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162295" y="4530587"/>
            <a:ext cx="66101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Infinite input impedance and infinite open loop gain</a:t>
            </a:r>
          </a:p>
          <a:p>
            <a:pPr marL="342900" indent="-342900">
              <a:lnSpc>
                <a:spcPct val="150000"/>
              </a:lnSpc>
              <a:buAutoNum type="alphaLcParenBoth"/>
            </a:pPr>
            <a:r>
              <a:rPr lang="en-US" dirty="0"/>
              <a:t>Zero input impedance and infinite open loop gain</a:t>
            </a:r>
          </a:p>
          <a:p>
            <a:pPr marL="342900" indent="-342900">
              <a:lnSpc>
                <a:spcPct val="150000"/>
              </a:lnSpc>
              <a:buAutoNum type="alphaLcParenBoth"/>
            </a:pPr>
            <a:r>
              <a:rPr lang="en-US" dirty="0">
                <a:solidFill>
                  <a:schemeClr val="bg1"/>
                </a:solidFill>
              </a:rPr>
              <a:t>Zero input impedance and zero open loop gain</a:t>
            </a:r>
          </a:p>
          <a:p>
            <a:pPr marL="342900" indent="-342900">
              <a:lnSpc>
                <a:spcPct val="150000"/>
              </a:lnSpc>
              <a:buAutoNum type="alphaLcParenBoth"/>
            </a:pPr>
            <a:r>
              <a:rPr lang="en-US" sz="1600" dirty="0">
                <a:solidFill>
                  <a:schemeClr val="bg1"/>
                </a:solidFill>
              </a:rPr>
              <a:t>Infinite input impedance and zero open loop gain</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IN" dirty="0"/>
              <a:t>a</a:t>
            </a:r>
          </a:p>
          <a:p>
            <a:pPr marL="457200" indent="-457200">
              <a:buFont typeface="+mj-lt"/>
              <a:buAutoNum type="arabicPeriod"/>
            </a:pPr>
            <a:r>
              <a:rPr lang="en-IN" dirty="0"/>
              <a:t>c</a:t>
            </a:r>
          </a:p>
          <a:p>
            <a:pPr marL="457200" indent="-457200">
              <a:buFont typeface="+mj-lt"/>
              <a:buAutoNum type="arabicPeriod"/>
            </a:pPr>
            <a:r>
              <a:rPr lang="en-IN" dirty="0"/>
              <a:t>b</a:t>
            </a:r>
          </a:p>
          <a:p>
            <a:pPr marL="457200" indent="-457200">
              <a:buFont typeface="+mj-lt"/>
              <a:buAutoNum type="arabicPeriod"/>
            </a:pPr>
            <a:r>
              <a:rPr lang="en-IN" dirty="0"/>
              <a:t>a</a:t>
            </a:r>
          </a:p>
          <a:p>
            <a:pPr marL="0" indent="0">
              <a:buNone/>
            </a:pPr>
            <a:endParaRPr lang="en-IN" dirty="0"/>
          </a:p>
          <a:p>
            <a:pPr marL="457200" indent="-457200">
              <a:buFont typeface="+mj-lt"/>
              <a:buAutoNum type="arabicPeriod"/>
            </a:pP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17</a:t>
            </a:fld>
            <a:endParaRPr lang="en-IN"/>
          </a:p>
        </p:txBody>
      </p:sp>
      <p:sp>
        <p:nvSpPr>
          <p:cNvPr id="5" name="Rounded Rectangle 17"/>
          <p:cNvSpPr/>
          <p:nvPr/>
        </p:nvSpPr>
        <p:spPr>
          <a:xfrm>
            <a:off x="3390635" y="118550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ANSWERS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116761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1380930" y="1967920"/>
            <a:ext cx="9694506" cy="3332900"/>
          </a:xfrm>
          <a:prstGeom prst="rect">
            <a:avLst/>
          </a:prstGeom>
          <a:noFill/>
        </p:spPr>
        <p:txBody>
          <a:bodyPr wrap="square" rtlCol="0">
            <a:spAutoFit/>
          </a:bodyPr>
          <a:lstStyle/>
          <a:p>
            <a:pPr marL="342900" indent="-342900" algn="just">
              <a:lnSpc>
                <a:spcPct val="200000"/>
              </a:lnSpc>
              <a:buFont typeface="+mj-lt"/>
              <a:buAutoNum type="arabicPeriod"/>
            </a:pPr>
            <a:r>
              <a:rPr lang="en-US" b="1" dirty="0"/>
              <a:t>List the parameters that should be considered for ac and dc applications.</a:t>
            </a:r>
          </a:p>
          <a:p>
            <a:pPr marL="342900" indent="-342900" algn="just">
              <a:lnSpc>
                <a:spcPct val="200000"/>
              </a:lnSpc>
              <a:buFont typeface="+mj-lt"/>
              <a:buAutoNum type="arabicPeriod"/>
            </a:pPr>
            <a:r>
              <a:rPr lang="en-US" b="1" dirty="0"/>
              <a:t>What are the characteristics of an ideal Op-Amp?</a:t>
            </a:r>
          </a:p>
          <a:p>
            <a:pPr marL="342900" indent="-342900" algn="just">
              <a:lnSpc>
                <a:spcPct val="200000"/>
              </a:lnSpc>
              <a:buFont typeface="+mj-lt"/>
              <a:buAutoNum type="arabicPeriod"/>
            </a:pPr>
            <a:r>
              <a:rPr lang="en-US" b="1" dirty="0"/>
              <a:t>For a given op-amp, CMRR = 10</a:t>
            </a:r>
            <a:r>
              <a:rPr lang="en-US" b="1" baseline="30000" dirty="0"/>
              <a:t>5</a:t>
            </a:r>
            <a:r>
              <a:rPr lang="en-US" b="1" dirty="0"/>
              <a:t> and differential gain Ad = 10</a:t>
            </a:r>
            <a:r>
              <a:rPr lang="en-US" b="1" baseline="30000" dirty="0"/>
              <a:t>5</a:t>
            </a:r>
            <a:r>
              <a:rPr lang="en-US" b="1" dirty="0"/>
              <a:t>. Determine the common-mode gain A</a:t>
            </a:r>
            <a:r>
              <a:rPr lang="en-US" b="1" baseline="-25000" dirty="0"/>
              <a:t>cm</a:t>
            </a:r>
            <a:r>
              <a:rPr lang="en-US" b="1" dirty="0"/>
              <a:t> of the op-amp.</a:t>
            </a:r>
          </a:p>
          <a:p>
            <a:pPr marL="342900" indent="-342900" algn="just">
              <a:lnSpc>
                <a:spcPct val="200000"/>
              </a:lnSpc>
              <a:buFont typeface="+mj-lt"/>
              <a:buAutoNum type="arabicPeriod"/>
            </a:pPr>
            <a:r>
              <a:rPr lang="en-IN" b="1" dirty="0"/>
              <a:t>The output voltage of a certain op-amp circuit changes by 20 Vin 4 µs. What is its slew rate?</a:t>
            </a: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1534940" y="2100679"/>
            <a:ext cx="9608234" cy="2308324"/>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Op-Amps and Linear Integrated Circuit; 4th Ed., </a:t>
            </a:r>
            <a:r>
              <a:rPr lang="en-GB" dirty="0" err="1"/>
              <a:t>Gayakwad</a:t>
            </a:r>
            <a:r>
              <a:rPr lang="en-GB" dirty="0"/>
              <a:t>, Ramakant A.</a:t>
            </a:r>
            <a:endParaRPr lang="en-US" dirty="0"/>
          </a:p>
          <a:p>
            <a:pPr>
              <a:lnSpc>
                <a:spcPct val="150000"/>
              </a:lnSpc>
            </a:pPr>
            <a:endParaRPr lang="en-US" dirty="0"/>
          </a:p>
          <a:p>
            <a:pPr>
              <a:lnSpc>
                <a:spcPct val="150000"/>
              </a:lnSpc>
            </a:pPr>
            <a:r>
              <a:rPr lang="en-US" b="1" dirty="0"/>
              <a:t>Sites and Web links:</a:t>
            </a:r>
          </a:p>
          <a:p>
            <a:pPr algn="l">
              <a:buFont typeface="+mj-lt"/>
              <a:buAutoNum type="arabicPeriod"/>
            </a:pPr>
            <a:r>
              <a:rPr lang="en-US" dirty="0"/>
              <a:t>1https://www.allaboutcircuits.com/textbook/semiconductors/chpt-8/op-amp-practical-considerations/</a:t>
            </a:r>
            <a:endParaRPr lang="en-IN" b="0" i="0" dirty="0">
              <a:solidFill>
                <a:srgbClr val="374151"/>
              </a:solidFill>
              <a:effectLst/>
              <a:latin typeface="Söhne"/>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47960" y="2332796"/>
            <a:ext cx="7920111" cy="2883877"/>
            <a:chOff x="2247960" y="2332796"/>
            <a:chExt cx="7920111" cy="2883877"/>
          </a:xfrm>
        </p:grpSpPr>
        <p:sp>
          <p:nvSpPr>
            <p:cNvPr id="4" name="Rounded Rectangle 3"/>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AECD</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131980" y="3092166"/>
              <a:ext cx="3235570" cy="1083212"/>
            </a:xfrm>
            <a:prstGeom prst="rect">
              <a:avLst/>
            </a:prstGeom>
            <a:noFill/>
          </p:spPr>
        </p:pic>
      </p:gr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3.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4.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5.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6.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docProps/app.xml><?xml version="1.0" encoding="utf-8"?>
<Properties xmlns="http://schemas.openxmlformats.org/officeDocument/2006/extended-properties" xmlns:vt="http://schemas.openxmlformats.org/officeDocument/2006/docPropsVTypes">
  <TotalTime>62</TotalTime>
  <Words>1369</Words>
  <Application>Microsoft Office PowerPoint</Application>
  <PresentationFormat>Widescreen</PresentationFormat>
  <Paragraphs>135</Paragraphs>
  <Slides>20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BioRhyme ExtraBold</vt:lpstr>
      <vt:lpstr>Calibri</vt:lpstr>
      <vt:lpstr>Cambria</vt:lpstr>
      <vt:lpstr>Cambria Math</vt:lpstr>
      <vt:lpstr>Gill Sans MT</vt:lpstr>
      <vt:lpstr>Poppins</vt:lpstr>
      <vt:lpstr>Söhne</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Subba Reddy Vasipalli</dc:creator>
  <cp:lastModifiedBy>syam sundar pillalamarri</cp:lastModifiedBy>
  <cp:revision>44</cp:revision>
  <dcterms:created xsi:type="dcterms:W3CDTF">2023-05-11T04:21:00Z</dcterms:created>
  <dcterms:modified xsi:type="dcterms:W3CDTF">2025-09-11T06:41:33Z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8B9783F51FD24CF7A7B2F7509EC48465_13</vt:lpwstr>
  </property>
  <property fmtid="{D5CDD505-2E9C-101B-9397-08002B2CF9AE}" pid="3" name="KSOProductBuildVer">
    <vt:lpwstr>1033-12.2.0.22222</vt:lpwstr>
  </property>
</Properties>
</file>