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31"/>
  </p:notesMasterIdLst>
  <p:sldIdLst>
    <p:sldId id="306" r:id="rId3"/>
    <p:sldId id="308" r:id="rId4"/>
    <p:sldId id="309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91949-E304-4727-A7F9-24D467FC76A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5B939-65CB-414C-BE0C-1DCF59B36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13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30750" y="465200"/>
            <a:ext cx="3730498" cy="971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246623" y="3868292"/>
            <a:ext cx="5937250" cy="13074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606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95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70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86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80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393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608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414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189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059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701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6543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3678" y="465200"/>
            <a:ext cx="10124643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5844" y="1600276"/>
            <a:ext cx="7319645" cy="1978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036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29226" y="2820599"/>
            <a:ext cx="7948938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Analog electronic Circuit Design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23ec2104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Gill Sans MT" panose="020B0502020104020203"/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ill Sans MT" panose="020B0502020104020203"/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 err="1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</a:rPr>
              <a:t>Hybrid</a:t>
            </a:r>
            <a:r>
              <a:rPr kumimoji="0" lang="fr-FR" sz="32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</a:rPr>
              <a:t> Model for BJT Configurations-CE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Calibri"/>
                <a:cs typeface="Poppins" panose="00000500000000000000" pitchFamily="2" charset="0"/>
                <a:sym typeface="Calibri"/>
              </a:rPr>
              <a:t>Session - 08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Google Shape;476;p16">
            <a:extLst>
              <a:ext uri="{FF2B5EF4-FFF2-40B4-BE49-F238E27FC236}">
                <a16:creationId xmlns:a16="http://schemas.microsoft.com/office/drawing/2014/main" id="{BD962D83-B115-FC20-1289-5B661BED384C}"/>
              </a:ext>
            </a:extLst>
          </p:cNvPr>
          <p:cNvSpPr txBox="1"/>
          <p:nvPr/>
        </p:nvSpPr>
        <p:spPr>
          <a:xfrm>
            <a:off x="7099973" y="859631"/>
            <a:ext cx="247777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AY-2025-2026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ODD SEM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39A5-5633-E116-AFEC-1DF4CAB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3C4F1-2803-C707-E9AA-178504830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0375" indent="-447675">
              <a:lnSpc>
                <a:spcPct val="100000"/>
              </a:lnSpc>
              <a:spcBef>
                <a:spcPts val="775"/>
              </a:spcBef>
              <a:buFont typeface="Wingdings"/>
              <a:buChar char=""/>
              <a:tabLst>
                <a:tab pos="460375" algn="l"/>
              </a:tabLst>
            </a:pPr>
            <a:r>
              <a:rPr lang="fr-FR" sz="2400" dirty="0" err="1"/>
              <a:t>Hybrid</a:t>
            </a:r>
            <a:r>
              <a:rPr lang="fr-FR" sz="2400" spc="-55" dirty="0"/>
              <a:t> </a:t>
            </a:r>
            <a:r>
              <a:rPr lang="fr-FR" sz="2400" dirty="0"/>
              <a:t>Model</a:t>
            </a:r>
            <a:r>
              <a:rPr lang="fr-FR" sz="2400" spc="-55" dirty="0"/>
              <a:t> </a:t>
            </a:r>
            <a:r>
              <a:rPr lang="fr-FR" sz="2400" dirty="0"/>
              <a:t>for</a:t>
            </a:r>
            <a:r>
              <a:rPr lang="fr-FR" sz="2400" spc="-90" dirty="0"/>
              <a:t> </a:t>
            </a:r>
            <a:r>
              <a:rPr lang="fr-FR" sz="2400" dirty="0"/>
              <a:t>BJT</a:t>
            </a:r>
            <a:r>
              <a:rPr lang="fr-FR" sz="2400" spc="-85" dirty="0"/>
              <a:t> </a:t>
            </a:r>
            <a:r>
              <a:rPr lang="fr-FR" sz="2400" spc="-35" dirty="0"/>
              <a:t>Configurations-</a:t>
            </a:r>
            <a:r>
              <a:rPr lang="fr-FR" sz="2400" spc="-25" dirty="0"/>
              <a:t>CE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BD68-38B6-EBC9-FAD4-A45D129C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01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1352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895079" y="533400"/>
            <a:ext cx="11215640" cy="79419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1200" dirty="0">
                <a:solidFill>
                  <a:prstClr val="black"/>
                </a:solidFill>
                <a:latin typeface="Gill Sans MT" panose="020B0502020104020203"/>
                <a:ea typeface="+mn-ea"/>
                <a:cs typeface="+mn-cs"/>
              </a:rPr>
              <a:t>To analyze and understand the Hybrid-π model for the Common Emitter (CE) configuration of a BJT and apply it in small-signal amplifier circuit analysis.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53594" y="1432883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885748" y="1905000"/>
            <a:ext cx="11224971" cy="21876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The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/>
                <a:cs typeface="Poppins"/>
              </a:rPr>
              <a:t>Session is designed to: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Poppins"/>
                <a:ea typeface="+mn-ea"/>
                <a:cs typeface="Poppins"/>
              </a:rPr>
              <a:t>Explain the concept of the Hybrid-π model for BJTs.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Poppins"/>
                <a:ea typeface="+mn-ea"/>
                <a:cs typeface="Poppins"/>
              </a:rPr>
              <a:t>Identify the key elements of the Hybrid-π equivalent circuit.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Poppins"/>
                <a:ea typeface="+mn-ea"/>
                <a:cs typeface="Poppins"/>
              </a:rPr>
              <a:t>Describe the role of each parameter (rπ, gm, </a:t>
            </a:r>
            <a:r>
              <a:rPr lang="en-US" sz="1400" kern="1200" dirty="0" err="1">
                <a:solidFill>
                  <a:prstClr val="black"/>
                </a:solidFill>
                <a:latin typeface="Poppins"/>
                <a:ea typeface="+mn-ea"/>
                <a:cs typeface="Poppins"/>
              </a:rPr>
              <a:t>ro</a:t>
            </a:r>
            <a:r>
              <a:rPr lang="en-US" sz="1400" kern="1200" dirty="0">
                <a:solidFill>
                  <a:prstClr val="black"/>
                </a:solidFill>
                <a:latin typeface="Poppins"/>
                <a:ea typeface="+mn-ea"/>
                <a:cs typeface="Poppins"/>
              </a:rPr>
              <a:t>) in CE configuration.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Poppins"/>
                <a:ea typeface="+mn-ea"/>
                <a:cs typeface="Poppins"/>
              </a:rPr>
              <a:t>Apply the model to analyze small-signal behavior of CE amplifiers.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4592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315972" y="399408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8652" y="4846140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848877" y="4364708"/>
            <a:ext cx="11196319" cy="17505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 the end of this session, learners will be able to: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Construct the Hybrid-</a:t>
            </a:r>
            <a:r>
              <a:rPr lang="el-GR" sz="1400" kern="120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π </a:t>
            </a:r>
            <a:r>
              <a:rPr lang="en-US" sz="1400" kern="120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equivalent circuit for a given BJT CE configuration.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Use the model to calculate small-signal parameters and performance metrics.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kern="120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Understand how the base-emitter resistance (r</a:t>
            </a:r>
            <a:r>
              <a:rPr lang="el-GR" sz="1400" kern="120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π) </a:t>
            </a:r>
            <a:r>
              <a:rPr lang="en-US" sz="1400" kern="120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and transconductance (gm) influence signal gain.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16660">
              <a:lnSpc>
                <a:spcPct val="100000"/>
              </a:lnSpc>
              <a:spcBef>
                <a:spcPts val="90"/>
              </a:spcBef>
            </a:pPr>
            <a:r>
              <a:rPr dirty="0"/>
              <a:t>Basic</a:t>
            </a:r>
            <a:r>
              <a:rPr spc="-100" dirty="0"/>
              <a:t> </a:t>
            </a:r>
            <a:r>
              <a:rPr dirty="0"/>
              <a:t>BJT</a:t>
            </a:r>
            <a:r>
              <a:rPr spc="-100" dirty="0"/>
              <a:t> </a:t>
            </a:r>
            <a:r>
              <a:rPr dirty="0"/>
              <a:t>Amplifier</a:t>
            </a:r>
            <a:r>
              <a:rPr spc="-85" dirty="0"/>
              <a:t> </a:t>
            </a:r>
            <a:r>
              <a:rPr spc="-10" dirty="0"/>
              <a:t>Configurations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marR="5080" indent="-349250">
              <a:lnSpc>
                <a:spcPct val="100000"/>
              </a:lnSpc>
              <a:spcBef>
                <a:spcPts val="110"/>
              </a:spcBef>
              <a:buSzPct val="97500"/>
              <a:buFont typeface="Wingdings"/>
              <a:buChar char=""/>
              <a:tabLst>
                <a:tab pos="356870" algn="l"/>
                <a:tab pos="414020" algn="l"/>
                <a:tab pos="4307840" algn="l"/>
                <a:tab pos="5457190" algn="l"/>
              </a:tabLst>
            </a:pPr>
            <a:r>
              <a:rPr spc="-10" dirty="0"/>
              <a:t>	Common-Emitter</a:t>
            </a:r>
            <a:r>
              <a:rPr dirty="0"/>
              <a:t>	</a:t>
            </a:r>
            <a:r>
              <a:rPr spc="-20" dirty="0"/>
              <a:t>(CE)</a:t>
            </a:r>
            <a:r>
              <a:rPr dirty="0"/>
              <a:t>	</a:t>
            </a:r>
            <a:r>
              <a:rPr spc="-10" dirty="0"/>
              <a:t>amplifier </a:t>
            </a:r>
            <a:r>
              <a:rPr dirty="0"/>
              <a:t>with</a:t>
            </a:r>
            <a:r>
              <a:rPr spc="-100" dirty="0"/>
              <a:t> </a:t>
            </a:r>
            <a:r>
              <a:rPr dirty="0"/>
              <a:t>emitter</a:t>
            </a:r>
            <a:r>
              <a:rPr spc="-100" dirty="0"/>
              <a:t> </a:t>
            </a:r>
            <a:r>
              <a:rPr spc="-10" dirty="0"/>
              <a:t>resistance</a:t>
            </a:r>
          </a:p>
          <a:p>
            <a:pPr marL="414655" indent="-406400">
              <a:lnSpc>
                <a:spcPct val="100000"/>
              </a:lnSpc>
              <a:spcBef>
                <a:spcPts val="965"/>
              </a:spcBef>
              <a:buSzPct val="97500"/>
              <a:buFont typeface="Wingdings"/>
              <a:buChar char=""/>
              <a:tabLst>
                <a:tab pos="414655" algn="l"/>
              </a:tabLst>
            </a:pPr>
            <a:r>
              <a:rPr spc="-10" dirty="0"/>
              <a:t>Common-</a:t>
            </a:r>
            <a:r>
              <a:rPr dirty="0"/>
              <a:t>Base</a:t>
            </a:r>
            <a:r>
              <a:rPr spc="-35" dirty="0"/>
              <a:t> </a:t>
            </a:r>
            <a:r>
              <a:rPr dirty="0"/>
              <a:t>(CB)</a:t>
            </a:r>
            <a:r>
              <a:rPr spc="-10" dirty="0"/>
              <a:t> amplifier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58555" y="1600276"/>
            <a:ext cx="274320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951355" algn="l"/>
              </a:tabLst>
            </a:pPr>
            <a:r>
              <a:rPr sz="4000" spc="-10" dirty="0">
                <a:latin typeface="Calibri"/>
                <a:cs typeface="Calibri"/>
              </a:rPr>
              <a:t>without</a:t>
            </a:r>
            <a:r>
              <a:rPr sz="4000" dirty="0">
                <a:latin typeface="Calibri"/>
                <a:cs typeface="Calibri"/>
              </a:rPr>
              <a:t>	</a:t>
            </a:r>
            <a:r>
              <a:rPr sz="4000" spc="-25" dirty="0">
                <a:latin typeface="Calibri"/>
                <a:cs typeface="Calibri"/>
              </a:rPr>
              <a:t>and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844" y="3673805"/>
            <a:ext cx="10358755" cy="12471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marR="5080" indent="-349250">
              <a:lnSpc>
                <a:spcPct val="100000"/>
              </a:lnSpc>
              <a:spcBef>
                <a:spcPts val="110"/>
              </a:spcBef>
              <a:buSzPct val="97500"/>
              <a:buFont typeface="Wingdings"/>
              <a:buChar char=""/>
              <a:tabLst>
                <a:tab pos="356870" algn="l"/>
                <a:tab pos="414020" algn="l"/>
                <a:tab pos="4649470" algn="l"/>
                <a:tab pos="5841365" algn="l"/>
                <a:tab pos="8030845" algn="l"/>
                <a:tab pos="8816975" algn="l"/>
              </a:tabLst>
            </a:pPr>
            <a:r>
              <a:rPr sz="4000" spc="-10" dirty="0">
                <a:latin typeface="Calibri"/>
                <a:cs typeface="Calibri"/>
              </a:rPr>
              <a:t>	Common-Collector</a:t>
            </a:r>
            <a:r>
              <a:rPr sz="4000" dirty="0">
                <a:latin typeface="Calibri"/>
                <a:cs typeface="Calibri"/>
              </a:rPr>
              <a:t>	</a:t>
            </a:r>
            <a:r>
              <a:rPr sz="4000" spc="-20" dirty="0">
                <a:latin typeface="Calibri"/>
                <a:cs typeface="Calibri"/>
              </a:rPr>
              <a:t>(CC)</a:t>
            </a:r>
            <a:r>
              <a:rPr sz="4000" dirty="0">
                <a:latin typeface="Calibri"/>
                <a:cs typeface="Calibri"/>
              </a:rPr>
              <a:t>	</a:t>
            </a:r>
            <a:r>
              <a:rPr sz="4000" spc="-10" dirty="0">
                <a:latin typeface="Calibri"/>
                <a:cs typeface="Calibri"/>
              </a:rPr>
              <a:t>amplifier</a:t>
            </a:r>
            <a:r>
              <a:rPr sz="4000" dirty="0">
                <a:latin typeface="Calibri"/>
                <a:cs typeface="Calibri"/>
              </a:rPr>
              <a:t>	</a:t>
            </a:r>
            <a:r>
              <a:rPr sz="4000" spc="-25" dirty="0">
                <a:latin typeface="Calibri"/>
                <a:cs typeface="Calibri"/>
              </a:rPr>
              <a:t>or</a:t>
            </a:r>
            <a:r>
              <a:rPr sz="4000" dirty="0">
                <a:latin typeface="Calibri"/>
                <a:cs typeface="Calibri"/>
              </a:rPr>
              <a:t>	</a:t>
            </a:r>
            <a:r>
              <a:rPr sz="4000" spc="-25" dirty="0">
                <a:latin typeface="Calibri"/>
                <a:cs typeface="Calibri"/>
              </a:rPr>
              <a:t>Emitter </a:t>
            </a:r>
            <a:r>
              <a:rPr sz="4000" spc="-10" dirty="0">
                <a:latin typeface="Calibri"/>
                <a:cs typeface="Calibri"/>
              </a:rPr>
              <a:t>Follower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85010">
              <a:lnSpc>
                <a:spcPct val="100000"/>
              </a:lnSpc>
              <a:spcBef>
                <a:spcPts val="90"/>
              </a:spcBef>
            </a:pPr>
            <a:r>
              <a:rPr b="1" dirty="0">
                <a:solidFill>
                  <a:srgbClr val="C0504D"/>
                </a:solidFill>
                <a:latin typeface="Times New Roman"/>
                <a:cs typeface="Times New Roman"/>
              </a:rPr>
              <a:t>Hybrid</a:t>
            </a:r>
            <a:r>
              <a:rPr b="1" spc="-14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C0504D"/>
                </a:solidFill>
                <a:latin typeface="Times New Roman"/>
                <a:cs typeface="Times New Roman"/>
              </a:rPr>
              <a:t>Equivalent</a:t>
            </a:r>
            <a:r>
              <a:rPr b="1" spc="-17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C0504D"/>
                </a:solidFill>
                <a:latin typeface="Times New Roman"/>
                <a:cs typeface="Times New Roman"/>
              </a:rPr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640" y="2145614"/>
            <a:ext cx="6169025" cy="26824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89501" y="3350231"/>
            <a:ext cx="1170305" cy="914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9870" marR="5080" indent="-217804">
              <a:lnSpc>
                <a:spcPct val="126800"/>
              </a:lnSpc>
              <a:spcBef>
                <a:spcPts val="95"/>
              </a:spcBef>
            </a:pPr>
            <a:r>
              <a:rPr sz="2300" i="1" spc="-10" dirty="0">
                <a:latin typeface="Times New Roman"/>
                <a:cs typeface="Times New Roman"/>
              </a:rPr>
              <a:t>Current Current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71865" y="3613530"/>
            <a:ext cx="1405255" cy="65151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295"/>
              </a:spcBef>
            </a:pPr>
            <a:r>
              <a:rPr sz="1350" spc="-50" dirty="0">
                <a:latin typeface="Times New Roman"/>
                <a:cs typeface="Times New Roman"/>
              </a:rPr>
              <a:t>i</a:t>
            </a:r>
            <a:endParaRPr sz="13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50"/>
              </a:spcBef>
            </a:pPr>
            <a:r>
              <a:rPr sz="2300" dirty="0">
                <a:latin typeface="Times New Roman"/>
                <a:cs typeface="Times New Roman"/>
              </a:rPr>
              <a:t>I</a:t>
            </a:r>
            <a:r>
              <a:rPr sz="2025" baseline="-24691" dirty="0">
                <a:latin typeface="Times New Roman"/>
                <a:cs typeface="Times New Roman"/>
              </a:rPr>
              <a:t>o</a:t>
            </a:r>
            <a:r>
              <a:rPr sz="2025" spc="742" baseline="-24691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</a:t>
            </a:r>
            <a:r>
              <a:rPr sz="2300" spc="-85" dirty="0">
                <a:latin typeface="Times New Roman"/>
                <a:cs typeface="Times New Roman"/>
              </a:rPr>
              <a:t> </a:t>
            </a:r>
            <a:r>
              <a:rPr sz="2300" i="1" spc="-10" dirty="0">
                <a:latin typeface="Times New Roman"/>
                <a:cs typeface="Times New Roman"/>
              </a:rPr>
              <a:t>Output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97265" y="3442366"/>
            <a:ext cx="113157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66700" algn="l"/>
              </a:tabLst>
            </a:pPr>
            <a:r>
              <a:rPr sz="2300" spc="-50" dirty="0">
                <a:latin typeface="Times New Roman"/>
                <a:cs typeface="Times New Roman"/>
              </a:rPr>
              <a:t>I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dirty="0">
                <a:latin typeface="Symbol"/>
                <a:cs typeface="Symbol"/>
              </a:rPr>
              <a:t>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i="1" spc="-10" dirty="0">
                <a:latin typeface="Times New Roman"/>
                <a:cs typeface="Times New Roman"/>
              </a:rPr>
              <a:t>Input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53213" y="2460673"/>
            <a:ext cx="1163320" cy="913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9870" marR="5080" indent="-217804">
              <a:lnSpc>
                <a:spcPct val="126600"/>
              </a:lnSpc>
              <a:spcBef>
                <a:spcPts val="95"/>
              </a:spcBef>
            </a:pPr>
            <a:r>
              <a:rPr sz="2300" i="1" spc="-10" dirty="0">
                <a:latin typeface="Times New Roman"/>
                <a:cs typeface="Times New Roman"/>
              </a:rPr>
              <a:t>Voltage Voltage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71865" y="2460673"/>
            <a:ext cx="1487170" cy="91376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30"/>
              </a:spcBef>
            </a:pPr>
            <a:r>
              <a:rPr sz="2300" dirty="0">
                <a:latin typeface="Times New Roman"/>
                <a:cs typeface="Times New Roman"/>
              </a:rPr>
              <a:t>V</a:t>
            </a:r>
            <a:r>
              <a:rPr sz="2025" baseline="-24691" dirty="0">
                <a:latin typeface="Times New Roman"/>
                <a:cs typeface="Times New Roman"/>
              </a:rPr>
              <a:t>i</a:t>
            </a:r>
            <a:r>
              <a:rPr sz="2025" spc="517" baseline="-24691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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i="1" spc="-20" dirty="0">
                <a:latin typeface="Times New Roman"/>
                <a:cs typeface="Times New Roman"/>
              </a:rPr>
              <a:t>Input</a:t>
            </a:r>
            <a:endParaRPr sz="23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2300" dirty="0">
                <a:latin typeface="Times New Roman"/>
                <a:cs typeface="Times New Roman"/>
              </a:rPr>
              <a:t>V</a:t>
            </a:r>
            <a:r>
              <a:rPr sz="2025" baseline="-24691" dirty="0">
                <a:latin typeface="Times New Roman"/>
                <a:cs typeface="Times New Roman"/>
              </a:rPr>
              <a:t>o</a:t>
            </a:r>
            <a:r>
              <a:rPr sz="2025" spc="450" baseline="-24691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</a:t>
            </a:r>
            <a:r>
              <a:rPr sz="2300" spc="-145" dirty="0">
                <a:latin typeface="Times New Roman"/>
                <a:cs typeface="Times New Roman"/>
              </a:rPr>
              <a:t> </a:t>
            </a:r>
            <a:r>
              <a:rPr sz="2300" i="1" spc="-10" dirty="0">
                <a:latin typeface="Times New Roman"/>
                <a:cs typeface="Times New Roman"/>
              </a:rPr>
              <a:t>Output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74238" y="4868367"/>
            <a:ext cx="282829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Calibri"/>
                <a:cs typeface="Calibri"/>
              </a:rPr>
              <a:t>Two</a:t>
            </a:r>
            <a:r>
              <a:rPr sz="2800" b="1" spc="-1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-</a:t>
            </a:r>
            <a:r>
              <a:rPr sz="2800" b="1" dirty="0">
                <a:latin typeface="Calibri"/>
                <a:cs typeface="Calibri"/>
              </a:rPr>
              <a:t>Port</a:t>
            </a:r>
            <a:r>
              <a:rPr sz="2800" b="1" spc="-9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Network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62657" y="3019806"/>
            <a:ext cx="1093470" cy="939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1285" algn="ctr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Calibri"/>
                <a:cs typeface="Calibri"/>
              </a:rPr>
              <a:t>Port</a:t>
            </a:r>
            <a:r>
              <a:rPr sz="2000" b="1" spc="-9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  <a:p>
            <a:pPr marL="178435" algn="ctr">
              <a:lnSpc>
                <a:spcPct val="100000"/>
              </a:lnSpc>
            </a:pPr>
            <a:r>
              <a:rPr sz="2000" b="1" spc="-20" dirty="0">
                <a:latin typeface="Calibri"/>
                <a:cs typeface="Calibri"/>
              </a:rPr>
              <a:t>(or)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Input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Port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64302" y="3019806"/>
            <a:ext cx="1285875" cy="939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8110" algn="ctr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Calibri"/>
                <a:cs typeface="Calibri"/>
              </a:rPr>
              <a:t>Port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  <a:p>
            <a:pPr marL="174625" algn="ctr">
              <a:lnSpc>
                <a:spcPct val="100000"/>
              </a:lnSpc>
            </a:pPr>
            <a:r>
              <a:rPr sz="2000" b="1" spc="-20" dirty="0">
                <a:latin typeface="Calibri"/>
                <a:cs typeface="Calibri"/>
              </a:rPr>
              <a:t>(or)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Output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Port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39165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Determination</a:t>
            </a:r>
            <a:r>
              <a:rPr spc="-80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dirty="0"/>
              <a:t>Hybrid</a:t>
            </a:r>
            <a:r>
              <a:rPr spc="-145" dirty="0"/>
              <a:t> </a:t>
            </a:r>
            <a:r>
              <a:rPr spc="-10" dirty="0"/>
              <a:t>Parameters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752" y="1394138"/>
            <a:ext cx="4366597" cy="30871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66232" y="1143000"/>
            <a:ext cx="5248656" cy="34899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92172" y="4701441"/>
            <a:ext cx="3586479" cy="655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641985" algn="l"/>
                <a:tab pos="2056764" algn="l"/>
              </a:tabLst>
            </a:pPr>
            <a:r>
              <a:rPr sz="4100" spc="-25" dirty="0">
                <a:latin typeface="Times New Roman"/>
                <a:cs typeface="Times New Roman"/>
              </a:rPr>
              <a:t>V</a:t>
            </a:r>
            <a:r>
              <a:rPr sz="3600" spc="-37" baseline="-24305" dirty="0">
                <a:latin typeface="Times New Roman"/>
                <a:cs typeface="Times New Roman"/>
              </a:rPr>
              <a:t>i</a:t>
            </a:r>
            <a:r>
              <a:rPr sz="3600" baseline="-24305" dirty="0">
                <a:latin typeface="Times New Roman"/>
                <a:cs typeface="Times New Roman"/>
              </a:rPr>
              <a:t>	</a:t>
            </a:r>
            <a:r>
              <a:rPr sz="4100" spc="65" dirty="0">
                <a:latin typeface="Symbol"/>
                <a:cs typeface="Symbol"/>
              </a:rPr>
              <a:t></a:t>
            </a:r>
            <a:r>
              <a:rPr sz="4100" spc="-140" dirty="0">
                <a:latin typeface="Times New Roman"/>
                <a:cs typeface="Times New Roman"/>
              </a:rPr>
              <a:t> </a:t>
            </a:r>
            <a:r>
              <a:rPr sz="4100" spc="30" dirty="0">
                <a:latin typeface="Times New Roman"/>
                <a:cs typeface="Times New Roman"/>
              </a:rPr>
              <a:t>h</a:t>
            </a:r>
            <a:r>
              <a:rPr sz="3600" spc="44" baseline="-24305" dirty="0">
                <a:latin typeface="Times New Roman"/>
                <a:cs typeface="Times New Roman"/>
              </a:rPr>
              <a:t>11</a:t>
            </a:r>
            <a:r>
              <a:rPr sz="4100" spc="30" dirty="0">
                <a:latin typeface="Times New Roman"/>
                <a:cs typeface="Times New Roman"/>
              </a:rPr>
              <a:t>I</a:t>
            </a:r>
            <a:r>
              <a:rPr sz="3600" spc="44" baseline="-24305" dirty="0">
                <a:latin typeface="Times New Roman"/>
                <a:cs typeface="Times New Roman"/>
              </a:rPr>
              <a:t>i</a:t>
            </a:r>
            <a:r>
              <a:rPr sz="3600" baseline="-24305" dirty="0">
                <a:latin typeface="Times New Roman"/>
                <a:cs typeface="Times New Roman"/>
              </a:rPr>
              <a:t>	</a:t>
            </a:r>
            <a:r>
              <a:rPr sz="4100" spc="65" dirty="0">
                <a:latin typeface="Symbol"/>
                <a:cs typeface="Symbol"/>
              </a:rPr>
              <a:t></a:t>
            </a:r>
            <a:r>
              <a:rPr sz="4100" spc="-330" dirty="0">
                <a:latin typeface="Times New Roman"/>
                <a:cs typeface="Times New Roman"/>
              </a:rPr>
              <a:t> </a:t>
            </a:r>
            <a:r>
              <a:rPr sz="4100" spc="-10" dirty="0">
                <a:latin typeface="Times New Roman"/>
                <a:cs typeface="Times New Roman"/>
              </a:rPr>
              <a:t>h</a:t>
            </a:r>
            <a:r>
              <a:rPr sz="3600" spc="-15" baseline="-24305" dirty="0">
                <a:latin typeface="Times New Roman"/>
                <a:cs typeface="Times New Roman"/>
              </a:rPr>
              <a:t>12</a:t>
            </a:r>
            <a:r>
              <a:rPr sz="4100" spc="-10" dirty="0">
                <a:latin typeface="Times New Roman"/>
                <a:cs typeface="Times New Roman"/>
              </a:rPr>
              <a:t>V</a:t>
            </a:r>
            <a:r>
              <a:rPr sz="3600" spc="-15" baseline="-24305" dirty="0">
                <a:latin typeface="Times New Roman"/>
                <a:cs typeface="Times New Roman"/>
              </a:rPr>
              <a:t>o</a:t>
            </a:r>
            <a:endParaRPr sz="3600" baseline="-24305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05122" y="4658617"/>
            <a:ext cx="4146550" cy="746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714375" algn="l"/>
                <a:tab pos="2367280" algn="l"/>
              </a:tabLst>
            </a:pPr>
            <a:r>
              <a:rPr sz="4700" spc="100" dirty="0">
                <a:latin typeface="Times New Roman"/>
                <a:cs typeface="Times New Roman"/>
              </a:rPr>
              <a:t>I</a:t>
            </a:r>
            <a:r>
              <a:rPr sz="4125" spc="150" baseline="-24242" dirty="0">
                <a:latin typeface="Times New Roman"/>
                <a:cs typeface="Times New Roman"/>
              </a:rPr>
              <a:t>O</a:t>
            </a:r>
            <a:r>
              <a:rPr sz="4125" baseline="-24242" dirty="0">
                <a:latin typeface="Times New Roman"/>
                <a:cs typeface="Times New Roman"/>
              </a:rPr>
              <a:t>	</a:t>
            </a:r>
            <a:r>
              <a:rPr sz="4700" spc="100" dirty="0">
                <a:latin typeface="Symbol"/>
                <a:cs typeface="Symbol"/>
              </a:rPr>
              <a:t></a:t>
            </a:r>
            <a:r>
              <a:rPr sz="4700" spc="-185" dirty="0">
                <a:latin typeface="Times New Roman"/>
                <a:cs typeface="Times New Roman"/>
              </a:rPr>
              <a:t> </a:t>
            </a:r>
            <a:r>
              <a:rPr sz="4700" spc="100" dirty="0">
                <a:latin typeface="Times New Roman"/>
                <a:cs typeface="Times New Roman"/>
              </a:rPr>
              <a:t>h</a:t>
            </a:r>
            <a:r>
              <a:rPr sz="4125" spc="150" baseline="-24242" dirty="0">
                <a:latin typeface="Times New Roman"/>
                <a:cs typeface="Times New Roman"/>
              </a:rPr>
              <a:t>21</a:t>
            </a:r>
            <a:r>
              <a:rPr sz="4700" spc="100" dirty="0">
                <a:latin typeface="Times New Roman"/>
                <a:cs typeface="Times New Roman"/>
              </a:rPr>
              <a:t>I</a:t>
            </a:r>
            <a:r>
              <a:rPr sz="4125" spc="150" baseline="-24242" dirty="0">
                <a:latin typeface="Times New Roman"/>
                <a:cs typeface="Times New Roman"/>
              </a:rPr>
              <a:t>i</a:t>
            </a:r>
            <a:r>
              <a:rPr sz="4125" baseline="-24242" dirty="0">
                <a:latin typeface="Times New Roman"/>
                <a:cs typeface="Times New Roman"/>
              </a:rPr>
              <a:t>	</a:t>
            </a:r>
            <a:r>
              <a:rPr sz="4700" spc="100" dirty="0">
                <a:latin typeface="Symbol"/>
                <a:cs typeface="Symbol"/>
              </a:rPr>
              <a:t></a:t>
            </a:r>
            <a:r>
              <a:rPr sz="4700" spc="-415" dirty="0">
                <a:latin typeface="Times New Roman"/>
                <a:cs typeface="Times New Roman"/>
              </a:rPr>
              <a:t> </a:t>
            </a:r>
            <a:r>
              <a:rPr sz="4700" spc="360" dirty="0">
                <a:latin typeface="Times New Roman"/>
                <a:cs typeface="Times New Roman"/>
              </a:rPr>
              <a:t>h</a:t>
            </a:r>
            <a:r>
              <a:rPr sz="4125" spc="165" baseline="-24242" dirty="0">
                <a:latin typeface="Times New Roman"/>
                <a:cs typeface="Times New Roman"/>
              </a:rPr>
              <a:t>2</a:t>
            </a:r>
            <a:r>
              <a:rPr sz="4125" spc="195" baseline="-24242" dirty="0">
                <a:latin typeface="Times New Roman"/>
                <a:cs typeface="Times New Roman"/>
              </a:rPr>
              <a:t>2</a:t>
            </a:r>
            <a:r>
              <a:rPr sz="4700" spc="-390" dirty="0">
                <a:latin typeface="Times New Roman"/>
                <a:cs typeface="Times New Roman"/>
              </a:rPr>
              <a:t>V</a:t>
            </a:r>
            <a:r>
              <a:rPr sz="4125" spc="97" baseline="-24242" dirty="0">
                <a:latin typeface="Times New Roman"/>
                <a:cs typeface="Times New Roman"/>
              </a:rPr>
              <a:t>o</a:t>
            </a:r>
            <a:endParaRPr sz="4125" baseline="-24242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0626" y="118999"/>
            <a:ext cx="826579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Determination</a:t>
            </a:r>
            <a:r>
              <a:rPr spc="-80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dirty="0"/>
              <a:t>Hybrid</a:t>
            </a:r>
            <a:r>
              <a:rPr spc="-145" dirty="0"/>
              <a:t> </a:t>
            </a:r>
            <a:r>
              <a:rPr spc="-10" dirty="0"/>
              <a:t>Parameters</a:t>
            </a:r>
          </a:p>
        </p:txBody>
      </p:sp>
      <p:sp>
        <p:nvSpPr>
          <p:cNvPr id="3" name="object 3"/>
          <p:cNvSpPr/>
          <p:nvPr/>
        </p:nvSpPr>
        <p:spPr>
          <a:xfrm>
            <a:off x="2245050" y="4044637"/>
            <a:ext cx="360045" cy="866140"/>
          </a:xfrm>
          <a:custGeom>
            <a:avLst/>
            <a:gdLst/>
            <a:ahLst/>
            <a:cxnLst/>
            <a:rect l="l" t="t" r="r" b="b"/>
            <a:pathLst>
              <a:path w="360044" h="866139">
                <a:moveTo>
                  <a:pt x="0" y="432444"/>
                </a:moveTo>
                <a:lnTo>
                  <a:pt x="328767" y="432444"/>
                </a:lnTo>
              </a:path>
              <a:path w="360044" h="866139">
                <a:moveTo>
                  <a:pt x="360037" y="0"/>
                </a:moveTo>
                <a:lnTo>
                  <a:pt x="360037" y="865519"/>
                </a:lnTo>
              </a:path>
            </a:pathLst>
          </a:custGeom>
          <a:ln w="13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59118" y="5131776"/>
            <a:ext cx="403225" cy="871219"/>
          </a:xfrm>
          <a:custGeom>
            <a:avLst/>
            <a:gdLst/>
            <a:ahLst/>
            <a:cxnLst/>
            <a:rect l="l" t="t" r="r" b="b"/>
            <a:pathLst>
              <a:path w="403225" h="871220">
                <a:moveTo>
                  <a:pt x="0" y="434991"/>
                </a:moveTo>
                <a:lnTo>
                  <a:pt x="371496" y="434991"/>
                </a:lnTo>
              </a:path>
              <a:path w="403225" h="871220">
                <a:moveTo>
                  <a:pt x="402792" y="0"/>
                </a:moveTo>
                <a:lnTo>
                  <a:pt x="402792" y="870622"/>
                </a:lnTo>
              </a:path>
            </a:pathLst>
          </a:custGeom>
          <a:ln w="13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74132" y="5315274"/>
            <a:ext cx="819975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27090" algn="l"/>
              </a:tabLst>
            </a:pPr>
            <a:r>
              <a:rPr sz="2500" dirty="0">
                <a:latin typeface="Symbol"/>
                <a:cs typeface="Symbol"/>
              </a:rPr>
              <a:t></a:t>
            </a:r>
            <a:r>
              <a:rPr sz="2500" spc="-1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ReverseVoltage</a:t>
            </a:r>
            <a:r>
              <a:rPr sz="2500" b="1" spc="-9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Transfer</a:t>
            </a:r>
            <a:r>
              <a:rPr sz="2500" b="1" spc="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Ratio</a:t>
            </a:r>
            <a:r>
              <a:rPr sz="2500" b="1" spc="-130" dirty="0">
                <a:latin typeface="Times New Roman"/>
                <a:cs typeface="Times New Roman"/>
              </a:rPr>
              <a:t> </a:t>
            </a:r>
            <a:r>
              <a:rPr sz="2500" spc="-40" dirty="0">
                <a:latin typeface="Times New Roman"/>
                <a:cs typeface="Times New Roman"/>
              </a:rPr>
              <a:t>with</a:t>
            </a:r>
            <a:r>
              <a:rPr sz="2500" spc="1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input</a:t>
            </a:r>
            <a:r>
              <a:rPr sz="2500" dirty="0">
                <a:latin typeface="Times New Roman"/>
                <a:cs typeface="Times New Roman"/>
              </a:rPr>
              <a:t>	part</a:t>
            </a:r>
            <a:r>
              <a:rPr sz="2500" spc="-1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open</a:t>
            </a:r>
            <a:r>
              <a:rPr sz="2500" spc="-160" dirty="0">
                <a:latin typeface="Times New Roman"/>
                <a:cs typeface="Times New Roman"/>
              </a:rPr>
              <a:t> </a:t>
            </a:r>
            <a:r>
              <a:rPr sz="2500" spc="-80" dirty="0">
                <a:latin typeface="Times New Roman"/>
                <a:cs typeface="Times New Roman"/>
              </a:rPr>
              <a:t>circuited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7467" y="5563561"/>
            <a:ext cx="255904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50" dirty="0">
                <a:latin typeface="Times New Roman"/>
                <a:cs typeface="Times New Roman"/>
              </a:rPr>
              <a:t>V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7840" y="5315274"/>
            <a:ext cx="18542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50" dirty="0">
                <a:latin typeface="Times New Roman"/>
                <a:cs typeface="Times New Roman"/>
              </a:rPr>
              <a:t>h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99685" y="4225561"/>
            <a:ext cx="702437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88390" algn="l"/>
                <a:tab pos="2660650" algn="l"/>
              </a:tabLst>
            </a:pPr>
            <a:r>
              <a:rPr sz="2500" dirty="0">
                <a:latin typeface="Symbol"/>
                <a:cs typeface="Symbol"/>
              </a:rPr>
              <a:t></a:t>
            </a:r>
            <a:r>
              <a:rPr sz="2500" spc="-9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Input</a:t>
            </a:r>
            <a:r>
              <a:rPr sz="2500" b="1" dirty="0">
                <a:latin typeface="Times New Roman"/>
                <a:cs typeface="Times New Roman"/>
              </a:rPr>
              <a:t>	</a:t>
            </a:r>
            <a:r>
              <a:rPr sz="2500" b="1" spc="-10" dirty="0">
                <a:latin typeface="Times New Roman"/>
                <a:cs typeface="Times New Roman"/>
              </a:rPr>
              <a:t>Impedance</a:t>
            </a:r>
            <a:r>
              <a:rPr sz="2500" b="1" dirty="0">
                <a:latin typeface="Times New Roman"/>
                <a:cs typeface="Times New Roman"/>
              </a:rPr>
              <a:t>	</a:t>
            </a:r>
            <a:r>
              <a:rPr sz="2500" spc="-35" dirty="0">
                <a:latin typeface="Times New Roman"/>
                <a:cs typeface="Times New Roman"/>
              </a:rPr>
              <a:t>with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output</a:t>
            </a:r>
            <a:r>
              <a:rPr sz="2500" spc="8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part</a:t>
            </a:r>
            <a:r>
              <a:rPr sz="2500" spc="-1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short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70" dirty="0">
                <a:latin typeface="Times New Roman"/>
                <a:cs typeface="Times New Roman"/>
              </a:rPr>
              <a:t>circuited(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Symbol"/>
                <a:cs typeface="Symbol"/>
              </a:rPr>
              <a:t></a:t>
            </a:r>
            <a:r>
              <a:rPr sz="2500" spc="-25" dirty="0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8104" y="4473862"/>
            <a:ext cx="13208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50" dirty="0">
                <a:latin typeface="Times New Roman"/>
                <a:cs typeface="Times New Roman"/>
              </a:rPr>
              <a:t>I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37840" y="4225561"/>
            <a:ext cx="18542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50" dirty="0">
                <a:latin typeface="Times New Roman"/>
                <a:cs typeface="Times New Roman"/>
              </a:rPr>
              <a:t>h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2440" y="3473070"/>
            <a:ext cx="219710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175" baseline="-24904" dirty="0">
                <a:latin typeface="Times New Roman"/>
                <a:cs typeface="Times New Roman"/>
              </a:rPr>
              <a:t>i</a:t>
            </a:r>
            <a:r>
              <a:rPr sz="2175" spc="660" baseline="-2490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h</a:t>
            </a:r>
            <a:r>
              <a:rPr sz="2175" baseline="-24904" dirty="0">
                <a:latin typeface="Times New Roman"/>
                <a:cs typeface="Times New Roman"/>
              </a:rPr>
              <a:t>11</a:t>
            </a:r>
            <a:r>
              <a:rPr sz="2500" dirty="0">
                <a:latin typeface="Times New Roman"/>
                <a:cs typeface="Times New Roman"/>
              </a:rPr>
              <a:t>I</a:t>
            </a:r>
            <a:r>
              <a:rPr sz="2175" baseline="-24904" dirty="0">
                <a:latin typeface="Times New Roman"/>
                <a:cs typeface="Times New Roman"/>
              </a:rPr>
              <a:t>i</a:t>
            </a:r>
            <a:r>
              <a:rPr sz="2175" spc="457" baseline="-2490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spc="-16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h</a:t>
            </a:r>
            <a:r>
              <a:rPr sz="2175" spc="-15" baseline="-24904" dirty="0">
                <a:latin typeface="Times New Roman"/>
                <a:cs typeface="Times New Roman"/>
              </a:rPr>
              <a:t>12</a:t>
            </a:r>
            <a:r>
              <a:rPr sz="2500" spc="-10" dirty="0">
                <a:latin typeface="Times New Roman"/>
                <a:cs typeface="Times New Roman"/>
              </a:rPr>
              <a:t>V</a:t>
            </a:r>
            <a:r>
              <a:rPr sz="2175" spc="-15" baseline="-24904" dirty="0">
                <a:latin typeface="Times New Roman"/>
                <a:cs typeface="Times New Roman"/>
              </a:rPr>
              <a:t>o</a:t>
            </a:r>
            <a:endParaRPr sz="2175" baseline="-24904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74922" y="5775306"/>
            <a:ext cx="11874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50" dirty="0">
                <a:latin typeface="Times New Roman"/>
                <a:cs typeface="Times New Roman"/>
              </a:rPr>
              <a:t>o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67593" y="5115242"/>
            <a:ext cx="62928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750" baseline="-35555" dirty="0">
                <a:latin typeface="Symbol"/>
                <a:cs typeface="Symbol"/>
              </a:rPr>
              <a:t></a:t>
            </a:r>
            <a:r>
              <a:rPr sz="3750" spc="487" baseline="-3555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V</a:t>
            </a:r>
            <a:r>
              <a:rPr sz="2175" spc="-37" baseline="-22988" dirty="0">
                <a:latin typeface="Times New Roman"/>
                <a:cs typeface="Times New Roman"/>
              </a:rPr>
              <a:t>i</a:t>
            </a:r>
            <a:endParaRPr sz="2175" baseline="-2298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64643" y="5819123"/>
            <a:ext cx="56324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50" dirty="0">
                <a:latin typeface="Times New Roman"/>
                <a:cs typeface="Times New Roman"/>
              </a:rPr>
              <a:t>I</a:t>
            </a:r>
            <a:r>
              <a:rPr sz="1575" baseline="-18518" dirty="0">
                <a:latin typeface="Times New Roman"/>
                <a:cs typeface="Times New Roman"/>
              </a:rPr>
              <a:t>i</a:t>
            </a:r>
            <a:r>
              <a:rPr sz="1575" spc="67" baseline="-18518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Symbol"/>
                <a:cs typeface="Symbol"/>
              </a:rPr>
              <a:t></a:t>
            </a:r>
            <a:r>
              <a:rPr sz="1450" spc="20" dirty="0">
                <a:latin typeface="Times New Roman"/>
                <a:cs typeface="Times New Roman"/>
              </a:rPr>
              <a:t>0V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3172" y="5527638"/>
            <a:ext cx="22352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25" dirty="0">
                <a:latin typeface="Times New Roman"/>
                <a:cs typeface="Times New Roman"/>
              </a:rPr>
              <a:t>12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13647" y="4685622"/>
            <a:ext cx="7747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50" dirty="0"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53526" y="4025529"/>
            <a:ext cx="607695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750" baseline="-35555" dirty="0">
                <a:latin typeface="Symbol"/>
                <a:cs typeface="Symbol"/>
              </a:rPr>
              <a:t></a:t>
            </a:r>
            <a:r>
              <a:rPr sz="3750" spc="232" baseline="-3555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V</a:t>
            </a:r>
            <a:r>
              <a:rPr sz="2175" spc="-37" baseline="-24904" dirty="0">
                <a:latin typeface="Times New Roman"/>
                <a:cs typeface="Times New Roman"/>
              </a:rPr>
              <a:t>i</a:t>
            </a:r>
            <a:endParaRPr sz="2175" baseline="-24904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07214" y="4726879"/>
            <a:ext cx="64643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50" spc="-50" dirty="0">
                <a:latin typeface="Times New Roman"/>
                <a:cs typeface="Times New Roman"/>
              </a:rPr>
              <a:t>V</a:t>
            </a:r>
            <a:r>
              <a:rPr sz="1575" spc="-75" baseline="-18518" dirty="0">
                <a:latin typeface="Times New Roman"/>
                <a:cs typeface="Times New Roman"/>
              </a:rPr>
              <a:t>o</a:t>
            </a:r>
            <a:r>
              <a:rPr sz="1575" spc="-22" baseline="-18518" dirty="0">
                <a:latin typeface="Times New Roman"/>
                <a:cs typeface="Times New Roman"/>
              </a:rPr>
              <a:t> </a:t>
            </a:r>
            <a:r>
              <a:rPr sz="1450" spc="20" dirty="0">
                <a:latin typeface="Symbol"/>
                <a:cs typeface="Symbol"/>
              </a:rPr>
              <a:t></a:t>
            </a:r>
            <a:r>
              <a:rPr sz="1450" spc="20" dirty="0">
                <a:latin typeface="Times New Roman"/>
                <a:cs typeface="Times New Roman"/>
              </a:rPr>
              <a:t>0V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03172" y="4437952"/>
            <a:ext cx="22352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25" dirty="0">
                <a:latin typeface="Times New Roman"/>
                <a:cs typeface="Times New Roman"/>
              </a:rPr>
              <a:t>11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499872"/>
            <a:ext cx="5215128" cy="3477767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453883" y="3000755"/>
            <a:ext cx="3858895" cy="832485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 marR="344805">
              <a:lnSpc>
                <a:spcPct val="100000"/>
              </a:lnSpc>
              <a:spcBef>
                <a:spcPts val="295"/>
              </a:spcBef>
              <a:tabLst>
                <a:tab pos="1155700" algn="l"/>
                <a:tab pos="1823085" algn="l"/>
              </a:tabLst>
            </a:pP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baseline="-20833" dirty="0">
                <a:latin typeface="Times New Roman"/>
                <a:cs typeface="Times New Roman"/>
              </a:rPr>
              <a:t>11</a:t>
            </a:r>
            <a:r>
              <a:rPr sz="2400" spc="202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Ω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h</a:t>
            </a:r>
            <a:r>
              <a:rPr sz="2400" baseline="-20833" dirty="0">
                <a:latin typeface="Times New Roman"/>
                <a:cs typeface="Times New Roman"/>
              </a:rPr>
              <a:t>22</a:t>
            </a:r>
            <a:r>
              <a:rPr sz="2400" spc="262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mhos </a:t>
            </a:r>
            <a:r>
              <a:rPr sz="2400" dirty="0">
                <a:latin typeface="Times New Roman"/>
                <a:cs typeface="Times New Roman"/>
              </a:rPr>
              <a:t>h12,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h21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Dimension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Less.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0626" y="189941"/>
            <a:ext cx="826452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Determination</a:t>
            </a:r>
            <a:r>
              <a:rPr spc="-100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dirty="0"/>
              <a:t>Hybrid</a:t>
            </a:r>
            <a:r>
              <a:rPr spc="-170" dirty="0"/>
              <a:t> </a:t>
            </a:r>
            <a:r>
              <a:rPr spc="-10" dirty="0"/>
              <a:t>Parameters</a:t>
            </a:r>
          </a:p>
        </p:txBody>
      </p:sp>
      <p:sp>
        <p:nvSpPr>
          <p:cNvPr id="3" name="object 3"/>
          <p:cNvSpPr/>
          <p:nvPr/>
        </p:nvSpPr>
        <p:spPr>
          <a:xfrm>
            <a:off x="2222025" y="4530133"/>
            <a:ext cx="321945" cy="852805"/>
          </a:xfrm>
          <a:custGeom>
            <a:avLst/>
            <a:gdLst/>
            <a:ahLst/>
            <a:cxnLst/>
            <a:rect l="l" t="t" r="r" b="b"/>
            <a:pathLst>
              <a:path w="321944" h="852804">
                <a:moveTo>
                  <a:pt x="0" y="425905"/>
                </a:moveTo>
                <a:lnTo>
                  <a:pt x="289772" y="425905"/>
                </a:lnTo>
              </a:path>
              <a:path w="321944" h="852804">
                <a:moveTo>
                  <a:pt x="321813" y="0"/>
                </a:moveTo>
                <a:lnTo>
                  <a:pt x="321813" y="852430"/>
                </a:lnTo>
              </a:path>
            </a:pathLst>
          </a:custGeom>
          <a:ln w="134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36412" y="5600832"/>
            <a:ext cx="412750" cy="857885"/>
          </a:xfrm>
          <a:custGeom>
            <a:avLst/>
            <a:gdLst/>
            <a:ahLst/>
            <a:cxnLst/>
            <a:rect l="l" t="t" r="r" b="b"/>
            <a:pathLst>
              <a:path w="412750" h="857885">
                <a:moveTo>
                  <a:pt x="0" y="428413"/>
                </a:moveTo>
                <a:lnTo>
                  <a:pt x="380686" y="428413"/>
                </a:lnTo>
              </a:path>
              <a:path w="412750" h="857885">
                <a:moveTo>
                  <a:pt x="412754" y="0"/>
                </a:moveTo>
                <a:lnTo>
                  <a:pt x="412754" y="857456"/>
                </a:lnTo>
              </a:path>
            </a:pathLst>
          </a:custGeom>
          <a:ln w="134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76153" y="5781363"/>
            <a:ext cx="772096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436745" algn="l"/>
              </a:tabLst>
            </a:pPr>
            <a:r>
              <a:rPr sz="2450" spc="50" dirty="0">
                <a:latin typeface="Symbol"/>
                <a:cs typeface="Symbol"/>
              </a:rPr>
              <a:t></a:t>
            </a:r>
            <a:r>
              <a:rPr sz="2450" spc="-165" dirty="0">
                <a:latin typeface="Times New Roman"/>
                <a:cs typeface="Times New Roman"/>
              </a:rPr>
              <a:t> </a:t>
            </a:r>
            <a:r>
              <a:rPr sz="2450" b="1" spc="-25" dirty="0">
                <a:latin typeface="Times New Roman"/>
                <a:cs typeface="Times New Roman"/>
              </a:rPr>
              <a:t>Output</a:t>
            </a:r>
            <a:r>
              <a:rPr sz="2450" b="1" spc="-85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Adm</a:t>
            </a:r>
            <a:r>
              <a:rPr sz="2450" b="1" spc="19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ittance</a:t>
            </a:r>
            <a:r>
              <a:rPr sz="2450" b="1" spc="16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with</a:t>
            </a:r>
            <a:r>
              <a:rPr sz="2450" spc="204" dirty="0">
                <a:latin typeface="Times New Roman"/>
                <a:cs typeface="Times New Roman"/>
              </a:rPr>
              <a:t> </a:t>
            </a:r>
            <a:r>
              <a:rPr sz="2450" spc="-10" dirty="0">
                <a:latin typeface="Times New Roman"/>
                <a:cs typeface="Times New Roman"/>
              </a:rPr>
              <a:t>input</a:t>
            </a:r>
            <a:r>
              <a:rPr sz="2450" dirty="0">
                <a:latin typeface="Times New Roman"/>
                <a:cs typeface="Times New Roman"/>
              </a:rPr>
              <a:t>	part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open</a:t>
            </a:r>
            <a:r>
              <a:rPr sz="2450" spc="-40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circuited(</a:t>
            </a:r>
            <a:r>
              <a:rPr sz="2450" spc="175" dirty="0">
                <a:latin typeface="Times New Roman"/>
                <a:cs typeface="Times New Roman"/>
              </a:rPr>
              <a:t> </a:t>
            </a:r>
            <a:r>
              <a:rPr sz="2450" spc="-10" dirty="0">
                <a:latin typeface="Times New Roman"/>
                <a:cs typeface="Times New Roman"/>
              </a:rPr>
              <a:t>mhos)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5955" y="6025895"/>
            <a:ext cx="261620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spc="20" dirty="0">
                <a:latin typeface="Times New Roman"/>
                <a:cs typeface="Times New Roman"/>
              </a:rPr>
              <a:t>V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8061" y="5781363"/>
            <a:ext cx="189230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spc="10" dirty="0">
                <a:latin typeface="Times New Roman"/>
                <a:cs typeface="Times New Roman"/>
              </a:rPr>
              <a:t>h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4585" y="4708130"/>
            <a:ext cx="7409180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555115" algn="l"/>
                <a:tab pos="2752090" algn="l"/>
              </a:tabLst>
            </a:pPr>
            <a:r>
              <a:rPr sz="2450" spc="50" dirty="0">
                <a:latin typeface="Symbol"/>
                <a:cs typeface="Symbol"/>
              </a:rPr>
              <a:t></a:t>
            </a:r>
            <a:r>
              <a:rPr sz="2450" spc="-70" dirty="0">
                <a:latin typeface="Times New Roman"/>
                <a:cs typeface="Times New Roman"/>
              </a:rPr>
              <a:t> </a:t>
            </a:r>
            <a:r>
              <a:rPr sz="2450" b="1" spc="-10" dirty="0">
                <a:latin typeface="Times New Roman"/>
                <a:cs typeface="Times New Roman"/>
              </a:rPr>
              <a:t>Forward</a:t>
            </a:r>
            <a:r>
              <a:rPr sz="2450" b="1" dirty="0">
                <a:latin typeface="Times New Roman"/>
                <a:cs typeface="Times New Roman"/>
              </a:rPr>
              <a:t>	</a:t>
            </a:r>
            <a:r>
              <a:rPr sz="2450" b="1" spc="-10" dirty="0">
                <a:latin typeface="Times New Roman"/>
                <a:cs typeface="Times New Roman"/>
              </a:rPr>
              <a:t>Current</a:t>
            </a:r>
            <a:r>
              <a:rPr sz="2450" b="1" dirty="0">
                <a:latin typeface="Times New Roman"/>
                <a:cs typeface="Times New Roman"/>
              </a:rPr>
              <a:t>	Gain</a:t>
            </a:r>
            <a:r>
              <a:rPr sz="2450" b="1" spc="6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with</a:t>
            </a:r>
            <a:r>
              <a:rPr sz="2450" spc="28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output</a:t>
            </a:r>
            <a:r>
              <a:rPr sz="2450" spc="33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part</a:t>
            </a:r>
            <a:r>
              <a:rPr sz="2450" spc="-8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short</a:t>
            </a:r>
            <a:r>
              <a:rPr sz="2450" spc="150" dirty="0">
                <a:latin typeface="Times New Roman"/>
                <a:cs typeface="Times New Roman"/>
              </a:rPr>
              <a:t> </a:t>
            </a:r>
            <a:r>
              <a:rPr sz="2450" spc="-30" dirty="0">
                <a:latin typeface="Times New Roman"/>
                <a:cs typeface="Times New Roman"/>
              </a:rPr>
              <a:t>circuited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3810" y="4952675"/>
            <a:ext cx="134620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spc="-50" dirty="0">
                <a:latin typeface="Times New Roman"/>
                <a:cs typeface="Times New Roman"/>
              </a:rPr>
              <a:t>I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8061" y="4708130"/>
            <a:ext cx="189230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spc="10" dirty="0">
                <a:latin typeface="Times New Roman"/>
                <a:cs typeface="Times New Roman"/>
              </a:rPr>
              <a:t>h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57879" y="6234438"/>
            <a:ext cx="1206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latin typeface="Times New Roman"/>
                <a:cs typeface="Times New Roman"/>
              </a:rPr>
              <a:t>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39960" y="5583735"/>
            <a:ext cx="61912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363855" algn="l"/>
              </a:tabLst>
            </a:pPr>
            <a:r>
              <a:rPr sz="3675" baseline="-35147" dirty="0">
                <a:latin typeface="Symbol"/>
                <a:cs typeface="Symbol"/>
              </a:rPr>
              <a:t></a:t>
            </a:r>
            <a:r>
              <a:rPr sz="3675" baseline="-35147" dirty="0">
                <a:latin typeface="Times New Roman"/>
                <a:cs typeface="Times New Roman"/>
              </a:rPr>
              <a:t>	</a:t>
            </a:r>
            <a:r>
              <a:rPr sz="2450" spc="65" dirty="0">
                <a:latin typeface="Times New Roman"/>
                <a:cs typeface="Times New Roman"/>
              </a:rPr>
              <a:t>I</a:t>
            </a:r>
            <a:r>
              <a:rPr sz="2100" spc="97" baseline="-23809" dirty="0">
                <a:latin typeface="Times New Roman"/>
                <a:cs typeface="Times New Roman"/>
              </a:rPr>
              <a:t>o</a:t>
            </a:r>
            <a:endParaRPr sz="2100" baseline="-23809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52906" y="6277592"/>
            <a:ext cx="5746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latin typeface="Times New Roman"/>
                <a:cs typeface="Times New Roman"/>
              </a:rPr>
              <a:t>I</a:t>
            </a:r>
            <a:r>
              <a:rPr sz="1500" spc="75" baseline="-19444" dirty="0">
                <a:latin typeface="Times New Roman"/>
                <a:cs typeface="Times New Roman"/>
              </a:rPr>
              <a:t>i</a:t>
            </a:r>
            <a:r>
              <a:rPr sz="1500" spc="22" baseline="-19444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Symbol"/>
                <a:cs typeface="Symbol"/>
              </a:rPr>
              <a:t></a:t>
            </a:r>
            <a:r>
              <a:rPr sz="1400" spc="70" dirty="0">
                <a:latin typeface="Times New Roman"/>
                <a:cs typeface="Times New Roman"/>
              </a:rPr>
              <a:t>0A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68401" y="5990516"/>
            <a:ext cx="2286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65" dirty="0">
                <a:latin typeface="Times New Roman"/>
                <a:cs typeface="Times New Roman"/>
              </a:rPr>
              <a:t>22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72202" y="5161233"/>
            <a:ext cx="787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25572" y="4510502"/>
            <a:ext cx="57340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675" spc="75" baseline="-35147" dirty="0">
                <a:latin typeface="Symbol"/>
                <a:cs typeface="Symbol"/>
              </a:rPr>
              <a:t></a:t>
            </a:r>
            <a:r>
              <a:rPr sz="3675" spc="262" baseline="-35147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I</a:t>
            </a:r>
            <a:r>
              <a:rPr sz="2100" spc="97" baseline="-23809" dirty="0">
                <a:latin typeface="Times New Roman"/>
                <a:cs typeface="Times New Roman"/>
              </a:rPr>
              <a:t>o</a:t>
            </a:r>
            <a:endParaRPr sz="2100" baseline="-23809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46957" y="5201866"/>
            <a:ext cx="6597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Times New Roman"/>
                <a:cs typeface="Times New Roman"/>
              </a:rPr>
              <a:t>V</a:t>
            </a:r>
            <a:r>
              <a:rPr sz="1500" baseline="-19444" dirty="0">
                <a:latin typeface="Times New Roman"/>
                <a:cs typeface="Times New Roman"/>
              </a:rPr>
              <a:t>o</a:t>
            </a:r>
            <a:r>
              <a:rPr sz="1500" spc="15" baseline="-19444" dirty="0">
                <a:latin typeface="Times New Roman"/>
                <a:cs typeface="Times New Roman"/>
              </a:rPr>
              <a:t> </a:t>
            </a:r>
            <a:r>
              <a:rPr sz="1400" spc="70" dirty="0">
                <a:latin typeface="Symbol"/>
                <a:cs typeface="Symbol"/>
              </a:rPr>
              <a:t></a:t>
            </a:r>
            <a:r>
              <a:rPr sz="1400" spc="70" dirty="0">
                <a:latin typeface="Times New Roman"/>
                <a:cs typeface="Times New Roman"/>
              </a:rPr>
              <a:t>0V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68401" y="4917309"/>
            <a:ext cx="2286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65" dirty="0">
                <a:latin typeface="Times New Roman"/>
                <a:cs typeface="Times New Roman"/>
              </a:rPr>
              <a:t>21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72148" y="4176197"/>
            <a:ext cx="5384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9895" algn="l"/>
              </a:tabLst>
            </a:pPr>
            <a:r>
              <a:rPr sz="1400" spc="45" dirty="0">
                <a:latin typeface="Times New Roman"/>
                <a:cs typeface="Times New Roman"/>
              </a:rPr>
              <a:t>22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89792" y="4176197"/>
            <a:ext cx="3879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0" dirty="0">
                <a:latin typeface="Times New Roman"/>
                <a:cs typeface="Times New Roman"/>
              </a:rPr>
              <a:t>21</a:t>
            </a:r>
            <a:r>
              <a:rPr sz="1400" spc="90" dirty="0">
                <a:latin typeface="Times New Roman"/>
                <a:cs typeface="Times New Roman"/>
              </a:rPr>
              <a:t>  </a:t>
            </a:r>
            <a:r>
              <a:rPr sz="1400" spc="-50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80769" y="3967018"/>
            <a:ext cx="115887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4320" algn="l"/>
                <a:tab pos="909319" algn="l"/>
              </a:tabLst>
            </a:pPr>
            <a:r>
              <a:rPr sz="2450" spc="-50" dirty="0">
                <a:latin typeface="Times New Roman"/>
                <a:cs typeface="Times New Roman"/>
              </a:rPr>
              <a:t>I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50" dirty="0">
                <a:latin typeface="Symbol"/>
                <a:cs typeface="Symbol"/>
              </a:rPr>
              <a:t></a:t>
            </a:r>
            <a:r>
              <a:rPr sz="2450" spc="-150" dirty="0">
                <a:latin typeface="Times New Roman"/>
                <a:cs typeface="Times New Roman"/>
              </a:rPr>
              <a:t> </a:t>
            </a:r>
            <a:r>
              <a:rPr sz="2450" spc="10" dirty="0">
                <a:latin typeface="Times New Roman"/>
                <a:cs typeface="Times New Roman"/>
              </a:rPr>
              <a:t>h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10" dirty="0">
                <a:latin typeface="Times New Roman"/>
                <a:cs typeface="Times New Roman"/>
              </a:rPr>
              <a:t>V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99066" y="4176197"/>
            <a:ext cx="163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latin typeface="Times New Roman"/>
                <a:cs typeface="Times New Roman"/>
              </a:rPr>
              <a:t>O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78061" y="3967018"/>
            <a:ext cx="81089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79730" algn="l"/>
              </a:tabLst>
            </a:pPr>
            <a:r>
              <a:rPr sz="2450" spc="-50" dirty="0">
                <a:latin typeface="Times New Roman"/>
                <a:cs typeface="Times New Roman"/>
              </a:rPr>
              <a:t>I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50" dirty="0">
                <a:latin typeface="Symbol"/>
                <a:cs typeface="Symbol"/>
              </a:rPr>
              <a:t></a:t>
            </a:r>
            <a:r>
              <a:rPr sz="2450" spc="-3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h</a:t>
            </a:r>
            <a:endParaRPr sz="2450">
              <a:latin typeface="Times New Roman"/>
              <a:cs typeface="Times New Roman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63536" y="1060487"/>
            <a:ext cx="3856433" cy="274779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383780" y="3787140"/>
            <a:ext cx="3855720" cy="832485"/>
          </a:xfrm>
          <a:prstGeom prst="rect">
            <a:avLst/>
          </a:prstGeom>
          <a:ln w="9144">
            <a:solidFill>
              <a:srgbClr val="4F81BC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95"/>
              </a:spcBef>
              <a:tabLst>
                <a:tab pos="1154430" algn="l"/>
                <a:tab pos="1822450" algn="l"/>
              </a:tabLst>
            </a:pPr>
            <a:r>
              <a:rPr sz="2400" dirty="0">
                <a:latin typeface="Times New Roman"/>
                <a:cs typeface="Times New Roman"/>
              </a:rPr>
              <a:t>h</a:t>
            </a:r>
            <a:r>
              <a:rPr sz="2400" baseline="-20833" dirty="0">
                <a:latin typeface="Times New Roman"/>
                <a:cs typeface="Times New Roman"/>
              </a:rPr>
              <a:t>11</a:t>
            </a:r>
            <a:r>
              <a:rPr sz="2400" spc="187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Ω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h</a:t>
            </a:r>
            <a:r>
              <a:rPr sz="2400" baseline="-20833" dirty="0">
                <a:latin typeface="Times New Roman"/>
                <a:cs typeface="Times New Roman"/>
              </a:rPr>
              <a:t>22</a:t>
            </a:r>
            <a:r>
              <a:rPr sz="2400" spc="262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spc="-20" dirty="0">
                <a:latin typeface="Times New Roman"/>
                <a:cs typeface="Times New Roman"/>
              </a:rPr>
              <a:t>mhos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h12, h21 – Dimension </a:t>
            </a:r>
            <a:r>
              <a:rPr sz="2400" spc="-10" dirty="0">
                <a:latin typeface="Times New Roman"/>
                <a:cs typeface="Times New Roman"/>
              </a:rPr>
              <a:t>Less.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062" rIns="0" bIns="0" rtlCol="0">
            <a:spAutoFit/>
          </a:bodyPr>
          <a:lstStyle/>
          <a:p>
            <a:pPr marL="226060">
              <a:lnSpc>
                <a:spcPct val="100000"/>
              </a:lnSpc>
              <a:spcBef>
                <a:spcPts val="90"/>
              </a:spcBef>
            </a:pPr>
            <a:r>
              <a:rPr sz="3200" b="1" dirty="0">
                <a:solidFill>
                  <a:srgbClr val="C0504D"/>
                </a:solidFill>
                <a:latin typeface="Times New Roman"/>
                <a:cs typeface="Times New Roman"/>
              </a:rPr>
              <a:t>General</a:t>
            </a:r>
            <a:r>
              <a:rPr sz="3200" b="1" spc="-7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504D"/>
                </a:solidFill>
                <a:latin typeface="Times New Roman"/>
                <a:cs typeface="Times New Roman"/>
              </a:rPr>
              <a:t>h-Parameters</a:t>
            </a:r>
            <a:r>
              <a:rPr sz="3200" b="1" spc="-2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504D"/>
                </a:solidFill>
                <a:latin typeface="Times New Roman"/>
                <a:cs typeface="Times New Roman"/>
              </a:rPr>
              <a:t>for</a:t>
            </a:r>
            <a:r>
              <a:rPr sz="3200" b="1" spc="-14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504D"/>
                </a:solidFill>
                <a:latin typeface="Times New Roman"/>
                <a:cs typeface="Times New Roman"/>
              </a:rPr>
              <a:t>any</a:t>
            </a:r>
            <a:r>
              <a:rPr sz="3200" b="1" spc="-15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b="1" spc="-30" dirty="0">
                <a:solidFill>
                  <a:srgbClr val="C0504D"/>
                </a:solidFill>
                <a:latin typeface="Times New Roman"/>
                <a:cs typeface="Times New Roman"/>
              </a:rPr>
              <a:t>Transistor</a:t>
            </a:r>
            <a:r>
              <a:rPr sz="3200" b="1" spc="-13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C0504D"/>
                </a:solidFill>
                <a:latin typeface="Times New Roman"/>
                <a:cs typeface="Times New Roman"/>
              </a:rPr>
              <a:t>Configuration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839" y="1133855"/>
            <a:ext cx="7741919" cy="31165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95755" y="4287011"/>
            <a:ext cx="3502660" cy="1079500"/>
          </a:xfrm>
          <a:prstGeom prst="rect">
            <a:avLst/>
          </a:prstGeom>
          <a:ln w="27431">
            <a:solidFill>
              <a:srgbClr val="FF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870585" marR="109220" indent="-76200">
              <a:lnSpc>
                <a:spcPct val="100000"/>
              </a:lnSpc>
              <a:spcBef>
                <a:spcPts val="265"/>
              </a:spcBef>
            </a:pPr>
            <a:r>
              <a:rPr sz="3200" dirty="0">
                <a:latin typeface="Times New Roman"/>
                <a:cs typeface="Times New Roman"/>
              </a:rPr>
              <a:t>V</a:t>
            </a:r>
            <a:r>
              <a:rPr sz="3150" baseline="-19841" dirty="0">
                <a:latin typeface="Times New Roman"/>
                <a:cs typeface="Times New Roman"/>
              </a:rPr>
              <a:t>i</a:t>
            </a:r>
            <a:r>
              <a:rPr sz="3150" spc="345" baseline="-1984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</a:t>
            </a:r>
            <a:r>
              <a:rPr sz="3150" baseline="-19841" dirty="0">
                <a:latin typeface="Times New Roman"/>
                <a:cs typeface="Times New Roman"/>
              </a:rPr>
              <a:t>i</a:t>
            </a:r>
            <a:r>
              <a:rPr sz="3150" spc="352" baseline="-1984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150" baseline="-19841" dirty="0">
                <a:latin typeface="Times New Roman"/>
                <a:cs typeface="Times New Roman"/>
              </a:rPr>
              <a:t>i</a:t>
            </a:r>
            <a:r>
              <a:rPr sz="3150" spc="345" baseline="-1984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</a:t>
            </a:r>
            <a:r>
              <a:rPr sz="3150" baseline="-19841" dirty="0">
                <a:latin typeface="Times New Roman"/>
                <a:cs typeface="Times New Roman"/>
              </a:rPr>
              <a:t>r</a:t>
            </a:r>
            <a:r>
              <a:rPr sz="3150" spc="277" baseline="-19841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Times New Roman"/>
                <a:cs typeface="Times New Roman"/>
              </a:rPr>
              <a:t>V</a:t>
            </a:r>
            <a:r>
              <a:rPr sz="3150" spc="-112" baseline="-19841" dirty="0">
                <a:latin typeface="Times New Roman"/>
                <a:cs typeface="Times New Roman"/>
              </a:rPr>
              <a:t>o 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150" baseline="-19841" dirty="0">
                <a:latin typeface="Times New Roman"/>
                <a:cs typeface="Times New Roman"/>
              </a:rPr>
              <a:t>2</a:t>
            </a:r>
            <a:r>
              <a:rPr sz="3150" spc="15" baseline="-1984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</a:t>
            </a:r>
            <a:r>
              <a:rPr sz="3150" baseline="-19841" dirty="0">
                <a:latin typeface="Times New Roman"/>
                <a:cs typeface="Times New Roman"/>
              </a:rPr>
              <a:t>f</a:t>
            </a:r>
            <a:r>
              <a:rPr sz="3150" spc="412" baseline="-1984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150" baseline="-19841" dirty="0">
                <a:latin typeface="Times New Roman"/>
                <a:cs typeface="Times New Roman"/>
              </a:rPr>
              <a:t>i</a:t>
            </a:r>
            <a:r>
              <a:rPr sz="3150" spc="397" baseline="-1984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</a:t>
            </a:r>
            <a:r>
              <a:rPr sz="3150" baseline="-19841" dirty="0">
                <a:latin typeface="Times New Roman"/>
                <a:cs typeface="Times New Roman"/>
              </a:rPr>
              <a:t>0</a:t>
            </a:r>
            <a:r>
              <a:rPr sz="3150" spc="307" baseline="-19841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Times New Roman"/>
                <a:cs typeface="Times New Roman"/>
              </a:rPr>
              <a:t>V</a:t>
            </a:r>
            <a:r>
              <a:rPr sz="3150" spc="-277" baseline="-19841" dirty="0">
                <a:latin typeface="Times New Roman"/>
                <a:cs typeface="Times New Roman"/>
              </a:rPr>
              <a:t>o</a:t>
            </a:r>
            <a:endParaRPr sz="3150" baseline="-1984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2272" y="4240783"/>
            <a:ext cx="538924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hi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Resistance(Vi/Ii)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hr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Reverse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Transfer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Voltage </a:t>
            </a:r>
            <a:r>
              <a:rPr sz="2400" dirty="0">
                <a:latin typeface="Times New Roman"/>
                <a:cs typeface="Times New Roman"/>
              </a:rPr>
              <a:t>Ratio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(Vi/Vo) </a:t>
            </a:r>
            <a:r>
              <a:rPr sz="2400" dirty="0">
                <a:latin typeface="Times New Roman"/>
                <a:cs typeface="Times New Roman"/>
              </a:rPr>
              <a:t>hf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Forward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Transfer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Ratio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(Io/Ii) </a:t>
            </a:r>
            <a:r>
              <a:rPr sz="2400" dirty="0">
                <a:latin typeface="Times New Roman"/>
                <a:cs typeface="Times New Roman"/>
              </a:rPr>
              <a:t>ho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 </a:t>
            </a:r>
            <a:r>
              <a:rPr sz="2400" spc="-10" dirty="0">
                <a:latin typeface="Times New Roman"/>
                <a:cs typeface="Times New Roman"/>
              </a:rPr>
              <a:t>Conductance(Io/Vo)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7038" y="222631"/>
            <a:ext cx="969073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b="1" dirty="0">
                <a:solidFill>
                  <a:srgbClr val="C0504D"/>
                </a:solidFill>
                <a:latin typeface="Times New Roman"/>
                <a:cs typeface="Times New Roman"/>
              </a:rPr>
              <a:t>General</a:t>
            </a:r>
            <a:r>
              <a:rPr sz="3200" b="1" spc="-7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504D"/>
                </a:solidFill>
                <a:latin typeface="Times New Roman"/>
                <a:cs typeface="Times New Roman"/>
              </a:rPr>
              <a:t>h-Parameters</a:t>
            </a:r>
            <a:r>
              <a:rPr sz="3200" b="1" spc="-2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504D"/>
                </a:solidFill>
                <a:latin typeface="Times New Roman"/>
                <a:cs typeface="Times New Roman"/>
              </a:rPr>
              <a:t>for</a:t>
            </a:r>
            <a:r>
              <a:rPr sz="3200" b="1" spc="-14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C0504D"/>
                </a:solidFill>
                <a:latin typeface="Times New Roman"/>
                <a:cs typeface="Times New Roman"/>
              </a:rPr>
              <a:t>any</a:t>
            </a:r>
            <a:r>
              <a:rPr sz="3200" b="1" spc="-155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b="1" spc="-30" dirty="0">
                <a:solidFill>
                  <a:srgbClr val="C0504D"/>
                </a:solidFill>
                <a:latin typeface="Times New Roman"/>
                <a:cs typeface="Times New Roman"/>
              </a:rPr>
              <a:t>Transistor</a:t>
            </a:r>
            <a:r>
              <a:rPr sz="3200" b="1" spc="-130" dirty="0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C0504D"/>
                </a:solidFill>
                <a:latin typeface="Times New Roman"/>
                <a:cs typeface="Times New Roman"/>
              </a:rPr>
              <a:t>Configuration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713231"/>
            <a:ext cx="8229600" cy="3200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95755" y="3930396"/>
            <a:ext cx="3502660" cy="1076325"/>
          </a:xfrm>
          <a:prstGeom prst="rect">
            <a:avLst/>
          </a:prstGeom>
          <a:ln w="27431">
            <a:solidFill>
              <a:srgbClr val="FF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870585" marR="109220" indent="-76200">
              <a:lnSpc>
                <a:spcPct val="100000"/>
              </a:lnSpc>
              <a:spcBef>
                <a:spcPts val="260"/>
              </a:spcBef>
            </a:pPr>
            <a:r>
              <a:rPr sz="3200" dirty="0">
                <a:latin typeface="Times New Roman"/>
                <a:cs typeface="Times New Roman"/>
              </a:rPr>
              <a:t>V</a:t>
            </a:r>
            <a:r>
              <a:rPr sz="3150" baseline="-19841" dirty="0">
                <a:latin typeface="Times New Roman"/>
                <a:cs typeface="Times New Roman"/>
              </a:rPr>
              <a:t>i</a:t>
            </a:r>
            <a:r>
              <a:rPr sz="3150" spc="345" baseline="-1984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</a:t>
            </a:r>
            <a:r>
              <a:rPr sz="3150" baseline="-19841" dirty="0">
                <a:latin typeface="Times New Roman"/>
                <a:cs typeface="Times New Roman"/>
              </a:rPr>
              <a:t>i</a:t>
            </a:r>
            <a:r>
              <a:rPr sz="3150" spc="345" baseline="-1984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150" baseline="-19841" dirty="0">
                <a:latin typeface="Times New Roman"/>
                <a:cs typeface="Times New Roman"/>
              </a:rPr>
              <a:t>i</a:t>
            </a:r>
            <a:r>
              <a:rPr sz="3150" spc="345" baseline="-1984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</a:t>
            </a:r>
            <a:r>
              <a:rPr sz="3150" baseline="-19841" dirty="0">
                <a:latin typeface="Times New Roman"/>
                <a:cs typeface="Times New Roman"/>
              </a:rPr>
              <a:t>r</a:t>
            </a:r>
            <a:r>
              <a:rPr sz="3150" spc="277" baseline="-19841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Times New Roman"/>
                <a:cs typeface="Times New Roman"/>
              </a:rPr>
              <a:t>V</a:t>
            </a:r>
            <a:r>
              <a:rPr sz="3150" spc="-104" baseline="-19841" dirty="0">
                <a:latin typeface="Times New Roman"/>
                <a:cs typeface="Times New Roman"/>
              </a:rPr>
              <a:t>o 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150" baseline="-19841" dirty="0">
                <a:latin typeface="Times New Roman"/>
                <a:cs typeface="Times New Roman"/>
              </a:rPr>
              <a:t>o</a:t>
            </a:r>
            <a:r>
              <a:rPr sz="3150" spc="7" baseline="-1984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</a:t>
            </a:r>
            <a:r>
              <a:rPr sz="3150" baseline="-19841" dirty="0">
                <a:latin typeface="Times New Roman"/>
                <a:cs typeface="Times New Roman"/>
              </a:rPr>
              <a:t>f</a:t>
            </a:r>
            <a:r>
              <a:rPr sz="3150" spc="405" baseline="-1984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150" baseline="-19841" dirty="0">
                <a:latin typeface="Times New Roman"/>
                <a:cs typeface="Times New Roman"/>
              </a:rPr>
              <a:t>i</a:t>
            </a:r>
            <a:r>
              <a:rPr sz="3150" spc="397" baseline="-19841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</a:t>
            </a:r>
            <a:r>
              <a:rPr sz="3150" baseline="-19841" dirty="0">
                <a:latin typeface="Times New Roman"/>
                <a:cs typeface="Times New Roman"/>
              </a:rPr>
              <a:t>0</a:t>
            </a:r>
            <a:r>
              <a:rPr sz="3150" spc="307" baseline="-19841" dirty="0">
                <a:latin typeface="Times New Roman"/>
                <a:cs typeface="Times New Roman"/>
              </a:rPr>
              <a:t> </a:t>
            </a:r>
            <a:r>
              <a:rPr sz="3200" spc="-180" dirty="0">
                <a:latin typeface="Times New Roman"/>
                <a:cs typeface="Times New Roman"/>
              </a:rPr>
              <a:t>V</a:t>
            </a:r>
            <a:r>
              <a:rPr sz="3150" spc="-270" baseline="-19841" dirty="0">
                <a:latin typeface="Times New Roman"/>
                <a:cs typeface="Times New Roman"/>
              </a:rPr>
              <a:t>o</a:t>
            </a:r>
            <a:endParaRPr sz="3150" baseline="-1984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0486" y="4008663"/>
            <a:ext cx="418465" cy="996950"/>
          </a:xfrm>
          <a:custGeom>
            <a:avLst/>
            <a:gdLst/>
            <a:ahLst/>
            <a:cxnLst/>
            <a:rect l="l" t="t" r="r" b="b"/>
            <a:pathLst>
              <a:path w="418464" h="996950">
                <a:moveTo>
                  <a:pt x="0" y="498454"/>
                </a:moveTo>
                <a:lnTo>
                  <a:pt x="381480" y="498454"/>
                </a:lnTo>
              </a:path>
              <a:path w="418464" h="996950">
                <a:moveTo>
                  <a:pt x="418102" y="0"/>
                </a:moveTo>
                <a:lnTo>
                  <a:pt x="418103" y="996918"/>
                </a:lnTo>
              </a:path>
            </a:pathLst>
          </a:custGeom>
          <a:ln w="153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91366" y="4748694"/>
            <a:ext cx="7239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50" spc="-5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43368" y="4233388"/>
            <a:ext cx="7239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50" spc="-5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0911" y="4463228"/>
            <a:ext cx="7239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50" spc="-5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57387" y="4504622"/>
            <a:ext cx="13462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2850" spc="-50" dirty="0">
                <a:latin typeface="Times New Roman"/>
                <a:cs typeface="Times New Roman"/>
              </a:rPr>
              <a:t>I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05384" y="3989334"/>
            <a:ext cx="26416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2850" spc="-50" dirty="0">
                <a:latin typeface="Times New Roman"/>
                <a:cs typeface="Times New Roman"/>
              </a:rPr>
              <a:t>V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20025" y="4796270"/>
            <a:ext cx="72453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650" dirty="0">
                <a:latin typeface="Times New Roman"/>
                <a:cs typeface="Times New Roman"/>
              </a:rPr>
              <a:t>V</a:t>
            </a:r>
            <a:r>
              <a:rPr sz="1800" baseline="-18518" dirty="0">
                <a:latin typeface="Times New Roman"/>
                <a:cs typeface="Times New Roman"/>
              </a:rPr>
              <a:t>o</a:t>
            </a:r>
            <a:r>
              <a:rPr sz="1800" spc="-112" baseline="-18518" dirty="0">
                <a:latin typeface="Times New Roman"/>
                <a:cs typeface="Times New Roman"/>
              </a:rPr>
              <a:t> </a:t>
            </a:r>
            <a:r>
              <a:rPr sz="1650" spc="55" dirty="0">
                <a:latin typeface="Symbol"/>
                <a:cs typeface="Symbol"/>
              </a:rPr>
              <a:t></a:t>
            </a:r>
            <a:r>
              <a:rPr sz="1650" spc="55" dirty="0">
                <a:latin typeface="Times New Roman"/>
                <a:cs typeface="Times New Roman"/>
              </a:rPr>
              <a:t>0V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92238" y="4219900"/>
            <a:ext cx="60833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394335" algn="l"/>
              </a:tabLst>
            </a:pPr>
            <a:r>
              <a:rPr sz="2850" spc="-50" dirty="0">
                <a:latin typeface="Times New Roman"/>
                <a:cs typeface="Times New Roman"/>
              </a:rPr>
              <a:t>h</a:t>
            </a:r>
            <a:r>
              <a:rPr sz="2850" dirty="0">
                <a:latin typeface="Times New Roman"/>
                <a:cs typeface="Times New Roman"/>
              </a:rPr>
              <a:t>	</a:t>
            </a:r>
            <a:r>
              <a:rPr sz="2850" spc="-50" dirty="0">
                <a:latin typeface="Symbol"/>
                <a:cs typeface="Symbol"/>
              </a:rPr>
              <a:t></a:t>
            </a:r>
            <a:endParaRPr sz="2850">
              <a:latin typeface="Symbol"/>
              <a:cs typeface="Symbo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08905" y="3901185"/>
            <a:ext cx="3353435" cy="1280795"/>
            <a:chOff x="4708905" y="3901185"/>
            <a:chExt cx="3353435" cy="1280795"/>
          </a:xfrm>
        </p:grpSpPr>
        <p:sp>
          <p:nvSpPr>
            <p:cNvPr id="14" name="object 14"/>
            <p:cNvSpPr/>
            <p:nvPr/>
          </p:nvSpPr>
          <p:spPr>
            <a:xfrm>
              <a:off x="4722875" y="3915155"/>
              <a:ext cx="1957070" cy="1252855"/>
            </a:xfrm>
            <a:custGeom>
              <a:avLst/>
              <a:gdLst/>
              <a:ahLst/>
              <a:cxnLst/>
              <a:rect l="l" t="t" r="r" b="b"/>
              <a:pathLst>
                <a:path w="1957070" h="1252854">
                  <a:moveTo>
                    <a:pt x="0" y="1252728"/>
                  </a:moveTo>
                  <a:lnTo>
                    <a:pt x="1956816" y="1252728"/>
                  </a:lnTo>
                  <a:lnTo>
                    <a:pt x="1956816" y="0"/>
                  </a:lnTo>
                  <a:lnTo>
                    <a:pt x="0" y="0"/>
                  </a:lnTo>
                  <a:lnTo>
                    <a:pt x="0" y="1252728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82647" y="4006300"/>
              <a:ext cx="471805" cy="1009650"/>
            </a:xfrm>
            <a:custGeom>
              <a:avLst/>
              <a:gdLst/>
              <a:ahLst/>
              <a:cxnLst/>
              <a:rect l="l" t="t" r="r" b="b"/>
              <a:pathLst>
                <a:path w="471804" h="1009650">
                  <a:moveTo>
                    <a:pt x="0" y="505132"/>
                  </a:moveTo>
                  <a:lnTo>
                    <a:pt x="434660" y="505132"/>
                  </a:lnTo>
                </a:path>
                <a:path w="471804" h="1009650">
                  <a:moveTo>
                    <a:pt x="471571" y="0"/>
                  </a:moveTo>
                  <a:lnTo>
                    <a:pt x="471572" y="1009527"/>
                  </a:lnTo>
                </a:path>
              </a:pathLst>
            </a:custGeom>
            <a:ln w="15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849803" y="4754907"/>
            <a:ext cx="12065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700" spc="-50" dirty="0">
                <a:latin typeface="Times New Roman"/>
                <a:cs typeface="Times New Roman"/>
              </a:rPr>
              <a:t>o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71944" y="4235756"/>
            <a:ext cx="7239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700" spc="-50" dirty="0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83022" y="4467310"/>
            <a:ext cx="8445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700" spc="-50" dirty="0">
                <a:latin typeface="Times New Roman"/>
                <a:cs typeface="Times New Roman"/>
              </a:rPr>
              <a:t>r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07743" y="4509013"/>
            <a:ext cx="27876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V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32837" y="3989880"/>
            <a:ext cx="26606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900" spc="-55" dirty="0">
                <a:latin typeface="Times New Roman"/>
                <a:cs typeface="Times New Roman"/>
              </a:rPr>
              <a:t>V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76056" y="4805789"/>
            <a:ext cx="65722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800" baseline="-18518" dirty="0">
                <a:latin typeface="Times New Roman"/>
                <a:cs typeface="Times New Roman"/>
              </a:rPr>
              <a:t>i</a:t>
            </a:r>
            <a:r>
              <a:rPr sz="1800" spc="97" baseline="-1851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dirty="0">
                <a:latin typeface="Times New Roman"/>
                <a:cs typeface="Times New Roman"/>
              </a:rPr>
              <a:t>0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65318" y="4222167"/>
            <a:ext cx="6362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21005" algn="l"/>
              </a:tabLst>
            </a:pPr>
            <a:r>
              <a:rPr sz="2900" spc="-50" dirty="0">
                <a:latin typeface="Times New Roman"/>
                <a:cs typeface="Times New Roman"/>
              </a:rPr>
              <a:t>h</a:t>
            </a:r>
            <a:r>
              <a:rPr sz="2900" dirty="0">
                <a:latin typeface="Times New Roman"/>
                <a:cs typeface="Times New Roman"/>
              </a:rPr>
              <a:t>	</a:t>
            </a:r>
            <a:r>
              <a:rPr sz="2900" spc="-50" dirty="0">
                <a:latin typeface="Symbol"/>
                <a:cs typeface="Symbol"/>
              </a:rPr>
              <a:t></a:t>
            </a:r>
            <a:endParaRPr sz="2900">
              <a:latin typeface="Symbol"/>
              <a:cs typeface="Symbo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781545" y="2288345"/>
            <a:ext cx="3343910" cy="2903220"/>
            <a:chOff x="6781545" y="2288345"/>
            <a:chExt cx="3343910" cy="2903220"/>
          </a:xfrm>
        </p:grpSpPr>
        <p:sp>
          <p:nvSpPr>
            <p:cNvPr id="24" name="object 24"/>
            <p:cNvSpPr/>
            <p:nvPr/>
          </p:nvSpPr>
          <p:spPr>
            <a:xfrm>
              <a:off x="6795515" y="3915155"/>
              <a:ext cx="1972310" cy="1262380"/>
            </a:xfrm>
            <a:custGeom>
              <a:avLst/>
              <a:gdLst/>
              <a:ahLst/>
              <a:cxnLst/>
              <a:rect l="l" t="t" r="r" b="b"/>
              <a:pathLst>
                <a:path w="1972309" h="1262379">
                  <a:moveTo>
                    <a:pt x="0" y="1261872"/>
                  </a:moveTo>
                  <a:lnTo>
                    <a:pt x="1972055" y="1261872"/>
                  </a:lnTo>
                  <a:lnTo>
                    <a:pt x="1972055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748812" y="2296283"/>
              <a:ext cx="368300" cy="1004569"/>
            </a:xfrm>
            <a:custGeom>
              <a:avLst/>
              <a:gdLst/>
              <a:ahLst/>
              <a:cxnLst/>
              <a:rect l="l" t="t" r="r" b="b"/>
              <a:pathLst>
                <a:path w="368300" h="1004570">
                  <a:moveTo>
                    <a:pt x="0" y="502174"/>
                  </a:moveTo>
                  <a:lnTo>
                    <a:pt x="331542" y="502174"/>
                  </a:lnTo>
                </a:path>
                <a:path w="368300" h="1004570">
                  <a:moveTo>
                    <a:pt x="368279" y="0"/>
                  </a:moveTo>
                  <a:lnTo>
                    <a:pt x="368279" y="1004358"/>
                  </a:lnTo>
                </a:path>
              </a:pathLst>
            </a:custGeom>
            <a:ln w="154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934802" y="3041931"/>
            <a:ext cx="7239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700" spc="-50" dirty="0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22488" y="2754334"/>
            <a:ext cx="8445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700" spc="-50" dirty="0">
                <a:latin typeface="Times New Roman"/>
                <a:cs typeface="Times New Roman"/>
              </a:rPr>
              <a:t>f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798806" y="2796037"/>
            <a:ext cx="13525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008576" y="2509191"/>
            <a:ext cx="19621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h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139471" y="3089861"/>
            <a:ext cx="73152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700" spc="-20" dirty="0">
                <a:latin typeface="Times New Roman"/>
                <a:cs typeface="Times New Roman"/>
              </a:rPr>
              <a:t>V</a:t>
            </a:r>
            <a:r>
              <a:rPr sz="1800" spc="-30" baseline="-18518" dirty="0">
                <a:latin typeface="Times New Roman"/>
                <a:cs typeface="Times New Roman"/>
              </a:rPr>
              <a:t>o</a:t>
            </a:r>
            <a:r>
              <a:rPr sz="1800" spc="-75" baseline="-18518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Symbol"/>
                <a:cs typeface="Symbol"/>
              </a:rPr>
              <a:t></a:t>
            </a:r>
            <a:r>
              <a:rPr sz="1700" spc="35" dirty="0">
                <a:latin typeface="Times New Roman"/>
                <a:cs typeface="Times New Roman"/>
              </a:rPr>
              <a:t>0V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26452" y="2276172"/>
            <a:ext cx="63182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4350" baseline="-35440" dirty="0">
                <a:latin typeface="Symbol"/>
                <a:cs typeface="Symbol"/>
              </a:rPr>
              <a:t></a:t>
            </a:r>
            <a:r>
              <a:rPr sz="4350" spc="300" baseline="-35440" dirty="0">
                <a:latin typeface="Times New Roman"/>
                <a:cs typeface="Times New Roman"/>
              </a:rPr>
              <a:t> </a:t>
            </a:r>
            <a:r>
              <a:rPr sz="2900" spc="30" dirty="0">
                <a:latin typeface="Times New Roman"/>
                <a:cs typeface="Times New Roman"/>
              </a:rPr>
              <a:t>I</a:t>
            </a:r>
            <a:r>
              <a:rPr sz="2550" spc="44" baseline="-24509" dirty="0">
                <a:latin typeface="Times New Roman"/>
                <a:cs typeface="Times New Roman"/>
              </a:rPr>
              <a:t>o</a:t>
            </a:r>
            <a:endParaRPr sz="2550" baseline="-24509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924290" y="2188210"/>
            <a:ext cx="1969770" cy="2837180"/>
            <a:chOff x="8924290" y="2188210"/>
            <a:chExt cx="1969770" cy="2837180"/>
          </a:xfrm>
        </p:grpSpPr>
        <p:sp>
          <p:nvSpPr>
            <p:cNvPr id="33" name="object 33"/>
            <p:cNvSpPr/>
            <p:nvPr/>
          </p:nvSpPr>
          <p:spPr>
            <a:xfrm>
              <a:off x="8938260" y="2202180"/>
              <a:ext cx="1941830" cy="1262380"/>
            </a:xfrm>
            <a:custGeom>
              <a:avLst/>
              <a:gdLst/>
              <a:ahLst/>
              <a:cxnLst/>
              <a:rect l="l" t="t" r="r" b="b"/>
              <a:pathLst>
                <a:path w="1941829" h="1262379">
                  <a:moveTo>
                    <a:pt x="0" y="1261872"/>
                  </a:moveTo>
                  <a:lnTo>
                    <a:pt x="1941576" y="1261872"/>
                  </a:lnTo>
                  <a:lnTo>
                    <a:pt x="1941576" y="0"/>
                  </a:lnTo>
                  <a:lnTo>
                    <a:pt x="0" y="0"/>
                  </a:lnTo>
                  <a:lnTo>
                    <a:pt x="0" y="1261872"/>
                  </a:lnTo>
                  <a:close/>
                </a:path>
              </a:pathLst>
            </a:custGeom>
            <a:ln w="27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750322" y="4006301"/>
              <a:ext cx="470534" cy="1011555"/>
            </a:xfrm>
            <a:custGeom>
              <a:avLst/>
              <a:gdLst/>
              <a:ahLst/>
              <a:cxnLst/>
              <a:rect l="l" t="t" r="r" b="b"/>
              <a:pathLst>
                <a:path w="470534" h="1011554">
                  <a:moveTo>
                    <a:pt x="0" y="505132"/>
                  </a:moveTo>
                  <a:lnTo>
                    <a:pt x="434064" y="505132"/>
                  </a:lnTo>
                </a:path>
                <a:path w="470534" h="1011554">
                  <a:moveTo>
                    <a:pt x="470409" y="0"/>
                  </a:moveTo>
                  <a:lnTo>
                    <a:pt x="470410" y="1011003"/>
                  </a:lnTo>
                </a:path>
              </a:pathLst>
            </a:custGeom>
            <a:ln w="155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017448" y="4755645"/>
            <a:ext cx="12065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700" spc="-50" dirty="0">
                <a:latin typeface="Times New Roman"/>
                <a:cs typeface="Times New Roman"/>
              </a:rPr>
              <a:t>o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221309" y="4468042"/>
            <a:ext cx="12065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700" spc="-50" dirty="0">
                <a:latin typeface="Times New Roman"/>
                <a:cs typeface="Times New Roman"/>
              </a:rPr>
              <a:t>o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007623" y="4222167"/>
            <a:ext cx="19812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h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242823" y="4806527"/>
            <a:ext cx="65722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800" baseline="-18518" dirty="0">
                <a:latin typeface="Times New Roman"/>
                <a:cs typeface="Times New Roman"/>
              </a:rPr>
              <a:t>i</a:t>
            </a:r>
            <a:r>
              <a:rPr sz="1800" spc="97" baseline="-1851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dirty="0">
                <a:latin typeface="Times New Roman"/>
                <a:cs typeface="Times New Roman"/>
              </a:rPr>
              <a:t>0</a:t>
            </a:r>
            <a:r>
              <a:rPr sz="1700" spc="-50" dirty="0">
                <a:latin typeface="Times New Roman"/>
                <a:cs typeface="Times New Roman"/>
              </a:rPr>
              <a:t> 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429625" y="3911051"/>
            <a:ext cx="681990" cy="106680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15"/>
              </a:spcBef>
              <a:tabLst>
                <a:tab pos="397510" algn="l"/>
              </a:tabLst>
            </a:pPr>
            <a:r>
              <a:rPr sz="4350" spc="-75" baseline="-35440" dirty="0">
                <a:latin typeface="Symbol"/>
                <a:cs typeface="Symbol"/>
              </a:rPr>
              <a:t></a:t>
            </a:r>
            <a:r>
              <a:rPr sz="4350" baseline="-35440" dirty="0">
                <a:latin typeface="Times New Roman"/>
                <a:cs typeface="Times New Roman"/>
              </a:rPr>
              <a:t>	</a:t>
            </a:r>
            <a:r>
              <a:rPr sz="2900" spc="30" dirty="0">
                <a:latin typeface="Times New Roman"/>
                <a:cs typeface="Times New Roman"/>
              </a:rPr>
              <a:t>I</a:t>
            </a:r>
            <a:r>
              <a:rPr sz="2550" spc="44" baseline="-24509" dirty="0">
                <a:latin typeface="Times New Roman"/>
                <a:cs typeface="Times New Roman"/>
              </a:rPr>
              <a:t>o</a:t>
            </a:r>
            <a:endParaRPr sz="2550" baseline="-24509">
              <a:latin typeface="Times New Roman"/>
              <a:cs typeface="Times New Roman"/>
            </a:endParaRPr>
          </a:p>
          <a:p>
            <a:pPr marL="345440">
              <a:lnSpc>
                <a:spcPct val="100000"/>
              </a:lnSpc>
              <a:spcBef>
                <a:spcPts val="620"/>
              </a:spcBef>
            </a:pPr>
            <a:r>
              <a:rPr sz="2900" spc="-50" dirty="0">
                <a:latin typeface="Times New Roman"/>
                <a:cs typeface="Times New Roman"/>
              </a:rPr>
              <a:t>V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938259" y="3915155"/>
            <a:ext cx="2005964" cy="1262380"/>
          </a:xfrm>
          <a:custGeom>
            <a:avLst/>
            <a:gdLst/>
            <a:ahLst/>
            <a:cxnLst/>
            <a:rect l="l" t="t" r="r" b="b"/>
            <a:pathLst>
              <a:path w="2005965" h="1262379">
                <a:moveTo>
                  <a:pt x="0" y="1261872"/>
                </a:moveTo>
                <a:lnTo>
                  <a:pt x="2005583" y="1261872"/>
                </a:lnTo>
                <a:lnTo>
                  <a:pt x="2005583" y="0"/>
                </a:lnTo>
                <a:lnTo>
                  <a:pt x="0" y="0"/>
                </a:lnTo>
                <a:lnTo>
                  <a:pt x="0" y="1261872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90"/>
              </a:spcBef>
            </a:pPr>
            <a:r>
              <a:rPr dirty="0"/>
              <a:t>Three</a:t>
            </a:r>
            <a:r>
              <a:rPr spc="-95" dirty="0"/>
              <a:t> </a:t>
            </a:r>
            <a:r>
              <a:rPr dirty="0"/>
              <a:t>Basic</a:t>
            </a:r>
            <a:r>
              <a:rPr spc="-120" dirty="0"/>
              <a:t> </a:t>
            </a:r>
            <a:r>
              <a:rPr spc="-10" dirty="0"/>
              <a:t>Configurations</a:t>
            </a:r>
            <a:r>
              <a:rPr spc="-65" dirty="0"/>
              <a:t> </a:t>
            </a:r>
            <a:r>
              <a:rPr dirty="0"/>
              <a:t>of</a:t>
            </a:r>
            <a:r>
              <a:rPr spc="-120" dirty="0"/>
              <a:t> </a:t>
            </a:r>
            <a:r>
              <a:rPr dirty="0"/>
              <a:t>BJT</a:t>
            </a:r>
            <a:r>
              <a:rPr spc="-90" dirty="0"/>
              <a:t> </a:t>
            </a:r>
            <a:r>
              <a:rPr spc="-10" dirty="0"/>
              <a:t>Amplifier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528" y="1499616"/>
            <a:ext cx="9692475" cy="34757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90"/>
              </a:spcBef>
            </a:pPr>
            <a:r>
              <a:rPr dirty="0"/>
              <a:t>Three</a:t>
            </a:r>
            <a:r>
              <a:rPr spc="-95" dirty="0"/>
              <a:t> </a:t>
            </a:r>
            <a:r>
              <a:rPr dirty="0"/>
              <a:t>Basic</a:t>
            </a:r>
            <a:r>
              <a:rPr spc="-120" dirty="0"/>
              <a:t> </a:t>
            </a:r>
            <a:r>
              <a:rPr spc="-10" dirty="0"/>
              <a:t>Configurations</a:t>
            </a:r>
            <a:r>
              <a:rPr spc="-65" dirty="0"/>
              <a:t> </a:t>
            </a:r>
            <a:r>
              <a:rPr dirty="0"/>
              <a:t>of</a:t>
            </a:r>
            <a:r>
              <a:rPr spc="-120" dirty="0"/>
              <a:t> </a:t>
            </a:r>
            <a:r>
              <a:rPr dirty="0"/>
              <a:t>BJT</a:t>
            </a:r>
            <a:r>
              <a:rPr spc="-90" dirty="0"/>
              <a:t> </a:t>
            </a:r>
            <a:r>
              <a:rPr spc="-10" dirty="0"/>
              <a:t>Amplifier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383" y="1600704"/>
            <a:ext cx="3545219" cy="32624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9847" y="1452971"/>
            <a:ext cx="2753400" cy="33934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57159" y="1438955"/>
            <a:ext cx="2817906" cy="33967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91820">
              <a:lnSpc>
                <a:spcPct val="100000"/>
              </a:lnSpc>
              <a:spcBef>
                <a:spcPts val="90"/>
              </a:spcBef>
            </a:pPr>
            <a:r>
              <a:rPr dirty="0"/>
              <a:t>Hybrid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5" dirty="0"/>
              <a:t> </a:t>
            </a:r>
            <a:r>
              <a:rPr dirty="0"/>
              <a:t>for</a:t>
            </a:r>
            <a:r>
              <a:rPr spc="-90" dirty="0"/>
              <a:t> </a:t>
            </a:r>
            <a:r>
              <a:rPr dirty="0"/>
              <a:t>BJT</a:t>
            </a:r>
            <a:r>
              <a:rPr spc="-85" dirty="0"/>
              <a:t> </a:t>
            </a:r>
            <a:r>
              <a:rPr spc="-35" dirty="0"/>
              <a:t>Configurations-</a:t>
            </a:r>
            <a:r>
              <a:rPr spc="-25" dirty="0"/>
              <a:t>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232" y="1143000"/>
            <a:ext cx="4858512" cy="292912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096000" y="1072896"/>
            <a:ext cx="4859020" cy="3943350"/>
            <a:chOff x="6096000" y="1072896"/>
            <a:chExt cx="4859020" cy="39433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0" y="1072896"/>
              <a:ext cx="4858511" cy="29291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958338" y="4005727"/>
              <a:ext cx="436880" cy="1002665"/>
            </a:xfrm>
            <a:custGeom>
              <a:avLst/>
              <a:gdLst/>
              <a:ahLst/>
              <a:cxnLst/>
              <a:rect l="l" t="t" r="r" b="b"/>
              <a:pathLst>
                <a:path w="436879" h="1002664">
                  <a:moveTo>
                    <a:pt x="0" y="501390"/>
                  </a:moveTo>
                  <a:lnTo>
                    <a:pt x="400674" y="501390"/>
                  </a:lnTo>
                </a:path>
                <a:path w="436879" h="1002664">
                  <a:moveTo>
                    <a:pt x="436554" y="0"/>
                  </a:moveTo>
                  <a:lnTo>
                    <a:pt x="436555" y="1002049"/>
                  </a:lnTo>
                </a:path>
              </a:pathLst>
            </a:custGeom>
            <a:ln w="153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53667" y="4223003"/>
            <a:ext cx="4956175" cy="1719580"/>
          </a:xfrm>
          <a:prstGeom prst="rect">
            <a:avLst/>
          </a:prstGeom>
          <a:ln w="2743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9380">
              <a:lnSpc>
                <a:spcPts val="5135"/>
              </a:lnSpc>
              <a:tabLst>
                <a:tab pos="945515" algn="l"/>
                <a:tab pos="2890520" algn="l"/>
              </a:tabLst>
            </a:pPr>
            <a:r>
              <a:rPr sz="4450" i="1" spc="550" dirty="0">
                <a:latin typeface="Times New Roman"/>
                <a:cs typeface="Times New Roman"/>
              </a:rPr>
              <a:t>v</a:t>
            </a:r>
            <a:r>
              <a:rPr sz="3900" i="1" spc="825" baseline="-23504" dirty="0">
                <a:latin typeface="Times New Roman"/>
                <a:cs typeface="Times New Roman"/>
              </a:rPr>
              <a:t>b</a:t>
            </a:r>
            <a:r>
              <a:rPr sz="3900" i="1" baseline="-23504" dirty="0">
                <a:latin typeface="Times New Roman"/>
                <a:cs typeface="Times New Roman"/>
              </a:rPr>
              <a:t>	</a:t>
            </a:r>
            <a:r>
              <a:rPr sz="4450" spc="950" dirty="0">
                <a:latin typeface="Symbol"/>
                <a:cs typeface="Symbol"/>
              </a:rPr>
              <a:t></a:t>
            </a:r>
            <a:r>
              <a:rPr sz="4450" spc="265" dirty="0">
                <a:latin typeface="Times New Roman"/>
                <a:cs typeface="Times New Roman"/>
              </a:rPr>
              <a:t> </a:t>
            </a:r>
            <a:r>
              <a:rPr sz="4450" i="1" spc="420" dirty="0">
                <a:latin typeface="Times New Roman"/>
                <a:cs typeface="Times New Roman"/>
              </a:rPr>
              <a:t>h</a:t>
            </a:r>
            <a:r>
              <a:rPr sz="3900" i="1" spc="630" baseline="-23504" dirty="0">
                <a:latin typeface="Times New Roman"/>
                <a:cs typeface="Times New Roman"/>
              </a:rPr>
              <a:t>ie</a:t>
            </a:r>
            <a:r>
              <a:rPr sz="4450" i="1" spc="420" dirty="0">
                <a:latin typeface="Times New Roman"/>
                <a:cs typeface="Times New Roman"/>
              </a:rPr>
              <a:t>i</a:t>
            </a:r>
            <a:r>
              <a:rPr sz="3900" i="1" spc="630" baseline="-23504" dirty="0">
                <a:latin typeface="Times New Roman"/>
                <a:cs typeface="Times New Roman"/>
              </a:rPr>
              <a:t>b</a:t>
            </a:r>
            <a:r>
              <a:rPr sz="3900" i="1" baseline="-23504" dirty="0">
                <a:latin typeface="Times New Roman"/>
                <a:cs typeface="Times New Roman"/>
              </a:rPr>
              <a:t>	</a:t>
            </a:r>
            <a:r>
              <a:rPr sz="4450" spc="950" dirty="0">
                <a:latin typeface="Symbol"/>
                <a:cs typeface="Symbol"/>
              </a:rPr>
              <a:t></a:t>
            </a:r>
            <a:r>
              <a:rPr sz="4450" spc="-30" dirty="0">
                <a:latin typeface="Times New Roman"/>
                <a:cs typeface="Times New Roman"/>
              </a:rPr>
              <a:t> </a:t>
            </a:r>
            <a:r>
              <a:rPr sz="4450" i="1" spc="550" dirty="0">
                <a:latin typeface="Times New Roman"/>
                <a:cs typeface="Times New Roman"/>
              </a:rPr>
              <a:t>h</a:t>
            </a:r>
            <a:r>
              <a:rPr sz="3900" i="1" spc="825" baseline="-23504" dirty="0">
                <a:latin typeface="Times New Roman"/>
                <a:cs typeface="Times New Roman"/>
              </a:rPr>
              <a:t>re</a:t>
            </a:r>
            <a:r>
              <a:rPr sz="4450" i="1" spc="550" dirty="0">
                <a:latin typeface="Times New Roman"/>
                <a:cs typeface="Times New Roman"/>
              </a:rPr>
              <a:t>v</a:t>
            </a:r>
            <a:r>
              <a:rPr sz="3900" i="1" spc="825" baseline="-23504" dirty="0">
                <a:latin typeface="Times New Roman"/>
                <a:cs typeface="Times New Roman"/>
              </a:rPr>
              <a:t>c</a:t>
            </a:r>
            <a:endParaRPr sz="3900" baseline="-23504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  <a:spcBef>
                <a:spcPts val="1420"/>
              </a:spcBef>
              <a:tabLst>
                <a:tab pos="780415" algn="l"/>
                <a:tab pos="2821940" algn="l"/>
              </a:tabLst>
            </a:pPr>
            <a:r>
              <a:rPr sz="4450" i="1" spc="380" dirty="0">
                <a:latin typeface="Times New Roman"/>
                <a:cs typeface="Times New Roman"/>
              </a:rPr>
              <a:t>i</a:t>
            </a:r>
            <a:r>
              <a:rPr sz="3900" i="1" spc="569" baseline="-23504" dirty="0">
                <a:latin typeface="Times New Roman"/>
                <a:cs typeface="Times New Roman"/>
              </a:rPr>
              <a:t>c</a:t>
            </a:r>
            <a:r>
              <a:rPr sz="3900" i="1" baseline="-23504" dirty="0">
                <a:latin typeface="Times New Roman"/>
                <a:cs typeface="Times New Roman"/>
              </a:rPr>
              <a:t>	</a:t>
            </a:r>
            <a:r>
              <a:rPr sz="4450" spc="950" dirty="0">
                <a:latin typeface="Symbol"/>
                <a:cs typeface="Symbol"/>
              </a:rPr>
              <a:t></a:t>
            </a:r>
            <a:r>
              <a:rPr sz="4450" spc="250" dirty="0">
                <a:latin typeface="Times New Roman"/>
                <a:cs typeface="Times New Roman"/>
              </a:rPr>
              <a:t> </a:t>
            </a:r>
            <a:r>
              <a:rPr sz="4450" i="1" spc="894" dirty="0">
                <a:latin typeface="Times New Roman"/>
                <a:cs typeface="Times New Roman"/>
              </a:rPr>
              <a:t>h</a:t>
            </a:r>
            <a:r>
              <a:rPr sz="3900" i="1" spc="937" baseline="-23504" dirty="0">
                <a:latin typeface="Times New Roman"/>
                <a:cs typeface="Times New Roman"/>
              </a:rPr>
              <a:t>f</a:t>
            </a:r>
            <a:r>
              <a:rPr sz="3900" i="1" spc="719" baseline="-23504" dirty="0">
                <a:latin typeface="Times New Roman"/>
                <a:cs typeface="Times New Roman"/>
              </a:rPr>
              <a:t>e</a:t>
            </a:r>
            <a:r>
              <a:rPr sz="4450" i="1" spc="370" dirty="0">
                <a:latin typeface="Times New Roman"/>
                <a:cs typeface="Times New Roman"/>
              </a:rPr>
              <a:t>i</a:t>
            </a:r>
            <a:r>
              <a:rPr sz="3900" i="1" spc="742" baseline="-23504" dirty="0">
                <a:latin typeface="Times New Roman"/>
                <a:cs typeface="Times New Roman"/>
              </a:rPr>
              <a:t>b</a:t>
            </a:r>
            <a:r>
              <a:rPr sz="3900" i="1" baseline="-23504" dirty="0">
                <a:latin typeface="Times New Roman"/>
                <a:cs typeface="Times New Roman"/>
              </a:rPr>
              <a:t>	</a:t>
            </a:r>
            <a:r>
              <a:rPr sz="4450" spc="950" dirty="0">
                <a:latin typeface="Symbol"/>
                <a:cs typeface="Symbol"/>
              </a:rPr>
              <a:t></a:t>
            </a:r>
            <a:r>
              <a:rPr sz="4450" spc="-30" dirty="0">
                <a:latin typeface="Times New Roman"/>
                <a:cs typeface="Times New Roman"/>
              </a:rPr>
              <a:t> </a:t>
            </a:r>
            <a:r>
              <a:rPr sz="4450" i="1" spc="545" dirty="0">
                <a:latin typeface="Times New Roman"/>
                <a:cs typeface="Times New Roman"/>
              </a:rPr>
              <a:t>h</a:t>
            </a:r>
            <a:r>
              <a:rPr sz="3900" i="1" spc="817" baseline="-23504" dirty="0">
                <a:latin typeface="Times New Roman"/>
                <a:cs typeface="Times New Roman"/>
              </a:rPr>
              <a:t>oe</a:t>
            </a:r>
            <a:r>
              <a:rPr sz="4450" i="1" spc="545" dirty="0">
                <a:latin typeface="Times New Roman"/>
                <a:cs typeface="Times New Roman"/>
              </a:rPr>
              <a:t>v</a:t>
            </a:r>
            <a:r>
              <a:rPr sz="3900" i="1" spc="817" baseline="-23504" dirty="0">
                <a:latin typeface="Times New Roman"/>
                <a:cs typeface="Times New Roman"/>
              </a:rPr>
              <a:t>c</a:t>
            </a:r>
            <a:endParaRPr sz="3900" baseline="-23504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71180" y="4913511"/>
            <a:ext cx="933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c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82508" y="4504622"/>
            <a:ext cx="30670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850" spc="70" dirty="0">
                <a:latin typeface="Times New Roman"/>
                <a:cs typeface="Times New Roman"/>
              </a:rPr>
              <a:t>i</a:t>
            </a:r>
            <a:r>
              <a:rPr sz="2475" spc="104" baseline="-23569" dirty="0">
                <a:latin typeface="Times New Roman"/>
                <a:cs typeface="Times New Roman"/>
              </a:rPr>
              <a:t>b</a:t>
            </a:r>
            <a:endParaRPr sz="2475" baseline="-23569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29803" y="4799200"/>
            <a:ext cx="67691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dirty="0">
                <a:latin typeface="Times New Roman"/>
                <a:cs typeface="Times New Roman"/>
              </a:rPr>
              <a:t>V</a:t>
            </a:r>
            <a:r>
              <a:rPr sz="1650" spc="335" dirty="0">
                <a:latin typeface="Times New Roman"/>
                <a:cs typeface="Times New Roman"/>
              </a:rPr>
              <a:t> </a:t>
            </a:r>
            <a:r>
              <a:rPr sz="1650" spc="55" dirty="0">
                <a:latin typeface="Symbol"/>
                <a:cs typeface="Symbol"/>
              </a:rPr>
              <a:t></a:t>
            </a:r>
            <a:r>
              <a:rPr sz="1650" spc="55" dirty="0">
                <a:latin typeface="Times New Roman"/>
                <a:cs typeface="Times New Roman"/>
              </a:rPr>
              <a:t>0V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37951" y="3988608"/>
            <a:ext cx="1199515" cy="695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157480" algn="r">
              <a:lnSpc>
                <a:spcPts val="2620"/>
              </a:lnSpc>
              <a:spcBef>
                <a:spcPts val="130"/>
              </a:spcBef>
            </a:pPr>
            <a:r>
              <a:rPr sz="2850" spc="-50" dirty="0">
                <a:latin typeface="Times New Roman"/>
                <a:cs typeface="Times New Roman"/>
              </a:rPr>
              <a:t>v</a:t>
            </a:r>
            <a:endParaRPr sz="2850">
              <a:latin typeface="Times New Roman"/>
              <a:cs typeface="Times New Roman"/>
            </a:endParaRPr>
          </a:p>
          <a:p>
            <a:pPr marL="38100">
              <a:lnSpc>
                <a:spcPts val="2620"/>
              </a:lnSpc>
              <a:tabLst>
                <a:tab pos="1054100" algn="l"/>
              </a:tabLst>
            </a:pPr>
            <a:r>
              <a:rPr sz="2850" spc="90" dirty="0">
                <a:latin typeface="Times New Roman"/>
                <a:cs typeface="Times New Roman"/>
              </a:rPr>
              <a:t>h</a:t>
            </a:r>
            <a:r>
              <a:rPr sz="2475" spc="135" baseline="-23569" dirty="0">
                <a:latin typeface="Times New Roman"/>
                <a:cs typeface="Times New Roman"/>
              </a:rPr>
              <a:t>ie</a:t>
            </a:r>
            <a:r>
              <a:rPr sz="2475" spc="67" baseline="-23569" dirty="0">
                <a:latin typeface="Times New Roman"/>
                <a:cs typeface="Times New Roman"/>
              </a:rPr>
              <a:t>  </a:t>
            </a:r>
            <a:r>
              <a:rPr sz="2850" spc="-50" dirty="0">
                <a:latin typeface="Symbol"/>
                <a:cs typeface="Symbol"/>
              </a:rPr>
              <a:t></a:t>
            </a:r>
            <a:r>
              <a:rPr sz="2850" dirty="0">
                <a:latin typeface="Times New Roman"/>
                <a:cs typeface="Times New Roman"/>
              </a:rPr>
              <a:t>	</a:t>
            </a:r>
            <a:r>
              <a:rPr sz="2475" spc="-75" baseline="37037" dirty="0">
                <a:latin typeface="Times New Roman"/>
                <a:cs typeface="Times New Roman"/>
              </a:rPr>
              <a:t>b</a:t>
            </a:r>
            <a:endParaRPr sz="2475" baseline="37037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24922" y="3914861"/>
            <a:ext cx="441325" cy="1009650"/>
          </a:xfrm>
          <a:custGeom>
            <a:avLst/>
            <a:gdLst/>
            <a:ahLst/>
            <a:cxnLst/>
            <a:rect l="l" t="t" r="r" b="b"/>
            <a:pathLst>
              <a:path w="441325" h="1009650">
                <a:moveTo>
                  <a:pt x="0" y="505132"/>
                </a:moveTo>
                <a:lnTo>
                  <a:pt x="404300" y="505132"/>
                </a:lnTo>
              </a:path>
              <a:path w="441325" h="1009650">
                <a:moveTo>
                  <a:pt x="441237" y="0"/>
                </a:moveTo>
                <a:lnTo>
                  <a:pt x="441238" y="1009527"/>
                </a:lnTo>
              </a:path>
            </a:pathLst>
          </a:custGeom>
          <a:ln w="155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26749" y="4417573"/>
            <a:ext cx="37401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900" spc="40" dirty="0">
                <a:latin typeface="Times New Roman"/>
                <a:cs typeface="Times New Roman"/>
              </a:rPr>
              <a:t>v</a:t>
            </a:r>
            <a:r>
              <a:rPr sz="2550" spc="60" baseline="-24509" dirty="0">
                <a:latin typeface="Times New Roman"/>
                <a:cs typeface="Times New Roman"/>
              </a:rPr>
              <a:t>c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68719" y="4714349"/>
            <a:ext cx="69977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00" spc="55" dirty="0">
                <a:latin typeface="Times New Roman"/>
                <a:cs typeface="Times New Roman"/>
              </a:rPr>
              <a:t>i</a:t>
            </a:r>
            <a:r>
              <a:rPr sz="1800" spc="82" baseline="-18518" dirty="0">
                <a:latin typeface="Times New Roman"/>
                <a:cs typeface="Times New Roman"/>
              </a:rPr>
              <a:t>b</a:t>
            </a:r>
            <a:r>
              <a:rPr sz="1800" spc="44" baseline="-1851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dirty="0">
                <a:latin typeface="Times New Roman"/>
                <a:cs typeface="Times New Roman"/>
              </a:rPr>
              <a:t>0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81199" y="3897708"/>
            <a:ext cx="1226820" cy="701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9385" algn="r">
              <a:lnSpc>
                <a:spcPts val="2655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v</a:t>
            </a:r>
            <a:endParaRPr sz="2900">
              <a:latin typeface="Times New Roman"/>
              <a:cs typeface="Times New Roman"/>
            </a:endParaRPr>
          </a:p>
          <a:p>
            <a:pPr marL="38100">
              <a:lnSpc>
                <a:spcPts val="2655"/>
              </a:lnSpc>
              <a:tabLst>
                <a:tab pos="548005" algn="l"/>
                <a:tab pos="1080770" algn="l"/>
              </a:tabLst>
            </a:pPr>
            <a:r>
              <a:rPr sz="2900" dirty="0">
                <a:latin typeface="Times New Roman"/>
                <a:cs typeface="Times New Roman"/>
              </a:rPr>
              <a:t>h</a:t>
            </a:r>
            <a:r>
              <a:rPr sz="2900" spc="-470" dirty="0">
                <a:latin typeface="Times New Roman"/>
                <a:cs typeface="Times New Roman"/>
              </a:rPr>
              <a:t> </a:t>
            </a:r>
            <a:r>
              <a:rPr sz="2550" spc="-37" baseline="-22875" dirty="0">
                <a:latin typeface="Times New Roman"/>
                <a:cs typeface="Times New Roman"/>
              </a:rPr>
              <a:t>re</a:t>
            </a:r>
            <a:r>
              <a:rPr sz="2550" baseline="-22875" dirty="0">
                <a:latin typeface="Times New Roman"/>
                <a:cs typeface="Times New Roman"/>
              </a:rPr>
              <a:t>	</a:t>
            </a:r>
            <a:r>
              <a:rPr sz="2900" spc="-60" dirty="0">
                <a:latin typeface="Symbol"/>
                <a:cs typeface="Symbol"/>
              </a:rPr>
              <a:t></a:t>
            </a:r>
            <a:r>
              <a:rPr sz="2900" dirty="0">
                <a:latin typeface="Times New Roman"/>
                <a:cs typeface="Times New Roman"/>
              </a:rPr>
              <a:t>	</a:t>
            </a:r>
            <a:r>
              <a:rPr sz="2550" spc="-75" baseline="35947" dirty="0">
                <a:latin typeface="Times New Roman"/>
                <a:cs typeface="Times New Roman"/>
              </a:rPr>
              <a:t>b</a:t>
            </a:r>
            <a:endParaRPr sz="2550" baseline="3594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80818" y="5149300"/>
            <a:ext cx="342900" cy="1009650"/>
          </a:xfrm>
          <a:custGeom>
            <a:avLst/>
            <a:gdLst/>
            <a:ahLst/>
            <a:cxnLst/>
            <a:rect l="l" t="t" r="r" b="b"/>
            <a:pathLst>
              <a:path w="342900" h="1009650">
                <a:moveTo>
                  <a:pt x="0" y="505132"/>
                </a:moveTo>
                <a:lnTo>
                  <a:pt x="305529" y="505132"/>
                </a:lnTo>
              </a:path>
              <a:path w="342900" h="1009650">
                <a:moveTo>
                  <a:pt x="342410" y="0"/>
                </a:moveTo>
                <a:lnTo>
                  <a:pt x="342410" y="1009527"/>
                </a:lnTo>
              </a:path>
            </a:pathLst>
          </a:custGeom>
          <a:ln w="155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432365" y="5948789"/>
            <a:ext cx="73279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00" spc="-45" dirty="0">
                <a:latin typeface="Times New Roman"/>
                <a:cs typeface="Times New Roman"/>
              </a:rPr>
              <a:t>V</a:t>
            </a:r>
            <a:r>
              <a:rPr sz="1800" spc="-67" baseline="-18518" dirty="0">
                <a:latin typeface="Times New Roman"/>
                <a:cs typeface="Times New Roman"/>
              </a:rPr>
              <a:t>c</a:t>
            </a:r>
            <a:r>
              <a:rPr sz="1800" spc="-37" baseline="-18518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Symbol"/>
                <a:cs typeface="Symbol"/>
              </a:rPr>
              <a:t></a:t>
            </a:r>
            <a:r>
              <a:rPr sz="1700" spc="30" dirty="0">
                <a:latin typeface="Times New Roman"/>
                <a:cs typeface="Times New Roman"/>
              </a:rPr>
              <a:t>0V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06843" y="5897907"/>
            <a:ext cx="13335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50" dirty="0">
                <a:latin typeface="Times New Roman"/>
                <a:cs typeface="Times New Roman"/>
              </a:rPr>
              <a:t>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80681" y="5610310"/>
            <a:ext cx="15494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130" dirty="0">
                <a:latin typeface="Times New Roman"/>
                <a:cs typeface="Times New Roman"/>
              </a:rPr>
              <a:t>fe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82128" y="5652013"/>
            <a:ext cx="1282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47513" y="5132148"/>
            <a:ext cx="61023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350" baseline="-35440" dirty="0">
                <a:latin typeface="Symbol"/>
                <a:cs typeface="Symbol"/>
              </a:rPr>
              <a:t></a:t>
            </a:r>
            <a:r>
              <a:rPr sz="4350" spc="277" baseline="-35440" dirty="0">
                <a:latin typeface="Times New Roman"/>
                <a:cs typeface="Times New Roman"/>
              </a:rPr>
              <a:t> </a:t>
            </a:r>
            <a:r>
              <a:rPr sz="2900" spc="45" dirty="0">
                <a:latin typeface="Times New Roman"/>
                <a:cs typeface="Times New Roman"/>
              </a:rPr>
              <a:t>i</a:t>
            </a:r>
            <a:r>
              <a:rPr sz="2550" spc="67" baseline="-24509" dirty="0">
                <a:latin typeface="Times New Roman"/>
                <a:cs typeface="Times New Roman"/>
              </a:rPr>
              <a:t>c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67402" y="5365167"/>
            <a:ext cx="20955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h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175894" y="5079196"/>
            <a:ext cx="422909" cy="1009650"/>
          </a:xfrm>
          <a:custGeom>
            <a:avLst/>
            <a:gdLst/>
            <a:ahLst/>
            <a:cxnLst/>
            <a:rect l="l" t="t" r="r" b="b"/>
            <a:pathLst>
              <a:path w="422909" h="1009650">
                <a:moveTo>
                  <a:pt x="0" y="505132"/>
                </a:moveTo>
                <a:lnTo>
                  <a:pt x="385976" y="505132"/>
                </a:lnTo>
              </a:path>
              <a:path w="422909" h="1009650">
                <a:moveTo>
                  <a:pt x="422858" y="0"/>
                </a:moveTo>
                <a:lnTo>
                  <a:pt x="422859" y="1009527"/>
                </a:lnTo>
              </a:path>
            </a:pathLst>
          </a:custGeom>
          <a:ln w="155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538092" y="5540206"/>
            <a:ext cx="24511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30" dirty="0">
                <a:latin typeface="Times New Roman"/>
                <a:cs typeface="Times New Roman"/>
              </a:rPr>
              <a:t>oe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94169" y="5581909"/>
            <a:ext cx="20955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v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370269" y="5878685"/>
            <a:ext cx="92964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68605" algn="l"/>
              </a:tabLst>
            </a:pPr>
            <a:r>
              <a:rPr sz="2550" spc="-75" baseline="13071" dirty="0">
                <a:latin typeface="Times New Roman"/>
                <a:cs typeface="Times New Roman"/>
              </a:rPr>
              <a:t>c</a:t>
            </a:r>
            <a:r>
              <a:rPr sz="2550" baseline="13071" dirty="0">
                <a:latin typeface="Times New Roman"/>
                <a:cs typeface="Times New Roman"/>
              </a:rPr>
              <a:t>	</a:t>
            </a:r>
            <a:r>
              <a:rPr sz="1700" spc="55" dirty="0">
                <a:latin typeface="Times New Roman"/>
                <a:cs typeface="Times New Roman"/>
              </a:rPr>
              <a:t>i</a:t>
            </a:r>
            <a:r>
              <a:rPr sz="1800" spc="82" baseline="-18518" dirty="0">
                <a:latin typeface="Times New Roman"/>
                <a:cs typeface="Times New Roman"/>
              </a:rPr>
              <a:t>b</a:t>
            </a:r>
            <a:r>
              <a:rPr sz="1800" spc="37" baseline="-1851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dirty="0">
                <a:latin typeface="Times New Roman"/>
                <a:cs typeface="Times New Roman"/>
              </a:rPr>
              <a:t>0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41847" y="5062044"/>
            <a:ext cx="6508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96240" algn="l"/>
              </a:tabLst>
            </a:pPr>
            <a:r>
              <a:rPr sz="4350" spc="-75" baseline="-35440" dirty="0">
                <a:latin typeface="Symbol"/>
                <a:cs typeface="Symbol"/>
              </a:rPr>
              <a:t></a:t>
            </a:r>
            <a:r>
              <a:rPr sz="4350" baseline="-35440" dirty="0">
                <a:latin typeface="Times New Roman"/>
                <a:cs typeface="Times New Roman"/>
              </a:rPr>
              <a:t>	</a:t>
            </a:r>
            <a:r>
              <a:rPr sz="2900" spc="35" dirty="0">
                <a:latin typeface="Times New Roman"/>
                <a:cs typeface="Times New Roman"/>
              </a:rPr>
              <a:t>i</a:t>
            </a:r>
            <a:r>
              <a:rPr sz="2550" spc="52" baseline="-24509" dirty="0">
                <a:latin typeface="Times New Roman"/>
                <a:cs typeface="Times New Roman"/>
              </a:rPr>
              <a:t>c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24804" y="5295062"/>
            <a:ext cx="20955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h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6580">
              <a:lnSpc>
                <a:spcPct val="100000"/>
              </a:lnSpc>
              <a:spcBef>
                <a:spcPts val="90"/>
              </a:spcBef>
            </a:pPr>
            <a:r>
              <a:rPr dirty="0"/>
              <a:t>Hybrid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5" dirty="0"/>
              <a:t> </a:t>
            </a:r>
            <a:r>
              <a:rPr dirty="0"/>
              <a:t>for</a:t>
            </a:r>
            <a:r>
              <a:rPr spc="-90" dirty="0"/>
              <a:t> </a:t>
            </a:r>
            <a:r>
              <a:rPr dirty="0"/>
              <a:t>BJT</a:t>
            </a:r>
            <a:r>
              <a:rPr spc="-85" dirty="0"/>
              <a:t> </a:t>
            </a:r>
            <a:r>
              <a:rPr spc="-35" dirty="0"/>
              <a:t>Configurations-</a:t>
            </a:r>
            <a:r>
              <a:rPr spc="-25" dirty="0"/>
              <a:t>CC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3875" y="4344923"/>
            <a:ext cx="4959350" cy="1719580"/>
          </a:xfrm>
          <a:prstGeom prst="rect">
            <a:avLst/>
          </a:prstGeom>
          <a:ln w="2743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9380">
              <a:lnSpc>
                <a:spcPts val="5135"/>
              </a:lnSpc>
              <a:tabLst>
                <a:tab pos="946150" algn="l"/>
                <a:tab pos="2898775" algn="l"/>
              </a:tabLst>
            </a:pPr>
            <a:r>
              <a:rPr sz="4450" i="1" spc="550" dirty="0">
                <a:latin typeface="Times New Roman"/>
                <a:cs typeface="Times New Roman"/>
              </a:rPr>
              <a:t>v</a:t>
            </a:r>
            <a:r>
              <a:rPr sz="3900" i="1" spc="825" baseline="-23504" dirty="0">
                <a:latin typeface="Times New Roman"/>
                <a:cs typeface="Times New Roman"/>
              </a:rPr>
              <a:t>b</a:t>
            </a:r>
            <a:r>
              <a:rPr sz="3900" i="1" baseline="-23504" dirty="0">
                <a:latin typeface="Times New Roman"/>
                <a:cs typeface="Times New Roman"/>
              </a:rPr>
              <a:t>	</a:t>
            </a:r>
            <a:r>
              <a:rPr sz="4450" spc="950" dirty="0">
                <a:latin typeface="Symbol"/>
                <a:cs typeface="Symbol"/>
              </a:rPr>
              <a:t></a:t>
            </a:r>
            <a:r>
              <a:rPr sz="4450" spc="265" dirty="0">
                <a:latin typeface="Times New Roman"/>
                <a:cs typeface="Times New Roman"/>
              </a:rPr>
              <a:t> </a:t>
            </a:r>
            <a:r>
              <a:rPr sz="4450" i="1" spc="430" dirty="0">
                <a:latin typeface="Times New Roman"/>
                <a:cs typeface="Times New Roman"/>
              </a:rPr>
              <a:t>h</a:t>
            </a:r>
            <a:r>
              <a:rPr sz="3900" i="1" spc="644" baseline="-23504" dirty="0">
                <a:latin typeface="Times New Roman"/>
                <a:cs typeface="Times New Roman"/>
              </a:rPr>
              <a:t>ic</a:t>
            </a:r>
            <a:r>
              <a:rPr sz="4450" i="1" spc="430" dirty="0">
                <a:latin typeface="Times New Roman"/>
                <a:cs typeface="Times New Roman"/>
              </a:rPr>
              <a:t>i</a:t>
            </a:r>
            <a:r>
              <a:rPr sz="3900" i="1" spc="644" baseline="-23504" dirty="0">
                <a:latin typeface="Times New Roman"/>
                <a:cs typeface="Times New Roman"/>
              </a:rPr>
              <a:t>b</a:t>
            </a:r>
            <a:r>
              <a:rPr sz="3900" i="1" baseline="-23504" dirty="0">
                <a:latin typeface="Times New Roman"/>
                <a:cs typeface="Times New Roman"/>
              </a:rPr>
              <a:t>	</a:t>
            </a:r>
            <a:r>
              <a:rPr sz="4450" spc="950" dirty="0">
                <a:latin typeface="Symbol"/>
                <a:cs typeface="Symbol"/>
              </a:rPr>
              <a:t></a:t>
            </a:r>
            <a:r>
              <a:rPr sz="4450" spc="-30" dirty="0">
                <a:latin typeface="Times New Roman"/>
                <a:cs typeface="Times New Roman"/>
              </a:rPr>
              <a:t> </a:t>
            </a:r>
            <a:r>
              <a:rPr sz="4450" i="1" spc="545" dirty="0">
                <a:latin typeface="Times New Roman"/>
                <a:cs typeface="Times New Roman"/>
              </a:rPr>
              <a:t>h</a:t>
            </a:r>
            <a:r>
              <a:rPr sz="3900" i="1" spc="817" baseline="-23504" dirty="0">
                <a:latin typeface="Times New Roman"/>
                <a:cs typeface="Times New Roman"/>
              </a:rPr>
              <a:t>rc</a:t>
            </a:r>
            <a:r>
              <a:rPr sz="4450" i="1" spc="545" dirty="0">
                <a:latin typeface="Times New Roman"/>
                <a:cs typeface="Times New Roman"/>
              </a:rPr>
              <a:t>v</a:t>
            </a:r>
            <a:r>
              <a:rPr sz="3900" i="1" spc="817" baseline="-23504" dirty="0">
                <a:latin typeface="Times New Roman"/>
                <a:cs typeface="Times New Roman"/>
              </a:rPr>
              <a:t>e</a:t>
            </a:r>
            <a:endParaRPr sz="3900" baseline="-23504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  <a:spcBef>
                <a:spcPts val="1420"/>
              </a:spcBef>
              <a:tabLst>
                <a:tab pos="774700" algn="l"/>
                <a:tab pos="2823845" algn="l"/>
              </a:tabLst>
            </a:pPr>
            <a:r>
              <a:rPr sz="4450" i="1" spc="380" dirty="0">
                <a:latin typeface="Times New Roman"/>
                <a:cs typeface="Times New Roman"/>
              </a:rPr>
              <a:t>i</a:t>
            </a:r>
            <a:r>
              <a:rPr sz="3900" i="1" spc="569" baseline="-23504" dirty="0">
                <a:latin typeface="Times New Roman"/>
                <a:cs typeface="Times New Roman"/>
              </a:rPr>
              <a:t>e</a:t>
            </a:r>
            <a:r>
              <a:rPr sz="3900" i="1" baseline="-23504" dirty="0">
                <a:latin typeface="Times New Roman"/>
                <a:cs typeface="Times New Roman"/>
              </a:rPr>
              <a:t>	</a:t>
            </a:r>
            <a:r>
              <a:rPr sz="4450" spc="950" dirty="0">
                <a:latin typeface="Symbol"/>
                <a:cs typeface="Symbol"/>
              </a:rPr>
              <a:t></a:t>
            </a:r>
            <a:r>
              <a:rPr sz="4450" spc="250" dirty="0">
                <a:latin typeface="Times New Roman"/>
                <a:cs typeface="Times New Roman"/>
              </a:rPr>
              <a:t> </a:t>
            </a:r>
            <a:r>
              <a:rPr sz="4450" i="1" spc="900" dirty="0">
                <a:latin typeface="Times New Roman"/>
                <a:cs typeface="Times New Roman"/>
              </a:rPr>
              <a:t>h</a:t>
            </a:r>
            <a:r>
              <a:rPr sz="3900" i="1" spc="937" baseline="-23504" dirty="0">
                <a:latin typeface="Times New Roman"/>
                <a:cs typeface="Times New Roman"/>
              </a:rPr>
              <a:t>f</a:t>
            </a:r>
            <a:r>
              <a:rPr sz="3900" i="1" spc="794" baseline="-23504" dirty="0">
                <a:latin typeface="Times New Roman"/>
                <a:cs typeface="Times New Roman"/>
              </a:rPr>
              <a:t>c</a:t>
            </a:r>
            <a:r>
              <a:rPr sz="4450" i="1" spc="370" dirty="0">
                <a:latin typeface="Times New Roman"/>
                <a:cs typeface="Times New Roman"/>
              </a:rPr>
              <a:t>i</a:t>
            </a:r>
            <a:r>
              <a:rPr sz="3900" i="1" spc="742" baseline="-23504" dirty="0">
                <a:latin typeface="Times New Roman"/>
                <a:cs typeface="Times New Roman"/>
              </a:rPr>
              <a:t>b</a:t>
            </a:r>
            <a:r>
              <a:rPr sz="3900" i="1" baseline="-23504" dirty="0">
                <a:latin typeface="Times New Roman"/>
                <a:cs typeface="Times New Roman"/>
              </a:rPr>
              <a:t>	</a:t>
            </a:r>
            <a:r>
              <a:rPr sz="4450" spc="950" dirty="0">
                <a:latin typeface="Symbol"/>
                <a:cs typeface="Symbol"/>
              </a:rPr>
              <a:t></a:t>
            </a:r>
            <a:r>
              <a:rPr sz="4450" spc="-30" dirty="0">
                <a:latin typeface="Times New Roman"/>
                <a:cs typeface="Times New Roman"/>
              </a:rPr>
              <a:t> </a:t>
            </a:r>
            <a:r>
              <a:rPr sz="4450" i="1" spc="565" dirty="0">
                <a:latin typeface="Times New Roman"/>
                <a:cs typeface="Times New Roman"/>
              </a:rPr>
              <a:t>h</a:t>
            </a:r>
            <a:r>
              <a:rPr sz="3900" i="1" spc="847" baseline="-23504" dirty="0">
                <a:latin typeface="Times New Roman"/>
                <a:cs typeface="Times New Roman"/>
              </a:rPr>
              <a:t>oc</a:t>
            </a:r>
            <a:r>
              <a:rPr sz="4450" i="1" spc="565" dirty="0">
                <a:latin typeface="Times New Roman"/>
                <a:cs typeface="Times New Roman"/>
              </a:rPr>
              <a:t>v</a:t>
            </a:r>
            <a:r>
              <a:rPr sz="3900" i="1" spc="847" baseline="-23504" dirty="0">
                <a:latin typeface="Times New Roman"/>
                <a:cs typeface="Times New Roman"/>
              </a:rPr>
              <a:t>e</a:t>
            </a:r>
            <a:endParaRPr sz="3900" baseline="-23504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7591" y="1130808"/>
            <a:ext cx="4358640" cy="317296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809488" y="1213103"/>
            <a:ext cx="5257800" cy="3924935"/>
            <a:chOff x="5809488" y="1213103"/>
            <a:chExt cx="5257800" cy="392493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9488" y="1213103"/>
              <a:ext cx="5257800" cy="30022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165602" y="4127647"/>
              <a:ext cx="436880" cy="1002665"/>
            </a:xfrm>
            <a:custGeom>
              <a:avLst/>
              <a:gdLst/>
              <a:ahLst/>
              <a:cxnLst/>
              <a:rect l="l" t="t" r="r" b="b"/>
              <a:pathLst>
                <a:path w="436879" h="1002664">
                  <a:moveTo>
                    <a:pt x="0" y="501390"/>
                  </a:moveTo>
                  <a:lnTo>
                    <a:pt x="400674" y="501390"/>
                  </a:lnTo>
                </a:path>
                <a:path w="436879" h="1002664">
                  <a:moveTo>
                    <a:pt x="436554" y="0"/>
                  </a:moveTo>
                  <a:lnTo>
                    <a:pt x="436555" y="1002049"/>
                  </a:lnTo>
                </a:path>
              </a:pathLst>
            </a:custGeom>
            <a:ln w="153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189772" y="4626542"/>
            <a:ext cx="30670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850" spc="70" dirty="0">
                <a:latin typeface="Times New Roman"/>
                <a:cs typeface="Times New Roman"/>
              </a:rPr>
              <a:t>i</a:t>
            </a:r>
            <a:r>
              <a:rPr sz="2475" spc="104" baseline="-23569" dirty="0">
                <a:latin typeface="Times New Roman"/>
                <a:cs typeface="Times New Roman"/>
              </a:rPr>
              <a:t>b</a:t>
            </a:r>
            <a:endParaRPr sz="2475" baseline="-23569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11667" y="4921120"/>
            <a:ext cx="72771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650" spc="-20" dirty="0">
                <a:latin typeface="Times New Roman"/>
                <a:cs typeface="Times New Roman"/>
              </a:rPr>
              <a:t>V</a:t>
            </a:r>
            <a:r>
              <a:rPr sz="1800" spc="-30" baseline="-18518" dirty="0">
                <a:latin typeface="Times New Roman"/>
                <a:cs typeface="Times New Roman"/>
              </a:rPr>
              <a:t>e</a:t>
            </a:r>
            <a:r>
              <a:rPr sz="1800" spc="-75" baseline="-18518" dirty="0">
                <a:latin typeface="Times New Roman"/>
                <a:cs typeface="Times New Roman"/>
              </a:rPr>
              <a:t> </a:t>
            </a:r>
            <a:r>
              <a:rPr sz="1650" spc="55" dirty="0">
                <a:latin typeface="Symbol"/>
                <a:cs typeface="Symbol"/>
              </a:rPr>
              <a:t></a:t>
            </a:r>
            <a:r>
              <a:rPr sz="1650" spc="55" dirty="0">
                <a:latin typeface="Times New Roman"/>
                <a:cs typeface="Times New Roman"/>
              </a:rPr>
              <a:t>0V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5215" y="4110528"/>
            <a:ext cx="1199515" cy="695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157480" algn="r">
              <a:lnSpc>
                <a:spcPts val="2620"/>
              </a:lnSpc>
              <a:spcBef>
                <a:spcPts val="130"/>
              </a:spcBef>
            </a:pPr>
            <a:r>
              <a:rPr sz="2850" spc="-50" dirty="0">
                <a:latin typeface="Times New Roman"/>
                <a:cs typeface="Times New Roman"/>
              </a:rPr>
              <a:t>v</a:t>
            </a:r>
            <a:endParaRPr sz="2850">
              <a:latin typeface="Times New Roman"/>
              <a:cs typeface="Times New Roman"/>
            </a:endParaRPr>
          </a:p>
          <a:p>
            <a:pPr marL="38100">
              <a:lnSpc>
                <a:spcPts val="2620"/>
              </a:lnSpc>
              <a:tabLst>
                <a:tab pos="1054100" algn="l"/>
              </a:tabLst>
            </a:pPr>
            <a:r>
              <a:rPr sz="2850" spc="90" dirty="0">
                <a:latin typeface="Times New Roman"/>
                <a:cs typeface="Times New Roman"/>
              </a:rPr>
              <a:t>h</a:t>
            </a:r>
            <a:r>
              <a:rPr sz="2475" spc="135" baseline="-23569" dirty="0">
                <a:latin typeface="Times New Roman"/>
                <a:cs typeface="Times New Roman"/>
              </a:rPr>
              <a:t>ic</a:t>
            </a:r>
            <a:r>
              <a:rPr sz="2475" spc="67" baseline="-23569" dirty="0">
                <a:latin typeface="Times New Roman"/>
                <a:cs typeface="Times New Roman"/>
              </a:rPr>
              <a:t>  </a:t>
            </a:r>
            <a:r>
              <a:rPr sz="2850" spc="-50" dirty="0">
                <a:latin typeface="Symbol"/>
                <a:cs typeface="Symbol"/>
              </a:rPr>
              <a:t></a:t>
            </a:r>
            <a:r>
              <a:rPr sz="2850" dirty="0">
                <a:latin typeface="Times New Roman"/>
                <a:cs typeface="Times New Roman"/>
              </a:rPr>
              <a:t>	</a:t>
            </a:r>
            <a:r>
              <a:rPr sz="2475" spc="-75" baseline="37037" dirty="0">
                <a:latin typeface="Times New Roman"/>
                <a:cs typeface="Times New Roman"/>
              </a:rPr>
              <a:t>b</a:t>
            </a:r>
            <a:endParaRPr sz="2475" baseline="37037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332187" y="4058117"/>
            <a:ext cx="441325" cy="1009650"/>
          </a:xfrm>
          <a:custGeom>
            <a:avLst/>
            <a:gdLst/>
            <a:ahLst/>
            <a:cxnLst/>
            <a:rect l="l" t="t" r="r" b="b"/>
            <a:pathLst>
              <a:path w="441325" h="1009650">
                <a:moveTo>
                  <a:pt x="0" y="505132"/>
                </a:moveTo>
                <a:lnTo>
                  <a:pt x="404300" y="505132"/>
                </a:lnTo>
              </a:path>
              <a:path w="441325" h="1009650">
                <a:moveTo>
                  <a:pt x="441237" y="0"/>
                </a:moveTo>
                <a:lnTo>
                  <a:pt x="441237" y="1009527"/>
                </a:lnTo>
              </a:path>
            </a:pathLst>
          </a:custGeom>
          <a:ln w="155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876784" y="4972770"/>
            <a:ext cx="10287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50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34013" y="4560829"/>
            <a:ext cx="37401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900" spc="40" dirty="0">
                <a:latin typeface="Times New Roman"/>
                <a:cs typeface="Times New Roman"/>
              </a:rPr>
              <a:t>v</a:t>
            </a:r>
            <a:r>
              <a:rPr sz="2550" spc="60" baseline="-24509" dirty="0">
                <a:latin typeface="Times New Roman"/>
                <a:cs typeface="Times New Roman"/>
              </a:rPr>
              <a:t>e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01383" y="4857605"/>
            <a:ext cx="64897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3835" algn="l"/>
              </a:tabLst>
            </a:pPr>
            <a:r>
              <a:rPr sz="1700" spc="-5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dirty="0">
                <a:latin typeface="Times New Roman"/>
                <a:cs typeface="Times New Roman"/>
              </a:rPr>
              <a:t>0</a:t>
            </a:r>
            <a:r>
              <a:rPr sz="1700" spc="-50" dirty="0">
                <a:latin typeface="Times New Roman"/>
                <a:cs typeface="Times New Roman"/>
              </a:rPr>
              <a:t> 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88464" y="4040964"/>
            <a:ext cx="1226820" cy="701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9385" algn="r">
              <a:lnSpc>
                <a:spcPts val="2655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v</a:t>
            </a:r>
            <a:endParaRPr sz="2900">
              <a:latin typeface="Times New Roman"/>
              <a:cs typeface="Times New Roman"/>
            </a:endParaRPr>
          </a:p>
          <a:p>
            <a:pPr marL="38100">
              <a:lnSpc>
                <a:spcPts val="2655"/>
              </a:lnSpc>
              <a:tabLst>
                <a:tab pos="548005" algn="l"/>
                <a:tab pos="1080770" algn="l"/>
              </a:tabLst>
            </a:pPr>
            <a:r>
              <a:rPr sz="2900" dirty="0">
                <a:latin typeface="Times New Roman"/>
                <a:cs typeface="Times New Roman"/>
              </a:rPr>
              <a:t>h</a:t>
            </a:r>
            <a:r>
              <a:rPr sz="2900" spc="-470" dirty="0">
                <a:latin typeface="Times New Roman"/>
                <a:cs typeface="Times New Roman"/>
              </a:rPr>
              <a:t> </a:t>
            </a:r>
            <a:r>
              <a:rPr sz="2550" spc="-37" baseline="-22875" dirty="0">
                <a:latin typeface="Times New Roman"/>
                <a:cs typeface="Times New Roman"/>
              </a:rPr>
              <a:t>rc</a:t>
            </a:r>
            <a:r>
              <a:rPr sz="2550" baseline="-22875" dirty="0">
                <a:latin typeface="Times New Roman"/>
                <a:cs typeface="Times New Roman"/>
              </a:rPr>
              <a:t>	</a:t>
            </a:r>
            <a:r>
              <a:rPr sz="2900" spc="-60" dirty="0">
                <a:latin typeface="Symbol"/>
                <a:cs typeface="Symbol"/>
              </a:rPr>
              <a:t></a:t>
            </a:r>
            <a:r>
              <a:rPr sz="2900" dirty="0">
                <a:latin typeface="Times New Roman"/>
                <a:cs typeface="Times New Roman"/>
              </a:rPr>
              <a:t>	</a:t>
            </a:r>
            <a:r>
              <a:rPr sz="2550" spc="-75" baseline="35947" dirty="0">
                <a:latin typeface="Times New Roman"/>
                <a:cs typeface="Times New Roman"/>
              </a:rPr>
              <a:t>b</a:t>
            </a:r>
            <a:endParaRPr sz="2550" baseline="3594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86364" y="5271220"/>
            <a:ext cx="343535" cy="1009650"/>
          </a:xfrm>
          <a:custGeom>
            <a:avLst/>
            <a:gdLst/>
            <a:ahLst/>
            <a:cxnLst/>
            <a:rect l="l" t="t" r="r" b="b"/>
            <a:pathLst>
              <a:path w="343534" h="1009650">
                <a:moveTo>
                  <a:pt x="0" y="505132"/>
                </a:moveTo>
                <a:lnTo>
                  <a:pt x="306003" y="505132"/>
                </a:lnTo>
              </a:path>
              <a:path w="343534" h="1009650">
                <a:moveTo>
                  <a:pt x="342941" y="0"/>
                </a:moveTo>
                <a:lnTo>
                  <a:pt x="342942" y="1009527"/>
                </a:lnTo>
              </a:path>
            </a:pathLst>
          </a:custGeom>
          <a:ln w="155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638515" y="6070709"/>
            <a:ext cx="73406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00" spc="-45" dirty="0">
                <a:latin typeface="Times New Roman"/>
                <a:cs typeface="Times New Roman"/>
              </a:rPr>
              <a:t>V</a:t>
            </a:r>
            <a:r>
              <a:rPr sz="1800" spc="-67" baseline="-18518" dirty="0">
                <a:latin typeface="Times New Roman"/>
                <a:cs typeface="Times New Roman"/>
              </a:rPr>
              <a:t>e</a:t>
            </a:r>
            <a:r>
              <a:rPr sz="1800" spc="-37" baseline="-18518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Symbol"/>
                <a:cs typeface="Symbol"/>
              </a:rPr>
              <a:t></a:t>
            </a:r>
            <a:r>
              <a:rPr sz="1700" spc="30" dirty="0">
                <a:latin typeface="Times New Roman"/>
                <a:cs typeface="Times New Roman"/>
              </a:rPr>
              <a:t>0V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12604" y="6019827"/>
            <a:ext cx="13335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50" dirty="0">
                <a:latin typeface="Times New Roman"/>
                <a:cs typeface="Times New Roman"/>
              </a:rPr>
              <a:t>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85315" y="5732230"/>
            <a:ext cx="15494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130" dirty="0">
                <a:latin typeface="Times New Roman"/>
                <a:cs typeface="Times New Roman"/>
              </a:rPr>
              <a:t>fc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87695" y="5773933"/>
            <a:ext cx="1282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52601" y="5254068"/>
            <a:ext cx="610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350" baseline="-35440" dirty="0">
                <a:latin typeface="Symbol"/>
                <a:cs typeface="Symbol"/>
              </a:rPr>
              <a:t></a:t>
            </a:r>
            <a:r>
              <a:rPr sz="4350" spc="277" baseline="-35440" dirty="0">
                <a:latin typeface="Times New Roman"/>
                <a:cs typeface="Times New Roman"/>
              </a:rPr>
              <a:t> </a:t>
            </a:r>
            <a:r>
              <a:rPr sz="2900" spc="45" dirty="0">
                <a:latin typeface="Times New Roman"/>
                <a:cs typeface="Times New Roman"/>
              </a:rPr>
              <a:t>i</a:t>
            </a:r>
            <a:r>
              <a:rPr sz="2550" spc="67" baseline="-24509" dirty="0">
                <a:latin typeface="Times New Roman"/>
                <a:cs typeface="Times New Roman"/>
              </a:rPr>
              <a:t>e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71705" y="5487087"/>
            <a:ext cx="21018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h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381436" y="5201117"/>
            <a:ext cx="423545" cy="1009650"/>
          </a:xfrm>
          <a:custGeom>
            <a:avLst/>
            <a:gdLst/>
            <a:ahLst/>
            <a:cxnLst/>
            <a:rect l="l" t="t" r="r" b="b"/>
            <a:pathLst>
              <a:path w="423545" h="1009650">
                <a:moveTo>
                  <a:pt x="0" y="505132"/>
                </a:moveTo>
                <a:lnTo>
                  <a:pt x="386548" y="505132"/>
                </a:lnTo>
              </a:path>
              <a:path w="423545" h="1009650">
                <a:moveTo>
                  <a:pt x="423485" y="0"/>
                </a:moveTo>
                <a:lnTo>
                  <a:pt x="423486" y="1009527"/>
                </a:lnTo>
              </a:path>
            </a:pathLst>
          </a:custGeom>
          <a:ln w="155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742707" y="5662126"/>
            <a:ext cx="24574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30" dirty="0">
                <a:latin typeface="Times New Roman"/>
                <a:cs typeface="Times New Roman"/>
              </a:rPr>
              <a:t>oe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99756" y="5703829"/>
            <a:ext cx="21018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v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576156" y="6000605"/>
            <a:ext cx="93091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69240" algn="l"/>
              </a:tabLst>
            </a:pPr>
            <a:r>
              <a:rPr sz="2550" spc="-75" baseline="13071" dirty="0">
                <a:latin typeface="Times New Roman"/>
                <a:cs typeface="Times New Roman"/>
              </a:rPr>
              <a:t>e</a:t>
            </a:r>
            <a:r>
              <a:rPr sz="2550" baseline="13071" dirty="0">
                <a:latin typeface="Times New Roman"/>
                <a:cs typeface="Times New Roman"/>
              </a:rPr>
              <a:t>	</a:t>
            </a:r>
            <a:r>
              <a:rPr sz="1700" spc="55" dirty="0">
                <a:latin typeface="Times New Roman"/>
                <a:cs typeface="Times New Roman"/>
              </a:rPr>
              <a:t>i</a:t>
            </a:r>
            <a:r>
              <a:rPr sz="1800" spc="82" baseline="-18518" dirty="0">
                <a:latin typeface="Times New Roman"/>
                <a:cs typeface="Times New Roman"/>
              </a:rPr>
              <a:t>b</a:t>
            </a:r>
            <a:r>
              <a:rPr sz="1800" spc="52" baseline="-1851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dirty="0">
                <a:latin typeface="Times New Roman"/>
                <a:cs typeface="Times New Roman"/>
              </a:rPr>
              <a:t>0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46950" y="5183964"/>
            <a:ext cx="65151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96875" algn="l"/>
              </a:tabLst>
            </a:pPr>
            <a:r>
              <a:rPr sz="4350" spc="-75" baseline="-35440" dirty="0">
                <a:latin typeface="Symbol"/>
                <a:cs typeface="Symbol"/>
              </a:rPr>
              <a:t></a:t>
            </a:r>
            <a:r>
              <a:rPr sz="4350" baseline="-35440" dirty="0">
                <a:latin typeface="Times New Roman"/>
                <a:cs typeface="Times New Roman"/>
              </a:rPr>
              <a:t>	</a:t>
            </a:r>
            <a:r>
              <a:rPr sz="2900" spc="35" dirty="0">
                <a:latin typeface="Times New Roman"/>
                <a:cs typeface="Times New Roman"/>
              </a:rPr>
              <a:t>i</a:t>
            </a:r>
            <a:r>
              <a:rPr sz="2550" spc="52" baseline="-24509" dirty="0">
                <a:latin typeface="Times New Roman"/>
                <a:cs typeface="Times New Roman"/>
              </a:rPr>
              <a:t>e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29103" y="5416982"/>
            <a:ext cx="21018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h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3405">
              <a:lnSpc>
                <a:spcPct val="100000"/>
              </a:lnSpc>
              <a:spcBef>
                <a:spcPts val="90"/>
              </a:spcBef>
            </a:pPr>
            <a:r>
              <a:rPr dirty="0"/>
              <a:t>Hybrid</a:t>
            </a:r>
            <a:r>
              <a:rPr spc="-40" dirty="0"/>
              <a:t> </a:t>
            </a:r>
            <a:r>
              <a:rPr dirty="0"/>
              <a:t>Model</a:t>
            </a:r>
            <a:r>
              <a:rPr spc="-30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dirty="0"/>
              <a:t>BJT</a:t>
            </a:r>
            <a:r>
              <a:rPr spc="-60" dirty="0"/>
              <a:t> </a:t>
            </a:r>
            <a:r>
              <a:rPr spc="-40" dirty="0"/>
              <a:t>Configurations-</a:t>
            </a:r>
            <a:r>
              <a:rPr spc="-25" dirty="0"/>
              <a:t>CB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3772" y="4128515"/>
            <a:ext cx="4959350" cy="1722120"/>
          </a:xfrm>
          <a:prstGeom prst="rect">
            <a:avLst/>
          </a:prstGeom>
          <a:ln w="2743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9380">
              <a:lnSpc>
                <a:spcPts val="5145"/>
              </a:lnSpc>
              <a:tabLst>
                <a:tab pos="923925" algn="l"/>
                <a:tab pos="2875280" algn="l"/>
              </a:tabLst>
            </a:pPr>
            <a:r>
              <a:rPr sz="4450" i="1" spc="545" dirty="0">
                <a:latin typeface="Times New Roman"/>
                <a:cs typeface="Times New Roman"/>
              </a:rPr>
              <a:t>v</a:t>
            </a:r>
            <a:r>
              <a:rPr sz="3900" i="1" spc="817" baseline="-23504" dirty="0">
                <a:latin typeface="Times New Roman"/>
                <a:cs typeface="Times New Roman"/>
              </a:rPr>
              <a:t>e</a:t>
            </a:r>
            <a:r>
              <a:rPr sz="3900" i="1" baseline="-23504" dirty="0">
                <a:latin typeface="Times New Roman"/>
                <a:cs typeface="Times New Roman"/>
              </a:rPr>
              <a:t>	</a:t>
            </a:r>
            <a:r>
              <a:rPr sz="4450" spc="950" dirty="0">
                <a:latin typeface="Symbol"/>
                <a:cs typeface="Symbol"/>
              </a:rPr>
              <a:t></a:t>
            </a:r>
            <a:r>
              <a:rPr sz="4450" spc="265" dirty="0">
                <a:latin typeface="Times New Roman"/>
                <a:cs typeface="Times New Roman"/>
              </a:rPr>
              <a:t> </a:t>
            </a:r>
            <a:r>
              <a:rPr sz="4450" i="1" spc="425" dirty="0">
                <a:latin typeface="Times New Roman"/>
                <a:cs typeface="Times New Roman"/>
              </a:rPr>
              <a:t>h</a:t>
            </a:r>
            <a:r>
              <a:rPr sz="3900" i="1" spc="637" baseline="-23504" dirty="0">
                <a:latin typeface="Times New Roman"/>
                <a:cs typeface="Times New Roman"/>
              </a:rPr>
              <a:t>ib</a:t>
            </a:r>
            <a:r>
              <a:rPr sz="4450" i="1" spc="425" dirty="0">
                <a:latin typeface="Times New Roman"/>
                <a:cs typeface="Times New Roman"/>
              </a:rPr>
              <a:t>i</a:t>
            </a:r>
            <a:r>
              <a:rPr sz="3900" i="1" spc="637" baseline="-23504" dirty="0">
                <a:latin typeface="Times New Roman"/>
                <a:cs typeface="Times New Roman"/>
              </a:rPr>
              <a:t>e</a:t>
            </a:r>
            <a:r>
              <a:rPr sz="3900" i="1" baseline="-23504" dirty="0">
                <a:latin typeface="Times New Roman"/>
                <a:cs typeface="Times New Roman"/>
              </a:rPr>
              <a:t>	</a:t>
            </a:r>
            <a:r>
              <a:rPr sz="4450" spc="950" dirty="0">
                <a:latin typeface="Symbol"/>
                <a:cs typeface="Symbol"/>
              </a:rPr>
              <a:t></a:t>
            </a:r>
            <a:r>
              <a:rPr sz="4450" spc="-30" dirty="0">
                <a:latin typeface="Times New Roman"/>
                <a:cs typeface="Times New Roman"/>
              </a:rPr>
              <a:t> </a:t>
            </a:r>
            <a:r>
              <a:rPr sz="4450" i="1" spc="565" dirty="0">
                <a:latin typeface="Times New Roman"/>
                <a:cs typeface="Times New Roman"/>
              </a:rPr>
              <a:t>h</a:t>
            </a:r>
            <a:r>
              <a:rPr sz="3900" i="1" spc="847" baseline="-23504" dirty="0">
                <a:latin typeface="Times New Roman"/>
                <a:cs typeface="Times New Roman"/>
              </a:rPr>
              <a:t>rb</a:t>
            </a:r>
            <a:r>
              <a:rPr sz="4450" i="1" spc="565" dirty="0">
                <a:latin typeface="Times New Roman"/>
                <a:cs typeface="Times New Roman"/>
              </a:rPr>
              <a:t>v</a:t>
            </a:r>
            <a:r>
              <a:rPr sz="3900" i="1" spc="847" baseline="-23504" dirty="0">
                <a:latin typeface="Times New Roman"/>
                <a:cs typeface="Times New Roman"/>
              </a:rPr>
              <a:t>c</a:t>
            </a:r>
            <a:endParaRPr sz="3900" baseline="-23504">
              <a:latin typeface="Times New Roman"/>
              <a:cs typeface="Times New Roman"/>
            </a:endParaRPr>
          </a:p>
          <a:p>
            <a:pPr marL="106680">
              <a:lnSpc>
                <a:spcPct val="100000"/>
              </a:lnSpc>
              <a:spcBef>
                <a:spcPts val="1430"/>
              </a:spcBef>
              <a:tabLst>
                <a:tab pos="780415" algn="l"/>
                <a:tab pos="2830195" algn="l"/>
              </a:tabLst>
            </a:pPr>
            <a:r>
              <a:rPr sz="4450" i="1" spc="380" dirty="0">
                <a:latin typeface="Times New Roman"/>
                <a:cs typeface="Times New Roman"/>
              </a:rPr>
              <a:t>i</a:t>
            </a:r>
            <a:r>
              <a:rPr sz="3900" i="1" spc="569" baseline="-23504" dirty="0">
                <a:latin typeface="Times New Roman"/>
                <a:cs typeface="Times New Roman"/>
              </a:rPr>
              <a:t>c</a:t>
            </a:r>
            <a:r>
              <a:rPr sz="3900" i="1" baseline="-23504" dirty="0">
                <a:latin typeface="Times New Roman"/>
                <a:cs typeface="Times New Roman"/>
              </a:rPr>
              <a:t>	</a:t>
            </a:r>
            <a:r>
              <a:rPr sz="4450" spc="950" dirty="0">
                <a:latin typeface="Symbol"/>
                <a:cs typeface="Symbol"/>
              </a:rPr>
              <a:t></a:t>
            </a:r>
            <a:r>
              <a:rPr sz="4450" spc="250" dirty="0">
                <a:latin typeface="Times New Roman"/>
                <a:cs typeface="Times New Roman"/>
              </a:rPr>
              <a:t> </a:t>
            </a:r>
            <a:r>
              <a:rPr sz="4450" i="1" spc="590" dirty="0">
                <a:latin typeface="Times New Roman"/>
                <a:cs typeface="Times New Roman"/>
              </a:rPr>
              <a:t>h</a:t>
            </a:r>
            <a:r>
              <a:rPr sz="3900" i="1" spc="885" baseline="-23504" dirty="0">
                <a:latin typeface="Times New Roman"/>
                <a:cs typeface="Times New Roman"/>
              </a:rPr>
              <a:t>fb</a:t>
            </a:r>
            <a:r>
              <a:rPr sz="4450" i="1" spc="590" dirty="0">
                <a:latin typeface="Times New Roman"/>
                <a:cs typeface="Times New Roman"/>
              </a:rPr>
              <a:t>i</a:t>
            </a:r>
            <a:r>
              <a:rPr sz="3900" i="1" spc="885" baseline="-23504" dirty="0">
                <a:latin typeface="Times New Roman"/>
                <a:cs typeface="Times New Roman"/>
              </a:rPr>
              <a:t>e</a:t>
            </a:r>
            <a:r>
              <a:rPr sz="3900" i="1" baseline="-23504" dirty="0">
                <a:latin typeface="Times New Roman"/>
                <a:cs typeface="Times New Roman"/>
              </a:rPr>
              <a:t>	</a:t>
            </a:r>
            <a:r>
              <a:rPr sz="4450" spc="950" dirty="0">
                <a:latin typeface="Symbol"/>
                <a:cs typeface="Symbol"/>
              </a:rPr>
              <a:t></a:t>
            </a:r>
            <a:r>
              <a:rPr sz="4450" spc="-30" dirty="0">
                <a:latin typeface="Times New Roman"/>
                <a:cs typeface="Times New Roman"/>
              </a:rPr>
              <a:t> </a:t>
            </a:r>
            <a:r>
              <a:rPr sz="4450" i="1" spc="575" dirty="0">
                <a:latin typeface="Times New Roman"/>
                <a:cs typeface="Times New Roman"/>
              </a:rPr>
              <a:t>h</a:t>
            </a:r>
            <a:r>
              <a:rPr sz="3900" i="1" spc="862" baseline="-23504" dirty="0">
                <a:latin typeface="Times New Roman"/>
                <a:cs typeface="Times New Roman"/>
              </a:rPr>
              <a:t>ob</a:t>
            </a:r>
            <a:r>
              <a:rPr sz="4450" i="1" spc="575" dirty="0">
                <a:latin typeface="Times New Roman"/>
                <a:cs typeface="Times New Roman"/>
              </a:rPr>
              <a:t>v</a:t>
            </a:r>
            <a:r>
              <a:rPr sz="3900" i="1" spc="862" baseline="-23504" dirty="0">
                <a:latin typeface="Times New Roman"/>
                <a:cs typeface="Times New Roman"/>
              </a:rPr>
              <a:t>c</a:t>
            </a:r>
            <a:endParaRPr sz="3900" baseline="-23504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0847" y="1356360"/>
            <a:ext cx="4437888" cy="26456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2847" y="1356360"/>
            <a:ext cx="4526280" cy="257251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178781" y="4127647"/>
            <a:ext cx="419734" cy="1002665"/>
          </a:xfrm>
          <a:custGeom>
            <a:avLst/>
            <a:gdLst/>
            <a:ahLst/>
            <a:cxnLst/>
            <a:rect l="l" t="t" r="r" b="b"/>
            <a:pathLst>
              <a:path w="419734" h="1002664">
                <a:moveTo>
                  <a:pt x="0" y="501390"/>
                </a:moveTo>
                <a:lnTo>
                  <a:pt x="383081" y="501390"/>
                </a:lnTo>
              </a:path>
              <a:path w="419734" h="1002664">
                <a:moveTo>
                  <a:pt x="419717" y="0"/>
                </a:moveTo>
                <a:lnTo>
                  <a:pt x="419718" y="1002049"/>
                </a:lnTo>
              </a:path>
            </a:pathLst>
          </a:custGeom>
          <a:ln w="153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07283" y="4921120"/>
            <a:ext cx="72834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650" spc="-10" dirty="0">
                <a:latin typeface="Times New Roman"/>
                <a:cs typeface="Times New Roman"/>
              </a:rPr>
              <a:t>V</a:t>
            </a:r>
            <a:r>
              <a:rPr sz="1800" spc="-15" baseline="-18518" dirty="0">
                <a:latin typeface="Times New Roman"/>
                <a:cs typeface="Times New Roman"/>
              </a:rPr>
              <a:t>c</a:t>
            </a:r>
            <a:r>
              <a:rPr sz="1800" spc="-97" baseline="-18518" dirty="0">
                <a:latin typeface="Times New Roman"/>
                <a:cs typeface="Times New Roman"/>
              </a:rPr>
              <a:t> </a:t>
            </a:r>
            <a:r>
              <a:rPr sz="1650" spc="55" dirty="0">
                <a:latin typeface="Symbol"/>
                <a:cs typeface="Symbol"/>
              </a:rPr>
              <a:t></a:t>
            </a:r>
            <a:r>
              <a:rPr sz="1650" spc="55" dirty="0">
                <a:latin typeface="Times New Roman"/>
                <a:cs typeface="Times New Roman"/>
              </a:rPr>
              <a:t>0V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478" y="4870614"/>
            <a:ext cx="120014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-50" dirty="0">
                <a:latin typeface="Times New Roman"/>
                <a:cs typeface="Times New Roman"/>
              </a:rPr>
              <a:t>c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79371" y="4585148"/>
            <a:ext cx="210820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55" dirty="0">
                <a:latin typeface="Times New Roman"/>
                <a:cs typeface="Times New Roman"/>
              </a:rPr>
              <a:t>ib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28351" y="4626542"/>
            <a:ext cx="12700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-50" dirty="0">
                <a:latin typeface="Times New Roman"/>
                <a:cs typeface="Times New Roman"/>
              </a:rPr>
              <a:t>i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47710" y="4110528"/>
            <a:ext cx="69469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baseline="-35087" dirty="0">
                <a:latin typeface="Symbol"/>
                <a:cs typeface="Symbol"/>
              </a:rPr>
              <a:t></a:t>
            </a:r>
            <a:r>
              <a:rPr sz="4275" spc="405" baseline="-35087" dirty="0">
                <a:latin typeface="Times New Roman"/>
                <a:cs typeface="Times New Roman"/>
              </a:rPr>
              <a:t> </a:t>
            </a:r>
            <a:r>
              <a:rPr sz="2850" spc="45" dirty="0">
                <a:latin typeface="Times New Roman"/>
                <a:cs typeface="Times New Roman"/>
              </a:rPr>
              <a:t>v</a:t>
            </a:r>
            <a:r>
              <a:rPr sz="2475" spc="67" baseline="-23569" dirty="0">
                <a:latin typeface="Times New Roman"/>
                <a:cs typeface="Times New Roman"/>
              </a:rPr>
              <a:t>e</a:t>
            </a:r>
            <a:endParaRPr sz="2475" baseline="-23569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70615" y="4341820"/>
            <a:ext cx="208279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-50" dirty="0">
                <a:latin typeface="Times New Roman"/>
                <a:cs typeface="Times New Roman"/>
              </a:rPr>
              <a:t>h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364047" y="4058117"/>
            <a:ext cx="426084" cy="1009650"/>
          </a:xfrm>
          <a:custGeom>
            <a:avLst/>
            <a:gdLst/>
            <a:ahLst/>
            <a:cxnLst/>
            <a:rect l="l" t="t" r="r" b="b"/>
            <a:pathLst>
              <a:path w="426084" h="1009650">
                <a:moveTo>
                  <a:pt x="0" y="505132"/>
                </a:moveTo>
                <a:lnTo>
                  <a:pt x="388796" y="505132"/>
                </a:lnTo>
              </a:path>
              <a:path w="426084" h="1009650">
                <a:moveTo>
                  <a:pt x="425594" y="0"/>
                </a:moveTo>
                <a:lnTo>
                  <a:pt x="425594" y="1009527"/>
                </a:lnTo>
              </a:path>
            </a:pathLst>
          </a:custGeom>
          <a:ln w="154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747577" y="4519126"/>
            <a:ext cx="20129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25" dirty="0">
                <a:latin typeface="Times New Roman"/>
                <a:cs typeface="Times New Roman"/>
              </a:rPr>
              <a:t>rb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83010" y="4560829"/>
            <a:ext cx="20955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v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60106" y="4857605"/>
            <a:ext cx="92138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69875" algn="l"/>
              </a:tabLst>
            </a:pPr>
            <a:r>
              <a:rPr sz="2550" spc="-75" baseline="13071" dirty="0">
                <a:latin typeface="Times New Roman"/>
                <a:cs typeface="Times New Roman"/>
              </a:rPr>
              <a:t>c</a:t>
            </a:r>
            <a:r>
              <a:rPr sz="2550" baseline="13071" dirty="0">
                <a:latin typeface="Times New Roman"/>
                <a:cs typeface="Times New Roman"/>
              </a:rPr>
              <a:t>	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800" baseline="-18518" dirty="0">
                <a:latin typeface="Times New Roman"/>
                <a:cs typeface="Times New Roman"/>
              </a:rPr>
              <a:t>e</a:t>
            </a:r>
            <a:r>
              <a:rPr sz="1800" spc="104" baseline="-1851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dirty="0">
                <a:latin typeface="Times New Roman"/>
                <a:cs typeface="Times New Roman"/>
              </a:rPr>
              <a:t>0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29222" y="4040964"/>
            <a:ext cx="70231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350" baseline="-35440" dirty="0">
                <a:latin typeface="Symbol"/>
                <a:cs typeface="Symbol"/>
              </a:rPr>
              <a:t></a:t>
            </a:r>
            <a:r>
              <a:rPr sz="4350" spc="405" baseline="-35440" dirty="0">
                <a:latin typeface="Times New Roman"/>
                <a:cs typeface="Times New Roman"/>
              </a:rPr>
              <a:t> </a:t>
            </a:r>
            <a:r>
              <a:rPr sz="2900" spc="35" dirty="0">
                <a:latin typeface="Times New Roman"/>
                <a:cs typeface="Times New Roman"/>
              </a:rPr>
              <a:t>v</a:t>
            </a:r>
            <a:r>
              <a:rPr sz="2550" spc="52" baseline="-24509" dirty="0">
                <a:latin typeface="Times New Roman"/>
                <a:cs typeface="Times New Roman"/>
              </a:rPr>
              <a:t>e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29626" y="4273982"/>
            <a:ext cx="20955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h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00395" y="5271220"/>
            <a:ext cx="325755" cy="1009650"/>
          </a:xfrm>
          <a:custGeom>
            <a:avLst/>
            <a:gdLst/>
            <a:ahLst/>
            <a:cxnLst/>
            <a:rect l="l" t="t" r="r" b="b"/>
            <a:pathLst>
              <a:path w="325754" h="1009650">
                <a:moveTo>
                  <a:pt x="0" y="505132"/>
                </a:moveTo>
                <a:lnTo>
                  <a:pt x="288281" y="505132"/>
                </a:lnTo>
              </a:path>
              <a:path w="325754" h="1009650">
                <a:moveTo>
                  <a:pt x="325219" y="0"/>
                </a:moveTo>
                <a:lnTo>
                  <a:pt x="325220" y="1009527"/>
                </a:lnTo>
              </a:path>
            </a:pathLst>
          </a:custGeom>
          <a:ln w="155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634825" y="6070709"/>
            <a:ext cx="73406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00" spc="-45" dirty="0">
                <a:latin typeface="Times New Roman"/>
                <a:cs typeface="Times New Roman"/>
              </a:rPr>
              <a:t>V</a:t>
            </a:r>
            <a:r>
              <a:rPr sz="1800" spc="-67" baseline="-18518" dirty="0">
                <a:latin typeface="Times New Roman"/>
                <a:cs typeface="Times New Roman"/>
              </a:rPr>
              <a:t>c</a:t>
            </a:r>
            <a:r>
              <a:rPr sz="1800" spc="-37" baseline="-18518" dirty="0">
                <a:latin typeface="Times New Roman"/>
                <a:cs typeface="Times New Roman"/>
              </a:rPr>
              <a:t> </a:t>
            </a:r>
            <a:r>
              <a:rPr sz="1700" spc="30" dirty="0">
                <a:latin typeface="Symbol"/>
                <a:cs typeface="Symbol"/>
              </a:rPr>
              <a:t></a:t>
            </a:r>
            <a:r>
              <a:rPr sz="1700" spc="30" dirty="0">
                <a:latin typeface="Times New Roman"/>
                <a:cs typeface="Times New Roman"/>
              </a:rPr>
              <a:t>0V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22243" y="6019827"/>
            <a:ext cx="12128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50" dirty="0">
                <a:latin typeface="Times New Roman"/>
                <a:cs typeface="Times New Roman"/>
              </a:rPr>
              <a:t>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85315" y="5732230"/>
            <a:ext cx="16700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130" dirty="0">
                <a:latin typeface="Times New Roman"/>
                <a:cs typeface="Times New Roman"/>
              </a:rPr>
              <a:t>fb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01024" y="5773933"/>
            <a:ext cx="1282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i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65900" y="5254068"/>
            <a:ext cx="60261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350" baseline="-35440" dirty="0">
                <a:latin typeface="Symbol"/>
                <a:cs typeface="Symbol"/>
              </a:rPr>
              <a:t></a:t>
            </a:r>
            <a:r>
              <a:rPr sz="4350" spc="172" baseline="-35440" dirty="0">
                <a:latin typeface="Times New Roman"/>
                <a:cs typeface="Times New Roman"/>
              </a:rPr>
              <a:t> </a:t>
            </a:r>
            <a:r>
              <a:rPr sz="2900" spc="45" dirty="0">
                <a:latin typeface="Times New Roman"/>
                <a:cs typeface="Times New Roman"/>
              </a:rPr>
              <a:t>i</a:t>
            </a:r>
            <a:r>
              <a:rPr sz="2550" spc="67" baseline="-24509" dirty="0">
                <a:latin typeface="Times New Roman"/>
                <a:cs typeface="Times New Roman"/>
              </a:rPr>
              <a:t>c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71705" y="5487087"/>
            <a:ext cx="21018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h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394735" y="5201117"/>
            <a:ext cx="423545" cy="1009650"/>
          </a:xfrm>
          <a:custGeom>
            <a:avLst/>
            <a:gdLst/>
            <a:ahLst/>
            <a:cxnLst/>
            <a:rect l="l" t="t" r="r" b="b"/>
            <a:pathLst>
              <a:path w="423545" h="1009650">
                <a:moveTo>
                  <a:pt x="0" y="505132"/>
                </a:moveTo>
                <a:lnTo>
                  <a:pt x="387280" y="505132"/>
                </a:lnTo>
              </a:path>
              <a:path w="423545" h="1009650">
                <a:moveTo>
                  <a:pt x="423516" y="0"/>
                </a:moveTo>
                <a:lnTo>
                  <a:pt x="423516" y="1009527"/>
                </a:lnTo>
              </a:path>
            </a:pathLst>
          </a:custGeom>
          <a:ln w="155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742707" y="5662126"/>
            <a:ext cx="25781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30" dirty="0">
                <a:latin typeface="Times New Roman"/>
                <a:cs typeface="Times New Roman"/>
              </a:rPr>
              <a:t>ob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13085" y="5703829"/>
            <a:ext cx="21018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v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589454" y="6000605"/>
            <a:ext cx="9194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69240" algn="l"/>
              </a:tabLst>
            </a:pPr>
            <a:r>
              <a:rPr sz="2550" spc="-75" baseline="13071" dirty="0">
                <a:latin typeface="Times New Roman"/>
                <a:cs typeface="Times New Roman"/>
              </a:rPr>
              <a:t>c</a:t>
            </a:r>
            <a:r>
              <a:rPr sz="2550" baseline="13071" dirty="0">
                <a:latin typeface="Times New Roman"/>
                <a:cs typeface="Times New Roman"/>
              </a:rPr>
              <a:t>	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800" baseline="-18518" dirty="0">
                <a:latin typeface="Times New Roman"/>
                <a:cs typeface="Times New Roman"/>
              </a:rPr>
              <a:t>e</a:t>
            </a:r>
            <a:r>
              <a:rPr sz="1800" spc="97" baseline="-1851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dirty="0">
                <a:latin typeface="Times New Roman"/>
                <a:cs typeface="Times New Roman"/>
              </a:rPr>
              <a:t>0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060981" y="5183964"/>
            <a:ext cx="65151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96240" algn="l"/>
              </a:tabLst>
            </a:pPr>
            <a:r>
              <a:rPr sz="4350" spc="-75" baseline="-35440" dirty="0">
                <a:latin typeface="Symbol"/>
                <a:cs typeface="Symbol"/>
              </a:rPr>
              <a:t></a:t>
            </a:r>
            <a:r>
              <a:rPr sz="4350" baseline="-35440" dirty="0">
                <a:latin typeface="Times New Roman"/>
                <a:cs typeface="Times New Roman"/>
              </a:rPr>
              <a:t>	</a:t>
            </a:r>
            <a:r>
              <a:rPr sz="2900" spc="35" dirty="0">
                <a:latin typeface="Times New Roman"/>
                <a:cs typeface="Times New Roman"/>
              </a:rPr>
              <a:t>i</a:t>
            </a:r>
            <a:r>
              <a:rPr sz="2550" spc="52" baseline="-24509" dirty="0">
                <a:latin typeface="Times New Roman"/>
                <a:cs typeface="Times New Roman"/>
              </a:rPr>
              <a:t>c</a:t>
            </a:r>
            <a:endParaRPr sz="2550" baseline="-24509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29103" y="5416982"/>
            <a:ext cx="21018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50" dirty="0">
                <a:latin typeface="Times New Roman"/>
                <a:cs typeface="Times New Roman"/>
              </a:rPr>
              <a:t>h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91820">
              <a:lnSpc>
                <a:spcPct val="100000"/>
              </a:lnSpc>
              <a:spcBef>
                <a:spcPts val="90"/>
              </a:spcBef>
            </a:pPr>
            <a:r>
              <a:rPr dirty="0"/>
              <a:t>Hybrid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5" dirty="0"/>
              <a:t> </a:t>
            </a:r>
            <a:r>
              <a:rPr dirty="0"/>
              <a:t>for</a:t>
            </a:r>
            <a:r>
              <a:rPr spc="-90" dirty="0"/>
              <a:t> </a:t>
            </a:r>
            <a:r>
              <a:rPr dirty="0"/>
              <a:t>BJT</a:t>
            </a:r>
            <a:r>
              <a:rPr spc="-85" dirty="0"/>
              <a:t> </a:t>
            </a:r>
            <a:r>
              <a:rPr spc="-35" dirty="0"/>
              <a:t>Configurations-</a:t>
            </a:r>
            <a:r>
              <a:rPr spc="-25" dirty="0"/>
              <a:t>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127" y="1845509"/>
            <a:ext cx="4215357" cy="34718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45644" y="1966851"/>
            <a:ext cx="5783175" cy="36506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91820">
              <a:lnSpc>
                <a:spcPct val="100000"/>
              </a:lnSpc>
              <a:spcBef>
                <a:spcPts val="90"/>
              </a:spcBef>
            </a:pPr>
            <a:r>
              <a:rPr dirty="0"/>
              <a:t>Hybrid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5" dirty="0"/>
              <a:t> </a:t>
            </a:r>
            <a:r>
              <a:rPr dirty="0"/>
              <a:t>for</a:t>
            </a:r>
            <a:r>
              <a:rPr spc="-90" dirty="0"/>
              <a:t> </a:t>
            </a:r>
            <a:r>
              <a:rPr dirty="0"/>
              <a:t>BJT</a:t>
            </a:r>
            <a:r>
              <a:rPr spc="-85" dirty="0"/>
              <a:t> </a:t>
            </a:r>
            <a:r>
              <a:rPr spc="-35" dirty="0"/>
              <a:t>Configurations-</a:t>
            </a:r>
            <a:r>
              <a:rPr spc="-25" dirty="0"/>
              <a:t>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94232" y="1429511"/>
            <a:ext cx="10101580" cy="4429125"/>
            <a:chOff x="1094232" y="1429511"/>
            <a:chExt cx="10101580" cy="44291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4232" y="1429511"/>
              <a:ext cx="10101072" cy="38557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3592" y="4715255"/>
              <a:ext cx="4294632" cy="1143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3405">
              <a:lnSpc>
                <a:spcPct val="100000"/>
              </a:lnSpc>
              <a:spcBef>
                <a:spcPts val="90"/>
              </a:spcBef>
            </a:pPr>
            <a:r>
              <a:rPr dirty="0"/>
              <a:t>Hybrid</a:t>
            </a:r>
            <a:r>
              <a:rPr spc="-40" dirty="0"/>
              <a:t> </a:t>
            </a:r>
            <a:r>
              <a:rPr dirty="0"/>
              <a:t>Model</a:t>
            </a:r>
            <a:r>
              <a:rPr spc="-30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dirty="0"/>
              <a:t>BJT</a:t>
            </a:r>
            <a:r>
              <a:rPr spc="-60" dirty="0"/>
              <a:t> </a:t>
            </a:r>
            <a:r>
              <a:rPr spc="-40" dirty="0"/>
              <a:t>Configurations-</a:t>
            </a:r>
            <a:r>
              <a:rPr spc="-25" dirty="0"/>
              <a:t>CB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754" y="1786127"/>
            <a:ext cx="3586538" cy="30910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6064" y="1739340"/>
            <a:ext cx="5378783" cy="34728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3405">
              <a:lnSpc>
                <a:spcPct val="100000"/>
              </a:lnSpc>
              <a:spcBef>
                <a:spcPts val="90"/>
              </a:spcBef>
            </a:pPr>
            <a:r>
              <a:rPr dirty="0"/>
              <a:t>Hybrid</a:t>
            </a:r>
            <a:r>
              <a:rPr spc="-40" dirty="0"/>
              <a:t> </a:t>
            </a:r>
            <a:r>
              <a:rPr dirty="0"/>
              <a:t>Model</a:t>
            </a:r>
            <a:r>
              <a:rPr spc="-30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dirty="0"/>
              <a:t>BJT</a:t>
            </a:r>
            <a:r>
              <a:rPr spc="-60" dirty="0"/>
              <a:t> </a:t>
            </a:r>
            <a:r>
              <a:rPr spc="-40" dirty="0"/>
              <a:t>Configurations-</a:t>
            </a:r>
            <a:r>
              <a:rPr spc="-25" dirty="0"/>
              <a:t>CB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07591" y="1143000"/>
            <a:ext cx="9842500" cy="4215765"/>
            <a:chOff x="1307591" y="1143000"/>
            <a:chExt cx="9842500" cy="42157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7591" y="1143000"/>
              <a:ext cx="9841992" cy="39806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6615" y="4501896"/>
              <a:ext cx="3508247" cy="8564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6580">
              <a:lnSpc>
                <a:spcPct val="100000"/>
              </a:lnSpc>
              <a:spcBef>
                <a:spcPts val="90"/>
              </a:spcBef>
            </a:pPr>
            <a:r>
              <a:rPr dirty="0"/>
              <a:t>Hybrid</a:t>
            </a:r>
            <a:r>
              <a:rPr spc="-55" dirty="0"/>
              <a:t> </a:t>
            </a:r>
            <a:r>
              <a:rPr dirty="0"/>
              <a:t>Model</a:t>
            </a:r>
            <a:r>
              <a:rPr spc="-55" dirty="0"/>
              <a:t> </a:t>
            </a:r>
            <a:r>
              <a:rPr dirty="0"/>
              <a:t>for</a:t>
            </a:r>
            <a:r>
              <a:rPr spc="-90" dirty="0"/>
              <a:t> </a:t>
            </a:r>
            <a:r>
              <a:rPr dirty="0"/>
              <a:t>BJT</a:t>
            </a:r>
            <a:r>
              <a:rPr spc="-85" dirty="0"/>
              <a:t> </a:t>
            </a:r>
            <a:r>
              <a:rPr spc="-35" dirty="0"/>
              <a:t>Configurations-</a:t>
            </a:r>
            <a:r>
              <a:rPr spc="-25" dirty="0"/>
              <a:t>CC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360" y="1356360"/>
            <a:ext cx="8778240" cy="3429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6847" y="4858511"/>
            <a:ext cx="4403291" cy="10698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289" y="-13004"/>
            <a:ext cx="8312784" cy="1246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CE</a:t>
            </a:r>
            <a:r>
              <a:rPr sz="4000" spc="-50" dirty="0"/>
              <a:t> </a:t>
            </a:r>
            <a:r>
              <a:rPr sz="4000" dirty="0"/>
              <a:t>Amplifier</a:t>
            </a:r>
            <a:r>
              <a:rPr sz="4000" spc="-70" dirty="0"/>
              <a:t> </a:t>
            </a:r>
            <a:r>
              <a:rPr sz="4000" dirty="0"/>
              <a:t>Without</a:t>
            </a:r>
            <a:r>
              <a:rPr sz="4000" spc="-95" dirty="0"/>
              <a:t> </a:t>
            </a:r>
            <a:r>
              <a:rPr sz="4000" dirty="0"/>
              <a:t>Emitter</a:t>
            </a:r>
            <a:r>
              <a:rPr sz="4000" spc="-75" dirty="0"/>
              <a:t> </a:t>
            </a:r>
            <a:r>
              <a:rPr sz="4000" spc="-10" dirty="0"/>
              <a:t>Resistance</a:t>
            </a:r>
            <a:endParaRPr sz="4000"/>
          </a:p>
          <a:p>
            <a:pPr marL="2540" algn="ctr">
              <a:lnSpc>
                <a:spcPct val="100000"/>
              </a:lnSpc>
            </a:pPr>
            <a:r>
              <a:rPr sz="4000" b="1" dirty="0">
                <a:latin typeface="Calibri"/>
                <a:cs typeface="Calibri"/>
              </a:rPr>
              <a:t>(Using</a:t>
            </a:r>
            <a:r>
              <a:rPr sz="4000" b="1" spc="-3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Hybrid</a:t>
            </a:r>
            <a:r>
              <a:rPr sz="4000" b="1" spc="1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Model)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720" y="1570668"/>
            <a:ext cx="3794888" cy="23701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8096" y="3731514"/>
            <a:ext cx="556577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Determine</a:t>
            </a:r>
            <a:r>
              <a:rPr sz="2400" b="1" i="1" spc="-125" dirty="0">
                <a:latin typeface="Calibri"/>
                <a:cs typeface="Calibri"/>
              </a:rPr>
              <a:t> </a:t>
            </a:r>
            <a:r>
              <a:rPr sz="2400" b="1" i="1" spc="-5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267970" indent="-247650">
              <a:lnSpc>
                <a:spcPct val="100000"/>
              </a:lnSpc>
              <a:buSzPct val="95833"/>
              <a:buAutoNum type="arabicPeriod"/>
              <a:tabLst>
                <a:tab pos="267970" algn="l"/>
              </a:tabLst>
            </a:pPr>
            <a:r>
              <a:rPr sz="2400" b="1" i="1" dirty="0">
                <a:latin typeface="Calibri"/>
                <a:cs typeface="Calibri"/>
              </a:rPr>
              <a:t>Current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Gain</a:t>
            </a:r>
            <a:r>
              <a:rPr sz="2400" b="1" i="1" spc="-10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or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Current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Amplification</a:t>
            </a:r>
            <a:r>
              <a:rPr sz="2400" b="1" i="1" spc="-120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A</a:t>
            </a:r>
            <a:r>
              <a:rPr sz="2400" b="1" i="1" spc="-37" baseline="-20833" dirty="0">
                <a:latin typeface="Calibri"/>
                <a:cs typeface="Calibri"/>
              </a:rPr>
              <a:t>i</a:t>
            </a:r>
            <a:endParaRPr sz="2400" baseline="-20833">
              <a:latin typeface="Calibri"/>
              <a:cs typeface="Calibri"/>
            </a:endParaRPr>
          </a:p>
          <a:p>
            <a:pPr marL="337185" indent="-299085">
              <a:lnSpc>
                <a:spcPct val="100000"/>
              </a:lnSpc>
              <a:buAutoNum type="arabicPeriod"/>
              <a:tabLst>
                <a:tab pos="337185" algn="l"/>
              </a:tabLst>
            </a:pPr>
            <a:r>
              <a:rPr sz="2400" b="1" i="1" dirty="0">
                <a:latin typeface="Calibri"/>
                <a:cs typeface="Calibri"/>
              </a:rPr>
              <a:t>Input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Resistance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R</a:t>
            </a:r>
            <a:r>
              <a:rPr sz="2400" b="1" i="1" spc="-37" baseline="-20833" dirty="0">
                <a:latin typeface="Calibri"/>
                <a:cs typeface="Calibri"/>
              </a:rPr>
              <a:t>i</a:t>
            </a:r>
            <a:endParaRPr sz="2400" baseline="-20833">
              <a:latin typeface="Calibri"/>
              <a:cs typeface="Calibri"/>
            </a:endParaRPr>
          </a:p>
          <a:p>
            <a:pPr marL="338455" indent="-300355">
              <a:lnSpc>
                <a:spcPct val="100000"/>
              </a:lnSpc>
              <a:buFont typeface="Calibri"/>
              <a:buAutoNum type="arabicPeriod"/>
              <a:tabLst>
                <a:tab pos="338455" algn="l"/>
                <a:tab pos="5254625" algn="l"/>
              </a:tabLst>
            </a:pPr>
            <a:r>
              <a:rPr sz="2400" b="1" i="1" spc="-10" dirty="0">
                <a:latin typeface="Calibri"/>
                <a:cs typeface="Calibri"/>
              </a:rPr>
              <a:t>Voltage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Gain</a:t>
            </a:r>
            <a:r>
              <a:rPr sz="2400" b="1" i="1" spc="-9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or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20" dirty="0">
                <a:latin typeface="Calibri"/>
                <a:cs typeface="Calibri"/>
              </a:rPr>
              <a:t>Voltage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Amplification</a:t>
            </a:r>
            <a:r>
              <a:rPr sz="2400" b="1" i="1" dirty="0">
                <a:latin typeface="Calibri"/>
                <a:cs typeface="Calibri"/>
              </a:rPr>
              <a:t>	</a:t>
            </a:r>
            <a:r>
              <a:rPr sz="2400" b="1" i="1" spc="-25" dirty="0">
                <a:latin typeface="Calibri"/>
                <a:cs typeface="Calibri"/>
              </a:rPr>
              <a:t>A</a:t>
            </a:r>
            <a:r>
              <a:rPr sz="2400" b="1" i="1" spc="-37" baseline="-20833" dirty="0">
                <a:latin typeface="Calibri"/>
                <a:cs typeface="Calibri"/>
              </a:rPr>
              <a:t>v</a:t>
            </a:r>
            <a:endParaRPr sz="2400" baseline="-20833">
              <a:latin typeface="Calibri"/>
              <a:cs typeface="Calibri"/>
            </a:endParaRPr>
          </a:p>
          <a:p>
            <a:pPr marL="337820" indent="-299720">
              <a:lnSpc>
                <a:spcPct val="100000"/>
              </a:lnSpc>
              <a:buFont typeface="Calibri"/>
              <a:buAutoNum type="arabicPeriod"/>
              <a:tabLst>
                <a:tab pos="337820" algn="l"/>
              </a:tabLst>
            </a:pPr>
            <a:r>
              <a:rPr sz="2400" b="1" i="1" dirty="0">
                <a:latin typeface="Calibri"/>
                <a:cs typeface="Calibri"/>
              </a:rPr>
              <a:t>Output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Admittance</a:t>
            </a:r>
            <a:r>
              <a:rPr sz="2400" b="1" i="1" spc="-8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Y</a:t>
            </a:r>
            <a:r>
              <a:rPr sz="2400" b="1" i="1" spc="-37" baseline="-20833" dirty="0">
                <a:latin typeface="Calibri"/>
                <a:cs typeface="Calibri"/>
              </a:rPr>
              <a:t>0</a:t>
            </a:r>
            <a:endParaRPr sz="2400" baseline="-20833">
              <a:latin typeface="Calibri"/>
              <a:cs typeface="Calibri"/>
            </a:endParaRPr>
          </a:p>
          <a:p>
            <a:pPr marL="338455" indent="-300355">
              <a:lnSpc>
                <a:spcPct val="100000"/>
              </a:lnSpc>
              <a:spcBef>
                <a:spcPts val="5"/>
              </a:spcBef>
              <a:buFont typeface="Calibri"/>
              <a:buAutoNum type="arabicPeriod"/>
              <a:tabLst>
                <a:tab pos="338455" algn="l"/>
              </a:tabLst>
            </a:pPr>
            <a:r>
              <a:rPr sz="2400" b="1" i="1" dirty="0">
                <a:latin typeface="Calibri"/>
                <a:cs typeface="Calibri"/>
              </a:rPr>
              <a:t>Output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Resistance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R</a:t>
            </a:r>
            <a:r>
              <a:rPr sz="2400" b="1" i="1" spc="-37" baseline="-20833" dirty="0">
                <a:latin typeface="Calibri"/>
                <a:cs typeface="Calibri"/>
              </a:rPr>
              <a:t>o</a:t>
            </a:r>
            <a:endParaRPr sz="2400" baseline="-20833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0" y="1286255"/>
            <a:ext cx="6330696" cy="233890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289" y="-13004"/>
            <a:ext cx="8312784" cy="1246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4000" dirty="0"/>
              <a:t>CE</a:t>
            </a:r>
            <a:r>
              <a:rPr sz="4000" spc="-50" dirty="0"/>
              <a:t> </a:t>
            </a:r>
            <a:r>
              <a:rPr sz="4000" dirty="0"/>
              <a:t>Amplifier</a:t>
            </a:r>
            <a:r>
              <a:rPr sz="4000" spc="-70" dirty="0"/>
              <a:t> </a:t>
            </a:r>
            <a:r>
              <a:rPr sz="4000" dirty="0"/>
              <a:t>Without</a:t>
            </a:r>
            <a:r>
              <a:rPr sz="4000" spc="-95" dirty="0"/>
              <a:t> </a:t>
            </a:r>
            <a:r>
              <a:rPr sz="4000" dirty="0"/>
              <a:t>Emitter</a:t>
            </a:r>
            <a:r>
              <a:rPr sz="4000" spc="-75" dirty="0"/>
              <a:t> </a:t>
            </a:r>
            <a:r>
              <a:rPr sz="4000" spc="-10" dirty="0"/>
              <a:t>Resistance</a:t>
            </a:r>
            <a:endParaRPr sz="4000"/>
          </a:p>
          <a:p>
            <a:pPr marL="2540" algn="ctr">
              <a:lnSpc>
                <a:spcPct val="100000"/>
              </a:lnSpc>
            </a:pPr>
            <a:r>
              <a:rPr sz="4000" b="1" dirty="0">
                <a:latin typeface="Calibri"/>
                <a:cs typeface="Calibri"/>
              </a:rPr>
              <a:t>(Using</a:t>
            </a:r>
            <a:r>
              <a:rPr sz="4000" b="1" spc="-3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Hybrid</a:t>
            </a:r>
            <a:r>
              <a:rPr sz="4000" b="1" spc="1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Model)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744" y="1213103"/>
            <a:ext cx="3224784" cy="27157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9744" y="1286255"/>
            <a:ext cx="6501384" cy="25938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49090" y="4088638"/>
            <a:ext cx="556577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Determine</a:t>
            </a:r>
            <a:r>
              <a:rPr sz="2400" b="1" i="1" spc="-85" dirty="0">
                <a:latin typeface="Calibri"/>
                <a:cs typeface="Calibri"/>
              </a:rPr>
              <a:t> </a:t>
            </a:r>
            <a:r>
              <a:rPr sz="2400" b="1" i="1" spc="-5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268605" indent="-247650">
              <a:lnSpc>
                <a:spcPct val="100000"/>
              </a:lnSpc>
              <a:buSzPct val="95833"/>
              <a:buAutoNum type="arabicPeriod"/>
              <a:tabLst>
                <a:tab pos="268605" algn="l"/>
              </a:tabLst>
            </a:pPr>
            <a:r>
              <a:rPr sz="2400" b="1" i="1" dirty="0">
                <a:latin typeface="Calibri"/>
                <a:cs typeface="Calibri"/>
              </a:rPr>
              <a:t>Current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Gain</a:t>
            </a:r>
            <a:r>
              <a:rPr sz="2400" b="1" i="1" spc="-8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or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Current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Amplification</a:t>
            </a:r>
            <a:r>
              <a:rPr sz="2400" b="1" i="1" spc="-10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A</a:t>
            </a:r>
            <a:r>
              <a:rPr sz="2400" b="1" i="1" spc="-37" baseline="-20833" dirty="0">
                <a:latin typeface="Calibri"/>
                <a:cs typeface="Calibri"/>
              </a:rPr>
              <a:t>i</a:t>
            </a:r>
            <a:endParaRPr sz="2400" baseline="-20833">
              <a:latin typeface="Calibri"/>
              <a:cs typeface="Calibri"/>
            </a:endParaRPr>
          </a:p>
          <a:p>
            <a:pPr marL="338455" indent="-300355">
              <a:lnSpc>
                <a:spcPct val="100000"/>
              </a:lnSpc>
              <a:buAutoNum type="arabicPeriod"/>
              <a:tabLst>
                <a:tab pos="338455" algn="l"/>
              </a:tabLst>
            </a:pPr>
            <a:r>
              <a:rPr sz="2400" b="1" i="1" dirty="0">
                <a:latin typeface="Calibri"/>
                <a:cs typeface="Calibri"/>
              </a:rPr>
              <a:t>Input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Resistance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R</a:t>
            </a:r>
            <a:r>
              <a:rPr sz="2400" b="1" i="1" spc="-37" baseline="-20833" dirty="0">
                <a:latin typeface="Calibri"/>
                <a:cs typeface="Calibri"/>
              </a:rPr>
              <a:t>i</a:t>
            </a:r>
            <a:endParaRPr sz="2400" baseline="-20833">
              <a:latin typeface="Calibri"/>
              <a:cs typeface="Calibri"/>
            </a:endParaRPr>
          </a:p>
          <a:p>
            <a:pPr marL="338455" indent="-300355">
              <a:lnSpc>
                <a:spcPct val="100000"/>
              </a:lnSpc>
              <a:spcBef>
                <a:spcPts val="5"/>
              </a:spcBef>
              <a:buFont typeface="Calibri"/>
              <a:buAutoNum type="arabicPeriod"/>
              <a:tabLst>
                <a:tab pos="338455" algn="l"/>
                <a:tab pos="5254625" algn="l"/>
              </a:tabLst>
            </a:pPr>
            <a:r>
              <a:rPr sz="2400" b="1" i="1" spc="-10" dirty="0">
                <a:latin typeface="Calibri"/>
                <a:cs typeface="Calibri"/>
              </a:rPr>
              <a:t>Voltage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Gain</a:t>
            </a:r>
            <a:r>
              <a:rPr sz="2400" b="1" i="1" spc="-10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or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Voltage</a:t>
            </a:r>
            <a:r>
              <a:rPr sz="2400" b="1" i="1" spc="-9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Amplification</a:t>
            </a:r>
            <a:r>
              <a:rPr sz="2400" b="1" i="1" dirty="0">
                <a:latin typeface="Calibri"/>
                <a:cs typeface="Calibri"/>
              </a:rPr>
              <a:t>	</a:t>
            </a:r>
            <a:r>
              <a:rPr sz="2400" b="1" i="1" spc="-25" dirty="0">
                <a:latin typeface="Calibri"/>
                <a:cs typeface="Calibri"/>
              </a:rPr>
              <a:t>A</a:t>
            </a:r>
            <a:r>
              <a:rPr sz="2400" b="1" i="1" spc="-37" baseline="-20833" dirty="0">
                <a:latin typeface="Calibri"/>
                <a:cs typeface="Calibri"/>
              </a:rPr>
              <a:t>v</a:t>
            </a:r>
            <a:endParaRPr sz="2400" baseline="-20833">
              <a:latin typeface="Calibri"/>
              <a:cs typeface="Calibri"/>
            </a:endParaRPr>
          </a:p>
          <a:p>
            <a:pPr marL="339090" indent="-300990">
              <a:lnSpc>
                <a:spcPct val="100000"/>
              </a:lnSpc>
              <a:buFont typeface="Calibri"/>
              <a:buAutoNum type="arabicPeriod"/>
              <a:tabLst>
                <a:tab pos="339090" algn="l"/>
              </a:tabLst>
            </a:pPr>
            <a:r>
              <a:rPr sz="2400" b="1" i="1" dirty="0">
                <a:latin typeface="Calibri"/>
                <a:cs typeface="Calibri"/>
              </a:rPr>
              <a:t>Output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Admittance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Y</a:t>
            </a:r>
            <a:r>
              <a:rPr sz="2400" b="1" i="1" spc="-37" baseline="-20833" dirty="0">
                <a:latin typeface="Calibri"/>
                <a:cs typeface="Calibri"/>
              </a:rPr>
              <a:t>0</a:t>
            </a:r>
            <a:endParaRPr sz="2400" baseline="-20833">
              <a:latin typeface="Calibri"/>
              <a:cs typeface="Calibri"/>
            </a:endParaRPr>
          </a:p>
          <a:p>
            <a:pPr marL="338455" indent="-300355">
              <a:lnSpc>
                <a:spcPct val="100000"/>
              </a:lnSpc>
              <a:buFont typeface="Calibri"/>
              <a:buAutoNum type="arabicPeriod"/>
              <a:tabLst>
                <a:tab pos="338455" algn="l"/>
              </a:tabLst>
            </a:pPr>
            <a:r>
              <a:rPr sz="2400" b="1" i="1" dirty="0">
                <a:latin typeface="Calibri"/>
                <a:cs typeface="Calibri"/>
              </a:rPr>
              <a:t>Output</a:t>
            </a:r>
            <a:r>
              <a:rPr sz="2400" b="1" i="1" spc="-8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Resistance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R</a:t>
            </a:r>
            <a:r>
              <a:rPr sz="2400" b="1" i="1" spc="-37" baseline="-20833" dirty="0">
                <a:latin typeface="Calibri"/>
                <a:cs typeface="Calibri"/>
              </a:rPr>
              <a:t>o</a:t>
            </a:r>
            <a:endParaRPr sz="2400" baseline="-2083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9289" y="58928"/>
            <a:ext cx="83121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Calibri"/>
                <a:cs typeface="Calibri"/>
              </a:rPr>
              <a:t>CE</a:t>
            </a:r>
            <a:r>
              <a:rPr sz="4000" spc="-5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Amplifier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Without</a:t>
            </a:r>
            <a:r>
              <a:rPr sz="4000" spc="-1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Emitter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Resistance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2530" y="3756736"/>
            <a:ext cx="4735195" cy="200342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94970" marR="69215" indent="-344805" algn="just">
              <a:lnSpc>
                <a:spcPts val="2910"/>
              </a:lnSpc>
              <a:spcBef>
                <a:spcPts val="484"/>
              </a:spcBef>
              <a:buFont typeface="Arial MT"/>
              <a:buChar char="•"/>
              <a:tabLst>
                <a:tab pos="394970" algn="l"/>
              </a:tabLst>
            </a:pPr>
            <a:r>
              <a:rPr sz="2700" b="1" i="1" dirty="0">
                <a:latin typeface="Calibri"/>
                <a:cs typeface="Calibri"/>
              </a:rPr>
              <a:t>Current</a:t>
            </a:r>
            <a:r>
              <a:rPr sz="2700" b="1" i="1" spc="395" dirty="0">
                <a:latin typeface="Calibri"/>
                <a:cs typeface="Calibri"/>
              </a:rPr>
              <a:t>   </a:t>
            </a:r>
            <a:r>
              <a:rPr sz="2700" b="1" i="1" dirty="0">
                <a:latin typeface="Calibri"/>
                <a:cs typeface="Calibri"/>
              </a:rPr>
              <a:t>Gain</a:t>
            </a:r>
            <a:r>
              <a:rPr sz="2700" b="1" i="1" spc="390" dirty="0">
                <a:latin typeface="Calibri"/>
                <a:cs typeface="Calibri"/>
              </a:rPr>
              <a:t>   </a:t>
            </a:r>
            <a:r>
              <a:rPr sz="2700" b="1" i="1" dirty="0">
                <a:latin typeface="Calibri"/>
                <a:cs typeface="Calibri"/>
              </a:rPr>
              <a:t>or</a:t>
            </a:r>
            <a:r>
              <a:rPr sz="2700" b="1" i="1" spc="390" dirty="0">
                <a:latin typeface="Calibri"/>
                <a:cs typeface="Calibri"/>
              </a:rPr>
              <a:t>   </a:t>
            </a:r>
            <a:r>
              <a:rPr sz="2700" b="1" i="1" spc="-10" dirty="0">
                <a:latin typeface="Calibri"/>
                <a:cs typeface="Calibri"/>
              </a:rPr>
              <a:t>Current Amplification:</a:t>
            </a:r>
            <a:endParaRPr sz="2700">
              <a:latin typeface="Calibri"/>
              <a:cs typeface="Calibri"/>
            </a:endParaRPr>
          </a:p>
          <a:p>
            <a:pPr marL="394970" marR="68580" indent="-344805" algn="just">
              <a:lnSpc>
                <a:spcPct val="90000"/>
              </a:lnSpc>
              <a:spcBef>
                <a:spcPts val="615"/>
              </a:spcBef>
              <a:buFont typeface="Arial MT"/>
              <a:buChar char="•"/>
              <a:tabLst>
                <a:tab pos="394970" algn="l"/>
              </a:tabLst>
            </a:pPr>
            <a:r>
              <a:rPr sz="2700" dirty="0">
                <a:latin typeface="Calibri"/>
                <a:cs typeface="Calibri"/>
              </a:rPr>
              <a:t>Current</a:t>
            </a:r>
            <a:r>
              <a:rPr sz="2700" spc="2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gain</a:t>
            </a:r>
            <a:r>
              <a:rPr sz="2700" spc="254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2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defined</a:t>
            </a:r>
            <a:r>
              <a:rPr sz="2700" spc="2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as</a:t>
            </a:r>
            <a:r>
              <a:rPr sz="2700" spc="26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dirty="0">
                <a:latin typeface="Calibri"/>
                <a:cs typeface="Calibri"/>
              </a:rPr>
              <a:t>ratio</a:t>
            </a:r>
            <a:r>
              <a:rPr sz="2700" spc="3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3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3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load</a:t>
            </a:r>
            <a:r>
              <a:rPr sz="2700" spc="3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current</a:t>
            </a:r>
            <a:r>
              <a:rPr sz="2700" spc="3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</a:t>
            </a:r>
            <a:r>
              <a:rPr sz="2700" baseline="-20061" dirty="0">
                <a:latin typeface="Calibri"/>
                <a:cs typeface="Calibri"/>
              </a:rPr>
              <a:t>L</a:t>
            </a:r>
            <a:r>
              <a:rPr sz="2700" spc="97" baseline="-20061" dirty="0">
                <a:latin typeface="Calibri"/>
                <a:cs typeface="Calibri"/>
              </a:rPr>
              <a:t>  </a:t>
            </a:r>
            <a:r>
              <a:rPr sz="2700" spc="-25" dirty="0">
                <a:latin typeface="Calibri"/>
                <a:cs typeface="Calibri"/>
              </a:rPr>
              <a:t>to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input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current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I</a:t>
            </a:r>
            <a:r>
              <a:rPr sz="2700" spc="-37" baseline="-20061" dirty="0">
                <a:latin typeface="Calibri"/>
                <a:cs typeface="Calibri"/>
              </a:rPr>
              <a:t>b</a:t>
            </a:r>
            <a:r>
              <a:rPr sz="2700" spc="-25" dirty="0">
                <a:latin typeface="Calibri"/>
                <a:cs typeface="Calibri"/>
              </a:rPr>
              <a:t>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975" y="1286255"/>
            <a:ext cx="6214872" cy="24810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404165" y="1015516"/>
            <a:ext cx="328930" cy="687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00" i="1" u="sng" spc="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 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00855" y="626558"/>
            <a:ext cx="4965065" cy="687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4000" b="1" dirty="0">
                <a:latin typeface="Calibri"/>
                <a:cs typeface="Calibri"/>
              </a:rPr>
              <a:t>(Using</a:t>
            </a:r>
            <a:r>
              <a:rPr sz="4000" b="1" spc="-3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Hybrid</a:t>
            </a:r>
            <a:r>
              <a:rPr sz="4000" b="1" spc="10" dirty="0">
                <a:latin typeface="Calibri"/>
                <a:cs typeface="Calibri"/>
              </a:rPr>
              <a:t> </a:t>
            </a:r>
            <a:r>
              <a:rPr sz="4000" b="1" spc="40" dirty="0">
                <a:latin typeface="Calibri"/>
                <a:cs typeface="Calibri"/>
              </a:rPr>
              <a:t>Model)</a:t>
            </a:r>
            <a:r>
              <a:rPr sz="6450" i="1" u="sng" spc="60" baseline="-4005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 </a:t>
            </a:r>
            <a:endParaRPr sz="6450" baseline="-4005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75606" y="1377451"/>
            <a:ext cx="127635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i="1" spc="5" dirty="0">
                <a:latin typeface="Times New Roman"/>
                <a:cs typeface="Times New Roman"/>
              </a:rPr>
              <a:t>c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55366" y="1582745"/>
            <a:ext cx="1391920" cy="687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1056640" algn="l"/>
              </a:tabLst>
            </a:pPr>
            <a:r>
              <a:rPr sz="4300" i="1" spc="70" dirty="0">
                <a:latin typeface="Times New Roman"/>
                <a:cs typeface="Times New Roman"/>
              </a:rPr>
              <a:t>i</a:t>
            </a:r>
            <a:r>
              <a:rPr sz="2475" i="1" spc="104" baseline="-6734" dirty="0">
                <a:latin typeface="Times New Roman"/>
                <a:cs typeface="Times New Roman"/>
              </a:rPr>
              <a:t>b</a:t>
            </a:r>
            <a:r>
              <a:rPr sz="2475" i="1" baseline="-6734" dirty="0">
                <a:latin typeface="Times New Roman"/>
                <a:cs typeface="Times New Roman"/>
              </a:rPr>
              <a:t>	</a:t>
            </a:r>
            <a:r>
              <a:rPr sz="4300" i="1" spc="60" dirty="0">
                <a:latin typeface="Times New Roman"/>
                <a:cs typeface="Times New Roman"/>
              </a:rPr>
              <a:t>i</a:t>
            </a:r>
            <a:r>
              <a:rPr sz="2475" i="1" spc="89" baseline="-6734" dirty="0">
                <a:latin typeface="Times New Roman"/>
                <a:cs typeface="Times New Roman"/>
              </a:rPr>
              <a:t>b</a:t>
            </a:r>
            <a:endParaRPr sz="2475" baseline="-6734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42809" y="1364832"/>
            <a:ext cx="1845945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34035" algn="l"/>
                <a:tab pos="1031240" algn="l"/>
                <a:tab pos="1287145" algn="l"/>
              </a:tabLst>
            </a:pPr>
            <a:r>
              <a:rPr sz="2900" spc="114" dirty="0">
                <a:latin typeface="Times New Roman"/>
                <a:cs typeface="Times New Roman"/>
              </a:rPr>
              <a:t>A</a:t>
            </a:r>
            <a:r>
              <a:rPr sz="2475" spc="172" baseline="-23569" dirty="0">
                <a:latin typeface="Times New Roman"/>
                <a:cs typeface="Times New Roman"/>
              </a:rPr>
              <a:t>i</a:t>
            </a:r>
            <a:r>
              <a:rPr sz="2475" baseline="-23569" dirty="0">
                <a:latin typeface="Times New Roman"/>
                <a:cs typeface="Times New Roman"/>
              </a:rPr>
              <a:t>	</a:t>
            </a:r>
            <a:r>
              <a:rPr sz="2900" spc="60" dirty="0">
                <a:latin typeface="Symbol"/>
                <a:cs typeface="Symbol"/>
              </a:rPr>
              <a:t></a:t>
            </a:r>
            <a:r>
              <a:rPr sz="2900" dirty="0">
                <a:latin typeface="Times New Roman"/>
                <a:cs typeface="Times New Roman"/>
              </a:rPr>
              <a:t>	</a:t>
            </a:r>
            <a:r>
              <a:rPr sz="2475" i="1" spc="44" baseline="37037" dirty="0">
                <a:latin typeface="Times New Roman"/>
                <a:cs typeface="Times New Roman"/>
              </a:rPr>
              <a:t>L</a:t>
            </a:r>
            <a:r>
              <a:rPr sz="2475" i="1" baseline="37037" dirty="0">
                <a:latin typeface="Times New Roman"/>
                <a:cs typeface="Times New Roman"/>
              </a:rPr>
              <a:t>	</a:t>
            </a:r>
            <a:r>
              <a:rPr sz="2900" spc="110" dirty="0">
                <a:latin typeface="Symbol"/>
                <a:cs typeface="Symbol"/>
              </a:rPr>
              <a:t></a:t>
            </a:r>
            <a:r>
              <a:rPr sz="2900" spc="-40" dirty="0">
                <a:latin typeface="Times New Roman"/>
                <a:cs typeface="Times New Roman"/>
              </a:rPr>
              <a:t> </a:t>
            </a:r>
            <a:r>
              <a:rPr sz="2900" spc="60" dirty="0">
                <a:latin typeface="Symbol"/>
                <a:cs typeface="Symbol"/>
              </a:rPr>
              <a:t></a:t>
            </a:r>
            <a:endParaRPr sz="29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4871" y="2174646"/>
            <a:ext cx="2964815" cy="14624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sz="6150" i="1" baseline="2710" dirty="0">
                <a:latin typeface="Times New Roman"/>
                <a:cs typeface="Times New Roman"/>
              </a:rPr>
              <a:t>i</a:t>
            </a:r>
            <a:r>
              <a:rPr sz="1600" i="1" dirty="0">
                <a:latin typeface="Times New Roman"/>
                <a:cs typeface="Times New Roman"/>
              </a:rPr>
              <a:t>c</a:t>
            </a:r>
            <a:r>
              <a:rPr sz="1600" i="1" spc="335" dirty="0">
                <a:latin typeface="Times New Roman"/>
                <a:cs typeface="Times New Roman"/>
              </a:rPr>
              <a:t> </a:t>
            </a:r>
            <a:r>
              <a:rPr sz="4050" baseline="21604" dirty="0">
                <a:latin typeface="Symbol"/>
                <a:cs typeface="Symbol"/>
              </a:rPr>
              <a:t></a:t>
            </a:r>
            <a:r>
              <a:rPr sz="4050" spc="-37" baseline="21604" dirty="0">
                <a:latin typeface="Times New Roman"/>
                <a:cs typeface="Times New Roman"/>
              </a:rPr>
              <a:t> </a:t>
            </a:r>
            <a:r>
              <a:rPr sz="6150" i="1" spc="187" baseline="2710" dirty="0">
                <a:latin typeface="Times New Roman"/>
                <a:cs typeface="Times New Roman"/>
              </a:rPr>
              <a:t>h</a:t>
            </a:r>
            <a:r>
              <a:rPr sz="1600" i="1" spc="125" dirty="0">
                <a:latin typeface="Times New Roman"/>
                <a:cs typeface="Times New Roman"/>
              </a:rPr>
              <a:t>fe</a:t>
            </a:r>
            <a:r>
              <a:rPr sz="6150" i="1" spc="187" baseline="2710" dirty="0">
                <a:latin typeface="Times New Roman"/>
                <a:cs typeface="Times New Roman"/>
              </a:rPr>
              <a:t>i</a:t>
            </a:r>
            <a:r>
              <a:rPr sz="1600" i="1" spc="125" dirty="0">
                <a:latin typeface="Times New Roman"/>
                <a:cs typeface="Times New Roman"/>
              </a:rPr>
              <a:t>b</a:t>
            </a:r>
            <a:r>
              <a:rPr sz="1600" i="1" spc="140" dirty="0">
                <a:latin typeface="Times New Roman"/>
                <a:cs typeface="Times New Roman"/>
              </a:rPr>
              <a:t> </a:t>
            </a:r>
            <a:r>
              <a:rPr sz="4050" baseline="21604" dirty="0">
                <a:latin typeface="Symbol"/>
                <a:cs typeface="Symbol"/>
              </a:rPr>
              <a:t></a:t>
            </a:r>
            <a:r>
              <a:rPr sz="4050" spc="-247" baseline="21604" dirty="0">
                <a:latin typeface="Times New Roman"/>
                <a:cs typeface="Times New Roman"/>
              </a:rPr>
              <a:t> </a:t>
            </a:r>
            <a:r>
              <a:rPr sz="6150" i="1" baseline="2710" dirty="0">
                <a:latin typeface="Times New Roman"/>
                <a:cs typeface="Times New Roman"/>
              </a:rPr>
              <a:t>h</a:t>
            </a:r>
            <a:r>
              <a:rPr sz="1600" i="1" dirty="0">
                <a:latin typeface="Times New Roman"/>
                <a:cs typeface="Times New Roman"/>
              </a:rPr>
              <a:t>oe</a:t>
            </a:r>
            <a:r>
              <a:rPr sz="1600" i="1" spc="-125" dirty="0">
                <a:latin typeface="Times New Roman"/>
                <a:cs typeface="Times New Roman"/>
              </a:rPr>
              <a:t> </a:t>
            </a:r>
            <a:r>
              <a:rPr sz="6150" i="1" spc="-37" baseline="2710" dirty="0">
                <a:latin typeface="Times New Roman"/>
                <a:cs typeface="Times New Roman"/>
              </a:rPr>
              <a:t>v</a:t>
            </a:r>
            <a:r>
              <a:rPr sz="1600" i="1" spc="-25" dirty="0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  <a:p>
            <a:pPr marL="118745">
              <a:lnSpc>
                <a:spcPct val="100000"/>
              </a:lnSpc>
              <a:spcBef>
                <a:spcPts val="730"/>
              </a:spcBef>
            </a:pPr>
            <a:r>
              <a:rPr sz="6225" i="1" baseline="2677" dirty="0">
                <a:latin typeface="Times New Roman"/>
                <a:cs typeface="Times New Roman"/>
              </a:rPr>
              <a:t>v</a:t>
            </a:r>
            <a:r>
              <a:rPr sz="1600" i="1" dirty="0">
                <a:latin typeface="Times New Roman"/>
                <a:cs typeface="Times New Roman"/>
              </a:rPr>
              <a:t>c</a:t>
            </a:r>
            <a:r>
              <a:rPr sz="1600" i="1" spc="254" dirty="0">
                <a:latin typeface="Times New Roman"/>
                <a:cs typeface="Times New Roman"/>
              </a:rPr>
              <a:t> </a:t>
            </a:r>
            <a:r>
              <a:rPr sz="4125" spc="112" baseline="21212" dirty="0">
                <a:latin typeface="Symbol"/>
                <a:cs typeface="Symbol"/>
              </a:rPr>
              <a:t></a:t>
            </a:r>
            <a:r>
              <a:rPr sz="4125" spc="-419" baseline="21212" dirty="0">
                <a:latin typeface="Times New Roman"/>
                <a:cs typeface="Times New Roman"/>
              </a:rPr>
              <a:t> </a:t>
            </a:r>
            <a:r>
              <a:rPr sz="6225" i="1" spc="135" baseline="2677" dirty="0">
                <a:latin typeface="Times New Roman"/>
                <a:cs typeface="Times New Roman"/>
              </a:rPr>
              <a:t>i</a:t>
            </a:r>
            <a:r>
              <a:rPr sz="1600" i="1" spc="90" dirty="0">
                <a:latin typeface="Times New Roman"/>
                <a:cs typeface="Times New Roman"/>
              </a:rPr>
              <a:t>L</a:t>
            </a:r>
            <a:r>
              <a:rPr sz="1600" i="1" spc="95" dirty="0">
                <a:latin typeface="Times New Roman"/>
                <a:cs typeface="Times New Roman"/>
              </a:rPr>
              <a:t> </a:t>
            </a:r>
            <a:r>
              <a:rPr sz="6225" i="1" spc="89" baseline="2008" dirty="0">
                <a:latin typeface="Times New Roman"/>
                <a:cs typeface="Times New Roman"/>
              </a:rPr>
              <a:t>R</a:t>
            </a:r>
            <a:r>
              <a:rPr sz="2400" i="1" spc="89" baseline="1736" dirty="0">
                <a:latin typeface="Times New Roman"/>
                <a:cs typeface="Times New Roman"/>
              </a:rPr>
              <a:t>L</a:t>
            </a:r>
            <a:r>
              <a:rPr sz="2400" i="1" spc="375" baseline="1736" dirty="0">
                <a:latin typeface="Times New Roman"/>
                <a:cs typeface="Times New Roman"/>
              </a:rPr>
              <a:t> </a:t>
            </a:r>
            <a:r>
              <a:rPr sz="4125" spc="112" baseline="21212" dirty="0">
                <a:latin typeface="Symbol"/>
                <a:cs typeface="Symbol"/>
              </a:rPr>
              <a:t></a:t>
            </a:r>
            <a:r>
              <a:rPr sz="4125" spc="-187" baseline="21212" dirty="0">
                <a:latin typeface="Times New Roman"/>
                <a:cs typeface="Times New Roman"/>
              </a:rPr>
              <a:t> </a:t>
            </a:r>
            <a:r>
              <a:rPr sz="4125" spc="150" baseline="21212" dirty="0">
                <a:latin typeface="Symbol"/>
                <a:cs typeface="Symbol"/>
              </a:rPr>
              <a:t></a:t>
            </a:r>
            <a:r>
              <a:rPr sz="6225" i="1" spc="150" baseline="2677" dirty="0">
                <a:latin typeface="Times New Roman"/>
                <a:cs typeface="Times New Roman"/>
              </a:rPr>
              <a:t>i</a:t>
            </a:r>
            <a:r>
              <a:rPr sz="1600" i="1" spc="100" dirty="0">
                <a:latin typeface="Times New Roman"/>
                <a:cs typeface="Times New Roman"/>
              </a:rPr>
              <a:t>c</a:t>
            </a:r>
            <a:r>
              <a:rPr sz="1600" i="1" spc="105" dirty="0">
                <a:latin typeface="Times New Roman"/>
                <a:cs typeface="Times New Roman"/>
              </a:rPr>
              <a:t> </a:t>
            </a:r>
            <a:r>
              <a:rPr sz="6225" i="1" spc="52" baseline="2008" dirty="0">
                <a:latin typeface="Times New Roman"/>
                <a:cs typeface="Times New Roman"/>
              </a:rPr>
              <a:t>R</a:t>
            </a:r>
            <a:r>
              <a:rPr sz="2400" i="1" spc="52" baseline="1736" dirty="0">
                <a:latin typeface="Times New Roman"/>
                <a:cs typeface="Times New Roman"/>
              </a:rPr>
              <a:t>L</a:t>
            </a:r>
            <a:endParaRPr sz="2400" baseline="1736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22067" y="3578310"/>
            <a:ext cx="3854450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825" i="1" spc="82" baseline="2442" dirty="0">
                <a:latin typeface="Times New Roman"/>
                <a:cs typeface="Times New Roman"/>
              </a:rPr>
              <a:t>i</a:t>
            </a:r>
            <a:r>
              <a:rPr sz="1750" i="1" spc="55" dirty="0">
                <a:latin typeface="Times New Roman"/>
                <a:cs typeface="Times New Roman"/>
              </a:rPr>
              <a:t>c</a:t>
            </a:r>
            <a:r>
              <a:rPr sz="1750" i="1" spc="355" dirty="0">
                <a:latin typeface="Times New Roman"/>
                <a:cs typeface="Times New Roman"/>
              </a:rPr>
              <a:t> </a:t>
            </a:r>
            <a:r>
              <a:rPr sz="4575" baseline="20947" dirty="0">
                <a:latin typeface="Symbol"/>
                <a:cs typeface="Symbol"/>
              </a:rPr>
              <a:t></a:t>
            </a:r>
            <a:r>
              <a:rPr sz="4575" spc="-97" baseline="20947" dirty="0">
                <a:latin typeface="Times New Roman"/>
                <a:cs typeface="Times New Roman"/>
              </a:rPr>
              <a:t> </a:t>
            </a:r>
            <a:r>
              <a:rPr sz="6825" i="1" spc="225" baseline="2442" dirty="0">
                <a:latin typeface="Times New Roman"/>
                <a:cs typeface="Times New Roman"/>
              </a:rPr>
              <a:t>h</a:t>
            </a:r>
            <a:r>
              <a:rPr sz="1750" i="1" spc="150" dirty="0">
                <a:latin typeface="Times New Roman"/>
                <a:cs typeface="Times New Roman"/>
              </a:rPr>
              <a:t>fe</a:t>
            </a:r>
            <a:r>
              <a:rPr sz="6825" i="1" spc="225" baseline="2442" dirty="0">
                <a:latin typeface="Times New Roman"/>
                <a:cs typeface="Times New Roman"/>
              </a:rPr>
              <a:t>i</a:t>
            </a:r>
            <a:r>
              <a:rPr sz="1750" i="1" spc="150" dirty="0">
                <a:latin typeface="Times New Roman"/>
                <a:cs typeface="Times New Roman"/>
              </a:rPr>
              <a:t>b</a:t>
            </a:r>
            <a:r>
              <a:rPr sz="1750" i="1" spc="140" dirty="0">
                <a:latin typeface="Times New Roman"/>
                <a:cs typeface="Times New Roman"/>
              </a:rPr>
              <a:t> </a:t>
            </a:r>
            <a:r>
              <a:rPr sz="4575" baseline="20947" dirty="0">
                <a:latin typeface="Symbol"/>
                <a:cs typeface="Symbol"/>
              </a:rPr>
              <a:t></a:t>
            </a:r>
            <a:r>
              <a:rPr sz="4575" spc="-315" baseline="20947" dirty="0">
                <a:latin typeface="Times New Roman"/>
                <a:cs typeface="Times New Roman"/>
              </a:rPr>
              <a:t> </a:t>
            </a:r>
            <a:r>
              <a:rPr sz="6825" i="1" baseline="2442" dirty="0">
                <a:latin typeface="Times New Roman"/>
                <a:cs typeface="Times New Roman"/>
              </a:rPr>
              <a:t>h</a:t>
            </a:r>
            <a:r>
              <a:rPr sz="1750" i="1" dirty="0">
                <a:latin typeface="Times New Roman"/>
                <a:cs typeface="Times New Roman"/>
              </a:rPr>
              <a:t>oe</a:t>
            </a:r>
            <a:r>
              <a:rPr sz="1750" i="1" spc="-80" dirty="0">
                <a:latin typeface="Times New Roman"/>
                <a:cs typeface="Times New Roman"/>
              </a:rPr>
              <a:t> </a:t>
            </a:r>
            <a:r>
              <a:rPr sz="7275" spc="-592" baseline="13172" dirty="0">
                <a:latin typeface="Symbol"/>
                <a:cs typeface="Symbol"/>
              </a:rPr>
              <a:t></a:t>
            </a:r>
            <a:r>
              <a:rPr sz="4575" spc="-592" baseline="20947" dirty="0">
                <a:latin typeface="Symbol"/>
                <a:cs typeface="Symbol"/>
              </a:rPr>
              <a:t></a:t>
            </a:r>
            <a:r>
              <a:rPr sz="4575" spc="-615" baseline="20947" dirty="0">
                <a:latin typeface="Times New Roman"/>
                <a:cs typeface="Times New Roman"/>
              </a:rPr>
              <a:t> </a:t>
            </a:r>
            <a:r>
              <a:rPr sz="6825" i="1" spc="82" baseline="2442" dirty="0">
                <a:latin typeface="Times New Roman"/>
                <a:cs typeface="Times New Roman"/>
              </a:rPr>
              <a:t>i</a:t>
            </a:r>
            <a:r>
              <a:rPr sz="1750" i="1" spc="55" dirty="0">
                <a:latin typeface="Times New Roman"/>
                <a:cs typeface="Times New Roman"/>
              </a:rPr>
              <a:t>c</a:t>
            </a:r>
            <a:r>
              <a:rPr sz="1750" i="1" spc="180" dirty="0">
                <a:latin typeface="Times New Roman"/>
                <a:cs typeface="Times New Roman"/>
              </a:rPr>
              <a:t> </a:t>
            </a:r>
            <a:r>
              <a:rPr sz="6825" i="1" spc="142" baseline="2442" dirty="0">
                <a:latin typeface="Times New Roman"/>
                <a:cs typeface="Times New Roman"/>
              </a:rPr>
              <a:t>R</a:t>
            </a:r>
            <a:r>
              <a:rPr sz="2625" i="1" spc="142" baseline="1587" dirty="0">
                <a:latin typeface="Times New Roman"/>
                <a:cs typeface="Times New Roman"/>
              </a:rPr>
              <a:t>L</a:t>
            </a:r>
            <a:r>
              <a:rPr sz="2625" i="1" spc="-352" baseline="1587" dirty="0">
                <a:latin typeface="Times New Roman"/>
                <a:cs typeface="Times New Roman"/>
              </a:rPr>
              <a:t> </a:t>
            </a:r>
            <a:r>
              <a:rPr sz="7275" spc="-997" baseline="13172" dirty="0">
                <a:latin typeface="Symbol"/>
                <a:cs typeface="Symbol"/>
              </a:rPr>
              <a:t></a:t>
            </a:r>
            <a:endParaRPr sz="7275" baseline="13172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08009" y="4073561"/>
            <a:ext cx="527050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50" spc="-330" dirty="0">
                <a:latin typeface="Symbol"/>
                <a:cs typeface="Symbol"/>
              </a:rPr>
              <a:t></a:t>
            </a:r>
            <a:r>
              <a:rPr sz="3050" spc="-330" dirty="0">
                <a:latin typeface="Times New Roman"/>
                <a:cs typeface="Times New Roman"/>
              </a:rPr>
              <a:t>1</a:t>
            </a:r>
            <a:r>
              <a:rPr sz="3050" spc="-330" dirty="0">
                <a:latin typeface="Symbol"/>
                <a:cs typeface="Symbol"/>
              </a:rPr>
              <a:t>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58188" y="4231526"/>
            <a:ext cx="728345" cy="721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51815" algn="l"/>
              </a:tabLst>
            </a:pPr>
            <a:r>
              <a:rPr sz="4550" i="1" spc="-50" dirty="0">
                <a:latin typeface="Times New Roman"/>
                <a:cs typeface="Times New Roman"/>
              </a:rPr>
              <a:t>h</a:t>
            </a:r>
            <a:r>
              <a:rPr sz="4550" i="1" dirty="0">
                <a:latin typeface="Times New Roman"/>
                <a:cs typeface="Times New Roman"/>
              </a:rPr>
              <a:t>	</a:t>
            </a:r>
            <a:r>
              <a:rPr sz="4550" i="1" spc="-50" dirty="0">
                <a:latin typeface="Times New Roman"/>
                <a:cs typeface="Times New Roman"/>
              </a:rPr>
              <a:t>i</a:t>
            </a:r>
            <a:endParaRPr sz="4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78701" y="4236147"/>
            <a:ext cx="963930" cy="721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92455" algn="l"/>
              </a:tabLst>
            </a:pPr>
            <a:r>
              <a:rPr sz="4550" i="1" spc="-50" dirty="0">
                <a:latin typeface="Times New Roman"/>
                <a:cs typeface="Times New Roman"/>
              </a:rPr>
              <a:t>h</a:t>
            </a:r>
            <a:r>
              <a:rPr sz="4550" i="1" dirty="0">
                <a:latin typeface="Times New Roman"/>
                <a:cs typeface="Times New Roman"/>
              </a:rPr>
              <a:t>	</a:t>
            </a:r>
            <a:r>
              <a:rPr sz="4550" i="1" spc="-50" dirty="0">
                <a:latin typeface="Times New Roman"/>
                <a:cs typeface="Times New Roman"/>
              </a:rPr>
              <a:t>R</a:t>
            </a:r>
            <a:endParaRPr sz="4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77464" y="4231525"/>
            <a:ext cx="188595" cy="721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50" i="1" spc="-50" dirty="0">
                <a:latin typeface="Times New Roman"/>
                <a:cs typeface="Times New Roman"/>
              </a:rPr>
              <a:t>i</a:t>
            </a:r>
            <a:endParaRPr sz="4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95784" y="4613511"/>
            <a:ext cx="511175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84175" algn="l"/>
              </a:tabLst>
            </a:pPr>
            <a:r>
              <a:rPr sz="1750" i="1" spc="25" dirty="0">
                <a:latin typeface="Times New Roman"/>
                <a:cs typeface="Times New Roman"/>
              </a:rPr>
              <a:t>fe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i="1" spc="-50" dirty="0">
                <a:latin typeface="Times New Roman"/>
                <a:cs typeface="Times New Roman"/>
              </a:rPr>
              <a:t>b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70288" y="4613510"/>
            <a:ext cx="815975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75640" algn="l"/>
              </a:tabLst>
            </a:pPr>
            <a:r>
              <a:rPr sz="1750" i="1" spc="-25" dirty="0">
                <a:latin typeface="Times New Roman"/>
                <a:cs typeface="Times New Roman"/>
              </a:rPr>
              <a:t>oe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2625" i="1" spc="-75" baseline="1587" dirty="0">
                <a:latin typeface="Times New Roman"/>
                <a:cs typeface="Times New Roman"/>
              </a:rPr>
              <a:t>L</a:t>
            </a:r>
            <a:endParaRPr sz="2625" baseline="1587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84982" y="4073561"/>
            <a:ext cx="411480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50" spc="-105" dirty="0">
                <a:latin typeface="Symbol"/>
                <a:cs typeface="Symbol"/>
              </a:rPr>
              <a:t></a:t>
            </a:r>
            <a:r>
              <a:rPr sz="3050" spc="-105" dirty="0">
                <a:latin typeface="Symbol"/>
                <a:cs typeface="Symbol"/>
              </a:rPr>
              <a:t>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50537" y="4613510"/>
            <a:ext cx="12700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i="1" spc="-50" dirty="0">
                <a:latin typeface="Times New Roman"/>
                <a:cs typeface="Times New Roman"/>
              </a:rPr>
              <a:t>c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072568" y="5603700"/>
            <a:ext cx="1504950" cy="0"/>
          </a:xfrm>
          <a:custGeom>
            <a:avLst/>
            <a:gdLst/>
            <a:ahLst/>
            <a:cxnLst/>
            <a:rect l="l" t="t" r="r" b="b"/>
            <a:pathLst>
              <a:path w="1504950">
                <a:moveTo>
                  <a:pt x="0" y="0"/>
                </a:moveTo>
                <a:lnTo>
                  <a:pt x="1504384" y="0"/>
                </a:lnTo>
              </a:path>
            </a:pathLst>
          </a:custGeom>
          <a:ln w="60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47283" y="5545541"/>
            <a:ext cx="14033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i="1" spc="-50" dirty="0">
                <a:latin typeface="Times New Roman"/>
                <a:cs typeface="Times New Roman"/>
              </a:rPr>
              <a:t>i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50315" y="5077721"/>
            <a:ext cx="14732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i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16906" y="5313446"/>
            <a:ext cx="29337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i="1" spc="-50" dirty="0">
                <a:latin typeface="Times New Roman"/>
                <a:cs typeface="Times New Roman"/>
              </a:rPr>
              <a:t>A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78457" y="5845604"/>
            <a:ext cx="10223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i="1" spc="-50" dirty="0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84522" y="5377161"/>
            <a:ext cx="9207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i="1" spc="-50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75617" y="5605675"/>
            <a:ext cx="62230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i="1" spc="-50" dirty="0">
                <a:latin typeface="Times New Roman"/>
                <a:cs typeface="Times New Roman"/>
              </a:rPr>
              <a:t>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36346" y="5249684"/>
            <a:ext cx="52895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spc="40" dirty="0">
                <a:latin typeface="Symbol"/>
                <a:cs typeface="Symbol"/>
              </a:rPr>
              <a:t>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02529" y="5366664"/>
            <a:ext cx="18097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350" spc="-50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027745" y="4911064"/>
            <a:ext cx="1558925" cy="135001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59690" algn="ctr">
              <a:lnSpc>
                <a:spcPct val="100000"/>
              </a:lnSpc>
              <a:spcBef>
                <a:spcPts val="1045"/>
              </a:spcBef>
            </a:pPr>
            <a:r>
              <a:rPr sz="5325" i="1" baseline="4694" dirty="0">
                <a:latin typeface="Times New Roman"/>
                <a:cs typeface="Times New Roman"/>
              </a:rPr>
              <a:t>h</a:t>
            </a:r>
            <a:r>
              <a:rPr sz="5325" i="1" spc="-562" baseline="4694" dirty="0">
                <a:latin typeface="Times New Roman"/>
                <a:cs typeface="Times New Roman"/>
              </a:rPr>
              <a:t> </a:t>
            </a:r>
            <a:r>
              <a:rPr sz="2350" i="1" spc="55" dirty="0">
                <a:latin typeface="Times New Roman"/>
                <a:cs typeface="Times New Roman"/>
              </a:rPr>
              <a:t>fe</a:t>
            </a:r>
            <a:endParaRPr sz="235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955"/>
              </a:spcBef>
            </a:pPr>
            <a:r>
              <a:rPr sz="5325" baseline="11737" dirty="0">
                <a:latin typeface="Times New Roman"/>
                <a:cs typeface="Times New Roman"/>
              </a:rPr>
              <a:t>1</a:t>
            </a:r>
            <a:r>
              <a:rPr sz="5325" baseline="11737" dirty="0">
                <a:latin typeface="Symbol"/>
                <a:cs typeface="Symbol"/>
              </a:rPr>
              <a:t></a:t>
            </a:r>
            <a:r>
              <a:rPr sz="5325" i="1" baseline="4694" dirty="0">
                <a:latin typeface="Times New Roman"/>
                <a:cs typeface="Times New Roman"/>
              </a:rPr>
              <a:t>h</a:t>
            </a:r>
            <a:r>
              <a:rPr sz="2350" i="1" dirty="0">
                <a:latin typeface="Times New Roman"/>
                <a:cs typeface="Times New Roman"/>
              </a:rPr>
              <a:t>oe</a:t>
            </a:r>
            <a:r>
              <a:rPr sz="2350" i="1" spc="-315" dirty="0">
                <a:latin typeface="Times New Roman"/>
                <a:cs typeface="Times New Roman"/>
              </a:rPr>
              <a:t> </a:t>
            </a:r>
            <a:r>
              <a:rPr sz="5325" i="1" spc="112" baseline="3912" dirty="0">
                <a:latin typeface="Times New Roman"/>
                <a:cs typeface="Times New Roman"/>
              </a:rPr>
              <a:t>R</a:t>
            </a:r>
            <a:r>
              <a:rPr sz="3525" i="1" spc="112" baseline="1182" dirty="0">
                <a:latin typeface="Times New Roman"/>
                <a:cs typeface="Times New Roman"/>
              </a:rPr>
              <a:t>L</a:t>
            </a:r>
            <a:endParaRPr sz="3525" baseline="1182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524243" y="4988052"/>
            <a:ext cx="3228340" cy="1313815"/>
          </a:xfrm>
          <a:custGeom>
            <a:avLst/>
            <a:gdLst/>
            <a:ahLst/>
            <a:cxnLst/>
            <a:rect l="l" t="t" r="r" b="b"/>
            <a:pathLst>
              <a:path w="3228340" h="1313814">
                <a:moveTo>
                  <a:pt x="0" y="1313688"/>
                </a:moveTo>
                <a:lnTo>
                  <a:pt x="3227831" y="1313688"/>
                </a:lnTo>
                <a:lnTo>
                  <a:pt x="3227831" y="0"/>
                </a:lnTo>
                <a:lnTo>
                  <a:pt x="0" y="0"/>
                </a:lnTo>
                <a:lnTo>
                  <a:pt x="0" y="1313688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616" y="1213103"/>
            <a:ext cx="6440424" cy="257251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33011" y="2147902"/>
            <a:ext cx="201930" cy="78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950" i="1" spc="60" dirty="0">
                <a:latin typeface="Times New Roman"/>
                <a:cs typeface="Times New Roman"/>
              </a:rPr>
              <a:t>i</a:t>
            </a:r>
            <a:endParaRPr sz="4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84556" y="1496501"/>
            <a:ext cx="314960" cy="78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950" i="1" u="sng" spc="1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endParaRPr sz="4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30348" y="2563556"/>
            <a:ext cx="14541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i="1" spc="35" dirty="0">
                <a:latin typeface="Times New Roman"/>
                <a:cs typeface="Times New Roman"/>
              </a:rPr>
              <a:t>b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87724" y="1912145"/>
            <a:ext cx="14541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i="1" u="heavy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76405" y="2178705"/>
            <a:ext cx="86360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dirty="0">
                <a:latin typeface="Times New Roman"/>
                <a:cs typeface="Times New Roman"/>
              </a:rPr>
              <a:t>i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33762" y="1897652"/>
            <a:ext cx="834390" cy="532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572135" algn="l"/>
              </a:tabLst>
            </a:pPr>
            <a:r>
              <a:rPr sz="3300" spc="125" dirty="0">
                <a:latin typeface="Times New Roman"/>
                <a:cs typeface="Times New Roman"/>
              </a:rPr>
              <a:t>R</a:t>
            </a:r>
            <a:r>
              <a:rPr sz="3300" dirty="0">
                <a:latin typeface="Times New Roman"/>
                <a:cs typeface="Times New Roman"/>
              </a:rPr>
              <a:t>	</a:t>
            </a:r>
            <a:r>
              <a:rPr sz="3300" spc="95" dirty="0">
                <a:latin typeface="Symbol"/>
                <a:cs typeface="Symbol"/>
              </a:rPr>
              <a:t>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51876" y="1546860"/>
            <a:ext cx="1612900" cy="1396365"/>
          </a:xfrm>
          <a:custGeom>
            <a:avLst/>
            <a:gdLst/>
            <a:ahLst/>
            <a:cxnLst/>
            <a:rect l="l" t="t" r="r" b="b"/>
            <a:pathLst>
              <a:path w="1612900" h="1396364">
                <a:moveTo>
                  <a:pt x="0" y="1395984"/>
                </a:moveTo>
                <a:lnTo>
                  <a:pt x="1612392" y="1395984"/>
                </a:lnTo>
                <a:lnTo>
                  <a:pt x="1612392" y="0"/>
                </a:lnTo>
                <a:lnTo>
                  <a:pt x="0" y="0"/>
                </a:lnTo>
                <a:lnTo>
                  <a:pt x="0" y="1395984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823203" y="3726179"/>
            <a:ext cx="4785360" cy="646430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5090"/>
              </a:lnSpc>
            </a:pPr>
            <a:r>
              <a:rPr sz="4450" i="1" dirty="0">
                <a:latin typeface="Times New Roman"/>
                <a:cs typeface="Times New Roman"/>
              </a:rPr>
              <a:t>v</a:t>
            </a:r>
            <a:r>
              <a:rPr sz="2550" i="1" baseline="-4901" dirty="0">
                <a:latin typeface="Times New Roman"/>
                <a:cs typeface="Times New Roman"/>
              </a:rPr>
              <a:t>c</a:t>
            </a:r>
            <a:r>
              <a:rPr sz="2550" i="1" spc="412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-457" baseline="17890" dirty="0">
                <a:latin typeface="Times New Roman"/>
                <a:cs typeface="Times New Roman"/>
              </a:rPr>
              <a:t> </a:t>
            </a:r>
            <a:r>
              <a:rPr sz="4450" i="1" spc="85" dirty="0">
                <a:latin typeface="Times New Roman"/>
                <a:cs typeface="Times New Roman"/>
              </a:rPr>
              <a:t>i</a:t>
            </a:r>
            <a:r>
              <a:rPr sz="2550" i="1" spc="127" baseline="-4901" dirty="0">
                <a:latin typeface="Times New Roman"/>
                <a:cs typeface="Times New Roman"/>
              </a:rPr>
              <a:t>L</a:t>
            </a:r>
            <a:r>
              <a:rPr sz="2550" i="1" spc="150" baseline="-4901" dirty="0">
                <a:latin typeface="Times New Roman"/>
                <a:cs typeface="Times New Roman"/>
              </a:rPr>
              <a:t> </a:t>
            </a:r>
            <a:r>
              <a:rPr sz="4450" i="1" spc="65" dirty="0">
                <a:latin typeface="Times New Roman"/>
                <a:cs typeface="Times New Roman"/>
              </a:rPr>
              <a:t>R</a:t>
            </a:r>
            <a:r>
              <a:rPr sz="2550" i="1" spc="97" baseline="-4901" dirty="0">
                <a:latin typeface="Times New Roman"/>
                <a:cs typeface="Times New Roman"/>
              </a:rPr>
              <a:t>L</a:t>
            </a:r>
            <a:r>
              <a:rPr sz="2550" i="1" spc="397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-209" baseline="17890" dirty="0">
                <a:latin typeface="Times New Roman"/>
                <a:cs typeface="Times New Roman"/>
              </a:rPr>
              <a:t> </a:t>
            </a:r>
            <a:r>
              <a:rPr sz="4425" spc="150" baseline="17890" dirty="0">
                <a:latin typeface="Symbol"/>
                <a:cs typeface="Symbol"/>
              </a:rPr>
              <a:t></a:t>
            </a:r>
            <a:r>
              <a:rPr sz="4450" i="1" spc="100" dirty="0">
                <a:latin typeface="Times New Roman"/>
                <a:cs typeface="Times New Roman"/>
              </a:rPr>
              <a:t>i</a:t>
            </a:r>
            <a:r>
              <a:rPr sz="2550" i="1" spc="150" baseline="-4901" dirty="0">
                <a:latin typeface="Times New Roman"/>
                <a:cs typeface="Times New Roman"/>
              </a:rPr>
              <a:t>c</a:t>
            </a:r>
            <a:r>
              <a:rPr sz="2550" i="1" spc="165" baseline="-4901" dirty="0">
                <a:latin typeface="Times New Roman"/>
                <a:cs typeface="Times New Roman"/>
              </a:rPr>
              <a:t> </a:t>
            </a:r>
            <a:r>
              <a:rPr sz="4450" i="1" spc="65" dirty="0">
                <a:latin typeface="Times New Roman"/>
                <a:cs typeface="Times New Roman"/>
              </a:rPr>
              <a:t>R</a:t>
            </a:r>
            <a:r>
              <a:rPr sz="2550" i="1" spc="97" baseline="-4901" dirty="0">
                <a:latin typeface="Times New Roman"/>
                <a:cs typeface="Times New Roman"/>
              </a:rPr>
              <a:t>L</a:t>
            </a:r>
            <a:r>
              <a:rPr sz="2550" i="1" spc="390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300" baseline="17890" dirty="0">
                <a:latin typeface="Times New Roman"/>
                <a:cs typeface="Times New Roman"/>
              </a:rPr>
              <a:t> </a:t>
            </a:r>
            <a:r>
              <a:rPr sz="4450" i="1" spc="-110" dirty="0">
                <a:latin typeface="Times New Roman"/>
                <a:cs typeface="Times New Roman"/>
              </a:rPr>
              <a:t>A</a:t>
            </a:r>
            <a:r>
              <a:rPr sz="2550" i="1" spc="-165" baseline="-4901" dirty="0">
                <a:latin typeface="Times New Roman"/>
                <a:cs typeface="Times New Roman"/>
              </a:rPr>
              <a:t>i</a:t>
            </a:r>
            <a:r>
              <a:rPr sz="2550" i="1" spc="-202" baseline="-4901" dirty="0">
                <a:latin typeface="Times New Roman"/>
                <a:cs typeface="Times New Roman"/>
              </a:rPr>
              <a:t> </a:t>
            </a:r>
            <a:r>
              <a:rPr sz="4450" i="1" dirty="0">
                <a:latin typeface="Times New Roman"/>
                <a:cs typeface="Times New Roman"/>
              </a:rPr>
              <a:t>i</a:t>
            </a:r>
            <a:r>
              <a:rPr sz="2550" i="1" baseline="-4901" dirty="0">
                <a:latin typeface="Times New Roman"/>
                <a:cs typeface="Times New Roman"/>
              </a:rPr>
              <a:t>b</a:t>
            </a:r>
            <a:r>
              <a:rPr sz="2550" i="1" spc="150" baseline="-4901" dirty="0">
                <a:latin typeface="Times New Roman"/>
                <a:cs typeface="Times New Roman"/>
              </a:rPr>
              <a:t> </a:t>
            </a:r>
            <a:r>
              <a:rPr sz="4450" i="1" spc="35" dirty="0">
                <a:latin typeface="Times New Roman"/>
                <a:cs typeface="Times New Roman"/>
              </a:rPr>
              <a:t>R</a:t>
            </a:r>
            <a:r>
              <a:rPr sz="2550" i="1" spc="52" baseline="-4901" dirty="0">
                <a:latin typeface="Times New Roman"/>
                <a:cs typeface="Times New Roman"/>
              </a:rPr>
              <a:t>L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38643" y="2915411"/>
            <a:ext cx="3243580" cy="741045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64769">
              <a:lnSpc>
                <a:spcPts val="5825"/>
              </a:lnSpc>
              <a:spcBef>
                <a:spcPts val="10"/>
              </a:spcBef>
            </a:pPr>
            <a:r>
              <a:rPr sz="7650" i="1" baseline="2723" dirty="0">
                <a:latin typeface="Times New Roman"/>
                <a:cs typeface="Times New Roman"/>
              </a:rPr>
              <a:t>v</a:t>
            </a:r>
            <a:r>
              <a:rPr sz="2000" i="1" dirty="0">
                <a:latin typeface="Times New Roman"/>
                <a:cs typeface="Times New Roman"/>
              </a:rPr>
              <a:t>b</a:t>
            </a:r>
            <a:r>
              <a:rPr sz="2000" i="1" spc="340" dirty="0">
                <a:latin typeface="Times New Roman"/>
                <a:cs typeface="Times New Roman"/>
              </a:rPr>
              <a:t> </a:t>
            </a:r>
            <a:r>
              <a:rPr sz="5100" spc="104" baseline="21241" dirty="0">
                <a:latin typeface="Symbol"/>
                <a:cs typeface="Symbol"/>
              </a:rPr>
              <a:t></a:t>
            </a:r>
            <a:r>
              <a:rPr sz="5100" spc="-202" baseline="21241" dirty="0">
                <a:latin typeface="Times New Roman"/>
                <a:cs typeface="Times New Roman"/>
              </a:rPr>
              <a:t> </a:t>
            </a:r>
            <a:r>
              <a:rPr sz="7650" i="1" baseline="2723" dirty="0">
                <a:latin typeface="Times New Roman"/>
                <a:cs typeface="Times New Roman"/>
              </a:rPr>
              <a:t>h</a:t>
            </a:r>
            <a:r>
              <a:rPr sz="2000" i="1" dirty="0">
                <a:latin typeface="Times New Roman"/>
                <a:cs typeface="Times New Roman"/>
              </a:rPr>
              <a:t>ie</a:t>
            </a:r>
            <a:r>
              <a:rPr sz="2000" i="1" spc="-290" dirty="0">
                <a:latin typeface="Times New Roman"/>
                <a:cs typeface="Times New Roman"/>
              </a:rPr>
              <a:t> </a:t>
            </a:r>
            <a:r>
              <a:rPr sz="7650" i="1" baseline="2723" dirty="0">
                <a:latin typeface="Times New Roman"/>
                <a:cs typeface="Times New Roman"/>
              </a:rPr>
              <a:t>i</a:t>
            </a:r>
            <a:r>
              <a:rPr sz="2000" i="1" dirty="0">
                <a:latin typeface="Times New Roman"/>
                <a:cs typeface="Times New Roman"/>
              </a:rPr>
              <a:t>b</a:t>
            </a:r>
            <a:r>
              <a:rPr sz="2000" i="1" spc="110" dirty="0">
                <a:latin typeface="Times New Roman"/>
                <a:cs typeface="Times New Roman"/>
              </a:rPr>
              <a:t> </a:t>
            </a:r>
            <a:r>
              <a:rPr sz="5100" spc="104" baseline="21241" dirty="0">
                <a:latin typeface="Symbol"/>
                <a:cs typeface="Symbol"/>
              </a:rPr>
              <a:t></a:t>
            </a:r>
            <a:r>
              <a:rPr sz="5100" spc="-472" baseline="21241" dirty="0">
                <a:latin typeface="Times New Roman"/>
                <a:cs typeface="Times New Roman"/>
              </a:rPr>
              <a:t> </a:t>
            </a:r>
            <a:r>
              <a:rPr sz="7650" i="1" baseline="2723" dirty="0">
                <a:latin typeface="Times New Roman"/>
                <a:cs typeface="Times New Roman"/>
              </a:rPr>
              <a:t>h</a:t>
            </a:r>
            <a:r>
              <a:rPr sz="2000" i="1" dirty="0">
                <a:latin typeface="Times New Roman"/>
                <a:cs typeface="Times New Roman"/>
              </a:rPr>
              <a:t>re</a:t>
            </a:r>
            <a:r>
              <a:rPr sz="2000" i="1" spc="-200" dirty="0">
                <a:latin typeface="Times New Roman"/>
                <a:cs typeface="Times New Roman"/>
              </a:rPr>
              <a:t> </a:t>
            </a:r>
            <a:r>
              <a:rPr sz="7650" i="1" spc="-37" baseline="2723" dirty="0">
                <a:latin typeface="Times New Roman"/>
                <a:cs typeface="Times New Roman"/>
              </a:rPr>
              <a:t>v</a:t>
            </a:r>
            <a:r>
              <a:rPr sz="2000" i="1" spc="-25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68703" y="4363607"/>
            <a:ext cx="4107179" cy="775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20"/>
              </a:spcBef>
            </a:pPr>
            <a:r>
              <a:rPr sz="6900" i="1" baseline="2415" dirty="0">
                <a:latin typeface="Times New Roman"/>
                <a:cs typeface="Times New Roman"/>
              </a:rPr>
              <a:t>v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spc="305" dirty="0">
                <a:latin typeface="Times New Roman"/>
                <a:cs typeface="Times New Roman"/>
              </a:rPr>
              <a:t> </a:t>
            </a:r>
            <a:r>
              <a:rPr sz="4575" spc="120" baseline="21857" dirty="0">
                <a:latin typeface="Symbol"/>
                <a:cs typeface="Symbol"/>
              </a:rPr>
              <a:t></a:t>
            </a:r>
            <a:r>
              <a:rPr sz="4575" spc="-195" baseline="21857" dirty="0">
                <a:latin typeface="Times New Roman"/>
                <a:cs typeface="Times New Roman"/>
              </a:rPr>
              <a:t> </a:t>
            </a:r>
            <a:r>
              <a:rPr sz="6900" i="1" baseline="2415" dirty="0">
                <a:latin typeface="Times New Roman"/>
                <a:cs typeface="Times New Roman"/>
              </a:rPr>
              <a:t>h</a:t>
            </a:r>
            <a:r>
              <a:rPr sz="1800" i="1" dirty="0">
                <a:latin typeface="Times New Roman"/>
                <a:cs typeface="Times New Roman"/>
              </a:rPr>
              <a:t>ie</a:t>
            </a:r>
            <a:r>
              <a:rPr sz="1800" i="1" spc="-265" dirty="0">
                <a:latin typeface="Times New Roman"/>
                <a:cs typeface="Times New Roman"/>
              </a:rPr>
              <a:t> </a:t>
            </a:r>
            <a:r>
              <a:rPr sz="6900" i="1" baseline="2415" dirty="0">
                <a:latin typeface="Times New Roman"/>
                <a:cs typeface="Times New Roman"/>
              </a:rPr>
              <a:t>i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spc="100" dirty="0">
                <a:latin typeface="Times New Roman"/>
                <a:cs typeface="Times New Roman"/>
              </a:rPr>
              <a:t> </a:t>
            </a:r>
            <a:r>
              <a:rPr sz="4575" spc="120" baseline="21857" dirty="0">
                <a:latin typeface="Symbol"/>
                <a:cs typeface="Symbol"/>
              </a:rPr>
              <a:t></a:t>
            </a:r>
            <a:r>
              <a:rPr sz="4575" spc="-419" baseline="21857" dirty="0">
                <a:latin typeface="Times New Roman"/>
                <a:cs typeface="Times New Roman"/>
              </a:rPr>
              <a:t> </a:t>
            </a:r>
            <a:r>
              <a:rPr sz="6900" i="1" baseline="2415" dirty="0">
                <a:latin typeface="Times New Roman"/>
                <a:cs typeface="Times New Roman"/>
              </a:rPr>
              <a:t>h</a:t>
            </a:r>
            <a:r>
              <a:rPr sz="1800" i="1" dirty="0">
                <a:latin typeface="Times New Roman"/>
                <a:cs typeface="Times New Roman"/>
              </a:rPr>
              <a:t>re</a:t>
            </a:r>
            <a:r>
              <a:rPr sz="1800" i="1" spc="-135" dirty="0">
                <a:latin typeface="Times New Roman"/>
                <a:cs typeface="Times New Roman"/>
              </a:rPr>
              <a:t> </a:t>
            </a:r>
            <a:r>
              <a:rPr sz="7350" spc="-359" baseline="13605" dirty="0">
                <a:latin typeface="Symbol"/>
                <a:cs typeface="Symbol"/>
              </a:rPr>
              <a:t></a:t>
            </a:r>
            <a:r>
              <a:rPr sz="6900" i="1" spc="-359" baseline="2415" dirty="0">
                <a:latin typeface="Times New Roman"/>
                <a:cs typeface="Times New Roman"/>
              </a:rPr>
              <a:t>A</a:t>
            </a:r>
            <a:r>
              <a:rPr sz="2700" i="1" spc="-359" baseline="1543" dirty="0">
                <a:latin typeface="Times New Roman"/>
                <a:cs typeface="Times New Roman"/>
              </a:rPr>
              <a:t>i</a:t>
            </a:r>
            <a:r>
              <a:rPr sz="2700" i="1" spc="-187" baseline="1543" dirty="0">
                <a:latin typeface="Times New Roman"/>
                <a:cs typeface="Times New Roman"/>
              </a:rPr>
              <a:t> </a:t>
            </a:r>
            <a:r>
              <a:rPr sz="6900" i="1" baseline="2415" dirty="0">
                <a:latin typeface="Times New Roman"/>
                <a:cs typeface="Times New Roman"/>
              </a:rPr>
              <a:t>i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spc="125" dirty="0">
                <a:latin typeface="Times New Roman"/>
                <a:cs typeface="Times New Roman"/>
              </a:rPr>
              <a:t> </a:t>
            </a:r>
            <a:r>
              <a:rPr sz="6900" i="1" spc="-37" baseline="2415" dirty="0">
                <a:latin typeface="Times New Roman"/>
                <a:cs typeface="Times New Roman"/>
              </a:rPr>
              <a:t>R</a:t>
            </a:r>
            <a:r>
              <a:rPr sz="2700" i="1" spc="-37" baseline="1543" dirty="0">
                <a:latin typeface="Times New Roman"/>
                <a:cs typeface="Times New Roman"/>
              </a:rPr>
              <a:t>L</a:t>
            </a:r>
            <a:r>
              <a:rPr sz="7350" spc="-37" baseline="13605" dirty="0">
                <a:latin typeface="Symbol"/>
                <a:cs typeface="Symbol"/>
              </a:rPr>
              <a:t></a:t>
            </a:r>
            <a:endParaRPr sz="7350" baseline="13605">
              <a:latin typeface="Symbol"/>
              <a:cs typeface="Symbo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80388" y="4415028"/>
            <a:ext cx="4078604" cy="670560"/>
          </a:xfrm>
          <a:custGeom>
            <a:avLst/>
            <a:gdLst/>
            <a:ahLst/>
            <a:cxnLst/>
            <a:rect l="l" t="t" r="r" b="b"/>
            <a:pathLst>
              <a:path w="4078604" h="670560">
                <a:moveTo>
                  <a:pt x="0" y="670560"/>
                </a:moveTo>
                <a:lnTo>
                  <a:pt x="4078224" y="670560"/>
                </a:lnTo>
                <a:lnTo>
                  <a:pt x="4078224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62620" y="4894869"/>
            <a:ext cx="182880" cy="903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750" spc="-740" dirty="0">
                <a:latin typeface="Symbol"/>
                <a:cs typeface="Symbol"/>
              </a:rPr>
              <a:t></a:t>
            </a:r>
            <a:endParaRPr sz="57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24888" y="5115274"/>
            <a:ext cx="1844675" cy="850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100" i="1" baseline="2572" dirty="0">
                <a:latin typeface="Times New Roman"/>
                <a:cs typeface="Times New Roman"/>
              </a:rPr>
              <a:t>h</a:t>
            </a:r>
            <a:r>
              <a:rPr sz="2100" i="1" dirty="0">
                <a:latin typeface="Times New Roman"/>
                <a:cs typeface="Times New Roman"/>
              </a:rPr>
              <a:t>re</a:t>
            </a:r>
            <a:r>
              <a:rPr sz="2100" i="1" spc="165" dirty="0">
                <a:latin typeface="Times New Roman"/>
                <a:cs typeface="Times New Roman"/>
              </a:rPr>
              <a:t> </a:t>
            </a:r>
            <a:r>
              <a:rPr sz="8100" i="1" spc="-30" baseline="2057" dirty="0">
                <a:latin typeface="Times New Roman"/>
                <a:cs typeface="Times New Roman"/>
              </a:rPr>
              <a:t>A</a:t>
            </a:r>
            <a:r>
              <a:rPr sz="3150" i="1" spc="-30" baseline="1322" dirty="0">
                <a:latin typeface="Times New Roman"/>
                <a:cs typeface="Times New Roman"/>
              </a:rPr>
              <a:t>i</a:t>
            </a:r>
            <a:r>
              <a:rPr sz="3150" i="1" spc="120" baseline="1322" dirty="0">
                <a:latin typeface="Times New Roman"/>
                <a:cs typeface="Times New Roman"/>
              </a:rPr>
              <a:t> </a:t>
            </a:r>
            <a:r>
              <a:rPr sz="8100" i="1" spc="67" baseline="2057" dirty="0">
                <a:latin typeface="Times New Roman"/>
                <a:cs typeface="Times New Roman"/>
              </a:rPr>
              <a:t>R</a:t>
            </a:r>
            <a:r>
              <a:rPr sz="3150" i="1" spc="67" baseline="1322" dirty="0">
                <a:latin typeface="Times New Roman"/>
                <a:cs typeface="Times New Roman"/>
              </a:rPr>
              <a:t>L</a:t>
            </a:r>
            <a:endParaRPr sz="3150" baseline="1322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82117" y="5115274"/>
            <a:ext cx="1083310" cy="850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21334" algn="l"/>
              </a:tabLst>
            </a:pPr>
            <a:r>
              <a:rPr sz="8100" i="1" spc="-37" baseline="2572" dirty="0">
                <a:latin typeface="Times New Roman"/>
                <a:cs typeface="Times New Roman"/>
              </a:rPr>
              <a:t>i</a:t>
            </a:r>
            <a:r>
              <a:rPr sz="2100" i="1" spc="-25" dirty="0">
                <a:latin typeface="Times New Roman"/>
                <a:cs typeface="Times New Roman"/>
              </a:rPr>
              <a:t>b</a:t>
            </a:r>
            <a:r>
              <a:rPr sz="2100" i="1" dirty="0">
                <a:latin typeface="Times New Roman"/>
                <a:cs typeface="Times New Roman"/>
              </a:rPr>
              <a:t>	</a:t>
            </a:r>
            <a:r>
              <a:rPr sz="8100" i="1" spc="-37" baseline="2572" dirty="0">
                <a:latin typeface="Times New Roman"/>
                <a:cs typeface="Times New Roman"/>
              </a:rPr>
              <a:t>h</a:t>
            </a:r>
            <a:r>
              <a:rPr sz="2100" i="1" spc="-25" dirty="0">
                <a:latin typeface="Times New Roman"/>
                <a:cs typeface="Times New Roman"/>
              </a:rPr>
              <a:t>ie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2862" y="5083182"/>
            <a:ext cx="518795" cy="850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5400" i="1" spc="-25" dirty="0">
                <a:latin typeface="Times New Roman"/>
                <a:cs typeface="Times New Roman"/>
              </a:rPr>
              <a:t>v</a:t>
            </a:r>
            <a:r>
              <a:rPr sz="3150" i="1" spc="-37" baseline="-6613" dirty="0">
                <a:latin typeface="Times New Roman"/>
                <a:cs typeface="Times New Roman"/>
              </a:rPr>
              <a:t>b</a:t>
            </a:r>
            <a:endParaRPr sz="3150" baseline="-66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73548" y="4895737"/>
            <a:ext cx="1012825" cy="903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35965" algn="l"/>
              </a:tabLst>
            </a:pPr>
            <a:r>
              <a:rPr sz="5750" spc="-740" dirty="0">
                <a:latin typeface="Symbol"/>
                <a:cs typeface="Symbol"/>
              </a:rPr>
              <a:t></a:t>
            </a:r>
            <a:r>
              <a:rPr sz="5750" dirty="0">
                <a:latin typeface="Times New Roman"/>
                <a:cs typeface="Times New Roman"/>
              </a:rPr>
              <a:t>	</a:t>
            </a:r>
            <a:r>
              <a:rPr sz="3600" spc="25" dirty="0">
                <a:latin typeface="Symbol"/>
                <a:cs typeface="Symbol"/>
              </a:rPr>
              <a:t>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3496" y="5169527"/>
            <a:ext cx="2889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5" dirty="0">
                <a:latin typeface="Symbol"/>
                <a:cs typeface="Symbol"/>
              </a:rPr>
              <a:t>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53539" y="5131308"/>
            <a:ext cx="4401820" cy="780415"/>
          </a:xfrm>
          <a:custGeom>
            <a:avLst/>
            <a:gdLst/>
            <a:ahLst/>
            <a:cxnLst/>
            <a:rect l="l" t="t" r="r" b="b"/>
            <a:pathLst>
              <a:path w="4401820" h="780414">
                <a:moveTo>
                  <a:pt x="0" y="780287"/>
                </a:moveTo>
                <a:lnTo>
                  <a:pt x="4401312" y="780287"/>
                </a:lnTo>
                <a:lnTo>
                  <a:pt x="4401312" y="0"/>
                </a:lnTo>
                <a:lnTo>
                  <a:pt x="0" y="0"/>
                </a:lnTo>
                <a:lnTo>
                  <a:pt x="0" y="780287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926589" y="-84074"/>
            <a:ext cx="8761730" cy="1605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15925" algn="ctr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Calibri"/>
                <a:cs typeface="Calibri"/>
              </a:rPr>
              <a:t>CE</a:t>
            </a:r>
            <a:r>
              <a:rPr sz="4000" spc="-5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Amplifier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Without</a:t>
            </a:r>
            <a:r>
              <a:rPr sz="4000" spc="-1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Emitter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Resistance</a:t>
            </a:r>
            <a:endParaRPr sz="4000">
              <a:latin typeface="Calibri"/>
              <a:cs typeface="Calibri"/>
            </a:endParaRPr>
          </a:p>
          <a:p>
            <a:pPr marR="414020" algn="ctr">
              <a:lnSpc>
                <a:spcPts val="4295"/>
              </a:lnSpc>
              <a:spcBef>
                <a:spcPts val="5"/>
              </a:spcBef>
            </a:pPr>
            <a:r>
              <a:rPr sz="4000" b="1" dirty="0">
                <a:latin typeface="Calibri"/>
                <a:cs typeface="Calibri"/>
              </a:rPr>
              <a:t>(Using</a:t>
            </a:r>
            <a:r>
              <a:rPr sz="4000" b="1" spc="-8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Hybrid</a:t>
            </a:r>
            <a:r>
              <a:rPr sz="4000" b="1" spc="-6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Model)</a:t>
            </a:r>
            <a:endParaRPr sz="4000">
              <a:latin typeface="Calibri"/>
              <a:cs typeface="Calibri"/>
            </a:endParaRPr>
          </a:p>
          <a:p>
            <a:pPr marL="5520055" algn="ctr">
              <a:lnSpc>
                <a:spcPts val="3335"/>
              </a:lnSpc>
            </a:pPr>
            <a:r>
              <a:rPr sz="3200" b="1" i="1" dirty="0">
                <a:latin typeface="Calibri"/>
                <a:cs typeface="Calibri"/>
              </a:rPr>
              <a:t>Input</a:t>
            </a:r>
            <a:r>
              <a:rPr sz="3200" b="1" i="1" spc="-90" dirty="0">
                <a:latin typeface="Calibri"/>
                <a:cs typeface="Calibri"/>
              </a:rPr>
              <a:t> </a:t>
            </a:r>
            <a:r>
              <a:rPr sz="3200" b="1" i="1" spc="-20" dirty="0">
                <a:latin typeface="Calibri"/>
                <a:cs typeface="Calibri"/>
              </a:rPr>
              <a:t>Resistance</a:t>
            </a:r>
            <a:r>
              <a:rPr sz="3200" b="1" i="1" spc="-40" dirty="0">
                <a:latin typeface="Calibri"/>
                <a:cs typeface="Calibri"/>
              </a:rPr>
              <a:t> </a:t>
            </a:r>
            <a:r>
              <a:rPr sz="3200" b="1" i="1" spc="-25" dirty="0">
                <a:latin typeface="Calibri"/>
                <a:cs typeface="Calibri"/>
              </a:rPr>
              <a:t>R</a:t>
            </a:r>
            <a:r>
              <a:rPr sz="3150" b="1" i="1" spc="-37" baseline="-19841" dirty="0">
                <a:latin typeface="Calibri"/>
                <a:cs typeface="Calibri"/>
              </a:rPr>
              <a:t>i</a:t>
            </a:r>
            <a:endParaRPr sz="3150" baseline="-19841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10452" y="4947925"/>
            <a:ext cx="2153285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772795" algn="l"/>
                <a:tab pos="1334770" algn="l"/>
              </a:tabLst>
            </a:pPr>
            <a:r>
              <a:rPr sz="4400" i="1" spc="-50" dirty="0">
                <a:latin typeface="Times New Roman"/>
                <a:cs typeface="Times New Roman"/>
              </a:rPr>
              <a:t>h</a:t>
            </a:r>
            <a:r>
              <a:rPr sz="4400" i="1" dirty="0">
                <a:latin typeface="Times New Roman"/>
                <a:cs typeface="Times New Roman"/>
              </a:rPr>
              <a:t>	</a:t>
            </a:r>
            <a:r>
              <a:rPr sz="4400" i="1" spc="-50" dirty="0">
                <a:latin typeface="Times New Roman"/>
                <a:cs typeface="Times New Roman"/>
              </a:rPr>
              <a:t>h</a:t>
            </a:r>
            <a:r>
              <a:rPr sz="4400" i="1" dirty="0">
                <a:latin typeface="Times New Roman"/>
                <a:cs typeface="Times New Roman"/>
              </a:rPr>
              <a:t>	</a:t>
            </a:r>
            <a:r>
              <a:rPr sz="4400" i="1" spc="50" dirty="0">
                <a:latin typeface="Times New Roman"/>
                <a:cs typeface="Times New Roman"/>
              </a:rPr>
              <a:t>A</a:t>
            </a:r>
            <a:r>
              <a:rPr sz="4400" i="1" spc="-254" dirty="0">
                <a:latin typeface="Times New Roman"/>
                <a:cs typeface="Times New Roman"/>
              </a:rPr>
              <a:t> </a:t>
            </a:r>
            <a:r>
              <a:rPr sz="4400" i="1" dirty="0">
                <a:latin typeface="Times New Roman"/>
                <a:cs typeface="Times New Roman"/>
              </a:rPr>
              <a:t>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38507" y="4657012"/>
            <a:ext cx="26289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4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24357" y="4947925"/>
            <a:ext cx="36195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400" i="1" dirty="0">
                <a:latin typeface="Times New Roman"/>
                <a:cs typeface="Times New Roman"/>
              </a:rPr>
              <a:t>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86850" y="5311198"/>
            <a:ext cx="201041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779780" algn="l"/>
                <a:tab pos="1378585" algn="l"/>
                <a:tab pos="1873250" algn="l"/>
              </a:tabLst>
            </a:pPr>
            <a:r>
              <a:rPr sz="1700" i="1" spc="25" dirty="0">
                <a:latin typeface="Times New Roman"/>
                <a:cs typeface="Times New Roman"/>
              </a:rPr>
              <a:t>ie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-25" dirty="0">
                <a:latin typeface="Times New Roman"/>
                <a:cs typeface="Times New Roman"/>
              </a:rPr>
              <a:t>re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2550" i="1" spc="-75" baseline="1633" dirty="0">
                <a:latin typeface="Times New Roman"/>
                <a:cs typeface="Times New Roman"/>
              </a:rPr>
              <a:t>i</a:t>
            </a:r>
            <a:r>
              <a:rPr sz="2550" i="1" baseline="1633" dirty="0">
                <a:latin typeface="Times New Roman"/>
                <a:cs typeface="Times New Roman"/>
              </a:rPr>
              <a:t>	</a:t>
            </a:r>
            <a:r>
              <a:rPr sz="2550" i="1" spc="-75" baseline="1633" dirty="0">
                <a:latin typeface="Times New Roman"/>
                <a:cs typeface="Times New Roman"/>
              </a:rPr>
              <a:t>L</a:t>
            </a:r>
            <a:endParaRPr sz="2550" baseline="1633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53015" y="5234425"/>
            <a:ext cx="33782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4400" i="1" spc="-25" dirty="0">
                <a:latin typeface="Times New Roman"/>
                <a:cs typeface="Times New Roman"/>
              </a:rPr>
              <a:t>i</a:t>
            </a:r>
            <a:r>
              <a:rPr sz="2550" i="1" spc="-37" baseline="-6535" dirty="0">
                <a:latin typeface="Times New Roman"/>
                <a:cs typeface="Times New Roman"/>
              </a:rPr>
              <a:t>b</a:t>
            </a:r>
            <a:endParaRPr sz="2550" baseline="-6535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88549" y="5025446"/>
            <a:ext cx="123825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00" i="1" spc="-50" dirty="0">
                <a:latin typeface="Times New Roman"/>
                <a:cs typeface="Times New Roman"/>
              </a:rPr>
              <a:t>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70810" y="5307534"/>
            <a:ext cx="7493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00" i="1" spc="-50" dirty="0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412058" y="5012599"/>
            <a:ext cx="22225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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21248" y="5012599"/>
            <a:ext cx="22225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27455" y="5012599"/>
            <a:ext cx="22225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53666" y="5012599"/>
            <a:ext cx="38925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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795516" y="4701540"/>
            <a:ext cx="4486910" cy="1240790"/>
          </a:xfrm>
          <a:custGeom>
            <a:avLst/>
            <a:gdLst/>
            <a:ahLst/>
            <a:cxnLst/>
            <a:rect l="l" t="t" r="r" b="b"/>
            <a:pathLst>
              <a:path w="4486909" h="1240789">
                <a:moveTo>
                  <a:pt x="0" y="1240536"/>
                </a:moveTo>
                <a:lnTo>
                  <a:pt x="4486656" y="1240536"/>
                </a:lnTo>
                <a:lnTo>
                  <a:pt x="4486656" y="0"/>
                </a:lnTo>
                <a:lnTo>
                  <a:pt x="0" y="0"/>
                </a:lnTo>
                <a:lnTo>
                  <a:pt x="0" y="1240536"/>
                </a:lnTo>
                <a:close/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244143" y="3521102"/>
            <a:ext cx="147955" cy="9150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 indent="2540">
              <a:lnSpc>
                <a:spcPts val="3229"/>
              </a:lnSpc>
              <a:spcBef>
                <a:spcPts val="655"/>
              </a:spcBef>
            </a:pPr>
            <a:r>
              <a:rPr sz="3150" i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3150" i="1" spc="10" dirty="0">
                <a:latin typeface="Times New Roman"/>
                <a:cs typeface="Times New Roman"/>
              </a:rPr>
              <a:t> i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35819" y="3724281"/>
            <a:ext cx="274955" cy="504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150" i="1" spc="45" dirty="0">
                <a:latin typeface="Times New Roman"/>
                <a:cs typeface="Times New Roman"/>
              </a:rPr>
              <a:t>i</a:t>
            </a:r>
            <a:r>
              <a:rPr sz="1800" i="1" spc="67" baseline="-6944" dirty="0">
                <a:latin typeface="Times New Roman"/>
                <a:cs typeface="Times New Roman"/>
              </a:rPr>
              <a:t>c</a:t>
            </a:r>
            <a:endParaRPr sz="1800" baseline="-6944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366877" y="4193638"/>
            <a:ext cx="109220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71965" y="3783071"/>
            <a:ext cx="9969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04152" y="3707476"/>
            <a:ext cx="382905" cy="504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4725" i="1" spc="44" baseline="-2645" dirty="0">
                <a:latin typeface="Times New Roman"/>
                <a:cs typeface="Times New Roman"/>
              </a:rPr>
              <a:t>i</a:t>
            </a:r>
            <a:r>
              <a:rPr sz="1800" i="1" spc="44" baseline="-13888" dirty="0">
                <a:latin typeface="Times New Roman"/>
                <a:cs typeface="Times New Roman"/>
              </a:rPr>
              <a:t>b</a:t>
            </a:r>
            <a:endParaRPr sz="1800" baseline="-13888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680217" y="3951077"/>
            <a:ext cx="71755" cy="212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33167" y="3773936"/>
            <a:ext cx="1211580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8330" algn="l"/>
              </a:tabLst>
            </a:pPr>
            <a:r>
              <a:rPr sz="2100" spc="95" dirty="0">
                <a:latin typeface="Symbol"/>
                <a:cs typeface="Symbol"/>
              </a:rPr>
              <a:t>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80" dirty="0">
                <a:latin typeface="Symbol"/>
                <a:cs typeface="Symbol"/>
              </a:rPr>
              <a:t>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Symbol"/>
                <a:cs typeface="Symbol"/>
              </a:rPr>
              <a:t></a:t>
            </a:r>
            <a:r>
              <a:rPr sz="2100" spc="90" dirty="0">
                <a:latin typeface="Times New Roman"/>
                <a:cs typeface="Times New Roman"/>
              </a:rPr>
              <a:t>A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934722" y="3773936"/>
            <a:ext cx="1290320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9794" algn="l"/>
              </a:tabLst>
            </a:pPr>
            <a:r>
              <a:rPr sz="2100" dirty="0">
                <a:latin typeface="Times New Roman"/>
                <a:cs typeface="Times New Roman"/>
              </a:rPr>
              <a:t>But,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A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80" dirty="0">
                <a:latin typeface="Symbol"/>
                <a:cs typeface="Symbol"/>
              </a:rPr>
              <a:t>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</a:t>
            </a:r>
            <a:endParaRPr sz="21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975" y="1213103"/>
            <a:ext cx="6443472" cy="257251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13889" y="-84074"/>
            <a:ext cx="8362950" cy="1819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Calibri"/>
                <a:cs typeface="Calibri"/>
              </a:rPr>
              <a:t>CE</a:t>
            </a:r>
            <a:r>
              <a:rPr sz="4000" spc="-5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Amplifier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Without</a:t>
            </a:r>
            <a:r>
              <a:rPr sz="4000" spc="-1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Emitter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Resistance</a:t>
            </a:r>
            <a:endParaRPr sz="40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4000" b="1" dirty="0">
                <a:latin typeface="Calibri"/>
                <a:cs typeface="Calibri"/>
              </a:rPr>
              <a:t>(Using</a:t>
            </a:r>
            <a:r>
              <a:rPr sz="4000" b="1" spc="-8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Hybrid</a:t>
            </a:r>
            <a:r>
              <a:rPr sz="4000" b="1" spc="-6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Model)</a:t>
            </a:r>
            <a:endParaRPr sz="4000">
              <a:latin typeface="Calibri"/>
              <a:cs typeface="Calibri"/>
            </a:endParaRPr>
          </a:p>
          <a:p>
            <a:pPr marL="5437505" algn="ctr">
              <a:lnSpc>
                <a:spcPct val="100000"/>
              </a:lnSpc>
              <a:spcBef>
                <a:spcPts val="680"/>
              </a:spcBef>
            </a:pPr>
            <a:r>
              <a:rPr sz="3200" b="1" i="1" spc="-20" dirty="0">
                <a:latin typeface="Calibri"/>
                <a:cs typeface="Calibri"/>
              </a:rPr>
              <a:t>Voltage</a:t>
            </a:r>
            <a:r>
              <a:rPr sz="3200" b="1" i="1" spc="-9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Gain</a:t>
            </a:r>
            <a:r>
              <a:rPr sz="3200" b="1" i="1" spc="-100" dirty="0">
                <a:latin typeface="Calibri"/>
                <a:cs typeface="Calibri"/>
              </a:rPr>
              <a:t> </a:t>
            </a:r>
            <a:r>
              <a:rPr sz="3200" b="1" i="1" spc="-25" dirty="0">
                <a:latin typeface="Calibri"/>
                <a:cs typeface="Calibri"/>
              </a:rPr>
              <a:t>A</a:t>
            </a:r>
            <a:r>
              <a:rPr sz="3150" b="1" i="1" spc="-37" baseline="-19841" dirty="0">
                <a:latin typeface="Calibri"/>
                <a:cs typeface="Calibri"/>
              </a:rPr>
              <a:t>v</a:t>
            </a:r>
            <a:endParaRPr sz="3150" baseline="-19841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38927" y="2659966"/>
            <a:ext cx="313055" cy="78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950" i="1" spc="100" dirty="0">
                <a:latin typeface="Times New Roman"/>
                <a:cs typeface="Times New Roman"/>
              </a:rPr>
              <a:t>v</a:t>
            </a:r>
            <a:endParaRPr sz="4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677" y="3075620"/>
            <a:ext cx="144780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i="1" spc="25" dirty="0">
                <a:latin typeface="Times New Roman"/>
                <a:cs typeface="Times New Roman"/>
              </a:rPr>
              <a:t>b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33757" y="2008564"/>
            <a:ext cx="873760" cy="784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4950" spc="187" baseline="-25252" dirty="0">
                <a:latin typeface="Symbol"/>
                <a:cs typeface="Symbol"/>
              </a:rPr>
              <a:t></a:t>
            </a:r>
            <a:r>
              <a:rPr sz="4950" spc="382" baseline="-25252" dirty="0">
                <a:latin typeface="Times New Roman"/>
                <a:cs typeface="Times New Roman"/>
              </a:rPr>
              <a:t> </a:t>
            </a:r>
            <a:r>
              <a:rPr sz="4950" i="1" u="sng" spc="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2850" i="1" u="sng" spc="179" baseline="-730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endParaRPr sz="2850" baseline="-7309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71212" y="2690770"/>
            <a:ext cx="144780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spc="25" dirty="0">
                <a:latin typeface="Times New Roman"/>
                <a:cs typeface="Times New Roman"/>
              </a:rPr>
              <a:t>v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07511" y="2409716"/>
            <a:ext cx="338455" cy="532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3300" spc="114" dirty="0">
                <a:latin typeface="Times New Roman"/>
                <a:cs typeface="Times New Roman"/>
              </a:rPr>
              <a:t>A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25156" y="2058923"/>
            <a:ext cx="1685925" cy="1396365"/>
          </a:xfrm>
          <a:custGeom>
            <a:avLst/>
            <a:gdLst/>
            <a:ahLst/>
            <a:cxnLst/>
            <a:rect l="l" t="t" r="r" b="b"/>
            <a:pathLst>
              <a:path w="1685925" h="1396364">
                <a:moveTo>
                  <a:pt x="0" y="1395984"/>
                </a:moveTo>
                <a:lnTo>
                  <a:pt x="1685544" y="1395984"/>
                </a:lnTo>
                <a:lnTo>
                  <a:pt x="1685544" y="0"/>
                </a:lnTo>
                <a:lnTo>
                  <a:pt x="0" y="0"/>
                </a:lnTo>
                <a:lnTo>
                  <a:pt x="0" y="1395984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66003" y="3796284"/>
            <a:ext cx="4785360" cy="646430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7785">
              <a:lnSpc>
                <a:spcPts val="5090"/>
              </a:lnSpc>
            </a:pPr>
            <a:r>
              <a:rPr sz="4450" i="1" dirty="0">
                <a:latin typeface="Times New Roman"/>
                <a:cs typeface="Times New Roman"/>
              </a:rPr>
              <a:t>v</a:t>
            </a:r>
            <a:r>
              <a:rPr sz="2550" i="1" baseline="-4901" dirty="0">
                <a:latin typeface="Times New Roman"/>
                <a:cs typeface="Times New Roman"/>
              </a:rPr>
              <a:t>c</a:t>
            </a:r>
            <a:r>
              <a:rPr sz="2550" i="1" spc="412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-457" baseline="17890" dirty="0">
                <a:latin typeface="Times New Roman"/>
                <a:cs typeface="Times New Roman"/>
              </a:rPr>
              <a:t> </a:t>
            </a:r>
            <a:r>
              <a:rPr sz="4450" i="1" spc="85" dirty="0">
                <a:latin typeface="Times New Roman"/>
                <a:cs typeface="Times New Roman"/>
              </a:rPr>
              <a:t>i</a:t>
            </a:r>
            <a:r>
              <a:rPr sz="2550" i="1" spc="127" baseline="-4901" dirty="0">
                <a:latin typeface="Times New Roman"/>
                <a:cs typeface="Times New Roman"/>
              </a:rPr>
              <a:t>L</a:t>
            </a:r>
            <a:r>
              <a:rPr sz="2550" i="1" spc="150" baseline="-4901" dirty="0">
                <a:latin typeface="Times New Roman"/>
                <a:cs typeface="Times New Roman"/>
              </a:rPr>
              <a:t> </a:t>
            </a:r>
            <a:r>
              <a:rPr sz="4450" i="1" spc="65" dirty="0">
                <a:latin typeface="Times New Roman"/>
                <a:cs typeface="Times New Roman"/>
              </a:rPr>
              <a:t>R</a:t>
            </a:r>
            <a:r>
              <a:rPr sz="2550" i="1" spc="97" baseline="-4901" dirty="0">
                <a:latin typeface="Times New Roman"/>
                <a:cs typeface="Times New Roman"/>
              </a:rPr>
              <a:t>L</a:t>
            </a:r>
            <a:r>
              <a:rPr sz="2550" i="1" spc="397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-209" baseline="17890" dirty="0">
                <a:latin typeface="Times New Roman"/>
                <a:cs typeface="Times New Roman"/>
              </a:rPr>
              <a:t> </a:t>
            </a:r>
            <a:r>
              <a:rPr sz="4425" spc="150" baseline="17890" dirty="0">
                <a:latin typeface="Symbol"/>
                <a:cs typeface="Symbol"/>
              </a:rPr>
              <a:t></a:t>
            </a:r>
            <a:r>
              <a:rPr sz="4450" i="1" spc="100" dirty="0">
                <a:latin typeface="Times New Roman"/>
                <a:cs typeface="Times New Roman"/>
              </a:rPr>
              <a:t>i</a:t>
            </a:r>
            <a:r>
              <a:rPr sz="2550" i="1" spc="150" baseline="-4901" dirty="0">
                <a:latin typeface="Times New Roman"/>
                <a:cs typeface="Times New Roman"/>
              </a:rPr>
              <a:t>c</a:t>
            </a:r>
            <a:r>
              <a:rPr sz="2550" i="1" spc="165" baseline="-4901" dirty="0">
                <a:latin typeface="Times New Roman"/>
                <a:cs typeface="Times New Roman"/>
              </a:rPr>
              <a:t> </a:t>
            </a:r>
            <a:r>
              <a:rPr sz="4450" i="1" spc="65" dirty="0">
                <a:latin typeface="Times New Roman"/>
                <a:cs typeface="Times New Roman"/>
              </a:rPr>
              <a:t>R</a:t>
            </a:r>
            <a:r>
              <a:rPr sz="2550" i="1" spc="97" baseline="-4901" dirty="0">
                <a:latin typeface="Times New Roman"/>
                <a:cs typeface="Times New Roman"/>
              </a:rPr>
              <a:t>L</a:t>
            </a:r>
            <a:r>
              <a:rPr sz="2550" i="1" spc="390" baseline="-4901" dirty="0">
                <a:latin typeface="Times New Roman"/>
                <a:cs typeface="Times New Roman"/>
              </a:rPr>
              <a:t> </a:t>
            </a:r>
            <a:r>
              <a:rPr sz="4425" spc="97" baseline="17890" dirty="0">
                <a:latin typeface="Symbol"/>
                <a:cs typeface="Symbol"/>
              </a:rPr>
              <a:t></a:t>
            </a:r>
            <a:r>
              <a:rPr sz="4425" spc="300" baseline="17890" dirty="0">
                <a:latin typeface="Times New Roman"/>
                <a:cs typeface="Times New Roman"/>
              </a:rPr>
              <a:t> </a:t>
            </a:r>
            <a:r>
              <a:rPr sz="4450" i="1" spc="-110" dirty="0">
                <a:latin typeface="Times New Roman"/>
                <a:cs typeface="Times New Roman"/>
              </a:rPr>
              <a:t>A</a:t>
            </a:r>
            <a:r>
              <a:rPr sz="2550" i="1" spc="-165" baseline="-4901" dirty="0">
                <a:latin typeface="Times New Roman"/>
                <a:cs typeface="Times New Roman"/>
              </a:rPr>
              <a:t>i</a:t>
            </a:r>
            <a:r>
              <a:rPr sz="2550" i="1" spc="-202" baseline="-4901" dirty="0">
                <a:latin typeface="Times New Roman"/>
                <a:cs typeface="Times New Roman"/>
              </a:rPr>
              <a:t> </a:t>
            </a:r>
            <a:r>
              <a:rPr sz="4450" i="1" dirty="0">
                <a:latin typeface="Times New Roman"/>
                <a:cs typeface="Times New Roman"/>
              </a:rPr>
              <a:t>i</a:t>
            </a:r>
            <a:r>
              <a:rPr sz="2550" i="1" baseline="-4901" dirty="0">
                <a:latin typeface="Times New Roman"/>
                <a:cs typeface="Times New Roman"/>
              </a:rPr>
              <a:t>b</a:t>
            </a:r>
            <a:r>
              <a:rPr sz="2550" i="1" spc="150" baseline="-4901" dirty="0">
                <a:latin typeface="Times New Roman"/>
                <a:cs typeface="Times New Roman"/>
              </a:rPr>
              <a:t> </a:t>
            </a:r>
            <a:r>
              <a:rPr sz="4450" i="1" spc="35" dirty="0">
                <a:latin typeface="Times New Roman"/>
                <a:cs typeface="Times New Roman"/>
              </a:rPr>
              <a:t>R</a:t>
            </a:r>
            <a:r>
              <a:rPr sz="2550" i="1" spc="52" baseline="-4901" dirty="0">
                <a:latin typeface="Times New Roman"/>
                <a:cs typeface="Times New Roman"/>
              </a:rPr>
              <a:t>L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86899" y="5163399"/>
            <a:ext cx="2766695" cy="0"/>
          </a:xfrm>
          <a:custGeom>
            <a:avLst/>
            <a:gdLst/>
            <a:ahLst/>
            <a:cxnLst/>
            <a:rect l="l" t="t" r="r" b="b"/>
            <a:pathLst>
              <a:path w="2766695">
                <a:moveTo>
                  <a:pt x="0" y="0"/>
                </a:moveTo>
                <a:lnTo>
                  <a:pt x="1338766" y="0"/>
                </a:lnTo>
              </a:path>
              <a:path w="2766695">
                <a:moveTo>
                  <a:pt x="1736683" y="0"/>
                </a:moveTo>
                <a:lnTo>
                  <a:pt x="2766241" y="0"/>
                </a:lnTo>
              </a:path>
            </a:pathLst>
          </a:custGeom>
          <a:ln w="156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04689" y="5091169"/>
            <a:ext cx="153289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1266190" algn="l"/>
              </a:tabLst>
            </a:pPr>
            <a:r>
              <a:rPr sz="4400" i="1" spc="-50" dirty="0">
                <a:latin typeface="Times New Roman"/>
                <a:cs typeface="Times New Roman"/>
              </a:rPr>
              <a:t>v</a:t>
            </a:r>
            <a:r>
              <a:rPr sz="4400" i="1" dirty="0">
                <a:latin typeface="Times New Roman"/>
                <a:cs typeface="Times New Roman"/>
              </a:rPr>
              <a:t>	</a:t>
            </a:r>
            <a:r>
              <a:rPr sz="4400" i="1" spc="-50" dirty="0">
                <a:latin typeface="Times New Roman"/>
                <a:cs typeface="Times New Roman"/>
              </a:rPr>
              <a:t>v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09221" y="4522612"/>
            <a:ext cx="3399154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843280" algn="l"/>
                <a:tab pos="2580005" algn="l"/>
              </a:tabLst>
            </a:pPr>
            <a:r>
              <a:rPr sz="44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4400" i="1" dirty="0">
                <a:latin typeface="Times New Roman"/>
                <a:cs typeface="Times New Roman"/>
              </a:rPr>
              <a:t>	</a:t>
            </a:r>
            <a:r>
              <a:rPr sz="4400" i="1" spc="50" dirty="0">
                <a:latin typeface="Times New Roman"/>
                <a:cs typeface="Times New Roman"/>
              </a:rPr>
              <a:t>A</a:t>
            </a:r>
            <a:r>
              <a:rPr sz="4400" i="1" spc="-520" dirty="0">
                <a:latin typeface="Times New Roman"/>
                <a:cs typeface="Times New Roman"/>
              </a:rPr>
              <a:t> </a:t>
            </a:r>
            <a:r>
              <a:rPr sz="4400" i="1" dirty="0">
                <a:latin typeface="Times New Roman"/>
                <a:cs typeface="Times New Roman"/>
              </a:rPr>
              <a:t>i</a:t>
            </a:r>
            <a:r>
              <a:rPr sz="4400" i="1" spc="370" dirty="0">
                <a:latin typeface="Times New Roman"/>
                <a:cs typeface="Times New Roman"/>
              </a:rPr>
              <a:t> </a:t>
            </a:r>
            <a:r>
              <a:rPr sz="4400" i="1" dirty="0">
                <a:latin typeface="Times New Roman"/>
                <a:cs typeface="Times New Roman"/>
              </a:rPr>
              <a:t>R	</a:t>
            </a:r>
            <a:r>
              <a:rPr sz="4400" i="1" spc="50" dirty="0">
                <a:latin typeface="Times New Roman"/>
                <a:cs typeface="Times New Roman"/>
              </a:rPr>
              <a:t>A</a:t>
            </a:r>
            <a:r>
              <a:rPr sz="4400" i="1" spc="-245" dirty="0">
                <a:latin typeface="Times New Roman"/>
                <a:cs typeface="Times New Roman"/>
              </a:rPr>
              <a:t> </a:t>
            </a:r>
            <a:r>
              <a:rPr sz="4400" i="1" dirty="0">
                <a:latin typeface="Times New Roman"/>
                <a:cs typeface="Times New Roman"/>
              </a:rPr>
              <a:t>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78870" y="4804669"/>
            <a:ext cx="361315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400" i="1" dirty="0">
                <a:latin typeface="Times New Roman"/>
                <a:cs typeface="Times New Roman"/>
              </a:rPr>
              <a:t>A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40179" y="5095600"/>
            <a:ext cx="42164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4400" i="1" spc="-25" dirty="0">
                <a:latin typeface="Times New Roman"/>
                <a:cs typeface="Times New Roman"/>
              </a:rPr>
              <a:t>R</a:t>
            </a:r>
            <a:r>
              <a:rPr sz="2550" i="1" spc="-37" baseline="-4901" dirty="0">
                <a:latin typeface="Times New Roman"/>
                <a:cs typeface="Times New Roman"/>
              </a:rPr>
              <a:t>i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73487" y="4882190"/>
            <a:ext cx="236982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263525" algn="l"/>
                <a:tab pos="804545" algn="l"/>
                <a:tab pos="1736089" algn="l"/>
                <a:tab pos="2232660" algn="l"/>
              </a:tabLst>
            </a:pPr>
            <a:r>
              <a:rPr sz="2550" i="1" spc="-75" baseline="1633" dirty="0">
                <a:latin typeface="Times New Roman"/>
                <a:cs typeface="Times New Roman"/>
              </a:rPr>
              <a:t>i</a:t>
            </a:r>
            <a:r>
              <a:rPr sz="2550" i="1" baseline="1633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b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2550" i="1" spc="-75" baseline="1633" dirty="0">
                <a:latin typeface="Times New Roman"/>
                <a:cs typeface="Times New Roman"/>
              </a:rPr>
              <a:t>L</a:t>
            </a:r>
            <a:r>
              <a:rPr sz="2550" i="1" baseline="1633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i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55173" y="5459612"/>
            <a:ext cx="139065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1266190" algn="l"/>
              </a:tabLst>
            </a:pPr>
            <a:r>
              <a:rPr sz="1700" i="1" spc="-50" dirty="0">
                <a:latin typeface="Times New Roman"/>
                <a:cs typeface="Times New Roman"/>
              </a:rPr>
              <a:t>b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b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61939" y="4882190"/>
            <a:ext cx="11176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00" i="1" u="heavy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02295" y="5164278"/>
            <a:ext cx="111760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700" i="1" spc="-50" dirty="0">
                <a:latin typeface="Times New Roman"/>
                <a:cs typeface="Times New Roman"/>
              </a:rPr>
              <a:t>v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88305" y="4869343"/>
            <a:ext cx="1958339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1736089" algn="l"/>
              </a:tabLst>
            </a:pPr>
            <a:r>
              <a:rPr sz="2950" spc="-50" dirty="0">
                <a:latin typeface="Symbol"/>
                <a:cs typeface="Symbol"/>
              </a:rPr>
              <a:t></a:t>
            </a:r>
            <a:r>
              <a:rPr sz="2950" dirty="0">
                <a:latin typeface="Times New Roman"/>
                <a:cs typeface="Times New Roman"/>
              </a:rPr>
              <a:t>	</a:t>
            </a: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93308" y="4869343"/>
            <a:ext cx="22161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81718" y="4869343"/>
            <a:ext cx="38862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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22876" y="4558284"/>
            <a:ext cx="5017135" cy="1240790"/>
          </a:xfrm>
          <a:custGeom>
            <a:avLst/>
            <a:gdLst/>
            <a:ahLst/>
            <a:cxnLst/>
            <a:rect l="l" t="t" r="r" b="b"/>
            <a:pathLst>
              <a:path w="5017134" h="1240789">
                <a:moveTo>
                  <a:pt x="0" y="1240536"/>
                </a:moveTo>
                <a:lnTo>
                  <a:pt x="5017008" y="1240536"/>
                </a:lnTo>
                <a:lnTo>
                  <a:pt x="5017008" y="0"/>
                </a:lnTo>
                <a:lnTo>
                  <a:pt x="0" y="0"/>
                </a:lnTo>
                <a:lnTo>
                  <a:pt x="0" y="1240536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646735" y="3591085"/>
            <a:ext cx="147955" cy="91821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 indent="2540">
              <a:lnSpc>
                <a:spcPts val="3240"/>
              </a:lnSpc>
              <a:spcBef>
                <a:spcPts val="660"/>
              </a:spcBef>
            </a:pPr>
            <a:r>
              <a:rPr sz="3150" i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3150" i="1" spc="10" dirty="0">
                <a:latin typeface="Times New Roman"/>
                <a:cs typeface="Times New Roman"/>
              </a:rPr>
              <a:t> i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38412" y="3794984"/>
            <a:ext cx="274955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45" dirty="0">
                <a:latin typeface="Times New Roman"/>
                <a:cs typeface="Times New Roman"/>
              </a:rPr>
              <a:t>i</a:t>
            </a:r>
            <a:r>
              <a:rPr sz="1800" i="1" spc="67" baseline="-6944" dirty="0">
                <a:latin typeface="Times New Roman"/>
                <a:cs typeface="Times New Roman"/>
              </a:rPr>
              <a:t>c</a:t>
            </a:r>
            <a:endParaRPr sz="1800" baseline="-6944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69469" y="4266002"/>
            <a:ext cx="10922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i="1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74558" y="3853981"/>
            <a:ext cx="9969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06744" y="3778120"/>
            <a:ext cx="382905" cy="50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i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4725" i="1" spc="44" baseline="-2645" dirty="0">
                <a:latin typeface="Times New Roman"/>
                <a:cs typeface="Times New Roman"/>
              </a:rPr>
              <a:t>i</a:t>
            </a:r>
            <a:r>
              <a:rPr sz="1800" i="1" spc="44" baseline="-13888" dirty="0">
                <a:latin typeface="Times New Roman"/>
                <a:cs typeface="Times New Roman"/>
              </a:rPr>
              <a:t>b</a:t>
            </a:r>
            <a:endParaRPr sz="1800" baseline="-13888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82810" y="4022583"/>
            <a:ext cx="7175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50" dirty="0"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35759" y="3844815"/>
            <a:ext cx="121158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8330" algn="l"/>
              </a:tabLst>
            </a:pPr>
            <a:r>
              <a:rPr sz="2100" spc="95" dirty="0">
                <a:latin typeface="Symbol"/>
                <a:cs typeface="Symbol"/>
              </a:rPr>
              <a:t>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80" dirty="0">
                <a:latin typeface="Symbol"/>
                <a:cs typeface="Symbol"/>
              </a:rPr>
              <a:t>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Symbol"/>
                <a:cs typeface="Symbol"/>
              </a:rPr>
              <a:t></a:t>
            </a:r>
            <a:r>
              <a:rPr sz="2100" spc="90" dirty="0">
                <a:latin typeface="Times New Roman"/>
                <a:cs typeface="Times New Roman"/>
              </a:rPr>
              <a:t>A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37314" y="3844815"/>
            <a:ext cx="129032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9794" algn="l"/>
              </a:tabLst>
            </a:pPr>
            <a:r>
              <a:rPr sz="2100" dirty="0">
                <a:latin typeface="Times New Roman"/>
                <a:cs typeface="Times New Roman"/>
              </a:rPr>
              <a:t>But,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A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80" dirty="0">
                <a:latin typeface="Symbol"/>
                <a:cs typeface="Symbol"/>
              </a:rPr>
              <a:t>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30" dirty="0">
                <a:latin typeface="Symbol"/>
                <a:cs typeface="Symbol"/>
              </a:rPr>
              <a:t>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544615" y="5373736"/>
            <a:ext cx="1592580" cy="0"/>
          </a:xfrm>
          <a:custGeom>
            <a:avLst/>
            <a:gdLst/>
            <a:ahLst/>
            <a:cxnLst/>
            <a:rect l="l" t="t" r="r" b="b"/>
            <a:pathLst>
              <a:path w="1592579">
                <a:moveTo>
                  <a:pt x="0" y="0"/>
                </a:moveTo>
                <a:lnTo>
                  <a:pt x="520349" y="0"/>
                </a:lnTo>
              </a:path>
              <a:path w="1592579">
                <a:moveTo>
                  <a:pt x="1003292" y="0"/>
                </a:moveTo>
                <a:lnTo>
                  <a:pt x="1592244" y="0"/>
                </a:lnTo>
              </a:path>
            </a:pathLst>
          </a:custGeom>
          <a:ln w="1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591085" y="5293248"/>
            <a:ext cx="501015" cy="7899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5"/>
              </a:spcBef>
            </a:pPr>
            <a:r>
              <a:rPr sz="5000" i="1" spc="90" dirty="0">
                <a:latin typeface="Times New Roman"/>
                <a:cs typeface="Times New Roman"/>
              </a:rPr>
              <a:t>v</a:t>
            </a:r>
            <a:r>
              <a:rPr sz="2925" i="1" spc="135" baseline="-7122" dirty="0">
                <a:latin typeface="Times New Roman"/>
                <a:cs typeface="Times New Roman"/>
              </a:rPr>
              <a:t>b</a:t>
            </a:r>
            <a:endParaRPr sz="2925" baseline="-7122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50400" y="5373446"/>
            <a:ext cx="480695" cy="535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3350" spc="215" dirty="0">
                <a:latin typeface="Times New Roman"/>
                <a:cs typeface="Times New Roman"/>
              </a:rPr>
              <a:t>R</a:t>
            </a:r>
            <a:r>
              <a:rPr sz="2925" spc="322" baseline="-24216" dirty="0">
                <a:latin typeface="Times New Roman"/>
                <a:cs typeface="Times New Roman"/>
              </a:rPr>
              <a:t>i</a:t>
            </a:r>
            <a:endParaRPr sz="2925" baseline="-24216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66231" y="4534727"/>
            <a:ext cx="1355725" cy="7899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5"/>
              </a:spcBef>
              <a:tabLst>
                <a:tab pos="519430" algn="l"/>
              </a:tabLst>
            </a:pPr>
            <a:r>
              <a:rPr sz="5025" spc="75" baseline="-3316" dirty="0">
                <a:latin typeface="Times New Roman"/>
                <a:cs typeface="Times New Roman"/>
              </a:rPr>
              <a:t>1</a:t>
            </a:r>
            <a:r>
              <a:rPr sz="5025" baseline="-3316" dirty="0">
                <a:latin typeface="Times New Roman"/>
                <a:cs typeface="Times New Roman"/>
              </a:rPr>
              <a:t>	</a:t>
            </a:r>
            <a:r>
              <a:rPr sz="5025" spc="165" baseline="-38142" dirty="0">
                <a:latin typeface="Symbol"/>
                <a:cs typeface="Symbol"/>
              </a:rPr>
              <a:t></a:t>
            </a:r>
            <a:r>
              <a:rPr sz="5025" spc="142" baseline="-38142" dirty="0">
                <a:latin typeface="Times New Roman"/>
                <a:cs typeface="Times New Roman"/>
              </a:rPr>
              <a:t> </a:t>
            </a:r>
            <a:r>
              <a:rPr sz="5000" i="1" spc="120" dirty="0">
                <a:latin typeface="Times New Roman"/>
                <a:cs typeface="Times New Roman"/>
              </a:rPr>
              <a:t>i</a:t>
            </a:r>
            <a:r>
              <a:rPr sz="5025" i="1" spc="179" baseline="-6633" dirty="0">
                <a:latin typeface="Times New Roman"/>
                <a:cs typeface="Times New Roman"/>
              </a:rPr>
              <a:t>b</a:t>
            </a:r>
            <a:endParaRPr sz="5025" baseline="-6633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455164" y="4512564"/>
            <a:ext cx="1795780" cy="1572895"/>
          </a:xfrm>
          <a:custGeom>
            <a:avLst/>
            <a:gdLst/>
            <a:ahLst/>
            <a:cxnLst/>
            <a:rect l="l" t="t" r="r" b="b"/>
            <a:pathLst>
              <a:path w="1795779" h="1572895">
                <a:moveTo>
                  <a:pt x="0" y="1572768"/>
                </a:moveTo>
                <a:lnTo>
                  <a:pt x="1795272" y="1572768"/>
                </a:lnTo>
                <a:lnTo>
                  <a:pt x="1795272" y="0"/>
                </a:lnTo>
                <a:lnTo>
                  <a:pt x="0" y="0"/>
                </a:lnTo>
                <a:lnTo>
                  <a:pt x="0" y="1572768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72" y="1149096"/>
            <a:ext cx="6071615" cy="24231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45403" y="1904580"/>
            <a:ext cx="257810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050" i="1" spc="75" dirty="0">
                <a:latin typeface="Times New Roman"/>
                <a:cs typeface="Times New Roman"/>
              </a:rPr>
              <a:t>v</a:t>
            </a:r>
            <a:endParaRPr sz="4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1583" y="1375042"/>
            <a:ext cx="219710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050" i="1" u="sng" spc="-6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50" i="1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endParaRPr sz="4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94360" y="2242475"/>
            <a:ext cx="1085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i="1" spc="10" dirty="0">
                <a:latin typeface="Times New Roman"/>
                <a:cs typeface="Times New Roman"/>
              </a:rPr>
              <a:t>c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7795" y="1712928"/>
            <a:ext cx="18034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i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550" i="1" u="heavy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05257" y="1929621"/>
            <a:ext cx="1206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latin typeface="Times New Roman"/>
                <a:cs typeface="Times New Roman"/>
              </a:rPr>
              <a:t>o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64300" y="1701147"/>
            <a:ext cx="68897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73709" algn="l"/>
              </a:tabLst>
            </a:pPr>
            <a:r>
              <a:rPr sz="2700" spc="85" dirty="0">
                <a:latin typeface="Times New Roman"/>
                <a:cs typeface="Times New Roman"/>
              </a:rPr>
              <a:t>Y</a:t>
            </a:r>
            <a:r>
              <a:rPr sz="2700" dirty="0">
                <a:latin typeface="Times New Roman"/>
                <a:cs typeface="Times New Roman"/>
              </a:rPr>
              <a:t>	</a:t>
            </a:r>
            <a:r>
              <a:rPr sz="2700" spc="50" dirty="0">
                <a:latin typeface="Symbol"/>
                <a:cs typeface="Symbol"/>
              </a:rPr>
              <a:t>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95259" y="1415796"/>
            <a:ext cx="1313815" cy="1140460"/>
          </a:xfrm>
          <a:custGeom>
            <a:avLst/>
            <a:gdLst/>
            <a:ahLst/>
            <a:cxnLst/>
            <a:rect l="l" t="t" r="r" b="b"/>
            <a:pathLst>
              <a:path w="1313815" h="1140460">
                <a:moveTo>
                  <a:pt x="0" y="1139952"/>
                </a:moveTo>
                <a:lnTo>
                  <a:pt x="1313688" y="1139952"/>
                </a:lnTo>
                <a:lnTo>
                  <a:pt x="1313688" y="0"/>
                </a:lnTo>
                <a:lnTo>
                  <a:pt x="0" y="0"/>
                </a:lnTo>
                <a:lnTo>
                  <a:pt x="0" y="1139952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80303" y="5685816"/>
            <a:ext cx="1283970" cy="0"/>
          </a:xfrm>
          <a:custGeom>
            <a:avLst/>
            <a:gdLst/>
            <a:ahLst/>
            <a:cxnLst/>
            <a:rect l="l" t="t" r="r" b="b"/>
            <a:pathLst>
              <a:path w="1283970">
                <a:moveTo>
                  <a:pt x="0" y="0"/>
                </a:moveTo>
                <a:lnTo>
                  <a:pt x="1283608" y="0"/>
                </a:lnTo>
              </a:path>
            </a:pathLst>
          </a:custGeom>
          <a:ln w="156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391092" y="5327187"/>
            <a:ext cx="361315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4400" i="1" spc="-50" dirty="0">
                <a:latin typeface="Times New Roman"/>
                <a:cs typeface="Times New Roman"/>
              </a:rPr>
              <a:t>R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27982" y="5392068"/>
            <a:ext cx="57721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i="1" spc="-25" dirty="0">
                <a:latin typeface="Times New Roman"/>
                <a:cs typeface="Times New Roman"/>
              </a:rPr>
              <a:t>and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35551" y="4962401"/>
            <a:ext cx="1005840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6600" i="1" baseline="4419" dirty="0">
                <a:latin typeface="Times New Roman"/>
                <a:cs typeface="Times New Roman"/>
              </a:rPr>
              <a:t>h</a:t>
            </a:r>
            <a:r>
              <a:rPr sz="6600" i="1" spc="-705" baseline="4419" dirty="0">
                <a:latin typeface="Times New Roman"/>
                <a:cs typeface="Times New Roman"/>
              </a:rPr>
              <a:t> </a:t>
            </a:r>
            <a:r>
              <a:rPr sz="2950" i="1" spc="30" dirty="0">
                <a:latin typeface="Times New Roman"/>
                <a:cs typeface="Times New Roman"/>
              </a:rPr>
              <a:t>fe</a:t>
            </a:r>
            <a:r>
              <a:rPr sz="6600" i="1" spc="44" baseline="11363" dirty="0">
                <a:latin typeface="Times New Roman"/>
                <a:cs typeface="Times New Roman"/>
              </a:rPr>
              <a:t>h</a:t>
            </a:r>
            <a:endParaRPr sz="6600" baseline="1136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82271" y="5983315"/>
            <a:ext cx="189865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i="1" spc="50" dirty="0">
                <a:latin typeface="Times New Roman"/>
                <a:cs typeface="Times New Roman"/>
              </a:rPr>
              <a:t>ie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76737" y="5979608"/>
            <a:ext cx="99060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i="1" spc="-50" dirty="0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01404" y="5405004"/>
            <a:ext cx="212090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i="1" spc="40" dirty="0">
                <a:latin typeface="Times New Roman"/>
                <a:cs typeface="Times New Roman"/>
              </a:rPr>
              <a:t>re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223089" y="5618556"/>
            <a:ext cx="499745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4400" i="1" dirty="0">
                <a:latin typeface="Times New Roman"/>
                <a:cs typeface="Times New Roman"/>
              </a:rPr>
              <a:t>Y</a:t>
            </a:r>
            <a:r>
              <a:rPr sz="4400" i="1" spc="-615" dirty="0">
                <a:latin typeface="Times New Roman"/>
                <a:cs typeface="Times New Roman"/>
              </a:rPr>
              <a:t> </a:t>
            </a:r>
            <a:r>
              <a:rPr sz="2550" spc="-75" baseline="-4901" dirty="0">
                <a:latin typeface="Times New Roman"/>
                <a:cs typeface="Times New Roman"/>
              </a:rPr>
              <a:t>0</a:t>
            </a:r>
            <a:endParaRPr sz="2550" baseline="-4901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740686" y="5687494"/>
            <a:ext cx="123825" cy="2876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spc="-5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235841" y="5157013"/>
            <a:ext cx="50609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92759" algn="l"/>
              </a:tabLst>
            </a:pPr>
            <a:r>
              <a:rPr sz="2950" u="sng" spc="4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95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9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938188" y="5392068"/>
            <a:ext cx="22161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94838" y="5618556"/>
            <a:ext cx="1134110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4400" i="1" dirty="0">
                <a:latin typeface="Times New Roman"/>
                <a:cs typeface="Times New Roman"/>
              </a:rPr>
              <a:t>R</a:t>
            </a:r>
            <a:r>
              <a:rPr sz="4400" i="1" spc="235" dirty="0">
                <a:latin typeface="Times New Roman"/>
                <a:cs typeface="Times New Roman"/>
              </a:rPr>
              <a:t> </a:t>
            </a:r>
            <a:r>
              <a:rPr sz="4425" baseline="17890" dirty="0">
                <a:latin typeface="Symbol"/>
                <a:cs typeface="Symbol"/>
              </a:rPr>
              <a:t></a:t>
            </a:r>
            <a:r>
              <a:rPr sz="4425" spc="-352" baseline="17890" dirty="0">
                <a:latin typeface="Times New Roman"/>
                <a:cs typeface="Times New Roman"/>
              </a:rPr>
              <a:t> </a:t>
            </a:r>
            <a:r>
              <a:rPr sz="4400" i="1" spc="-50" dirty="0">
                <a:latin typeface="Times New Roman"/>
                <a:cs typeface="Times New Roman"/>
              </a:rPr>
              <a:t>h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33431" y="5204845"/>
            <a:ext cx="2131060" cy="699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950" dirty="0">
                <a:latin typeface="Symbol"/>
                <a:cs typeface="Symbol"/>
              </a:rPr>
              <a:t></a:t>
            </a:r>
            <a:r>
              <a:rPr sz="2950" spc="-385" dirty="0">
                <a:latin typeface="Times New Roman"/>
                <a:cs typeface="Times New Roman"/>
              </a:rPr>
              <a:t> </a:t>
            </a:r>
            <a:r>
              <a:rPr sz="6600" i="1" baseline="-11994" dirty="0">
                <a:latin typeface="Times New Roman"/>
                <a:cs typeface="Times New Roman"/>
              </a:rPr>
              <a:t>Y</a:t>
            </a:r>
            <a:r>
              <a:rPr sz="6600" i="1" spc="-922" baseline="-11994" dirty="0">
                <a:latin typeface="Times New Roman"/>
                <a:cs typeface="Times New Roman"/>
              </a:rPr>
              <a:t> </a:t>
            </a:r>
            <a:r>
              <a:rPr sz="2550" baseline="-35947" dirty="0">
                <a:latin typeface="Times New Roman"/>
                <a:cs typeface="Times New Roman"/>
              </a:rPr>
              <a:t>0</a:t>
            </a:r>
            <a:r>
              <a:rPr sz="2550" spc="450" baseline="-35947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Symbol"/>
                <a:cs typeface="Symbol"/>
              </a:rPr>
              <a:t></a:t>
            </a:r>
            <a:r>
              <a:rPr sz="2950" spc="-75" dirty="0">
                <a:latin typeface="Times New Roman"/>
                <a:cs typeface="Times New Roman"/>
              </a:rPr>
              <a:t> </a:t>
            </a:r>
            <a:r>
              <a:rPr sz="6600" i="1" baseline="-11363" dirty="0">
                <a:latin typeface="Times New Roman"/>
                <a:cs typeface="Times New Roman"/>
              </a:rPr>
              <a:t>h</a:t>
            </a:r>
            <a:r>
              <a:rPr sz="2550" i="1" baseline="-37581" dirty="0">
                <a:latin typeface="Times New Roman"/>
                <a:cs typeface="Times New Roman"/>
              </a:rPr>
              <a:t>oe</a:t>
            </a:r>
            <a:r>
              <a:rPr sz="2550" i="1" spc="82" baseline="-37581" dirty="0">
                <a:latin typeface="Times New Roman"/>
                <a:cs typeface="Times New Roman"/>
              </a:rPr>
              <a:t> </a:t>
            </a:r>
            <a:r>
              <a:rPr sz="2950" spc="-50" dirty="0">
                <a:latin typeface="Symbol"/>
                <a:cs typeface="Symbol"/>
              </a:rPr>
              <a:t>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13347" y="4893564"/>
            <a:ext cx="5611495" cy="1430020"/>
          </a:xfrm>
          <a:custGeom>
            <a:avLst/>
            <a:gdLst/>
            <a:ahLst/>
            <a:cxnLst/>
            <a:rect l="l" t="t" r="r" b="b"/>
            <a:pathLst>
              <a:path w="5611495" h="1430020">
                <a:moveTo>
                  <a:pt x="0" y="1429512"/>
                </a:moveTo>
                <a:lnTo>
                  <a:pt x="5611367" y="1429512"/>
                </a:lnTo>
                <a:lnTo>
                  <a:pt x="5611367" y="0"/>
                </a:lnTo>
                <a:lnTo>
                  <a:pt x="0" y="0"/>
                </a:lnTo>
                <a:lnTo>
                  <a:pt x="0" y="1429512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331466" y="-20065"/>
            <a:ext cx="8470900" cy="144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34719" algn="ctr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CE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Amplifier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Without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Emitter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Resistance</a:t>
            </a:r>
            <a:endParaRPr sz="3600">
              <a:latin typeface="Calibri"/>
              <a:cs typeface="Calibri"/>
            </a:endParaRPr>
          </a:p>
          <a:p>
            <a:pPr marR="937894" algn="ctr">
              <a:lnSpc>
                <a:spcPts val="3770"/>
              </a:lnSpc>
            </a:pPr>
            <a:r>
              <a:rPr sz="3600" b="1" dirty="0">
                <a:latin typeface="Calibri"/>
                <a:cs typeface="Calibri"/>
              </a:rPr>
              <a:t>(Using</a:t>
            </a:r>
            <a:r>
              <a:rPr sz="3600" b="1" spc="-6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Hybrid</a:t>
            </a:r>
            <a:r>
              <a:rPr sz="3600" b="1" spc="-8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Model)</a:t>
            </a:r>
            <a:endParaRPr sz="3600">
              <a:latin typeface="Calibri"/>
              <a:cs typeface="Calibri"/>
            </a:endParaRPr>
          </a:p>
          <a:p>
            <a:pPr marL="4961890" algn="ctr">
              <a:lnSpc>
                <a:spcPts val="3050"/>
              </a:lnSpc>
            </a:pPr>
            <a:r>
              <a:rPr sz="3000" b="1" i="1" dirty="0">
                <a:latin typeface="Calibri"/>
                <a:cs typeface="Calibri"/>
              </a:rPr>
              <a:t>Output</a:t>
            </a:r>
            <a:r>
              <a:rPr sz="3000" b="1" i="1" spc="-130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Admittance</a:t>
            </a:r>
            <a:r>
              <a:rPr sz="3000" b="1" i="1" spc="-95" dirty="0">
                <a:latin typeface="Calibri"/>
                <a:cs typeface="Calibri"/>
              </a:rPr>
              <a:t> </a:t>
            </a:r>
            <a:r>
              <a:rPr sz="3000" b="1" i="1" spc="-25" dirty="0">
                <a:latin typeface="Calibri"/>
                <a:cs typeface="Calibri"/>
              </a:rPr>
              <a:t>Y</a:t>
            </a:r>
            <a:r>
              <a:rPr sz="3000" b="1" i="1" spc="-37" baseline="-19444" dirty="0">
                <a:latin typeface="Calibri"/>
                <a:cs typeface="Calibri"/>
              </a:rPr>
              <a:t>o</a:t>
            </a:r>
            <a:endParaRPr sz="3000" baseline="-19444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00150" y="3704935"/>
            <a:ext cx="645795" cy="520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225" baseline="21963" dirty="0">
                <a:latin typeface="Symbol"/>
                <a:cs typeface="Symbol"/>
              </a:rPr>
              <a:t></a:t>
            </a:r>
            <a:r>
              <a:rPr sz="3225" spc="-225" baseline="21963" dirty="0">
                <a:latin typeface="Times New Roman"/>
                <a:cs typeface="Times New Roman"/>
              </a:rPr>
              <a:t> </a:t>
            </a:r>
            <a:r>
              <a:rPr sz="4875" i="1" spc="-37" baseline="2564" dirty="0">
                <a:latin typeface="Times New Roman"/>
                <a:cs typeface="Times New Roman"/>
              </a:rPr>
              <a:t>h</a:t>
            </a:r>
            <a:r>
              <a:rPr sz="1250" i="1" spc="-25" dirty="0">
                <a:latin typeface="Times New Roman"/>
                <a:cs typeface="Times New Roman"/>
              </a:rPr>
              <a:t>oe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42247" y="3475617"/>
            <a:ext cx="2574290" cy="944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3620"/>
              </a:lnSpc>
              <a:spcBef>
                <a:spcPts val="95"/>
              </a:spcBef>
            </a:pPr>
            <a:r>
              <a:rPr sz="3225" baseline="-25839" dirty="0">
                <a:latin typeface="Symbol"/>
                <a:cs typeface="Symbol"/>
              </a:rPr>
              <a:t></a:t>
            </a:r>
            <a:r>
              <a:rPr sz="3225" spc="52" baseline="-25839" dirty="0">
                <a:latin typeface="Times New Roman"/>
                <a:cs typeface="Times New Roman"/>
              </a:rPr>
              <a:t> </a:t>
            </a:r>
            <a:r>
              <a:rPr sz="325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1875" i="1" u="sng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oe</a:t>
            </a:r>
            <a:r>
              <a:rPr sz="1875" i="1" u="sng" spc="-150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5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1875" i="1" u="sng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875" i="1" spc="547" baseline="-6666" dirty="0">
                <a:latin typeface="Times New Roman"/>
                <a:cs typeface="Times New Roman"/>
              </a:rPr>
              <a:t> </a:t>
            </a:r>
            <a:r>
              <a:rPr sz="3225" baseline="-25839" dirty="0">
                <a:latin typeface="Symbol"/>
                <a:cs typeface="Symbol"/>
              </a:rPr>
              <a:t></a:t>
            </a:r>
            <a:r>
              <a:rPr sz="3225" spc="15" baseline="-25839" dirty="0">
                <a:latin typeface="Times New Roman"/>
                <a:cs typeface="Times New Roman"/>
              </a:rPr>
              <a:t> </a:t>
            </a:r>
            <a:r>
              <a:rPr sz="3250" i="1" u="sng" spc="-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5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875" i="1" u="sng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875" i="1" u="sng" spc="202" baseline="-666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75" i="1" spc="419" baseline="-6666" dirty="0">
                <a:latin typeface="Times New Roman"/>
                <a:cs typeface="Times New Roman"/>
              </a:rPr>
              <a:t> </a:t>
            </a:r>
            <a:r>
              <a:rPr sz="3225" baseline="-25839" dirty="0">
                <a:latin typeface="Symbol"/>
                <a:cs typeface="Symbol"/>
              </a:rPr>
              <a:t></a:t>
            </a:r>
            <a:r>
              <a:rPr sz="3225" spc="232" baseline="-25839" dirty="0">
                <a:latin typeface="Times New Roman"/>
                <a:cs typeface="Times New Roman"/>
              </a:rPr>
              <a:t> </a:t>
            </a:r>
            <a:r>
              <a:rPr sz="4875" i="1" u="sng" spc="112" baseline="427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1875" i="1" u="sng" spc="112" baseline="444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fe</a:t>
            </a:r>
            <a:r>
              <a:rPr sz="4875" i="1" u="sng" spc="112" baseline="427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875" i="1" u="sng" spc="112" baseline="444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endParaRPr sz="1875" baseline="4444">
              <a:latin typeface="Times New Roman"/>
              <a:cs typeface="Times New Roman"/>
            </a:endParaRPr>
          </a:p>
          <a:p>
            <a:pPr marL="464820">
              <a:lnSpc>
                <a:spcPts val="3620"/>
              </a:lnSpc>
              <a:tabLst>
                <a:tab pos="1355090" algn="l"/>
                <a:tab pos="2098675" algn="l"/>
              </a:tabLst>
            </a:pPr>
            <a:r>
              <a:rPr sz="325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c</a:t>
            </a:r>
            <a:r>
              <a:rPr sz="1875" i="1" baseline="-6666" dirty="0">
                <a:latin typeface="Times New Roman"/>
                <a:cs typeface="Times New Roman"/>
              </a:rPr>
              <a:t>	</a:t>
            </a:r>
            <a:r>
              <a:rPr sz="325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c</a:t>
            </a:r>
            <a:r>
              <a:rPr sz="1875" i="1" baseline="-6666" dirty="0">
                <a:latin typeface="Times New Roman"/>
                <a:cs typeface="Times New Roman"/>
              </a:rPr>
              <a:t>	</a:t>
            </a:r>
            <a:r>
              <a:rPr sz="325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c</a:t>
            </a:r>
            <a:endParaRPr sz="1875" baseline="-6666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89123" y="3461881"/>
            <a:ext cx="1282065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340">
              <a:lnSpc>
                <a:spcPts val="3675"/>
              </a:lnSpc>
              <a:spcBef>
                <a:spcPts val="95"/>
              </a:spcBef>
            </a:pPr>
            <a:r>
              <a:rPr sz="4875" i="1" u="sng" baseline="-170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875" i="1" u="sng" baseline="-1111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875" i="1" u="sng" spc="179" baseline="-1111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75" i="1" spc="419" baseline="-11111" dirty="0">
                <a:latin typeface="Times New Roman"/>
                <a:cs typeface="Times New Roman"/>
              </a:rPr>
              <a:t> </a:t>
            </a:r>
            <a:r>
              <a:rPr sz="3225" baseline="-28423" dirty="0">
                <a:latin typeface="Symbol"/>
                <a:cs typeface="Symbol"/>
              </a:rPr>
              <a:t></a:t>
            </a:r>
            <a:r>
              <a:rPr sz="3225" spc="232" baseline="-28423" dirty="0">
                <a:latin typeface="Times New Roman"/>
                <a:cs typeface="Times New Roman"/>
              </a:rPr>
              <a:t> </a:t>
            </a:r>
            <a:r>
              <a:rPr sz="4875" i="1" u="sng" spc="127" baseline="256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1250" i="1" u="sng" spc="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fe</a:t>
            </a:r>
            <a:r>
              <a:rPr sz="4875" i="1" u="sng" spc="127" baseline="256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250" i="1" u="sng" spc="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endParaRPr sz="1250">
              <a:latin typeface="Times New Roman"/>
              <a:cs typeface="Times New Roman"/>
            </a:endParaRPr>
          </a:p>
          <a:p>
            <a:pPr marL="63500">
              <a:lnSpc>
                <a:spcPts val="3675"/>
              </a:lnSpc>
              <a:tabLst>
                <a:tab pos="807085" algn="l"/>
              </a:tabLst>
            </a:pPr>
            <a:r>
              <a:rPr sz="325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c</a:t>
            </a:r>
            <a:r>
              <a:rPr sz="1875" i="1" baseline="-6666" dirty="0">
                <a:latin typeface="Times New Roman"/>
                <a:cs typeface="Times New Roman"/>
              </a:rPr>
              <a:t>	</a:t>
            </a:r>
            <a:r>
              <a:rPr sz="3250" i="1" spc="-25" dirty="0">
                <a:latin typeface="Times New Roman"/>
                <a:cs typeface="Times New Roman"/>
              </a:rPr>
              <a:t>v</a:t>
            </a:r>
            <a:r>
              <a:rPr sz="1875" i="1" spc="-37" baseline="-6666" dirty="0">
                <a:latin typeface="Times New Roman"/>
                <a:cs typeface="Times New Roman"/>
              </a:rPr>
              <a:t>c</a:t>
            </a:r>
            <a:endParaRPr sz="1875" baseline="-6666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46644" y="2403711"/>
            <a:ext cx="2644140" cy="1047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>
              <a:lnSpc>
                <a:spcPts val="4560"/>
              </a:lnSpc>
              <a:spcBef>
                <a:spcPts val="100"/>
              </a:spcBef>
            </a:pPr>
            <a:r>
              <a:rPr sz="6150" i="1" baseline="2710" dirty="0">
                <a:latin typeface="Times New Roman"/>
                <a:cs typeface="Times New Roman"/>
              </a:rPr>
              <a:t>i</a:t>
            </a:r>
            <a:r>
              <a:rPr sz="1600" i="1" dirty="0">
                <a:latin typeface="Times New Roman"/>
                <a:cs typeface="Times New Roman"/>
              </a:rPr>
              <a:t>c</a:t>
            </a:r>
            <a:r>
              <a:rPr sz="1600" i="1" spc="335" dirty="0">
                <a:latin typeface="Times New Roman"/>
                <a:cs typeface="Times New Roman"/>
              </a:rPr>
              <a:t> </a:t>
            </a:r>
            <a:r>
              <a:rPr sz="4050" baseline="21604" dirty="0">
                <a:latin typeface="Symbol"/>
                <a:cs typeface="Symbol"/>
              </a:rPr>
              <a:t></a:t>
            </a:r>
            <a:r>
              <a:rPr sz="4050" spc="-37" baseline="21604" dirty="0">
                <a:latin typeface="Times New Roman"/>
                <a:cs typeface="Times New Roman"/>
              </a:rPr>
              <a:t> </a:t>
            </a:r>
            <a:r>
              <a:rPr sz="6150" i="1" spc="187" baseline="2710" dirty="0">
                <a:latin typeface="Times New Roman"/>
                <a:cs typeface="Times New Roman"/>
              </a:rPr>
              <a:t>h</a:t>
            </a:r>
            <a:r>
              <a:rPr sz="1600" i="1" spc="125" dirty="0">
                <a:latin typeface="Times New Roman"/>
                <a:cs typeface="Times New Roman"/>
              </a:rPr>
              <a:t>fe</a:t>
            </a:r>
            <a:r>
              <a:rPr sz="6150" i="1" spc="187" baseline="2710" dirty="0">
                <a:latin typeface="Times New Roman"/>
                <a:cs typeface="Times New Roman"/>
              </a:rPr>
              <a:t>i</a:t>
            </a:r>
            <a:r>
              <a:rPr sz="1600" i="1" spc="125" dirty="0">
                <a:latin typeface="Times New Roman"/>
                <a:cs typeface="Times New Roman"/>
              </a:rPr>
              <a:t>b</a:t>
            </a:r>
            <a:r>
              <a:rPr sz="1600" i="1" spc="140" dirty="0">
                <a:latin typeface="Times New Roman"/>
                <a:cs typeface="Times New Roman"/>
              </a:rPr>
              <a:t> </a:t>
            </a:r>
            <a:r>
              <a:rPr sz="4050" baseline="21604" dirty="0">
                <a:latin typeface="Symbol"/>
                <a:cs typeface="Symbol"/>
              </a:rPr>
              <a:t></a:t>
            </a:r>
            <a:r>
              <a:rPr sz="4050" spc="-247" baseline="21604" dirty="0">
                <a:latin typeface="Times New Roman"/>
                <a:cs typeface="Times New Roman"/>
              </a:rPr>
              <a:t> </a:t>
            </a:r>
            <a:r>
              <a:rPr sz="6150" i="1" baseline="2710" dirty="0">
                <a:latin typeface="Times New Roman"/>
                <a:cs typeface="Times New Roman"/>
              </a:rPr>
              <a:t>h</a:t>
            </a:r>
            <a:r>
              <a:rPr sz="1600" i="1" dirty="0">
                <a:latin typeface="Times New Roman"/>
                <a:cs typeface="Times New Roman"/>
              </a:rPr>
              <a:t>oe</a:t>
            </a:r>
            <a:r>
              <a:rPr sz="1600" i="1" spc="-125" dirty="0">
                <a:latin typeface="Times New Roman"/>
                <a:cs typeface="Times New Roman"/>
              </a:rPr>
              <a:t> </a:t>
            </a:r>
            <a:r>
              <a:rPr sz="6150" i="1" spc="-37" baseline="2710" dirty="0">
                <a:latin typeface="Times New Roman"/>
                <a:cs typeface="Times New Roman"/>
              </a:rPr>
              <a:t>v</a:t>
            </a:r>
            <a:r>
              <a:rPr sz="1600" i="1" spc="-25" dirty="0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  <a:p>
            <a:pPr marL="50800">
              <a:lnSpc>
                <a:spcPts val="3479"/>
              </a:lnSpc>
            </a:pPr>
            <a:r>
              <a:rPr sz="3200" b="1" i="1" dirty="0">
                <a:latin typeface="Calibri"/>
                <a:cs typeface="Calibri"/>
              </a:rPr>
              <a:t>Dividing</a:t>
            </a:r>
            <a:r>
              <a:rPr sz="3200" b="1" i="1" spc="-8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By</a:t>
            </a:r>
            <a:r>
              <a:rPr sz="3200" b="1" i="1" spc="-90" dirty="0">
                <a:latin typeface="Calibri"/>
                <a:cs typeface="Calibri"/>
              </a:rPr>
              <a:t> </a:t>
            </a:r>
            <a:r>
              <a:rPr sz="3200" b="1" i="1" spc="-25" dirty="0">
                <a:latin typeface="Calibri"/>
                <a:cs typeface="Calibri"/>
              </a:rPr>
              <a:t>V</a:t>
            </a:r>
            <a:r>
              <a:rPr sz="3150" b="1" i="1" spc="-37" baseline="-19841" dirty="0">
                <a:latin typeface="Calibri"/>
                <a:cs typeface="Calibri"/>
              </a:rPr>
              <a:t>c</a:t>
            </a:r>
            <a:endParaRPr sz="3150" baseline="-19841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22708" y="4427252"/>
            <a:ext cx="4721860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011680" algn="l"/>
                <a:tab pos="3821429" algn="l"/>
              </a:tabLst>
            </a:pPr>
            <a:r>
              <a:rPr sz="6150" i="1" baseline="-6775" dirty="0">
                <a:latin typeface="Times New Roman"/>
                <a:cs typeface="Times New Roman"/>
              </a:rPr>
              <a:t>v</a:t>
            </a:r>
            <a:r>
              <a:rPr sz="6150" i="1" spc="810" baseline="-6775" dirty="0">
                <a:latin typeface="Times New Roman"/>
                <a:cs typeface="Times New Roman"/>
              </a:rPr>
              <a:t> </a:t>
            </a:r>
            <a:r>
              <a:rPr sz="4100" dirty="0">
                <a:latin typeface="Symbol"/>
                <a:cs typeface="Symbol"/>
              </a:rPr>
              <a:t></a:t>
            </a:r>
            <a:r>
              <a:rPr sz="4100" dirty="0">
                <a:latin typeface="Times New Roman"/>
                <a:cs typeface="Times New Roman"/>
              </a:rPr>
              <a:t>0,</a:t>
            </a:r>
            <a:r>
              <a:rPr sz="4100" i="1" dirty="0">
                <a:latin typeface="Times New Roman"/>
                <a:cs typeface="Times New Roman"/>
              </a:rPr>
              <a:t>R</a:t>
            </a:r>
            <a:r>
              <a:rPr sz="4100" i="1" spc="430" dirty="0">
                <a:latin typeface="Times New Roman"/>
                <a:cs typeface="Times New Roman"/>
              </a:rPr>
              <a:t> </a:t>
            </a:r>
            <a:r>
              <a:rPr sz="6150" i="1" spc="-89" baseline="-5420" dirty="0">
                <a:latin typeface="Times New Roman"/>
                <a:cs typeface="Times New Roman"/>
              </a:rPr>
              <a:t>i</a:t>
            </a:r>
            <a:r>
              <a:rPr sz="6150" i="1" baseline="-5420" dirty="0">
                <a:latin typeface="Times New Roman"/>
                <a:cs typeface="Times New Roman"/>
              </a:rPr>
              <a:t>	</a:t>
            </a:r>
            <a:r>
              <a:rPr sz="6150" spc="179" baseline="1355" dirty="0">
                <a:latin typeface="Symbol"/>
                <a:cs typeface="Symbol"/>
              </a:rPr>
              <a:t></a:t>
            </a:r>
            <a:r>
              <a:rPr sz="6150" i="1" spc="179" baseline="1355" dirty="0">
                <a:latin typeface="Times New Roman"/>
                <a:cs typeface="Times New Roman"/>
              </a:rPr>
              <a:t>h</a:t>
            </a:r>
            <a:r>
              <a:rPr sz="6150" i="1" spc="562" baseline="1355" dirty="0">
                <a:latin typeface="Times New Roman"/>
                <a:cs typeface="Times New Roman"/>
              </a:rPr>
              <a:t> </a:t>
            </a:r>
            <a:r>
              <a:rPr sz="6150" i="1" baseline="-7452" dirty="0">
                <a:latin typeface="Times New Roman"/>
                <a:cs typeface="Times New Roman"/>
              </a:rPr>
              <a:t>i</a:t>
            </a:r>
            <a:r>
              <a:rPr sz="6150" i="1" spc="532" baseline="-7452" dirty="0">
                <a:latin typeface="Times New Roman"/>
                <a:cs typeface="Times New Roman"/>
              </a:rPr>
              <a:t> </a:t>
            </a:r>
            <a:r>
              <a:rPr sz="4050" baseline="7201" dirty="0">
                <a:latin typeface="Symbol"/>
                <a:cs typeface="Symbol"/>
              </a:rPr>
              <a:t></a:t>
            </a:r>
            <a:r>
              <a:rPr sz="4050" spc="-277" baseline="7201" dirty="0">
                <a:latin typeface="Times New Roman"/>
                <a:cs typeface="Times New Roman"/>
              </a:rPr>
              <a:t> </a:t>
            </a:r>
            <a:r>
              <a:rPr sz="6150" i="1" spc="-75" baseline="-7452" dirty="0">
                <a:latin typeface="Times New Roman"/>
                <a:cs typeface="Times New Roman"/>
              </a:rPr>
              <a:t>h</a:t>
            </a:r>
            <a:r>
              <a:rPr sz="6150" i="1" baseline="-7452" dirty="0">
                <a:latin typeface="Times New Roman"/>
                <a:cs typeface="Times New Roman"/>
              </a:rPr>
              <a:t>	v</a:t>
            </a:r>
            <a:r>
              <a:rPr sz="6150" i="1" spc="652" baseline="-7452" dirty="0">
                <a:latin typeface="Times New Roman"/>
                <a:cs typeface="Times New Roman"/>
              </a:rPr>
              <a:t> </a:t>
            </a:r>
            <a:r>
              <a:rPr sz="4050" baseline="7201" dirty="0">
                <a:latin typeface="Symbol"/>
                <a:cs typeface="Symbol"/>
              </a:rPr>
              <a:t></a:t>
            </a:r>
            <a:r>
              <a:rPr sz="4050" spc="-104" baseline="7201" dirty="0">
                <a:latin typeface="Times New Roman"/>
                <a:cs typeface="Times New Roman"/>
              </a:rPr>
              <a:t> </a:t>
            </a:r>
            <a:r>
              <a:rPr sz="4050" spc="-75" baseline="7201" dirty="0">
                <a:latin typeface="Times New Roman"/>
                <a:cs typeface="Times New Roman"/>
              </a:rPr>
              <a:t>0</a:t>
            </a:r>
            <a:endParaRPr sz="4050" baseline="7201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31141" y="4837077"/>
            <a:ext cx="1254760" cy="268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01040" algn="l"/>
                <a:tab pos="1149985" algn="l"/>
              </a:tabLst>
            </a:pPr>
            <a:r>
              <a:rPr sz="1600" i="1" spc="-50" dirty="0">
                <a:latin typeface="Times New Roman"/>
                <a:cs typeface="Times New Roman"/>
              </a:rPr>
              <a:t>b</a:t>
            </a:r>
            <a:r>
              <a:rPr sz="1600" i="1" dirty="0">
                <a:latin typeface="Times New Roman"/>
                <a:cs typeface="Times New Roman"/>
              </a:rPr>
              <a:t>	</a:t>
            </a:r>
            <a:r>
              <a:rPr sz="1600" i="1" spc="-25" dirty="0">
                <a:latin typeface="Times New Roman"/>
                <a:cs typeface="Times New Roman"/>
              </a:rPr>
              <a:t>re</a:t>
            </a:r>
            <a:r>
              <a:rPr sz="1600" i="1" dirty="0">
                <a:latin typeface="Times New Roman"/>
                <a:cs typeface="Times New Roman"/>
              </a:rPr>
              <a:t>	</a:t>
            </a:r>
            <a:r>
              <a:rPr sz="1600" i="1" spc="-50" dirty="0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97235" y="4916559"/>
            <a:ext cx="191770" cy="268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i="1" spc="45" dirty="0">
                <a:latin typeface="Times New Roman"/>
                <a:cs typeface="Times New Roman"/>
              </a:rPr>
              <a:t>ie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77275" y="4709602"/>
            <a:ext cx="1784985" cy="4419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250315" algn="l"/>
                <a:tab pos="1557020" algn="l"/>
              </a:tabLst>
            </a:pPr>
            <a:r>
              <a:rPr sz="2700" i="1" spc="-50" dirty="0">
                <a:latin typeface="Times New Roman"/>
                <a:cs typeface="Times New Roman"/>
              </a:rPr>
              <a:t>s</a:t>
            </a:r>
            <a:r>
              <a:rPr sz="2700" i="1" dirty="0">
                <a:latin typeface="Times New Roman"/>
                <a:cs typeface="Times New Roman"/>
              </a:rPr>
              <a:t>	</a:t>
            </a:r>
            <a:r>
              <a:rPr sz="4050" i="1" spc="-75" baseline="-6172" dirty="0">
                <a:latin typeface="Times New Roman"/>
                <a:cs typeface="Times New Roman"/>
              </a:rPr>
              <a:t>s</a:t>
            </a:r>
            <a:r>
              <a:rPr sz="4050" i="1" baseline="-6172" dirty="0">
                <a:latin typeface="Times New Roman"/>
                <a:cs typeface="Times New Roman"/>
              </a:rPr>
              <a:t>	</a:t>
            </a:r>
            <a:r>
              <a:rPr sz="4050" i="1" spc="-75" baseline="2057" dirty="0">
                <a:latin typeface="Times New Roman"/>
                <a:cs typeface="Times New Roman"/>
              </a:rPr>
              <a:t>b</a:t>
            </a:r>
            <a:endParaRPr sz="4050" baseline="2057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90437" y="5588480"/>
            <a:ext cx="734695" cy="446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62610" algn="l"/>
              </a:tabLst>
            </a:pPr>
            <a:r>
              <a:rPr sz="2750" i="1" spc="-25" dirty="0">
                <a:latin typeface="Times New Roman"/>
                <a:cs typeface="Times New Roman"/>
              </a:rPr>
              <a:t>re</a:t>
            </a:r>
            <a:r>
              <a:rPr sz="2750" i="1" dirty="0">
                <a:latin typeface="Times New Roman"/>
                <a:cs typeface="Times New Roman"/>
              </a:rPr>
              <a:t>	</a:t>
            </a:r>
            <a:r>
              <a:rPr sz="2750" i="1" spc="-50" dirty="0">
                <a:latin typeface="Times New Roman"/>
                <a:cs typeface="Times New Roman"/>
              </a:rPr>
              <a:t>c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03388" y="5588480"/>
            <a:ext cx="1504315" cy="446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56920" algn="l"/>
                <a:tab pos="1312545" algn="l"/>
              </a:tabLst>
            </a:pPr>
            <a:r>
              <a:rPr sz="4125" i="1" spc="-75" baseline="1010" dirty="0">
                <a:latin typeface="Times New Roman"/>
                <a:cs typeface="Times New Roman"/>
              </a:rPr>
              <a:t>s</a:t>
            </a:r>
            <a:r>
              <a:rPr sz="4125" i="1" baseline="1010" dirty="0">
                <a:latin typeface="Times New Roman"/>
                <a:cs typeface="Times New Roman"/>
              </a:rPr>
              <a:t>	</a:t>
            </a:r>
            <a:r>
              <a:rPr sz="2750" i="1" spc="-25" dirty="0">
                <a:latin typeface="Times New Roman"/>
                <a:cs typeface="Times New Roman"/>
              </a:rPr>
              <a:t>ie</a:t>
            </a:r>
            <a:r>
              <a:rPr sz="2750" i="1" dirty="0">
                <a:latin typeface="Times New Roman"/>
                <a:cs typeface="Times New Roman"/>
              </a:rPr>
              <a:t>	</a:t>
            </a:r>
            <a:r>
              <a:rPr sz="2750" i="1" spc="-50" dirty="0">
                <a:latin typeface="Times New Roman"/>
                <a:cs typeface="Times New Roman"/>
              </a:rPr>
              <a:t>b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66230" y="5134892"/>
            <a:ext cx="3520440" cy="859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562100" algn="l"/>
                <a:tab pos="2049780" algn="l"/>
                <a:tab pos="3243580" algn="l"/>
              </a:tabLst>
            </a:pPr>
            <a:r>
              <a:rPr sz="5450" dirty="0">
                <a:latin typeface="Symbol"/>
                <a:cs typeface="Symbol"/>
              </a:rPr>
              <a:t></a:t>
            </a:r>
            <a:r>
              <a:rPr sz="6150" i="1" baseline="-7452" dirty="0">
                <a:latin typeface="Times New Roman"/>
                <a:cs typeface="Times New Roman"/>
              </a:rPr>
              <a:t>R</a:t>
            </a:r>
            <a:r>
              <a:rPr sz="6150" i="1" spc="-7" baseline="-7452" dirty="0">
                <a:latin typeface="Times New Roman"/>
                <a:cs typeface="Times New Roman"/>
              </a:rPr>
              <a:t> </a:t>
            </a:r>
            <a:r>
              <a:rPr sz="4100" spc="114" dirty="0">
                <a:latin typeface="Symbol"/>
                <a:cs typeface="Symbol"/>
              </a:rPr>
              <a:t></a:t>
            </a:r>
            <a:r>
              <a:rPr sz="6150" i="1" spc="172" baseline="-6775" dirty="0">
                <a:latin typeface="Times New Roman"/>
                <a:cs typeface="Times New Roman"/>
              </a:rPr>
              <a:t>h</a:t>
            </a:r>
            <a:r>
              <a:rPr sz="6150" i="1" baseline="-6775" dirty="0">
                <a:latin typeface="Times New Roman"/>
                <a:cs typeface="Times New Roman"/>
              </a:rPr>
              <a:t>	</a:t>
            </a:r>
            <a:r>
              <a:rPr sz="5450" spc="-405" dirty="0">
                <a:latin typeface="Symbol"/>
                <a:cs typeface="Symbol"/>
              </a:rPr>
              <a:t></a:t>
            </a:r>
            <a:r>
              <a:rPr sz="6150" i="1" spc="-607" baseline="-6775" dirty="0">
                <a:latin typeface="Times New Roman"/>
                <a:cs typeface="Times New Roman"/>
              </a:rPr>
              <a:t>i</a:t>
            </a:r>
            <a:r>
              <a:rPr sz="6150" i="1" baseline="-6775" dirty="0">
                <a:latin typeface="Times New Roman"/>
                <a:cs typeface="Times New Roman"/>
              </a:rPr>
              <a:t>	</a:t>
            </a:r>
            <a:r>
              <a:rPr sz="4100" spc="100" dirty="0">
                <a:latin typeface="Symbol"/>
                <a:cs typeface="Symbol"/>
              </a:rPr>
              <a:t></a:t>
            </a:r>
            <a:r>
              <a:rPr sz="6150" i="1" spc="150" baseline="-6775" dirty="0">
                <a:latin typeface="Times New Roman"/>
                <a:cs typeface="Times New Roman"/>
              </a:rPr>
              <a:t>h</a:t>
            </a:r>
            <a:r>
              <a:rPr sz="6150" i="1" baseline="-6775" dirty="0">
                <a:latin typeface="Times New Roman"/>
                <a:cs typeface="Times New Roman"/>
              </a:rPr>
              <a:t>	</a:t>
            </a:r>
            <a:r>
              <a:rPr sz="6150" i="1" spc="-75" baseline="-6775" dirty="0">
                <a:latin typeface="Times New Roman"/>
                <a:cs typeface="Times New Roman"/>
              </a:rPr>
              <a:t>v</a:t>
            </a:r>
            <a:endParaRPr sz="6150" baseline="-6775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25058" y="3474465"/>
            <a:ext cx="5177790" cy="2916555"/>
            <a:chOff x="5925058" y="3474465"/>
            <a:chExt cx="5177790" cy="2916555"/>
          </a:xfrm>
        </p:grpSpPr>
        <p:sp>
          <p:nvSpPr>
            <p:cNvPr id="37" name="object 37"/>
            <p:cNvSpPr/>
            <p:nvPr/>
          </p:nvSpPr>
          <p:spPr>
            <a:xfrm>
              <a:off x="5954268" y="3503675"/>
              <a:ext cx="1905" cy="2858135"/>
            </a:xfrm>
            <a:custGeom>
              <a:avLst/>
              <a:gdLst/>
              <a:ahLst/>
              <a:cxnLst/>
              <a:rect l="l" t="t" r="r" b="b"/>
              <a:pathLst>
                <a:path w="1904" h="2858135">
                  <a:moveTo>
                    <a:pt x="1651" y="0"/>
                  </a:moveTo>
                  <a:lnTo>
                    <a:pt x="0" y="2857525"/>
                  </a:lnTo>
                </a:path>
              </a:pathLst>
            </a:custGeom>
            <a:ln w="57911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54268" y="3500627"/>
              <a:ext cx="5143500" cy="1905"/>
            </a:xfrm>
            <a:custGeom>
              <a:avLst/>
              <a:gdLst/>
              <a:ahLst/>
              <a:cxnLst/>
              <a:rect l="l" t="t" r="r" b="b"/>
              <a:pathLst>
                <a:path w="5143500" h="1904">
                  <a:moveTo>
                    <a:pt x="0" y="0"/>
                  </a:moveTo>
                  <a:lnTo>
                    <a:pt x="5143500" y="165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851333" y="4091425"/>
            <a:ext cx="415925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4400" i="1" spc="-25" dirty="0">
                <a:latin typeface="Times New Roman"/>
                <a:cs typeface="Times New Roman"/>
              </a:rPr>
              <a:t>v</a:t>
            </a:r>
            <a:r>
              <a:rPr sz="2550" i="1" spc="-37" baseline="-6535" dirty="0">
                <a:latin typeface="Times New Roman"/>
                <a:cs typeface="Times New Roman"/>
              </a:rPr>
              <a:t>c</a:t>
            </a:r>
            <a:endParaRPr sz="2550" baseline="-6535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925158" y="4117268"/>
            <a:ext cx="1306830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sz="6600" i="1" spc="89" baseline="1893" dirty="0">
                <a:latin typeface="Times New Roman"/>
                <a:cs typeface="Times New Roman"/>
              </a:rPr>
              <a:t>R</a:t>
            </a:r>
            <a:r>
              <a:rPr sz="2550" i="1" spc="89" baseline="1633" dirty="0">
                <a:latin typeface="Times New Roman"/>
                <a:cs typeface="Times New Roman"/>
              </a:rPr>
              <a:t>s</a:t>
            </a:r>
            <a:r>
              <a:rPr sz="2550" i="1" spc="217" baseline="1633" dirty="0">
                <a:latin typeface="Times New Roman"/>
                <a:cs typeface="Times New Roman"/>
              </a:rPr>
              <a:t> </a:t>
            </a:r>
            <a:r>
              <a:rPr sz="4425" baseline="20715" dirty="0">
                <a:latin typeface="Symbol"/>
                <a:cs typeface="Symbol"/>
              </a:rPr>
              <a:t></a:t>
            </a:r>
            <a:r>
              <a:rPr sz="4425" spc="-345" baseline="20715" dirty="0">
                <a:latin typeface="Times New Roman"/>
                <a:cs typeface="Times New Roman"/>
              </a:rPr>
              <a:t> </a:t>
            </a:r>
            <a:r>
              <a:rPr sz="6600" i="1" spc="-37" baseline="2525" dirty="0">
                <a:latin typeface="Times New Roman"/>
                <a:cs typeface="Times New Roman"/>
              </a:rPr>
              <a:t>h</a:t>
            </a:r>
            <a:r>
              <a:rPr sz="1700" i="1" spc="-25" dirty="0">
                <a:latin typeface="Times New Roman"/>
                <a:cs typeface="Times New Roman"/>
              </a:rPr>
              <a:t>ie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374352" y="3514012"/>
            <a:ext cx="2861945" cy="698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  <a:tabLst>
                <a:tab pos="1945639" algn="l"/>
                <a:tab pos="2823210" algn="l"/>
              </a:tabLst>
            </a:pPr>
            <a:r>
              <a:rPr sz="4425" baseline="-25423" dirty="0">
                <a:latin typeface="Symbol"/>
                <a:cs typeface="Symbol"/>
              </a:rPr>
              <a:t></a:t>
            </a:r>
            <a:r>
              <a:rPr sz="4425" baseline="-25423" dirty="0">
                <a:latin typeface="Times New Roman"/>
                <a:cs typeface="Times New Roman"/>
              </a:rPr>
              <a:t> </a:t>
            </a:r>
            <a:r>
              <a:rPr sz="4400" i="1" u="sng" spc="-6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2550" i="1" u="sng" baseline="-65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2550" i="1" u="sng" spc="232" baseline="-65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50" i="1" spc="637" baseline="-6535" dirty="0">
                <a:latin typeface="Times New Roman"/>
                <a:cs typeface="Times New Roman"/>
              </a:rPr>
              <a:t> </a:t>
            </a:r>
            <a:r>
              <a:rPr sz="4425" baseline="-25423" dirty="0">
                <a:latin typeface="Symbol"/>
                <a:cs typeface="Symbol"/>
              </a:rPr>
              <a:t></a:t>
            </a:r>
            <a:r>
              <a:rPr sz="4425" spc="-15" baseline="-25423" dirty="0">
                <a:latin typeface="Times New Roman"/>
                <a:cs typeface="Times New Roman"/>
              </a:rPr>
              <a:t> </a:t>
            </a:r>
            <a:r>
              <a:rPr sz="4425" baseline="-25423" dirty="0">
                <a:latin typeface="Symbol"/>
                <a:cs typeface="Symbol"/>
              </a:rPr>
              <a:t></a:t>
            </a:r>
            <a:r>
              <a:rPr sz="4425" spc="-390" baseline="-25423" dirty="0">
                <a:latin typeface="Times New Roman"/>
                <a:cs typeface="Times New Roman"/>
              </a:rPr>
              <a:t> </a:t>
            </a:r>
            <a:r>
              <a:rPr sz="44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44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2550" i="1" u="sng" spc="-37" baseline="-65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</a:t>
            </a:r>
            <a:r>
              <a:rPr sz="2550" i="1" u="sng" baseline="-65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550" baseline="-6535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341107" y="3558540"/>
            <a:ext cx="2929255" cy="1240790"/>
          </a:xfrm>
          <a:custGeom>
            <a:avLst/>
            <a:gdLst/>
            <a:ahLst/>
            <a:cxnLst/>
            <a:rect l="l" t="t" r="r" b="b"/>
            <a:pathLst>
              <a:path w="2929254" h="1240789">
                <a:moveTo>
                  <a:pt x="0" y="1240536"/>
                </a:moveTo>
                <a:lnTo>
                  <a:pt x="2929128" y="1240536"/>
                </a:lnTo>
                <a:lnTo>
                  <a:pt x="2929128" y="0"/>
                </a:lnTo>
                <a:lnTo>
                  <a:pt x="0" y="0"/>
                </a:lnTo>
                <a:lnTo>
                  <a:pt x="0" y="1240536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56866" y="-20065"/>
            <a:ext cx="747775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CE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Amplifier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Without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Emitter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Resistance</a:t>
            </a:r>
            <a:endParaRPr sz="3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3600" b="1" dirty="0">
                <a:latin typeface="Calibri"/>
                <a:cs typeface="Calibri"/>
              </a:rPr>
              <a:t>(Using</a:t>
            </a:r>
            <a:r>
              <a:rPr sz="3600" b="1" spc="-65" dirty="0">
                <a:latin typeface="Calibri"/>
                <a:cs typeface="Calibri"/>
              </a:rPr>
              <a:t> </a:t>
            </a:r>
            <a:r>
              <a:rPr sz="3600" b="1" spc="-20" dirty="0">
                <a:latin typeface="Calibri"/>
                <a:cs typeface="Calibri"/>
              </a:rPr>
              <a:t>Approximate</a:t>
            </a:r>
            <a:r>
              <a:rPr sz="3600" b="1" spc="-10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Hybrid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Model)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6128" y="1143000"/>
            <a:ext cx="5215128" cy="28895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0975" y="1143000"/>
            <a:ext cx="4572000" cy="28590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41967" y="4129778"/>
            <a:ext cx="24257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i="1" spc="-50" dirty="0">
                <a:latin typeface="Times New Roman"/>
                <a:cs typeface="Times New Roman"/>
              </a:rPr>
              <a:t>h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7456" y="4686005"/>
            <a:ext cx="14033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i="1" spc="-50" dirty="0">
                <a:latin typeface="Times New Roman"/>
                <a:cs typeface="Times New Roman"/>
              </a:rPr>
              <a:t>i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20492" y="4218185"/>
            <a:ext cx="14732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i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34965" y="4319497"/>
            <a:ext cx="25336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350" i="1" spc="65" dirty="0">
                <a:latin typeface="Times New Roman"/>
                <a:cs typeface="Times New Roman"/>
              </a:rPr>
              <a:t>fe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48754" y="4986067"/>
            <a:ext cx="10223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i="1" spc="-50" dirty="0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54824" y="4517625"/>
            <a:ext cx="9207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i="1" spc="-50" dirty="0"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43519" y="4517625"/>
            <a:ext cx="1544320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497840" algn="l"/>
              </a:tabLst>
            </a:pPr>
            <a:r>
              <a:rPr sz="14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86485" y="4453910"/>
            <a:ext cx="32131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i="1" spc="-35" dirty="0">
                <a:latin typeface="Times New Roman"/>
                <a:cs typeface="Times New Roman"/>
              </a:rPr>
              <a:t>A</a:t>
            </a:r>
            <a:r>
              <a:rPr sz="2100" i="1" spc="-52" baseline="-3968" dirty="0">
                <a:latin typeface="Times New Roman"/>
                <a:cs typeface="Times New Roman"/>
              </a:rPr>
              <a:t>i</a:t>
            </a:r>
            <a:endParaRPr sz="2100" baseline="-396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06792" y="4390148"/>
            <a:ext cx="529590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550" spc="40" dirty="0">
                <a:latin typeface="Symbol"/>
                <a:cs typeface="Symbol"/>
              </a:rPr>
              <a:t>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2472" y="4507128"/>
            <a:ext cx="18097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350" spc="-50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98678" y="4829733"/>
            <a:ext cx="1560195" cy="571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5325" baseline="11737" dirty="0">
                <a:latin typeface="Times New Roman"/>
                <a:cs typeface="Times New Roman"/>
              </a:rPr>
              <a:t>1</a:t>
            </a:r>
            <a:r>
              <a:rPr sz="5325" baseline="11737" dirty="0">
                <a:latin typeface="Symbol"/>
                <a:cs typeface="Symbol"/>
              </a:rPr>
              <a:t></a:t>
            </a:r>
            <a:r>
              <a:rPr sz="5325" i="1" baseline="4694" dirty="0">
                <a:latin typeface="Times New Roman"/>
                <a:cs typeface="Times New Roman"/>
              </a:rPr>
              <a:t>h</a:t>
            </a:r>
            <a:r>
              <a:rPr sz="2350" i="1" dirty="0">
                <a:latin typeface="Times New Roman"/>
                <a:cs typeface="Times New Roman"/>
              </a:rPr>
              <a:t>oe</a:t>
            </a:r>
            <a:r>
              <a:rPr sz="2350" i="1" spc="-315" dirty="0">
                <a:latin typeface="Times New Roman"/>
                <a:cs typeface="Times New Roman"/>
              </a:rPr>
              <a:t> </a:t>
            </a:r>
            <a:r>
              <a:rPr sz="5325" i="1" spc="142" baseline="3912" dirty="0">
                <a:latin typeface="Times New Roman"/>
                <a:cs typeface="Times New Roman"/>
              </a:rPr>
              <a:t>R</a:t>
            </a:r>
            <a:r>
              <a:rPr sz="3525" i="1" spc="142" baseline="1182" dirty="0">
                <a:latin typeface="Times New Roman"/>
                <a:cs typeface="Times New Roman"/>
              </a:rPr>
              <a:t>L</a:t>
            </a:r>
            <a:endParaRPr sz="3525" baseline="1182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93748" y="4128515"/>
            <a:ext cx="3230880" cy="1313815"/>
          </a:xfrm>
          <a:custGeom>
            <a:avLst/>
            <a:gdLst/>
            <a:ahLst/>
            <a:cxnLst/>
            <a:rect l="l" t="t" r="r" b="b"/>
            <a:pathLst>
              <a:path w="3230879" h="1313814">
                <a:moveTo>
                  <a:pt x="0" y="1313688"/>
                </a:moveTo>
                <a:lnTo>
                  <a:pt x="3230879" y="1313688"/>
                </a:lnTo>
                <a:lnTo>
                  <a:pt x="3230879" y="0"/>
                </a:lnTo>
                <a:lnTo>
                  <a:pt x="0" y="0"/>
                </a:lnTo>
                <a:lnTo>
                  <a:pt x="0" y="1313688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59387" y="5663610"/>
            <a:ext cx="243204" cy="570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3550" i="1" spc="-50" dirty="0">
                <a:latin typeface="Times New Roman"/>
                <a:cs typeface="Times New Roman"/>
              </a:rPr>
              <a:t>h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44197" y="5452150"/>
            <a:ext cx="144145" cy="103759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R="5080" indent="2540">
              <a:lnSpc>
                <a:spcPts val="3679"/>
              </a:lnSpc>
              <a:spcBef>
                <a:spcPts val="725"/>
              </a:spcBef>
            </a:pPr>
            <a:r>
              <a:rPr sz="355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3550" i="1" spc="-50" dirty="0">
                <a:latin typeface="Times New Roman"/>
                <a:cs typeface="Times New Roman"/>
              </a:rPr>
              <a:t> i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51169" y="5852121"/>
            <a:ext cx="25336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350" i="1" spc="70" dirty="0">
                <a:latin typeface="Times New Roman"/>
                <a:cs typeface="Times New Roman"/>
              </a:rPr>
              <a:t>fe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75501" y="6217347"/>
            <a:ext cx="102870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i="1" spc="-50" dirty="0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80995" y="5750213"/>
            <a:ext cx="92710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4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15650" y="5687498"/>
            <a:ext cx="321310" cy="570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3550" i="1" spc="-35" dirty="0">
                <a:latin typeface="Times New Roman"/>
                <a:cs typeface="Times New Roman"/>
              </a:rPr>
              <a:t>A</a:t>
            </a:r>
            <a:r>
              <a:rPr sz="2100" i="1" spc="-52" baseline="-3968" dirty="0">
                <a:latin typeface="Times New Roman"/>
                <a:cs typeface="Times New Roman"/>
              </a:rPr>
              <a:t>i</a:t>
            </a:r>
            <a:endParaRPr sz="2100" baseline="-3968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32342" y="5606867"/>
            <a:ext cx="528955" cy="570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3550" spc="50" dirty="0">
                <a:latin typeface="Symbol"/>
                <a:cs typeface="Symbol"/>
              </a:rPr>
              <a:t></a:t>
            </a:r>
            <a:endParaRPr sz="35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00456" y="5739820"/>
            <a:ext cx="181610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350" spc="-50" dirty="0">
                <a:latin typeface="Symbol"/>
                <a:cs typeface="Symbol"/>
              </a:rPr>
              <a:t>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223516" y="5487923"/>
            <a:ext cx="2194560" cy="1009015"/>
          </a:xfrm>
          <a:custGeom>
            <a:avLst/>
            <a:gdLst/>
            <a:ahLst/>
            <a:cxnLst/>
            <a:rect l="l" t="t" r="r" b="b"/>
            <a:pathLst>
              <a:path w="2194560" h="1009014">
                <a:moveTo>
                  <a:pt x="0" y="1008888"/>
                </a:moveTo>
                <a:lnTo>
                  <a:pt x="2194560" y="1008888"/>
                </a:lnTo>
                <a:lnTo>
                  <a:pt x="2194560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433353" y="4243502"/>
            <a:ext cx="23114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3350" i="1" spc="-50" dirty="0">
                <a:latin typeface="Times New Roman"/>
                <a:cs typeface="Times New Roman"/>
              </a:rPr>
              <a:t>h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73924" y="4467012"/>
            <a:ext cx="13462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3350" i="1" spc="-50" dirty="0">
                <a:latin typeface="Times New Roman"/>
                <a:cs typeface="Times New Roman"/>
              </a:rPr>
              <a:t>i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20005" y="4247456"/>
            <a:ext cx="28003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3350" i="1" spc="-50" dirty="0">
                <a:latin typeface="Times New Roman"/>
                <a:cs typeface="Times New Roman"/>
              </a:rPr>
              <a:t>R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078186" y="4523038"/>
            <a:ext cx="107314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300" i="1" spc="-50" dirty="0">
                <a:latin typeface="Times New Roman"/>
                <a:cs typeface="Times New Roman"/>
              </a:rPr>
              <a:t>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025046" y="4247456"/>
            <a:ext cx="1058545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3350" i="1" dirty="0">
                <a:latin typeface="Times New Roman"/>
                <a:cs typeface="Times New Roman"/>
              </a:rPr>
              <a:t>h</a:t>
            </a:r>
            <a:r>
              <a:rPr sz="1950" i="1" baseline="-4273" dirty="0">
                <a:latin typeface="Times New Roman"/>
                <a:cs typeface="Times New Roman"/>
              </a:rPr>
              <a:t>re</a:t>
            </a:r>
            <a:r>
              <a:rPr sz="1950" i="1" spc="262" baseline="-4273" dirty="0">
                <a:latin typeface="Times New Roman"/>
                <a:cs typeface="Times New Roman"/>
              </a:rPr>
              <a:t> </a:t>
            </a:r>
            <a:r>
              <a:rPr sz="3350" i="1" dirty="0">
                <a:latin typeface="Times New Roman"/>
                <a:cs typeface="Times New Roman"/>
              </a:rPr>
              <a:t>A</a:t>
            </a:r>
            <a:r>
              <a:rPr sz="1950" i="1" baseline="-4273" dirty="0">
                <a:latin typeface="Times New Roman"/>
                <a:cs typeface="Times New Roman"/>
              </a:rPr>
              <a:t>i</a:t>
            </a:r>
            <a:r>
              <a:rPr sz="1950" i="1" spc="157" baseline="-4273" dirty="0">
                <a:latin typeface="Times New Roman"/>
                <a:cs typeface="Times New Roman"/>
              </a:rPr>
              <a:t> </a:t>
            </a:r>
            <a:r>
              <a:rPr sz="3350" i="1" spc="-50" dirty="0">
                <a:latin typeface="Times New Roman"/>
                <a:cs typeface="Times New Roman"/>
              </a:rPr>
              <a:t>R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44794" y="4525846"/>
            <a:ext cx="14859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300" i="1" spc="30" dirty="0">
                <a:latin typeface="Times New Roman"/>
                <a:cs typeface="Times New Roman"/>
              </a:rPr>
              <a:t>ie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97798" y="4749363"/>
            <a:ext cx="9779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300" i="1" spc="-50" dirty="0">
                <a:latin typeface="Times New Roman"/>
                <a:cs typeface="Times New Roman"/>
              </a:rPr>
              <a:t>b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17972" y="4024519"/>
            <a:ext cx="340360" cy="541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335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1950" i="1" u="sng" spc="-37" baseline="-64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endParaRPr sz="1950" baseline="-641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85018" y="4523038"/>
            <a:ext cx="60325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300" i="1" spc="-50" dirty="0">
                <a:latin typeface="Times New Roman"/>
                <a:cs typeface="Times New Roman"/>
              </a:rPr>
              <a:t>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817623" y="4297019"/>
            <a:ext cx="172720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250" spc="-50" dirty="0">
                <a:latin typeface="Symbol"/>
                <a:cs typeface="Symbol"/>
              </a:rPr>
              <a:t>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212116" y="4297019"/>
            <a:ext cx="172720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250" spc="-5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04873" y="4297019"/>
            <a:ext cx="172720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250" spc="-5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152131" y="4058411"/>
            <a:ext cx="3081655" cy="957580"/>
          </a:xfrm>
          <a:custGeom>
            <a:avLst/>
            <a:gdLst/>
            <a:ahLst/>
            <a:cxnLst/>
            <a:rect l="l" t="t" r="r" b="b"/>
            <a:pathLst>
              <a:path w="3081654" h="957579">
                <a:moveTo>
                  <a:pt x="0" y="957071"/>
                </a:moveTo>
                <a:lnTo>
                  <a:pt x="3081528" y="957071"/>
                </a:lnTo>
                <a:lnTo>
                  <a:pt x="3081528" y="0"/>
                </a:lnTo>
                <a:lnTo>
                  <a:pt x="0" y="0"/>
                </a:lnTo>
                <a:lnTo>
                  <a:pt x="0" y="957071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575142" y="5183232"/>
            <a:ext cx="645160" cy="954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150" i="1" spc="-37" baseline="2732" dirty="0">
                <a:latin typeface="Times New Roman"/>
                <a:cs typeface="Times New Roman"/>
              </a:rPr>
              <a:t>h</a:t>
            </a:r>
            <a:r>
              <a:rPr sz="2350" i="1" spc="-25" dirty="0">
                <a:latin typeface="Times New Roman"/>
                <a:cs typeface="Times New Roman"/>
              </a:rPr>
              <a:t>ie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83131" y="5244294"/>
            <a:ext cx="32194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50" spc="35" dirty="0">
                <a:latin typeface="Symbol"/>
                <a:cs typeface="Symbol"/>
              </a:rPr>
              <a:t></a:t>
            </a:r>
            <a:endParaRPr sz="405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76746" y="5147112"/>
            <a:ext cx="1433195" cy="954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6100" spc="50" dirty="0">
                <a:latin typeface="Symbol"/>
                <a:cs typeface="Symbol"/>
              </a:rPr>
              <a:t></a:t>
            </a:r>
            <a:r>
              <a:rPr sz="6100" i="1" spc="50" dirty="0">
                <a:latin typeface="Times New Roman"/>
                <a:cs typeface="Times New Roman"/>
              </a:rPr>
              <a:t>R</a:t>
            </a:r>
            <a:r>
              <a:rPr sz="3525" i="1" spc="75" baseline="-7092" dirty="0">
                <a:latin typeface="Times New Roman"/>
                <a:cs typeface="Times New Roman"/>
              </a:rPr>
              <a:t>i</a:t>
            </a:r>
            <a:endParaRPr sz="3525" baseline="-7092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652004" y="5201411"/>
            <a:ext cx="2661285" cy="875030"/>
          </a:xfrm>
          <a:custGeom>
            <a:avLst/>
            <a:gdLst/>
            <a:ahLst/>
            <a:cxnLst/>
            <a:rect l="l" t="t" r="r" b="b"/>
            <a:pathLst>
              <a:path w="2661284" h="875029">
                <a:moveTo>
                  <a:pt x="0" y="874776"/>
                </a:moveTo>
                <a:lnTo>
                  <a:pt x="2660904" y="874776"/>
                </a:lnTo>
                <a:lnTo>
                  <a:pt x="2660904" y="0"/>
                </a:lnTo>
                <a:lnTo>
                  <a:pt x="0" y="0"/>
                </a:lnTo>
                <a:lnTo>
                  <a:pt x="0" y="874776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167884" y="5146547"/>
            <a:ext cx="1609725" cy="460375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10"/>
              </a:spcBef>
            </a:pPr>
            <a:r>
              <a:rPr sz="2400" b="1" spc="-10" dirty="0">
                <a:latin typeface="Calibri"/>
                <a:cs typeface="Calibri"/>
              </a:rPr>
              <a:t>Neglecting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652771" y="5771388"/>
            <a:ext cx="2743200" cy="600710"/>
          </a:xfrm>
          <a:prstGeom prst="rect">
            <a:avLst/>
          </a:prstGeom>
          <a:ln w="2743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2230">
              <a:lnSpc>
                <a:spcPts val="3895"/>
              </a:lnSpc>
            </a:pPr>
            <a:r>
              <a:rPr sz="6150" i="1" baseline="-11517" dirty="0">
                <a:latin typeface="Times New Roman"/>
                <a:cs typeface="Times New Roman"/>
              </a:rPr>
              <a:t>h</a:t>
            </a:r>
            <a:r>
              <a:rPr sz="2400" i="1" baseline="-36458" dirty="0">
                <a:latin typeface="Times New Roman"/>
                <a:cs typeface="Times New Roman"/>
              </a:rPr>
              <a:t>oe</a:t>
            </a:r>
            <a:r>
              <a:rPr sz="2400" i="1" spc="254" baseline="-36458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</a:t>
            </a:r>
            <a:r>
              <a:rPr sz="2750" spc="-165" dirty="0">
                <a:latin typeface="Times New Roman"/>
                <a:cs typeface="Times New Roman"/>
              </a:rPr>
              <a:t> </a:t>
            </a:r>
            <a:r>
              <a:rPr sz="2750" spc="-30" dirty="0">
                <a:latin typeface="Times New Roman"/>
                <a:cs typeface="Times New Roman"/>
              </a:rPr>
              <a:t>0,</a:t>
            </a:r>
            <a:r>
              <a:rPr sz="2750" spc="-375" dirty="0">
                <a:latin typeface="Times New Roman"/>
                <a:cs typeface="Times New Roman"/>
              </a:rPr>
              <a:t> </a:t>
            </a:r>
            <a:r>
              <a:rPr sz="2750" i="1" dirty="0">
                <a:latin typeface="Times New Roman"/>
                <a:cs typeface="Times New Roman"/>
              </a:rPr>
              <a:t>and</a:t>
            </a:r>
            <a:r>
              <a:rPr sz="2750" i="1" spc="-145" dirty="0">
                <a:latin typeface="Times New Roman"/>
                <a:cs typeface="Times New Roman"/>
              </a:rPr>
              <a:t> </a:t>
            </a:r>
            <a:r>
              <a:rPr sz="6150" i="1" baseline="-11517" dirty="0">
                <a:latin typeface="Times New Roman"/>
                <a:cs typeface="Times New Roman"/>
              </a:rPr>
              <a:t>h</a:t>
            </a:r>
            <a:r>
              <a:rPr sz="2400" i="1" baseline="-36458" dirty="0">
                <a:latin typeface="Times New Roman"/>
                <a:cs typeface="Times New Roman"/>
              </a:rPr>
              <a:t>re</a:t>
            </a:r>
            <a:r>
              <a:rPr sz="2400" i="1" spc="254" baseline="-36458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Symbol"/>
                <a:cs typeface="Symbol"/>
              </a:rPr>
              <a:t></a:t>
            </a:r>
            <a:r>
              <a:rPr sz="2750" spc="-165" dirty="0">
                <a:latin typeface="Times New Roman"/>
                <a:cs typeface="Times New Roman"/>
              </a:rPr>
              <a:t> </a:t>
            </a:r>
            <a:r>
              <a:rPr sz="2750" spc="5" dirty="0">
                <a:latin typeface="Times New Roman"/>
                <a:cs typeface="Times New Roman"/>
              </a:rPr>
              <a:t>0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56866" y="-20065"/>
            <a:ext cx="74777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CE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Amplifier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Without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Emitter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Resistance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1648" y="528269"/>
            <a:ext cx="66471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(Using</a:t>
            </a:r>
            <a:r>
              <a:rPr sz="3600" b="1" spc="-65" dirty="0">
                <a:latin typeface="Calibri"/>
                <a:cs typeface="Calibri"/>
              </a:rPr>
              <a:t> </a:t>
            </a:r>
            <a:r>
              <a:rPr sz="3600" b="1" spc="-20" dirty="0">
                <a:latin typeface="Calibri"/>
                <a:cs typeface="Calibri"/>
              </a:rPr>
              <a:t>Approximate</a:t>
            </a:r>
            <a:r>
              <a:rPr sz="3600" b="1" spc="-10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Hybrid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Model)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96128" y="1143000"/>
            <a:ext cx="5215255" cy="5531485"/>
            <a:chOff x="5596128" y="1143000"/>
            <a:chExt cx="5215255" cy="55314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96128" y="1143000"/>
              <a:ext cx="5215128" cy="28895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40908" y="3787139"/>
              <a:ext cx="1905" cy="2858135"/>
            </a:xfrm>
            <a:custGeom>
              <a:avLst/>
              <a:gdLst/>
              <a:ahLst/>
              <a:cxnLst/>
              <a:rect l="l" t="t" r="r" b="b"/>
              <a:pathLst>
                <a:path w="1904" h="2858134">
                  <a:moveTo>
                    <a:pt x="1650" y="0"/>
                  </a:moveTo>
                  <a:lnTo>
                    <a:pt x="0" y="2857525"/>
                  </a:lnTo>
                </a:path>
              </a:pathLst>
            </a:custGeom>
            <a:ln w="57911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33170" y="4599442"/>
              <a:ext cx="2571750" cy="0"/>
            </a:xfrm>
            <a:custGeom>
              <a:avLst/>
              <a:gdLst/>
              <a:ahLst/>
              <a:cxnLst/>
              <a:rect l="l" t="t" r="r" b="b"/>
              <a:pathLst>
                <a:path w="2571750">
                  <a:moveTo>
                    <a:pt x="0" y="0"/>
                  </a:moveTo>
                  <a:lnTo>
                    <a:pt x="985822" y="0"/>
                  </a:lnTo>
                </a:path>
                <a:path w="2571750">
                  <a:moveTo>
                    <a:pt x="2193078" y="0"/>
                  </a:moveTo>
                  <a:lnTo>
                    <a:pt x="2571689" y="0"/>
                  </a:lnTo>
                </a:path>
              </a:pathLst>
            </a:custGeom>
            <a:ln w="12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0975" y="1143000"/>
            <a:ext cx="4572000" cy="285902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875376" y="4706437"/>
            <a:ext cx="2451735" cy="0"/>
          </a:xfrm>
          <a:custGeom>
            <a:avLst/>
            <a:gdLst/>
            <a:ahLst/>
            <a:cxnLst/>
            <a:rect l="l" t="t" r="r" b="b"/>
            <a:pathLst>
              <a:path w="2451735">
                <a:moveTo>
                  <a:pt x="0" y="0"/>
                </a:moveTo>
                <a:lnTo>
                  <a:pt x="1027070" y="0"/>
                </a:lnTo>
              </a:path>
              <a:path w="2451735">
                <a:moveTo>
                  <a:pt x="1423602" y="0"/>
                </a:moveTo>
                <a:lnTo>
                  <a:pt x="2451542" y="0"/>
                </a:lnTo>
              </a:path>
            </a:pathLst>
          </a:custGeom>
          <a:ln w="156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41578" y="4060907"/>
            <a:ext cx="22459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423035" algn="l"/>
              </a:tabLst>
            </a:pPr>
            <a:r>
              <a:rPr sz="4450" i="1" spc="50" dirty="0">
                <a:latin typeface="Times New Roman"/>
                <a:cs typeface="Times New Roman"/>
              </a:rPr>
              <a:t>A</a:t>
            </a:r>
            <a:r>
              <a:rPr sz="4450" i="1" spc="-305" dirty="0">
                <a:latin typeface="Times New Roman"/>
                <a:cs typeface="Times New Roman"/>
              </a:rPr>
              <a:t> </a:t>
            </a:r>
            <a:r>
              <a:rPr sz="4450" i="1" dirty="0">
                <a:latin typeface="Times New Roman"/>
                <a:cs typeface="Times New Roman"/>
              </a:rPr>
              <a:t>R	</a:t>
            </a:r>
            <a:r>
              <a:rPr sz="4450" i="1" spc="50" dirty="0">
                <a:latin typeface="Times New Roman"/>
                <a:cs typeface="Times New Roman"/>
              </a:rPr>
              <a:t>A</a:t>
            </a:r>
            <a:r>
              <a:rPr sz="4450" i="1" spc="-310" dirty="0">
                <a:latin typeface="Times New Roman"/>
                <a:cs typeface="Times New Roman"/>
              </a:rPr>
              <a:t> </a:t>
            </a:r>
            <a:r>
              <a:rPr sz="4450" i="1" dirty="0">
                <a:latin typeface="Times New Roman"/>
                <a:cs typeface="Times New Roman"/>
              </a:rPr>
              <a:t>R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4239" y="4344814"/>
            <a:ext cx="3536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450" i="1" spc="-50" dirty="0">
                <a:latin typeface="Times New Roman"/>
                <a:cs typeface="Times New Roman"/>
              </a:rPr>
              <a:t>A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1699" y="5005780"/>
            <a:ext cx="19050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700" i="1" spc="50" dirty="0">
                <a:latin typeface="Times New Roman"/>
                <a:cs typeface="Times New Roman"/>
              </a:rPr>
              <a:t>ie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85077" y="4424019"/>
            <a:ext cx="63309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494665" algn="l"/>
              </a:tabLst>
            </a:pPr>
            <a:r>
              <a:rPr sz="1700" i="1" spc="-50" dirty="0">
                <a:latin typeface="Times New Roman"/>
                <a:cs typeface="Times New Roman"/>
              </a:rPr>
              <a:t>i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91390" y="4638988"/>
            <a:ext cx="170624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403985" algn="l"/>
              </a:tabLst>
            </a:pPr>
            <a:r>
              <a:rPr sz="4450" i="1" spc="-25" dirty="0">
                <a:latin typeface="Times New Roman"/>
                <a:cs typeface="Times New Roman"/>
              </a:rPr>
              <a:t>R</a:t>
            </a:r>
            <a:r>
              <a:rPr sz="2550" i="1" spc="-37" baseline="-4901" dirty="0">
                <a:latin typeface="Times New Roman"/>
                <a:cs typeface="Times New Roman"/>
              </a:rPr>
              <a:t>i</a:t>
            </a:r>
            <a:r>
              <a:rPr sz="2550" i="1" baseline="-4901" dirty="0">
                <a:latin typeface="Times New Roman"/>
                <a:cs typeface="Times New Roman"/>
              </a:rPr>
              <a:t>	</a:t>
            </a:r>
            <a:r>
              <a:rPr sz="4450" i="1" spc="-50" dirty="0">
                <a:latin typeface="Times New Roman"/>
                <a:cs typeface="Times New Roman"/>
              </a:rPr>
              <a:t>h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61381" y="4424019"/>
            <a:ext cx="63246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494030" algn="l"/>
              </a:tabLst>
            </a:pPr>
            <a:r>
              <a:rPr sz="1700" i="1" spc="-50" dirty="0">
                <a:latin typeface="Times New Roman"/>
                <a:cs typeface="Times New Roman"/>
              </a:rPr>
              <a:t>i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L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87054" y="4707926"/>
            <a:ext cx="11303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700" i="1" spc="-50" dirty="0">
                <a:latin typeface="Times New Roman"/>
                <a:cs typeface="Times New Roman"/>
              </a:rPr>
              <a:t>v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01781" y="4410497"/>
            <a:ext cx="22479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77402" y="4410497"/>
            <a:ext cx="22479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950" spc="-50" dirty="0"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68394" y="4410497"/>
            <a:ext cx="39370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950" spc="5" dirty="0">
                <a:latin typeface="Symbol"/>
                <a:cs typeface="Symbol"/>
              </a:rPr>
              <a:t>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10283" y="4128515"/>
            <a:ext cx="3923029" cy="1210310"/>
          </a:xfrm>
          <a:custGeom>
            <a:avLst/>
            <a:gdLst/>
            <a:ahLst/>
            <a:cxnLst/>
            <a:rect l="l" t="t" r="r" b="b"/>
            <a:pathLst>
              <a:path w="3923029" h="1210310">
                <a:moveTo>
                  <a:pt x="0" y="1210056"/>
                </a:moveTo>
                <a:lnTo>
                  <a:pt x="3922776" y="1210056"/>
                </a:lnTo>
                <a:lnTo>
                  <a:pt x="3922776" y="0"/>
                </a:lnTo>
                <a:lnTo>
                  <a:pt x="0" y="0"/>
                </a:lnTo>
                <a:lnTo>
                  <a:pt x="0" y="1210056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599844" y="3951971"/>
            <a:ext cx="231775" cy="54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400" i="1" spc="-50" dirty="0">
                <a:latin typeface="Times New Roman"/>
                <a:cs typeface="Times New Roman"/>
              </a:rPr>
              <a:t>h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95109" y="4005457"/>
            <a:ext cx="231775" cy="54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400" i="1" spc="-50" dirty="0">
                <a:latin typeface="Times New Roman"/>
                <a:cs typeface="Times New Roman"/>
              </a:rPr>
              <a:t>h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97032" y="4317265"/>
            <a:ext cx="231775" cy="54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400" i="1" spc="-50" dirty="0">
                <a:latin typeface="Times New Roman"/>
                <a:cs typeface="Times New Roman"/>
              </a:rPr>
              <a:t>h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34856" y="4321266"/>
            <a:ext cx="256540" cy="54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400" i="1" spc="-50" dirty="0">
                <a:latin typeface="Times New Roman"/>
                <a:cs typeface="Times New Roman"/>
              </a:rPr>
              <a:t>Y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73514" y="4184998"/>
            <a:ext cx="240665" cy="3708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250" i="1" spc="55" dirty="0">
                <a:latin typeface="Times New Roman"/>
                <a:cs typeface="Times New Roman"/>
              </a:rPr>
              <a:t>fe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37636" y="4824798"/>
            <a:ext cx="69088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541655" algn="l"/>
              </a:tabLst>
            </a:pPr>
            <a:r>
              <a:rPr sz="1300" i="1" spc="-50" dirty="0">
                <a:latin typeface="Times New Roman"/>
                <a:cs typeface="Times New Roman"/>
              </a:rPr>
              <a:t>s</a:t>
            </a:r>
            <a:r>
              <a:rPr sz="1300" i="1" dirty="0">
                <a:latin typeface="Times New Roman"/>
                <a:cs typeface="Times New Roman"/>
              </a:rPr>
              <a:t>	</a:t>
            </a:r>
            <a:r>
              <a:rPr sz="1300" i="1" spc="35" dirty="0">
                <a:latin typeface="Times New Roman"/>
                <a:cs typeface="Times New Roman"/>
              </a:rPr>
              <a:t>ie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17385" y="4380985"/>
            <a:ext cx="1657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i="1" spc="30" dirty="0">
                <a:latin typeface="Times New Roman"/>
                <a:cs typeface="Times New Roman"/>
              </a:rPr>
              <a:t>re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11777" y="4600623"/>
            <a:ext cx="18288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i="1" spc="25" dirty="0">
                <a:latin typeface="Times New Roman"/>
                <a:cs typeface="Times New Roman"/>
              </a:rPr>
              <a:t>oe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45966" y="4597775"/>
            <a:ext cx="9779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23126" y="4597775"/>
            <a:ext cx="9779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042800" y="4227377"/>
            <a:ext cx="1485265" cy="54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1300480" algn="l"/>
              </a:tabLst>
            </a:pPr>
            <a:r>
              <a:rPr sz="2250" i="1" dirty="0">
                <a:latin typeface="Times New Roman"/>
                <a:cs typeface="Times New Roman"/>
              </a:rPr>
              <a:t>and</a:t>
            </a:r>
            <a:r>
              <a:rPr sz="2250" i="1" spc="50" dirty="0">
                <a:latin typeface="Times New Roman"/>
                <a:cs typeface="Times New Roman"/>
              </a:rPr>
              <a:t> </a:t>
            </a:r>
            <a:r>
              <a:rPr sz="5100" i="1" baseline="-12254" dirty="0">
                <a:latin typeface="Times New Roman"/>
                <a:cs typeface="Times New Roman"/>
              </a:rPr>
              <a:t>R</a:t>
            </a:r>
            <a:r>
              <a:rPr sz="5100" i="1" spc="569" baseline="-12254" dirty="0">
                <a:latin typeface="Times New Roman"/>
                <a:cs typeface="Times New Roman"/>
              </a:rPr>
              <a:t> </a:t>
            </a:r>
            <a:r>
              <a:rPr sz="2250" spc="-50" dirty="0">
                <a:latin typeface="Symbol"/>
                <a:cs typeface="Symbol"/>
              </a:rPr>
              <a:t>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3375" spc="-75" baseline="34567" dirty="0">
                <a:latin typeface="Times New Roman"/>
                <a:cs typeface="Times New Roman"/>
              </a:rPr>
              <a:t>1</a:t>
            </a:r>
            <a:endParaRPr sz="3375" baseline="34567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25741" y="4544871"/>
            <a:ext cx="2602865" cy="54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190115" algn="l"/>
              </a:tabLst>
            </a:pPr>
            <a:r>
              <a:rPr sz="3400" i="1" dirty="0">
                <a:latin typeface="Times New Roman"/>
                <a:cs typeface="Times New Roman"/>
              </a:rPr>
              <a:t>R</a:t>
            </a:r>
            <a:r>
              <a:rPr sz="3400" i="1" spc="170" dirty="0">
                <a:latin typeface="Times New Roman"/>
                <a:cs typeface="Times New Roman"/>
              </a:rPr>
              <a:t> </a:t>
            </a:r>
            <a:r>
              <a:rPr sz="3375" baseline="18518" dirty="0">
                <a:latin typeface="Symbol"/>
                <a:cs typeface="Symbol"/>
              </a:rPr>
              <a:t></a:t>
            </a:r>
            <a:r>
              <a:rPr sz="3375" spc="-262" baseline="18518" dirty="0">
                <a:latin typeface="Times New Roman"/>
                <a:cs typeface="Times New Roman"/>
              </a:rPr>
              <a:t> </a:t>
            </a:r>
            <a:r>
              <a:rPr sz="3400" i="1" spc="-60" dirty="0">
                <a:latin typeface="Times New Roman"/>
                <a:cs typeface="Times New Roman"/>
              </a:rPr>
              <a:t>h</a:t>
            </a:r>
            <a:r>
              <a:rPr sz="3400" i="1" dirty="0">
                <a:latin typeface="Times New Roman"/>
                <a:cs typeface="Times New Roman"/>
              </a:rPr>
              <a:t>	Y</a:t>
            </a:r>
            <a:r>
              <a:rPr sz="3400" i="1" spc="-480" dirty="0">
                <a:latin typeface="Times New Roman"/>
                <a:cs typeface="Times New Roman"/>
              </a:rPr>
              <a:t> </a:t>
            </a:r>
            <a:r>
              <a:rPr sz="1950" spc="-75" baseline="-4273" dirty="0">
                <a:latin typeface="Times New Roman"/>
                <a:cs typeface="Times New Roman"/>
              </a:rPr>
              <a:t>0</a:t>
            </a:r>
            <a:endParaRPr sz="1950" baseline="-4273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21888" y="4371057"/>
            <a:ext cx="173355" cy="3708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250" spc="-50" dirty="0">
                <a:latin typeface="Symbol"/>
                <a:cs typeface="Symbol"/>
              </a:rPr>
              <a:t>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75359" y="4371057"/>
            <a:ext cx="173355" cy="3708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250" spc="-5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13615" y="4371057"/>
            <a:ext cx="300990" cy="3708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250" spc="-50" dirty="0">
                <a:latin typeface="Symbol"/>
                <a:cs typeface="Symbol"/>
              </a:rPr>
              <a:t>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365747" y="3988308"/>
            <a:ext cx="4316095" cy="1103630"/>
          </a:xfrm>
          <a:custGeom>
            <a:avLst/>
            <a:gdLst/>
            <a:ahLst/>
            <a:cxnLst/>
            <a:rect l="l" t="t" r="r" b="b"/>
            <a:pathLst>
              <a:path w="4316095" h="1103629">
                <a:moveTo>
                  <a:pt x="0" y="1103376"/>
                </a:moveTo>
                <a:lnTo>
                  <a:pt x="4315967" y="1103376"/>
                </a:lnTo>
                <a:lnTo>
                  <a:pt x="4315967" y="0"/>
                </a:lnTo>
                <a:lnTo>
                  <a:pt x="0" y="0"/>
                </a:lnTo>
                <a:lnTo>
                  <a:pt x="0" y="1103376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430132" y="5618013"/>
            <a:ext cx="2736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600" i="1" spc="-50" dirty="0">
                <a:latin typeface="Times New Roman"/>
                <a:cs typeface="Times New Roman"/>
              </a:rPr>
              <a:t>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733624" y="5911648"/>
            <a:ext cx="1041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73436" y="5674266"/>
            <a:ext cx="1470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365885" algn="l"/>
              </a:tabLst>
            </a:pPr>
            <a:r>
              <a:rPr sz="1400" spc="-50" dirty="0">
                <a:latin typeface="Times New Roman"/>
                <a:cs typeface="Times New Roman"/>
              </a:rPr>
              <a:t>0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06193" y="5281757"/>
            <a:ext cx="34048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826769" algn="l"/>
              </a:tabLst>
            </a:pPr>
            <a:r>
              <a:rPr sz="2400" dirty="0">
                <a:latin typeface="Symbol"/>
                <a:cs typeface="Symbol"/>
              </a:rPr>
              <a:t></a:t>
            </a:r>
            <a:r>
              <a:rPr sz="2400" spc="-325" dirty="0">
                <a:latin typeface="Times New Roman"/>
                <a:cs typeface="Times New Roman"/>
              </a:rPr>
              <a:t> </a:t>
            </a:r>
            <a:r>
              <a:rPr sz="5400" i="1" spc="-75" baseline="-12345" dirty="0">
                <a:latin typeface="Times New Roman"/>
                <a:cs typeface="Times New Roman"/>
              </a:rPr>
              <a:t>Y</a:t>
            </a:r>
            <a:r>
              <a:rPr sz="5400" i="1" baseline="-12345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i="1" dirty="0">
                <a:latin typeface="Times New Roman"/>
                <a:cs typeface="Times New Roman"/>
              </a:rPr>
              <a:t>and</a:t>
            </a:r>
            <a:r>
              <a:rPr sz="2400" i="1" spc="20" dirty="0">
                <a:latin typeface="Times New Roman"/>
                <a:cs typeface="Times New Roman"/>
              </a:rPr>
              <a:t> </a:t>
            </a:r>
            <a:r>
              <a:rPr sz="5400" i="1" baseline="-12345" dirty="0">
                <a:latin typeface="Times New Roman"/>
                <a:cs typeface="Times New Roman"/>
              </a:rPr>
              <a:t>R</a:t>
            </a:r>
            <a:r>
              <a:rPr sz="5400" i="1" spc="547" baseline="-12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3600" u="sng" spc="592" baseline="3472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u="sng" baseline="3472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3600" u="sng" spc="540" baseline="3472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spc="67" baseline="34722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Symbol"/>
                <a:cs typeface="Symbol"/>
              </a:rPr>
              <a:t>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981443" y="5256276"/>
            <a:ext cx="3453765" cy="908685"/>
          </a:xfrm>
          <a:custGeom>
            <a:avLst/>
            <a:gdLst/>
            <a:ahLst/>
            <a:cxnLst/>
            <a:rect l="l" t="t" r="r" b="b"/>
            <a:pathLst>
              <a:path w="3453765" h="908685">
                <a:moveTo>
                  <a:pt x="0" y="908304"/>
                </a:moveTo>
                <a:lnTo>
                  <a:pt x="3453384" y="908304"/>
                </a:lnTo>
                <a:lnTo>
                  <a:pt x="3453384" y="0"/>
                </a:lnTo>
                <a:lnTo>
                  <a:pt x="0" y="0"/>
                </a:lnTo>
                <a:lnTo>
                  <a:pt x="0" y="908304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1384</Words>
  <Application>Microsoft Office PowerPoint</Application>
  <PresentationFormat>Widescreen</PresentationFormat>
  <Paragraphs>416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Aptos</vt:lpstr>
      <vt:lpstr>Arial</vt:lpstr>
      <vt:lpstr>Arial MT</vt:lpstr>
      <vt:lpstr>Calibri</vt:lpstr>
      <vt:lpstr>Gill Sans MT</vt:lpstr>
      <vt:lpstr>Poppins</vt:lpstr>
      <vt:lpstr>Symbol</vt:lpstr>
      <vt:lpstr>Times New Roman</vt:lpstr>
      <vt:lpstr>Wingdings</vt:lpstr>
      <vt:lpstr>Office Theme</vt:lpstr>
      <vt:lpstr>Gallery</vt:lpstr>
      <vt:lpstr>PowerPoint Presentation</vt:lpstr>
      <vt:lpstr>Session content</vt:lpstr>
      <vt:lpstr>PowerPoint Presentation</vt:lpstr>
      <vt:lpstr>Basic BJT Amplifier Configurations</vt:lpstr>
      <vt:lpstr>Hybrid Equivalent Model</vt:lpstr>
      <vt:lpstr>Determination of Hybrid Parameters</vt:lpstr>
      <vt:lpstr>Determination of Hybrid Parameters</vt:lpstr>
      <vt:lpstr>Determination of Hybrid Parameters</vt:lpstr>
      <vt:lpstr>General h-Parameters for any Transistor Configuration</vt:lpstr>
      <vt:lpstr>General h-Parameters for any Transistor Configuration</vt:lpstr>
      <vt:lpstr>Three Basic Configurations of BJT Amplifier</vt:lpstr>
      <vt:lpstr>Three Basic Configurations of BJT Amplifier</vt:lpstr>
      <vt:lpstr>Hybrid Model for BJT Configurations-CE</vt:lpstr>
      <vt:lpstr>Hybrid Model for BJT Configurations-CC</vt:lpstr>
      <vt:lpstr>Hybrid Model for BJT Configurations-CB</vt:lpstr>
      <vt:lpstr>Hybrid Model for BJT Configurations-CE</vt:lpstr>
      <vt:lpstr>Hybrid Model for BJT Configurations-CE</vt:lpstr>
      <vt:lpstr>Hybrid Model for BJT Configurations-CB</vt:lpstr>
      <vt:lpstr>Hybrid Model for BJT Configurations-CB</vt:lpstr>
      <vt:lpstr>Hybrid Model for BJT Configurations-CC</vt:lpstr>
      <vt:lpstr>CE Amplifier Without Emitter Resistance (Using Hybrid Model)</vt:lpstr>
      <vt:lpstr>CE Amplifier Without Emitter Resistance (Using Hybrid Model)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(Using Approximate Hybrid Model)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GORLA VENKATA GANESH</cp:lastModifiedBy>
  <cp:revision>4</cp:revision>
  <dcterms:created xsi:type="dcterms:W3CDTF">2025-07-03T09:48:17Z</dcterms:created>
  <dcterms:modified xsi:type="dcterms:W3CDTF">2025-07-04T04:29:19Z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2025-07-03T00:00:00Z</vt:filetime>
  </property>
  <property fmtid="{D5CDD505-2E9C-101B-9397-08002B2CF9AE}" pid="3" name="LastSaved">
    <vt:filetime>2025-07-03T00:00:00Z</vt:filetime>
  </property>
  <property fmtid="{D5CDD505-2E9C-101B-9397-08002B2CF9AE}" pid="4" name="Producer">
    <vt:lpwstr>iLovePDF</vt:lpwstr>
  </property>
</Properties>
</file>