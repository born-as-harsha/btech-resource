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7" r:id="rId2"/>
    <p:sldMasterId id="2147483679" r:id="rId3"/>
  </p:sldMasterIdLst>
  <p:notesMasterIdLst>
    <p:notesMasterId r:id="rId32"/>
  </p:notesMasterIdLst>
  <p:sldIdLst>
    <p:sldId id="271" r:id="rId4"/>
    <p:sldId id="308" r:id="rId5"/>
    <p:sldId id="300" r:id="rId6"/>
    <p:sldId id="283" r:id="rId7"/>
    <p:sldId id="340" r:id="rId8"/>
    <p:sldId id="413" r:id="rId9"/>
    <p:sldId id="395" r:id="rId10"/>
    <p:sldId id="396" r:id="rId11"/>
    <p:sldId id="397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414" r:id="rId22"/>
    <p:sldId id="415" r:id="rId23"/>
    <p:sldId id="416" r:id="rId24"/>
    <p:sldId id="417" r:id="rId25"/>
    <p:sldId id="301" r:id="rId26"/>
    <p:sldId id="328" r:id="rId27"/>
    <p:sldId id="315" r:id="rId28"/>
    <p:sldId id="302" r:id="rId29"/>
    <p:sldId id="422" r:id="rId30"/>
    <p:sldId id="423" r:id="rId3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70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FACFDC-54F9-487F-9D0B-06DBA134F0D5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E05D05-EF87-46EF-A808-2008B20E3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6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85596" y="465200"/>
            <a:ext cx="10620806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230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824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502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00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5579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0841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2957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0180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0741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3677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5689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164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5333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60165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9183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6092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6613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074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9574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82344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2088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83632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468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05982" y="118999"/>
            <a:ext cx="780034" cy="695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81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752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8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g"/><Relationship Id="rId5" Type="http://schemas.openxmlformats.org/officeDocument/2006/relationships/image" Target="../media/image36.jpg"/><Relationship Id="rId4" Type="http://schemas.openxmlformats.org/officeDocument/2006/relationships/image" Target="../media/image3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92" y="167951"/>
            <a:ext cx="6170855" cy="6111678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4229226" y="2820599"/>
            <a:ext cx="7948938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Analog electronic Circuit Design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23ec2104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Gill Sans MT" panose="020B0502020104020203"/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Gill Sans MT" panose="020B0502020104020203"/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</a:rPr>
              <a:t>BJT Characteristics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ill Sans MT" panose="020B0502020104020203"/>
              <a:ea typeface="+mn-ea"/>
              <a:cs typeface="Poppins" panose="00000500000000000000" pitchFamily="2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87807" y="1913706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75" name="Google Shape;475;p16"/>
          <p:cNvSpPr txBox="1"/>
          <p:nvPr/>
        </p:nvSpPr>
        <p:spPr>
          <a:xfrm>
            <a:off x="6233250" y="1880470"/>
            <a:ext cx="4595447" cy="646290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itchFamily="2" charset="77"/>
              </a:rPr>
              <a:t>Department of ECE</a:t>
            </a: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099973" y="5511484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Calibri"/>
                <a:cs typeface="Poppins" panose="00000500000000000000" pitchFamily="2" charset="0"/>
                <a:sym typeface="Calibri"/>
              </a:rPr>
              <a:t>Session - 02</a:t>
            </a:r>
            <a:endParaRPr kumimoji="0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2" name="Google Shape;476;p16">
            <a:extLst>
              <a:ext uri="{FF2B5EF4-FFF2-40B4-BE49-F238E27FC236}">
                <a16:creationId xmlns:a16="http://schemas.microsoft.com/office/drawing/2014/main" id="{BD962D83-B115-FC20-1289-5B661BED384C}"/>
              </a:ext>
            </a:extLst>
          </p:cNvPr>
          <p:cNvSpPr txBox="1"/>
          <p:nvPr/>
        </p:nvSpPr>
        <p:spPr>
          <a:xfrm>
            <a:off x="7099973" y="859631"/>
            <a:ext cx="247777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AY-2025-2026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all" spc="0" normalizeH="0" baseline="0" noProof="0" dirty="0">
                <a:ln/>
                <a:solidFill>
                  <a:srgbClr val="C00000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anose="00000500000000000000" pitchFamily="2" charset="0"/>
                <a:sym typeface="BioRhyme ExtraBold"/>
              </a:rPr>
              <a:t>ODD SEM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ill Sans MT" panose="020B0502020104020203"/>
              <a:ea typeface="+mn-ea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839A5-5633-E116-AFEC-1DF4CABB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Session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3C4F1-2803-C707-E9AA-178504830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CE CONFIGURATION</a:t>
            </a:r>
          </a:p>
          <a:p>
            <a:r>
              <a:rPr lang="en-IN" sz="2400" dirty="0"/>
              <a:t>INPUT CHARACTERISTICS</a:t>
            </a:r>
          </a:p>
          <a:p>
            <a:r>
              <a:rPr lang="en-IN" sz="2400" dirty="0"/>
              <a:t>OUTPUT CHARACTERISTICS</a:t>
            </a:r>
          </a:p>
          <a:p>
            <a:r>
              <a:rPr lang="en-IN" sz="2400" dirty="0"/>
              <a:t>REGIONS OF BJT OPERATION </a:t>
            </a:r>
            <a:endParaRPr lang="en-IN" dirty="0"/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3BD68-38B6-EBC9-FAD4-A45D129C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ABCCC1-BF11-4F37-963E-1BCD5B23FD72}" type="slidenum">
              <a:rPr kumimoji="0" lang="en-IN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2200" b="0" i="0" u="none" strike="noStrike" kern="1200" cap="none" spc="0" normalizeH="0" baseline="0" noProof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01019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1" y="135208"/>
            <a:ext cx="356004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895079" y="658894"/>
            <a:ext cx="11215640" cy="4248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To demonstrate characteristics of BJT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053596" y="1533835"/>
            <a:ext cx="4395589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885748" y="2023900"/>
            <a:ext cx="11224971" cy="116955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This Session is designed to: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Plot input characteristics of BJT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Plot output characteristics of BJT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Understand operating modes of BJT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244592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315974" y="3523536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8652" y="4846140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914399" y="4028757"/>
            <a:ext cx="11196319" cy="1169551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At the end of this session, you should be able to: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Demonstrate input characteristics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Demonstrate input characteristics </a:t>
            </a:r>
          </a:p>
          <a:p>
            <a:pPr marL="800100" marR="0" lvl="1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Identify various modes of operation of BJT</a:t>
            </a:r>
          </a:p>
        </p:txBody>
      </p:sp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Common Emitter configuration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Curved Right Arrow 9"/>
          <p:cNvSpPr/>
          <p:nvPr/>
        </p:nvSpPr>
        <p:spPr>
          <a:xfrm>
            <a:off x="6629400" y="6248400"/>
            <a:ext cx="381000" cy="2286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60865E8-5F45-1296-F113-BCCC4BBDB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26" y="1998825"/>
            <a:ext cx="4314563" cy="283443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0C0C148-BA2C-4924-2A0B-351EF2C42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349" y="2048114"/>
            <a:ext cx="3788367" cy="278514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5EDB21-99CE-327A-1ECC-1792DBF140BD}"/>
              </a:ext>
            </a:extLst>
          </p:cNvPr>
          <p:cNvSpPr txBox="1"/>
          <p:nvPr/>
        </p:nvSpPr>
        <p:spPr>
          <a:xfrm>
            <a:off x="8800498" y="1998825"/>
            <a:ext cx="297785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Fig. 2.1. depict the BJT configured for common emitter mode operation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Input voltage is applied across B-E junction with limiter resistance R</a:t>
            </a:r>
            <a:r>
              <a:rPr kumimoji="0" lang="en-IN" sz="1400" b="1" i="0" u="none" strike="noStrike" kern="1000" cap="none" spc="0" normalizeH="0" baseline="-2500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B.</a:t>
            </a: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1" i="0" u="none" strike="noStrike" kern="1000" cap="none" spc="0" normalizeH="0" baseline="0" noProof="0" dirty="0">
              <a:ln>
                <a:noFill/>
              </a:ln>
              <a:solidFill>
                <a:srgbClr val="B71E42">
                  <a:lumMod val="5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Output loop consists of variable voltage V</a:t>
            </a:r>
            <a:r>
              <a:rPr kumimoji="0" lang="en-IN" sz="1400" b="1" i="0" u="none" strike="noStrike" kern="1000" cap="none" spc="0" normalizeH="0" baseline="-2500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CC,  </a:t>
            </a: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current limiter R</a:t>
            </a:r>
            <a:r>
              <a:rPr kumimoji="0" lang="en-IN" sz="1400" b="1" i="0" u="none" strike="noStrike" kern="1000" cap="none" spc="0" normalizeH="0" baseline="-2500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</a:t>
            </a: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and output voltage of the BJT across collector and emitter, V</a:t>
            </a:r>
            <a:r>
              <a:rPr kumimoji="0" lang="en-IN" sz="1400" b="1" i="0" u="none" strike="noStrike" kern="1000" cap="none" spc="0" normalizeH="0" baseline="-2500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CE</a:t>
            </a: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For easiness to identify input loop and output loop the ground terminal is separated as shown in Fig. 2.2.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3202E0-08DB-8CE9-B3A0-223CE0E12CBE}"/>
              </a:ext>
            </a:extLst>
          </p:cNvPr>
          <p:cNvSpPr txBox="1"/>
          <p:nvPr/>
        </p:nvSpPr>
        <p:spPr>
          <a:xfrm>
            <a:off x="97110" y="4967887"/>
            <a:ext cx="3235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2.1. CE configured BJT supplied with variable external voltages 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2586BA-39F9-DBDF-0E81-52D2023692B3}"/>
              </a:ext>
            </a:extLst>
          </p:cNvPr>
          <p:cNvSpPr txBox="1"/>
          <p:nvPr/>
        </p:nvSpPr>
        <p:spPr>
          <a:xfrm>
            <a:off x="4610349" y="4967887"/>
            <a:ext cx="32355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2.2. separation of ground terminal for ease of identification of input and output loops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9392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Curved Right Arrow 9"/>
          <p:cNvSpPr/>
          <p:nvPr/>
        </p:nvSpPr>
        <p:spPr>
          <a:xfrm>
            <a:off x="6629400" y="6248400"/>
            <a:ext cx="381000" cy="2286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7F493F9-009A-9883-2F31-170454126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8052" y="2099003"/>
            <a:ext cx="3993066" cy="297824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781727F-0946-4B35-5232-7C66B9ECC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2" y="2063266"/>
            <a:ext cx="4269186" cy="3049723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ECF967F2-E010-523A-4221-5FFC8FD7A3FE}"/>
              </a:ext>
            </a:extLst>
          </p:cNvPr>
          <p:cNvSpPr txBox="1">
            <a:spLocks noChangeArrowheads="1"/>
          </p:cNvSpPr>
          <p:nvPr/>
        </p:nvSpPr>
        <p:spPr>
          <a:xfrm>
            <a:off x="1429140" y="1417623"/>
            <a:ext cx="8915400" cy="9906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all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 Base Curve / Input Characteristics</a:t>
            </a:r>
            <a:br>
              <a:rPr kumimoji="0" lang="en-US" altLang="en-US" sz="3200" b="0" i="0" u="none" strike="noStrike" kern="1200" cap="all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kumimoji="0" lang="en-US" altLang="en-US" sz="3200" b="0" i="0" u="none" strike="noStrike" kern="1200" cap="all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65855E9-A066-B077-FA77-CD826C70E9FF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8988492" y="1972224"/>
            <a:ext cx="2712096" cy="3896731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/>
              <a:t>Graph I</a:t>
            </a:r>
            <a:r>
              <a:rPr lang="en-US" altLang="en-US" baseline="-25000" dirty="0"/>
              <a:t>B</a:t>
            </a:r>
            <a:r>
              <a:rPr lang="en-US" altLang="en-US" dirty="0"/>
              <a:t> versus V</a:t>
            </a:r>
            <a:r>
              <a:rPr lang="en-US" altLang="en-US" baseline="-25000" dirty="0"/>
              <a:t>BE</a:t>
            </a:r>
          </a:p>
          <a:p>
            <a:r>
              <a:rPr lang="en-US" altLang="en-US" dirty="0"/>
              <a:t>Like ordinary diode</a:t>
            </a:r>
          </a:p>
          <a:p>
            <a:r>
              <a:rPr lang="en-US" altLang="en-US" dirty="0"/>
              <a:t>Ohm’s law to Base loop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Ideal diode V</a:t>
            </a:r>
            <a:r>
              <a:rPr lang="en-US" altLang="en-US" baseline="-25000" dirty="0"/>
              <a:t>BE</a:t>
            </a:r>
            <a:r>
              <a:rPr lang="en-US" altLang="en-US" dirty="0"/>
              <a:t> = 0 and second app. V</a:t>
            </a:r>
            <a:r>
              <a:rPr lang="en-US" altLang="en-US" baseline="-25000" dirty="0"/>
              <a:t>BE</a:t>
            </a:r>
            <a:r>
              <a:rPr lang="en-US" altLang="en-US" dirty="0"/>
              <a:t> = 0.7 V</a:t>
            </a:r>
          </a:p>
          <a:p>
            <a:endParaRPr lang="en-US" altLang="en-US" dirty="0"/>
          </a:p>
        </p:txBody>
      </p:sp>
      <p:graphicFrame>
        <p:nvGraphicFramePr>
          <p:cNvPr id="23" name="Object 6">
            <a:extLst>
              <a:ext uri="{FF2B5EF4-FFF2-40B4-BE49-F238E27FC236}">
                <a16:creationId xmlns:a16="http://schemas.microsoft.com/office/drawing/2014/main" id="{515D8AE0-B79C-0143-B022-40905C07C6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24412" y="3687472"/>
          <a:ext cx="1817687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431800" progId="Equation.3">
                  <p:embed/>
                </p:oleObj>
              </mc:Choice>
              <mc:Fallback>
                <p:oleObj name="Equation" r:id="rId4" imgW="914400" imgH="431800" progId="Equation.3">
                  <p:embed/>
                  <p:pic>
                    <p:nvPicPr>
                      <p:cNvPr id="23" name="Object 6">
                        <a:extLst>
                          <a:ext uri="{FF2B5EF4-FFF2-40B4-BE49-F238E27FC236}">
                            <a16:creationId xmlns:a16="http://schemas.microsoft.com/office/drawing/2014/main" id="{515D8AE0-B79C-0143-B022-40905C07C6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24412" y="3687472"/>
                        <a:ext cx="1817687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94D5B3E-FA55-B411-12FD-C04E44A1290C}"/>
              </a:ext>
            </a:extLst>
          </p:cNvPr>
          <p:cNvSpPr txBox="1"/>
          <p:nvPr/>
        </p:nvSpPr>
        <p:spPr>
          <a:xfrm>
            <a:off x="73092" y="5235412"/>
            <a:ext cx="3235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2.3. Circuit operation to plot input characteristics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196B47-D1C0-B865-C5C6-F56696874CFD}"/>
              </a:ext>
            </a:extLst>
          </p:cNvPr>
          <p:cNvSpPr txBox="1"/>
          <p:nvPr/>
        </p:nvSpPr>
        <p:spPr>
          <a:xfrm>
            <a:off x="4758052" y="5235412"/>
            <a:ext cx="32355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2.4. Input characteristics of CE configured BJT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2881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0" name="Curved Right Arrow 9"/>
          <p:cNvSpPr/>
          <p:nvPr/>
        </p:nvSpPr>
        <p:spPr>
          <a:xfrm>
            <a:off x="6629400" y="6248400"/>
            <a:ext cx="381000" cy="2286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439C82-A9E7-3D3E-3A0B-FD7A39073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57" y="1895670"/>
            <a:ext cx="2843734" cy="17584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4E67F6-8C6B-5582-1193-48B1660BD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2" y="3924581"/>
            <a:ext cx="3715466" cy="19967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0CC534-053A-FECD-B144-2C4F3D01FB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7931" y="2114577"/>
            <a:ext cx="3748187" cy="2090057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AF8E675-3BF7-3B1F-029E-8A423C70C0D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8192449" y="2090057"/>
            <a:ext cx="3957065" cy="3844212"/>
          </a:xfrm>
        </p:spPr>
        <p:txBody>
          <a:bodyPr/>
          <a:lstStyle/>
          <a:p>
            <a:r>
              <a:rPr lang="en-US" altLang="en-US" dirty="0"/>
              <a:t>Graph I</a:t>
            </a:r>
            <a:r>
              <a:rPr lang="en-US" altLang="en-US" baseline="-25000" dirty="0"/>
              <a:t>C</a:t>
            </a:r>
            <a:r>
              <a:rPr lang="en-US" altLang="en-US" dirty="0"/>
              <a:t> versus V</a:t>
            </a:r>
            <a:r>
              <a:rPr lang="en-US" altLang="en-US" baseline="-25000" dirty="0"/>
              <a:t>CE</a:t>
            </a:r>
          </a:p>
          <a:p>
            <a:endParaRPr lang="en-US" altLang="en-US" dirty="0"/>
          </a:p>
          <a:p>
            <a:r>
              <a:rPr lang="en-US" altLang="en-US" dirty="0"/>
              <a:t>Ohm’s low to Collector loop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Fixed value of based current, vary V</a:t>
            </a:r>
            <a:r>
              <a:rPr lang="en-US" altLang="en-US" baseline="-25000" dirty="0"/>
              <a:t>CC</a:t>
            </a:r>
            <a:r>
              <a:rPr lang="en-US" altLang="en-US" dirty="0"/>
              <a:t> and measure I</a:t>
            </a:r>
            <a:r>
              <a:rPr lang="en-US" altLang="en-US" baseline="-25000" dirty="0"/>
              <a:t>C</a:t>
            </a:r>
            <a:r>
              <a:rPr lang="en-US" altLang="en-US" dirty="0"/>
              <a:t> and V</a:t>
            </a:r>
            <a:r>
              <a:rPr lang="en-US" altLang="en-US" baseline="-25000" dirty="0"/>
              <a:t>CE</a:t>
            </a:r>
          </a:p>
        </p:txBody>
      </p:sp>
      <p:graphicFrame>
        <p:nvGraphicFramePr>
          <p:cNvPr id="20" name="Object 4">
            <a:extLst>
              <a:ext uri="{FF2B5EF4-FFF2-40B4-BE49-F238E27FC236}">
                <a16:creationId xmlns:a16="http://schemas.microsoft.com/office/drawing/2014/main" id="{E951EBC9-008E-337F-79A8-4786D79BF6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793324" y="3654128"/>
          <a:ext cx="184150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27100" imgH="431800" progId="Equation.3">
                  <p:embed/>
                </p:oleObj>
              </mc:Choice>
              <mc:Fallback>
                <p:oleObj name="Equation" r:id="rId5" imgW="927100" imgH="431800" progId="Equation.3">
                  <p:embed/>
                  <p:pic>
                    <p:nvPicPr>
                      <p:cNvPr id="20" name="Object 4">
                        <a:extLst>
                          <a:ext uri="{FF2B5EF4-FFF2-40B4-BE49-F238E27FC236}">
                            <a16:creationId xmlns:a16="http://schemas.microsoft.com/office/drawing/2014/main" id="{E951EBC9-008E-337F-79A8-4786D79BF6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3324" y="3654128"/>
                        <a:ext cx="1841500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itle 1">
            <a:extLst>
              <a:ext uri="{FF2B5EF4-FFF2-40B4-BE49-F238E27FC236}">
                <a16:creationId xmlns:a16="http://schemas.microsoft.com/office/drawing/2014/main" id="{377A2404-F61B-52DE-266F-2604ACA210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16224" y="710681"/>
            <a:ext cx="8915400" cy="9906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Collector Curve / output </a:t>
            </a:r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br>
              <a:rPr lang="en-US" altLang="en-US" sz="3600" b="1" dirty="0">
                <a:solidFill>
                  <a:srgbClr val="FF0000"/>
                </a:solidFill>
              </a:rPr>
            </a:br>
            <a:endParaRPr lang="en-US" altLang="en-US" sz="3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60F1F8-AEA2-7326-DEE2-4D17F0DCC8C9}"/>
              </a:ext>
            </a:extLst>
          </p:cNvPr>
          <p:cNvSpPr txBox="1"/>
          <p:nvPr/>
        </p:nvSpPr>
        <p:spPr>
          <a:xfrm>
            <a:off x="-11081" y="3654128"/>
            <a:ext cx="4233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2.5. Circuit operation to plot output characteristics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7812AA-D97D-340D-BF89-B0A1A735CD15}"/>
              </a:ext>
            </a:extLst>
          </p:cNvPr>
          <p:cNvSpPr txBox="1"/>
          <p:nvPr/>
        </p:nvSpPr>
        <p:spPr>
          <a:xfrm>
            <a:off x="-101277" y="5884008"/>
            <a:ext cx="5663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2.6. Output characteristics of CE configured BJT for fixed base current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4E7BA2-321D-1114-C53B-CC31CB34A224}"/>
              </a:ext>
            </a:extLst>
          </p:cNvPr>
          <p:cNvSpPr txBox="1"/>
          <p:nvPr/>
        </p:nvSpPr>
        <p:spPr>
          <a:xfrm>
            <a:off x="4178462" y="4207716"/>
            <a:ext cx="40139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2.7. Output characteristics of CE configured BJT for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Various values of input base current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3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Line 2">
            <a:extLst>
              <a:ext uri="{FF2B5EF4-FFF2-40B4-BE49-F238E27FC236}">
                <a16:creationId xmlns:a16="http://schemas.microsoft.com/office/drawing/2014/main" id="{E53FB90E-39FC-6B32-1F2E-D77F98B63BF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62675" y="348615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771" name="Line 3">
            <a:extLst>
              <a:ext uri="{FF2B5EF4-FFF2-40B4-BE49-F238E27FC236}">
                <a16:creationId xmlns:a16="http://schemas.microsoft.com/office/drawing/2014/main" id="{1A2C89D9-5D6E-A83E-69CB-F7F2B75669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8875" y="462915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772" name="Line 4">
            <a:extLst>
              <a:ext uri="{FF2B5EF4-FFF2-40B4-BE49-F238E27FC236}">
                <a16:creationId xmlns:a16="http://schemas.microsoft.com/office/drawing/2014/main" id="{9907C132-AE78-CC06-223F-F3F583916FDC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9475" y="462915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773" name="Line 5">
            <a:extLst>
              <a:ext uri="{FF2B5EF4-FFF2-40B4-BE49-F238E27FC236}">
                <a16:creationId xmlns:a16="http://schemas.microsoft.com/office/drawing/2014/main" id="{CD8DCE87-5BD0-BD10-CCF0-979907C73618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9475" y="539115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774" name="Line 6">
            <a:extLst>
              <a:ext uri="{FF2B5EF4-FFF2-40B4-BE49-F238E27FC236}">
                <a16:creationId xmlns:a16="http://schemas.microsoft.com/office/drawing/2014/main" id="{4646E982-E941-BF9D-3436-1BD7F93631A2}"/>
              </a:ext>
            </a:extLst>
          </p:cNvPr>
          <p:cNvSpPr>
            <a:spLocks noChangeShapeType="1"/>
          </p:cNvSpPr>
          <p:nvPr/>
        </p:nvSpPr>
        <p:spPr bwMode="auto">
          <a:xfrm>
            <a:off x="8677275" y="462915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775" name="Line 7">
            <a:extLst>
              <a:ext uri="{FF2B5EF4-FFF2-40B4-BE49-F238E27FC236}">
                <a16:creationId xmlns:a16="http://schemas.microsoft.com/office/drawing/2014/main" id="{A6A5C91A-103F-874D-2422-9C715A7B2F88}"/>
              </a:ext>
            </a:extLst>
          </p:cNvPr>
          <p:cNvSpPr>
            <a:spLocks noChangeShapeType="1"/>
          </p:cNvSpPr>
          <p:nvPr/>
        </p:nvSpPr>
        <p:spPr bwMode="auto">
          <a:xfrm>
            <a:off x="8677275" y="462915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pSp>
        <p:nvGrpSpPr>
          <p:cNvPr id="32776" name="Group 8">
            <a:extLst>
              <a:ext uri="{FF2B5EF4-FFF2-40B4-BE49-F238E27FC236}">
                <a16:creationId xmlns:a16="http://schemas.microsoft.com/office/drawing/2014/main" id="{A04585B3-E500-B089-3ADE-0EF114F00C6E}"/>
              </a:ext>
            </a:extLst>
          </p:cNvPr>
          <p:cNvGrpSpPr>
            <a:grpSpLocks/>
          </p:cNvGrpSpPr>
          <p:nvPr/>
        </p:nvGrpSpPr>
        <p:grpSpPr bwMode="auto">
          <a:xfrm>
            <a:off x="7077076" y="3348038"/>
            <a:ext cx="461963" cy="1293812"/>
            <a:chOff x="3453" y="1353"/>
            <a:chExt cx="291" cy="809"/>
          </a:xfrm>
        </p:grpSpPr>
        <p:sp>
          <p:nvSpPr>
            <p:cNvPr id="32858" name="Oval 9">
              <a:extLst>
                <a:ext uri="{FF2B5EF4-FFF2-40B4-BE49-F238E27FC236}">
                  <a16:creationId xmlns:a16="http://schemas.microsoft.com/office/drawing/2014/main" id="{59C803E6-123E-88AF-EBD9-70B2E5B216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3" y="1353"/>
              <a:ext cx="192" cy="174"/>
            </a:xfrm>
            <a:prstGeom prst="ellipse">
              <a:avLst/>
            </a:prstGeom>
            <a:solidFill>
              <a:srgbClr val="800080"/>
            </a:solidFill>
            <a:ln w="9525">
              <a:solidFill>
                <a:srgbClr val="80008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" panose="02020603050405020304" pitchFamily="18" charset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endParaRPr>
            </a:p>
          </p:txBody>
        </p:sp>
        <p:sp>
          <p:nvSpPr>
            <p:cNvPr id="32859" name="Line 10">
              <a:extLst>
                <a:ext uri="{FF2B5EF4-FFF2-40B4-BE49-F238E27FC236}">
                  <a16:creationId xmlns:a16="http://schemas.microsoft.com/office/drawing/2014/main" id="{F38C3A08-DB9A-C429-BCDF-879A1B0223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444"/>
              <a:ext cx="192" cy="718"/>
            </a:xfrm>
            <a:prstGeom prst="line">
              <a:avLst/>
            </a:prstGeom>
            <a:noFill/>
            <a:ln w="158750">
              <a:solidFill>
                <a:srgbClr val="80008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32777" name="Line 11">
            <a:extLst>
              <a:ext uri="{FF2B5EF4-FFF2-40B4-BE49-F238E27FC236}">
                <a16:creationId xmlns:a16="http://schemas.microsoft.com/office/drawing/2014/main" id="{9C8AB3D0-404D-D85D-1885-3A3951662A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8875" y="4400550"/>
            <a:ext cx="990600" cy="152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778" name="Line 12">
            <a:extLst>
              <a:ext uri="{FF2B5EF4-FFF2-40B4-BE49-F238E27FC236}">
                <a16:creationId xmlns:a16="http://schemas.microsoft.com/office/drawing/2014/main" id="{369A1570-67D5-9A0C-855D-B7B9578D79E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0075" y="348615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779" name="Line 13">
            <a:extLst>
              <a:ext uri="{FF2B5EF4-FFF2-40B4-BE49-F238E27FC236}">
                <a16:creationId xmlns:a16="http://schemas.microsoft.com/office/drawing/2014/main" id="{483B24FF-878F-0B28-DA22-7ACFA90CD5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34075" y="4324350"/>
            <a:ext cx="152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780" name="Line 14">
            <a:extLst>
              <a:ext uri="{FF2B5EF4-FFF2-40B4-BE49-F238E27FC236}">
                <a16:creationId xmlns:a16="http://schemas.microsoft.com/office/drawing/2014/main" id="{CDCBFFA2-6C50-3AB2-4086-E4147DD53C5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8875" y="4324350"/>
            <a:ext cx="0" cy="76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781" name="Line 15">
            <a:extLst>
              <a:ext uri="{FF2B5EF4-FFF2-40B4-BE49-F238E27FC236}">
                <a16:creationId xmlns:a16="http://schemas.microsoft.com/office/drawing/2014/main" id="{79AD4312-C0B8-525C-ED5B-F532A0EC77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38875" y="4324350"/>
            <a:ext cx="990600" cy="76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782" name="Line 16">
            <a:extLst>
              <a:ext uri="{FF2B5EF4-FFF2-40B4-BE49-F238E27FC236}">
                <a16:creationId xmlns:a16="http://schemas.microsoft.com/office/drawing/2014/main" id="{79A0C114-1708-4B43-4116-46D72948633C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9475" y="432435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pSp>
        <p:nvGrpSpPr>
          <p:cNvPr id="32783" name="Group 17">
            <a:extLst>
              <a:ext uri="{FF2B5EF4-FFF2-40B4-BE49-F238E27FC236}">
                <a16:creationId xmlns:a16="http://schemas.microsoft.com/office/drawing/2014/main" id="{DC17E998-215C-B100-BDB0-F3F87BA812B7}"/>
              </a:ext>
            </a:extLst>
          </p:cNvPr>
          <p:cNvGrpSpPr>
            <a:grpSpLocks/>
          </p:cNvGrpSpPr>
          <p:nvPr/>
        </p:nvGrpSpPr>
        <p:grpSpPr bwMode="auto">
          <a:xfrm>
            <a:off x="3675063" y="2032000"/>
            <a:ext cx="627062" cy="1676400"/>
            <a:chOff x="1305" y="997"/>
            <a:chExt cx="395" cy="1056"/>
          </a:xfrm>
        </p:grpSpPr>
        <p:sp>
          <p:nvSpPr>
            <p:cNvPr id="32839" name="Line 18">
              <a:extLst>
                <a:ext uri="{FF2B5EF4-FFF2-40B4-BE49-F238E27FC236}">
                  <a16:creationId xmlns:a16="http://schemas.microsoft.com/office/drawing/2014/main" id="{B61A8665-11D4-F957-B772-F65240266AC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393" y="1877"/>
              <a:ext cx="0" cy="88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40" name="Line 19">
              <a:extLst>
                <a:ext uri="{FF2B5EF4-FFF2-40B4-BE49-F238E27FC236}">
                  <a16:creationId xmlns:a16="http://schemas.microsoft.com/office/drawing/2014/main" id="{DA8A6AC1-D2A4-B079-80B4-07F88BD5184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623" y="1261"/>
              <a:ext cx="0" cy="79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41" name="Line 20">
              <a:extLst>
                <a:ext uri="{FF2B5EF4-FFF2-40B4-BE49-F238E27FC236}">
                  <a16:creationId xmlns:a16="http://schemas.microsoft.com/office/drawing/2014/main" id="{D19B5A64-8734-74AC-6344-6A99F60EA03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393" y="1261"/>
              <a:ext cx="0" cy="79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42" name="Line 21">
              <a:extLst>
                <a:ext uri="{FF2B5EF4-FFF2-40B4-BE49-F238E27FC236}">
                  <a16:creationId xmlns:a16="http://schemas.microsoft.com/office/drawing/2014/main" id="{1E42678F-5AC1-1A6E-56B4-74084BB929C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622" y="1261"/>
              <a:ext cx="77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43" name="Line 22">
              <a:extLst>
                <a:ext uri="{FF2B5EF4-FFF2-40B4-BE49-F238E27FC236}">
                  <a16:creationId xmlns:a16="http://schemas.microsoft.com/office/drawing/2014/main" id="{CBA8B2A4-98AD-139C-E183-28DFA319AE8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315" y="1261"/>
              <a:ext cx="77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44" name="Line 23">
              <a:extLst>
                <a:ext uri="{FF2B5EF4-FFF2-40B4-BE49-F238E27FC236}">
                  <a16:creationId xmlns:a16="http://schemas.microsoft.com/office/drawing/2014/main" id="{B0B7095E-2E3A-1DBF-54D0-74E80AE4372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700" y="997"/>
              <a:ext cx="0" cy="264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45" name="Line 24">
              <a:extLst>
                <a:ext uri="{FF2B5EF4-FFF2-40B4-BE49-F238E27FC236}">
                  <a16:creationId xmlns:a16="http://schemas.microsoft.com/office/drawing/2014/main" id="{51ECA9EE-A78A-C1E0-1CC7-DB507873F6E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305" y="997"/>
              <a:ext cx="0" cy="264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46" name="Line 25">
              <a:extLst>
                <a:ext uri="{FF2B5EF4-FFF2-40B4-BE49-F238E27FC236}">
                  <a16:creationId xmlns:a16="http://schemas.microsoft.com/office/drawing/2014/main" id="{DB12855F-1433-A285-D54B-436EFEC6274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393" y="2053"/>
              <a:ext cx="23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47" name="Line 26">
              <a:extLst>
                <a:ext uri="{FF2B5EF4-FFF2-40B4-BE49-F238E27FC236}">
                  <a16:creationId xmlns:a16="http://schemas.microsoft.com/office/drawing/2014/main" id="{04C44211-2412-2089-5C6A-E0C8C3EFFCE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622" y="997"/>
              <a:ext cx="77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48" name="Line 27">
              <a:extLst>
                <a:ext uri="{FF2B5EF4-FFF2-40B4-BE49-F238E27FC236}">
                  <a16:creationId xmlns:a16="http://schemas.microsoft.com/office/drawing/2014/main" id="{8EC1AD95-A3C6-EFD9-0371-EFD0AF4838E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305" y="997"/>
              <a:ext cx="165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49" name="Line 28">
              <a:extLst>
                <a:ext uri="{FF2B5EF4-FFF2-40B4-BE49-F238E27FC236}">
                  <a16:creationId xmlns:a16="http://schemas.microsoft.com/office/drawing/2014/main" id="{9A2A5104-CBC0-C09E-D1F8-AE9CEF79CA8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545" y="997"/>
              <a:ext cx="77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50" name="Line 29">
              <a:extLst>
                <a:ext uri="{FF2B5EF4-FFF2-40B4-BE49-F238E27FC236}">
                  <a16:creationId xmlns:a16="http://schemas.microsoft.com/office/drawing/2014/main" id="{D05FB300-DAB1-EC67-6C23-7505247B270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546" y="1085"/>
              <a:ext cx="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51" name="Line 30">
              <a:extLst>
                <a:ext uri="{FF2B5EF4-FFF2-40B4-BE49-F238E27FC236}">
                  <a16:creationId xmlns:a16="http://schemas.microsoft.com/office/drawing/2014/main" id="{1678A10D-6A2F-6996-2F8D-27FF79C8CD2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546" y="997"/>
              <a:ext cx="0" cy="88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52" name="Line 31">
              <a:extLst>
                <a:ext uri="{FF2B5EF4-FFF2-40B4-BE49-F238E27FC236}">
                  <a16:creationId xmlns:a16="http://schemas.microsoft.com/office/drawing/2014/main" id="{7F7666EE-B3E1-5887-A3AE-F6EFEE658C1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470" y="1085"/>
              <a:ext cx="7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53" name="Line 32">
              <a:extLst>
                <a:ext uri="{FF2B5EF4-FFF2-40B4-BE49-F238E27FC236}">
                  <a16:creationId xmlns:a16="http://schemas.microsoft.com/office/drawing/2014/main" id="{63ECB9A9-3171-E208-9E40-E4B2E412250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470" y="997"/>
              <a:ext cx="0" cy="88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54" name="Line 33">
              <a:extLst>
                <a:ext uri="{FF2B5EF4-FFF2-40B4-BE49-F238E27FC236}">
                  <a16:creationId xmlns:a16="http://schemas.microsoft.com/office/drawing/2014/main" id="{9DA0D8DF-0042-4275-1C20-781507F9530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393" y="1525"/>
              <a:ext cx="230" cy="176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55" name="Line 34">
              <a:extLst>
                <a:ext uri="{FF2B5EF4-FFF2-40B4-BE49-F238E27FC236}">
                  <a16:creationId xmlns:a16="http://schemas.microsoft.com/office/drawing/2014/main" id="{4540ACF0-ECBA-DEE7-7FDC-5084F0B6023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393" y="1349"/>
              <a:ext cx="230" cy="176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56" name="Line 35">
              <a:extLst>
                <a:ext uri="{FF2B5EF4-FFF2-40B4-BE49-F238E27FC236}">
                  <a16:creationId xmlns:a16="http://schemas.microsoft.com/office/drawing/2014/main" id="{6E7C9CF9-BC5B-B66D-80C8-5354A6A904D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393" y="1701"/>
              <a:ext cx="230" cy="176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57" name="Line 36">
              <a:extLst>
                <a:ext uri="{FF2B5EF4-FFF2-40B4-BE49-F238E27FC236}">
                  <a16:creationId xmlns:a16="http://schemas.microsoft.com/office/drawing/2014/main" id="{0837AA5F-6FF8-F0F6-4B72-EEA985CC438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393" y="1877"/>
              <a:ext cx="230" cy="176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32784" name="Line 37">
            <a:extLst>
              <a:ext uri="{FF2B5EF4-FFF2-40B4-BE49-F238E27FC236}">
                <a16:creationId xmlns:a16="http://schemas.microsoft.com/office/drawing/2014/main" id="{8E039A49-F419-563F-579B-4676793F0E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1675" y="4476750"/>
            <a:ext cx="0" cy="152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785" name="Line 38">
            <a:extLst>
              <a:ext uri="{FF2B5EF4-FFF2-40B4-BE49-F238E27FC236}">
                <a16:creationId xmlns:a16="http://schemas.microsoft.com/office/drawing/2014/main" id="{3E9FCFD3-A93A-D418-594F-7A8DC0DE606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1675" y="4324350"/>
            <a:ext cx="0" cy="76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786" name="Line 39">
            <a:extLst>
              <a:ext uri="{FF2B5EF4-FFF2-40B4-BE49-F238E27FC236}">
                <a16:creationId xmlns:a16="http://schemas.microsoft.com/office/drawing/2014/main" id="{8A43CFEE-0FF8-041F-858C-FE48EEBB19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29475" y="4248150"/>
            <a:ext cx="228600" cy="76200"/>
          </a:xfrm>
          <a:prstGeom prst="line">
            <a:avLst/>
          </a:prstGeom>
          <a:noFill/>
          <a:ln w="57150" cap="rnd">
            <a:solidFill>
              <a:srgbClr val="0066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787" name="Line 40">
            <a:extLst>
              <a:ext uri="{FF2B5EF4-FFF2-40B4-BE49-F238E27FC236}">
                <a16:creationId xmlns:a16="http://schemas.microsoft.com/office/drawing/2014/main" id="{325EF478-F390-6D01-EEBD-6310A64069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29475" y="4324350"/>
            <a:ext cx="228600" cy="76200"/>
          </a:xfrm>
          <a:prstGeom prst="line">
            <a:avLst/>
          </a:prstGeom>
          <a:noFill/>
          <a:ln w="57150">
            <a:solidFill>
              <a:srgbClr val="0066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pSp>
        <p:nvGrpSpPr>
          <p:cNvPr id="32788" name="Group 41">
            <a:extLst>
              <a:ext uri="{FF2B5EF4-FFF2-40B4-BE49-F238E27FC236}">
                <a16:creationId xmlns:a16="http://schemas.microsoft.com/office/drawing/2014/main" id="{636AD068-816A-CB04-733F-1EFEA431A6BE}"/>
              </a:ext>
            </a:extLst>
          </p:cNvPr>
          <p:cNvGrpSpPr>
            <a:grpSpLocks/>
          </p:cNvGrpSpPr>
          <p:nvPr/>
        </p:nvGrpSpPr>
        <p:grpSpPr bwMode="auto">
          <a:xfrm>
            <a:off x="5781675" y="4324350"/>
            <a:ext cx="457200" cy="76200"/>
            <a:chOff x="1440" y="1968"/>
            <a:chExt cx="288" cy="48"/>
          </a:xfrm>
        </p:grpSpPr>
        <p:sp>
          <p:nvSpPr>
            <p:cNvPr id="32836" name="Line 42">
              <a:extLst>
                <a:ext uri="{FF2B5EF4-FFF2-40B4-BE49-F238E27FC236}">
                  <a16:creationId xmlns:a16="http://schemas.microsoft.com/office/drawing/2014/main" id="{5F368617-76E8-82FD-8218-C1B665293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968"/>
              <a:ext cx="9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37" name="Line 43">
              <a:extLst>
                <a:ext uri="{FF2B5EF4-FFF2-40B4-BE49-F238E27FC236}">
                  <a16:creationId xmlns:a16="http://schemas.microsoft.com/office/drawing/2014/main" id="{F8D65B25-1E19-1A52-887E-DCA76C2EDD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0" y="1968"/>
              <a:ext cx="9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38" name="Line 44">
              <a:extLst>
                <a:ext uri="{FF2B5EF4-FFF2-40B4-BE49-F238E27FC236}">
                  <a16:creationId xmlns:a16="http://schemas.microsoft.com/office/drawing/2014/main" id="{F264B19D-7F57-951F-D96E-6EE4B0CD35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016"/>
              <a:ext cx="288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32789" name="Line 45">
            <a:extLst>
              <a:ext uri="{FF2B5EF4-FFF2-40B4-BE49-F238E27FC236}">
                <a16:creationId xmlns:a16="http://schemas.microsoft.com/office/drawing/2014/main" id="{EC525D0B-8942-74E8-B046-36867BCEB91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5075" y="4400550"/>
            <a:ext cx="762000" cy="0"/>
          </a:xfrm>
          <a:prstGeom prst="line">
            <a:avLst/>
          </a:prstGeom>
          <a:noFill/>
          <a:ln w="38100">
            <a:solidFill>
              <a:srgbClr val="0066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790" name="Line 46">
            <a:extLst>
              <a:ext uri="{FF2B5EF4-FFF2-40B4-BE49-F238E27FC236}">
                <a16:creationId xmlns:a16="http://schemas.microsoft.com/office/drawing/2014/main" id="{CACDFB7C-A011-CC81-902F-06E879959094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8875" y="4476750"/>
            <a:ext cx="457200" cy="0"/>
          </a:xfrm>
          <a:prstGeom prst="line">
            <a:avLst/>
          </a:prstGeom>
          <a:noFill/>
          <a:ln w="38100">
            <a:solidFill>
              <a:srgbClr val="0066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791" name="Line 47">
            <a:extLst>
              <a:ext uri="{FF2B5EF4-FFF2-40B4-BE49-F238E27FC236}">
                <a16:creationId xmlns:a16="http://schemas.microsoft.com/office/drawing/2014/main" id="{D7E7D909-C865-26BC-A16E-BCC4F207A55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1675" y="4476750"/>
            <a:ext cx="228600" cy="0"/>
          </a:xfrm>
          <a:prstGeom prst="line">
            <a:avLst/>
          </a:prstGeom>
          <a:noFill/>
          <a:ln w="38100">
            <a:solidFill>
              <a:srgbClr val="0066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792" name="Line 48">
            <a:extLst>
              <a:ext uri="{FF2B5EF4-FFF2-40B4-BE49-F238E27FC236}">
                <a16:creationId xmlns:a16="http://schemas.microsoft.com/office/drawing/2014/main" id="{1352BD4D-8074-087A-84EE-F9BC3D27E55B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1675" y="4552950"/>
            <a:ext cx="228600" cy="0"/>
          </a:xfrm>
          <a:prstGeom prst="line">
            <a:avLst/>
          </a:prstGeom>
          <a:noFill/>
          <a:ln w="38100">
            <a:solidFill>
              <a:srgbClr val="0066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793" name="Freeform 49">
            <a:extLst>
              <a:ext uri="{FF2B5EF4-FFF2-40B4-BE49-F238E27FC236}">
                <a16:creationId xmlns:a16="http://schemas.microsoft.com/office/drawing/2014/main" id="{7A981723-DCCD-E79C-C224-AFDF20159873}"/>
              </a:ext>
            </a:extLst>
          </p:cNvPr>
          <p:cNvSpPr>
            <a:spLocks/>
          </p:cNvSpPr>
          <p:nvPr/>
        </p:nvSpPr>
        <p:spPr bwMode="auto">
          <a:xfrm>
            <a:off x="6619875" y="3867150"/>
            <a:ext cx="1371600" cy="1003300"/>
          </a:xfrm>
          <a:custGeom>
            <a:avLst/>
            <a:gdLst>
              <a:gd name="T0" fmla="*/ 0 w 864"/>
              <a:gd name="T1" fmla="*/ 0 h 632"/>
              <a:gd name="T2" fmla="*/ 2147483646 w 864"/>
              <a:gd name="T3" fmla="*/ 2147483646 h 632"/>
              <a:gd name="T4" fmla="*/ 2147483646 w 864"/>
              <a:gd name="T5" fmla="*/ 2147483646 h 632"/>
              <a:gd name="T6" fmla="*/ 2147483646 w 864"/>
              <a:gd name="T7" fmla="*/ 2147483646 h 632"/>
              <a:gd name="T8" fmla="*/ 0 60000 65536"/>
              <a:gd name="T9" fmla="*/ 0 60000 65536"/>
              <a:gd name="T10" fmla="*/ 0 60000 65536"/>
              <a:gd name="T11" fmla="*/ 0 60000 65536"/>
              <a:gd name="T12" fmla="*/ 0 w 864"/>
              <a:gd name="T13" fmla="*/ 0 h 632"/>
              <a:gd name="T14" fmla="*/ 864 w 864"/>
              <a:gd name="T15" fmla="*/ 632 h 6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4" h="632">
                <a:moveTo>
                  <a:pt x="0" y="0"/>
                </a:moveTo>
                <a:cubicBezTo>
                  <a:pt x="52" y="72"/>
                  <a:pt x="104" y="144"/>
                  <a:pt x="192" y="240"/>
                </a:cubicBezTo>
                <a:cubicBezTo>
                  <a:pt x="280" y="336"/>
                  <a:pt x="416" y="520"/>
                  <a:pt x="528" y="576"/>
                </a:cubicBezTo>
                <a:cubicBezTo>
                  <a:pt x="640" y="632"/>
                  <a:pt x="752" y="604"/>
                  <a:pt x="864" y="576"/>
                </a:cubicBezTo>
              </a:path>
            </a:pathLst>
          </a:custGeom>
          <a:noFill/>
          <a:ln w="38100">
            <a:solidFill>
              <a:srgbClr val="00FF00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794" name="Freeform 50">
            <a:extLst>
              <a:ext uri="{FF2B5EF4-FFF2-40B4-BE49-F238E27FC236}">
                <a16:creationId xmlns:a16="http://schemas.microsoft.com/office/drawing/2014/main" id="{E9B33C87-B677-96A6-284B-0D806F68E5D9}"/>
              </a:ext>
            </a:extLst>
          </p:cNvPr>
          <p:cNvSpPr>
            <a:spLocks/>
          </p:cNvSpPr>
          <p:nvPr/>
        </p:nvSpPr>
        <p:spPr bwMode="auto">
          <a:xfrm>
            <a:off x="7000875" y="3867150"/>
            <a:ext cx="914400" cy="914400"/>
          </a:xfrm>
          <a:custGeom>
            <a:avLst/>
            <a:gdLst>
              <a:gd name="T0" fmla="*/ 0 w 576"/>
              <a:gd name="T1" fmla="*/ 0 h 576"/>
              <a:gd name="T2" fmla="*/ 2147483646 w 576"/>
              <a:gd name="T3" fmla="*/ 2147483646 h 576"/>
              <a:gd name="T4" fmla="*/ 2147483646 w 576"/>
              <a:gd name="T5" fmla="*/ 2147483646 h 576"/>
              <a:gd name="T6" fmla="*/ 2147483646 w 576"/>
              <a:gd name="T7" fmla="*/ 2147483646 h 576"/>
              <a:gd name="T8" fmla="*/ 2147483646 w 576"/>
              <a:gd name="T9" fmla="*/ 2147483646 h 5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76"/>
              <a:gd name="T16" fmla="*/ 0 h 576"/>
              <a:gd name="T17" fmla="*/ 576 w 576"/>
              <a:gd name="T18" fmla="*/ 576 h 5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76" h="576">
                <a:moveTo>
                  <a:pt x="0" y="0"/>
                </a:moveTo>
                <a:cubicBezTo>
                  <a:pt x="92" y="172"/>
                  <a:pt x="184" y="344"/>
                  <a:pt x="240" y="432"/>
                </a:cubicBezTo>
                <a:cubicBezTo>
                  <a:pt x="296" y="520"/>
                  <a:pt x="296" y="504"/>
                  <a:pt x="336" y="528"/>
                </a:cubicBezTo>
                <a:cubicBezTo>
                  <a:pt x="376" y="552"/>
                  <a:pt x="440" y="576"/>
                  <a:pt x="480" y="576"/>
                </a:cubicBezTo>
                <a:cubicBezTo>
                  <a:pt x="520" y="576"/>
                  <a:pt x="552" y="536"/>
                  <a:pt x="576" y="528"/>
                </a:cubicBezTo>
              </a:path>
            </a:pathLst>
          </a:custGeom>
          <a:noFill/>
          <a:ln w="38100">
            <a:solidFill>
              <a:srgbClr val="00FF00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795" name="Line 51">
            <a:extLst>
              <a:ext uri="{FF2B5EF4-FFF2-40B4-BE49-F238E27FC236}">
                <a16:creationId xmlns:a16="http://schemas.microsoft.com/office/drawing/2014/main" id="{A8687240-6EE0-DB65-9A2B-944B1C37EA06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9475" y="4324350"/>
            <a:ext cx="0" cy="76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796" name="Line 52">
            <a:extLst>
              <a:ext uri="{FF2B5EF4-FFF2-40B4-BE49-F238E27FC236}">
                <a16:creationId xmlns:a16="http://schemas.microsoft.com/office/drawing/2014/main" id="{DD6CB5DB-486C-C4F8-4A94-89F53AE5B84D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8875" y="4552950"/>
            <a:ext cx="0" cy="76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pSp>
        <p:nvGrpSpPr>
          <p:cNvPr id="32797" name="Group 53">
            <a:extLst>
              <a:ext uri="{FF2B5EF4-FFF2-40B4-BE49-F238E27FC236}">
                <a16:creationId xmlns:a16="http://schemas.microsoft.com/office/drawing/2014/main" id="{629EAE7D-AC7A-6B70-2D52-94395A1F364E}"/>
              </a:ext>
            </a:extLst>
          </p:cNvPr>
          <p:cNvGrpSpPr>
            <a:grpSpLocks/>
          </p:cNvGrpSpPr>
          <p:nvPr/>
        </p:nvGrpSpPr>
        <p:grpSpPr bwMode="auto">
          <a:xfrm>
            <a:off x="5930900" y="4489450"/>
            <a:ext cx="381000" cy="914400"/>
            <a:chOff x="960" y="2736"/>
            <a:chExt cx="240" cy="576"/>
          </a:xfrm>
        </p:grpSpPr>
        <p:sp>
          <p:nvSpPr>
            <p:cNvPr id="32817" name="Line 54">
              <a:extLst>
                <a:ext uri="{FF2B5EF4-FFF2-40B4-BE49-F238E27FC236}">
                  <a16:creationId xmlns:a16="http://schemas.microsoft.com/office/drawing/2014/main" id="{6AC00F45-6059-D740-48E9-907B99C5BE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784"/>
              <a:ext cx="0" cy="48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18" name="Line 55">
              <a:extLst>
                <a:ext uri="{FF2B5EF4-FFF2-40B4-BE49-F238E27FC236}">
                  <a16:creationId xmlns:a16="http://schemas.microsoft.com/office/drawing/2014/main" id="{E8C991D3-9E96-6DC8-5023-5569E4CB97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36"/>
              <a:ext cx="0" cy="432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19" name="Line 56">
              <a:extLst>
                <a:ext uri="{FF2B5EF4-FFF2-40B4-BE49-F238E27FC236}">
                  <a16:creationId xmlns:a16="http://schemas.microsoft.com/office/drawing/2014/main" id="{9E98EC26-4DCA-39E4-468F-4CC25B4CF1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736"/>
              <a:ext cx="0" cy="432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20" name="Line 57">
              <a:extLst>
                <a:ext uri="{FF2B5EF4-FFF2-40B4-BE49-F238E27FC236}">
                  <a16:creationId xmlns:a16="http://schemas.microsoft.com/office/drawing/2014/main" id="{06F90A71-7C89-314F-4A6B-53823C9A86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168"/>
              <a:ext cx="48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21" name="Line 58">
              <a:extLst>
                <a:ext uri="{FF2B5EF4-FFF2-40B4-BE49-F238E27FC236}">
                  <a16:creationId xmlns:a16="http://schemas.microsoft.com/office/drawing/2014/main" id="{FF8F15CE-C155-F671-F348-1790CA9544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3168"/>
              <a:ext cx="48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22" name="Line 59">
              <a:extLst>
                <a:ext uri="{FF2B5EF4-FFF2-40B4-BE49-F238E27FC236}">
                  <a16:creationId xmlns:a16="http://schemas.microsoft.com/office/drawing/2014/main" id="{A6002E67-B406-5F98-6057-068F04444E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168"/>
              <a:ext cx="0" cy="144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23" name="Line 60">
              <a:extLst>
                <a:ext uri="{FF2B5EF4-FFF2-40B4-BE49-F238E27FC236}">
                  <a16:creationId xmlns:a16="http://schemas.microsoft.com/office/drawing/2014/main" id="{CE1A4711-BEAB-D685-353F-A388536EB0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3168"/>
              <a:ext cx="0" cy="144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24" name="Line 61">
              <a:extLst>
                <a:ext uri="{FF2B5EF4-FFF2-40B4-BE49-F238E27FC236}">
                  <a16:creationId xmlns:a16="http://schemas.microsoft.com/office/drawing/2014/main" id="{D15199A1-AF1D-114F-FE33-BA09BE69D8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36"/>
              <a:ext cx="144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25" name="Line 62">
              <a:extLst>
                <a:ext uri="{FF2B5EF4-FFF2-40B4-BE49-F238E27FC236}">
                  <a16:creationId xmlns:a16="http://schemas.microsoft.com/office/drawing/2014/main" id="{064CE26B-1DA8-30B4-D65F-22214F348C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312"/>
              <a:ext cx="48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26" name="Line 63">
              <a:extLst>
                <a:ext uri="{FF2B5EF4-FFF2-40B4-BE49-F238E27FC236}">
                  <a16:creationId xmlns:a16="http://schemas.microsoft.com/office/drawing/2014/main" id="{5B6C91DC-335B-8935-ADDF-DF4681BABC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4" y="3312"/>
              <a:ext cx="96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27" name="Line 64">
              <a:extLst>
                <a:ext uri="{FF2B5EF4-FFF2-40B4-BE49-F238E27FC236}">
                  <a16:creationId xmlns:a16="http://schemas.microsoft.com/office/drawing/2014/main" id="{FE064EF8-2E85-B149-1956-79702DB241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312"/>
              <a:ext cx="48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28" name="Line 65">
              <a:extLst>
                <a:ext uri="{FF2B5EF4-FFF2-40B4-BE49-F238E27FC236}">
                  <a16:creationId xmlns:a16="http://schemas.microsoft.com/office/drawing/2014/main" id="{F8D7715B-03FC-CECD-F4CF-86CFEB34C0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264"/>
              <a:ext cx="0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29" name="Line 66">
              <a:extLst>
                <a:ext uri="{FF2B5EF4-FFF2-40B4-BE49-F238E27FC236}">
                  <a16:creationId xmlns:a16="http://schemas.microsoft.com/office/drawing/2014/main" id="{836E5319-A6CD-3B3D-29E0-896D24EB81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264"/>
              <a:ext cx="0" cy="48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30" name="Line 67">
              <a:extLst>
                <a:ext uri="{FF2B5EF4-FFF2-40B4-BE49-F238E27FC236}">
                  <a16:creationId xmlns:a16="http://schemas.microsoft.com/office/drawing/2014/main" id="{353D627E-4F3F-4663-2396-2C662C3C56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264"/>
              <a:ext cx="48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31" name="Line 68">
              <a:extLst>
                <a:ext uri="{FF2B5EF4-FFF2-40B4-BE49-F238E27FC236}">
                  <a16:creationId xmlns:a16="http://schemas.microsoft.com/office/drawing/2014/main" id="{B05AE9EC-C614-0DE4-5B72-0AF89EF06A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3264"/>
              <a:ext cx="0" cy="48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32" name="Line 69">
              <a:extLst>
                <a:ext uri="{FF2B5EF4-FFF2-40B4-BE49-F238E27FC236}">
                  <a16:creationId xmlns:a16="http://schemas.microsoft.com/office/drawing/2014/main" id="{B461E636-561D-7C38-69C4-D806843D22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928"/>
              <a:ext cx="144" cy="96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33" name="Line 70">
              <a:extLst>
                <a:ext uri="{FF2B5EF4-FFF2-40B4-BE49-F238E27FC236}">
                  <a16:creationId xmlns:a16="http://schemas.microsoft.com/office/drawing/2014/main" id="{41BE7C1B-DEE8-1842-DC5A-104032ADF5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3024"/>
              <a:ext cx="144" cy="96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34" name="Line 71">
              <a:extLst>
                <a:ext uri="{FF2B5EF4-FFF2-40B4-BE49-F238E27FC236}">
                  <a16:creationId xmlns:a16="http://schemas.microsoft.com/office/drawing/2014/main" id="{D4DA7B7C-6218-004E-A52F-0229A06DAE2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832"/>
              <a:ext cx="144" cy="96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2835" name="Line 72">
              <a:extLst>
                <a:ext uri="{FF2B5EF4-FFF2-40B4-BE49-F238E27FC236}">
                  <a16:creationId xmlns:a16="http://schemas.microsoft.com/office/drawing/2014/main" id="{18A9145A-B610-1083-A3EC-072E09BF3D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736"/>
              <a:ext cx="144" cy="96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32798" name="Line 73">
            <a:extLst>
              <a:ext uri="{FF2B5EF4-FFF2-40B4-BE49-F238E27FC236}">
                <a16:creationId xmlns:a16="http://schemas.microsoft.com/office/drawing/2014/main" id="{8951B1C2-1354-2A17-0130-0B1053229B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09875" y="462915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799" name="Line 74">
            <a:extLst>
              <a:ext uri="{FF2B5EF4-FFF2-40B4-BE49-F238E27FC236}">
                <a16:creationId xmlns:a16="http://schemas.microsoft.com/office/drawing/2014/main" id="{F57A3DF4-71FB-4FCD-CE6E-E20072FB7F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67188" y="3486150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800" name="Line 75">
            <a:extLst>
              <a:ext uri="{FF2B5EF4-FFF2-40B4-BE49-F238E27FC236}">
                <a16:creationId xmlns:a16="http://schemas.microsoft.com/office/drawing/2014/main" id="{8330179F-8A3A-C7FA-421A-CBFDA8CFEE7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74951" y="3479800"/>
            <a:ext cx="10255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801" name="Line 76">
            <a:extLst>
              <a:ext uri="{FF2B5EF4-FFF2-40B4-BE49-F238E27FC236}">
                <a16:creationId xmlns:a16="http://schemas.microsoft.com/office/drawing/2014/main" id="{1682BD48-BE69-4692-81D5-C4E358F0019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1039" y="4632325"/>
            <a:ext cx="15192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802" name="Line 77">
            <a:extLst>
              <a:ext uri="{FF2B5EF4-FFF2-40B4-BE49-F238E27FC236}">
                <a16:creationId xmlns:a16="http://schemas.microsoft.com/office/drawing/2014/main" id="{D0104607-7D34-AFFD-E8E2-2F62AC1CF9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86276" y="3752850"/>
            <a:ext cx="1444625" cy="0"/>
          </a:xfrm>
          <a:prstGeom prst="line">
            <a:avLst/>
          </a:prstGeom>
          <a:noFill/>
          <a:ln w="38100">
            <a:solidFill>
              <a:srgbClr val="993300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803" name="Line 78">
            <a:extLst>
              <a:ext uri="{FF2B5EF4-FFF2-40B4-BE49-F238E27FC236}">
                <a16:creationId xmlns:a16="http://schemas.microsoft.com/office/drawing/2014/main" id="{88F924A7-CD87-9460-F01B-FDA47DFC8DA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67226" y="4095750"/>
            <a:ext cx="1444625" cy="0"/>
          </a:xfrm>
          <a:prstGeom prst="line">
            <a:avLst/>
          </a:prstGeom>
          <a:noFill/>
          <a:ln w="38100">
            <a:solidFill>
              <a:srgbClr val="993300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804" name="Line 79">
            <a:extLst>
              <a:ext uri="{FF2B5EF4-FFF2-40B4-BE49-F238E27FC236}">
                <a16:creationId xmlns:a16="http://schemas.microsoft.com/office/drawing/2014/main" id="{17AE0E61-B0FE-613F-E19A-45E57F01443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74913" y="3752850"/>
            <a:ext cx="1198562" cy="0"/>
          </a:xfrm>
          <a:prstGeom prst="line">
            <a:avLst/>
          </a:prstGeom>
          <a:noFill/>
          <a:ln w="38100">
            <a:solidFill>
              <a:srgbClr val="800080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805" name="Line 80">
            <a:extLst>
              <a:ext uri="{FF2B5EF4-FFF2-40B4-BE49-F238E27FC236}">
                <a16:creationId xmlns:a16="http://schemas.microsoft.com/office/drawing/2014/main" id="{921E14B4-D741-569F-E04D-F0796CA0350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54276" y="4095750"/>
            <a:ext cx="1198563" cy="0"/>
          </a:xfrm>
          <a:prstGeom prst="line">
            <a:avLst/>
          </a:prstGeom>
          <a:noFill/>
          <a:ln w="38100">
            <a:solidFill>
              <a:srgbClr val="800080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806" name="Line 81">
            <a:extLst>
              <a:ext uri="{FF2B5EF4-FFF2-40B4-BE49-F238E27FC236}">
                <a16:creationId xmlns:a16="http://schemas.microsoft.com/office/drawing/2014/main" id="{6BE2DA9C-B521-7DE0-2824-889972CACC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66063" y="3757613"/>
            <a:ext cx="1198562" cy="0"/>
          </a:xfrm>
          <a:prstGeom prst="line">
            <a:avLst/>
          </a:prstGeom>
          <a:noFill/>
          <a:ln w="38100">
            <a:solidFill>
              <a:srgbClr val="99CC00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807" name="Line 82">
            <a:extLst>
              <a:ext uri="{FF2B5EF4-FFF2-40B4-BE49-F238E27FC236}">
                <a16:creationId xmlns:a16="http://schemas.microsoft.com/office/drawing/2014/main" id="{6A65FB02-A720-3302-A706-1CE9158F0F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866063" y="4195763"/>
            <a:ext cx="1198562" cy="0"/>
          </a:xfrm>
          <a:prstGeom prst="line">
            <a:avLst/>
          </a:prstGeom>
          <a:noFill/>
          <a:ln w="38100">
            <a:solidFill>
              <a:srgbClr val="99CC00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808" name="Text Box 83">
            <a:extLst>
              <a:ext uri="{FF2B5EF4-FFF2-40B4-BE49-F238E27FC236}">
                <a16:creationId xmlns:a16="http://schemas.microsoft.com/office/drawing/2014/main" id="{EF3E2818-0BEE-8C71-3272-0BC26F94C0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228600"/>
            <a:ext cx="8104188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Analogy with Transistor in Active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Region: Fluid-jet operated Valve</a:t>
            </a:r>
          </a:p>
        </p:txBody>
      </p:sp>
      <p:sp>
        <p:nvSpPr>
          <p:cNvPr id="32809" name="Line 84">
            <a:extLst>
              <a:ext uri="{FF2B5EF4-FFF2-40B4-BE49-F238E27FC236}">
                <a16:creationId xmlns:a16="http://schemas.microsoft.com/office/drawing/2014/main" id="{E12AEEFA-E68B-0861-EB45-995C6B4700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06825" y="3479800"/>
            <a:ext cx="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810" name="Line 85">
            <a:extLst>
              <a:ext uri="{FF2B5EF4-FFF2-40B4-BE49-F238E27FC236}">
                <a16:creationId xmlns:a16="http://schemas.microsoft.com/office/drawing/2014/main" id="{36AB1C18-3B11-CD82-F664-A5E060AB2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6825" y="3486150"/>
            <a:ext cx="0" cy="7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811" name="Line 86">
            <a:extLst>
              <a:ext uri="{FF2B5EF4-FFF2-40B4-BE49-F238E27FC236}">
                <a16:creationId xmlns:a16="http://schemas.microsoft.com/office/drawing/2014/main" id="{86F33650-F454-B142-7AB3-0C23501C4F9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6825" y="3486150"/>
            <a:ext cx="0" cy="79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812" name="Line 87">
            <a:extLst>
              <a:ext uri="{FF2B5EF4-FFF2-40B4-BE49-F238E27FC236}">
                <a16:creationId xmlns:a16="http://schemas.microsoft.com/office/drawing/2014/main" id="{EFCB6F21-BC24-671E-8FE0-270743BC82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2425" y="3494089"/>
            <a:ext cx="0" cy="77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813" name="Line 88">
            <a:extLst>
              <a:ext uri="{FF2B5EF4-FFF2-40B4-BE49-F238E27FC236}">
                <a16:creationId xmlns:a16="http://schemas.microsoft.com/office/drawing/2014/main" id="{EB425B7A-89CC-DE61-F193-809EF557C480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4763" y="3489325"/>
            <a:ext cx="0" cy="777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2814" name="Text Box 89">
            <a:extLst>
              <a:ext uri="{FF2B5EF4-FFF2-40B4-BE49-F238E27FC236}">
                <a16:creationId xmlns:a16="http://schemas.microsoft.com/office/drawing/2014/main" id="{68048C4D-74C8-32C6-DD08-B52B36735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9451" y="2489200"/>
            <a:ext cx="522450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DE478E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In active region  this stopper does not really have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DE478E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noticeable effect on the flow rate</a:t>
            </a:r>
          </a:p>
        </p:txBody>
      </p:sp>
      <p:sp>
        <p:nvSpPr>
          <p:cNvPr id="32815" name="Line 90">
            <a:extLst>
              <a:ext uri="{FF2B5EF4-FFF2-40B4-BE49-F238E27FC236}">
                <a16:creationId xmlns:a16="http://schemas.microsoft.com/office/drawing/2014/main" id="{E9F883D2-4BA8-AD21-CF77-C0A0884115C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38639" y="2314576"/>
            <a:ext cx="471487" cy="157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953AEB8-9135-92E4-18A7-A753BF8584E7}"/>
              </a:ext>
            </a:extLst>
          </p:cNvPr>
          <p:cNvSpPr txBox="1"/>
          <p:nvPr/>
        </p:nvSpPr>
        <p:spPr>
          <a:xfrm>
            <a:off x="2166007" y="4864784"/>
            <a:ext cx="3349187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Emitter Base Junction – FB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Collector Base Junction – RB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9EC1A2-B46B-33C5-7022-16D2CF3DADBF}"/>
              </a:ext>
            </a:extLst>
          </p:cNvPr>
          <p:cNvSpPr txBox="1"/>
          <p:nvPr/>
        </p:nvSpPr>
        <p:spPr>
          <a:xfrm>
            <a:off x="2809875" y="5661223"/>
            <a:ext cx="5663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2.8.  Analogy of fluid jet operation to active region of BJT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2814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Line 2">
            <a:extLst>
              <a:ext uri="{FF2B5EF4-FFF2-40B4-BE49-F238E27FC236}">
                <a16:creationId xmlns:a16="http://schemas.microsoft.com/office/drawing/2014/main" id="{7E1CB547-60D6-CC7D-4983-8D5204623743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4588" y="2576513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3795" name="Line 4">
            <a:extLst>
              <a:ext uri="{FF2B5EF4-FFF2-40B4-BE49-F238E27FC236}">
                <a16:creationId xmlns:a16="http://schemas.microsoft.com/office/drawing/2014/main" id="{AB1086F9-83E3-7F6B-3B62-19CBA8CDE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91388" y="37195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3796" name="Line 5">
            <a:extLst>
              <a:ext uri="{FF2B5EF4-FFF2-40B4-BE49-F238E27FC236}">
                <a16:creationId xmlns:a16="http://schemas.microsoft.com/office/drawing/2014/main" id="{6DF27B83-F132-7EB3-BA0D-3E30B86A0702}"/>
              </a:ext>
            </a:extLst>
          </p:cNvPr>
          <p:cNvSpPr>
            <a:spLocks noChangeShapeType="1"/>
          </p:cNvSpPr>
          <p:nvPr/>
        </p:nvSpPr>
        <p:spPr bwMode="auto">
          <a:xfrm>
            <a:off x="7291388" y="4481513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3797" name="Line 6">
            <a:extLst>
              <a:ext uri="{FF2B5EF4-FFF2-40B4-BE49-F238E27FC236}">
                <a16:creationId xmlns:a16="http://schemas.microsoft.com/office/drawing/2014/main" id="{F1C0C019-096B-15BF-474D-48793C67363A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9188" y="371951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3798" name="Line 7">
            <a:extLst>
              <a:ext uri="{FF2B5EF4-FFF2-40B4-BE49-F238E27FC236}">
                <a16:creationId xmlns:a16="http://schemas.microsoft.com/office/drawing/2014/main" id="{72304C43-84FD-0454-8EC8-2915C571EC08}"/>
              </a:ext>
            </a:extLst>
          </p:cNvPr>
          <p:cNvSpPr>
            <a:spLocks noChangeShapeType="1"/>
          </p:cNvSpPr>
          <p:nvPr/>
        </p:nvSpPr>
        <p:spPr bwMode="auto">
          <a:xfrm>
            <a:off x="8739188" y="3719513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3799" name="Oval 9">
            <a:extLst>
              <a:ext uri="{FF2B5EF4-FFF2-40B4-BE49-F238E27FC236}">
                <a16:creationId xmlns:a16="http://schemas.microsoft.com/office/drawing/2014/main" id="{88D76A43-DE75-6A84-A116-85CAF06E1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6138" y="2438401"/>
            <a:ext cx="304800" cy="276225"/>
          </a:xfrm>
          <a:prstGeom prst="ellipse">
            <a:avLst/>
          </a:prstGeom>
          <a:solidFill>
            <a:srgbClr val="800080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+mn-cs"/>
            </a:endParaRPr>
          </a:p>
        </p:txBody>
      </p:sp>
      <p:sp>
        <p:nvSpPr>
          <p:cNvPr id="33800" name="Line 10">
            <a:extLst>
              <a:ext uri="{FF2B5EF4-FFF2-40B4-BE49-F238E27FC236}">
                <a16:creationId xmlns:a16="http://schemas.microsoft.com/office/drawing/2014/main" id="{F6021374-3560-AC4F-1B93-3432EFB57449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3300" y="2616201"/>
            <a:ext cx="0" cy="1255713"/>
          </a:xfrm>
          <a:prstGeom prst="line">
            <a:avLst/>
          </a:prstGeom>
          <a:noFill/>
          <a:ln w="158750">
            <a:solidFill>
              <a:srgbClr val="8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3801" name="Line 12">
            <a:extLst>
              <a:ext uri="{FF2B5EF4-FFF2-40B4-BE49-F238E27FC236}">
                <a16:creationId xmlns:a16="http://schemas.microsoft.com/office/drawing/2014/main" id="{CBAA6E51-E479-6E32-75DF-07E9037C573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1988" y="2576513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pSp>
        <p:nvGrpSpPr>
          <p:cNvPr id="33802" name="Group 17">
            <a:extLst>
              <a:ext uri="{FF2B5EF4-FFF2-40B4-BE49-F238E27FC236}">
                <a16:creationId xmlns:a16="http://schemas.microsoft.com/office/drawing/2014/main" id="{939DE2B7-01C1-275F-E1DC-36186DA5C9D0}"/>
              </a:ext>
            </a:extLst>
          </p:cNvPr>
          <p:cNvGrpSpPr>
            <a:grpSpLocks/>
          </p:cNvGrpSpPr>
          <p:nvPr/>
        </p:nvGrpSpPr>
        <p:grpSpPr bwMode="auto">
          <a:xfrm>
            <a:off x="3721101" y="1890713"/>
            <a:ext cx="627063" cy="1676400"/>
            <a:chOff x="1305" y="997"/>
            <a:chExt cx="395" cy="1056"/>
          </a:xfrm>
        </p:grpSpPr>
        <p:sp>
          <p:nvSpPr>
            <p:cNvPr id="33845" name="Line 18">
              <a:extLst>
                <a:ext uri="{FF2B5EF4-FFF2-40B4-BE49-F238E27FC236}">
                  <a16:creationId xmlns:a16="http://schemas.microsoft.com/office/drawing/2014/main" id="{D6463E53-CDEE-14B7-7777-FA056165D04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393" y="1877"/>
              <a:ext cx="0" cy="88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46" name="Line 19">
              <a:extLst>
                <a:ext uri="{FF2B5EF4-FFF2-40B4-BE49-F238E27FC236}">
                  <a16:creationId xmlns:a16="http://schemas.microsoft.com/office/drawing/2014/main" id="{7DE27AA1-ED52-447A-CAFD-DF7E889B011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623" y="1261"/>
              <a:ext cx="0" cy="79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47" name="Line 20">
              <a:extLst>
                <a:ext uri="{FF2B5EF4-FFF2-40B4-BE49-F238E27FC236}">
                  <a16:creationId xmlns:a16="http://schemas.microsoft.com/office/drawing/2014/main" id="{C00002FA-4FDA-8256-E2FB-78120AD18B6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393" y="1261"/>
              <a:ext cx="0" cy="79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48" name="Line 21">
              <a:extLst>
                <a:ext uri="{FF2B5EF4-FFF2-40B4-BE49-F238E27FC236}">
                  <a16:creationId xmlns:a16="http://schemas.microsoft.com/office/drawing/2014/main" id="{F68F6893-1928-9F67-DE76-DD5F941065B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622" y="1261"/>
              <a:ext cx="77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49" name="Line 22">
              <a:extLst>
                <a:ext uri="{FF2B5EF4-FFF2-40B4-BE49-F238E27FC236}">
                  <a16:creationId xmlns:a16="http://schemas.microsoft.com/office/drawing/2014/main" id="{F812E955-3FC7-8AF2-354D-05AA50744EB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315" y="1261"/>
              <a:ext cx="77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50" name="Line 23">
              <a:extLst>
                <a:ext uri="{FF2B5EF4-FFF2-40B4-BE49-F238E27FC236}">
                  <a16:creationId xmlns:a16="http://schemas.microsoft.com/office/drawing/2014/main" id="{754AFC2E-10F6-D4CA-BA97-E9E59960EED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700" y="997"/>
              <a:ext cx="0" cy="264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51" name="Line 24">
              <a:extLst>
                <a:ext uri="{FF2B5EF4-FFF2-40B4-BE49-F238E27FC236}">
                  <a16:creationId xmlns:a16="http://schemas.microsoft.com/office/drawing/2014/main" id="{06B5A67F-9F76-B80D-2042-6B9E204E9B4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305" y="997"/>
              <a:ext cx="0" cy="264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52" name="Line 25">
              <a:extLst>
                <a:ext uri="{FF2B5EF4-FFF2-40B4-BE49-F238E27FC236}">
                  <a16:creationId xmlns:a16="http://schemas.microsoft.com/office/drawing/2014/main" id="{C56348D1-7008-828A-E59B-797A66CF549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393" y="2053"/>
              <a:ext cx="23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53" name="Line 26">
              <a:extLst>
                <a:ext uri="{FF2B5EF4-FFF2-40B4-BE49-F238E27FC236}">
                  <a16:creationId xmlns:a16="http://schemas.microsoft.com/office/drawing/2014/main" id="{32FB6F37-49D6-19FB-8668-8965B0520FF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622" y="997"/>
              <a:ext cx="77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54" name="Line 27">
              <a:extLst>
                <a:ext uri="{FF2B5EF4-FFF2-40B4-BE49-F238E27FC236}">
                  <a16:creationId xmlns:a16="http://schemas.microsoft.com/office/drawing/2014/main" id="{6F0FA474-BF5C-563B-7947-730436F1BF3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305" y="997"/>
              <a:ext cx="165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55" name="Line 28">
              <a:extLst>
                <a:ext uri="{FF2B5EF4-FFF2-40B4-BE49-F238E27FC236}">
                  <a16:creationId xmlns:a16="http://schemas.microsoft.com/office/drawing/2014/main" id="{F6CEB7F9-AEF0-C6C3-B0FC-3A893F5177E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545" y="997"/>
              <a:ext cx="77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56" name="Line 29">
              <a:extLst>
                <a:ext uri="{FF2B5EF4-FFF2-40B4-BE49-F238E27FC236}">
                  <a16:creationId xmlns:a16="http://schemas.microsoft.com/office/drawing/2014/main" id="{F4C9E961-0367-BAAA-1FBC-7DFD4F091AE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546" y="1085"/>
              <a:ext cx="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57" name="Line 30">
              <a:extLst>
                <a:ext uri="{FF2B5EF4-FFF2-40B4-BE49-F238E27FC236}">
                  <a16:creationId xmlns:a16="http://schemas.microsoft.com/office/drawing/2014/main" id="{288E303F-DFA1-03C4-8C80-35C14990E03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546" y="997"/>
              <a:ext cx="0" cy="88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58" name="Line 31">
              <a:extLst>
                <a:ext uri="{FF2B5EF4-FFF2-40B4-BE49-F238E27FC236}">
                  <a16:creationId xmlns:a16="http://schemas.microsoft.com/office/drawing/2014/main" id="{6087CF2B-EE72-7A6D-9001-5882A37C5FE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470" y="1085"/>
              <a:ext cx="7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59" name="Line 32">
              <a:extLst>
                <a:ext uri="{FF2B5EF4-FFF2-40B4-BE49-F238E27FC236}">
                  <a16:creationId xmlns:a16="http://schemas.microsoft.com/office/drawing/2014/main" id="{29D43E64-FC89-0C13-9594-ABA55EA0ACD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470" y="997"/>
              <a:ext cx="0" cy="88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60" name="Line 33">
              <a:extLst>
                <a:ext uri="{FF2B5EF4-FFF2-40B4-BE49-F238E27FC236}">
                  <a16:creationId xmlns:a16="http://schemas.microsoft.com/office/drawing/2014/main" id="{C8AE3DD1-4AAC-FB84-B1F4-49B1B0E052E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393" y="1525"/>
              <a:ext cx="230" cy="176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61" name="Line 34">
              <a:extLst>
                <a:ext uri="{FF2B5EF4-FFF2-40B4-BE49-F238E27FC236}">
                  <a16:creationId xmlns:a16="http://schemas.microsoft.com/office/drawing/2014/main" id="{387860F2-DC97-20BA-B7D5-8D343285C402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393" y="1349"/>
              <a:ext cx="230" cy="176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62" name="Line 35">
              <a:extLst>
                <a:ext uri="{FF2B5EF4-FFF2-40B4-BE49-F238E27FC236}">
                  <a16:creationId xmlns:a16="http://schemas.microsoft.com/office/drawing/2014/main" id="{1771C693-A3A5-8E05-478F-CFEEBBFFA58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393" y="1701"/>
              <a:ext cx="230" cy="176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63" name="Line 36">
              <a:extLst>
                <a:ext uri="{FF2B5EF4-FFF2-40B4-BE49-F238E27FC236}">
                  <a16:creationId xmlns:a16="http://schemas.microsoft.com/office/drawing/2014/main" id="{2B7D5F7B-5BA1-5C77-CDFB-6E24562C465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393" y="1877"/>
              <a:ext cx="230" cy="176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33803" name="Line 47">
            <a:extLst>
              <a:ext uri="{FF2B5EF4-FFF2-40B4-BE49-F238E27FC236}">
                <a16:creationId xmlns:a16="http://schemas.microsoft.com/office/drawing/2014/main" id="{7CB82267-5A35-D490-EDFD-90889ACA76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24526" y="3486150"/>
            <a:ext cx="142875" cy="0"/>
          </a:xfrm>
          <a:prstGeom prst="line">
            <a:avLst/>
          </a:prstGeom>
          <a:noFill/>
          <a:ln w="38100">
            <a:solidFill>
              <a:srgbClr val="0066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3804" name="Line 3">
            <a:extLst>
              <a:ext uri="{FF2B5EF4-FFF2-40B4-BE49-F238E27FC236}">
                <a16:creationId xmlns:a16="http://schemas.microsoft.com/office/drawing/2014/main" id="{E36BCA66-D537-0C75-977A-4173397B38B4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7914" y="3722688"/>
            <a:ext cx="11334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pSp>
        <p:nvGrpSpPr>
          <p:cNvPr id="33805" name="Group 87">
            <a:extLst>
              <a:ext uri="{FF2B5EF4-FFF2-40B4-BE49-F238E27FC236}">
                <a16:creationId xmlns:a16="http://schemas.microsoft.com/office/drawing/2014/main" id="{C9AA5E8F-2272-173A-A2D1-483F4ABE176D}"/>
              </a:ext>
            </a:extLst>
          </p:cNvPr>
          <p:cNvGrpSpPr>
            <a:grpSpLocks/>
          </p:cNvGrpSpPr>
          <p:nvPr/>
        </p:nvGrpSpPr>
        <p:grpSpPr bwMode="auto">
          <a:xfrm>
            <a:off x="5664200" y="3376614"/>
            <a:ext cx="1390650" cy="346075"/>
            <a:chOff x="1461" y="3609"/>
            <a:chExt cx="912" cy="209"/>
          </a:xfrm>
        </p:grpSpPr>
        <p:sp>
          <p:nvSpPr>
            <p:cNvPr id="33835" name="Line 14">
              <a:extLst>
                <a:ext uri="{FF2B5EF4-FFF2-40B4-BE49-F238E27FC236}">
                  <a16:creationId xmlns:a16="http://schemas.microsoft.com/office/drawing/2014/main" id="{1C80E418-C770-DC0E-3DA0-498FCD4330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0" y="3609"/>
              <a:ext cx="0" cy="4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36" name="Line 38">
              <a:extLst>
                <a:ext uri="{FF2B5EF4-FFF2-40B4-BE49-F238E27FC236}">
                  <a16:creationId xmlns:a16="http://schemas.microsoft.com/office/drawing/2014/main" id="{D8C85B78-5A18-1A8C-693D-6873416364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3624"/>
              <a:ext cx="0" cy="4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37" name="Line 13">
              <a:extLst>
                <a:ext uri="{FF2B5EF4-FFF2-40B4-BE49-F238E27FC236}">
                  <a16:creationId xmlns:a16="http://schemas.microsoft.com/office/drawing/2014/main" id="{8763A60E-2F2D-BF73-4164-BF189FBAB4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57" y="3618"/>
              <a:ext cx="9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38" name="Line 11">
              <a:extLst>
                <a:ext uri="{FF2B5EF4-FFF2-40B4-BE49-F238E27FC236}">
                  <a16:creationId xmlns:a16="http://schemas.microsoft.com/office/drawing/2014/main" id="{D224AB3B-F836-AEF8-97E6-B667780E88B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49" y="3669"/>
              <a:ext cx="624" cy="9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39" name="Line 15">
              <a:extLst>
                <a:ext uri="{FF2B5EF4-FFF2-40B4-BE49-F238E27FC236}">
                  <a16:creationId xmlns:a16="http://schemas.microsoft.com/office/drawing/2014/main" id="{91BE8B74-05E3-AFA4-A764-B381EF0042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31" y="3612"/>
              <a:ext cx="624" cy="4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40" name="Line 37">
              <a:extLst>
                <a:ext uri="{FF2B5EF4-FFF2-40B4-BE49-F238E27FC236}">
                  <a16:creationId xmlns:a16="http://schemas.microsoft.com/office/drawing/2014/main" id="{A792037A-B771-D41C-A9AE-B049332FF8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1" y="3717"/>
              <a:ext cx="0" cy="9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41" name="Line 42">
              <a:extLst>
                <a:ext uri="{FF2B5EF4-FFF2-40B4-BE49-F238E27FC236}">
                  <a16:creationId xmlns:a16="http://schemas.microsoft.com/office/drawing/2014/main" id="{DC8BE5F5-4FC5-CC62-7F2C-5B5734485A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3" y="3621"/>
              <a:ext cx="9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42" name="Line 43">
              <a:extLst>
                <a:ext uri="{FF2B5EF4-FFF2-40B4-BE49-F238E27FC236}">
                  <a16:creationId xmlns:a16="http://schemas.microsoft.com/office/drawing/2014/main" id="{CAB90690-34EE-2157-C688-953CFB4B3B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61" y="3614"/>
              <a:ext cx="9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43" name="Line 51">
              <a:extLst>
                <a:ext uri="{FF2B5EF4-FFF2-40B4-BE49-F238E27FC236}">
                  <a16:creationId xmlns:a16="http://schemas.microsoft.com/office/drawing/2014/main" id="{7D72EBCD-FF18-6F36-2413-2804181337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5" y="3618"/>
              <a:ext cx="0" cy="4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44" name="Line 52">
              <a:extLst>
                <a:ext uri="{FF2B5EF4-FFF2-40B4-BE49-F238E27FC236}">
                  <a16:creationId xmlns:a16="http://schemas.microsoft.com/office/drawing/2014/main" id="{C8AA74F4-66C4-C440-535E-D9A00CCDB7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5" y="3770"/>
              <a:ext cx="0" cy="4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grpSp>
        <p:nvGrpSpPr>
          <p:cNvPr id="33806" name="Group 53">
            <a:extLst>
              <a:ext uri="{FF2B5EF4-FFF2-40B4-BE49-F238E27FC236}">
                <a16:creationId xmlns:a16="http://schemas.microsoft.com/office/drawing/2014/main" id="{EFF44E19-402E-F045-1E8D-68DEFBBC1594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3414713"/>
            <a:ext cx="381000" cy="914400"/>
            <a:chOff x="960" y="2736"/>
            <a:chExt cx="240" cy="576"/>
          </a:xfrm>
        </p:grpSpPr>
        <p:sp>
          <p:nvSpPr>
            <p:cNvPr id="33816" name="Line 54">
              <a:extLst>
                <a:ext uri="{FF2B5EF4-FFF2-40B4-BE49-F238E27FC236}">
                  <a16:creationId xmlns:a16="http://schemas.microsoft.com/office/drawing/2014/main" id="{F18BA616-0A41-4B36-8E60-392777C70B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784"/>
              <a:ext cx="0" cy="48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17" name="Line 55">
              <a:extLst>
                <a:ext uri="{FF2B5EF4-FFF2-40B4-BE49-F238E27FC236}">
                  <a16:creationId xmlns:a16="http://schemas.microsoft.com/office/drawing/2014/main" id="{AB21787F-40C1-E493-F1A7-61D7F65363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36"/>
              <a:ext cx="0" cy="432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18" name="Line 56">
              <a:extLst>
                <a:ext uri="{FF2B5EF4-FFF2-40B4-BE49-F238E27FC236}">
                  <a16:creationId xmlns:a16="http://schemas.microsoft.com/office/drawing/2014/main" id="{980E39F9-6C77-1FE3-ABF9-3210C4780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736"/>
              <a:ext cx="0" cy="432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19" name="Line 57">
              <a:extLst>
                <a:ext uri="{FF2B5EF4-FFF2-40B4-BE49-F238E27FC236}">
                  <a16:creationId xmlns:a16="http://schemas.microsoft.com/office/drawing/2014/main" id="{49BFD69C-6891-A753-51F3-D1FC0561B3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168"/>
              <a:ext cx="48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20" name="Line 58">
              <a:extLst>
                <a:ext uri="{FF2B5EF4-FFF2-40B4-BE49-F238E27FC236}">
                  <a16:creationId xmlns:a16="http://schemas.microsoft.com/office/drawing/2014/main" id="{B43A4E15-7CDE-48BE-834E-20148C1F7E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3168"/>
              <a:ext cx="48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21" name="Line 59">
              <a:extLst>
                <a:ext uri="{FF2B5EF4-FFF2-40B4-BE49-F238E27FC236}">
                  <a16:creationId xmlns:a16="http://schemas.microsoft.com/office/drawing/2014/main" id="{EDD9EC05-4A01-6899-6EE5-D9C2E42183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168"/>
              <a:ext cx="0" cy="144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22" name="Line 60">
              <a:extLst>
                <a:ext uri="{FF2B5EF4-FFF2-40B4-BE49-F238E27FC236}">
                  <a16:creationId xmlns:a16="http://schemas.microsoft.com/office/drawing/2014/main" id="{6DBA7D60-C414-76BE-4D4D-D9D2F48BC5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3168"/>
              <a:ext cx="0" cy="144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23" name="Line 61">
              <a:extLst>
                <a:ext uri="{FF2B5EF4-FFF2-40B4-BE49-F238E27FC236}">
                  <a16:creationId xmlns:a16="http://schemas.microsoft.com/office/drawing/2014/main" id="{511CF131-3D0C-AC83-DDD9-85340450F2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36"/>
              <a:ext cx="144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24" name="Line 62">
              <a:extLst>
                <a:ext uri="{FF2B5EF4-FFF2-40B4-BE49-F238E27FC236}">
                  <a16:creationId xmlns:a16="http://schemas.microsoft.com/office/drawing/2014/main" id="{26B6E7D4-B20B-ADA1-B463-116BFC9323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312"/>
              <a:ext cx="48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25" name="Line 63">
              <a:extLst>
                <a:ext uri="{FF2B5EF4-FFF2-40B4-BE49-F238E27FC236}">
                  <a16:creationId xmlns:a16="http://schemas.microsoft.com/office/drawing/2014/main" id="{637CCD5D-562D-668F-7F5A-F17986E853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4" y="3312"/>
              <a:ext cx="96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26" name="Line 64">
              <a:extLst>
                <a:ext uri="{FF2B5EF4-FFF2-40B4-BE49-F238E27FC236}">
                  <a16:creationId xmlns:a16="http://schemas.microsoft.com/office/drawing/2014/main" id="{36EC5595-F34F-7B8D-EF56-830DF1F475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312"/>
              <a:ext cx="48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27" name="Line 65">
              <a:extLst>
                <a:ext uri="{FF2B5EF4-FFF2-40B4-BE49-F238E27FC236}">
                  <a16:creationId xmlns:a16="http://schemas.microsoft.com/office/drawing/2014/main" id="{28370C95-5DF8-E889-3C39-C0668CAF40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264"/>
              <a:ext cx="0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28" name="Line 66">
              <a:extLst>
                <a:ext uri="{FF2B5EF4-FFF2-40B4-BE49-F238E27FC236}">
                  <a16:creationId xmlns:a16="http://schemas.microsoft.com/office/drawing/2014/main" id="{415757F1-8889-6A32-9CC8-2397072C17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264"/>
              <a:ext cx="0" cy="48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29" name="Line 67">
              <a:extLst>
                <a:ext uri="{FF2B5EF4-FFF2-40B4-BE49-F238E27FC236}">
                  <a16:creationId xmlns:a16="http://schemas.microsoft.com/office/drawing/2014/main" id="{9976927F-0E8A-5AB2-6B24-4B81E20029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264"/>
              <a:ext cx="48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30" name="Line 68">
              <a:extLst>
                <a:ext uri="{FF2B5EF4-FFF2-40B4-BE49-F238E27FC236}">
                  <a16:creationId xmlns:a16="http://schemas.microsoft.com/office/drawing/2014/main" id="{5118E7DD-FCDD-4D7B-3E44-71B2D168C5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3264"/>
              <a:ext cx="0" cy="48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31" name="Line 69">
              <a:extLst>
                <a:ext uri="{FF2B5EF4-FFF2-40B4-BE49-F238E27FC236}">
                  <a16:creationId xmlns:a16="http://schemas.microsoft.com/office/drawing/2014/main" id="{8F40672B-5071-53EB-1FCC-6F1EC19C71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928"/>
              <a:ext cx="144" cy="96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32" name="Line 70">
              <a:extLst>
                <a:ext uri="{FF2B5EF4-FFF2-40B4-BE49-F238E27FC236}">
                  <a16:creationId xmlns:a16="http://schemas.microsoft.com/office/drawing/2014/main" id="{DE1E523E-8A73-401F-8486-99DDA95559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3024"/>
              <a:ext cx="144" cy="96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33" name="Line 71">
              <a:extLst>
                <a:ext uri="{FF2B5EF4-FFF2-40B4-BE49-F238E27FC236}">
                  <a16:creationId xmlns:a16="http://schemas.microsoft.com/office/drawing/2014/main" id="{EA3DF9FF-49D0-3A1F-E1AD-1A6B65D8D9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832"/>
              <a:ext cx="144" cy="96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3834" name="Line 72">
              <a:extLst>
                <a:ext uri="{FF2B5EF4-FFF2-40B4-BE49-F238E27FC236}">
                  <a16:creationId xmlns:a16="http://schemas.microsoft.com/office/drawing/2014/main" id="{03CEE5B1-F8F7-A73E-8382-495C8D9616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736"/>
              <a:ext cx="144" cy="96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33807" name="Line 74">
            <a:extLst>
              <a:ext uri="{FF2B5EF4-FFF2-40B4-BE49-F238E27FC236}">
                <a16:creationId xmlns:a16="http://schemas.microsoft.com/office/drawing/2014/main" id="{256FE4A3-0514-318B-C2B5-BE018FF36E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29100" y="2576513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3808" name="Line 75">
            <a:extLst>
              <a:ext uri="{FF2B5EF4-FFF2-40B4-BE49-F238E27FC236}">
                <a16:creationId xmlns:a16="http://schemas.microsoft.com/office/drawing/2014/main" id="{9B8DAA95-340E-CA4C-B9D7-1DE54AB473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36864" y="2570164"/>
            <a:ext cx="10255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3809" name="Text Box 83">
            <a:extLst>
              <a:ext uri="{FF2B5EF4-FFF2-40B4-BE49-F238E27FC236}">
                <a16:creationId xmlns:a16="http://schemas.microsoft.com/office/drawing/2014/main" id="{CCB1414C-6D51-735E-42FC-EAF7E41F4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1" y="228600"/>
            <a:ext cx="7781925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Analogy with Transistor Cutoff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Fluid-jet operated Valve</a:t>
            </a:r>
            <a:endParaRPr kumimoji="0" lang="en-US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3810" name="Line 89">
            <a:extLst>
              <a:ext uri="{FF2B5EF4-FFF2-40B4-BE49-F238E27FC236}">
                <a16:creationId xmlns:a16="http://schemas.microsoft.com/office/drawing/2014/main" id="{B72673D2-440C-C237-CABD-FFA0BB912B7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4764" y="3733800"/>
            <a:ext cx="33607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3811" name="Line 90">
            <a:extLst>
              <a:ext uri="{FF2B5EF4-FFF2-40B4-BE49-F238E27FC236}">
                <a16:creationId xmlns:a16="http://schemas.microsoft.com/office/drawing/2014/main" id="{2A876992-A2DA-0136-431F-9CFF7EB0C5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862388" y="2576514"/>
            <a:ext cx="0" cy="77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3812" name="Line 91">
            <a:extLst>
              <a:ext uri="{FF2B5EF4-FFF2-40B4-BE49-F238E27FC236}">
                <a16:creationId xmlns:a16="http://schemas.microsoft.com/office/drawing/2014/main" id="{7770212A-66D6-96E3-9269-841F1ED482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9100" y="2576514"/>
            <a:ext cx="0" cy="777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3813" name="Line 92">
            <a:extLst>
              <a:ext uri="{FF2B5EF4-FFF2-40B4-BE49-F238E27FC236}">
                <a16:creationId xmlns:a16="http://schemas.microsoft.com/office/drawing/2014/main" id="{C0ADEA36-6D0F-0F47-452E-BC12CCCEA7F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10239" y="3567113"/>
            <a:ext cx="142875" cy="0"/>
          </a:xfrm>
          <a:prstGeom prst="line">
            <a:avLst/>
          </a:prstGeom>
          <a:noFill/>
          <a:ln w="38100">
            <a:solidFill>
              <a:srgbClr val="0066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3814" name="Line 93">
            <a:extLst>
              <a:ext uri="{FF2B5EF4-FFF2-40B4-BE49-F238E27FC236}">
                <a16:creationId xmlns:a16="http://schemas.microsoft.com/office/drawing/2014/main" id="{80E1FE44-8F26-40D5-5494-87B0307C56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34051" y="3648075"/>
            <a:ext cx="142875" cy="0"/>
          </a:xfrm>
          <a:prstGeom prst="line">
            <a:avLst/>
          </a:prstGeom>
          <a:noFill/>
          <a:ln w="38100">
            <a:solidFill>
              <a:srgbClr val="0066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8D13262-54D5-5327-3EF2-C5C13C37E632}"/>
              </a:ext>
            </a:extLst>
          </p:cNvPr>
          <p:cNvSpPr txBox="1"/>
          <p:nvPr/>
        </p:nvSpPr>
        <p:spPr>
          <a:xfrm>
            <a:off x="3749894" y="4525257"/>
            <a:ext cx="3349187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Emitter Base Junction – RB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Collector Base Junction – RB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6728F5-DC3A-A476-1BCE-CFEF12591F3E}"/>
              </a:ext>
            </a:extLst>
          </p:cNvPr>
          <p:cNvSpPr txBox="1"/>
          <p:nvPr/>
        </p:nvSpPr>
        <p:spPr>
          <a:xfrm>
            <a:off x="3187862" y="5448316"/>
            <a:ext cx="5663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2.9.  Analogy of fluid jet operation to saturation region of BJT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7870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Line 2">
            <a:extLst>
              <a:ext uri="{FF2B5EF4-FFF2-40B4-BE49-F238E27FC236}">
                <a16:creationId xmlns:a16="http://schemas.microsoft.com/office/drawing/2014/main" id="{DF95BBE5-3364-4081-19F3-05526D1821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805488" y="3914775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19" name="Line 3">
            <a:extLst>
              <a:ext uri="{FF2B5EF4-FFF2-40B4-BE49-F238E27FC236}">
                <a16:creationId xmlns:a16="http://schemas.microsoft.com/office/drawing/2014/main" id="{B4333137-45F8-C85D-2C94-25345ADFCC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1688" y="5057775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20" name="Line 4">
            <a:extLst>
              <a:ext uri="{FF2B5EF4-FFF2-40B4-BE49-F238E27FC236}">
                <a16:creationId xmlns:a16="http://schemas.microsoft.com/office/drawing/2014/main" id="{3ECC12F1-4EF9-864B-0555-4C15A934247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2288" y="5057775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21" name="Line 5">
            <a:extLst>
              <a:ext uri="{FF2B5EF4-FFF2-40B4-BE49-F238E27FC236}">
                <a16:creationId xmlns:a16="http://schemas.microsoft.com/office/drawing/2014/main" id="{428BBF8E-1A4A-375F-C563-76F0D219112F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2288" y="5819775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22" name="Line 6">
            <a:extLst>
              <a:ext uri="{FF2B5EF4-FFF2-40B4-BE49-F238E27FC236}">
                <a16:creationId xmlns:a16="http://schemas.microsoft.com/office/drawing/2014/main" id="{7C2D5B1E-4A80-0336-BED4-049BFFF3B315}"/>
              </a:ext>
            </a:extLst>
          </p:cNvPr>
          <p:cNvSpPr>
            <a:spLocks noChangeShapeType="1"/>
          </p:cNvSpPr>
          <p:nvPr/>
        </p:nvSpPr>
        <p:spPr bwMode="auto">
          <a:xfrm>
            <a:off x="8320088" y="5057775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23" name="Line 7">
            <a:extLst>
              <a:ext uri="{FF2B5EF4-FFF2-40B4-BE49-F238E27FC236}">
                <a16:creationId xmlns:a16="http://schemas.microsoft.com/office/drawing/2014/main" id="{82AE1202-FD98-5EB8-0F77-F06D1801275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20088" y="5057775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24" name="Line 11">
            <a:extLst>
              <a:ext uri="{FF2B5EF4-FFF2-40B4-BE49-F238E27FC236}">
                <a16:creationId xmlns:a16="http://schemas.microsoft.com/office/drawing/2014/main" id="{082556F5-BEF5-C7B1-015F-000B09FF9F93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2888" y="3914775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25" name="Line 12">
            <a:extLst>
              <a:ext uri="{FF2B5EF4-FFF2-40B4-BE49-F238E27FC236}">
                <a16:creationId xmlns:a16="http://schemas.microsoft.com/office/drawing/2014/main" id="{49196841-6A94-EE10-0494-CFFA622245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76888" y="4752975"/>
            <a:ext cx="1524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26" name="Line 13">
            <a:extLst>
              <a:ext uri="{FF2B5EF4-FFF2-40B4-BE49-F238E27FC236}">
                <a16:creationId xmlns:a16="http://schemas.microsoft.com/office/drawing/2014/main" id="{3781D7FD-B478-6EAB-2A19-04179A5307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1688" y="4752975"/>
            <a:ext cx="0" cy="76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27" name="Line 14">
            <a:extLst>
              <a:ext uri="{FF2B5EF4-FFF2-40B4-BE49-F238E27FC236}">
                <a16:creationId xmlns:a16="http://schemas.microsoft.com/office/drawing/2014/main" id="{092032F1-7288-3ACA-AF00-CC2FD0E0BA7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1689" y="4106863"/>
            <a:ext cx="1311275" cy="7223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pSp>
        <p:nvGrpSpPr>
          <p:cNvPr id="34828" name="Group 16">
            <a:extLst>
              <a:ext uri="{FF2B5EF4-FFF2-40B4-BE49-F238E27FC236}">
                <a16:creationId xmlns:a16="http://schemas.microsoft.com/office/drawing/2014/main" id="{278AF01B-B88F-C811-B44F-2E97FFEE850E}"/>
              </a:ext>
            </a:extLst>
          </p:cNvPr>
          <p:cNvGrpSpPr>
            <a:grpSpLocks/>
          </p:cNvGrpSpPr>
          <p:nvPr/>
        </p:nvGrpSpPr>
        <p:grpSpPr bwMode="auto">
          <a:xfrm>
            <a:off x="3309938" y="3282950"/>
            <a:ext cx="627062" cy="1676400"/>
            <a:chOff x="1305" y="997"/>
            <a:chExt cx="395" cy="1056"/>
          </a:xfrm>
        </p:grpSpPr>
        <p:sp>
          <p:nvSpPr>
            <p:cNvPr id="34881" name="Line 17">
              <a:extLst>
                <a:ext uri="{FF2B5EF4-FFF2-40B4-BE49-F238E27FC236}">
                  <a16:creationId xmlns:a16="http://schemas.microsoft.com/office/drawing/2014/main" id="{4BA62B93-B862-D93D-4F0E-303AF13F0CE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393" y="1877"/>
              <a:ext cx="0" cy="88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82" name="Line 18">
              <a:extLst>
                <a:ext uri="{FF2B5EF4-FFF2-40B4-BE49-F238E27FC236}">
                  <a16:creationId xmlns:a16="http://schemas.microsoft.com/office/drawing/2014/main" id="{0DF8923D-0195-78CC-6CBB-270D8BB8185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623" y="1261"/>
              <a:ext cx="0" cy="79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83" name="Line 19">
              <a:extLst>
                <a:ext uri="{FF2B5EF4-FFF2-40B4-BE49-F238E27FC236}">
                  <a16:creationId xmlns:a16="http://schemas.microsoft.com/office/drawing/2014/main" id="{AC927D2A-AC76-ABC1-B3D9-F07AF043C38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393" y="1261"/>
              <a:ext cx="0" cy="792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84" name="Line 20">
              <a:extLst>
                <a:ext uri="{FF2B5EF4-FFF2-40B4-BE49-F238E27FC236}">
                  <a16:creationId xmlns:a16="http://schemas.microsoft.com/office/drawing/2014/main" id="{5F1D206B-AB8A-201E-F5D2-D23BBABA978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622" y="1261"/>
              <a:ext cx="77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85" name="Line 21">
              <a:extLst>
                <a:ext uri="{FF2B5EF4-FFF2-40B4-BE49-F238E27FC236}">
                  <a16:creationId xmlns:a16="http://schemas.microsoft.com/office/drawing/2014/main" id="{D3CA6E5A-563D-CEAB-A684-42A71877ADF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315" y="1261"/>
              <a:ext cx="77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86" name="Line 22">
              <a:extLst>
                <a:ext uri="{FF2B5EF4-FFF2-40B4-BE49-F238E27FC236}">
                  <a16:creationId xmlns:a16="http://schemas.microsoft.com/office/drawing/2014/main" id="{8823ABDC-4DFF-58D6-219C-236292F0507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700" y="997"/>
              <a:ext cx="0" cy="264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87" name="Line 23">
              <a:extLst>
                <a:ext uri="{FF2B5EF4-FFF2-40B4-BE49-F238E27FC236}">
                  <a16:creationId xmlns:a16="http://schemas.microsoft.com/office/drawing/2014/main" id="{33D13AD5-631D-2751-B1F7-BA56D766605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305" y="997"/>
              <a:ext cx="0" cy="264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88" name="Line 24">
              <a:extLst>
                <a:ext uri="{FF2B5EF4-FFF2-40B4-BE49-F238E27FC236}">
                  <a16:creationId xmlns:a16="http://schemas.microsoft.com/office/drawing/2014/main" id="{4BDF2E44-9236-DC81-C6E4-084E62AD2A0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393" y="2053"/>
              <a:ext cx="23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89" name="Line 25">
              <a:extLst>
                <a:ext uri="{FF2B5EF4-FFF2-40B4-BE49-F238E27FC236}">
                  <a16:creationId xmlns:a16="http://schemas.microsoft.com/office/drawing/2014/main" id="{4955A255-686B-27FB-60BA-A9BC8702C12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622" y="997"/>
              <a:ext cx="77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90" name="Line 26">
              <a:extLst>
                <a:ext uri="{FF2B5EF4-FFF2-40B4-BE49-F238E27FC236}">
                  <a16:creationId xmlns:a16="http://schemas.microsoft.com/office/drawing/2014/main" id="{A2F941EC-1FB4-83C7-8F5A-AC6B0809270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305" y="997"/>
              <a:ext cx="165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91" name="Line 27">
              <a:extLst>
                <a:ext uri="{FF2B5EF4-FFF2-40B4-BE49-F238E27FC236}">
                  <a16:creationId xmlns:a16="http://schemas.microsoft.com/office/drawing/2014/main" id="{7134C1D0-AA9D-970C-7253-B1AA679488F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545" y="997"/>
              <a:ext cx="77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92" name="Line 28">
              <a:extLst>
                <a:ext uri="{FF2B5EF4-FFF2-40B4-BE49-F238E27FC236}">
                  <a16:creationId xmlns:a16="http://schemas.microsoft.com/office/drawing/2014/main" id="{1ADF3964-4770-7143-33C4-4A52F9929CD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546" y="1085"/>
              <a:ext cx="0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93" name="Line 29">
              <a:extLst>
                <a:ext uri="{FF2B5EF4-FFF2-40B4-BE49-F238E27FC236}">
                  <a16:creationId xmlns:a16="http://schemas.microsoft.com/office/drawing/2014/main" id="{CC5433B9-81B2-A50D-29B8-828084623BFA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546" y="997"/>
              <a:ext cx="0" cy="88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94" name="Line 30">
              <a:extLst>
                <a:ext uri="{FF2B5EF4-FFF2-40B4-BE49-F238E27FC236}">
                  <a16:creationId xmlns:a16="http://schemas.microsoft.com/office/drawing/2014/main" id="{EF6B91CC-4FD6-19DA-F1A5-DCAB1CBBE5E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470" y="1085"/>
              <a:ext cx="7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95" name="Line 31">
              <a:extLst>
                <a:ext uri="{FF2B5EF4-FFF2-40B4-BE49-F238E27FC236}">
                  <a16:creationId xmlns:a16="http://schemas.microsoft.com/office/drawing/2014/main" id="{534AD31C-3EFD-03D3-57C2-3604BCBBACC3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1470" y="997"/>
              <a:ext cx="0" cy="88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96" name="Line 32">
              <a:extLst>
                <a:ext uri="{FF2B5EF4-FFF2-40B4-BE49-F238E27FC236}">
                  <a16:creationId xmlns:a16="http://schemas.microsoft.com/office/drawing/2014/main" id="{9941B621-9F72-27AA-4C15-5DBA4FAC98B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393" y="1525"/>
              <a:ext cx="230" cy="176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97" name="Line 33">
              <a:extLst>
                <a:ext uri="{FF2B5EF4-FFF2-40B4-BE49-F238E27FC236}">
                  <a16:creationId xmlns:a16="http://schemas.microsoft.com/office/drawing/2014/main" id="{1A3C4A1A-A7AF-D645-2C44-5C312E804AB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393" y="1349"/>
              <a:ext cx="230" cy="176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98" name="Line 34">
              <a:extLst>
                <a:ext uri="{FF2B5EF4-FFF2-40B4-BE49-F238E27FC236}">
                  <a16:creationId xmlns:a16="http://schemas.microsoft.com/office/drawing/2014/main" id="{1C552F16-329F-5A77-E3E9-530A9AFAF53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393" y="1701"/>
              <a:ext cx="230" cy="176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99" name="Line 35">
              <a:extLst>
                <a:ext uri="{FF2B5EF4-FFF2-40B4-BE49-F238E27FC236}">
                  <a16:creationId xmlns:a16="http://schemas.microsoft.com/office/drawing/2014/main" id="{E3212783-3AFE-A229-21C7-579E5F03FC5D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H="1">
              <a:off x="1393" y="1877"/>
              <a:ext cx="230" cy="176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34829" name="Line 36">
            <a:extLst>
              <a:ext uri="{FF2B5EF4-FFF2-40B4-BE49-F238E27FC236}">
                <a16:creationId xmlns:a16="http://schemas.microsoft.com/office/drawing/2014/main" id="{ECC2962B-206D-3CCA-6EB1-C328B2E242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4488" y="4905375"/>
            <a:ext cx="0" cy="152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30" name="Line 37">
            <a:extLst>
              <a:ext uri="{FF2B5EF4-FFF2-40B4-BE49-F238E27FC236}">
                <a16:creationId xmlns:a16="http://schemas.microsoft.com/office/drawing/2014/main" id="{C7604434-1028-327D-FF14-3243E3E82A2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4488" y="4752975"/>
            <a:ext cx="0" cy="76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31" name="Line 38">
            <a:extLst>
              <a:ext uri="{FF2B5EF4-FFF2-40B4-BE49-F238E27FC236}">
                <a16:creationId xmlns:a16="http://schemas.microsoft.com/office/drawing/2014/main" id="{CEF2A1FD-7608-9142-E216-73F14B49151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5975" y="4064000"/>
            <a:ext cx="228600" cy="76200"/>
          </a:xfrm>
          <a:prstGeom prst="line">
            <a:avLst/>
          </a:prstGeom>
          <a:noFill/>
          <a:ln w="57150" cap="rnd">
            <a:solidFill>
              <a:srgbClr val="0066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32" name="Line 39">
            <a:extLst>
              <a:ext uri="{FF2B5EF4-FFF2-40B4-BE49-F238E27FC236}">
                <a16:creationId xmlns:a16="http://schemas.microsoft.com/office/drawing/2014/main" id="{035B2591-6F64-22E7-86E1-9526520C00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2801" y="4013200"/>
            <a:ext cx="371475" cy="147638"/>
          </a:xfrm>
          <a:prstGeom prst="line">
            <a:avLst/>
          </a:prstGeom>
          <a:noFill/>
          <a:ln w="57150">
            <a:solidFill>
              <a:srgbClr val="0066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pSp>
        <p:nvGrpSpPr>
          <p:cNvPr id="34833" name="Group 40">
            <a:extLst>
              <a:ext uri="{FF2B5EF4-FFF2-40B4-BE49-F238E27FC236}">
                <a16:creationId xmlns:a16="http://schemas.microsoft.com/office/drawing/2014/main" id="{2B011C58-719A-C027-381E-6C652A070BCD}"/>
              </a:ext>
            </a:extLst>
          </p:cNvPr>
          <p:cNvGrpSpPr>
            <a:grpSpLocks/>
          </p:cNvGrpSpPr>
          <p:nvPr/>
        </p:nvGrpSpPr>
        <p:grpSpPr bwMode="auto">
          <a:xfrm>
            <a:off x="5424488" y="4752975"/>
            <a:ext cx="457200" cy="76200"/>
            <a:chOff x="1440" y="1968"/>
            <a:chExt cx="288" cy="48"/>
          </a:xfrm>
        </p:grpSpPr>
        <p:sp>
          <p:nvSpPr>
            <p:cNvPr id="34878" name="Line 41">
              <a:extLst>
                <a:ext uri="{FF2B5EF4-FFF2-40B4-BE49-F238E27FC236}">
                  <a16:creationId xmlns:a16="http://schemas.microsoft.com/office/drawing/2014/main" id="{8042901C-3CD7-1189-4635-8084A29E31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968"/>
              <a:ext cx="9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79" name="Line 42">
              <a:extLst>
                <a:ext uri="{FF2B5EF4-FFF2-40B4-BE49-F238E27FC236}">
                  <a16:creationId xmlns:a16="http://schemas.microsoft.com/office/drawing/2014/main" id="{FF9A0519-2EA7-01EC-85B0-85696C1B06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0" y="1968"/>
              <a:ext cx="9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80" name="Line 43">
              <a:extLst>
                <a:ext uri="{FF2B5EF4-FFF2-40B4-BE49-F238E27FC236}">
                  <a16:creationId xmlns:a16="http://schemas.microsoft.com/office/drawing/2014/main" id="{F3F0F140-8C5D-5144-5AB2-0FF2A70D6D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2016"/>
              <a:ext cx="288" cy="0"/>
            </a:xfrm>
            <a:prstGeom prst="line">
              <a:avLst/>
            </a:prstGeom>
            <a:noFill/>
            <a:ln w="38100">
              <a:solidFill>
                <a:srgbClr val="0066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34834" name="Line 44">
            <a:extLst>
              <a:ext uri="{FF2B5EF4-FFF2-40B4-BE49-F238E27FC236}">
                <a16:creationId xmlns:a16="http://schemas.microsoft.com/office/drawing/2014/main" id="{19C171B6-C12D-D8DF-06B6-69AD14C1F5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11850" y="4186239"/>
            <a:ext cx="1250950" cy="720725"/>
          </a:xfrm>
          <a:prstGeom prst="line">
            <a:avLst/>
          </a:prstGeom>
          <a:noFill/>
          <a:ln w="38100">
            <a:solidFill>
              <a:srgbClr val="0066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35" name="Line 46">
            <a:extLst>
              <a:ext uri="{FF2B5EF4-FFF2-40B4-BE49-F238E27FC236}">
                <a16:creationId xmlns:a16="http://schemas.microsoft.com/office/drawing/2014/main" id="{50F821D4-7928-8B2C-1E1F-A7279719030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4488" y="4905375"/>
            <a:ext cx="450850" cy="1588"/>
          </a:xfrm>
          <a:prstGeom prst="line">
            <a:avLst/>
          </a:prstGeom>
          <a:noFill/>
          <a:ln w="38100">
            <a:solidFill>
              <a:srgbClr val="0066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36" name="Line 47">
            <a:extLst>
              <a:ext uri="{FF2B5EF4-FFF2-40B4-BE49-F238E27FC236}">
                <a16:creationId xmlns:a16="http://schemas.microsoft.com/office/drawing/2014/main" id="{15BF1C9D-76DD-562C-ACD1-8175B65CEC6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4488" y="4981575"/>
            <a:ext cx="450850" cy="0"/>
          </a:xfrm>
          <a:prstGeom prst="line">
            <a:avLst/>
          </a:prstGeom>
          <a:noFill/>
          <a:ln w="38100">
            <a:solidFill>
              <a:srgbClr val="0066FF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37" name="Line 50">
            <a:extLst>
              <a:ext uri="{FF2B5EF4-FFF2-40B4-BE49-F238E27FC236}">
                <a16:creationId xmlns:a16="http://schemas.microsoft.com/office/drawing/2014/main" id="{259ABAA8-F3C7-9D7F-AD5C-D04425851DEB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7563" y="4114800"/>
            <a:ext cx="0" cy="1333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38" name="Line 51">
            <a:extLst>
              <a:ext uri="{FF2B5EF4-FFF2-40B4-BE49-F238E27FC236}">
                <a16:creationId xmlns:a16="http://schemas.microsoft.com/office/drawing/2014/main" id="{6903026F-D5BF-A16E-CB43-781B80F83F9B}"/>
              </a:ext>
            </a:extLst>
          </p:cNvPr>
          <p:cNvSpPr>
            <a:spLocks noChangeShapeType="1"/>
          </p:cNvSpPr>
          <p:nvPr/>
        </p:nvSpPr>
        <p:spPr bwMode="auto">
          <a:xfrm>
            <a:off x="5881688" y="4981575"/>
            <a:ext cx="0" cy="76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grpSp>
        <p:nvGrpSpPr>
          <p:cNvPr id="34839" name="Group 52">
            <a:extLst>
              <a:ext uri="{FF2B5EF4-FFF2-40B4-BE49-F238E27FC236}">
                <a16:creationId xmlns:a16="http://schemas.microsoft.com/office/drawing/2014/main" id="{F6C8AD51-A70E-CD04-8F0B-4EC7D8F826A6}"/>
              </a:ext>
            </a:extLst>
          </p:cNvPr>
          <p:cNvGrpSpPr>
            <a:grpSpLocks/>
          </p:cNvGrpSpPr>
          <p:nvPr/>
        </p:nvGrpSpPr>
        <p:grpSpPr bwMode="auto">
          <a:xfrm>
            <a:off x="5573713" y="5003800"/>
            <a:ext cx="381000" cy="914400"/>
            <a:chOff x="960" y="2736"/>
            <a:chExt cx="240" cy="576"/>
          </a:xfrm>
        </p:grpSpPr>
        <p:sp>
          <p:nvSpPr>
            <p:cNvPr id="34859" name="Line 53">
              <a:extLst>
                <a:ext uri="{FF2B5EF4-FFF2-40B4-BE49-F238E27FC236}">
                  <a16:creationId xmlns:a16="http://schemas.microsoft.com/office/drawing/2014/main" id="{13850E19-122A-FCFF-4FBF-9DCF51A03D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784"/>
              <a:ext cx="0" cy="48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60" name="Line 54">
              <a:extLst>
                <a:ext uri="{FF2B5EF4-FFF2-40B4-BE49-F238E27FC236}">
                  <a16:creationId xmlns:a16="http://schemas.microsoft.com/office/drawing/2014/main" id="{929A286E-8B1F-1C56-8624-E86637395C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36"/>
              <a:ext cx="0" cy="432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61" name="Line 55">
              <a:extLst>
                <a:ext uri="{FF2B5EF4-FFF2-40B4-BE49-F238E27FC236}">
                  <a16:creationId xmlns:a16="http://schemas.microsoft.com/office/drawing/2014/main" id="{27FDB9F5-BC4B-8043-92D3-7EDD439EE6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736"/>
              <a:ext cx="0" cy="432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62" name="Line 56">
              <a:extLst>
                <a:ext uri="{FF2B5EF4-FFF2-40B4-BE49-F238E27FC236}">
                  <a16:creationId xmlns:a16="http://schemas.microsoft.com/office/drawing/2014/main" id="{EC448AB4-CAF2-9BAD-D842-3235AB103B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168"/>
              <a:ext cx="48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63" name="Line 57">
              <a:extLst>
                <a:ext uri="{FF2B5EF4-FFF2-40B4-BE49-F238E27FC236}">
                  <a16:creationId xmlns:a16="http://schemas.microsoft.com/office/drawing/2014/main" id="{FD747B15-AF95-1FA8-3A0E-71E7365862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3168"/>
              <a:ext cx="48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64" name="Line 58">
              <a:extLst>
                <a:ext uri="{FF2B5EF4-FFF2-40B4-BE49-F238E27FC236}">
                  <a16:creationId xmlns:a16="http://schemas.microsoft.com/office/drawing/2014/main" id="{54338220-C697-E42A-A4BE-092CFD2437A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168"/>
              <a:ext cx="0" cy="144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65" name="Line 59">
              <a:extLst>
                <a:ext uri="{FF2B5EF4-FFF2-40B4-BE49-F238E27FC236}">
                  <a16:creationId xmlns:a16="http://schemas.microsoft.com/office/drawing/2014/main" id="{F4786A14-0F83-8533-AA0A-BA7045E746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3168"/>
              <a:ext cx="0" cy="144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66" name="Line 60">
              <a:extLst>
                <a:ext uri="{FF2B5EF4-FFF2-40B4-BE49-F238E27FC236}">
                  <a16:creationId xmlns:a16="http://schemas.microsoft.com/office/drawing/2014/main" id="{2B343985-9F9B-3A75-EE25-FEB30546A8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736"/>
              <a:ext cx="144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67" name="Line 61">
              <a:extLst>
                <a:ext uri="{FF2B5EF4-FFF2-40B4-BE49-F238E27FC236}">
                  <a16:creationId xmlns:a16="http://schemas.microsoft.com/office/drawing/2014/main" id="{F1460431-6293-E984-224F-0C740875B6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312"/>
              <a:ext cx="48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68" name="Line 62">
              <a:extLst>
                <a:ext uri="{FF2B5EF4-FFF2-40B4-BE49-F238E27FC236}">
                  <a16:creationId xmlns:a16="http://schemas.microsoft.com/office/drawing/2014/main" id="{36DD6562-F18D-2AAA-C22B-50501474FA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4" y="3312"/>
              <a:ext cx="96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69" name="Line 63">
              <a:extLst>
                <a:ext uri="{FF2B5EF4-FFF2-40B4-BE49-F238E27FC236}">
                  <a16:creationId xmlns:a16="http://schemas.microsoft.com/office/drawing/2014/main" id="{7BEB81CA-C30F-C5D3-491A-F535C68E9B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3312"/>
              <a:ext cx="48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70" name="Line 64">
              <a:extLst>
                <a:ext uri="{FF2B5EF4-FFF2-40B4-BE49-F238E27FC236}">
                  <a16:creationId xmlns:a16="http://schemas.microsoft.com/office/drawing/2014/main" id="{EBD87318-798E-D881-83B1-2C9F81BE2C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264"/>
              <a:ext cx="0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71" name="Line 65">
              <a:extLst>
                <a:ext uri="{FF2B5EF4-FFF2-40B4-BE49-F238E27FC236}">
                  <a16:creationId xmlns:a16="http://schemas.microsoft.com/office/drawing/2014/main" id="{2A8B28D8-FC3A-D4AE-0D5D-E971CC0CEB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264"/>
              <a:ext cx="0" cy="48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72" name="Line 66">
              <a:extLst>
                <a:ext uri="{FF2B5EF4-FFF2-40B4-BE49-F238E27FC236}">
                  <a16:creationId xmlns:a16="http://schemas.microsoft.com/office/drawing/2014/main" id="{03D12825-FE9D-2CBF-48C8-8945F7325C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3264"/>
              <a:ext cx="48" cy="0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73" name="Line 67">
              <a:extLst>
                <a:ext uri="{FF2B5EF4-FFF2-40B4-BE49-F238E27FC236}">
                  <a16:creationId xmlns:a16="http://schemas.microsoft.com/office/drawing/2014/main" id="{93801032-D15D-38A0-77F8-CBF7077EA8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3264"/>
              <a:ext cx="0" cy="48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74" name="Line 68">
              <a:extLst>
                <a:ext uri="{FF2B5EF4-FFF2-40B4-BE49-F238E27FC236}">
                  <a16:creationId xmlns:a16="http://schemas.microsoft.com/office/drawing/2014/main" id="{170964EB-E261-473A-5F19-B440996327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928"/>
              <a:ext cx="144" cy="96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75" name="Line 69">
              <a:extLst>
                <a:ext uri="{FF2B5EF4-FFF2-40B4-BE49-F238E27FC236}">
                  <a16:creationId xmlns:a16="http://schemas.microsoft.com/office/drawing/2014/main" id="{BE4CD892-631A-6874-AF05-106FDD3882F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3024"/>
              <a:ext cx="144" cy="96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76" name="Line 70">
              <a:extLst>
                <a:ext uri="{FF2B5EF4-FFF2-40B4-BE49-F238E27FC236}">
                  <a16:creationId xmlns:a16="http://schemas.microsoft.com/office/drawing/2014/main" id="{BCFAAF28-AC41-48AF-930D-8194D08408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832"/>
              <a:ext cx="144" cy="96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  <p:sp>
          <p:nvSpPr>
            <p:cNvPr id="34877" name="Line 71">
              <a:extLst>
                <a:ext uri="{FF2B5EF4-FFF2-40B4-BE49-F238E27FC236}">
                  <a16:creationId xmlns:a16="http://schemas.microsoft.com/office/drawing/2014/main" id="{234EDF5E-FF09-DE7A-1DEC-17487A980B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736"/>
              <a:ext cx="144" cy="96"/>
            </a:xfrm>
            <a:prstGeom prst="line">
              <a:avLst/>
            </a:prstGeom>
            <a:noFill/>
            <a:ln w="952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endParaRPr>
            </a:p>
          </p:txBody>
        </p:sp>
      </p:grpSp>
      <p:sp>
        <p:nvSpPr>
          <p:cNvPr id="34840" name="Line 72">
            <a:extLst>
              <a:ext uri="{FF2B5EF4-FFF2-40B4-BE49-F238E27FC236}">
                <a16:creationId xmlns:a16="http://schemas.microsoft.com/office/drawing/2014/main" id="{2DF77014-EBF0-02CE-E431-80C4D6BD0B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52688" y="5057775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41" name="Line 73">
            <a:extLst>
              <a:ext uri="{FF2B5EF4-FFF2-40B4-BE49-F238E27FC236}">
                <a16:creationId xmlns:a16="http://schemas.microsoft.com/office/drawing/2014/main" id="{6E602FFB-92B2-9D45-91EC-882AB4395D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10000" y="3914775"/>
            <a:ext cx="22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42" name="Line 74">
            <a:extLst>
              <a:ext uri="{FF2B5EF4-FFF2-40B4-BE49-F238E27FC236}">
                <a16:creationId xmlns:a16="http://schemas.microsoft.com/office/drawing/2014/main" id="{906A6FD8-A1BF-780E-B4CD-3A296A41347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17764" y="3908425"/>
            <a:ext cx="1025525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43" name="Line 75">
            <a:extLst>
              <a:ext uri="{FF2B5EF4-FFF2-40B4-BE49-F238E27FC236}">
                <a16:creationId xmlns:a16="http://schemas.microsoft.com/office/drawing/2014/main" id="{FB93C7E0-8A48-4E1E-E7C4-4DD32F60A35F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3850" y="5060950"/>
            <a:ext cx="15192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44" name="Line 76">
            <a:extLst>
              <a:ext uri="{FF2B5EF4-FFF2-40B4-BE49-F238E27FC236}">
                <a16:creationId xmlns:a16="http://schemas.microsoft.com/office/drawing/2014/main" id="{4FCC8646-12DB-DCF3-AE26-9157AECD83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29089" y="4181475"/>
            <a:ext cx="1444625" cy="0"/>
          </a:xfrm>
          <a:prstGeom prst="line">
            <a:avLst/>
          </a:prstGeom>
          <a:noFill/>
          <a:ln w="38100">
            <a:solidFill>
              <a:srgbClr val="993300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45" name="Line 77">
            <a:extLst>
              <a:ext uri="{FF2B5EF4-FFF2-40B4-BE49-F238E27FC236}">
                <a16:creationId xmlns:a16="http://schemas.microsoft.com/office/drawing/2014/main" id="{6BD80FE3-84B6-7BBB-53A6-ECCC844FBBC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8614" y="4524375"/>
            <a:ext cx="1444625" cy="0"/>
          </a:xfrm>
          <a:prstGeom prst="line">
            <a:avLst/>
          </a:prstGeom>
          <a:noFill/>
          <a:ln w="38100">
            <a:solidFill>
              <a:srgbClr val="993300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46" name="Line 78">
            <a:extLst>
              <a:ext uri="{FF2B5EF4-FFF2-40B4-BE49-F238E27FC236}">
                <a16:creationId xmlns:a16="http://schemas.microsoft.com/office/drawing/2014/main" id="{A5C3A86D-3E68-A741-B048-404C14EC9B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17726" y="4181475"/>
            <a:ext cx="1198563" cy="0"/>
          </a:xfrm>
          <a:prstGeom prst="line">
            <a:avLst/>
          </a:prstGeom>
          <a:noFill/>
          <a:ln w="38100">
            <a:solidFill>
              <a:srgbClr val="800080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47" name="Line 79">
            <a:extLst>
              <a:ext uri="{FF2B5EF4-FFF2-40B4-BE49-F238E27FC236}">
                <a16:creationId xmlns:a16="http://schemas.microsoft.com/office/drawing/2014/main" id="{9A234C0C-8E11-7629-8DFE-FDFDC46FBD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25663" y="4524375"/>
            <a:ext cx="1198562" cy="0"/>
          </a:xfrm>
          <a:prstGeom prst="line">
            <a:avLst/>
          </a:prstGeom>
          <a:noFill/>
          <a:ln w="38100">
            <a:solidFill>
              <a:srgbClr val="800080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48" name="Line 80">
            <a:extLst>
              <a:ext uri="{FF2B5EF4-FFF2-40B4-BE49-F238E27FC236}">
                <a16:creationId xmlns:a16="http://schemas.microsoft.com/office/drawing/2014/main" id="{9D1140C4-AAD7-3463-F3D1-D82881D14A1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23188" y="4186238"/>
            <a:ext cx="1198562" cy="0"/>
          </a:xfrm>
          <a:prstGeom prst="line">
            <a:avLst/>
          </a:prstGeom>
          <a:noFill/>
          <a:ln w="38100">
            <a:solidFill>
              <a:srgbClr val="99CC00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49" name="Line 81">
            <a:extLst>
              <a:ext uri="{FF2B5EF4-FFF2-40B4-BE49-F238E27FC236}">
                <a16:creationId xmlns:a16="http://schemas.microsoft.com/office/drawing/2014/main" id="{981E1588-DC49-C756-865C-E92FDF27FBB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23188" y="4524375"/>
            <a:ext cx="1198562" cy="0"/>
          </a:xfrm>
          <a:prstGeom prst="line">
            <a:avLst/>
          </a:prstGeom>
          <a:noFill/>
          <a:ln w="38100">
            <a:solidFill>
              <a:srgbClr val="99CC00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50" name="Oval 83">
            <a:extLst>
              <a:ext uri="{FF2B5EF4-FFF2-40B4-BE49-F238E27FC236}">
                <a16:creationId xmlns:a16="http://schemas.microsoft.com/office/drawing/2014/main" id="{E5F88F0C-5BBB-FE37-E4C1-56D9AD105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9889" y="3776664"/>
            <a:ext cx="250825" cy="263525"/>
          </a:xfrm>
          <a:prstGeom prst="ellipse">
            <a:avLst/>
          </a:prstGeom>
          <a:solidFill>
            <a:srgbClr val="800080"/>
          </a:solidFill>
          <a:ln w="9525">
            <a:solidFill>
              <a:srgbClr val="800080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" panose="02020603050405020304" pitchFamily="18" charset="0"/>
              <a:ea typeface="+mn-ea"/>
              <a:cs typeface="+mn-cs"/>
            </a:endParaRPr>
          </a:p>
        </p:txBody>
      </p:sp>
      <p:sp>
        <p:nvSpPr>
          <p:cNvPr id="34851" name="Line 84">
            <a:extLst>
              <a:ext uri="{FF2B5EF4-FFF2-40B4-BE49-F238E27FC236}">
                <a16:creationId xmlns:a16="http://schemas.microsoft.com/office/drawing/2014/main" id="{E12E35FE-8DBC-1359-3455-FB337020ED1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2288" y="3900488"/>
            <a:ext cx="1281112" cy="0"/>
          </a:xfrm>
          <a:prstGeom prst="line">
            <a:avLst/>
          </a:prstGeom>
          <a:noFill/>
          <a:ln w="158750">
            <a:solidFill>
              <a:srgbClr val="800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52" name="Line 85">
            <a:extLst>
              <a:ext uri="{FF2B5EF4-FFF2-40B4-BE49-F238E27FC236}">
                <a16:creationId xmlns:a16="http://schemas.microsoft.com/office/drawing/2014/main" id="{568A1D16-035D-283B-6072-641A17D245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75339" y="4181475"/>
            <a:ext cx="1303337" cy="8001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53" name="Text Box 86">
            <a:extLst>
              <a:ext uri="{FF2B5EF4-FFF2-40B4-BE49-F238E27FC236}">
                <a16:creationId xmlns:a16="http://schemas.microsoft.com/office/drawing/2014/main" id="{1E6EFFB7-5B46-3130-9EFC-9DF76029B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400" y="185738"/>
            <a:ext cx="78486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Analogy with Transistor Saturation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Fluid-jet operated Valve</a:t>
            </a:r>
            <a:endParaRPr kumimoji="0" lang="en-US" altLang="en-US" sz="3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4854" name="Line 87">
            <a:extLst>
              <a:ext uri="{FF2B5EF4-FFF2-40B4-BE49-F238E27FC236}">
                <a16:creationId xmlns:a16="http://schemas.microsoft.com/office/drawing/2014/main" id="{47C8D678-4C52-5C46-113B-ACE3B768997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54714" y="4248150"/>
            <a:ext cx="1444625" cy="0"/>
          </a:xfrm>
          <a:prstGeom prst="line">
            <a:avLst/>
          </a:prstGeom>
          <a:noFill/>
          <a:ln w="38100">
            <a:solidFill>
              <a:srgbClr val="00FF00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55" name="Line 88">
            <a:extLst>
              <a:ext uri="{FF2B5EF4-FFF2-40B4-BE49-F238E27FC236}">
                <a16:creationId xmlns:a16="http://schemas.microsoft.com/office/drawing/2014/main" id="{D1AD7ED0-BA06-5873-F304-61AA00B8C2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49951" y="4495800"/>
            <a:ext cx="1444625" cy="0"/>
          </a:xfrm>
          <a:prstGeom prst="line">
            <a:avLst/>
          </a:prstGeom>
          <a:noFill/>
          <a:ln w="38100">
            <a:solidFill>
              <a:srgbClr val="00FF00"/>
            </a:solidFill>
            <a:prstDash val="sysDot"/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4856" name="Text Box 89">
            <a:extLst>
              <a:ext uri="{FF2B5EF4-FFF2-40B4-BE49-F238E27FC236}">
                <a16:creationId xmlns:a16="http://schemas.microsoft.com/office/drawing/2014/main" id="{050A4EB9-11CC-4E69-68B7-755D1B688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4914" y="1674814"/>
            <a:ext cx="7869237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DE478E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 </a:t>
            </a: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DE478E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The valve is wide open; changing valve position a little bit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DE478E"/>
                </a:solidFill>
                <a:effectLst/>
                <a:uLnTx/>
                <a:uFillTx/>
                <a:latin typeface="Times" panose="02020603050405020304" pitchFamily="18" charset="0"/>
                <a:ea typeface="+mn-ea"/>
                <a:cs typeface="+mn-cs"/>
              </a:rPr>
              <a:t> does not have much influence on the flow rate.</a:t>
            </a:r>
          </a:p>
        </p:txBody>
      </p:sp>
      <p:sp>
        <p:nvSpPr>
          <p:cNvPr id="34857" name="Line 90">
            <a:extLst>
              <a:ext uri="{FF2B5EF4-FFF2-40B4-BE49-F238E27FC236}">
                <a16:creationId xmlns:a16="http://schemas.microsoft.com/office/drawing/2014/main" id="{95A90894-19A4-9FFC-7EE4-233516BB35E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53288" y="2557463"/>
            <a:ext cx="0" cy="1200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28C53DE-E8CB-D8F2-3636-1F2941FB0D66}"/>
              </a:ext>
            </a:extLst>
          </p:cNvPr>
          <p:cNvSpPr txBox="1"/>
          <p:nvPr/>
        </p:nvSpPr>
        <p:spPr>
          <a:xfrm>
            <a:off x="9579429" y="4040189"/>
            <a:ext cx="215975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E-B Junction – FB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C-B Junction – FB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E29D58-98AF-0F37-DE5F-868000D0F047}"/>
              </a:ext>
            </a:extLst>
          </p:cNvPr>
          <p:cNvSpPr txBox="1"/>
          <p:nvPr/>
        </p:nvSpPr>
        <p:spPr>
          <a:xfrm>
            <a:off x="920118" y="5681760"/>
            <a:ext cx="5663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2.10.  Analogy of fluid jet operation to cut-off region of BJT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189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07507" y="118999"/>
            <a:ext cx="778510" cy="6953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400" spc="-25" dirty="0">
                <a:latin typeface="Calibri"/>
                <a:cs typeface="Calibri"/>
              </a:rPr>
              <a:t>BJT</a:t>
            </a:r>
            <a:endParaRPr sz="44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9556" y="929640"/>
            <a:ext cx="10906600" cy="43772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0"/>
              </a:spcBef>
            </a:pPr>
            <a:r>
              <a:rPr spc="-25" dirty="0"/>
              <a:t>BJT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7502" y="947165"/>
            <a:ext cx="28130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Common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Base</a:t>
            </a:r>
            <a:r>
              <a:rPr sz="1800" b="1" spc="-1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Characteristics </a:t>
            </a:r>
            <a:r>
              <a:rPr sz="1800" b="1" dirty="0">
                <a:latin typeface="Calibri"/>
                <a:cs typeface="Calibri"/>
              </a:rPr>
              <a:t>Input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Characteristics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542" y="2067429"/>
            <a:ext cx="5133950" cy="349880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747129" y="1018413"/>
            <a:ext cx="2133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Output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Characteristics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5290" y="1924265"/>
            <a:ext cx="5038289" cy="340944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06950" y="283609"/>
            <a:ext cx="3052406" cy="15249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0"/>
              </a:spcBef>
            </a:pPr>
            <a:r>
              <a:rPr spc="-25" dirty="0"/>
              <a:t>BJT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7502" y="947165"/>
            <a:ext cx="3065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Common</a:t>
            </a:r>
            <a:r>
              <a:rPr sz="1800" b="1" spc="-55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Emitter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Characteristics </a:t>
            </a:r>
            <a:r>
              <a:rPr sz="1800" b="1" dirty="0">
                <a:latin typeface="Calibri"/>
                <a:cs typeface="Calibri"/>
              </a:rPr>
              <a:t>Input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Characteristics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47129" y="1018413"/>
            <a:ext cx="2133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Output</a:t>
            </a:r>
            <a:r>
              <a:rPr sz="1800" b="1" spc="-40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Characteristics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694" y="2115248"/>
            <a:ext cx="5428343" cy="330148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68092" y="1865407"/>
            <a:ext cx="5225856" cy="34189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1870" y="399629"/>
            <a:ext cx="6459220" cy="106172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575310">
              <a:lnSpc>
                <a:spcPct val="100000"/>
              </a:lnSpc>
              <a:spcBef>
                <a:spcPts val="605"/>
              </a:spcBef>
            </a:pPr>
            <a:r>
              <a:rPr b="1" dirty="0">
                <a:latin typeface="Calibri"/>
                <a:cs typeface="Calibri"/>
              </a:rPr>
              <a:t>BJT</a:t>
            </a:r>
            <a:r>
              <a:rPr b="1" spc="-1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Circuits</a:t>
            </a:r>
            <a:r>
              <a:rPr b="1" spc="-10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at</a:t>
            </a:r>
            <a:r>
              <a:rPr b="1" spc="-85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DC</a:t>
            </a: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800" dirty="0"/>
              <a:t>Conditions</a:t>
            </a:r>
            <a:r>
              <a:rPr sz="1800" spc="-10" dirty="0"/>
              <a:t> </a:t>
            </a:r>
            <a:r>
              <a:rPr sz="1800" dirty="0"/>
              <a:t>and</a:t>
            </a:r>
            <a:r>
              <a:rPr sz="1800" spc="-35" dirty="0"/>
              <a:t> </a:t>
            </a:r>
            <a:r>
              <a:rPr sz="1800" dirty="0"/>
              <a:t>Models</a:t>
            </a:r>
            <a:r>
              <a:rPr sz="1800" spc="-25" dirty="0"/>
              <a:t> </a:t>
            </a:r>
            <a:r>
              <a:rPr sz="1800" dirty="0"/>
              <a:t>for</a:t>
            </a:r>
            <a:r>
              <a:rPr sz="1800" spc="-40" dirty="0"/>
              <a:t> </a:t>
            </a:r>
            <a:r>
              <a:rPr sz="1800" dirty="0"/>
              <a:t>the</a:t>
            </a:r>
            <a:r>
              <a:rPr sz="1800" spc="-10" dirty="0"/>
              <a:t> Operation </a:t>
            </a:r>
            <a:r>
              <a:rPr sz="1800" dirty="0"/>
              <a:t>of</a:t>
            </a:r>
            <a:r>
              <a:rPr sz="1800" spc="-65" dirty="0"/>
              <a:t> </a:t>
            </a:r>
            <a:r>
              <a:rPr sz="1800" dirty="0"/>
              <a:t>the</a:t>
            </a:r>
            <a:r>
              <a:rPr sz="1800" spc="-10" dirty="0"/>
              <a:t> </a:t>
            </a:r>
            <a:r>
              <a:rPr sz="1800" dirty="0"/>
              <a:t>BJT</a:t>
            </a:r>
            <a:r>
              <a:rPr sz="1800" spc="-55" dirty="0"/>
              <a:t> </a:t>
            </a:r>
            <a:r>
              <a:rPr sz="1800" dirty="0"/>
              <a:t>in</a:t>
            </a:r>
            <a:r>
              <a:rPr sz="1800" spc="-35" dirty="0"/>
              <a:t> </a:t>
            </a:r>
            <a:r>
              <a:rPr sz="1800" spc="-10" dirty="0"/>
              <a:t>Various</a:t>
            </a:r>
            <a:r>
              <a:rPr sz="1800" spc="-50" dirty="0"/>
              <a:t> </a:t>
            </a:r>
            <a:r>
              <a:rPr sz="1800" spc="-10" dirty="0"/>
              <a:t>Modes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244551" y="1609420"/>
            <a:ext cx="2768600" cy="2561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381635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Only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DC </a:t>
            </a:r>
            <a:r>
              <a:rPr sz="3200" spc="-20" dirty="0">
                <a:latin typeface="Calibri"/>
                <a:cs typeface="Calibri"/>
              </a:rPr>
              <a:t>Voltages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are </a:t>
            </a:r>
            <a:r>
              <a:rPr sz="3200" spc="-10" dirty="0">
                <a:latin typeface="Calibri"/>
                <a:cs typeface="Calibri"/>
              </a:rPr>
              <a:t>applied</a:t>
            </a:r>
            <a:endParaRPr sz="320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Vbe=0.7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spc="-10" dirty="0">
                <a:latin typeface="Calibri"/>
                <a:cs typeface="Calibri"/>
              </a:rPr>
              <a:t>Vce=0.2</a:t>
            </a:r>
            <a:r>
              <a:rPr sz="3200" spc="-170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V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3591" y="1642872"/>
            <a:ext cx="3002280" cy="26213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65976" y="1642872"/>
            <a:ext cx="2651760" cy="242780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4127" y="4572000"/>
            <a:ext cx="2206752" cy="10033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93591" y="4600068"/>
            <a:ext cx="3477579" cy="183888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52073" y="4215384"/>
            <a:ext cx="3786582" cy="199838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25000" y="1530096"/>
            <a:ext cx="2663952" cy="26121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1870" y="399629"/>
            <a:ext cx="6459220" cy="106172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575310">
              <a:lnSpc>
                <a:spcPct val="100000"/>
              </a:lnSpc>
              <a:spcBef>
                <a:spcPts val="605"/>
              </a:spcBef>
            </a:pPr>
            <a:r>
              <a:rPr b="1" dirty="0">
                <a:latin typeface="Calibri"/>
                <a:cs typeface="Calibri"/>
              </a:rPr>
              <a:t>BJT</a:t>
            </a:r>
            <a:r>
              <a:rPr b="1" spc="-1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Circuits</a:t>
            </a:r>
            <a:r>
              <a:rPr b="1" spc="-10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at</a:t>
            </a:r>
            <a:r>
              <a:rPr b="1" spc="-85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DC</a:t>
            </a: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800" dirty="0"/>
              <a:t>Conditions</a:t>
            </a:r>
            <a:r>
              <a:rPr sz="1800" spc="-10" dirty="0"/>
              <a:t> </a:t>
            </a:r>
            <a:r>
              <a:rPr sz="1800" dirty="0"/>
              <a:t>and</a:t>
            </a:r>
            <a:r>
              <a:rPr sz="1800" spc="-35" dirty="0"/>
              <a:t> </a:t>
            </a:r>
            <a:r>
              <a:rPr sz="1800" dirty="0"/>
              <a:t>Models</a:t>
            </a:r>
            <a:r>
              <a:rPr sz="1800" spc="-25" dirty="0"/>
              <a:t> </a:t>
            </a:r>
            <a:r>
              <a:rPr sz="1800" dirty="0"/>
              <a:t>for</a:t>
            </a:r>
            <a:r>
              <a:rPr sz="1800" spc="-40" dirty="0"/>
              <a:t> </a:t>
            </a:r>
            <a:r>
              <a:rPr sz="1800" dirty="0"/>
              <a:t>the</a:t>
            </a:r>
            <a:r>
              <a:rPr sz="1800" spc="-10" dirty="0"/>
              <a:t> Operation </a:t>
            </a:r>
            <a:r>
              <a:rPr sz="1800" dirty="0"/>
              <a:t>of</a:t>
            </a:r>
            <a:r>
              <a:rPr sz="1800" spc="-65" dirty="0"/>
              <a:t> </a:t>
            </a:r>
            <a:r>
              <a:rPr sz="1800" dirty="0"/>
              <a:t>the</a:t>
            </a:r>
            <a:r>
              <a:rPr sz="1800" spc="-10" dirty="0"/>
              <a:t> </a:t>
            </a:r>
            <a:r>
              <a:rPr sz="1800" dirty="0"/>
              <a:t>BJT</a:t>
            </a:r>
            <a:r>
              <a:rPr sz="1800" spc="-55" dirty="0"/>
              <a:t> </a:t>
            </a:r>
            <a:r>
              <a:rPr sz="1800" dirty="0"/>
              <a:t>in</a:t>
            </a:r>
            <a:r>
              <a:rPr sz="1800" spc="-35" dirty="0"/>
              <a:t> </a:t>
            </a:r>
            <a:r>
              <a:rPr sz="1800" spc="-10" dirty="0"/>
              <a:t>Various</a:t>
            </a:r>
            <a:r>
              <a:rPr sz="1800" spc="-50" dirty="0"/>
              <a:t> </a:t>
            </a:r>
            <a:r>
              <a:rPr sz="1800" spc="-10" dirty="0"/>
              <a:t>Modes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244551" y="1609420"/>
            <a:ext cx="2768600" cy="2561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381635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Only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DC </a:t>
            </a:r>
            <a:r>
              <a:rPr sz="3200" spc="-20" dirty="0">
                <a:latin typeface="Calibri"/>
                <a:cs typeface="Calibri"/>
              </a:rPr>
              <a:t>Voltages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are </a:t>
            </a:r>
            <a:r>
              <a:rPr sz="3200" spc="-10" dirty="0">
                <a:latin typeface="Calibri"/>
                <a:cs typeface="Calibri"/>
              </a:rPr>
              <a:t>applied</a:t>
            </a:r>
            <a:endParaRPr sz="320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Vbe=0.7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spc="-10" dirty="0">
                <a:latin typeface="Calibri"/>
                <a:cs typeface="Calibri"/>
              </a:rPr>
              <a:t>Vce=0.2</a:t>
            </a:r>
            <a:r>
              <a:rPr sz="3200" spc="-170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V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3591" y="1642872"/>
            <a:ext cx="3002280" cy="262135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9231" y="1642872"/>
            <a:ext cx="2651760" cy="242780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950975" y="4559166"/>
            <a:ext cx="6404610" cy="2045970"/>
            <a:chOff x="950975" y="4559166"/>
            <a:chExt cx="6404610" cy="204597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0975" y="4785359"/>
              <a:ext cx="2072639" cy="92659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60191" y="4559166"/>
              <a:ext cx="4295301" cy="2045368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522464" y="4142232"/>
            <a:ext cx="4328160" cy="227389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95104" y="1371600"/>
            <a:ext cx="2593848" cy="25420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31870" y="399629"/>
            <a:ext cx="6459220" cy="106172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575310">
              <a:lnSpc>
                <a:spcPct val="100000"/>
              </a:lnSpc>
              <a:spcBef>
                <a:spcPts val="605"/>
              </a:spcBef>
            </a:pPr>
            <a:r>
              <a:rPr b="1" dirty="0">
                <a:latin typeface="Calibri"/>
                <a:cs typeface="Calibri"/>
              </a:rPr>
              <a:t>BJT</a:t>
            </a:r>
            <a:r>
              <a:rPr b="1" spc="-1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Circuits</a:t>
            </a:r>
            <a:r>
              <a:rPr b="1" spc="-10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at</a:t>
            </a:r>
            <a:r>
              <a:rPr b="1" spc="-85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DC</a:t>
            </a: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1800" dirty="0"/>
              <a:t>Conditions</a:t>
            </a:r>
            <a:r>
              <a:rPr sz="1800" spc="-10" dirty="0"/>
              <a:t> </a:t>
            </a:r>
            <a:r>
              <a:rPr sz="1800" dirty="0"/>
              <a:t>and</a:t>
            </a:r>
            <a:r>
              <a:rPr sz="1800" spc="-35" dirty="0"/>
              <a:t> </a:t>
            </a:r>
            <a:r>
              <a:rPr sz="1800" dirty="0"/>
              <a:t>Models</a:t>
            </a:r>
            <a:r>
              <a:rPr sz="1800" spc="-25" dirty="0"/>
              <a:t> </a:t>
            </a:r>
            <a:r>
              <a:rPr sz="1800" dirty="0"/>
              <a:t>for</a:t>
            </a:r>
            <a:r>
              <a:rPr sz="1800" spc="-40" dirty="0"/>
              <a:t> </a:t>
            </a:r>
            <a:r>
              <a:rPr sz="1800" dirty="0"/>
              <a:t>the</a:t>
            </a:r>
            <a:r>
              <a:rPr sz="1800" spc="-10" dirty="0"/>
              <a:t> Operation </a:t>
            </a:r>
            <a:r>
              <a:rPr sz="1800" dirty="0"/>
              <a:t>of</a:t>
            </a:r>
            <a:r>
              <a:rPr sz="1800" spc="-65" dirty="0"/>
              <a:t> </a:t>
            </a:r>
            <a:r>
              <a:rPr sz="1800" dirty="0"/>
              <a:t>the</a:t>
            </a:r>
            <a:r>
              <a:rPr sz="1800" spc="-10" dirty="0"/>
              <a:t> </a:t>
            </a:r>
            <a:r>
              <a:rPr sz="1800" dirty="0"/>
              <a:t>BJT</a:t>
            </a:r>
            <a:r>
              <a:rPr sz="1800" spc="-55" dirty="0"/>
              <a:t> </a:t>
            </a:r>
            <a:r>
              <a:rPr sz="1800" dirty="0"/>
              <a:t>in</a:t>
            </a:r>
            <a:r>
              <a:rPr sz="1800" spc="-35" dirty="0"/>
              <a:t> </a:t>
            </a:r>
            <a:r>
              <a:rPr sz="1800" spc="-10" dirty="0"/>
              <a:t>Various</a:t>
            </a:r>
            <a:r>
              <a:rPr sz="1800" spc="-50" dirty="0"/>
              <a:t> </a:t>
            </a:r>
            <a:r>
              <a:rPr sz="1800" spc="-10" dirty="0"/>
              <a:t>Modes</a:t>
            </a:r>
            <a:endParaRPr sz="1800"/>
          </a:p>
        </p:txBody>
      </p:sp>
      <p:sp>
        <p:nvSpPr>
          <p:cNvPr id="3" name="object 3"/>
          <p:cNvSpPr txBox="1"/>
          <p:nvPr/>
        </p:nvSpPr>
        <p:spPr>
          <a:xfrm>
            <a:off x="244551" y="1609420"/>
            <a:ext cx="2768600" cy="2561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870" marR="381635" indent="-34480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Only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DC </a:t>
            </a:r>
            <a:r>
              <a:rPr sz="3200" spc="-20" dirty="0">
                <a:latin typeface="Calibri"/>
                <a:cs typeface="Calibri"/>
              </a:rPr>
              <a:t>Voltages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are </a:t>
            </a:r>
            <a:r>
              <a:rPr sz="3200" spc="-10" dirty="0">
                <a:latin typeface="Calibri"/>
                <a:cs typeface="Calibri"/>
              </a:rPr>
              <a:t>applied</a:t>
            </a:r>
            <a:endParaRPr sz="3200">
              <a:latin typeface="Calibri"/>
              <a:cs typeface="Calibri"/>
            </a:endParaRPr>
          </a:p>
          <a:p>
            <a:pPr marL="356870" marR="5080" indent="-34480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6870" algn="l"/>
              </a:tabLst>
            </a:pPr>
            <a:r>
              <a:rPr sz="3200" dirty="0">
                <a:latin typeface="Calibri"/>
                <a:cs typeface="Calibri"/>
              </a:rPr>
              <a:t>Vbe=0.7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V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and </a:t>
            </a:r>
            <a:r>
              <a:rPr sz="3200" spc="-10" dirty="0">
                <a:latin typeface="Calibri"/>
                <a:cs typeface="Calibri"/>
              </a:rPr>
              <a:t>Vce=0.2</a:t>
            </a:r>
            <a:r>
              <a:rPr sz="3200" spc="-170" dirty="0">
                <a:latin typeface="Calibri"/>
                <a:cs typeface="Calibri"/>
              </a:rPr>
              <a:t> </a:t>
            </a:r>
            <a:r>
              <a:rPr sz="3200" spc="-50" dirty="0">
                <a:latin typeface="Calibri"/>
                <a:cs typeface="Calibri"/>
              </a:rPr>
              <a:t>V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593591" y="1642872"/>
            <a:ext cx="5654040" cy="2621915"/>
            <a:chOff x="3593591" y="1642872"/>
            <a:chExt cx="5654040" cy="26219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3591" y="1642872"/>
              <a:ext cx="3002280" cy="262135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95871" y="1642872"/>
              <a:ext cx="2651760" cy="2427808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0975" y="4642103"/>
            <a:ext cx="2191887" cy="104640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36976" y="4552261"/>
            <a:ext cx="4354135" cy="1949122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770063" y="4357247"/>
            <a:ext cx="3861104" cy="213021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27464" y="1642872"/>
            <a:ext cx="2712720" cy="24993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4190">
              <a:lnSpc>
                <a:spcPct val="100000"/>
              </a:lnSpc>
              <a:spcBef>
                <a:spcPts val="90"/>
              </a:spcBef>
            </a:pPr>
            <a:r>
              <a:rPr b="1" dirty="0">
                <a:latin typeface="Calibri"/>
                <a:cs typeface="Calibri"/>
              </a:rPr>
              <a:t>BJT</a:t>
            </a:r>
            <a:r>
              <a:rPr b="1" spc="-1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Circuits</a:t>
            </a:r>
            <a:r>
              <a:rPr b="1" spc="-1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at</a:t>
            </a:r>
            <a:r>
              <a:rPr b="1" spc="-75" dirty="0">
                <a:latin typeface="Calibri"/>
                <a:cs typeface="Calibri"/>
              </a:rPr>
              <a:t> </a:t>
            </a:r>
            <a:r>
              <a:rPr b="1" spc="-30" dirty="0">
                <a:latin typeface="Calibri"/>
                <a:cs typeface="Calibri"/>
              </a:rPr>
              <a:t>DC-</a:t>
            </a:r>
            <a:r>
              <a:rPr b="1" dirty="0">
                <a:latin typeface="Calibri"/>
                <a:cs typeface="Calibri"/>
              </a:rPr>
              <a:t>Active</a:t>
            </a:r>
            <a:r>
              <a:rPr b="1" spc="-9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Mode(Problems)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2258" y="1304290"/>
            <a:ext cx="3131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Example,</a:t>
            </a:r>
            <a:r>
              <a:rPr sz="1800" b="1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β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specified 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 </a:t>
            </a:r>
            <a:r>
              <a:rPr sz="1800" spc="-20" dirty="0">
                <a:latin typeface="Calibri"/>
                <a:cs typeface="Calibri"/>
              </a:rPr>
              <a:t>100.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3" y="1712976"/>
            <a:ext cx="6830568" cy="414528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2488" y="1712976"/>
            <a:ext cx="5050536" cy="421538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0"/>
              </a:spcBef>
            </a:pPr>
            <a:r>
              <a:rPr b="1" dirty="0">
                <a:latin typeface="Calibri"/>
                <a:cs typeface="Calibri"/>
              </a:rPr>
              <a:t>BJT</a:t>
            </a:r>
            <a:r>
              <a:rPr b="1" spc="-15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Circuits</a:t>
            </a:r>
            <a:r>
              <a:rPr b="1" spc="-15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at</a:t>
            </a:r>
            <a:r>
              <a:rPr b="1" spc="-110" dirty="0">
                <a:latin typeface="Calibri"/>
                <a:cs typeface="Calibri"/>
              </a:rPr>
              <a:t> </a:t>
            </a:r>
            <a:r>
              <a:rPr b="1" spc="-35" dirty="0">
                <a:latin typeface="Calibri"/>
                <a:cs typeface="Calibri"/>
              </a:rPr>
              <a:t>DC-</a:t>
            </a:r>
            <a:r>
              <a:rPr b="1" spc="-10" dirty="0">
                <a:latin typeface="Calibri"/>
                <a:cs typeface="Calibri"/>
              </a:rPr>
              <a:t>Saturation</a:t>
            </a:r>
            <a:r>
              <a:rPr b="1" spc="-6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Mode(Problems)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2258" y="1304290"/>
            <a:ext cx="41509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Example,</a:t>
            </a:r>
            <a:r>
              <a:rPr sz="1800" b="1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β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specified to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 </a:t>
            </a:r>
            <a:r>
              <a:rPr sz="1800" spc="-25" dirty="0">
                <a:latin typeface="Calibri"/>
                <a:cs typeface="Calibri"/>
              </a:rPr>
              <a:t>ATLEAST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50.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488" y="1929383"/>
            <a:ext cx="6580632" cy="435864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8688" y="1856232"/>
            <a:ext cx="4925567" cy="44104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7365">
              <a:lnSpc>
                <a:spcPct val="100000"/>
              </a:lnSpc>
              <a:spcBef>
                <a:spcPts val="90"/>
              </a:spcBef>
            </a:pPr>
            <a:r>
              <a:rPr b="1" dirty="0">
                <a:latin typeface="Calibri"/>
                <a:cs typeface="Calibri"/>
              </a:rPr>
              <a:t>BJT</a:t>
            </a:r>
            <a:r>
              <a:rPr b="1" spc="-1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Circuits</a:t>
            </a:r>
            <a:r>
              <a:rPr b="1" spc="-1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at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spc="-30" dirty="0">
                <a:latin typeface="Calibri"/>
                <a:cs typeface="Calibri"/>
              </a:rPr>
              <a:t>DC-</a:t>
            </a:r>
            <a:r>
              <a:rPr b="1" dirty="0">
                <a:latin typeface="Calibri"/>
                <a:cs typeface="Calibri"/>
              </a:rPr>
              <a:t>Cutoff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Mode(Problems)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2258" y="1304290"/>
            <a:ext cx="8293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Example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7127" y="1213103"/>
            <a:ext cx="8500872" cy="52151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839A5-5633-E116-AFEC-1DF4CABB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BJT operating regions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3BD68-38B6-EBC9-FAD4-A45D129C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ABCCC1-BF11-4F37-963E-1BCD5B23FD72}" type="slidenum">
              <a:rPr kumimoji="0" lang="en-IN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IN" sz="2200" b="0" i="0" u="none" strike="noStrike" kern="1200" cap="none" spc="0" normalizeH="0" baseline="0" noProof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612B4B-152E-0C94-D754-E7F63AFA3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38" y="1949922"/>
            <a:ext cx="6587411" cy="34789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2E48FA-DF15-7FA5-28CC-3F1FD8BEB87C}"/>
              </a:ext>
            </a:extLst>
          </p:cNvPr>
          <p:cNvSpPr txBox="1"/>
          <p:nvPr/>
        </p:nvSpPr>
        <p:spPr>
          <a:xfrm>
            <a:off x="0" y="5428848"/>
            <a:ext cx="73338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2.11. Output and input characteristics of CE configured depicting possible operating regions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of BJT (active, saturation, cutoff)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D7BCD9-68C2-93FC-DCA4-E31DA3A5EB24}"/>
              </a:ext>
            </a:extLst>
          </p:cNvPr>
          <p:cNvSpPr txBox="1"/>
          <p:nvPr/>
        </p:nvSpPr>
        <p:spPr>
          <a:xfrm>
            <a:off x="7895428" y="2151028"/>
            <a:ext cx="2977855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With the analogy discussed, the operation of BJT is driven in to any of the three regions with base current value.</a:t>
            </a:r>
          </a:p>
          <a:p>
            <a:pPr marL="0" marR="0" lvl="0" indent="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 </a:t>
            </a: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For this reason, BJT is termed as current controlled current source.</a:t>
            </a:r>
            <a:endParaRPr kumimoji="0" lang="en-IN" sz="1400" b="1" i="0" u="none" strike="noStrike" kern="1000" cap="none" spc="0" normalizeH="0" baseline="-25000" noProof="0" dirty="0">
              <a:ln>
                <a:noFill/>
              </a:ln>
              <a:solidFill>
                <a:srgbClr val="B71E42">
                  <a:lumMod val="5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1" i="0" u="none" strike="noStrike" kern="1000" cap="none" spc="0" normalizeH="0" baseline="0" noProof="0" dirty="0">
              <a:ln>
                <a:noFill/>
              </a:ln>
              <a:solidFill>
                <a:srgbClr val="B71E42">
                  <a:lumMod val="5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BJT acts as controlled switch when continuously operated in cut off and saturation regions</a:t>
            </a: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400" b="1" i="0" u="none" strike="noStrike" kern="1000" cap="none" spc="0" normalizeH="0" baseline="0" noProof="0" dirty="0">
              <a:ln>
                <a:noFill/>
              </a:ln>
              <a:solidFill>
                <a:srgbClr val="B71E42">
                  <a:lumMod val="5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285750" marR="0" lvl="0" indent="-28575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400" b="1" i="0" u="none" strike="noStrike" kern="1000" cap="none" spc="0" normalizeH="0" baseline="0" noProof="0" dirty="0">
                <a:ln>
                  <a:noFill/>
                </a:ln>
                <a:solidFill>
                  <a:srgbClr val="B71E42">
                    <a:lumMod val="5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BJT acts as an amplifier when driven in to active region</a:t>
            </a:r>
          </a:p>
        </p:txBody>
      </p:sp>
    </p:spTree>
    <p:extLst>
      <p:ext uri="{BB962C8B-B14F-4D97-AF65-F5344CB8AC3E}">
        <p14:creationId xmlns:p14="http://schemas.microsoft.com/office/powerpoint/2010/main" val="1885242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839A5-5633-E116-AFEC-1DF4CABBE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SuMMARY</a:t>
            </a:r>
            <a:r>
              <a:rPr lang="en-IN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3BD68-38B6-EBC9-FAD4-A45D129C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ABCCC1-BF11-4F37-963E-1BCD5B23FD72}" type="slidenum">
              <a:rPr kumimoji="0" lang="en-IN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IN" sz="2200" b="0" i="0" u="none" strike="noStrike" kern="1200" cap="none" spc="0" normalizeH="0" baseline="0" noProof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35842" name="Picture 40">
            <a:extLst>
              <a:ext uri="{FF2B5EF4-FFF2-40B4-BE49-F238E27FC236}">
                <a16:creationId xmlns:a16="http://schemas.microsoft.com/office/drawing/2014/main" id="{1B4DAEE8-B2BE-9C1A-0521-173688945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6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482" y="1853754"/>
            <a:ext cx="6040016" cy="4070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46961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" y="776360"/>
            <a:ext cx="1211072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2.1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BJT shown in Fig. 2.12 has </a:t>
            </a: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DC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of 300. Calculate I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I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C,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and P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Solution:</a:t>
            </a: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71755273-CAD4-785B-D787-1F3FCA75717E}"/>
              </a:ext>
            </a:extLst>
          </p:cNvPr>
          <p:cNvSpPr/>
          <p:nvPr/>
        </p:nvSpPr>
        <p:spPr>
          <a:xfrm>
            <a:off x="2707336" y="134747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Example Problems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8B0A2A-ECBA-C086-63DD-3A7393C73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606" y="1182484"/>
            <a:ext cx="4144195" cy="22465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BC9310-79D5-625E-0B58-B6F505E3F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0153" y="4079259"/>
            <a:ext cx="4676182" cy="18831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9EAF12B-6480-1A97-4A1A-01F87F5CD8E1}"/>
              </a:ext>
            </a:extLst>
          </p:cNvPr>
          <p:cNvSpPr txBox="1"/>
          <p:nvPr/>
        </p:nvSpPr>
        <p:spPr>
          <a:xfrm>
            <a:off x="3032449" y="3410731"/>
            <a:ext cx="73338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2.12. CE Configured BJT biased with external voltages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" y="776360"/>
            <a:ext cx="1211072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2.2  For the ideal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BJT shown in Fig. 2.13 has </a:t>
            </a: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DC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of 100.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Determine V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Solution:</a:t>
            </a: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71755273-CAD4-785B-D787-1F3FCA75717E}"/>
              </a:ext>
            </a:extLst>
          </p:cNvPr>
          <p:cNvSpPr/>
          <p:nvPr/>
        </p:nvSpPr>
        <p:spPr>
          <a:xfrm>
            <a:off x="2707336" y="134747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Example Problems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EAF12B-6480-1A97-4A1A-01F87F5CD8E1}"/>
              </a:ext>
            </a:extLst>
          </p:cNvPr>
          <p:cNvSpPr txBox="1"/>
          <p:nvPr/>
        </p:nvSpPr>
        <p:spPr>
          <a:xfrm>
            <a:off x="6708710" y="2037580"/>
            <a:ext cx="44320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Fig. 2.13. CE Configured BJT biased with external voltages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E12B70-E03D-813C-0E63-73CC2BB3A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007" y="751488"/>
            <a:ext cx="2881474" cy="12612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4D4EEB-E4B1-EF60-413A-A7029C65B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473" y="2797857"/>
            <a:ext cx="6430705" cy="328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516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0" y="1093156"/>
            <a:ext cx="12192000" cy="601860"/>
          </a:xfrm>
          <a:prstGeom prst="roundRect">
            <a:avLst>
              <a:gd name="adj" fmla="val 35613"/>
            </a:avLst>
          </a:prstGeom>
          <a:solidFill>
            <a:srgbClr val="FFFF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BJT is modelled as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0" y="1695016"/>
            <a:ext cx="12192000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Voltage controlled voltage source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Current controlled voltage source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Current controlled current source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Voltage controlled current source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0" y="3831771"/>
            <a:ext cx="12192000" cy="546046"/>
          </a:xfrm>
          <a:prstGeom prst="roundRect">
            <a:avLst>
              <a:gd name="adj" fmla="val 35613"/>
            </a:avLst>
          </a:prstGeom>
          <a:solidFill>
            <a:srgbClr val="FFFF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What is the current in BJT in cut-off region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0" y="4377817"/>
            <a:ext cx="12191999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&lt; </a:t>
            </a:r>
            <a:r>
              <a:rPr kumimoji="0" lang="el-GR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β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Zero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3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43432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0" y="1093156"/>
            <a:ext cx="12192000" cy="601860"/>
          </a:xfrm>
          <a:prstGeom prst="roundRect">
            <a:avLst>
              <a:gd name="adj" fmla="val 35613"/>
            </a:avLst>
          </a:prstGeom>
          <a:solidFill>
            <a:srgbClr val="FFFF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3. Which mode does BJT operate if B-E and B-C junctions are forward biased?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0" y="1695016"/>
            <a:ext cx="12192000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Saturation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Active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Cut-off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0" y="3788229"/>
            <a:ext cx="12192000" cy="589588"/>
          </a:xfrm>
          <a:prstGeom prst="roundRect">
            <a:avLst>
              <a:gd name="adj" fmla="val 35613"/>
            </a:avLst>
          </a:prstGeom>
          <a:solidFill>
            <a:srgbClr val="FFFF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4. Which parameter shall be constant to plot input characteristics?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0" y="4377817"/>
            <a:ext cx="12191999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V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V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</a:t>
            </a: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Both"/>
              <a:tabLst/>
              <a:defRPr/>
            </a:pPr>
            <a:r>
              <a:rPr kumimoji="0" lang="en-US" sz="18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</a:t>
            </a:r>
            <a:r>
              <a:rPr kumimoji="0" lang="en-US" sz="1600" b="0" i="0" u="none" strike="noStrike" kern="1200" cap="none" spc="0" normalizeH="0" baseline="-2500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7979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3" grpId="0" animBg="1"/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62616-E55E-DAB7-B0A0-D8540B2F6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C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A</a:t>
            </a:r>
          </a:p>
          <a:p>
            <a:pPr marL="0" indent="0">
              <a:buNone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6A2ACF-481C-7213-C089-BDAC24390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BABCCC1-BF11-4F37-963E-1BCD5B23FD72}" type="slidenum">
              <a:rPr kumimoji="0" lang="en-IN" sz="2200" b="0" i="0" u="none" strike="noStrike" kern="1200" cap="none" spc="0" normalizeH="0" baseline="0" noProof="0" smtClean="0">
                <a:ln>
                  <a:noFill/>
                </a:ln>
                <a:solidFill>
                  <a:srgbClr val="B71E42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IN" sz="2200" b="0" i="0" u="none" strike="noStrike" kern="1200" cap="none" spc="0" normalizeH="0" baseline="0" noProof="0">
              <a:ln>
                <a:noFill/>
              </a:ln>
              <a:solidFill>
                <a:srgbClr val="B71E42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5" name="Rounded Rectangle 17">
            <a:extLst>
              <a:ext uri="{FF2B5EF4-FFF2-40B4-BE49-F238E27FC236}">
                <a16:creationId xmlns:a16="http://schemas.microsoft.com/office/drawing/2014/main" id="{F67DA82E-43B9-32C7-5D30-307DE1BBBD76}"/>
              </a:ext>
            </a:extLst>
          </p:cNvPr>
          <p:cNvSpPr/>
          <p:nvPr/>
        </p:nvSpPr>
        <p:spPr>
          <a:xfrm>
            <a:off x="3390635" y="118550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3257230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1167618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623" y="2146654"/>
            <a:ext cx="116431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Describe how to configure BJT in common emitter mode operation.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Discuss the input characteristics of BJT.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Discuss the output characteristics of BJT.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Draw output characteristics of BJT for various input base current values.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Derive the analogy between electron flow in BJT and jet flow in valve operated tube.</a:t>
            </a:r>
          </a:p>
          <a:p>
            <a:pPr marL="342900" marR="0" lvl="0" indent="-3429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Identify the regions of operation of BJT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24128" y="1172223"/>
            <a:ext cx="794374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REFERENCES FOR FURTHER LEARNING OF THE SESSION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n-ea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34940" y="2100679"/>
            <a:ext cx="9608234" cy="129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Reference Books: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Albert </a:t>
            </a:r>
            <a:r>
              <a:rPr kumimoji="0" lang="en-GB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Malvino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, David Bate, “Electronic Principles”</a:t>
            </a: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Robert L.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Boylestad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and Louis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Nashelsky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 - “Electronic Devices and Circuit Theory”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76006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6F267B9-90E6-4D91-2F94-99937051E1E4}"/>
              </a:ext>
            </a:extLst>
          </p:cNvPr>
          <p:cNvGrpSpPr/>
          <p:nvPr/>
        </p:nvGrpSpPr>
        <p:grpSpPr>
          <a:xfrm>
            <a:off x="2247960" y="1780855"/>
            <a:ext cx="7920111" cy="2883877"/>
            <a:chOff x="2247960" y="2332796"/>
            <a:chExt cx="7920111" cy="2883877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E792BE84-3448-2348-B352-CD5BC083E5FD}"/>
                </a:ext>
              </a:extLst>
            </p:cNvPr>
            <p:cNvSpPr/>
            <p:nvPr/>
          </p:nvSpPr>
          <p:spPr>
            <a:xfrm>
              <a:off x="2247960" y="2332796"/>
              <a:ext cx="7920111" cy="2883877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srgbClr val="BA2532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Poppins" pitchFamily="2" charset="77"/>
                </a:rPr>
                <a:t>THANK YOU</a:t>
              </a: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Poppins" pitchFamily="2" charset="77"/>
                </a:rPr>
                <a:t>Team – </a:t>
              </a:r>
              <a:r>
                <a:rPr kumimoji="0" lang="en-US" sz="2000" b="1" i="0" u="none" strike="noStrike" kern="1200" cap="all" spc="0" normalizeH="0" baseline="0" noProof="0" dirty="0">
                  <a:ln/>
                  <a:solidFill>
                    <a:prstClr val="white"/>
                  </a:solidFill>
                  <a:effectLst/>
                  <a:uLnTx/>
                  <a:uFillTx/>
                  <a:latin typeface="Gill Sans MT" panose="020B0502020104020203"/>
                  <a:ea typeface="+mn-ea"/>
                  <a:cs typeface="Poppins" panose="00000500000000000000" pitchFamily="2" charset="0"/>
                  <a:sym typeface="BioRhyme ExtraBold"/>
                </a:rPr>
                <a:t>Analog electronic Circuit Design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Poppins" pitchFamily="2" charset="7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</p:txBody>
        </p:sp>
        <p:pic>
          <p:nvPicPr>
            <p:cNvPr id="6" name="Picture 2" descr="KL Deemed to be University Logo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131980" y="3092166"/>
              <a:ext cx="3235570" cy="1083212"/>
            </a:xfrm>
            <a:prstGeom prst="rect">
              <a:avLst/>
            </a:prstGeom>
            <a:noFill/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4641EAF-9950-CBC7-0185-84F0EED5A950}"/>
              </a:ext>
            </a:extLst>
          </p:cNvPr>
          <p:cNvSpPr txBox="1"/>
          <p:nvPr/>
        </p:nvSpPr>
        <p:spPr>
          <a:xfrm>
            <a:off x="-6221" y="5763439"/>
            <a:ext cx="6102220" cy="369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2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Prepared by – Mr. S. Ravi Teja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3.xml><?xml version="1.0" encoding="utf-8"?>
<a:theme xmlns:a="http://schemas.openxmlformats.org/drawingml/2006/main" name="1_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960</Words>
  <Application>Microsoft Office PowerPoint</Application>
  <PresentationFormat>Widescreen</PresentationFormat>
  <Paragraphs>194</Paragraphs>
  <Slides>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0" baseType="lpstr">
      <vt:lpstr>Aptos</vt:lpstr>
      <vt:lpstr>Arial</vt:lpstr>
      <vt:lpstr>Arial MT</vt:lpstr>
      <vt:lpstr>Calibri</vt:lpstr>
      <vt:lpstr>Gill Sans MT</vt:lpstr>
      <vt:lpstr>Poppins</vt:lpstr>
      <vt:lpstr>Times</vt:lpstr>
      <vt:lpstr>Times New Roman</vt:lpstr>
      <vt:lpstr>Office Theme</vt:lpstr>
      <vt:lpstr>Gallery</vt:lpstr>
      <vt:lpstr>1_Gallery</vt:lpstr>
      <vt:lpstr>Equation</vt:lpstr>
      <vt:lpstr>PowerPoint Presentation</vt:lpstr>
      <vt:lpstr>Session content</vt:lpstr>
      <vt:lpstr>PowerPoint Presentation</vt:lpstr>
      <vt:lpstr>Common Emitter configuration</vt:lpstr>
      <vt:lpstr>PowerPoint Presentation</vt:lpstr>
      <vt:lpstr>Collector Curve / output Characteristics </vt:lpstr>
      <vt:lpstr>PowerPoint Presentation</vt:lpstr>
      <vt:lpstr>PowerPoint Presentation</vt:lpstr>
      <vt:lpstr>PowerPoint Presentation</vt:lpstr>
      <vt:lpstr>PowerPoint Presentation</vt:lpstr>
      <vt:lpstr>BJT</vt:lpstr>
      <vt:lpstr>BJT</vt:lpstr>
      <vt:lpstr>BJT Circuits at DC Conditions and Models for the Operation of the BJT in Various Modes</vt:lpstr>
      <vt:lpstr>BJT Circuits at DC Conditions and Models for the Operation of the BJT in Various Modes</vt:lpstr>
      <vt:lpstr>BJT Circuits at DC Conditions and Models for the Operation of the BJT in Various Modes</vt:lpstr>
      <vt:lpstr>BJT Circuits at DC-Active Mode(Problems)</vt:lpstr>
      <vt:lpstr>BJT Circuits at DC-Saturation Mode(Problems)</vt:lpstr>
      <vt:lpstr>BJT Circuits at DC-Cutoff Mode(Problems)</vt:lpstr>
      <vt:lpstr>BJT operating regions</vt:lpstr>
      <vt:lpstr>SuMMARY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GORLA VENKATA GANESH</cp:lastModifiedBy>
  <cp:revision>14</cp:revision>
  <dcterms:created xsi:type="dcterms:W3CDTF">2025-07-03T09:08:04Z</dcterms:created>
  <dcterms:modified xsi:type="dcterms:W3CDTF">2025-07-03T09:31:34Z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2025-07-03T00:00:00Z</vt:filetime>
  </property>
  <property fmtid="{D5CDD505-2E9C-101B-9397-08002B2CF9AE}" pid="3" name="LastSaved">
    <vt:filetime>2025-07-03T00:00:00Z</vt:filetime>
  </property>
  <property fmtid="{D5CDD505-2E9C-101B-9397-08002B2CF9AE}" pid="4" name="Producer">
    <vt:lpwstr>iLovePDF</vt:lpwstr>
  </property>
</Properties>
</file>