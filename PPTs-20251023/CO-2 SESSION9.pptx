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78" r:id="rId5"/>
    <p:sldId id="279" r:id="rId6"/>
    <p:sldId id="280" r:id="rId7"/>
    <p:sldId id="281" r:id="rId8"/>
    <p:sldId id="28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2B9BA11-3022-4370-89B4-A8A665C22CCB}" type="datetimeFigureOut">
              <a:rPr lang="en-IN"/>
              <a:pPr>
                <a:defRPr/>
              </a:pPr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E2F5F17-6BBE-4FB6-A554-7A5E7E21E9F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E9F7D94-1A8F-468C-BDAF-710B68F42892}" type="datetimeFigureOut">
              <a:rPr lang="en-IN"/>
              <a:pPr>
                <a:defRPr/>
              </a:pPr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831F9FE-3D88-4651-BA6F-52CDCF329E8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417763" y="3529013"/>
            <a:ext cx="863758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438275" y="798513"/>
            <a:ext cx="809625" cy="5048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2BCA9-8CDE-42A8-8FEA-C72472236B8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4A5E7-8E44-42EB-9075-0FF68D8D23D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454150" y="3805238"/>
            <a:ext cx="86312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28E32-374D-4E6E-AA0F-2E93416BEBE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1CB86F-D294-4DA7-AB0F-7299FAC3B4D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A71B9-7746-491C-8D1E-0ECBF0AACBB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F5BB2-BE70-45F7-A42B-47BE4E07BD1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076BE-7EC1-4B8F-A61E-F5581EF5A23E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447800" y="3205163"/>
            <a:ext cx="32702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17208-42F6-4E2C-BD8B-211248BE2772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7477125" y="482600"/>
            <a:ext cx="4075113" cy="5148263"/>
            <a:chOff x="7477387" y="482170"/>
            <a:chExt cx="4074533" cy="5149101"/>
          </a:xfrm>
        </p:grpSpPr>
        <p:sp>
          <p:nvSpPr>
            <p:cNvPr id="6" name="Rectangle 5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cxnSp>
        <p:nvCxnSpPr>
          <p:cNvPr id="8" name="Straight Connector 7"/>
          <p:cNvCxnSpPr/>
          <p:nvPr/>
        </p:nvCxnSpPr>
        <p:spPr>
          <a:xfrm>
            <a:off x="1447800" y="3143250"/>
            <a:ext cx="552767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800" y="5470525"/>
            <a:ext cx="5527675" cy="319088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F8866-F349-4445-9936-3962D8A8EF0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BE4DC8-A9B6-4D4B-B9AD-486917FC013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439275" y="798513"/>
            <a:ext cx="0" cy="466090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2493C-718B-4883-B034-0495C375517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300"/>
            <a:ext cx="12192000" cy="41068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0975" y="804863"/>
            <a:ext cx="9604375" cy="1049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50975" y="2016125"/>
            <a:ext cx="9604375" cy="344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913" y="379413"/>
            <a:ext cx="3500437" cy="30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1188" y="6291263"/>
            <a:ext cx="809625" cy="50323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22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26D5075-2DA7-408E-B883-ADDF66F82A96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7750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Icon&#10;&#10;Description automatically generated with medium confidence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7788" y="33338"/>
            <a:ext cx="1219200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11"/>
          <p:cNvPicPr>
            <a:picLocks noChangeAspect="1"/>
          </p:cNvPicPr>
          <p:nvPr/>
        </p:nvPicPr>
        <p:blipFill>
          <a:blip r:embed="rId14"/>
          <a:srcRect l="4359" t="18054" b="50110"/>
          <a:stretch>
            <a:fillRect/>
          </a:stretch>
        </p:blipFill>
        <p:spPr bwMode="auto">
          <a:xfrm>
            <a:off x="1450975" y="6373813"/>
            <a:ext cx="2913063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3" descr="Text&#10;&#10;Description automatically generated with medium confidence"/>
          <p:cNvPicPr>
            <a:picLocks noChangeAspect="1"/>
          </p:cNvPicPr>
          <p:nvPr/>
        </p:nvPicPr>
        <p:blipFill>
          <a:blip r:embed="rId15"/>
          <a:srcRect t="53957" r="20929" b="13232"/>
          <a:stretch>
            <a:fillRect/>
          </a:stretch>
        </p:blipFill>
        <p:spPr bwMode="auto">
          <a:xfrm>
            <a:off x="8824913" y="6373813"/>
            <a:ext cx="22304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24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itchFamily="34" charset="0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spost.com/explain-the-construction-and-working-of-a-jfet-what-is-the-difference-between-a-jfet-and-a-bjt/" TargetMode="External"/><Relationship Id="rId2" Type="http://schemas.openxmlformats.org/officeDocument/2006/relationships/hyperlink" Target="https://www.learnelectronicswithme.com/2020/07/what-is-jfet-construction-and-working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hyperlink" Target="https://electronicsdesk.com/junction-field-effect-transistor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Google Shape;464;p16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930900" cy="612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Google Shape;475;p16"/>
          <p:cNvSpPr txBox="1">
            <a:spLocks noChangeArrowheads="1"/>
          </p:cNvSpPr>
          <p:nvPr/>
        </p:nvSpPr>
        <p:spPr bwMode="auto">
          <a:xfrm>
            <a:off x="6532563" y="739775"/>
            <a:ext cx="459581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45700" rIns="91425" bIns="45700">
            <a:spAutoFit/>
          </a:bodyPr>
          <a:lstStyle/>
          <a:p>
            <a:pPr algn="ctr"/>
            <a:r>
              <a:rPr lang="en-US" sz="4000">
                <a:solidFill>
                  <a:srgbClr val="C00000"/>
                </a:solidFill>
                <a:latin typeface="Gill Sans MT" pitchFamily="34" charset="0"/>
                <a:ea typeface="Poppins"/>
                <a:cs typeface="Poppins"/>
              </a:rPr>
              <a:t>Department of ECE</a:t>
            </a:r>
          </a:p>
        </p:txBody>
      </p:sp>
      <p:sp>
        <p:nvSpPr>
          <p:cNvPr id="6" name="Google Shape;476;p16"/>
          <p:cNvSpPr txBox="1"/>
          <p:nvPr/>
        </p:nvSpPr>
        <p:spPr>
          <a:xfrm>
            <a:off x="4695825" y="2381250"/>
            <a:ext cx="7224713" cy="246217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spAutoFit/>
          </a:bodyPr>
          <a:lstStyle/>
          <a:p>
            <a:pPr algn="ctr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2400" b="1" cap="all" dirty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  <a:sym typeface="BioRhyme ExtraBold"/>
              </a:rPr>
              <a:t>ANALOG ELECTRONIC CIRCUIT DESIGN </a:t>
            </a:r>
            <a:r>
              <a:rPr lang="en-IN" sz="2400" b="1" cap="all" dirty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  <a:sym typeface="BioRhyme ExtraBold"/>
              </a:rPr>
              <a:t>22EC2104A</a:t>
            </a:r>
          </a:p>
          <a:p>
            <a:pPr algn="ctr" fontAlgn="auto">
              <a:spcBef>
                <a:spcPts val="600"/>
              </a:spcBef>
              <a:spcAft>
                <a:spcPts val="0"/>
              </a:spcAft>
              <a:defRPr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+mn-lt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70C0"/>
                </a:solidFill>
                <a:latin typeface="+mn-lt"/>
                <a:ea typeface="BioRhyme ExtraBold"/>
                <a:cs typeface="Poppins" panose="00000500000000000000" pitchFamily="2" charset="0"/>
                <a:sym typeface="BioRhyme ExtraBold"/>
              </a:rPr>
              <a:t>CO-2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70C0"/>
                </a:solidFill>
                <a:latin typeface="+mn-lt"/>
                <a:cs typeface="+mn-cs"/>
              </a:rPr>
              <a:t>Session-9	Common gate amplifier</a:t>
            </a:r>
            <a:endParaRPr lang="en-IN" sz="2800" b="1" dirty="0">
              <a:solidFill>
                <a:srgbClr val="0070C0"/>
              </a:solidFill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 b="1" dirty="0">
              <a:solidFill>
                <a:srgbClr val="0070C0"/>
              </a:solidFill>
              <a:latin typeface="Stencil" panose="040409050D0802020404" pitchFamily="82" charset="0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A09F0EC-1A3A-4169-B74E-DF27AAB0A88F}" type="slidenum">
              <a:rPr lang="en-IN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IN"/>
          </a:p>
        </p:txBody>
      </p:sp>
      <p:sp>
        <p:nvSpPr>
          <p:cNvPr id="5" name="Rounded Rectangle 17"/>
          <p:cNvSpPr>
            <a:spLocks noGrp="1"/>
          </p:cNvSpPr>
          <p:nvPr>
            <p:ph type="title"/>
          </p:nvPr>
        </p:nvSpPr>
        <p:spPr>
          <a:xfrm>
            <a:off x="1468438" y="334963"/>
            <a:ext cx="9602787" cy="43973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dirty="0"/>
              <a:t>AIM OF THE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4572" y="873940"/>
            <a:ext cx="9572369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Poppins"/>
                <a:cs typeface="Poppins"/>
              </a:rPr>
              <a:t>To familiarize students with the operation of common gate amplifier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Poppins"/>
              <a:cs typeface="Poppins"/>
            </a:endParaRPr>
          </a:p>
        </p:txBody>
      </p:sp>
      <p:pic>
        <p:nvPicPr>
          <p:cNvPr id="7" name="Graphic 10" descr="Bullseye outlin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3" y="831850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ounded Rectangle 17"/>
          <p:cNvSpPr/>
          <p:nvPr/>
        </p:nvSpPr>
        <p:spPr>
          <a:xfrm>
            <a:off x="4086225" y="2038350"/>
            <a:ext cx="4151313" cy="3905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0000" lnSpcReduction="10000"/>
          </a:bodyPr>
          <a:lstStyle/>
          <a:p>
            <a:pPr algn="ctr" defTabSz="91440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200" cap="all" dirty="0"/>
              <a:t>INSTRUCTIONAL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1049" y="2562173"/>
            <a:ext cx="9498227" cy="138499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Poppins"/>
                <a:cs typeface="Poppins"/>
              </a:rPr>
              <a:t>This Session is designed to: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>
                <a:latin typeface="+mn-lt"/>
                <a:cs typeface="+mn-cs"/>
              </a:rPr>
              <a:t>Give introduction amplification in CG configuration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>
                <a:latin typeface="+mn-lt"/>
                <a:cs typeface="+mn-cs"/>
              </a:rPr>
              <a:t>To analysis operation of CG amplifier</a:t>
            </a:r>
            <a:endParaRPr lang="en-US" sz="1600" dirty="0">
              <a:latin typeface="Arial"/>
              <a:cs typeface="Arial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US" sz="1600" dirty="0">
              <a:cs typeface="+mn-cs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4205288" y="4191000"/>
            <a:ext cx="3870325" cy="3905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7500"/>
          </a:bodyPr>
          <a:lstStyle/>
          <a:p>
            <a:pPr algn="ctr" defTabSz="91440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cap="all" dirty="0"/>
              <a:t>LEARNING OUTCOMES</a:t>
            </a:r>
          </a:p>
        </p:txBody>
      </p:sp>
      <p:pic>
        <p:nvPicPr>
          <p:cNvPr id="12" name="Graphic 26" descr="Presentation with checklist outlin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488" y="2686050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433384" y="4714564"/>
            <a:ext cx="9555892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Arial"/>
                <a:cs typeface="Arial"/>
              </a:rPr>
              <a:t>At the end of this session, you should be able to:</a:t>
            </a:r>
          </a:p>
          <a:p>
            <a:pPr lvl="0"/>
            <a:r>
              <a:rPr lang="en-US" sz="1600" dirty="0"/>
              <a:t>1. Describe the working of CG amplifier circuits.</a:t>
            </a:r>
            <a:endParaRPr lang="en-IN" sz="1600" dirty="0"/>
          </a:p>
          <a:p>
            <a:r>
              <a:rPr lang="en-US" sz="1600" dirty="0"/>
              <a:t>2. Demonstrate and analyze the operation and parameters of CG amplifier.</a:t>
            </a:r>
            <a:endParaRPr lang="en-US" sz="1600" dirty="0">
              <a:cs typeface="+mn-cs"/>
            </a:endParaRPr>
          </a:p>
        </p:txBody>
      </p:sp>
      <p:pic>
        <p:nvPicPr>
          <p:cNvPr id="14" name="Graphic 30" descr="Idea outline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8925" y="4930775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975" y="804863"/>
            <a:ext cx="9604375" cy="7270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0975" y="2016125"/>
            <a:ext cx="9587728" cy="3749675"/>
          </a:xfrm>
        </p:spPr>
        <p:txBody>
          <a:bodyPr rtlCol="0">
            <a:normAutofit fontScale="92500" lnSpcReduction="20000"/>
          </a:bodyPr>
          <a:lstStyle/>
          <a:p>
            <a:pPr algn="just"/>
            <a:r>
              <a:rPr lang="en-US" dirty="0"/>
              <a:t>A common gate amplifier is a configuration of a field-effect transistor (FET) amplifier commonly used in electronic circuits. </a:t>
            </a:r>
          </a:p>
          <a:p>
            <a:pPr algn="just"/>
            <a:r>
              <a:rPr lang="en-US" dirty="0"/>
              <a:t>In this setup, the </a:t>
            </a:r>
            <a:r>
              <a:rPr lang="en-US" dirty="0">
                <a:solidFill>
                  <a:srgbClr val="FF0000"/>
                </a:solidFill>
              </a:rPr>
              <a:t>input signal is applied to the source terminal</a:t>
            </a:r>
            <a:r>
              <a:rPr lang="en-US" dirty="0"/>
              <a:t>, while the </a:t>
            </a:r>
            <a:r>
              <a:rPr lang="en-US" dirty="0">
                <a:solidFill>
                  <a:srgbClr val="FF0000"/>
                </a:solidFill>
              </a:rPr>
              <a:t>output is taken from the drain</a:t>
            </a:r>
            <a:r>
              <a:rPr lang="en-US" dirty="0"/>
              <a:t> terminal.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gate terminal is connected to a common reference point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common gate amplifier provides </a:t>
            </a:r>
            <a:r>
              <a:rPr lang="en-US" dirty="0">
                <a:solidFill>
                  <a:srgbClr val="FF0000"/>
                </a:solidFill>
              </a:rPr>
              <a:t>voltage amplification </a:t>
            </a:r>
            <a:r>
              <a:rPr lang="en-US" dirty="0"/>
              <a:t>and offers a </a:t>
            </a:r>
            <a:r>
              <a:rPr lang="en-US" dirty="0">
                <a:solidFill>
                  <a:srgbClr val="FF0000"/>
                </a:solidFill>
              </a:rPr>
              <a:t>low input impedance</a:t>
            </a:r>
            <a:r>
              <a:rPr lang="en-US" dirty="0"/>
              <a:t>, making it suitable for </a:t>
            </a:r>
            <a:r>
              <a:rPr lang="en-US" dirty="0">
                <a:solidFill>
                  <a:srgbClr val="FF0000"/>
                </a:solidFill>
              </a:rPr>
              <a:t>interfacing with signal sources that have low output impedance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It exhibits </a:t>
            </a:r>
            <a:r>
              <a:rPr lang="en-US" dirty="0">
                <a:solidFill>
                  <a:srgbClr val="FF0000"/>
                </a:solidFill>
              </a:rPr>
              <a:t>high input and output isolation</a:t>
            </a:r>
            <a:r>
              <a:rPr lang="en-US" dirty="0"/>
              <a:t>, which can be advantageous in certain applications. The </a:t>
            </a:r>
            <a:r>
              <a:rPr lang="en-US" dirty="0">
                <a:solidFill>
                  <a:srgbClr val="FF0000"/>
                </a:solidFill>
              </a:rPr>
              <a:t>common gate amplifier is commonly used in RF amplification, buffer stages, and impedance matching circuits due to its unique characteristics </a:t>
            </a:r>
            <a:r>
              <a:rPr lang="en-US" dirty="0"/>
              <a:t>and performance attributes.</a:t>
            </a:r>
            <a:endParaRPr lang="en-IN" dirty="0"/>
          </a:p>
          <a:p>
            <a:pPr algn="just"/>
            <a:endParaRPr lang="en-IN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CF4690-32E3-4525-A43A-A2805C34E60B}" type="slidenum">
              <a:rPr lang="en-IN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cap="none" dirty="0">
                <a:solidFill>
                  <a:srgbClr val="FF0000"/>
                </a:solidFill>
              </a:rPr>
              <a:t>Common gate amplifier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450976" y="1810178"/>
            <a:ext cx="9604202" cy="2597065"/>
          </a:xfrm>
        </p:spPr>
        <p:txBody>
          <a:bodyPr/>
          <a:lstStyle/>
          <a:p>
            <a:pPr algn="just"/>
            <a:r>
              <a:rPr lang="en-US" dirty="0"/>
              <a:t>In this circuit, input is applied between source and gate and output is taken between drain and gate.</a:t>
            </a:r>
            <a:endParaRPr lang="en-IN" dirty="0"/>
          </a:p>
          <a:p>
            <a:pPr algn="just"/>
            <a:r>
              <a:rPr lang="en-US" dirty="0"/>
              <a:t>In CG Configuration, gate potential is at constant potential. so, </a:t>
            </a:r>
            <a:r>
              <a:rPr lang="en-US" dirty="0">
                <a:solidFill>
                  <a:srgbClr val="FF0000"/>
                </a:solidFill>
              </a:rPr>
              <a:t>increase in input voltage Vi </a:t>
            </a:r>
            <a:r>
              <a:rPr lang="en-US" dirty="0"/>
              <a:t>in positive direction </a:t>
            </a:r>
            <a:r>
              <a:rPr lang="en-US" dirty="0">
                <a:solidFill>
                  <a:srgbClr val="FF0000"/>
                </a:solidFill>
              </a:rPr>
              <a:t>increase the negative gate source voltage</a:t>
            </a:r>
            <a:r>
              <a:rPr lang="en-US" dirty="0"/>
              <a:t>. 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Due to ID reduces; reducing the drop IDRD. Since VD= VDD-IDRD, the reduction in ID results in an increase in output voltage.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7296F9-CC0C-42E8-AA86-0F8F8A8D4782}" type="slidenum">
              <a:rPr lang="en-IN" smtClean="0"/>
              <a:pPr>
                <a:defRPr/>
              </a:pPr>
              <a:t>4</a:t>
            </a:fld>
            <a:endParaRPr lang="en-IN" dirty="0"/>
          </a:p>
        </p:txBody>
      </p:sp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550508" y="4308389"/>
            <a:ext cx="4308389" cy="1776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>
                <a:solidFill>
                  <a:srgbClr val="FF0000"/>
                </a:solidFill>
              </a:rPr>
              <a:t>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34A5E7-8E44-42EB-9075-0FF68D8D23DA}" type="slidenum">
              <a:rPr lang="en-IN" smtClean="0"/>
              <a:pPr>
                <a:defRPr/>
              </a:pPr>
              <a:t>5</a:t>
            </a:fld>
            <a:endParaRPr lang="en-IN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998039" y="1640114"/>
            <a:ext cx="10824883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solidFill>
                  <a:srgbClr val="FF0000"/>
                </a:solidFill>
              </a:rPr>
              <a:t>Input impedance </a:t>
            </a:r>
            <a:r>
              <a:rPr lang="en-US" dirty="0"/>
              <a:t>(Z</a:t>
            </a:r>
            <a:r>
              <a:rPr lang="en-US" baseline="-25000" dirty="0"/>
              <a:t>i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34A5E7-8E44-42EB-9075-0FF68D8D23DA}" type="slidenum">
              <a:rPr lang="en-IN" smtClean="0"/>
              <a:pPr>
                <a:defRPr/>
              </a:pPr>
              <a:t>6</a:t>
            </a:fld>
            <a:endParaRPr lang="en-IN"/>
          </a:p>
        </p:txBody>
      </p:sp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35710"/>
          <a:stretch>
            <a:fillRect/>
          </a:stretch>
        </p:blipFill>
        <p:spPr bwMode="auto">
          <a:xfrm>
            <a:off x="1655805" y="1977081"/>
            <a:ext cx="3179805" cy="3990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5428735" y="1944130"/>
            <a:ext cx="4151870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defTabSz="457200" eaLnBrk="0" latinLnBrk="0" hangingPunct="0">
              <a:spcBef>
                <a:spcPts val="0"/>
              </a:spcBef>
              <a:buClr>
                <a:schemeClr val="accent1"/>
              </a:buClr>
              <a:buSzPct val="100000"/>
              <a:tabLst/>
            </a:pPr>
            <a:r>
              <a:rPr lang="en-US" sz="2000" dirty="0">
                <a:latin typeface="+mn-lt"/>
                <a:cs typeface="+mn-cs"/>
              </a:rPr>
              <a:t>After substituting and simplification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247504" y="2409568"/>
            <a:ext cx="5091272" cy="35958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06B858-C68A-568B-F28E-B1974BA2C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483" y="2409568"/>
            <a:ext cx="1360750" cy="609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solidFill>
                  <a:srgbClr val="FF0000"/>
                </a:solidFill>
              </a:rPr>
              <a:t>Output impedance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baseline="-25000" dirty="0">
                <a:solidFill>
                  <a:srgbClr val="FF0000"/>
                </a:solidFill>
              </a:rPr>
              <a:t>o</a:t>
            </a:r>
            <a:endParaRPr lang="en-IN" baseline="-25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34A5E7-8E44-42EB-9075-0FF68D8D23DA}" type="slidenum">
              <a:rPr lang="en-IN" smtClean="0"/>
              <a:pPr>
                <a:defRPr/>
              </a:pPr>
              <a:t>7</a:t>
            </a:fld>
            <a:endParaRPr lang="en-IN"/>
          </a:p>
        </p:txBody>
      </p:sp>
      <p:pic>
        <p:nvPicPr>
          <p:cNvPr id="34824" name="Picture 8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385751" y="2232453"/>
            <a:ext cx="4505008" cy="3677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solidFill>
                  <a:srgbClr val="FF0000"/>
                </a:solidFill>
              </a:rPr>
              <a:t>Voltage gain (Av)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34A5E7-8E44-42EB-9075-0FF68D8D23DA}" type="slidenum">
              <a:rPr lang="en-IN" smtClean="0"/>
              <a:pPr>
                <a:defRPr/>
              </a:pPr>
              <a:t>8</a:t>
            </a:fld>
            <a:endParaRPr lang="en-IN"/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031524" y="1919417"/>
            <a:ext cx="4193060" cy="410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235570" y="756153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 common gate amplifier is a type of field-effect transistor (FET) amplifier configuration commonly used in electronic circuits.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In this setup, the input signal is applied to the source terminal, and the output is taken from the drain terminal, while the gate terminal is connected to a common reference point.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The common gate amplifier provides voltage amplification and exhibits a low input impedance, making it suitable for interfacing with signal sources that have low output impedance.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It also offers high input and output isolation, which can be beneficial in specific applications.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Common gate amplifiers find application in RF amplification, buffer stages, and impedance matching circuits due to their unique characteristics and performance attributes.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46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41209" y="81971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1. The voltage gain of the common-gate amplifier is primarily determined by the:</a:t>
            </a: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	a) Load resistor</a:t>
            </a: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	b) Drain resistor</a:t>
            </a: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	c) Source resistor</a:t>
            </a: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	d) Gate resistor</a:t>
            </a: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2. The common-gate amplifier exhibits a relatively:</a:t>
            </a: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	a) High input impedance and low output impedance</a:t>
            </a: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	b) Low input impedance and high output impedance</a:t>
            </a: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	c) High input impedance and high output impedance</a:t>
            </a: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	d) Low input impedance and low output impedance</a:t>
            </a:r>
            <a:endParaRPr lang="en-IN" dirty="0"/>
          </a:p>
          <a:p>
            <a:pPr marL="0" algn="just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700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415350" y="778524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1. Draw the small signal model of common gate amplifier</a:t>
            </a:r>
          </a:p>
          <a:p>
            <a:pPr>
              <a:buNone/>
            </a:pPr>
            <a:r>
              <a:rPr lang="en-IN" dirty="0"/>
              <a:t>2. Find the input impedance and voltage gain of common gate amplifier</a:t>
            </a:r>
          </a:p>
        </p:txBody>
      </p:sp>
    </p:spTree>
    <p:extLst>
      <p:ext uri="{BB962C8B-B14F-4D97-AF65-F5344CB8AC3E}">
        <p14:creationId xmlns:p14="http://schemas.microsoft.com/office/powerpoint/2010/main" val="23500435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268400" y="733168"/>
            <a:ext cx="7105194" cy="63798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</a:p>
          <a:p>
            <a:r>
              <a:rPr lang="en-US" dirty="0"/>
              <a:t>1. Jacob </a:t>
            </a:r>
            <a:r>
              <a:rPr lang="en-US" dirty="0" err="1"/>
              <a:t>Millman</a:t>
            </a:r>
            <a:r>
              <a:rPr lang="en-US" dirty="0"/>
              <a:t> - “Electronic Devices and Circuits”, 4</a:t>
            </a:r>
            <a:r>
              <a:rPr lang="en-US" baseline="30000" dirty="0"/>
              <a:t>th</a:t>
            </a:r>
            <a:r>
              <a:rPr lang="en-US" dirty="0"/>
              <a:t> Edition, McGraw Hill Education (2015)</a:t>
            </a:r>
            <a:endParaRPr lang="en-IN" dirty="0"/>
          </a:p>
          <a:p>
            <a:r>
              <a:rPr lang="en-US" dirty="0"/>
              <a:t>2. D Roy </a:t>
            </a:r>
            <a:r>
              <a:rPr lang="en-US" dirty="0" err="1"/>
              <a:t>Choudhury</a:t>
            </a:r>
            <a:r>
              <a:rPr lang="en-US" dirty="0"/>
              <a:t> and </a:t>
            </a:r>
            <a:r>
              <a:rPr lang="en-US" dirty="0" err="1"/>
              <a:t>Shail</a:t>
            </a:r>
            <a:r>
              <a:rPr lang="en-US" dirty="0"/>
              <a:t> B. Jain – “Linear Integrated Circuits”, 4</a:t>
            </a:r>
            <a:r>
              <a:rPr lang="en-US" baseline="30000" dirty="0"/>
              <a:t>th</a:t>
            </a:r>
            <a:r>
              <a:rPr lang="en-US" dirty="0"/>
              <a:t> Edition, New Age International </a:t>
            </a:r>
            <a:r>
              <a:rPr lang="en-US" dirty="0" err="1"/>
              <a:t>Pvt.Ltd</a:t>
            </a:r>
            <a:r>
              <a:rPr lang="en-US" dirty="0"/>
              <a:t>. (2017)</a:t>
            </a:r>
            <a:endParaRPr lang="en-IN" dirty="0"/>
          </a:p>
          <a:p>
            <a:r>
              <a:rPr lang="en-US" dirty="0"/>
              <a:t>3. David A. Bell - “Electronic Devices and Circuits”, 5</a:t>
            </a:r>
            <a:r>
              <a:rPr lang="en-US" baseline="30000" dirty="0"/>
              <a:t>th</a:t>
            </a:r>
            <a:r>
              <a:rPr lang="en-US" dirty="0"/>
              <a:t> Edition, Oxford University Press (2008)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u="sng" dirty="0">
                <a:hlinkClick r:id="rId2"/>
              </a:rPr>
              <a:t>https://www.learnelectronicswithme.com/2020/07/what-is-jfet-construction-and-working.html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u="sng" dirty="0">
                <a:hlinkClick r:id="rId3"/>
              </a:rPr>
              <a:t>https://electronicspost.com/explain-the-construction-and-working-of-a-jfet-what-is-the-difference-between-a-jfet-and-a-bjt/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u="sng" dirty="0">
                <a:hlinkClick r:id="rId4"/>
              </a:rPr>
              <a:t>https://electronicsdesk.com/junction-field-effect-transistor.html</a:t>
            </a:r>
            <a:endParaRPr lang="en-IN" dirty="0"/>
          </a:p>
          <a:p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2783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35474" y="2169971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</a:t>
            </a: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ANALOG ELECTRONIC DEVICES AND CIRCUITS</a:t>
            </a: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0300453"/>
      </p:ext>
    </p:extLst>
  </p:cSld>
  <p:clrMapOvr>
    <a:masterClrMapping/>
  </p:clrMapOvr>
</p:sld>
</file>

<file path=ppt/theme/theme1.xml><?xml version="1.0" encoding="utf-8"?>
<a:theme xmlns:a="http://schemas.openxmlformats.org/drawingml/2006/main" name="CoE PPT Template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874</TotalTime>
  <Words>690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Gill Sans MT</vt:lpstr>
      <vt:lpstr>Poppins</vt:lpstr>
      <vt:lpstr>Stencil</vt:lpstr>
      <vt:lpstr>CoE PPT Template</vt:lpstr>
      <vt:lpstr>PowerPoint Presentation</vt:lpstr>
      <vt:lpstr>AIM OF THE SESSION</vt:lpstr>
      <vt:lpstr>Introduction</vt:lpstr>
      <vt:lpstr>Common gate amplifier</vt:lpstr>
      <vt:lpstr>Analysis</vt:lpstr>
      <vt:lpstr>Input impedance (Zi)</vt:lpstr>
      <vt:lpstr>Output impedance Zo</vt:lpstr>
      <vt:lpstr>Voltage gain (Av)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klu</dc:creator>
  <cp:lastModifiedBy>syam sundar pillalamarri</cp:lastModifiedBy>
  <cp:revision>51</cp:revision>
  <dcterms:created xsi:type="dcterms:W3CDTF">2023-05-02T05:41:39Z</dcterms:created>
  <dcterms:modified xsi:type="dcterms:W3CDTF">2025-08-28T06:59:50Z</dcterms:modified>
</cp:coreProperties>
</file>