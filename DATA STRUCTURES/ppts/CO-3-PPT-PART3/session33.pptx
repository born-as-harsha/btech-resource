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1" r:id="rId3"/>
    <p:sldId id="300" r:id="rId5"/>
    <p:sldId id="258" r:id="rId6"/>
    <p:sldId id="288" r:id="rId7"/>
    <p:sldId id="290" r:id="rId8"/>
    <p:sldId id="305" r:id="rId9"/>
    <p:sldId id="285" r:id="rId10"/>
    <p:sldId id="310" r:id="rId11"/>
    <p:sldId id="311" r:id="rId12"/>
    <p:sldId id="312" r:id="rId13"/>
    <p:sldId id="313" r:id="rId14"/>
    <p:sldId id="314" r:id="rId15"/>
    <p:sldId id="315" r:id="rId16"/>
    <p:sldId id="287" r:id="rId17"/>
    <p:sldId id="301" r:id="rId18"/>
    <p:sldId id="302" r:id="rId19"/>
    <p:sldId id="303" r:id="rId20"/>
    <p:sldId id="30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689"/>
  </p:normalViewPr>
  <p:slideViewPr>
    <p:cSldViewPr snapToGrid="0" showGuides="1">
      <p:cViewPr>
        <p:scale>
          <a:sx n="59" d="100"/>
          <a:sy n="59" d="100"/>
        </p:scale>
        <p:origin x="940"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customXml" Target="../customXml/item3.xml"/><Relationship Id="rId26" Type="http://schemas.openxmlformats.org/officeDocument/2006/relationships/customXml" Target="../customXml/item2.xml"/><Relationship Id="rId25" Type="http://schemas.openxmlformats.org/officeDocument/2006/relationships/customXml" Target="../customXml/item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2" cstate="print">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3" cstate="print">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endParaRPr lang="en-US" sz="80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4.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11017"/>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1" cstate="print">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05685"/>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DESIGN OF DATA STRUCTURES</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24SC1203</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4000" b="1" cap="all" dirty="0">
                <a:solidFill>
                  <a:srgbClr val="C00000"/>
                </a:solidFill>
                <a:effectLst/>
                <a:cs typeface="Poppins" panose="00000500000000000000" pitchFamily="2" charset="0"/>
              </a:rPr>
              <a:t>SPLAY TREES</a:t>
            </a:r>
            <a:endParaRPr lang="en-US" sz="4000" b="1" dirty="0">
              <a:solidFill>
                <a:srgbClr val="C00000"/>
              </a:solidFill>
              <a:effectLst/>
              <a:cs typeface="Poppins" panose="00000500000000000000" pitchFamily="2" charset="0"/>
            </a:endParaRP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endParaRPr lang="en-US" sz="4000" dirty="0">
              <a:solidFill>
                <a:srgbClr val="C00000"/>
              </a:solidFill>
              <a:cs typeface="Poppins" pitchFamily="2" charset="77"/>
            </a:endParaRPr>
          </a:p>
        </p:txBody>
      </p:sp>
      <p:sp>
        <p:nvSpPr>
          <p:cNvPr id="8" name="Google Shape;502;p17"/>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Session - 33</a:t>
            </a:r>
            <a:endParaRPr sz="2400" dirty="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2" cstate="print"/>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endParaRPr lang="en-US" sz="2400" dirty="0"/>
          </a:p>
        </p:txBody>
      </p:sp>
      <p:sp>
        <p:nvSpPr>
          <p:cNvPr id="5" name="TextBox 4"/>
          <p:cNvSpPr txBox="1"/>
          <p:nvPr/>
        </p:nvSpPr>
        <p:spPr>
          <a:xfrm>
            <a:off x="914400" y="654973"/>
            <a:ext cx="10731286" cy="65883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2800" b="0" i="0" dirty="0">
                <a:effectLst/>
                <a:latin typeface="Poppins"/>
                <a:cs typeface="Poppins"/>
              </a:rPr>
              <a:t>To familiarize students with the basic concept of Splay Trees</a:t>
            </a:r>
            <a:endParaRPr lang="en-US" sz="2800" b="0" i="0" dirty="0">
              <a:effectLst/>
              <a:latin typeface="Poppins"/>
              <a:cs typeface="Poppins"/>
            </a:endParaRPr>
          </a:p>
        </p:txBody>
      </p:sp>
      <p:sp>
        <p:nvSpPr>
          <p:cNvPr id="7" name="Rounded Rectangle 17"/>
          <p:cNvSpPr/>
          <p:nvPr/>
        </p:nvSpPr>
        <p:spPr>
          <a:xfrm>
            <a:off x="4160582" y="160059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endParaRPr lang="en-US" sz="2400" dirty="0"/>
          </a:p>
        </p:txBody>
      </p:sp>
      <p:sp>
        <p:nvSpPr>
          <p:cNvPr id="9" name="TextBox 8"/>
          <p:cNvSpPr txBox="1"/>
          <p:nvPr/>
        </p:nvSpPr>
        <p:spPr>
          <a:xfrm>
            <a:off x="1752600" y="2158393"/>
            <a:ext cx="8791575" cy="193899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2000" dirty="0">
                <a:latin typeface="Poppins"/>
                <a:cs typeface="Poppins"/>
              </a:rPr>
              <a:t>This</a:t>
            </a:r>
            <a:r>
              <a:rPr lang="en-US" sz="2000" b="0" i="0" dirty="0">
                <a:effectLst/>
                <a:latin typeface="Poppins"/>
                <a:cs typeface="Poppins"/>
              </a:rPr>
              <a:t> </a:t>
            </a:r>
            <a:r>
              <a:rPr lang="en-US" sz="2000" dirty="0">
                <a:latin typeface="Poppins"/>
                <a:cs typeface="Poppins"/>
              </a:rPr>
              <a:t>Session</a:t>
            </a:r>
            <a:r>
              <a:rPr lang="en-US" sz="2000" b="0" i="0" dirty="0">
                <a:effectLst/>
                <a:latin typeface="Poppins"/>
                <a:cs typeface="Poppins"/>
              </a:rPr>
              <a:t> is designed to:</a:t>
            </a:r>
            <a:endParaRPr lang="en-US" sz="2000" b="0" i="0" dirty="0">
              <a:effectLst/>
              <a:latin typeface="Poppins"/>
              <a:cs typeface="Poppins"/>
            </a:endParaRPr>
          </a:p>
          <a:p>
            <a:pPr marL="342900" indent="-342900">
              <a:buAutoNum type="arabicPeriod"/>
            </a:pPr>
            <a:r>
              <a:rPr lang="en-US" sz="2000" b="0" i="0" dirty="0">
                <a:effectLst/>
                <a:latin typeface="Arial" panose="020B0604020202020204" pitchFamily="34" charset="0"/>
              </a:rPr>
              <a:t>Demonstrate Splay Tree</a:t>
            </a:r>
            <a:endParaRPr lang="en-US" sz="2000" b="0" i="0" dirty="0">
              <a:effectLst/>
              <a:latin typeface="Arial" panose="020B0604020202020204" pitchFamily="34" charset="0"/>
            </a:endParaRPr>
          </a:p>
          <a:p>
            <a:pPr marL="342900" indent="-342900">
              <a:buAutoNum type="arabicPeriod"/>
            </a:pPr>
            <a:r>
              <a:rPr lang="en-US" sz="2000" b="0" i="0" dirty="0">
                <a:effectLst/>
                <a:latin typeface="Arial" panose="020B0604020202020204" pitchFamily="34" charset="0"/>
              </a:rPr>
              <a:t>Describe the different</a:t>
            </a:r>
            <a:r>
              <a:rPr lang="en-US" sz="2000" dirty="0">
                <a:latin typeface="Arial" panose="020B0604020202020204" pitchFamily="34" charset="0"/>
              </a:rPr>
              <a:t> types of rotations performed on the splay tree</a:t>
            </a:r>
            <a:endParaRPr lang="en-US" sz="2000" dirty="0">
              <a:latin typeface="Arial" panose="020B0604020202020204" pitchFamily="34" charset="0"/>
            </a:endParaRPr>
          </a:p>
          <a:p>
            <a:pPr marL="342900" indent="-342900">
              <a:buAutoNum type="arabicPeriod"/>
            </a:pPr>
            <a:r>
              <a:rPr lang="en-US" sz="2000" b="0" i="0" dirty="0">
                <a:effectLst/>
                <a:latin typeface="Arial" panose="020B0604020202020204" pitchFamily="34" charset="0"/>
              </a:rPr>
              <a:t>List out the advantages of Splay Trees</a:t>
            </a:r>
            <a:endParaRPr lang="en-US" sz="2000" b="0" i="0" dirty="0">
              <a:effectLst/>
              <a:latin typeface="Arial" panose="020B0604020202020204" pitchFamily="34" charset="0"/>
            </a:endParaRPr>
          </a:p>
          <a:p>
            <a:pPr marL="342900" indent="-342900">
              <a:buAutoNum type="arabicPeriod"/>
            </a:pPr>
            <a:r>
              <a:rPr lang="en-US" sz="2000" b="0" i="0" dirty="0">
                <a:effectLst/>
                <a:latin typeface="Arial" panose="020B0604020202020204"/>
                <a:cs typeface="Arial" panose="020B0604020202020204"/>
              </a:rPr>
              <a:t>Describe the Time Complexities of Splay Trees</a:t>
            </a:r>
            <a:endParaRPr lang="en-US" sz="2000" dirty="0">
              <a:latin typeface="Arial" panose="020B0604020202020204"/>
              <a:cs typeface="Arial" panose="020B0604020202020204"/>
            </a:endParaRPr>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055157"/>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endParaRPr lang="en-US" sz="2400" dirty="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6312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2000" b="0" i="0" dirty="0">
                <a:effectLst/>
                <a:latin typeface="Arial" panose="020B0604020202020204"/>
                <a:cs typeface="Arial" panose="020B0604020202020204"/>
              </a:rPr>
              <a:t>At the end of this </a:t>
            </a:r>
            <a:r>
              <a:rPr lang="en-US" sz="2000" dirty="0">
                <a:latin typeface="Arial" panose="020B0604020202020204"/>
                <a:cs typeface="Arial" panose="020B0604020202020204"/>
              </a:rPr>
              <a:t>session</a:t>
            </a:r>
            <a:r>
              <a:rPr lang="en-US" sz="2000" b="0" i="0" dirty="0">
                <a:effectLst/>
                <a:latin typeface="Arial" panose="020B0604020202020204"/>
                <a:cs typeface="Arial" panose="020B0604020202020204"/>
              </a:rPr>
              <a:t>, you should be able to:</a:t>
            </a:r>
            <a:endParaRPr lang="en-US" sz="2000" b="0" i="0" dirty="0">
              <a:effectLst/>
              <a:latin typeface="Arial" panose="020B0604020202020204"/>
              <a:cs typeface="Arial" panose="020B0604020202020204"/>
            </a:endParaRPr>
          </a:p>
          <a:p>
            <a:pPr marL="342900" indent="-342900">
              <a:buAutoNum type="arabicPeriod"/>
            </a:pPr>
            <a:r>
              <a:rPr lang="en-US" sz="2000" b="0" i="0" dirty="0">
                <a:effectLst/>
                <a:latin typeface="Arial" panose="020B0604020202020204" pitchFamily="34" charset="0"/>
              </a:rPr>
              <a:t>Define Splay Tree. </a:t>
            </a:r>
            <a:endParaRPr lang="en-US" sz="2000" b="0" i="0" dirty="0">
              <a:effectLst/>
              <a:latin typeface="Arial" panose="020B0604020202020204" pitchFamily="34" charset="0"/>
            </a:endParaRPr>
          </a:p>
          <a:p>
            <a:pPr marL="342900" indent="-342900">
              <a:buAutoNum type="arabicPeriod"/>
            </a:pPr>
            <a:r>
              <a:rPr lang="en-US" sz="2000" b="0" i="0" dirty="0">
                <a:effectLst/>
                <a:latin typeface="Arial" panose="020B0604020202020204" pitchFamily="34" charset="0"/>
              </a:rPr>
              <a:t>Describe the Advantages of using the Splay Trees in Real Time</a:t>
            </a:r>
            <a:endParaRPr lang="en-US" sz="2000" b="0" i="0" dirty="0">
              <a:effectLst/>
              <a:latin typeface="Arial" panose="020B0604020202020204" pitchFamily="34" charset="0"/>
            </a:endParaRPr>
          </a:p>
          <a:p>
            <a:pPr marL="342900" indent="-342900">
              <a:buAutoNum type="arabicPeriod"/>
            </a:pPr>
            <a:r>
              <a:rPr lang="en-US" sz="2000" dirty="0">
                <a:latin typeface="Arial" panose="020B0604020202020204" pitchFamily="34" charset="0"/>
              </a:rPr>
              <a:t>Summarize the Splay Tree Concept</a:t>
            </a:r>
            <a:endParaRPr lang="en-US" sz="20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7" cstate="print"/>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endParaRPr lang="en-US" sz="2400" dirty="0"/>
          </a:p>
        </p:txBody>
      </p:sp>
      <p:pic>
        <p:nvPicPr>
          <p:cNvPr id="4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449420" y="391256"/>
            <a:ext cx="9719815" cy="1015663"/>
          </a:xfrm>
          <a:prstGeom prst="rect">
            <a:avLst/>
          </a:prstGeom>
          <a:noFill/>
        </p:spPr>
        <p:txBody>
          <a:bodyPr wrap="square">
            <a:spAutoFit/>
          </a:bodyPr>
          <a:lstStyle/>
          <a:p>
            <a:r>
              <a:rPr lang="en-US" altLang="en-US" sz="6000" b="1" dirty="0">
                <a:solidFill>
                  <a:srgbClr val="A50021"/>
                </a:solidFill>
                <a:latin typeface="Times New Roman" panose="02020603050405020304" pitchFamily="18" charset="0"/>
                <a:ea typeface="+mj-ea"/>
                <a:cs typeface="Times New Roman" panose="02020603050405020304" pitchFamily="18" charset="0"/>
              </a:rPr>
              <a:t>What is Splay Tree?</a:t>
            </a:r>
            <a:endParaRPr lang="en-US" altLang="en-US" sz="6000" b="1" dirty="0">
              <a:solidFill>
                <a:srgbClr val="A50021"/>
              </a:solidFill>
              <a:latin typeface="Times New Roman" panose="02020603050405020304" pitchFamily="18" charset="0"/>
              <a:ea typeface="+mj-ea"/>
              <a:cs typeface="Times New Roman" panose="02020603050405020304" pitchFamily="18" charset="0"/>
            </a:endParaRPr>
          </a:p>
        </p:txBody>
      </p:sp>
      <p:sp>
        <p:nvSpPr>
          <p:cNvPr id="6" name="Rectangle 3"/>
          <p:cNvSpPr txBox="1">
            <a:spLocks noChangeArrowheads="1"/>
          </p:cNvSpPr>
          <p:nvPr/>
        </p:nvSpPr>
        <p:spPr>
          <a:xfrm>
            <a:off x="107985" y="1336964"/>
            <a:ext cx="11903905" cy="5354781"/>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altLang="zh-TW" sz="2800" b="1" dirty="0">
                <a:solidFill>
                  <a:schemeClr val="folHlink"/>
                </a:solidFill>
                <a:ea typeface="PMingLiU"/>
              </a:rPr>
              <a:t>Splay trees are the self-balancing or self-adjusted binary search trees</a:t>
            </a:r>
            <a:endParaRPr lang="en-US" altLang="zh-TW" sz="2800" b="1" dirty="0">
              <a:solidFill>
                <a:schemeClr val="folHlink"/>
              </a:solidFill>
              <a:ea typeface="PMingLiU"/>
              <a:cs typeface="Calibri" panose="020F0502020204030204"/>
            </a:endParaRPr>
          </a:p>
          <a:p>
            <a:pPr lvl="2" algn="just">
              <a:lnSpc>
                <a:spcPct val="160000"/>
              </a:lnSpc>
              <a:spcAft>
                <a:spcPts val="600"/>
              </a:spcAft>
            </a:pPr>
            <a:r>
              <a:rPr lang="en-US" altLang="zh-TW" sz="2400" dirty="0"/>
              <a:t>A splay tree is a self-balancing tree, like AVL and Red-Black Trees.</a:t>
            </a:r>
            <a:endParaRPr lang="en-US" altLang="zh-TW" sz="2400" dirty="0"/>
          </a:p>
          <a:p>
            <a:pPr lvl="2" algn="just">
              <a:lnSpc>
                <a:spcPct val="160000"/>
              </a:lnSpc>
              <a:spcAft>
                <a:spcPts val="600"/>
              </a:spcAft>
            </a:pPr>
            <a:r>
              <a:rPr lang="en-US" sz="2400" dirty="0"/>
              <a:t>Splay Tree has one extra property that makes it unique is splaying.</a:t>
            </a:r>
            <a:endParaRPr lang="en-US" sz="2400" dirty="0"/>
          </a:p>
          <a:p>
            <a:pPr lvl="2" algn="just">
              <a:lnSpc>
                <a:spcPct val="160000"/>
              </a:lnSpc>
              <a:spcAft>
                <a:spcPts val="600"/>
              </a:spcAft>
            </a:pPr>
            <a:r>
              <a:rPr lang="en-US" sz="2400" dirty="0"/>
              <a:t>A splay tree contains the same operations as a Binary Search Tree, i.e., Insertion, Deletion and Searching, but it also contains one more operation, i.e., Splaying. So, all the operations in the splay tree are followed by splaying.</a:t>
            </a:r>
            <a:endParaRPr lang="en-US" sz="2400" dirty="0"/>
          </a:p>
          <a:p>
            <a:pPr lvl="2" algn="just">
              <a:lnSpc>
                <a:spcPct val="160000"/>
              </a:lnSpc>
              <a:spcAft>
                <a:spcPts val="600"/>
              </a:spcAft>
            </a:pPr>
            <a:r>
              <a:rPr lang="en-US" sz="2400" dirty="0"/>
              <a:t>The splay tree can be defined as the self-adjusted tree in which any operation performed on the element would rearrange the tree so that the element on which operation has been performed becomes the root node of the tree.</a:t>
            </a:r>
            <a:endParaRPr lang="en-US" altLang="zh-TW" sz="24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26" name="TextBox 25"/>
          <p:cNvSpPr txBox="1"/>
          <p:nvPr/>
        </p:nvSpPr>
        <p:spPr>
          <a:xfrm>
            <a:off x="1150369"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299883" y="522575"/>
            <a:ext cx="9552039" cy="830997"/>
          </a:xfrm>
          <a:prstGeom prst="rect">
            <a:avLst/>
          </a:prstGeom>
          <a:noFill/>
        </p:spPr>
        <p:txBody>
          <a:bodyPr wrap="square">
            <a:spAutoFit/>
          </a:bodyPr>
          <a:lstStyle/>
          <a:p>
            <a:r>
              <a:rPr lang="en-IN" sz="4800" b="1" dirty="0">
                <a:solidFill>
                  <a:srgbClr val="A50021"/>
                </a:solidFill>
                <a:latin typeface="Times New Roman" panose="02020603050405020304" pitchFamily="18" charset="0"/>
                <a:cs typeface="Times New Roman" panose="02020603050405020304" pitchFamily="18" charset="0"/>
              </a:rPr>
              <a:t>Example Splay Tree Operations</a:t>
            </a:r>
            <a:endParaRPr lang="en-US" altLang="en-US" sz="4800" b="1" dirty="0">
              <a:solidFill>
                <a:srgbClr val="A5002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58878" y="1265295"/>
            <a:ext cx="8327922" cy="2727926"/>
          </a:xfrm>
          <a:prstGeom prst="rect">
            <a:avLst/>
          </a:prstGeom>
          <a:noFill/>
        </p:spPr>
        <p:txBody>
          <a:bodyPr wrap="square">
            <a:spAutoFit/>
          </a:bodyPr>
          <a:lstStyle/>
          <a:p>
            <a:pPr algn="just">
              <a:lnSpc>
                <a:spcPct val="95000"/>
              </a:lnSpc>
              <a:spcBef>
                <a:spcPts val="700"/>
              </a:spcBef>
              <a:buFont typeface="Monotype Sorts" pitchFamily="2" charset="2"/>
              <a:buNone/>
              <a:tabLst>
                <a:tab pos="1026795" algn="l"/>
                <a:tab pos="1941195" algn="l"/>
                <a:tab pos="2855595" algn="l"/>
                <a:tab pos="3769995" algn="l"/>
                <a:tab pos="4684395" algn="l"/>
                <a:tab pos="5598795" algn="l"/>
                <a:tab pos="6513195" algn="l"/>
                <a:tab pos="7427595" algn="l"/>
                <a:tab pos="8341995" algn="l"/>
                <a:tab pos="9256395" algn="l"/>
                <a:tab pos="10170795" algn="l"/>
              </a:tabLst>
            </a:pPr>
            <a:r>
              <a:rPr lang="en-US" altLang="en-US" sz="2800" dirty="0">
                <a:latin typeface="Times New Roman" panose="02020603050405020304" pitchFamily="18" charset="0"/>
                <a:cs typeface="Times New Roman" panose="02020603050405020304" pitchFamily="18" charset="0"/>
              </a:rPr>
              <a:t>Splay trees are not strictly balanced trees, but they are roughly balanced trees. Let's understand the search operation in the splay-tree</a:t>
            </a:r>
            <a:endParaRPr lang="en-US" altLang="en-US" sz="2800" dirty="0">
              <a:latin typeface="Times New Roman" panose="02020603050405020304" pitchFamily="18" charset="0"/>
              <a:cs typeface="Times New Roman" panose="02020603050405020304" pitchFamily="18" charset="0"/>
            </a:endParaRPr>
          </a:p>
          <a:p>
            <a:pPr algn="just">
              <a:lnSpc>
                <a:spcPct val="95000"/>
              </a:lnSpc>
              <a:spcBef>
                <a:spcPts val="700"/>
              </a:spcBef>
              <a:buFont typeface="Monotype Sorts" pitchFamily="2" charset="2"/>
              <a:buNone/>
              <a:tabLst>
                <a:tab pos="1026795" algn="l"/>
                <a:tab pos="1941195" algn="l"/>
                <a:tab pos="2855595" algn="l"/>
                <a:tab pos="3769995" algn="l"/>
                <a:tab pos="4684395" algn="l"/>
                <a:tab pos="5598795" algn="l"/>
                <a:tab pos="6513195" algn="l"/>
                <a:tab pos="7427595" algn="l"/>
                <a:tab pos="8341995" algn="l"/>
                <a:tab pos="9256395" algn="l"/>
                <a:tab pos="10170795" algn="l"/>
              </a:tabLst>
            </a:pPr>
            <a:r>
              <a:rPr lang="en-US" altLang="en-US" sz="2800" dirty="0">
                <a:latin typeface="Times New Roman" panose="02020603050405020304" pitchFamily="18" charset="0"/>
                <a:cs typeface="Times New Roman" panose="02020603050405020304" pitchFamily="18" charset="0"/>
              </a:rPr>
              <a:t>Suppose we want to search 7 element in the tree, which is shown below</a:t>
            </a:r>
            <a:endParaRPr lang="en-US" altLang="en-US" sz="2800" dirty="0">
              <a:latin typeface="Times New Roman" panose="02020603050405020304" pitchFamily="18" charset="0"/>
              <a:cs typeface="Times New Roman" panose="02020603050405020304" pitchFamily="18" charset="0"/>
            </a:endParaRPr>
          </a:p>
          <a:p>
            <a:pPr algn="just">
              <a:lnSpc>
                <a:spcPct val="95000"/>
              </a:lnSpc>
              <a:spcBef>
                <a:spcPts val="700"/>
              </a:spcBef>
              <a:buFont typeface="Monotype Sorts" pitchFamily="2" charset="2"/>
              <a:buNone/>
              <a:tabLst>
                <a:tab pos="1026795" algn="l"/>
                <a:tab pos="1941195" algn="l"/>
                <a:tab pos="2855595" algn="l"/>
                <a:tab pos="3769995" algn="l"/>
                <a:tab pos="4684395" algn="l"/>
                <a:tab pos="5598795" algn="l"/>
                <a:tab pos="6513195" algn="l"/>
                <a:tab pos="7427595" algn="l"/>
                <a:tab pos="8341995" algn="l"/>
                <a:tab pos="9256395" algn="l"/>
                <a:tab pos="10170795" algn="l"/>
              </a:tabLst>
            </a:pPr>
            <a:endParaRPr lang="en-GB" altLang="en-US" sz="2800" dirty="0">
              <a:latin typeface="Times New Roman" panose="02020603050405020304" pitchFamily="18" charset="0"/>
              <a:cs typeface="Times New Roman" panose="02020603050405020304" pitchFamily="18" charset="0"/>
            </a:endParaRPr>
          </a:p>
        </p:txBody>
      </p:sp>
      <p:pic>
        <p:nvPicPr>
          <p:cNvPr id="7" name="Picture 6" descr="Splay Tree"/>
          <p:cNvPicPr/>
          <p:nvPr/>
        </p:nvPicPr>
        <p:blipFill>
          <a:blip r:embed="rId2" cstate="print"/>
          <a:srcRect/>
          <a:stretch>
            <a:fillRect/>
          </a:stretch>
        </p:blipFill>
        <p:spPr bwMode="auto">
          <a:xfrm>
            <a:off x="6011636" y="2839811"/>
            <a:ext cx="6191250" cy="402907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endParaRPr lang="en-US" sz="2400" dirty="0"/>
          </a:p>
        </p:txBody>
      </p:sp>
      <p:pic>
        <p:nvPicPr>
          <p:cNvPr id="1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itle 4"/>
          <p:cNvSpPr txBox="1">
            <a:spLocks noGrp="1"/>
          </p:cNvSpPr>
          <p:nvPr>
            <p:ph type="title"/>
          </p:nvPr>
        </p:nvSpPr>
        <p:spPr>
          <a:xfrm>
            <a:off x="427681" y="858161"/>
            <a:ext cx="11444748" cy="701731"/>
          </a:xfrm>
          <a:prstGeom prst="rect">
            <a:avLst/>
          </a:prstGeom>
          <a:noFill/>
        </p:spPr>
        <p:txBody>
          <a:bodyPr wrap="square">
            <a:spAutoFit/>
          </a:bodyPr>
          <a:lstStyle/>
          <a:p>
            <a:r>
              <a:rPr lang="en-IN" b="1" dirty="0">
                <a:solidFill>
                  <a:srgbClr val="A50021"/>
                </a:solidFill>
                <a:latin typeface="Times New Roman" panose="02020603050405020304" pitchFamily="18" charset="0"/>
                <a:cs typeface="Times New Roman" panose="02020603050405020304" pitchFamily="18" charset="0"/>
              </a:rPr>
              <a:t>Example Splay Tree Operations Cont…</a:t>
            </a:r>
            <a:endParaRPr lang="en-US" altLang="en-US" b="1" dirty="0">
              <a:solidFill>
                <a:srgbClr val="A50021"/>
              </a:solidFill>
              <a:latin typeface="Times New Roman" panose="02020603050405020304" pitchFamily="18" charset="0"/>
              <a:cs typeface="Times New Roman" panose="02020603050405020304" pitchFamily="18" charset="0"/>
            </a:endParaRPr>
          </a:p>
        </p:txBody>
      </p:sp>
      <p:sp>
        <p:nvSpPr>
          <p:cNvPr id="7" name="Content Placeholder 3"/>
          <p:cNvSpPr>
            <a:spLocks noGrp="1"/>
          </p:cNvSpPr>
          <p:nvPr>
            <p:ph idx="1"/>
          </p:nvPr>
        </p:nvSpPr>
        <p:spPr>
          <a:xfrm>
            <a:off x="344129" y="1828800"/>
            <a:ext cx="10972800" cy="5029200"/>
          </a:xfrm>
        </p:spPr>
        <p:txBody>
          <a:bodyPr/>
          <a:lstStyle/>
          <a:p>
            <a:pPr algn="just"/>
            <a:r>
              <a:rPr lang="en-US" altLang="en-US" sz="2800" dirty="0">
                <a:solidFill>
                  <a:schemeClr val="tx1"/>
                </a:solidFill>
                <a:latin typeface="Times New Roman" panose="02020603050405020304" pitchFamily="18" charset="0"/>
                <a:cs typeface="Times New Roman" panose="02020603050405020304" pitchFamily="18" charset="0"/>
              </a:rPr>
              <a:t>To search any element in the splay tree, first, we will perform the standard binary search tree operation. As 7 is less than 10 so we will come to the left of the root node. </a:t>
            </a:r>
            <a:endParaRPr lang="en-US" altLang="en-US" sz="2800" dirty="0">
              <a:solidFill>
                <a:schemeClr val="tx1"/>
              </a:solidFill>
              <a:latin typeface="Times New Roman" panose="02020603050405020304" pitchFamily="18" charset="0"/>
              <a:cs typeface="Times New Roman" panose="02020603050405020304" pitchFamily="18" charset="0"/>
            </a:endParaRPr>
          </a:p>
          <a:p>
            <a:pPr algn="just"/>
            <a:r>
              <a:rPr lang="en-US" altLang="en-US" sz="2800" dirty="0">
                <a:solidFill>
                  <a:schemeClr val="tx1"/>
                </a:solidFill>
                <a:latin typeface="Times New Roman" panose="02020603050405020304" pitchFamily="18" charset="0"/>
                <a:cs typeface="Times New Roman" panose="02020603050405020304" pitchFamily="18" charset="0"/>
              </a:rPr>
              <a:t>After performing the search operation, we need to perform splaying. </a:t>
            </a:r>
            <a:endParaRPr lang="en-US" altLang="en-US" sz="2800" dirty="0">
              <a:solidFill>
                <a:schemeClr val="tx1"/>
              </a:solidFill>
              <a:latin typeface="Times New Roman" panose="02020603050405020304" pitchFamily="18" charset="0"/>
              <a:cs typeface="Times New Roman" panose="02020603050405020304" pitchFamily="18" charset="0"/>
            </a:endParaRPr>
          </a:p>
          <a:p>
            <a:pPr algn="just"/>
            <a:r>
              <a:rPr lang="en-US" altLang="en-US" sz="2800" dirty="0">
                <a:solidFill>
                  <a:schemeClr val="tx1"/>
                </a:solidFill>
                <a:latin typeface="Times New Roman" panose="02020603050405020304" pitchFamily="18" charset="0"/>
                <a:cs typeface="Times New Roman" panose="02020603050405020304" pitchFamily="18" charset="0"/>
              </a:rPr>
              <a:t>Here splaying means that the operation that we are performing on any element should become the root node after performing some rearrangements. </a:t>
            </a:r>
            <a:endParaRPr lang="en-US" altLang="en-US" sz="2800" dirty="0">
              <a:solidFill>
                <a:schemeClr val="tx1"/>
              </a:solidFill>
              <a:latin typeface="Times New Roman" panose="02020603050405020304" pitchFamily="18" charset="0"/>
              <a:cs typeface="Times New Roman" panose="02020603050405020304" pitchFamily="18" charset="0"/>
            </a:endParaRPr>
          </a:p>
          <a:p>
            <a:pPr algn="just"/>
            <a:r>
              <a:rPr lang="en-US" altLang="en-US" sz="2800" dirty="0">
                <a:solidFill>
                  <a:schemeClr val="tx1"/>
                </a:solidFill>
                <a:latin typeface="Times New Roman" panose="02020603050405020304" pitchFamily="18" charset="0"/>
                <a:cs typeface="Times New Roman" panose="02020603050405020304" pitchFamily="18" charset="0"/>
              </a:rPr>
              <a:t>The rearrangement of the tree will be done through the rotations</a:t>
            </a:r>
            <a:endParaRPr lang="en-US" altLang="en-US" sz="2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endParaRPr lang="en-US" sz="2400" dirty="0"/>
          </a:p>
        </p:txBody>
      </p:sp>
      <p:pic>
        <p:nvPicPr>
          <p:cNvPr id="1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4" name="Rectangle 2"/>
          <p:cNvSpPr txBox="1">
            <a:spLocks noChangeArrowheads="1"/>
          </p:cNvSpPr>
          <p:nvPr/>
        </p:nvSpPr>
        <p:spPr>
          <a:xfrm>
            <a:off x="485671" y="569781"/>
            <a:ext cx="10163502" cy="65836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6000" b="1" dirty="0">
                <a:solidFill>
                  <a:srgbClr val="A50021"/>
                </a:solidFill>
                <a:latin typeface="Times New Roman" panose="02020603050405020304" pitchFamily="18" charset="0"/>
                <a:cs typeface="Times New Roman" panose="02020603050405020304" pitchFamily="18" charset="0"/>
              </a:rPr>
              <a:t>Splay Tree Rotations</a:t>
            </a:r>
            <a:endParaRPr lang="en-US" altLang="en-US" sz="6000" b="1" dirty="0">
              <a:solidFill>
                <a:srgbClr val="A50021"/>
              </a:solidFill>
              <a:latin typeface="Times New Roman" panose="02020603050405020304" pitchFamily="18" charset="0"/>
              <a:cs typeface="Times New Roman" panose="02020603050405020304" pitchFamily="18" charset="0"/>
            </a:endParaRPr>
          </a:p>
          <a:p>
            <a:endParaRPr lang="en-US" altLang="en-US" sz="6000" b="1" dirty="0">
              <a:solidFill>
                <a:srgbClr val="A50021"/>
              </a:solidFill>
              <a:latin typeface="Times New Roman" panose="02020603050405020304" pitchFamily="18" charset="0"/>
              <a:cs typeface="Times New Roman" panose="02020603050405020304" pitchFamily="18" charset="0"/>
            </a:endParaRPr>
          </a:p>
        </p:txBody>
      </p:sp>
      <p:sp>
        <p:nvSpPr>
          <p:cNvPr id="5" name="Content Placeholder 3"/>
          <p:cNvSpPr txBox="1"/>
          <p:nvPr/>
        </p:nvSpPr>
        <p:spPr>
          <a:xfrm>
            <a:off x="344129" y="1533832"/>
            <a:ext cx="10972800" cy="5029200"/>
          </a:xfrm>
          <a:prstGeom prst="rect">
            <a:avLst/>
          </a:prstGeom>
        </p:spPr>
        <p:txBody>
          <a:bodyPr/>
          <a:lstStyle/>
          <a:p>
            <a:pPr marL="342900" lvl="0" indent="-342900" algn="just" eaLnBrk="0" fontAlgn="base" hangingPunct="0">
              <a:spcBef>
                <a:spcPct val="20000"/>
              </a:spcBef>
              <a:spcAft>
                <a:spcPct val="0"/>
              </a:spcAft>
            </a:pPr>
            <a:r>
              <a:rPr lang="en-US" altLang="en-US" sz="2800" dirty="0">
                <a:latin typeface="Times New Roman" panose="02020603050405020304" pitchFamily="18" charset="0"/>
                <a:cs typeface="Times New Roman" panose="02020603050405020304" pitchFamily="18" charset="0"/>
              </a:rPr>
              <a:t>There are six types of rotations used for splaying </a:t>
            </a:r>
            <a:endParaRPr lang="en-US" altLang="en-US" sz="28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rotation (Right rotation)</a:t>
            </a:r>
            <a:endParaRPr lang="en-US" altLang="en-US" sz="28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rotation (Left rotation)</a:t>
            </a:r>
            <a:endParaRPr lang="en-US" altLang="en-US" sz="28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followed by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a:t>
            </a:r>
            <a:endParaRPr lang="en-US" altLang="en-US" sz="28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followed by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a:t>
            </a:r>
            <a:endParaRPr lang="en-US" altLang="en-US" sz="28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(two right rotations)</a:t>
            </a:r>
            <a:endParaRPr lang="en-US" altLang="en-US" sz="2800" dirty="0">
              <a:latin typeface="Times New Roman" panose="02020603050405020304" pitchFamily="18" charset="0"/>
              <a:cs typeface="Times New Roman" panose="02020603050405020304" pitchFamily="18" charset="0"/>
            </a:endParaRPr>
          </a:p>
          <a:p>
            <a:pPr lvl="1">
              <a:lnSpc>
                <a:spcPct val="150000"/>
              </a:lnSpc>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(two left rotations)</a:t>
            </a:r>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endParaRPr lang="en-US" sz="2400" dirty="0"/>
          </a:p>
        </p:txBody>
      </p:sp>
      <p:pic>
        <p:nvPicPr>
          <p:cNvPr id="1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031325"/>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Zig Rotation</a:t>
            </a:r>
            <a:endParaRPr lang="en-US" b="1" i="0" dirty="0">
              <a:solidFill>
                <a:srgbClr val="E00D50"/>
              </a:solidFill>
              <a:effectLst/>
              <a:latin typeface="Open Sans" panose="020B0606030504020204" pitchFamily="34" charset="0"/>
            </a:endParaRP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Zig Rotation</a:t>
            </a:r>
            <a:r>
              <a:rPr lang="en-US" b="0" i="0" dirty="0">
                <a:solidFill>
                  <a:srgbClr val="333333"/>
                </a:solidFill>
                <a:effectLst/>
                <a:latin typeface="Open Sans" panose="020B0606030504020204" pitchFamily="34" charset="0"/>
              </a:rPr>
              <a:t> in splay tree is similar to the single right rotation in AVL Tree rotations. In zig rotation, every node moves one position to the right from its current position. Consider the following example...</a:t>
            </a:r>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2" name="Picture 2" descr="zig rotation,splay tree,data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547258"/>
            <a:ext cx="9753600" cy="30587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endParaRPr lang="en-US" sz="2400" dirty="0"/>
          </a:p>
        </p:txBody>
      </p:sp>
      <p:pic>
        <p:nvPicPr>
          <p:cNvPr id="1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031325"/>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Zag Rotation</a:t>
            </a:r>
            <a:endParaRPr lang="en-US" b="1" i="0" dirty="0">
              <a:solidFill>
                <a:srgbClr val="E00D50"/>
              </a:solidFill>
              <a:effectLst/>
              <a:latin typeface="Open Sans" panose="020B0606030504020204" pitchFamily="34" charset="0"/>
            </a:endParaRP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Zag Rotation</a:t>
            </a:r>
            <a:r>
              <a:rPr lang="en-US" b="0" i="0" dirty="0">
                <a:solidFill>
                  <a:srgbClr val="333333"/>
                </a:solidFill>
                <a:effectLst/>
                <a:latin typeface="Open Sans" panose="020B0606030504020204" pitchFamily="34" charset="0"/>
              </a:rPr>
              <a:t> in splay tree is similar to the single left rotation in AVL Tree rotations. In zag rotation, every node moves one position to the left from its current position. Consider the following example...</a:t>
            </a:r>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2050" name="Picture 2" descr="zag rotation,splay tree,data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862942"/>
            <a:ext cx="9753600" cy="31568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endParaRPr lang="en-US" sz="2400" dirty="0"/>
          </a:p>
        </p:txBody>
      </p:sp>
      <p:pic>
        <p:nvPicPr>
          <p:cNvPr id="1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3139321"/>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Zig-Zig Rotation</a:t>
            </a:r>
            <a:endParaRPr lang="en-US" b="1" i="0" dirty="0">
              <a:solidFill>
                <a:srgbClr val="E00D50"/>
              </a:solidFill>
              <a:effectLst/>
              <a:latin typeface="Open Sans" panose="020B0606030504020204" pitchFamily="34" charset="0"/>
            </a:endParaRP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Zig-Zig Rotation</a:t>
            </a:r>
            <a:r>
              <a:rPr lang="en-US" b="0" i="0" dirty="0">
                <a:solidFill>
                  <a:srgbClr val="333333"/>
                </a:solidFill>
                <a:effectLst/>
                <a:latin typeface="Open Sans" panose="020B0606030504020204" pitchFamily="34" charset="0"/>
              </a:rPr>
              <a:t> in splay tree is a double zig rotation. In zig-zig rotation, every node moves two positions to the right from its current position. Consider the following example...</a:t>
            </a:r>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3074" name="Picture 2" descr="zig-zig rotation,splay tree,datastructure,zigzig rotation,zig zig ro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950028"/>
            <a:ext cx="9753600" cy="29282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endParaRPr lang="en-US" sz="2400" dirty="0"/>
          </a:p>
        </p:txBody>
      </p:sp>
      <p:pic>
        <p:nvPicPr>
          <p:cNvPr id="1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031325"/>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Zag-Zag Rotation</a:t>
            </a:r>
            <a:endParaRPr lang="en-US" b="1" i="0" dirty="0">
              <a:solidFill>
                <a:srgbClr val="E00D50"/>
              </a:solidFill>
              <a:effectLst/>
              <a:latin typeface="Open Sans" panose="020B0606030504020204" pitchFamily="34" charset="0"/>
            </a:endParaRP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Zag-Zag Rotation</a:t>
            </a:r>
            <a:r>
              <a:rPr lang="en-US" b="0" i="0" dirty="0">
                <a:solidFill>
                  <a:srgbClr val="333333"/>
                </a:solidFill>
                <a:effectLst/>
                <a:latin typeface="Open Sans" panose="020B0606030504020204" pitchFamily="34" charset="0"/>
              </a:rPr>
              <a:t> in splay tree is a double zag rotation. In zag-zag rotation, every node moves two positions to the left from its current position. Consider the following example...</a:t>
            </a:r>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4100" name="Picture 4" descr="zig-zig rotation,splay tree,datastructure,zagzag rotation,zag zag ro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340428"/>
            <a:ext cx="9753600" cy="33963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endParaRPr lang="en-US" sz="2400" dirty="0"/>
          </a:p>
        </p:txBody>
      </p:sp>
      <p:pic>
        <p:nvPicPr>
          <p:cNvPr id="1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585323"/>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Zig-Zag Rotation</a:t>
            </a:r>
            <a:endParaRPr lang="en-US" b="1" i="0" dirty="0">
              <a:solidFill>
                <a:srgbClr val="E00D50"/>
              </a:solidFill>
              <a:effectLst/>
              <a:latin typeface="Open Sans" panose="020B0606030504020204" pitchFamily="34" charset="0"/>
            </a:endParaRP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Zig-Zag Rotation</a:t>
            </a:r>
            <a:r>
              <a:rPr lang="en-US" b="0" i="0" dirty="0">
                <a:solidFill>
                  <a:srgbClr val="333333"/>
                </a:solidFill>
                <a:effectLst/>
                <a:latin typeface="Open Sans" panose="020B0606030504020204" pitchFamily="34" charset="0"/>
              </a:rPr>
              <a:t> in splay tree is a sequence of zig rotation followed by zag rotation. In zig-zag rotation, every node moves one position to the right followed by one position to the left from its current position. Consider the following example...</a:t>
            </a:r>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5122" name="Picture 2" descr="zig-zag rotation,splay tree,datastructure,zigzag rotation,zig zag ro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623456"/>
            <a:ext cx="9753600" cy="3320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endParaRPr lang="en-US" sz="2400" dirty="0"/>
          </a:p>
        </p:txBody>
      </p:sp>
      <p:pic>
        <p:nvPicPr>
          <p:cNvPr id="1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862322"/>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Zag-Zig Rotation</a:t>
            </a:r>
            <a:endParaRPr lang="en-US" b="1" i="0" dirty="0">
              <a:solidFill>
                <a:srgbClr val="E00D50"/>
              </a:solidFill>
              <a:effectLst/>
              <a:latin typeface="Open Sans" panose="020B0606030504020204" pitchFamily="34" charset="0"/>
            </a:endParaRP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Zag-Zig Rotation</a:t>
            </a:r>
            <a:r>
              <a:rPr lang="en-US" b="0" i="0" dirty="0">
                <a:solidFill>
                  <a:srgbClr val="333333"/>
                </a:solidFill>
                <a:effectLst/>
                <a:latin typeface="Open Sans" panose="020B0606030504020204" pitchFamily="34" charset="0"/>
              </a:rPr>
              <a:t> in splay tree is a sequence of zag rotation followed by zig rotation. In zag-zig rotation, every node moves one position to the left followed by one position to the right from its current position. Consider the following example...</a:t>
            </a:r>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6148" name="Picture 4" descr="zag-zig rotation,splay tree,datastructure,zagzig rotation,zag zig ro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3212" y="2748475"/>
            <a:ext cx="9753600" cy="2857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SPLAY TREE EXAMPLE</a:t>
            </a:r>
            <a:endParaRPr lang="en-US" sz="2400" dirty="0"/>
          </a:p>
        </p:txBody>
      </p:sp>
      <p:pic>
        <p:nvPicPr>
          <p:cNvPr id="12"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1846659"/>
          </a:xfrm>
          <a:prstGeom prst="rect">
            <a:avLst/>
          </a:prstGeom>
          <a:noFill/>
        </p:spPr>
        <p:txBody>
          <a:bodyPr wrap="square" lIns="91440" tIns="45720" rIns="91440" bIns="45720" rtlCol="0" anchor="t">
            <a:spAutoFit/>
          </a:bodyPr>
          <a:lstStyle/>
          <a:p>
            <a:pPr algn="just"/>
            <a:endParaRPr lang="en-US" b="0" i="0" dirty="0">
              <a:solidFill>
                <a:srgbClr val="333333"/>
              </a:solidFill>
              <a:effectLst/>
              <a:latin typeface="Open Sans" panose="020B0606030504020204" pitchFamily="34" charset="0"/>
            </a:endParaRPr>
          </a:p>
          <a:p>
            <a:pPr algn="just"/>
            <a:r>
              <a:rPr lang="en-US" sz="3200" b="1" dirty="0">
                <a:solidFill>
                  <a:srgbClr val="333333"/>
                </a:solidFill>
                <a:latin typeface="Times New Roman" panose="02020603050405020304"/>
                <a:ea typeface="Open Sans"/>
                <a:cs typeface="Open Sans"/>
              </a:rPr>
              <a:t>Construct a Splay Tree with the following elements and Explain the rotations in detail</a:t>
            </a:r>
            <a:endParaRPr lang="en-US" sz="3200" b="1" dirty="0">
              <a:solidFill>
                <a:srgbClr val="333333"/>
              </a:solidFill>
              <a:latin typeface="Times New Roman" panose="02020603050405020304"/>
              <a:ea typeface="Open Sans"/>
              <a:cs typeface="Open Sans"/>
            </a:endParaRPr>
          </a:p>
          <a:p>
            <a:pPr algn="just"/>
            <a:r>
              <a:rPr lang="en-US" sz="3200" b="1" dirty="0">
                <a:solidFill>
                  <a:srgbClr val="333333"/>
                </a:solidFill>
                <a:latin typeface="Times New Roman" panose="02020603050405020304"/>
                <a:ea typeface="Open Sans"/>
                <a:cs typeface="Open Sans"/>
              </a:rPr>
              <a:t>12,43,33,26,97,104,11,0</a:t>
            </a:r>
            <a:endParaRPr lang="en-US" sz="3200" b="1" dirty="0">
              <a:solidFill>
                <a:srgbClr val="333333"/>
              </a:solidFill>
              <a:latin typeface="Times New Roman" panose="02020603050405020304"/>
              <a:ea typeface="Open Sans"/>
              <a:cs typeface="Open San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endParaRPr lang="en-US" sz="2400" dirty="0"/>
          </a:p>
        </p:txBody>
      </p:sp>
      <p:pic>
        <p:nvPicPr>
          <p:cNvPr id="17"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Content Placeholder 3"/>
          <p:cNvSpPr>
            <a:spLocks noGrp="1"/>
          </p:cNvSpPr>
          <p:nvPr>
            <p:ph idx="1"/>
          </p:nvPr>
        </p:nvSpPr>
        <p:spPr>
          <a:xfrm>
            <a:off x="403121" y="884902"/>
            <a:ext cx="11380839" cy="5530645"/>
          </a:xfrm>
        </p:spPr>
        <p:txBody>
          <a:bodyPr/>
          <a:lstStyle/>
          <a:p>
            <a:pPr algn="just"/>
            <a:r>
              <a:rPr lang="en-US" altLang="en-US" dirty="0">
                <a:latin typeface="Times New Roman" panose="02020603050405020304" pitchFamily="18" charset="0"/>
                <a:cs typeface="Times New Roman" panose="02020603050405020304" pitchFamily="18" charset="0"/>
              </a:rPr>
              <a:t>A splay tree is a binary search tree with the additional property that recently accessed elements are quick to access again </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All normal operations on a binary search tree are combined with one basic operation, called splaying. Splaying the tree for a certain element rearranges the tree so that the element is placed at the root of the tree</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One way to do this with the basic search operation is to first perform a standard binary tree search for the element in question, and then use tree rotations in a specific fashion to bring the element to the top</a:t>
            </a:r>
            <a:endParaRPr lang="en-US" altLang="en-US" dirty="0">
              <a:latin typeface="Times New Roman" panose="02020603050405020304" pitchFamily="18" charset="0"/>
              <a:cs typeface="Times New Roman" panose="02020603050405020304" pitchFamily="18" charset="0"/>
            </a:endParaRPr>
          </a:p>
          <a:p>
            <a:pPr marL="281305" lvl="1" indent="-281305">
              <a:lnSpc>
                <a:spcPct val="100000"/>
              </a:lnSpc>
            </a:pPr>
            <a:r>
              <a:rPr lang="en-US" altLang="en-US" sz="2800" dirty="0">
                <a:solidFill>
                  <a:schemeClr val="tx1"/>
                </a:solidFill>
                <a:latin typeface="Times New Roman" panose="02020603050405020304" pitchFamily="18" charset="0"/>
                <a:cs typeface="Times New Roman" panose="02020603050405020304" pitchFamily="18" charset="0"/>
              </a:rPr>
              <a:t>The rearrangement of the tree will be done through the six types of rotations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rotation (Right rotation),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rotation (Left rotation),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followed by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followed by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(two right rotations), and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(two left rotations)</a:t>
            </a:r>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87193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a:pPr>
            <a:r>
              <a:rPr lang="en-US" sz="2400" b="1" dirty="0"/>
              <a:t>A splay tree is best described as what type of data structure?</a:t>
            </a:r>
            <a:endParaRPr lang="en-IN" sz="2400" dirty="0"/>
          </a:p>
          <a:p>
            <a:pPr lvl="0"/>
            <a:endParaRPr sz="24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026828" y="1727189"/>
            <a:ext cx="8117172" cy="188616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2000" dirty="0">
                <a:solidFill>
                  <a:srgbClr val="00B050"/>
                </a:solidFill>
              </a:rPr>
              <a:t>Binary search tree</a:t>
            </a:r>
            <a:endParaRPr lang="en-US" sz="2000" dirty="0">
              <a:solidFill>
                <a:srgbClr val="00B050"/>
              </a:solidFill>
              <a:latin typeface="Arial" panose="020B0604020202020204" pitchFamily="34" charset="0"/>
            </a:endParaRPr>
          </a:p>
          <a:p>
            <a:pPr marL="342900" indent="-342900">
              <a:lnSpc>
                <a:spcPct val="150000"/>
              </a:lnSpc>
              <a:buAutoNum type="alphaLcParenBoth"/>
            </a:pPr>
            <a:r>
              <a:rPr lang="en-US" sz="2000" dirty="0"/>
              <a:t>Positional List</a:t>
            </a:r>
            <a:endParaRPr lang="en-US" sz="2000" dirty="0">
              <a:latin typeface="Arial" panose="020B0604020202020204" pitchFamily="34" charset="0"/>
            </a:endParaRPr>
          </a:p>
          <a:p>
            <a:pPr marL="342900" indent="-342900">
              <a:lnSpc>
                <a:spcPct val="150000"/>
              </a:lnSpc>
              <a:buAutoNum type="alphaLcParenBoth"/>
            </a:pPr>
            <a:r>
              <a:rPr lang="en-US" sz="2000" dirty="0"/>
              <a:t>Circular list</a:t>
            </a:r>
            <a:endParaRPr lang="en-US" sz="2000" dirty="0">
              <a:latin typeface="Arial" panose="020B0604020202020204" pitchFamily="34" charset="0"/>
            </a:endParaRPr>
          </a:p>
          <a:p>
            <a:pPr marL="342900" indent="-342900">
              <a:lnSpc>
                <a:spcPct val="150000"/>
              </a:lnSpc>
              <a:buAutoNum type="alphaLcParenBoth"/>
            </a:pPr>
            <a:r>
              <a:rPr lang="en-US" sz="2000" dirty="0"/>
              <a:t>Multi-dimensional array</a:t>
            </a:r>
            <a:endParaRPr lang="en-US" sz="2000" dirty="0"/>
          </a:p>
        </p:txBody>
      </p:sp>
      <p:sp>
        <p:nvSpPr>
          <p:cNvPr id="13" name="Google Shape;502;p17"/>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400" dirty="0">
                <a:sym typeface="Calibri" panose="020F0502020204030204"/>
              </a:rPr>
              <a:t>Which is not a rotation in splay tree?</a:t>
            </a:r>
            <a:endParaRPr sz="24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895" y="4727197"/>
            <a:ext cx="8075111" cy="180633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2000" dirty="0"/>
              <a:t>Zig-zig</a:t>
            </a:r>
            <a:endParaRPr lang="en-US" sz="2000" dirty="0"/>
          </a:p>
          <a:p>
            <a:pPr marL="342900" indent="-342900">
              <a:lnSpc>
                <a:spcPct val="150000"/>
              </a:lnSpc>
              <a:buAutoNum type="alphaLcParenBoth"/>
            </a:pPr>
            <a:r>
              <a:rPr lang="en-US" sz="2000" dirty="0"/>
              <a:t>Zag-zag</a:t>
            </a:r>
            <a:endParaRPr lang="en-US" sz="2000" dirty="0"/>
          </a:p>
          <a:p>
            <a:pPr marL="342900" indent="-342900">
              <a:lnSpc>
                <a:spcPct val="150000"/>
              </a:lnSpc>
              <a:buAutoNum type="alphaLcParenBoth"/>
            </a:pPr>
            <a:r>
              <a:rPr lang="en-US" sz="2000" dirty="0">
                <a:solidFill>
                  <a:srgbClr val="00B050"/>
                </a:solidFill>
              </a:rPr>
              <a:t>Zig-zag-zig</a:t>
            </a:r>
            <a:endParaRPr lang="en-US" sz="2000" dirty="0">
              <a:solidFill>
                <a:srgbClr val="00B050"/>
              </a:solidFill>
            </a:endParaRPr>
          </a:p>
          <a:p>
            <a:pPr marL="342900" indent="-342900">
              <a:lnSpc>
                <a:spcPct val="150000"/>
              </a:lnSpc>
              <a:buAutoNum type="alphaLcParenBoth"/>
            </a:pPr>
            <a:r>
              <a:rPr lang="en-US" sz="2000" dirty="0"/>
              <a:t>zig</a:t>
            </a:r>
            <a:endParaRPr lang="en-US" sz="2000" dirty="0"/>
          </a:p>
        </p:txBody>
      </p:sp>
      <p:pic>
        <p:nvPicPr>
          <p:cNvPr id="8"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endParaRPr lang="en-US" sz="2400" dirty="0"/>
          </a:p>
        </p:txBody>
      </p:sp>
      <p:sp>
        <p:nvSpPr>
          <p:cNvPr id="9" name="TextBox 8"/>
          <p:cNvSpPr txBox="1"/>
          <p:nvPr/>
        </p:nvSpPr>
        <p:spPr>
          <a:xfrm>
            <a:off x="900332" y="1167618"/>
            <a:ext cx="9608234" cy="2943563"/>
          </a:xfrm>
          <a:prstGeom prst="rect">
            <a:avLst/>
          </a:prstGeom>
          <a:noFill/>
        </p:spPr>
        <p:txBody>
          <a:bodyPr wrap="square" rtlCol="0">
            <a:spAutoFit/>
          </a:bodyPr>
          <a:lstStyle/>
          <a:p>
            <a:pPr>
              <a:lnSpc>
                <a:spcPct val="200000"/>
              </a:lnSpc>
            </a:pPr>
            <a:r>
              <a:rPr lang="en-US" sz="2400" b="1" dirty="0"/>
              <a:t>1. Describe Splay Trees with examples.</a:t>
            </a:r>
            <a:endParaRPr lang="en-US" sz="2400" b="1" dirty="0"/>
          </a:p>
          <a:p>
            <a:pPr>
              <a:lnSpc>
                <a:spcPct val="200000"/>
              </a:lnSpc>
            </a:pPr>
            <a:r>
              <a:rPr lang="en-US" sz="2400" b="1" dirty="0"/>
              <a:t>2. List out the different rotations used for splaying in Splay Trees.</a:t>
            </a:r>
            <a:endParaRPr lang="en-US" sz="2400" b="1" dirty="0"/>
          </a:p>
          <a:p>
            <a:pPr marL="342900" indent="-342900">
              <a:lnSpc>
                <a:spcPct val="200000"/>
              </a:lnSpc>
            </a:pPr>
            <a:r>
              <a:rPr lang="en-US" sz="2400" b="1" dirty="0"/>
              <a:t>3. Analyze the advantages of Splay Trees compare to Binary Search Trees.</a:t>
            </a:r>
            <a:endParaRPr lang="en-US" sz="2400" b="1" dirty="0"/>
          </a:p>
          <a:p>
            <a:pPr marL="342900" indent="-342900">
              <a:lnSpc>
                <a:spcPct val="200000"/>
              </a:lnSpc>
            </a:pPr>
            <a:r>
              <a:rPr lang="en-US" sz="2400" b="1" dirty="0"/>
              <a:t>4. Summarize the Splay Trees with features.</a:t>
            </a:r>
            <a:endParaRPr lang="en-US" sz="2400" b="1" dirty="0"/>
          </a:p>
        </p:txBody>
      </p:sp>
      <p:pic>
        <p:nvPicPr>
          <p:cNvPr id="10"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560439" y="1167618"/>
            <a:ext cx="10972799" cy="5122941"/>
          </a:xfrm>
          <a:prstGeom prst="rect">
            <a:avLst/>
          </a:prstGeom>
          <a:noFill/>
        </p:spPr>
        <p:txBody>
          <a:bodyPr wrap="square" rtlCol="0">
            <a:spAutoFit/>
          </a:bodyPr>
          <a:lstStyle/>
          <a:p>
            <a:pPr>
              <a:lnSpc>
                <a:spcPct val="150000"/>
              </a:lnSpc>
            </a:pPr>
            <a:r>
              <a:rPr lang="en-US" sz="2000" b="1" dirty="0"/>
              <a:t>Reference Books:</a:t>
            </a:r>
            <a:endParaRPr lang="en-US" sz="2000" dirty="0"/>
          </a:p>
          <a:p>
            <a:pPr>
              <a:lnSpc>
                <a:spcPct val="150000"/>
              </a:lnSpc>
            </a:pPr>
            <a:r>
              <a:rPr lang="en-US" sz="2000" dirty="0"/>
              <a:t>1. </a:t>
            </a:r>
            <a:r>
              <a:rPr lang="en-US" sz="2000" dirty="0" err="1"/>
              <a:t>A.V.Aho</a:t>
            </a:r>
            <a:r>
              <a:rPr lang="en-US" sz="2000" dirty="0"/>
              <a:t>, J.E. </a:t>
            </a:r>
            <a:r>
              <a:rPr lang="en-US" sz="2000" dirty="0" err="1"/>
              <a:t>Hopcroft</a:t>
            </a:r>
            <a:r>
              <a:rPr lang="en-US" sz="2000" dirty="0"/>
              <a:t>, and J.D. </a:t>
            </a:r>
            <a:r>
              <a:rPr lang="en-US" sz="2000" dirty="0" err="1"/>
              <a:t>Ullman</a:t>
            </a:r>
            <a:r>
              <a:rPr lang="en-US" sz="2000" dirty="0"/>
              <a:t>, "Data Structures And Algorithms", Pearson Education, First Edition Reprint 2003 </a:t>
            </a:r>
            <a:endParaRPr lang="en-US" sz="2000" dirty="0"/>
          </a:p>
          <a:p>
            <a:pPr>
              <a:lnSpc>
                <a:spcPct val="150000"/>
              </a:lnSpc>
            </a:pPr>
            <a:r>
              <a:rPr lang="en-US" sz="2000" dirty="0"/>
              <a:t>2. Horowitz, </a:t>
            </a:r>
            <a:r>
              <a:rPr lang="en-US" sz="2000" dirty="0" err="1"/>
              <a:t>Sahni</a:t>
            </a:r>
            <a:r>
              <a:rPr lang="en-US" sz="2000" dirty="0"/>
              <a:t>, Anderson Freed, "Fundamentals of </a:t>
            </a:r>
            <a:r>
              <a:rPr lang="en-US" sz="2000" dirty="0" err="1"/>
              <a:t>datastructures</a:t>
            </a:r>
            <a:r>
              <a:rPr lang="en-US" sz="2000" dirty="0"/>
              <a:t> in C", Second Edition-2007</a:t>
            </a:r>
            <a:endParaRPr lang="en-US" sz="2000" dirty="0"/>
          </a:p>
          <a:p>
            <a:pPr>
              <a:lnSpc>
                <a:spcPct val="150000"/>
              </a:lnSpc>
            </a:pPr>
            <a:r>
              <a:rPr lang="en-US" sz="2000" dirty="0"/>
              <a:t>3. R.F. </a:t>
            </a:r>
            <a:r>
              <a:rPr lang="en-US" sz="2000" dirty="0" err="1"/>
              <a:t>Gilberg</a:t>
            </a:r>
            <a:r>
              <a:rPr lang="en-US" sz="2000" dirty="0"/>
              <a:t>, B.A. </a:t>
            </a:r>
            <a:r>
              <a:rPr lang="en-US" sz="2000" dirty="0" err="1"/>
              <a:t>Forouzan</a:t>
            </a:r>
            <a:r>
              <a:rPr lang="en-US" sz="2000" dirty="0"/>
              <a:t>, "Data Structures", Second Edition, Thomson India Edition, 2005</a:t>
            </a:r>
            <a:endParaRPr lang="en-US" sz="2000" dirty="0"/>
          </a:p>
          <a:p>
            <a:pPr>
              <a:lnSpc>
                <a:spcPct val="150000"/>
              </a:lnSpc>
            </a:pPr>
            <a:endParaRPr lang="en-US" sz="2000" dirty="0"/>
          </a:p>
          <a:p>
            <a:pPr>
              <a:lnSpc>
                <a:spcPct val="150000"/>
              </a:lnSpc>
            </a:pPr>
            <a:r>
              <a:rPr lang="en-US" sz="2000" b="1" dirty="0"/>
              <a:t>Sites and Web links:</a:t>
            </a:r>
            <a:endParaRPr lang="en-US" sz="2000" b="1" dirty="0"/>
          </a:p>
          <a:p>
            <a:pPr>
              <a:lnSpc>
                <a:spcPct val="150000"/>
              </a:lnSpc>
            </a:pPr>
            <a:r>
              <a:rPr lang="en-US" sz="2000" dirty="0"/>
              <a:t>1. https://en.wikipedia.org/wiki/Splay_tree</a:t>
            </a:r>
            <a:endParaRPr lang="en-US" sz="2000" dirty="0"/>
          </a:p>
          <a:p>
            <a:pPr>
              <a:lnSpc>
                <a:spcPct val="150000"/>
              </a:lnSpc>
            </a:pPr>
            <a:r>
              <a:rPr lang="en-US" sz="2000" dirty="0"/>
              <a:t>2. https://www.javatpoint.com/splay-tree</a:t>
            </a:r>
            <a:endParaRPr lang="en-US" sz="2000" dirty="0"/>
          </a:p>
          <a:p>
            <a:pPr>
              <a:lnSpc>
                <a:spcPct val="150000"/>
              </a:lnSpc>
            </a:pPr>
            <a:r>
              <a:rPr lang="en-US" sz="2000" dirty="0"/>
              <a:t>3. https://www.scaler.com/topics/data-structures/splay-tree/</a:t>
            </a:r>
            <a:endParaRPr lang="en-US" sz="2000" dirty="0"/>
          </a:p>
          <a:p>
            <a:pPr>
              <a:lnSpc>
                <a:spcPct val="150000"/>
              </a:lnSpc>
            </a:pPr>
            <a:endParaRPr lang="en-US" sz="2000" dirty="0"/>
          </a:p>
        </p:txBody>
      </p:sp>
      <p:pic>
        <p:nvPicPr>
          <p:cNvPr id="5" name="Picture 2" descr="KL Deemed to be University Logo"/>
          <p:cNvPicPr>
            <a:picLocks noChangeAspect="1" noChangeArrowheads="1"/>
          </p:cNvPicPr>
          <p:nvPr/>
        </p:nvPicPr>
        <p:blipFill>
          <a:blip r:embed="rId1" cstate="print"/>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Design of Data Structures</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cstate="print"/>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datastoreItem>
</file>

<file path=customXml/itemProps2.xml><?xml version="1.0" encoding="utf-8"?>
<ds:datastoreItem xmlns:ds="http://schemas.openxmlformats.org/officeDocument/2006/customXml" ds:itemID="{3DA00F5F-5366-4B1C-9406-30DECA796ABB}">
  <ds:schemaRefs/>
</ds:datastoreItem>
</file>

<file path=customXml/itemProps3.xml><?xml version="1.0" encoding="utf-8"?>
<ds:datastoreItem xmlns:ds="http://schemas.openxmlformats.org/officeDocument/2006/customXml" ds:itemID="{C89A6ECA-0C1B-4F00-836D-A696F073E5C2}">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5767</Words>
  <Application>WPS Presentation</Application>
  <PresentationFormat>Widescreen</PresentationFormat>
  <Paragraphs>258</Paragraphs>
  <Slides>18</Slides>
  <Notes>2</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18</vt:i4>
      </vt:variant>
    </vt:vector>
  </HeadingPairs>
  <TitlesOfParts>
    <vt:vector size="39" baseType="lpstr">
      <vt:lpstr>Arial</vt:lpstr>
      <vt:lpstr>SimSun</vt:lpstr>
      <vt:lpstr>Wingdings</vt:lpstr>
      <vt:lpstr>Arial</vt:lpstr>
      <vt:lpstr>Calibri</vt:lpstr>
      <vt:lpstr>Poppins</vt:lpstr>
      <vt:lpstr>Segoe Print</vt:lpstr>
      <vt:lpstr>BioRhyme ExtraBold</vt:lpstr>
      <vt:lpstr>Poppins</vt:lpstr>
      <vt:lpstr>Poppins</vt:lpstr>
      <vt:lpstr>Times New Roman</vt:lpstr>
      <vt:lpstr>PMingLiU</vt:lpstr>
      <vt:lpstr>Monotype Sorts</vt:lpstr>
      <vt:lpstr>Open Sans</vt:lpstr>
      <vt:lpstr>Times New Roman</vt:lpstr>
      <vt:lpstr>Open Sans</vt:lpstr>
      <vt:lpstr>Microsoft YaHei</vt:lpstr>
      <vt:lpstr>Arial Unicode MS</vt:lpstr>
      <vt:lpstr>Calibri</vt:lpstr>
      <vt:lpstr>Wingdings</vt:lpstr>
      <vt:lpstr>1_Office Theme</vt:lpstr>
      <vt:lpstr>PowerPoint 演示文稿</vt:lpstr>
      <vt:lpstr>PowerPoint 演示文稿</vt:lpstr>
      <vt:lpstr>PowerPoint 演示文稿</vt:lpstr>
      <vt:lpstr>PowerPoint 演示文稿</vt:lpstr>
      <vt:lpstr>Example Splay Tree Operations Cont…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Anusha M</cp:lastModifiedBy>
  <cp:revision>74</cp:revision>
  <dcterms:created xsi:type="dcterms:W3CDTF">2020-02-08T09:57:00Z</dcterms:created>
  <dcterms:modified xsi:type="dcterms:W3CDTF">2024-12-16T10:18:04Z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52FBCF11F791459D8FED8687210C1281_12</vt:lpwstr>
  </property>
  <property fmtid="{D5CDD505-2E9C-101B-9397-08002B2CF9AE}" pid="4" name="KSOProductBuildVer">
    <vt:lpwstr>1033-12.2.0.19307</vt:lpwstr>
  </property>
</Properties>
</file>