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1" r:id="rId3"/>
    <p:sldId id="300" r:id="rId5"/>
    <p:sldId id="258" r:id="rId6"/>
    <p:sldId id="343" r:id="rId7"/>
    <p:sldId id="323" r:id="rId8"/>
    <p:sldId id="329" r:id="rId9"/>
    <p:sldId id="330" r:id="rId10"/>
    <p:sldId id="331" r:id="rId11"/>
    <p:sldId id="332" r:id="rId12"/>
    <p:sldId id="333" r:id="rId13"/>
    <p:sldId id="334" r:id="rId14"/>
    <p:sldId id="344" r:id="rId15"/>
    <p:sldId id="341" r:id="rId16"/>
    <p:sldId id="342" r:id="rId17"/>
    <p:sldId id="345" r:id="rId18"/>
    <p:sldId id="287" r:id="rId19"/>
    <p:sldId id="301" r:id="rId20"/>
    <p:sldId id="302" r:id="rId21"/>
    <p:sldId id="303" r:id="rId22"/>
    <p:sldId id="30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84845"/>
    <a:srgbClr val="FAD2D2"/>
    <a:srgbClr val="F89E4C"/>
    <a:srgbClr val="A81E24"/>
    <a:srgbClr val="FFF2CC"/>
    <a:srgbClr val="CF2F33"/>
    <a:srgbClr val="BA2532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24" autoAdjust="0"/>
    <p:restoredTop sz="95226" autoAdjust="0"/>
  </p:normalViewPr>
  <p:slideViewPr>
    <p:cSldViewPr snapToGrid="0" showGuides="1">
      <p:cViewPr varScale="1">
        <p:scale>
          <a:sx n="59" d="100"/>
          <a:sy n="59" d="100"/>
        </p:scale>
        <p:origin x="9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customXml" Target="../customXml/item3.xml"/><Relationship Id="rId28" Type="http://schemas.openxmlformats.org/officeDocument/2006/relationships/customXml" Target="../customXml/item2.xml"/><Relationship Id="rId27" Type="http://schemas.openxmlformats.org/officeDocument/2006/relationships/customXml" Target="../customXml/item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88632FB-C6D4-414E-8FE5-F8EA04FA55AA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3C4B822-7C95-4A96-99AB-6A0556453E90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85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010A45-8DE4-4144-A02F-DCA9467528DA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95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3FE3EC1-AB88-4A9A-A545-9CE46BD3610E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05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CD815F5-B98B-4843-A1FA-6D7A6BA472BB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16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83CD16A-D6B0-41F9-AF5B-A30BF951BADB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EF95F6-18AC-4D1F-864F-FA160474A239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/>
          <p:cNvPicPr>
            <a:picLocks noChangeAspect="1"/>
          </p:cNvPicPr>
          <p:nvPr userDrawn="1"/>
        </p:nvPicPr>
        <p:blipFill>
          <a:blip r:embed="rId12">
            <a:alphaModFix amt="5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/>
          <p:cNvPicPr>
            <a:picLocks noChangeAspect="1"/>
          </p:cNvPicPr>
          <p:nvPr userDrawn="1"/>
        </p:nvPicPr>
        <p:blipFill rotWithShape="1">
          <a:blip r:embed="rId13">
            <a:alphaModFix amt="35000"/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>
            <a:fillRect/>
          </a:stretch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  <a:endParaRPr lang="en-US" sz="80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image" Target="../media/image4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jpe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jpeg"/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jpe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hyperlink" Target="https://in.udacity.com/course/intro-to-algorithms--cs215" TargetMode="External"/><Relationship Id="rId3" Type="http://schemas.openxmlformats.org/officeDocument/2006/relationships/hyperlink" Target="https://www.edx.org/course/algorithms-and-data-structures-1" TargetMode="External"/><Relationship Id="rId2" Type="http://schemas.openxmlformats.org/officeDocument/2006/relationships/hyperlink" Target="https://nptel.ac.in/courses/106102064" TargetMode="External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18854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99" y="169496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902548" cy="304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Data Structure</a:t>
            </a:r>
            <a:endParaRPr lang="en-US" sz="3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24SC1203</a:t>
            </a:r>
            <a:endParaRPr lang="en-US" sz="3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BioRhyme ExtraBold"/>
              <a:cs typeface="Times New Roman" panose="02020603050405020304" pitchFamily="18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BioRhyme ExtraBold"/>
                <a:cs typeface="Times New Roman" panose="02020603050405020304" pitchFamily="18" charset="0"/>
                <a:sym typeface="BioRhyme ExtraBold"/>
              </a:rPr>
              <a:t>Topic: </a:t>
            </a:r>
            <a:endParaRPr lang="en-US" sz="20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BioRhyme ExtraBold"/>
              <a:cs typeface="Times New Roman" panose="02020603050405020304" pitchFamily="18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OF </a:t>
            </a:r>
            <a:endParaRPr lang="en-US" sz="4000" b="1" cap="all" dirty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4000" b="1" cap="all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4000" b="1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BLACK </a:t>
            </a:r>
            <a:r>
              <a:rPr lang="en-US" sz="4000" b="1" cap="all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endParaRPr lang="en-US" sz="4000" b="1" dirty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: Rounded Corners 18"/>
          <p:cNvSpPr/>
          <p:nvPr/>
        </p:nvSpPr>
        <p:spPr>
          <a:xfrm>
            <a:off x="6250162" y="901337"/>
            <a:ext cx="5531402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9" y="789621"/>
            <a:ext cx="5753494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BES-1</a:t>
            </a:r>
            <a:endParaRPr lang="en-US" sz="4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502;p17"/>
          <p:cNvSpPr/>
          <p:nvPr/>
        </p:nvSpPr>
        <p:spPr>
          <a:xfrm>
            <a:off x="7646663" y="5189770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Session - 34</a:t>
            </a:r>
            <a:endParaRPr sz="2400" dirty="0">
              <a:solidFill>
                <a:schemeClr val="lt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4375398" y="279508"/>
            <a:ext cx="3441203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OF THE SESSION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78239" y="790949"/>
            <a:ext cx="10731286" cy="116544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The students familiar with the basic concepts of 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root nodes, parents and Childrens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odes with real</a:t>
            </a:r>
            <a:endParaRPr lang="en-US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 examples and programming syntax.</a:t>
            </a:r>
            <a:endParaRPr lang="en-US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These knowledge of basic concepts they can construction and demonstrate the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tree.</a:t>
            </a:r>
            <a:endParaRPr lang="en-US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17"/>
          <p:cNvSpPr/>
          <p:nvPr/>
        </p:nvSpPr>
        <p:spPr>
          <a:xfrm>
            <a:off x="3978653" y="2037934"/>
            <a:ext cx="4766602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INSTRUCTIONAL OBJECTIVES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56410" y="2615696"/>
            <a:ext cx="9374945" cy="181588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designed to:</a:t>
            </a:r>
            <a:endParaRPr lang="en-US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Tree Constructions with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best, worst and average 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cases of time and space complexity </a:t>
            </a:r>
            <a:endParaRPr lang="en-US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Describe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Tree basic terminology  and why it is needed</a:t>
            </a:r>
            <a:endParaRPr lang="en-US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 out the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general ideas about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construction  and why it is  needed in data structure</a:t>
            </a:r>
            <a:endParaRPr lang="en-US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Describe the structure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tree constructions and its significance usages in computer science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Graphic 10" descr="Bullseye outline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866" y="916472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3032530"/>
            <a:ext cx="914400" cy="914400"/>
          </a:xfrm>
          <a:prstGeom prst="rect">
            <a:avLst/>
          </a:prstGeom>
        </p:spPr>
      </p:pic>
      <p:sp>
        <p:nvSpPr>
          <p:cNvPr id="29" name="Rounded Rectangle 17"/>
          <p:cNvSpPr/>
          <p:nvPr/>
        </p:nvSpPr>
        <p:spPr>
          <a:xfrm>
            <a:off x="4041744" y="4584731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Graphic 30" descr="Idea outline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" y="5303059"/>
            <a:ext cx="914400" cy="914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828800" y="4975429"/>
            <a:ext cx="8791575" cy="156966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 the end of this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you should be able to:</a:t>
            </a:r>
            <a:endParaRPr lang="en-US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Define the concept of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Tree constructions phases, time and space complexity</a:t>
            </a:r>
            <a:endParaRPr lang="en-US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Describe: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Tree constructions phases with all possible conditions</a:t>
            </a:r>
            <a:endParaRPr lang="en-US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Summarize the 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Tree importance in computer science in cases of storing and managing data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0" y="107826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/>
          <p:cNvSpPr/>
          <p:nvPr/>
        </p:nvSpPr>
        <p:spPr>
          <a:xfrm>
            <a:off x="2812953" y="202359"/>
            <a:ext cx="5765440" cy="607753"/>
          </a:xfrm>
          <a:prstGeom prst="round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-1"/>
            <a:ext cx="2016193" cy="607753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2645228" y="1807030"/>
            <a:ext cx="854762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24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b="1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US" sz="24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Trees are a type of self-balancing binary search tree.</a:t>
            </a:r>
            <a:endParaRPr lang="en-US" sz="2400" b="0" i="0" dirty="0">
              <a:solidFill>
                <a:srgbClr val="37415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Why they are named as “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</a:t>
            </a:r>
            <a:r>
              <a:rPr lang="en-US" sz="24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b="1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b="1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</a:t>
            </a:r>
            <a:r>
              <a:rPr lang="en-US" sz="24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 because each node in the tree is marked with one of two colors, either</a:t>
            </a:r>
            <a:r>
              <a:rPr lang="en-US" sz="2400" b="1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2400" b="1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2400" b="1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US" sz="24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="0" i="0" dirty="0">
              <a:solidFill>
                <a:srgbClr val="37415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24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US" sz="24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Trees were introduced by Rudolf Bayer and Volker Strassen in 1972.</a:t>
            </a:r>
            <a:endParaRPr lang="en-IN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colours are used to ensure that the tree remains balanced during insertions and deletions.</a:t>
            </a:r>
            <a:endParaRPr lang="en-US" sz="2400" dirty="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7"/>
          <p:cNvSpPr/>
          <p:nvPr/>
        </p:nvSpPr>
        <p:spPr>
          <a:xfrm>
            <a:off x="2782061" y="207782"/>
            <a:ext cx="7164371" cy="735459"/>
          </a:xfrm>
          <a:prstGeom prst="round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RED-BLACK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TREE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2158938" cy="600076"/>
          </a:xfrm>
          <a:prstGeom prst="rect">
            <a:avLst/>
          </a:prstGeom>
          <a:noFill/>
        </p:spPr>
      </p:pic>
      <p:pic>
        <p:nvPicPr>
          <p:cNvPr id="4" name="Picture 2" descr="What is Red-Black Tree? - KK JavaTutorial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2241" y="1902082"/>
            <a:ext cx="8368090" cy="4128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492743" y="1233688"/>
            <a:ext cx="79037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Constructing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tree with 10 nodes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17"/>
          <p:cNvSpPr/>
          <p:nvPr/>
        </p:nvSpPr>
        <p:spPr>
          <a:xfrm>
            <a:off x="2813538" y="225083"/>
            <a:ext cx="5915684" cy="83071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68812" y="0"/>
            <a:ext cx="1990725" cy="600076"/>
          </a:xfrm>
          <a:prstGeom prst="rect">
            <a:avLst/>
          </a:prstGeom>
          <a:noFill/>
        </p:spPr>
      </p:pic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3248966" y="1824255"/>
            <a:ext cx="8540262" cy="3470748"/>
          </a:xfrm>
          <a:prstGeom prst="rect">
            <a:avLst/>
          </a:prstGeo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IN" sz="24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2400" b="1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IN" sz="24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tree is a Binary tree where a particular node has colour as an extra attribute, either red or black.</a:t>
            </a:r>
            <a:endParaRPr lang="en-IN" sz="2400" dirty="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IN" sz="24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2400" b="1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IN" sz="24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trees maintain a slightly looser height invariant than AVL trees.</a:t>
            </a:r>
            <a:endParaRPr lang="en-IN" sz="2400" dirty="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altLang="en-US" sz="2400" b="1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altLang="en-US" sz="2400" b="1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-black </a:t>
            </a:r>
            <a:r>
              <a:rPr lang="en-US" altLang="en-US" sz="24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trees, we have a different set of rules related to the colors of the nodes</a:t>
            </a:r>
            <a:endParaRPr lang="en-US" altLang="en-US" sz="2400" dirty="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68812" y="0"/>
            <a:ext cx="1990725" cy="600076"/>
          </a:xfrm>
          <a:prstGeom prst="rect">
            <a:avLst/>
          </a:prstGeom>
          <a:noFill/>
        </p:spPr>
      </p:pic>
      <p:sp>
        <p:nvSpPr>
          <p:cNvPr id="7" name="Rounded Rectangle 17"/>
          <p:cNvSpPr/>
          <p:nvPr/>
        </p:nvSpPr>
        <p:spPr>
          <a:xfrm>
            <a:off x="3322456" y="145486"/>
            <a:ext cx="7404638" cy="90917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PROPERTIES OF RED-BLACK TREE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45972" y="1589315"/>
            <a:ext cx="90460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node is RED or BLACK.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is always BLACK.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insertions always RED.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path from ROOT – LEAF has same number of BLACK nodes.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path can have 2 consecutive RED nodes.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 are BLACKS.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135086" y="1404257"/>
            <a:ext cx="8781512" cy="5105147"/>
          </a:xfrm>
        </p:spPr>
        <p:txBody>
          <a:bodyPr lIns="91440" tIns="45720" rIns="91440" bIns="45720" anchor="t"/>
          <a:lstStyle/>
          <a:p>
            <a:pPr algn="just"/>
            <a:r>
              <a:rPr lang="en-US" sz="2400" dirty="0">
                <a:latin typeface="Times New Roman" panose="02020603050405020304"/>
                <a:ea typeface="Calibri" panose="020F0502020204030204"/>
                <a:cs typeface="Calibri" panose="020F0502020204030204"/>
              </a:rPr>
              <a:t>If the tree is empty, make new node as root and color it with </a:t>
            </a:r>
            <a:r>
              <a:rPr lang="en-US" sz="2400" b="1" dirty="0">
                <a:latin typeface="Times New Roman" panose="02020603050405020304"/>
                <a:ea typeface="Calibri" panose="020F0502020204030204"/>
                <a:cs typeface="Calibri" panose="020F0502020204030204"/>
              </a:rPr>
              <a:t>black</a:t>
            </a:r>
            <a:r>
              <a:rPr lang="en-US" sz="2400" dirty="0">
                <a:latin typeface="Times New Roman" panose="02020603050405020304"/>
                <a:ea typeface="Calibri" panose="020F0502020204030204"/>
                <a:cs typeface="Calibri" panose="020F0502020204030204"/>
              </a:rPr>
              <a:t>.</a:t>
            </a:r>
            <a:endParaRPr lang="en-US" sz="2400" dirty="0">
              <a:latin typeface="Times New Roman" panose="02020603050405020304"/>
              <a:cs typeface="Calibri" panose="020F0502020204030204"/>
            </a:endParaRPr>
          </a:p>
          <a:p>
            <a:pPr algn="just"/>
            <a:r>
              <a:rPr lang="en-US" sz="2400" dirty="0">
                <a:latin typeface="Times New Roman" panose="02020603050405020304"/>
                <a:ea typeface="Calibri" panose="020F0502020204030204"/>
                <a:cs typeface="Calibri" panose="020F0502020204030204"/>
              </a:rPr>
              <a:t>If tree is not empty, create new node as leaf node and color it with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/>
                <a:ea typeface="Calibri" panose="020F0502020204030204"/>
                <a:cs typeface="Calibri" panose="020F0502020204030204"/>
              </a:rPr>
              <a:t>red</a:t>
            </a:r>
            <a:r>
              <a:rPr lang="en-US" sz="2400" dirty="0">
                <a:latin typeface="Times New Roman" panose="02020603050405020304"/>
                <a:ea typeface="Calibri" panose="020F0502020204030204"/>
                <a:cs typeface="Calibri" panose="020F0502020204030204"/>
              </a:rPr>
              <a:t>.</a:t>
            </a:r>
            <a:endParaRPr lang="en-US" sz="2400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algn="just"/>
            <a:r>
              <a:rPr lang="en-US" sz="2400" dirty="0">
                <a:latin typeface="Times New Roman" panose="02020603050405020304"/>
                <a:ea typeface="Calibri" panose="020F0502020204030204"/>
                <a:cs typeface="Calibri" panose="020F0502020204030204"/>
              </a:rPr>
              <a:t>If parent of new node is </a:t>
            </a:r>
            <a:r>
              <a:rPr lang="en-US" sz="2400" b="1" dirty="0">
                <a:latin typeface="Times New Roman" panose="02020603050405020304"/>
                <a:ea typeface="Calibri" panose="020F0502020204030204"/>
                <a:cs typeface="Calibri" panose="020F0502020204030204"/>
              </a:rPr>
              <a:t>black</a:t>
            </a:r>
            <a:r>
              <a:rPr lang="en-US" sz="2400" dirty="0">
                <a:latin typeface="Times New Roman" panose="02020603050405020304"/>
                <a:ea typeface="Calibri" panose="020F0502020204030204"/>
                <a:cs typeface="Calibri" panose="020F0502020204030204"/>
              </a:rPr>
              <a:t> then exit.</a:t>
            </a:r>
            <a:endParaRPr lang="en-US" sz="2400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algn="just"/>
            <a:r>
              <a:rPr lang="en-US" sz="2400" dirty="0">
                <a:latin typeface="Times New Roman" panose="02020603050405020304"/>
                <a:ea typeface="Calibri" panose="020F0502020204030204"/>
                <a:cs typeface="Calibri" panose="020F0502020204030204"/>
              </a:rPr>
              <a:t>If parent of new node is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/>
                <a:ea typeface="Calibri" panose="020F0502020204030204"/>
                <a:cs typeface="Calibri" panose="020F0502020204030204"/>
              </a:rPr>
              <a:t> red</a:t>
            </a:r>
            <a:r>
              <a:rPr lang="en-US" sz="2400" dirty="0">
                <a:latin typeface="Times New Roman" panose="02020603050405020304"/>
                <a:ea typeface="Calibri" panose="020F0502020204030204"/>
                <a:cs typeface="Calibri" panose="020F0502020204030204"/>
              </a:rPr>
              <a:t> then check the color of parent sibling</a:t>
            </a:r>
            <a:endParaRPr lang="en-US" sz="2400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/>
                <a:ea typeface="Calibri" panose="020F0502020204030204"/>
                <a:cs typeface="Calibri" panose="020F0502020204030204"/>
              </a:rPr>
              <a:t>     a) If parent sibling color is </a:t>
            </a:r>
            <a:r>
              <a:rPr lang="en-US" sz="2400" b="1" dirty="0">
                <a:latin typeface="Times New Roman" panose="02020603050405020304"/>
                <a:ea typeface="Calibri" panose="020F0502020204030204"/>
                <a:cs typeface="Calibri" panose="020F0502020204030204"/>
              </a:rPr>
              <a:t>black</a:t>
            </a:r>
            <a:r>
              <a:rPr lang="en-US" sz="2400" dirty="0">
                <a:latin typeface="Times New Roman" panose="02020603050405020304"/>
                <a:ea typeface="Calibri" panose="020F0502020204030204"/>
                <a:cs typeface="Calibri" panose="020F0502020204030204"/>
              </a:rPr>
              <a:t> or null rotate and recolor.</a:t>
            </a:r>
            <a:endParaRPr lang="en-US" sz="2400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/>
                <a:ea typeface="Calibri" panose="020F0502020204030204"/>
                <a:cs typeface="Calibri" panose="020F0502020204030204"/>
              </a:rPr>
              <a:t>     b) If parent sibling color is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/>
                <a:ea typeface="Calibri" panose="020F0502020204030204"/>
                <a:cs typeface="Calibri" panose="020F0502020204030204"/>
              </a:rPr>
              <a:t>red</a:t>
            </a:r>
            <a:r>
              <a:rPr lang="en-US" sz="2400" dirty="0">
                <a:latin typeface="Times New Roman" panose="02020603050405020304"/>
                <a:ea typeface="Calibri" panose="020F0502020204030204"/>
                <a:cs typeface="Calibri" panose="020F0502020204030204"/>
              </a:rPr>
              <a:t>, then recolor parent 		and parent sibling   </a:t>
            </a:r>
            <a:endParaRPr lang="en-US" sz="2400" dirty="0">
              <a:latin typeface="Times New Roman" panose="02020603050405020304"/>
              <a:cs typeface="Times New Roman" panose="02020603050405020304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/>
                <a:ea typeface="Calibri" panose="020F0502020204030204"/>
                <a:cs typeface="Calibri" panose="020F0502020204030204"/>
              </a:rPr>
              <a:t>     c) And check parent's parent is not root node. Then recolor </a:t>
            </a:r>
            <a:endParaRPr lang="en-US" sz="2400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/>
                <a:ea typeface="Calibri" panose="020F0502020204030204"/>
                <a:cs typeface="Calibri" panose="020F0502020204030204"/>
              </a:rPr>
              <a:t>	and recheck.</a:t>
            </a:r>
            <a:endParaRPr lang="en-US" sz="2400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Rounded Rectangle 17"/>
          <p:cNvSpPr/>
          <p:nvPr/>
        </p:nvSpPr>
        <p:spPr>
          <a:xfrm>
            <a:off x="2169473" y="208777"/>
            <a:ext cx="9627382" cy="81759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en-US" sz="3200" b="1" dirty="0">
                <a:latin typeface="Times New Roman" panose="02020603050405020304"/>
                <a:cs typeface="Times New Roman" panose="02020603050405020304"/>
              </a:rPr>
              <a:t>RULES FOR INSERTION OF NODE</a:t>
            </a:r>
            <a:endParaRPr lang="en-US" sz="3200" b="1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7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68812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47627" y="1157642"/>
            <a:ext cx="10905574" cy="4542716"/>
          </a:xfrm>
        </p:spPr>
        <p:txBody>
          <a:bodyPr/>
          <a:lstStyle/>
          <a:p>
            <a:pPr marL="0" indent="0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17"/>
          <p:cNvSpPr/>
          <p:nvPr/>
        </p:nvSpPr>
        <p:spPr>
          <a:xfrm>
            <a:off x="3407943" y="236422"/>
            <a:ext cx="6759671" cy="770026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OF RB TREES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68812" y="0"/>
            <a:ext cx="1990725" cy="600076"/>
          </a:xfrm>
          <a:prstGeom prst="rect">
            <a:avLst/>
          </a:prstGeom>
          <a:noFill/>
        </p:spPr>
      </p:pic>
      <p:pic>
        <p:nvPicPr>
          <p:cNvPr id="1034" name="Picture 10" descr="first nod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95432"/>
            <a:ext cx="4831205" cy="2033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new nod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5897" y="3419474"/>
            <a:ext cx="5404221" cy="283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third nod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7779" y="3429000"/>
            <a:ext cx="5404221" cy="3355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rrow: Right 10"/>
          <p:cNvSpPr/>
          <p:nvPr/>
        </p:nvSpPr>
        <p:spPr>
          <a:xfrm>
            <a:off x="3290074" y="426674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IN" dirty="0"/>
          </a:p>
        </p:txBody>
      </p:sp>
      <p:sp>
        <p:nvSpPr>
          <p:cNvPr id="12" name="Arrow: Right 11"/>
          <p:cNvSpPr/>
          <p:nvPr/>
        </p:nvSpPr>
        <p:spPr>
          <a:xfrm>
            <a:off x="674970" y="426674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IN" dirty="0"/>
          </a:p>
        </p:txBody>
      </p:sp>
      <p:sp>
        <p:nvSpPr>
          <p:cNvPr id="13" name="Arrow: Right 12"/>
          <p:cNvSpPr/>
          <p:nvPr/>
        </p:nvSpPr>
        <p:spPr>
          <a:xfrm>
            <a:off x="6618694" y="439529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0" y="5453390"/>
            <a:ext cx="2765897" cy="1339296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2765897" y="6257924"/>
            <a:ext cx="7105891" cy="5273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2415602" y="5955718"/>
            <a:ext cx="4451729" cy="828576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3047399" y="1299402"/>
            <a:ext cx="86078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Let's understand the inserting elements with following the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-black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 properties and rules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 a red black tree with 1 to 7 numbers.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68812" y="0"/>
            <a:ext cx="1990725" cy="600076"/>
          </a:xfrm>
          <a:prstGeom prst="rect">
            <a:avLst/>
          </a:prstGeom>
          <a:noFill/>
        </p:spPr>
      </p:pic>
      <p:sp>
        <p:nvSpPr>
          <p:cNvPr id="6" name="Rounded Rectangle 17"/>
          <p:cNvSpPr/>
          <p:nvPr/>
        </p:nvSpPr>
        <p:spPr>
          <a:xfrm>
            <a:off x="2813537" y="202858"/>
            <a:ext cx="5810783" cy="7944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Example of RED-BLACK Tree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suitable rot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97294"/>
            <a:ext cx="7072604" cy="3189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RB Tree proper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2604" y="997293"/>
            <a:ext cx="5119396" cy="3490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RB Tree balance propert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01294"/>
            <a:ext cx="5029200" cy="2761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rrow: Right 9"/>
          <p:cNvSpPr/>
          <p:nvPr/>
        </p:nvSpPr>
        <p:spPr>
          <a:xfrm>
            <a:off x="6381217" y="268781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en-IN" dirty="0"/>
          </a:p>
        </p:txBody>
      </p:sp>
      <p:pic>
        <p:nvPicPr>
          <p:cNvPr id="2056" name="Picture 8" descr="insert element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0597" y="3745165"/>
            <a:ext cx="5538056" cy="303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rrow: Right 10"/>
          <p:cNvSpPr/>
          <p:nvPr/>
        </p:nvSpPr>
        <p:spPr>
          <a:xfrm>
            <a:off x="4050792" y="4926383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endParaRPr lang="en-IN" dirty="0"/>
          </a:p>
        </p:txBody>
      </p:sp>
      <p:sp>
        <p:nvSpPr>
          <p:cNvPr id="12" name="Rectangle 11"/>
          <p:cNvSpPr/>
          <p:nvPr/>
        </p:nvSpPr>
        <p:spPr>
          <a:xfrm>
            <a:off x="10128653" y="4413381"/>
            <a:ext cx="2063347" cy="2367332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8812" y="1439005"/>
            <a:ext cx="11784376" cy="4737958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68812" y="0"/>
            <a:ext cx="1990725" cy="600076"/>
          </a:xfrm>
          <a:prstGeom prst="rect">
            <a:avLst/>
          </a:prstGeom>
          <a:noFill/>
        </p:spPr>
      </p:pic>
      <p:sp>
        <p:nvSpPr>
          <p:cNvPr id="6" name="Rounded Rectangle 17"/>
          <p:cNvSpPr/>
          <p:nvPr/>
        </p:nvSpPr>
        <p:spPr>
          <a:xfrm>
            <a:off x="2932856" y="165637"/>
            <a:ext cx="6104220" cy="762214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Example of RED-BLACK Tree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ibling is NUL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927851"/>
            <a:ext cx="6473525" cy="4838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insert element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0795" y="921686"/>
            <a:ext cx="5861205" cy="438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rrow: Right 7"/>
          <p:cNvSpPr/>
          <p:nvPr/>
        </p:nvSpPr>
        <p:spPr>
          <a:xfrm>
            <a:off x="6018600" y="243680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1" y="5302953"/>
            <a:ext cx="12156278" cy="1477759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ounded Rectangle 17"/>
          <p:cNvSpPr/>
          <p:nvPr/>
        </p:nvSpPr>
        <p:spPr>
          <a:xfrm>
            <a:off x="2813538" y="225083"/>
            <a:ext cx="6368170" cy="741887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Example of RED-BLACK Tree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68812" y="0"/>
            <a:ext cx="1990725" cy="600076"/>
          </a:xfrm>
          <a:prstGeom prst="rect">
            <a:avLst/>
          </a:prstGeom>
          <a:noFill/>
        </p:spPr>
      </p:pic>
      <p:pic>
        <p:nvPicPr>
          <p:cNvPr id="4" name="Picture 2" descr="recolor par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66970"/>
            <a:ext cx="6657975" cy="425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add last elemen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0" y="966970"/>
            <a:ext cx="6667500" cy="486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rrow: Right 7"/>
          <p:cNvSpPr/>
          <p:nvPr/>
        </p:nvSpPr>
        <p:spPr>
          <a:xfrm>
            <a:off x="5419497" y="244700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1" y="5224645"/>
            <a:ext cx="6484775" cy="1556067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2434513" y="5834245"/>
            <a:ext cx="9757486" cy="953176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17"/>
          <p:cNvSpPr/>
          <p:nvPr/>
        </p:nvSpPr>
        <p:spPr>
          <a:xfrm>
            <a:off x="2960104" y="126378"/>
            <a:ext cx="5863386" cy="8214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Example of RED-BLACK Tree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85671" y="126378"/>
            <a:ext cx="1990725" cy="600076"/>
          </a:xfrm>
          <a:prstGeom prst="rect">
            <a:avLst/>
          </a:prstGeom>
          <a:noFill/>
        </p:spPr>
      </p:pic>
      <p:pic>
        <p:nvPicPr>
          <p:cNvPr id="5122" name="Picture 2" descr="RB Tree achiev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970" y="2065857"/>
            <a:ext cx="7688577" cy="4665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8823489" y="2065857"/>
            <a:ext cx="3368509" cy="4721564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3" y="2037957"/>
            <a:ext cx="3368509" cy="4721564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3264373" y="2065857"/>
            <a:ext cx="5646163" cy="264487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1" y="975687"/>
            <a:ext cx="12191996" cy="1164398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2189833" y="1228385"/>
            <a:ext cx="79095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Black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 with 1 to 7 Numbers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5227" y="1733906"/>
            <a:ext cx="8999521" cy="4351338"/>
          </a:xfrm>
        </p:spPr>
        <p:txBody>
          <a:bodyPr/>
          <a:lstStyle/>
          <a:p>
            <a:pPr fontAlgn="base"/>
            <a:r>
              <a:rPr lang="en-US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Trees have a guaranteed time complexity of O(log n) for basic operations like insertion, deletion, and searching.</a:t>
            </a:r>
            <a:endParaRPr lang="en-US" sz="2400" b="0" i="0" dirty="0">
              <a:solidFill>
                <a:srgbClr val="27323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24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Black 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Trees are self-balancing.</a:t>
            </a:r>
            <a:endParaRPr lang="en-US" sz="2400" b="0" i="0" dirty="0">
              <a:solidFill>
                <a:srgbClr val="27323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24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Black 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Trees can be used in a wide range of applications due to their efficient performance and versatility. </a:t>
            </a:r>
            <a:endParaRPr lang="en-US" sz="2400" b="0" i="0" dirty="0">
              <a:solidFill>
                <a:srgbClr val="27323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The process which is used to maintain balance in 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24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Black 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Trees is relatively simple and easy to understand.</a:t>
            </a:r>
            <a:endParaRPr lang="en-US" sz="2400" b="0" i="0" dirty="0">
              <a:solidFill>
                <a:srgbClr val="27323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/>
            <a:endParaRPr lang="en-US" sz="2400" dirty="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68812" y="0"/>
            <a:ext cx="1990725" cy="600076"/>
          </a:xfrm>
          <a:prstGeom prst="rect">
            <a:avLst/>
          </a:prstGeom>
          <a:noFill/>
        </p:spPr>
      </p:pic>
      <p:sp>
        <p:nvSpPr>
          <p:cNvPr id="6" name="Rounded Rectangle 17"/>
          <p:cNvSpPr/>
          <p:nvPr/>
        </p:nvSpPr>
        <p:spPr>
          <a:xfrm>
            <a:off x="3379122" y="210314"/>
            <a:ext cx="5433756" cy="779524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6227" y="1082986"/>
            <a:ext cx="8847681" cy="3695843"/>
          </a:xfrm>
        </p:spPr>
        <p:txBody>
          <a:bodyPr/>
          <a:lstStyle/>
          <a:p>
            <a:r>
              <a:rPr lang="en-IN" sz="24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IN" sz="2400" b="1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black </a:t>
            </a:r>
            <a:r>
              <a:rPr lang="en-IN" sz="24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trees in a lot of cases is that it is a binary tree and thus lookups are O(log(n)) where as hash tables have a lookup of O(1).</a:t>
            </a:r>
            <a:endParaRPr lang="en-IN" sz="2400" dirty="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24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Black 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Trees require one extra bit of storage for each node to store the color of the node (red or black). </a:t>
            </a:r>
            <a:endParaRPr lang="en-US" sz="2400" b="0" i="0" dirty="0">
              <a:solidFill>
                <a:srgbClr val="27323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Complexity of Implementation.</a:t>
            </a:r>
            <a:endParaRPr lang="en-US" sz="2400" b="0" i="0" dirty="0">
              <a:solidFill>
                <a:srgbClr val="27323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Although 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24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Black 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Trees provide efficient performance for basic operations, they may not be the best choice for certain types of data or specific use cases.</a:t>
            </a:r>
            <a:endParaRPr lang="en-US" sz="2400" b="0" i="0" dirty="0">
              <a:solidFill>
                <a:srgbClr val="27323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/>
            <a:endParaRPr lang="en-US" sz="2400" dirty="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68812" y="0"/>
            <a:ext cx="1990725" cy="600076"/>
          </a:xfrm>
          <a:prstGeom prst="rect">
            <a:avLst/>
          </a:prstGeom>
          <a:noFill/>
        </p:spPr>
      </p:pic>
      <p:sp>
        <p:nvSpPr>
          <p:cNvPr id="6" name="Rounded Rectangle 17"/>
          <p:cNvSpPr/>
          <p:nvPr/>
        </p:nvSpPr>
        <p:spPr>
          <a:xfrm>
            <a:off x="3605389" y="146756"/>
            <a:ext cx="4803321" cy="74879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en-US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6324" y="1998398"/>
            <a:ext cx="8806544" cy="1887802"/>
          </a:xfrm>
        </p:spPr>
        <p:txBody>
          <a:bodyPr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Describe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tree  with proper syntax and example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Construct the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-BLACK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tree with these elements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 a) 10,85,15,70,20,60,30,50,65,80,90,40,5,55.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 b) 10,18,7,15,16,30,25,40,60,2,1,70.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9" name="Rectangle: Rounded Corners 8"/>
          <p:cNvSpPr/>
          <p:nvPr/>
        </p:nvSpPr>
        <p:spPr>
          <a:xfrm>
            <a:off x="3627903" y="252131"/>
            <a:ext cx="4471147" cy="649941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/>
                <a:cs typeface="Calibri" panose="020F0502020204030204"/>
              </a:rPr>
              <a:t>EXAMPLE</a:t>
            </a:r>
            <a:endParaRPr lang="en-US" sz="3200" b="1" dirty="0">
              <a:latin typeface="Times New Roman" panose="020206030504050203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206326" y="891849"/>
            <a:ext cx="547702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dirty="0"/>
              <a:t> </a:t>
            </a:r>
            <a:endParaRPr lang="en-US" sz="3200" dirty="0"/>
          </a:p>
        </p:txBody>
      </p:sp>
      <p:sp>
        <p:nvSpPr>
          <p:cNvPr id="7" name="Rectangle 6"/>
          <p:cNvSpPr/>
          <p:nvPr/>
        </p:nvSpPr>
        <p:spPr>
          <a:xfrm>
            <a:off x="2808514" y="2089278"/>
            <a:ext cx="8992103" cy="230832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374151"/>
                </a:solidFill>
                <a:effectLst/>
                <a:latin typeface="Times New Roman" panose="02020603050405020304"/>
                <a:cs typeface="Times New Roman" panose="02020603050405020304"/>
              </a:rPr>
              <a:t>The 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Times New Roman" panose="02020603050405020304"/>
                <a:cs typeface="Times New Roman" panose="02020603050405020304"/>
              </a:rPr>
              <a:t>Red</a:t>
            </a:r>
            <a:r>
              <a:rPr lang="en-US" sz="2400" b="1" i="0" dirty="0">
                <a:solidFill>
                  <a:srgbClr val="374151"/>
                </a:solidFill>
                <a:effectLst/>
                <a:latin typeface="Times New Roman" panose="02020603050405020304"/>
                <a:cs typeface="Times New Roman" panose="02020603050405020304"/>
              </a:rPr>
              <a:t>-Black</a:t>
            </a:r>
            <a:r>
              <a:rPr lang="en-US" sz="2400" b="0" i="0" dirty="0">
                <a:solidFill>
                  <a:srgbClr val="374151"/>
                </a:solidFill>
                <a:effectLst/>
                <a:latin typeface="Times New Roman" panose="02020603050405020304"/>
                <a:cs typeface="Times New Roman" panose="02020603050405020304"/>
              </a:rPr>
              <a:t> tree properties ensure a balanced structure, limiting the longest path from the root to any leaf to at most twice the length of the shortest path.</a:t>
            </a:r>
            <a:r>
              <a:rPr lang="en-US" sz="2400" dirty="0">
                <a:solidFill>
                  <a:srgbClr val="374151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endParaRPr lang="en-US" sz="2400" b="0" i="0" dirty="0">
              <a:solidFill>
                <a:srgbClr val="37415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balance guarantees efficient average-case performance for search, insertion, and deletion operations, with a worst-case time complexity of O(log n).</a:t>
            </a:r>
            <a:endParaRPr lang="en-US" sz="2400" dirty="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SELF-ASSESSMENT QUESTIONS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502;p17"/>
          <p:cNvSpPr/>
          <p:nvPr/>
        </p:nvSpPr>
        <p:spPr>
          <a:xfrm>
            <a:off x="3398039" y="647542"/>
            <a:ext cx="6293353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What is the </a:t>
            </a:r>
            <a:r>
              <a:rPr lang="en-IN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the root node in a Red-Black Tree?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7"/>
          <p:cNvSpPr/>
          <p:nvPr/>
        </p:nvSpPr>
        <p:spPr>
          <a:xfrm>
            <a:off x="3390636" y="1396659"/>
            <a:ext cx="3819784" cy="1271067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Red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Black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Alternates between red and black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It has no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Google Shape;502;p17"/>
          <p:cNvSpPr/>
          <p:nvPr/>
        </p:nvSpPr>
        <p:spPr>
          <a:xfrm>
            <a:off x="3391385" y="2718756"/>
            <a:ext cx="6300007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What is the worst-case time complexity for searching a key in a Red-Black Tree?</a:t>
            </a:r>
            <a:endParaRPr sz="1600" b="1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14" name="Rounded Rectangle 17"/>
          <p:cNvSpPr/>
          <p:nvPr/>
        </p:nvSpPr>
        <p:spPr>
          <a:xfrm>
            <a:off x="3390635" y="3558765"/>
            <a:ext cx="3819783" cy="1176776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O(1)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O(log n)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O(n)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O(n log n)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Google Shape;502;p17"/>
          <p:cNvSpPr/>
          <p:nvPr/>
        </p:nvSpPr>
        <p:spPr>
          <a:xfrm>
            <a:off x="3398039" y="4789970"/>
            <a:ext cx="611755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Which self-balancing tree structure is a common alternative to Red-Black Trees?</a:t>
            </a:r>
            <a:endParaRPr sz="1600" b="1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3" name="Rounded Rectangle 17"/>
          <p:cNvSpPr/>
          <p:nvPr/>
        </p:nvSpPr>
        <p:spPr>
          <a:xfrm>
            <a:off x="3398039" y="5554643"/>
            <a:ext cx="3812379" cy="1176776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AVL Trees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B-Trees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Quad Trees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Binary Heaps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  <p:bldP spid="2" grpId="0" animBg="1"/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260007" y="187783"/>
            <a:ext cx="6276409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TERMINAL QUESTIONS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71087" y="1237165"/>
            <a:ext cx="7928155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>
                <a:latin typeface="Times New Roman" panose="02020603050405020304"/>
                <a:cs typeface="Times New Roman" panose="02020603050405020304"/>
              </a:rPr>
              <a:t>1.What is the color of root in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red</a:t>
            </a:r>
            <a:r>
              <a:rPr lang="en-US" sz="2400" b="1" dirty="0">
                <a:latin typeface="Times New Roman" panose="02020603050405020304"/>
                <a:cs typeface="Times New Roman" panose="02020603050405020304"/>
              </a:rPr>
              <a:t> black</a:t>
            </a:r>
            <a:r>
              <a:rPr lang="en-US" sz="2400" dirty="0">
                <a:latin typeface="Times New Roman" panose="02020603050405020304"/>
                <a:cs typeface="Times New Roman" panose="02020603050405020304"/>
              </a:rPr>
              <a:t> tree?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/>
                <a:cs typeface="Times New Roman" panose="02020603050405020304"/>
              </a:rPr>
              <a:t>2.What is the color property of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red</a:t>
            </a:r>
            <a:r>
              <a:rPr lang="en-US" sz="2400" b="1" dirty="0">
                <a:latin typeface="Times New Roman" panose="02020603050405020304"/>
                <a:cs typeface="Times New Roman" panose="02020603050405020304"/>
              </a:rPr>
              <a:t> black</a:t>
            </a:r>
            <a:r>
              <a:rPr lang="en-US" sz="2400" dirty="0">
                <a:latin typeface="Times New Roman" panose="02020603050405020304"/>
                <a:cs typeface="Times New Roman" panose="02020603050405020304"/>
              </a:rPr>
              <a:t> tree?</a:t>
            </a:r>
            <a:endParaRPr lang="en-US" sz="2400" dirty="0">
              <a:latin typeface="Times New Roman" panose="02020603050405020304"/>
              <a:cs typeface="Times New Roman" panose="02020603050405020304"/>
            </a:endParaRPr>
          </a:p>
          <a:p>
            <a:r>
              <a:rPr lang="en-US" sz="2400" dirty="0">
                <a:latin typeface="Times New Roman" panose="02020603050405020304"/>
                <a:cs typeface="Times New Roman" panose="02020603050405020304"/>
              </a:rPr>
              <a:t>3.What is the color of null node?</a:t>
            </a:r>
            <a:endParaRPr lang="en-US" sz="24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2309228" cy="60007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153746" y="158864"/>
            <a:ext cx="8882743" cy="596672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FOR FURTHER LEARNING OF THE SESSION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721429" y="675114"/>
            <a:ext cx="8971406" cy="5967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69752" tIns="103155" rIns="91440" bIns="4572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927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927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927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927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927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927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927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927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927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927100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altLang="en-US" b="1" dirty="0">
                <a:ea typeface="Times New Roman" panose="02020603050405020304" pitchFamily="18" charset="0"/>
              </a:rPr>
              <a:t>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EXTBOOKS: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AutoNum type="arabicParenR"/>
              <a:tabLst>
                <a:tab pos="927100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Mark Allen Weiss, Data Structures and Algorithm Analysis in C, 2010 , Second Edition, Pearson Education.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AutoNum type="arabicParenR"/>
              <a:tabLst>
                <a:tab pos="927100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Ellis Horowitz, Fundamentals of Data Structures in C: Second Edition, 2015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11111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tabLst>
                <a:tab pos="927100" algn="l"/>
              </a:tabLs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927100" algn="l"/>
              </a:tabLs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REFERENCE BOOKS</a:t>
            </a:r>
            <a:r>
              <a:rPr kumimoji="0" lang="en-US" altLang="en-US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927100" algn="l"/>
              </a:tabLst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A.V.Aho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J. E. Hopcroft, and J. D. Ullman, “Data Structures And Algorithms”, Pearson Education, First Edition Reprint2003.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927100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Horowitz, Sahni, Anderson Freed, “Fundamentals of data structures in C” , Second Edition-2007.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927100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R. F.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Gilberg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B. A.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Forouzan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“Data Structures”, Second Edition, Thomson India Edition, 2005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927100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Robert Kruse, C.L. Tondo, Bruce Leung, Shashi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Mogalla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“Data Structures &amp; Program Design in C”, FourthEdition-2007.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927100" algn="l"/>
              </a:tabLs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927100" algn="l"/>
              </a:tabLs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WEB REFERNCES/MOOCS: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927100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2"/>
              </a:rPr>
              <a:t>https://nptel.ac.in/courses/106102064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927100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https://nptel.ac.in/courses/106101060/4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927100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3"/>
              </a:rPr>
              <a:t>https://www.edx.org/course/algorithms-and-data-structures-1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927100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4"/>
              </a:rPr>
              <a:t>https://in.udacity.com/course/intro-to-algorithms--cs215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927100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https://www.coursera.org/learn/data-structures?action=enroll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602523" y="1660850"/>
            <a:ext cx="7920111" cy="3079962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 Data structure</a:t>
            </a:r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BBD0A98-E68B-4DAA-8964-2F739D6D4075}">
  <ds:schemaRefs/>
</ds:datastoreItem>
</file>

<file path=customXml/itemProps2.xml><?xml version="1.0" encoding="utf-8"?>
<ds:datastoreItem xmlns:ds="http://schemas.openxmlformats.org/officeDocument/2006/customXml" ds:itemID="{C89A6ECA-0C1B-4F00-836D-A696F073E5C2}">
  <ds:schemaRefs/>
</ds:datastoreItem>
</file>

<file path=customXml/itemProps3.xml><?xml version="1.0" encoding="utf-8"?>
<ds:datastoreItem xmlns:ds="http://schemas.openxmlformats.org/officeDocument/2006/customXml" ds:itemID="{3DA00F5F-5366-4B1C-9406-30DECA796AB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5760</Words>
  <Application>WPS Presentation</Application>
  <PresentationFormat>Widescreen</PresentationFormat>
  <Paragraphs>191</Paragraphs>
  <Slides>20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4" baseType="lpstr">
      <vt:lpstr>Arial</vt:lpstr>
      <vt:lpstr>SimSun</vt:lpstr>
      <vt:lpstr>Wingdings</vt:lpstr>
      <vt:lpstr>Arial</vt:lpstr>
      <vt:lpstr>Calibri</vt:lpstr>
      <vt:lpstr>Times New Roman</vt:lpstr>
      <vt:lpstr>BioRhyme ExtraBold</vt:lpstr>
      <vt:lpstr>Segoe Print</vt:lpstr>
      <vt:lpstr>Times New Roman</vt:lpstr>
      <vt:lpstr>Microsoft YaHei</vt:lpstr>
      <vt:lpstr>Arial Unicode MS</vt:lpstr>
      <vt:lpstr>Poppins</vt:lpstr>
      <vt:lpstr>Calibri Light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Anusha M</cp:lastModifiedBy>
  <cp:revision>299</cp:revision>
  <dcterms:created xsi:type="dcterms:W3CDTF">2020-02-08T09:57:00Z</dcterms:created>
  <dcterms:modified xsi:type="dcterms:W3CDTF">2024-12-16T09:50:02Z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  <property fmtid="{D5CDD505-2E9C-101B-9397-08002B2CF9AE}" pid="3" name="ICV">
    <vt:lpwstr>05480F04DA0640449C4BCA3055F47951_13</vt:lpwstr>
  </property>
  <property fmtid="{D5CDD505-2E9C-101B-9397-08002B2CF9AE}" pid="4" name="KSOProductBuildVer">
    <vt:lpwstr>1033-12.2.0.19307</vt:lpwstr>
  </property>
</Properties>
</file>