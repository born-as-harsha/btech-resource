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71" r:id="rId4"/>
    <p:sldId id="300" r:id="rId6"/>
    <p:sldId id="350" r:id="rId7"/>
    <p:sldId id="331" r:id="rId8"/>
    <p:sldId id="258" r:id="rId9"/>
    <p:sldId id="288" r:id="rId10"/>
    <p:sldId id="290" r:id="rId11"/>
    <p:sldId id="305" r:id="rId12"/>
    <p:sldId id="306" r:id="rId13"/>
    <p:sldId id="317" r:id="rId14"/>
    <p:sldId id="307" r:id="rId15"/>
    <p:sldId id="308" r:id="rId16"/>
    <p:sldId id="309" r:id="rId17"/>
    <p:sldId id="310" r:id="rId18"/>
    <p:sldId id="351" r:id="rId19"/>
    <p:sldId id="352" r:id="rId20"/>
    <p:sldId id="287" r:id="rId21"/>
    <p:sldId id="301" r:id="rId22"/>
    <p:sldId id="313" r:id="rId23"/>
    <p:sldId id="315" r:id="rId24"/>
    <p:sldId id="316" r:id="rId25"/>
    <p:sldId id="302" r:id="rId26"/>
    <p:sldId id="303"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9" userDrawn="1">
          <p15:clr>
            <a:srgbClr val="A4A3A4"/>
          </p15:clr>
        </p15:guide>
        <p15:guide id="2" pos="38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4"/>
    <a:srgbClr val="FF9900"/>
    <a:srgbClr val="E84845"/>
    <a:srgbClr val="FAD2D2"/>
    <a:srgbClr val="F89E4C"/>
    <a:srgbClr val="A81E24"/>
    <a:srgbClr val="FFF2CC"/>
    <a:srgbClr val="CF2F33"/>
    <a:srgbClr val="BA2532"/>
    <a:srgbClr val="E329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89"/>
  </p:normalViewPr>
  <p:slideViewPr>
    <p:cSldViewPr snapToGrid="0" showGuides="1">
      <p:cViewPr varScale="1">
        <p:scale>
          <a:sx n="105" d="100"/>
          <a:sy n="105" d="100"/>
        </p:scale>
        <p:origin x="798" y="96"/>
      </p:cViewPr>
      <p:guideLst>
        <p:guide orient="horz" pos="2199"/>
        <p:guide pos="385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4" Type="http://schemas.openxmlformats.org/officeDocument/2006/relationships/customXml" Target="../customXml/item3.xml"/><Relationship Id="rId33" Type="http://schemas.openxmlformats.org/officeDocument/2006/relationships/customXml" Target="../customXml/item2.xml"/><Relationship Id="rId32" Type="http://schemas.openxmlformats.org/officeDocument/2006/relationships/customXml" Target="../customXml/item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0" y="133544"/>
            <a:ext cx="6027459" cy="6623931"/>
          </a:xfrm>
          <a:prstGeom prst="rect">
            <a:avLst/>
          </a:prstGeom>
          <a:noFill/>
          <a:ln>
            <a:noFill/>
          </a:ln>
        </p:spPr>
      </p:pic>
      <p:sp>
        <p:nvSpPr>
          <p:cNvPr id="476" name="Google Shape;476;p16"/>
          <p:cNvSpPr txBox="1"/>
          <p:nvPr/>
        </p:nvSpPr>
        <p:spPr>
          <a:xfrm>
            <a:off x="5394455" y="1933408"/>
            <a:ext cx="6902548" cy="224409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DATA STRUTURES </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2</a:t>
            </a:r>
            <a:r>
              <a:rPr lang="en-IN" altLang="en-US" sz="3200" b="1" cap="all" dirty="0">
                <a:solidFill>
                  <a:srgbClr val="C00000"/>
                </a:solidFill>
                <a:cs typeface="Poppins" panose="00000500000000000000" pitchFamily="2" charset="0"/>
                <a:sym typeface="BioRhyme ExtraBold"/>
              </a:rPr>
              <a:t>4</a:t>
            </a:r>
            <a:r>
              <a:rPr lang="en-US" sz="3200" b="1" cap="all" dirty="0">
                <a:solidFill>
                  <a:srgbClr val="C00000"/>
                </a:solidFill>
                <a:cs typeface="Poppins" panose="00000500000000000000" pitchFamily="2" charset="0"/>
                <a:sym typeface="BioRhyme ExtraBold"/>
              </a:rPr>
              <a:t>SC120</a:t>
            </a:r>
            <a:r>
              <a:rPr lang="en-IN" altLang="en-US" sz="3200" b="1" cap="all" dirty="0">
                <a:solidFill>
                  <a:srgbClr val="C00000"/>
                </a:solidFill>
                <a:cs typeface="Poppins" panose="00000500000000000000" pitchFamily="2" charset="0"/>
                <a:sym typeface="BioRhyme ExtraBold"/>
              </a:rPr>
              <a:t>3</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800" b="1" dirty="0">
                <a:solidFill>
                  <a:srgbClr val="FF0000"/>
                </a:solidFill>
                <a:ea typeface="BioRhyme ExtraBold"/>
                <a:cs typeface="Poppins" panose="00000500000000000000" pitchFamily="2" charset="0"/>
                <a:sym typeface="BioRhyme ExtraBold"/>
              </a:rPr>
              <a:t>Topic:</a:t>
            </a:r>
            <a:endParaRPr lang="en-US" sz="2800" b="1" dirty="0">
              <a:solidFill>
                <a:srgbClr val="FF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800" b="1" dirty="0">
                <a:solidFill>
                  <a:srgbClr val="FF0000"/>
                </a:solidFill>
                <a:ea typeface="BioRhyme ExtraBold"/>
                <a:cs typeface="Poppins" panose="00000500000000000000" pitchFamily="2" charset="0"/>
                <a:sym typeface="BioRhyme ExtraBold"/>
              </a:rPr>
              <a:t>HEAP SORT</a:t>
            </a:r>
            <a:endParaRPr lang="en-US" sz="2800" b="1" dirty="0">
              <a:solidFill>
                <a:srgbClr val="FF0000"/>
              </a:solidFill>
              <a:ea typeface="BioRhyme ExtraBold"/>
              <a:cs typeface="Poppins" panose="00000500000000000000" pitchFamily="2" charset="0"/>
              <a:sym typeface="BioRhyme ExtraBold"/>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endParaRPr lang="en-US" sz="4000" dirty="0">
              <a:solidFill>
                <a:srgbClr val="C00000"/>
              </a:solidFill>
              <a:cs typeface="Poppins" pitchFamily="2" charset="77"/>
            </a:endParaRPr>
          </a:p>
        </p:txBody>
      </p:sp>
      <p:sp>
        <p:nvSpPr>
          <p:cNvPr id="8" name="Google Shape;502;p17"/>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a:sym typeface="Calibri" panose="020F0502020204030204"/>
              </a:rPr>
              <a:t>Session -</a:t>
            </a:r>
            <a:r>
              <a:rPr lang="en-IN" altLang="en-US" sz="2400" dirty="0">
                <a:solidFill>
                  <a:schemeClr val="lt1"/>
                </a:solidFill>
                <a:ea typeface="Calibri" panose="020F0502020204030204"/>
                <a:cs typeface="Poppins"/>
                <a:sym typeface="Calibri" panose="020F0502020204030204"/>
              </a:rPr>
              <a:t>31</a:t>
            </a:r>
            <a:r>
              <a:rPr lang="en-US" sz="2400" dirty="0">
                <a:solidFill>
                  <a:schemeClr val="lt1"/>
                </a:solidFill>
                <a:ea typeface="Calibri" panose="020F0502020204030204"/>
                <a:cs typeface="Poppins"/>
                <a:sym typeface="Calibri" panose="020F0502020204030204"/>
              </a:rPr>
              <a:t> </a:t>
            </a:r>
            <a:endParaRPr sz="2400" dirty="0">
              <a:solidFill>
                <a:schemeClr val="lt1"/>
              </a:solidFill>
              <a:ea typeface="Calibri" panose="020F0502020204030204"/>
              <a:cs typeface="Poppins"/>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2"/>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endParaRPr lang="en-US" sz="2400" dirty="0"/>
          </a:p>
        </p:txBody>
      </p:sp>
      <p:sp>
        <p:nvSpPr>
          <p:cNvPr id="5" name="TextBox 4"/>
          <p:cNvSpPr txBox="1"/>
          <p:nvPr/>
        </p:nvSpPr>
        <p:spPr>
          <a:xfrm>
            <a:off x="1371600" y="733044"/>
            <a:ext cx="10731286" cy="57996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2400" b="0" i="0" dirty="0">
                <a:effectLst/>
                <a:latin typeface="Times New Roman" panose="02020603050405020304" pitchFamily="18" charset="0"/>
                <a:cs typeface="Times New Roman" panose="02020603050405020304" pitchFamily="18" charset="0"/>
              </a:rPr>
              <a:t>To familiarize students with the basic concept of </a:t>
            </a:r>
            <a:r>
              <a:rPr lang="en-US" sz="2400" dirty="0">
                <a:latin typeface="Times New Roman" panose="02020603050405020304" pitchFamily="18" charset="0"/>
                <a:cs typeface="Times New Roman" panose="02020603050405020304" pitchFamily="18" charset="0"/>
              </a:rPr>
              <a:t>heap sort and its implementation</a:t>
            </a:r>
            <a:endParaRPr lang="en-US" sz="2400" b="0" i="0" dirty="0">
              <a:effectLst/>
              <a:latin typeface="Times New Roman" panose="02020603050405020304" pitchFamily="18" charset="0"/>
              <a:cs typeface="Times New Roman" panose="02020603050405020304" pitchFamily="18" charset="0"/>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endParaRPr lang="en-US" sz="2400" dirty="0"/>
          </a:p>
        </p:txBody>
      </p:sp>
      <p:sp>
        <p:nvSpPr>
          <p:cNvPr id="9" name="TextBox 8"/>
          <p:cNvSpPr txBox="1"/>
          <p:nvPr/>
        </p:nvSpPr>
        <p:spPr>
          <a:xfrm>
            <a:off x="1752600" y="2438605"/>
            <a:ext cx="8791575" cy="147732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dirty="0">
                <a:latin typeface="Times New Roman" panose="02020603050405020304" pitchFamily="18" charset="0"/>
                <a:cs typeface="Times New Roman" panose="02020603050405020304" pitchFamily="18" charset="0"/>
              </a:rPr>
              <a:t>This</a:t>
            </a:r>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Session</a:t>
            </a:r>
            <a:r>
              <a:rPr lang="en-US" b="0" i="0" dirty="0">
                <a:effectLst/>
                <a:latin typeface="Times New Roman" panose="02020603050405020304" pitchFamily="18" charset="0"/>
                <a:cs typeface="Times New Roman" panose="02020603050405020304" pitchFamily="18" charset="0"/>
              </a:rPr>
              <a:t> is designed to:</a:t>
            </a:r>
            <a:endParaRPr lang="en-US"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b="0" i="0" dirty="0">
                <a:effectLst/>
                <a:latin typeface="Times New Roman" panose="02020603050405020304" pitchFamily="18" charset="0"/>
                <a:cs typeface="Times New Roman" panose="02020603050405020304" pitchFamily="18" charset="0"/>
              </a:rPr>
              <a:t>DEMONSTRATE THE HEAP SORT</a:t>
            </a:r>
            <a:endParaRPr lang="en-US"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b="0" i="0" dirty="0">
                <a:effectLst/>
                <a:latin typeface="Times New Roman" panose="02020603050405020304" pitchFamily="18" charset="0"/>
                <a:cs typeface="Times New Roman" panose="02020603050405020304" pitchFamily="18" charset="0"/>
              </a:rPr>
              <a:t>DESCRIBE THE HEAPIFYING</a:t>
            </a:r>
            <a:endParaRPr lang="en-US"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b="0" i="0" dirty="0">
                <a:effectLst/>
                <a:latin typeface="Times New Roman" panose="02020603050405020304" pitchFamily="18" charset="0"/>
                <a:cs typeface="Times New Roman" panose="02020603050405020304" pitchFamily="18" charset="0"/>
              </a:rPr>
              <a:t>LIST OUT THE TYPES OF HEAPIFYING</a:t>
            </a:r>
            <a:endParaRPr lang="en-US" b="0" i="0" dirty="0">
              <a:effectLst/>
              <a:latin typeface="Times New Roman" panose="02020603050405020304" pitchFamily="18" charset="0"/>
              <a:cs typeface="Times New Roman" panose="02020603050405020304" pitchFamily="18" charset="0"/>
            </a:endParaRPr>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47732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b="0" i="0" dirty="0">
                <a:effectLst/>
                <a:latin typeface="Times New Roman" panose="02020603050405020304" pitchFamily="18" charset="0"/>
                <a:cs typeface="Times New Roman" panose="02020603050405020304" pitchFamily="18" charset="0"/>
              </a:rPr>
              <a:t>At the end of this </a:t>
            </a:r>
            <a:r>
              <a:rPr lang="en-US" dirty="0">
                <a:latin typeface="Times New Roman" panose="02020603050405020304" pitchFamily="18" charset="0"/>
                <a:cs typeface="Times New Roman" panose="02020603050405020304" pitchFamily="18" charset="0"/>
              </a:rPr>
              <a:t>session</a:t>
            </a:r>
            <a:r>
              <a:rPr lang="en-US" b="0" i="0" dirty="0">
                <a:effectLst/>
                <a:latin typeface="Times New Roman" panose="02020603050405020304" pitchFamily="18" charset="0"/>
                <a:cs typeface="Times New Roman" panose="02020603050405020304" pitchFamily="18" charset="0"/>
              </a:rPr>
              <a:t>, you should be able to:</a:t>
            </a:r>
            <a:endParaRPr lang="en-US"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b="0" i="0" dirty="0">
                <a:effectLst/>
                <a:latin typeface="Times New Roman" panose="02020603050405020304" pitchFamily="18" charset="0"/>
                <a:cs typeface="Times New Roman" panose="02020603050405020304" pitchFamily="18" charset="0"/>
              </a:rPr>
              <a:t>DEFINE MAX HEAP AND MIN HEAP</a:t>
            </a:r>
            <a:endParaRPr lang="en-US" b="0" i="0" dirty="0">
              <a:effectLst/>
              <a:latin typeface="Times New Roman" panose="02020603050405020304" pitchFamily="18" charset="0"/>
              <a:cs typeface="Times New Roman" panose="02020603050405020304" pitchFamily="18" charset="0"/>
            </a:endParaRPr>
          </a:p>
          <a:p>
            <a:pPr marL="342900" indent="-342900">
              <a:buAutoNum type="arabicPeriod"/>
            </a:pPr>
            <a:r>
              <a:rPr lang="en-US" b="0" i="0" dirty="0">
                <a:effectLst/>
                <a:latin typeface="Times New Roman" panose="02020603050405020304" pitchFamily="18" charset="0"/>
                <a:cs typeface="Times New Roman" panose="02020603050405020304" pitchFamily="18" charset="0"/>
              </a:rPr>
              <a:t>DESCRIBE HEAPIFYING</a:t>
            </a: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b="0" i="0" dirty="0">
                <a:effectLst/>
                <a:latin typeface="Times New Roman" panose="02020603050405020304" pitchFamily="18" charset="0"/>
                <a:cs typeface="Times New Roman" panose="02020603050405020304" pitchFamily="18" charset="0"/>
              </a:rPr>
              <a:t>SUMMARIZE</a:t>
            </a:r>
            <a:endParaRPr lang="en-US" b="0" i="0" dirty="0">
              <a:effectLst/>
              <a:latin typeface="Times New Roman" panose="02020603050405020304" pitchFamily="18" charset="0"/>
              <a:cs typeface="Times New Roman" panose="02020603050405020304" pitchFamily="18" charset="0"/>
            </a:endParaRPr>
          </a:p>
        </p:txBody>
      </p:sp>
      <p:pic>
        <p:nvPicPr>
          <p:cNvPr id="12" name="Picture 2" descr="KL Deemed to be University Logo"/>
          <p:cNvPicPr>
            <a:picLocks noChangeAspect="1" noChangeArrowheads="1"/>
          </p:cNvPicPr>
          <p:nvPr/>
        </p:nvPicPr>
        <p:blipFill>
          <a:blip r:embed="rId7"/>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2400" dirty="0"/>
              <a:t> </a:t>
            </a:r>
            <a:r>
              <a:rPr lang="en-IN" altLang="en-US" sz="2400" dirty="0"/>
              <a:t>Agenda</a:t>
            </a:r>
            <a:endParaRPr lang="en-IN" altLang="en-US" sz="2400" dirty="0"/>
          </a:p>
        </p:txBody>
      </p:sp>
      <p:sp>
        <p:nvSpPr>
          <p:cNvPr id="3" name="Text Box 2"/>
          <p:cNvSpPr txBox="1"/>
          <p:nvPr/>
        </p:nvSpPr>
        <p:spPr>
          <a:xfrm>
            <a:off x="3263900" y="1468755"/>
            <a:ext cx="5080000" cy="4247515"/>
          </a:xfrm>
          <a:prstGeom prst="rect">
            <a:avLst/>
          </a:prstGeom>
        </p:spPr>
        <p:txBody>
          <a:bodyPr>
            <a:noAutofit/>
          </a:bodyPr>
          <a:p>
            <a:pPr algn="just">
              <a:lnSpc>
                <a:spcPct val="200000"/>
              </a:lnSpc>
              <a:buAutoNum type="arabicPeriod"/>
            </a:pPr>
            <a:r>
              <a:rPr sz="2000">
                <a:latin typeface="Times New Roman" panose="02020603050405020304" pitchFamily="18" charset="0"/>
                <a:cs typeface="Times New Roman" panose="02020603050405020304" pitchFamily="18" charset="0"/>
              </a:rPr>
              <a:t>Introduction to Heap Sort</a:t>
            </a:r>
            <a:endParaRPr sz="2000">
              <a:latin typeface="Times New Roman" panose="02020603050405020304" pitchFamily="18" charset="0"/>
              <a:cs typeface="Times New Roman" panose="02020603050405020304" pitchFamily="18" charset="0"/>
            </a:endParaRPr>
          </a:p>
          <a:p>
            <a:pPr algn="just">
              <a:lnSpc>
                <a:spcPct val="200000"/>
              </a:lnSpc>
              <a:buAutoNum type="arabicPeriod"/>
            </a:pPr>
            <a:r>
              <a:rPr sz="2000">
                <a:latin typeface="Times New Roman" panose="02020603050405020304" pitchFamily="18" charset="0"/>
                <a:cs typeface="Times New Roman" panose="02020603050405020304" pitchFamily="18" charset="0"/>
              </a:rPr>
              <a:t>Heap Data Structure</a:t>
            </a:r>
            <a:endParaRPr sz="2000">
              <a:latin typeface="Times New Roman" panose="02020603050405020304" pitchFamily="18" charset="0"/>
              <a:cs typeface="Times New Roman" panose="02020603050405020304" pitchFamily="18" charset="0"/>
            </a:endParaRPr>
          </a:p>
          <a:p>
            <a:pPr algn="just">
              <a:lnSpc>
                <a:spcPct val="200000"/>
              </a:lnSpc>
              <a:buAutoNum type="arabicPeriod"/>
            </a:pPr>
            <a:r>
              <a:rPr sz="2000">
                <a:latin typeface="Times New Roman" panose="02020603050405020304" pitchFamily="18" charset="0"/>
                <a:cs typeface="Times New Roman" panose="02020603050405020304" pitchFamily="18" charset="0"/>
              </a:rPr>
              <a:t>Algorithm Explanation</a:t>
            </a:r>
            <a:endParaRPr sz="2000">
              <a:latin typeface="Times New Roman" panose="02020603050405020304" pitchFamily="18" charset="0"/>
              <a:cs typeface="Times New Roman" panose="02020603050405020304" pitchFamily="18" charset="0"/>
            </a:endParaRPr>
          </a:p>
          <a:p>
            <a:pPr algn="just">
              <a:lnSpc>
                <a:spcPct val="200000"/>
              </a:lnSpc>
              <a:buAutoNum type="arabicPeriod"/>
            </a:pPr>
            <a:r>
              <a:rPr sz="2000">
                <a:latin typeface="Times New Roman" panose="02020603050405020304" pitchFamily="18" charset="0"/>
                <a:cs typeface="Times New Roman" panose="02020603050405020304" pitchFamily="18" charset="0"/>
              </a:rPr>
              <a:t>Time and Space Complexity</a:t>
            </a:r>
            <a:endParaRPr sz="2000">
              <a:latin typeface="Times New Roman" panose="02020603050405020304" pitchFamily="18" charset="0"/>
              <a:cs typeface="Times New Roman" panose="02020603050405020304" pitchFamily="18" charset="0"/>
            </a:endParaRPr>
          </a:p>
          <a:p>
            <a:pPr algn="just">
              <a:lnSpc>
                <a:spcPct val="200000"/>
              </a:lnSpc>
              <a:buAutoNum type="arabicPeriod"/>
            </a:pPr>
            <a:r>
              <a:rPr sz="2000">
                <a:latin typeface="Times New Roman" panose="02020603050405020304" pitchFamily="18" charset="0"/>
                <a:cs typeface="Times New Roman" panose="02020603050405020304" pitchFamily="18" charset="0"/>
              </a:rPr>
              <a:t>Advantages and Disadvantages</a:t>
            </a:r>
            <a:endParaRPr sz="2000">
              <a:latin typeface="Times New Roman" panose="02020603050405020304" pitchFamily="18" charset="0"/>
              <a:cs typeface="Times New Roman" panose="02020603050405020304" pitchFamily="18" charset="0"/>
            </a:endParaRPr>
          </a:p>
          <a:p>
            <a:pPr algn="just">
              <a:lnSpc>
                <a:spcPct val="200000"/>
              </a:lnSpc>
              <a:buAutoNum type="arabicPeriod"/>
            </a:pPr>
            <a:r>
              <a:rPr sz="2000">
                <a:latin typeface="Times New Roman" panose="02020603050405020304" pitchFamily="18" charset="0"/>
                <a:cs typeface="Times New Roman" panose="02020603050405020304" pitchFamily="18" charset="0"/>
              </a:rPr>
              <a:t>Real-World Applications</a:t>
            </a:r>
            <a:endParaRPr sz="2000">
              <a:latin typeface="Times New Roman" panose="02020603050405020304" pitchFamily="18" charset="0"/>
              <a:cs typeface="Times New Roman" panose="02020603050405020304" pitchFamily="18" charset="0"/>
            </a:endParaRPr>
          </a:p>
          <a:p>
            <a:pPr algn="just">
              <a:lnSpc>
                <a:spcPct val="200000"/>
              </a:lnSpc>
              <a:buAutoNum type="arabicPeriod"/>
            </a:pPr>
            <a:r>
              <a:rPr sz="2000">
                <a:latin typeface="Times New Roman" panose="02020603050405020304" pitchFamily="18" charset="0"/>
                <a:cs typeface="Times New Roman" panose="02020603050405020304" pitchFamily="18" charset="0"/>
              </a:rPr>
              <a:t>Summary</a:t>
            </a:r>
            <a:endParaRPr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INTRODUCTION TO HEAP SORT</a:t>
            </a:r>
            <a:endParaRPr lang="en-US" sz="2400" dirty="0"/>
          </a:p>
        </p:txBody>
      </p:sp>
      <p:pic>
        <p:nvPicPr>
          <p:cNvPr id="4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Text Box 1"/>
          <p:cNvSpPr txBox="1"/>
          <p:nvPr/>
        </p:nvSpPr>
        <p:spPr>
          <a:xfrm>
            <a:off x="2506980" y="1186815"/>
            <a:ext cx="7953375" cy="4484370"/>
          </a:xfrm>
          <a:prstGeom prst="rect">
            <a:avLst/>
          </a:prstGeom>
        </p:spPr>
        <p:txBody>
          <a:bodyPr wrap="square">
            <a:noAutofit/>
          </a:bodyPr>
          <a:p>
            <a:pPr algn="just">
              <a:lnSpc>
                <a:spcPct val="200000"/>
              </a:lnSpc>
              <a:buFont typeface="Arial" panose="020B0604020202020204"/>
              <a:buChar char="•"/>
            </a:pPr>
            <a:r>
              <a:rPr lang="en-IN" sz="2400" b="1">
                <a:latin typeface="Times New Roman" panose="02020603050405020304" pitchFamily="18" charset="0"/>
                <a:cs typeface="Times New Roman" panose="02020603050405020304" pitchFamily="18" charset="0"/>
              </a:rPr>
              <a:t> </a:t>
            </a:r>
            <a:r>
              <a:rPr sz="2400" b="1">
                <a:latin typeface="Times New Roman" panose="02020603050405020304" pitchFamily="18" charset="0"/>
                <a:cs typeface="Times New Roman" panose="02020603050405020304" pitchFamily="18" charset="0"/>
              </a:rPr>
              <a:t>Definition</a:t>
            </a:r>
            <a:r>
              <a:rPr sz="2400">
                <a:latin typeface="Times New Roman" panose="02020603050405020304" pitchFamily="18" charset="0"/>
                <a:cs typeface="Times New Roman" panose="02020603050405020304" pitchFamily="18" charset="0"/>
              </a:rPr>
              <a:t>: Heap Sort is a comparison-based sorting </a:t>
            </a:r>
            <a:r>
              <a:rPr lang="en-IN"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technique based on a Binary Heap data structure.</a:t>
            </a:r>
            <a:endParaRPr sz="2400">
              <a:latin typeface="Times New Roman" panose="02020603050405020304" pitchFamily="18" charset="0"/>
              <a:cs typeface="Times New Roman" panose="02020603050405020304" pitchFamily="18" charset="0"/>
            </a:endParaRPr>
          </a:p>
          <a:p>
            <a:pPr algn="just">
              <a:lnSpc>
                <a:spcPct val="200000"/>
              </a:lnSpc>
              <a:buFont typeface="Arial" panose="020B0604020202020204"/>
              <a:buChar char="•"/>
            </a:pPr>
            <a:r>
              <a:rPr lang="en-IN" sz="2400" b="1">
                <a:latin typeface="Times New Roman" panose="02020603050405020304" pitchFamily="18" charset="0"/>
                <a:cs typeface="Times New Roman" panose="02020603050405020304" pitchFamily="18" charset="0"/>
              </a:rPr>
              <a:t> </a:t>
            </a:r>
            <a:r>
              <a:rPr sz="2400" b="1">
                <a:latin typeface="Times New Roman" panose="02020603050405020304" pitchFamily="18" charset="0"/>
                <a:cs typeface="Times New Roman" panose="02020603050405020304" pitchFamily="18" charset="0"/>
              </a:rPr>
              <a:t>Key Idea</a:t>
            </a:r>
            <a:r>
              <a:rPr sz="2400">
                <a:latin typeface="Times New Roman" panose="02020603050405020304" pitchFamily="18" charset="0"/>
                <a:cs typeface="Times New Roman" panose="02020603050405020304" pitchFamily="18" charset="0"/>
              </a:rPr>
              <a:t>:</a:t>
            </a:r>
            <a:endParaRPr sz="2400">
              <a:latin typeface="Times New Roman" panose="02020603050405020304" pitchFamily="18" charset="0"/>
              <a:cs typeface="Times New Roman" panose="02020603050405020304" pitchFamily="18" charset="0"/>
            </a:endParaRPr>
          </a:p>
          <a:p>
            <a:pPr lvl="1" algn="just">
              <a:lnSpc>
                <a:spcPct val="200000"/>
              </a:lnSpc>
              <a:buFont typeface="Arial" panose="020B0604020202020204"/>
              <a:buChar char="◦"/>
            </a:pPr>
            <a:r>
              <a:rPr sz="2400">
                <a:latin typeface="Times New Roman" panose="02020603050405020304" pitchFamily="18" charset="0"/>
                <a:cs typeface="Times New Roman" panose="02020603050405020304" pitchFamily="18" charset="0"/>
              </a:rPr>
              <a:t>Convert the array into a max-heap.</a:t>
            </a:r>
            <a:endParaRPr sz="2400">
              <a:latin typeface="Times New Roman" panose="02020603050405020304" pitchFamily="18" charset="0"/>
              <a:cs typeface="Times New Roman" panose="02020603050405020304" pitchFamily="18" charset="0"/>
            </a:endParaRPr>
          </a:p>
          <a:p>
            <a:pPr lvl="1" algn="just">
              <a:lnSpc>
                <a:spcPct val="200000"/>
              </a:lnSpc>
              <a:buFont typeface="Arial" panose="020B0604020202020204"/>
              <a:buChar char="◦"/>
            </a:pPr>
            <a:r>
              <a:rPr sz="2400">
                <a:latin typeface="Times New Roman" panose="02020603050405020304" pitchFamily="18" charset="0"/>
                <a:cs typeface="Times New Roman" panose="02020603050405020304" pitchFamily="18" charset="0"/>
              </a:rPr>
              <a:t>Repeatedly extract the largest element (root) and rebuild the heap.</a:t>
            </a:r>
            <a:endParaRPr sz="2400">
              <a:latin typeface="Times New Roman" panose="02020603050405020304" pitchFamily="18" charset="0"/>
              <a:cs typeface="Times New Roman" panose="02020603050405020304" pitchFamily="18" charset="0"/>
            </a:endParaRPr>
          </a:p>
          <a:p>
            <a:pPr algn="just">
              <a:lnSpc>
                <a:spcPct val="200000"/>
              </a:lnSpc>
              <a:buFont typeface="Arial" panose="020B0604020202020204"/>
              <a:buChar char="•"/>
            </a:pPr>
            <a:r>
              <a:rPr sz="2400" b="1">
                <a:latin typeface="Times New Roman" panose="02020603050405020304" pitchFamily="18" charset="0"/>
                <a:cs typeface="Times New Roman" panose="02020603050405020304" pitchFamily="18" charset="0"/>
              </a:rPr>
              <a:t>Sorting Type</a:t>
            </a:r>
            <a:r>
              <a:rPr sz="2400">
                <a:latin typeface="Times New Roman" panose="02020603050405020304" pitchFamily="18" charset="0"/>
                <a:cs typeface="Times New Roman" panose="02020603050405020304" pitchFamily="18" charset="0"/>
              </a:rPr>
              <a:t>: In-place and non-stable sorting algorithm.</a:t>
            </a:r>
            <a:endParaRPr sz="24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a:t>
            </a:r>
            <a:r>
              <a:rPr lang="en-IN" altLang="en-US" sz="2400" dirty="0"/>
              <a:t>Binary Heap Basics</a:t>
            </a:r>
            <a:endParaRPr lang="en-IN" altLang="en-US" sz="2400" dirty="0"/>
          </a:p>
        </p:txBody>
      </p:sp>
      <p:pic>
        <p:nvPicPr>
          <p:cNvPr id="4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53" name="TextBox 52"/>
          <p:cNvSpPr txBox="1"/>
          <p:nvPr/>
        </p:nvSpPr>
        <p:spPr>
          <a:xfrm>
            <a:off x="1540412" y="1906075"/>
            <a:ext cx="10086536" cy="3415030"/>
          </a:xfrm>
          <a:prstGeom prst="rect">
            <a:avLst/>
          </a:prstGeom>
          <a:noFill/>
        </p:spPr>
        <p:txBody>
          <a:bodyPr wrap="square" rtlCol="0">
            <a:spAutoFit/>
          </a:bodyPr>
          <a:lstStyle/>
          <a:p>
            <a:pPr algn="just">
              <a:lnSpc>
                <a:spcPct val="200000"/>
              </a:lnSpc>
            </a:pPr>
            <a:r>
              <a:rPr lang="en-US" altLang="en-US" sz="2400" b="1" dirty="0">
                <a:latin typeface="Times New Roman" panose="02020603050405020304" pitchFamily="18" charset="0"/>
                <a:cs typeface="Times New Roman" panose="02020603050405020304" pitchFamily="18" charset="0"/>
              </a:rPr>
              <a:t>Definition</a:t>
            </a:r>
            <a:r>
              <a:rPr lang="en-US" altLang="en-US" sz="2400" dirty="0">
                <a:latin typeface="Times New Roman" panose="02020603050405020304" pitchFamily="18" charset="0"/>
                <a:cs typeface="Times New Roman" panose="02020603050405020304" pitchFamily="18" charset="0"/>
              </a:rPr>
              <a:t>: A binary heap is a complete binary tree satisfying:</a:t>
            </a:r>
            <a:endParaRPr lang="en-US" altLang="en-US" sz="2400" dirty="0">
              <a:latin typeface="Times New Roman" panose="02020603050405020304" pitchFamily="18" charset="0"/>
              <a:cs typeface="Times New Roman" panose="02020603050405020304" pitchFamily="18" charset="0"/>
            </a:endParaRPr>
          </a:p>
          <a:p>
            <a:pPr algn="just">
              <a:lnSpc>
                <a:spcPct val="200000"/>
              </a:lnSpc>
            </a:pPr>
            <a:r>
              <a:rPr lang="en-US" altLang="en-US" sz="2400" b="1" dirty="0">
                <a:latin typeface="Times New Roman" panose="02020603050405020304" pitchFamily="18" charset="0"/>
                <a:cs typeface="Times New Roman" panose="02020603050405020304" pitchFamily="18" charset="0"/>
              </a:rPr>
              <a:t>Max-Heap Property</a:t>
            </a:r>
            <a:r>
              <a:rPr lang="en-US" altLang="en-US" sz="2400" dirty="0">
                <a:latin typeface="Times New Roman" panose="02020603050405020304" pitchFamily="18" charset="0"/>
                <a:cs typeface="Times New Roman" panose="02020603050405020304" pitchFamily="18" charset="0"/>
              </a:rPr>
              <a:t>: Parent nodes are greater than or equal to their children.</a:t>
            </a:r>
            <a:endParaRPr lang="en-US" altLang="en-US" sz="2400" dirty="0">
              <a:latin typeface="Times New Roman" panose="02020603050405020304" pitchFamily="18" charset="0"/>
              <a:cs typeface="Times New Roman" panose="02020603050405020304" pitchFamily="18" charset="0"/>
            </a:endParaRPr>
          </a:p>
          <a:p>
            <a:pPr algn="just">
              <a:lnSpc>
                <a:spcPct val="200000"/>
              </a:lnSpc>
            </a:pPr>
            <a:r>
              <a:rPr lang="en-US" altLang="en-US" sz="2400" b="1" dirty="0">
                <a:latin typeface="Times New Roman" panose="02020603050405020304" pitchFamily="18" charset="0"/>
                <a:cs typeface="Times New Roman" panose="02020603050405020304" pitchFamily="18" charset="0"/>
              </a:rPr>
              <a:t>Min-Heap Property</a:t>
            </a:r>
            <a:r>
              <a:rPr lang="en-US" altLang="en-US" sz="2400" dirty="0">
                <a:latin typeface="Times New Roman" panose="02020603050405020304" pitchFamily="18" charset="0"/>
                <a:cs typeface="Times New Roman" panose="02020603050405020304" pitchFamily="18" charset="0"/>
              </a:rPr>
              <a:t>: Parent nodes are less than or equal to their children.</a:t>
            </a:r>
            <a:endParaRPr lang="en-US" altLang="en-US" sz="2400" dirty="0">
              <a:latin typeface="Times New Roman" panose="02020603050405020304" pitchFamily="18" charset="0"/>
              <a:cs typeface="Times New Roman" panose="02020603050405020304" pitchFamily="18" charset="0"/>
            </a:endParaRPr>
          </a:p>
          <a:p>
            <a:pPr algn="just">
              <a:lnSpc>
                <a:spcPct val="200000"/>
              </a:lnSpc>
            </a:pPr>
            <a:r>
              <a:rPr lang="en-US" altLang="en-US" sz="2400" b="1" dirty="0">
                <a:latin typeface="Times New Roman" panose="02020603050405020304" pitchFamily="18" charset="0"/>
                <a:cs typeface="Times New Roman" panose="02020603050405020304" pitchFamily="18" charset="0"/>
              </a:rPr>
              <a:t>Representation</a:t>
            </a:r>
            <a:r>
              <a:rPr lang="en-US" altLang="en-US" sz="2400" dirty="0">
                <a:latin typeface="Times New Roman" panose="02020603050405020304" pitchFamily="18" charset="0"/>
                <a:cs typeface="Times New Roman" panose="02020603050405020304" pitchFamily="18" charset="0"/>
              </a:rPr>
              <a:t>: Usually implemented using arrays.</a:t>
            </a:r>
            <a:endParaRPr lang="en-US" alt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Heap Construction Algorithm</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6" name="TextBox 25"/>
          <p:cNvSpPr txBox="1"/>
          <p:nvPr/>
        </p:nvSpPr>
        <p:spPr>
          <a:xfrm>
            <a:off x="904494" y="1351022"/>
            <a:ext cx="4901864" cy="378565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Step 1: Create a new node at the end of heap.</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Step 2: Assign new value to the node.</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Step 3: Compare the value of this child node with its parent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Step 4: If value of parent is less than child, then swap them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Step 5: Repeat step 3 &amp; 4 until Heap property holds.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1026" name="Picture 2" descr="Heap Sort - Online Government Exam computer all notes | onlinegovtexam.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1705" y="1216025"/>
            <a:ext cx="5038090" cy="40119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Construction of max heap tree</a:t>
            </a:r>
            <a:endParaRPr lang="en-US" sz="2400" dirty="0"/>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3" name="TextBox 12"/>
          <p:cNvSpPr txBox="1"/>
          <p:nvPr/>
        </p:nvSpPr>
        <p:spPr>
          <a:xfrm>
            <a:off x="360219" y="1252025"/>
            <a:ext cx="7550726" cy="461665"/>
          </a:xfrm>
          <a:prstGeom prst="rect">
            <a:avLst/>
          </a:prstGeom>
          <a:noFill/>
        </p:spPr>
        <p:txBody>
          <a:bodyPr wrap="square" rtlCol="0">
            <a:spAutoFit/>
          </a:bodyPr>
          <a:lstStyle/>
          <a:p>
            <a:endParaRPr lang="en-US"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rotWithShape="1">
          <a:blip r:embed="rId2"/>
          <a:srcRect l="26305" t="23720" r="32935" b="17730"/>
          <a:stretch>
            <a:fillRect/>
          </a:stretch>
        </p:blipFill>
        <p:spPr>
          <a:xfrm>
            <a:off x="1625969" y="655744"/>
            <a:ext cx="9192526" cy="587789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Construction of max heap tree(Cont..)</a:t>
            </a:r>
            <a:endParaRPr lang="en-US" sz="2400" dirty="0"/>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13" name="Content Placeholder 12"/>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8837" y="1243584"/>
            <a:ext cx="8432483" cy="448649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333750" y="457835"/>
            <a:ext cx="6232525" cy="94424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Algorithm for sorting in decreasing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886691" y="1551709"/>
            <a:ext cx="8811491" cy="3784600"/>
          </a:xfrm>
          <a:prstGeom prst="rect">
            <a:avLst/>
          </a:prstGeom>
        </p:spPr>
        <p:txBody>
          <a:bodyPr wrap="square">
            <a:spAutoFit/>
          </a:bodyPr>
          <a:lstStyle/>
          <a:p>
            <a:pPr>
              <a:lnSpc>
                <a:spcPct val="200000"/>
              </a:lnSpc>
            </a:pPr>
            <a:r>
              <a:rPr lang="en-US" sz="2400" dirty="0">
                <a:latin typeface="Times New Roman" panose="02020603050405020304" pitchFamily="18" charset="0"/>
                <a:cs typeface="Times New Roman" panose="02020603050405020304" pitchFamily="18" charset="0"/>
              </a:rPr>
              <a:t>1. Build a max heap from the input data.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 At this point, the largest item is stored at the root of the heap. Replace it with the last item of the heap followed by reducing the size of heap by 1. Finally, </a:t>
            </a:r>
            <a:r>
              <a:rPr lang="en-US" sz="2400" dirty="0" err="1">
                <a:latin typeface="Times New Roman" panose="02020603050405020304" pitchFamily="18" charset="0"/>
                <a:cs typeface="Times New Roman" panose="02020603050405020304" pitchFamily="18" charset="0"/>
              </a:rPr>
              <a:t>heapify</a:t>
            </a:r>
            <a:r>
              <a:rPr lang="en-US" sz="2400" dirty="0">
                <a:latin typeface="Times New Roman" panose="02020603050405020304" pitchFamily="18" charset="0"/>
                <a:cs typeface="Times New Roman" panose="02020603050405020304" pitchFamily="18" charset="0"/>
              </a:rPr>
              <a:t> the root of the tree.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 Repeat step 2 while size of heap is greater than 1.</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49600" y="326390"/>
            <a:ext cx="6232525" cy="92710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CF4"/>
                </a:solidFill>
                <a:latin typeface="urw-din"/>
              </a:rPr>
              <a:t>Heap Sort Algorithm for sorting in increasing order</a:t>
            </a:r>
            <a:r>
              <a:rPr lang="en-US" sz="2400" dirty="0">
                <a:solidFill>
                  <a:srgbClr val="FFFCF4"/>
                </a:solidFill>
                <a:latin typeface="urw-din"/>
              </a:rPr>
              <a:t> </a:t>
            </a:r>
            <a:endParaRPr lang="en-US" sz="2400" dirty="0">
              <a:solidFill>
                <a:srgbClr val="FFFCF4"/>
              </a:solidFill>
            </a:endParaRPr>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7" name="TextBox 6"/>
          <p:cNvSpPr txBox="1"/>
          <p:nvPr/>
        </p:nvSpPr>
        <p:spPr>
          <a:xfrm>
            <a:off x="1499489" y="2038856"/>
            <a:ext cx="10131552" cy="3784600"/>
          </a:xfrm>
          <a:prstGeom prst="rect">
            <a:avLst/>
          </a:prstGeom>
          <a:noFill/>
        </p:spPr>
        <p:txBody>
          <a:bodyPr wrap="square">
            <a:spAutoFit/>
          </a:bodyPr>
          <a:lstStyle/>
          <a:p>
            <a:pPr>
              <a:lnSpc>
                <a:spcPct val="200000"/>
              </a:lnSpc>
            </a:pPr>
            <a:r>
              <a:rPr lang="en-US" sz="2400" dirty="0">
                <a:latin typeface="Times New Roman" panose="02020603050405020304" pitchFamily="18" charset="0"/>
                <a:cs typeface="Times New Roman" panose="02020603050405020304" pitchFamily="18" charset="0"/>
              </a:rPr>
              <a:t>1. Build a min heap from the input data.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 At this point, the smallest item is stored at the root of the heap. Replace it with the last item of the heap followed by reducing the size of heap by 1. Finally, </a:t>
            </a:r>
            <a:r>
              <a:rPr lang="en-US" sz="2400" dirty="0" err="1">
                <a:latin typeface="Times New Roman" panose="02020603050405020304" pitchFamily="18" charset="0"/>
                <a:cs typeface="Times New Roman" panose="02020603050405020304" pitchFamily="18" charset="0"/>
              </a:rPr>
              <a:t>heapify</a:t>
            </a:r>
            <a:r>
              <a:rPr lang="en-US" sz="2400" dirty="0">
                <a:latin typeface="Times New Roman" panose="02020603050405020304" pitchFamily="18" charset="0"/>
                <a:cs typeface="Times New Roman" panose="02020603050405020304" pitchFamily="18" charset="0"/>
              </a:rPr>
              <a:t> the root of the tree.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 Repeat step 2 while size of heap is greater than 1.</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Max heap(Cont..)</a:t>
            </a:r>
            <a:endParaRPr lang="en-US" sz="2400" dirty="0"/>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678872" y="3128845"/>
            <a:ext cx="7592291"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We start from A, and </a:t>
            </a:r>
            <a:r>
              <a:rPr lang="en-US" sz="2400" dirty="0" err="1">
                <a:latin typeface="Times New Roman" panose="02020603050405020304" pitchFamily="18" charset="0"/>
                <a:cs typeface="Times New Roman" panose="02020603050405020304" pitchFamily="18" charset="0"/>
              </a:rPr>
              <a:t>followi</a:t>
            </a:r>
            <a:endParaRPr lang="en-US" sz="2400" dirty="0">
              <a:latin typeface="Times New Roman" panose="02020603050405020304" pitchFamily="18" charset="0"/>
              <a:cs typeface="Times New Roman" panose="02020603050405020304" pitchFamily="18" charset="0"/>
            </a:endParaRPr>
          </a:p>
        </p:txBody>
      </p:sp>
      <p:pic>
        <p:nvPicPr>
          <p:cNvPr id="7" name="Content Placeholder 5"/>
          <p:cNvPicPr>
            <a:picLocks noGrp="1" noChangeAspect="1"/>
          </p:cNvPicPr>
          <p:nvPr>
            <p:ph idx="1"/>
          </p:nvPr>
        </p:nvPicPr>
        <p:blipFill rotWithShape="1">
          <a:blip r:embed="rId2"/>
          <a:srcRect l="58152" t="33768" r="24239" b="24107"/>
          <a:stretch>
            <a:fillRect/>
          </a:stretch>
        </p:blipFill>
        <p:spPr>
          <a:xfrm>
            <a:off x="120804" y="517857"/>
            <a:ext cx="4262353" cy="3994508"/>
          </a:xfrm>
          <a:prstGeom prst="rect">
            <a:avLst/>
          </a:prstGeom>
        </p:spPr>
      </p:pic>
      <p:sp>
        <p:nvSpPr>
          <p:cNvPr id="8" name="Arrow: Right 7"/>
          <p:cNvSpPr/>
          <p:nvPr/>
        </p:nvSpPr>
        <p:spPr>
          <a:xfrm>
            <a:off x="4388711" y="2015699"/>
            <a:ext cx="1358348" cy="695739"/>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3"/>
          <a:srcRect l="34167" t="35507" r="47935" b="28046"/>
          <a:stretch>
            <a:fillRect/>
          </a:stretch>
        </p:blipFill>
        <p:spPr>
          <a:xfrm>
            <a:off x="5767193" y="517857"/>
            <a:ext cx="3556066" cy="4073100"/>
          </a:xfrm>
          <a:prstGeom prst="rect">
            <a:avLst/>
          </a:prstGeom>
        </p:spPr>
      </p:pic>
      <p:sp>
        <p:nvSpPr>
          <p:cNvPr id="10" name="TextBox 9"/>
          <p:cNvSpPr txBox="1"/>
          <p:nvPr/>
        </p:nvSpPr>
        <p:spPr>
          <a:xfrm>
            <a:off x="708990" y="4641574"/>
            <a:ext cx="7511557" cy="1200329"/>
          </a:xfrm>
          <a:prstGeom prst="rect">
            <a:avLst/>
          </a:prstGeom>
          <a:noFill/>
        </p:spPr>
        <p:txBody>
          <a:bodyPr wrap="square" rtlCol="0">
            <a:spAutoFit/>
          </a:bodyPr>
          <a:lstStyle/>
          <a:p>
            <a:r>
              <a:rPr lang="en-US" dirty="0"/>
              <a:t>Remove the root element (70)and replace with last leaf node(15).  That removing element store in Array a[]    </a:t>
            </a:r>
            <a:endParaRPr lang="en-US" dirty="0"/>
          </a:p>
          <a:p>
            <a:endParaRPr lang="en-IN" sz="1800" b="0" i="0" u="none" strike="noStrike" dirty="0">
              <a:effectLst/>
              <a:latin typeface="Arial" panose="020B0604020202020204" pitchFamily="34" charset="0"/>
            </a:endParaRPr>
          </a:p>
          <a:p>
            <a:endParaRPr lang="en-US" dirty="0"/>
          </a:p>
        </p:txBody>
      </p:sp>
      <p:pic>
        <p:nvPicPr>
          <p:cNvPr id="13" name="Picture 12"/>
          <p:cNvPicPr>
            <a:picLocks noChangeAspect="1"/>
          </p:cNvPicPr>
          <p:nvPr/>
        </p:nvPicPr>
        <p:blipFill>
          <a:blip r:embed="rId4"/>
          <a:stretch>
            <a:fillRect/>
          </a:stretch>
        </p:blipFill>
        <p:spPr>
          <a:xfrm>
            <a:off x="853174" y="5380413"/>
            <a:ext cx="6133108" cy="49381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Max heap(Cont..)</a:t>
            </a:r>
            <a:endParaRPr lang="en-US" sz="2400" dirty="0"/>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4" name="Picture 3"/>
          <p:cNvPicPr>
            <a:picLocks noChangeAspect="1"/>
          </p:cNvPicPr>
          <p:nvPr/>
        </p:nvPicPr>
        <p:blipFill rotWithShape="1">
          <a:blip r:embed="rId2"/>
          <a:srcRect l="15979" t="34542" r="14022" b="20241"/>
          <a:stretch>
            <a:fillRect/>
          </a:stretch>
        </p:blipFill>
        <p:spPr>
          <a:xfrm>
            <a:off x="388233" y="600076"/>
            <a:ext cx="8935026" cy="4459357"/>
          </a:xfrm>
          <a:prstGeom prst="rect">
            <a:avLst/>
          </a:prstGeom>
        </p:spPr>
      </p:pic>
      <p:sp>
        <p:nvSpPr>
          <p:cNvPr id="7" name="TextBox 6"/>
          <p:cNvSpPr txBox="1"/>
          <p:nvPr/>
        </p:nvSpPr>
        <p:spPr>
          <a:xfrm>
            <a:off x="388233" y="5474843"/>
            <a:ext cx="608463" cy="369332"/>
          </a:xfrm>
          <a:prstGeom prst="rect">
            <a:avLst/>
          </a:prstGeom>
          <a:noFill/>
        </p:spPr>
        <p:txBody>
          <a:bodyPr wrap="square">
            <a:spAutoFit/>
          </a:bodyPr>
          <a:lstStyle/>
          <a:p>
            <a:r>
              <a:rPr lang="en-US" dirty="0"/>
              <a:t>A[ ]</a:t>
            </a:r>
            <a:endParaRPr lang="en-US" dirty="0"/>
          </a:p>
        </p:txBody>
      </p:sp>
      <p:graphicFrame>
        <p:nvGraphicFramePr>
          <p:cNvPr id="8" name="Table 13"/>
          <p:cNvGraphicFramePr>
            <a:graphicFrameLocks noGrp="1"/>
          </p:cNvGraphicFramePr>
          <p:nvPr/>
        </p:nvGraphicFramePr>
        <p:xfrm>
          <a:off x="1487148" y="5474843"/>
          <a:ext cx="6096000" cy="370840"/>
        </p:xfrm>
        <a:graphic>
          <a:graphicData uri="http://schemas.openxmlformats.org/drawingml/2006/table">
            <a:tbl>
              <a:tblPr firstRow="1" bandRow="1"/>
              <a:tblGrid>
                <a:gridCol w="1016000"/>
                <a:gridCol w="1016000"/>
                <a:gridCol w="1016000"/>
                <a:gridCol w="1016000"/>
                <a:gridCol w="1016000"/>
                <a:gridCol w="1016000"/>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70</a:t>
                      </a:r>
                      <a:endParaRPr lang="en-US"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         Max heap (Cont..)</a:t>
            </a:r>
            <a:endParaRPr lang="en-US" sz="2400" dirty="0"/>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pic>
        <p:nvPicPr>
          <p:cNvPr id="2" name="Picture 1"/>
          <p:cNvPicPr>
            <a:picLocks noChangeAspect="1"/>
          </p:cNvPicPr>
          <p:nvPr/>
        </p:nvPicPr>
        <p:blipFill rotWithShape="1">
          <a:blip r:embed="rId2"/>
          <a:srcRect l="30521" t="42271" r="17206" b="22963"/>
          <a:stretch>
            <a:fillRect/>
          </a:stretch>
        </p:blipFill>
        <p:spPr>
          <a:xfrm>
            <a:off x="1440190" y="600076"/>
            <a:ext cx="8695923" cy="4511012"/>
          </a:xfrm>
          <a:prstGeom prst="rect">
            <a:avLst/>
          </a:prstGeom>
        </p:spPr>
      </p:pic>
      <p:sp>
        <p:nvSpPr>
          <p:cNvPr id="7" name="TextBox 6"/>
          <p:cNvSpPr txBox="1"/>
          <p:nvPr/>
        </p:nvSpPr>
        <p:spPr>
          <a:xfrm>
            <a:off x="1154430" y="5526498"/>
            <a:ext cx="601218" cy="369332"/>
          </a:xfrm>
          <a:prstGeom prst="rect">
            <a:avLst/>
          </a:prstGeom>
          <a:noFill/>
        </p:spPr>
        <p:txBody>
          <a:bodyPr wrap="square">
            <a:spAutoFit/>
          </a:bodyPr>
          <a:lstStyle/>
          <a:p>
            <a:r>
              <a:rPr lang="en-US" dirty="0"/>
              <a:t>A[ ]</a:t>
            </a:r>
            <a:endParaRPr lang="en-US" dirty="0"/>
          </a:p>
        </p:txBody>
      </p:sp>
      <p:graphicFrame>
        <p:nvGraphicFramePr>
          <p:cNvPr id="8" name="Table 13"/>
          <p:cNvGraphicFramePr>
            <a:graphicFrameLocks noGrp="1"/>
          </p:cNvGraphicFramePr>
          <p:nvPr/>
        </p:nvGraphicFramePr>
        <p:xfrm>
          <a:off x="2456412" y="5512612"/>
          <a:ext cx="6096000" cy="370840"/>
        </p:xfrm>
        <a:graphic>
          <a:graphicData uri="http://schemas.openxmlformats.org/drawingml/2006/table">
            <a:tbl>
              <a:tblPr firstRow="1" bandRow="1"/>
              <a:tblGrid>
                <a:gridCol w="1016000"/>
                <a:gridCol w="1016000"/>
                <a:gridCol w="1016000"/>
                <a:gridCol w="1016000"/>
                <a:gridCol w="1016000"/>
                <a:gridCol w="1016000"/>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70</a:t>
                      </a:r>
                      <a:endParaRPr lang="en-US"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40</a:t>
                      </a:r>
                      <a:endParaRPr lang="en-US"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F79646"/>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BINARY TREE        (Cont..)</a:t>
            </a:r>
            <a:endParaRPr lang="en-US" sz="2400" dirty="0"/>
          </a:p>
        </p:txBody>
      </p:sp>
      <p:pic>
        <p:nvPicPr>
          <p:cNvPr id="12"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ectangle 1"/>
          <p:cNvSpPr/>
          <p:nvPr/>
        </p:nvSpPr>
        <p:spPr>
          <a:xfrm>
            <a:off x="609599" y="903836"/>
            <a:ext cx="8866909" cy="830997"/>
          </a:xfrm>
          <a:prstGeom prst="rect">
            <a:avLst/>
          </a:prstGeom>
        </p:spPr>
        <p:txBody>
          <a:bodyPr wrap="square">
            <a:spAutoFit/>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a:srcRect l="31597" t="20079" r="17206" b="30555"/>
          <a:stretch>
            <a:fillRect/>
          </a:stretch>
        </p:blipFill>
        <p:spPr>
          <a:xfrm>
            <a:off x="1122025" y="600077"/>
            <a:ext cx="9947950" cy="4758308"/>
          </a:xfrm>
          <a:prstGeom prst="rect">
            <a:avLst/>
          </a:prstGeom>
        </p:spPr>
      </p:pic>
      <p:sp>
        <p:nvSpPr>
          <p:cNvPr id="7" name="TextBox 6"/>
          <p:cNvSpPr txBox="1"/>
          <p:nvPr/>
        </p:nvSpPr>
        <p:spPr>
          <a:xfrm>
            <a:off x="277710" y="5541008"/>
            <a:ext cx="536106" cy="369332"/>
          </a:xfrm>
          <a:prstGeom prst="rect">
            <a:avLst/>
          </a:prstGeom>
          <a:noFill/>
        </p:spPr>
        <p:txBody>
          <a:bodyPr wrap="square" rtlCol="0">
            <a:spAutoFit/>
          </a:bodyPr>
          <a:lstStyle/>
          <a:p>
            <a:r>
              <a:rPr lang="en-US" dirty="0"/>
              <a:t>A[ ]</a:t>
            </a:r>
            <a:endParaRPr lang="en-US" dirty="0"/>
          </a:p>
        </p:txBody>
      </p:sp>
      <p:sp>
        <p:nvSpPr>
          <p:cNvPr id="8" name="TextBox 7"/>
          <p:cNvSpPr txBox="1"/>
          <p:nvPr/>
        </p:nvSpPr>
        <p:spPr>
          <a:xfrm>
            <a:off x="277710" y="5541008"/>
            <a:ext cx="1288540" cy="461665"/>
          </a:xfrm>
          <a:prstGeom prst="rect">
            <a:avLst/>
          </a:prstGeom>
          <a:noFill/>
        </p:spPr>
        <p:txBody>
          <a:bodyPr wrap="square" rtlCol="0">
            <a:spAutoFit/>
          </a:bodyPr>
          <a:lstStyle/>
          <a:p>
            <a:r>
              <a:rPr lang="en-US" dirty="0"/>
              <a:t>A[ ]</a:t>
            </a:r>
            <a:endParaRPr lang="en-US" dirty="0"/>
          </a:p>
        </p:txBody>
      </p:sp>
      <p:graphicFrame>
        <p:nvGraphicFramePr>
          <p:cNvPr id="10" name="Table 13"/>
          <p:cNvGraphicFramePr>
            <a:graphicFrameLocks noGrp="1"/>
          </p:cNvGraphicFramePr>
          <p:nvPr/>
        </p:nvGraphicFramePr>
        <p:xfrm>
          <a:off x="1990068" y="5635598"/>
          <a:ext cx="6096000" cy="370840"/>
        </p:xfrm>
        <a:graphic>
          <a:graphicData uri="http://schemas.openxmlformats.org/drawingml/2006/table">
            <a:tbl>
              <a:tblPr firstRow="1" bandRow="1">
                <a:tableStyleId>{93296810-A885-4BE3-A3E7-6D5BEEA58F35}</a:tableStyleId>
              </a:tblPr>
              <a:tblGrid>
                <a:gridCol w="1016000"/>
                <a:gridCol w="1016000"/>
                <a:gridCol w="1016000"/>
                <a:gridCol w="1016000"/>
                <a:gridCol w="1016000"/>
                <a:gridCol w="1016000"/>
              </a:tblGrid>
              <a:tr h="370840">
                <a:tc>
                  <a:txBody>
                    <a:bodyPr/>
                    <a:lstStyle/>
                    <a:p>
                      <a:r>
                        <a:rPr lang="en-US" dirty="0">
                          <a:solidFill>
                            <a:schemeClr val="tx1"/>
                          </a:solidFill>
                        </a:rPr>
                        <a:t>70</a:t>
                      </a:r>
                      <a:endParaRPr lang="en-US" dirty="0">
                        <a:solidFill>
                          <a:schemeClr val="tx1"/>
                        </a:solidFill>
                      </a:endParaRPr>
                    </a:p>
                  </a:txBody>
                  <a:tcPr/>
                </a:tc>
                <a:tc>
                  <a:txBody>
                    <a:bodyPr/>
                    <a:lstStyle/>
                    <a:p>
                      <a:r>
                        <a:rPr lang="en-US" dirty="0">
                          <a:solidFill>
                            <a:schemeClr val="tx1"/>
                          </a:solidFill>
                        </a:rPr>
                        <a:t>40</a:t>
                      </a:r>
                      <a:endParaRPr lang="en-US" dirty="0">
                        <a:solidFill>
                          <a:schemeClr val="tx1"/>
                        </a:solidFill>
                      </a:endParaRPr>
                    </a:p>
                  </a:txBody>
                  <a:tcPr/>
                </a:tc>
                <a:tc>
                  <a:txBody>
                    <a:bodyPr/>
                    <a:lstStyle/>
                    <a:p>
                      <a:r>
                        <a:rPr lang="en-US" dirty="0">
                          <a:solidFill>
                            <a:schemeClr val="tx1"/>
                          </a:solidFill>
                        </a:rPr>
                        <a:t>35</a:t>
                      </a:r>
                      <a:endParaRPr lang="en-US" dirty="0">
                        <a:solidFill>
                          <a:schemeClr val="tx1"/>
                        </a:solidFill>
                      </a:endParaRPr>
                    </a:p>
                  </a:txBody>
                  <a:tcPr/>
                </a:tc>
                <a:tc>
                  <a:txBody>
                    <a:bodyPr/>
                    <a:lstStyle/>
                    <a:p>
                      <a:r>
                        <a:rPr lang="en-US" dirty="0">
                          <a:solidFill>
                            <a:schemeClr val="tx1"/>
                          </a:solidFill>
                        </a:rPr>
                        <a:t>33</a:t>
                      </a:r>
                      <a:endParaRPr lang="en-US" dirty="0">
                        <a:solidFill>
                          <a:schemeClr val="tx1"/>
                        </a:solidFill>
                      </a:endParaRPr>
                    </a:p>
                  </a:txBody>
                  <a:tcPr/>
                </a:tc>
                <a:tc>
                  <a:txBody>
                    <a:bodyPr/>
                    <a:lstStyle/>
                    <a:p>
                      <a:r>
                        <a:rPr lang="en-US" dirty="0">
                          <a:solidFill>
                            <a:schemeClr val="tx1"/>
                          </a:solidFill>
                        </a:rPr>
                        <a:t>15</a:t>
                      </a:r>
                      <a:endParaRPr lang="en-US" dirty="0">
                        <a:solidFill>
                          <a:schemeClr val="tx1"/>
                        </a:solidFill>
                      </a:endParaRPr>
                    </a:p>
                  </a:txBody>
                  <a:tcPr/>
                </a:tc>
                <a:tc>
                  <a:txBody>
                    <a:bodyPr/>
                    <a:lstStyle/>
                    <a:p>
                      <a:r>
                        <a:rPr lang="en-US" dirty="0">
                          <a:solidFill>
                            <a:schemeClr val="tx1"/>
                          </a:solidFill>
                        </a:rPr>
                        <a:t>10</a:t>
                      </a:r>
                      <a:endParaRPr lang="en-US" dirty="0">
                        <a:solidFill>
                          <a:schemeClr val="tx1"/>
                        </a:solidFill>
                      </a:endParaRPr>
                    </a:p>
                  </a:txBody>
                  <a:tcPr/>
                </a:tc>
              </a:tr>
            </a:tbl>
          </a:graphicData>
        </a:graphic>
      </p:graphicFrame>
      <p:cxnSp>
        <p:nvCxnSpPr>
          <p:cNvPr id="11" name="Straight Arrow Connector 10"/>
          <p:cNvCxnSpPr/>
          <p:nvPr/>
        </p:nvCxnSpPr>
        <p:spPr>
          <a:xfrm flipH="1" flipV="1">
            <a:off x="7944546" y="6002673"/>
            <a:ext cx="734253" cy="460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761095" y="6139664"/>
            <a:ext cx="1781937" cy="646331"/>
          </a:xfrm>
          <a:prstGeom prst="rect">
            <a:avLst/>
          </a:prstGeom>
          <a:noFill/>
        </p:spPr>
        <p:txBody>
          <a:bodyPr wrap="square" rtlCol="0">
            <a:spAutoFit/>
          </a:bodyPr>
          <a:lstStyle/>
          <a:p>
            <a:r>
              <a:rPr lang="en-US" dirty="0"/>
              <a:t>Final sorted array</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340313"/>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400" dirty="0"/>
              <a:t>Time Complexity</a:t>
            </a:r>
            <a:endParaRPr lang="en-IN" alt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1310542" y="2219130"/>
            <a:ext cx="10086536" cy="3046095"/>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t>
            </a:r>
            <a:r>
              <a:rPr lang="en-IN" altLang="en-US" sz="2400" b="1" dirty="0">
                <a:latin typeface="Times New Roman" panose="02020603050405020304" pitchFamily="18" charset="0"/>
                <a:cs typeface="Times New Roman" panose="02020603050405020304" pitchFamily="18" charset="0"/>
              </a:rPr>
              <a:t>Building the Heap: O(n)</a:t>
            </a:r>
            <a:endParaRPr lang="en-IN" altLang="en-US" sz="2400" b="1" dirty="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Heapify Operation: O(log n) per element</a:t>
            </a:r>
            <a:endParaRPr lang="en-IN" altLang="en-US" sz="2400" b="1" dirty="0">
              <a:latin typeface="Times New Roman" panose="02020603050405020304" pitchFamily="18" charset="0"/>
              <a:cs typeface="Times New Roman" panose="02020603050405020304" pitchFamily="18" charset="0"/>
            </a:endParaRPr>
          </a:p>
          <a:p>
            <a:pPr marL="285750" indent="-28575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Total Sorting: O(n log n)</a:t>
            </a:r>
            <a:endParaRPr lang="en-IN" sz="2400" b="1" dirty="0">
              <a:latin typeface="Times New Roman" panose="02020603050405020304" pitchFamily="18" charset="0"/>
              <a:cs typeface="Times New Roman" panose="02020603050405020304" pitchFamily="18" charset="0"/>
            </a:endParaRPr>
          </a:p>
          <a:p>
            <a:pPr indent="0">
              <a:lnSpc>
                <a:spcPct val="200000"/>
              </a:lnSpc>
              <a:buFont typeface="Arial" panose="020B0604020202020204" pitchFamily="34" charset="0"/>
              <a:buNone/>
            </a:pPr>
            <a:r>
              <a:rPr lang="en-IN" sz="2400" b="1" dirty="0">
                <a:latin typeface="Times New Roman" panose="02020603050405020304" pitchFamily="18" charset="0"/>
                <a:cs typeface="Times New Roman" panose="02020603050405020304" pitchFamily="18" charset="0"/>
              </a:rPr>
              <a:t>Space complexity: O(1) (in-place sorting)</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340313"/>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sz="2400" dirty="0"/>
              <a:t>Advantages and Disadvantages</a:t>
            </a:r>
            <a:endParaRPr lang="en-IN" alt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1310542" y="1899725"/>
            <a:ext cx="10086536" cy="4523105"/>
          </a:xfrm>
          <a:prstGeom prst="rect">
            <a:avLst/>
          </a:prstGeom>
          <a:noFill/>
        </p:spPr>
        <p:txBody>
          <a:bodyPr wrap="square" rtlCol="0">
            <a:spAutoFit/>
          </a:bodyPr>
          <a:lstStyle/>
          <a:p>
            <a:pPr indent="0" algn="just">
              <a:lnSpc>
                <a:spcPct val="200000"/>
              </a:lnSpc>
              <a:buFont typeface="Arial" panose="020B0604020202020204" pitchFamily="34" charset="0"/>
              <a:buNone/>
            </a:pPr>
            <a:r>
              <a:rPr lang="en-IN" altLang="en-US" sz="2400" b="1" dirty="0">
                <a:latin typeface="Times New Roman" panose="02020603050405020304" pitchFamily="18" charset="0"/>
                <a:cs typeface="Times New Roman" panose="02020603050405020304" pitchFamily="18" charset="0"/>
              </a:rPr>
              <a:t>Advantages:</a:t>
            </a:r>
            <a:endParaRPr lang="en-IN" altLang="en-US" sz="2400" b="1" dirty="0">
              <a:latin typeface="Times New Roman" panose="02020603050405020304" pitchFamily="18" charset="0"/>
              <a:cs typeface="Times New Roman" panose="02020603050405020304" pitchFamily="18" charset="0"/>
            </a:endParaRPr>
          </a:p>
          <a:p>
            <a:pPr marL="1200785" indent="-85090" algn="just">
              <a:lnSpc>
                <a:spcPct val="20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 Efficient for large data sets.</a:t>
            </a:r>
            <a:endParaRPr lang="en-IN" altLang="en-US" sz="2400" b="1" dirty="0">
              <a:latin typeface="Times New Roman" panose="02020603050405020304" pitchFamily="18" charset="0"/>
              <a:cs typeface="Times New Roman" panose="02020603050405020304" pitchFamily="18" charset="0"/>
            </a:endParaRPr>
          </a:p>
          <a:p>
            <a:pPr marL="1200785" indent="-85090" algn="just">
              <a:lnSpc>
                <a:spcPct val="20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 In-place sorting (requires no extra memory).</a:t>
            </a:r>
            <a:endParaRPr lang="en-IN" altLang="en-US" sz="2400" b="1" dirty="0">
              <a:latin typeface="Times New Roman" panose="02020603050405020304" pitchFamily="18" charset="0"/>
              <a:cs typeface="Times New Roman" panose="02020603050405020304" pitchFamily="18" charset="0"/>
            </a:endParaRPr>
          </a:p>
          <a:p>
            <a:pPr marL="1115695" indent="-1115695" algn="just">
              <a:lnSpc>
                <a:spcPct val="200000"/>
              </a:lnSpc>
              <a:buFont typeface="Arial" panose="020B0604020202020204" pitchFamily="34" charset="0"/>
              <a:buNone/>
            </a:pPr>
            <a:r>
              <a:rPr lang="en-IN" altLang="en-US" sz="2400" b="1" dirty="0">
                <a:latin typeface="Times New Roman" panose="02020603050405020304" pitchFamily="18" charset="0"/>
                <a:cs typeface="Times New Roman" panose="02020603050405020304" pitchFamily="18" charset="0"/>
              </a:rPr>
              <a:t>Disadvantages:</a:t>
            </a:r>
            <a:endParaRPr lang="en-IN" altLang="en-US" sz="2400" b="1" dirty="0">
              <a:latin typeface="Times New Roman" panose="02020603050405020304" pitchFamily="18" charset="0"/>
              <a:cs typeface="Times New Roman" panose="02020603050405020304" pitchFamily="18" charset="0"/>
            </a:endParaRPr>
          </a:p>
          <a:p>
            <a:pPr marL="1115695" indent="42545" algn="just">
              <a:lnSpc>
                <a:spcPct val="20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 Not a stable sort.</a:t>
            </a:r>
            <a:endParaRPr lang="en-IN" altLang="en-US" sz="2400" b="1" dirty="0">
              <a:latin typeface="Times New Roman" panose="02020603050405020304" pitchFamily="18" charset="0"/>
              <a:cs typeface="Times New Roman" panose="02020603050405020304" pitchFamily="18" charset="0"/>
            </a:endParaRPr>
          </a:p>
          <a:p>
            <a:pPr marL="1115695" indent="42545" algn="just">
              <a:lnSpc>
                <a:spcPct val="20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 Requires additional computation for heap maintenance.</a:t>
            </a:r>
            <a:endParaRPr lang="en-IN" altLang="en-US" sz="24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340313"/>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1310542" y="2219130"/>
            <a:ext cx="10086536" cy="2676525"/>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t>
            </a:r>
            <a:r>
              <a:rPr lang="en-IN" altLang="en-US" sz="2400" b="1" dirty="0">
                <a:latin typeface="Times New Roman" panose="02020603050405020304" pitchFamily="18" charset="0"/>
                <a:cs typeface="Times New Roman" panose="02020603050405020304" pitchFamily="18" charset="0"/>
              </a:rPr>
              <a:t>Heap Sort uses a binary heap to sort efficiently</a:t>
            </a:r>
            <a:endParaRPr lang="en-US" sz="2400" b="1" dirty="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Time Complexity: O(n log n)</a:t>
            </a:r>
            <a:endParaRPr lang="en-IN" altLang="en-US" sz="2400" b="1" dirty="0">
              <a:latin typeface="Times New Roman" panose="02020603050405020304" pitchFamily="18" charset="0"/>
              <a:cs typeface="Times New Roman" panose="02020603050405020304" pitchFamily="18" charset="0"/>
            </a:endParaRPr>
          </a:p>
          <a:p>
            <a:pPr marL="285750" indent="-285750" algn="just">
              <a:lnSpc>
                <a:spcPct val="200000"/>
              </a:lnSpc>
              <a:buFont typeface="Arial" panose="020B0604020202020204" pitchFamily="34" charset="0"/>
              <a:buChar char="•"/>
            </a:pPr>
            <a:r>
              <a:rPr lang="en-IN" altLang="en-US" sz="2400" b="1" dirty="0">
                <a:latin typeface="Times New Roman" panose="02020603050405020304" pitchFamily="18" charset="0"/>
                <a:cs typeface="Times New Roman" panose="02020603050405020304" pitchFamily="18" charset="0"/>
              </a:rPr>
              <a:t>Useful for in-place sorting without extra memory overhead</a:t>
            </a:r>
            <a:endParaRPr lang="en-US" sz="24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26828" y="796685"/>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solidFill>
                  <a:schemeClr val="bg1"/>
                </a:solidFill>
              </a:rPr>
              <a:t>On which algorithm is heap sort based on?</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828" y="1608892"/>
            <a:ext cx="10001390"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solidFill>
                  <a:srgbClr val="FFC000"/>
                </a:solidFill>
              </a:rPr>
              <a:t>Fibonacci heap</a:t>
            </a:r>
            <a:endParaRPr lang="en-US" sz="1600" dirty="0">
              <a:solidFill>
                <a:srgbClr val="FFC000"/>
              </a:solidFill>
            </a:endParaRPr>
          </a:p>
          <a:p>
            <a:pPr marL="342900" indent="-342900">
              <a:lnSpc>
                <a:spcPct val="150000"/>
              </a:lnSpc>
              <a:buAutoNum type="alphaLcParenBoth"/>
            </a:pPr>
            <a:r>
              <a:rPr lang="en-US" sz="1600" dirty="0">
                <a:solidFill>
                  <a:srgbClr val="FFC000"/>
                </a:solidFill>
              </a:rPr>
              <a:t>Binary tree</a:t>
            </a:r>
            <a:endParaRPr lang="en-US" sz="1600" dirty="0">
              <a:solidFill>
                <a:srgbClr val="FFC000"/>
              </a:solidFill>
            </a:endParaRPr>
          </a:p>
          <a:p>
            <a:pPr marL="342900" indent="-342900">
              <a:lnSpc>
                <a:spcPct val="150000"/>
              </a:lnSpc>
              <a:buAutoNum type="alphaLcParenBoth"/>
            </a:pPr>
            <a:r>
              <a:rPr lang="en-US" sz="1600" dirty="0">
                <a:solidFill>
                  <a:srgbClr val="FFC000"/>
                </a:solidFill>
              </a:rPr>
              <a:t>Priority queue</a:t>
            </a:r>
            <a:endParaRPr lang="en-US" sz="1600" dirty="0">
              <a:solidFill>
                <a:srgbClr val="FFC000"/>
              </a:solidFill>
            </a:endParaRPr>
          </a:p>
          <a:p>
            <a:pPr marL="342900" indent="-342900">
              <a:lnSpc>
                <a:spcPct val="150000"/>
              </a:lnSpc>
              <a:buAutoNum type="alphaLcParenBoth"/>
            </a:pPr>
            <a:r>
              <a:rPr lang="en-US" sz="1600" dirty="0">
                <a:solidFill>
                  <a:srgbClr val="FFC000"/>
                </a:solidFill>
              </a:rPr>
              <a:t>FIFO</a:t>
            </a:r>
            <a:endParaRPr lang="en-US" sz="1600" dirty="0">
              <a:solidFill>
                <a:srgbClr val="FFC000"/>
              </a:solidFill>
            </a:endParaRPr>
          </a:p>
        </p:txBody>
      </p:sp>
      <p:sp>
        <p:nvSpPr>
          <p:cNvPr id="13" name="Google Shape;502;p17"/>
          <p:cNvSpPr/>
          <p:nvPr/>
        </p:nvSpPr>
        <p:spPr>
          <a:xfrm>
            <a:off x="941705" y="3324860"/>
            <a:ext cx="10172065" cy="1263015"/>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dirty="0"/>
              <a:t>2.</a:t>
            </a:r>
            <a:r>
              <a:rPr lang="en-IN" altLang="en-US" dirty="0"/>
              <a:t> </a:t>
            </a: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Consider the following array of elements.</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lvl="0"/>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(89, 19, 50, 17, 12, 15, 2, 5, 7, 11, 6, 9, 100)</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lvl="0"/>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The minimum number of interchanges needed to convert it into a max- heap is</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26828" y="4810891"/>
            <a:ext cx="10172210" cy="1508561"/>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altLang="en-US" sz="1600" dirty="0"/>
              <a:t>4</a:t>
            </a:r>
            <a:endParaRPr lang="en-US" sz="1600" dirty="0"/>
          </a:p>
          <a:p>
            <a:pPr marL="342900" indent="-342900">
              <a:lnSpc>
                <a:spcPct val="150000"/>
              </a:lnSpc>
              <a:buAutoNum type="alphaLcParenBoth"/>
            </a:pPr>
            <a:r>
              <a:rPr lang="en-IN" altLang="en-US" sz="1600" dirty="0"/>
              <a:t>2</a:t>
            </a:r>
            <a:endParaRPr lang="en-US" sz="1600" dirty="0"/>
          </a:p>
          <a:p>
            <a:pPr marL="342900" indent="-342900">
              <a:lnSpc>
                <a:spcPct val="150000"/>
              </a:lnSpc>
              <a:buAutoNum type="alphaLcParenBoth"/>
            </a:pPr>
            <a:r>
              <a:rPr lang="en-IN" altLang="en-US" sz="1600" dirty="0"/>
              <a:t>3</a:t>
            </a:r>
            <a:endParaRPr lang="en-US" sz="1600" dirty="0"/>
          </a:p>
          <a:p>
            <a:pPr marL="342900" indent="-342900">
              <a:lnSpc>
                <a:spcPct val="150000"/>
              </a:lnSpc>
              <a:buAutoNum type="alphaLcParenBoth"/>
            </a:pPr>
            <a:r>
              <a:rPr lang="en-IN" altLang="en-US" sz="1600" dirty="0"/>
              <a:t>6 </a:t>
            </a:r>
            <a:endParaRPr lang="en-IN" altLang="en-US" sz="1600"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bldLvl="0" animBg="1"/>
      <p:bldP spid="14"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650" y="796925"/>
            <a:ext cx="10172065" cy="3617595"/>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lnSpc>
                <a:spcPct val="110000"/>
              </a:lnSpc>
            </a:pP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3. </a:t>
            </a: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Consider the following statements about heap sort algorithm:</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marL="529590" lvl="0" indent="-529590">
              <a:lnSpc>
                <a:spcPct val="110000"/>
              </a:lnSpc>
            </a:pP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A. The MAX-HEAPIFY procedure which runs in O(log n) time, is the key to maintaining the max heap property</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marL="542290" lvl="0" indent="-542290">
              <a:lnSpc>
                <a:spcPct val="110000"/>
              </a:lnSpc>
            </a:pP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B. The BUILD-MAX-HEAP procedure, which runs in O(log n) time, produces max-heap from an unordered input array.</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marL="442595" lvl="0" indent="-442595">
              <a:lnSpc>
                <a:spcPct val="110000"/>
              </a:lnSpc>
            </a:pP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C. The MAX-HEAP-INSERT, which runs in O(n log n) time, implements the insertion operation.</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marL="527685" lvl="0" indent="-527685">
              <a:lnSpc>
                <a:spcPct val="110000"/>
              </a:lnSpc>
            </a:pP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D. The HEAP-INCREASE-KEY pocedure runs in O(n log n) time, to set the key of new node of its correct value.</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lvl="0">
              <a:lnSpc>
                <a:spcPct val="110000"/>
              </a:lnSpc>
            </a:pP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lvl="0">
              <a:lnSpc>
                <a:spcPct val="110000"/>
              </a:lnSpc>
            </a:pP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Choose the correct answer from the options given below:</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a:p>
            <a:pPr lvl="0"/>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374173" y="4737615"/>
            <a:ext cx="980742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solidFill>
                  <a:srgbClr val="FFC000"/>
                </a:solidFill>
                <a:latin typeface="Arial" panose="020B0604020202020204" pitchFamily="34" charset="0"/>
              </a:rPr>
              <a:t> </a:t>
            </a:r>
            <a:r>
              <a:rPr lang="en-IN" altLang="en-US" sz="1600" dirty="0">
                <a:solidFill>
                  <a:srgbClr val="FFC000"/>
                </a:solidFill>
                <a:latin typeface="Arial" panose="020B0604020202020204" pitchFamily="34" charset="0"/>
              </a:rPr>
              <a:t>A, B only</a:t>
            </a:r>
            <a:endParaRPr lang="en-US" sz="1600" dirty="0">
              <a:solidFill>
                <a:srgbClr val="FFC000"/>
              </a:solidFill>
              <a:latin typeface="Arial" panose="020B0604020202020204" pitchFamily="34" charset="0"/>
            </a:endParaRPr>
          </a:p>
          <a:p>
            <a:pPr marL="342900" indent="-342900">
              <a:lnSpc>
                <a:spcPct val="150000"/>
              </a:lnSpc>
              <a:buAutoNum type="alphaLcParenBoth"/>
            </a:pPr>
            <a:r>
              <a:rPr lang="en-US" sz="1600" dirty="0">
                <a:solidFill>
                  <a:srgbClr val="FFC000"/>
                </a:solidFill>
                <a:latin typeface="Arial" panose="020B0604020202020204" pitchFamily="34" charset="0"/>
              </a:rPr>
              <a:t> </a:t>
            </a:r>
            <a:r>
              <a:rPr lang="en-IN" altLang="en-US" sz="1600" dirty="0">
                <a:solidFill>
                  <a:srgbClr val="FFC000"/>
                </a:solidFill>
                <a:latin typeface="Arial" panose="020B0604020202020204" pitchFamily="34" charset="0"/>
              </a:rPr>
              <a:t>A, C only</a:t>
            </a:r>
            <a:endParaRPr lang="en-US" sz="1600" dirty="0">
              <a:solidFill>
                <a:srgbClr val="FFC000"/>
              </a:solidFill>
              <a:latin typeface="Arial" panose="020B0604020202020204" pitchFamily="34" charset="0"/>
            </a:endParaRPr>
          </a:p>
          <a:p>
            <a:pPr marL="342900" indent="-342900">
              <a:lnSpc>
                <a:spcPct val="150000"/>
              </a:lnSpc>
              <a:buAutoNum type="alphaLcParenBoth"/>
            </a:pPr>
            <a:r>
              <a:rPr lang="en-US" sz="1600" dirty="0">
                <a:solidFill>
                  <a:srgbClr val="FFC000"/>
                </a:solidFill>
                <a:latin typeface="Arial" panose="020B0604020202020204" pitchFamily="34" charset="0"/>
              </a:rPr>
              <a:t> </a:t>
            </a:r>
            <a:r>
              <a:rPr lang="en-IN" altLang="en-US" sz="1600" dirty="0">
                <a:solidFill>
                  <a:srgbClr val="FFC000"/>
                </a:solidFill>
                <a:latin typeface="Arial" panose="020B0604020202020204" pitchFamily="34" charset="0"/>
              </a:rPr>
              <a:t>B, D only</a:t>
            </a:r>
            <a:endParaRPr lang="en-US" sz="1600" dirty="0">
              <a:solidFill>
                <a:srgbClr val="FFC000"/>
              </a:solidFill>
              <a:latin typeface="Arial" panose="020B0604020202020204" pitchFamily="34" charset="0"/>
            </a:endParaRPr>
          </a:p>
          <a:p>
            <a:pPr marL="342900" indent="-342900">
              <a:lnSpc>
                <a:spcPct val="150000"/>
              </a:lnSpc>
              <a:buAutoNum type="alphaLcParenBoth"/>
            </a:pPr>
            <a:r>
              <a:rPr lang="en-US" sz="1600" dirty="0">
                <a:solidFill>
                  <a:srgbClr val="FFC000"/>
                </a:solidFill>
                <a:latin typeface="Arial" panose="020B0604020202020204" pitchFamily="34" charset="0"/>
              </a:rPr>
              <a:t> </a:t>
            </a:r>
            <a:r>
              <a:rPr lang="en-IN" altLang="en-US" sz="1600" dirty="0">
                <a:solidFill>
                  <a:srgbClr val="FFC000"/>
                </a:solidFill>
                <a:latin typeface="Arial" panose="020B0604020202020204" pitchFamily="34" charset="0"/>
              </a:rPr>
              <a:t>A, B, C, D.</a:t>
            </a:r>
            <a:endParaRPr lang="en-IN" altLang="en-US" sz="1600" dirty="0">
              <a:solidFill>
                <a:srgbClr val="FFC000"/>
              </a:solidFill>
              <a:latin typeface="Arial" panose="020B0604020202020204" pitchFamily="34" charset="0"/>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bldLvl="0" animBg="1"/>
      <p:bldP spid="1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4</a:t>
            </a: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a:t>
            </a: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Consider a complete binary tree where the left and the right subtrees of the root are max-heaps. The lower bound for the number of operations to convert the tree to a heap is:</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altLang="en-US" sz="1600" dirty="0">
                <a:latin typeface="Arial" panose="020B0604020202020204" pitchFamily="34" charset="0"/>
              </a:rPr>
              <a:t>Ω</a:t>
            </a:r>
            <a:r>
              <a:rPr lang="pt-BR" sz="1600" dirty="0">
                <a:latin typeface="Arial" panose="020B0604020202020204" pitchFamily="34" charset="0"/>
              </a:rPr>
              <a:t>(N)</a:t>
            </a:r>
            <a:endParaRPr lang="pt-BR" sz="1600" dirty="0">
              <a:latin typeface="Arial" panose="020B0604020202020204" pitchFamily="34" charset="0"/>
            </a:endParaRPr>
          </a:p>
          <a:p>
            <a:pPr marL="342900" indent="-342900">
              <a:lnSpc>
                <a:spcPct val="150000"/>
              </a:lnSpc>
              <a:buAutoNum type="alphaLcParenBoth"/>
            </a:pPr>
            <a:r>
              <a:rPr lang="en-US" altLang="en-US" sz="1600" dirty="0">
                <a:latin typeface="Arial" panose="020B0604020202020204" pitchFamily="34" charset="0"/>
              </a:rPr>
              <a:t>Ω</a:t>
            </a:r>
            <a:r>
              <a:rPr lang="pt-BR" sz="1600" dirty="0">
                <a:latin typeface="Arial" panose="020B0604020202020204" pitchFamily="34" charset="0"/>
              </a:rPr>
              <a:t>(N log N)</a:t>
            </a:r>
            <a:endParaRPr lang="pt-BR" sz="1600" dirty="0">
              <a:latin typeface="Arial" panose="020B0604020202020204" pitchFamily="34" charset="0"/>
            </a:endParaRPr>
          </a:p>
          <a:p>
            <a:pPr marL="342900" indent="-342900">
              <a:lnSpc>
                <a:spcPct val="150000"/>
              </a:lnSpc>
              <a:buAutoNum type="alphaLcParenBoth"/>
            </a:pPr>
            <a:r>
              <a:rPr lang="en-US" altLang="en-US" sz="1600" dirty="0">
                <a:latin typeface="Arial" panose="020B0604020202020204" pitchFamily="34" charset="0"/>
              </a:rPr>
              <a:t>Ω</a:t>
            </a:r>
            <a:r>
              <a:rPr lang="pt-BR" sz="1600" dirty="0">
                <a:latin typeface="Arial" panose="020B0604020202020204" pitchFamily="34" charset="0"/>
              </a:rPr>
              <a:t>(log N)</a:t>
            </a:r>
            <a:endParaRPr lang="pt-BR" sz="1600" dirty="0">
              <a:latin typeface="Arial" panose="020B0604020202020204" pitchFamily="34" charset="0"/>
            </a:endParaRPr>
          </a:p>
          <a:p>
            <a:pPr marL="342900" indent="-342900">
              <a:lnSpc>
                <a:spcPct val="150000"/>
              </a:lnSpc>
              <a:buAutoNum type="alphaLcParenBoth"/>
            </a:pPr>
            <a:r>
              <a:rPr lang="en-US" altLang="en-US" sz="1600" dirty="0">
                <a:latin typeface="Arial" panose="020B0604020202020204" pitchFamily="34" charset="0"/>
              </a:rPr>
              <a:t>Ω</a:t>
            </a:r>
            <a:r>
              <a:rPr lang="pt-BR" sz="1600" dirty="0">
                <a:latin typeface="Arial" panose="020B0604020202020204" pitchFamily="34" charset="0"/>
              </a:rPr>
              <a:t>(N2)</a:t>
            </a:r>
            <a:endParaRPr lang="pt-BR" sz="1600" dirty="0">
              <a:latin typeface="Arial" panose="020B0604020202020204" pitchFamily="34" charset="0"/>
            </a:endParaRPr>
          </a:p>
        </p:txBody>
      </p:sp>
      <p:sp>
        <p:nvSpPr>
          <p:cNvPr id="13" name="Google Shape;502;p17"/>
          <p:cNvSpPr/>
          <p:nvPr/>
        </p:nvSpPr>
        <p:spPr>
          <a:xfrm>
            <a:off x="1009650" y="3820160"/>
            <a:ext cx="10172065" cy="1165225"/>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5</a:t>
            </a: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a:t>
            </a: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Let H be a primary min-heap consisting of n elements implemented as an array. What is the worst case time complexity of an optimal algorithm to find the maximum element in H?</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2" name="Rounded Rectangle 17"/>
          <p:cNvSpPr/>
          <p:nvPr/>
        </p:nvSpPr>
        <p:spPr>
          <a:xfrm>
            <a:off x="1026828" y="4893190"/>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342900" indent="-342900">
              <a:lnSpc>
                <a:spcPct val="150000"/>
              </a:lnSpc>
              <a:buAutoNum type="alphaLcParenBoth"/>
            </a:pPr>
            <a:r>
              <a:rPr lang="en-US" altLang="en-US" sz="1600" dirty="0">
                <a:latin typeface="Arial" panose="020B0604020202020204" pitchFamily="34" charset="0"/>
              </a:rPr>
              <a:t>θ</a:t>
            </a:r>
            <a:r>
              <a:rPr lang="pt-BR" sz="1600" dirty="0">
                <a:latin typeface="Arial" panose="020B0604020202020204" pitchFamily="34" charset="0"/>
              </a:rPr>
              <a:t>(N)</a:t>
            </a:r>
            <a:endParaRPr lang="pt-BR" sz="1600" dirty="0">
              <a:latin typeface="Arial" panose="020B0604020202020204" pitchFamily="34" charset="0"/>
            </a:endParaRPr>
          </a:p>
          <a:p>
            <a:pPr marL="342900" indent="-342900">
              <a:lnSpc>
                <a:spcPct val="150000"/>
              </a:lnSpc>
              <a:buAutoNum type="alphaLcParenBoth"/>
            </a:pPr>
            <a:r>
              <a:rPr lang="en-US" altLang="en-US" sz="1600" dirty="0">
                <a:latin typeface="Arial" panose="020B0604020202020204" pitchFamily="34" charset="0"/>
              </a:rPr>
              <a:t>θ</a:t>
            </a:r>
            <a:r>
              <a:rPr lang="pt-BR" sz="1600" dirty="0">
                <a:latin typeface="Arial" panose="020B0604020202020204" pitchFamily="34" charset="0"/>
              </a:rPr>
              <a:t>(N log N)</a:t>
            </a:r>
            <a:endParaRPr lang="pt-BR" sz="1600" dirty="0">
              <a:latin typeface="Arial" panose="020B0604020202020204" pitchFamily="34" charset="0"/>
            </a:endParaRPr>
          </a:p>
          <a:p>
            <a:pPr marL="342900" indent="-342900">
              <a:lnSpc>
                <a:spcPct val="150000"/>
              </a:lnSpc>
              <a:buAutoNum type="alphaLcParenBoth"/>
            </a:pPr>
            <a:r>
              <a:rPr lang="en-US" altLang="en-US" sz="1600" dirty="0">
                <a:latin typeface="Arial" panose="020B0604020202020204" pitchFamily="34" charset="0"/>
              </a:rPr>
              <a:t>θ</a:t>
            </a:r>
            <a:r>
              <a:rPr lang="pt-BR" sz="1600" dirty="0">
                <a:latin typeface="Arial" panose="020B0604020202020204" pitchFamily="34" charset="0"/>
              </a:rPr>
              <a:t>(log N)</a:t>
            </a:r>
            <a:endParaRPr lang="pt-BR" sz="1600" dirty="0">
              <a:latin typeface="Arial" panose="020B0604020202020204" pitchFamily="34" charset="0"/>
            </a:endParaRPr>
          </a:p>
          <a:p>
            <a:pPr marL="342900" indent="-342900">
              <a:lnSpc>
                <a:spcPct val="150000"/>
              </a:lnSpc>
              <a:buAutoNum type="alphaLcParenBoth"/>
            </a:pPr>
            <a:r>
              <a:rPr lang="en-US" altLang="en-US" sz="1600" dirty="0">
                <a:latin typeface="Arial" panose="020B0604020202020204" pitchFamily="34" charset="0"/>
              </a:rPr>
              <a:t>θ</a:t>
            </a:r>
            <a:r>
              <a:rPr lang="pt-BR" sz="1600" dirty="0">
                <a:latin typeface="Arial" panose="020B0604020202020204" pitchFamily="34" charset="0"/>
              </a:rPr>
              <a:t>(</a:t>
            </a:r>
            <a:r>
              <a:rPr lang="en-IN" altLang="pt-BR" sz="1600" dirty="0">
                <a:latin typeface="Arial" panose="020B0604020202020204" pitchFamily="34" charset="0"/>
              </a:rPr>
              <a:t>1</a:t>
            </a:r>
            <a:r>
              <a:rPr lang="pt-BR" sz="1600" dirty="0">
                <a:latin typeface="Arial" panose="020B0604020202020204" pitchFamily="34" charset="0"/>
              </a:rPr>
              <a:t>)</a:t>
            </a:r>
            <a:endParaRPr lang="pt-BR" sz="1600" dirty="0">
              <a:latin typeface="Arial" panose="020B0604020202020204" pitchFamily="34"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bldLvl="0" animBg="1"/>
      <p:bldP spid="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6</a:t>
            </a: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a:t>
            </a:r>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Given a binary-max heap. The elements are sorted in an arrays as 25, 14, 16, 13, 10, 8, 12. What is the content of the array after two delete operations?</a:t>
            </a:r>
            <a:endPar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828" y="1977905"/>
            <a:ext cx="9904408"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pt-BR" sz="1600" dirty="0">
                <a:latin typeface="Arial" panose="020B0604020202020204" pitchFamily="34" charset="0"/>
              </a:rPr>
              <a:t> </a:t>
            </a:r>
            <a:r>
              <a:rPr lang="en-IN" altLang="pt-BR" sz="1600" dirty="0">
                <a:latin typeface="Arial" panose="020B0604020202020204" pitchFamily="34" charset="0"/>
              </a:rPr>
              <a:t>14,13, 8, 12, 10</a:t>
            </a:r>
            <a:endParaRPr lang="pt-BR" sz="1600" dirty="0">
              <a:latin typeface="Arial" panose="020B0604020202020204" pitchFamily="34" charset="0"/>
            </a:endParaRPr>
          </a:p>
          <a:p>
            <a:pPr marL="342900" indent="-342900">
              <a:lnSpc>
                <a:spcPct val="150000"/>
              </a:lnSpc>
              <a:buAutoNum type="alphaLcParenBoth"/>
            </a:pPr>
            <a:r>
              <a:rPr lang="en-IN" altLang="pt-BR" sz="1600" dirty="0">
                <a:latin typeface="Arial" panose="020B0604020202020204" pitchFamily="34" charset="0"/>
              </a:rPr>
              <a:t>14, 12, 13, 10, 8</a:t>
            </a:r>
            <a:endParaRPr lang="pt-BR" sz="1600" dirty="0">
              <a:latin typeface="Arial" panose="020B0604020202020204" pitchFamily="34" charset="0"/>
            </a:endParaRPr>
          </a:p>
          <a:p>
            <a:pPr marL="342900" indent="-342900">
              <a:lnSpc>
                <a:spcPct val="150000"/>
              </a:lnSpc>
              <a:buAutoNum type="alphaLcParenBoth"/>
            </a:pPr>
            <a:r>
              <a:rPr lang="en-IN" altLang="pt-BR" sz="1600" dirty="0">
                <a:latin typeface="Arial" panose="020B0604020202020204" pitchFamily="34" charset="0"/>
              </a:rPr>
              <a:t>14, 13, 12, 8, 10</a:t>
            </a:r>
            <a:endParaRPr lang="pt-BR" sz="1600" dirty="0">
              <a:latin typeface="Arial" panose="020B0604020202020204" pitchFamily="34" charset="0"/>
            </a:endParaRPr>
          </a:p>
          <a:p>
            <a:pPr marL="342900" indent="-342900">
              <a:lnSpc>
                <a:spcPct val="150000"/>
              </a:lnSpc>
              <a:buAutoNum type="alphaLcParenBoth"/>
            </a:pPr>
            <a:r>
              <a:rPr lang="en-IN" altLang="en-US" sz="1600" dirty="0"/>
              <a:t>14, 13, 12, 10, 8</a:t>
            </a:r>
            <a:endParaRPr lang="en-IN" altLang="en-US" sz="1600" dirty="0"/>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IN" alt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7</a:t>
            </a: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 In heap sort, after deleting the last minimum element, the array will contain elements in?</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727197"/>
            <a:ext cx="992134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increasing sorting order</a:t>
            </a:r>
            <a:endParaRPr lang="en-US" dirty="0"/>
          </a:p>
          <a:p>
            <a:pPr marL="342900" indent="-342900">
              <a:lnSpc>
                <a:spcPct val="150000"/>
              </a:lnSpc>
              <a:buAutoNum type="alphaLcParenBoth"/>
            </a:pPr>
            <a:r>
              <a:rPr lang="en-US" dirty="0"/>
              <a:t> decreasing sorting order</a:t>
            </a:r>
            <a:endParaRPr lang="en-US" dirty="0"/>
          </a:p>
          <a:p>
            <a:pPr marL="342900" indent="-342900">
              <a:lnSpc>
                <a:spcPct val="150000"/>
              </a:lnSpc>
              <a:buAutoNum type="alphaLcParenBoth"/>
            </a:pPr>
            <a:r>
              <a:rPr lang="en-US" dirty="0"/>
              <a:t>tree </a:t>
            </a:r>
            <a:r>
              <a:rPr lang="en-US" dirty="0" err="1"/>
              <a:t>inorder</a:t>
            </a:r>
            <a:endParaRPr lang="en-US" dirty="0"/>
          </a:p>
          <a:p>
            <a:pPr marL="342900" indent="-342900">
              <a:lnSpc>
                <a:spcPct val="150000"/>
              </a:lnSpc>
              <a:buAutoNum type="alphaLcParenBoth"/>
            </a:pPr>
            <a:r>
              <a:rPr lang="en-US" dirty="0"/>
              <a:t> tree preorder</a:t>
            </a:r>
            <a:endParaRPr lang="en-US" sz="1600" dirty="0">
              <a:solidFill>
                <a:srgbClr val="FF9900"/>
              </a:solidFill>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
        <p:nvSpPr>
          <p:cNvPr id="9" name="TextBox 8"/>
          <p:cNvSpPr txBox="1"/>
          <p:nvPr/>
        </p:nvSpPr>
        <p:spPr>
          <a:xfrm>
            <a:off x="1935093" y="1333873"/>
            <a:ext cx="9608234" cy="4523105"/>
          </a:xfrm>
          <a:prstGeom prst="rect">
            <a:avLst/>
          </a:prstGeom>
          <a:noFill/>
        </p:spPr>
        <p:txBody>
          <a:bodyPr wrap="square" rtlCol="0">
            <a:spAutoFit/>
          </a:bodyPr>
          <a:lstStyle/>
          <a:p>
            <a:pPr>
              <a:lnSpc>
                <a:spcPct val="200000"/>
              </a:lnSpc>
            </a:pPr>
            <a:r>
              <a:rPr lang="en-US" b="1" dirty="0"/>
              <a:t>1</a:t>
            </a:r>
            <a:r>
              <a:rPr lang="en-US" sz="2400" b="1" dirty="0">
                <a:latin typeface="Times New Roman" panose="02020603050405020304" pitchFamily="18" charset="0"/>
                <a:cs typeface="Times New Roman" panose="02020603050405020304" pitchFamily="18" charset="0"/>
              </a:rPr>
              <a:t>. Describe heap sort and </a:t>
            </a:r>
            <a:r>
              <a:rPr lang="en-US" sz="2400" b="1" dirty="0" err="1">
                <a:latin typeface="Times New Roman" panose="02020603050405020304" pitchFamily="18" charset="0"/>
                <a:cs typeface="Times New Roman" panose="02020603050405020304" pitchFamily="18" charset="0"/>
              </a:rPr>
              <a:t>heapifying</a:t>
            </a:r>
            <a:r>
              <a:rPr lang="en-US" sz="2400" b="1" dirty="0">
                <a:latin typeface="Times New Roman" panose="02020603050405020304" pitchFamily="18" charset="0"/>
                <a:cs typeface="Times New Roman" panose="02020603050405020304" pitchFamily="18" charset="0"/>
              </a:rPr>
              <a:t> with examples</a:t>
            </a:r>
            <a:endParaRPr lang="en-US" sz="2400" b="1" dirty="0">
              <a:latin typeface="Times New Roman" panose="02020603050405020304" pitchFamily="18" charset="0"/>
              <a:cs typeface="Times New Roman" panose="02020603050405020304" pitchFamily="18" charset="0"/>
            </a:endParaRPr>
          </a:p>
          <a:p>
            <a:pPr>
              <a:lnSpc>
                <a:spcPct val="200000"/>
              </a:lnSpc>
            </a:pPr>
            <a:r>
              <a:rPr lang="en-US" sz="2400" b="1" dirty="0">
                <a:latin typeface="Times New Roman" panose="02020603050405020304" pitchFamily="18" charset="0"/>
                <a:cs typeface="Times New Roman" panose="02020603050405020304" pitchFamily="18" charset="0"/>
              </a:rPr>
              <a:t>2. List out the applications of heapsort</a:t>
            </a:r>
            <a:endParaRPr lang="en-US" sz="2400" b="1" dirty="0">
              <a:latin typeface="Times New Roman" panose="02020603050405020304" pitchFamily="18" charset="0"/>
              <a:cs typeface="Times New Roman" panose="02020603050405020304" pitchFamily="18" charset="0"/>
            </a:endParaRPr>
          </a:p>
          <a:p>
            <a:pPr marL="342900" indent="-342900">
              <a:lnSpc>
                <a:spcPct val="200000"/>
              </a:lnSpc>
            </a:pPr>
            <a:r>
              <a:rPr lang="en-US" sz="2400" b="1" dirty="0">
                <a:latin typeface="Times New Roman" panose="02020603050405020304" pitchFamily="18" charset="0"/>
                <a:cs typeface="Times New Roman" panose="02020603050405020304" pitchFamily="18" charset="0"/>
              </a:rPr>
              <a:t>3. Analyze  the time complexity of heap sort</a:t>
            </a:r>
            <a:endParaRPr lang="en-US" sz="2400" b="1" dirty="0">
              <a:latin typeface="Times New Roman" panose="02020603050405020304" pitchFamily="18" charset="0"/>
              <a:cs typeface="Times New Roman" panose="02020603050405020304" pitchFamily="18" charset="0"/>
            </a:endParaRPr>
          </a:p>
          <a:p>
            <a:pPr marL="342900" indent="-342900">
              <a:lnSpc>
                <a:spcPct val="200000"/>
              </a:lnSpc>
            </a:pPr>
            <a:r>
              <a:rPr lang="en-IN" altLang="en-US" sz="2400" b="1" dirty="0">
                <a:latin typeface="Times New Roman" panose="02020603050405020304" pitchFamily="18" charset="0"/>
                <a:cs typeface="Times New Roman" panose="02020603050405020304" pitchFamily="18" charset="0"/>
              </a:rPr>
              <a:t>4. </a:t>
            </a:r>
            <a:r>
              <a:rPr lang="en-US" altLang="en-US" sz="2400" b="1" dirty="0">
                <a:latin typeface="Times New Roman" panose="02020603050405020304" pitchFamily="18" charset="0"/>
                <a:cs typeface="Times New Roman" panose="02020603050405020304" pitchFamily="18" charset="0"/>
              </a:rPr>
              <a:t>What is a binary heap, and how is it used in Heap Sort?</a:t>
            </a:r>
            <a:endParaRPr lang="en-US" altLang="en-US" sz="2400" b="1" dirty="0">
              <a:latin typeface="Times New Roman" panose="02020603050405020304" pitchFamily="18" charset="0"/>
              <a:cs typeface="Times New Roman" panose="02020603050405020304" pitchFamily="18" charset="0"/>
            </a:endParaRPr>
          </a:p>
          <a:p>
            <a:pPr marL="342900" indent="-342900">
              <a:lnSpc>
                <a:spcPct val="200000"/>
              </a:lnSpc>
            </a:pPr>
            <a:r>
              <a:rPr lang="en-IN" altLang="en-US" sz="2400" b="1" dirty="0">
                <a:latin typeface="Times New Roman" panose="02020603050405020304" pitchFamily="18" charset="0"/>
                <a:cs typeface="Times New Roman" panose="02020603050405020304" pitchFamily="18" charset="0"/>
              </a:rPr>
              <a:t>5. </a:t>
            </a:r>
            <a:r>
              <a:rPr lang="en-US" altLang="en-US" sz="2400" b="1" dirty="0">
                <a:latin typeface="Times New Roman" panose="02020603050405020304" pitchFamily="18" charset="0"/>
                <a:cs typeface="Times New Roman" panose="02020603050405020304" pitchFamily="18" charset="0"/>
              </a:rPr>
              <a:t>What is a binary heap, and how is it used in Heap Sort?</a:t>
            </a:r>
            <a:endParaRPr lang="en-US" altLang="en-US" sz="2400" b="1" dirty="0">
              <a:latin typeface="Times New Roman" panose="02020603050405020304" pitchFamily="18" charset="0"/>
              <a:cs typeface="Times New Roman" panose="02020603050405020304" pitchFamily="18" charset="0"/>
            </a:endParaRPr>
          </a:p>
          <a:p>
            <a:pPr marL="342900" indent="-342900">
              <a:lnSpc>
                <a:spcPct val="200000"/>
              </a:lnSpc>
            </a:pPr>
            <a:r>
              <a:rPr lang="en-IN" altLang="en-US" sz="2400" b="1" dirty="0">
                <a:latin typeface="Times New Roman" panose="02020603050405020304" pitchFamily="18" charset="0"/>
                <a:cs typeface="Times New Roman" panose="02020603050405020304" pitchFamily="18" charset="0"/>
              </a:rPr>
              <a:t>6. </a:t>
            </a:r>
            <a:r>
              <a:rPr lang="en-US" altLang="en-US" sz="2400" b="1" dirty="0">
                <a:latin typeface="Times New Roman" panose="02020603050405020304" pitchFamily="18" charset="0"/>
                <a:cs typeface="Times New Roman" panose="02020603050405020304" pitchFamily="18" charset="0"/>
              </a:rPr>
              <a:t>Explain the process of heapifying an array.</a:t>
            </a:r>
            <a:endParaRPr lang="en-US" altLang="en-US" sz="2400" b="1" dirty="0">
              <a:latin typeface="Times New Roman" panose="02020603050405020304" pitchFamily="18"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4662815"/>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Data structures using c By Reema Thareja</a:t>
            </a:r>
            <a:endParaRPr lang="en-US" dirty="0"/>
          </a:p>
          <a:p>
            <a:pPr>
              <a:lnSpc>
                <a:spcPct val="150000"/>
              </a:lnSpc>
            </a:pPr>
            <a:r>
              <a:rPr lang="en-US" dirty="0"/>
              <a:t>2. Data structure through c by Yashavant Kanetkar</a:t>
            </a:r>
            <a:endParaRPr lang="en-US" dirty="0"/>
          </a:p>
          <a:p>
            <a:pPr>
              <a:lnSpc>
                <a:spcPct val="150000"/>
              </a:lnSpc>
            </a:pPr>
            <a:r>
              <a:rPr lang="en-US" dirty="0"/>
              <a:t>3. Data Structure and Algorithms by Bala Guruswamy</a:t>
            </a:r>
            <a:endParaRPr lang="en-US" dirty="0"/>
          </a:p>
          <a:p>
            <a:pPr>
              <a:lnSpc>
                <a:spcPct val="150000"/>
              </a:lnSpc>
            </a:pPr>
            <a:endParaRPr lang="en-US" dirty="0"/>
          </a:p>
          <a:p>
            <a:pPr>
              <a:lnSpc>
                <a:spcPct val="150000"/>
              </a:lnSpc>
            </a:pPr>
            <a:r>
              <a:rPr lang="en-US" b="1" dirty="0"/>
              <a:t>Sites and Web links:</a:t>
            </a:r>
            <a:endParaRPr lang="en-US" b="1" dirty="0"/>
          </a:p>
          <a:p>
            <a:pPr>
              <a:lnSpc>
                <a:spcPct val="150000"/>
              </a:lnSpc>
            </a:pPr>
            <a:r>
              <a:rPr lang="en-US" dirty="0"/>
              <a:t>1. https://www.amazon.com/gp/product/0521880378/</a:t>
            </a:r>
            <a:endParaRPr lang="en-US" dirty="0"/>
          </a:p>
          <a:p>
            <a:pPr>
              <a:lnSpc>
                <a:spcPct val="150000"/>
              </a:lnSpc>
            </a:pPr>
            <a:r>
              <a:rPr lang="en-US" dirty="0"/>
              <a:t>2. https://www.amazon.in/Structures-Through-Second-Revised-Update/dp/B09FZH2KNZ/ref=sr_1_6?qid=1670557445&amp;refinements=p_27%3AS.K.Srivastava%2FDeepali+Srivastava&amp;s=books&amp;sr=1-6</a:t>
            </a: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Course Name</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datastoreItem>
</file>

<file path=customXml/itemProps2.xml><?xml version="1.0" encoding="utf-8"?>
<ds:datastoreItem xmlns:ds="http://schemas.openxmlformats.org/officeDocument/2006/customXml" ds:itemID="{3DA00F5F-5366-4B1C-9406-30DECA796ABB}">
  <ds:schemaRefs/>
</ds:datastoreItem>
</file>

<file path=customXml/itemProps3.xml><?xml version="1.0" encoding="utf-8"?>
<ds:datastoreItem xmlns:ds="http://schemas.openxmlformats.org/officeDocument/2006/customXml" ds:itemID="{EBBD0A98-E68B-4DAA-8964-2F739D6D4075}">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5524</Words>
  <Application>WPS Presentation</Application>
  <PresentationFormat>Widescreen</PresentationFormat>
  <Paragraphs>240</Paragraphs>
  <Slides>24</Slides>
  <Notes>4</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24</vt:i4>
      </vt:variant>
    </vt:vector>
  </HeadingPairs>
  <TitlesOfParts>
    <vt:vector size="41" baseType="lpstr">
      <vt:lpstr>Arial</vt:lpstr>
      <vt:lpstr>SimSun</vt:lpstr>
      <vt:lpstr>Wingdings</vt:lpstr>
      <vt:lpstr>Arial</vt:lpstr>
      <vt:lpstr>Calibri</vt:lpstr>
      <vt:lpstr>Poppins</vt:lpstr>
      <vt:lpstr>Segoe Print</vt:lpstr>
      <vt:lpstr>BioRhyme ExtraBold</vt:lpstr>
      <vt:lpstr>Poppins</vt:lpstr>
      <vt:lpstr>Poppins</vt:lpstr>
      <vt:lpstr>Times New Roman</vt:lpstr>
      <vt:lpstr>urw-din</vt:lpstr>
      <vt:lpstr>Microsoft YaHei</vt:lpstr>
      <vt:lpstr>Arial Unicode MS</vt:lpstr>
      <vt:lpstr>Calibri</vt:lpstr>
      <vt:lpstr>1_Office Theme</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google1594196626</cp:lastModifiedBy>
  <cp:revision>108</cp:revision>
  <dcterms:created xsi:type="dcterms:W3CDTF">2020-02-08T09:57:00Z</dcterms:created>
  <dcterms:modified xsi:type="dcterms:W3CDTF">2024-12-16T08:46:57Z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A80941B195BF4D73A6FDF45D181D850D_13</vt:lpwstr>
  </property>
  <property fmtid="{D5CDD505-2E9C-101B-9397-08002B2CF9AE}" pid="4" name="KSOProductBuildVer">
    <vt:lpwstr>1033-12.2.0.19307</vt:lpwstr>
  </property>
</Properties>
</file>