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8"/>
  </p:notesMasterIdLst>
  <p:sldIdLst>
    <p:sldId id="271" r:id="rId5"/>
    <p:sldId id="300" r:id="rId6"/>
    <p:sldId id="258" r:id="rId7"/>
    <p:sldId id="314" r:id="rId8"/>
    <p:sldId id="315" r:id="rId9"/>
    <p:sldId id="316" r:id="rId10"/>
    <p:sldId id="288" r:id="rId11"/>
    <p:sldId id="317" r:id="rId12"/>
    <p:sldId id="318" r:id="rId13"/>
    <p:sldId id="319" r:id="rId14"/>
    <p:sldId id="320" r:id="rId15"/>
    <p:sldId id="321" r:id="rId16"/>
    <p:sldId id="322" r:id="rId17"/>
    <p:sldId id="323" r:id="rId18"/>
    <p:sldId id="324" r:id="rId19"/>
    <p:sldId id="325" r:id="rId20"/>
    <p:sldId id="299" r:id="rId21"/>
    <p:sldId id="285" r:id="rId22"/>
    <p:sldId id="287" r:id="rId23"/>
    <p:sldId id="301" r:id="rId24"/>
    <p:sldId id="302" r:id="rId25"/>
    <p:sldId id="303" r:id="rId26"/>
    <p:sldId id="30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hna Suresh B V N V" userId="46cc3a3c-d6e3-4f9f-b2e6-2a3b85efca88" providerId="ADAL" clId="{9298DED1-B93A-44D2-AEF5-E4675D0551A6}"/>
    <pc:docChg chg="modSld">
      <pc:chgData name="Krishna Suresh B V N V" userId="46cc3a3c-d6e3-4f9f-b2e6-2a3b85efca88" providerId="ADAL" clId="{9298DED1-B93A-44D2-AEF5-E4675D0551A6}" dt="2024-12-16T10:55:26.046" v="5" actId="20577"/>
      <pc:docMkLst>
        <pc:docMk/>
      </pc:docMkLst>
      <pc:sldChg chg="modSp mod">
        <pc:chgData name="Krishna Suresh B V N V" userId="46cc3a3c-d6e3-4f9f-b2e6-2a3b85efca88" providerId="ADAL" clId="{9298DED1-B93A-44D2-AEF5-E4675D0551A6}" dt="2024-12-16T10:55:26.046" v="5" actId="20577"/>
        <pc:sldMkLst>
          <pc:docMk/>
          <pc:sldMk cId="0" sldId="271"/>
        </pc:sldMkLst>
        <pc:spChg chg="mod">
          <ac:chgData name="Krishna Suresh B V N V" userId="46cc3a3c-d6e3-4f9f-b2e6-2a3b85efca88" providerId="ADAL" clId="{9298DED1-B93A-44D2-AEF5-E4675D0551A6}" dt="2024-12-16T10:55:26.046" v="5" actId="20577"/>
          <ac:spMkLst>
            <pc:docMk/>
            <pc:sldMk cId="0" sldId="271"/>
            <ac:spMk id="8" creationId="{7153E61F-4441-DBE3-3DFF-6E9EF6C48D23}"/>
          </ac:spMkLst>
        </pc:spChg>
        <pc:spChg chg="mod">
          <ac:chgData name="Krishna Suresh B V N V" userId="46cc3a3c-d6e3-4f9f-b2e6-2a3b85efca88" providerId="ADAL" clId="{9298DED1-B93A-44D2-AEF5-E4675D0551A6}" dt="2024-12-16T10:17:09.465" v="3" actId="20577"/>
          <ac:spMkLst>
            <pc:docMk/>
            <pc:sldMk cId="0" sldId="271"/>
            <ac:spMk id="47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a:t>
            </a:fld>
            <a:endParaRPr lang="en-US"/>
          </a:p>
        </p:txBody>
      </p:sp>
    </p:spTree>
    <p:extLst>
      <p:ext uri="{BB962C8B-B14F-4D97-AF65-F5344CB8AC3E}">
        <p14:creationId xmlns:p14="http://schemas.microsoft.com/office/powerpoint/2010/main" val="3199009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5</a:t>
            </a:fld>
            <a:endParaRPr lang="en-US"/>
          </a:p>
        </p:txBody>
      </p:sp>
    </p:spTree>
    <p:extLst>
      <p:ext uri="{BB962C8B-B14F-4D97-AF65-F5344CB8AC3E}">
        <p14:creationId xmlns:p14="http://schemas.microsoft.com/office/powerpoint/2010/main" val="871523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6</a:t>
            </a:fld>
            <a:endParaRPr lang="en-US"/>
          </a:p>
        </p:txBody>
      </p:sp>
    </p:spTree>
    <p:extLst>
      <p:ext uri="{BB962C8B-B14F-4D97-AF65-F5344CB8AC3E}">
        <p14:creationId xmlns:p14="http://schemas.microsoft.com/office/powerpoint/2010/main" val="923593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37582"/>
            <a:ext cx="6027459" cy="6623931"/>
          </a:xfrm>
          <a:prstGeom prst="rect">
            <a:avLst/>
          </a:prstGeom>
          <a:noFill/>
          <a:ln>
            <a:noFill/>
          </a:ln>
        </p:spPr>
      </p:pic>
      <p:sp>
        <p:nvSpPr>
          <p:cNvPr id="476" name="Google Shape;476;p16"/>
          <p:cNvSpPr txBox="1"/>
          <p:nvPr/>
        </p:nvSpPr>
        <p:spPr>
          <a:xfrm>
            <a:off x="5394455" y="1944294"/>
            <a:ext cx="6601602" cy="3416279"/>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solidFill>
              </a:rPr>
              <a:t>Data Structures</a:t>
            </a:r>
            <a:endParaRPr lang="en-IN" sz="3200" b="1" dirty="0">
              <a:solidFill>
                <a:schemeClr val="accent1"/>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 </a:t>
            </a:r>
            <a:r>
              <a:rPr lang="en-US" sz="3200" b="1" dirty="0">
                <a:solidFill>
                  <a:schemeClr val="accent1"/>
                </a:solidFill>
              </a:rPr>
              <a:t>24SC1203</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Name of the topic: </a:t>
            </a:r>
          </a:p>
          <a:p>
            <a:pPr marR="0" lvl="0" indent="0" algn="ctr">
              <a:spcBef>
                <a:spcPts val="0"/>
              </a:spcBef>
              <a:spcAft>
                <a:spcPts val="0"/>
              </a:spcAft>
              <a:buNone/>
            </a:pPr>
            <a:r>
              <a:rPr lang="en-US" sz="4000" b="1" dirty="0">
                <a:solidFill>
                  <a:srgbClr val="00B0F0"/>
                </a:solidFill>
                <a:latin typeface="Times New Roman" pitchFamily="18" charset="0"/>
                <a:cs typeface="Times New Roman" pitchFamily="18" charset="0"/>
              </a:rPr>
              <a:t>Infix to Postfix Conversion  </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080955" y="6154717"/>
            <a:ext cx="2235116" cy="487553"/>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16</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706126"/>
            <a:ext cx="10731286" cy="78675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Times New Roman" panose="02020603050405020304" pitchFamily="18" charset="0"/>
                <a:cs typeface="Times New Roman" panose="02020603050405020304" pitchFamily="18" charset="0"/>
              </a:rPr>
              <a:t>To familiarize students with the basic concept of</a:t>
            </a:r>
            <a:r>
              <a:rPr lang="en-US" sz="1600" dirty="0">
                <a:latin typeface="Times New Roman" panose="02020603050405020304" pitchFamily="18" charset="0"/>
                <a:cs typeface="Times New Roman" panose="02020603050405020304" pitchFamily="18" charset="0"/>
              </a:rPr>
              <a:t> Infix notation . The aim of converting an infix expression to a postfix expression is primarily related to the way mathematical expressions are evaluated by computers</a:t>
            </a:r>
            <a:endParaRPr lang="en-US" sz="1600" b="0" i="0" dirty="0">
              <a:effectLst/>
              <a:latin typeface="Times New Roman" panose="02020603050405020304" pitchFamily="18" charset="0"/>
              <a:cs typeface="Times New Roman" panose="02020603050405020304" pitchFamily="18" charset="0"/>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The </a:t>
            </a:r>
            <a:r>
              <a:rPr lang="en-US" sz="1600" dirty="0">
                <a:latin typeface="Arial" panose="020B0604020202020204" pitchFamily="34" charset="0"/>
              </a:rPr>
              <a:t>infix to postfix conversion</a:t>
            </a:r>
          </a:p>
          <a:p>
            <a:pPr marL="342900" indent="-342900">
              <a:buAutoNum type="arabicPeriod"/>
            </a:pPr>
            <a:r>
              <a:rPr lang="en-US" sz="1600" dirty="0">
                <a:latin typeface="Arial" panose="020B0604020202020204" pitchFamily="34" charset="0"/>
              </a:rPr>
              <a:t>What is Postfix expression?</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Different methods to convert infix expression to the postfix expression</a:t>
            </a:r>
            <a:r>
              <a:rPr lang="en-US" sz="1600" b="0" i="0" dirty="0">
                <a:effectLst/>
                <a:latin typeface="Arial" panose="020B0604020202020204" pitchFamily="34" charset="0"/>
              </a:rPr>
              <a:t>.</a:t>
            </a:r>
          </a:p>
          <a:p>
            <a:pPr marL="342900" indent="-342900">
              <a:buAutoNum type="arabicPeriod"/>
            </a:pPr>
            <a:r>
              <a:rPr lang="en-US" sz="1600" dirty="0">
                <a:latin typeface="Arial"/>
                <a:cs typeface="Arial"/>
              </a:rPr>
              <a:t>Algorithm to convert infix to postfix</a:t>
            </a:r>
          </a:p>
          <a:p>
            <a:pPr marL="342900" indent="-342900">
              <a:buAutoNum type="arabicPeriod"/>
            </a:pPr>
            <a:r>
              <a:rPr lang="en-US" sz="1600" dirty="0">
                <a:latin typeface="Arial"/>
                <a:cs typeface="Arial"/>
              </a:rPr>
              <a:t>How to convert infix to postfix using stack</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94002"/>
            <a:ext cx="8791575" cy="212365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and </a:t>
            </a:r>
            <a:r>
              <a:rPr lang="en-US" sz="1600" b="1" dirty="0"/>
              <a:t>Simplifying the </a:t>
            </a:r>
            <a:r>
              <a:rPr lang="en-US" sz="1600" dirty="0">
                <a:latin typeface="Arial" panose="020B0604020202020204" pitchFamily="34" charset="0"/>
              </a:rPr>
              <a:t>infix to postfix</a:t>
            </a:r>
            <a:r>
              <a:rPr lang="en-US" sz="1600" b="1" dirty="0"/>
              <a:t> Expression Evaluation</a:t>
            </a:r>
          </a:p>
          <a:p>
            <a:pPr marL="342900" indent="-342900">
              <a:buAutoNum type="arabicPeriod"/>
            </a:pPr>
            <a:r>
              <a:rPr lang="en-US" sz="1600" b="1" dirty="0"/>
              <a:t>Understanding of Notations</a:t>
            </a:r>
          </a:p>
          <a:p>
            <a:pPr marL="342900" indent="-342900">
              <a:buAutoNum type="arabicPeriod"/>
            </a:pPr>
            <a:r>
              <a:rPr lang="en-US" sz="1600" dirty="0"/>
              <a:t>Learn how to use a stack data structure to manage operators and operands during the conversion process.</a:t>
            </a:r>
          </a:p>
          <a:p>
            <a:pPr marL="342900" indent="-342900">
              <a:buAutoNum type="arabicPeriod"/>
            </a:pPr>
            <a:r>
              <a:rPr lang="en-US" sz="1600" dirty="0"/>
              <a:t>Enhance algorithmic thinking by designing and implementing an algorithm for converting infix to postfix expressions.</a:t>
            </a:r>
            <a:endParaRPr lang="en-US" sz="1600" b="1" dirty="0"/>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INFIX TO POSTFIX EXPRESSION </a:t>
            </a:r>
            <a:r>
              <a:rPr lang="en-US" sz="2400" dirty="0">
                <a:latin typeface="Times New Roman" panose="02020603050405020304" pitchFamily="18" charset="0"/>
                <a:cs typeface="Times New Roman" panose="02020603050405020304" pitchFamily="18" charset="0"/>
              </a:rPr>
              <a:t>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465781"/>
            <a:ext cx="11644983" cy="4524315"/>
          </a:xfrm>
          <a:prstGeom prst="rect">
            <a:avLst/>
          </a:prstGeom>
          <a:noFill/>
        </p:spPr>
        <p:txBody>
          <a:bodyPr wrap="square" rtlCol="0">
            <a:spAutoFit/>
          </a:bodyPr>
          <a:lstStyle/>
          <a:p>
            <a:pPr algn="just">
              <a:buFont typeface="Wingdings" pitchFamily="2" charset="2"/>
              <a:buChar char="Ø"/>
            </a:pPr>
            <a:r>
              <a:rPr lang="en-IN" sz="3200" dirty="0"/>
              <a:t> </a:t>
            </a:r>
            <a:r>
              <a:rPr lang="en-US" sz="3200" b="1" i="1" dirty="0"/>
              <a:t>Infix expression:</a:t>
            </a:r>
            <a:r>
              <a:rPr lang="en-US" sz="3200" i="1" dirty="0"/>
              <a:t> The expression of the form “a operator b” </a:t>
            </a:r>
          </a:p>
          <a:p>
            <a:pPr algn="just"/>
            <a:r>
              <a:rPr lang="en-US" sz="3200" i="1" dirty="0"/>
              <a:t>(a + b) i.e., when an operator is in-between every pair of operands.</a:t>
            </a:r>
          </a:p>
          <a:p>
            <a:pPr algn="just"/>
            <a:br>
              <a:rPr lang="en-US" sz="3200" dirty="0"/>
            </a:br>
            <a:r>
              <a:rPr lang="en-US" sz="3200" b="1" i="1" dirty="0"/>
              <a:t>Postfix expression:</a:t>
            </a:r>
            <a:r>
              <a:rPr lang="en-US" sz="3200" i="1" dirty="0"/>
              <a:t> The expression of the form “a b operator” (ab+) i.e., When every pair of operands is followed by an operator.</a:t>
            </a:r>
          </a:p>
          <a:p>
            <a:pPr algn="just"/>
            <a:r>
              <a:rPr lang="en-US" sz="3200" i="1" dirty="0"/>
              <a:t>Example:</a:t>
            </a:r>
          </a:p>
          <a:p>
            <a:pPr algn="just"/>
            <a:r>
              <a:rPr lang="en-US" sz="3200" i="1" dirty="0"/>
              <a:t>Input: ((A + B) – C * (D / E)) + F</a:t>
            </a:r>
          </a:p>
          <a:p>
            <a:pPr algn="just"/>
            <a:r>
              <a:rPr lang="en-US" sz="3200" i="1" dirty="0"/>
              <a:t>Output: AB+CDE/*-F+</a:t>
            </a:r>
          </a:p>
          <a:p>
            <a:pPr algn="just"/>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104902" y="200175"/>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a:cs typeface="Arial"/>
              </a:rPr>
              <a:t>ALGORITHM TO CONVERT INFIX TO POSTFIX</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621895"/>
            <a:ext cx="11644983" cy="4832092"/>
          </a:xfrm>
          <a:prstGeom prst="rect">
            <a:avLst/>
          </a:prstGeom>
          <a:solidFill>
            <a:schemeClr val="bg1"/>
          </a:solidFill>
        </p:spPr>
        <p:txBody>
          <a:bodyPr wrap="square" rtlCol="0">
            <a:spAutoFit/>
          </a:bodyPr>
          <a:lstStyle/>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Scan the infix expression </a:t>
            </a:r>
            <a:r>
              <a:rPr lang="en-US" sz="2800" b="1" dirty="0">
                <a:latin typeface="Times New Roman" panose="02020603050405020304" pitchFamily="18" charset="0"/>
                <a:cs typeface="Times New Roman" panose="02020603050405020304" pitchFamily="18" charset="0"/>
              </a:rPr>
              <a:t>from left to right</a:t>
            </a:r>
            <a:r>
              <a:rPr lang="en-US" sz="2800" dirty="0">
                <a:latin typeface="Times New Roman" panose="02020603050405020304" pitchFamily="18" charset="0"/>
                <a:cs typeface="Times New Roman" panose="02020603050405020304" pitchFamily="18" charset="0"/>
              </a:rPr>
              <a:t>. </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If the scanned character is an operand, put it in the postfix expression. </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If the precedence and associativity of the scanned operator are greater than the precedence and associativity of the operator in the stack [or the stack is empty or the stack contains a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 then push it in the stack.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operator is right associative and other operators like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are left-associative. </a:t>
            </a:r>
          </a:p>
          <a:p>
            <a:pPr marL="514350" indent="-514350" fontAlgn="base">
              <a:buFont typeface="+mj-lt"/>
              <a:buAutoNum type="alphaLcPeriod"/>
            </a:pPr>
            <a:r>
              <a:rPr lang="en-US" sz="2800" dirty="0">
                <a:latin typeface="Times New Roman" panose="02020603050405020304" pitchFamily="18" charset="0"/>
                <a:cs typeface="Times New Roman" panose="02020603050405020304" pitchFamily="18" charset="0"/>
              </a:rPr>
              <a:t>Check especially for a condition when the operator at the top of the stack and the scanned operator both are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In this condition, the precedence of the scanned operator is higher due to its right associativity. So it will be pushed into the operator stack.</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2521744024"/>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904180" y="200175"/>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a:cs typeface="Arial"/>
              </a:rPr>
              <a:t>ALGORITHM ……contd.,</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465781"/>
            <a:ext cx="11644983" cy="5262979"/>
          </a:xfrm>
          <a:prstGeom prst="rect">
            <a:avLst/>
          </a:prstGeom>
          <a:solidFill>
            <a:schemeClr val="bg1"/>
          </a:solidFill>
        </p:spPr>
        <p:txBody>
          <a:bodyPr wrap="square" rtlCol="0">
            <a:spAutoFit/>
          </a:bodyPr>
          <a:lstStyle/>
          <a:p>
            <a:pPr marL="534988" indent="-534988" algn="just" fontAlgn="base"/>
            <a:r>
              <a:rPr lang="en-US" sz="2800" dirty="0">
                <a:latin typeface="Times New Roman" panose="02020603050405020304" pitchFamily="18" charset="0"/>
                <a:cs typeface="Times New Roman" panose="02020603050405020304" pitchFamily="18" charset="0"/>
              </a:rPr>
              <a:t>b.  Check especially for a condition when the operator at the top of the stack   and the scanned operator both are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In this condition, the precedence of the scanned operator is higher due to its right associativity. So it will be pushed into the operator stack.</a:t>
            </a:r>
            <a:r>
              <a:rPr lang="en-US" sz="2800" dirty="0"/>
              <a:t> </a:t>
            </a:r>
          </a:p>
          <a:p>
            <a:pPr marL="514350" indent="-514350" algn="just" fontAlgn="base">
              <a:buAutoNum type="alphaLcPeriod" startAt="3"/>
            </a:pPr>
            <a:r>
              <a:rPr lang="en-US" sz="2800" dirty="0"/>
              <a:t>In all the other cases when the top of the operator stack is the same as the scanned operator, then pop the operator from the stack because of left associativity due to which the scanned operator has less precedence.</a:t>
            </a:r>
          </a:p>
          <a:p>
            <a:pPr marL="514350" indent="-514350" algn="just" fontAlgn="base">
              <a:buAutoNum type="alphaLcPeriod" startAt="3"/>
            </a:pPr>
            <a:r>
              <a:rPr lang="en-US" sz="2800" dirty="0"/>
              <a:t>Else, Pop all the operators from the stack which are greater than or equal to in precedence than that of the scanned operator. </a:t>
            </a:r>
          </a:p>
          <a:p>
            <a:pPr marL="514350" indent="-514350" algn="just" fontAlgn="base">
              <a:buAutoNum type="alphaLcPeriod" startAt="3"/>
            </a:pPr>
            <a:r>
              <a:rPr lang="en-US" sz="2800" dirty="0"/>
              <a:t>After doing that Push the scanned operator to the stack. (If you encounter parenthesis while popping then stop there and push the scanned operator in the stack.)</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1076374759"/>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339079" y="200175"/>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a:cs typeface="Arial"/>
              </a:rPr>
              <a:t>ALGORITHM ……contd.,</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811468"/>
            <a:ext cx="11644983" cy="4539191"/>
          </a:xfrm>
          <a:prstGeom prst="rect">
            <a:avLst/>
          </a:prstGeom>
          <a:solidFill>
            <a:schemeClr val="bg1"/>
          </a:solidFill>
        </p:spPr>
        <p:txBody>
          <a:bodyPr wrap="square" rtlCol="0">
            <a:spAutoFit/>
          </a:bodyPr>
          <a:lstStyle/>
          <a:p>
            <a:pPr fontAlgn="base">
              <a:lnSpc>
                <a:spcPct val="150000"/>
              </a:lnSpc>
            </a:pPr>
            <a:r>
              <a:rPr lang="en-US" sz="2800" dirty="0">
                <a:latin typeface="Times New Roman" panose="02020603050405020304" pitchFamily="18" charset="0"/>
                <a:cs typeface="Times New Roman" panose="02020603050405020304" pitchFamily="18" charset="0"/>
              </a:rPr>
              <a:t>4. If the scanned character is a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push it to the stack. </a:t>
            </a:r>
          </a:p>
          <a:p>
            <a:pPr fontAlgn="base">
              <a:lnSpc>
                <a:spcPct val="150000"/>
              </a:lnSpc>
            </a:pPr>
            <a:r>
              <a:rPr lang="en-US" sz="2800" dirty="0">
                <a:latin typeface="Times New Roman" panose="02020603050405020304" pitchFamily="18" charset="0"/>
                <a:cs typeface="Times New Roman" panose="02020603050405020304" pitchFamily="18" charset="0"/>
              </a:rPr>
              <a:t>5. If the scanned character is a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pop the stack and output it until a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is   	encountered, and discard both the parenthesis. </a:t>
            </a:r>
          </a:p>
          <a:p>
            <a:pPr fontAlgn="base">
              <a:lnSpc>
                <a:spcPct val="150000"/>
              </a:lnSpc>
            </a:pPr>
            <a:r>
              <a:rPr lang="en-US" sz="2800" dirty="0">
                <a:latin typeface="Times New Roman" panose="02020603050405020304" pitchFamily="18" charset="0"/>
                <a:cs typeface="Times New Roman" panose="02020603050405020304" pitchFamily="18" charset="0"/>
              </a:rPr>
              <a:t>6. Repeat steps </a:t>
            </a:r>
            <a:r>
              <a:rPr lang="en-US" sz="2800" b="1" dirty="0">
                <a:latin typeface="Times New Roman" panose="02020603050405020304" pitchFamily="18" charset="0"/>
                <a:cs typeface="Times New Roman" panose="02020603050405020304" pitchFamily="18" charset="0"/>
              </a:rPr>
              <a:t>2-5</a:t>
            </a:r>
            <a:r>
              <a:rPr lang="en-US" sz="2800" dirty="0">
                <a:latin typeface="Times New Roman" panose="02020603050405020304" pitchFamily="18" charset="0"/>
                <a:cs typeface="Times New Roman" panose="02020603050405020304" pitchFamily="18" charset="0"/>
              </a:rPr>
              <a:t> until the infix expression is scanned. </a:t>
            </a:r>
          </a:p>
          <a:p>
            <a:pPr fontAlgn="base">
              <a:lnSpc>
                <a:spcPct val="150000"/>
              </a:lnSpc>
            </a:pPr>
            <a:r>
              <a:rPr lang="en-US" sz="2800" dirty="0">
                <a:latin typeface="Times New Roman" panose="02020603050405020304" pitchFamily="18" charset="0"/>
                <a:cs typeface="Times New Roman" panose="02020603050405020304" pitchFamily="18" charset="0"/>
              </a:rPr>
              <a:t>7. Once the scanning is over, Pop the stack and add the operators in the postfix expression until it is not empty.</a:t>
            </a:r>
          </a:p>
          <a:p>
            <a:pPr fontAlgn="base">
              <a:lnSpc>
                <a:spcPct val="150000"/>
              </a:lnSpc>
            </a:pPr>
            <a:r>
              <a:rPr lang="en-US" sz="2800" dirty="0">
                <a:latin typeface="Times New Roman" panose="02020603050405020304" pitchFamily="18" charset="0"/>
                <a:cs typeface="Times New Roman" panose="02020603050405020304" pitchFamily="18" charset="0"/>
              </a:rPr>
              <a:t>8. Finally, print the postfix expression.</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3297918429"/>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0" y="300038"/>
            <a:ext cx="9656955" cy="129458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Examples of Infix  to Postfix Expression</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i="1" dirty="0"/>
              <a:t>Consider the infix expression </a:t>
            </a:r>
            <a:r>
              <a:rPr lang="en-US" b="1" i="1" dirty="0"/>
              <a:t>exp = “</a:t>
            </a:r>
            <a:r>
              <a:rPr lang="en-US" b="1" i="1" dirty="0" err="1"/>
              <a:t>a+b</a:t>
            </a:r>
            <a:r>
              <a:rPr lang="en-US" b="1" i="1" dirty="0"/>
              <a:t>*</a:t>
            </a:r>
            <a:r>
              <a:rPr lang="en-US" b="1" i="1" dirty="0" err="1"/>
              <a:t>c+d</a:t>
            </a:r>
            <a:r>
              <a:rPr lang="en-US" b="1" i="1" dirty="0"/>
              <a:t>”</a:t>
            </a:r>
          </a:p>
          <a:p>
            <a:r>
              <a:rPr lang="en-US" b="1" i="1" dirty="0"/>
              <a:t>1st Step:</a:t>
            </a:r>
            <a:r>
              <a:rPr lang="en-US" i="1" dirty="0"/>
              <a:t> Here </a:t>
            </a:r>
            <a:r>
              <a:rPr lang="en-US" i="1" dirty="0" err="1"/>
              <a:t>i</a:t>
            </a:r>
            <a:r>
              <a:rPr lang="en-US" i="1" dirty="0"/>
              <a:t> = 0 and </a:t>
            </a:r>
            <a:r>
              <a:rPr lang="en-US" i="1" dirty="0" err="1"/>
              <a:t>exp</a:t>
            </a:r>
            <a:r>
              <a:rPr lang="en-US" i="1" dirty="0"/>
              <a:t>[</a:t>
            </a:r>
            <a:r>
              <a:rPr lang="en-US" i="1" dirty="0" err="1"/>
              <a:t>i</a:t>
            </a:r>
            <a:r>
              <a:rPr lang="en-US" i="1" dirty="0"/>
              <a:t>] = ‘a’ i.e., an operand. So add this in the postfix expression. Therefore, </a:t>
            </a:r>
            <a:r>
              <a:rPr lang="en-US" b="1" i="1" dirty="0"/>
              <a:t>postfix = “a”</a:t>
            </a:r>
            <a:r>
              <a:rPr lang="en-US" i="1" dirty="0"/>
              <a:t>.</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1281" y="3246634"/>
            <a:ext cx="4812980" cy="2604786"/>
          </a:xfrm>
          <a:prstGeom prst="rect">
            <a:avLst/>
          </a:prstGeom>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Examples of Infix  to Postfix Expression…contd.,</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b="1" i="1" dirty="0"/>
              <a:t>2nd Step:</a:t>
            </a:r>
            <a:r>
              <a:rPr lang="en-US" i="1" dirty="0"/>
              <a:t> Here </a:t>
            </a:r>
            <a:r>
              <a:rPr lang="en-US" i="1" dirty="0" err="1"/>
              <a:t>i</a:t>
            </a:r>
            <a:r>
              <a:rPr lang="en-US" i="1" dirty="0"/>
              <a:t> = 1 and </a:t>
            </a:r>
            <a:r>
              <a:rPr lang="en-US" i="1" dirty="0" err="1"/>
              <a:t>exp</a:t>
            </a:r>
            <a:r>
              <a:rPr lang="en-US" i="1" dirty="0"/>
              <a:t>[</a:t>
            </a:r>
            <a:r>
              <a:rPr lang="en-US" i="1" dirty="0" err="1"/>
              <a:t>i</a:t>
            </a:r>
            <a:r>
              <a:rPr lang="en-US" i="1" dirty="0"/>
              <a:t>] = ‘+’ i.e., an operator. Push this into the stack. </a:t>
            </a:r>
            <a:r>
              <a:rPr lang="en-US" b="1" i="1" dirty="0"/>
              <a:t>postfix = “a”</a:t>
            </a:r>
            <a:r>
              <a:rPr lang="en-US" i="1" dirty="0"/>
              <a:t> and </a:t>
            </a:r>
            <a:r>
              <a:rPr lang="en-US" b="1" i="1" dirty="0"/>
              <a:t>stack = {+}</a:t>
            </a:r>
            <a:r>
              <a:rPr lang="en-US" i="1" dirty="0"/>
              <a:t>.</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4764" y="2827588"/>
            <a:ext cx="6657654" cy="3213617"/>
          </a:xfrm>
          <a:prstGeom prst="rect">
            <a:avLst/>
          </a:prstGeom>
        </p:spPr>
      </p:pic>
    </p:spTree>
    <p:extLst>
      <p:ext uri="{BB962C8B-B14F-4D97-AF65-F5344CB8AC3E}">
        <p14:creationId xmlns:p14="http://schemas.microsoft.com/office/powerpoint/2010/main" val="5518703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2800" b="1" dirty="0">
                <a:solidFill>
                  <a:schemeClr val="bg1"/>
                </a:solidFill>
                <a:latin typeface="Times New Roman" pitchFamily="18" charset="0"/>
                <a:cs typeface="Times New Roman" pitchFamily="18" charset="0"/>
              </a:rPr>
              <a:t>Example of Circular Linked list with 4 nod</a:t>
            </a:r>
            <a:r>
              <a:rPr lang="en-US" sz="2800" b="1" dirty="0"/>
              <a:t> Examples of Infix  to Postfix Expression…contd.,</a:t>
            </a:r>
          </a:p>
          <a:p>
            <a:pPr algn="ctr"/>
            <a:r>
              <a:rPr lang="en-IN" sz="2800" b="1" dirty="0" err="1">
                <a:solidFill>
                  <a:schemeClr val="bg1"/>
                </a:solidFill>
                <a:latin typeface="Times New Roman" pitchFamily="18" charset="0"/>
                <a:cs typeface="Times New Roman" pitchFamily="18" charset="0"/>
              </a:rPr>
              <a:t>es</a:t>
            </a:r>
            <a:endParaRPr lang="en-US" sz="2800" dirty="0">
              <a:solidFill>
                <a:schemeClr val="bg1"/>
              </a:solidFill>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b="1" i="1" dirty="0"/>
              <a:t>3rd Step:</a:t>
            </a:r>
            <a:r>
              <a:rPr lang="en-US" i="1" dirty="0"/>
              <a:t> Now </a:t>
            </a:r>
            <a:r>
              <a:rPr lang="en-US" i="1" dirty="0" err="1"/>
              <a:t>i</a:t>
            </a:r>
            <a:r>
              <a:rPr lang="en-US" i="1" dirty="0"/>
              <a:t> = 2 and </a:t>
            </a:r>
            <a:r>
              <a:rPr lang="en-US" i="1" dirty="0" err="1"/>
              <a:t>exp</a:t>
            </a:r>
            <a:r>
              <a:rPr lang="en-US" i="1" dirty="0"/>
              <a:t>[</a:t>
            </a:r>
            <a:r>
              <a:rPr lang="en-US" i="1" dirty="0" err="1"/>
              <a:t>i</a:t>
            </a:r>
            <a:r>
              <a:rPr lang="en-US" i="1" dirty="0"/>
              <a:t>] = ‘b’ i.e., an operand. So add this in the postfix expression. </a:t>
            </a:r>
            <a:r>
              <a:rPr lang="en-US" b="1" i="1" dirty="0"/>
              <a:t>postfix = “ab”</a:t>
            </a:r>
            <a:r>
              <a:rPr lang="en-US" i="1" dirty="0"/>
              <a:t> and </a:t>
            </a:r>
            <a:r>
              <a:rPr lang="en-US" b="1" i="1" dirty="0"/>
              <a:t>stack = {+}</a:t>
            </a:r>
            <a:r>
              <a:rPr lang="en-US" i="1" dirty="0"/>
              <a:t>.</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7502" y="2824171"/>
            <a:ext cx="7112177" cy="3227308"/>
          </a:xfrm>
          <a:prstGeom prst="rect">
            <a:avLst/>
          </a:prstGeom>
        </p:spPr>
      </p:pic>
    </p:spTree>
    <p:extLst>
      <p:ext uri="{BB962C8B-B14F-4D97-AF65-F5344CB8AC3E}">
        <p14:creationId xmlns:p14="http://schemas.microsoft.com/office/powerpoint/2010/main" val="171379823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Examples of Infix  to Postfix Expression…contd.,</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b="1" i="1" dirty="0"/>
              <a:t>4th Step:</a:t>
            </a:r>
            <a:r>
              <a:rPr lang="en-US" i="1" dirty="0"/>
              <a:t> Now </a:t>
            </a:r>
            <a:r>
              <a:rPr lang="en-US" i="1" dirty="0" err="1"/>
              <a:t>i</a:t>
            </a:r>
            <a:r>
              <a:rPr lang="en-US" i="1" dirty="0"/>
              <a:t> = 3 and </a:t>
            </a:r>
            <a:r>
              <a:rPr lang="en-US" i="1" dirty="0" err="1"/>
              <a:t>exp</a:t>
            </a:r>
            <a:r>
              <a:rPr lang="en-US" i="1" dirty="0"/>
              <a:t>[</a:t>
            </a:r>
            <a:r>
              <a:rPr lang="en-US" i="1" dirty="0" err="1"/>
              <a:t>i</a:t>
            </a:r>
            <a:r>
              <a:rPr lang="en-US" i="1" dirty="0"/>
              <a:t>] = ‘*’ i.e., an operator. Push this into the stack. </a:t>
            </a:r>
            <a:r>
              <a:rPr lang="en-US" b="1" i="1" dirty="0"/>
              <a:t>postfix = “ab”</a:t>
            </a:r>
            <a:r>
              <a:rPr lang="en-US" i="1" dirty="0"/>
              <a:t> and </a:t>
            </a:r>
            <a:r>
              <a:rPr lang="en-US" b="1" i="1" dirty="0"/>
              <a:t>stack = {+, *}</a:t>
            </a:r>
            <a:r>
              <a:rPr lang="en-US" i="1" dirty="0"/>
              <a:t>.</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0458" y="2940784"/>
            <a:ext cx="6732963" cy="3236179"/>
          </a:xfrm>
          <a:prstGeom prst="rect">
            <a:avLst/>
          </a:prstGeom>
        </p:spPr>
      </p:pic>
    </p:spTree>
    <p:extLst>
      <p:ext uri="{BB962C8B-B14F-4D97-AF65-F5344CB8AC3E}">
        <p14:creationId xmlns:p14="http://schemas.microsoft.com/office/powerpoint/2010/main" val="423570606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 Examples of Infix  to Postfix Expression…contd.,</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b="1" i="1" dirty="0"/>
              <a:t>5th Step:</a:t>
            </a:r>
            <a:r>
              <a:rPr lang="en-US" i="1" dirty="0"/>
              <a:t> Now </a:t>
            </a:r>
            <a:r>
              <a:rPr lang="en-US" i="1" dirty="0" err="1"/>
              <a:t>i</a:t>
            </a:r>
            <a:r>
              <a:rPr lang="en-US" i="1" dirty="0"/>
              <a:t> = 4 and </a:t>
            </a:r>
            <a:r>
              <a:rPr lang="en-US" i="1" dirty="0" err="1"/>
              <a:t>exp</a:t>
            </a:r>
            <a:r>
              <a:rPr lang="en-US" i="1" dirty="0"/>
              <a:t>[</a:t>
            </a:r>
            <a:r>
              <a:rPr lang="en-US" i="1" dirty="0" err="1"/>
              <a:t>i</a:t>
            </a:r>
            <a:r>
              <a:rPr lang="en-US" i="1" dirty="0"/>
              <a:t>] = ‘c’ i.e., an operand. Add this in the postfix expression. </a:t>
            </a:r>
            <a:r>
              <a:rPr lang="en-US" b="1" i="1" dirty="0"/>
              <a:t>postfix = “</a:t>
            </a:r>
            <a:r>
              <a:rPr lang="en-US" b="1" i="1" dirty="0" err="1"/>
              <a:t>abc</a:t>
            </a:r>
            <a:r>
              <a:rPr lang="en-US" b="1" i="1" dirty="0"/>
              <a:t>”</a:t>
            </a:r>
            <a:r>
              <a:rPr lang="en-US" i="1" dirty="0"/>
              <a:t> and </a:t>
            </a:r>
            <a:r>
              <a:rPr lang="en-US" b="1" i="1" dirty="0"/>
              <a:t>stack = {+, *}</a:t>
            </a:r>
            <a:r>
              <a:rPr lang="en-US" i="1" dirty="0"/>
              <a:t>.</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8562" y="2831998"/>
            <a:ext cx="6150057" cy="3344965"/>
          </a:xfrm>
          <a:prstGeom prst="rect">
            <a:avLst/>
          </a:prstGeom>
        </p:spPr>
      </p:pic>
    </p:spTree>
    <p:extLst>
      <p:ext uri="{BB962C8B-B14F-4D97-AF65-F5344CB8AC3E}">
        <p14:creationId xmlns:p14="http://schemas.microsoft.com/office/powerpoint/2010/main" val="293286131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Examples of Infix  to Postfix Expression…contd.,</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b="1" i="1" dirty="0"/>
              <a:t>6th Step:</a:t>
            </a:r>
            <a:r>
              <a:rPr lang="en-US" i="1" dirty="0"/>
              <a:t> Now </a:t>
            </a:r>
            <a:r>
              <a:rPr lang="en-US" i="1" dirty="0" err="1"/>
              <a:t>i</a:t>
            </a:r>
            <a:r>
              <a:rPr lang="en-US" i="1" dirty="0"/>
              <a:t> = 5 and </a:t>
            </a:r>
            <a:r>
              <a:rPr lang="en-US" i="1" dirty="0" err="1"/>
              <a:t>exp</a:t>
            </a:r>
            <a:r>
              <a:rPr lang="en-US" i="1" dirty="0"/>
              <a:t>[</a:t>
            </a:r>
            <a:r>
              <a:rPr lang="en-US" i="1" dirty="0" err="1"/>
              <a:t>i</a:t>
            </a:r>
            <a:r>
              <a:rPr lang="en-US" i="1" dirty="0"/>
              <a:t>] = ‘+’ i.e., an operator. The topmost element of the stack has higher precedence. So pop until the stack becomes empty or the top element has less precedence. ‘*’ is popped and added in postfix. So </a:t>
            </a:r>
            <a:r>
              <a:rPr lang="en-US" b="1" i="1" dirty="0"/>
              <a:t>postfix = “</a:t>
            </a:r>
            <a:r>
              <a:rPr lang="en-US" b="1" i="1" dirty="0" err="1"/>
              <a:t>abc</a:t>
            </a:r>
            <a:r>
              <a:rPr lang="en-US" b="1" i="1" dirty="0"/>
              <a:t>*”</a:t>
            </a:r>
            <a:r>
              <a:rPr lang="en-US" i="1" dirty="0"/>
              <a:t> and </a:t>
            </a:r>
            <a:r>
              <a:rPr lang="en-US" b="1" i="1" dirty="0"/>
              <a:t>stack = {+}</a:t>
            </a:r>
            <a:r>
              <a:rPr lang="en-US" i="1" dirty="0"/>
              <a:t>.</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7025" y="3425215"/>
            <a:ext cx="7068620" cy="3340723"/>
          </a:xfrm>
          <a:prstGeom prst="rect">
            <a:avLst/>
          </a:prstGeom>
        </p:spPr>
      </p:pic>
    </p:spTree>
    <p:extLst>
      <p:ext uri="{BB962C8B-B14F-4D97-AF65-F5344CB8AC3E}">
        <p14:creationId xmlns:p14="http://schemas.microsoft.com/office/powerpoint/2010/main" val="402292395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Examples of Infix  to Postfix Expression…contd.,</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i="1" dirty="0"/>
              <a:t>Now stack is empty. So push </a:t>
            </a:r>
            <a:r>
              <a:rPr lang="en-US" b="1" i="1" dirty="0"/>
              <a:t>‘+’</a:t>
            </a:r>
            <a:r>
              <a:rPr lang="en-US" i="1" dirty="0"/>
              <a:t> in the stack. </a:t>
            </a:r>
            <a:r>
              <a:rPr lang="en-US" b="1" i="1" dirty="0"/>
              <a:t>stack = {+}</a:t>
            </a:r>
            <a:r>
              <a:rPr lang="en-US" i="1" dirty="0"/>
              <a:t>.</a:t>
            </a:r>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0725" y="2471108"/>
            <a:ext cx="7214920" cy="3705856"/>
          </a:xfrm>
          <a:prstGeom prst="rect">
            <a:avLst/>
          </a:prstGeom>
        </p:spPr>
      </p:pic>
    </p:spTree>
    <p:extLst>
      <p:ext uri="{BB962C8B-B14F-4D97-AF65-F5344CB8AC3E}">
        <p14:creationId xmlns:p14="http://schemas.microsoft.com/office/powerpoint/2010/main" val="74993087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Examples of Infix  to Postfix Expression…contd.,</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b="1" i="1" dirty="0"/>
              <a:t>7th Step:</a:t>
            </a:r>
            <a:r>
              <a:rPr lang="en-US" i="1" dirty="0"/>
              <a:t> Now </a:t>
            </a:r>
            <a:r>
              <a:rPr lang="en-US" i="1" dirty="0" err="1"/>
              <a:t>i</a:t>
            </a:r>
            <a:r>
              <a:rPr lang="en-US" i="1" dirty="0"/>
              <a:t> = 6 and </a:t>
            </a:r>
            <a:r>
              <a:rPr lang="en-US" i="1" dirty="0" err="1"/>
              <a:t>exp</a:t>
            </a:r>
            <a:r>
              <a:rPr lang="en-US" i="1" dirty="0"/>
              <a:t>[</a:t>
            </a:r>
            <a:r>
              <a:rPr lang="en-US" i="1" dirty="0" err="1"/>
              <a:t>i</a:t>
            </a:r>
            <a:r>
              <a:rPr lang="en-US" i="1" dirty="0"/>
              <a:t>] = ‘d’ i.e., an operand. Add this in the postfix expression. </a:t>
            </a:r>
            <a:r>
              <a:rPr lang="en-US" b="1" i="1" dirty="0"/>
              <a:t>postfix = “</a:t>
            </a:r>
            <a:r>
              <a:rPr lang="en-US" b="1" i="1" dirty="0" err="1"/>
              <a:t>abc</a:t>
            </a:r>
            <a:r>
              <a:rPr lang="en-US" b="1" i="1" dirty="0"/>
              <a:t>*+d”</a:t>
            </a:r>
            <a:r>
              <a:rPr lang="en-US" i="1" dirty="0"/>
              <a:t>.</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9637" y="2712378"/>
            <a:ext cx="6616556" cy="3626777"/>
          </a:xfrm>
          <a:prstGeom prst="rect">
            <a:avLst/>
          </a:prstGeom>
        </p:spPr>
      </p:pic>
    </p:spTree>
    <p:extLst>
      <p:ext uri="{BB962C8B-B14F-4D97-AF65-F5344CB8AC3E}">
        <p14:creationId xmlns:p14="http://schemas.microsoft.com/office/powerpoint/2010/main" val="366588505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Examples of Infix  to Postfix Expression…contd.,</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b="1" i="1" dirty="0"/>
              <a:t>Final Step:</a:t>
            </a:r>
            <a:r>
              <a:rPr lang="en-US" i="1" dirty="0"/>
              <a:t> Now no element is left. So empty the stack and add it in the postfix expression. </a:t>
            </a:r>
            <a:r>
              <a:rPr lang="en-US" b="1" i="1" dirty="0"/>
              <a:t>postfix = “</a:t>
            </a:r>
            <a:r>
              <a:rPr lang="en-US" b="1" i="1" dirty="0" err="1"/>
              <a:t>abc</a:t>
            </a:r>
            <a:r>
              <a:rPr lang="en-US" b="1" i="1" dirty="0"/>
              <a:t>*+d+”</a:t>
            </a:r>
            <a:r>
              <a:rPr lang="en-US" i="1" dirty="0"/>
              <a:t>.</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1" y="2763747"/>
            <a:ext cx="7592601" cy="3413215"/>
          </a:xfrm>
          <a:prstGeom prst="rect">
            <a:avLst/>
          </a:prstGeom>
        </p:spPr>
      </p:pic>
    </p:spTree>
    <p:extLst>
      <p:ext uri="{BB962C8B-B14F-4D97-AF65-F5344CB8AC3E}">
        <p14:creationId xmlns:p14="http://schemas.microsoft.com/office/powerpoint/2010/main" val="232427320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F833C-2000-D795-ADB4-98BC6E4B69FD}"/>
            </a:ext>
          </a:extLst>
        </p:cNvPr>
        <p:cNvGrpSpPr/>
        <p:nvPr/>
      </p:nvGrpSpPr>
      <p:grpSpPr>
        <a:xfrm>
          <a:off x="0" y="0"/>
          <a:ext cx="0" cy="0"/>
          <a:chOff x="0" y="0"/>
          <a:chExt cx="0" cy="0"/>
        </a:xfrm>
      </p:grpSpPr>
      <p:sp>
        <p:nvSpPr>
          <p:cNvPr id="4" name="Rounded Rectangle 17">
            <a:extLst>
              <a:ext uri="{FF2B5EF4-FFF2-40B4-BE49-F238E27FC236}">
                <a16:creationId xmlns:a16="http://schemas.microsoft.com/office/drawing/2014/main" id="{FAD67715-FC24-3847-0A14-E740A52A0BAD}"/>
              </a:ext>
            </a:extLst>
          </p:cNvPr>
          <p:cNvSpPr/>
          <p:nvPr/>
        </p:nvSpPr>
        <p:spPr>
          <a:xfrm>
            <a:off x="1828801" y="60514"/>
            <a:ext cx="8874032" cy="61718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dirty="0"/>
              <a:t>Implementation of Infix  to Postfix Expression</a:t>
            </a:r>
          </a:p>
        </p:txBody>
      </p:sp>
      <p:pic>
        <p:nvPicPr>
          <p:cNvPr id="24" name="Picture 2" descr="KL Deemed to be University Logo">
            <a:extLst>
              <a:ext uri="{FF2B5EF4-FFF2-40B4-BE49-F238E27FC236}">
                <a16:creationId xmlns:a16="http://schemas.microsoft.com/office/drawing/2014/main" id="{6B69F578-7664-8EA8-1215-91DE3153FC01}"/>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a:extLst>
              <a:ext uri="{FF2B5EF4-FFF2-40B4-BE49-F238E27FC236}">
                <a16:creationId xmlns:a16="http://schemas.microsoft.com/office/drawing/2014/main" id="{E1BCA396-99B1-67AF-B3FE-5E2AA78AD245}"/>
              </a:ext>
            </a:extLst>
          </p:cNvPr>
          <p:cNvSpPr/>
          <p:nvPr/>
        </p:nvSpPr>
        <p:spPr>
          <a:xfrm>
            <a:off x="1152524" y="2471108"/>
            <a:ext cx="6096000" cy="584775"/>
          </a:xfrm>
          <a:prstGeom prst="rect">
            <a:avLst/>
          </a:prstGeom>
        </p:spPr>
        <p:txBody>
          <a:bodyPr>
            <a:spAutoFit/>
          </a:bodyPr>
          <a:lstStyle/>
          <a:p>
            <a:endParaRPr lang="en-IN" sz="1600" b="1" dirty="0">
              <a:solidFill>
                <a:srgbClr val="0070C0"/>
              </a:solidFill>
              <a:latin typeface="Times New Roman" pitchFamily="18" charset="0"/>
              <a:cs typeface="Times New Roman" pitchFamily="18" charset="0"/>
            </a:endParaRPr>
          </a:p>
          <a:p>
            <a:pPr marL="971550" lvl="1" indent="-514350">
              <a:buAutoNum type="arabicPeriod"/>
            </a:pPr>
            <a:endParaRPr lang="en-IN" sz="1600" b="1" dirty="0">
              <a:latin typeface="Times New Roman" pitchFamily="18" charset="0"/>
              <a:cs typeface="Times New Roman" pitchFamily="18" charset="0"/>
            </a:endParaRPr>
          </a:p>
        </p:txBody>
      </p:sp>
      <p:sp>
        <p:nvSpPr>
          <p:cNvPr id="7" name="Content Placeholder 6">
            <a:extLst>
              <a:ext uri="{FF2B5EF4-FFF2-40B4-BE49-F238E27FC236}">
                <a16:creationId xmlns:a16="http://schemas.microsoft.com/office/drawing/2014/main" id="{B600C661-D169-D069-4D17-B093A12F2484}"/>
              </a:ext>
            </a:extLst>
          </p:cNvPr>
          <p:cNvSpPr>
            <a:spLocks noGrp="1"/>
          </p:cNvSpPr>
          <p:nvPr>
            <p:ph sz="half" idx="2"/>
          </p:nvPr>
        </p:nvSpPr>
        <p:spPr>
          <a:xfrm>
            <a:off x="774474" y="1333893"/>
            <a:ext cx="5157787" cy="4644066"/>
          </a:xfrm>
        </p:spPr>
        <p:txBody>
          <a:bodyPr/>
          <a:lstStyle/>
          <a:p>
            <a:pPr marL="0" indent="0" algn="just">
              <a:lnSpc>
                <a:spcPct val="100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#include &lt;</a:t>
            </a:r>
            <a:r>
              <a:rPr lang="en-IN" sz="1600" b="1" kern="100" dirty="0" err="1">
                <a:effectLst/>
                <a:latin typeface="Times New Roman" panose="02020603050405020304" pitchFamily="18" charset="0"/>
                <a:ea typeface="Aptos" panose="020B0004020202020204" pitchFamily="34" charset="0"/>
                <a:cs typeface="Gautami" panose="020B0502040204020203" pitchFamily="34" charset="0"/>
              </a:rPr>
              <a:t>stdio.h</a:t>
            </a: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&gt;</a:t>
            </a:r>
            <a:endParaRPr lang="en-IN" sz="1600" kern="100" dirty="0">
              <a:latin typeface="Aptos" panose="020B0004020202020204" pitchFamily="34" charset="0"/>
              <a:ea typeface="Aptos" panose="020B0004020202020204" pitchFamily="34" charset="0"/>
              <a:cs typeface="Gautami" panose="020B0502040204020203" pitchFamily="34" charset="0"/>
            </a:endParaRPr>
          </a:p>
          <a:p>
            <a:pPr marL="0" indent="0" algn="just">
              <a:lnSpc>
                <a:spcPct val="100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#include &lt;</a:t>
            </a:r>
            <a:r>
              <a:rPr lang="en-IN" sz="1600" b="1" kern="100" dirty="0" err="1">
                <a:effectLst/>
                <a:latin typeface="Times New Roman" panose="02020603050405020304" pitchFamily="18" charset="0"/>
                <a:ea typeface="Aptos" panose="020B0004020202020204" pitchFamily="34" charset="0"/>
                <a:cs typeface="Gautami" panose="020B0502040204020203" pitchFamily="34" charset="0"/>
              </a:rPr>
              <a:t>ctype.h</a:t>
            </a: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&gt;                            </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0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char stack[100]; </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0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int top = -1;  </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0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void push(char x) {</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0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stack[++top] = x;}</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0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char pop() {</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0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if (top == -1)</a:t>
            </a:r>
          </a:p>
          <a:p>
            <a:pPr marL="0" indent="0" algn="just">
              <a:lnSpc>
                <a:spcPct val="100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return -1; </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0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else </a:t>
            </a:r>
          </a:p>
          <a:p>
            <a:pPr marL="0" indent="0" algn="just">
              <a:lnSpc>
                <a:spcPct val="100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return stack[top--];}</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0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0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a:lnSpc>
                <a:spcPct val="100000"/>
              </a:lnSpc>
            </a:pPr>
            <a:endParaRPr lang="en-IN" sz="1600" dirty="0"/>
          </a:p>
        </p:txBody>
      </p:sp>
      <p:sp>
        <p:nvSpPr>
          <p:cNvPr id="11" name="Content Placeholder 10">
            <a:extLst>
              <a:ext uri="{FF2B5EF4-FFF2-40B4-BE49-F238E27FC236}">
                <a16:creationId xmlns:a16="http://schemas.microsoft.com/office/drawing/2014/main" id="{DD1D546E-A8F8-2219-1BE6-37FBF3572932}"/>
              </a:ext>
            </a:extLst>
          </p:cNvPr>
          <p:cNvSpPr>
            <a:spLocks noGrp="1"/>
          </p:cNvSpPr>
          <p:nvPr>
            <p:ph sz="quarter" idx="4"/>
          </p:nvPr>
        </p:nvSpPr>
        <p:spPr>
          <a:xfrm>
            <a:off x="3024983" y="1333893"/>
            <a:ext cx="2438203" cy="3684588"/>
          </a:xfrm>
        </p:spPr>
        <p:txBody>
          <a:bodyPr/>
          <a:lstStyle/>
          <a:p>
            <a:pPr marL="0" indent="0" algn="just">
              <a:lnSpc>
                <a:spcPct val="107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int priority(char x) {</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7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if (x == '(')</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7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return 0;</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7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if (x == '+' || x == '-')</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7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return 1;</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7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if (x == '*' || x == '/' ||  x='%')</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7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return 2;</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7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if (x == '^')</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7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return 3;</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7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return -1; </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lgn="just">
              <a:lnSpc>
                <a:spcPct val="107000"/>
              </a:lnSpc>
              <a:spcAft>
                <a:spcPts val="800"/>
              </a:spcAft>
              <a:buNone/>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a:t>
            </a:r>
            <a:endParaRPr lang="en-IN" sz="1600" kern="100" dirty="0">
              <a:effectLst/>
              <a:latin typeface="Aptos" panose="020B0004020202020204" pitchFamily="34" charset="0"/>
              <a:ea typeface="Aptos" panose="020B0004020202020204" pitchFamily="34" charset="0"/>
              <a:cs typeface="Gautami" panose="020B0502040204020203" pitchFamily="34" charset="0"/>
            </a:endParaRPr>
          </a:p>
          <a:p>
            <a:pPr marL="0" indent="0">
              <a:buNone/>
            </a:pPr>
            <a:endParaRPr lang="en-IN" sz="1600" dirty="0"/>
          </a:p>
        </p:txBody>
      </p:sp>
      <p:sp>
        <p:nvSpPr>
          <p:cNvPr id="14" name="TextBox 13">
            <a:extLst>
              <a:ext uri="{FF2B5EF4-FFF2-40B4-BE49-F238E27FC236}">
                <a16:creationId xmlns:a16="http://schemas.microsoft.com/office/drawing/2014/main" id="{0C3B4323-D5D5-8272-EB48-3552EF9E3F62}"/>
              </a:ext>
            </a:extLst>
          </p:cNvPr>
          <p:cNvSpPr txBox="1"/>
          <p:nvPr/>
        </p:nvSpPr>
        <p:spPr>
          <a:xfrm>
            <a:off x="5223208" y="1333893"/>
            <a:ext cx="3822367" cy="5463419"/>
          </a:xfrm>
          <a:prstGeom prst="rect">
            <a:avLst/>
          </a:prstGeom>
          <a:noFill/>
        </p:spPr>
        <p:txBody>
          <a:bodyPr wrap="square" rtlCol="0">
            <a:spAutoFit/>
          </a:bodyPr>
          <a:lstStyle/>
          <a:p>
            <a:pPr algn="just">
              <a:lnSpc>
                <a:spcPct val="107000"/>
              </a:lnSpc>
              <a:spcAft>
                <a:spcPts val="800"/>
              </a:spcAft>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int </a:t>
            </a:r>
            <a:r>
              <a:rPr lang="en-IN" sz="1600" b="1" kern="100" dirty="0" err="1">
                <a:effectLst/>
                <a:latin typeface="Times New Roman" panose="02020603050405020304" pitchFamily="18" charset="0"/>
                <a:ea typeface="Aptos" panose="020B0004020202020204" pitchFamily="34" charset="0"/>
                <a:cs typeface="Gautami" panose="020B0502040204020203" pitchFamily="34" charset="0"/>
              </a:rPr>
              <a:t>isRightAssociative</a:t>
            </a: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(char x) {</a:t>
            </a:r>
            <a:endParaRPr lang="en-IN" sz="1600" b="1" kern="1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if (x == '^') return 1;</a:t>
            </a:r>
            <a:endParaRPr lang="en-IN" sz="1600" b="1" kern="1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a:t>
            </a:r>
            <a:r>
              <a:rPr lang="en-IN" sz="1600" b="1" kern="100" dirty="0">
                <a:effectLst/>
                <a:ea typeface="Aptos" panose="020B0004020202020204" pitchFamily="34" charset="0"/>
                <a:cs typeface="Gautami" panose="020B0502040204020203" pitchFamily="34" charset="0"/>
              </a:rPr>
              <a:t>return</a:t>
            </a: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0</a:t>
            </a:r>
            <a:r>
              <a:rPr lang="en-IN" sz="1600" b="1" kern="100" dirty="0">
                <a:effectLst/>
                <a:latin typeface="+mj-lt"/>
                <a:ea typeface="Aptos" panose="020B0004020202020204" pitchFamily="34" charset="0"/>
                <a:cs typeface="Gautami" panose="020B0502040204020203" pitchFamily="34" charset="0"/>
              </a:rPr>
              <a:t>;}</a:t>
            </a:r>
          </a:p>
          <a:p>
            <a:pPr algn="just">
              <a:lnSpc>
                <a:spcPct val="107000"/>
              </a:lnSpc>
              <a:spcAft>
                <a:spcPts val="800"/>
              </a:spcAft>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int main() {</a:t>
            </a:r>
            <a:endParaRPr lang="en-IN" sz="1600" b="1" kern="1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char exp[100]; </a:t>
            </a:r>
            <a:endParaRPr lang="en-IN" sz="1600" b="1" kern="1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char *e, x;</a:t>
            </a:r>
            <a:endParaRPr lang="en-IN" sz="1600" b="1" kern="1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a:t>
            </a:r>
            <a:r>
              <a:rPr lang="en-IN" sz="1600" b="1" kern="100" dirty="0" err="1">
                <a:effectLst/>
                <a:latin typeface="Times New Roman" panose="02020603050405020304" pitchFamily="18" charset="0"/>
                <a:ea typeface="Aptos" panose="020B0004020202020204" pitchFamily="34" charset="0"/>
                <a:cs typeface="Gautami" panose="020B0502040204020203" pitchFamily="34" charset="0"/>
              </a:rPr>
              <a:t>printf</a:t>
            </a: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("Enter the expression: ");</a:t>
            </a:r>
            <a:endParaRPr lang="en-IN" sz="1600" b="1" kern="1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a:t>
            </a:r>
            <a:r>
              <a:rPr lang="en-IN" sz="1600" b="1" kern="100" dirty="0" err="1">
                <a:effectLst/>
                <a:latin typeface="Times New Roman" panose="02020603050405020304" pitchFamily="18" charset="0"/>
                <a:ea typeface="Aptos" panose="020B0004020202020204" pitchFamily="34" charset="0"/>
                <a:cs typeface="Gautami" panose="020B0502040204020203" pitchFamily="34" charset="0"/>
              </a:rPr>
              <a:t>scanf</a:t>
            </a: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("%s", exp); </a:t>
            </a:r>
            <a:endParaRPr lang="en-IN" sz="1600" b="1" kern="1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a:t>
            </a:r>
            <a:r>
              <a:rPr lang="en-IN" sz="1600" b="1" kern="100" dirty="0" err="1">
                <a:effectLst/>
                <a:latin typeface="Times New Roman" panose="02020603050405020304" pitchFamily="18" charset="0"/>
                <a:ea typeface="Aptos" panose="020B0004020202020204" pitchFamily="34" charset="0"/>
                <a:cs typeface="Gautami" panose="020B0502040204020203" pitchFamily="34" charset="0"/>
              </a:rPr>
              <a:t>printf</a:t>
            </a: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("\n");</a:t>
            </a:r>
            <a:endParaRPr lang="en-IN" sz="1600" b="1" kern="1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e = exp;</a:t>
            </a:r>
            <a:endParaRPr lang="en-IN" sz="1600" b="1" kern="1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while (*e != '\0') {</a:t>
            </a:r>
            <a:endParaRPr lang="en-IN" sz="1600" b="1" kern="1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if (</a:t>
            </a:r>
            <a:r>
              <a:rPr lang="en-IN" sz="1600" b="1" kern="100" dirty="0" err="1">
                <a:effectLst/>
                <a:latin typeface="Times New Roman" panose="02020603050405020304" pitchFamily="18" charset="0"/>
                <a:ea typeface="Aptos" panose="020B0004020202020204" pitchFamily="34" charset="0"/>
                <a:cs typeface="Gautami" panose="020B0502040204020203" pitchFamily="34" charset="0"/>
              </a:rPr>
              <a:t>isalnum</a:t>
            </a: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(*e)) {</a:t>
            </a:r>
            <a:endParaRPr lang="en-IN" sz="1600" b="1" kern="1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a:t>
            </a:r>
            <a:r>
              <a:rPr lang="en-IN" sz="1600" b="1" kern="100" dirty="0" err="1">
                <a:effectLst/>
                <a:latin typeface="Times New Roman" panose="02020603050405020304" pitchFamily="18" charset="0"/>
                <a:ea typeface="Aptos" panose="020B0004020202020204" pitchFamily="34" charset="0"/>
                <a:cs typeface="Gautami" panose="020B0502040204020203" pitchFamily="34" charset="0"/>
              </a:rPr>
              <a:t>printf</a:t>
            </a: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("%c ", *e);} </a:t>
            </a:r>
            <a:endParaRPr lang="en-IN" sz="1600" b="1" kern="1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600" b="1" kern="100" dirty="0">
                <a:effectLst/>
                <a:latin typeface="Times New Roman" panose="02020603050405020304" pitchFamily="18" charset="0"/>
                <a:ea typeface="Aptos" panose="020B0004020202020204" pitchFamily="34" charset="0"/>
                <a:cs typeface="Gautami" panose="020B0502040204020203" pitchFamily="34" charset="0"/>
              </a:rPr>
              <a:t>        else if (*e == '(') { push(*e); } </a:t>
            </a:r>
            <a:endParaRPr lang="en-IN" sz="1600" b="1" kern="100" dirty="0">
              <a:effectLst/>
              <a:latin typeface="Aptos" panose="020B0004020202020204" pitchFamily="34" charset="0"/>
              <a:ea typeface="Aptos" panose="020B0004020202020204" pitchFamily="34" charset="0"/>
              <a:cs typeface="Gautami" panose="020B0502040204020203" pitchFamily="34" charset="0"/>
            </a:endParaRPr>
          </a:p>
          <a:p>
            <a:endParaRPr lang="en-IN" sz="1600" b="1" dirty="0"/>
          </a:p>
        </p:txBody>
      </p:sp>
      <p:sp>
        <p:nvSpPr>
          <p:cNvPr id="15" name="TextBox 14">
            <a:extLst>
              <a:ext uri="{FF2B5EF4-FFF2-40B4-BE49-F238E27FC236}">
                <a16:creationId xmlns:a16="http://schemas.microsoft.com/office/drawing/2014/main" id="{9F31BA62-7FCD-824C-15B6-A2FCD2EF9724}"/>
              </a:ext>
            </a:extLst>
          </p:cNvPr>
          <p:cNvSpPr txBox="1"/>
          <p:nvPr/>
        </p:nvSpPr>
        <p:spPr>
          <a:xfrm>
            <a:off x="10657114" y="1674224"/>
            <a:ext cx="45719" cy="338554"/>
          </a:xfrm>
          <a:prstGeom prst="rect">
            <a:avLst/>
          </a:prstGeom>
          <a:noFill/>
        </p:spPr>
        <p:txBody>
          <a:bodyPr wrap="square" rtlCol="0">
            <a:spAutoFit/>
          </a:bodyPr>
          <a:lstStyle/>
          <a:p>
            <a:endParaRPr lang="en-IN" sz="1600" dirty="0"/>
          </a:p>
        </p:txBody>
      </p:sp>
      <p:sp>
        <p:nvSpPr>
          <p:cNvPr id="19" name="TextBox 18">
            <a:extLst>
              <a:ext uri="{FF2B5EF4-FFF2-40B4-BE49-F238E27FC236}">
                <a16:creationId xmlns:a16="http://schemas.microsoft.com/office/drawing/2014/main" id="{1016D527-BA94-3240-9036-F4F16E3707A4}"/>
              </a:ext>
            </a:extLst>
          </p:cNvPr>
          <p:cNvSpPr txBox="1"/>
          <p:nvPr/>
        </p:nvSpPr>
        <p:spPr>
          <a:xfrm>
            <a:off x="8458200" y="1256270"/>
            <a:ext cx="3614057" cy="590931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else if (*e == ')') {</a:t>
            </a:r>
          </a:p>
          <a:p>
            <a:r>
              <a:rPr lang="en-IN" b="1" dirty="0">
                <a:latin typeface="Times New Roman" panose="02020603050405020304" pitchFamily="18" charset="0"/>
                <a:cs typeface="Times New Roman" panose="02020603050405020304" pitchFamily="18" charset="0"/>
              </a:rPr>
              <a:t>            while ((x = pop()) != '(') {</a:t>
            </a:r>
          </a:p>
          <a:p>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printf</a:t>
            </a:r>
            <a:r>
              <a:rPr lang="en-IN" b="1" dirty="0">
                <a:latin typeface="Times New Roman" panose="02020603050405020304" pitchFamily="18" charset="0"/>
                <a:cs typeface="Times New Roman" panose="02020603050405020304" pitchFamily="18" charset="0"/>
              </a:rPr>
              <a:t>("%c ", x);</a:t>
            </a:r>
          </a:p>
          <a:p>
            <a:r>
              <a:rPr lang="en-IN" b="1"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        } </a:t>
            </a:r>
          </a:p>
          <a:p>
            <a:r>
              <a:rPr lang="en-IN" b="1" dirty="0">
                <a:latin typeface="Times New Roman" panose="02020603050405020304" pitchFamily="18" charset="0"/>
                <a:cs typeface="Times New Roman" panose="02020603050405020304" pitchFamily="18" charset="0"/>
              </a:rPr>
              <a:t>        else {   </a:t>
            </a:r>
          </a:p>
          <a:p>
            <a:r>
              <a:rPr lang="en-IN" b="1" dirty="0">
                <a:latin typeface="Times New Roman" panose="02020603050405020304" pitchFamily="18" charset="0"/>
                <a:cs typeface="Times New Roman" panose="02020603050405020304" pitchFamily="18" charset="0"/>
              </a:rPr>
              <a:t>            while (top != -1 &amp;&amp; </a:t>
            </a:r>
          </a:p>
          <a:p>
            <a:r>
              <a:rPr lang="en-IN" b="1" dirty="0">
                <a:latin typeface="Times New Roman" panose="02020603050405020304" pitchFamily="18" charset="0"/>
                <a:cs typeface="Times New Roman" panose="02020603050405020304" pitchFamily="18" charset="0"/>
              </a:rPr>
              <a:t>                   ((priority(stack[top]) &gt; priority(*e)) || </a:t>
            </a:r>
          </a:p>
          <a:p>
            <a:r>
              <a:rPr lang="en-IN" b="1" dirty="0">
                <a:latin typeface="Times New Roman" panose="02020603050405020304" pitchFamily="18" charset="0"/>
                <a:cs typeface="Times New Roman" panose="02020603050405020304" pitchFamily="18" charset="0"/>
              </a:rPr>
              <a:t>                    (priority(stack[top])==priority(*e)&amp;&amp;</a:t>
            </a:r>
          </a:p>
          <a:p>
            <a:r>
              <a:rPr lang="en-IN" b="1" dirty="0" err="1">
                <a:latin typeface="Times New Roman" panose="02020603050405020304" pitchFamily="18" charset="0"/>
                <a:cs typeface="Times New Roman" panose="02020603050405020304" pitchFamily="18" charset="0"/>
              </a:rPr>
              <a:t>isRightAssociative</a:t>
            </a:r>
            <a:r>
              <a:rPr lang="en-IN" b="1" dirty="0">
                <a:latin typeface="Times New Roman" panose="02020603050405020304" pitchFamily="18" charset="0"/>
                <a:cs typeface="Times New Roman" panose="02020603050405020304" pitchFamily="18" charset="0"/>
              </a:rPr>
              <a:t>(*e) == 0))) {</a:t>
            </a:r>
          </a:p>
          <a:p>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printf</a:t>
            </a:r>
            <a:r>
              <a:rPr lang="en-IN" b="1" dirty="0">
                <a:latin typeface="Times New Roman" panose="02020603050405020304" pitchFamily="18" charset="0"/>
                <a:cs typeface="Times New Roman" panose="02020603050405020304" pitchFamily="18" charset="0"/>
              </a:rPr>
              <a:t>("%c ", pop()); }</a:t>
            </a:r>
          </a:p>
          <a:p>
            <a:r>
              <a:rPr lang="en-IN" b="1" dirty="0">
                <a:latin typeface="Times New Roman" panose="02020603050405020304" pitchFamily="18" charset="0"/>
                <a:cs typeface="Times New Roman" panose="02020603050405020304" pitchFamily="18" charset="0"/>
              </a:rPr>
              <a:t>            push(*e); }</a:t>
            </a:r>
          </a:p>
          <a:p>
            <a:r>
              <a:rPr lang="en-IN" b="1" dirty="0">
                <a:latin typeface="Times New Roman" panose="02020603050405020304" pitchFamily="18" charset="0"/>
                <a:cs typeface="Times New Roman" panose="02020603050405020304" pitchFamily="18" charset="0"/>
              </a:rPr>
              <a:t>        e++; </a:t>
            </a:r>
          </a:p>
          <a:p>
            <a:r>
              <a:rPr lang="en-IN" b="1"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    while (top != -1) {</a:t>
            </a:r>
          </a:p>
          <a:p>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printf</a:t>
            </a:r>
            <a:r>
              <a:rPr lang="en-IN" b="1" dirty="0">
                <a:latin typeface="Times New Roman" panose="02020603050405020304" pitchFamily="18" charset="0"/>
                <a:cs typeface="Times New Roman" panose="02020603050405020304" pitchFamily="18" charset="0"/>
              </a:rPr>
              <a:t>("%c ", pop());}</a:t>
            </a:r>
          </a:p>
          <a:p>
            <a:r>
              <a:rPr lang="en-IN" b="1" dirty="0">
                <a:latin typeface="Times New Roman" panose="02020603050405020304" pitchFamily="18" charset="0"/>
                <a:cs typeface="Times New Roman" panose="02020603050405020304" pitchFamily="18" charset="0"/>
              </a:rPr>
              <a:t>    return 0;}</a:t>
            </a: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37839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2821259" y="401134"/>
            <a:ext cx="6880302" cy="6186309"/>
          </a:xfrm>
          <a:prstGeom prst="rect">
            <a:avLst/>
          </a:prstGeom>
          <a:solidFill>
            <a:schemeClr val="bg1"/>
          </a:solidFill>
        </p:spPr>
        <p:txBody>
          <a:bodyPr wrap="square" rtlCol="0">
            <a:spAutoFit/>
          </a:bodyPr>
          <a:lstStyle/>
          <a:p>
            <a:r>
              <a:rPr lang="en-IN" sz="2800" b="1" dirty="0"/>
              <a:t>Advantages of Infix to postfix</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Simplified Expression Evaluation</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Efficient Expression Parsing</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No Need for Operator Precedence Rules</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Stack-Based Evaluation</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Application in Calculator Design</a:t>
            </a:r>
          </a:p>
          <a:p>
            <a:r>
              <a:rPr lang="en-IN" sz="2800" b="1" dirty="0"/>
              <a:t>Disadvantages of Infix to postfix</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Human Readability</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Expression Entry Difficulty</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Learning Curve</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Implementation Complexity</a:t>
            </a:r>
            <a:r>
              <a:rPr lang="en-IN" sz="2400" dirty="0">
                <a:latin typeface="Times New Roman" panose="02020603050405020304" pitchFamily="18" charset="0"/>
                <a:cs typeface="Times New Roman" panose="02020603050405020304" pitchFamily="18" charset="0"/>
              </a:rPr>
              <a:t>.</a:t>
            </a:r>
          </a:p>
          <a:p>
            <a:r>
              <a:rPr lang="en-IN" sz="2800" b="1" dirty="0"/>
              <a:t>Applications of Infix to postfix in real life</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Mathematical Software and Symbolic Computation</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Database Query Processing</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Control Systems and Embedded Systems</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Calculator Apps and Tools</a:t>
            </a:r>
            <a:endParaRPr lang="en-IN" sz="2800" b="1" dirty="0"/>
          </a:p>
        </p:txBody>
      </p:sp>
    </p:spTree>
    <p:extLst>
      <p:ext uri="{BB962C8B-B14F-4D97-AF65-F5344CB8AC3E}">
        <p14:creationId xmlns:p14="http://schemas.microsoft.com/office/powerpoint/2010/main" val="1300146341"/>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54D31061-350D-4864-BF25-E3C3C4699CDC}"/>
              </a:ext>
            </a:extLst>
          </p:cNvPr>
          <p:cNvSpPr/>
          <p:nvPr/>
        </p:nvSpPr>
        <p:spPr>
          <a:xfrm>
            <a:off x="3358113" y="173217"/>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PRACTICE PROBLEMS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795535" y="1426685"/>
            <a:ext cx="10086536" cy="2554545"/>
          </a:xfrm>
          <a:prstGeom prst="rect">
            <a:avLst/>
          </a:prstGeom>
          <a:solidFill>
            <a:schemeClr val="bg1"/>
          </a:solidFill>
        </p:spPr>
        <p:txBody>
          <a:bodyPr wrap="square" rtlCol="0">
            <a:spAutoFit/>
          </a:bodyPr>
          <a:lstStyle/>
          <a:p>
            <a:r>
              <a:rPr lang="en-US" sz="3200" dirty="0">
                <a:latin typeface="Times New Roman" panose="02020603050405020304" pitchFamily="18" charset="0"/>
                <a:cs typeface="Times New Roman" panose="02020603050405020304" pitchFamily="18" charset="0"/>
              </a:rPr>
              <a:t>1.A(B+C)-D/E</a:t>
            </a:r>
          </a:p>
          <a:p>
            <a:r>
              <a:rPr lang="en-US" sz="3200" dirty="0">
                <a:latin typeface="Times New Roman" panose="02020603050405020304" pitchFamily="18" charset="0"/>
                <a:cs typeface="Times New Roman" panose="02020603050405020304" pitchFamily="18" charset="0"/>
              </a:rPr>
              <a:t>2.(A+B)-(D/E)</a:t>
            </a:r>
          </a:p>
          <a:p>
            <a:r>
              <a:rPr lang="en-US" sz="3200" dirty="0">
                <a:latin typeface="Times New Roman" panose="02020603050405020304" pitchFamily="18" charset="0"/>
                <a:cs typeface="Times New Roman" panose="02020603050405020304" pitchFamily="18" charset="0"/>
              </a:rPr>
              <a:t>3.2+(6-8)*4/2</a:t>
            </a:r>
          </a:p>
          <a:p>
            <a:r>
              <a:rPr lang="en-US" sz="3200" dirty="0">
                <a:latin typeface="Times New Roman" panose="02020603050405020304" pitchFamily="18" charset="0"/>
                <a:cs typeface="Times New Roman" panose="02020603050405020304" pitchFamily="18" charset="0"/>
              </a:rPr>
              <a:t>4.A+B*(C-D)*(D/E)+A/D</a:t>
            </a:r>
          </a:p>
          <a:p>
            <a:r>
              <a:rPr lang="en-US" sz="3200" dirty="0">
                <a:latin typeface="Times New Roman" panose="02020603050405020304" pitchFamily="18" charset="0"/>
                <a:cs typeface="Times New Roman" panose="02020603050405020304" pitchFamily="18" charset="0"/>
              </a:rPr>
              <a:t>5. </a:t>
            </a:r>
            <a:r>
              <a:rPr lang="en-US" sz="3200" dirty="0" err="1">
                <a:latin typeface="Times New Roman" panose="02020603050405020304" pitchFamily="18" charset="0"/>
                <a:cs typeface="Times New Roman" panose="02020603050405020304" pitchFamily="18" charset="0"/>
              </a:rPr>
              <a:t>a+b</a:t>
            </a:r>
            <a:r>
              <a:rPr lang="en-US" sz="3200" dirty="0">
                <a:latin typeface="Times New Roman" panose="02020603050405020304" pitchFamily="18" charset="0"/>
                <a:cs typeface="Times New Roman" panose="02020603050405020304" pitchFamily="18" charset="0"/>
              </a:rPr>
              <a:t>*(</a:t>
            </a:r>
            <a:r>
              <a:rPr lang="en-US" sz="3200" dirty="0" err="1">
                <a:latin typeface="Times New Roman" panose="02020603050405020304" pitchFamily="18" charset="0"/>
                <a:cs typeface="Times New Roman" panose="02020603050405020304" pitchFamily="18" charset="0"/>
              </a:rPr>
              <a:t>c^d-e</a:t>
            </a:r>
            <a:r>
              <a:rPr lang="en-US" sz="3200" dirty="0">
                <a:latin typeface="Times New Roman" panose="02020603050405020304" pitchFamily="18" charset="0"/>
                <a:cs typeface="Times New Roman" panose="02020603050405020304" pitchFamily="18" charset="0"/>
              </a:rPr>
              <a:t>)^(</a:t>
            </a:r>
            <a:r>
              <a:rPr lang="en-US" sz="3200" dirty="0" err="1">
                <a:latin typeface="Times New Roman" panose="02020603050405020304" pitchFamily="18" charset="0"/>
                <a:cs typeface="Times New Roman" panose="02020603050405020304" pitchFamily="18" charset="0"/>
              </a:rPr>
              <a:t>f+g</a:t>
            </a:r>
            <a:r>
              <a:rPr lang="en-US" sz="3200" dirty="0">
                <a:latin typeface="Times New Roman" panose="02020603050405020304" pitchFamily="18" charset="0"/>
                <a:cs typeface="Times New Roman" panose="02020603050405020304" pitchFamily="18" charset="0"/>
              </a:rPr>
              <a:t>*h)-</a:t>
            </a:r>
            <a:r>
              <a:rPr lang="en-US" sz="3200" dirty="0" err="1">
                <a:latin typeface="Times New Roman" panose="02020603050405020304" pitchFamily="18" charset="0"/>
                <a:cs typeface="Times New Roman" panose="02020603050405020304" pitchFamily="18" charset="0"/>
              </a:rPr>
              <a:t>i</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9629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621708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infix Notation:</a:t>
            </a:r>
            <a:endParaRPr lang="en-US" sz="2200" dirty="0">
              <a:latin typeface="Times New Roman" panose="02020603050405020304" pitchFamily="18" charset="0"/>
              <a:cs typeface="Times New Roman" panose="02020603050405020304" pitchFamily="18" charset="0"/>
            </a:endParaRPr>
          </a:p>
          <a:p>
            <a:pPr lvl="1"/>
            <a:r>
              <a:rPr lang="en-US" sz="2200" dirty="0">
                <a:latin typeface="Times New Roman" panose="02020603050405020304" pitchFamily="18" charset="0"/>
                <a:cs typeface="Times New Roman" panose="02020603050405020304" pitchFamily="18" charset="0"/>
              </a:rPr>
              <a:t>Standard mathematical notation where operators are placed between their operands (e.g., 2 + 3).</a:t>
            </a:r>
          </a:p>
          <a:p>
            <a:r>
              <a:rPr lang="en-US" sz="2200" b="1" dirty="0">
                <a:latin typeface="Times New Roman" panose="02020603050405020304" pitchFamily="18" charset="0"/>
                <a:cs typeface="Times New Roman" panose="02020603050405020304" pitchFamily="18" charset="0"/>
              </a:rPr>
              <a:t>Postfix Notation:</a:t>
            </a:r>
            <a:endParaRPr lang="en-US" sz="2200" dirty="0">
              <a:latin typeface="Times New Roman" panose="02020603050405020304" pitchFamily="18" charset="0"/>
              <a:cs typeface="Times New Roman" panose="02020603050405020304" pitchFamily="18" charset="0"/>
            </a:endParaRPr>
          </a:p>
          <a:p>
            <a:pPr lvl="1"/>
            <a:r>
              <a:rPr lang="en-US" sz="2200" dirty="0">
                <a:latin typeface="Times New Roman" panose="02020603050405020304" pitchFamily="18" charset="0"/>
                <a:cs typeface="Times New Roman" panose="02020603050405020304" pitchFamily="18" charset="0"/>
              </a:rPr>
              <a:t>Also known as Reverse Polish Notation (RPN), where operators come after their operands (e.g., 2 3 +).</a:t>
            </a:r>
          </a:p>
          <a:p>
            <a:r>
              <a:rPr lang="en-US" sz="2200" b="1" dirty="0">
                <a:latin typeface="Times New Roman" panose="02020603050405020304" pitchFamily="18" charset="0"/>
                <a:cs typeface="Times New Roman" panose="02020603050405020304" pitchFamily="18" charset="0"/>
              </a:rPr>
              <a:t>Algorithm Steps:</a:t>
            </a:r>
            <a:endParaRPr lang="en-US" sz="2200" dirty="0">
              <a:latin typeface="Times New Roman" panose="02020603050405020304" pitchFamily="18" charset="0"/>
              <a:cs typeface="Times New Roman" panose="02020603050405020304" pitchFamily="18" charset="0"/>
            </a:endParaRPr>
          </a:p>
          <a:p>
            <a:pPr lvl="1"/>
            <a:r>
              <a:rPr lang="en-US" sz="2200" dirty="0">
                <a:latin typeface="Times New Roman" panose="02020603050405020304" pitchFamily="18" charset="0"/>
                <a:cs typeface="Times New Roman" panose="02020603050405020304" pitchFamily="18" charset="0"/>
              </a:rPr>
              <a:t>Initialize an empty stack.</a:t>
            </a:r>
          </a:p>
          <a:p>
            <a:pPr lvl="1"/>
            <a:r>
              <a:rPr lang="en-US" sz="2200" dirty="0">
                <a:latin typeface="Times New Roman" panose="02020603050405020304" pitchFamily="18" charset="0"/>
                <a:cs typeface="Times New Roman" panose="02020603050405020304" pitchFamily="18" charset="0"/>
              </a:rPr>
              <a:t>Scan the infix expression from left to right.</a:t>
            </a:r>
          </a:p>
          <a:p>
            <a:pPr lvl="1"/>
            <a:r>
              <a:rPr lang="en-US" sz="2200" dirty="0">
                <a:latin typeface="Times New Roman" panose="02020603050405020304" pitchFamily="18" charset="0"/>
                <a:cs typeface="Times New Roman" panose="02020603050405020304" pitchFamily="18" charset="0"/>
              </a:rPr>
              <a:t>For each symbol (operand or operator):</a:t>
            </a:r>
          </a:p>
          <a:p>
            <a:pPr lvl="2"/>
            <a:r>
              <a:rPr lang="en-US" sz="2200" dirty="0">
                <a:latin typeface="Times New Roman" panose="02020603050405020304" pitchFamily="18" charset="0"/>
                <a:cs typeface="Times New Roman" panose="02020603050405020304" pitchFamily="18" charset="0"/>
              </a:rPr>
              <a:t>If operand, output it directly.</a:t>
            </a:r>
          </a:p>
          <a:p>
            <a:pPr lvl="2"/>
            <a:r>
              <a:rPr lang="en-US" sz="2200" dirty="0">
                <a:latin typeface="Times New Roman" panose="02020603050405020304" pitchFamily="18" charset="0"/>
                <a:cs typeface="Times New Roman" panose="02020603050405020304" pitchFamily="18" charset="0"/>
              </a:rPr>
              <a:t>If operator:</a:t>
            </a:r>
          </a:p>
          <a:p>
            <a:pPr lvl="3"/>
            <a:r>
              <a:rPr lang="en-US" sz="2200" dirty="0">
                <a:latin typeface="Times New Roman" panose="02020603050405020304" pitchFamily="18" charset="0"/>
                <a:cs typeface="Times New Roman" panose="02020603050405020304" pitchFamily="18" charset="0"/>
              </a:rPr>
              <a:t>Pop operators from the stack and output them until an operator with lower precedence is encountered, then push the current operator onto the stack.</a:t>
            </a:r>
          </a:p>
          <a:p>
            <a:pPr lvl="3"/>
            <a:r>
              <a:rPr lang="en-US" sz="2200" dirty="0">
                <a:latin typeface="Times New Roman" panose="02020603050405020304" pitchFamily="18" charset="0"/>
                <a:cs typeface="Times New Roman" panose="02020603050405020304" pitchFamily="18" charset="0"/>
              </a:rPr>
              <a:t>If an open parenthesis is encountered, push it onto the stack.</a:t>
            </a:r>
          </a:p>
          <a:p>
            <a:pPr lvl="3"/>
            <a:r>
              <a:rPr lang="en-US" sz="2200" dirty="0">
                <a:latin typeface="Times New Roman" panose="02020603050405020304" pitchFamily="18" charset="0"/>
                <a:cs typeface="Times New Roman" panose="02020603050405020304" pitchFamily="18" charset="0"/>
              </a:rPr>
              <a:t>If a close parenthesis is encountered, pop operators from the stack and output them until an open parenthesis is encountered. Pop and discard the open parenthesis.</a:t>
            </a:r>
          </a:p>
          <a:p>
            <a:pPr lvl="1"/>
            <a:r>
              <a:rPr lang="en-US" sz="2200" dirty="0">
                <a:latin typeface="Times New Roman" panose="02020603050405020304" pitchFamily="18" charset="0"/>
                <a:cs typeface="Times New Roman" panose="02020603050405020304" pitchFamily="18" charset="0"/>
              </a:rPr>
              <a:t>After scanning the entire expression, pop any remaining operators from the stack and output them.</a:t>
            </a:r>
          </a:p>
          <a:p>
            <a:pPr marL="285750" indent="-285750">
              <a:buFont typeface="Wingdings" pitchFamily="2" charset="2"/>
              <a:buChar char="Ø"/>
            </a:pPr>
            <a:endParaRPr lang="en-IN" sz="2400" dirty="0"/>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06867"/>
            <a:ext cx="10661548" cy="796533"/>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2400" dirty="0"/>
              <a:t>What is the postfix expression for the corresponding infix expression?</a:t>
            </a:r>
          </a:p>
          <a:p>
            <a:pPr lvl="0"/>
            <a:r>
              <a:rPr lang="en-US" sz="2400" dirty="0"/>
              <a:t>      </a:t>
            </a:r>
            <a:r>
              <a:rPr lang="en-US" sz="2400" dirty="0" err="1"/>
              <a:t>a+b</a:t>
            </a:r>
            <a:r>
              <a:rPr lang="en-US" sz="2400" dirty="0"/>
              <a:t>*c+(d*e)</a:t>
            </a: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2000009"/>
            <a:ext cx="6237001" cy="1623723"/>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a) </a:t>
            </a:r>
            <a:r>
              <a:rPr lang="en-IN" dirty="0" err="1"/>
              <a:t>abc</a:t>
            </a:r>
            <a:r>
              <a:rPr lang="en-IN" dirty="0"/>
              <a:t>*+de*+</a:t>
            </a:r>
            <a:br>
              <a:rPr lang="en-IN" dirty="0"/>
            </a:br>
            <a:r>
              <a:rPr lang="en-IN" dirty="0"/>
              <a:t>b) </a:t>
            </a:r>
            <a:r>
              <a:rPr lang="en-IN" dirty="0" err="1"/>
              <a:t>abc</a:t>
            </a:r>
            <a:r>
              <a:rPr lang="en-IN" dirty="0"/>
              <a:t>+*de*+</a:t>
            </a:r>
            <a:br>
              <a:rPr lang="en-IN" dirty="0"/>
            </a:br>
            <a:r>
              <a:rPr lang="en-IN" dirty="0"/>
              <a:t>c) </a:t>
            </a:r>
            <a:r>
              <a:rPr lang="en-IN" dirty="0" err="1"/>
              <a:t>a+bc</a:t>
            </a:r>
            <a:r>
              <a:rPr lang="en-IN" dirty="0"/>
              <a:t>*de+*</a:t>
            </a:r>
            <a:br>
              <a:rPr lang="en-IN" dirty="0"/>
            </a:br>
            <a:r>
              <a:rPr lang="en-IN" dirty="0"/>
              <a:t>d) </a:t>
            </a:r>
            <a:r>
              <a:rPr lang="en-IN" dirty="0" err="1"/>
              <a:t>abc</a:t>
            </a:r>
            <a:r>
              <a:rPr lang="en-IN" dirty="0"/>
              <a:t>*+(de)*+</a:t>
            </a:r>
            <a:endParaRPr lang="en-US"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661548"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sz="2400" dirty="0"/>
              <a:t>2. Which of the following statement is incorrect with respect to infix to postfix conversion algorithm?</a:t>
            </a:r>
            <a:endParaRPr lang="en-IN" sz="3200" dirty="0"/>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8247121"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latin typeface="Times New Roman" panose="02020603050405020304" pitchFamily="18" charset="0"/>
                <a:cs typeface="Times New Roman" panose="02020603050405020304" pitchFamily="18" charset="0"/>
              </a:rPr>
              <a:t>a) operand is always placed in the output</a:t>
            </a:r>
          </a:p>
          <a:p>
            <a:pPr algn="just"/>
            <a:r>
              <a:rPr lang="en-US" dirty="0">
                <a:latin typeface="Times New Roman" panose="02020603050405020304" pitchFamily="18" charset="0"/>
                <a:cs typeface="Times New Roman" panose="02020603050405020304" pitchFamily="18" charset="0"/>
              </a:rPr>
              <a:t>b) operator is placed in the stack when the stack operator has lower precedence</a:t>
            </a:r>
          </a:p>
          <a:p>
            <a:pPr algn="just"/>
            <a:r>
              <a:rPr lang="en-US" dirty="0">
                <a:latin typeface="Times New Roman" panose="02020603050405020304" pitchFamily="18" charset="0"/>
                <a:cs typeface="Times New Roman" panose="02020603050405020304" pitchFamily="18" charset="0"/>
              </a:rPr>
              <a:t>c) parenthesis are included in the output</a:t>
            </a:r>
          </a:p>
          <a:p>
            <a:pPr algn="just"/>
            <a:r>
              <a:rPr lang="en-US" dirty="0">
                <a:latin typeface="Times New Roman" panose="02020603050405020304" pitchFamily="18" charset="0"/>
                <a:cs typeface="Times New Roman" panose="02020603050405020304" pitchFamily="18" charset="0"/>
              </a:rPr>
              <a:t>d) higher and equal priority operators follow the same condition</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1" y="1167618"/>
            <a:ext cx="11212899" cy="5016758"/>
          </a:xfrm>
          <a:prstGeom prst="rect">
            <a:avLst/>
          </a:prstGeom>
          <a:noFill/>
        </p:spPr>
        <p:txBody>
          <a:bodyPr wrap="square" rtlCol="0">
            <a:spAutoFit/>
          </a:bodyPr>
          <a:lstStyle/>
          <a:p>
            <a:pPr marL="342900" indent="-342900"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When an operand is read, which of the following is done?</a:t>
            </a:r>
          </a:p>
          <a:p>
            <a:pPr marL="342900" indent="-342900"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What should be done when a left parenthesis ‘(‘ is encountered?</a:t>
            </a:r>
          </a:p>
          <a:p>
            <a:pPr marL="342900" indent="-342900"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What is the time complexity of an infix to postfix conversion algorithm?</a:t>
            </a:r>
          </a:p>
          <a:p>
            <a:pPr marL="342900" indent="-342900"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Parentheses are simply ignored in the conversion of infix to postfix expression.</a:t>
            </a:r>
          </a:p>
          <a:p>
            <a:pPr marL="342900" indent="-342900"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It is easier for a computer to process a postfix expression than an infix expression.</a:t>
            </a:r>
          </a:p>
          <a:p>
            <a:pPr marL="342900" indent="-342900"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Which of the following statement is incorrect with respect to infix to postfix conversion algorithm?</a:t>
            </a:r>
          </a:p>
          <a:p>
            <a:pPr marL="342900" indent="-342900"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 In infix to postfix conversion algorithm, the operators are associated from?</a:t>
            </a:r>
          </a:p>
          <a:p>
            <a:pPr marL="342900" indent="-342900"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 What is the corresponding postfix expression for the given infix expression?</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4474558"/>
          </a:xfrm>
          <a:prstGeom prst="rect">
            <a:avLst/>
          </a:prstGeom>
          <a:noFill/>
        </p:spPr>
        <p:txBody>
          <a:bodyPr wrap="square" rtlCol="0">
            <a:spAutoFit/>
          </a:bodyPr>
          <a:lstStyle/>
          <a:p>
            <a:pPr>
              <a:lnSpc>
                <a:spcPct val="150000"/>
              </a:lnSpc>
            </a:pPr>
            <a:r>
              <a:rPr lang="en-US" sz="2400" b="1" dirty="0"/>
              <a:t>Reference Books:</a:t>
            </a:r>
            <a:endParaRPr lang="en-US" sz="2400" dirty="0"/>
          </a:p>
          <a:p>
            <a:pPr marL="342900" lvl="1" indent="-342900">
              <a:lnSpc>
                <a:spcPct val="150000"/>
              </a:lnSpc>
              <a:buAutoNum type="arabicPeriod"/>
            </a:pPr>
            <a:r>
              <a:rPr lang="en-US" dirty="0">
                <a:latin typeface="Times New Roman" panose="02020603050405020304" pitchFamily="18" charset="0"/>
                <a:cs typeface="Times New Roman" panose="02020603050405020304" pitchFamily="18" charset="0"/>
              </a:rPr>
              <a:t>Mark Allen Weiss, Data Structures and Algorithm Analysis in C, 2010 , Second Edition, </a:t>
            </a:r>
            <a:r>
              <a:rPr lang="en-US" dirty="0" err="1">
                <a:latin typeface="Times New Roman" panose="02020603050405020304" pitchFamily="18" charset="0"/>
                <a:cs typeface="Times New Roman" panose="02020603050405020304" pitchFamily="18" charset="0"/>
              </a:rPr>
              <a:t>PearsonEducation</a:t>
            </a:r>
            <a:r>
              <a:rPr lang="en-US"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342900" lvl="1" indent="-342900">
              <a:lnSpc>
                <a:spcPct val="150000"/>
              </a:lnSpc>
              <a:buAutoNum type="arabicPeriod"/>
            </a:pPr>
            <a:r>
              <a:rPr lang="en-US" dirty="0">
                <a:latin typeface="Times New Roman" panose="02020603050405020304" pitchFamily="18" charset="0"/>
                <a:cs typeface="Times New Roman" panose="02020603050405020304" pitchFamily="18" charset="0"/>
              </a:rPr>
              <a:t>2. Ellis Horowitz, Fundamentals of Data Structures in C: Second Edition, 2015</a:t>
            </a:r>
          </a:p>
          <a:p>
            <a:pPr marL="342900" lvl="1" indent="-342900">
              <a:lnSpc>
                <a:spcPct val="150000"/>
              </a:lnSpc>
              <a:buAutoNum type="arabicPeriod"/>
            </a:pPr>
            <a:r>
              <a:rPr lang="en-US" dirty="0" err="1">
                <a:latin typeface="Times New Roman" panose="02020603050405020304" pitchFamily="18" charset="0"/>
                <a:cs typeface="Times New Roman" panose="02020603050405020304" pitchFamily="18" charset="0"/>
              </a:rPr>
              <a:t>A.V.Aho</a:t>
            </a:r>
            <a:r>
              <a:rPr lang="en-US" dirty="0">
                <a:latin typeface="Times New Roman" panose="02020603050405020304" pitchFamily="18" charset="0"/>
                <a:cs typeface="Times New Roman" panose="02020603050405020304" pitchFamily="18" charset="0"/>
              </a:rPr>
              <a:t>, J. E. </a:t>
            </a:r>
            <a:r>
              <a:rPr lang="en-US" dirty="0" err="1">
                <a:latin typeface="Times New Roman" panose="02020603050405020304" pitchFamily="18" charset="0"/>
                <a:cs typeface="Times New Roman" panose="02020603050405020304" pitchFamily="18" charset="0"/>
              </a:rPr>
              <a:t>Hopcroft</a:t>
            </a:r>
            <a:r>
              <a:rPr lang="en-US" dirty="0">
                <a:latin typeface="Times New Roman" panose="02020603050405020304" pitchFamily="18" charset="0"/>
                <a:cs typeface="Times New Roman" panose="02020603050405020304" pitchFamily="18" charset="0"/>
              </a:rPr>
              <a:t>, and J. D. Ullman, “Data Structures And Algorithms”, Pearson Education, First Edition Reprint2003.</a:t>
            </a:r>
            <a:endParaRPr lang="en-IN" dirty="0">
              <a:latin typeface="Times New Roman" panose="02020603050405020304" pitchFamily="18" charset="0"/>
              <a:cs typeface="Times New Roman" panose="02020603050405020304" pitchFamily="18" charset="0"/>
            </a:endParaRPr>
          </a:p>
          <a:p>
            <a:pPr>
              <a:lnSpc>
                <a:spcPct val="150000"/>
              </a:lnSpc>
            </a:pPr>
            <a:endParaRPr lang="en-US" b="1"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Sites and Web links:</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https://panda.ime.usp.br/pythonds/static/pythonds_pt/02-EDBasicos/InfixPrefixandPostfixExpressions.html</a:t>
            </a:r>
          </a:p>
          <a:p>
            <a:pPr>
              <a:lnSpc>
                <a:spcPct val="150000"/>
              </a:lnSpc>
            </a:pPr>
            <a:r>
              <a:rPr lang="en-US" dirty="0">
                <a:latin typeface="Times New Roman" panose="02020603050405020304" pitchFamily="18" charset="0"/>
                <a:cs typeface="Times New Roman" panose="02020603050405020304" pitchFamily="18" charset="0"/>
              </a:rPr>
              <a:t>https://www.javatpoint.com/convert-infix-to-postfix-notation</a:t>
            </a:r>
          </a:p>
          <a:p>
            <a:pPr>
              <a:lnSpc>
                <a:spcPct val="150000"/>
              </a:lnSpc>
            </a:pPr>
            <a:r>
              <a:rPr lang="en-US" dirty="0">
                <a:latin typeface="Times New Roman" panose="02020603050405020304" pitchFamily="18" charset="0"/>
                <a:cs typeface="Times New Roman" panose="02020603050405020304" pitchFamily="18" charset="0"/>
              </a:rPr>
              <a:t>https://www.scaler.com/topics/infix-to-postfix-conversion/</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a:t>
            </a:r>
            <a:r>
              <a:rPr lang="en-US" sz="3600" b="1" dirty="0" err="1">
                <a:latin typeface="Poppins" pitchFamily="2" charset="77"/>
                <a:cs typeface="Poppins" pitchFamily="2" charset="77"/>
              </a:rPr>
              <a:t>Sructures</a:t>
            </a:r>
            <a:endParaRPr lang="en-US" sz="36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EBBD0A98-E68B-4DAA-8964-2F739D6D4075}">
  <ds:schemaRefs>
    <ds:schemaRef ds:uri="http://schemas.microsoft.com/office/2006/metadata/properties"/>
    <ds:schemaRef ds:uri="http://www.w3.org/2000/xmlns/"/>
    <ds:schemaRef ds:uri="http://schemas.microsoft.com/office/infopath/2007/PartnerControls"/>
  </ds:schemaRefs>
</ds:datastoreItem>
</file>

<file path=customXml/itemProps3.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1925</TotalTime>
  <Words>2086</Words>
  <Application>Microsoft Office PowerPoint</Application>
  <PresentationFormat>Widescreen</PresentationFormat>
  <Paragraphs>201</Paragraphs>
  <Slides>23</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Aptos</vt:lpstr>
      <vt:lpstr>Arial</vt:lpstr>
      <vt:lpstr>BioRhyme ExtraBold</vt:lpstr>
      <vt:lpstr>Calibri</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Krishna Suresh B V N V</cp:lastModifiedBy>
  <cp:revision>74</cp:revision>
  <dcterms:created xsi:type="dcterms:W3CDTF">2020-02-08T09:57:44Z</dcterms:created>
  <dcterms:modified xsi:type="dcterms:W3CDTF">2024-12-16T10:55:29Z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