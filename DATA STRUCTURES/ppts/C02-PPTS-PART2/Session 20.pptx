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271" r:id="rId5"/>
    <p:sldId id="300" r:id="rId6"/>
    <p:sldId id="258" r:id="rId7"/>
    <p:sldId id="288" r:id="rId8"/>
    <p:sldId id="290" r:id="rId9"/>
    <p:sldId id="305" r:id="rId10"/>
    <p:sldId id="306" r:id="rId11"/>
    <p:sldId id="311" r:id="rId12"/>
    <p:sldId id="307" r:id="rId13"/>
    <p:sldId id="310" r:id="rId14"/>
    <p:sldId id="309" r:id="rId15"/>
    <p:sldId id="312" r:id="rId16"/>
    <p:sldId id="313" r:id="rId17"/>
    <p:sldId id="314" r:id="rId18"/>
    <p:sldId id="285" r:id="rId19"/>
    <p:sldId id="315" r:id="rId20"/>
    <p:sldId id="316" r:id="rId21"/>
    <p:sldId id="317" r:id="rId22"/>
    <p:sldId id="299" r:id="rId23"/>
    <p:sldId id="287" r:id="rId24"/>
    <p:sldId id="301" r:id="rId25"/>
    <p:sldId id="302" r:id="rId26"/>
    <p:sldId id="303"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Suresh B V N V" userId="46cc3a3c-d6e3-4f9f-b2e6-2a3b85efca88" providerId="ADAL" clId="{06C18996-257C-455E-A0F6-8C8A9F546647}"/>
    <pc:docChg chg="undo custSel addSld modSld sldOrd">
      <pc:chgData name="Krishna Suresh B V N V" userId="46cc3a3c-d6e3-4f9f-b2e6-2a3b85efca88" providerId="ADAL" clId="{06C18996-257C-455E-A0F6-8C8A9F546647}" dt="2023-12-25T04:41:44.612" v="5749" actId="20577"/>
      <pc:docMkLst>
        <pc:docMk/>
      </pc:docMkLst>
      <pc:sldChg chg="addSp modSp mod">
        <pc:chgData name="Krishna Suresh B V N V" userId="46cc3a3c-d6e3-4f9f-b2e6-2a3b85efca88" providerId="ADAL" clId="{06C18996-257C-455E-A0F6-8C8A9F546647}" dt="2023-12-25T03:24:20.223" v="688" actId="1076"/>
        <pc:sldMkLst>
          <pc:docMk/>
          <pc:sldMk cId="4069052342" sldId="258"/>
        </pc:sldMkLst>
      </pc:sldChg>
      <pc:sldChg chg="modSp mod">
        <pc:chgData name="Krishna Suresh B V N V" userId="46cc3a3c-d6e3-4f9f-b2e6-2a3b85efca88" providerId="ADAL" clId="{06C18996-257C-455E-A0F6-8C8A9F546647}" dt="2023-12-25T04:41:44.612" v="5749" actId="20577"/>
        <pc:sldMkLst>
          <pc:docMk/>
          <pc:sldMk cId="0" sldId="271"/>
        </pc:sldMkLst>
      </pc:sldChg>
      <pc:sldChg chg="addSp delSp modSp mod ord delAnim modAnim">
        <pc:chgData name="Krishna Suresh B V N V" userId="46cc3a3c-d6e3-4f9f-b2e6-2a3b85efca88" providerId="ADAL" clId="{06C18996-257C-455E-A0F6-8C8A9F546647}" dt="2023-12-25T04:18:17.069" v="4345" actId="20577"/>
        <pc:sldMkLst>
          <pc:docMk/>
          <pc:sldMk cId="126962933" sldId="285"/>
        </pc:sldMkLst>
      </pc:sldChg>
      <pc:sldChg chg="modSp mod">
        <pc:chgData name="Krishna Suresh B V N V" userId="46cc3a3c-d6e3-4f9f-b2e6-2a3b85efca88" providerId="ADAL" clId="{06C18996-257C-455E-A0F6-8C8A9F546647}" dt="2023-12-25T04:31:54.760" v="5173" actId="6549"/>
        <pc:sldMkLst>
          <pc:docMk/>
          <pc:sldMk cId="4254978408" sldId="287"/>
        </pc:sldMkLst>
      </pc:sldChg>
      <pc:sldChg chg="addSp delSp modSp mod delAnim">
        <pc:chgData name="Krishna Suresh B V N V" userId="46cc3a3c-d6e3-4f9f-b2e6-2a3b85efca88" providerId="ADAL" clId="{06C18996-257C-455E-A0F6-8C8A9F546647}" dt="2023-12-25T03:34:49.632" v="1033" actId="20577"/>
        <pc:sldMkLst>
          <pc:docMk/>
          <pc:sldMk cId="680355262" sldId="288"/>
        </pc:sldMkLst>
      </pc:sldChg>
      <pc:sldChg chg="addSp delSp modSp mod">
        <pc:chgData name="Krishna Suresh B V N V" userId="46cc3a3c-d6e3-4f9f-b2e6-2a3b85efca88" providerId="ADAL" clId="{06C18996-257C-455E-A0F6-8C8A9F546647}" dt="2023-12-25T03:36:59.573" v="1202" actId="14100"/>
        <pc:sldMkLst>
          <pc:docMk/>
          <pc:sldMk cId="3385424300" sldId="290"/>
        </pc:sldMkLst>
      </pc:sldChg>
      <pc:sldChg chg="modSp mod">
        <pc:chgData name="Krishna Suresh B V N V" userId="46cc3a3c-d6e3-4f9f-b2e6-2a3b85efca88" providerId="ADAL" clId="{06C18996-257C-455E-A0F6-8C8A9F546647}" dt="2023-12-25T04:09:15.098" v="4193" actId="255"/>
        <pc:sldMkLst>
          <pc:docMk/>
          <pc:sldMk cId="1300146341" sldId="299"/>
        </pc:sldMkLst>
      </pc:sldChg>
      <pc:sldChg chg="modSp mod">
        <pc:chgData name="Krishna Suresh B V N V" userId="46cc3a3c-d6e3-4f9f-b2e6-2a3b85efca88" providerId="ADAL" clId="{06C18996-257C-455E-A0F6-8C8A9F546647}" dt="2023-12-25T03:09:17.233" v="288" actId="20577"/>
        <pc:sldMkLst>
          <pc:docMk/>
          <pc:sldMk cId="1388607984" sldId="300"/>
        </pc:sldMkLst>
      </pc:sldChg>
      <pc:sldChg chg="modSp modAnim">
        <pc:chgData name="Krishna Suresh B V N V" userId="46cc3a3c-d6e3-4f9f-b2e6-2a3b85efca88" providerId="ADAL" clId="{06C18996-257C-455E-A0F6-8C8A9F546647}" dt="2023-12-25T04:38:12.923" v="5528" actId="20577"/>
        <pc:sldMkLst>
          <pc:docMk/>
          <pc:sldMk cId="4192766172" sldId="301"/>
        </pc:sldMkLst>
      </pc:sldChg>
      <pc:sldChg chg="modSp mod">
        <pc:chgData name="Krishna Suresh B V N V" userId="46cc3a3c-d6e3-4f9f-b2e6-2a3b85efca88" providerId="ADAL" clId="{06C18996-257C-455E-A0F6-8C8A9F546647}" dt="2023-12-25T04:39:34.197" v="5743" actId="20577"/>
        <pc:sldMkLst>
          <pc:docMk/>
          <pc:sldMk cId="2602073769" sldId="302"/>
        </pc:sldMkLst>
      </pc:sldChg>
      <pc:sldChg chg="modSp mod">
        <pc:chgData name="Krishna Suresh B V N V" userId="46cc3a3c-d6e3-4f9f-b2e6-2a3b85efca88" providerId="ADAL" clId="{06C18996-257C-455E-A0F6-8C8A9F546647}" dt="2023-12-25T03:39:43.741" v="1381" actId="5793"/>
        <pc:sldMkLst>
          <pc:docMk/>
          <pc:sldMk cId="3385424300" sldId="305"/>
        </pc:sldMkLst>
      </pc:sldChg>
      <pc:sldChg chg="modSp mod">
        <pc:chgData name="Krishna Suresh B V N V" userId="46cc3a3c-d6e3-4f9f-b2e6-2a3b85efca88" providerId="ADAL" clId="{06C18996-257C-455E-A0F6-8C8A9F546647}" dt="2023-12-25T03:45:18.204" v="1980" actId="20577"/>
        <pc:sldMkLst>
          <pc:docMk/>
          <pc:sldMk cId="3142842744" sldId="306"/>
        </pc:sldMkLst>
      </pc:sldChg>
      <pc:sldChg chg="addSp delSp modSp mod delAnim modAnim">
        <pc:chgData name="Krishna Suresh B V N V" userId="46cc3a3c-d6e3-4f9f-b2e6-2a3b85efca88" providerId="ADAL" clId="{06C18996-257C-455E-A0F6-8C8A9F546647}" dt="2023-12-25T03:53:07.495" v="2642" actId="20577"/>
        <pc:sldMkLst>
          <pc:docMk/>
          <pc:sldMk cId="2148906171" sldId="307"/>
        </pc:sldMkLst>
      </pc:sldChg>
      <pc:sldChg chg="addSp delSp modSp mod delAnim modAnim">
        <pc:chgData name="Krishna Suresh B V N V" userId="46cc3a3c-d6e3-4f9f-b2e6-2a3b85efca88" providerId="ADAL" clId="{06C18996-257C-455E-A0F6-8C8A9F546647}" dt="2023-12-25T03:59:39.339" v="3394" actId="20577"/>
        <pc:sldMkLst>
          <pc:docMk/>
          <pc:sldMk cId="3892933827" sldId="309"/>
        </pc:sldMkLst>
      </pc:sldChg>
      <pc:sldChg chg="addSp delSp modSp mod delAnim modAnim">
        <pc:chgData name="Krishna Suresh B V N V" userId="46cc3a3c-d6e3-4f9f-b2e6-2a3b85efca88" providerId="ADAL" clId="{06C18996-257C-455E-A0F6-8C8A9F546647}" dt="2023-12-25T03:54:24.303" v="2653" actId="14100"/>
        <pc:sldMkLst>
          <pc:docMk/>
          <pc:sldMk cId="1460568374" sldId="310"/>
        </pc:sldMkLst>
      </pc:sldChg>
      <pc:sldChg chg="addSp delSp modSp mod delAnim modAnim">
        <pc:chgData name="Krishna Suresh B V N V" userId="46cc3a3c-d6e3-4f9f-b2e6-2a3b85efca88" providerId="ADAL" clId="{06C18996-257C-455E-A0F6-8C8A9F546647}" dt="2023-12-25T03:46:44.185" v="1990" actId="1076"/>
        <pc:sldMkLst>
          <pc:docMk/>
          <pc:sldMk cId="1021365630" sldId="311"/>
        </pc:sldMkLst>
      </pc:sldChg>
      <pc:sldChg chg="addSp delSp modSp mod delAnim modAnim">
        <pc:chgData name="Krishna Suresh B V N V" userId="46cc3a3c-d6e3-4f9f-b2e6-2a3b85efca88" providerId="ADAL" clId="{06C18996-257C-455E-A0F6-8C8A9F546647}" dt="2023-12-25T04:00:37.123" v="3402" actId="14100"/>
        <pc:sldMkLst>
          <pc:docMk/>
          <pc:sldMk cId="6245963" sldId="312"/>
        </pc:sldMkLst>
      </pc:sldChg>
      <pc:sldChg chg="addSp delSp modSp mod delAnim modAnim">
        <pc:chgData name="Krishna Suresh B V N V" userId="46cc3a3c-d6e3-4f9f-b2e6-2a3b85efca88" providerId="ADAL" clId="{06C18996-257C-455E-A0F6-8C8A9F546647}" dt="2023-12-25T04:05:14.066" v="3942" actId="5793"/>
        <pc:sldMkLst>
          <pc:docMk/>
          <pc:sldMk cId="559767460" sldId="313"/>
        </pc:sldMkLst>
      </pc:sldChg>
      <pc:sldChg chg="addSp delSp modSp new mod modAnim">
        <pc:chgData name="Krishna Suresh B V N V" userId="46cc3a3c-d6e3-4f9f-b2e6-2a3b85efca88" providerId="ADAL" clId="{06C18996-257C-455E-A0F6-8C8A9F546647}" dt="2023-12-25T04:07:00.808" v="3949" actId="14100"/>
        <pc:sldMkLst>
          <pc:docMk/>
          <pc:sldMk cId="461186637" sldId="314"/>
        </pc:sldMkLst>
      </pc:sldChg>
      <pc:sldChg chg="addSp delSp modSp new mod modAnim">
        <pc:chgData name="Krishna Suresh B V N V" userId="46cc3a3c-d6e3-4f9f-b2e6-2a3b85efca88" providerId="ADAL" clId="{06C18996-257C-455E-A0F6-8C8A9F546647}" dt="2023-12-25T04:20:32.184" v="4432" actId="20577"/>
        <pc:sldMkLst>
          <pc:docMk/>
          <pc:sldMk cId="3531961876" sldId="315"/>
        </pc:sldMkLst>
      </pc:sldChg>
      <pc:sldChg chg="addSp delSp modSp new mod modAnim">
        <pc:chgData name="Krishna Suresh B V N V" userId="46cc3a3c-d6e3-4f9f-b2e6-2a3b85efca88" providerId="ADAL" clId="{06C18996-257C-455E-A0F6-8C8A9F546647}" dt="2023-12-25T04:24:10.236" v="4564" actId="20577"/>
        <pc:sldMkLst>
          <pc:docMk/>
          <pc:sldMk cId="1681005172" sldId="316"/>
        </pc:sldMkLst>
      </pc:sldChg>
      <pc:sldChg chg="addSp delSp modSp new mod modAnim">
        <pc:chgData name="Krishna Suresh B V N V" userId="46cc3a3c-d6e3-4f9f-b2e6-2a3b85efca88" providerId="ADAL" clId="{06C18996-257C-455E-A0F6-8C8A9F546647}" dt="2023-12-25T04:26:24.007" v="4621" actId="20577"/>
        <pc:sldMkLst>
          <pc:docMk/>
          <pc:sldMk cId="774057235" sldId="317"/>
        </pc:sldMkLst>
      </pc:sldChg>
    </pc:docChg>
  </pc:docChgLst>
  <pc:docChgLst>
    <pc:chgData name="Krishna Suresh B V N V" userId="46cc3a3c-d6e3-4f9f-b2e6-2a3b85efca88" providerId="ADAL" clId="{20F43EEF-0DE4-4C38-996D-4A2CD1B1D161}"/>
    <pc:docChg chg="modSld">
      <pc:chgData name="Krishna Suresh B V N V" userId="46cc3a3c-d6e3-4f9f-b2e6-2a3b85efca88" providerId="ADAL" clId="{20F43EEF-0DE4-4C38-996D-4A2CD1B1D161}" dt="2024-12-16T10:56:13.332" v="18" actId="20577"/>
      <pc:docMkLst>
        <pc:docMk/>
      </pc:docMkLst>
      <pc:sldChg chg="modSp mod">
        <pc:chgData name="Krishna Suresh B V N V" userId="46cc3a3c-d6e3-4f9f-b2e6-2a3b85efca88" providerId="ADAL" clId="{20F43EEF-0DE4-4C38-996D-4A2CD1B1D161}" dt="2024-12-16T10:56:13.332" v="18" actId="20577"/>
        <pc:sldMkLst>
          <pc:docMk/>
          <pc:sldMk cId="0" sldId="271"/>
        </pc:sldMkLst>
        <pc:spChg chg="mod">
          <ac:chgData name="Krishna Suresh B V N V" userId="46cc3a3c-d6e3-4f9f-b2e6-2a3b85efca88" providerId="ADAL" clId="{20F43EEF-0DE4-4C38-996D-4A2CD1B1D161}" dt="2024-12-16T10:56:13.332" v="18" actId="20577"/>
          <ac:spMkLst>
            <pc:docMk/>
            <pc:sldMk cId="0" sldId="271"/>
            <ac:spMk id="8" creationId="{7153E61F-4441-DBE3-3DFF-6E9EF6C48D23}"/>
          </ac:spMkLst>
        </pc:spChg>
        <pc:spChg chg="mod">
          <ac:chgData name="Krishna Suresh B V N V" userId="46cc3a3c-d6e3-4f9f-b2e6-2a3b85efca88" providerId="ADAL" clId="{20F43EEF-0DE4-4C38-996D-4A2CD1B1D161}" dt="2024-12-16T10:56:05.655" v="11" actId="20577"/>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in.udacity.com/course/intro-to-algorithms--cs215" TargetMode="External"/><Relationship Id="rId2" Type="http://schemas.openxmlformats.org/officeDocument/2006/relationships/hyperlink" Target="https://nptel.ac.in/courses/10610206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coursera.org/learn/data-structures?action=enroll"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3055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10850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effectLst/>
                <a:latin typeface="Times New Roman" pitchFamily="18" charset="0"/>
                <a:cs typeface="Times New Roman" pitchFamily="18" charset="0"/>
              </a:rPr>
              <a:t>Double Ended Queue</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20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708729"/>
            <a:ext cx="10731286" cy="84228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Double Ended Queue</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the Double ended Queue (deque)</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types of deque</a:t>
            </a: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deque</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deque.</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Double Ended Queue (deque)</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two types of deque. And their operations</a:t>
            </a:r>
          </a:p>
          <a:p>
            <a:pPr marL="342900" indent="-342900">
              <a:buAutoNum type="arabicPeriod"/>
            </a:pPr>
            <a:r>
              <a:rPr lang="en-US" sz="1600" dirty="0">
                <a:latin typeface="Arial" panose="020B0604020202020204" pitchFamily="34" charset="0"/>
              </a:rPr>
              <a:t>Summarize definition, types and operations of deque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9698182"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Double Ended  Queue</a:t>
            </a:r>
          </a:p>
          <a:p>
            <a:r>
              <a:rPr lang="en-US" sz="2800" b="1" dirty="0">
                <a:latin typeface="Times New Roman" pitchFamily="18" charset="0"/>
                <a:cs typeface="Times New Roman" pitchFamily="18" charset="0"/>
              </a:rPr>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47444" y="1465781"/>
            <a:ext cx="11336055" cy="4524315"/>
          </a:xfrm>
          <a:prstGeom prst="rect">
            <a:avLst/>
          </a:prstGeom>
          <a:noFill/>
        </p:spPr>
        <p:txBody>
          <a:bodyPr wrap="square" rtlCol="0">
            <a:spAutoFit/>
          </a:bodyPr>
          <a:lstStyle/>
          <a:p>
            <a:pPr algn="just">
              <a:buFont typeface="Wingdings" pitchFamily="2" charset="2"/>
              <a:buChar char="Ø"/>
            </a:pPr>
            <a:r>
              <a:rPr lang="en-IN" sz="3200" dirty="0"/>
              <a:t> A </a:t>
            </a:r>
            <a:r>
              <a:rPr lang="en-IN" sz="3200" b="1" dirty="0"/>
              <a:t>double-ended queue </a:t>
            </a:r>
            <a:r>
              <a:rPr lang="en-IN" sz="3200" dirty="0"/>
              <a:t>is a linear data structure where the insertion and deletion operations are performed from both ends. It is also called as deque.</a:t>
            </a:r>
          </a:p>
          <a:p>
            <a:pPr algn="just">
              <a:buNone/>
            </a:pPr>
            <a:endParaRPr lang="en-IN" sz="3200" dirty="0">
              <a:latin typeface="Times New Roman" pitchFamily="18" charset="0"/>
              <a:cs typeface="Times New Roman" pitchFamily="18" charset="0"/>
            </a:endParaRPr>
          </a:p>
          <a:p>
            <a:pPr algn="just">
              <a:buFont typeface="Wingdings" pitchFamily="2" charset="2"/>
              <a:buChar char="Ø"/>
            </a:pPr>
            <a:r>
              <a:rPr lang="en-IN" sz="3200" dirty="0"/>
              <a:t> Though the insertion and deletion in a deque can be performed on both ends, it does not follow the FIFO rule. The representation of a deque is given as follows:</a:t>
            </a:r>
          </a:p>
          <a:p>
            <a:pPr algn="just">
              <a:buFont typeface="Wingdings" pitchFamily="2" charset="2"/>
              <a:buChar char="Ø"/>
            </a:pPr>
            <a:endParaRPr lang="en-IN" sz="32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p:txBody>
      </p:sp>
      <p:pic>
        <p:nvPicPr>
          <p:cNvPr id="1026" name="Picture 2" descr="Deque (or double-ended queue)">
            <a:extLst>
              <a:ext uri="{FF2B5EF4-FFF2-40B4-BE49-F238E27FC236}">
                <a16:creationId xmlns:a16="http://schemas.microsoft.com/office/drawing/2014/main" id="{C9BF08A2-0256-8B79-C439-BF3FF440C4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9185" y="4752023"/>
            <a:ext cx="9593630" cy="2021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722291" y="23590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Types of Double Ended Queues</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id="{38D22C47-19E7-D0A5-602B-8F118BE236C4}"/>
              </a:ext>
            </a:extLst>
          </p:cNvPr>
          <p:cNvSpPr txBox="1"/>
          <p:nvPr/>
        </p:nvSpPr>
        <p:spPr>
          <a:xfrm>
            <a:off x="226319" y="958563"/>
            <a:ext cx="10461523" cy="3046988"/>
          </a:xfrm>
          <a:prstGeom prst="rect">
            <a:avLst/>
          </a:prstGeom>
          <a:noFill/>
        </p:spPr>
        <p:txBody>
          <a:bodyPr wrap="square" rtlCol="0">
            <a:spAutoFit/>
          </a:bodyPr>
          <a:lstStyle/>
          <a:p>
            <a:pPr marL="285750" indent="-285750">
              <a:buFont typeface="Wingdings" panose="05000000000000000000" pitchFamily="2" charset="2"/>
              <a:buChar char="Ø"/>
            </a:pPr>
            <a:r>
              <a:rPr lang="en-IN" sz="3200" dirty="0"/>
              <a:t>There are two types of deque:</a:t>
            </a:r>
          </a:p>
          <a:p>
            <a:pPr marL="742950" lvl="1" indent="-285750">
              <a:buFont typeface="Wingdings" panose="05000000000000000000" pitchFamily="2" charset="2"/>
              <a:buChar char="Ø"/>
            </a:pPr>
            <a:r>
              <a:rPr lang="en-IN" sz="3200" dirty="0"/>
              <a:t>Input restricted queue</a:t>
            </a:r>
          </a:p>
          <a:p>
            <a:pPr marL="742950" lvl="1" indent="-285750">
              <a:buFont typeface="Wingdings" panose="05000000000000000000" pitchFamily="2" charset="2"/>
              <a:buChar char="Ø"/>
            </a:pPr>
            <a:r>
              <a:rPr lang="en-IN" sz="3200" dirty="0"/>
              <a:t>Output restricted queue.</a:t>
            </a:r>
          </a:p>
          <a:p>
            <a:pPr marL="742950" lvl="1" indent="-285750">
              <a:buFont typeface="Wingdings" panose="05000000000000000000" pitchFamily="2" charset="2"/>
              <a:buChar char="Ø"/>
            </a:pPr>
            <a:endParaRPr lang="en-IN" sz="3200" dirty="0"/>
          </a:p>
          <a:p>
            <a:pPr marL="742950" lvl="1" indent="-285750">
              <a:buFont typeface="Wingdings" panose="05000000000000000000" pitchFamily="2" charset="2"/>
              <a:buChar char="Ø"/>
            </a:pPr>
            <a:endParaRPr lang="en-IN" sz="3200" dirty="0"/>
          </a:p>
          <a:p>
            <a:pPr lvl="1"/>
            <a:endParaRPr lang="en-IN" sz="3200" dirty="0"/>
          </a:p>
        </p:txBody>
      </p:sp>
      <p:sp>
        <p:nvSpPr>
          <p:cNvPr id="8" name="TextBox 7">
            <a:extLst>
              <a:ext uri="{FF2B5EF4-FFF2-40B4-BE49-F238E27FC236}">
                <a16:creationId xmlns:a16="http://schemas.microsoft.com/office/drawing/2014/main" id="{4023E793-ABA3-F5D1-A934-8F6010CD2776}"/>
              </a:ext>
            </a:extLst>
          </p:cNvPr>
          <p:cNvSpPr txBox="1"/>
          <p:nvPr/>
        </p:nvSpPr>
        <p:spPr>
          <a:xfrm>
            <a:off x="0" y="2471171"/>
            <a:ext cx="11150298" cy="1569660"/>
          </a:xfrm>
          <a:prstGeom prst="rect">
            <a:avLst/>
          </a:prstGeom>
          <a:noFill/>
        </p:spPr>
        <p:txBody>
          <a:bodyPr wrap="square" rtlCol="0">
            <a:spAutoFit/>
          </a:bodyPr>
          <a:lstStyle/>
          <a:p>
            <a:r>
              <a:rPr lang="en-IN" sz="3200" b="1" dirty="0"/>
              <a:t>1. Input restricted Queue </a:t>
            </a:r>
            <a:r>
              <a:rPr lang="en-IN" sz="3200" dirty="0"/>
              <a:t>:</a:t>
            </a:r>
          </a:p>
          <a:p>
            <a:r>
              <a:rPr lang="en-IN" sz="3200" dirty="0"/>
              <a:t>In input restricted queue, insertion operation can be performed </a:t>
            </a:r>
            <a:r>
              <a:rPr lang="en-IN" sz="3200" dirty="0" err="1"/>
              <a:t>ar</a:t>
            </a:r>
            <a:r>
              <a:rPr lang="en-IN" sz="3200" dirty="0"/>
              <a:t> only one end, while deletion can be performed from both ends.</a:t>
            </a:r>
          </a:p>
        </p:txBody>
      </p:sp>
      <p:pic>
        <p:nvPicPr>
          <p:cNvPr id="2050" name="Picture 2" descr="Deque (or double-ended queue)">
            <a:extLst>
              <a:ext uri="{FF2B5EF4-FFF2-40B4-BE49-F238E27FC236}">
                <a16:creationId xmlns:a16="http://schemas.microsoft.com/office/drawing/2014/main" id="{4E8BE09E-C2B3-F5F0-B34B-F3F292D1E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454" y="4040831"/>
            <a:ext cx="8406062" cy="2581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401289" y="0"/>
            <a:ext cx="9927771" cy="86984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Types of Double Ended Queues                    </a:t>
            </a:r>
            <a:r>
              <a:rPr lang="en-US" sz="2800" b="1" dirty="0" err="1">
                <a:latin typeface="Times New Roman" pitchFamily="18" charset="0"/>
                <a:cs typeface="Times New Roman" pitchFamily="18" charset="0"/>
              </a:rPr>
              <a:t>Contd</a:t>
            </a:r>
            <a:r>
              <a:rPr lang="en-US" sz="2800" b="1" dirty="0">
                <a:latin typeface="Times New Roman" pitchFamily="18" charset="0"/>
                <a:cs typeface="Times New Roman" pitchFamily="18" charset="0"/>
              </a:rPr>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62642" y="1263079"/>
            <a:ext cx="11866715" cy="3354765"/>
          </a:xfrm>
          <a:prstGeom prst="rect">
            <a:avLst/>
          </a:prstGeom>
          <a:noFill/>
        </p:spPr>
        <p:txBody>
          <a:bodyPr wrap="square" rtlCol="0">
            <a:spAutoFit/>
          </a:bodyPr>
          <a:lstStyle/>
          <a:p>
            <a:r>
              <a:rPr lang="en-IN" sz="2400" b="1" dirty="0"/>
              <a:t>2. </a:t>
            </a:r>
            <a:r>
              <a:rPr lang="en-IN" sz="2800" b="1" dirty="0"/>
              <a:t>Output restricted Queue:</a:t>
            </a:r>
            <a:endParaRPr lang="en-IN" sz="2800" dirty="0"/>
          </a:p>
          <a:p>
            <a:r>
              <a:rPr lang="en-IN" sz="2400" dirty="0"/>
              <a:t>In output restricted queue, deletion operation can be performed at only one end, while insertion can be performed from both ends.</a:t>
            </a:r>
          </a:p>
          <a:p>
            <a:endParaRPr lang="en-IN" sz="2800" dirty="0"/>
          </a:p>
          <a:p>
            <a:endParaRPr lang="en-IN" sz="2800" b="1" dirty="0"/>
          </a:p>
          <a:p>
            <a:endParaRPr lang="en-IN" sz="2800" b="1" dirty="0"/>
          </a:p>
          <a:p>
            <a:pPr algn="ctr"/>
            <a:endParaRPr lang="en-IN" sz="2800" b="1" dirty="0"/>
          </a:p>
          <a:p>
            <a:r>
              <a:rPr lang="en-IN" sz="2400" b="1" dirty="0"/>
              <a:t>			</a:t>
            </a:r>
            <a:endParaRPr lang="en-IN" sz="2000" dirty="0"/>
          </a:p>
        </p:txBody>
      </p:sp>
      <p:pic>
        <p:nvPicPr>
          <p:cNvPr id="3074" name="Picture 2" descr="Deque (or double-ended queue)">
            <a:extLst>
              <a:ext uri="{FF2B5EF4-FFF2-40B4-BE49-F238E27FC236}">
                <a16:creationId xmlns:a16="http://schemas.microsoft.com/office/drawing/2014/main" id="{2D181660-809A-9660-122B-D2E43A9DA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1894" y="2538413"/>
            <a:ext cx="7327937" cy="2720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592390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OPERATIONS ON DEQUE</a:t>
            </a:r>
            <a:r>
              <a:rPr lang="en-US" sz="2400" dirty="0"/>
              <a:t>                          </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4339650"/>
          </a:xfrm>
          <a:prstGeom prst="rect">
            <a:avLst/>
          </a:prstGeom>
        </p:spPr>
        <p:txBody>
          <a:bodyPr wrap="square">
            <a:spAutoFit/>
          </a:bodyPr>
          <a:lstStyle/>
          <a:p>
            <a:r>
              <a:rPr lang="en-IN" sz="2800" dirty="0"/>
              <a:t>In a double ended queue, we can perform the following operations...</a:t>
            </a:r>
          </a:p>
          <a:p>
            <a:pPr lvl="1">
              <a:buFont typeface="Wingdings" pitchFamily="2" charset="2"/>
              <a:buChar char="v"/>
            </a:pPr>
            <a:r>
              <a:rPr lang="en-IN" sz="2800" dirty="0"/>
              <a:t> Insertion at front</a:t>
            </a:r>
          </a:p>
          <a:p>
            <a:pPr lvl="1">
              <a:buFont typeface="Wingdings" pitchFamily="2" charset="2"/>
              <a:buChar char="v"/>
            </a:pPr>
            <a:r>
              <a:rPr lang="en-IN" sz="2800" dirty="0"/>
              <a:t> Insertion at rear</a:t>
            </a:r>
          </a:p>
          <a:p>
            <a:pPr lvl="1"/>
            <a:endParaRPr lang="en-IN" sz="2800" dirty="0"/>
          </a:p>
          <a:p>
            <a:pPr lvl="1">
              <a:buFont typeface="Wingdings" pitchFamily="2" charset="2"/>
              <a:buChar char="v"/>
            </a:pPr>
            <a:r>
              <a:rPr lang="en-IN" sz="2800" dirty="0"/>
              <a:t> Deletion at front</a:t>
            </a:r>
          </a:p>
          <a:p>
            <a:pPr lvl="1">
              <a:buFont typeface="Wingdings" pitchFamily="2" charset="2"/>
              <a:buChar char="v"/>
            </a:pPr>
            <a:r>
              <a:rPr lang="en-IN" sz="2800" dirty="0"/>
              <a:t> Deletion at rear</a:t>
            </a:r>
          </a:p>
          <a:p>
            <a:pPr lvl="1"/>
            <a:endParaRPr lang="en-IN" sz="2800" dirty="0"/>
          </a:p>
          <a:p>
            <a:pPr lvl="1">
              <a:buFont typeface="Wingdings" pitchFamily="2" charset="2"/>
              <a:buChar char="v"/>
            </a:pPr>
            <a:r>
              <a:rPr lang="en-IN" sz="2800" dirty="0"/>
              <a:t> Display</a:t>
            </a:r>
          </a:p>
          <a:p>
            <a:endParaRPr lang="en-IN" sz="2800" b="1" dirty="0"/>
          </a:p>
          <a:p>
            <a:pPr lvl="1"/>
            <a:endParaRPr lang="en-IN" sz="2400" dirty="0"/>
          </a:p>
        </p:txBody>
      </p:sp>
      <p:sp>
        <p:nvSpPr>
          <p:cNvPr id="19458" name="AutoShape 2" descr="Double Ended Queue (Deque) in Data structure - Simpleriz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3939540"/>
          </a:xfrm>
          <a:prstGeom prst="rect">
            <a:avLst/>
          </a:prstGeom>
        </p:spPr>
        <p:txBody>
          <a:bodyPr wrap="square">
            <a:spAutoFit/>
          </a:bodyPr>
          <a:lstStyle/>
          <a:p>
            <a:pPr marL="457200" indent="-457200">
              <a:buAutoNum type="arabicPeriod"/>
            </a:pPr>
            <a:r>
              <a:rPr lang="en-IN" sz="2500" b="1" dirty="0"/>
              <a:t>Insertion at the front end:</a:t>
            </a:r>
          </a:p>
          <a:p>
            <a:pPr marL="457200" indent="-457200">
              <a:buAutoNum type="arabicPeriod"/>
            </a:pPr>
            <a:endParaRPr lang="en-IN" sz="2500" b="1" dirty="0"/>
          </a:p>
          <a:p>
            <a:r>
              <a:rPr lang="en-IN" sz="2500" dirty="0"/>
              <a:t>In this operation, the element is inserted from the front end of the queue. Before implementing the operation, first we have to check whether the queue is full or not. If the queue is not full, then the element can be inserted from the front end by using the following conditions:</a:t>
            </a:r>
          </a:p>
          <a:p>
            <a:pPr marL="800100" lvl="1" indent="-342900">
              <a:buFont typeface="Wingdings" panose="05000000000000000000" pitchFamily="2" charset="2"/>
              <a:buChar char="Ø"/>
            </a:pPr>
            <a:r>
              <a:rPr lang="en-IN" sz="2500" dirty="0"/>
              <a:t>If the queue is empty, both rear and front are initialized with 0. Now, both will point to the first element.</a:t>
            </a:r>
          </a:p>
          <a:p>
            <a:pPr marL="800100" lvl="1" indent="-342900">
              <a:buFont typeface="Wingdings" panose="05000000000000000000" pitchFamily="2" charset="2"/>
              <a:buChar char="Ø"/>
            </a:pPr>
            <a:r>
              <a:rPr lang="en-IN" sz="2500" dirty="0"/>
              <a:t> otherwise, check the position of the front, if the front is less than 1, then reinitialize it by front=n-1 i.e., the last index of the array.</a:t>
            </a:r>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613A8D16-92AE-4118-5A0E-7BA087379C2B}"/>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4098" name="Picture 2" descr="Deque (or double-ended queue)">
            <a:extLst>
              <a:ext uri="{FF2B5EF4-FFF2-40B4-BE49-F238E27FC236}">
                <a16:creationId xmlns:a16="http://schemas.microsoft.com/office/drawing/2014/main" id="{FB203522-D0BE-95EF-22E9-5BDF28D6F1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790" y="1187117"/>
            <a:ext cx="7358089" cy="5088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732822" cy="3785652"/>
          </a:xfrm>
          <a:prstGeom prst="rect">
            <a:avLst/>
          </a:prstGeom>
        </p:spPr>
        <p:txBody>
          <a:bodyPr wrap="square">
            <a:spAutoFit/>
          </a:bodyPr>
          <a:lstStyle/>
          <a:p>
            <a:r>
              <a:rPr lang="en-IN" sz="2400" b="1" dirty="0"/>
              <a:t>2. Insertion at the rear end:</a:t>
            </a:r>
          </a:p>
          <a:p>
            <a:r>
              <a:rPr lang="en-IN" sz="2400" dirty="0"/>
              <a:t>In this operation, the element is inserted from the rear end of the queue. Before implementing the operation, first we have to check whether the queue is full or not. If the queue is not full, then the element can be inserted from the rear end by using the below conditions:</a:t>
            </a:r>
          </a:p>
          <a:p>
            <a:endParaRPr lang="en-IN" sz="2400" dirty="0"/>
          </a:p>
          <a:p>
            <a:pPr marL="342900" indent="-342900">
              <a:buFont typeface="Wingdings" panose="05000000000000000000" pitchFamily="2" charset="2"/>
              <a:buChar char="Ø"/>
            </a:pPr>
            <a:r>
              <a:rPr lang="en-IN" sz="2400" dirty="0"/>
              <a:t> If the queue is empty, both rear and front are initialized with 0. Now, both will point to the first element.</a:t>
            </a:r>
          </a:p>
          <a:p>
            <a:pPr marL="342900" indent="-342900">
              <a:buFont typeface="Wingdings" panose="05000000000000000000" pitchFamily="2" charset="2"/>
              <a:buChar char="Ø"/>
            </a:pPr>
            <a:r>
              <a:rPr lang="en-IN" sz="2400" dirty="0"/>
              <a:t> Otherwise, increment the rear by 1. If the rear is at last index ( or size -1), then instead of increasing it by 1, we have to make it equal to 0.</a:t>
            </a:r>
          </a:p>
        </p:txBody>
      </p:sp>
      <p:sp>
        <p:nvSpPr>
          <p:cNvPr id="3" name="Rounded Rectangle 17">
            <a:extLst>
              <a:ext uri="{FF2B5EF4-FFF2-40B4-BE49-F238E27FC236}">
                <a16:creationId xmlns:a16="http://schemas.microsoft.com/office/drawing/2014/main" id="{0F1935B7-7585-BA13-837B-4D36F239C8B9}"/>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ounded Rectangle 17">
            <a:extLst>
              <a:ext uri="{FF2B5EF4-FFF2-40B4-BE49-F238E27FC236}">
                <a16:creationId xmlns:a16="http://schemas.microsoft.com/office/drawing/2014/main" id="{04EB4D29-DEE2-3C05-E742-6244A83F64BE}"/>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5122" name="Picture 2" descr="Deque (or double-ended queue)">
            <a:extLst>
              <a:ext uri="{FF2B5EF4-FFF2-40B4-BE49-F238E27FC236}">
                <a16:creationId xmlns:a16="http://schemas.microsoft.com/office/drawing/2014/main" id="{EE782D74-A192-FF97-861F-A52B4E405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548" y="1200149"/>
            <a:ext cx="6972189" cy="4960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5683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838199" y="1175656"/>
            <a:ext cx="11072751" cy="5498275"/>
          </a:xfrm>
        </p:spPr>
        <p:txBody>
          <a:bodyPr/>
          <a:lstStyle/>
          <a:p>
            <a:pPr marL="0" indent="0">
              <a:buNone/>
            </a:pPr>
            <a:r>
              <a:rPr lang="en-IN" sz="2400" b="1" dirty="0"/>
              <a:t>3. Deletion at the front end:</a:t>
            </a:r>
          </a:p>
          <a:p>
            <a:pPr marL="0" indent="0">
              <a:buNone/>
            </a:pPr>
            <a:r>
              <a:rPr lang="en-IN" sz="2400" dirty="0"/>
              <a:t>In this operation, the element is deleted from the front end of the queue. Before implementing the operation, we first check whether the queue is empty or not.</a:t>
            </a:r>
          </a:p>
          <a:p>
            <a:pPr marL="0" indent="0">
              <a:buNone/>
            </a:pPr>
            <a:r>
              <a:rPr lang="en-IN" sz="2400" dirty="0"/>
              <a:t>If the queue is empty i.e., front = -1, it is the underflow condition, and we cannot perform the deletion. If the queue is not full, then the element an be inserted from the front end by using the below conditions:</a:t>
            </a:r>
          </a:p>
          <a:p>
            <a:pPr marL="0" indent="0">
              <a:buNone/>
            </a:pPr>
            <a:endParaRPr lang="en-IN" sz="2400" dirty="0"/>
          </a:p>
          <a:p>
            <a:pPr marL="0" indent="0">
              <a:buNone/>
            </a:pPr>
            <a:r>
              <a:rPr lang="en-IN" sz="2400" dirty="0"/>
              <a:t>If the deque has only one element, set rear = -1 and front = -1</a:t>
            </a:r>
          </a:p>
          <a:p>
            <a:pPr marL="0" indent="0">
              <a:buNone/>
            </a:pPr>
            <a:r>
              <a:rPr lang="en-IN" sz="2400" dirty="0"/>
              <a:t>else, if front is at end (that means front = size – 1) set front = 0’</a:t>
            </a:r>
          </a:p>
          <a:p>
            <a:pPr marL="0" indent="0">
              <a:buNone/>
            </a:pPr>
            <a:r>
              <a:rPr lang="en-IN" sz="2400" dirty="0"/>
              <a:t>else, increment the front by 1. (i.e., front = front + 1)</a:t>
            </a:r>
          </a:p>
          <a:p>
            <a:pPr marL="0" indent="0">
              <a:buNone/>
            </a:pPr>
            <a:endParaRPr lang="en-IN" sz="2400" dirty="0"/>
          </a:p>
          <a:p>
            <a:endParaRPr lang="en-IN" sz="2400" dirty="0"/>
          </a:p>
        </p:txBody>
      </p:sp>
      <p:sp>
        <p:nvSpPr>
          <p:cNvPr id="3" name="Rounded Rectangle 17">
            <a:extLst>
              <a:ext uri="{FF2B5EF4-FFF2-40B4-BE49-F238E27FC236}">
                <a16:creationId xmlns:a16="http://schemas.microsoft.com/office/drawing/2014/main" id="{A38ED79C-1CDB-CF36-7897-4E87B2F2BA6E}"/>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val="3892933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DCABD01D-0814-B784-A2A7-8E7698C01010}"/>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7170" name="Picture 2" descr="Deque (or double-ended queue)">
            <a:extLst>
              <a:ext uri="{FF2B5EF4-FFF2-40B4-BE49-F238E27FC236}">
                <a16:creationId xmlns:a16="http://schemas.microsoft.com/office/drawing/2014/main" id="{5CDB4E4E-2B87-7603-5FCF-3859E8E78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845" y="1200149"/>
            <a:ext cx="8033452" cy="4703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163782"/>
            <a:ext cx="11649692" cy="5557652"/>
          </a:xfrm>
        </p:spPr>
        <p:txBody>
          <a:bodyPr/>
          <a:lstStyle/>
          <a:p>
            <a:pPr marL="0" indent="0">
              <a:buNone/>
            </a:pPr>
            <a:r>
              <a:rPr lang="en-IN" sz="2500" dirty="0"/>
              <a:t>4. </a:t>
            </a:r>
            <a:r>
              <a:rPr lang="en-IN" sz="2500" b="1" dirty="0"/>
              <a:t>Deletion at the rear end:</a:t>
            </a:r>
          </a:p>
          <a:p>
            <a:pPr marL="0" indent="0">
              <a:buNone/>
            </a:pPr>
            <a:r>
              <a:rPr lang="en-IN" sz="2500" dirty="0"/>
              <a:t>In this operation, the element is deleted from the rear end of the queue. Before implementing the queue operation, we first check the queue is empty or not.</a:t>
            </a:r>
          </a:p>
          <a:p>
            <a:pPr marL="0" indent="0">
              <a:buNone/>
            </a:pPr>
            <a:endParaRPr lang="en-IN" sz="2500" dirty="0"/>
          </a:p>
          <a:p>
            <a:pPr marL="0" indent="0">
              <a:buNone/>
            </a:pPr>
            <a:r>
              <a:rPr lang="en-IN" sz="2500" dirty="0"/>
              <a:t>If the queue is empty, i.e., front = -1, it is the underflow condition, and we can’t perform the deletion.</a:t>
            </a:r>
          </a:p>
          <a:p>
            <a:pPr marL="0" indent="0">
              <a:buNone/>
            </a:pPr>
            <a:r>
              <a:rPr lang="en-IN" sz="2500" dirty="0"/>
              <a:t>If the deque has only one element, set rear = -1 and front = -1.</a:t>
            </a:r>
          </a:p>
          <a:p>
            <a:pPr marL="0" indent="0">
              <a:buNone/>
            </a:pPr>
            <a:r>
              <a:rPr lang="en-IN" sz="2500" dirty="0"/>
              <a:t>If rear = 0 (rear is at front), then set rear = n-1.</a:t>
            </a:r>
          </a:p>
          <a:p>
            <a:pPr marL="0" indent="0">
              <a:buNone/>
            </a:pPr>
            <a:r>
              <a:rPr lang="en-IN" sz="2500" dirty="0"/>
              <a:t>else, decrement the rear by 1 (or rear = rear – 1)</a:t>
            </a:r>
          </a:p>
          <a:p>
            <a:endParaRPr lang="en-IN" sz="2500" dirty="0"/>
          </a:p>
        </p:txBody>
      </p:sp>
      <p:sp>
        <p:nvSpPr>
          <p:cNvPr id="4" name="Rounded Rectangle 17">
            <a:extLst>
              <a:ext uri="{FF2B5EF4-FFF2-40B4-BE49-F238E27FC236}">
                <a16:creationId xmlns:a16="http://schemas.microsoft.com/office/drawing/2014/main" id="{4D7D30ED-F2CB-3F78-61E0-721E936ED498}"/>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id="{A615E046-B265-D846-6C9A-2544E05C77E7}"/>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EB100459-EB9B-B14B-1948-70ADFAA457E1}"/>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9218" name="Picture 2" descr="Deque (or double-ended queue)">
            <a:extLst>
              <a:ext uri="{FF2B5EF4-FFF2-40B4-BE49-F238E27FC236}">
                <a16:creationId xmlns:a16="http://schemas.microsoft.com/office/drawing/2014/main" id="{4E0F4CB6-5665-6C67-13BB-63F92EBE2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333" y="1469608"/>
            <a:ext cx="7802887" cy="3792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18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489654" y="1200149"/>
            <a:ext cx="6472620" cy="5262979"/>
          </a:xfrm>
          <a:prstGeom prst="rect">
            <a:avLst/>
          </a:prstGeom>
          <a:noFill/>
        </p:spPr>
        <p:txBody>
          <a:bodyPr wrap="square" rtlCol="0">
            <a:spAutoFit/>
          </a:bodyPr>
          <a:lstStyle/>
          <a:p>
            <a:r>
              <a:rPr lang="en-US" sz="2800" dirty="0"/>
              <a:t>Algorithm: </a:t>
            </a:r>
            <a:r>
              <a:rPr lang="en-US" sz="2800" dirty="0" err="1"/>
              <a:t>insert_front</a:t>
            </a:r>
            <a:r>
              <a:rPr lang="en-US" sz="2800" dirty="0"/>
              <a:t>(int x)</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((f==0 &amp;&amp; r==size-1) || (f==r+1))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"Overflow"</a:t>
            </a: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((f==-1) &amp;&amp; (r==-1))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f=r=0;    </a:t>
            </a:r>
          </a:p>
          <a:p>
            <a:pPr algn="just">
              <a:buFont typeface="+mj-lt"/>
              <a:buAutoNum type="arabicPeriod"/>
            </a:pPr>
            <a:r>
              <a:rPr lang="en-IN" sz="2800" b="0" i="0" dirty="0">
                <a:solidFill>
                  <a:srgbClr val="000000"/>
                </a:solidFill>
                <a:effectLst/>
                <a:latin typeface="inter-regular"/>
              </a:rPr>
              <a:t>        deque[f]=x;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(f==0)   </a:t>
            </a:r>
          </a:p>
        </p:txBody>
      </p:sp>
      <p:sp>
        <p:nvSpPr>
          <p:cNvPr id="2" name="Rounded Rectangle 17">
            <a:extLst>
              <a:ext uri="{FF2B5EF4-FFF2-40B4-BE49-F238E27FC236}">
                <a16:creationId xmlns:a16="http://schemas.microsoft.com/office/drawing/2014/main" id="{F11E4390-10C3-84D0-99DD-DD9053CA7920}"/>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
        <p:nvSpPr>
          <p:cNvPr id="3" name="TextBox 2">
            <a:extLst>
              <a:ext uri="{FF2B5EF4-FFF2-40B4-BE49-F238E27FC236}">
                <a16:creationId xmlns:a16="http://schemas.microsoft.com/office/drawing/2014/main" id="{1C262D20-E186-3840-5084-173F26C6B852}"/>
              </a:ext>
            </a:extLst>
          </p:cNvPr>
          <p:cNvSpPr txBox="1"/>
          <p:nvPr/>
        </p:nvSpPr>
        <p:spPr>
          <a:xfrm>
            <a:off x="6657474" y="1200149"/>
            <a:ext cx="5309937" cy="4401205"/>
          </a:xfrm>
          <a:prstGeom prst="rect">
            <a:avLst/>
          </a:prstGeom>
          <a:noFill/>
        </p:spPr>
        <p:txBody>
          <a:bodyPr wrap="square" rtlCol="0">
            <a:spAutoFit/>
          </a:bodyPr>
          <a:lstStyle/>
          <a:p>
            <a:pPr algn="just"/>
            <a:r>
              <a:rPr lang="en-IN" sz="2800" b="0" i="0" dirty="0">
                <a:solidFill>
                  <a:srgbClr val="000000"/>
                </a:solidFill>
                <a:effectLst/>
                <a:latin typeface="inter-regular"/>
              </a:rPr>
              <a:t>12. {    </a:t>
            </a:r>
          </a:p>
          <a:p>
            <a:pPr algn="just"/>
            <a:r>
              <a:rPr lang="en-IN" sz="2800" dirty="0">
                <a:solidFill>
                  <a:srgbClr val="000000"/>
                </a:solidFill>
                <a:latin typeface="inter-regular"/>
              </a:rPr>
              <a:t>13.</a:t>
            </a:r>
            <a:r>
              <a:rPr lang="en-IN" sz="2800" b="0" i="0" dirty="0">
                <a:solidFill>
                  <a:srgbClr val="000000"/>
                </a:solidFill>
                <a:effectLst/>
                <a:latin typeface="inter-regular"/>
              </a:rPr>
              <a:t>     f=size-1;    </a:t>
            </a:r>
          </a:p>
          <a:p>
            <a:pPr algn="just"/>
            <a:r>
              <a:rPr lang="en-IN" sz="2800" dirty="0">
                <a:solidFill>
                  <a:srgbClr val="000000"/>
                </a:solidFill>
                <a:latin typeface="inter-regular"/>
              </a:rPr>
              <a:t>14.</a:t>
            </a:r>
            <a:r>
              <a:rPr lang="en-IN" sz="2800" b="0" i="0" dirty="0">
                <a:solidFill>
                  <a:srgbClr val="000000"/>
                </a:solidFill>
                <a:effectLst/>
                <a:latin typeface="inter-regular"/>
              </a:rPr>
              <a:t>      deque[f]=x;    </a:t>
            </a:r>
          </a:p>
          <a:p>
            <a:pPr algn="just"/>
            <a:r>
              <a:rPr lang="en-IN" sz="2800" dirty="0">
                <a:solidFill>
                  <a:srgbClr val="000000"/>
                </a:solidFill>
                <a:latin typeface="inter-regular"/>
              </a:rPr>
              <a:t>15.</a:t>
            </a:r>
            <a:r>
              <a:rPr lang="en-IN" sz="2800" b="0" i="0" dirty="0">
                <a:solidFill>
                  <a:srgbClr val="000000"/>
                </a:solidFill>
                <a:effectLst/>
                <a:latin typeface="inter-regular"/>
              </a:rPr>
              <a:t>  }    </a:t>
            </a:r>
          </a:p>
          <a:p>
            <a:pPr algn="just"/>
            <a:r>
              <a:rPr lang="en-IN" sz="2800" dirty="0">
                <a:solidFill>
                  <a:srgbClr val="000000"/>
                </a:solidFill>
                <a:latin typeface="inter-regular"/>
              </a:rPr>
              <a:t>16. </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p>
          <a:p>
            <a:pPr algn="just"/>
            <a:r>
              <a:rPr lang="en-IN" sz="2800" dirty="0">
                <a:solidFill>
                  <a:srgbClr val="000000"/>
                </a:solidFill>
                <a:latin typeface="inter-regular"/>
              </a:rPr>
              <a:t>17. </a:t>
            </a:r>
            <a:r>
              <a:rPr lang="en-IN" sz="2800" b="0" i="0" dirty="0">
                <a:solidFill>
                  <a:srgbClr val="000000"/>
                </a:solidFill>
                <a:effectLst/>
                <a:latin typeface="inter-regular"/>
              </a:rPr>
              <a:t> {    </a:t>
            </a:r>
          </a:p>
          <a:p>
            <a:pPr algn="just"/>
            <a:r>
              <a:rPr lang="en-IN" sz="2800" dirty="0">
                <a:solidFill>
                  <a:srgbClr val="000000"/>
                </a:solidFill>
                <a:latin typeface="inter-regular"/>
              </a:rPr>
              <a:t>18.</a:t>
            </a:r>
            <a:r>
              <a:rPr lang="en-IN" sz="2800" b="0" i="0" dirty="0">
                <a:solidFill>
                  <a:srgbClr val="000000"/>
                </a:solidFill>
                <a:effectLst/>
                <a:latin typeface="inter-regular"/>
              </a:rPr>
              <a:t>     f=f-1;    </a:t>
            </a:r>
          </a:p>
          <a:p>
            <a:pPr algn="just"/>
            <a:r>
              <a:rPr lang="en-IN" sz="2800" dirty="0">
                <a:solidFill>
                  <a:srgbClr val="000000"/>
                </a:solidFill>
                <a:latin typeface="inter-regular"/>
              </a:rPr>
              <a:t>19.</a:t>
            </a:r>
            <a:r>
              <a:rPr lang="en-IN" sz="2800" b="0" i="0" dirty="0">
                <a:solidFill>
                  <a:srgbClr val="000000"/>
                </a:solidFill>
                <a:effectLst/>
                <a:latin typeface="inter-regular"/>
              </a:rPr>
              <a:t>      deque[f]=x;    </a:t>
            </a:r>
          </a:p>
          <a:p>
            <a:pPr algn="just"/>
            <a:r>
              <a:rPr lang="en-IN" sz="2800" dirty="0">
                <a:solidFill>
                  <a:srgbClr val="000000"/>
                </a:solidFill>
                <a:latin typeface="inter-regular"/>
              </a:rPr>
              <a:t>20.</a:t>
            </a:r>
            <a:r>
              <a:rPr lang="en-IN" sz="2800" b="0" i="0" dirty="0">
                <a:solidFill>
                  <a:srgbClr val="000000"/>
                </a:solidFill>
                <a:effectLst/>
                <a:latin typeface="inter-regular"/>
              </a:rPr>
              <a:t>  }    </a:t>
            </a:r>
          </a:p>
          <a:p>
            <a:pPr algn="just"/>
            <a:r>
              <a:rPr lang="en-IN" sz="2800" dirty="0">
                <a:solidFill>
                  <a:srgbClr val="000000"/>
                </a:solidFill>
                <a:latin typeface="inter-regular"/>
              </a:rPr>
              <a:t>21. </a:t>
            </a:r>
            <a:r>
              <a:rPr lang="en-IN" sz="2800" b="0" i="0" dirty="0">
                <a:solidFill>
                  <a:srgbClr val="000000"/>
                </a:solidFill>
                <a:effectLst/>
                <a:latin typeface="inter-regular"/>
              </a:rPr>
              <a:t>}   </a:t>
            </a:r>
            <a:endParaRPr lang="en-IN" sz="2800" dirty="0"/>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id="{D7B14F6C-7CD2-A478-75A1-4CC51CE5474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5043B9C6-E719-D5C0-7030-255624001057}"/>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
        <p:nvSpPr>
          <p:cNvPr id="6" name="TextBox 5">
            <a:extLst>
              <a:ext uri="{FF2B5EF4-FFF2-40B4-BE49-F238E27FC236}">
                <a16:creationId xmlns:a16="http://schemas.microsoft.com/office/drawing/2014/main" id="{308E5C76-8D3F-3B39-1AFA-2C952B24CB38}"/>
              </a:ext>
            </a:extLst>
          </p:cNvPr>
          <p:cNvSpPr txBox="1"/>
          <p:nvPr/>
        </p:nvSpPr>
        <p:spPr>
          <a:xfrm>
            <a:off x="489654" y="1200149"/>
            <a:ext cx="6472620" cy="5262979"/>
          </a:xfrm>
          <a:prstGeom prst="rect">
            <a:avLst/>
          </a:prstGeom>
          <a:noFill/>
        </p:spPr>
        <p:txBody>
          <a:bodyPr wrap="square" rtlCol="0">
            <a:spAutoFit/>
          </a:bodyPr>
          <a:lstStyle/>
          <a:p>
            <a:r>
              <a:rPr lang="en-US" sz="2800" dirty="0"/>
              <a:t>Algorithm: </a:t>
            </a:r>
            <a:r>
              <a:rPr lang="en-US" sz="2800" dirty="0" err="1"/>
              <a:t>insert_rear</a:t>
            </a:r>
            <a:r>
              <a:rPr lang="en-US" sz="2800" dirty="0"/>
              <a:t>(int x)</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((f==0 &amp;&amp; r==size-1) || (f==r+1))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"Overflow"</a:t>
            </a: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((f==-1) &amp;&amp; (r==-1))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r=0;    </a:t>
            </a:r>
          </a:p>
          <a:p>
            <a:pPr algn="just">
              <a:buFont typeface="+mj-lt"/>
              <a:buAutoNum type="arabicPeriod"/>
            </a:pPr>
            <a:r>
              <a:rPr lang="en-IN" sz="2800" b="0" i="0" dirty="0">
                <a:solidFill>
                  <a:srgbClr val="000000"/>
                </a:solidFill>
                <a:effectLst/>
                <a:latin typeface="inter-regular"/>
              </a:rPr>
              <a:t>        deque[r]=x;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(r==size-1)    </a:t>
            </a:r>
          </a:p>
        </p:txBody>
      </p:sp>
      <p:sp>
        <p:nvSpPr>
          <p:cNvPr id="7" name="TextBox 6">
            <a:extLst>
              <a:ext uri="{FF2B5EF4-FFF2-40B4-BE49-F238E27FC236}">
                <a16:creationId xmlns:a16="http://schemas.microsoft.com/office/drawing/2014/main" id="{7E6D0303-FAEF-34EB-A131-A218D3A623A6}"/>
              </a:ext>
            </a:extLst>
          </p:cNvPr>
          <p:cNvSpPr txBox="1"/>
          <p:nvPr/>
        </p:nvSpPr>
        <p:spPr>
          <a:xfrm>
            <a:off x="6657474" y="1200149"/>
            <a:ext cx="5309937" cy="4401205"/>
          </a:xfrm>
          <a:prstGeom prst="rect">
            <a:avLst/>
          </a:prstGeom>
          <a:noFill/>
        </p:spPr>
        <p:txBody>
          <a:bodyPr wrap="square" rtlCol="0">
            <a:spAutoFit/>
          </a:bodyPr>
          <a:lstStyle/>
          <a:p>
            <a:pPr algn="just"/>
            <a:r>
              <a:rPr lang="en-IN" sz="2800" b="0" i="0" dirty="0">
                <a:solidFill>
                  <a:srgbClr val="000000"/>
                </a:solidFill>
                <a:effectLst/>
                <a:latin typeface="inter-regular"/>
              </a:rPr>
              <a:t>12. {    </a:t>
            </a:r>
          </a:p>
          <a:p>
            <a:pPr algn="just"/>
            <a:r>
              <a:rPr lang="en-IN" sz="2800" dirty="0">
                <a:solidFill>
                  <a:srgbClr val="000000"/>
                </a:solidFill>
                <a:latin typeface="inter-regular"/>
              </a:rPr>
              <a:t>13.</a:t>
            </a:r>
            <a:r>
              <a:rPr lang="en-IN" sz="2800" b="0" i="0" dirty="0">
                <a:solidFill>
                  <a:srgbClr val="000000"/>
                </a:solidFill>
                <a:effectLst/>
                <a:latin typeface="inter-regular"/>
              </a:rPr>
              <a:t>      r=0;    </a:t>
            </a:r>
          </a:p>
          <a:p>
            <a:pPr algn="just"/>
            <a:r>
              <a:rPr lang="en-IN" sz="2800" b="0" i="0" dirty="0">
                <a:solidFill>
                  <a:srgbClr val="000000"/>
                </a:solidFill>
                <a:effectLst/>
                <a:latin typeface="inter-regular"/>
              </a:rPr>
              <a:t>14.        deque[r]=x;    </a:t>
            </a:r>
          </a:p>
          <a:p>
            <a:pPr algn="just"/>
            <a:r>
              <a:rPr lang="en-IN" sz="2800" dirty="0">
                <a:solidFill>
                  <a:srgbClr val="000000"/>
                </a:solidFill>
                <a:latin typeface="inter-regular"/>
              </a:rPr>
              <a:t>15.</a:t>
            </a:r>
            <a:r>
              <a:rPr lang="en-IN" sz="2800" b="0" i="0" dirty="0">
                <a:solidFill>
                  <a:srgbClr val="000000"/>
                </a:solidFill>
                <a:effectLst/>
                <a:latin typeface="inter-regular"/>
              </a:rPr>
              <a:t>  }    </a:t>
            </a:r>
          </a:p>
          <a:p>
            <a:pPr algn="just"/>
            <a:r>
              <a:rPr lang="en-IN" sz="2800" dirty="0">
                <a:solidFill>
                  <a:srgbClr val="000000"/>
                </a:solidFill>
                <a:latin typeface="inter-regular"/>
              </a:rPr>
              <a:t>16.</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p>
          <a:p>
            <a:pPr algn="just"/>
            <a:r>
              <a:rPr lang="en-IN" sz="2800" dirty="0">
                <a:solidFill>
                  <a:srgbClr val="000000"/>
                </a:solidFill>
                <a:latin typeface="inter-regular"/>
              </a:rPr>
              <a:t>17.</a:t>
            </a:r>
            <a:r>
              <a:rPr lang="en-IN" sz="2800" b="0" i="0" dirty="0">
                <a:solidFill>
                  <a:srgbClr val="000000"/>
                </a:solidFill>
                <a:effectLst/>
                <a:latin typeface="inter-regular"/>
              </a:rPr>
              <a:t>   {    </a:t>
            </a:r>
          </a:p>
          <a:p>
            <a:pPr algn="just"/>
            <a:r>
              <a:rPr lang="en-IN" sz="2800" dirty="0">
                <a:solidFill>
                  <a:srgbClr val="000000"/>
                </a:solidFill>
                <a:latin typeface="inter-regular"/>
              </a:rPr>
              <a:t>18.</a:t>
            </a:r>
            <a:r>
              <a:rPr lang="en-IN" sz="2800" b="0" i="0" dirty="0">
                <a:solidFill>
                  <a:srgbClr val="000000"/>
                </a:solidFill>
                <a:effectLst/>
                <a:latin typeface="inter-regular"/>
              </a:rPr>
              <a:t>      r++;    </a:t>
            </a:r>
          </a:p>
          <a:p>
            <a:pPr algn="just"/>
            <a:r>
              <a:rPr lang="en-IN" sz="2800" dirty="0">
                <a:solidFill>
                  <a:srgbClr val="000000"/>
                </a:solidFill>
                <a:latin typeface="inter-regular"/>
              </a:rPr>
              <a:t>19.</a:t>
            </a:r>
            <a:r>
              <a:rPr lang="en-IN" sz="2800" b="0" i="0" dirty="0">
                <a:solidFill>
                  <a:srgbClr val="000000"/>
                </a:solidFill>
                <a:effectLst/>
                <a:latin typeface="inter-regular"/>
              </a:rPr>
              <a:t>      deque[r]=x;    </a:t>
            </a:r>
          </a:p>
          <a:p>
            <a:pPr algn="just"/>
            <a:r>
              <a:rPr lang="en-IN" sz="2800" dirty="0">
                <a:solidFill>
                  <a:srgbClr val="000000"/>
                </a:solidFill>
                <a:latin typeface="inter-regular"/>
              </a:rPr>
              <a:t>20.</a:t>
            </a:r>
            <a:r>
              <a:rPr lang="en-IN" sz="2800" b="0" i="0" dirty="0">
                <a:solidFill>
                  <a:srgbClr val="000000"/>
                </a:solidFill>
                <a:effectLst/>
                <a:latin typeface="inter-regular"/>
              </a:rPr>
              <a:t>  }      </a:t>
            </a:r>
          </a:p>
          <a:p>
            <a:pPr algn="just"/>
            <a:r>
              <a:rPr lang="en-IN" sz="2800" b="0" i="0" dirty="0">
                <a:solidFill>
                  <a:srgbClr val="000000"/>
                </a:solidFill>
                <a:effectLst/>
                <a:latin typeface="inter-regular"/>
              </a:rPr>
              <a:t>21}    </a:t>
            </a:r>
          </a:p>
        </p:txBody>
      </p:sp>
    </p:spTree>
    <p:extLst>
      <p:ext uri="{BB962C8B-B14F-4D97-AF65-F5344CB8AC3E}">
        <p14:creationId xmlns:p14="http://schemas.microsoft.com/office/powerpoint/2010/main" val="353196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id="{D057AFD3-558C-10ED-F83E-2F881EF5DA1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DDEE1C5D-274C-76AE-ACBD-26CFA6C9DF23}"/>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
        <p:nvSpPr>
          <p:cNvPr id="6" name="TextBox 5">
            <a:extLst>
              <a:ext uri="{FF2B5EF4-FFF2-40B4-BE49-F238E27FC236}">
                <a16:creationId xmlns:a16="http://schemas.microsoft.com/office/drawing/2014/main" id="{6550556F-FDE3-2C8C-3AA6-36571026CF67}"/>
              </a:ext>
            </a:extLst>
          </p:cNvPr>
          <p:cNvSpPr txBox="1"/>
          <p:nvPr/>
        </p:nvSpPr>
        <p:spPr>
          <a:xfrm>
            <a:off x="489654" y="1200149"/>
            <a:ext cx="6472620" cy="6124754"/>
          </a:xfrm>
          <a:prstGeom prst="rect">
            <a:avLst/>
          </a:prstGeom>
          <a:noFill/>
        </p:spPr>
        <p:txBody>
          <a:bodyPr wrap="square" rtlCol="0">
            <a:spAutoFit/>
          </a:bodyPr>
          <a:lstStyle/>
          <a:p>
            <a:r>
              <a:rPr lang="en-US" sz="2800" dirty="0"/>
              <a:t>Algorithm: </a:t>
            </a:r>
            <a:r>
              <a:rPr lang="en-US" sz="2800" dirty="0" err="1"/>
              <a:t>delete_front</a:t>
            </a:r>
            <a:r>
              <a:rPr lang="en-US" sz="2800" dirty="0"/>
              <a:t>()</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((f==-1) &amp;&amp; (r==-1))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"Deque is empty"</a:t>
            </a: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(f==r)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deque[f]);    </a:t>
            </a:r>
          </a:p>
          <a:p>
            <a:pPr algn="just">
              <a:buFont typeface="+mj-lt"/>
              <a:buAutoNum type="arabicPeriod"/>
            </a:pPr>
            <a:r>
              <a:rPr lang="en-IN" sz="2800" b="0" i="0" dirty="0">
                <a:solidFill>
                  <a:srgbClr val="000000"/>
                </a:solidFill>
                <a:effectLst/>
                <a:latin typeface="inter-regular"/>
              </a:rPr>
              <a:t>        f=-1;    </a:t>
            </a:r>
          </a:p>
          <a:p>
            <a:pPr algn="just">
              <a:buFont typeface="+mj-lt"/>
              <a:buAutoNum type="arabicPeriod"/>
            </a:pPr>
            <a:r>
              <a:rPr lang="en-IN" sz="2800" b="0" i="0" dirty="0">
                <a:solidFill>
                  <a:srgbClr val="000000"/>
                </a:solidFill>
                <a:effectLst/>
                <a:latin typeface="inter-regular"/>
              </a:rPr>
              <a:t>        r=-1;    </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endParaRPr lang="en-IN" sz="2800" b="0" i="0" dirty="0">
              <a:solidFill>
                <a:srgbClr val="000000"/>
              </a:solidFill>
              <a:effectLst/>
              <a:latin typeface="inter-regular"/>
            </a:endParaRPr>
          </a:p>
        </p:txBody>
      </p:sp>
      <p:sp>
        <p:nvSpPr>
          <p:cNvPr id="7" name="TextBox 6">
            <a:extLst>
              <a:ext uri="{FF2B5EF4-FFF2-40B4-BE49-F238E27FC236}">
                <a16:creationId xmlns:a16="http://schemas.microsoft.com/office/drawing/2014/main" id="{DCDF0ED7-6236-FF54-3A24-08F42B8BB7AB}"/>
              </a:ext>
            </a:extLst>
          </p:cNvPr>
          <p:cNvSpPr txBox="1"/>
          <p:nvPr/>
        </p:nvSpPr>
        <p:spPr>
          <a:xfrm>
            <a:off x="6962274" y="1200149"/>
            <a:ext cx="5309937" cy="5693866"/>
          </a:xfrm>
          <a:prstGeom prst="rect">
            <a:avLst/>
          </a:prstGeom>
          <a:noFill/>
        </p:spPr>
        <p:txBody>
          <a:bodyPr wrap="square" rtlCol="0">
            <a:spAutoFit/>
          </a:bodyPr>
          <a:lstStyle/>
          <a:p>
            <a:pPr algn="just"/>
            <a:r>
              <a:rPr lang="en-IN" sz="2800" dirty="0">
                <a:solidFill>
                  <a:srgbClr val="000000"/>
                </a:solidFill>
                <a:latin typeface="inter-regular"/>
              </a:rPr>
              <a:t>12.</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(f==(size-1))    </a:t>
            </a:r>
          </a:p>
          <a:p>
            <a:pPr algn="just"/>
            <a:r>
              <a:rPr lang="en-IN" sz="2800" dirty="0">
                <a:solidFill>
                  <a:srgbClr val="000000"/>
                </a:solidFill>
                <a:latin typeface="inter-regular"/>
              </a:rPr>
              <a:t>13.</a:t>
            </a:r>
            <a:r>
              <a:rPr lang="en-IN" sz="2800" b="0" i="0" dirty="0">
                <a:solidFill>
                  <a:srgbClr val="000000"/>
                </a:solidFill>
                <a:effectLst/>
                <a:latin typeface="inter-regular"/>
              </a:rPr>
              <a:t>   {    </a:t>
            </a:r>
          </a:p>
          <a:p>
            <a:pPr algn="just"/>
            <a:r>
              <a:rPr lang="en-IN" sz="2800" dirty="0">
                <a:solidFill>
                  <a:srgbClr val="000000"/>
                </a:solidFill>
                <a:latin typeface="inter-regular"/>
              </a:rPr>
              <a:t>14.</a:t>
            </a: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deque[f]);    </a:t>
            </a:r>
          </a:p>
          <a:p>
            <a:pPr algn="just"/>
            <a:r>
              <a:rPr lang="en-IN" sz="2800" dirty="0">
                <a:solidFill>
                  <a:srgbClr val="000000"/>
                </a:solidFill>
                <a:latin typeface="inter-regular"/>
              </a:rPr>
              <a:t>15.</a:t>
            </a:r>
            <a:r>
              <a:rPr lang="en-IN" sz="2800" b="0" i="0" dirty="0">
                <a:solidFill>
                  <a:srgbClr val="000000"/>
                </a:solidFill>
                <a:effectLst/>
                <a:latin typeface="inter-regular"/>
              </a:rPr>
              <a:t>       f=0;    </a:t>
            </a:r>
          </a:p>
          <a:p>
            <a:pPr algn="just"/>
            <a:r>
              <a:rPr lang="en-IN" sz="2800" dirty="0">
                <a:solidFill>
                  <a:srgbClr val="000000"/>
                </a:solidFill>
                <a:latin typeface="inter-regular"/>
              </a:rPr>
              <a:t>16.</a:t>
            </a:r>
            <a:r>
              <a:rPr lang="en-IN" sz="2800" b="0" i="0" dirty="0">
                <a:solidFill>
                  <a:srgbClr val="000000"/>
                </a:solidFill>
                <a:effectLst/>
                <a:latin typeface="inter-regular"/>
              </a:rPr>
              <a:t>   }    </a:t>
            </a:r>
          </a:p>
          <a:p>
            <a:pPr algn="just"/>
            <a:r>
              <a:rPr lang="en-IN" sz="2800" dirty="0">
                <a:solidFill>
                  <a:srgbClr val="000000"/>
                </a:solidFill>
                <a:latin typeface="inter-regular"/>
              </a:rPr>
              <a:t>17.</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p>
          <a:p>
            <a:pPr algn="just"/>
            <a:r>
              <a:rPr lang="en-IN" sz="2800" dirty="0">
                <a:solidFill>
                  <a:srgbClr val="000000"/>
                </a:solidFill>
                <a:latin typeface="inter-regular"/>
              </a:rPr>
              <a:t>18.</a:t>
            </a:r>
            <a:r>
              <a:rPr lang="en-IN" sz="2800" b="0" i="0" dirty="0">
                <a:solidFill>
                  <a:srgbClr val="000000"/>
                </a:solidFill>
                <a:effectLst/>
                <a:latin typeface="inter-regular"/>
              </a:rPr>
              <a:t>   {    </a:t>
            </a:r>
          </a:p>
          <a:p>
            <a:pPr algn="just"/>
            <a:r>
              <a:rPr lang="en-IN" sz="2800" dirty="0">
                <a:solidFill>
                  <a:srgbClr val="000000"/>
                </a:solidFill>
                <a:latin typeface="inter-regular"/>
              </a:rPr>
              <a:t>19.</a:t>
            </a: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deque[f]);    </a:t>
            </a:r>
          </a:p>
          <a:p>
            <a:pPr algn="just"/>
            <a:r>
              <a:rPr lang="en-IN" sz="2800" dirty="0">
                <a:solidFill>
                  <a:srgbClr val="000000"/>
                </a:solidFill>
                <a:latin typeface="inter-regular"/>
              </a:rPr>
              <a:t>20.</a:t>
            </a:r>
            <a:r>
              <a:rPr lang="en-IN" sz="2800" b="0" i="0" dirty="0">
                <a:solidFill>
                  <a:srgbClr val="000000"/>
                </a:solidFill>
                <a:effectLst/>
                <a:latin typeface="inter-regular"/>
              </a:rPr>
              <a:t>        f=f+1;    </a:t>
            </a:r>
          </a:p>
          <a:p>
            <a:pPr algn="just"/>
            <a:r>
              <a:rPr lang="en-IN" sz="2800" dirty="0">
                <a:solidFill>
                  <a:srgbClr val="000000"/>
                </a:solidFill>
                <a:latin typeface="inter-regular"/>
              </a:rPr>
              <a:t>21.</a:t>
            </a:r>
            <a:r>
              <a:rPr lang="en-IN" sz="2800" b="0" i="0" dirty="0">
                <a:solidFill>
                  <a:srgbClr val="000000"/>
                </a:solidFill>
                <a:effectLst/>
                <a:latin typeface="inter-regular"/>
              </a:rPr>
              <a:t>   }    </a:t>
            </a:r>
          </a:p>
          <a:p>
            <a:pPr algn="just"/>
            <a:r>
              <a:rPr lang="en-IN" sz="2800" dirty="0">
                <a:solidFill>
                  <a:srgbClr val="000000"/>
                </a:solidFill>
                <a:latin typeface="inter-regular"/>
              </a:rPr>
              <a:t>22. </a:t>
            </a:r>
            <a:r>
              <a:rPr lang="en-IN" sz="2800" b="0" i="0" dirty="0">
                <a:solidFill>
                  <a:srgbClr val="000000"/>
                </a:solidFill>
                <a:effectLst/>
                <a:latin typeface="inter-regular"/>
              </a:rPr>
              <a:t>}      </a:t>
            </a:r>
          </a:p>
        </p:txBody>
      </p:sp>
    </p:spTree>
    <p:extLst>
      <p:ext uri="{BB962C8B-B14F-4D97-AF65-F5344CB8AC3E}">
        <p14:creationId xmlns:p14="http://schemas.microsoft.com/office/powerpoint/2010/main" val="168100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id="{23FDA20A-9A3A-E5DC-D3B5-62DC710E423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725E7E71-8159-957C-9044-B85DC749EC54}"/>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
        <p:nvSpPr>
          <p:cNvPr id="8" name="TextBox 7">
            <a:extLst>
              <a:ext uri="{FF2B5EF4-FFF2-40B4-BE49-F238E27FC236}">
                <a16:creationId xmlns:a16="http://schemas.microsoft.com/office/drawing/2014/main" id="{F3BCDCDD-7B5C-6CA0-1820-D980049C3C88}"/>
              </a:ext>
            </a:extLst>
          </p:cNvPr>
          <p:cNvSpPr txBox="1"/>
          <p:nvPr/>
        </p:nvSpPr>
        <p:spPr>
          <a:xfrm>
            <a:off x="489654" y="1200149"/>
            <a:ext cx="6472620" cy="6124754"/>
          </a:xfrm>
          <a:prstGeom prst="rect">
            <a:avLst/>
          </a:prstGeom>
          <a:noFill/>
        </p:spPr>
        <p:txBody>
          <a:bodyPr wrap="square" rtlCol="0">
            <a:spAutoFit/>
          </a:bodyPr>
          <a:lstStyle/>
          <a:p>
            <a:r>
              <a:rPr lang="en-US" sz="2800" dirty="0"/>
              <a:t>Algorithm: </a:t>
            </a:r>
            <a:r>
              <a:rPr lang="en-US" sz="2800" dirty="0" err="1"/>
              <a:t>delete_rear</a:t>
            </a:r>
            <a:r>
              <a:rPr lang="en-US" sz="2800" dirty="0"/>
              <a:t>()</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((f==-1) &amp;&amp; (r==-1))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"Deque is empty"</a:t>
            </a:r>
            <a:r>
              <a:rPr lang="en-IN" sz="2800" b="0" i="0" dirty="0">
                <a:solidFill>
                  <a:srgbClr val="000000"/>
                </a:solidFill>
                <a:effectLst/>
                <a:latin typeface="inter-regular"/>
              </a:rPr>
              <a:t>);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(f==r)    </a:t>
            </a:r>
          </a:p>
          <a:p>
            <a:pPr algn="just">
              <a:buFont typeface="+mj-lt"/>
              <a:buAutoNum type="arabicPeriod"/>
            </a:pPr>
            <a:r>
              <a:rPr lang="en-IN" sz="2800" b="0" i="0" dirty="0">
                <a:solidFill>
                  <a:srgbClr val="000000"/>
                </a:solidFill>
                <a:effectLst/>
                <a:latin typeface="inter-regular"/>
              </a:rPr>
              <a:t>    {    </a:t>
            </a:r>
          </a:p>
          <a:p>
            <a:pPr algn="just">
              <a:buFont typeface="+mj-lt"/>
              <a:buAutoNum type="arabicPeriod"/>
            </a:pP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deque[f]);    </a:t>
            </a:r>
          </a:p>
          <a:p>
            <a:pPr algn="just">
              <a:buFont typeface="+mj-lt"/>
              <a:buAutoNum type="arabicPeriod"/>
            </a:pPr>
            <a:r>
              <a:rPr lang="en-IN" sz="2800" b="0" i="0" dirty="0">
                <a:solidFill>
                  <a:srgbClr val="000000"/>
                </a:solidFill>
                <a:effectLst/>
                <a:latin typeface="inter-regular"/>
              </a:rPr>
              <a:t>        f=-1;    </a:t>
            </a:r>
          </a:p>
          <a:p>
            <a:pPr algn="just">
              <a:buFont typeface="+mj-lt"/>
              <a:buAutoNum type="arabicPeriod"/>
            </a:pPr>
            <a:r>
              <a:rPr lang="en-IN" sz="2800" b="0" i="0" dirty="0">
                <a:solidFill>
                  <a:srgbClr val="000000"/>
                </a:solidFill>
                <a:effectLst/>
                <a:latin typeface="inter-regular"/>
              </a:rPr>
              <a:t>        r=-1;    </a:t>
            </a:r>
          </a:p>
          <a:p>
            <a:pPr algn="just">
              <a:buFont typeface="+mj-lt"/>
              <a:buAutoNum type="arabicPeriod"/>
            </a:pPr>
            <a:r>
              <a:rPr lang="en-IN" sz="2800" b="0" i="0" dirty="0">
                <a:solidFill>
                  <a:srgbClr val="000000"/>
                </a:solidFill>
                <a:effectLst/>
                <a:latin typeface="inter-regular"/>
              </a:rPr>
              <a:t>   }</a:t>
            </a:r>
          </a:p>
          <a:p>
            <a:pPr algn="just">
              <a:buFont typeface="+mj-lt"/>
              <a:buAutoNum type="arabicPeriod"/>
            </a:pPr>
            <a:endParaRPr lang="en-IN" sz="2800" b="0" i="0" dirty="0">
              <a:solidFill>
                <a:srgbClr val="000000"/>
              </a:solidFill>
              <a:effectLst/>
              <a:latin typeface="inter-regular"/>
            </a:endParaRPr>
          </a:p>
        </p:txBody>
      </p:sp>
      <p:sp>
        <p:nvSpPr>
          <p:cNvPr id="9" name="TextBox 8">
            <a:extLst>
              <a:ext uri="{FF2B5EF4-FFF2-40B4-BE49-F238E27FC236}">
                <a16:creationId xmlns:a16="http://schemas.microsoft.com/office/drawing/2014/main" id="{8A9CB4D8-E20E-8254-0B53-F977DC38BA92}"/>
              </a:ext>
            </a:extLst>
          </p:cNvPr>
          <p:cNvSpPr txBox="1"/>
          <p:nvPr/>
        </p:nvSpPr>
        <p:spPr>
          <a:xfrm>
            <a:off x="6962274" y="1200149"/>
            <a:ext cx="5309937" cy="5693866"/>
          </a:xfrm>
          <a:prstGeom prst="rect">
            <a:avLst/>
          </a:prstGeom>
          <a:noFill/>
        </p:spPr>
        <p:txBody>
          <a:bodyPr wrap="square" rtlCol="0">
            <a:spAutoFit/>
          </a:bodyPr>
          <a:lstStyle/>
          <a:p>
            <a:pPr algn="just"/>
            <a:r>
              <a:rPr lang="en-IN" sz="2800" dirty="0">
                <a:solidFill>
                  <a:srgbClr val="000000"/>
                </a:solidFill>
                <a:latin typeface="inter-regular"/>
              </a:rPr>
              <a:t>12.</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r>
              <a:rPr lang="en-IN" sz="2800" b="1" i="0" dirty="0">
                <a:solidFill>
                  <a:srgbClr val="006699"/>
                </a:solidFill>
                <a:effectLst/>
                <a:latin typeface="inter-regular"/>
              </a:rPr>
              <a:t>if</a:t>
            </a:r>
            <a:r>
              <a:rPr lang="en-IN" sz="2800" b="0" i="0" dirty="0">
                <a:solidFill>
                  <a:srgbClr val="000000"/>
                </a:solidFill>
                <a:effectLst/>
                <a:latin typeface="inter-regular"/>
              </a:rPr>
              <a:t>(r==0)    </a:t>
            </a:r>
          </a:p>
          <a:p>
            <a:pPr algn="just"/>
            <a:r>
              <a:rPr lang="en-IN" sz="2800" dirty="0">
                <a:solidFill>
                  <a:srgbClr val="000000"/>
                </a:solidFill>
                <a:latin typeface="inter-regular"/>
              </a:rPr>
              <a:t>13.</a:t>
            </a:r>
            <a:r>
              <a:rPr lang="en-IN" sz="2800" b="0" i="0" dirty="0">
                <a:solidFill>
                  <a:srgbClr val="000000"/>
                </a:solidFill>
                <a:effectLst/>
                <a:latin typeface="inter-regular"/>
              </a:rPr>
              <a:t>   {    </a:t>
            </a:r>
          </a:p>
          <a:p>
            <a:pPr algn="just"/>
            <a:r>
              <a:rPr lang="en-IN" sz="2800" dirty="0">
                <a:solidFill>
                  <a:srgbClr val="000000"/>
                </a:solidFill>
                <a:latin typeface="inter-regular"/>
              </a:rPr>
              <a:t>14.</a:t>
            </a: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deque[r]);    </a:t>
            </a:r>
          </a:p>
          <a:p>
            <a:pPr algn="just"/>
            <a:r>
              <a:rPr lang="en-IN" sz="2800" dirty="0">
                <a:solidFill>
                  <a:srgbClr val="000000"/>
                </a:solidFill>
                <a:latin typeface="inter-regular"/>
              </a:rPr>
              <a:t>15.</a:t>
            </a:r>
            <a:r>
              <a:rPr lang="en-IN" sz="2800" b="0" i="0" dirty="0">
                <a:solidFill>
                  <a:srgbClr val="000000"/>
                </a:solidFill>
                <a:effectLst/>
                <a:latin typeface="inter-regular"/>
              </a:rPr>
              <a:t>       </a:t>
            </a:r>
            <a:r>
              <a:rPr lang="en-IN" sz="2800" dirty="0">
                <a:solidFill>
                  <a:srgbClr val="000000"/>
                </a:solidFill>
                <a:latin typeface="inter-regular"/>
              </a:rPr>
              <a:t>r=size-1</a:t>
            </a:r>
            <a:r>
              <a:rPr lang="en-IN" sz="2800" b="0" i="0" dirty="0">
                <a:solidFill>
                  <a:srgbClr val="000000"/>
                </a:solidFill>
                <a:effectLst/>
                <a:latin typeface="inter-regular"/>
              </a:rPr>
              <a:t>;    </a:t>
            </a:r>
          </a:p>
          <a:p>
            <a:pPr algn="just"/>
            <a:r>
              <a:rPr lang="en-IN" sz="2800" dirty="0">
                <a:solidFill>
                  <a:srgbClr val="000000"/>
                </a:solidFill>
                <a:latin typeface="inter-regular"/>
              </a:rPr>
              <a:t>16.</a:t>
            </a:r>
            <a:r>
              <a:rPr lang="en-IN" sz="2800" b="0" i="0" dirty="0">
                <a:solidFill>
                  <a:srgbClr val="000000"/>
                </a:solidFill>
                <a:effectLst/>
                <a:latin typeface="inter-regular"/>
              </a:rPr>
              <a:t>   }    </a:t>
            </a:r>
          </a:p>
          <a:p>
            <a:pPr algn="just"/>
            <a:r>
              <a:rPr lang="en-IN" sz="2800" dirty="0">
                <a:solidFill>
                  <a:srgbClr val="000000"/>
                </a:solidFill>
                <a:latin typeface="inter-regular"/>
              </a:rPr>
              <a:t>17.</a:t>
            </a:r>
            <a:r>
              <a:rPr lang="en-IN" sz="2800" b="0" i="0" dirty="0">
                <a:solidFill>
                  <a:srgbClr val="000000"/>
                </a:solidFill>
                <a:effectLst/>
                <a:latin typeface="inter-regular"/>
              </a:rPr>
              <a:t>   </a:t>
            </a:r>
            <a:r>
              <a:rPr lang="en-IN" sz="2800" b="1" i="0" dirty="0">
                <a:solidFill>
                  <a:srgbClr val="006699"/>
                </a:solidFill>
                <a:effectLst/>
                <a:latin typeface="inter-regular"/>
              </a:rPr>
              <a:t>else</a:t>
            </a:r>
            <a:r>
              <a:rPr lang="en-IN" sz="2800" b="0" i="0" dirty="0">
                <a:solidFill>
                  <a:srgbClr val="000000"/>
                </a:solidFill>
                <a:effectLst/>
                <a:latin typeface="inter-regular"/>
              </a:rPr>
              <a:t>    </a:t>
            </a:r>
          </a:p>
          <a:p>
            <a:pPr algn="just"/>
            <a:r>
              <a:rPr lang="en-IN" sz="2800" dirty="0">
                <a:solidFill>
                  <a:srgbClr val="000000"/>
                </a:solidFill>
                <a:latin typeface="inter-regular"/>
              </a:rPr>
              <a:t>18.</a:t>
            </a:r>
            <a:r>
              <a:rPr lang="en-IN" sz="2800" b="0" i="0" dirty="0">
                <a:solidFill>
                  <a:srgbClr val="000000"/>
                </a:solidFill>
                <a:effectLst/>
                <a:latin typeface="inter-regular"/>
              </a:rPr>
              <a:t>   {    </a:t>
            </a:r>
          </a:p>
          <a:p>
            <a:pPr algn="just"/>
            <a:r>
              <a:rPr lang="en-IN" sz="2800" dirty="0">
                <a:solidFill>
                  <a:srgbClr val="000000"/>
                </a:solidFill>
                <a:latin typeface="inter-regular"/>
              </a:rPr>
              <a:t>19.</a:t>
            </a:r>
            <a:r>
              <a:rPr lang="en-IN" sz="2800" b="0" i="0" dirty="0">
                <a:solidFill>
                  <a:srgbClr val="000000"/>
                </a:solidFill>
                <a:effectLst/>
                <a:latin typeface="inter-regular"/>
              </a:rPr>
              <a:t>        </a:t>
            </a:r>
            <a:r>
              <a:rPr lang="en-IN" sz="2800" b="0" i="0" dirty="0" err="1">
                <a:solidFill>
                  <a:srgbClr val="000000"/>
                </a:solidFill>
                <a:effectLst/>
                <a:latin typeface="inter-regular"/>
              </a:rPr>
              <a:t>printf</a:t>
            </a:r>
            <a:r>
              <a:rPr lang="en-IN" sz="2800" b="0" i="0" dirty="0">
                <a:solidFill>
                  <a:srgbClr val="000000"/>
                </a:solidFill>
                <a:effectLst/>
                <a:latin typeface="inter-regular"/>
              </a:rPr>
              <a:t>(</a:t>
            </a:r>
            <a:r>
              <a:rPr lang="en-IN" sz="2800" b="0" i="0" dirty="0">
                <a:solidFill>
                  <a:srgbClr val="0000FF"/>
                </a:solidFill>
                <a:effectLst/>
                <a:latin typeface="inter-regular"/>
              </a:rPr>
              <a:t>"\</a:t>
            </a:r>
            <a:r>
              <a:rPr lang="en-IN" sz="2800" b="0" i="0" dirty="0" err="1">
                <a:solidFill>
                  <a:srgbClr val="0000FF"/>
                </a:solidFill>
                <a:effectLst/>
                <a:latin typeface="inter-regular"/>
              </a:rPr>
              <a:t>nThe</a:t>
            </a:r>
            <a:r>
              <a:rPr lang="en-IN" sz="2800" b="0" i="0" dirty="0">
                <a:solidFill>
                  <a:srgbClr val="0000FF"/>
                </a:solidFill>
                <a:effectLst/>
                <a:latin typeface="inter-regular"/>
              </a:rPr>
              <a:t> deleted element is %d"</a:t>
            </a:r>
            <a:r>
              <a:rPr lang="en-IN" sz="2800" b="0" i="0" dirty="0">
                <a:solidFill>
                  <a:srgbClr val="000000"/>
                </a:solidFill>
                <a:effectLst/>
                <a:latin typeface="inter-regular"/>
              </a:rPr>
              <a:t>, deque[r]);    </a:t>
            </a:r>
          </a:p>
          <a:p>
            <a:pPr algn="just"/>
            <a:r>
              <a:rPr lang="en-IN" sz="2800" dirty="0">
                <a:solidFill>
                  <a:srgbClr val="000000"/>
                </a:solidFill>
                <a:latin typeface="inter-regular"/>
              </a:rPr>
              <a:t>20.</a:t>
            </a:r>
            <a:r>
              <a:rPr lang="en-IN" sz="2800" b="0" i="0" dirty="0">
                <a:solidFill>
                  <a:srgbClr val="000000"/>
                </a:solidFill>
                <a:effectLst/>
                <a:latin typeface="inter-regular"/>
              </a:rPr>
              <a:t>        </a:t>
            </a:r>
            <a:r>
              <a:rPr lang="en-IN" sz="2800" dirty="0">
                <a:solidFill>
                  <a:srgbClr val="000000"/>
                </a:solidFill>
                <a:latin typeface="inter-regular"/>
              </a:rPr>
              <a:t>r=r-1</a:t>
            </a:r>
            <a:r>
              <a:rPr lang="en-IN" sz="2800" b="0" i="0" dirty="0">
                <a:solidFill>
                  <a:srgbClr val="000000"/>
                </a:solidFill>
                <a:effectLst/>
                <a:latin typeface="inter-regular"/>
              </a:rPr>
              <a:t>;    </a:t>
            </a:r>
          </a:p>
          <a:p>
            <a:pPr algn="just"/>
            <a:r>
              <a:rPr lang="en-IN" sz="2800" dirty="0">
                <a:solidFill>
                  <a:srgbClr val="000000"/>
                </a:solidFill>
                <a:latin typeface="inter-regular"/>
              </a:rPr>
              <a:t>21.</a:t>
            </a:r>
            <a:r>
              <a:rPr lang="en-IN" sz="2800" b="0" i="0" dirty="0">
                <a:solidFill>
                  <a:srgbClr val="000000"/>
                </a:solidFill>
                <a:effectLst/>
                <a:latin typeface="inter-regular"/>
              </a:rPr>
              <a:t>   }    </a:t>
            </a:r>
          </a:p>
          <a:p>
            <a:pPr algn="just"/>
            <a:r>
              <a:rPr lang="en-IN" sz="2800" dirty="0">
                <a:solidFill>
                  <a:srgbClr val="000000"/>
                </a:solidFill>
                <a:latin typeface="inter-regular"/>
              </a:rPr>
              <a:t>22. </a:t>
            </a:r>
            <a:r>
              <a:rPr lang="en-IN" sz="2800" b="0" i="0" dirty="0">
                <a:solidFill>
                  <a:srgbClr val="000000"/>
                </a:solidFill>
                <a:effectLst/>
                <a:latin typeface="inter-regular"/>
              </a:rPr>
              <a:t>}      </a:t>
            </a:r>
          </a:p>
        </p:txBody>
      </p:sp>
    </p:spTree>
    <p:extLst>
      <p:ext uri="{BB962C8B-B14F-4D97-AF65-F5344CB8AC3E}">
        <p14:creationId xmlns:p14="http://schemas.microsoft.com/office/powerpoint/2010/main" val="77405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APPLICATIONS OF </a:t>
            </a:r>
            <a:r>
              <a:rPr lang="en-US" sz="2800" b="1" dirty="0" err="1">
                <a:latin typeface="Times New Roman" pitchFamily="18" charset="0"/>
                <a:cs typeface="Times New Roman" pitchFamily="18" charset="0"/>
              </a:rPr>
              <a:t>Deque</a:t>
            </a:r>
            <a:endParaRPr lang="en-US" sz="2800" b="1" dirty="0">
              <a:latin typeface="Times New Roman" pitchFamily="18" charset="0"/>
              <a:cs typeface="Times New Roman" pitchFamily="18" charset="0"/>
            </a:endParaRP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0" y="1252025"/>
            <a:ext cx="12191999" cy="2554545"/>
          </a:xfrm>
          <a:prstGeom prst="rect">
            <a:avLst/>
          </a:prstGeom>
          <a:noFill/>
        </p:spPr>
        <p:txBody>
          <a:bodyPr wrap="square" rtlCol="0">
            <a:spAutoFit/>
          </a:bodyPr>
          <a:lstStyle/>
          <a:p>
            <a:pPr marL="342900" indent="-342900">
              <a:buFont typeface="Wingdings" panose="05000000000000000000" pitchFamily="2" charset="2"/>
              <a:buChar char="Ø"/>
            </a:pPr>
            <a:r>
              <a:rPr lang="en-IN" sz="3200" dirty="0"/>
              <a:t> Deque can be used as both stack and queue, as it support both operations.</a:t>
            </a:r>
          </a:p>
          <a:p>
            <a:pPr marL="342900" indent="-342900"/>
            <a:endParaRPr lang="en-IN" sz="3200" dirty="0"/>
          </a:p>
          <a:p>
            <a:pPr marL="342900" indent="-342900">
              <a:buFont typeface="Wingdings" panose="05000000000000000000" pitchFamily="2" charset="2"/>
              <a:buChar char="Ø"/>
            </a:pPr>
            <a:r>
              <a:rPr lang="en-IN" sz="3200" dirty="0"/>
              <a:t> Deque can be used as a palindrome checker means that if we read the string from both ends, the string would be the same.</a:t>
            </a: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4524315"/>
          </a:xfrm>
          <a:prstGeom prst="rect">
            <a:avLst/>
          </a:prstGeom>
          <a:noFill/>
        </p:spPr>
        <p:txBody>
          <a:bodyPr wrap="square" rtlCol="0">
            <a:spAutoFit/>
          </a:bodyPr>
          <a:lstStyle/>
          <a:p>
            <a:pPr marL="285750" indent="-285750">
              <a:buFont typeface="Wingdings" pitchFamily="2" charset="2"/>
              <a:buChar char="Ø"/>
            </a:pPr>
            <a:r>
              <a:rPr lang="en-IN" sz="2400" dirty="0"/>
              <a:t>Double ended Queue is a linear data structure, where the insertion and deletion operations are performed from both ends. It is also called as deque.</a:t>
            </a:r>
          </a:p>
          <a:p>
            <a:pPr marL="285750" indent="-285750">
              <a:buFont typeface="Wingdings" pitchFamily="2" charset="2"/>
              <a:buChar char="Ø"/>
            </a:pPr>
            <a:r>
              <a:rPr lang="en-IN" sz="2400" dirty="0"/>
              <a:t>In deque, there are two types...</a:t>
            </a:r>
          </a:p>
          <a:p>
            <a:r>
              <a:rPr lang="en-IN" sz="2400" dirty="0"/>
              <a:t>      i) Input restricted queue</a:t>
            </a:r>
          </a:p>
          <a:p>
            <a:r>
              <a:rPr lang="en-IN" sz="2400" dirty="0"/>
              <a:t>      ii) output restricted queue</a:t>
            </a:r>
          </a:p>
          <a:p>
            <a:endParaRPr lang="en-IN" sz="2400" dirty="0"/>
          </a:p>
          <a:p>
            <a:pPr marL="285750" indent="-285750">
              <a:buFont typeface="Wingdings" pitchFamily="2" charset="2"/>
              <a:buChar char="Ø"/>
            </a:pPr>
            <a:r>
              <a:rPr lang="en-IN" sz="2400" dirty="0"/>
              <a:t>In input restricted queue the following operations are performed:</a:t>
            </a:r>
          </a:p>
          <a:p>
            <a:r>
              <a:rPr lang="en-IN" sz="2400" dirty="0"/>
              <a:t>      i)   Inserting At Beginning </a:t>
            </a:r>
          </a:p>
          <a:p>
            <a:r>
              <a:rPr lang="en-IN" sz="2400" dirty="0"/>
              <a:t>      ii)  Inserting At End </a:t>
            </a:r>
          </a:p>
          <a:p>
            <a:pPr marL="285750" indent="-285750">
              <a:buFont typeface="Wingdings" pitchFamily="2" charset="2"/>
              <a:buChar char="Ø"/>
            </a:pPr>
            <a:r>
              <a:rPr lang="en-IN" sz="2400" dirty="0"/>
              <a:t>In output restricted queue, the following operations are performed:</a:t>
            </a:r>
          </a:p>
          <a:p>
            <a:r>
              <a:rPr lang="en-IN" sz="2400" dirty="0"/>
              <a:t>      i)   Deleting from Beginning</a:t>
            </a:r>
          </a:p>
          <a:p>
            <a:r>
              <a:rPr lang="en-IN" sz="2400" dirty="0"/>
              <a:t>      ii)  Deleting from End</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sz="2400" dirty="0"/>
              <a:t>Which of the following application makes use of a deque?</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t>a) Checks palindrome</a:t>
            </a:r>
            <a:br>
              <a:rPr lang="en-IN" dirty="0"/>
            </a:br>
            <a:r>
              <a:rPr lang="en-IN" dirty="0"/>
              <a:t>b) Insert an element</a:t>
            </a:r>
            <a:br>
              <a:rPr lang="en-IN" dirty="0"/>
            </a:br>
            <a:r>
              <a:rPr lang="en-IN" dirty="0"/>
              <a:t>c) Delete an element</a:t>
            </a:r>
            <a:br>
              <a:rPr lang="en-IN" dirty="0"/>
            </a:br>
            <a:r>
              <a:rPr lang="en-IN" dirty="0"/>
              <a:t>d) All the above</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true to check deque is full or not?</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front = rear + 1</a:t>
            </a:r>
            <a:br>
              <a:rPr lang="en-IN" dirty="0"/>
            </a:br>
            <a:r>
              <a:rPr lang="en-IN" dirty="0"/>
              <a:t>b) Front = rear</a:t>
            </a:r>
          </a:p>
          <a:p>
            <a:r>
              <a:rPr lang="en-IN" dirty="0"/>
              <a:t>c) front=0</a:t>
            </a:r>
          </a:p>
          <a:p>
            <a:r>
              <a:rPr lang="en-IN" dirty="0"/>
              <a:t>d) rear=-1</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230739"/>
          </a:xfrm>
          <a:prstGeom prst="rect">
            <a:avLst/>
          </a:prstGeom>
          <a:noFill/>
        </p:spPr>
        <p:txBody>
          <a:bodyPr wrap="square" rtlCol="0">
            <a:spAutoFit/>
          </a:bodyPr>
          <a:lstStyle/>
          <a:p>
            <a:pPr>
              <a:lnSpc>
                <a:spcPct val="200000"/>
              </a:lnSpc>
            </a:pPr>
            <a:r>
              <a:rPr lang="en-US" b="1" dirty="0"/>
              <a:t>1. Describe About double ended queue?</a:t>
            </a:r>
          </a:p>
          <a:p>
            <a:pPr>
              <a:lnSpc>
                <a:spcPct val="200000"/>
              </a:lnSpc>
            </a:pPr>
            <a:r>
              <a:rPr lang="en-US" b="1" dirty="0"/>
              <a:t>2. List out different types of deque?</a:t>
            </a:r>
          </a:p>
          <a:p>
            <a:pPr>
              <a:lnSpc>
                <a:spcPct val="200000"/>
              </a:lnSpc>
            </a:pPr>
            <a:r>
              <a:rPr lang="en-US" b="1" dirty="0"/>
              <a:t>3. List out different operations can perform on deque?</a:t>
            </a:r>
          </a:p>
          <a:p>
            <a:pPr marL="342900" indent="-342900">
              <a:lnSpc>
                <a:spcPct val="200000"/>
              </a:lnSpc>
            </a:pPr>
            <a:r>
              <a:rPr lang="en-US" b="1" dirty="0"/>
              <a:t>4. Analyze the time complexity of the deque for the operations such as insertion, deletion.</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62815"/>
          </a:xfrm>
          <a:prstGeom prst="rect">
            <a:avLst/>
          </a:prstGeom>
          <a:noFill/>
        </p:spPr>
        <p:txBody>
          <a:bodyPr wrap="square" rtlCol="0">
            <a:spAutoFit/>
          </a:bodyPr>
          <a:lstStyle/>
          <a:p>
            <a:pPr>
              <a:lnSpc>
                <a:spcPct val="150000"/>
              </a:lnSpc>
            </a:pPr>
            <a:r>
              <a:rPr lang="en-US" sz="2400" b="1" dirty="0"/>
              <a:t>Reference Books:</a:t>
            </a:r>
            <a:endParaRPr lang="en-US" sz="2400" dirty="0"/>
          </a:p>
          <a:p>
            <a:pPr marL="342900" lvl="1" indent="-342900">
              <a:lnSpc>
                <a:spcPct val="150000"/>
              </a:lnSpc>
              <a:buAutoNum type="arabicPeriod"/>
            </a:pPr>
            <a:r>
              <a:rPr lang="en-US" dirty="0"/>
              <a:t>Mark Allen Weiss, Data Structures and Algorithm Analysis in C, 2010 , Second Edition, </a:t>
            </a:r>
            <a:r>
              <a:rPr lang="en-US" dirty="0" err="1"/>
              <a:t>PearsonEducation</a:t>
            </a:r>
            <a:r>
              <a:rPr lang="en-US" dirty="0"/>
              <a:t>.</a:t>
            </a:r>
            <a:endParaRPr lang="en-IN" sz="2400" dirty="0"/>
          </a:p>
          <a:p>
            <a:pPr marL="342900" lvl="1" indent="-342900">
              <a:lnSpc>
                <a:spcPct val="150000"/>
              </a:lnSpc>
              <a:buAutoNum type="arabicPeriod"/>
            </a:pPr>
            <a:r>
              <a:rPr lang="en-US" dirty="0"/>
              <a:t>2. Ellis Horowitz, Fundamentals of Data Structures in C: Second Edition, 2015</a:t>
            </a:r>
          </a:p>
          <a:p>
            <a:pPr marL="342900" lvl="1" indent="-342900">
              <a:lnSpc>
                <a:spcPct val="150000"/>
              </a:lnSpc>
              <a:buAutoNum type="arabicPeriod"/>
            </a:pPr>
            <a:r>
              <a:rPr lang="en-US" dirty="0" err="1"/>
              <a:t>A.V.Aho</a:t>
            </a:r>
            <a:r>
              <a:rPr lang="en-US" dirty="0"/>
              <a:t>, J. E. </a:t>
            </a:r>
            <a:r>
              <a:rPr lang="en-US" dirty="0" err="1"/>
              <a:t>Hopcroft</a:t>
            </a:r>
            <a:r>
              <a:rPr lang="en-US" dirty="0"/>
              <a:t>, and J. D. Ullman, “Data Structures And Algorithms”, Pearson Education, First Edition Reprint2003.</a:t>
            </a:r>
            <a:endParaRPr lang="en-IN" dirty="0"/>
          </a:p>
          <a:p>
            <a:pPr>
              <a:lnSpc>
                <a:spcPct val="150000"/>
              </a:lnSpc>
            </a:pPr>
            <a:endParaRPr lang="en-US" b="1" dirty="0"/>
          </a:p>
          <a:p>
            <a:pPr>
              <a:lnSpc>
                <a:spcPct val="150000"/>
              </a:lnSpc>
            </a:pPr>
            <a:r>
              <a:rPr lang="en-US" sz="2400" b="1" dirty="0"/>
              <a:t>Sites and Web links:</a:t>
            </a:r>
          </a:p>
          <a:p>
            <a:pPr lvl="0">
              <a:lnSpc>
                <a:spcPct val="150000"/>
              </a:lnSpc>
            </a:pPr>
            <a:r>
              <a:rPr lang="en-US" dirty="0"/>
              <a:t>1. </a:t>
            </a:r>
            <a:r>
              <a:rPr lang="en-US" dirty="0">
                <a:hlinkClick r:id="rId2"/>
              </a:rPr>
              <a:t>https://nptel.ac.in/courses/106102064</a:t>
            </a:r>
            <a:endParaRPr lang="en-IN" dirty="0"/>
          </a:p>
          <a:p>
            <a:pPr lvl="0"/>
            <a:r>
              <a:rPr lang="en-US" dirty="0">
                <a:hlinkClick r:id="rId3"/>
              </a:rPr>
              <a:t>2. https://in.udacity.com/course/intro-to-algorithms--cs215</a:t>
            </a:r>
            <a:endParaRPr lang="en-IN" dirty="0"/>
          </a:p>
          <a:p>
            <a:pPr lvl="0"/>
            <a:r>
              <a:rPr lang="en-US" dirty="0"/>
              <a:t>3. </a:t>
            </a:r>
            <a:r>
              <a:rPr lang="en-US" dirty="0">
                <a:hlinkClick r:id="rId4"/>
              </a:rPr>
              <a:t>https://www.coursera.org/learn/data-structures?action=enroll</a:t>
            </a: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a:t>
            </a:r>
            <a:r>
              <a:rPr lang="en-US" sz="3600" b="1">
                <a:latin typeface="Poppins" pitchFamily="2" charset="77"/>
                <a:cs typeface="Poppins" pitchFamily="2" charset="77"/>
              </a:rPr>
              <a:t>Data Structure</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1805</TotalTime>
  <Words>1823</Words>
  <Application>Microsoft Office PowerPoint</Application>
  <PresentationFormat>Widescreen</PresentationFormat>
  <Paragraphs>225</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BioRhyme ExtraBold</vt:lpstr>
      <vt:lpstr>Calibri</vt:lpstr>
      <vt:lpstr>inter-regular</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Krishna Suresh B V N V</cp:lastModifiedBy>
  <cp:revision>53</cp:revision>
  <dcterms:created xsi:type="dcterms:W3CDTF">2020-02-08T09:57:44Z</dcterms:created>
  <dcterms:modified xsi:type="dcterms:W3CDTF">2024-12-16T10:56:17Z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