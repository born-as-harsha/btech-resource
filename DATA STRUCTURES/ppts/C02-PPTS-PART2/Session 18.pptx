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0"/>
  </p:notesMasterIdLst>
  <p:sldIdLst>
    <p:sldId id="271" r:id="rId5"/>
    <p:sldId id="300" r:id="rId6"/>
    <p:sldId id="258" r:id="rId7"/>
    <p:sldId id="310" r:id="rId8"/>
    <p:sldId id="307" r:id="rId9"/>
    <p:sldId id="306" r:id="rId10"/>
    <p:sldId id="305" r:id="rId11"/>
    <p:sldId id="299" r:id="rId12"/>
    <p:sldId id="308" r:id="rId13"/>
    <p:sldId id="309" r:id="rId14"/>
    <p:sldId id="285" r:id="rId15"/>
    <p:sldId id="301" r:id="rId16"/>
    <p:sldId id="302" r:id="rId17"/>
    <p:sldId id="303" r:id="rId18"/>
    <p:sldId id="30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E84845"/>
    <a:srgbClr val="FAD2D2"/>
    <a:srgbClr val="F89E4C"/>
    <a:srgbClr val="A81E24"/>
    <a:srgbClr val="FFF2CC"/>
    <a:srgbClr val="CF2F33"/>
    <a:srgbClr val="BA2532"/>
    <a:srgbClr val="E3293B"/>
    <a:srgbClr val="FFFC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89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hna Suresh B V N V" userId="46cc3a3c-d6e3-4f9f-b2e6-2a3b85efca88" providerId="ADAL" clId="{9A67F2BA-F28A-446E-A904-0B92CE588239}"/>
    <pc:docChg chg="modSld">
      <pc:chgData name="Krishna Suresh B V N V" userId="46cc3a3c-d6e3-4f9f-b2e6-2a3b85efca88" providerId="ADAL" clId="{9A67F2BA-F28A-446E-A904-0B92CE588239}" dt="2024-12-16T10:55:44.330" v="1" actId="20577"/>
      <pc:docMkLst>
        <pc:docMk/>
      </pc:docMkLst>
      <pc:sldChg chg="modSp mod">
        <pc:chgData name="Krishna Suresh B V N V" userId="46cc3a3c-d6e3-4f9f-b2e6-2a3b85efca88" providerId="ADAL" clId="{9A67F2BA-F28A-446E-A904-0B92CE588239}" dt="2024-12-16T10:55:44.330" v="1" actId="20577"/>
        <pc:sldMkLst>
          <pc:docMk/>
          <pc:sldMk cId="0" sldId="271"/>
        </pc:sldMkLst>
        <pc:spChg chg="mod">
          <ac:chgData name="Krishna Suresh B V N V" userId="46cc3a3c-d6e3-4f9f-b2e6-2a3b85efca88" providerId="ADAL" clId="{9A67F2BA-F28A-446E-A904-0B92CE588239}" dt="2024-12-16T10:55:44.330" v="1" actId="20577"/>
          <ac:spMkLst>
            <pc:docMk/>
            <pc:sldMk cId="0" sldId="271"/>
            <ac:spMk id="8" creationId="{7153E61F-4441-DBE3-3DFF-6E9EF6C48D2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  <a:pPr/>
              <a:t>12/16/2024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658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435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165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1242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919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91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977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458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9970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883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515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628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8929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2F4508AD-1BA8-6D49-AD89-BB8C58C99DD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CAD2B12-09F5-6D4A-9C1D-AFF6A38F62BF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72F43C-0ACD-CF48-BDDC-4CA06CD195D7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:a16="http://schemas.microsoft.com/office/drawing/2014/main" id="{D4A3453C-FFE4-E949-B42B-748B5090DD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/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A8F9C9-F65C-BB4A-BF8E-4636F166836D}"/>
              </a:ext>
            </a:extLst>
          </p:cNvPr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</a:p>
        </p:txBody>
      </p:sp>
    </p:spTree>
    <p:extLst>
      <p:ext uri="{BB962C8B-B14F-4D97-AF65-F5344CB8AC3E}">
        <p14:creationId xmlns:p14="http://schemas.microsoft.com/office/powerpoint/2010/main" val="62684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98423B-5803-30F8-31C4-BF716BD7197E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034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394455" y="1933408"/>
            <a:ext cx="6902548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COURSE NAME :DATA STRUCTURES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COURSE CODE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cap="all" dirty="0">
                <a:ln/>
                <a:solidFill>
                  <a:srgbClr val="C00000"/>
                </a:solidFill>
                <a:cs typeface="Poppins" panose="00000500000000000000" pitchFamily="2" charset="0"/>
              </a:rPr>
              <a:t>CIRCULAR QUEUE</a:t>
            </a:r>
            <a:endParaRPr lang="en-US" sz="40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F0C376-F4D3-1950-3474-EFF28411BDC6}"/>
              </a:ext>
            </a:extLst>
          </p:cNvPr>
          <p:cNvSpPr/>
          <p:nvPr/>
        </p:nvSpPr>
        <p:spPr>
          <a:xfrm>
            <a:off x="6233250" y="925390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Google Shape;475;p16"/>
          <p:cNvSpPr txBox="1"/>
          <p:nvPr/>
        </p:nvSpPr>
        <p:spPr>
          <a:xfrm>
            <a:off x="6095999" y="830715"/>
            <a:ext cx="4595447" cy="70784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  <a:cs typeface="Poppins" pitchFamily="2" charset="77"/>
              </a:rPr>
              <a:t>Department of BES 1</a:t>
            </a: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623168" y="4758078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- 18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2" y="84408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914400" y="684469"/>
            <a:ext cx="10731286" cy="83099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Poppins"/>
                <a:cs typeface="Poppins"/>
              </a:rPr>
              <a:t>To familiarize students with the basic concept of Circular queue</a:t>
            </a:r>
          </a:p>
          <a:p>
            <a:pPr>
              <a:lnSpc>
                <a:spcPct val="150000"/>
              </a:lnSpc>
            </a:pP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160582" y="1807062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1752600" y="2438605"/>
            <a:ext cx="8791575" cy="156966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Demonstrate the properties of </a:t>
            </a:r>
            <a:r>
              <a:rPr lang="en-US" sz="1600" dirty="0">
                <a:latin typeface="Arial" panose="020B0604020202020204" pitchFamily="34" charset="0"/>
              </a:rPr>
              <a:t>Circular</a:t>
            </a:r>
            <a:r>
              <a:rPr lang="en-US" sz="1600" b="0" i="0" dirty="0">
                <a:effectLst/>
                <a:latin typeface="Arial" panose="020B0604020202020204" pitchFamily="34" charset="0"/>
              </a:rPr>
              <a:t> queues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Describe the operations of </a:t>
            </a:r>
            <a:r>
              <a:rPr lang="en-US" sz="1600" dirty="0">
                <a:latin typeface="Arial" panose="020B0604020202020204" pitchFamily="34" charset="0"/>
              </a:rPr>
              <a:t>Circular</a:t>
            </a:r>
            <a:r>
              <a:rPr lang="en-US" sz="1600" b="0" i="0" dirty="0">
                <a:effectLst/>
                <a:latin typeface="Arial" panose="020B0604020202020204" pitchFamily="34" charset="0"/>
              </a:rPr>
              <a:t> queues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List out the types of </a:t>
            </a:r>
            <a:r>
              <a:rPr lang="en-US" sz="1600" dirty="0">
                <a:latin typeface="Arial" panose="020B0604020202020204" pitchFamily="34" charset="0"/>
              </a:rPr>
              <a:t>Circular </a:t>
            </a:r>
            <a:r>
              <a:rPr lang="en-US" sz="1600" b="0" i="0" dirty="0">
                <a:effectLst/>
                <a:latin typeface="Arial" panose="020B0604020202020204" pitchFamily="34" charset="0"/>
              </a:rPr>
              <a:t>queues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/>
                <a:cs typeface="Arial"/>
              </a:rPr>
              <a:t>Describe the difference between </a:t>
            </a:r>
            <a:r>
              <a:rPr lang="en-US" sz="1600" dirty="0">
                <a:latin typeface="Arial"/>
                <a:cs typeface="Arial"/>
              </a:rPr>
              <a:t>Circular</a:t>
            </a:r>
            <a:r>
              <a:rPr lang="en-US" sz="1600" b="0" i="0" dirty="0">
                <a:effectLst/>
                <a:latin typeface="Arial"/>
                <a:cs typeface="Arial"/>
              </a:rPr>
              <a:t> queue and normal queue</a:t>
            </a:r>
            <a:endParaRPr lang="en-US" sz="1600" dirty="0">
              <a:latin typeface="Arial"/>
              <a:cs typeface="Arial"/>
            </a:endParaRP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1752600" y="4772230"/>
            <a:ext cx="8791575" cy="132343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/>
                <a:cs typeface="Arial"/>
              </a:rPr>
              <a:t>At the end of this </a:t>
            </a:r>
            <a:r>
              <a:rPr lang="en-US" sz="1600" dirty="0">
                <a:latin typeface="Arial"/>
                <a:cs typeface="Arial"/>
              </a:rPr>
              <a:t>session</a:t>
            </a:r>
            <a:r>
              <a:rPr lang="en-US" sz="1600" b="0" i="0" dirty="0">
                <a:effectLst/>
                <a:latin typeface="Arial"/>
                <a:cs typeface="Arial"/>
              </a:rPr>
              <a:t>, you should be able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Define </a:t>
            </a:r>
            <a:r>
              <a:rPr lang="en-US" sz="1600" dirty="0">
                <a:latin typeface="Arial" panose="020B0604020202020204" pitchFamily="34" charset="0"/>
              </a:rPr>
              <a:t>Circular</a:t>
            </a:r>
            <a:r>
              <a:rPr lang="en-US" sz="1600" b="0" i="0" dirty="0">
                <a:effectLst/>
                <a:latin typeface="Arial" panose="020B0604020202020204" pitchFamily="34" charset="0"/>
              </a:rPr>
              <a:t> queue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Describe properties and operation of </a:t>
            </a:r>
            <a:r>
              <a:rPr lang="en-US" sz="1600" dirty="0">
                <a:latin typeface="Arial" panose="020B0604020202020204" pitchFamily="34" charset="0"/>
              </a:rPr>
              <a:t>Circular</a:t>
            </a:r>
            <a:r>
              <a:rPr lang="en-US" sz="1600" b="0" i="0" dirty="0">
                <a:effectLst/>
                <a:latin typeface="Arial" panose="020B0604020202020204" pitchFamily="34" charset="0"/>
              </a:rPr>
              <a:t> queues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Summarize priority queue concepts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067761" y="122041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CIRCULAR QUEUE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53" name="TextBox 52"/>
          <p:cNvSpPr txBox="1"/>
          <p:nvPr/>
        </p:nvSpPr>
        <p:spPr>
          <a:xfrm>
            <a:off x="1083212" y="1252025"/>
            <a:ext cx="10086536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 circular queue, also called a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Ring Buffer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is a data structure that operates on the First In, First Out (FIFO) principle, just like a linear queue. However, unlike a linear queue, the last position in a circular queue is connected back to the first position, forming a continuous loop. This circular connection ensures efficient utilization of space by reusing empty slots created when elements are dequeued.	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690523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08993"/>
            <a:ext cx="10515600" cy="681695"/>
          </a:xfrm>
        </p:spPr>
        <p:txBody>
          <a:bodyPr/>
          <a:lstStyle/>
          <a:p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Graphical representation of a circular queue is as follows...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3074" name="Picture 2" descr="http://btechsmartclass.com/data_structures/ds_images/Circular%20Q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305184"/>
            <a:ext cx="3578774" cy="3434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E5B77EA6-22F2-3211-493F-35A6A6D39E91}"/>
              </a:ext>
            </a:extLst>
          </p:cNvPr>
          <p:cNvSpPr/>
          <p:nvPr/>
        </p:nvSpPr>
        <p:spPr>
          <a:xfrm>
            <a:off x="3067761" y="122041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CIRCULAR QUEUE IMAGE </a:t>
            </a:r>
          </a:p>
        </p:txBody>
      </p:sp>
      <p:pic>
        <p:nvPicPr>
          <p:cNvPr id="3078" name="Picture 6" descr="Circular Queue Representation using Array - Quesco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2690" y="2593821"/>
            <a:ext cx="3436882" cy="2987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8501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0359" y="409903"/>
            <a:ext cx="11824138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1.Fixed Size: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circular queue has a fixed size, means maximum number of elements it can hold is determined when it is created.1.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2.FIFO Principle: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a linear queue, it follows the First In, First Out (FIFO) principle, where elements are inserted at the rear and removed from the front.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3.Circular Nature: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last position in the queue is connected to the first position, creating a circular structure. This eliminates the need to shift elements after 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dequeue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operation.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Efficient Space Utilization: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a linear queue, a circular queue makes use of all available slots, reusing the spaces freed up when elements are dequeued.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Two Pointers (Front and Rear):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pointers help in efficiently tracking and managing the circular nature of the queue.</a:t>
            </a:r>
          </a:p>
        </p:txBody>
      </p:sp>
      <p:sp>
        <p:nvSpPr>
          <p:cNvPr id="13" name="Rounded Rectangle 17">
            <a:extLst>
              <a:ext uri="{FF2B5EF4-FFF2-40B4-BE49-F238E27FC236}">
                <a16:creationId xmlns:a16="http://schemas.microsoft.com/office/drawing/2014/main" id="{E5B77EA6-22F2-3211-493F-35A6A6D39E91}"/>
              </a:ext>
            </a:extLst>
          </p:cNvPr>
          <p:cNvSpPr/>
          <p:nvPr/>
        </p:nvSpPr>
        <p:spPr>
          <a:xfrm>
            <a:off x="3067761" y="122041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PROPERTIES OF CIRCULAR QUEUE  </a:t>
            </a:r>
          </a:p>
        </p:txBody>
      </p:sp>
    </p:spTree>
    <p:extLst>
      <p:ext uri="{BB962C8B-B14F-4D97-AF65-F5344CB8AC3E}">
        <p14:creationId xmlns:p14="http://schemas.microsoft.com/office/powerpoint/2010/main" val="186446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332B2-1B14-C4E4-ECFA-A2A9450DA9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621" y="898634"/>
            <a:ext cx="11256579" cy="5659821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Members of Circular Queue: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Here are the members and the functions or process that can be done in a Circular Queue.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Complexity Reduction 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Circular queue is more manageable than linear queue in terms of space complexity.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Controlled Traffic System 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Computer uses Circular queue to control the traffic system.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Scheduling 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CPU uses Circular Queue or Queues to schedule processes.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Management 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Memory can be managed by a fixed length circular buffer, that is an application of Circular Queue.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Repetitions in Calendar 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Days in Week, Sun-Mon-Tues or n Months in year, Jan-Feb-Mar or repetitive situations like that can be implemented using Circular Queue, that comes in first in first out basis with a fixed length.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Circular Manufacturing Machines 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Circular Machines like Bottle capping systems use fixed length Circular Queue.</a:t>
            </a: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5B77EA6-22F2-3211-493F-35A6A6D39E91}"/>
              </a:ext>
            </a:extLst>
          </p:cNvPr>
          <p:cNvSpPr/>
          <p:nvPr/>
        </p:nvSpPr>
        <p:spPr>
          <a:xfrm>
            <a:off x="3067761" y="122041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CIRCULAR QUEUE INTRODUCTION </a:t>
            </a:r>
          </a:p>
        </p:txBody>
      </p:sp>
    </p:spTree>
    <p:extLst>
      <p:ext uri="{BB962C8B-B14F-4D97-AF65-F5344CB8AC3E}">
        <p14:creationId xmlns:p14="http://schemas.microsoft.com/office/powerpoint/2010/main" val="440000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>
            <a:extLst>
              <a:ext uri="{FF2B5EF4-FFF2-40B4-BE49-F238E27FC236}">
                <a16:creationId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3121964" y="70605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 OPERATIONS OF A CIRCULAR QUEUE</a:t>
            </a: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9B397A-0940-14DC-D470-DCD707DA3EB8}"/>
              </a:ext>
            </a:extLst>
          </p:cNvPr>
          <p:cNvSpPr txBox="1"/>
          <p:nvPr/>
        </p:nvSpPr>
        <p:spPr>
          <a:xfrm>
            <a:off x="1052731" y="1273045"/>
            <a:ext cx="11023655" cy="7817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CIRCULAR QUEUE SUPPORTS THE FOLLOWING OPERATIONS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 in a Circular queue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Deletion in a Circular  queue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Peek in a Circular  queue</a:t>
            </a:r>
          </a:p>
          <a:p>
            <a:pPr>
              <a:lnSpc>
                <a:spcPct val="2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424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18B84F3E-0BAB-4FEE-A20F-074E440ADCC6}"/>
              </a:ext>
            </a:extLst>
          </p:cNvPr>
          <p:cNvSpPr/>
          <p:nvPr/>
        </p:nvSpPr>
        <p:spPr>
          <a:xfrm>
            <a:off x="2274963" y="94372"/>
            <a:ext cx="9147998" cy="72155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INSERTION IN CIRCULAR QUEUE</a:t>
            </a:r>
          </a:p>
        </p:txBody>
      </p:sp>
      <p:pic>
        <p:nvPicPr>
          <p:cNvPr id="31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1481959" y="945931"/>
            <a:ext cx="10047889" cy="9264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Enqueue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(value) – 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Inserting value into the Circular Queue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 :- Check whether queue is FULL. ((rear == SIZE-1 &amp;&amp; front == 0) || (front == rear+1))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 :- If it is FULL, then display "Queue is FULL!!! Insertion is not possible!!!" and terminate the function.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- If it is NOT FULL, then check rear == SIZE - 1 &amp;&amp; front != 0 if it is TRUE, then set rear = -1.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 :- Increment rear value by one (rear++), set queue[rear] = value and check 'front == -1' if it is TRUE, then set front = 0.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1463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18B84F3E-0BAB-4FEE-A20F-074E440ADCC6}"/>
              </a:ext>
            </a:extLst>
          </p:cNvPr>
          <p:cNvSpPr/>
          <p:nvPr/>
        </p:nvSpPr>
        <p:spPr>
          <a:xfrm>
            <a:off x="2274963" y="94372"/>
            <a:ext cx="9147998" cy="72155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DELETION IN CIRCULAR QUEUE</a:t>
            </a:r>
          </a:p>
        </p:txBody>
      </p:sp>
      <p:pic>
        <p:nvPicPr>
          <p:cNvPr id="31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1481959" y="945931"/>
            <a:ext cx="10047889" cy="9879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Dequeue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</a:p>
          <a:p>
            <a:pPr>
              <a:lnSpc>
                <a:spcPct val="150000"/>
              </a:lnSpc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Deleting a value from the Circular Queue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1 - Check whether queue is EMPTY. (front == -1 &amp;&amp; rear == -1)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2 - If it is EMPTY, then display "Queue is EMPTY!!! Deletion is not possible!!!" and terminate the function.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3 - If it is NOT EMPTY, then display queue[front] as deleted element and increment the front value by one (front ++). Then check whether front == SIZE, if it is TRUE, then set front = 0. Then check whether both front - 1 and rear are equal (front -1 == rear), if it TRUE, then set both front and rear to '-1' (front = rear = -1).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87978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18B84F3E-0BAB-4FEE-A20F-074E440ADCC6}"/>
              </a:ext>
            </a:extLst>
          </p:cNvPr>
          <p:cNvSpPr/>
          <p:nvPr/>
        </p:nvSpPr>
        <p:spPr>
          <a:xfrm>
            <a:off x="2274963" y="94372"/>
            <a:ext cx="9147998" cy="72155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DISPLAY IN CIRCULAR QUEUE</a:t>
            </a:r>
          </a:p>
        </p:txBody>
      </p:sp>
      <p:pic>
        <p:nvPicPr>
          <p:cNvPr id="31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Rectangle 1"/>
          <p:cNvSpPr/>
          <p:nvPr/>
        </p:nvSpPr>
        <p:spPr>
          <a:xfrm>
            <a:off x="346841" y="889844"/>
            <a:ext cx="11335407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display() </a:t>
            </a:r>
          </a:p>
          <a:p>
            <a:pPr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the elements of a Circular Queue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1 - Check whether queue is EMPTY. (front == -1)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2 - If it is EMPTY, then display "Queue is EMPTY!!!" and terminate the function.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3 - If it is NOT EMPTY, then define an integer variable '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and set '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= front'.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4 - Check whether 'front &lt;= rear', if it is TRUE, then display 'queue[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]' value and increment '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value by one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++). Repeat the same until '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&lt;= rear' becomes FALSE.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5 - If 'front &lt;= rear' is FALSE, then display 'queue[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]' value and increment '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value by one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++). Repeat the same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until'i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&lt;= SIZE - 1' becomes FALSE.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6 - Set 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 0.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7 - Again display '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cQueue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]' value and increment 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value by one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++). Repeat the same until '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&lt;= rear' becomes FALSE.</a:t>
            </a:r>
            <a:endParaRPr lang="en-US" sz="200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45287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54D31061-350D-4864-BF25-E3C3C4699CDC}"/>
              </a:ext>
            </a:extLst>
          </p:cNvPr>
          <p:cNvSpPr/>
          <p:nvPr/>
        </p:nvSpPr>
        <p:spPr>
          <a:xfrm>
            <a:off x="3771922" y="93980"/>
            <a:ext cx="5475773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EXAMPLES</a:t>
            </a: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5A4B929-F011-E0DD-7C0A-D9821F369D9E}"/>
              </a:ext>
            </a:extLst>
          </p:cNvPr>
          <p:cNvSpPr txBox="1"/>
          <p:nvPr/>
        </p:nvSpPr>
        <p:spPr>
          <a:xfrm>
            <a:off x="1449778" y="3931518"/>
            <a:ext cx="107422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proxima_novaregular"/>
              </a:rPr>
              <a:t> </a:t>
            </a:r>
            <a:endParaRPr lang="en-IN" dirty="0"/>
          </a:p>
        </p:txBody>
      </p:sp>
      <p:pic>
        <p:nvPicPr>
          <p:cNvPr id="4102" name="Picture 6" descr="Queues - online presentat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4089"/>
            <a:ext cx="12191999" cy="6203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96293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1009895" y="1093156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the primary difference between a linear queue and a circular queue?</a:t>
            </a:r>
            <a:endParaRPr sz="2000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1069690" y="1977905"/>
            <a:ext cx="9966172" cy="173066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Circular queue uses pointers, while linear queue does not.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In a circular queue, the last position is connected to the first.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Circular queue can grow dynamically, while a linear queue cannot.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Linear queue supports FIFO, while circular queue does not.</a:t>
            </a:r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1009895" y="3820343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  <a:sym typeface="Calibri"/>
              </a:rPr>
              <a:t>…</a:t>
            </a:r>
            <a:endParaRPr lang="en-US" dirty="0"/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In a circular queue of size N, what condition indicates that the queue is full?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1600" dirty="0">
              <a:solidFill>
                <a:schemeClr val="bg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FFFAD22-CD79-70A6-D500-DFECC925B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02601"/>
            <a:ext cx="128264" cy="4051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3480" tIns="63480" rIns="6348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ounded Rectangle 17">
            <a:extLst>
              <a:ext uri="{FF2B5EF4-FFF2-40B4-BE49-F238E27FC236}">
                <a16:creationId xmlns:a16="http://schemas.microsoft.com/office/drawing/2014/main" id="{86F4E198-531B-AE31-72CC-01577B8742E4}"/>
              </a:ext>
            </a:extLst>
          </p:cNvPr>
          <p:cNvSpPr/>
          <p:nvPr/>
        </p:nvSpPr>
        <p:spPr>
          <a:xfrm>
            <a:off x="3257593" y="8321734"/>
            <a:ext cx="10663358" cy="213080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br>
              <a:rPr lang="sv-SE" dirty="0"/>
            </a:br>
            <a:endParaRPr lang="en-US" sz="1600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en-US" sz="1600" dirty="0"/>
          </a:p>
        </p:txBody>
      </p:sp>
      <p:sp>
        <p:nvSpPr>
          <p:cNvPr id="19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1069690" y="4711431"/>
            <a:ext cx="10087041" cy="170513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A.(Rear + 1) % N == Front</a:t>
            </a:r>
            <a:b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(Rear - 1) % N == Front</a:t>
            </a:r>
            <a:b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Rear == Front</a:t>
            </a:r>
            <a:b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 Front == -1 </a:t>
            </a:r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0" y="-1846654"/>
            <a:ext cx="184731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27661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6" grpId="0" animBg="1"/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TERMINAL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332" y="1167618"/>
            <a:ext cx="960823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/>
              <a:t>1. Describe about a priority queue?</a:t>
            </a:r>
          </a:p>
          <a:p>
            <a:pPr>
              <a:lnSpc>
                <a:spcPct val="200000"/>
              </a:lnSpc>
            </a:pPr>
            <a:r>
              <a:rPr lang="en-US" b="1" dirty="0"/>
              <a:t>2. List out the difference between queue and priority queue?</a:t>
            </a:r>
          </a:p>
          <a:p>
            <a:pPr marL="342900" indent="-342900">
              <a:lnSpc>
                <a:spcPct val="200000"/>
              </a:lnSpc>
            </a:pPr>
            <a:r>
              <a:rPr lang="en-US" b="1" dirty="0"/>
              <a:t>3. Analyze applications of  priority queue?</a:t>
            </a:r>
          </a:p>
          <a:p>
            <a:pPr marL="342900" indent="-342900">
              <a:lnSpc>
                <a:spcPct val="200000"/>
              </a:lnSpc>
            </a:pPr>
            <a:r>
              <a:rPr lang="en-US" b="1" dirty="0"/>
              <a:t>4. Summarize the operations of priority queue?</a:t>
            </a:r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2161309" y="93891"/>
            <a:ext cx="710519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00332" y="1167618"/>
            <a:ext cx="960823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Reference Books: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1.  </a:t>
            </a:r>
          </a:p>
          <a:p>
            <a:pPr>
              <a:lnSpc>
                <a:spcPct val="150000"/>
              </a:lnSpc>
            </a:pPr>
            <a:r>
              <a:rPr lang="en-US" dirty="0"/>
              <a:t>2. </a:t>
            </a:r>
          </a:p>
          <a:p>
            <a:pPr>
              <a:lnSpc>
                <a:spcPct val="150000"/>
              </a:lnSpc>
            </a:pPr>
            <a:r>
              <a:rPr lang="en-US" dirty="0"/>
              <a:t>3.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Sites and Web links:</a:t>
            </a:r>
          </a:p>
          <a:p>
            <a:pPr>
              <a:lnSpc>
                <a:spcPct val="150000"/>
              </a:lnSpc>
            </a:pPr>
            <a:r>
              <a:rPr lang="en-US" dirty="0"/>
              <a:t>1.  </a:t>
            </a:r>
          </a:p>
          <a:p>
            <a:pPr>
              <a:lnSpc>
                <a:spcPct val="150000"/>
              </a:lnSpc>
            </a:pPr>
            <a:r>
              <a:rPr lang="en-US" dirty="0"/>
              <a:t>2. </a:t>
            </a:r>
          </a:p>
          <a:p>
            <a:pPr>
              <a:lnSpc>
                <a:spcPct val="150000"/>
              </a:lnSpc>
            </a:pPr>
            <a:r>
              <a:rPr lang="en-US" dirty="0"/>
              <a:t>3.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602523" y="1856934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BES– </a:t>
            </a:r>
            <a:r>
              <a:rPr lang="en-US" sz="2400" b="1">
                <a:latin typeface="Poppins" pitchFamily="2" charset="77"/>
                <a:cs typeface="Poppins" pitchFamily="2" charset="77"/>
              </a:rPr>
              <a:t>Data Structures</a:t>
            </a:r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058B0D91A7444BDF69F20EF097C18" ma:contentTypeVersion="14" ma:contentTypeDescription="Create a new document." ma:contentTypeScope="" ma:versionID="0ede872240208156a106060c7bf37a70">
  <xsd:schema xmlns:xsd="http://www.w3.org/2001/XMLSchema" xmlns:xs="http://www.w3.org/2001/XMLSchema" xmlns:p="http://schemas.microsoft.com/office/2006/metadata/properties" xmlns:ns3="d43ee83c-3e71-4748-8ebc-8eaadf793425" xmlns:ns4="0125a647-8023-46ae-ae6e-85cf36d841bd" targetNamespace="http://schemas.microsoft.com/office/2006/metadata/properties" ma:root="true" ma:fieldsID="e836ceb473825fb8f3d8aa266dca4abb" ns3:_="" ns4:_="">
    <xsd:import namespace="d43ee83c-3e71-4748-8ebc-8eaadf793425"/>
    <xsd:import namespace="0125a647-8023-46ae-ae6e-85cf36d841b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ee83c-3e71-4748-8ebc-8eaadf7934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5a647-8023-46ae-ae6e-85cf36d84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BBD0A98-E68B-4DAA-8964-2F739D6D4075}">
  <ds:schemaRefs>
    <ds:schemaRef ds:uri="0125a647-8023-46ae-ae6e-85cf36d841bd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purl.org/dc/terms/"/>
    <ds:schemaRef ds:uri="http://schemas.microsoft.com/office/2006/metadata/properties"/>
    <ds:schemaRef ds:uri="http://schemas.microsoft.com/office/2006/documentManagement/types"/>
    <ds:schemaRef ds:uri="d43ee83c-3e71-4748-8ebc-8eaadf793425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C89A6ECA-0C1B-4F00-836D-A696F073E5C2}">
  <ds:schemaRefs>
    <ds:schemaRef ds:uri="0125a647-8023-46ae-ae6e-85cf36d841bd"/>
    <ds:schemaRef ds:uri="d43ee83c-3e71-4748-8ebc-8eaadf79342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DA00F5F-5366-4B1C-9406-30DECA796AB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591</TotalTime>
  <Words>1216</Words>
  <Application>Microsoft Office PowerPoint</Application>
  <PresentationFormat>Widescreen</PresentationFormat>
  <Paragraphs>165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BioRhyme ExtraBold</vt:lpstr>
      <vt:lpstr>Calibri</vt:lpstr>
      <vt:lpstr>Poppins</vt:lpstr>
      <vt:lpstr>proxima_novaregular</vt:lpstr>
      <vt:lpstr>Times New Roman</vt:lpstr>
      <vt:lpstr>1_Office Theme</vt:lpstr>
      <vt:lpstr>PowerPoint Presentation</vt:lpstr>
      <vt:lpstr>PowerPoint Presentation</vt:lpstr>
      <vt:lpstr>PowerPoint Presentation</vt:lpstr>
      <vt:lpstr> Graphical representation of a circular queue is as follows...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Krishna Suresh B V N V</cp:lastModifiedBy>
  <cp:revision>35</cp:revision>
  <dcterms:created xsi:type="dcterms:W3CDTF">2020-02-08T09:57:44Z</dcterms:created>
  <dcterms:modified xsi:type="dcterms:W3CDTF">2024-12-16T10:55:47Z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0x010100845058B0D91A7444BDF69F20EF097C18</vt:lpwstr>
  </property>
</Properties>
</file>