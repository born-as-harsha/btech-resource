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71" r:id="rId5"/>
    <p:sldId id="300" r:id="rId6"/>
    <p:sldId id="258" r:id="rId7"/>
    <p:sldId id="288" r:id="rId8"/>
    <p:sldId id="318" r:id="rId9"/>
    <p:sldId id="290" r:id="rId10"/>
    <p:sldId id="319" r:id="rId11"/>
    <p:sldId id="320" r:id="rId12"/>
    <p:sldId id="321" r:id="rId13"/>
    <p:sldId id="322" r:id="rId14"/>
    <p:sldId id="323" r:id="rId15"/>
    <p:sldId id="324" r:id="rId16"/>
    <p:sldId id="287" r:id="rId17"/>
    <p:sldId id="301" r:id="rId18"/>
    <p:sldId id="302" r:id="rId19"/>
    <p:sldId id="30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uresh B V N V" userId="46cc3a3c-d6e3-4f9f-b2e6-2a3b85efca88" providerId="ADAL" clId="{6EBFC9B0-A176-4A7C-A02B-92922A0315A2}"/>
    <pc:docChg chg="modSld">
      <pc:chgData name="Krishna Suresh B V N V" userId="46cc3a3c-d6e3-4f9f-b2e6-2a3b85efca88" providerId="ADAL" clId="{6EBFC9B0-A176-4A7C-A02B-92922A0315A2}" dt="2024-12-16T10:54:59.044" v="1" actId="20577"/>
      <pc:docMkLst>
        <pc:docMk/>
      </pc:docMkLst>
      <pc:sldChg chg="modSp mod">
        <pc:chgData name="Krishna Suresh B V N V" userId="46cc3a3c-d6e3-4f9f-b2e6-2a3b85efca88" providerId="ADAL" clId="{6EBFC9B0-A176-4A7C-A02B-92922A0315A2}" dt="2024-12-16T10:54:59.044" v="1" actId="20577"/>
        <pc:sldMkLst>
          <pc:docMk/>
          <pc:sldMk cId="0" sldId="271"/>
        </pc:sldMkLst>
        <pc:spChg chg="mod">
          <ac:chgData name="Krishna Suresh B V N V" userId="46cc3a3c-d6e3-4f9f-b2e6-2a3b85efca88" providerId="ADAL" clId="{6EBFC9B0-A176-4A7C-A02B-92922A0315A2}" dt="2024-12-16T10:54:59.044" v="1" actId="20577"/>
          <ac:spMkLst>
            <pc:docMk/>
            <pc:sldMk cId="0" sldId="271"/>
            <ac:spMk id="8" creationId="{7153E61F-4441-DBE3-3DFF-6E9EF6C48D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edx.org/course/algorithm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24SC1203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Queue using linked list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14 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 Single Linked list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Queue using Singly Linked list 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operations on Queues.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Applications.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/>
                <a:cs typeface="Arial"/>
              </a:rPr>
              <a:t>List out Real  time Examples.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Queue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Queue operations using </a:t>
            </a:r>
            <a:r>
              <a:rPr lang="en-US" sz="1600" dirty="0">
                <a:latin typeface="Arial" panose="020B0604020202020204" pitchFamily="34" charset="0"/>
              </a:rPr>
              <a:t>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ingle Linked List. 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Queue operations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Queue using Single Linked List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995225" y="773723"/>
            <a:ext cx="5120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2369" y="1477105"/>
            <a:ext cx="11141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2868" y="1716257"/>
            <a:ext cx="9129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0BC2BB-76EB-5C17-86A6-9D64F6F16318}"/>
              </a:ext>
            </a:extLst>
          </p:cNvPr>
          <p:cNvSpPr txBox="1">
            <a:spLocks/>
          </p:cNvSpPr>
          <p:nvPr/>
        </p:nvSpPr>
        <p:spPr bwMode="auto">
          <a:xfrm>
            <a:off x="457200" y="845648"/>
            <a:ext cx="11055096" cy="547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</a:pPr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?</a:t>
            </a:r>
            <a:endParaRPr kumimoji="0" lang="en-I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a linear data structure where </a:t>
            </a: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insertion </a:t>
            </a:r>
            <a:r>
              <a:rPr kumimoji="0" lang="en-I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done at </a:t>
            </a: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rear end, deletion and retrieval</a:t>
            </a:r>
            <a:r>
              <a:rPr kumimoji="0" lang="en-I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of data is done from </a:t>
            </a: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front end.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 IN FIRST OUT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I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E7015-8393-19DA-CB4C-6CF7E5660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489" y="3176080"/>
            <a:ext cx="2678701" cy="28362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21CD6C-A905-9824-1659-525562DDB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602" y="3369401"/>
            <a:ext cx="4878301" cy="265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Examples:</a:t>
            </a:r>
            <a:endParaRPr lang="en-IN" altLang="en-US" sz="48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EDB6AB-4A18-DCC9-E7B2-7B0668989EB6}"/>
              </a:ext>
            </a:extLst>
          </p:cNvPr>
          <p:cNvSpPr txBox="1">
            <a:spLocks/>
          </p:cNvSpPr>
          <p:nvPr/>
        </p:nvSpPr>
        <p:spPr bwMode="auto">
          <a:xfrm>
            <a:off x="457200" y="845648"/>
            <a:ext cx="11055096" cy="547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Examples:</a:t>
            </a:r>
            <a:endParaRPr lang="en-IN" altLang="en-US" sz="4000" dirty="0">
              <a:latin typeface="Arial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Bookman Old Style" panose="02050604050505020204" pitchFamily="18" charset="0"/>
              </a:rPr>
              <a:t>People moving on an escalator.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Bookman Old Style" panose="02050604050505020204" pitchFamily="18" charset="0"/>
              </a:rPr>
              <a:t>People waiting for a bus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Bookman Old Style" panose="02050604050505020204" pitchFamily="18" charset="0"/>
              </a:rPr>
              <a:t>People standing outside the ticketing window of a cinema hall.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Bookman Old Style" panose="02050604050505020204" pitchFamily="18" charset="0"/>
              </a:rPr>
              <a:t>Luggage kept on conveyor belts.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Bookman Old Style" panose="02050604050505020204" pitchFamily="18" charset="0"/>
              </a:rPr>
              <a:t>Cars lined at a toll bridge</a:t>
            </a:r>
            <a:endParaRPr lang="en-IN" altLang="en-US" sz="4000" b="1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E028-A487-1EEB-292E-67ED3611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6B32D2D-4A01-DAA4-4E76-CBA389AE1FA5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IN" altLang="en-US" sz="48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4" name="Picture 2" descr="KL Deemed to be University Logo">
            <a:extLst>
              <a:ext uri="{FF2B5EF4-FFF2-40B4-BE49-F238E27FC236}">
                <a16:creationId xmlns:a16="http://schemas.microsoft.com/office/drawing/2014/main" id="{FC3FAAD2-9CCA-86A1-C0CA-057AF322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E238BE-0397-2053-55E0-311F3583E293}"/>
              </a:ext>
            </a:extLst>
          </p:cNvPr>
          <p:cNvSpPr txBox="1">
            <a:spLocks/>
          </p:cNvSpPr>
          <p:nvPr/>
        </p:nvSpPr>
        <p:spPr bwMode="auto">
          <a:xfrm>
            <a:off x="457200" y="845648"/>
            <a:ext cx="11055096" cy="547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IN" altLang="en-US" sz="4000" dirty="0">
              <a:latin typeface="Arial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latin typeface="Bookman Old Style" panose="02050604050505020204" pitchFamily="18" charset="0"/>
              </a:rPr>
              <a:t>Queues are used in operating system for handling interrupts.</a:t>
            </a:r>
          </a:p>
          <a:p>
            <a:pPr marL="0" indent="0" algn="just">
              <a:buNone/>
            </a:pPr>
            <a:endParaRPr lang="en-US" b="0" i="0" u="none" strike="noStrike" baseline="0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latin typeface="Bookman Old Style" panose="02050604050505020204" pitchFamily="18" charset="0"/>
              </a:rPr>
              <a:t>Queues are used as buffers on MP3 players and portable CD players, iPod playlist.</a:t>
            </a:r>
          </a:p>
          <a:p>
            <a:pPr marL="0" indent="0" algn="just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latin typeface="Bookman Old Style" panose="02050604050505020204" pitchFamily="18" charset="0"/>
              </a:rPr>
              <a:t>Queues are widely used as waiting lists for a single shared resource like printer, disk, CPU.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latin typeface="Bookman Old Style" panose="02050604050505020204" pitchFamily="18" charset="0"/>
              </a:rPr>
              <a:t>Queues are used in Playlist for jukebox to add songs to the end, play from the front of the</a:t>
            </a:r>
          </a:p>
          <a:p>
            <a:pPr marL="0" indent="0" algn="l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latin typeface="Bookman Old Style" panose="0205060405050502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46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Operations        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913205" y="1448973"/>
            <a:ext cx="827180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altLang="en-US" sz="3600" dirty="0"/>
              <a:t>ENQUEUE(Insertion)</a:t>
            </a:r>
          </a:p>
          <a:p>
            <a:endParaRPr lang="en-IN" altLang="en-US" sz="3600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altLang="en-US" sz="3600" dirty="0"/>
              <a:t>DEQUEUE(Deletion)</a:t>
            </a:r>
          </a:p>
          <a:p>
            <a:endParaRPr lang="en-IN" altLang="en-US" sz="3600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altLang="en-US" sz="3600" dirty="0"/>
              <a:t>DISPLAY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8F48-D5D6-51D1-1E2B-0BF734F5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AD19A9-07F4-1967-1FA5-5BE37ACE5F41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Operations        </a:t>
            </a:r>
            <a:endParaRPr lang="en-US" sz="2400" dirty="0"/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5936B7E6-1411-72D9-021C-CD9F2DAF9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18DCC48-44C9-CAB5-0788-1D2C28F8F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100" y="1505712"/>
            <a:ext cx="8432800" cy="1504295"/>
          </a:xfrm>
        </p:spPr>
        <p:txBody>
          <a:bodyPr/>
          <a:lstStyle/>
          <a:p>
            <a:pPr algn="just"/>
            <a:r>
              <a:rPr lang="en-IN" altLang="en-US" dirty="0"/>
              <a:t>Two special pointers </a:t>
            </a:r>
          </a:p>
          <a:p>
            <a:pPr lvl="1" algn="just"/>
            <a:r>
              <a:rPr lang="en-IN" altLang="en-US" dirty="0"/>
              <a:t>Front</a:t>
            </a:r>
          </a:p>
          <a:p>
            <a:pPr lvl="1" algn="just"/>
            <a:r>
              <a:rPr lang="en-IN" altLang="en-US" dirty="0"/>
              <a:t>Rear</a:t>
            </a:r>
          </a:p>
          <a:p>
            <a:pPr lvl="1" algn="just"/>
            <a:endParaRPr lang="en-IN" altLang="en-US" dirty="0"/>
          </a:p>
          <a:p>
            <a:pPr lvl="1" algn="just"/>
            <a:endParaRPr lang="en-IN" altLang="en-US" dirty="0"/>
          </a:p>
          <a:p>
            <a:pPr lvl="1" algn="just"/>
            <a:endParaRPr lang="en-IN" altLang="en-US" dirty="0"/>
          </a:p>
          <a:p>
            <a:pPr marL="457200" lvl="1" indent="0" algn="just">
              <a:buNone/>
            </a:pPr>
            <a:endParaRPr lang="en-I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45B77-52C3-4697-9672-4D3EAA0C0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84" y="3331251"/>
            <a:ext cx="9354856" cy="30484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797B96-6B8F-46CA-73C5-F0EB11CC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0560"/>
            <a:ext cx="7391400" cy="609600"/>
          </a:xfrm>
        </p:spPr>
        <p:txBody>
          <a:bodyPr/>
          <a:lstStyle/>
          <a:p>
            <a:r>
              <a:rPr lang="en-IN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 Representation of QUEUE</a:t>
            </a:r>
          </a:p>
        </p:txBody>
      </p:sp>
    </p:spTree>
    <p:extLst>
      <p:ext uri="{BB962C8B-B14F-4D97-AF65-F5344CB8AC3E}">
        <p14:creationId xmlns:p14="http://schemas.microsoft.com/office/powerpoint/2010/main" val="54705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79E45-A917-FDCB-D9C6-20BE0853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DBB4F54F-AA69-4288-011D-E9EE6BF7BA36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Representation        </a:t>
            </a:r>
            <a:endParaRPr lang="en-US" sz="2400" dirty="0"/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0D83A339-2CB7-4A23-DB99-FFBCB592A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F4A57DD-F37E-CE0E-7292-159A13A3C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/>
          <a:p>
            <a:pPr algn="just">
              <a:defRPr/>
            </a:pPr>
            <a:r>
              <a:rPr lang="en-IN" dirty="0"/>
              <a:t>Every node has two parts:</a:t>
            </a:r>
          </a:p>
          <a:p>
            <a:pPr lvl="1" algn="just">
              <a:defRPr/>
            </a:pPr>
            <a:r>
              <a:rPr lang="en-IN" dirty="0"/>
              <a:t>Stores data</a:t>
            </a:r>
          </a:p>
          <a:p>
            <a:pPr lvl="1" algn="just">
              <a:defRPr/>
            </a:pPr>
            <a:r>
              <a:rPr lang="en-IN" dirty="0"/>
              <a:t>Stores the address of next node.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IN" dirty="0" err="1"/>
              <a:t>struct</a:t>
            </a:r>
            <a:r>
              <a:rPr lang="en-IN" dirty="0"/>
              <a:t> Node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IN" dirty="0"/>
              <a:t>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IN" dirty="0"/>
              <a:t>     </a:t>
            </a:r>
            <a:r>
              <a:rPr lang="en-IN" dirty="0" err="1"/>
              <a:t>int</a:t>
            </a:r>
            <a:r>
              <a:rPr lang="en-IN" dirty="0"/>
              <a:t> data;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IN" dirty="0"/>
              <a:t>      </a:t>
            </a:r>
            <a:r>
              <a:rPr lang="en-IN" dirty="0" err="1"/>
              <a:t>struct</a:t>
            </a:r>
            <a:r>
              <a:rPr lang="en-IN" dirty="0"/>
              <a:t> Node *next;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IN" dirty="0"/>
              <a:t>} *front,*rear;</a:t>
            </a:r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AD13670A-F878-007F-E0EE-0B586082B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36384" y="1790700"/>
            <a:ext cx="37338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A3B3-2650-6339-20A8-780D3C6A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7EBE804F-329B-A752-D0EC-FAC4204658BD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Operations :Enqueue     </a:t>
            </a:r>
            <a:endParaRPr lang="en-US" sz="2400" dirty="0"/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0BD14D0F-B180-8AC2-1F15-0072379D6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B178B6-452F-0095-90D9-E1040B525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783336"/>
            <a:ext cx="10149841" cy="50292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dirty="0"/>
              <a:t>Step 1: Allocate memory for the new node and name it as PTR</a:t>
            </a:r>
          </a:p>
          <a:p>
            <a:pPr marL="0" indent="0" algn="just">
              <a:buNone/>
              <a:defRPr/>
            </a:pPr>
            <a:r>
              <a:rPr lang="en-US" dirty="0"/>
              <a:t>Step 2: SET PTR-&gt; DATA = VAL</a:t>
            </a:r>
          </a:p>
          <a:p>
            <a:pPr marL="0" indent="0" algn="just">
              <a:buNone/>
              <a:defRPr/>
            </a:pPr>
            <a:r>
              <a:rPr lang="en-US" dirty="0"/>
              <a:t>Step 3: IF FRONT = NULL</a:t>
            </a:r>
          </a:p>
          <a:p>
            <a:pPr marL="0" indent="0" algn="just">
              <a:buNone/>
              <a:defRPr/>
            </a:pPr>
            <a:r>
              <a:rPr lang="en-US" dirty="0"/>
              <a:t> 	  SET FRONT=REAR=PTR</a:t>
            </a:r>
          </a:p>
          <a:p>
            <a:pPr marL="0" indent="0" algn="just">
              <a:buNone/>
              <a:defRPr/>
            </a:pPr>
            <a:r>
              <a:rPr lang="en-US" dirty="0"/>
              <a:t>             SET FRONT-&gt;NEXT = REAR-&gt; NEXT = NULL</a:t>
            </a:r>
          </a:p>
          <a:p>
            <a:pPr marL="0" indent="0" algn="just">
              <a:buNone/>
              <a:defRPr/>
            </a:pPr>
            <a:r>
              <a:rPr lang="en-US" dirty="0"/>
              <a:t>             ELSE</a:t>
            </a:r>
          </a:p>
          <a:p>
            <a:pPr marL="0" indent="0" algn="just">
              <a:buNone/>
              <a:defRPr/>
            </a:pPr>
            <a:r>
              <a:rPr lang="en-US" dirty="0"/>
              <a:t>            SET REAR-&gt;NEXT = PTR</a:t>
            </a:r>
          </a:p>
          <a:p>
            <a:pPr marL="0" indent="0" algn="just">
              <a:buNone/>
              <a:defRPr/>
            </a:pPr>
            <a:r>
              <a:rPr lang="en-US" dirty="0"/>
              <a:t>            SET REAR = PTR</a:t>
            </a:r>
          </a:p>
          <a:p>
            <a:pPr marL="0" indent="0" algn="just">
              <a:buNone/>
              <a:defRPr/>
            </a:pPr>
            <a:r>
              <a:rPr lang="en-US" dirty="0"/>
              <a:t>	 SET REAR-&gt;NEXT =NULL</a:t>
            </a:r>
          </a:p>
          <a:p>
            <a:pPr marL="0" indent="0" algn="just">
              <a:buNone/>
              <a:defRPr/>
            </a:pPr>
            <a:r>
              <a:rPr lang="en-US" dirty="0"/>
              <a:t>            [END OF IF]</a:t>
            </a:r>
          </a:p>
          <a:p>
            <a:pPr marL="0" indent="0" algn="just">
              <a:buNone/>
              <a:defRPr/>
            </a:pPr>
            <a:r>
              <a:rPr lang="en-US" dirty="0"/>
              <a:t>Step 4: END</a:t>
            </a:r>
          </a:p>
          <a:p>
            <a:pPr marL="0" indent="0" algn="just">
              <a:buNone/>
              <a:defRPr/>
            </a:pPr>
            <a:endParaRPr lang="en-US" dirty="0"/>
          </a:p>
          <a:p>
            <a:pPr marL="0" indent="0" algn="just">
              <a:buNone/>
              <a:defRPr/>
            </a:pPr>
            <a:r>
              <a:rPr lang="en-US" dirty="0"/>
              <a:t>SET REAR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C923C-BA18-5D38-A496-EE55910D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19" y="2496312"/>
            <a:ext cx="3674294" cy="345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7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BBBB-41A9-017C-7B8B-28F4B87C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DA83C738-4ED3-C042-8A5D-9BABC2CABF0B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Operations :Enqueue     </a:t>
            </a:r>
            <a:endParaRPr lang="en-US" sz="2400" dirty="0"/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       </a:t>
            </a:r>
            <a:endParaRPr lang="en-US" sz="2400" dirty="0"/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EB812ADB-F727-883E-C630-B6F871399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480BE0-1D35-AA07-4949-89EDB3FB3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969" y="1218891"/>
            <a:ext cx="6247079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8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D173-C8E8-5034-FE26-39D7CAF1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716856-E8AF-04E8-01B2-944FB778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035805"/>
            <a:ext cx="5224883" cy="4836937"/>
          </a:xfrm>
          <a:prstGeom prst="rect">
            <a:avLst/>
          </a:prstGeom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69BAA022-9048-7337-9E5C-7E1C85136FA6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Operations :Dequeue     </a:t>
            </a:r>
            <a:endParaRPr lang="en-US" sz="2400" dirty="0"/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       </a:t>
            </a:r>
            <a:endParaRPr lang="en-US" sz="2400" dirty="0"/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D4D251CC-0D5C-961F-D280-51C0393BD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7A29FF-33FD-F07F-737F-9BF234C83D44}"/>
              </a:ext>
            </a:extLst>
          </p:cNvPr>
          <p:cNvSpPr txBox="1"/>
          <p:nvPr/>
        </p:nvSpPr>
        <p:spPr>
          <a:xfrm>
            <a:off x="395302" y="936028"/>
            <a:ext cx="704562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Bookman Old Style" panose="02050604050505020204" pitchFamily="18" charset="0"/>
            </a:endParaRPr>
          </a:p>
          <a:p>
            <a:r>
              <a:rPr lang="en-US" sz="2800" dirty="0">
                <a:latin typeface="Bookman Old Style" panose="02050604050505020204" pitchFamily="18" charset="0"/>
              </a:rPr>
              <a:t>Step 1: IF FRONT = NULL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	Write Underflow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	Go to Step 5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	[END OF IF]</a:t>
            </a:r>
          </a:p>
          <a:p>
            <a:endParaRPr lang="en-US" sz="2800" dirty="0">
              <a:latin typeface="Bookman Old Style" panose="02050604050505020204" pitchFamily="18" charset="0"/>
            </a:endParaRPr>
          </a:p>
          <a:p>
            <a:r>
              <a:rPr lang="en-US" sz="2800" b="0" i="0" u="none" strike="noStrike" baseline="0" dirty="0">
                <a:latin typeface="Bookman Old Style" panose="02050604050505020204" pitchFamily="18" charset="0"/>
              </a:rPr>
              <a:t>Step 2: SET PTR = FRONT</a:t>
            </a:r>
          </a:p>
          <a:p>
            <a:endParaRPr lang="en-US" sz="28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US" sz="2800" b="0" i="0" u="none" strike="noStrike" baseline="0" dirty="0">
                <a:latin typeface="Bookman Old Style" panose="02050604050505020204" pitchFamily="18" charset="0"/>
              </a:rPr>
              <a:t>Step 3: SET FRONT = FRONT -&gt; NEXT</a:t>
            </a:r>
          </a:p>
          <a:p>
            <a:endParaRPr lang="en-US" sz="2800" dirty="0">
              <a:latin typeface="Bookman Old Style" panose="02050604050505020204" pitchFamily="18" charset="0"/>
            </a:endParaRPr>
          </a:p>
          <a:p>
            <a:r>
              <a:rPr lang="en-IN" sz="2800" b="0" i="0" u="none" strike="noStrike" baseline="0" dirty="0">
                <a:latin typeface="Bookman Old Style" panose="02050604050505020204" pitchFamily="18" charset="0"/>
              </a:rPr>
              <a:t>Step 4: FREE PTR</a:t>
            </a:r>
          </a:p>
          <a:p>
            <a:endParaRPr lang="en-US" sz="28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IN" sz="2800" b="0" i="0" u="none" strike="noStrike" baseline="0" dirty="0">
                <a:latin typeface="Bookman Old Style" panose="02050604050505020204" pitchFamily="18" charset="0"/>
              </a:rPr>
              <a:t>Step 5: END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3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1C75-7212-A8D7-1F40-676CC0A8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D4A2AF26-92F5-555C-2CA7-074E58979293}"/>
              </a:ext>
            </a:extLst>
          </p:cNvPr>
          <p:cNvSpPr/>
          <p:nvPr/>
        </p:nvSpPr>
        <p:spPr>
          <a:xfrm>
            <a:off x="2096086" y="70605"/>
            <a:ext cx="72271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Operations :Display     </a:t>
            </a:r>
            <a:endParaRPr lang="en-US" sz="2400" dirty="0"/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       </a:t>
            </a:r>
            <a:endParaRPr lang="en-US" sz="2400" dirty="0"/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B523C723-E96E-1291-86B2-BD9251235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CCCF46-F234-3F71-E7D5-6D7D7CEDB486}"/>
              </a:ext>
            </a:extLst>
          </p:cNvPr>
          <p:cNvSpPr txBox="1"/>
          <p:nvPr/>
        </p:nvSpPr>
        <p:spPr>
          <a:xfrm>
            <a:off x="395301" y="936028"/>
            <a:ext cx="892795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Bookman Old Style" panose="02050604050505020204" pitchFamily="18" charset="0"/>
            </a:endParaRPr>
          </a:p>
          <a:p>
            <a:r>
              <a:rPr lang="en-US" sz="2800" dirty="0">
                <a:latin typeface="Bookman Old Style" panose="02050604050505020204" pitchFamily="18" charset="0"/>
              </a:rPr>
              <a:t>Step 1: Set </a:t>
            </a:r>
            <a:r>
              <a:rPr lang="en-IN" sz="2800" b="0" i="0" u="none" strike="noStrike" baseline="0" dirty="0" err="1">
                <a:latin typeface="Consolas" panose="020B0609020204030204" pitchFamily="49" charset="0"/>
              </a:rPr>
              <a:t>ptr</a:t>
            </a:r>
            <a:r>
              <a:rPr lang="en-IN" sz="2800" b="0" i="0" u="none" strike="noStrike" baseline="0" dirty="0">
                <a:latin typeface="Consolas" panose="020B0609020204030204" pitchFamily="49" charset="0"/>
              </a:rPr>
              <a:t> = q </a:t>
            </a:r>
            <a:r>
              <a:rPr lang="en-IN" sz="2800" b="0" i="0" u="none" strike="noStrike" baseline="0" dirty="0">
                <a:latin typeface="MT-Symbol"/>
              </a:rPr>
              <a:t>-&gt; </a:t>
            </a:r>
            <a:r>
              <a:rPr lang="en-IN" sz="2800" b="0" i="0" u="none" strike="noStrike" baseline="0" dirty="0">
                <a:latin typeface="Consolas" panose="020B0609020204030204" pitchFamily="49" charset="0"/>
              </a:rPr>
              <a:t>front</a:t>
            </a:r>
            <a:endParaRPr lang="en-US" sz="2800" dirty="0">
              <a:latin typeface="Bookman Old Style" panose="02050604050505020204" pitchFamily="18" charset="0"/>
            </a:endParaRPr>
          </a:p>
          <a:p>
            <a:pPr algn="l"/>
            <a:r>
              <a:rPr lang="en-US" sz="2800" b="0" i="0" u="none" strike="noStrike" baseline="0" dirty="0">
                <a:latin typeface="Bookman Old Style" panose="02050604050505020204" pitchFamily="18" charset="0"/>
              </a:rPr>
              <a:t>Step 2: </a:t>
            </a:r>
            <a:r>
              <a:rPr lang="en-IN" sz="2800" b="0" i="0" u="none" strike="noStrike" baseline="0" dirty="0">
                <a:latin typeface="Consolas" panose="020B0609020204030204" pitchFamily="49" charset="0"/>
              </a:rPr>
              <a:t>if </a:t>
            </a:r>
            <a:r>
              <a:rPr lang="en-IN" sz="2800" b="0" i="0" u="none" strike="noStrike" baseline="0" dirty="0" err="1">
                <a:latin typeface="Consolas" panose="020B0609020204030204" pitchFamily="49" charset="0"/>
              </a:rPr>
              <a:t>ptr</a:t>
            </a:r>
            <a:r>
              <a:rPr lang="en-IN" sz="2800" b="0" i="0" u="none" strike="noStrike" baseline="0" dirty="0">
                <a:latin typeface="Consolas" panose="020B0609020204030204" pitchFamily="49" charset="0"/>
              </a:rPr>
              <a:t> == NULL</a:t>
            </a:r>
          </a:p>
          <a:p>
            <a:pPr algn="l"/>
            <a:r>
              <a:rPr lang="en-IN" sz="2800" b="0" i="0" u="none" strike="noStrike" baseline="0" dirty="0">
                <a:latin typeface="Consolas" panose="020B0609020204030204" pitchFamily="49" charset="0"/>
              </a:rPr>
              <a:t>       Print QUEUE IS EMPTY</a:t>
            </a:r>
          </a:p>
          <a:p>
            <a:pPr algn="l"/>
            <a:r>
              <a:rPr lang="en-IN" sz="2800" dirty="0">
                <a:latin typeface="Consolas" panose="020B0609020204030204" pitchFamily="49" charset="0"/>
              </a:rPr>
              <a:t>	  else</a:t>
            </a:r>
          </a:p>
          <a:p>
            <a:pPr algn="l"/>
            <a:r>
              <a:rPr lang="en-IN" sz="2800" b="0" i="0" u="none" strike="noStrike" baseline="0" dirty="0">
                <a:latin typeface="Consolas" panose="020B0609020204030204" pitchFamily="49" charset="0"/>
              </a:rPr>
              <a:t>      r</a:t>
            </a:r>
            <a:r>
              <a:rPr lang="en-IN" sz="2800" dirty="0">
                <a:latin typeface="Consolas" panose="020B0609020204030204" pitchFamily="49" charset="0"/>
              </a:rPr>
              <a:t>epeat step 3 until </a:t>
            </a:r>
            <a:r>
              <a:rPr lang="en-IN" sz="2800" dirty="0" err="1">
                <a:latin typeface="Consolas" panose="020B0609020204030204" pitchFamily="49" charset="0"/>
              </a:rPr>
              <a:t>ptr</a:t>
            </a:r>
            <a:r>
              <a:rPr lang="en-IN" sz="2800" dirty="0">
                <a:latin typeface="Consolas" panose="020B0609020204030204" pitchFamily="49" charset="0"/>
              </a:rPr>
              <a:t> == q-&gt;rear</a:t>
            </a:r>
            <a:endParaRPr lang="en-US" sz="2800" b="0" i="0" u="none" strike="noStrike" baseline="0" dirty="0">
              <a:latin typeface="Bookman Old Style" panose="02050604050505020204" pitchFamily="18" charset="0"/>
            </a:endParaRPr>
          </a:p>
          <a:p>
            <a:endParaRPr lang="en-US" sz="28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US" sz="2800" b="0" i="0" u="none" strike="noStrike" baseline="0" dirty="0">
                <a:latin typeface="Bookman Old Style" panose="02050604050505020204" pitchFamily="18" charset="0"/>
              </a:rPr>
              <a:t>Step 3: a. Print </a:t>
            </a:r>
            <a:r>
              <a:rPr lang="en-US" sz="2800" b="0" i="0" u="none" strike="noStrike" baseline="0" dirty="0" err="1">
                <a:latin typeface="Bookman Old Style" panose="02050604050505020204" pitchFamily="18" charset="0"/>
              </a:rPr>
              <a:t>ptr</a:t>
            </a:r>
            <a:r>
              <a:rPr lang="en-US" sz="2800" b="0" i="0" u="none" strike="noStrike" baseline="0" dirty="0">
                <a:latin typeface="Bookman Old Style" panose="02050604050505020204" pitchFamily="18" charset="0"/>
              </a:rPr>
              <a:t>-&gt;data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            </a:t>
            </a:r>
            <a:r>
              <a:rPr lang="en-US" sz="2800" dirty="0" err="1">
                <a:latin typeface="Bookman Old Style" panose="02050604050505020204" pitchFamily="18" charset="0"/>
              </a:rPr>
              <a:t>b.</a:t>
            </a:r>
            <a:r>
              <a:rPr lang="en-US" sz="2800" dirty="0">
                <a:latin typeface="Bookman Old Style" panose="02050604050505020204" pitchFamily="18" charset="0"/>
              </a:rPr>
              <a:t> set </a:t>
            </a:r>
            <a:r>
              <a:rPr lang="en-US" sz="2800" dirty="0" err="1">
                <a:latin typeface="Bookman Old Style" panose="02050604050505020204" pitchFamily="18" charset="0"/>
              </a:rPr>
              <a:t>ptr</a:t>
            </a:r>
            <a:r>
              <a:rPr lang="en-US" sz="2800" dirty="0">
                <a:latin typeface="Bookman Old Style" panose="02050604050505020204" pitchFamily="18" charset="0"/>
              </a:rPr>
              <a:t>= </a:t>
            </a:r>
            <a:r>
              <a:rPr lang="en-US" sz="2800" dirty="0" err="1">
                <a:latin typeface="Bookman Old Style" panose="02050604050505020204" pitchFamily="18" charset="0"/>
              </a:rPr>
              <a:t>ptr</a:t>
            </a:r>
            <a:r>
              <a:rPr lang="en-US" sz="2800" dirty="0">
                <a:latin typeface="Bookman Old Style" panose="02050604050505020204" pitchFamily="18" charset="0"/>
              </a:rPr>
              <a:t>-&gt;next</a:t>
            </a:r>
            <a:endParaRPr lang="en-US" sz="28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IN" sz="2800" b="0" i="0" u="none" strike="noStrike" baseline="0" dirty="0">
                <a:latin typeface="Bookman Old Style" panose="02050604050505020204" pitchFamily="18" charset="0"/>
              </a:rPr>
              <a:t>Step 4: Print </a:t>
            </a:r>
            <a:r>
              <a:rPr lang="en-IN" sz="2800" b="0" i="0" u="none" strike="noStrike" baseline="0" dirty="0" err="1">
                <a:latin typeface="Bookman Old Style" panose="02050604050505020204" pitchFamily="18" charset="0"/>
              </a:rPr>
              <a:t>ptr</a:t>
            </a:r>
            <a:r>
              <a:rPr lang="en-IN" sz="2800" b="0" i="0" u="none" strike="noStrike" baseline="0" dirty="0">
                <a:latin typeface="Bookman Old Style" panose="02050604050505020204" pitchFamily="18" charset="0"/>
              </a:rPr>
              <a:t>-&gt;data</a:t>
            </a:r>
          </a:p>
          <a:p>
            <a:r>
              <a:rPr lang="en-IN" sz="2800" dirty="0">
                <a:latin typeface="Bookman Old Style" panose="02050604050505020204" pitchFamily="18" charset="0"/>
              </a:rPr>
              <a:t>	   [end if]</a:t>
            </a:r>
            <a:endParaRPr lang="en-IN" sz="2800" b="0" i="0" u="none" strike="noStrike" baseline="0" dirty="0">
              <a:latin typeface="Bookman Old Style" panose="02050604050505020204" pitchFamily="18" charset="0"/>
            </a:endParaRPr>
          </a:p>
          <a:p>
            <a:r>
              <a:rPr lang="en-IN" sz="2800" b="0" i="0" u="none" strike="noStrike" baseline="0" dirty="0">
                <a:latin typeface="Bookman Old Style" panose="02050604050505020204" pitchFamily="18" charset="0"/>
              </a:rPr>
              <a:t>Step 5: END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30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75582" y="1125416"/>
            <a:ext cx="9397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8000" y="25518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7241" y="1024129"/>
            <a:ext cx="94781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learned about: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a queue and where it can be implemented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Real time examples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Various operations of Queue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53624" y="1079088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In linked list implementation of a queue, where does a new element be inserted?</a:t>
            </a:r>
            <a:br>
              <a:rPr lang="en-US" sz="2000" dirty="0"/>
            </a:br>
            <a:endParaRPr sz="2000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125302" y="1871003"/>
            <a:ext cx="3685849" cy="175273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dirty="0">
                <a:cs typeface="Times New Roman" pitchFamily="18" charset="0"/>
              </a:rPr>
              <a:t>A)</a:t>
            </a:r>
            <a:r>
              <a:rPr lang="en-US" sz="1600" dirty="0"/>
              <a:t> At the head of link list</a:t>
            </a:r>
            <a:br>
              <a:rPr lang="en-US" dirty="0"/>
            </a:br>
            <a:r>
              <a:rPr lang="en-US" sz="1600" dirty="0"/>
              <a:t>B) At the Centre position in the link list</a:t>
            </a:r>
            <a:br>
              <a:rPr lang="en-US" dirty="0"/>
            </a:br>
            <a:r>
              <a:rPr lang="en-US" sz="1600" dirty="0"/>
              <a:t>C) At the tail of the link list</a:t>
            </a:r>
            <a:br>
              <a:rPr lang="en-US" dirty="0"/>
            </a:br>
            <a:r>
              <a:rPr lang="en-US" sz="1600" dirty="0"/>
              <a:t>D) At any position in the linked list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770141"/>
            <a:ext cx="10172210" cy="76044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2.</a:t>
            </a:r>
            <a:r>
              <a:rPr lang="en-US" sz="1600" dirty="0"/>
              <a:t> </a:t>
            </a:r>
            <a:r>
              <a:rPr lang="en-US" dirty="0"/>
              <a:t>In linked list implementation of a queue, front and rear pointers are tracked. Which of these pointers will change during an insertion into EMPTY queue?</a:t>
            </a:r>
            <a:endParaRPr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8806" y="4656406"/>
            <a:ext cx="4220307" cy="171661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</a:pPr>
            <a:r>
              <a:rPr lang="en-US" sz="1600" dirty="0"/>
              <a:t>        (A)</a:t>
            </a:r>
            <a:r>
              <a:rPr lang="en-US" dirty="0"/>
              <a:t> Only front pointer</a:t>
            </a:r>
            <a:br>
              <a:rPr lang="en-US" sz="1600" dirty="0"/>
            </a:br>
            <a:r>
              <a:rPr lang="en-US" dirty="0"/>
              <a:t>B) Only rear pointer</a:t>
            </a:r>
            <a:br>
              <a:rPr lang="en-US" sz="1600" dirty="0"/>
            </a:br>
            <a:r>
              <a:rPr lang="en-US" dirty="0"/>
              <a:t>C) Both front and rear pointer</a:t>
            </a:r>
            <a:br>
              <a:rPr lang="en-US" sz="1600" dirty="0"/>
            </a:br>
            <a:r>
              <a:rPr lang="en-US" dirty="0"/>
              <a:t>D) No pointer will be changed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800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Define Queue and write about its importance 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List the Real Time Examples for Queues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to implement the queues(Applications of Queues)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How many pointers are required in Queues and name them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When underflow condition is existed in Queues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 the operations that can you perform on Queues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Write the declaration statements of Queues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Distinguish between Stack and Queue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 you are moving from Stack to Queue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there any limitations of Queue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What will be the principle used in Queue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AutoNum type="arabicParenR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By which you can implement the queue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opertaions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by using singly or doubly linked list?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8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08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Reference Books: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A.v.Aho,J.E.Hopcroft,and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J.D.Ullman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,”Data structures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Algorithms”,Pearson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Education 1e.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“Fundamentals of Data Structures in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C”,Horowitz,Sahni,Anderson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Freed 2e-2007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3.R.F.Gilberg,B.A.Forouzan,”Data Structures” 2e Thomson India Edition-2007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https://nptel.ac.in/courses/106102064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https://www.edx.org/course/algorithms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-and -data-structures-1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 https://www.coursera.org/learn/data-structures?action=enroll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Course Name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</TotalTime>
  <Words>887</Words>
  <Application>Microsoft Office PowerPoint</Application>
  <PresentationFormat>Widescreen</PresentationFormat>
  <Paragraphs>194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Arial</vt:lpstr>
      <vt:lpstr>BioRhyme ExtraBold</vt:lpstr>
      <vt:lpstr>Bookman Old Style</vt:lpstr>
      <vt:lpstr>Calibri</vt:lpstr>
      <vt:lpstr>Consolas</vt:lpstr>
      <vt:lpstr>MT-Symbol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Linked List Representation of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Krishna Suresh B V N V</cp:lastModifiedBy>
  <cp:revision>97</cp:revision>
  <dcterms:created xsi:type="dcterms:W3CDTF">2020-02-08T09:57:44Z</dcterms:created>
  <dcterms:modified xsi:type="dcterms:W3CDTF">2024-12-16T10:55:01Z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