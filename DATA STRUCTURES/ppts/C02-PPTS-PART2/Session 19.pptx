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71" r:id="rId5"/>
    <p:sldId id="300" r:id="rId6"/>
    <p:sldId id="258" r:id="rId7"/>
    <p:sldId id="288" r:id="rId8"/>
    <p:sldId id="305" r:id="rId9"/>
    <p:sldId id="306" r:id="rId10"/>
    <p:sldId id="311" r:id="rId11"/>
    <p:sldId id="307" r:id="rId12"/>
    <p:sldId id="314" r:id="rId13"/>
    <p:sldId id="315" r:id="rId14"/>
    <p:sldId id="299" r:id="rId15"/>
    <p:sldId id="316" r:id="rId16"/>
    <p:sldId id="285" r:id="rId17"/>
    <p:sldId id="287" r:id="rId18"/>
    <p:sldId id="301" r:id="rId19"/>
    <p:sldId id="302" r:id="rId20"/>
    <p:sldId id="30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68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Suresh B V N V" userId="46cc3a3c-d6e3-4f9f-b2e6-2a3b85efca88" providerId="ADAL" clId="{0616D6B3-F7E5-4E72-895C-37F5C5FB7A7E}"/>
    <pc:docChg chg="modSld">
      <pc:chgData name="Krishna Suresh B V N V" userId="46cc3a3c-d6e3-4f9f-b2e6-2a3b85efca88" providerId="ADAL" clId="{0616D6B3-F7E5-4E72-895C-37F5C5FB7A7E}" dt="2024-12-16T08:39:57.951" v="1" actId="20577"/>
      <pc:docMkLst>
        <pc:docMk/>
      </pc:docMkLst>
      <pc:sldChg chg="modSp mod">
        <pc:chgData name="Krishna Suresh B V N V" userId="46cc3a3c-d6e3-4f9f-b2e6-2a3b85efca88" providerId="ADAL" clId="{0616D6B3-F7E5-4E72-895C-37F5C5FB7A7E}" dt="2024-12-16T08:39:57.951" v="1" actId="20577"/>
        <pc:sldMkLst>
          <pc:docMk/>
          <pc:sldMk cId="0" sldId="271"/>
        </pc:sldMkLst>
        <pc:spChg chg="mod">
          <ac:chgData name="Krishna Suresh B V N V" userId="46cc3a3c-d6e3-4f9f-b2e6-2a3b85efca88" providerId="ADAL" clId="{0616D6B3-F7E5-4E72-895C-37F5C5FB7A7E}" dt="2024-12-16T08:39:57.951" v="1" actId="20577"/>
          <ac:spMkLst>
            <pc:docMk/>
            <pc:sldMk cId="0" sldId="271"/>
            <ac:spMk id="47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in.udacity.com/course/intro-to-algorithms--cs215" TargetMode="External"/><Relationship Id="rId2" Type="http://schemas.openxmlformats.org/officeDocument/2006/relationships/hyperlink" Target="https://nptel.ac.in/courses/106102064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coursera.org/learn/data-structures?action=enrol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</a:rPr>
              <a:t>Data Structures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CODE</a:t>
            </a:r>
            <a:r>
              <a:rPr lang="en-US" sz="32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: </a:t>
            </a:r>
            <a:r>
              <a:rPr lang="en-US" sz="3200" b="1">
                <a:solidFill>
                  <a:schemeClr val="accent1"/>
                </a:solidFill>
              </a:rPr>
              <a:t>24SC1203</a:t>
            </a:r>
            <a:endParaRPr lang="en-IN" sz="3200" b="1" dirty="0">
              <a:solidFill>
                <a:schemeClr val="accent1"/>
              </a:solidFill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Name of the 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Priority Queue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 dirty="0">
                <a:solidFill>
                  <a:srgbClr val="FF0000"/>
                </a:solidFill>
              </a:rPr>
              <a:t>BES-I</a:t>
            </a:r>
            <a:endParaRPr lang="en-US" sz="4000" dirty="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276164" y="557227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19 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47115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To provide a comprehensive understanding of implementing a Priority Queue using linked lists.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operations possible on the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each operation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/>
                <a:cs typeface="Arial"/>
              </a:rPr>
              <a:t>List out the advantages and applications of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  <a:r>
              <a:rPr lang="en-US" sz="1600" dirty="0">
                <a:latin typeface="Arial"/>
                <a:cs typeface="Arial"/>
              </a:rPr>
              <a:t>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definition, types and operations of </a:t>
            </a:r>
            <a:r>
              <a:rPr lang="en-IN" sz="1600" dirty="0"/>
              <a:t>Priority Queue</a:t>
            </a:r>
            <a:r>
              <a:rPr lang="en-IN" sz="1400" dirty="0"/>
              <a:t> </a:t>
            </a:r>
            <a:r>
              <a:rPr lang="en-US" sz="1600" dirty="0">
                <a:latin typeface="Arial" panose="020B0604020202020204" pitchFamily="34" charset="0"/>
              </a:rPr>
              <a:t>and its applications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1579418" y="84673"/>
            <a:ext cx="8324237" cy="119786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Priority Queue</a:t>
            </a:r>
          </a:p>
          <a:p>
            <a:r>
              <a:rPr lang="en-US" sz="2400" dirty="0"/>
              <a:t>			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261717" y="1592604"/>
            <a:ext cx="113360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3600" dirty="0"/>
              <a:t> A Priority Queue is a data structure that stores elements with associated priorities, and it retrieves elements in a way that the highest priority element is served before the lower priority elements.</a:t>
            </a:r>
          </a:p>
          <a:p>
            <a:pPr algn="just"/>
            <a:endParaRPr lang="en-IN" sz="3600" dirty="0"/>
          </a:p>
          <a:p>
            <a:pPr algn="just">
              <a:buFont typeface="Wingdings" pitchFamily="2" charset="2"/>
              <a:buChar char="Ø"/>
            </a:pPr>
            <a:r>
              <a:rPr lang="en-IN" sz="3600" dirty="0"/>
              <a:t> Every node carries one extra information along with the data, that is  the priority of the data.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Example of Priority Queue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3" name="Picture 10" descr="Data Structures and Algorithms Data Structure Lecture Priority">
            <a:extLst>
              <a:ext uri="{FF2B5EF4-FFF2-40B4-BE49-F238E27FC236}">
                <a16:creationId xmlns:a16="http://schemas.microsoft.com/office/drawing/2014/main" id="{45A5799F-FD10-8545-8FE1-4C28F873C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3" t="37050" r="17361" b="16090"/>
          <a:stretch/>
        </p:blipFill>
        <p:spPr bwMode="auto">
          <a:xfrm>
            <a:off x="5600700" y="1386121"/>
            <a:ext cx="5257801" cy="284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iority Queue in Data Structure: Implementation &amp; Types by Simplilearn">
            <a:extLst>
              <a:ext uri="{FF2B5EF4-FFF2-40B4-BE49-F238E27FC236}">
                <a16:creationId xmlns:a16="http://schemas.microsoft.com/office/drawing/2014/main" id="{1C4FB4B2-4D1D-644E-A9A9-959EA1A600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72"/>
          <a:stretch/>
        </p:blipFill>
        <p:spPr bwMode="auto">
          <a:xfrm>
            <a:off x="4356121" y="4587586"/>
            <a:ext cx="7835879" cy="107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9F1D6D-A84F-0B44-B328-91585150A6D6}"/>
              </a:ext>
            </a:extLst>
          </p:cNvPr>
          <p:cNvSpPr txBox="1"/>
          <p:nvPr/>
        </p:nvSpPr>
        <p:spPr>
          <a:xfrm>
            <a:off x="1427506" y="2673905"/>
            <a:ext cx="3369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Real Life Priority Queue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E6D770-92FD-CD46-AEF9-FA080694C99D}"/>
              </a:ext>
            </a:extLst>
          </p:cNvPr>
          <p:cNvSpPr txBox="1"/>
          <p:nvPr/>
        </p:nvSpPr>
        <p:spPr>
          <a:xfrm>
            <a:off x="707070" y="4799121"/>
            <a:ext cx="3984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Priority Queue using linked list</a:t>
            </a: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OPERATIONS ON Priority Queue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56259" y="1320731"/>
            <a:ext cx="11542815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In a Double Ended Queue, we can perform the following operations...</a:t>
            </a:r>
          </a:p>
          <a:p>
            <a:pPr lvl="1">
              <a:buFont typeface="Wingdings" pitchFamily="2" charset="2"/>
              <a:buChar char="v"/>
            </a:pPr>
            <a:r>
              <a:rPr lang="en-IN" sz="2000" dirty="0"/>
              <a:t> </a:t>
            </a:r>
            <a:r>
              <a:rPr lang="en-IN" sz="2400" dirty="0"/>
              <a:t>Enqueue</a:t>
            </a:r>
          </a:p>
          <a:p>
            <a:pPr lvl="1">
              <a:buFont typeface="Wingdings" pitchFamily="2" charset="2"/>
              <a:buChar char="v"/>
            </a:pPr>
            <a:r>
              <a:rPr lang="en-IN" sz="2400" dirty="0"/>
              <a:t> Dequeue</a:t>
            </a:r>
          </a:p>
          <a:p>
            <a:pPr lvl="1">
              <a:buFont typeface="Wingdings" pitchFamily="2" charset="2"/>
              <a:buChar char="v"/>
            </a:pPr>
            <a:r>
              <a:rPr lang="en-IN" sz="2400" dirty="0"/>
              <a:t> Display</a:t>
            </a:r>
          </a:p>
          <a:p>
            <a:endParaRPr lang="en-IN" sz="2800" b="1" dirty="0"/>
          </a:p>
        </p:txBody>
      </p:sp>
      <p:pic>
        <p:nvPicPr>
          <p:cNvPr id="14338" name="Picture 2" descr="Implementation of priority queue using linked lis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6457" y="1828800"/>
            <a:ext cx="9419771" cy="47174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A00810-6F60-3E42-8957-4B1A5773F1D8}"/>
              </a:ext>
            </a:extLst>
          </p:cNvPr>
          <p:cNvSpPr/>
          <p:nvPr/>
        </p:nvSpPr>
        <p:spPr>
          <a:xfrm>
            <a:off x="5986463" y="3767554"/>
            <a:ext cx="4657725" cy="229034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2400" dirty="0"/>
              <a:t>Node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979460" y="245393"/>
            <a:ext cx="8100218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Setup the Priority using Singly Linked List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56259" y="1320731"/>
            <a:ext cx="1104516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IN" sz="2400" dirty="0"/>
              <a:t> Before we implement those operations, first we need to </a:t>
            </a:r>
            <a:r>
              <a:rPr lang="en-IN" sz="2400" b="1" dirty="0"/>
              <a:t>setup empty list</a:t>
            </a:r>
            <a:r>
              <a:rPr lang="en-IN" sz="2400" dirty="0"/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/>
              <a:t>Perform the following steps to setup Empty Priority Queue:</a:t>
            </a:r>
            <a:r>
              <a:rPr lang="en-IN" sz="2000" dirty="0"/>
              <a:t>.</a:t>
            </a:r>
          </a:p>
          <a:p>
            <a:r>
              <a:rPr lang="en-IN" sz="2400" dirty="0"/>
              <a:t>   Step 1 - Define a </a:t>
            </a:r>
            <a:r>
              <a:rPr lang="en-IN" sz="2400" b="1" dirty="0"/>
              <a:t>Node</a:t>
            </a:r>
            <a:r>
              <a:rPr lang="en-IN" sz="2400" dirty="0"/>
              <a:t> structure with three members/fields </a:t>
            </a:r>
            <a:r>
              <a:rPr lang="en-IN" sz="2400" b="1" dirty="0"/>
              <a:t>data, priority</a:t>
            </a:r>
            <a:r>
              <a:rPr lang="en-IN" sz="2400" dirty="0"/>
              <a:t> and </a:t>
            </a:r>
            <a:r>
              <a:rPr lang="en-IN" sz="2400" b="1" dirty="0"/>
              <a:t>next</a:t>
            </a:r>
            <a:endParaRPr lang="en-IN" sz="2400" dirty="0"/>
          </a:p>
          <a:p>
            <a:r>
              <a:rPr lang="en-IN" sz="2400" dirty="0"/>
              <a:t>   Step 2 - Define one Node pointer ‘</a:t>
            </a:r>
            <a:r>
              <a:rPr lang="en-IN" sz="2400" b="1" dirty="0"/>
              <a:t>front</a:t>
            </a:r>
            <a:r>
              <a:rPr lang="en-IN" sz="2400" dirty="0"/>
              <a:t>' and set it to </a:t>
            </a:r>
            <a:r>
              <a:rPr lang="en-IN" sz="2400" b="1" dirty="0"/>
              <a:t>NULL</a:t>
            </a:r>
            <a:r>
              <a:rPr lang="en-IN" sz="2400" dirty="0"/>
              <a:t>.</a:t>
            </a:r>
          </a:p>
          <a:p>
            <a:r>
              <a:rPr lang="en-IN" sz="2400" dirty="0"/>
              <a:t>   Step 3 – Then perform the Operations one by one.</a:t>
            </a:r>
          </a:p>
          <a:p>
            <a:pPr>
              <a:buFont typeface="Wingdings" pitchFamily="2" charset="2"/>
              <a:buChar char="v"/>
            </a:pPr>
            <a:endParaRPr lang="en-IN" sz="2400" dirty="0"/>
          </a:p>
          <a:p>
            <a:r>
              <a:rPr lang="en-IN" sz="2400" dirty="0"/>
              <a:t>      The node is defined (represented) as:</a:t>
            </a:r>
          </a:p>
          <a:p>
            <a:r>
              <a:rPr lang="en-IN" sz="2400" dirty="0"/>
              <a:t>    	</a:t>
            </a:r>
            <a:r>
              <a:rPr lang="en-IN" sz="2400" dirty="0" err="1"/>
              <a:t>struct</a:t>
            </a:r>
            <a:r>
              <a:rPr lang="en-IN" sz="2400" dirty="0"/>
              <a:t> Node </a:t>
            </a:r>
          </a:p>
          <a:p>
            <a:r>
              <a:rPr lang="en-IN" sz="2400" dirty="0"/>
              <a:t>    	{</a:t>
            </a:r>
          </a:p>
          <a:p>
            <a:r>
              <a:rPr lang="en-IN" sz="2400" dirty="0"/>
              <a:t>        	    int  data; </a:t>
            </a:r>
          </a:p>
          <a:p>
            <a:r>
              <a:rPr lang="en-IN" sz="2400" dirty="0"/>
              <a:t>	    int  priority;</a:t>
            </a:r>
          </a:p>
          <a:p>
            <a:r>
              <a:rPr lang="en-IN" sz="2400" dirty="0"/>
              <a:t>        	    </a:t>
            </a:r>
            <a:r>
              <a:rPr lang="en-IN" sz="2400" dirty="0" err="1"/>
              <a:t>struct</a:t>
            </a:r>
            <a:r>
              <a:rPr lang="en-IN" sz="2400" dirty="0"/>
              <a:t> Node  * next; </a:t>
            </a:r>
          </a:p>
          <a:p>
            <a:r>
              <a:rPr lang="en-IN" sz="2400" dirty="0"/>
              <a:t>     	}*front=NULL;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2FC85-4F30-0F46-A59D-4BAD5F977FAF}"/>
              </a:ext>
            </a:extLst>
          </p:cNvPr>
          <p:cNvSpPr/>
          <p:nvPr/>
        </p:nvSpPr>
        <p:spPr>
          <a:xfrm>
            <a:off x="6096000" y="3957638"/>
            <a:ext cx="2219326" cy="1600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Priority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42D178-8E82-6D4D-BF58-3D06E1C47D8D}"/>
              </a:ext>
            </a:extLst>
          </p:cNvPr>
          <p:cNvSpPr/>
          <p:nvPr/>
        </p:nvSpPr>
        <p:spPr>
          <a:xfrm>
            <a:off x="8315326" y="3951357"/>
            <a:ext cx="1328737" cy="16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979424-6128-FE41-8EB2-76A674C82B7E}"/>
              </a:ext>
            </a:extLst>
          </p:cNvPr>
          <p:cNvSpPr/>
          <p:nvPr/>
        </p:nvSpPr>
        <p:spPr>
          <a:xfrm>
            <a:off x="9644063" y="3957638"/>
            <a:ext cx="890589" cy="1600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14284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243190" y="253280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i) Enqueue in Priority Queue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C7A2590-DF2D-BA48-A2C0-20F30EF9A6BC}"/>
              </a:ext>
            </a:extLst>
          </p:cNvPr>
          <p:cNvSpPr txBox="1"/>
          <p:nvPr/>
        </p:nvSpPr>
        <p:spPr>
          <a:xfrm>
            <a:off x="1020539" y="1513525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Original Priority Queue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CC088A-2442-3143-9084-7B5C91438065}"/>
              </a:ext>
            </a:extLst>
          </p:cNvPr>
          <p:cNvSpPr txBox="1"/>
          <p:nvPr/>
        </p:nvSpPr>
        <p:spPr>
          <a:xfrm>
            <a:off x="1020539" y="3444296"/>
            <a:ext cx="537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Enqueue of node with data 40 and priority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4DCDA9-F0CE-E94B-9518-AD544B5FD730}"/>
              </a:ext>
            </a:extLst>
          </p:cNvPr>
          <p:cNvGrpSpPr/>
          <p:nvPr/>
        </p:nvGrpSpPr>
        <p:grpSpPr>
          <a:xfrm>
            <a:off x="3657600" y="1971675"/>
            <a:ext cx="5301687" cy="571500"/>
            <a:chOff x="3657600" y="1971675"/>
            <a:chExt cx="5301687" cy="5715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61614CE-5194-CF42-8C3D-382D63B5AFC3}"/>
                </a:ext>
              </a:extLst>
            </p:cNvPr>
            <p:cNvGrpSpPr/>
            <p:nvPr/>
          </p:nvGrpSpPr>
          <p:grpSpPr>
            <a:xfrm>
              <a:off x="3657600" y="1971675"/>
              <a:ext cx="1514475" cy="571500"/>
              <a:chOff x="3657600" y="1971675"/>
              <a:chExt cx="1514475" cy="5715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3BB7489-0208-B346-98AD-E3DD49F4B5F8}"/>
                  </a:ext>
                </a:extLst>
              </p:cNvPr>
              <p:cNvSpPr/>
              <p:nvPr/>
            </p:nvSpPr>
            <p:spPr>
              <a:xfrm>
                <a:off x="3657600" y="1971675"/>
                <a:ext cx="514350" cy="5715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961EB13-F91A-1D4A-BD14-C23BEA8E53AB}"/>
                  </a:ext>
                </a:extLst>
              </p:cNvPr>
              <p:cNvSpPr/>
              <p:nvPr/>
            </p:nvSpPr>
            <p:spPr>
              <a:xfrm>
                <a:off x="4171950" y="1971675"/>
                <a:ext cx="514350" cy="5715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23</a:t>
                </a: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76E9629-DE2B-1D46-BA8B-AC3CA5517C00}"/>
                  </a:ext>
                </a:extLst>
              </p:cNvPr>
              <p:cNvCxnSpPr>
                <a:stCxn id="51" idx="3"/>
              </p:cNvCxnSpPr>
              <p:nvPr/>
            </p:nvCxnSpPr>
            <p:spPr>
              <a:xfrm>
                <a:off x="4686300" y="2257425"/>
                <a:ext cx="4857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ED69A12-BBB0-6E40-A14B-3834A82D83B5}"/>
                </a:ext>
              </a:extLst>
            </p:cNvPr>
            <p:cNvGrpSpPr/>
            <p:nvPr/>
          </p:nvGrpSpPr>
          <p:grpSpPr>
            <a:xfrm>
              <a:off x="5172075" y="1971675"/>
              <a:ext cx="1514475" cy="571500"/>
              <a:chOff x="3657600" y="1971675"/>
              <a:chExt cx="1514475" cy="5715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A1E5869-5FD2-2144-A278-2F1E0894A21C}"/>
                  </a:ext>
                </a:extLst>
              </p:cNvPr>
              <p:cNvSpPr/>
              <p:nvPr/>
            </p:nvSpPr>
            <p:spPr>
              <a:xfrm>
                <a:off x="3657600" y="1971675"/>
                <a:ext cx="514350" cy="5715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C215148-090E-9940-B132-D613F4D9C557}"/>
                  </a:ext>
                </a:extLst>
              </p:cNvPr>
              <p:cNvSpPr/>
              <p:nvPr/>
            </p:nvSpPr>
            <p:spPr>
              <a:xfrm>
                <a:off x="4171950" y="1971675"/>
                <a:ext cx="514350" cy="5715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9A07CAE-0E8E-F44E-ACDA-A55DA8D689F5}"/>
                  </a:ext>
                </a:extLst>
              </p:cNvPr>
              <p:cNvCxnSpPr>
                <a:stCxn id="57" idx="3"/>
              </p:cNvCxnSpPr>
              <p:nvPr/>
            </p:nvCxnSpPr>
            <p:spPr>
              <a:xfrm>
                <a:off x="4686300" y="2257425"/>
                <a:ext cx="4857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24BC662-0DE9-A046-A01C-43C1EFEA01D7}"/>
                </a:ext>
              </a:extLst>
            </p:cNvPr>
            <p:cNvGrpSpPr/>
            <p:nvPr/>
          </p:nvGrpSpPr>
          <p:grpSpPr>
            <a:xfrm>
              <a:off x="6686550" y="1971675"/>
              <a:ext cx="1514475" cy="571500"/>
              <a:chOff x="3657600" y="1971675"/>
              <a:chExt cx="1514475" cy="57150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88EF44D-A555-394C-9FE6-F0EB6FF80D44}"/>
                  </a:ext>
                </a:extLst>
              </p:cNvPr>
              <p:cNvSpPr/>
              <p:nvPr/>
            </p:nvSpPr>
            <p:spPr>
              <a:xfrm>
                <a:off x="3657600" y="1971675"/>
                <a:ext cx="514350" cy="5715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00D72A3-9FC8-A145-B5BB-3F1D037120C5}"/>
                  </a:ext>
                </a:extLst>
              </p:cNvPr>
              <p:cNvSpPr/>
              <p:nvPr/>
            </p:nvSpPr>
            <p:spPr>
              <a:xfrm>
                <a:off x="4171950" y="1971675"/>
                <a:ext cx="514350" cy="5715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15</a:t>
                </a:r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D7BB4298-DE30-BF4A-9388-AB2A1FB4CFBE}"/>
                  </a:ext>
                </a:extLst>
              </p:cNvPr>
              <p:cNvCxnSpPr>
                <a:stCxn id="61" idx="3"/>
              </p:cNvCxnSpPr>
              <p:nvPr/>
            </p:nvCxnSpPr>
            <p:spPr>
              <a:xfrm>
                <a:off x="4686300" y="2257425"/>
                <a:ext cx="4857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20A6800-0AE6-584D-AC03-9399CF6334F0}"/>
                </a:ext>
              </a:extLst>
            </p:cNvPr>
            <p:cNvSpPr txBox="1"/>
            <p:nvPr/>
          </p:nvSpPr>
          <p:spPr>
            <a:xfrm>
              <a:off x="8229600" y="2057370"/>
              <a:ext cx="7296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NULL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5E0A73D6-F85F-6740-A9C7-A7878AE5F564}"/>
              </a:ext>
            </a:extLst>
          </p:cNvPr>
          <p:cNvSpPr txBox="1"/>
          <p:nvPr/>
        </p:nvSpPr>
        <p:spPr>
          <a:xfrm>
            <a:off x="3807106" y="2787011"/>
            <a:ext cx="74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Front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63D4005-DF98-1146-AD24-3043D4C49478}"/>
              </a:ext>
            </a:extLst>
          </p:cNvPr>
          <p:cNvCxnSpPr>
            <a:cxnSpLocks/>
            <a:stCxn id="64" idx="0"/>
          </p:cNvCxnSpPr>
          <p:nvPr/>
        </p:nvCxnSpPr>
        <p:spPr>
          <a:xfrm flipH="1" flipV="1">
            <a:off x="4171950" y="2543175"/>
            <a:ext cx="638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950057B8-F13F-A64B-A8A6-6CC790E09AD7}"/>
              </a:ext>
            </a:extLst>
          </p:cNvPr>
          <p:cNvSpPr/>
          <p:nvPr/>
        </p:nvSpPr>
        <p:spPr>
          <a:xfrm>
            <a:off x="1233487" y="4129029"/>
            <a:ext cx="514350" cy="571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84C02FE-C166-BF46-8F1B-3EE23BE55294}"/>
              </a:ext>
            </a:extLst>
          </p:cNvPr>
          <p:cNvSpPr/>
          <p:nvPr/>
        </p:nvSpPr>
        <p:spPr>
          <a:xfrm>
            <a:off x="1747837" y="4129029"/>
            <a:ext cx="51435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23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53E56F3-58A9-BF4B-9EBE-F6622AED93CC}"/>
              </a:ext>
            </a:extLst>
          </p:cNvPr>
          <p:cNvGrpSpPr/>
          <p:nvPr/>
        </p:nvGrpSpPr>
        <p:grpSpPr>
          <a:xfrm>
            <a:off x="5172075" y="4114771"/>
            <a:ext cx="1514475" cy="571500"/>
            <a:chOff x="3657600" y="1971675"/>
            <a:chExt cx="1514475" cy="57150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CEF1933-6A98-A345-A683-08C25DE0BC72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2E5EF0B-6A7F-E74E-A6B4-02A16096FCC9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EB661A42-B394-CC40-A53E-A982863E0E74}"/>
                </a:ext>
              </a:extLst>
            </p:cNvPr>
            <p:cNvCxnSpPr>
              <a:stCxn id="77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C2D254D-A54A-3F4B-BEC8-A36B03E91850}"/>
              </a:ext>
            </a:extLst>
          </p:cNvPr>
          <p:cNvGrpSpPr/>
          <p:nvPr/>
        </p:nvGrpSpPr>
        <p:grpSpPr>
          <a:xfrm>
            <a:off x="6686550" y="4114771"/>
            <a:ext cx="1514475" cy="571500"/>
            <a:chOff x="3657600" y="1971675"/>
            <a:chExt cx="1514475" cy="5715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7B2EF88-E36A-E148-9B14-EA7FC34D1469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B8A83B8-E089-2B40-81B5-D19A87AB6CF9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DB9661B-9C6E-2D48-8200-CE63E9D5ABEB}"/>
                </a:ext>
              </a:extLst>
            </p:cNvPr>
            <p:cNvCxnSpPr>
              <a:stCxn id="81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85238EC6-E9F2-364A-AF0B-A30A2850B8BD}"/>
              </a:ext>
            </a:extLst>
          </p:cNvPr>
          <p:cNvSpPr txBox="1"/>
          <p:nvPr/>
        </p:nvSpPr>
        <p:spPr>
          <a:xfrm>
            <a:off x="8229600" y="4200466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E4E529-AF87-8A45-87FE-4AABA57153DC}"/>
              </a:ext>
            </a:extLst>
          </p:cNvPr>
          <p:cNvSpPr txBox="1"/>
          <p:nvPr/>
        </p:nvSpPr>
        <p:spPr>
          <a:xfrm>
            <a:off x="1382993" y="4944365"/>
            <a:ext cx="74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Front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3C9E111-25F8-6240-B17F-410B6B52E91A}"/>
              </a:ext>
            </a:extLst>
          </p:cNvPr>
          <p:cNvCxnSpPr>
            <a:cxnSpLocks/>
            <a:stCxn id="84" idx="0"/>
          </p:cNvCxnSpPr>
          <p:nvPr/>
        </p:nvCxnSpPr>
        <p:spPr>
          <a:xfrm flipH="1" flipV="1">
            <a:off x="1747837" y="4700529"/>
            <a:ext cx="638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BD684C6F-5868-8E4D-8EDD-15CB7A13C31A}"/>
              </a:ext>
            </a:extLst>
          </p:cNvPr>
          <p:cNvSpPr/>
          <p:nvPr/>
        </p:nvSpPr>
        <p:spPr>
          <a:xfrm>
            <a:off x="3171825" y="5085367"/>
            <a:ext cx="514350" cy="5715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6BF6191-DC40-944B-A1F0-88B3C1E691C3}"/>
              </a:ext>
            </a:extLst>
          </p:cNvPr>
          <p:cNvSpPr/>
          <p:nvPr/>
        </p:nvSpPr>
        <p:spPr>
          <a:xfrm>
            <a:off x="3686175" y="5085367"/>
            <a:ext cx="51435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B13CEB2-C4F2-B048-B78A-E62BC4876157}"/>
              </a:ext>
            </a:extLst>
          </p:cNvPr>
          <p:cNvSpPr txBox="1"/>
          <p:nvPr/>
        </p:nvSpPr>
        <p:spPr>
          <a:xfrm>
            <a:off x="3075110" y="6015063"/>
            <a:ext cx="122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NewNode</a:t>
            </a:r>
            <a:endParaRPr lang="en-US" sz="2000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80BE975-C8A5-FD4A-83CC-C1AF0882AADF}"/>
              </a:ext>
            </a:extLst>
          </p:cNvPr>
          <p:cNvCxnSpPr>
            <a:cxnSpLocks/>
            <a:stCxn id="92" idx="0"/>
          </p:cNvCxnSpPr>
          <p:nvPr/>
        </p:nvCxnSpPr>
        <p:spPr>
          <a:xfrm flipV="1">
            <a:off x="3686175" y="5714047"/>
            <a:ext cx="0" cy="301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E139A0E6-044F-3A4A-B2ED-53DD317BA281}"/>
              </a:ext>
            </a:extLst>
          </p:cNvPr>
          <p:cNvCxnSpPr>
            <a:stCxn id="73" idx="3"/>
            <a:endCxn id="89" idx="1"/>
          </p:cNvCxnSpPr>
          <p:nvPr/>
        </p:nvCxnSpPr>
        <p:spPr>
          <a:xfrm>
            <a:off x="2262187" y="4414779"/>
            <a:ext cx="909638" cy="9563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F0A0E67B-8CA0-0E4D-8250-96BA0F7D9380}"/>
              </a:ext>
            </a:extLst>
          </p:cNvPr>
          <p:cNvCxnSpPr>
            <a:cxnSpLocks/>
            <a:stCxn id="90" idx="3"/>
            <a:endCxn id="76" idx="1"/>
          </p:cNvCxnSpPr>
          <p:nvPr/>
        </p:nvCxnSpPr>
        <p:spPr>
          <a:xfrm flipV="1">
            <a:off x="4200525" y="4400521"/>
            <a:ext cx="971550" cy="970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36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243190" y="253280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i) Enqueue in Priority Queue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0" y="1164134"/>
            <a:ext cx="1208908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Algorithm: Enqueue a New Node to a Priority Queue</a:t>
            </a:r>
          </a:p>
          <a:p>
            <a:r>
              <a:rPr lang="en-IN" sz="2800" dirty="0"/>
              <a:t>Input: Priority Queue Front (front), New Node (</a:t>
            </a:r>
            <a:r>
              <a:rPr lang="en-IN" sz="2800" dirty="0" err="1"/>
              <a:t>newNode</a:t>
            </a:r>
            <a:r>
              <a:rPr lang="en-IN" sz="2800" dirty="0"/>
              <a:t>)</a:t>
            </a:r>
          </a:p>
          <a:p>
            <a:endParaRPr lang="en-IN" sz="2800" dirty="0"/>
          </a:p>
          <a:p>
            <a:r>
              <a:rPr lang="en-IN" sz="2800" dirty="0"/>
              <a:t>1. If front is NULL (empty priority queue) or the priority of </a:t>
            </a:r>
            <a:r>
              <a:rPr lang="en-IN" sz="2800" dirty="0" err="1"/>
              <a:t>newNode</a:t>
            </a:r>
            <a:r>
              <a:rPr lang="en-IN" sz="2800" dirty="0"/>
              <a:t> is higher than the priority of the front node:</a:t>
            </a:r>
          </a:p>
          <a:p>
            <a:r>
              <a:rPr lang="en-IN" sz="2800" dirty="0"/>
              <a:t>   a. Set </a:t>
            </a:r>
            <a:r>
              <a:rPr lang="en-IN" sz="2800" dirty="0" err="1"/>
              <a:t>newNode's</a:t>
            </a:r>
            <a:r>
              <a:rPr lang="en-IN" sz="2800" dirty="0"/>
              <a:t> next pointer to front.</a:t>
            </a:r>
          </a:p>
          <a:p>
            <a:r>
              <a:rPr lang="en-IN" sz="2800" dirty="0"/>
              <a:t>   b. Set front to </a:t>
            </a:r>
            <a:r>
              <a:rPr lang="en-IN" sz="2800" dirty="0" err="1"/>
              <a:t>newNode</a:t>
            </a:r>
            <a:r>
              <a:rPr lang="en-IN" sz="2800" dirty="0"/>
              <a:t>.</a:t>
            </a:r>
          </a:p>
          <a:p>
            <a:r>
              <a:rPr lang="en-IN" sz="2800" dirty="0"/>
              <a:t>2. Otherwise, if </a:t>
            </a:r>
            <a:r>
              <a:rPr lang="en-IN" sz="2800" dirty="0" err="1"/>
              <a:t>newNode's</a:t>
            </a:r>
            <a:r>
              <a:rPr lang="en-IN" sz="2800" dirty="0"/>
              <a:t> priority is lower or equal to the priority of the front node:</a:t>
            </a:r>
          </a:p>
          <a:p>
            <a:r>
              <a:rPr lang="en-IN" sz="2800" dirty="0"/>
              <a:t>   a. Initialize a pointer current to front.</a:t>
            </a:r>
          </a:p>
          <a:p>
            <a:r>
              <a:rPr lang="en-IN" sz="2800" dirty="0"/>
              <a:t>   b. Traverse the priority queue until current points to the node whose next node has lower priority than </a:t>
            </a:r>
            <a:r>
              <a:rPr lang="en-IN" sz="2800" dirty="0" err="1"/>
              <a:t>newNode</a:t>
            </a:r>
            <a:r>
              <a:rPr lang="en-IN" sz="2800" dirty="0"/>
              <a:t>.</a:t>
            </a:r>
          </a:p>
          <a:p>
            <a:r>
              <a:rPr lang="en-IN" sz="2800" dirty="0"/>
              <a:t>   c. Insert </a:t>
            </a:r>
            <a:r>
              <a:rPr lang="en-IN" sz="2800" dirty="0" err="1"/>
              <a:t>newNode</a:t>
            </a:r>
            <a:r>
              <a:rPr lang="en-IN" sz="2800" dirty="0"/>
              <a:t> between current and current's next node.</a:t>
            </a:r>
          </a:p>
        </p:txBody>
      </p:sp>
    </p:spTree>
    <p:extLst>
      <p:ext uri="{BB962C8B-B14F-4D97-AF65-F5344CB8AC3E}">
        <p14:creationId xmlns:p14="http://schemas.microsoft.com/office/powerpoint/2010/main" val="214890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229336" y="211716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ii) Dequeue in Priority Queue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C7A2590-DF2D-BA48-A2C0-20F30EF9A6BC}"/>
              </a:ext>
            </a:extLst>
          </p:cNvPr>
          <p:cNvSpPr txBox="1"/>
          <p:nvPr/>
        </p:nvSpPr>
        <p:spPr>
          <a:xfrm>
            <a:off x="1088383" y="1327729"/>
            <a:ext cx="2582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Original Priority Queue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CC088A-2442-3143-9084-7B5C91438065}"/>
              </a:ext>
            </a:extLst>
          </p:cNvPr>
          <p:cNvSpPr txBox="1"/>
          <p:nvPr/>
        </p:nvSpPr>
        <p:spPr>
          <a:xfrm>
            <a:off x="1082132" y="3358511"/>
            <a:ext cx="1717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After Dequeue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DE9C155-A262-E348-8DBD-CFCC5F906A64}"/>
              </a:ext>
            </a:extLst>
          </p:cNvPr>
          <p:cNvGrpSpPr/>
          <p:nvPr/>
        </p:nvGrpSpPr>
        <p:grpSpPr>
          <a:xfrm>
            <a:off x="3657600" y="1971675"/>
            <a:ext cx="1514475" cy="571500"/>
            <a:chOff x="3657600" y="1971675"/>
            <a:chExt cx="1514475" cy="5715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15060F9-25AD-934E-A722-E4B09BEF55FD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DDA8D31-BAB5-1B43-8324-65AA6B56C768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A1CC9D5-2DDD-1145-B324-DC5D00200D6B}"/>
                </a:ext>
              </a:extLst>
            </p:cNvPr>
            <p:cNvCxnSpPr>
              <a:stCxn id="46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BE1854A-66A1-9640-9A7E-E63A05A0DA33}"/>
              </a:ext>
            </a:extLst>
          </p:cNvPr>
          <p:cNvGrpSpPr/>
          <p:nvPr/>
        </p:nvGrpSpPr>
        <p:grpSpPr>
          <a:xfrm>
            <a:off x="5172075" y="1971675"/>
            <a:ext cx="1514475" cy="571500"/>
            <a:chOff x="3657600" y="1971675"/>
            <a:chExt cx="1514475" cy="5715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8CFA442-E866-D34F-99E9-CABCAEF4A9DF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5D419C-3740-9044-8534-C045F1E0DD7D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90A64BC-7FE7-9346-AF2A-2FF9F30059BA}"/>
                </a:ext>
              </a:extLst>
            </p:cNvPr>
            <p:cNvCxnSpPr>
              <a:stCxn id="52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6672C7F-4F89-074F-93D6-6644EC887A27}"/>
              </a:ext>
            </a:extLst>
          </p:cNvPr>
          <p:cNvGrpSpPr/>
          <p:nvPr/>
        </p:nvGrpSpPr>
        <p:grpSpPr>
          <a:xfrm>
            <a:off x="6686550" y="1971675"/>
            <a:ext cx="1514475" cy="571500"/>
            <a:chOff x="3657600" y="1971675"/>
            <a:chExt cx="1514475" cy="5715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1B1D16C-209D-D149-B31B-F9395CAFC4CF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C60DEA7-4F76-DE42-92C0-64E59A986FC3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5D07A6E-8F00-104F-B07E-95C2DCF1898E}"/>
                </a:ext>
              </a:extLst>
            </p:cNvPr>
            <p:cNvCxnSpPr>
              <a:stCxn id="56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9E2D70B-F79A-934B-A2A5-CFB9513500C4}"/>
              </a:ext>
            </a:extLst>
          </p:cNvPr>
          <p:cNvSpPr txBox="1"/>
          <p:nvPr/>
        </p:nvSpPr>
        <p:spPr>
          <a:xfrm>
            <a:off x="8229600" y="2057370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859A2CD-D7A3-3B40-9B54-32BFBD33169C}"/>
              </a:ext>
            </a:extLst>
          </p:cNvPr>
          <p:cNvGrpSpPr/>
          <p:nvPr/>
        </p:nvGrpSpPr>
        <p:grpSpPr>
          <a:xfrm>
            <a:off x="2122587" y="1971675"/>
            <a:ext cx="1514475" cy="571500"/>
            <a:chOff x="3657600" y="1971675"/>
            <a:chExt cx="1514475" cy="5715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8A16042-E919-E94C-8396-C06BA4135474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0FCD5A-33AD-5D4C-B1DC-84837008CAE8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23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CA9A5F7-D92D-B046-A820-589F2F0481DB}"/>
                </a:ext>
              </a:extLst>
            </p:cNvPr>
            <p:cNvCxnSpPr>
              <a:stCxn id="65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E7F85099-1363-A648-85AD-8A2671A73670}"/>
              </a:ext>
            </a:extLst>
          </p:cNvPr>
          <p:cNvSpPr txBox="1"/>
          <p:nvPr/>
        </p:nvSpPr>
        <p:spPr>
          <a:xfrm>
            <a:off x="2272093" y="2787011"/>
            <a:ext cx="74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Front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50A0409-4A5A-D84C-9974-D65024BC3005}"/>
              </a:ext>
            </a:extLst>
          </p:cNvPr>
          <p:cNvCxnSpPr>
            <a:cxnSpLocks/>
            <a:stCxn id="67" idx="0"/>
          </p:cNvCxnSpPr>
          <p:nvPr/>
        </p:nvCxnSpPr>
        <p:spPr>
          <a:xfrm flipH="1" flipV="1">
            <a:off x="2636937" y="2543175"/>
            <a:ext cx="638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E478017-5F6B-FA49-A9EC-705235FDFB91}"/>
              </a:ext>
            </a:extLst>
          </p:cNvPr>
          <p:cNvGrpSpPr/>
          <p:nvPr/>
        </p:nvGrpSpPr>
        <p:grpSpPr>
          <a:xfrm>
            <a:off x="3657600" y="4088152"/>
            <a:ext cx="1514475" cy="571500"/>
            <a:chOff x="3657600" y="1971675"/>
            <a:chExt cx="1514475" cy="5715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93D9225-E6A2-5C49-820F-B00EE92307D6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6439CA9-B7E8-CD4E-94D6-57BE9F32F249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564DFDC-F96B-AC4A-990C-E1C24BC0E144}"/>
                </a:ext>
              </a:extLst>
            </p:cNvPr>
            <p:cNvCxnSpPr>
              <a:stCxn id="71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1CC806F-3CDF-6C4D-966F-CEBA9AAA0F92}"/>
              </a:ext>
            </a:extLst>
          </p:cNvPr>
          <p:cNvGrpSpPr/>
          <p:nvPr/>
        </p:nvGrpSpPr>
        <p:grpSpPr>
          <a:xfrm>
            <a:off x="5172075" y="4088152"/>
            <a:ext cx="1514475" cy="571500"/>
            <a:chOff x="3657600" y="1971675"/>
            <a:chExt cx="1514475" cy="57150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41DA822-3465-2D44-9909-5B30AA067E6E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D39D85A-135D-B348-95DB-9505EF21AD39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CA13F1E-6319-9642-B5DE-4DD5776AE405}"/>
                </a:ext>
              </a:extLst>
            </p:cNvPr>
            <p:cNvCxnSpPr>
              <a:stCxn id="75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A3145B8-D062-C94A-AC85-81E994F546B1}"/>
              </a:ext>
            </a:extLst>
          </p:cNvPr>
          <p:cNvGrpSpPr/>
          <p:nvPr/>
        </p:nvGrpSpPr>
        <p:grpSpPr>
          <a:xfrm>
            <a:off x="6686550" y="4088152"/>
            <a:ext cx="1514475" cy="571500"/>
            <a:chOff x="3657600" y="1971675"/>
            <a:chExt cx="1514475" cy="5715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E04A6BB-1350-524B-A14F-716608DB13B4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2C8BEF9-CBE9-A446-A86B-29B5B88DF78D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FDC918B-D231-2A4A-B683-BB71242D64BE}"/>
                </a:ext>
              </a:extLst>
            </p:cNvPr>
            <p:cNvCxnSpPr>
              <a:stCxn id="79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8AF65B12-F33A-2446-855C-7F4E7ADC6E6E}"/>
              </a:ext>
            </a:extLst>
          </p:cNvPr>
          <p:cNvSpPr txBox="1"/>
          <p:nvPr/>
        </p:nvSpPr>
        <p:spPr>
          <a:xfrm>
            <a:off x="8229600" y="4173847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0C591F9-5E9B-5D4D-962B-269F47E486A4}"/>
              </a:ext>
            </a:extLst>
          </p:cNvPr>
          <p:cNvGrpSpPr/>
          <p:nvPr/>
        </p:nvGrpSpPr>
        <p:grpSpPr>
          <a:xfrm>
            <a:off x="2122587" y="4088152"/>
            <a:ext cx="1514475" cy="571500"/>
            <a:chOff x="3657600" y="1971675"/>
            <a:chExt cx="1514475" cy="571500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27C95B5-DAD8-AC45-90C3-35BA47E89C6C}"/>
                </a:ext>
              </a:extLst>
            </p:cNvPr>
            <p:cNvSpPr/>
            <p:nvPr/>
          </p:nvSpPr>
          <p:spPr>
            <a:xfrm>
              <a:off x="3657600" y="1971675"/>
              <a:ext cx="514350" cy="5715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B6CB27C-DC74-4548-BAD3-2F3CA9717CC5}"/>
                </a:ext>
              </a:extLst>
            </p:cNvPr>
            <p:cNvSpPr/>
            <p:nvPr/>
          </p:nvSpPr>
          <p:spPr>
            <a:xfrm>
              <a:off x="4171950" y="1971675"/>
              <a:ext cx="514350" cy="5715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23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95322CD-2D2A-D24C-BB0C-7DF0330AF83E}"/>
                </a:ext>
              </a:extLst>
            </p:cNvPr>
            <p:cNvCxnSpPr>
              <a:stCxn id="86" idx="3"/>
            </p:cNvCxnSpPr>
            <p:nvPr/>
          </p:nvCxnSpPr>
          <p:spPr>
            <a:xfrm>
              <a:off x="4686300" y="2257425"/>
              <a:ext cx="4857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12F4C5BF-E297-CF4F-9E4B-E4682841A6C5}"/>
              </a:ext>
            </a:extLst>
          </p:cNvPr>
          <p:cNvSpPr txBox="1"/>
          <p:nvPr/>
        </p:nvSpPr>
        <p:spPr>
          <a:xfrm>
            <a:off x="2272093" y="4906363"/>
            <a:ext cx="736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temp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6B1D504-B2AC-9D4D-A958-6420AF5D2340}"/>
              </a:ext>
            </a:extLst>
          </p:cNvPr>
          <p:cNvCxnSpPr>
            <a:cxnSpLocks/>
            <a:stCxn id="88" idx="0"/>
          </p:cNvCxnSpPr>
          <p:nvPr/>
        </p:nvCxnSpPr>
        <p:spPr>
          <a:xfrm flipH="1" flipV="1">
            <a:off x="2636937" y="4662527"/>
            <a:ext cx="343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92B8874E-EFDF-EB45-B78C-B90E6C5FC1A1}"/>
              </a:ext>
            </a:extLst>
          </p:cNvPr>
          <p:cNvSpPr txBox="1"/>
          <p:nvPr/>
        </p:nvSpPr>
        <p:spPr>
          <a:xfrm>
            <a:off x="3793646" y="4903488"/>
            <a:ext cx="742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Front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74494C2-EE60-D14E-BDE2-06899951FCDE}"/>
              </a:ext>
            </a:extLst>
          </p:cNvPr>
          <p:cNvCxnSpPr>
            <a:cxnSpLocks/>
            <a:stCxn id="90" idx="0"/>
          </p:cNvCxnSpPr>
          <p:nvPr/>
        </p:nvCxnSpPr>
        <p:spPr>
          <a:xfrm flipH="1" flipV="1">
            <a:off x="4158490" y="4659652"/>
            <a:ext cx="6380" cy="2438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Multiply 9">
            <a:extLst>
              <a:ext uri="{FF2B5EF4-FFF2-40B4-BE49-F238E27FC236}">
                <a16:creationId xmlns:a16="http://schemas.microsoft.com/office/drawing/2014/main" id="{3765A0A6-90BE-054F-8632-EC0B18983C4A}"/>
              </a:ext>
            </a:extLst>
          </p:cNvPr>
          <p:cNvSpPr/>
          <p:nvPr/>
        </p:nvSpPr>
        <p:spPr>
          <a:xfrm>
            <a:off x="2043291" y="3721080"/>
            <a:ext cx="1228673" cy="1257300"/>
          </a:xfrm>
          <a:prstGeom prst="mathMultiply">
            <a:avLst>
              <a:gd name="adj1" fmla="val 1189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2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459178" y="1335019"/>
            <a:ext cx="1173282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Algorithm: Dequeue from a Priority Queue</a:t>
            </a:r>
          </a:p>
          <a:p>
            <a:endParaRPr lang="en-IN" sz="2800" dirty="0"/>
          </a:p>
          <a:p>
            <a:r>
              <a:rPr lang="en-IN" sz="2800" dirty="0"/>
              <a:t>Input: Priority Queue Front (front)</a:t>
            </a:r>
          </a:p>
          <a:p>
            <a:endParaRPr lang="en-IN" sz="2800" dirty="0"/>
          </a:p>
          <a:p>
            <a:r>
              <a:rPr lang="en-IN" sz="2800" dirty="0"/>
              <a:t>1. If front is NULL (empty priority queue):</a:t>
            </a:r>
          </a:p>
          <a:p>
            <a:r>
              <a:rPr lang="en-IN" sz="2800" dirty="0"/>
              <a:t>   a. Print an error message or return an error (nothing to dequeue).</a:t>
            </a:r>
          </a:p>
          <a:p>
            <a:r>
              <a:rPr lang="en-IN" sz="2800" dirty="0"/>
              <a:t>2. Otherwise:</a:t>
            </a:r>
          </a:p>
          <a:p>
            <a:r>
              <a:rPr lang="en-IN" sz="2800" dirty="0"/>
              <a:t>   a. Initialize a pointer temp to front.</a:t>
            </a:r>
          </a:p>
          <a:p>
            <a:r>
              <a:rPr lang="en-IN" sz="2800" dirty="0"/>
              <a:t>   b. Update front to point to the next node.</a:t>
            </a:r>
          </a:p>
          <a:p>
            <a:r>
              <a:rPr lang="en-IN" sz="2800" dirty="0"/>
              <a:t>   c. Free the memory allocated for the node pointed to by temp.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19C8B931-9A47-A742-87D7-56E03C8AEAFD}"/>
              </a:ext>
            </a:extLst>
          </p:cNvPr>
          <p:cNvSpPr/>
          <p:nvPr/>
        </p:nvSpPr>
        <p:spPr>
          <a:xfrm>
            <a:off x="2243190" y="253280"/>
            <a:ext cx="6164540" cy="70936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ii) Dequeue in Priority Queue</a:t>
            </a:r>
            <a:endParaRPr lang="en-US" sz="2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1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252025"/>
            <a:ext cx="1219199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Advantages of a Priority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Efficient Retrieval</a:t>
            </a:r>
            <a:r>
              <a:rPr lang="en-IN" sz="2400" dirty="0"/>
              <a:t>: Priority queues provide efficient retrieval of the highest-priority element, enabling quick access to the most critical or urgent item in the data structure.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Flexibility in Ordering</a:t>
            </a:r>
            <a:r>
              <a:rPr lang="en-IN" sz="2400" dirty="0"/>
              <a:t>: Priority queues allow elements to be dynamically ordered based on priority, accommodating various applications where prioritization is essential.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Support for Real-Time Systems</a:t>
            </a:r>
            <a:r>
              <a:rPr lang="en-IN" sz="2400" dirty="0"/>
              <a:t>: Priority queues are well-suited for real-time systems, ensuring timely processing of high-priority tasks or events, contributing to the responsiveness of the system.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Disadvantages of Priority Queue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Overhead in Sorting</a:t>
            </a:r>
            <a:r>
              <a:rPr lang="en-IN" sz="2400" dirty="0"/>
              <a:t>: Maintaining the ordered nature of a priority queue can lead to additional overhead in terms of time and space complexity, during insertion and deletion operations.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Limited Random Access:</a:t>
            </a:r>
            <a:r>
              <a:rPr lang="en-IN" sz="2400" dirty="0"/>
              <a:t> Priority queues lack efficient random access to elements, making it challenging to directly access or modify elements based on their position in the structure.</a:t>
            </a:r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2116202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3200" b="1" dirty="0"/>
              <a:t>Applications/Uses of Priority Queue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32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Task Scheduling in Operating Systems</a:t>
            </a:r>
            <a:r>
              <a:rPr lang="en-IN" sz="2400" dirty="0"/>
              <a:t>: Priority queues are used to schedule tasks in operating systems, ensuring that higher-priority tasks are executed first, optimizing system responsiveness.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Dijkstra's Shortest Path Algorithm</a:t>
            </a:r>
            <a:r>
              <a:rPr lang="en-IN" sz="2400" dirty="0"/>
              <a:t>: Priority queues are employed in graph algorithms such as Dijkstra's algorithm to efficiently select and explore the next vertex with the shortest path during traversal.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400" b="1" dirty="0"/>
              <a:t>Job Scheduling in Parallel Processing</a:t>
            </a:r>
            <a:r>
              <a:rPr lang="en-IN" sz="2400" dirty="0"/>
              <a:t>: Priority queues are utilized in parallel processing systems for job scheduling, enabling the execution of tasks based on priority levels, improving overall system efficiency.</a:t>
            </a:r>
          </a:p>
        </p:txBody>
      </p:sp>
    </p:spTree>
    <p:extLst>
      <p:ext uri="{BB962C8B-B14F-4D97-AF65-F5344CB8AC3E}">
        <p14:creationId xmlns:p14="http://schemas.microsoft.com/office/powerpoint/2010/main" val="58419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ACE7C8-45B6-5F40-AC53-0F4434436206}"/>
              </a:ext>
            </a:extLst>
          </p:cNvPr>
          <p:cNvSpPr txBox="1"/>
          <p:nvPr/>
        </p:nvSpPr>
        <p:spPr>
          <a:xfrm>
            <a:off x="1028699" y="1582341"/>
            <a:ext cx="104870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/>
              <a:t>These are some real life example of priority queue</a:t>
            </a:r>
          </a:p>
          <a:p>
            <a:pPr algn="l"/>
            <a:endParaRPr lang="en-IN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/>
              <a:t>Priority Assignment</a:t>
            </a:r>
            <a:r>
              <a:rPr lang="en-IN" sz="2400" dirty="0"/>
              <a:t>: Patients are assigned priorities based on the severity of their medical condition. For example, a patient with a life-threatening condition like a heart attack may have the highest priority.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 algn="l"/>
            <a:endParaRPr lang="en-IN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/>
              <a:t>Patient Processing</a:t>
            </a:r>
            <a:r>
              <a:rPr lang="en-IN" sz="2400" dirty="0"/>
              <a:t> : When a medical professional becomes available, they attend to the patient with the highest priority from the front of the queue.</a:t>
            </a:r>
          </a:p>
        </p:txBody>
      </p:sp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0" y="1337069"/>
            <a:ext cx="121009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A priority queue is a data structure that organizes elements based on their associated priorities, allowing for efficient retrieval of the highest-priority element.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It follows a specific order, where elements with higher priorities are served before those with lower priorities.</a:t>
            </a:r>
          </a:p>
          <a:p>
            <a:pPr marL="285750" indent="-285750"/>
            <a:endParaRPr lang="en-IN" sz="2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In a priority queue , we perform the following operations...</a:t>
            </a:r>
          </a:p>
          <a:p>
            <a:r>
              <a:rPr lang="en-IN" sz="2400" dirty="0"/>
              <a:t>      i) Enqueue	ii)  Dequeue	iii)  Display	</a:t>
            </a:r>
          </a:p>
          <a:p>
            <a:endParaRPr lang="en-IN" sz="2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The enqueue operation in priority queue is performed on the basis of priority of the data.</a:t>
            </a:r>
          </a:p>
          <a:p>
            <a:pPr marL="285750" indent="-285750">
              <a:buFont typeface="Wingdings" pitchFamily="2" charset="2"/>
              <a:buChar char="Ø"/>
            </a:pPr>
            <a:endParaRPr lang="en-IN" sz="24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The dequeue operation is performed the same way we perform in a regular queue that is, removing the element from front end.</a:t>
            </a: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dirty="0"/>
              <a:t>Which of the following best describes a Priority Queue??</a:t>
            </a:r>
            <a:br>
              <a:rPr lang="en-IN" sz="2400" dirty="0"/>
            </a:br>
            <a:endParaRPr sz="2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7" y="1888177"/>
            <a:ext cx="9345897" cy="173555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R"/>
            </a:pPr>
            <a:r>
              <a:rPr lang="en-IN" dirty="0"/>
              <a:t>A data structure that follows First-In-First-Out (FIFO) order. 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IN" dirty="0"/>
              <a:t>A data structure that stores elements in a Last-In-First-Out (LIFO) manner. 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IN" dirty="0"/>
              <a:t>A data structure that organizes elements based on associated priorities. 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IN" dirty="0"/>
              <a:t>A data structure designed for constant time retrieval of any element.</a:t>
            </a:r>
            <a:br>
              <a:rPr lang="en-IN" dirty="0"/>
            </a:br>
            <a:endParaRPr lang="en-US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400" dirty="0"/>
              <a:t>2. In a Priority Queue, how are elements typically arranged?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779146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R"/>
            </a:pPr>
            <a:r>
              <a:rPr lang="en-IN" dirty="0"/>
              <a:t>In ascending order based on their values. </a:t>
            </a:r>
          </a:p>
          <a:p>
            <a:pPr marL="342900" indent="-342900">
              <a:buAutoNum type="alphaLcParenR"/>
            </a:pPr>
            <a:r>
              <a:rPr lang="en-IN" dirty="0"/>
              <a:t>In descending order based on their values. </a:t>
            </a:r>
          </a:p>
          <a:p>
            <a:pPr marL="342900" indent="-342900">
              <a:buAutoNum type="alphaLcParenR"/>
            </a:pPr>
            <a:r>
              <a:rPr lang="en-IN" dirty="0"/>
              <a:t>Based on their insertion order. </a:t>
            </a:r>
          </a:p>
          <a:p>
            <a:pPr marL="342900" indent="-342900">
              <a:buAutoNum type="alphaLcParenR"/>
            </a:pPr>
            <a:r>
              <a:rPr lang="en-IN" dirty="0"/>
              <a:t>Based on their associated priorities, with the highest priority served first.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TERMINAL 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419" y="1039030"/>
            <a:ext cx="11587162" cy="493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1. Describe About Priority Queue?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How a Priority Queue differs from a regular queue?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3. Explain the significance of priority queues in real-time systems.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4. Provide an example scenario where the use of a priority queue is critical for system responsiveness.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5. Compare and contrast the advantages and disadvantages of implementing a priority queue using a linked list versus an array. Consider factors such as time complexity, memory efficiency, and ease of implementation.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6. In the context of an Emergency Room Triage System, explain how a priority queue is employed to manage patient priorities. 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202873" y="166256"/>
            <a:ext cx="7105194" cy="67243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REFERENCES FOR FURTHER LEARNING OF THE SESSION</a:t>
            </a:r>
            <a:endParaRPr lang="en-US" sz="2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Reference Books:</a:t>
            </a:r>
            <a:endParaRPr lang="en-US" sz="2400" dirty="0"/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dirty="0"/>
              <a:t>Mark Allen Weiss, Data Structures and Algorithm Analysis in C, 2010 , Second Edition, </a:t>
            </a:r>
            <a:r>
              <a:rPr lang="en-US" dirty="0" err="1"/>
              <a:t>PearsonEducation</a:t>
            </a:r>
            <a:r>
              <a:rPr lang="en-US" dirty="0"/>
              <a:t>.</a:t>
            </a:r>
            <a:endParaRPr lang="en-IN" sz="2400" dirty="0"/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dirty="0"/>
              <a:t>Ellis Horowitz, Fundamentals of Data Structures in C: Second Edition, 2015</a:t>
            </a:r>
          </a:p>
          <a:p>
            <a:pPr marL="342900" lvl="1" indent="-342900">
              <a:lnSpc>
                <a:spcPct val="150000"/>
              </a:lnSpc>
              <a:buAutoNum type="arabicPeriod"/>
            </a:pPr>
            <a:r>
              <a:rPr lang="en-US" dirty="0" err="1"/>
              <a:t>A.V.Aho</a:t>
            </a:r>
            <a:r>
              <a:rPr lang="en-US" dirty="0"/>
              <a:t>, J. E. </a:t>
            </a:r>
            <a:r>
              <a:rPr lang="en-US" dirty="0" err="1"/>
              <a:t>Hopcroft</a:t>
            </a:r>
            <a:r>
              <a:rPr lang="en-US" dirty="0"/>
              <a:t>, and J. D. Ullman, “Data Structures And Algorithms”, Pearson Education, First Edition Reprint2003.</a:t>
            </a:r>
            <a:endParaRPr lang="en-IN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Sites and Web links: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1. </a:t>
            </a:r>
            <a:r>
              <a:rPr lang="en-US" dirty="0">
                <a:hlinkClick r:id="rId2"/>
              </a:rPr>
              <a:t>https://nptel.ac.in/courses/106102064</a:t>
            </a:r>
            <a:endParaRPr lang="en-IN" dirty="0"/>
          </a:p>
          <a:p>
            <a:pPr lvl="0"/>
            <a:r>
              <a:rPr lang="en-US" dirty="0">
                <a:hlinkClick r:id="rId3"/>
              </a:rPr>
              <a:t>2. https://in.udacity.com/course/intro-to-algorithms--cs215</a:t>
            </a:r>
            <a:endParaRPr lang="en-IN" dirty="0"/>
          </a:p>
          <a:p>
            <a:pPr lvl="0"/>
            <a:r>
              <a:rPr lang="en-US" dirty="0"/>
              <a:t>3. </a:t>
            </a:r>
            <a:r>
              <a:rPr lang="en-US" dirty="0">
                <a:hlinkClick r:id="rId4"/>
              </a:rPr>
              <a:t>https://www.coursera.org/learn/data-structures?action=enroll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600" b="1" dirty="0">
                <a:latin typeface="Poppins" pitchFamily="2" charset="77"/>
                <a:cs typeface="Poppins" pitchFamily="2" charset="77"/>
              </a:rPr>
              <a:t>Team – Data Structures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43ee83c-3e71-4748-8ebc-8eaadf793425"/>
    <ds:schemaRef ds:uri="0125a647-8023-46ae-ae6e-85cf36d841b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4035</TotalTime>
  <Words>1424</Words>
  <Application>Microsoft Office PowerPoint</Application>
  <PresentationFormat>Widescreen</PresentationFormat>
  <Paragraphs>196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BioRhyme ExtraBold</vt:lpstr>
      <vt:lpstr>Calibri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Krishna Suresh B V N V</cp:lastModifiedBy>
  <cp:revision>66</cp:revision>
  <dcterms:created xsi:type="dcterms:W3CDTF">2020-02-08T09:57:44Z</dcterms:created>
  <dcterms:modified xsi:type="dcterms:W3CDTF">2024-12-16T08:39:59Z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