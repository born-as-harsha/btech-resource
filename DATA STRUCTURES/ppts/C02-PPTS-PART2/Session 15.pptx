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2"/>
  </p:notesMasterIdLst>
  <p:sldIdLst>
    <p:sldId id="271" r:id="rId5"/>
    <p:sldId id="300" r:id="rId6"/>
    <p:sldId id="258" r:id="rId7"/>
    <p:sldId id="288" r:id="rId8"/>
    <p:sldId id="290" r:id="rId9"/>
    <p:sldId id="306" r:id="rId10"/>
    <p:sldId id="310" r:id="rId11"/>
    <p:sldId id="311" r:id="rId12"/>
    <p:sldId id="307" r:id="rId13"/>
    <p:sldId id="308" r:id="rId14"/>
    <p:sldId id="309" r:id="rId15"/>
    <p:sldId id="312" r:id="rId16"/>
    <p:sldId id="313" r:id="rId17"/>
    <p:sldId id="314" r:id="rId18"/>
    <p:sldId id="315" r:id="rId19"/>
    <p:sldId id="299" r:id="rId20"/>
    <p:sldId id="285" r:id="rId21"/>
    <p:sldId id="287" r:id="rId22"/>
    <p:sldId id="316" r:id="rId23"/>
    <p:sldId id="317" r:id="rId24"/>
    <p:sldId id="318" r:id="rId25"/>
    <p:sldId id="319" r:id="rId26"/>
    <p:sldId id="320" r:id="rId27"/>
    <p:sldId id="301" r:id="rId28"/>
    <p:sldId id="302" r:id="rId29"/>
    <p:sldId id="303" r:id="rId30"/>
    <p:sldId id="30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D2D2"/>
    <a:srgbClr val="FF9900"/>
    <a:srgbClr val="E84845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uresh B V N V" userId="46cc3a3c-d6e3-4f9f-b2e6-2a3b85efca88" providerId="ADAL" clId="{BBD87AF7-35CF-4D6B-814E-D509FD6097CE}"/>
    <pc:docChg chg="modSld">
      <pc:chgData name="Krishna Suresh B V N V" userId="46cc3a3c-d6e3-4f9f-b2e6-2a3b85efca88" providerId="ADAL" clId="{BBD87AF7-35CF-4D6B-814E-D509FD6097CE}" dt="2024-12-16T10:55:15.109" v="10" actId="20577"/>
      <pc:docMkLst>
        <pc:docMk/>
      </pc:docMkLst>
      <pc:sldChg chg="modSp mod">
        <pc:chgData name="Krishna Suresh B V N V" userId="46cc3a3c-d6e3-4f9f-b2e6-2a3b85efca88" providerId="ADAL" clId="{BBD87AF7-35CF-4D6B-814E-D509FD6097CE}" dt="2024-12-16T10:55:15.109" v="10" actId="20577"/>
        <pc:sldMkLst>
          <pc:docMk/>
          <pc:sldMk cId="0" sldId="271"/>
        </pc:sldMkLst>
        <pc:spChg chg="mod">
          <ac:chgData name="Krishna Suresh B V N V" userId="46cc3a3c-d6e3-4f9f-b2e6-2a3b85efca88" providerId="ADAL" clId="{BBD87AF7-35CF-4D6B-814E-D509FD6097CE}" dt="2024-12-16T10:55:15.109" v="10" actId="20577"/>
          <ac:spMkLst>
            <pc:docMk/>
            <pc:sldMk cId="0" sldId="271"/>
            <ac:spMk id="8" creationId="{7153E61F-4441-DBE3-3DFF-6E9EF6C48D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edx.org/course/algorithm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24SC1203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STACK APPLICATIONS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– 15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8534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dirty="0">
                <a:latin typeface="Poppins"/>
                <a:cs typeface="Poppins"/>
              </a:rPr>
              <a:t>Applications of stacks.</a:t>
            </a:r>
            <a:endParaRPr lang="en-US" sz="1600" b="0" i="0" dirty="0">
              <a:effectLst/>
              <a:latin typeface="Poppins"/>
              <a:cs typeface="Poppins"/>
            </a:endParaRP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318685"/>
            <a:ext cx="8791575" cy="206210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 bring: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 A deep knowledge on how stack implementation  plays its role in day to day computations 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 How to Apply stack operations for easy handling of majority Memory Operations in this computerized era.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Applications of stacks.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Knowledge on expression conversions and evaluations.</a:t>
            </a:r>
          </a:p>
          <a:p>
            <a:pPr marL="342900" indent="-342900">
              <a:buAutoNum type="arabicPeriod"/>
            </a:pP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168001" y="447396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937120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Know where stack takes its place in computations.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 </a:t>
            </a:r>
            <a:r>
              <a:rPr lang="en-US" sz="1600" dirty="0">
                <a:latin typeface="Arial" panose="020B0604020202020204" pitchFamily="34" charset="0"/>
              </a:rPr>
              <a:t>how to convert an Infix to postfix notation.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 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92369" y="1477105"/>
            <a:ext cx="11141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65184" y="869438"/>
            <a:ext cx="712601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4000" dirty="0"/>
              <a:t>Problems that Use Stacks :</a:t>
            </a:r>
          </a:p>
          <a:p>
            <a:endParaRPr lang="en-US" sz="4000" dirty="0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/>
              <a:t> Evaluation of Arithmetic expressions.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/>
              <a:t>Processing Function calls.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/>
              <a:t>Reverse a Data.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/>
              <a:t>Undo, Redo operations.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3200" dirty="0"/>
              <a:t>Delimiter Checking.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39DC903D-9003-4F3D-87E9-EE7D5BEB5D03}"/>
              </a:ext>
            </a:extLst>
          </p:cNvPr>
          <p:cNvSpPr/>
          <p:nvPr/>
        </p:nvSpPr>
        <p:spPr>
          <a:xfrm>
            <a:off x="3473653" y="8440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Times New Roman" pitchFamily="18" charset="0"/>
              </a:rPr>
              <a:t>Algorithm :Infix to Postfix conversion</a:t>
            </a: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139483" y="984738"/>
            <a:ext cx="102272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2" descr="https://player.slideplayer.com/79/13173346/slides/slide_1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8800" r="9375" b="14243"/>
          <a:stretch>
            <a:fillRect/>
          </a:stretch>
        </p:blipFill>
        <p:spPr bwMode="auto">
          <a:xfrm>
            <a:off x="3076007" y="713185"/>
            <a:ext cx="7614744" cy="56138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8035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316834" y="20551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400" dirty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itchFamily="18" charset="0"/>
                <a:cs typeface="Times New Roman" pitchFamily="18" charset="0"/>
              </a:rPr>
              <a:t>Infix to Postfix Conversion Cont…</a:t>
            </a:r>
            <a:endParaRPr lang="en-IN" altLang="en-US" sz="2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1">
                  <a:lumMod val="20000"/>
                  <a:lumOff val="8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228211" y="1510121"/>
            <a:ext cx="1234871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Solved Part 1 Infix to Postfix Conversion and Evaluation: | Chegg.com">
            <a:extLst>
              <a:ext uri="{FF2B5EF4-FFF2-40B4-BE49-F238E27FC236}">
                <a16:creationId xmlns:a16="http://schemas.microsoft.com/office/drawing/2014/main" id="{B56F6AFB-DDE1-02D4-D517-AFDBDD20C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840" y="1093838"/>
            <a:ext cx="9674942" cy="535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574387" y="1252026"/>
            <a:ext cx="744180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 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448999" y="193071"/>
            <a:ext cx="9144000" cy="85725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4261D11-386E-3E07-93A4-ECC12A871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683" y="0"/>
            <a:ext cx="1064833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5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459319" y="1538237"/>
            <a:ext cx="2592387" cy="4824412"/>
          </a:xfrm>
          <a:noFill/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461281" y="1898599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412069" y="3482924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915306" y="2546299"/>
            <a:ext cx="42529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( a + b - c ) * d – ( e + f )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772431" y="4059187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56483" y="32543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301846" y="25048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35569" y="1448973"/>
            <a:ext cx="71323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0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919673" y="1448295"/>
            <a:ext cx="2592387" cy="4824412"/>
          </a:xfrm>
          <a:noFill/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232785" y="238492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6101515" y="170372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infixVect</a:t>
            </a:r>
            <a:endParaRPr lang="en-US" altLang="zh-TW" sz="3000" dirty="0"/>
          </a:p>
        </p:txBody>
      </p:sp>
      <p:sp>
        <p:nvSpPr>
          <p:cNvPr id="14" name="Text Box 7"/>
          <p:cNvSpPr txBox="1">
            <a:spLocks noChangeArrowheads="1"/>
          </p:cNvSpPr>
          <p:nvPr/>
        </p:nvSpPr>
        <p:spPr bwMode="auto">
          <a:xfrm>
            <a:off x="5872423" y="339298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postfixVect</a:t>
            </a:r>
            <a:endParaRPr lang="en-US" altLang="zh-TW" sz="3000" dirty="0"/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6375660" y="2456357"/>
            <a:ext cx="4019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a + b - c ) * d – ( e + f )</a:t>
            </a: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6232785" y="396924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3222885" y="793232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4027203" y="5420583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 dirty="0"/>
              <a:t>(</a:t>
            </a: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  <p:pic>
        <p:nvPicPr>
          <p:cNvPr id="8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39397" y="1418314"/>
            <a:ext cx="2592387" cy="4824412"/>
          </a:xfrm>
          <a:noFill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652509" y="2354939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6341359" y="1778676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6292147" y="3363001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795384" y="2426376"/>
            <a:ext cx="37020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+ b - c ) * d – ( e + f )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652509" y="3939264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6004809" y="5018764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6004809" y="6099851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491922" y="5450564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642609" y="988101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6795385" y="4055672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  <p:pic>
        <p:nvPicPr>
          <p:cNvPr id="13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429339" y="1418314"/>
            <a:ext cx="2592387" cy="4824412"/>
          </a:xfrm>
          <a:noFill/>
        </p:spPr>
      </p:pic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6742451" y="2354939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5" name="Text Box 6"/>
          <p:cNvSpPr txBox="1">
            <a:spLocks noChangeArrowheads="1"/>
          </p:cNvSpPr>
          <p:nvPr/>
        </p:nvSpPr>
        <p:spPr bwMode="auto">
          <a:xfrm>
            <a:off x="6431301" y="1778676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6" name="Text Box 7"/>
          <p:cNvSpPr txBox="1">
            <a:spLocks noChangeArrowheads="1"/>
          </p:cNvSpPr>
          <p:nvPr/>
        </p:nvSpPr>
        <p:spPr bwMode="auto">
          <a:xfrm>
            <a:off x="6382089" y="3363001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7" name="Text Box 8"/>
          <p:cNvSpPr txBox="1">
            <a:spLocks noChangeArrowheads="1"/>
          </p:cNvSpPr>
          <p:nvPr/>
        </p:nvSpPr>
        <p:spPr bwMode="auto">
          <a:xfrm>
            <a:off x="6885326" y="2426376"/>
            <a:ext cx="33734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b - c ) * d – ( e + f )</a:t>
            </a: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6742451" y="3939264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>
            <a:off x="6094751" y="5018764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" name="Line 11"/>
          <p:cNvSpPr>
            <a:spLocks noChangeShapeType="1"/>
          </p:cNvSpPr>
          <p:nvPr/>
        </p:nvSpPr>
        <p:spPr bwMode="auto">
          <a:xfrm>
            <a:off x="6094751" y="6099851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4581864" y="5450564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6885326" y="4010701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</a:t>
            </a:r>
          </a:p>
        </p:txBody>
      </p:sp>
      <p:sp>
        <p:nvSpPr>
          <p:cNvPr id="23" name="Rectangle 15"/>
          <p:cNvSpPr>
            <a:spLocks noChangeArrowheads="1"/>
          </p:cNvSpPr>
          <p:nvPr/>
        </p:nvSpPr>
        <p:spPr bwMode="auto">
          <a:xfrm>
            <a:off x="4581864" y="4802864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+</a:t>
            </a:r>
          </a:p>
        </p:txBody>
      </p:sp>
      <p:sp>
        <p:nvSpPr>
          <p:cNvPr id="24" name="Rectangle 18"/>
          <p:cNvSpPr>
            <a:spLocks noChangeArrowheads="1"/>
          </p:cNvSpPr>
          <p:nvPr/>
        </p:nvSpPr>
        <p:spPr bwMode="auto">
          <a:xfrm>
            <a:off x="3732551" y="988101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44723" y="1403324"/>
            <a:ext cx="2592387" cy="4824412"/>
          </a:xfrm>
          <a:noFill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157835" y="2339949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5846685" y="1763686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5797473" y="3348011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6300710" y="2411386"/>
            <a:ext cx="30559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- c ) * d – ( e + f )</a:t>
            </a: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6157835" y="3924274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>
            <a:off x="5510135" y="5003774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Line 11"/>
          <p:cNvSpPr>
            <a:spLocks noChangeShapeType="1"/>
          </p:cNvSpPr>
          <p:nvPr/>
        </p:nvSpPr>
        <p:spPr bwMode="auto">
          <a:xfrm>
            <a:off x="5510135" y="6084861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6300710" y="3995711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3147935" y="973111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3802353" y="5375613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 dirty="0"/>
              <a:t>(</a:t>
            </a:r>
          </a:p>
        </p:txBody>
      </p:sp>
      <p:sp>
        <p:nvSpPr>
          <p:cNvPr id="22" name="Rectangle 15"/>
          <p:cNvSpPr>
            <a:spLocks noChangeArrowheads="1"/>
          </p:cNvSpPr>
          <p:nvPr/>
        </p:nvSpPr>
        <p:spPr bwMode="auto">
          <a:xfrm>
            <a:off x="3802353" y="4727913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 dirty="0"/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859712" y="1403325"/>
            <a:ext cx="2592387" cy="4824412"/>
          </a:xfrm>
          <a:noFill/>
        </p:spPr>
      </p:pic>
      <p:sp>
        <p:nvSpPr>
          <p:cNvPr id="20" name="Rectangle 3"/>
          <p:cNvSpPr>
            <a:spLocks noChangeArrowheads="1"/>
          </p:cNvSpPr>
          <p:nvPr/>
        </p:nvSpPr>
        <p:spPr bwMode="auto">
          <a:xfrm>
            <a:off x="6172824" y="233995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5861674" y="176368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5812462" y="334801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6315699" y="2411387"/>
            <a:ext cx="28225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c ) * d – ( e + f )</a:t>
            </a: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6172824" y="392427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>
            <a:off x="5525124" y="5003775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Line 11"/>
          <p:cNvSpPr>
            <a:spLocks noChangeShapeType="1"/>
          </p:cNvSpPr>
          <p:nvPr/>
        </p:nvSpPr>
        <p:spPr bwMode="auto">
          <a:xfrm>
            <a:off x="5525124" y="6084862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4012237" y="543557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6315699" y="3995712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</a:t>
            </a: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4012237" y="478787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3162924" y="973112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159516" y="1313383"/>
            <a:ext cx="2592387" cy="4824412"/>
          </a:xfrm>
          <a:noFill/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472628" y="2250008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161478" y="1673745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112266" y="3258070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615503" y="2321445"/>
            <a:ext cx="252571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) * d – ( e + f )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472628" y="3834333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5824928" y="4913833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5824928" y="5994920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4312041" y="5345633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6615503" y="3905770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</a:t>
            </a:r>
          </a:p>
        </p:txBody>
      </p:sp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4312041" y="4697933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20" name="Rectangle 18"/>
          <p:cNvSpPr>
            <a:spLocks noChangeArrowheads="1"/>
          </p:cNvSpPr>
          <p:nvPr/>
        </p:nvSpPr>
        <p:spPr bwMode="auto">
          <a:xfrm>
            <a:off x="3462728" y="883170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21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144526" y="1418315"/>
            <a:ext cx="2592387" cy="4824412"/>
          </a:xfrm>
          <a:noFill/>
        </p:spPr>
      </p:pic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6457638" y="235494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6146488" y="177867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6097276" y="336300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6600513" y="2426377"/>
            <a:ext cx="22923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* d – ( e + f )</a:t>
            </a: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6457638" y="393926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5809938" y="5018765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5809938" y="6099852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6600513" y="4010702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-</a:t>
            </a:r>
          </a:p>
        </p:txBody>
      </p:sp>
      <p:sp>
        <p:nvSpPr>
          <p:cNvPr id="25" name="Rectangle 18"/>
          <p:cNvSpPr>
            <a:spLocks noChangeArrowheads="1"/>
          </p:cNvSpPr>
          <p:nvPr/>
        </p:nvSpPr>
        <p:spPr bwMode="auto">
          <a:xfrm>
            <a:off x="3447738" y="988102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2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589649" y="984738"/>
            <a:ext cx="75543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24604" y="1328374"/>
            <a:ext cx="2592387" cy="4824412"/>
          </a:xfrm>
          <a:noFill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6337716" y="2264999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6026566" y="1688736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977354" y="3273061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6480591" y="2336436"/>
            <a:ext cx="20383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d – ( e + f )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337716" y="3849324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5690016" y="4928824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5690016" y="6009911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6480591" y="3920761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-</a:t>
            </a: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327816" y="898161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4042218" y="5390604"/>
            <a:ext cx="45483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TW" sz="3000" dirty="0"/>
              <a:t>*</a:t>
            </a:r>
          </a:p>
        </p:txBody>
      </p:sp>
      <p:sp>
        <p:nvSpPr>
          <p:cNvPr id="20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624211" y="1598196"/>
            <a:ext cx="2592387" cy="4824412"/>
          </a:xfrm>
          <a:noFill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937323" y="2534821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626173" y="1958558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576961" y="3542883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7080198" y="2606258"/>
            <a:ext cx="17208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– ( e + f )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937323" y="4119146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6289623" y="5198646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6289623" y="6279733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7080198" y="4190583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- d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776736" y="5630446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*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3927423" y="1167983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54388" y="1493265"/>
            <a:ext cx="2592387" cy="4824412"/>
          </a:xfrm>
          <a:noFill/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6667500" y="242989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356350" y="185362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307138" y="343795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810375" y="2501327"/>
            <a:ext cx="14033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( e + f )</a:t>
            </a:r>
          </a:p>
        </p:txBody>
      </p:sp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6667500" y="401421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6019800" y="5093715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6019800" y="6174802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6810375" y="4085652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</a:t>
            </a:r>
          </a:p>
        </p:txBody>
      </p:sp>
      <p:sp>
        <p:nvSpPr>
          <p:cNvPr id="18" name="Rectangle 14"/>
          <p:cNvSpPr>
            <a:spLocks noChangeArrowheads="1"/>
          </p:cNvSpPr>
          <p:nvPr/>
        </p:nvSpPr>
        <p:spPr bwMode="auto">
          <a:xfrm>
            <a:off x="4506913" y="552551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3657600" y="1063052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369379" y="1373345"/>
            <a:ext cx="2592387" cy="4824412"/>
          </a:xfrm>
          <a:noFill/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682491" y="230997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371341" y="173370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322129" y="331803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825366" y="2381407"/>
            <a:ext cx="11699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e + f )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6682491" y="389429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>
            <a:off x="6034791" y="4973795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>
            <a:off x="6034791" y="6054882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6825366" y="3965732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</a:t>
            </a: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521904" y="540559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4521904" y="475789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3672591" y="943132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521904" y="540559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11507" y="3104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  <p:pic>
        <p:nvPicPr>
          <p:cNvPr id="22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084565" y="1493265"/>
            <a:ext cx="2592387" cy="4824412"/>
          </a:xfrm>
          <a:noFill/>
        </p:spPr>
      </p:pic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6397677" y="242989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4" name="Text Box 6"/>
          <p:cNvSpPr txBox="1">
            <a:spLocks noChangeArrowheads="1"/>
          </p:cNvSpPr>
          <p:nvPr/>
        </p:nvSpPr>
        <p:spPr bwMode="auto">
          <a:xfrm>
            <a:off x="6086527" y="185362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25" name="Text Box 7"/>
          <p:cNvSpPr txBox="1">
            <a:spLocks noChangeArrowheads="1"/>
          </p:cNvSpPr>
          <p:nvPr/>
        </p:nvSpPr>
        <p:spPr bwMode="auto">
          <a:xfrm>
            <a:off x="6037315" y="343795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6540552" y="2501327"/>
            <a:ext cx="8524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+ f )</a:t>
            </a:r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6397677" y="401421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5749977" y="5093715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9" name="Line 11"/>
          <p:cNvSpPr>
            <a:spLocks noChangeShapeType="1"/>
          </p:cNvSpPr>
          <p:nvPr/>
        </p:nvSpPr>
        <p:spPr bwMode="auto">
          <a:xfrm>
            <a:off x="5749977" y="6174802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0" name="Rectangle 13"/>
          <p:cNvSpPr>
            <a:spLocks noChangeArrowheads="1"/>
          </p:cNvSpPr>
          <p:nvPr/>
        </p:nvSpPr>
        <p:spPr bwMode="auto">
          <a:xfrm>
            <a:off x="6540552" y="4085652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 e</a:t>
            </a:r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4237090" y="552551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32" name="Rectangle 15"/>
          <p:cNvSpPr>
            <a:spLocks noChangeArrowheads="1"/>
          </p:cNvSpPr>
          <p:nvPr/>
        </p:nvSpPr>
        <p:spPr bwMode="auto">
          <a:xfrm>
            <a:off x="4237090" y="487781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33" name="Rectangle 19"/>
          <p:cNvSpPr>
            <a:spLocks noChangeArrowheads="1"/>
          </p:cNvSpPr>
          <p:nvPr/>
        </p:nvSpPr>
        <p:spPr bwMode="auto">
          <a:xfrm>
            <a:off x="3387777" y="1063052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</p:spTree>
    <p:extLst>
      <p:ext uri="{BB962C8B-B14F-4D97-AF65-F5344CB8AC3E}">
        <p14:creationId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534270" y="1553226"/>
            <a:ext cx="2592387" cy="4824412"/>
          </a:xfrm>
          <a:noFill/>
        </p:spPr>
      </p:pic>
      <p:sp>
        <p:nvSpPr>
          <p:cNvPr id="17" name="Rectangle 3"/>
          <p:cNvSpPr>
            <a:spLocks noChangeArrowheads="1"/>
          </p:cNvSpPr>
          <p:nvPr/>
        </p:nvSpPr>
        <p:spPr bwMode="auto">
          <a:xfrm>
            <a:off x="6847382" y="2489851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6536232" y="1913588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6487020" y="3497913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>
            <a:off x="6990257" y="2561288"/>
            <a:ext cx="5238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f )</a:t>
            </a:r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6847382" y="4074176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2" name="Line 10"/>
          <p:cNvSpPr>
            <a:spLocks noChangeShapeType="1"/>
          </p:cNvSpPr>
          <p:nvPr/>
        </p:nvSpPr>
        <p:spPr bwMode="auto">
          <a:xfrm>
            <a:off x="6199682" y="5153676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" name="Line 11"/>
          <p:cNvSpPr>
            <a:spLocks noChangeShapeType="1"/>
          </p:cNvSpPr>
          <p:nvPr/>
        </p:nvSpPr>
        <p:spPr bwMode="auto">
          <a:xfrm>
            <a:off x="6199682" y="6234763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6990257" y="4145613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 e</a:t>
            </a: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4686795" y="5585476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26" name="Rectangle 15"/>
          <p:cNvSpPr>
            <a:spLocks noChangeArrowheads="1"/>
          </p:cNvSpPr>
          <p:nvPr/>
        </p:nvSpPr>
        <p:spPr bwMode="auto">
          <a:xfrm>
            <a:off x="4686795" y="4937776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27" name="Rectangle 17"/>
          <p:cNvSpPr>
            <a:spLocks noChangeArrowheads="1"/>
          </p:cNvSpPr>
          <p:nvPr/>
        </p:nvSpPr>
        <p:spPr bwMode="auto">
          <a:xfrm>
            <a:off x="4686795" y="4290076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+</a:t>
            </a:r>
          </a:p>
        </p:txBody>
      </p:sp>
      <p:sp>
        <p:nvSpPr>
          <p:cNvPr id="28" name="Rectangle 21"/>
          <p:cNvSpPr>
            <a:spLocks noChangeArrowheads="1"/>
          </p:cNvSpPr>
          <p:nvPr/>
        </p:nvSpPr>
        <p:spPr bwMode="auto">
          <a:xfrm>
            <a:off x="3837482" y="1123013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pic>
        <p:nvPicPr>
          <p:cNvPr id="29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9900" y="149900"/>
            <a:ext cx="1990725" cy="600076"/>
          </a:xfrm>
          <a:prstGeom prst="rect">
            <a:avLst/>
          </a:prstGeom>
          <a:noFill/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961407" y="46035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890" y="179880"/>
            <a:ext cx="1990725" cy="600076"/>
          </a:xfrm>
          <a:prstGeom prst="rect">
            <a:avLst/>
          </a:prstGeom>
          <a:noFill/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976397" y="49033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  <p:pic>
        <p:nvPicPr>
          <p:cNvPr id="18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3639202" y="1613187"/>
            <a:ext cx="2592387" cy="4824412"/>
          </a:xfrm>
          <a:noFill/>
        </p:spPr>
      </p:pic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6952314" y="2549812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6451978" y="1973549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21" name="Text Box 7"/>
          <p:cNvSpPr txBox="1">
            <a:spLocks noChangeArrowheads="1"/>
          </p:cNvSpPr>
          <p:nvPr/>
        </p:nvSpPr>
        <p:spPr bwMode="auto">
          <a:xfrm>
            <a:off x="6591952" y="3557874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7095189" y="2621249"/>
            <a:ext cx="311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)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6952314" y="4134137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4" name="Line 10"/>
          <p:cNvSpPr>
            <a:spLocks noChangeShapeType="1"/>
          </p:cNvSpPr>
          <p:nvPr/>
        </p:nvSpPr>
        <p:spPr bwMode="auto">
          <a:xfrm>
            <a:off x="6304614" y="5213637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>
            <a:off x="6304614" y="6294724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6" name="Rectangle 13"/>
          <p:cNvSpPr>
            <a:spLocks noChangeArrowheads="1"/>
          </p:cNvSpPr>
          <p:nvPr/>
        </p:nvSpPr>
        <p:spPr bwMode="auto">
          <a:xfrm>
            <a:off x="7095189" y="4205574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 e f</a:t>
            </a:r>
          </a:p>
        </p:txBody>
      </p:sp>
      <p:sp>
        <p:nvSpPr>
          <p:cNvPr id="27" name="Rectangle 14"/>
          <p:cNvSpPr>
            <a:spLocks noChangeArrowheads="1"/>
          </p:cNvSpPr>
          <p:nvPr/>
        </p:nvSpPr>
        <p:spPr bwMode="auto">
          <a:xfrm>
            <a:off x="4602541" y="5645437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28" name="Rectangle 15"/>
          <p:cNvSpPr>
            <a:spLocks noChangeArrowheads="1"/>
          </p:cNvSpPr>
          <p:nvPr/>
        </p:nvSpPr>
        <p:spPr bwMode="auto">
          <a:xfrm>
            <a:off x="4602541" y="4997737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(</a:t>
            </a:r>
          </a:p>
        </p:txBody>
      </p: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4602541" y="4350037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+</a:t>
            </a:r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3753228" y="1182974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754782" y="1606731"/>
            <a:ext cx="2592387" cy="4824412"/>
          </a:xfrm>
          <a:noFill/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067894" y="2369930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756744" y="1793667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707532" y="3377992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6067894" y="3954255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5420194" y="5033755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5420194" y="6114842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6210769" y="4025692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 e f +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3907307" y="5465555"/>
            <a:ext cx="5048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-</a:t>
            </a:r>
          </a:p>
        </p:txBody>
      </p:sp>
      <p:sp>
        <p:nvSpPr>
          <p:cNvPr id="13" name="Rectangle 20"/>
          <p:cNvSpPr>
            <a:spLocks noChangeArrowheads="1"/>
          </p:cNvSpPr>
          <p:nvPr/>
        </p:nvSpPr>
        <p:spPr bwMode="auto">
          <a:xfrm>
            <a:off x="3057994" y="1113454"/>
            <a:ext cx="198227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stackVector</a:t>
            </a:r>
            <a:endParaRPr lang="en-US" altLang="zh-TW" sz="3000" dirty="0"/>
          </a:p>
        </p:txBody>
      </p:sp>
      <p:pic>
        <p:nvPicPr>
          <p:cNvPr id="14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960" y="164890"/>
            <a:ext cx="1990725" cy="600076"/>
          </a:xfrm>
          <a:prstGeom prst="rect">
            <a:avLst/>
          </a:prstGeom>
          <a:noFill/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871467" y="47534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tack1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09614" y="1553226"/>
            <a:ext cx="2592387" cy="4824412"/>
          </a:xfrm>
          <a:noFill/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6322726" y="2489851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6011576" y="1913588"/>
            <a:ext cx="162242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infixVect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962364" y="3497913"/>
            <a:ext cx="2046287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/>
              <a:t>postfixVect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322726" y="4074176"/>
            <a:ext cx="4535488" cy="720725"/>
          </a:xfrm>
          <a:prstGeom prst="rect">
            <a:avLst/>
          </a:prstGeom>
          <a:solidFill>
            <a:srgbClr val="CCFF66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5675026" y="5153676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5675026" y="6234763"/>
            <a:ext cx="5329238" cy="0"/>
          </a:xfrm>
          <a:prstGeom prst="line">
            <a:avLst/>
          </a:prstGeom>
          <a:noFill/>
          <a:ln w="25400">
            <a:solidFill>
              <a:schemeClr val="tx2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6465601" y="4145613"/>
            <a:ext cx="403383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TW" sz="3000"/>
              <a:t>a b + c – d * e f + -</a:t>
            </a: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3312826" y="1123013"/>
            <a:ext cx="18351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sz="3000" dirty="0" err="1"/>
              <a:t>stackVect</a:t>
            </a:r>
            <a:endParaRPr lang="en-US" altLang="zh-TW" sz="3000" dirty="0"/>
          </a:p>
        </p:txBody>
      </p:sp>
      <p:pic>
        <p:nvPicPr>
          <p:cNvPr id="13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930" y="119920"/>
            <a:ext cx="1990725" cy="600076"/>
          </a:xfrm>
          <a:prstGeom prst="rect">
            <a:avLst/>
          </a:prstGeom>
          <a:noFill/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916437" y="430372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dirty="0"/>
              <a:t>Infix to postfix conversion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53624" y="1079088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Which of the following statement is incorrect with respect to infix to postfix conversion algorithm?</a:t>
            </a:r>
            <a:endParaRPr lang="en-US" sz="2000" b="1" dirty="0">
              <a:latin typeface="Arial" pitchFamily="34" charset="0"/>
              <a:ea typeface="Times New Roman" pitchFamily="18" charset="0"/>
              <a:cs typeface="Arial" pitchFamily="34" charset="0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80331" y="1885993"/>
            <a:ext cx="7965346" cy="1752730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/>
              <a:t>a) operand is always placed in the output</a:t>
            </a:r>
            <a:br>
              <a:rPr lang="en-US" sz="1600"/>
            </a:br>
            <a:r>
              <a:rPr lang="en-US"/>
              <a:t>b) operator is placed in the stack when the stack operator has lower precedence</a:t>
            </a:r>
            <a:br>
              <a:rPr lang="en-US" sz="1600"/>
            </a:br>
            <a:r>
              <a:rPr lang="en-US"/>
              <a:t>c) parenthesis are included in the output</a:t>
            </a:r>
            <a:br>
              <a:rPr lang="en-US" sz="1600"/>
            </a:br>
            <a:r>
              <a:rPr lang="en-US"/>
              <a:t>d) higher and equal priority operators follow the same condition</a:t>
            </a:r>
            <a:endParaRPr lang="en-US" sz="1600" dirty="0">
              <a:latin typeface="Arial" panose="020B0604020202020204" pitchFamily="34" charset="0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b="1" dirty="0"/>
              <a:t>Out of the following operators (|, *, +, &amp;, $), the one having lowest priority is ________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</a:pP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8807" y="4701376"/>
            <a:ext cx="3474720" cy="1716619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a) +</a:t>
            </a:r>
          </a:p>
          <a:p>
            <a:r>
              <a:rPr lang="en-US" dirty="0"/>
              <a:t>b) $</a:t>
            </a:r>
          </a:p>
          <a:p>
            <a:r>
              <a:rPr lang="en-US" dirty="0"/>
              <a:t>c) |</a:t>
            </a:r>
          </a:p>
          <a:p>
            <a:r>
              <a:rPr lang="en-US" dirty="0"/>
              <a:t>d) &amp;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0"/>
            <a:ext cx="469680" cy="32952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0" tIns="0" rIns="0" bIns="1587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What is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Describe expression Notations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 List out Stack Applications</a:t>
            </a:r>
          </a:p>
          <a:p>
            <a:pPr marL="342900" indent="-342900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 Analyze and Evaluate Postfix and infix notations</a:t>
            </a:r>
          </a:p>
          <a:p>
            <a:pPr marL="342900" indent="-342900">
              <a:lnSpc>
                <a:spcPct val="20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4. Summarize stack in memory operations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508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Reference Books: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A.v.Aho,J.E.Hopcroft,and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J.D.Ullman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,”Data structures And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Algorithms”,Pearson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Education 1e.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“Fundamentals of Data Structures in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C”,Horowitz,Sahni,Anderson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Freed 2e-2007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3.R.F.Gilberg,B.A.Forouzan,”Data Structures” 2e Thomson India Edition-2007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1. https://nptel.ac.in/courses/106102064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https://www.edx.org/course/algorithms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-and -data-structures-1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3. https://www.coursera.org/learn/data-structures?action=enroll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DATA STRUCTURES</a:t>
            </a: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559</TotalTime>
  <Words>770</Words>
  <Application>Microsoft Office PowerPoint</Application>
  <PresentationFormat>Widescreen</PresentationFormat>
  <Paragraphs>295</Paragraphs>
  <Slides>27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BioRhyme ExtraBold</vt:lpstr>
      <vt:lpstr>Calibri</vt:lpstr>
      <vt:lpstr>Poppins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Krishna Suresh B V N V</cp:lastModifiedBy>
  <cp:revision>77</cp:revision>
  <dcterms:created xsi:type="dcterms:W3CDTF">2020-02-08T09:57:44Z</dcterms:created>
  <dcterms:modified xsi:type="dcterms:W3CDTF">2024-12-16T10:55:18Z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