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1" r:id="rId3"/>
    <p:sldId id="300" r:id="rId5"/>
    <p:sldId id="900" r:id="rId6"/>
    <p:sldId id="905" r:id="rId7"/>
    <p:sldId id="288" r:id="rId8"/>
    <p:sldId id="904" r:id="rId9"/>
    <p:sldId id="911" r:id="rId10"/>
    <p:sldId id="906" r:id="rId11"/>
    <p:sldId id="912" r:id="rId12"/>
    <p:sldId id="907" r:id="rId13"/>
    <p:sldId id="908" r:id="rId14"/>
    <p:sldId id="909" r:id="rId15"/>
    <p:sldId id="901" r:id="rId16"/>
    <p:sldId id="290" r:id="rId17"/>
    <p:sldId id="305" r:id="rId18"/>
    <p:sldId id="903" r:id="rId19"/>
    <p:sldId id="301" r:id="rId20"/>
    <p:sldId id="287" r:id="rId21"/>
    <p:sldId id="302" r:id="rId22"/>
    <p:sldId id="303" r:id="rId23"/>
    <p:sldId id="299" r:id="rId24"/>
    <p:sldId id="30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293B"/>
    <a:srgbClr val="FF9900"/>
    <a:srgbClr val="E84845"/>
    <a:srgbClr val="FAD2D2"/>
    <a:srgbClr val="F89E4C"/>
    <a:srgbClr val="A81E24"/>
    <a:srgbClr val="FFF2CC"/>
    <a:srgbClr val="CF2F33"/>
    <a:srgbClr val="BA2532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09"/>
    <p:restoredTop sz="94689"/>
  </p:normalViewPr>
  <p:slideViewPr>
    <p:cSldViewPr snapToGrid="0" showGuides="1">
      <p:cViewPr varScale="1">
        <p:scale>
          <a:sx n="82" d="100"/>
          <a:sy n="82" d="100"/>
        </p:scale>
        <p:origin x="-691" y="-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customXml" Target="../customXml/item3.xml"/><Relationship Id="rId30" Type="http://schemas.openxmlformats.org/officeDocument/2006/relationships/customXml" Target="../customXml/item2.xml"/><Relationship Id="rId3" Type="http://schemas.openxmlformats.org/officeDocument/2006/relationships/slide" Target="slides/slide1.xml"/><Relationship Id="rId29" Type="http://schemas.openxmlformats.org/officeDocument/2006/relationships/customXml" Target="../customXml/item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/>
          <p:cNvPicPr>
            <a:picLocks noChangeAspect="1"/>
          </p:cNvPicPr>
          <p:nvPr userDrawn="1"/>
        </p:nvPicPr>
        <p:blipFill>
          <a:blip r:embed="rId12">
            <a:alphaModFix amt="5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/>
          <p:cNvPicPr>
            <a:picLocks noChangeAspect="1"/>
          </p:cNvPicPr>
          <p:nvPr userDrawn="1"/>
        </p:nvPicPr>
        <p:blipFill rotWithShape="1">
          <a:blip r:embed="rId13">
            <a:alphaModFix amt="35000"/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>
            <a:fillRect/>
          </a:stretch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  <a:endParaRPr lang="en-US" sz="80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7" Type="http://schemas.openxmlformats.org/officeDocument/2006/relationships/image" Target="../media/image4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hyperlink" Target="https://www.coursera.org/learn/data-structures?action=enroll" TargetMode="External"/><Relationship Id="rId2" Type="http://schemas.openxmlformats.org/officeDocument/2006/relationships/hyperlink" Target="https://in.udacity.com/course/intro-to-algorithms--cs215" TargetMode="External"/><Relationship Id="rId1" Type="http://schemas.openxmlformats.org/officeDocument/2006/relationships/hyperlink" Target="https://nptel.ac.in/courses/106102064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6023105" y="1933408"/>
            <a:ext cx="5569048" cy="2000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Data structures</a:t>
            </a:r>
            <a:endParaRPr lang="en-US" sz="3200" b="1" cap="all" dirty="0"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 smtClean="0">
                <a:solidFill>
                  <a:srgbClr val="C00000"/>
                </a:solidFill>
                <a:cs typeface="Poppins"/>
                <a:sym typeface="BioRhyme ExtraBold"/>
              </a:rPr>
              <a:t>24SC1203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BINARY SEARCH TREE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19" name="Rectangle: Rounded Corners 18"/>
          <p:cNvSpPr/>
          <p:nvPr/>
        </p:nvSpPr>
        <p:spPr>
          <a:xfrm>
            <a:off x="6233250" y="925390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9" y="830715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cs typeface="Poppins" pitchFamily="2" charset="77"/>
              </a:rPr>
              <a:t>Department of BES-1</a:t>
            </a:r>
            <a:endParaRPr lang="en-US" sz="4000" dirty="0">
              <a:solidFill>
                <a:srgbClr val="C00000"/>
              </a:solidFill>
              <a:cs typeface="Poppins" pitchFamily="2" charset="77"/>
            </a:endParaRPr>
          </a:p>
        </p:txBody>
      </p:sp>
      <p:sp>
        <p:nvSpPr>
          <p:cNvPr id="8" name="Google Shape;502;p17"/>
          <p:cNvSpPr/>
          <p:nvPr/>
        </p:nvSpPr>
        <p:spPr>
          <a:xfrm>
            <a:off x="7623168" y="4758078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 panose="020F0502020204030204"/>
                <a:cs typeface="Poppins"/>
                <a:sym typeface="Calibri" panose="020F0502020204030204"/>
              </a:rPr>
              <a:t>Session - 26</a:t>
            </a:r>
            <a:endParaRPr lang="en-US" sz="2400" dirty="0">
              <a:solidFill>
                <a:schemeClr val="lt1"/>
              </a:solidFill>
              <a:ea typeface="Calibri" panose="020F0502020204030204"/>
              <a:cs typeface="Poppins" panose="00000500000000000000" pitchFamily="2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684469"/>
            <a:ext cx="10731286" cy="78534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basic concept of Binary search tree</a:t>
            </a:r>
            <a:endParaRPr lang="en-US" sz="1600" b="0" i="0" dirty="0">
              <a:effectLst/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/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1752600" y="2438605"/>
            <a:ext cx="8791575" cy="181588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  <a:endParaRPr lang="en-US" sz="1600" b="0" i="0" dirty="0">
              <a:effectLst/>
              <a:latin typeface="Poppins"/>
              <a:cs typeface="Poppins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Demonstrate the Binary </a:t>
            </a:r>
            <a:r>
              <a:rPr lang="en-US" sz="1600" dirty="0">
                <a:latin typeface="Arial" panose="020B0604020202020204" pitchFamily="34" charset="0"/>
              </a:rPr>
              <a:t>s</a:t>
            </a:r>
            <a:r>
              <a:rPr lang="en-US" sz="1600" b="0" i="0" dirty="0">
                <a:effectLst/>
                <a:latin typeface="Arial" panose="020B0604020202020204" pitchFamily="34" charset="0"/>
              </a:rPr>
              <a:t>earch tree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the operations of binary search tree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List out the strategies of binary search tree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/>
                <a:cs typeface="Arial" panose="020B0604020202020204"/>
              </a:rPr>
              <a:t>Describe the implementation of binary search tree</a:t>
            </a:r>
            <a:endParaRPr lang="en-US" sz="1600" b="0" i="0" dirty="0">
              <a:effectLst/>
              <a:latin typeface="Arial" panose="020B0604020202020204"/>
              <a:cs typeface="Arial" panose="020B0604020202020204"/>
            </a:endParaRP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/>
                <a:cs typeface="Arial" panose="020B0604020202020204"/>
              </a:rPr>
              <a:t>Applications of BST</a:t>
            </a:r>
            <a:endParaRPr lang="en-US" sz="1600" dirty="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1" name="Graphic 10" descr="Bullseye outline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/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  <a:endParaRPr lang="en-US" sz="2400" dirty="0"/>
          </a:p>
        </p:txBody>
      </p:sp>
      <p:pic>
        <p:nvPicPr>
          <p:cNvPr id="31" name="Graphic 30" descr="Idea outline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752600" y="4772230"/>
            <a:ext cx="8791575" cy="156966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 panose="020B0604020202020204"/>
                <a:cs typeface="Arial" panose="020B0604020202020204"/>
              </a:rPr>
              <a:t>At the end of this </a:t>
            </a:r>
            <a:r>
              <a:rPr lang="en-US" sz="1600" dirty="0">
                <a:latin typeface="Arial" panose="020B0604020202020204"/>
                <a:cs typeface="Arial" panose="020B0604020202020204"/>
              </a:rPr>
              <a:t>session</a:t>
            </a:r>
            <a:r>
              <a:rPr lang="en-US" sz="1600" b="0" i="0" dirty="0">
                <a:effectLst/>
                <a:latin typeface="Arial" panose="020B0604020202020204"/>
                <a:cs typeface="Arial" panose="020B0604020202020204"/>
              </a:rPr>
              <a:t>, you should be able to:</a:t>
            </a:r>
            <a:endParaRPr lang="en-US" sz="1600" b="0" i="0" dirty="0">
              <a:effectLst/>
              <a:latin typeface="Arial" panose="020B0604020202020204"/>
              <a:cs typeface="Arial" panose="020B0604020202020204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Define binary search tree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the insertion operations of binary search tree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How to traverse in BST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Summarize the concept of binary search tree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29530" y="833982"/>
            <a:ext cx="612648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27460" y="1259854"/>
            <a:ext cx="10646514" cy="32129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/>
            <a:r>
              <a:rPr lang="en-US" altLang="zh-TW" dirty="0">
                <a:latin typeface="Times New Roman" panose="02020603050405020304" pitchFamily="18" charset="0"/>
                <a:ea typeface="PMingLiU"/>
                <a:cs typeface="Times New Roman" panose="02020603050405020304" pitchFamily="18" charset="0"/>
              </a:rPr>
              <a:t>It is a variant of Binary tree.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/>
            <a:r>
              <a:rPr lang="en-US" altLang="zh-TW" dirty="0">
                <a:latin typeface="Times New Roman" panose="02020603050405020304" pitchFamily="18" charset="0"/>
                <a:ea typeface="PMingLiU"/>
                <a:cs typeface="Times New Roman" panose="02020603050405020304" pitchFamily="18" charset="0"/>
              </a:rPr>
              <a:t>Efficient for sorting, searching, insertion and deletion can be done.</a:t>
            </a:r>
            <a:endParaRPr lang="en-US" altLang="zh-TW" dirty="0">
              <a:latin typeface="Times New Roman" panose="02020603050405020304" pitchFamily="18" charset="0"/>
              <a:ea typeface="PMingLiU"/>
              <a:cs typeface="Times New Roman" panose="02020603050405020304" pitchFamily="18" charset="0"/>
            </a:endParaRPr>
          </a:p>
          <a:p>
            <a:pPr marL="800100" lvl="2" indent="-342900"/>
            <a:r>
              <a:rPr lang="en-US" altLang="zh-TW" sz="2400" dirty="0">
                <a:latin typeface="Times New Roman" panose="02020603050405020304" pitchFamily="18" charset="0"/>
                <a:ea typeface="PMingLiU"/>
                <a:cs typeface="Times New Roman" panose="02020603050405020304" pitchFamily="18" charset="0"/>
              </a:rPr>
              <a:t>It is also known as ordered binary tree.</a:t>
            </a:r>
            <a:endParaRPr lang="en-US" altLang="zh-TW" sz="2400" dirty="0">
              <a:latin typeface="Times New Roman" panose="02020603050405020304" pitchFamily="18" charset="0"/>
              <a:ea typeface="PMingLiU"/>
              <a:cs typeface="Times New Roman" panose="02020603050405020304" pitchFamily="18" charset="0"/>
            </a:endParaRPr>
          </a:p>
          <a:p>
            <a:pPr marL="800100" lvl="1" indent="-342900"/>
            <a:r>
              <a:rPr lang="en-US" altLang="zh-TW" dirty="0">
                <a:latin typeface="Times New Roman" panose="02020603050405020304" pitchFamily="18" charset="0"/>
                <a:ea typeface="PMingLiU"/>
                <a:cs typeface="Times New Roman" panose="02020603050405020304" pitchFamily="18" charset="0"/>
              </a:rPr>
              <a:t>Every node has a unique key.</a:t>
            </a:r>
            <a:endParaRPr lang="en-US" altLang="zh-TW" dirty="0">
              <a:latin typeface="Times New Roman" panose="02020603050405020304" pitchFamily="18" charset="0"/>
              <a:ea typeface="PMingLiU"/>
              <a:cs typeface="Times New Roman" panose="02020603050405020304" pitchFamily="18" charset="0"/>
            </a:endParaRPr>
          </a:p>
          <a:p>
            <a:pPr marL="800100" lvl="1" indent="-342900"/>
            <a:r>
              <a:rPr lang="en-US" altLang="zh-TW" dirty="0">
                <a:latin typeface="Times New Roman" panose="02020603050405020304" pitchFamily="18" charset="0"/>
                <a:ea typeface="PMingLiU"/>
                <a:cs typeface="Times New Roman" panose="02020603050405020304" pitchFamily="18" charset="0"/>
              </a:rPr>
              <a:t>All the nodes in the left sub-tree have a value less than that of the root node. Correspondingly, all the nodes in the right sub-tree have a value either equal to or greater than the root node. </a:t>
            </a:r>
            <a:endParaRPr lang="en-US" altLang="zh-TW" dirty="0">
              <a:latin typeface="Times New Roman" panose="02020603050405020304" pitchFamily="18" charset="0"/>
              <a:ea typeface="PMingLiU"/>
              <a:cs typeface="Times New Roman" panose="02020603050405020304" pitchFamily="18" charset="0"/>
            </a:endParaRPr>
          </a:p>
          <a:p>
            <a:pPr marL="800100" lvl="1" indent="-342900"/>
            <a:r>
              <a:rPr lang="en-US" altLang="zh-TW" dirty="0">
                <a:latin typeface="Times New Roman" panose="02020603050405020304" pitchFamily="18" charset="0"/>
                <a:ea typeface="PMingLiU"/>
                <a:cs typeface="Times New Roman" panose="02020603050405020304" pitchFamily="18" charset="0"/>
              </a:rPr>
              <a:t>The left and right sub trees are also binary search trees.</a:t>
            </a:r>
            <a:endParaRPr lang="en-US" altLang="zh-TW" dirty="0">
              <a:latin typeface="Times New Roman" panose="02020603050405020304" pitchFamily="18" charset="0"/>
              <a:ea typeface="PMingLiU"/>
              <a:cs typeface="Times New Roman" panose="02020603050405020304" pitchFamily="18" charset="0"/>
            </a:endParaRPr>
          </a:p>
        </p:txBody>
      </p:sp>
      <p:pic>
        <p:nvPicPr>
          <p:cNvPr id="2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92904" y="163684"/>
            <a:ext cx="1990725" cy="600076"/>
          </a:xfrm>
          <a:prstGeom prst="rect">
            <a:avLst/>
          </a:prstGeom>
          <a:noFill/>
        </p:spPr>
      </p:pic>
      <p:sp>
        <p:nvSpPr>
          <p:cNvPr id="3" name="Rounded Rectangle 17"/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Binary Search Tree</a:t>
            </a:r>
            <a:endParaRPr lang="en-US" sz="2400" b="1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</p:txBody>
      </p:sp>
      <p:pic>
        <p:nvPicPr>
          <p:cNvPr id="10" name="Picture 9" descr="A screenshot of a computer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056" y="4343801"/>
            <a:ext cx="8162925" cy="24669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29530" y="833982"/>
            <a:ext cx="6126480" cy="19389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en-US" sz="2400" b="1" dirty="0">
                <a:solidFill>
                  <a:srgbClr val="A50021"/>
                </a:solidFill>
                <a:latin typeface="Times New Roman" panose="02020603050405020304"/>
                <a:ea typeface="+mj-ea"/>
                <a:cs typeface="Times New Roman" panose="02020603050405020304"/>
              </a:rPr>
              <a:t>Example</a:t>
            </a:r>
            <a:endParaRPr lang="en-US" altLang="en-US" sz="2400" b="1" dirty="0">
              <a:solidFill>
                <a:srgbClr val="A50021"/>
              </a:solidFill>
              <a:latin typeface="Times New Roman" panose="02020603050405020304"/>
              <a:ea typeface="+mj-ea"/>
              <a:cs typeface="Times New Roman" panose="02020603050405020304"/>
            </a:endParaRPr>
          </a:p>
          <a:p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27460" y="1259854"/>
            <a:ext cx="106465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altLang="zh-TW" sz="2400" dirty="0"/>
          </a:p>
        </p:txBody>
      </p:sp>
      <p:pic>
        <p:nvPicPr>
          <p:cNvPr id="2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92904" y="163684"/>
            <a:ext cx="1990725" cy="600076"/>
          </a:xfrm>
          <a:prstGeom prst="rect">
            <a:avLst/>
          </a:prstGeom>
          <a:noFill/>
        </p:spPr>
      </p:pic>
      <p:sp>
        <p:nvSpPr>
          <p:cNvPr id="3" name="Rounded Rectangle 17"/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Binary Search Tree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345" y="1006030"/>
            <a:ext cx="6441744" cy="3671965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201976" y="4753166"/>
            <a:ext cx="7902054" cy="19389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en-US" sz="2400" dirty="0">
                <a:latin typeface="Times New Roman" panose="02020603050405020304"/>
                <a:ea typeface="+mj-ea"/>
                <a:cs typeface="Times New Roman" panose="02020603050405020304"/>
              </a:rPr>
              <a:t> The root node is 39</a:t>
            </a:r>
            <a:endParaRPr lang="en-US" altLang="en-US" sz="2400" dirty="0">
              <a:latin typeface="Times New Roman" panose="02020603050405020304"/>
              <a:ea typeface="+mj-ea"/>
              <a:cs typeface="Times New Roman" panose="02020603050405020304"/>
            </a:endParaRPr>
          </a:p>
          <a:p>
            <a:r>
              <a:rPr lang="en-US" altLang="en-US" sz="2400" dirty="0">
                <a:latin typeface="Times New Roman" panose="02020603050405020304"/>
                <a:ea typeface="+mj-ea"/>
                <a:cs typeface="Times New Roman" panose="02020603050405020304"/>
              </a:rPr>
              <a:t>The left sub-tree nodes 9, 10, 18, 19, 21, 27, 28, 29, and 36</a:t>
            </a:r>
            <a:endParaRPr lang="en-US" altLang="en-US" sz="2400" dirty="0">
              <a:latin typeface="Times New Roman" panose="02020603050405020304"/>
              <a:ea typeface="+mj-ea"/>
              <a:cs typeface="Times New Roman" panose="02020603050405020304"/>
            </a:endParaRPr>
          </a:p>
          <a:p>
            <a:r>
              <a:rPr lang="en-US" altLang="en-US" sz="2400" dirty="0">
                <a:latin typeface="Times New Roman" panose="02020603050405020304"/>
                <a:ea typeface="+mj-ea"/>
                <a:cs typeface="Times New Roman" panose="02020603050405020304"/>
              </a:rPr>
              <a:t>The right sub-tree nodes 40, 45, 54, 59, 60, and 65</a:t>
            </a:r>
            <a:endParaRPr lang="en-US" altLang="en-US" sz="2400" dirty="0">
              <a:latin typeface="Times New Roman" panose="02020603050405020304"/>
              <a:ea typeface="+mj-ea"/>
              <a:cs typeface="Times New Roman" panose="02020603050405020304"/>
            </a:endParaRPr>
          </a:p>
          <a:p>
            <a:r>
              <a:rPr lang="en-US" altLang="en-US" sz="2400" dirty="0">
                <a:latin typeface="Times New Roman" panose="02020603050405020304"/>
                <a:ea typeface="+mj-ea"/>
                <a:cs typeface="Times New Roman" panose="02020603050405020304"/>
              </a:rPr>
              <a:t>Recursively, each of the sub-trees also obeys the binary search tree constraint</a:t>
            </a:r>
            <a:endParaRPr lang="en-US" altLang="en-US" sz="2400" dirty="0">
              <a:latin typeface="Times New Roman" panose="02020603050405020304"/>
              <a:ea typeface="+mj-ea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Creation of BST</a:t>
            </a:r>
            <a:endParaRPr lang="en-US" b="1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609600" y="743801"/>
            <a:ext cx="612648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en-US" sz="2400" b="1" dirty="0">
                <a:latin typeface="Times New Roman" panose="02020603050405020304"/>
                <a:ea typeface="+mj-ea"/>
                <a:cs typeface="Times New Roman" panose="02020603050405020304"/>
              </a:rPr>
              <a:t>BST Creation</a:t>
            </a:r>
            <a:endParaRPr lang="en-US" altLang="en-US" sz="2400" b="1" dirty="0">
              <a:latin typeface="Times New Roman" panose="02020603050405020304"/>
              <a:ea typeface="+mj-ea"/>
              <a:cs typeface="Times New Roman" panose="020206030504050203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1280523"/>
            <a:ext cx="9791114" cy="255916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Monotype Sorts" pitchFamily="2" charset="2"/>
              <a:buNone/>
              <a:tabLst>
                <a:tab pos="1026795" algn="l"/>
                <a:tab pos="1941195" algn="l"/>
                <a:tab pos="2855595" algn="l"/>
                <a:tab pos="3769995" algn="l"/>
                <a:tab pos="4684395" algn="l"/>
                <a:tab pos="5598795" algn="l"/>
                <a:tab pos="6513195" algn="l"/>
                <a:tab pos="7427595" algn="l"/>
                <a:tab pos="8341995" algn="l"/>
                <a:tab pos="9256395" algn="l"/>
                <a:tab pos="10170795" algn="l"/>
              </a:tabLst>
            </a:pPr>
            <a:r>
              <a:rPr lang="en-GB" altLang="en-US" sz="2400" dirty="0">
                <a:latin typeface="Times New Roman" panose="02020603050405020304"/>
                <a:cs typeface="Times New Roman" panose="02020603050405020304"/>
              </a:rPr>
              <a:t>Start at the root and compare with root.</a:t>
            </a:r>
            <a:endParaRPr lang="en-GB" altLang="en-US" sz="2400" dirty="0">
              <a:latin typeface="Times New Roman" panose="02020603050405020304"/>
              <a:cs typeface="Times New Roman" panose="02020603050405020304"/>
            </a:endParaRPr>
          </a:p>
          <a:p>
            <a:pPr marL="457200" indent="-457200">
              <a:spcBef>
                <a:spcPts val="700"/>
              </a:spcBef>
              <a:buFont typeface="Arial" panose="020B0604020202020204" pitchFamily="2" charset="2"/>
              <a:buChar char="•"/>
              <a:tabLst>
                <a:tab pos="1026795" algn="l"/>
                <a:tab pos="1941195" algn="l"/>
                <a:tab pos="2855595" algn="l"/>
                <a:tab pos="3769995" algn="l"/>
                <a:tab pos="4684395" algn="l"/>
                <a:tab pos="5598795" algn="l"/>
                <a:tab pos="6513195" algn="l"/>
                <a:tab pos="7427595" algn="l"/>
                <a:tab pos="8341995" algn="l"/>
                <a:tab pos="9256395" algn="l"/>
                <a:tab pos="10170795" algn="l"/>
              </a:tabLst>
            </a:pPr>
            <a:r>
              <a:rPr lang="en-GB" altLang="en-US" sz="2400" dirty="0">
                <a:latin typeface="Times New Roman" panose="02020603050405020304"/>
                <a:cs typeface="Times New Roman" panose="02020603050405020304"/>
              </a:rPr>
              <a:t>If no root is found, insert the current node as root.</a:t>
            </a:r>
            <a:endParaRPr lang="en-GB" altLang="en-US" sz="2400" dirty="0">
              <a:latin typeface="Times New Roman" panose="02020603050405020304"/>
              <a:cs typeface="Times New Roman" panose="02020603050405020304"/>
            </a:endParaRPr>
          </a:p>
          <a:p>
            <a:pPr marL="457200" indent="-457200">
              <a:spcBef>
                <a:spcPts val="700"/>
              </a:spcBef>
              <a:buFont typeface="Arial" panose="020B0604020202020204" pitchFamily="2" charset="2"/>
              <a:buChar char="•"/>
              <a:tabLst>
                <a:tab pos="1026795" algn="l"/>
                <a:tab pos="1941195" algn="l"/>
                <a:tab pos="2855595" algn="l"/>
                <a:tab pos="3769995" algn="l"/>
                <a:tab pos="4684395" algn="l"/>
                <a:tab pos="5598795" algn="l"/>
                <a:tab pos="6513195" algn="l"/>
                <a:tab pos="7427595" algn="l"/>
                <a:tab pos="8341995" algn="l"/>
                <a:tab pos="9256395" algn="l"/>
                <a:tab pos="10170795" algn="l"/>
              </a:tabLst>
            </a:pPr>
            <a:r>
              <a:rPr lang="en-GB" altLang="en-US" sz="2400" dirty="0">
                <a:latin typeface="Times New Roman" panose="02020603050405020304"/>
                <a:cs typeface="Times New Roman" panose="02020603050405020304"/>
              </a:rPr>
              <a:t>If the current node's key is </a:t>
            </a:r>
            <a:r>
              <a:rPr lang="en-GB" altLang="en-US" sz="2400" b="1" u="sng" dirty="0">
                <a:latin typeface="Times New Roman" panose="02020603050405020304"/>
                <a:cs typeface="Times New Roman" panose="02020603050405020304"/>
              </a:rPr>
              <a:t>smaller</a:t>
            </a:r>
            <a:r>
              <a:rPr lang="en-GB" altLang="en-US" sz="2400" dirty="0">
                <a:latin typeface="Times New Roman" panose="02020603050405020304"/>
                <a:cs typeface="Times New Roman" panose="02020603050405020304"/>
              </a:rPr>
              <a:t>, move </a:t>
            </a:r>
            <a:r>
              <a:rPr lang="en-GB" altLang="en-US" sz="2400" b="1" u="sng" dirty="0">
                <a:latin typeface="Times New Roman" panose="02020603050405020304"/>
                <a:cs typeface="Times New Roman" panose="02020603050405020304"/>
              </a:rPr>
              <a:t>left</a:t>
            </a:r>
            <a:r>
              <a:rPr lang="en-GB" altLang="en-US" sz="2400" dirty="0">
                <a:latin typeface="Times New Roman" panose="02020603050405020304"/>
                <a:cs typeface="Times New Roman" panose="02020603050405020304"/>
              </a:rPr>
              <a:t> and repeat steps with new root. 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700"/>
              </a:spcBef>
              <a:buFont typeface="Arial" panose="020B0604020202020204" pitchFamily="2" charset="2"/>
              <a:buChar char="•"/>
              <a:tabLst>
                <a:tab pos="1026795" algn="l"/>
                <a:tab pos="1941195" algn="l"/>
                <a:tab pos="2855595" algn="l"/>
                <a:tab pos="3769995" algn="l"/>
                <a:tab pos="4684395" algn="l"/>
                <a:tab pos="5598795" algn="l"/>
                <a:tab pos="6513195" algn="l"/>
                <a:tab pos="7427595" algn="l"/>
                <a:tab pos="8341995" algn="l"/>
                <a:tab pos="9256395" algn="l"/>
                <a:tab pos="10170795" algn="l"/>
              </a:tabLst>
            </a:pPr>
            <a:r>
              <a:rPr lang="en-GB" altLang="en-US" sz="2400" dirty="0">
                <a:latin typeface="Times New Roman" panose="02020603050405020304"/>
                <a:cs typeface="Times New Roman" panose="02020603050405020304"/>
              </a:rPr>
              <a:t>If the current node's key is </a:t>
            </a:r>
            <a:r>
              <a:rPr lang="en-GB" altLang="en-US" sz="2400" b="1" u="sng" dirty="0">
                <a:latin typeface="Times New Roman" panose="02020603050405020304"/>
                <a:cs typeface="Times New Roman" panose="02020603050405020304"/>
              </a:rPr>
              <a:t>larger</a:t>
            </a:r>
            <a:r>
              <a:rPr lang="en-GB" altLang="en-US" sz="2400" dirty="0">
                <a:latin typeface="Times New Roman" panose="02020603050405020304"/>
                <a:cs typeface="Times New Roman" panose="02020603050405020304"/>
              </a:rPr>
              <a:t>, move </a:t>
            </a:r>
            <a:r>
              <a:rPr lang="en-GB" altLang="en-US" sz="2400" b="1" u="sng" dirty="0">
                <a:latin typeface="Times New Roman" panose="02020603050405020304"/>
                <a:cs typeface="Times New Roman" panose="02020603050405020304"/>
              </a:rPr>
              <a:t>right</a:t>
            </a:r>
            <a:r>
              <a:rPr lang="en-GB" altLang="en-US" sz="2400" dirty="0">
                <a:latin typeface="Times New Roman" panose="02020603050405020304"/>
                <a:cs typeface="Times New Roman" panose="02020603050405020304"/>
              </a:rPr>
              <a:t> and repeat steps with new root.</a:t>
            </a:r>
            <a:endParaRPr lang="en-GB" altLang="en-US" sz="24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771922" y="93980"/>
            <a:ext cx="5475773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1083212" y="1252025"/>
            <a:ext cx="10086536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BST with the following elements: 8, 5, 11, 6, 13, 1, 9, 7, 3, 4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Font typeface="Arial" panose="020B0604020202020204" pitchFamily="34" charset="0"/>
              <a:buNone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701229" y="639892"/>
            <a:ext cx="10163502" cy="65836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400" b="1" dirty="0">
                <a:latin typeface="Times New Roman" panose="02020603050405020304"/>
                <a:cs typeface="Times New Roman" panose="02020603050405020304"/>
              </a:rPr>
              <a:t>BST Creation</a:t>
            </a:r>
            <a:endParaRPr lang="en-US" altLang="en-US" sz="2400" b="1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val 5"/>
          <p:cNvSpPr>
            <a:spLocks noChangeAspect="1" noChangeArrowheads="1"/>
          </p:cNvSpPr>
          <p:nvPr/>
        </p:nvSpPr>
        <p:spPr bwMode="auto">
          <a:xfrm>
            <a:off x="4868580" y="4120502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latin typeface="Times New Roman" panose="02020603050405020304" pitchFamily="18" charset="0"/>
              </a:rPr>
              <a:t>6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" name="Oval 6"/>
          <p:cNvSpPr>
            <a:spLocks noChangeAspect="1" noChangeArrowheads="1"/>
          </p:cNvSpPr>
          <p:nvPr/>
        </p:nvSpPr>
        <p:spPr bwMode="auto">
          <a:xfrm>
            <a:off x="3801780" y="4120502"/>
            <a:ext cx="381000" cy="3810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endParaRPr lang="en-US" altLang="en-US" sz="2400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Oval 6"/>
          <p:cNvSpPr>
            <a:spLocks noChangeAspect="1" noChangeArrowheads="1"/>
          </p:cNvSpPr>
          <p:nvPr/>
        </p:nvSpPr>
        <p:spPr bwMode="auto">
          <a:xfrm>
            <a:off x="4335180" y="3231502"/>
            <a:ext cx="381000" cy="381000"/>
          </a:xfrm>
          <a:prstGeom prst="ellipse">
            <a:avLst/>
          </a:prstGeom>
          <a:noFill/>
          <a:ln w="3810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solidFill>
                  <a:srgbClr val="000066"/>
                </a:solidFill>
                <a:latin typeface="Times New Roman" panose="02020603050405020304" pitchFamily="18" charset="0"/>
              </a:rPr>
              <a:t>5</a:t>
            </a:r>
            <a:endParaRPr lang="en-US" altLang="en-US" sz="2400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Oval 7"/>
          <p:cNvSpPr>
            <a:spLocks noChangeAspect="1" noChangeArrowheads="1"/>
          </p:cNvSpPr>
          <p:nvPr/>
        </p:nvSpPr>
        <p:spPr bwMode="auto">
          <a:xfrm>
            <a:off x="5401980" y="2342502"/>
            <a:ext cx="381000" cy="381000"/>
          </a:xfrm>
          <a:prstGeom prst="ellipse">
            <a:avLst/>
          </a:prstGeom>
          <a:noFill/>
          <a:ln w="38100">
            <a:solidFill>
              <a:srgbClr val="008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solidFill>
                  <a:srgbClr val="008000"/>
                </a:solidFill>
                <a:latin typeface="Times New Roman" panose="02020603050405020304" pitchFamily="18" charset="0"/>
              </a:rPr>
              <a:t>8</a:t>
            </a:r>
            <a:endParaRPr lang="en-US" altLang="en-US" sz="2400" dirty="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9" name="AutoShape 10"/>
          <p:cNvCxnSpPr>
            <a:cxnSpLocks noChangeShapeType="1"/>
            <a:stCxn id="8" idx="3"/>
            <a:endCxn id="7" idx="0"/>
          </p:cNvCxnSpPr>
          <p:nvPr/>
        </p:nvCxnSpPr>
        <p:spPr bwMode="auto">
          <a:xfrm flipH="1">
            <a:off x="4525681" y="2686990"/>
            <a:ext cx="931863" cy="525462"/>
          </a:xfrm>
          <a:prstGeom prst="straightConnector1">
            <a:avLst/>
          </a:prstGeom>
          <a:noFill/>
          <a:ln w="9525">
            <a:solidFill>
              <a:srgbClr val="000066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AutoShape 11"/>
          <p:cNvCxnSpPr>
            <a:cxnSpLocks noChangeShapeType="1"/>
            <a:stCxn id="8" idx="5"/>
          </p:cNvCxnSpPr>
          <p:nvPr/>
        </p:nvCxnSpPr>
        <p:spPr bwMode="auto">
          <a:xfrm>
            <a:off x="5727418" y="2686990"/>
            <a:ext cx="931862" cy="525462"/>
          </a:xfrm>
          <a:prstGeom prst="straightConnector1">
            <a:avLst/>
          </a:prstGeom>
          <a:noFill/>
          <a:ln w="9525">
            <a:solidFill>
              <a:srgbClr val="CC99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AutoShape 13"/>
          <p:cNvCxnSpPr>
            <a:cxnSpLocks noChangeShapeType="1"/>
            <a:stCxn id="7" idx="3"/>
            <a:endCxn id="6" idx="0"/>
          </p:cNvCxnSpPr>
          <p:nvPr/>
        </p:nvCxnSpPr>
        <p:spPr bwMode="auto">
          <a:xfrm flipH="1">
            <a:off x="3992281" y="3575990"/>
            <a:ext cx="398463" cy="525462"/>
          </a:xfrm>
          <a:prstGeom prst="straightConnector1">
            <a:avLst/>
          </a:prstGeom>
          <a:noFill/>
          <a:ln w="9525">
            <a:solidFill>
              <a:srgbClr val="000066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AutoShape 14"/>
          <p:cNvCxnSpPr>
            <a:cxnSpLocks noChangeShapeType="1"/>
          </p:cNvCxnSpPr>
          <p:nvPr/>
        </p:nvCxnSpPr>
        <p:spPr bwMode="auto">
          <a:xfrm>
            <a:off x="4611631" y="3575990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Oval 17"/>
          <p:cNvSpPr>
            <a:spLocks noChangeAspect="1" noChangeArrowheads="1"/>
          </p:cNvSpPr>
          <p:nvPr/>
        </p:nvSpPr>
        <p:spPr bwMode="auto">
          <a:xfrm>
            <a:off x="5313644" y="4898377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latin typeface="Times New Roman" panose="02020603050405020304" pitchFamily="18" charset="0"/>
              </a:rPr>
              <a:t>7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cxnSp>
        <p:nvCxnSpPr>
          <p:cNvPr id="16" name="AutoShape 18"/>
          <p:cNvCxnSpPr>
            <a:cxnSpLocks noChangeShapeType="1"/>
          </p:cNvCxnSpPr>
          <p:nvPr/>
        </p:nvCxnSpPr>
        <p:spPr bwMode="auto">
          <a:xfrm>
            <a:off x="5146848" y="4460448"/>
            <a:ext cx="320448" cy="44960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Oval 5"/>
          <p:cNvSpPr>
            <a:spLocks noChangeAspect="1" noChangeArrowheads="1"/>
          </p:cNvSpPr>
          <p:nvPr/>
        </p:nvSpPr>
        <p:spPr bwMode="auto">
          <a:xfrm>
            <a:off x="4288974" y="5042619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latin typeface="Times New Roman" panose="02020603050405020304" pitchFamily="18" charset="0"/>
              </a:rPr>
              <a:t>3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cxnSp>
        <p:nvCxnSpPr>
          <p:cNvPr id="18" name="AutoShape 14"/>
          <p:cNvCxnSpPr>
            <a:cxnSpLocks noChangeShapeType="1"/>
          </p:cNvCxnSpPr>
          <p:nvPr/>
        </p:nvCxnSpPr>
        <p:spPr bwMode="auto">
          <a:xfrm>
            <a:off x="4032025" y="4498107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Oval 17"/>
          <p:cNvSpPr>
            <a:spLocks noChangeAspect="1" noChangeArrowheads="1"/>
          </p:cNvSpPr>
          <p:nvPr/>
        </p:nvSpPr>
        <p:spPr bwMode="auto">
          <a:xfrm>
            <a:off x="4734038" y="5820494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latin typeface="Times New Roman" panose="02020603050405020304" pitchFamily="18" charset="0"/>
              </a:rPr>
              <a:t>4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cxnSp>
        <p:nvCxnSpPr>
          <p:cNvPr id="20" name="AutoShape 18"/>
          <p:cNvCxnSpPr>
            <a:cxnSpLocks noChangeShapeType="1"/>
          </p:cNvCxnSpPr>
          <p:nvPr/>
        </p:nvCxnSpPr>
        <p:spPr bwMode="auto">
          <a:xfrm>
            <a:off x="4567242" y="5382565"/>
            <a:ext cx="320448" cy="44960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Oval 5"/>
          <p:cNvSpPr>
            <a:spLocks noChangeAspect="1" noChangeArrowheads="1"/>
          </p:cNvSpPr>
          <p:nvPr/>
        </p:nvSpPr>
        <p:spPr bwMode="auto">
          <a:xfrm>
            <a:off x="7035112" y="4120502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latin typeface="Times New Roman" panose="02020603050405020304" pitchFamily="18" charset="0"/>
              </a:rPr>
              <a:t>13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2" name="Oval 6"/>
          <p:cNvSpPr>
            <a:spLocks noChangeAspect="1" noChangeArrowheads="1"/>
          </p:cNvSpPr>
          <p:nvPr/>
        </p:nvSpPr>
        <p:spPr bwMode="auto">
          <a:xfrm>
            <a:off x="5968312" y="4120502"/>
            <a:ext cx="381000" cy="3810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9</a:t>
            </a:r>
            <a:endParaRPr lang="en-US" altLang="en-US" sz="2400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Oval 8"/>
          <p:cNvSpPr>
            <a:spLocks noChangeAspect="1" noChangeArrowheads="1"/>
          </p:cNvSpPr>
          <p:nvPr/>
        </p:nvSpPr>
        <p:spPr bwMode="auto">
          <a:xfrm>
            <a:off x="6501712" y="3231502"/>
            <a:ext cx="381000" cy="381000"/>
          </a:xfrm>
          <a:prstGeom prst="ellipse">
            <a:avLst/>
          </a:prstGeom>
          <a:noFill/>
          <a:ln w="3810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solidFill>
                  <a:srgbClr val="000066"/>
                </a:solidFill>
                <a:latin typeface="Times New Roman" panose="02020603050405020304" pitchFamily="18" charset="0"/>
              </a:rPr>
              <a:t>11</a:t>
            </a:r>
            <a:endParaRPr lang="en-US" altLang="en-US" sz="2400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24" name="AutoShape 13"/>
          <p:cNvCxnSpPr>
            <a:cxnSpLocks noChangeShapeType="1"/>
            <a:stCxn id="23" idx="3"/>
            <a:endCxn id="22" idx="0"/>
          </p:cNvCxnSpPr>
          <p:nvPr/>
        </p:nvCxnSpPr>
        <p:spPr bwMode="auto">
          <a:xfrm flipH="1">
            <a:off x="6158813" y="3575990"/>
            <a:ext cx="398463" cy="525462"/>
          </a:xfrm>
          <a:prstGeom prst="straightConnector1">
            <a:avLst/>
          </a:prstGeom>
          <a:noFill/>
          <a:ln w="9525">
            <a:solidFill>
              <a:srgbClr val="000066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AutoShape 14"/>
          <p:cNvCxnSpPr>
            <a:cxnSpLocks noChangeShapeType="1"/>
          </p:cNvCxnSpPr>
          <p:nvPr/>
        </p:nvCxnSpPr>
        <p:spPr bwMode="auto">
          <a:xfrm>
            <a:off x="6778163" y="3575990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on BST</a:t>
            </a:r>
            <a:endParaRPr lang="en-US" b="1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609600" y="1303364"/>
            <a:ext cx="612648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en-US" sz="2800" b="1" dirty="0">
                <a:solidFill>
                  <a:srgbClr val="A50021"/>
                </a:solidFill>
                <a:latin typeface="Times New Roman" panose="02020603050405020304"/>
                <a:ea typeface="+mj-ea"/>
                <a:cs typeface="Times New Roman" panose="02020603050405020304"/>
              </a:rPr>
              <a:t>Operations on BST</a:t>
            </a:r>
            <a:endParaRPr lang="en-US" altLang="en-US" sz="2800" b="1" dirty="0">
              <a:solidFill>
                <a:srgbClr val="A50021"/>
              </a:solidFill>
              <a:latin typeface="Times New Roman" panose="02020603050405020304"/>
              <a:ea typeface="+mj-ea"/>
              <a:cs typeface="Times New Roman" panose="020206030504050203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6254" y="2345051"/>
            <a:ext cx="11094776" cy="26463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lnSpc>
                <a:spcPct val="95000"/>
              </a:lnSpc>
              <a:spcBef>
                <a:spcPts val="700"/>
              </a:spcBef>
              <a:buFont typeface="Arial" panose="020B0604020202020204"/>
              <a:buChar char="•"/>
              <a:tabLst>
                <a:tab pos="1026795" algn="l"/>
                <a:tab pos="1941195" algn="l"/>
                <a:tab pos="2855595" algn="l"/>
                <a:tab pos="3769995" algn="l"/>
                <a:tab pos="4684395" algn="l"/>
                <a:tab pos="5598795" algn="l"/>
                <a:tab pos="6513195" algn="l"/>
                <a:tab pos="7427595" algn="l"/>
                <a:tab pos="8341995" algn="l"/>
                <a:tab pos="9256395" algn="l"/>
                <a:tab pos="10170795" algn="l"/>
              </a:tabLst>
            </a:pPr>
            <a:r>
              <a:rPr lang="en-US" altLang="en-US" sz="2400" dirty="0">
                <a:latin typeface="Times New Roman" panose="02020603050405020304"/>
                <a:cs typeface="Times New Roman" panose="02020603050405020304"/>
              </a:rPr>
              <a:t>Inserting </a:t>
            </a:r>
            <a:r>
              <a:rPr lang="en-US" sz="2400" dirty="0">
                <a:latin typeface="Times New Roman" panose="02020603050405020304"/>
                <a:cs typeface="Times New Roman" panose="02020603050405020304"/>
              </a:rPr>
              <a:t>a Node</a:t>
            </a:r>
            <a:endParaRPr lang="en-US" dirty="0">
              <a:latin typeface="Times New Roman" panose="02020603050405020304"/>
              <a:ea typeface="Calibri" panose="020F0502020204030204"/>
              <a:cs typeface="Times New Roman" panose="02020603050405020304"/>
            </a:endParaRPr>
          </a:p>
          <a:p>
            <a:pPr marL="342900" indent="-342900">
              <a:lnSpc>
                <a:spcPct val="95000"/>
              </a:lnSpc>
              <a:spcBef>
                <a:spcPts val="700"/>
              </a:spcBef>
              <a:buFont typeface="Arial" panose="020B0604020202020204"/>
              <a:buChar char="•"/>
              <a:tabLst>
                <a:tab pos="1026795" algn="l"/>
                <a:tab pos="1941195" algn="l"/>
                <a:tab pos="2855595" algn="l"/>
                <a:tab pos="3769995" algn="l"/>
                <a:tab pos="4684395" algn="l"/>
                <a:tab pos="5598795" algn="l"/>
                <a:tab pos="6513195" algn="l"/>
                <a:tab pos="7427595" algn="l"/>
                <a:tab pos="8341995" algn="l"/>
                <a:tab pos="9256395" algn="l"/>
                <a:tab pos="10170795" algn="l"/>
              </a:tabLst>
            </a:pPr>
            <a:r>
              <a:rPr lang="en-US" altLang="en-US" sz="2400" dirty="0">
                <a:latin typeface="Times New Roman" panose="02020603050405020304"/>
                <a:cs typeface="Times New Roman" panose="02020603050405020304"/>
              </a:rPr>
              <a:t> Deleting a Node </a:t>
            </a:r>
            <a:endParaRPr lang="en-US" dirty="0">
              <a:latin typeface="Times New Roman" panose="02020603050405020304"/>
              <a:ea typeface="Calibri" panose="020F0502020204030204"/>
              <a:cs typeface="Times New Roman" panose="02020603050405020304"/>
            </a:endParaRPr>
          </a:p>
          <a:p>
            <a:pPr marL="342900" indent="-342900">
              <a:lnSpc>
                <a:spcPct val="95000"/>
              </a:lnSpc>
              <a:spcBef>
                <a:spcPts val="700"/>
              </a:spcBef>
              <a:buFont typeface="Arial" panose="020B0604020202020204"/>
              <a:buChar char="•"/>
              <a:tabLst>
                <a:tab pos="1026795" algn="l"/>
                <a:tab pos="1941195" algn="l"/>
                <a:tab pos="2855595" algn="l"/>
                <a:tab pos="3769995" algn="l"/>
                <a:tab pos="4684395" algn="l"/>
                <a:tab pos="5598795" algn="l"/>
                <a:tab pos="6513195" algn="l"/>
                <a:tab pos="7427595" algn="l"/>
                <a:tab pos="8341995" algn="l"/>
                <a:tab pos="9256395" algn="l"/>
                <a:tab pos="10170795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 of  Binary Search Tree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95000"/>
              </a:lnSpc>
              <a:spcBef>
                <a:spcPts val="700"/>
              </a:spcBef>
              <a:buFont typeface="Arial" panose="020B0604020202020204"/>
              <a:buChar char="•"/>
              <a:tabLst>
                <a:tab pos="1026795" algn="l"/>
                <a:tab pos="1941195" algn="l"/>
                <a:tab pos="2855595" algn="l"/>
                <a:tab pos="3769995" algn="l"/>
                <a:tab pos="4684395" algn="l"/>
                <a:tab pos="5598795" algn="l"/>
                <a:tab pos="6513195" algn="l"/>
                <a:tab pos="7427595" algn="l"/>
                <a:tab pos="8341995" algn="l"/>
                <a:tab pos="9256395" algn="l"/>
                <a:tab pos="10170795" algn="l"/>
              </a:tabLst>
            </a:pPr>
            <a:r>
              <a:rPr lang="en-US" altLang="en-US" sz="2400" dirty="0">
                <a:latin typeface="Times New Roman" panose="02020603050405020304"/>
                <a:cs typeface="Times New Roman" panose="02020603050405020304"/>
              </a:rPr>
              <a:t>Searching for a Node  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95000"/>
              </a:lnSpc>
              <a:spcBef>
                <a:spcPts val="700"/>
              </a:spcBef>
              <a:buFont typeface="Arial" panose="020B0604020202020204"/>
              <a:buChar char="•"/>
              <a:tabLst>
                <a:tab pos="1026795" algn="l"/>
                <a:tab pos="1941195" algn="l"/>
                <a:tab pos="2855595" algn="l"/>
                <a:tab pos="3769995" algn="l"/>
                <a:tab pos="4684395" algn="l"/>
                <a:tab pos="5598795" algn="l"/>
                <a:tab pos="6513195" algn="l"/>
                <a:tab pos="7427595" algn="l"/>
                <a:tab pos="8341995" algn="l"/>
                <a:tab pos="9256395" algn="l"/>
                <a:tab pos="10170795" algn="l"/>
              </a:tabLst>
            </a:pPr>
            <a:r>
              <a:rPr lang="en-US" altLang="en-US" sz="2400" dirty="0">
                <a:latin typeface="Times New Roman" panose="02020603050405020304"/>
                <a:cs typeface="Times New Roman" panose="02020603050405020304"/>
              </a:rPr>
              <a:t>Finding the Smallest Node </a:t>
            </a:r>
            <a:endParaRPr lang="en-US" altLang="en-US" sz="24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lnSpc>
                <a:spcPct val="95000"/>
              </a:lnSpc>
              <a:spcBef>
                <a:spcPts val="700"/>
              </a:spcBef>
              <a:buFont typeface="Arial" panose="020B0604020202020204"/>
              <a:buChar char="•"/>
              <a:tabLst>
                <a:tab pos="1026795" algn="l"/>
                <a:tab pos="1941195" algn="l"/>
                <a:tab pos="2855595" algn="l"/>
                <a:tab pos="3769995" algn="l"/>
                <a:tab pos="4684395" algn="l"/>
                <a:tab pos="5598795" algn="l"/>
                <a:tab pos="6513195" algn="l"/>
                <a:tab pos="7427595" algn="l"/>
                <a:tab pos="8341995" algn="l"/>
                <a:tab pos="9256395" algn="l"/>
                <a:tab pos="10170795" algn="l"/>
              </a:tabLst>
            </a:pPr>
            <a:r>
              <a:rPr lang="en-US" altLang="en-US" sz="2400" dirty="0">
                <a:latin typeface="Times New Roman" panose="02020603050405020304"/>
                <a:cs typeface="Times New Roman" panose="02020603050405020304"/>
              </a:rPr>
              <a:t> Finding the Largest Node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BST Traversal</a:t>
            </a:r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609600" y="743801"/>
            <a:ext cx="612648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en-US" sz="2800" b="1" dirty="0">
                <a:solidFill>
                  <a:srgbClr val="A50021"/>
                </a:solidFill>
                <a:latin typeface="Times New Roman" panose="02020603050405020304"/>
                <a:ea typeface="+mj-ea"/>
                <a:cs typeface="Times New Roman" panose="02020603050405020304"/>
              </a:rPr>
              <a:t>BST Traversal</a:t>
            </a:r>
            <a:endParaRPr lang="en-US" altLang="en-US" sz="2800" b="1" dirty="0">
              <a:solidFill>
                <a:srgbClr val="A50021"/>
              </a:solidFill>
              <a:latin typeface="Times New Roman" panose="02020603050405020304"/>
              <a:ea typeface="+mj-ea"/>
              <a:cs typeface="Times New Roman" panose="020206030504050203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1280523"/>
            <a:ext cx="9791114" cy="4580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Wingdings" panose="05000000000000000000" pitchFamily="2" charset="2"/>
              <a:buChar char="q"/>
              <a:tabLst>
                <a:tab pos="1026795" algn="l"/>
                <a:tab pos="1941195" algn="l"/>
                <a:tab pos="2855595" algn="l"/>
                <a:tab pos="3769995" algn="l"/>
                <a:tab pos="4684395" algn="l"/>
                <a:tab pos="5598795" algn="l"/>
                <a:tab pos="6513195" algn="l"/>
                <a:tab pos="7427595" algn="l"/>
                <a:tab pos="8341995" algn="l"/>
                <a:tab pos="9256395" algn="l"/>
                <a:tab pos="10170795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“traversal” we mean visiting all the nodes in a graph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Wingdings" panose="05000000000000000000" pitchFamily="2" charset="2"/>
              <a:buChar char="q"/>
              <a:tabLst>
                <a:tab pos="1026795" algn="l"/>
                <a:tab pos="1941195" algn="l"/>
                <a:tab pos="2855595" algn="l"/>
                <a:tab pos="3769995" algn="l"/>
                <a:tab pos="4684395" algn="l"/>
                <a:tab pos="5598795" algn="l"/>
                <a:tab pos="6513195" algn="l"/>
                <a:tab pos="7427595" algn="l"/>
                <a:tab pos="8341995" algn="l"/>
                <a:tab pos="9256395" algn="l"/>
                <a:tab pos="10170795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 strategies can be speciﬁed by the ordering of the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tree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objects to visit: the current node, the left subtree, and the right subtree.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Wingdings" panose="05000000000000000000" pitchFamily="2" charset="2"/>
              <a:buChar char="q"/>
              <a:tabLst>
                <a:tab pos="1026795" algn="l"/>
                <a:tab pos="1941195" algn="l"/>
                <a:tab pos="2855595" algn="l"/>
                <a:tab pos="3769995" algn="l"/>
                <a:tab pos="4684395" algn="l"/>
                <a:tab pos="5598795" algn="l"/>
                <a:tab pos="6513195" algn="l"/>
                <a:tab pos="7427595" algn="l"/>
                <a:tab pos="8341995" algn="l"/>
                <a:tab pos="9256395" algn="l"/>
                <a:tab pos="10170795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assume the  left subtree always comes before the right subtree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Monotype Sorts" pitchFamily="2" charset="2"/>
              <a:buNone/>
              <a:tabLst>
                <a:tab pos="1026795" algn="l"/>
                <a:tab pos="1941195" algn="l"/>
                <a:tab pos="2855595" algn="l"/>
                <a:tab pos="3769995" algn="l"/>
                <a:tab pos="4684395" algn="l"/>
                <a:tab pos="5598795" algn="l"/>
                <a:tab pos="6513195" algn="l"/>
                <a:tab pos="7427595" algn="l"/>
                <a:tab pos="8341995" algn="l"/>
                <a:tab pos="9256395" algn="l"/>
                <a:tab pos="10170795" algn="l"/>
              </a:tabLst>
            </a:pP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Monotype Sorts" pitchFamily="2" charset="2"/>
              <a:buNone/>
              <a:tabLst>
                <a:tab pos="1026795" algn="l"/>
                <a:tab pos="1941195" algn="l"/>
                <a:tab pos="2855595" algn="l"/>
                <a:tab pos="3769995" algn="l"/>
                <a:tab pos="4684395" algn="l"/>
                <a:tab pos="5598795" algn="l"/>
                <a:tab pos="6513195" algn="l"/>
                <a:tab pos="7427595" algn="l"/>
                <a:tab pos="8341995" algn="l"/>
                <a:tab pos="9256395" algn="l"/>
                <a:tab pos="10170795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there are three strategies.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Monotype Sorts" pitchFamily="2" charset="2"/>
              <a:buNone/>
              <a:tabLst>
                <a:tab pos="1026795" algn="l"/>
                <a:tab pos="1941195" algn="l"/>
                <a:tab pos="2855595" algn="l"/>
                <a:tab pos="3769995" algn="l"/>
                <a:tab pos="4684395" algn="l"/>
                <a:tab pos="5598795" algn="l"/>
                <a:tab pos="6513195" algn="l"/>
                <a:tab pos="7427595" algn="l"/>
                <a:tab pos="8341995" algn="l"/>
                <a:tab pos="9256395" algn="l"/>
                <a:tab pos="10170795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Inorder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ordering is: the left subtree, the current node, the right subtree.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Monotype Sorts" pitchFamily="2" charset="2"/>
              <a:buNone/>
              <a:tabLst>
                <a:tab pos="1026795" algn="l"/>
                <a:tab pos="1941195" algn="l"/>
                <a:tab pos="2855595" algn="l"/>
                <a:tab pos="3769995" algn="l"/>
                <a:tab pos="4684395" algn="l"/>
                <a:tab pos="5598795" algn="l"/>
                <a:tab pos="6513195" algn="l"/>
                <a:tab pos="7427595" algn="l"/>
                <a:tab pos="8341995" algn="l"/>
                <a:tab pos="9256395" algn="l"/>
                <a:tab pos="10170795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Preorder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ordering is: the current node, the left subtree, the right subtree.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Monotype Sorts" pitchFamily="2" charset="2"/>
              <a:buNone/>
              <a:tabLst>
                <a:tab pos="1026795" algn="l"/>
                <a:tab pos="1941195" algn="l"/>
                <a:tab pos="2855595" algn="l"/>
                <a:tab pos="3769995" algn="l"/>
                <a:tab pos="4684395" algn="l"/>
                <a:tab pos="5598795" algn="l"/>
                <a:tab pos="6513195" algn="l"/>
                <a:tab pos="7427595" algn="l"/>
                <a:tab pos="8341995" algn="l"/>
                <a:tab pos="9256395" algn="l"/>
                <a:tab pos="10170795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Postorder.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ordering is: the left subtree, the right subtree, the current node.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BST Traversal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 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609600" y="743801"/>
            <a:ext cx="6126480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en-US" sz="2800" b="1" dirty="0">
                <a:solidFill>
                  <a:srgbClr val="A50021"/>
                </a:solidFill>
                <a:latin typeface="Times New Roman" panose="02020603050405020304"/>
                <a:ea typeface="+mj-ea"/>
                <a:cs typeface="Times New Roman" panose="02020603050405020304"/>
              </a:rPr>
              <a:t>Preorder Traversal  Pseudocode</a:t>
            </a:r>
            <a:endParaRPr lang="en-US" altLang="en-US" sz="2800" b="1" dirty="0">
              <a:solidFill>
                <a:srgbClr val="A50021"/>
              </a:solidFill>
              <a:latin typeface="Times New Roman" panose="02020603050405020304"/>
              <a:ea typeface="+mj-ea"/>
              <a:cs typeface="Times New Roman" panose="02020603050405020304"/>
            </a:endParaRPr>
          </a:p>
          <a:p>
            <a:r>
              <a:rPr lang="en-US" altLang="en-US" sz="2800" b="1" dirty="0">
                <a:solidFill>
                  <a:srgbClr val="A5002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</a:t>
            </a:r>
            <a:endParaRPr lang="en-US" altLang="en-US" sz="28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1280523"/>
            <a:ext cx="9791114" cy="529375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tabLst>
                <a:tab pos="1026795" algn="l"/>
                <a:tab pos="1941195" algn="l"/>
                <a:tab pos="2855595" algn="l"/>
                <a:tab pos="3769995" algn="l"/>
                <a:tab pos="4684395" algn="l"/>
                <a:tab pos="5598795" algn="l"/>
                <a:tab pos="6513195" algn="l"/>
                <a:tab pos="7427595" algn="l"/>
                <a:tab pos="8341995" algn="l"/>
                <a:tab pos="9256395" algn="l"/>
                <a:tab pos="10170795" algn="l"/>
              </a:tabLst>
            </a:pPr>
            <a:r>
              <a:rPr lang="en-US" sz="2400" dirty="0">
                <a:latin typeface="Times New Roman" panose="02020603050405020304"/>
                <a:cs typeface="Times New Roman" panose="02020603050405020304"/>
              </a:rPr>
              <a:t>Preorder-Walk(x)  :</a:t>
            </a:r>
            <a:endParaRPr lang="en-US" dirty="0"/>
          </a:p>
          <a:p>
            <a:pPr>
              <a:tabLst>
                <a:tab pos="1026795" algn="l"/>
                <a:tab pos="1941195" algn="l"/>
                <a:tab pos="2855595" algn="l"/>
                <a:tab pos="3769995" algn="l"/>
                <a:tab pos="4684395" algn="l"/>
                <a:tab pos="5598795" algn="l"/>
                <a:tab pos="6513195" algn="l"/>
                <a:tab pos="7427595" algn="l"/>
                <a:tab pos="8341995" algn="l"/>
                <a:tab pos="9256395" algn="l"/>
                <a:tab pos="10170795" algn="l"/>
              </a:tabLst>
            </a:pPr>
            <a:r>
              <a:rPr lang="en-US" sz="2400" dirty="0">
                <a:latin typeface="Times New Roman" panose="02020603050405020304"/>
                <a:cs typeface="Times New Roman" panose="02020603050405020304"/>
              </a:rPr>
              <a:t>1: if x = nil then return  </a:t>
            </a:r>
            <a:endParaRPr lang="en-US" dirty="0"/>
          </a:p>
          <a:p>
            <a:pPr>
              <a:tabLst>
                <a:tab pos="1026795" algn="l"/>
                <a:tab pos="1941195" algn="l"/>
                <a:tab pos="2855595" algn="l"/>
                <a:tab pos="3769995" algn="l"/>
                <a:tab pos="4684395" algn="l"/>
                <a:tab pos="5598795" algn="l"/>
                <a:tab pos="6513195" algn="l"/>
                <a:tab pos="7427595" algn="l"/>
                <a:tab pos="8341995" algn="l"/>
                <a:tab pos="9256395" algn="l"/>
                <a:tab pos="10170795" algn="l"/>
              </a:tabLst>
            </a:pPr>
            <a:r>
              <a:rPr lang="en-US" sz="2400" dirty="0">
                <a:latin typeface="Times New Roman" panose="02020603050405020304"/>
                <a:cs typeface="Times New Roman" panose="02020603050405020304"/>
              </a:rPr>
              <a:t>2: Print key[x]  </a:t>
            </a:r>
            <a:endParaRPr lang="en-US" dirty="0"/>
          </a:p>
          <a:p>
            <a:pPr>
              <a:tabLst>
                <a:tab pos="1026795" algn="l"/>
                <a:tab pos="1941195" algn="l"/>
                <a:tab pos="2855595" algn="l"/>
                <a:tab pos="3769995" algn="l"/>
                <a:tab pos="4684395" algn="l"/>
                <a:tab pos="5598795" algn="l"/>
                <a:tab pos="6513195" algn="l"/>
                <a:tab pos="7427595" algn="l"/>
                <a:tab pos="8341995" algn="l"/>
                <a:tab pos="9256395" algn="l"/>
                <a:tab pos="10170795" algn="l"/>
              </a:tabLst>
            </a:pPr>
            <a:r>
              <a:rPr lang="en-US" sz="2400" dirty="0">
                <a:latin typeface="Times New Roman" panose="02020603050405020304"/>
                <a:cs typeface="Times New Roman" panose="02020603050405020304"/>
              </a:rPr>
              <a:t>3.Preorder-Walk(left[x])  </a:t>
            </a:r>
            <a:endParaRPr lang="en-US" dirty="0"/>
          </a:p>
          <a:p>
            <a:pPr>
              <a:tabLst>
                <a:tab pos="1026795" algn="l"/>
                <a:tab pos="1941195" algn="l"/>
                <a:tab pos="2855595" algn="l"/>
                <a:tab pos="3769995" algn="l"/>
                <a:tab pos="4684395" algn="l"/>
                <a:tab pos="5598795" algn="l"/>
                <a:tab pos="6513195" algn="l"/>
                <a:tab pos="7427595" algn="l"/>
                <a:tab pos="8341995" algn="l"/>
                <a:tab pos="9256395" algn="l"/>
                <a:tab pos="10170795" algn="l"/>
              </a:tabLst>
            </a:pPr>
            <a:r>
              <a:rPr lang="en-US" sz="2400" dirty="0">
                <a:latin typeface="Times New Roman" panose="02020603050405020304"/>
                <a:cs typeface="Times New Roman" panose="02020603050405020304"/>
              </a:rPr>
              <a:t>4: Preorder-Walk(right[x]) </a:t>
            </a:r>
            <a:endParaRPr lang="en-US" dirty="0"/>
          </a:p>
          <a:p>
            <a:pPr>
              <a:tabLst>
                <a:tab pos="1026795" algn="l"/>
                <a:tab pos="1941195" algn="l"/>
                <a:tab pos="2855595" algn="l"/>
                <a:tab pos="3769995" algn="l"/>
                <a:tab pos="4684395" algn="l"/>
                <a:tab pos="5598795" algn="l"/>
                <a:tab pos="6513195" algn="l"/>
                <a:tab pos="7427595" algn="l"/>
                <a:tab pos="8341995" algn="l"/>
                <a:tab pos="9256395" algn="l"/>
                <a:tab pos="10170795" algn="l"/>
              </a:tabLst>
            </a:pPr>
            <a:endParaRPr lang="en-US" sz="2400" dirty="0">
              <a:latin typeface="Times New Roman" panose="02020603050405020304"/>
              <a:cs typeface="Times New Roman" panose="02020603050405020304"/>
            </a:endParaRPr>
          </a:p>
          <a:p>
            <a:pPr>
              <a:tabLst>
                <a:tab pos="1026795" algn="l"/>
                <a:tab pos="1941195" algn="l"/>
                <a:tab pos="2855595" algn="l"/>
                <a:tab pos="3769995" algn="l"/>
                <a:tab pos="4684395" algn="l"/>
                <a:tab pos="5598795" algn="l"/>
                <a:tab pos="6513195" algn="l"/>
                <a:tab pos="7427595" algn="l"/>
                <a:tab pos="8341995" algn="l"/>
                <a:tab pos="9256395" algn="l"/>
                <a:tab pos="10170795" algn="l"/>
              </a:tabLst>
            </a:pPr>
            <a:r>
              <a:rPr lang="en-US" sz="2800" b="1" dirty="0">
                <a:solidFill>
                  <a:srgbClr val="A50021"/>
                </a:solidFill>
                <a:latin typeface="Times New Roman" panose="02020603050405020304"/>
                <a:cs typeface="Times New Roman" panose="02020603050405020304"/>
              </a:rPr>
              <a:t>Postorder Traversal  Pseudocode:</a:t>
            </a:r>
            <a:br>
              <a:rPr lang="en-US" sz="2800" b="1" dirty="0">
                <a:solidFill>
                  <a:srgbClr val="A50021"/>
                </a:solidFill>
                <a:latin typeface="Times New Roman" panose="02020603050405020304"/>
                <a:cs typeface="Times New Roman" panose="02020603050405020304"/>
              </a:rPr>
            </a:br>
            <a:r>
              <a:rPr lang="en-US" sz="24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Post order-Walk(x)  </a:t>
            </a:r>
            <a:endParaRPr lang="en-US" sz="2800" dirty="0">
              <a:solidFill>
                <a:srgbClr val="A50021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tabLst>
                <a:tab pos="1026795" algn="l"/>
                <a:tab pos="1941195" algn="l"/>
                <a:tab pos="2855595" algn="l"/>
                <a:tab pos="3769995" algn="l"/>
                <a:tab pos="4684395" algn="l"/>
                <a:tab pos="5598795" algn="l"/>
                <a:tab pos="6513195" algn="l"/>
                <a:tab pos="7427595" algn="l"/>
                <a:tab pos="8341995" algn="l"/>
                <a:tab pos="9256395" algn="l"/>
                <a:tab pos="10170795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1: if x = nil then return  </a:t>
            </a:r>
            <a:endParaRPr lang="en-US" dirty="0"/>
          </a:p>
          <a:p>
            <a:pPr>
              <a:tabLst>
                <a:tab pos="1026795" algn="l"/>
                <a:tab pos="1941195" algn="l"/>
                <a:tab pos="2855595" algn="l"/>
                <a:tab pos="3769995" algn="l"/>
                <a:tab pos="4684395" algn="l"/>
                <a:tab pos="5598795" algn="l"/>
                <a:tab pos="6513195" algn="l"/>
                <a:tab pos="7427595" algn="l"/>
                <a:tab pos="8341995" algn="l"/>
                <a:tab pos="9256395" algn="l"/>
                <a:tab pos="10170795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2: Preorder-Walk(left[x])  </a:t>
            </a:r>
            <a:endParaRPr lang="en-US" dirty="0"/>
          </a:p>
          <a:p>
            <a:pPr>
              <a:tabLst>
                <a:tab pos="1026795" algn="l"/>
                <a:tab pos="1941195" algn="l"/>
                <a:tab pos="2855595" algn="l"/>
                <a:tab pos="3769995" algn="l"/>
                <a:tab pos="4684395" algn="l"/>
                <a:tab pos="5598795" algn="l"/>
                <a:tab pos="6513195" algn="l"/>
                <a:tab pos="7427595" algn="l"/>
                <a:tab pos="8341995" algn="l"/>
                <a:tab pos="9256395" algn="l"/>
                <a:tab pos="10170795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3: Preorder-Walk(right[x]) </a:t>
            </a:r>
            <a:endParaRPr lang="en-US" dirty="0"/>
          </a:p>
          <a:p>
            <a:pPr>
              <a:tabLst>
                <a:tab pos="1026795" algn="l"/>
                <a:tab pos="1941195" algn="l"/>
                <a:tab pos="2855595" algn="l"/>
                <a:tab pos="3769995" algn="l"/>
                <a:tab pos="4684395" algn="l"/>
                <a:tab pos="5598795" algn="l"/>
                <a:tab pos="6513195" algn="l"/>
                <a:tab pos="7427595" algn="l"/>
                <a:tab pos="8341995" algn="l"/>
                <a:tab pos="9256395" algn="l"/>
                <a:tab pos="10170795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4: Print key[x]  </a:t>
            </a:r>
            <a:endParaRPr lang="en-US" dirty="0"/>
          </a:p>
          <a:p>
            <a:pPr>
              <a:tabLst>
                <a:tab pos="1026795" algn="l"/>
                <a:tab pos="1941195" algn="l"/>
                <a:tab pos="2855595" algn="l"/>
                <a:tab pos="3769995" algn="l"/>
                <a:tab pos="4684395" algn="l"/>
                <a:tab pos="5598795" algn="l"/>
                <a:tab pos="6513195" algn="l"/>
                <a:tab pos="7427595" algn="l"/>
                <a:tab pos="8341995" algn="l"/>
                <a:tab pos="9256395" algn="l"/>
                <a:tab pos="10170795" algn="l"/>
              </a:tabLst>
            </a:pPr>
            <a:endParaRPr lang="en-US" sz="2800" b="1" dirty="0">
              <a:latin typeface="Times New Roman" panose="02020603050405020304"/>
              <a:cs typeface="Times New Roman" panose="02020603050405020304"/>
            </a:endParaRPr>
          </a:p>
          <a:p>
            <a:pPr>
              <a:tabLst>
                <a:tab pos="1026795" algn="l"/>
                <a:tab pos="1941195" algn="l"/>
                <a:tab pos="2855595" algn="l"/>
                <a:tab pos="3769995" algn="l"/>
                <a:tab pos="4684395" algn="l"/>
                <a:tab pos="5598795" algn="l"/>
                <a:tab pos="6513195" algn="l"/>
                <a:tab pos="7427595" algn="l"/>
                <a:tab pos="8341995" algn="l"/>
                <a:tab pos="9256395" algn="l"/>
                <a:tab pos="10170795" algn="l"/>
              </a:tabLst>
            </a:pPr>
            <a:endParaRPr lang="en-US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877605" y="121131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dirty="0">
                <a:ln w="0"/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BST Traversal</a:t>
            </a:r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609600" y="743801"/>
            <a:ext cx="61264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800" b="1" dirty="0">
                <a:solidFill>
                  <a:srgbClr val="A5002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Inorder Traversal  Pseudocode</a:t>
            </a:r>
            <a:endParaRPr lang="en-US" altLang="en-US" sz="28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en-US" sz="2800" b="1" dirty="0">
                <a:solidFill>
                  <a:srgbClr val="A5002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</a:t>
            </a:r>
            <a:endParaRPr lang="en-US" altLang="en-US" sz="28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1280523"/>
            <a:ext cx="9791114" cy="26463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Monotype Sorts" pitchFamily="2" charset="2"/>
              <a:buNone/>
              <a:tabLst>
                <a:tab pos="1026795" algn="l"/>
                <a:tab pos="1941195" algn="l"/>
                <a:tab pos="2855595" algn="l"/>
                <a:tab pos="3769995" algn="l"/>
                <a:tab pos="4684395" algn="l"/>
                <a:tab pos="5598795" algn="l"/>
                <a:tab pos="6513195" algn="l"/>
                <a:tab pos="7427595" algn="l"/>
                <a:tab pos="8341995" algn="l"/>
                <a:tab pos="9256395" algn="l"/>
                <a:tab pos="10170795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Inorder-Walk(x) 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Monotype Sorts" pitchFamily="2" charset="2"/>
              <a:buNone/>
              <a:tabLst>
                <a:tab pos="1026795" algn="l"/>
                <a:tab pos="1941195" algn="l"/>
                <a:tab pos="2855595" algn="l"/>
                <a:tab pos="3769995" algn="l"/>
                <a:tab pos="4684395" algn="l"/>
                <a:tab pos="5598795" algn="l"/>
                <a:tab pos="6513195" algn="l"/>
                <a:tab pos="7427595" algn="l"/>
                <a:tab pos="8341995" algn="l"/>
                <a:tab pos="9256395" algn="l"/>
                <a:tab pos="10170795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1: if x = nil then return 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Monotype Sorts" pitchFamily="2" charset="2"/>
              <a:buNone/>
              <a:tabLst>
                <a:tab pos="1026795" algn="l"/>
                <a:tab pos="1941195" algn="l"/>
                <a:tab pos="2855595" algn="l"/>
                <a:tab pos="3769995" algn="l"/>
                <a:tab pos="4684395" algn="l"/>
                <a:tab pos="5598795" algn="l"/>
                <a:tab pos="6513195" algn="l"/>
                <a:tab pos="7427595" algn="l"/>
                <a:tab pos="8341995" algn="l"/>
                <a:tab pos="9256395" algn="l"/>
                <a:tab pos="10170795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2: Inorder-Walk(left[x]) 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Monotype Sorts" pitchFamily="2" charset="2"/>
              <a:buNone/>
              <a:tabLst>
                <a:tab pos="1026795" algn="l"/>
                <a:tab pos="1941195" algn="l"/>
                <a:tab pos="2855595" algn="l"/>
                <a:tab pos="3769995" algn="l"/>
                <a:tab pos="4684395" algn="l"/>
                <a:tab pos="5598795" algn="l"/>
                <a:tab pos="6513195" algn="l"/>
                <a:tab pos="7427595" algn="l"/>
                <a:tab pos="8341995" algn="l"/>
                <a:tab pos="9256395" algn="l"/>
                <a:tab pos="10170795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3: Print key[x] 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Monotype Sorts" pitchFamily="2" charset="2"/>
              <a:buNone/>
              <a:tabLst>
                <a:tab pos="1026795" algn="l"/>
                <a:tab pos="1941195" algn="l"/>
                <a:tab pos="2855595" algn="l"/>
                <a:tab pos="3769995" algn="l"/>
                <a:tab pos="4684395" algn="l"/>
                <a:tab pos="5598795" algn="l"/>
                <a:tab pos="6513195" algn="l"/>
                <a:tab pos="7427595" algn="l"/>
                <a:tab pos="8341995" algn="l"/>
                <a:tab pos="9256395" algn="l"/>
                <a:tab pos="10170795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4: Inorder-Walk(right[x])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5000"/>
              </a:lnSpc>
              <a:spcBef>
                <a:spcPts val="700"/>
              </a:spcBef>
              <a:tabLst>
                <a:tab pos="1026795" algn="l"/>
                <a:tab pos="1941195" algn="l"/>
                <a:tab pos="2855595" algn="l"/>
                <a:tab pos="3769995" algn="l"/>
                <a:tab pos="4684395" algn="l"/>
                <a:tab pos="5598795" algn="l"/>
                <a:tab pos="6513195" algn="l"/>
                <a:tab pos="7427595" algn="l"/>
                <a:tab pos="8341995" algn="l"/>
                <a:tab pos="9256395" algn="l"/>
                <a:tab pos="10170795" algn="l"/>
              </a:tabLs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652" y="4217159"/>
            <a:ext cx="5219971" cy="2244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360226" y="3964678"/>
            <a:ext cx="10499678" cy="13849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en-US" sz="2800" b="1" dirty="0">
                <a:latin typeface="Times New Roman" panose="02020603050405020304"/>
                <a:ea typeface="+mj-ea"/>
                <a:cs typeface="Times New Roman" panose="02020603050405020304"/>
              </a:rPr>
              <a:t>What is the outcome of </a:t>
            </a:r>
            <a:r>
              <a:rPr lang="en-US" altLang="en-US" sz="2800" b="1" dirty="0" smtClean="0">
                <a:latin typeface="Times New Roman" panose="02020603050405020304"/>
                <a:ea typeface="+mj-ea"/>
                <a:cs typeface="Times New Roman" panose="02020603050405020304"/>
              </a:rPr>
              <a:t>in-order </a:t>
            </a:r>
            <a:r>
              <a:rPr lang="en-US" altLang="en-US" sz="2800" b="1" dirty="0">
                <a:latin typeface="Times New Roman" panose="02020603050405020304"/>
                <a:ea typeface="+mj-ea"/>
                <a:cs typeface="Times New Roman" panose="02020603050405020304"/>
              </a:rPr>
              <a:t>traversal on this BST? </a:t>
            </a:r>
            <a:endParaRPr lang="en-US" altLang="en-US" sz="28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en-US" sz="2800" b="1" dirty="0">
                <a:latin typeface="Times New Roman" panose="02020603050405020304"/>
                <a:ea typeface="+mj-ea"/>
                <a:cs typeface="Times New Roman" panose="02020603050405020304"/>
              </a:rPr>
              <a:t>How about postorder traversal and preorder traversal?</a:t>
            </a:r>
            <a:endParaRPr lang="en-US" altLang="en-US" sz="2800" b="1" dirty="0">
              <a:latin typeface="Times New Roman" panose="02020603050405020304"/>
              <a:ea typeface="+mj-ea"/>
              <a:cs typeface="Times New Roman" panose="02020603050405020304"/>
            </a:endParaRPr>
          </a:p>
          <a:p>
            <a:endParaRPr lang="en-US" altLang="en-US" sz="28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787" y="1338787"/>
            <a:ext cx="5686425" cy="2305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360226" y="1562668"/>
            <a:ext cx="10499678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da-DK" altLang="en-US" sz="2800" b="1" dirty="0" smtClean="0">
                <a:latin typeface="Times New Roman" panose="02020603050405020304"/>
                <a:ea typeface="+mj-ea"/>
                <a:cs typeface="Times New Roman" panose="02020603050405020304"/>
              </a:rPr>
              <a:t>Inorder </a:t>
            </a:r>
            <a:r>
              <a:rPr lang="da-DK" altLang="en-US" sz="2800" b="1" dirty="0">
                <a:latin typeface="Times New Roman" panose="02020603050405020304"/>
                <a:ea typeface="+mj-ea"/>
                <a:cs typeface="Times New Roman" panose="02020603050405020304"/>
              </a:rPr>
              <a:t>traversal : </a:t>
            </a:r>
            <a:r>
              <a:rPr lang="da-DK" altLang="en-US" sz="2800" dirty="0">
                <a:latin typeface="Times New Roman" panose="02020603050405020304"/>
                <a:ea typeface="+mj-ea"/>
                <a:cs typeface="Times New Roman" panose="02020603050405020304"/>
              </a:rPr>
              <a:t>2, 3, 4, 5, 6, 7, 8 , 9, 11, 12, 15, 19, 20.</a:t>
            </a:r>
            <a:endParaRPr lang="da-DK" altLang="en-US" sz="2800" dirty="0">
              <a:latin typeface="Times New Roman" panose="02020603050405020304"/>
              <a:ea typeface="+mj-ea"/>
              <a:cs typeface="Times New Roman" panose="02020603050405020304"/>
            </a:endParaRPr>
          </a:p>
          <a:p>
            <a:endParaRPr lang="en-US" altLang="en-US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8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en-US" sz="2800" b="1" dirty="0">
                <a:latin typeface="Times New Roman" panose="02020603050405020304"/>
                <a:ea typeface="+mj-ea"/>
                <a:cs typeface="Times New Roman" panose="02020603050405020304"/>
              </a:rPr>
              <a:t>Preorder traversal : </a:t>
            </a:r>
            <a:r>
              <a:rPr lang="en-US" altLang="en-US" sz="2800" dirty="0">
                <a:latin typeface="Times New Roman" panose="02020603050405020304"/>
                <a:ea typeface="+mj-ea"/>
                <a:cs typeface="Times New Roman" panose="02020603050405020304"/>
              </a:rPr>
              <a:t>7, 4, 2, 3, 6, 5, 12, 9, 8, 11, 19, 15, 20.</a:t>
            </a:r>
            <a:endParaRPr lang="en-US" altLang="en-US" sz="2800" dirty="0">
              <a:latin typeface="Times New Roman" panose="02020603050405020304"/>
              <a:ea typeface="+mj-ea"/>
              <a:cs typeface="Times New Roman" panose="02020603050405020304"/>
            </a:endParaRPr>
          </a:p>
          <a:p>
            <a:endParaRPr lang="en-US" altLang="en-US" sz="28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8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en-US" sz="2800" b="1" dirty="0" err="1">
                <a:latin typeface="Times New Roman" panose="02020603050405020304"/>
                <a:ea typeface="+mj-ea"/>
                <a:cs typeface="Times New Roman" panose="02020603050405020304"/>
              </a:rPr>
              <a:t>Postorder</a:t>
            </a:r>
            <a:r>
              <a:rPr lang="en-US" altLang="en-US" sz="2800" b="1" dirty="0">
                <a:latin typeface="Times New Roman" panose="02020603050405020304"/>
                <a:ea typeface="+mj-ea"/>
                <a:cs typeface="Times New Roman" panose="02020603050405020304"/>
              </a:rPr>
              <a:t> traversal : </a:t>
            </a:r>
            <a:r>
              <a:rPr lang="en-US" altLang="en-US" sz="2800" dirty="0">
                <a:latin typeface="Times New Roman" panose="02020603050405020304"/>
                <a:ea typeface="+mj-ea"/>
                <a:cs typeface="Times New Roman" panose="02020603050405020304"/>
              </a:rPr>
              <a:t>3, 2, 5, 6, 4, 8, 11, 9, 15, 20, 19, 12, 7.</a:t>
            </a:r>
            <a:endParaRPr lang="en-US" altLang="en-US" sz="2800" dirty="0">
              <a:latin typeface="Times New Roman" panose="02020603050405020304"/>
              <a:ea typeface="+mj-ea"/>
              <a:cs typeface="Times New Roman" panose="02020603050405020304"/>
            </a:endParaRPr>
          </a:p>
          <a:p>
            <a:endParaRPr lang="en-US" altLang="en-US" sz="28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/>
          <p:cNvSpPr txBox="1"/>
          <p:nvPr/>
        </p:nvSpPr>
        <p:spPr>
          <a:xfrm>
            <a:off x="1083212" y="1252025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52732" y="1252025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205132" y="1404425"/>
            <a:ext cx="10086536" cy="56950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en-US" sz="2400" b="1" dirty="0">
                <a:latin typeface="Times New Roman" panose="02020603050405020304"/>
                <a:ea typeface="+mj-ea"/>
                <a:cs typeface="Times New Roman" panose="02020603050405020304"/>
              </a:rPr>
              <a:t>BST Insertion </a:t>
            </a:r>
            <a:endParaRPr 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algn="l"/>
            <a:r>
              <a:rPr lang="en-US" sz="2400" b="0" i="0" dirty="0">
                <a:effectLst/>
                <a:latin typeface="Times New Roman" panose="02020603050405020304"/>
                <a:cs typeface="Times New Roman" panose="02020603050405020304"/>
              </a:rPr>
              <a:t>1. Create a new BST node and assign values to it.</a:t>
            </a:r>
            <a:endParaRPr lang="en-US" sz="2400" b="0" i="0" dirty="0">
              <a:effectLst/>
              <a:latin typeface="Times New Roman" panose="02020603050405020304"/>
              <a:cs typeface="Times New Roman" panose="02020603050405020304"/>
            </a:endParaRPr>
          </a:p>
          <a:p>
            <a:pPr algn="l"/>
            <a:r>
              <a:rPr lang="en-US" sz="2400" b="0" i="0" dirty="0">
                <a:effectLst/>
                <a:latin typeface="Times New Roman" panose="02020603050405020304"/>
                <a:cs typeface="Times New Roman" panose="02020603050405020304"/>
              </a:rPr>
              <a:t>2. insert(node, key)</a:t>
            </a:r>
            <a:endParaRPr lang="en-US" sz="2400" b="0" i="0" dirty="0">
              <a:effectLst/>
              <a:latin typeface="Times New Roman" panose="02020603050405020304"/>
              <a:cs typeface="Times New Roman" panose="02020603050405020304"/>
            </a:endParaRPr>
          </a:p>
          <a:p>
            <a:pPr algn="l"/>
            <a:r>
              <a:rPr lang="en-US" sz="2400" b="0" i="0" dirty="0">
                <a:effectLst/>
                <a:latin typeface="Times New Roman" panose="02020603050405020304"/>
                <a:cs typeface="Times New Roman" panose="02020603050405020304"/>
              </a:rPr>
              <a:t>     </a:t>
            </a:r>
            <a:r>
              <a:rPr lang="en-US" sz="2400" b="0" i="0" dirty="0" err="1">
                <a:effectLst/>
                <a:latin typeface="Times New Roman" panose="02020603050405020304"/>
                <a:cs typeface="Times New Roman" panose="02020603050405020304"/>
              </a:rPr>
              <a:t>i</a:t>
            </a:r>
            <a:r>
              <a:rPr lang="en-US" sz="2400" b="0" i="0" dirty="0">
                <a:effectLst/>
                <a:latin typeface="Times New Roman" panose="02020603050405020304"/>
                <a:cs typeface="Times New Roman" panose="02020603050405020304"/>
              </a:rPr>
              <a:t>) If root == NULL,</a:t>
            </a:r>
            <a:endParaRPr lang="en-US" sz="2400" b="0" i="0" dirty="0">
              <a:effectLst/>
              <a:latin typeface="Times New Roman" panose="02020603050405020304"/>
              <a:cs typeface="Times New Roman" panose="02020603050405020304"/>
            </a:endParaRPr>
          </a:p>
          <a:p>
            <a:pPr algn="l"/>
            <a:r>
              <a:rPr lang="en-US" sz="2400" b="0" i="0" dirty="0">
                <a:effectLst/>
                <a:latin typeface="Times New Roman" panose="02020603050405020304"/>
                <a:cs typeface="Times New Roman" panose="02020603050405020304"/>
              </a:rPr>
              <a:t>         return the new node to the calling function.</a:t>
            </a:r>
            <a:endParaRPr lang="en-US" sz="2400" b="0" i="0" dirty="0">
              <a:effectLst/>
              <a:latin typeface="Times New Roman" panose="02020603050405020304"/>
              <a:cs typeface="Times New Roman" panose="02020603050405020304"/>
            </a:endParaRPr>
          </a:p>
          <a:p>
            <a:pPr algn="l"/>
            <a:r>
              <a:rPr lang="en-US" sz="2400" b="0" i="0" dirty="0">
                <a:effectLst/>
                <a:latin typeface="Times New Roman" panose="02020603050405020304"/>
                <a:cs typeface="Times New Roman" panose="02020603050405020304"/>
              </a:rPr>
              <a:t>     ii) if root-&gt;data &lt; key</a:t>
            </a:r>
            <a:endParaRPr lang="en-US" sz="2400" b="0" i="0" dirty="0">
              <a:effectLst/>
              <a:latin typeface="Times New Roman" panose="02020603050405020304"/>
              <a:cs typeface="Times New Roman" panose="02020603050405020304"/>
            </a:endParaRPr>
          </a:p>
          <a:p>
            <a:r>
              <a:rPr lang="en-US" sz="2400" b="0" i="0" dirty="0">
                <a:effectLst/>
                <a:latin typeface="Times New Roman" panose="02020603050405020304"/>
                <a:cs typeface="Times New Roman" panose="02020603050405020304"/>
              </a:rPr>
              <a:t>         call the insert function with root-&gt;right and assign the return value in</a:t>
            </a:r>
            <a:r>
              <a:rPr lang="en-US" sz="2400" dirty="0">
                <a:latin typeface="Times New Roman" panose="02020603050405020304"/>
                <a:cs typeface="Times New Roman" panose="02020603050405020304"/>
              </a:rPr>
              <a:t>     </a:t>
            </a:r>
            <a:endParaRPr lang="en-US" sz="2400" dirty="0">
              <a:latin typeface="Times New Roman" panose="02020603050405020304"/>
              <a:cs typeface="Times New Roman" panose="02020603050405020304"/>
            </a:endParaRPr>
          </a:p>
          <a:p>
            <a:r>
              <a:rPr lang="en-US" sz="2400" dirty="0">
                <a:latin typeface="Times New Roman" panose="02020603050405020304"/>
                <a:cs typeface="Times New Roman" panose="02020603050405020304"/>
              </a:rPr>
              <a:t>         </a:t>
            </a:r>
            <a:r>
              <a:rPr lang="en-US" sz="2400" b="0" i="0" dirty="0">
                <a:effectLst/>
                <a:latin typeface="Times New Roman" panose="02020603050405020304"/>
                <a:cs typeface="Times New Roman" panose="02020603050405020304"/>
              </a:rPr>
              <a:t>root</a:t>
            </a:r>
            <a:r>
              <a:rPr lang="en-US" sz="2400" dirty="0">
                <a:latin typeface="Times New Roman" panose="02020603050405020304"/>
                <a:cs typeface="Times New Roman" panose="02020603050405020304"/>
              </a:rPr>
              <a:t>-&gt;</a:t>
            </a:r>
            <a:r>
              <a:rPr lang="en-US" sz="2400" b="0" i="0" dirty="0">
                <a:effectLst/>
                <a:latin typeface="Times New Roman" panose="02020603050405020304"/>
                <a:cs typeface="Times New Roman" panose="02020603050405020304"/>
              </a:rPr>
              <a:t>right.</a:t>
            </a:r>
            <a:endParaRPr lang="en-US" sz="2400" b="0" i="0" dirty="0">
              <a:effectLst/>
              <a:latin typeface="Times New Roman" panose="02020603050405020304"/>
              <a:cs typeface="Times New Roman" panose="02020603050405020304"/>
            </a:endParaRPr>
          </a:p>
          <a:p>
            <a:pPr algn="l"/>
            <a:r>
              <a:rPr lang="en-US" sz="2400" b="0" i="0" dirty="0">
                <a:effectLst/>
                <a:latin typeface="Times New Roman" panose="02020603050405020304"/>
                <a:cs typeface="Times New Roman" panose="02020603050405020304"/>
              </a:rPr>
              <a:t>        root-&gt;right = insert(root-&gt;</a:t>
            </a:r>
            <a:r>
              <a:rPr lang="en-US" sz="2400" b="0" i="0" dirty="0" err="1">
                <a:effectLst/>
                <a:latin typeface="Times New Roman" panose="02020603050405020304"/>
                <a:cs typeface="Times New Roman" panose="02020603050405020304"/>
              </a:rPr>
              <a:t>right,key</a:t>
            </a:r>
            <a:r>
              <a:rPr lang="en-US" sz="2400" b="0" i="0" dirty="0">
                <a:effectLst/>
                <a:latin typeface="Times New Roman" panose="02020603050405020304"/>
                <a:cs typeface="Times New Roman" panose="02020603050405020304"/>
              </a:rPr>
              <a:t>)</a:t>
            </a:r>
            <a:endParaRPr lang="en-US" sz="2400" b="0" i="0" dirty="0">
              <a:effectLst/>
              <a:latin typeface="Times New Roman" panose="02020603050405020304"/>
              <a:cs typeface="Times New Roman" panose="02020603050405020304"/>
            </a:endParaRPr>
          </a:p>
          <a:p>
            <a:pPr algn="l"/>
            <a:r>
              <a:rPr lang="en-US" sz="2400" b="0" i="0" dirty="0">
                <a:effectLst/>
                <a:latin typeface="Times New Roman" panose="02020603050405020304"/>
                <a:cs typeface="Times New Roman" panose="02020603050405020304"/>
              </a:rPr>
              <a:t>     iii) if root-&gt;data &gt; key</a:t>
            </a:r>
            <a:endParaRPr lang="en-US" sz="2400" b="0" i="0" dirty="0">
              <a:effectLst/>
              <a:latin typeface="Times New Roman" panose="02020603050405020304"/>
              <a:cs typeface="Times New Roman" panose="02020603050405020304"/>
            </a:endParaRPr>
          </a:p>
          <a:p>
            <a:r>
              <a:rPr lang="en-US" sz="2400" b="0" i="0" dirty="0">
                <a:effectLst/>
                <a:latin typeface="Times New Roman" panose="02020603050405020304"/>
                <a:cs typeface="Times New Roman" panose="02020603050405020304"/>
              </a:rPr>
              <a:t>         call the insert function with root-&gt;left and assign the return value in</a:t>
            </a:r>
            <a:r>
              <a:rPr lang="en-US" sz="2400" dirty="0">
                <a:latin typeface="Times New Roman" panose="02020603050405020304"/>
                <a:cs typeface="Times New Roman" panose="02020603050405020304"/>
              </a:rPr>
              <a:t>  </a:t>
            </a:r>
            <a:endParaRPr 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/>
                <a:cs typeface="Times New Roman" panose="02020603050405020304"/>
              </a:rPr>
              <a:t>         </a:t>
            </a:r>
            <a:r>
              <a:rPr lang="en-US" sz="2400" b="0" i="0" dirty="0">
                <a:effectLst/>
                <a:latin typeface="Times New Roman" panose="02020603050405020304"/>
                <a:cs typeface="Times New Roman" panose="02020603050405020304"/>
              </a:rPr>
              <a:t>root</a:t>
            </a:r>
            <a:r>
              <a:rPr lang="en-US" sz="2400" dirty="0">
                <a:latin typeface="Times New Roman" panose="02020603050405020304"/>
                <a:cs typeface="Times New Roman" panose="02020603050405020304"/>
              </a:rPr>
              <a:t>-&gt;</a:t>
            </a:r>
            <a:r>
              <a:rPr lang="en-US" sz="2400" b="0" i="0" dirty="0">
                <a:effectLst/>
                <a:latin typeface="Times New Roman" panose="02020603050405020304"/>
                <a:cs typeface="Times New Roman" panose="02020603050405020304"/>
              </a:rPr>
              <a:t>left.</a:t>
            </a:r>
            <a:endParaRPr lang="en-US" sz="2400" b="0" i="0" dirty="0">
              <a:effectLst/>
              <a:latin typeface="Times New Roman" panose="02020603050405020304"/>
              <a:cs typeface="Times New Roman" panose="02020603050405020304"/>
            </a:endParaRPr>
          </a:p>
          <a:p>
            <a:pPr algn="l"/>
            <a:r>
              <a:rPr lang="en-US" sz="2400" b="0" i="0" dirty="0">
                <a:effectLst/>
                <a:latin typeface="Times New Roman" panose="02020603050405020304"/>
                <a:cs typeface="Times New Roman" panose="02020603050405020304"/>
              </a:rPr>
              <a:t>         root-&gt;left = insert(root-&gt;</a:t>
            </a:r>
            <a:r>
              <a:rPr lang="en-US" sz="2400" b="0" i="0" dirty="0" err="1">
                <a:effectLst/>
                <a:latin typeface="Times New Roman" panose="02020603050405020304"/>
                <a:cs typeface="Times New Roman" panose="02020603050405020304"/>
              </a:rPr>
              <a:t>left,key</a:t>
            </a:r>
            <a:r>
              <a:rPr lang="en-US" sz="2400" b="0" i="0" dirty="0">
                <a:effectLst/>
                <a:latin typeface="Times New Roman" panose="02020603050405020304"/>
                <a:cs typeface="Times New Roman" panose="02020603050405020304"/>
              </a:rPr>
              <a:t>)</a:t>
            </a:r>
            <a:endParaRPr lang="en-US" sz="2400" b="0" i="0" dirty="0">
              <a:effectLst/>
              <a:latin typeface="Times New Roman" panose="02020603050405020304"/>
              <a:cs typeface="Times New Roman" panose="02020603050405020304"/>
            </a:endParaRPr>
          </a:p>
          <a:p>
            <a:pPr algn="l"/>
            <a:r>
              <a:rPr lang="en-US" sz="2400" b="0" i="0" dirty="0">
                <a:effectLst/>
                <a:latin typeface="Times New Roman" panose="02020603050405020304"/>
                <a:cs typeface="Times New Roman" panose="02020603050405020304"/>
              </a:rPr>
              <a:t>3. Finally, return the original root pointer to the calling function.</a:t>
            </a:r>
            <a:endParaRPr lang="en-US" sz="2400" b="0" i="0" dirty="0">
              <a:effectLst/>
              <a:latin typeface="Times New Roman" panose="02020603050405020304"/>
              <a:cs typeface="Times New Roman" panose="02020603050405020304"/>
            </a:endParaRPr>
          </a:p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endParaRPr lang="en-US" altLang="en-US" sz="2400" dirty="0">
              <a:latin typeface="+mj-lt"/>
              <a:ea typeface="Calibri Light" panose="020F0302020204030204"/>
              <a:cs typeface="Courier New" panose="02070309020205020404" pitchFamily="49" charset="0"/>
            </a:endParaRP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7369" y="204585"/>
            <a:ext cx="1990725" cy="600076"/>
          </a:xfrm>
          <a:prstGeom prst="rect">
            <a:avLst/>
          </a:prstGeom>
          <a:noFill/>
        </p:spPr>
      </p:pic>
      <p:sp>
        <p:nvSpPr>
          <p:cNvPr id="10" name="Rounded Rectangle 17"/>
          <p:cNvSpPr/>
          <p:nvPr/>
        </p:nvSpPr>
        <p:spPr>
          <a:xfrm>
            <a:off x="3121964" y="7060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        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/>
          <p:cNvSpPr/>
          <p:nvPr/>
        </p:nvSpPr>
        <p:spPr>
          <a:xfrm>
            <a:off x="3121964" y="7060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BST Insertion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522394" y="780938"/>
            <a:ext cx="10163502" cy="658368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400" b="1" dirty="0">
                <a:solidFill>
                  <a:srgbClr val="A50021"/>
                </a:solidFill>
                <a:latin typeface="Times New Roman" panose="02020603050405020304"/>
                <a:cs typeface="Times New Roman" panose="02020603050405020304"/>
              </a:rPr>
              <a:t>BST Insertion</a:t>
            </a:r>
            <a:endParaRPr lang="en-US" altLang="en-US" sz="2400" b="1" dirty="0">
              <a:solidFill>
                <a:srgbClr val="A50021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771132" y="1506558"/>
            <a:ext cx="13179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(2)</a:t>
            </a:r>
            <a:endParaRPr lang="en-US" alt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5"/>
          <p:cNvSpPr>
            <a:spLocks noChangeAspect="1" noChangeArrowheads="1"/>
          </p:cNvSpPr>
          <p:nvPr/>
        </p:nvSpPr>
        <p:spPr bwMode="auto">
          <a:xfrm>
            <a:off x="2879265" y="3650341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latin typeface="Times New Roman" panose="02020603050405020304" pitchFamily="18" charset="0"/>
              </a:rPr>
              <a:t>6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" name="Oval 6"/>
          <p:cNvSpPr>
            <a:spLocks noChangeAspect="1" noChangeArrowheads="1"/>
          </p:cNvSpPr>
          <p:nvPr/>
        </p:nvSpPr>
        <p:spPr bwMode="auto">
          <a:xfrm>
            <a:off x="1812465" y="3650341"/>
            <a:ext cx="381000" cy="3810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endParaRPr lang="en-US" altLang="en-US" sz="2400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Oval 6"/>
          <p:cNvSpPr>
            <a:spLocks noChangeAspect="1" noChangeArrowheads="1"/>
          </p:cNvSpPr>
          <p:nvPr/>
        </p:nvSpPr>
        <p:spPr bwMode="auto">
          <a:xfrm>
            <a:off x="2345865" y="2761341"/>
            <a:ext cx="381000" cy="381000"/>
          </a:xfrm>
          <a:prstGeom prst="ellipse">
            <a:avLst/>
          </a:prstGeom>
          <a:noFill/>
          <a:ln w="3810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000066"/>
                </a:solidFill>
                <a:latin typeface="Times New Roman" panose="02020603050405020304" pitchFamily="18" charset="0"/>
              </a:rPr>
              <a:t>5</a:t>
            </a:r>
            <a:endParaRPr lang="en-US" altLang="en-US" sz="240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Oval 7"/>
          <p:cNvSpPr>
            <a:spLocks noChangeAspect="1" noChangeArrowheads="1"/>
          </p:cNvSpPr>
          <p:nvPr/>
        </p:nvSpPr>
        <p:spPr bwMode="auto">
          <a:xfrm>
            <a:off x="3412665" y="1872341"/>
            <a:ext cx="381000" cy="381000"/>
          </a:xfrm>
          <a:prstGeom prst="ellipse">
            <a:avLst/>
          </a:prstGeom>
          <a:noFill/>
          <a:ln w="38100">
            <a:solidFill>
              <a:srgbClr val="008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solidFill>
                  <a:srgbClr val="008000"/>
                </a:solidFill>
                <a:latin typeface="Times New Roman" panose="02020603050405020304" pitchFamily="18" charset="0"/>
              </a:rPr>
              <a:t>8</a:t>
            </a:r>
            <a:endParaRPr lang="en-US" altLang="en-US" sz="2400" dirty="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9" name="AutoShape 10"/>
          <p:cNvCxnSpPr>
            <a:cxnSpLocks noChangeShapeType="1"/>
            <a:stCxn id="8" idx="3"/>
            <a:endCxn id="7" idx="0"/>
          </p:cNvCxnSpPr>
          <p:nvPr/>
        </p:nvCxnSpPr>
        <p:spPr bwMode="auto">
          <a:xfrm flipH="1">
            <a:off x="2536366" y="2216829"/>
            <a:ext cx="931863" cy="525462"/>
          </a:xfrm>
          <a:prstGeom prst="straightConnector1">
            <a:avLst/>
          </a:prstGeom>
          <a:noFill/>
          <a:ln w="9525">
            <a:solidFill>
              <a:srgbClr val="000066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AutoShape 11"/>
          <p:cNvCxnSpPr>
            <a:cxnSpLocks noChangeShapeType="1"/>
            <a:stCxn id="8" idx="5"/>
          </p:cNvCxnSpPr>
          <p:nvPr/>
        </p:nvCxnSpPr>
        <p:spPr bwMode="auto">
          <a:xfrm>
            <a:off x="3738103" y="2216829"/>
            <a:ext cx="931862" cy="525462"/>
          </a:xfrm>
          <a:prstGeom prst="straightConnector1">
            <a:avLst/>
          </a:prstGeom>
          <a:noFill/>
          <a:ln w="9525">
            <a:solidFill>
              <a:srgbClr val="CC99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AutoShape 13"/>
          <p:cNvCxnSpPr>
            <a:cxnSpLocks noChangeShapeType="1"/>
            <a:stCxn id="7" idx="3"/>
            <a:endCxn id="5" idx="0"/>
          </p:cNvCxnSpPr>
          <p:nvPr/>
        </p:nvCxnSpPr>
        <p:spPr bwMode="auto">
          <a:xfrm flipH="1">
            <a:off x="2002966" y="3105829"/>
            <a:ext cx="398463" cy="525462"/>
          </a:xfrm>
          <a:prstGeom prst="straightConnector1">
            <a:avLst/>
          </a:prstGeom>
          <a:noFill/>
          <a:ln w="9525">
            <a:solidFill>
              <a:srgbClr val="000066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AutoShape 14"/>
          <p:cNvCxnSpPr>
            <a:cxnSpLocks noChangeShapeType="1"/>
          </p:cNvCxnSpPr>
          <p:nvPr/>
        </p:nvCxnSpPr>
        <p:spPr bwMode="auto">
          <a:xfrm>
            <a:off x="2622316" y="3105829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Oval 17"/>
          <p:cNvSpPr>
            <a:spLocks noChangeAspect="1" noChangeArrowheads="1"/>
          </p:cNvSpPr>
          <p:nvPr/>
        </p:nvSpPr>
        <p:spPr bwMode="auto">
          <a:xfrm>
            <a:off x="3324329" y="4428216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latin typeface="Times New Roman" panose="02020603050405020304" pitchFamily="18" charset="0"/>
              </a:rPr>
              <a:t>7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cxnSp>
        <p:nvCxnSpPr>
          <p:cNvPr id="16" name="AutoShape 18"/>
          <p:cNvCxnSpPr>
            <a:cxnSpLocks noChangeShapeType="1"/>
          </p:cNvCxnSpPr>
          <p:nvPr/>
        </p:nvCxnSpPr>
        <p:spPr bwMode="auto">
          <a:xfrm>
            <a:off x="3157533" y="3990287"/>
            <a:ext cx="320448" cy="44960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Oval 5"/>
          <p:cNvSpPr>
            <a:spLocks noChangeAspect="1" noChangeArrowheads="1"/>
          </p:cNvSpPr>
          <p:nvPr/>
        </p:nvSpPr>
        <p:spPr bwMode="auto">
          <a:xfrm>
            <a:off x="2299659" y="457245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latin typeface="Times New Roman" panose="02020603050405020304" pitchFamily="18" charset="0"/>
              </a:rPr>
              <a:t>3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cxnSp>
        <p:nvCxnSpPr>
          <p:cNvPr id="18" name="AutoShape 14"/>
          <p:cNvCxnSpPr>
            <a:cxnSpLocks noChangeShapeType="1"/>
          </p:cNvCxnSpPr>
          <p:nvPr/>
        </p:nvCxnSpPr>
        <p:spPr bwMode="auto">
          <a:xfrm>
            <a:off x="2042710" y="4027946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Oval 17"/>
          <p:cNvSpPr>
            <a:spLocks noChangeAspect="1" noChangeArrowheads="1"/>
          </p:cNvSpPr>
          <p:nvPr/>
        </p:nvSpPr>
        <p:spPr bwMode="auto">
          <a:xfrm>
            <a:off x="2744723" y="535033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latin typeface="Times New Roman" panose="02020603050405020304" pitchFamily="18" charset="0"/>
              </a:rPr>
              <a:t>4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cxnSp>
        <p:nvCxnSpPr>
          <p:cNvPr id="20" name="AutoShape 18"/>
          <p:cNvCxnSpPr>
            <a:cxnSpLocks noChangeShapeType="1"/>
          </p:cNvCxnSpPr>
          <p:nvPr/>
        </p:nvCxnSpPr>
        <p:spPr bwMode="auto">
          <a:xfrm>
            <a:off x="2577927" y="4912404"/>
            <a:ext cx="320448" cy="44960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Oval 5"/>
          <p:cNvSpPr>
            <a:spLocks noChangeAspect="1" noChangeArrowheads="1"/>
          </p:cNvSpPr>
          <p:nvPr/>
        </p:nvSpPr>
        <p:spPr bwMode="auto">
          <a:xfrm>
            <a:off x="5045797" y="3650341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latin typeface="Times New Roman" panose="02020603050405020304" pitchFamily="18" charset="0"/>
              </a:rPr>
              <a:t>13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2" name="Oval 6"/>
          <p:cNvSpPr>
            <a:spLocks noChangeAspect="1" noChangeArrowheads="1"/>
          </p:cNvSpPr>
          <p:nvPr/>
        </p:nvSpPr>
        <p:spPr bwMode="auto">
          <a:xfrm>
            <a:off x="3978997" y="3650341"/>
            <a:ext cx="381000" cy="3810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9</a:t>
            </a:r>
            <a:endParaRPr lang="en-US" altLang="en-US" sz="2400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Oval 8"/>
          <p:cNvSpPr>
            <a:spLocks noChangeAspect="1" noChangeArrowheads="1"/>
          </p:cNvSpPr>
          <p:nvPr/>
        </p:nvSpPr>
        <p:spPr bwMode="auto">
          <a:xfrm>
            <a:off x="4512397" y="2761341"/>
            <a:ext cx="381000" cy="381000"/>
          </a:xfrm>
          <a:prstGeom prst="ellipse">
            <a:avLst/>
          </a:prstGeom>
          <a:noFill/>
          <a:ln w="3810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solidFill>
                  <a:srgbClr val="000066"/>
                </a:solidFill>
                <a:latin typeface="Times New Roman" panose="02020603050405020304" pitchFamily="18" charset="0"/>
              </a:rPr>
              <a:t>11</a:t>
            </a:r>
            <a:endParaRPr lang="en-US" altLang="en-US" sz="2400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24" name="AutoShape 13"/>
          <p:cNvCxnSpPr>
            <a:cxnSpLocks noChangeShapeType="1"/>
            <a:stCxn id="23" idx="3"/>
            <a:endCxn id="22" idx="0"/>
          </p:cNvCxnSpPr>
          <p:nvPr/>
        </p:nvCxnSpPr>
        <p:spPr bwMode="auto">
          <a:xfrm flipH="1">
            <a:off x="4169498" y="3105829"/>
            <a:ext cx="398463" cy="525462"/>
          </a:xfrm>
          <a:prstGeom prst="straightConnector1">
            <a:avLst/>
          </a:prstGeom>
          <a:noFill/>
          <a:ln w="9525">
            <a:solidFill>
              <a:srgbClr val="000066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AutoShape 14"/>
          <p:cNvCxnSpPr>
            <a:cxnSpLocks noChangeShapeType="1"/>
          </p:cNvCxnSpPr>
          <p:nvPr/>
        </p:nvCxnSpPr>
        <p:spPr bwMode="auto">
          <a:xfrm>
            <a:off x="4788848" y="3105829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" name="Group 25"/>
          <p:cNvGrpSpPr/>
          <p:nvPr/>
        </p:nvGrpSpPr>
        <p:grpSpPr>
          <a:xfrm>
            <a:off x="7034841" y="1872341"/>
            <a:ext cx="3614332" cy="3877588"/>
            <a:chOff x="7034841" y="1872341"/>
            <a:chExt cx="3614332" cy="3877588"/>
          </a:xfrm>
        </p:grpSpPr>
        <p:sp>
          <p:nvSpPr>
            <p:cNvPr id="27" name="Oval 5"/>
            <p:cNvSpPr>
              <a:spLocks noChangeAspect="1" noChangeArrowheads="1"/>
            </p:cNvSpPr>
            <p:nvPr/>
          </p:nvSpPr>
          <p:spPr bwMode="auto">
            <a:xfrm>
              <a:off x="8101641" y="3650341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 dirty="0">
                  <a:latin typeface="Times New Roman" panose="02020603050405020304" pitchFamily="18" charset="0"/>
                </a:rPr>
                <a:t>6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28" name="Oval 6"/>
            <p:cNvSpPr>
              <a:spLocks noChangeAspect="1" noChangeArrowheads="1"/>
            </p:cNvSpPr>
            <p:nvPr/>
          </p:nvSpPr>
          <p:spPr bwMode="auto">
            <a:xfrm>
              <a:off x="7034841" y="3650341"/>
              <a:ext cx="381000" cy="381000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" name="Oval 8"/>
            <p:cNvSpPr>
              <a:spLocks noChangeAspect="1" noChangeArrowheads="1"/>
            </p:cNvSpPr>
            <p:nvPr/>
          </p:nvSpPr>
          <p:spPr bwMode="auto">
            <a:xfrm>
              <a:off x="7568241" y="2761341"/>
              <a:ext cx="381000" cy="381000"/>
            </a:xfrm>
            <a:prstGeom prst="ellipse">
              <a:avLst/>
            </a:prstGeom>
            <a:noFill/>
            <a:ln w="38100">
              <a:solidFill>
                <a:srgbClr val="00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rgbClr val="000066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240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" name="Oval 9"/>
            <p:cNvSpPr>
              <a:spLocks noChangeAspect="1" noChangeArrowheads="1"/>
            </p:cNvSpPr>
            <p:nvPr/>
          </p:nvSpPr>
          <p:spPr bwMode="auto">
            <a:xfrm>
              <a:off x="8635041" y="1872341"/>
              <a:ext cx="381000" cy="381000"/>
            </a:xfrm>
            <a:prstGeom prst="ellipse">
              <a:avLst/>
            </a:prstGeom>
            <a:noFill/>
            <a:ln w="38100">
              <a:solidFill>
                <a:srgbClr val="008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8</a:t>
              </a:r>
              <a:endParaRPr lang="en-US" altLang="en-US" sz="2400" dirty="0">
                <a:solidFill>
                  <a:srgbClr val="008000"/>
                </a:solidFill>
                <a:latin typeface="Times New Roman" panose="02020603050405020304" pitchFamily="18" charset="0"/>
              </a:endParaRPr>
            </a:p>
          </p:txBody>
        </p:sp>
        <p:cxnSp>
          <p:nvCxnSpPr>
            <p:cNvPr id="31" name="AutoShape 10"/>
            <p:cNvCxnSpPr>
              <a:cxnSpLocks noChangeShapeType="1"/>
              <a:stCxn id="30" idx="3"/>
              <a:endCxn id="29" idx="0"/>
            </p:cNvCxnSpPr>
            <p:nvPr/>
          </p:nvCxnSpPr>
          <p:spPr bwMode="auto">
            <a:xfrm flipH="1">
              <a:off x="7758742" y="2216829"/>
              <a:ext cx="931863" cy="525462"/>
            </a:xfrm>
            <a:prstGeom prst="straightConnector1">
              <a:avLst/>
            </a:prstGeom>
            <a:noFill/>
            <a:ln w="9525">
              <a:solidFill>
                <a:srgbClr val="000066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" name="AutoShape 11"/>
            <p:cNvCxnSpPr>
              <a:cxnSpLocks noChangeShapeType="1"/>
              <a:stCxn id="30" idx="5"/>
            </p:cNvCxnSpPr>
            <p:nvPr/>
          </p:nvCxnSpPr>
          <p:spPr bwMode="auto">
            <a:xfrm>
              <a:off x="8960479" y="2216829"/>
              <a:ext cx="931862" cy="525462"/>
            </a:xfrm>
            <a:prstGeom prst="straightConnector1">
              <a:avLst/>
            </a:prstGeom>
            <a:noFill/>
            <a:ln w="9525">
              <a:solidFill>
                <a:srgbClr val="CC99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" name="AutoShape 13"/>
            <p:cNvCxnSpPr>
              <a:cxnSpLocks noChangeShapeType="1"/>
              <a:stCxn id="29" idx="3"/>
              <a:endCxn id="28" idx="0"/>
            </p:cNvCxnSpPr>
            <p:nvPr/>
          </p:nvCxnSpPr>
          <p:spPr bwMode="auto">
            <a:xfrm flipH="1">
              <a:off x="7225342" y="3105829"/>
              <a:ext cx="398463" cy="525462"/>
            </a:xfrm>
            <a:prstGeom prst="straightConnector1">
              <a:avLst/>
            </a:prstGeom>
            <a:noFill/>
            <a:ln w="9525">
              <a:solidFill>
                <a:srgbClr val="000066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AutoShape 14"/>
            <p:cNvCxnSpPr>
              <a:cxnSpLocks noChangeShapeType="1"/>
            </p:cNvCxnSpPr>
            <p:nvPr/>
          </p:nvCxnSpPr>
          <p:spPr bwMode="auto">
            <a:xfrm>
              <a:off x="7844692" y="3105829"/>
              <a:ext cx="398462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" name="Oval 17"/>
            <p:cNvSpPr>
              <a:spLocks noChangeAspect="1" noChangeArrowheads="1"/>
            </p:cNvSpPr>
            <p:nvPr/>
          </p:nvSpPr>
          <p:spPr bwMode="auto">
            <a:xfrm>
              <a:off x="8546705" y="4428216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latin typeface="Times New Roman" panose="02020603050405020304" pitchFamily="18" charset="0"/>
                </a:rPr>
                <a:t>7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cxnSp>
          <p:nvCxnSpPr>
            <p:cNvPr id="36" name="AutoShape 18"/>
            <p:cNvCxnSpPr>
              <a:cxnSpLocks noChangeShapeType="1"/>
            </p:cNvCxnSpPr>
            <p:nvPr/>
          </p:nvCxnSpPr>
          <p:spPr bwMode="auto">
            <a:xfrm>
              <a:off x="8379909" y="3990287"/>
              <a:ext cx="320448" cy="44960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" name="Oval 5"/>
            <p:cNvSpPr>
              <a:spLocks noChangeAspect="1" noChangeArrowheads="1"/>
            </p:cNvSpPr>
            <p:nvPr/>
          </p:nvSpPr>
          <p:spPr bwMode="auto">
            <a:xfrm>
              <a:off x="7522035" y="4572458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 dirty="0">
                  <a:latin typeface="Times New Roman" panose="02020603050405020304" pitchFamily="18" charset="0"/>
                </a:rPr>
                <a:t>3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cxnSp>
          <p:nvCxnSpPr>
            <p:cNvPr id="38" name="AutoShape 14"/>
            <p:cNvCxnSpPr>
              <a:cxnSpLocks noChangeShapeType="1"/>
            </p:cNvCxnSpPr>
            <p:nvPr/>
          </p:nvCxnSpPr>
          <p:spPr bwMode="auto">
            <a:xfrm>
              <a:off x="7265086" y="4027946"/>
              <a:ext cx="398462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9" name="Oval 17"/>
            <p:cNvSpPr>
              <a:spLocks noChangeAspect="1" noChangeArrowheads="1"/>
            </p:cNvSpPr>
            <p:nvPr/>
          </p:nvSpPr>
          <p:spPr bwMode="auto">
            <a:xfrm>
              <a:off x="7967099" y="5350333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 dirty="0">
                  <a:latin typeface="Times New Roman" panose="02020603050405020304" pitchFamily="18" charset="0"/>
                </a:rPr>
                <a:t>4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cxnSp>
          <p:nvCxnSpPr>
            <p:cNvPr id="40" name="AutoShape 18"/>
            <p:cNvCxnSpPr>
              <a:cxnSpLocks noChangeShapeType="1"/>
            </p:cNvCxnSpPr>
            <p:nvPr/>
          </p:nvCxnSpPr>
          <p:spPr bwMode="auto">
            <a:xfrm>
              <a:off x="7800303" y="4912404"/>
              <a:ext cx="320448" cy="44960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" name="Oval 19"/>
            <p:cNvSpPr>
              <a:spLocks noChangeAspect="1" noChangeArrowheads="1"/>
            </p:cNvSpPr>
            <p:nvPr/>
          </p:nvSpPr>
          <p:spPr bwMode="auto">
            <a:xfrm>
              <a:off x="7113763" y="5368929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 dirty="0">
                  <a:latin typeface="Times New Roman" panose="02020603050405020304" pitchFamily="18" charset="0"/>
                </a:rPr>
                <a:t>2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cxnSp>
          <p:nvCxnSpPr>
            <p:cNvPr id="42" name="AutoShape 20"/>
            <p:cNvCxnSpPr>
              <a:cxnSpLocks noChangeShapeType="1"/>
              <a:stCxn id="37" idx="3"/>
            </p:cNvCxnSpPr>
            <p:nvPr/>
          </p:nvCxnSpPr>
          <p:spPr bwMode="auto">
            <a:xfrm flipH="1">
              <a:off x="7304263" y="4897662"/>
              <a:ext cx="273568" cy="45267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3" name="Oval 5"/>
            <p:cNvSpPr>
              <a:spLocks noChangeAspect="1" noChangeArrowheads="1"/>
            </p:cNvSpPr>
            <p:nvPr/>
          </p:nvSpPr>
          <p:spPr bwMode="auto">
            <a:xfrm>
              <a:off x="10268173" y="3650341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 dirty="0">
                  <a:latin typeface="Times New Roman" panose="02020603050405020304" pitchFamily="18" charset="0"/>
                </a:rPr>
                <a:t>13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44" name="Oval 6"/>
            <p:cNvSpPr>
              <a:spLocks noChangeAspect="1" noChangeArrowheads="1"/>
            </p:cNvSpPr>
            <p:nvPr/>
          </p:nvSpPr>
          <p:spPr bwMode="auto">
            <a:xfrm>
              <a:off x="9201373" y="3650341"/>
              <a:ext cx="381000" cy="381000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9</a:t>
              </a:r>
              <a:endPara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" name="Oval 8"/>
            <p:cNvSpPr>
              <a:spLocks noChangeAspect="1" noChangeArrowheads="1"/>
            </p:cNvSpPr>
            <p:nvPr/>
          </p:nvSpPr>
          <p:spPr bwMode="auto">
            <a:xfrm>
              <a:off x="9734773" y="2761341"/>
              <a:ext cx="381000" cy="381000"/>
            </a:xfrm>
            <a:prstGeom prst="ellipse">
              <a:avLst/>
            </a:prstGeom>
            <a:noFill/>
            <a:ln w="38100">
              <a:solidFill>
                <a:srgbClr val="00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11</a:t>
              </a:r>
              <a:endParaRPr lang="en-US" altLang="en-US" sz="2400" dirty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cxnSp>
          <p:nvCxnSpPr>
            <p:cNvPr id="46" name="AutoShape 13"/>
            <p:cNvCxnSpPr>
              <a:cxnSpLocks noChangeShapeType="1"/>
              <a:stCxn id="45" idx="3"/>
              <a:endCxn id="44" idx="0"/>
            </p:cNvCxnSpPr>
            <p:nvPr/>
          </p:nvCxnSpPr>
          <p:spPr bwMode="auto">
            <a:xfrm flipH="1">
              <a:off x="9391874" y="3105829"/>
              <a:ext cx="398463" cy="525462"/>
            </a:xfrm>
            <a:prstGeom prst="straightConnector1">
              <a:avLst/>
            </a:prstGeom>
            <a:noFill/>
            <a:ln w="9525">
              <a:solidFill>
                <a:srgbClr val="000066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" name="AutoShape 14"/>
            <p:cNvCxnSpPr>
              <a:cxnSpLocks noChangeShapeType="1"/>
            </p:cNvCxnSpPr>
            <p:nvPr/>
          </p:nvCxnSpPr>
          <p:spPr bwMode="auto">
            <a:xfrm>
              <a:off x="10011224" y="3105829"/>
              <a:ext cx="398462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8" name="Right Arrow 48"/>
          <p:cNvSpPr/>
          <p:nvPr/>
        </p:nvSpPr>
        <p:spPr>
          <a:xfrm>
            <a:off x="5104146" y="4381958"/>
            <a:ext cx="1589046" cy="381000"/>
          </a:xfrm>
          <a:prstGeom prst="rightArrow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/>
          <p:cNvSpPr/>
          <p:nvPr/>
        </p:nvSpPr>
        <p:spPr>
          <a:xfrm>
            <a:off x="3121964" y="7060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BST Insertion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485671" y="596096"/>
            <a:ext cx="10163502" cy="658368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200" b="1" dirty="0">
                <a:solidFill>
                  <a:srgbClr val="A50021"/>
                </a:solidFill>
                <a:latin typeface="Times New Roman" panose="02020603050405020304"/>
                <a:cs typeface="Times New Roman" panose="02020603050405020304"/>
              </a:rPr>
              <a:t>BST Insertion</a:t>
            </a:r>
            <a:endParaRPr lang="en-US" altLang="en-US" sz="3200" b="1" dirty="0">
              <a:solidFill>
                <a:srgbClr val="A50021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879178" y="1287532"/>
            <a:ext cx="14734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(10)</a:t>
            </a:r>
            <a:endParaRPr lang="en-US" alt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5"/>
          <p:cNvSpPr>
            <a:spLocks noChangeAspect="1" noChangeArrowheads="1"/>
          </p:cNvSpPr>
          <p:nvPr/>
        </p:nvSpPr>
        <p:spPr bwMode="auto">
          <a:xfrm>
            <a:off x="2879265" y="3650341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latin typeface="Times New Roman" panose="02020603050405020304" pitchFamily="18" charset="0"/>
              </a:rPr>
              <a:t>6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" name="Oval 6"/>
          <p:cNvSpPr>
            <a:spLocks noChangeAspect="1" noChangeArrowheads="1"/>
          </p:cNvSpPr>
          <p:nvPr/>
        </p:nvSpPr>
        <p:spPr bwMode="auto">
          <a:xfrm>
            <a:off x="1812465" y="3650341"/>
            <a:ext cx="381000" cy="3810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endParaRPr lang="en-US" altLang="en-US" sz="2400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Oval 6"/>
          <p:cNvSpPr>
            <a:spLocks noChangeAspect="1" noChangeArrowheads="1"/>
          </p:cNvSpPr>
          <p:nvPr/>
        </p:nvSpPr>
        <p:spPr bwMode="auto">
          <a:xfrm>
            <a:off x="2345865" y="2761341"/>
            <a:ext cx="381000" cy="381000"/>
          </a:xfrm>
          <a:prstGeom prst="ellipse">
            <a:avLst/>
          </a:prstGeom>
          <a:noFill/>
          <a:ln w="3810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000066"/>
                </a:solidFill>
                <a:latin typeface="Times New Roman" panose="02020603050405020304" pitchFamily="18" charset="0"/>
              </a:rPr>
              <a:t>5</a:t>
            </a:r>
            <a:endParaRPr lang="en-US" altLang="en-US" sz="240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Oval 7"/>
          <p:cNvSpPr>
            <a:spLocks noChangeAspect="1" noChangeArrowheads="1"/>
          </p:cNvSpPr>
          <p:nvPr/>
        </p:nvSpPr>
        <p:spPr bwMode="auto">
          <a:xfrm>
            <a:off x="3412665" y="1872341"/>
            <a:ext cx="381000" cy="381000"/>
          </a:xfrm>
          <a:prstGeom prst="ellipse">
            <a:avLst/>
          </a:prstGeom>
          <a:noFill/>
          <a:ln w="38100">
            <a:solidFill>
              <a:srgbClr val="008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solidFill>
                  <a:srgbClr val="008000"/>
                </a:solidFill>
                <a:latin typeface="Times New Roman" panose="02020603050405020304" pitchFamily="18" charset="0"/>
              </a:rPr>
              <a:t>8</a:t>
            </a:r>
            <a:endParaRPr lang="en-US" altLang="en-US" sz="2400" dirty="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9" name="AutoShape 10"/>
          <p:cNvCxnSpPr>
            <a:cxnSpLocks noChangeShapeType="1"/>
            <a:stCxn id="8" idx="3"/>
            <a:endCxn id="7" idx="0"/>
          </p:cNvCxnSpPr>
          <p:nvPr/>
        </p:nvCxnSpPr>
        <p:spPr bwMode="auto">
          <a:xfrm flipH="1">
            <a:off x="2536366" y="2216829"/>
            <a:ext cx="931863" cy="525462"/>
          </a:xfrm>
          <a:prstGeom prst="straightConnector1">
            <a:avLst/>
          </a:prstGeom>
          <a:noFill/>
          <a:ln w="9525">
            <a:solidFill>
              <a:srgbClr val="000066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AutoShape 11"/>
          <p:cNvCxnSpPr>
            <a:cxnSpLocks noChangeShapeType="1"/>
            <a:stCxn id="8" idx="5"/>
          </p:cNvCxnSpPr>
          <p:nvPr/>
        </p:nvCxnSpPr>
        <p:spPr bwMode="auto">
          <a:xfrm>
            <a:off x="3738103" y="2216829"/>
            <a:ext cx="931862" cy="525462"/>
          </a:xfrm>
          <a:prstGeom prst="straightConnector1">
            <a:avLst/>
          </a:prstGeom>
          <a:noFill/>
          <a:ln w="9525">
            <a:solidFill>
              <a:srgbClr val="CC99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AutoShape 13"/>
          <p:cNvCxnSpPr>
            <a:cxnSpLocks noChangeShapeType="1"/>
            <a:stCxn id="7" idx="3"/>
            <a:endCxn id="5" idx="0"/>
          </p:cNvCxnSpPr>
          <p:nvPr/>
        </p:nvCxnSpPr>
        <p:spPr bwMode="auto">
          <a:xfrm flipH="1">
            <a:off x="2002966" y="3105829"/>
            <a:ext cx="398463" cy="525462"/>
          </a:xfrm>
          <a:prstGeom prst="straightConnector1">
            <a:avLst/>
          </a:prstGeom>
          <a:noFill/>
          <a:ln w="9525">
            <a:solidFill>
              <a:srgbClr val="000066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AutoShape 14"/>
          <p:cNvCxnSpPr>
            <a:cxnSpLocks noChangeShapeType="1"/>
          </p:cNvCxnSpPr>
          <p:nvPr/>
        </p:nvCxnSpPr>
        <p:spPr bwMode="auto">
          <a:xfrm>
            <a:off x="2622316" y="3105829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Oval 17"/>
          <p:cNvSpPr>
            <a:spLocks noChangeAspect="1" noChangeArrowheads="1"/>
          </p:cNvSpPr>
          <p:nvPr/>
        </p:nvSpPr>
        <p:spPr bwMode="auto">
          <a:xfrm>
            <a:off x="3324329" y="4428216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latin typeface="Times New Roman" panose="02020603050405020304" pitchFamily="18" charset="0"/>
              </a:rPr>
              <a:t>7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cxnSp>
        <p:nvCxnSpPr>
          <p:cNvPr id="15" name="AutoShape 18"/>
          <p:cNvCxnSpPr>
            <a:cxnSpLocks noChangeShapeType="1"/>
          </p:cNvCxnSpPr>
          <p:nvPr/>
        </p:nvCxnSpPr>
        <p:spPr bwMode="auto">
          <a:xfrm>
            <a:off x="3157533" y="3990287"/>
            <a:ext cx="320448" cy="44960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Oval 5"/>
          <p:cNvSpPr>
            <a:spLocks noChangeAspect="1" noChangeArrowheads="1"/>
          </p:cNvSpPr>
          <p:nvPr/>
        </p:nvSpPr>
        <p:spPr bwMode="auto">
          <a:xfrm>
            <a:off x="2299659" y="457245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latin typeface="Times New Roman" panose="02020603050405020304" pitchFamily="18" charset="0"/>
              </a:rPr>
              <a:t>3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cxnSp>
        <p:nvCxnSpPr>
          <p:cNvPr id="17" name="AutoShape 14"/>
          <p:cNvCxnSpPr>
            <a:cxnSpLocks noChangeShapeType="1"/>
          </p:cNvCxnSpPr>
          <p:nvPr/>
        </p:nvCxnSpPr>
        <p:spPr bwMode="auto">
          <a:xfrm>
            <a:off x="2042710" y="4027946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Oval 17"/>
          <p:cNvSpPr>
            <a:spLocks noChangeAspect="1" noChangeArrowheads="1"/>
          </p:cNvSpPr>
          <p:nvPr/>
        </p:nvSpPr>
        <p:spPr bwMode="auto">
          <a:xfrm>
            <a:off x="2744723" y="535033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latin typeface="Times New Roman" panose="02020603050405020304" pitchFamily="18" charset="0"/>
              </a:rPr>
              <a:t>4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cxnSp>
        <p:nvCxnSpPr>
          <p:cNvPr id="19" name="AutoShape 18"/>
          <p:cNvCxnSpPr>
            <a:cxnSpLocks noChangeShapeType="1"/>
          </p:cNvCxnSpPr>
          <p:nvPr/>
        </p:nvCxnSpPr>
        <p:spPr bwMode="auto">
          <a:xfrm>
            <a:off x="2577927" y="4912404"/>
            <a:ext cx="320448" cy="44960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Oval 19"/>
          <p:cNvSpPr>
            <a:spLocks noChangeAspect="1" noChangeArrowheads="1"/>
          </p:cNvSpPr>
          <p:nvPr/>
        </p:nvSpPr>
        <p:spPr bwMode="auto">
          <a:xfrm>
            <a:off x="1891387" y="5368929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latin typeface="Times New Roman" panose="02020603050405020304" pitchFamily="18" charset="0"/>
              </a:rPr>
              <a:t>2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cxnSp>
        <p:nvCxnSpPr>
          <p:cNvPr id="21" name="AutoShape 20"/>
          <p:cNvCxnSpPr>
            <a:cxnSpLocks noChangeShapeType="1"/>
            <a:stCxn id="16" idx="3"/>
          </p:cNvCxnSpPr>
          <p:nvPr/>
        </p:nvCxnSpPr>
        <p:spPr bwMode="auto">
          <a:xfrm flipH="1">
            <a:off x="2081887" y="4897662"/>
            <a:ext cx="273568" cy="4526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Oval 5"/>
          <p:cNvSpPr>
            <a:spLocks noChangeAspect="1" noChangeArrowheads="1"/>
          </p:cNvSpPr>
          <p:nvPr/>
        </p:nvSpPr>
        <p:spPr bwMode="auto">
          <a:xfrm>
            <a:off x="5045797" y="3650341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latin typeface="Times New Roman" panose="02020603050405020304" pitchFamily="18" charset="0"/>
              </a:rPr>
              <a:t>13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3" name="Oval 6"/>
          <p:cNvSpPr>
            <a:spLocks noChangeAspect="1" noChangeArrowheads="1"/>
          </p:cNvSpPr>
          <p:nvPr/>
        </p:nvSpPr>
        <p:spPr bwMode="auto">
          <a:xfrm>
            <a:off x="3978997" y="3650341"/>
            <a:ext cx="381000" cy="3810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9</a:t>
            </a:r>
            <a:endParaRPr lang="en-US" altLang="en-US" sz="2400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" name="Oval 8"/>
          <p:cNvSpPr>
            <a:spLocks noChangeAspect="1" noChangeArrowheads="1"/>
          </p:cNvSpPr>
          <p:nvPr/>
        </p:nvSpPr>
        <p:spPr bwMode="auto">
          <a:xfrm>
            <a:off x="4512397" y="2761341"/>
            <a:ext cx="381000" cy="381000"/>
          </a:xfrm>
          <a:prstGeom prst="ellipse">
            <a:avLst/>
          </a:prstGeom>
          <a:noFill/>
          <a:ln w="3810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solidFill>
                  <a:srgbClr val="000066"/>
                </a:solidFill>
                <a:latin typeface="Times New Roman" panose="02020603050405020304" pitchFamily="18" charset="0"/>
              </a:rPr>
              <a:t>11</a:t>
            </a:r>
            <a:endParaRPr lang="en-US" altLang="en-US" sz="2400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25" name="AutoShape 13"/>
          <p:cNvCxnSpPr>
            <a:cxnSpLocks noChangeShapeType="1"/>
            <a:stCxn id="24" idx="3"/>
            <a:endCxn id="23" idx="0"/>
          </p:cNvCxnSpPr>
          <p:nvPr/>
        </p:nvCxnSpPr>
        <p:spPr bwMode="auto">
          <a:xfrm flipH="1">
            <a:off x="4169498" y="3105829"/>
            <a:ext cx="398463" cy="525462"/>
          </a:xfrm>
          <a:prstGeom prst="straightConnector1">
            <a:avLst/>
          </a:prstGeom>
          <a:noFill/>
          <a:ln w="9525">
            <a:solidFill>
              <a:srgbClr val="000066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AutoShape 14"/>
          <p:cNvCxnSpPr>
            <a:cxnSpLocks noChangeShapeType="1"/>
          </p:cNvCxnSpPr>
          <p:nvPr/>
        </p:nvCxnSpPr>
        <p:spPr bwMode="auto">
          <a:xfrm>
            <a:off x="4788848" y="3105829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" name="Group 26"/>
          <p:cNvGrpSpPr/>
          <p:nvPr/>
        </p:nvGrpSpPr>
        <p:grpSpPr>
          <a:xfrm>
            <a:off x="7034841" y="1872341"/>
            <a:ext cx="3614332" cy="3877588"/>
            <a:chOff x="7034841" y="1872341"/>
            <a:chExt cx="3614332" cy="3877588"/>
          </a:xfrm>
        </p:grpSpPr>
        <p:sp>
          <p:nvSpPr>
            <p:cNvPr id="28" name="Oval 5"/>
            <p:cNvSpPr>
              <a:spLocks noChangeAspect="1" noChangeArrowheads="1"/>
            </p:cNvSpPr>
            <p:nvPr/>
          </p:nvSpPr>
          <p:spPr bwMode="auto">
            <a:xfrm>
              <a:off x="8101641" y="3650341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 dirty="0">
                  <a:latin typeface="Times New Roman" panose="02020603050405020304" pitchFamily="18" charset="0"/>
                </a:rPr>
                <a:t>6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29" name="Oval 6"/>
            <p:cNvSpPr>
              <a:spLocks noChangeAspect="1" noChangeArrowheads="1"/>
            </p:cNvSpPr>
            <p:nvPr/>
          </p:nvSpPr>
          <p:spPr bwMode="auto">
            <a:xfrm>
              <a:off x="7034841" y="3650341"/>
              <a:ext cx="381000" cy="381000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" name="Oval 8"/>
            <p:cNvSpPr>
              <a:spLocks noChangeAspect="1" noChangeArrowheads="1"/>
            </p:cNvSpPr>
            <p:nvPr/>
          </p:nvSpPr>
          <p:spPr bwMode="auto">
            <a:xfrm>
              <a:off x="7568241" y="2761341"/>
              <a:ext cx="381000" cy="381000"/>
            </a:xfrm>
            <a:prstGeom prst="ellipse">
              <a:avLst/>
            </a:prstGeom>
            <a:noFill/>
            <a:ln w="38100">
              <a:solidFill>
                <a:srgbClr val="00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rgbClr val="000066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240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1" name="Oval 9"/>
            <p:cNvSpPr>
              <a:spLocks noChangeAspect="1" noChangeArrowheads="1"/>
            </p:cNvSpPr>
            <p:nvPr/>
          </p:nvSpPr>
          <p:spPr bwMode="auto">
            <a:xfrm>
              <a:off x="8635041" y="1872341"/>
              <a:ext cx="381000" cy="381000"/>
            </a:xfrm>
            <a:prstGeom prst="ellipse">
              <a:avLst/>
            </a:prstGeom>
            <a:noFill/>
            <a:ln w="38100">
              <a:solidFill>
                <a:srgbClr val="008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8</a:t>
              </a:r>
              <a:endParaRPr lang="en-US" altLang="en-US" sz="2400" dirty="0">
                <a:solidFill>
                  <a:srgbClr val="008000"/>
                </a:solidFill>
                <a:latin typeface="Times New Roman" panose="02020603050405020304" pitchFamily="18" charset="0"/>
              </a:endParaRPr>
            </a:p>
          </p:txBody>
        </p:sp>
        <p:cxnSp>
          <p:nvCxnSpPr>
            <p:cNvPr id="32" name="AutoShape 10"/>
            <p:cNvCxnSpPr>
              <a:cxnSpLocks noChangeShapeType="1"/>
              <a:stCxn id="31" idx="3"/>
              <a:endCxn id="30" idx="0"/>
            </p:cNvCxnSpPr>
            <p:nvPr/>
          </p:nvCxnSpPr>
          <p:spPr bwMode="auto">
            <a:xfrm flipH="1">
              <a:off x="7758742" y="2216829"/>
              <a:ext cx="931863" cy="525462"/>
            </a:xfrm>
            <a:prstGeom prst="straightConnector1">
              <a:avLst/>
            </a:prstGeom>
            <a:noFill/>
            <a:ln w="9525">
              <a:solidFill>
                <a:srgbClr val="000066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" name="AutoShape 11"/>
            <p:cNvCxnSpPr>
              <a:cxnSpLocks noChangeShapeType="1"/>
              <a:stCxn id="31" idx="5"/>
            </p:cNvCxnSpPr>
            <p:nvPr/>
          </p:nvCxnSpPr>
          <p:spPr bwMode="auto">
            <a:xfrm>
              <a:off x="8960479" y="2216829"/>
              <a:ext cx="931862" cy="525462"/>
            </a:xfrm>
            <a:prstGeom prst="straightConnector1">
              <a:avLst/>
            </a:prstGeom>
            <a:noFill/>
            <a:ln w="9525">
              <a:solidFill>
                <a:srgbClr val="CC99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AutoShape 13"/>
            <p:cNvCxnSpPr>
              <a:cxnSpLocks noChangeShapeType="1"/>
              <a:stCxn id="30" idx="3"/>
              <a:endCxn id="29" idx="0"/>
            </p:cNvCxnSpPr>
            <p:nvPr/>
          </p:nvCxnSpPr>
          <p:spPr bwMode="auto">
            <a:xfrm flipH="1">
              <a:off x="7225342" y="3105829"/>
              <a:ext cx="398463" cy="525462"/>
            </a:xfrm>
            <a:prstGeom prst="straightConnector1">
              <a:avLst/>
            </a:prstGeom>
            <a:noFill/>
            <a:ln w="9525">
              <a:solidFill>
                <a:srgbClr val="000066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" name="AutoShape 14"/>
            <p:cNvCxnSpPr>
              <a:cxnSpLocks noChangeShapeType="1"/>
            </p:cNvCxnSpPr>
            <p:nvPr/>
          </p:nvCxnSpPr>
          <p:spPr bwMode="auto">
            <a:xfrm>
              <a:off x="7844692" y="3105829"/>
              <a:ext cx="398462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6" name="Oval 17"/>
            <p:cNvSpPr>
              <a:spLocks noChangeAspect="1" noChangeArrowheads="1"/>
            </p:cNvSpPr>
            <p:nvPr/>
          </p:nvSpPr>
          <p:spPr bwMode="auto">
            <a:xfrm>
              <a:off x="8546705" y="4428216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latin typeface="Times New Roman" panose="02020603050405020304" pitchFamily="18" charset="0"/>
                </a:rPr>
                <a:t>7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cxnSp>
          <p:nvCxnSpPr>
            <p:cNvPr id="37" name="AutoShape 18"/>
            <p:cNvCxnSpPr>
              <a:cxnSpLocks noChangeShapeType="1"/>
            </p:cNvCxnSpPr>
            <p:nvPr/>
          </p:nvCxnSpPr>
          <p:spPr bwMode="auto">
            <a:xfrm>
              <a:off x="8379909" y="3990287"/>
              <a:ext cx="320448" cy="44960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" name="Oval 5"/>
            <p:cNvSpPr>
              <a:spLocks noChangeAspect="1" noChangeArrowheads="1"/>
            </p:cNvSpPr>
            <p:nvPr/>
          </p:nvSpPr>
          <p:spPr bwMode="auto">
            <a:xfrm>
              <a:off x="7522035" y="4572458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 dirty="0">
                  <a:latin typeface="Times New Roman" panose="02020603050405020304" pitchFamily="18" charset="0"/>
                </a:rPr>
                <a:t>3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cxnSp>
          <p:nvCxnSpPr>
            <p:cNvPr id="39" name="AutoShape 14"/>
            <p:cNvCxnSpPr>
              <a:cxnSpLocks noChangeShapeType="1"/>
            </p:cNvCxnSpPr>
            <p:nvPr/>
          </p:nvCxnSpPr>
          <p:spPr bwMode="auto">
            <a:xfrm>
              <a:off x="7265086" y="4027946"/>
              <a:ext cx="398462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0" name="Oval 17"/>
            <p:cNvSpPr>
              <a:spLocks noChangeAspect="1" noChangeArrowheads="1"/>
            </p:cNvSpPr>
            <p:nvPr/>
          </p:nvSpPr>
          <p:spPr bwMode="auto">
            <a:xfrm>
              <a:off x="7967099" y="5350333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 dirty="0">
                  <a:latin typeface="Times New Roman" panose="02020603050405020304" pitchFamily="18" charset="0"/>
                </a:rPr>
                <a:t>4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cxnSp>
          <p:nvCxnSpPr>
            <p:cNvPr id="41" name="AutoShape 18"/>
            <p:cNvCxnSpPr>
              <a:cxnSpLocks noChangeShapeType="1"/>
            </p:cNvCxnSpPr>
            <p:nvPr/>
          </p:nvCxnSpPr>
          <p:spPr bwMode="auto">
            <a:xfrm>
              <a:off x="7800303" y="4912404"/>
              <a:ext cx="320448" cy="44960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" name="Oval 19"/>
            <p:cNvSpPr>
              <a:spLocks noChangeAspect="1" noChangeArrowheads="1"/>
            </p:cNvSpPr>
            <p:nvPr/>
          </p:nvSpPr>
          <p:spPr bwMode="auto">
            <a:xfrm>
              <a:off x="7113763" y="5368929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 dirty="0">
                  <a:latin typeface="Times New Roman" panose="02020603050405020304" pitchFamily="18" charset="0"/>
                </a:rPr>
                <a:t>2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cxnSp>
          <p:nvCxnSpPr>
            <p:cNvPr id="43" name="AutoShape 20"/>
            <p:cNvCxnSpPr>
              <a:cxnSpLocks noChangeShapeType="1"/>
              <a:stCxn id="38" idx="3"/>
            </p:cNvCxnSpPr>
            <p:nvPr/>
          </p:nvCxnSpPr>
          <p:spPr bwMode="auto">
            <a:xfrm flipH="1">
              <a:off x="7304263" y="4897662"/>
              <a:ext cx="273568" cy="45267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4" name="Oval 17"/>
            <p:cNvSpPr>
              <a:spLocks noChangeAspect="1" noChangeArrowheads="1"/>
            </p:cNvSpPr>
            <p:nvPr/>
          </p:nvSpPr>
          <p:spPr bwMode="auto">
            <a:xfrm>
              <a:off x="9669457" y="4420944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 dirty="0">
                  <a:latin typeface="Times New Roman" panose="02020603050405020304" pitchFamily="18" charset="0"/>
                </a:rPr>
                <a:t>10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cxnSp>
          <p:nvCxnSpPr>
            <p:cNvPr id="45" name="AutoShape 18"/>
            <p:cNvCxnSpPr>
              <a:cxnSpLocks noChangeShapeType="1"/>
            </p:cNvCxnSpPr>
            <p:nvPr/>
          </p:nvCxnSpPr>
          <p:spPr bwMode="auto">
            <a:xfrm>
              <a:off x="9502661" y="3983015"/>
              <a:ext cx="320448" cy="44960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6" name="Oval 5"/>
            <p:cNvSpPr>
              <a:spLocks noChangeAspect="1" noChangeArrowheads="1"/>
            </p:cNvSpPr>
            <p:nvPr/>
          </p:nvSpPr>
          <p:spPr bwMode="auto">
            <a:xfrm>
              <a:off x="10268173" y="3650341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 dirty="0">
                  <a:latin typeface="Times New Roman" panose="02020603050405020304" pitchFamily="18" charset="0"/>
                </a:rPr>
                <a:t>13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47" name="Oval 6"/>
            <p:cNvSpPr>
              <a:spLocks noChangeAspect="1" noChangeArrowheads="1"/>
            </p:cNvSpPr>
            <p:nvPr/>
          </p:nvSpPr>
          <p:spPr bwMode="auto">
            <a:xfrm>
              <a:off x="9201373" y="3650341"/>
              <a:ext cx="381000" cy="381000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9</a:t>
              </a:r>
              <a:endPara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" name="Oval 8"/>
            <p:cNvSpPr>
              <a:spLocks noChangeAspect="1" noChangeArrowheads="1"/>
            </p:cNvSpPr>
            <p:nvPr/>
          </p:nvSpPr>
          <p:spPr bwMode="auto">
            <a:xfrm>
              <a:off x="9734773" y="2761341"/>
              <a:ext cx="381000" cy="381000"/>
            </a:xfrm>
            <a:prstGeom prst="ellipse">
              <a:avLst/>
            </a:prstGeom>
            <a:noFill/>
            <a:ln w="38100">
              <a:solidFill>
                <a:srgbClr val="00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11</a:t>
              </a:r>
              <a:endParaRPr lang="en-US" altLang="en-US" sz="2400" dirty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cxnSp>
          <p:nvCxnSpPr>
            <p:cNvPr id="49" name="AutoShape 13"/>
            <p:cNvCxnSpPr>
              <a:cxnSpLocks noChangeShapeType="1"/>
              <a:stCxn id="48" idx="3"/>
              <a:endCxn id="47" idx="0"/>
            </p:cNvCxnSpPr>
            <p:nvPr/>
          </p:nvCxnSpPr>
          <p:spPr bwMode="auto">
            <a:xfrm flipH="1">
              <a:off x="9391874" y="3105829"/>
              <a:ext cx="398463" cy="525462"/>
            </a:xfrm>
            <a:prstGeom prst="straightConnector1">
              <a:avLst/>
            </a:prstGeom>
            <a:noFill/>
            <a:ln w="9525">
              <a:solidFill>
                <a:srgbClr val="000066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0" name="AutoShape 14"/>
            <p:cNvCxnSpPr>
              <a:cxnSpLocks noChangeShapeType="1"/>
            </p:cNvCxnSpPr>
            <p:nvPr/>
          </p:nvCxnSpPr>
          <p:spPr bwMode="auto">
            <a:xfrm>
              <a:off x="10011224" y="3105829"/>
              <a:ext cx="398462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1" name="Right Arrow 51"/>
          <p:cNvSpPr/>
          <p:nvPr/>
        </p:nvSpPr>
        <p:spPr>
          <a:xfrm>
            <a:off x="5104146" y="4381958"/>
            <a:ext cx="1589046" cy="381000"/>
          </a:xfrm>
          <a:prstGeom prst="rightArrow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/>
          <p:cNvSpPr txBox="1"/>
          <p:nvPr/>
        </p:nvSpPr>
        <p:spPr>
          <a:xfrm>
            <a:off x="1083212" y="1252025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52732" y="1252025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205132" y="1404425"/>
            <a:ext cx="10086536" cy="36277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en-US" sz="36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BST Insertion - </a:t>
            </a:r>
            <a:r>
              <a:rPr lang="en-US" altLang="zh-TW" sz="3600" b="1" dirty="0">
                <a:solidFill>
                  <a:srgbClr val="A50021"/>
                </a:solidFill>
                <a:latin typeface="Times New Roman" panose="02020603050405020304" pitchFamily="18" charset="0"/>
                <a:ea typeface="PMingLiU"/>
                <a:cs typeface="Times New Roman" panose="02020603050405020304" pitchFamily="18" charset="0"/>
              </a:rPr>
              <a:t>Complexity</a:t>
            </a:r>
            <a:endParaRPr lang="en-US" altLang="en-US" sz="3600" b="1" dirty="0">
              <a:solidFill>
                <a:srgbClr val="A50021"/>
              </a:solidFill>
              <a:latin typeface="Times New Roman" panose="02020603050405020304" pitchFamily="18" charset="0"/>
              <a:ea typeface="PMingLiU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operations can be supported in </a:t>
            </a:r>
            <a:r>
              <a:rPr lang="en-US" altLang="en-US" sz="2400" i="1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2400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i="1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2400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time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solidFill>
                  <a:srgbClr val="005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Case: </a:t>
            </a:r>
            <a:r>
              <a:rPr lang="en-US" altLang="en-US" sz="2400" i="1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2400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2400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O(</a:t>
            </a:r>
            <a:r>
              <a:rPr lang="en-US" altLang="en-US" sz="2400" i="1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 n</a:t>
            </a:r>
            <a:r>
              <a:rPr lang="en-US" altLang="en-US" sz="2400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balanced binary tree (and for an average tree built by adding nodes in random order.)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solidFill>
                  <a:srgbClr val="005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Worst Case: </a:t>
            </a:r>
            <a:r>
              <a:rPr lang="en-US" altLang="en-US" sz="2400" i="1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 =</a:t>
            </a:r>
            <a:r>
              <a:rPr lang="en-US" altLang="en-US" sz="2400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O(</a:t>
            </a:r>
            <a:r>
              <a:rPr lang="en-US" altLang="en-US" sz="2400" i="1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an unbalanced tree that resembles a linear chain of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nodes in the worst case.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7369" y="204585"/>
            <a:ext cx="1990725" cy="600076"/>
          </a:xfrm>
          <a:prstGeom prst="rect">
            <a:avLst/>
          </a:prstGeom>
          <a:noFill/>
        </p:spPr>
      </p:pic>
      <p:sp>
        <p:nvSpPr>
          <p:cNvPr id="10" name="Rounded Rectangle 17"/>
          <p:cNvSpPr/>
          <p:nvPr/>
        </p:nvSpPr>
        <p:spPr>
          <a:xfrm>
            <a:off x="3121964" y="7060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Time Complexity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Self-Assessment Questions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502;p17"/>
          <p:cNvSpPr/>
          <p:nvPr/>
        </p:nvSpPr>
        <p:spPr>
          <a:xfrm>
            <a:off x="1009895" y="796686"/>
            <a:ext cx="10172210" cy="100671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 binary search tree is generated by inserting in order the following integers: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50, 15, 62, 5, 20, 58, 91, 3, 8, 37, 60, 24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the node in the left sub-tree and right sub-tree of the root, respectively, is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…</a:t>
            </a:r>
            <a:endParaRPr sz="16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11" name="Rounded Rectangle 17"/>
          <p:cNvSpPr/>
          <p:nvPr/>
        </p:nvSpPr>
        <p:spPr>
          <a:xfrm>
            <a:off x="1026828" y="1977905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dirty="0"/>
              <a:t>(4, 7)</a:t>
            </a:r>
            <a:endParaRPr lang="en-US" sz="1600" dirty="0">
              <a:latin typeface="Arial" panose="020B0604020202020204" pitchFamily="34" charset="0"/>
            </a:endParaRPr>
          </a:p>
          <a:p>
            <a:r>
              <a:rPr lang="en-IN" dirty="0"/>
              <a:t>(b) (7, 4)</a:t>
            </a:r>
            <a:endParaRPr lang="en-IN" dirty="0"/>
          </a:p>
          <a:p>
            <a:r>
              <a:rPr lang="en-IN" dirty="0"/>
              <a:t>(c) (8, 3)</a:t>
            </a:r>
            <a:endParaRPr lang="en-IN" dirty="0"/>
          </a:p>
          <a:p>
            <a:r>
              <a:rPr lang="en-IN" dirty="0"/>
              <a:t>(d) (3, 8)</a:t>
            </a:r>
            <a:endParaRPr lang="en-IN" dirty="0"/>
          </a:p>
          <a:p>
            <a:r>
              <a:rPr lang="en-IN" dirty="0"/>
              <a:t> </a:t>
            </a:r>
            <a:endParaRPr lang="en-US" sz="1600" dirty="0"/>
          </a:p>
        </p:txBody>
      </p:sp>
      <p:sp>
        <p:nvSpPr>
          <p:cNvPr id="13" name="Google Shape;502;p17"/>
          <p:cNvSpPr/>
          <p:nvPr/>
        </p:nvSpPr>
        <p:spPr>
          <a:xfrm>
            <a:off x="1009895" y="3968496"/>
            <a:ext cx="10172210" cy="356616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2.Which of the following is false about a binary search tree?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17"/>
          <p:cNvSpPr/>
          <p:nvPr/>
        </p:nvSpPr>
        <p:spPr>
          <a:xfrm>
            <a:off x="1026828" y="4727197"/>
            <a:ext cx="5154516" cy="203602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The left child is always lesser than its parent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The right child is always greater than its parent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The left and right sub-trees should also be binary search trees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In order sequence gives decreasing order of elements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559559" y="1719618"/>
            <a:ext cx="10413242" cy="30785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 fontAlgn="base">
              <a:lnSpc>
                <a:spcPct val="150000"/>
              </a:lnSpc>
              <a:buFont typeface="Arial" panose="020B0604020202020204" pitchFamily="2" charset="2"/>
              <a:buChar char="•"/>
            </a:pPr>
            <a:r>
              <a:rPr lang="en-US" sz="2200" dirty="0" smtClean="0">
                <a:solidFill>
                  <a:srgbClr val="273239"/>
                </a:solidFill>
                <a:latin typeface="Times New Roman" panose="02020603050405020304"/>
                <a:cs typeface="Times New Roman" panose="02020603050405020304"/>
              </a:rPr>
              <a:t>BSTs </a:t>
            </a:r>
            <a:r>
              <a:rPr lang="en-US" sz="2200" dirty="0">
                <a:solidFill>
                  <a:srgbClr val="273239"/>
                </a:solidFill>
                <a:latin typeface="Times New Roman" panose="02020603050405020304"/>
                <a:cs typeface="Times New Roman" panose="02020603050405020304"/>
              </a:rPr>
              <a:t>are used for indexing.</a:t>
            </a:r>
            <a:endParaRPr lang="en-US" sz="2200" dirty="0">
              <a:solidFill>
                <a:srgbClr val="273239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285750" indent="-285750" algn="just" fontAlgn="base">
              <a:lnSpc>
                <a:spcPct val="150000"/>
              </a:lnSpc>
              <a:buFont typeface="Arial" panose="020B0604020202020204" pitchFamily="2" charset="2"/>
              <a:buChar char="•"/>
            </a:pPr>
            <a:r>
              <a:rPr lang="en-US" sz="2200" dirty="0">
                <a:solidFill>
                  <a:srgbClr val="273239"/>
                </a:solidFill>
                <a:latin typeface="Times New Roman" panose="02020603050405020304"/>
                <a:cs typeface="Times New Roman" panose="02020603050405020304"/>
              </a:rPr>
              <a:t>It is also used to implement various searching algorithms.</a:t>
            </a:r>
            <a:endParaRPr lang="en-US" sz="2200" dirty="0">
              <a:solidFill>
                <a:srgbClr val="273239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285750" indent="-285750" algn="just" fontAlgn="base">
              <a:lnSpc>
                <a:spcPct val="150000"/>
              </a:lnSpc>
              <a:buFont typeface="Arial" panose="020B0604020202020204" pitchFamily="2" charset="2"/>
              <a:buChar char="•"/>
            </a:pPr>
            <a:r>
              <a:rPr lang="en-US" sz="2200" dirty="0">
                <a:solidFill>
                  <a:srgbClr val="273239"/>
                </a:solidFill>
                <a:latin typeface="Times New Roman" panose="02020603050405020304"/>
                <a:cs typeface="Times New Roman" panose="02020603050405020304"/>
              </a:rPr>
              <a:t>BSTs can be used in decision support systems to store and quickly retrieve data.</a:t>
            </a:r>
            <a:endParaRPr lang="en-US" sz="2200" dirty="0">
              <a:solidFill>
                <a:srgbClr val="273239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285750" indent="-285750" algn="just" fontAlgn="base">
              <a:lnSpc>
                <a:spcPct val="150000"/>
              </a:lnSpc>
              <a:buFont typeface="Arial" panose="020B0604020202020204" pitchFamily="2" charset="2"/>
              <a:buChar char="•"/>
            </a:pPr>
            <a:r>
              <a:rPr lang="en-US" sz="2200" dirty="0">
                <a:solidFill>
                  <a:srgbClr val="273239"/>
                </a:solidFill>
                <a:latin typeface="Times New Roman" panose="02020603050405020304"/>
                <a:cs typeface="Times New Roman" panose="02020603050405020304"/>
              </a:rPr>
              <a:t>BSTs can be used to store and quickly retrieve data in computer simulations.</a:t>
            </a:r>
            <a:endParaRPr lang="en-US" sz="2200" dirty="0">
              <a:solidFill>
                <a:srgbClr val="273239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285750" indent="-285750" algn="just" fontAlgn="base">
              <a:lnSpc>
                <a:spcPct val="150000"/>
              </a:lnSpc>
              <a:buFont typeface="Arial" panose="020B0604020202020204" pitchFamily="2" charset="2"/>
              <a:buChar char="•"/>
            </a:pPr>
            <a:endParaRPr lang="en-US" sz="2200" dirty="0">
              <a:solidFill>
                <a:srgbClr val="273239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285750" indent="-285750" algn="just" fontAlgn="base">
              <a:lnSpc>
                <a:spcPct val="150000"/>
              </a:lnSpc>
              <a:buFont typeface="Arial" panose="020B0604020202020204" pitchFamily="2" charset="2"/>
              <a:buChar char="•"/>
            </a:pPr>
            <a:endParaRPr lang="en-US" sz="2200" b="0" i="0" dirty="0">
              <a:solidFill>
                <a:srgbClr val="273239"/>
              </a:solidFill>
              <a:effectLst/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Terminal Questions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33747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200" dirty="0">
                <a:latin typeface="Times New Roman" panose="02020603050405020304"/>
                <a:cs typeface="Times New Roman" panose="02020603050405020304"/>
              </a:rPr>
              <a:t>1.  Define BST?</a:t>
            </a:r>
            <a:endParaRPr lang="en-US" sz="22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200000"/>
              </a:lnSpc>
            </a:pPr>
            <a:r>
              <a:rPr lang="en-US" sz="2200" dirty="0">
                <a:latin typeface="Times New Roman" panose="02020603050405020304"/>
                <a:cs typeface="Calibri" panose="020F0502020204030204"/>
              </a:rPr>
              <a:t>2. List out various BST Traversing Techniques</a:t>
            </a:r>
            <a:br>
              <a:rPr lang="en-US" sz="2200" dirty="0">
                <a:latin typeface="Times New Roman" panose="02020603050405020304"/>
                <a:cs typeface="Calibri" panose="020F0502020204030204"/>
              </a:rPr>
            </a:br>
            <a:r>
              <a:rPr lang="en-US" sz="2200" dirty="0">
                <a:latin typeface="Times New Roman" panose="02020603050405020304"/>
                <a:cs typeface="Calibri" panose="020F0502020204030204"/>
              </a:rPr>
              <a:t>3. Differentiate between In order, Pre order, Post order Techniques</a:t>
            </a:r>
            <a:endParaRPr lang="en-US" sz="2200" dirty="0">
              <a:latin typeface="Times New Roman" panose="02020603050405020304"/>
              <a:cs typeface="Calibri" panose="020F0502020204030204"/>
            </a:endParaRPr>
          </a:p>
          <a:p>
            <a:pPr>
              <a:lnSpc>
                <a:spcPct val="200000"/>
              </a:lnSpc>
            </a:pPr>
            <a:r>
              <a:rPr lang="en-US" sz="2200" dirty="0">
                <a:latin typeface="Times New Roman" panose="02020603050405020304"/>
                <a:cs typeface="Calibri" panose="020F0502020204030204"/>
              </a:rPr>
              <a:t>4.How can you insert a node in BST</a:t>
            </a:r>
            <a:br>
              <a:rPr lang="en-US" sz="2200" dirty="0">
                <a:latin typeface="Times New Roman" panose="02020603050405020304"/>
                <a:cs typeface="Calibri" panose="020F0502020204030204"/>
              </a:rPr>
            </a:br>
            <a:r>
              <a:rPr lang="en-US" sz="2200" dirty="0">
                <a:latin typeface="Times New Roman" panose="02020603050405020304"/>
                <a:cs typeface="Calibri" panose="020F0502020204030204"/>
              </a:rPr>
              <a:t>5. How to cerate a BST</a:t>
            </a:r>
            <a:endParaRPr lang="en-US" sz="2200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161309" y="93891"/>
            <a:ext cx="7105194" cy="75519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527913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Times New Roman" panose="02020603050405020304"/>
                <a:cs typeface="Calibri" panose="020F0502020204030204"/>
              </a:rPr>
              <a:t>Reference Books:</a:t>
            </a:r>
            <a:endParaRPr lang="en-US" sz="2200" dirty="0">
              <a:latin typeface="Times New Roman" panose="02020603050405020304"/>
              <a:cs typeface="Calibri" panose="020F0502020204030204"/>
            </a:endParaRPr>
          </a:p>
          <a:p>
            <a:pPr marL="342900" lvl="1" indent="-342900">
              <a:lnSpc>
                <a:spcPct val="150000"/>
              </a:lnSpc>
              <a:buAutoNum type="arabicPeriod"/>
            </a:pPr>
            <a:r>
              <a:rPr lang="en-US" sz="2200" dirty="0">
                <a:latin typeface="Times New Roman" panose="02020603050405020304"/>
                <a:cs typeface="Calibri" panose="020F0502020204030204"/>
              </a:rPr>
              <a:t>Mark Allen Weiss, Data Structures and Algorithm Analysis in C, 2010 , Second Edition, </a:t>
            </a:r>
            <a:r>
              <a:rPr lang="en-US" sz="2200" dirty="0" err="1">
                <a:latin typeface="Times New Roman" panose="02020603050405020304"/>
                <a:cs typeface="Calibri" panose="020F0502020204030204"/>
              </a:rPr>
              <a:t>PearsonEducation</a:t>
            </a:r>
            <a:r>
              <a:rPr lang="en-US" sz="2200" dirty="0">
                <a:latin typeface="Times New Roman" panose="02020603050405020304"/>
                <a:cs typeface="Calibri" panose="020F0502020204030204"/>
              </a:rPr>
              <a:t>.</a:t>
            </a:r>
            <a:endParaRPr lang="en-IN" sz="2200" dirty="0">
              <a:latin typeface="Times New Roman" panose="02020603050405020304"/>
              <a:cs typeface="Calibri" panose="020F0502020204030204"/>
            </a:endParaRPr>
          </a:p>
          <a:p>
            <a:pPr marL="342900" lvl="1" indent="-342900">
              <a:lnSpc>
                <a:spcPct val="150000"/>
              </a:lnSpc>
              <a:buAutoNum type="arabicPeriod"/>
            </a:pPr>
            <a:r>
              <a:rPr lang="en-US" sz="2200" dirty="0">
                <a:latin typeface="Times New Roman" panose="02020603050405020304"/>
                <a:cs typeface="Calibri" panose="020F0502020204030204"/>
              </a:rPr>
              <a:t>2. Ellis Horowitz, Fundamentals of Data Structures in C: Second Edition, 2015</a:t>
            </a:r>
            <a:endParaRPr lang="en-US" sz="2200" dirty="0">
              <a:latin typeface="Times New Roman" panose="02020603050405020304"/>
              <a:cs typeface="Calibri" panose="020F0502020204030204"/>
            </a:endParaRPr>
          </a:p>
          <a:p>
            <a:pPr marL="342900" lvl="1" indent="-342900">
              <a:lnSpc>
                <a:spcPct val="150000"/>
              </a:lnSpc>
              <a:buAutoNum type="arabicPeriod"/>
            </a:pPr>
            <a:r>
              <a:rPr lang="en-US" sz="2200" dirty="0" err="1">
                <a:latin typeface="Times New Roman" panose="02020603050405020304"/>
                <a:cs typeface="Calibri" panose="020F0502020204030204"/>
              </a:rPr>
              <a:t>A.V.Aho</a:t>
            </a:r>
            <a:r>
              <a:rPr lang="en-US" sz="2200" dirty="0">
                <a:latin typeface="Times New Roman" panose="02020603050405020304"/>
                <a:cs typeface="Calibri" panose="020F0502020204030204"/>
              </a:rPr>
              <a:t>, J. E. Hopcroft, and J. D. Ullman, “Data Structures And Algorithms”, Pearson Education, First Edition Reprint2003.</a:t>
            </a:r>
            <a:endParaRPr lang="en-IN" sz="2200" dirty="0">
              <a:latin typeface="Times New Roman" panose="020206030504050203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Times New Roman" panose="02020603050405020304"/>
                <a:cs typeface="Calibri" panose="020F0502020204030204"/>
              </a:rPr>
              <a:t>Sites and Web links:</a:t>
            </a:r>
            <a:endParaRPr lang="en-US" sz="2200" dirty="0">
              <a:latin typeface="Times New Roman" panose="020206030504050203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/>
                <a:cs typeface="Calibri" panose="020F0502020204030204"/>
              </a:rPr>
              <a:t>1. </a:t>
            </a:r>
            <a:r>
              <a:rPr lang="en-US" sz="2200" dirty="0">
                <a:latin typeface="Times New Roman" panose="02020603050405020304"/>
                <a:cs typeface="Calibri" panose="020F0502020204030204"/>
                <a:hlinkClick r:id="rId1"/>
              </a:rPr>
              <a:t>https://nptel.ac.in/courses/106102064</a:t>
            </a:r>
            <a:endParaRPr lang="en-IN" sz="2200" dirty="0">
              <a:latin typeface="Times New Roman" panose="02020603050405020304"/>
              <a:cs typeface="Calibri" panose="020F0502020204030204"/>
            </a:endParaRPr>
          </a:p>
          <a:p>
            <a:r>
              <a:rPr lang="en-US" sz="2200" dirty="0">
                <a:latin typeface="Times New Roman" panose="02020603050405020304"/>
                <a:cs typeface="Calibri" panose="020F0502020204030204"/>
                <a:hlinkClick r:id="rId2"/>
              </a:rPr>
              <a:t>2. https://in.udacity.com/course/intro-to-algorithms--cs215</a:t>
            </a:r>
            <a:endParaRPr lang="en-IN" sz="2200" dirty="0">
              <a:latin typeface="Times New Roman" panose="02020603050405020304"/>
              <a:cs typeface="Calibri" panose="020F0502020204030204"/>
            </a:endParaRPr>
          </a:p>
          <a:p>
            <a:r>
              <a:rPr lang="en-US" sz="2200" dirty="0">
                <a:latin typeface="Times New Roman" panose="02020603050405020304"/>
                <a:cs typeface="Calibri" panose="020F0502020204030204"/>
              </a:rPr>
              <a:t>3. </a:t>
            </a:r>
            <a:r>
              <a:rPr lang="en-US" sz="2200" dirty="0">
                <a:latin typeface="Times New Roman" panose="02020603050405020304"/>
                <a:cs typeface="Calibri" panose="020F0502020204030204"/>
                <a:hlinkClick r:id="rId3"/>
              </a:rPr>
              <a:t>https://www.coursera.org/learn/data-structures?action=enroll</a:t>
            </a:r>
            <a:endParaRPr lang="en-US" sz="2200" dirty="0">
              <a:latin typeface="Times New Roman" panose="020206030504050203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endParaRPr lang="en-US" sz="22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274963" y="94372"/>
            <a:ext cx="9147998" cy="72155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Activities/ Case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tudies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session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1083212" y="1252025"/>
            <a:ext cx="100865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the following values one at a time to an initially empty binary search tree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10,23,85,44,26,89,62,45,89</a:t>
            </a:r>
            <a:endParaRPr lang="en-US" alt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Font typeface="Arial" panose="020B0604020202020204" pitchFamily="34" charset="0"/>
              <a:buNone/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resulting tree?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– Data structures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BD0A98-E68B-4DAA-8964-2F739D6D4075}">
  <ds:schemaRefs/>
</ds:datastoreItem>
</file>

<file path=customXml/itemProps2.xml><?xml version="1.0" encoding="utf-8"?>
<ds:datastoreItem xmlns:ds="http://schemas.openxmlformats.org/officeDocument/2006/customXml" ds:itemID="{3DA00F5F-5366-4B1C-9406-30DECA796ABB}">
  <ds:schemaRefs/>
</ds:datastoreItem>
</file>

<file path=customXml/itemProps3.xml><?xml version="1.0" encoding="utf-8"?>
<ds:datastoreItem xmlns:ds="http://schemas.openxmlformats.org/officeDocument/2006/customXml" ds:itemID="{C89A6ECA-0C1B-4F00-836D-A696F073E5C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6058</Words>
  <Application>WPS Presentation</Application>
  <PresentationFormat>Custom</PresentationFormat>
  <Paragraphs>424</Paragraphs>
  <Slides>22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45" baseType="lpstr">
      <vt:lpstr>Arial</vt:lpstr>
      <vt:lpstr>SimSun</vt:lpstr>
      <vt:lpstr>Wingdings</vt:lpstr>
      <vt:lpstr>Arial</vt:lpstr>
      <vt:lpstr>Calibri</vt:lpstr>
      <vt:lpstr>Poppins</vt:lpstr>
      <vt:lpstr>Segoe Print</vt:lpstr>
      <vt:lpstr>BioRhyme ExtraBold</vt:lpstr>
      <vt:lpstr>Poppins</vt:lpstr>
      <vt:lpstr>Poppins</vt:lpstr>
      <vt:lpstr>Times New Roman</vt:lpstr>
      <vt:lpstr>PMingLiU</vt:lpstr>
      <vt:lpstr>Times New Roman</vt:lpstr>
      <vt:lpstr>Monotype Sorts</vt:lpstr>
      <vt:lpstr>Wingdings</vt:lpstr>
      <vt:lpstr>Arial</vt:lpstr>
      <vt:lpstr>Microsoft YaHei</vt:lpstr>
      <vt:lpstr>Arial Unicode MS</vt:lpstr>
      <vt:lpstr>Calibri Light</vt:lpstr>
      <vt:lpstr>Courier New</vt:lpstr>
      <vt:lpstr>Symbol</vt:lpstr>
      <vt:lpstr>Calibri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Anusha M</cp:lastModifiedBy>
  <cp:revision>259</cp:revision>
  <dcterms:created xsi:type="dcterms:W3CDTF">2020-02-08T09:57:00Z</dcterms:created>
  <dcterms:modified xsi:type="dcterms:W3CDTF">2024-12-16T10:32:02Z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  <property fmtid="{D5CDD505-2E9C-101B-9397-08002B2CF9AE}" pid="3" name="ICV">
    <vt:lpwstr>8EF322ACAB414D268844171E35B83613_12</vt:lpwstr>
  </property>
  <property fmtid="{D5CDD505-2E9C-101B-9397-08002B2CF9AE}" pid="4" name="KSOProductBuildVer">
    <vt:lpwstr>1033-12.2.0.19307</vt:lpwstr>
  </property>
</Properties>
</file>