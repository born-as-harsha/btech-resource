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258" r:id="rId6"/>
    <p:sldId id="321" r:id="rId7"/>
    <p:sldId id="327" r:id="rId8"/>
    <p:sldId id="330" r:id="rId9"/>
    <p:sldId id="331" r:id="rId10"/>
    <p:sldId id="332" r:id="rId11"/>
    <p:sldId id="33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89"/>
  </p:normalViewPr>
  <p:slideViewPr>
    <p:cSldViewPr snapToGrid="0" showGuides="1">
      <p:cViewPr varScale="1">
        <p:scale>
          <a:sx n="79" d="100"/>
          <a:sy n="79" d="100"/>
        </p:scale>
        <p:origin x="84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1.jpeg"/><Relationship Id="rId11" Type="http://schemas.openxmlformats.org/officeDocument/2006/relationships/image" Target="../media/image20.jpeg"/><Relationship Id="rId10" Type="http://schemas.openxmlformats.org/officeDocument/2006/relationships/image" Target="../media/image19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3" y="81946"/>
            <a:ext cx="5933293" cy="665902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24SC1203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cs typeface="Poppins" panose="00000500000000000000" pitchFamily="2" charset="0"/>
              </a:rPr>
              <a:t>AVL TREE implementation(insertion)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  <a:endParaRPr lang="en-US" sz="40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535619" y="5252092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 29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AVL tree and its operations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0763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rotations perform on AVL Tree.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Describe the balance factor.</a:t>
            </a:r>
            <a:endParaRPr lang="en-US" sz="16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8791575" cy="10763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AVL Tree and Balance factor.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operation on AVL Tree.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bldLvl="0" animBg="1"/>
      <p:bldP spid="29" grpId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  <a:endParaRPr lang="en-US" sz="2400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1"/>
          <p:cNvSpPr txBox="1"/>
          <p:nvPr/>
        </p:nvSpPr>
        <p:spPr bwMode="auto">
          <a:xfrm>
            <a:off x="5095068" y="919246"/>
            <a:ext cx="3161656" cy="590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 Tree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1196502" y="3967801"/>
            <a:ext cx="9182911" cy="925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 name comes from </a:t>
            </a:r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delson – </a:t>
            </a:r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elskii and </a:t>
            </a:r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andis.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AVL tree is Self-balanced binary search tree.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 tree is defined as height balanced binary search tree in which each node is associated with a balance factor which is calculated by subtracting the height of its right sub-tree from that of its left sub-tree.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        (Cont..)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5" name="Title 1"/>
          <p:cNvSpPr txBox="1"/>
          <p:nvPr/>
        </p:nvSpPr>
        <p:spPr bwMode="auto">
          <a:xfrm>
            <a:off x="406763" y="1856021"/>
            <a:ext cx="11785237" cy="6593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 Rotation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difference in the height of left and right sub-trees is more than 1, the tree is balanced using some rotation techniques.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two rotations are single rotations, and the next two rotations are double rotations. 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Footlight MT Light" panose="0204060206030A020304" pitchFamily="18" charset="0"/>
              </a:rPr>
            </a:b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75213" y="3108535"/>
          <a:ext cx="11149264" cy="348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316"/>
                <a:gridCol w="2787316"/>
                <a:gridCol w="2787316"/>
                <a:gridCol w="2787316"/>
              </a:tblGrid>
              <a:tr h="49730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Left rotation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Right rotation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Left – Right rotation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Right – Left rotation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383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" descr="Left Ro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3952" y="3785934"/>
            <a:ext cx="2472174" cy="271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Right Ro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0926" y="3785935"/>
            <a:ext cx="2510745" cy="271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3" descr="Right Rot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559" y="3680502"/>
            <a:ext cx="959052" cy="90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Left Rota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377" y="3687051"/>
            <a:ext cx="962981" cy="89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Left Rotati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583" y="4669742"/>
            <a:ext cx="1267840" cy="85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Right Rotati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423" y="4733156"/>
            <a:ext cx="1324626" cy="76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Balanced Avl Tre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942" y="5603290"/>
            <a:ext cx="1393793" cy="83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Left Subtree of Right Subtre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104" y="3625661"/>
            <a:ext cx="896985" cy="9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Subtree Right Rotation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435" y="3625661"/>
            <a:ext cx="1081501" cy="98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Right Unbalanced Tree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794" y="4659735"/>
            <a:ext cx="1276006" cy="86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Left Rotati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4733156"/>
            <a:ext cx="1339665" cy="83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Balanced AVL Tre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651301"/>
            <a:ext cx="1460500" cy="83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7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  <a:endParaRPr lang="en-US" sz="2400" dirty="0"/>
          </a:p>
        </p:txBody>
      </p:sp>
      <p:sp>
        <p:nvSpPr>
          <p:cNvPr id="39" name="Title 1"/>
          <p:cNvSpPr txBox="1"/>
          <p:nvPr/>
        </p:nvSpPr>
        <p:spPr bwMode="auto">
          <a:xfrm>
            <a:off x="262383" y="934811"/>
            <a:ext cx="9844144" cy="3806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an AVL tree by inserting the following elements in the given order.</a:t>
            </a:r>
            <a:br>
              <a:rPr lang="en-US" sz="2400" dirty="0">
                <a:solidFill>
                  <a:srgbClr val="610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63, 9, 19, 27, 18, 108, 99, 81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656" y="1178238"/>
            <a:ext cx="2466474" cy="52175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07" y="1168363"/>
            <a:ext cx="2269708" cy="541504"/>
          </a:xfrm>
          <a:prstGeom prst="rect">
            <a:avLst/>
          </a:prstGeom>
        </p:spPr>
      </p:pic>
      <p:pic>
        <p:nvPicPr>
          <p:cNvPr id="42" name="Picture 41" descr="Diagram&#10;&#10;Description automatically generated with low confid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61" y="1802270"/>
            <a:ext cx="1185329" cy="1375973"/>
          </a:xfrm>
          <a:prstGeom prst="rect">
            <a:avLst/>
          </a:prstGeom>
        </p:spPr>
      </p:pic>
      <p:pic>
        <p:nvPicPr>
          <p:cNvPr id="43" name="Picture 42" descr="A picture containing clock, clipart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444" y="1785337"/>
            <a:ext cx="1704428" cy="1845427"/>
          </a:xfrm>
          <a:prstGeom prst="rect">
            <a:avLst/>
          </a:prstGeom>
        </p:spPr>
      </p:pic>
      <p:pic>
        <p:nvPicPr>
          <p:cNvPr id="44" name="Picture 43" descr="Diagram&#10;&#10;Description automatically generat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1256" y="1772336"/>
            <a:ext cx="3709364" cy="2018561"/>
          </a:xfrm>
          <a:prstGeom prst="rect">
            <a:avLst/>
          </a:prstGeom>
        </p:spPr>
      </p:pic>
      <p:pic>
        <p:nvPicPr>
          <p:cNvPr id="45" name="Picture 44" descr="Diagram&#10;&#10;Description automatically generat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1294" y="1798832"/>
            <a:ext cx="2313159" cy="2001002"/>
          </a:xfrm>
          <a:prstGeom prst="rect">
            <a:avLst/>
          </a:prstGeom>
        </p:spPr>
      </p:pic>
      <p:pic>
        <p:nvPicPr>
          <p:cNvPr id="46" name="Picture 45" descr="Diagram&#10;&#10;Description automatically generat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4516" y="1798832"/>
            <a:ext cx="2595168" cy="2017434"/>
          </a:xfrm>
          <a:prstGeom prst="rect">
            <a:avLst/>
          </a:prstGeom>
        </p:spPr>
      </p:pic>
      <p:pic>
        <p:nvPicPr>
          <p:cNvPr id="47" name="Picture 46" descr="Diagram&#10;&#10;Description automatically generat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731" y="3897444"/>
            <a:ext cx="2382021" cy="2845406"/>
          </a:xfrm>
          <a:prstGeom prst="rect">
            <a:avLst/>
          </a:prstGeom>
        </p:spPr>
      </p:pic>
      <p:pic>
        <p:nvPicPr>
          <p:cNvPr id="48" name="Picture 47" descr="Diagram&#10;&#10;Description automatically genera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1618" y="3910156"/>
            <a:ext cx="2378075" cy="2849627"/>
          </a:xfrm>
          <a:prstGeom prst="rect">
            <a:avLst/>
          </a:prstGeom>
        </p:spPr>
      </p:pic>
      <p:pic>
        <p:nvPicPr>
          <p:cNvPr id="49" name="Picture 48" descr="Diagram&#10;&#10;Description automatically generate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6577" y="3910157"/>
            <a:ext cx="6775225" cy="28496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SUMMARY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 Box 1"/>
          <p:cNvSpPr txBox="1"/>
          <p:nvPr/>
        </p:nvSpPr>
        <p:spPr>
          <a:xfrm>
            <a:off x="3049905" y="1633220"/>
            <a:ext cx="5586095" cy="1238250"/>
          </a:xfrm>
          <a:prstGeom prst="rect">
            <a:avLst/>
          </a:prstGeom>
        </p:spPr>
        <p:txBody>
          <a:bodyPr>
            <a:noAutofit/>
          </a:bodyPr>
          <a:p>
            <a:pPr marL="266700" indent="-266700" defTabSz="266700">
              <a:lnSpc>
                <a:spcPct val="114000"/>
              </a:lnSpc>
              <a:spcAft>
                <a:spcPct val="0"/>
              </a:spcAft>
            </a:pPr>
            <a:r>
              <a:rPr sz="1600">
                <a:latin typeface="Wingdings" panose="05000000000000000000"/>
                <a:ea typeface="SimSun" panose="02010600030101010101" pitchFamily="2" charset="-122"/>
              </a:rPr>
              <a:t>Ø </a:t>
            </a:r>
            <a:r>
              <a:rPr sz="1600" b="1">
                <a:latin typeface="Times New Roman" panose="02020603050405020304"/>
                <a:ea typeface="SimSun" panose="02010600030101010101" pitchFamily="2" charset="-122"/>
              </a:rPr>
              <a:t>What is AVL Tree?</a:t>
            </a: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266700" indent="-266700" defTabSz="266700">
              <a:lnSpc>
                <a:spcPct val="114000"/>
              </a:lnSpc>
              <a:spcAft>
                <a:spcPct val="0"/>
              </a:spcAft>
            </a:pPr>
            <a:r>
              <a:rPr sz="1600">
                <a:latin typeface="Wingdings" panose="05000000000000000000"/>
                <a:ea typeface="SimSun" panose="02010600030101010101" pitchFamily="2" charset="-122"/>
              </a:rPr>
              <a:t>Ø </a:t>
            </a:r>
            <a:r>
              <a:rPr sz="1600" b="1">
                <a:latin typeface="Times New Roman" panose="02020603050405020304"/>
                <a:ea typeface="SimSun" panose="02010600030101010101" pitchFamily="2" charset="-122"/>
              </a:rPr>
              <a:t>AVL Tree- Rotations</a:t>
            </a: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marL="266700" indent="-266700" defTabSz="266700">
              <a:lnSpc>
                <a:spcPct val="114000"/>
              </a:lnSpc>
              <a:spcAft>
                <a:spcPct val="0"/>
              </a:spcAft>
            </a:pPr>
            <a:r>
              <a:rPr sz="1600">
                <a:latin typeface="Wingdings" panose="05000000000000000000"/>
                <a:ea typeface="SimSun" panose="02010600030101010101" pitchFamily="2" charset="-122"/>
              </a:rPr>
              <a:t>Ø </a:t>
            </a:r>
            <a:r>
              <a:rPr sz="1600" b="1">
                <a:latin typeface="Times New Roman" panose="02020603050405020304"/>
                <a:ea typeface="SimSun" panose="02010600030101010101" pitchFamily="2" charset="-122"/>
              </a:rPr>
              <a:t>AVL Tree- Operations</a:t>
            </a:r>
            <a:endParaRPr sz="1600" b="1">
              <a:latin typeface="Times New Roman" panose="02020603050405020304"/>
              <a:ea typeface="SimSun" panose="02010600030101010101" pitchFamily="2" charset="-122"/>
            </a:endParaRPr>
          </a:p>
          <a:p>
            <a:pPr defTabSz="266700">
              <a:lnSpc>
                <a:spcPct val="114000"/>
              </a:lnSpc>
              <a:spcAft>
                <a:spcPct val="0"/>
              </a:spcAft>
            </a:pPr>
            <a:r>
              <a:rPr sz="1900" b="1">
                <a:solidFill>
                  <a:srgbClr val="002060"/>
                </a:solidFill>
                <a:latin typeface="Times New Roman" panose="02020603050405020304"/>
                <a:ea typeface="SimSun" panose="02010600030101010101" pitchFamily="2" charset="-122"/>
              </a:rPr>
              <a:t> </a:t>
            </a:r>
            <a:endParaRPr sz="1900" b="1">
              <a:solidFill>
                <a:srgbClr val="002060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SELF - ASSESSMENT QUESTIONS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Why we need to a binary tree which is height balanced?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6" name="Rounded Rectangle 17"/>
          <p:cNvSpPr/>
          <p:nvPr/>
        </p:nvSpPr>
        <p:spPr>
          <a:xfrm>
            <a:off x="1026828" y="1977905"/>
            <a:ext cx="1002826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a) to avoid formation of skew trees</a:t>
            </a:r>
            <a:br>
              <a:rPr lang="en-IN" dirty="0"/>
            </a:br>
            <a:r>
              <a:rPr lang="en-IN" dirty="0"/>
              <a:t>b) to save memory</a:t>
            </a:r>
            <a:br>
              <a:rPr lang="en-IN" dirty="0"/>
            </a:br>
            <a:r>
              <a:rPr lang="en-IN" dirty="0"/>
              <a:t>c) to attain faster memory access</a:t>
            </a:r>
            <a:br>
              <a:rPr lang="en-IN" dirty="0"/>
            </a:br>
            <a:r>
              <a:rPr lang="en-IN" dirty="0"/>
              <a:t>d) to simplify storing</a:t>
            </a:r>
            <a:endParaRPr lang="en-US" sz="1600" dirty="0"/>
          </a:p>
        </p:txBody>
      </p:sp>
      <p:sp>
        <p:nvSpPr>
          <p:cNvPr id="7" name="Google Shape;502;p17"/>
          <p:cNvSpPr/>
          <p:nvPr/>
        </p:nvSpPr>
        <p:spPr>
          <a:xfrm>
            <a:off x="1026828" y="3937075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IN" dirty="0">
                <a:solidFill>
                  <a:schemeClr val="bg1"/>
                </a:solidFill>
              </a:rPr>
              <a:t>Which of the following rotations is called a double rotation in AVL Tree?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8" name="Rounded Rectangle 17"/>
          <p:cNvSpPr/>
          <p:nvPr/>
        </p:nvSpPr>
        <p:spPr>
          <a:xfrm>
            <a:off x="1009895" y="4727197"/>
            <a:ext cx="1004520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a) RL and RR</a:t>
            </a:r>
            <a:endParaRPr lang="en-IN" dirty="0"/>
          </a:p>
          <a:p>
            <a:r>
              <a:rPr lang="en-IN" dirty="0"/>
              <a:t>b) LR and RL</a:t>
            </a:r>
            <a:endParaRPr lang="en-IN" dirty="0"/>
          </a:p>
          <a:p>
            <a:r>
              <a:rPr lang="en-IN" dirty="0"/>
              <a:t>c) LL and RR</a:t>
            </a:r>
            <a:endParaRPr lang="en-IN" dirty="0"/>
          </a:p>
          <a:p>
            <a:r>
              <a:rPr lang="en-IN" dirty="0"/>
              <a:t>d) More than one of the above.</a:t>
            </a:r>
            <a:endParaRPr lang="en-IN" dirty="0"/>
          </a:p>
          <a:p>
            <a:r>
              <a:rPr lang="en-IN" dirty="0"/>
              <a:t>e) None of the above.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TERMINAL QUESTIONS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900332" y="1167618"/>
            <a:ext cx="960823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the AVL Tree and Balance Factor?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b="1" dirty="0"/>
              <a:t>2. List out the rotations perform on AVL Tree?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190189" y="85638"/>
            <a:ext cx="76640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33404" y="1094466"/>
            <a:ext cx="11572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IN" dirty="0"/>
              <a:t>A.V.Aho, J. E. Hopcroft, and J. D. Ullman, “Data Structures And Algorithms”, Pearson Education, First Edition Reprint2003.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2. Horowitz, Sahni, Anderson Freed, “Fundamentals of data structures in C” , Second Edition-2007.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3. R. F. Gilberg, B. A. </a:t>
            </a:r>
            <a:r>
              <a:rPr lang="en-IN" dirty="0" err="1"/>
              <a:t>Forouzan</a:t>
            </a:r>
            <a:r>
              <a:rPr lang="en-IN" dirty="0"/>
              <a:t>, “Data Structures”, Second Edition, Thomson India Edition, 2005</a:t>
            </a:r>
            <a:endParaRPr lang="en-IN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https://nptel.ac.in/courses/106101060/4 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https://www.edx.org/course/algorithms-and-data-structures-1</a:t>
            </a:r>
            <a:r>
              <a:rPr lang="en-US" dirty="0"/>
              <a:t>2.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  https://practicepaper.in/gate-cse/avl-tree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BES-1 – Data Structure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2390</Words>
  <Application>WPS Presentation</Application>
  <PresentationFormat>Widescreen</PresentationFormat>
  <Paragraphs>132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Times New Roman</vt:lpstr>
      <vt:lpstr>Footlight MT Light</vt:lpstr>
      <vt:lpstr>Microsoft YaHei</vt:lpstr>
      <vt:lpstr>Arial Unicode MS</vt:lpstr>
      <vt:lpstr>Calibri Light</vt:lpstr>
      <vt:lpstr>Wingdings</vt:lpstr>
      <vt:lpstr>Times New Roman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Anusha M</cp:lastModifiedBy>
  <cp:revision>71</cp:revision>
  <dcterms:created xsi:type="dcterms:W3CDTF">2020-02-08T09:57:00Z</dcterms:created>
  <dcterms:modified xsi:type="dcterms:W3CDTF">2024-12-18T09:04:19Z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5EE48ACCF56C4BA59D295B7093882B7A_13</vt:lpwstr>
  </property>
  <property fmtid="{D5CDD505-2E9C-101B-9397-08002B2CF9AE}" pid="4" name="KSOProductBuildVer">
    <vt:lpwstr>1033-12.2.0.19307</vt:lpwstr>
  </property>
</Properties>
</file>