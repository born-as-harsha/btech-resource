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1" r:id="rId3"/>
    <p:sldId id="300" r:id="rId5"/>
    <p:sldId id="900" r:id="rId6"/>
    <p:sldId id="912" r:id="rId7"/>
    <p:sldId id="913" r:id="rId8"/>
    <p:sldId id="914" r:id="rId9"/>
    <p:sldId id="915" r:id="rId10"/>
    <p:sldId id="916" r:id="rId11"/>
    <p:sldId id="301" r:id="rId12"/>
    <p:sldId id="302" r:id="rId13"/>
    <p:sldId id="299" r:id="rId14"/>
    <p:sldId id="303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293B"/>
    <a:srgbClr val="FF9900"/>
    <a:srgbClr val="E84845"/>
    <a:srgbClr val="FAD2D2"/>
    <a:srgbClr val="F89E4C"/>
    <a:srgbClr val="A81E24"/>
    <a:srgbClr val="FFF2CC"/>
    <a:srgbClr val="CF2F33"/>
    <a:srgbClr val="BA2532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89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ustomXml" Target="../customXml/item3.xml"/><Relationship Id="rId21" Type="http://schemas.openxmlformats.org/officeDocument/2006/relationships/customXml" Target="../customXml/item2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2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3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  <a:endParaRPr lang="en-US" sz="80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4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hyperlink" Target="https://www.coursera.org/learn/data-structures?action=enroll" TargetMode="External"/><Relationship Id="rId2" Type="http://schemas.openxmlformats.org/officeDocument/2006/relationships/hyperlink" Target="https://in.udacity.com/course/intro-to-algorithms--cs215" TargetMode="External"/><Relationship Id="rId1" Type="http://schemas.openxmlformats.org/officeDocument/2006/relationships/hyperlink" Target="https://nptel.ac.in/courses/106102064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structures</a:t>
            </a: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/>
                <a:sym typeface="BioRhyme ExtraBold"/>
              </a:rPr>
              <a:t>24SC1203</a:t>
            </a: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BINARY SEARCH TREE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cs typeface="Poppins" panose="00000500000000000000" pitchFamily="2" charset="0"/>
              </a:rPr>
              <a:t>(Search,Max,Min operations)</a:t>
            </a:r>
            <a:endParaRPr lang="en-US" sz="4000" b="1" dirty="0">
              <a:solidFill>
                <a:srgbClr val="C00000"/>
              </a:solidFill>
              <a:cs typeface="Poppins" panose="00000500000000000000" pitchFamily="2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BES-1</a:t>
            </a:r>
            <a:endParaRPr lang="en-US" sz="4000" dirty="0">
              <a:solidFill>
                <a:srgbClr val="C00000"/>
              </a:solidFill>
              <a:cs typeface="Poppins" pitchFamily="2" charset="77"/>
            </a:endParaRPr>
          </a:p>
        </p:txBody>
      </p:sp>
      <p:sp>
        <p:nvSpPr>
          <p:cNvPr id="8" name="Google Shape;502;p17"/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/>
                <a:sym typeface="Calibri" panose="020F0502020204030204"/>
              </a:rPr>
              <a:t>Session - 28</a:t>
            </a:r>
            <a:endParaRPr lang="en-US" sz="2400" dirty="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684469"/>
            <a:ext cx="10731286" cy="78534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Binary search tree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041744" y="167450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to search a node in BST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Demonstrate to find out Maximum and Minimum node in BST</a:t>
            </a:r>
            <a:endParaRPr lang="en-US" sz="16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041744" y="3945448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  <a:endParaRPr lang="en-US" sz="2400" dirty="0"/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4772230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, you should be able to:</a:t>
            </a:r>
            <a:endParaRPr lang="en-US" sz="1600" b="0" i="0" dirty="0">
              <a:effectLst/>
              <a:latin typeface="Arial" panose="020B0604020202020204"/>
              <a:cs typeface="Arial" panose="020B0604020202020204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the concept of binary search tree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Poppins" panose="00000500000000000000" pitchFamily="2" charset="0"/>
              </a:rPr>
              <a:t>Search a node in BST</a:t>
            </a:r>
            <a:endParaRPr lang="en-US" sz="1600" dirty="0">
              <a:latin typeface="Arial" panose="020B0604020202020204" pitchFamily="34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Poppins" panose="00000500000000000000" pitchFamily="2" charset="0"/>
              </a:rPr>
              <a:t>Find out Maximum node in BST</a:t>
            </a:r>
            <a:endParaRPr lang="en-US" sz="1600" dirty="0">
              <a:latin typeface="Arial" panose="020B0604020202020204" pitchFamily="34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Poppins" panose="00000500000000000000" pitchFamily="2" charset="0"/>
              </a:rPr>
              <a:t>Find out Minimum node in BST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7119" y="949090"/>
            <a:ext cx="8364344" cy="505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Search a node in BST:</a:t>
            </a:r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Algorithm</a:t>
            </a:r>
            <a:r>
              <a:rPr lang="en-US" altLang="en-US" sz="18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:</a:t>
            </a:r>
            <a:endParaRPr lang="en-US" altLang="en-US" sz="1800" b="1" dirty="0">
              <a:solidFill>
                <a:srgbClr val="A50021"/>
              </a:solidFill>
              <a:latin typeface="Times New Roman" panose="02020603050405020304"/>
              <a:ea typeface="+mj-ea"/>
              <a:cs typeface="Times New Roman" panose="02020603050405020304"/>
            </a:endParaRPr>
          </a:p>
          <a:p>
            <a:endParaRPr lang="en-US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If root is NULL, print </a:t>
            </a:r>
            <a:r>
              <a:rPr lang="en-IN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"Tree does not exist "</a:t>
            </a: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stop.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Otherwise: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root-&gt;data is equal to key: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 </a:t>
            </a:r>
            <a:r>
              <a:rPr lang="en-IN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"Key found: [key]"</a:t>
            </a: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stop.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 if key is less than root-&gt;data: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Call Search recursively on the left subtree (root-&gt;left).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 if key is greater than root-&gt;data: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Call Search recursively on the right subtree (root-&gt;right).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/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INTRODUCTION 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0474" y="833982"/>
            <a:ext cx="83643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Search a node in BST:</a:t>
            </a:r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/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cs typeface="Calibri" panose="020F0502020204030204"/>
              </a:rPr>
              <a:t>DESCRIPTION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104" y="1632516"/>
            <a:ext cx="6035224" cy="29365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0474" y="833982"/>
            <a:ext cx="8364344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Search a node in BST:</a:t>
            </a:r>
            <a:br>
              <a:rPr lang="en-US" altLang="en-US" sz="24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</a:br>
            <a:br>
              <a:rPr lang="en-US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Ex: Searching a node 12 in BST</a:t>
            </a:r>
            <a:endParaRPr lang="en-US" alt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/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DESCRIPTION </a:t>
            </a:r>
            <a:endParaRPr lang="en-US" dirty="0"/>
          </a:p>
        </p:txBody>
      </p:sp>
      <p:pic>
        <p:nvPicPr>
          <p:cNvPr id="6" name="Picture 5" descr="A diagram of a diagram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274" y="2480455"/>
            <a:ext cx="10247640" cy="37661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18026" y="1001780"/>
            <a:ext cx="8364344" cy="50400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To find Maximum Element in BST:</a:t>
            </a:r>
            <a:endParaRPr lang="en-US" altLang="en-US" sz="2400" b="1" dirty="0">
              <a:solidFill>
                <a:srgbClr val="A50021"/>
              </a:solidFill>
              <a:latin typeface="Times New Roman" panose="02020603050405020304"/>
              <a:ea typeface="+mj-ea"/>
              <a:cs typeface="Times New Roman" panose="02020603050405020304"/>
            </a:endParaRPr>
          </a:p>
          <a:p>
            <a: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 </a:t>
            </a:r>
            <a:r>
              <a:rPr lang="en-US" altLang="en-US" sz="11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 </a:t>
            </a:r>
            <a:endParaRPr lang="en-US" altLang="en-US" sz="1100" b="1" dirty="0">
              <a:solidFill>
                <a:srgbClr val="A50021"/>
              </a:solidFill>
              <a:latin typeface="Times New Roman" panose="02020603050405020304"/>
              <a:ea typeface="+mj-ea"/>
              <a:cs typeface="Times New Roman" panose="02020603050405020304"/>
            </a:endParaRPr>
          </a:p>
          <a:p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Algorithm:</a:t>
            </a:r>
            <a:endParaRPr lang="en-US" altLang="en-US" sz="2400" b="1" dirty="0">
              <a:solidFill>
                <a:srgbClr val="A50021"/>
              </a:solidFill>
              <a:latin typeface="Times New Roman" panose="02020603050405020304"/>
              <a:ea typeface="+mj-ea"/>
              <a:cs typeface="Times New Roman" panose="02020603050405020304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/>
              <a:ea typeface="+mj-ea"/>
              <a:cs typeface="Times New Roman" panose="02020603050405020304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1. If root is NULL: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Return INT_MIN (indicating the tree is empty or an error condition).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2. Otherwise: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If root-&gt;right is NULL: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Return root-&gt;data (current node contains the maximum value as there is no right child).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Else: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Call </a:t>
            </a:r>
            <a:r>
              <a:rPr lang="en-IN" sz="1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SearchMax</a:t>
            </a: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recursively on the right subtree (root-&gt;right).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/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DESCRIPTION 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0474" y="833982"/>
            <a:ext cx="8364344" cy="54460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To find Minimum Element in BST:</a:t>
            </a:r>
            <a:endParaRPr lang="en-US" altLang="en-US" sz="2400" b="1" dirty="0">
              <a:solidFill>
                <a:srgbClr val="A50021"/>
              </a:solidFill>
              <a:latin typeface="Times New Roman" panose="02020603050405020304"/>
              <a:ea typeface="+mj-ea"/>
              <a:cs typeface="Times New Roman" panose="02020603050405020304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 Algorithm</a:t>
            </a:r>
            <a:br>
              <a:rPr lang="en-US" altLang="en-US" sz="2400" b="1" dirty="0">
                <a:solidFill>
                  <a:srgbClr val="A50021"/>
                </a:solidFill>
                <a:latin typeface="Times New Roman" panose="02020603050405020304"/>
                <a:ea typeface="+mj-ea"/>
                <a:cs typeface="Times New Roman" panose="02020603050405020304"/>
              </a:rPr>
            </a:br>
            <a:br>
              <a:rPr lang="en-US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altLang="en-US" dirty="0"/>
              <a:t>1.</a:t>
            </a: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If root is NULL: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Return INT_MAX (indicating the tree is empty or an error condition).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     2.Otherwise: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If root-&gt;left is NULL: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1600200" lvl="3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Return root-&gt;data (current node contains the minimum value as there is no left child).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Else: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1600200" lvl="3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Call </a:t>
            </a:r>
            <a:r>
              <a:rPr lang="en-IN" sz="1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SearchMin</a:t>
            </a: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 recursively on the left subtree (root-&gt;left).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altLang="en-US" sz="24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/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cs typeface="Calibri" panose="020F0502020204030204"/>
              </a:rPr>
              <a:t>DESCRIPTION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0474" y="833982"/>
            <a:ext cx="83643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 find Minimum Element in BST:</a:t>
            </a:r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/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DESCRIPTION </a:t>
            </a:r>
            <a:endParaRPr lang="en-US" dirty="0"/>
          </a:p>
        </p:txBody>
      </p:sp>
      <p:pic>
        <p:nvPicPr>
          <p:cNvPr id="6" name="Picture 5" descr="A diagram of a tree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59" y="1470408"/>
            <a:ext cx="6491916" cy="3930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  <a:endParaRPr lang="en-US" sz="2400" dirty="0"/>
          </a:p>
        </p:txBody>
      </p:sp>
      <p:sp>
        <p:nvSpPr>
          <p:cNvPr id="7" name="Google Shape;502;p17"/>
          <p:cNvSpPr/>
          <p:nvPr/>
        </p:nvSpPr>
        <p:spPr>
          <a:xfrm>
            <a:off x="1009895" y="796686"/>
            <a:ext cx="10172210" cy="100671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/>
              <a:t>1. </a:t>
            </a:r>
            <a:r>
              <a:rPr lang="en-US" dirty="0"/>
              <a:t>Which of the following is correct to find the maximum element in a BST?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1105487" y="1931301"/>
            <a:ext cx="8087674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kern="100"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A. Traverse the left subtree until NULL is reached.</a:t>
            </a:r>
            <a:br>
              <a:rPr lang="en-IN" kern="100"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</a:br>
            <a:r>
              <a:rPr lang="en-IN" kern="100"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B. Traverse the right subtree until NULL is reached.</a:t>
            </a:r>
            <a:br>
              <a:rPr lang="en-IN" kern="100"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</a:br>
            <a:r>
              <a:rPr lang="en-IN" kern="100"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C. Compare all the elements in the tree to find the maximum.</a:t>
            </a:r>
            <a:br>
              <a:rPr lang="en-IN" kern="100"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</a:br>
            <a:r>
              <a:rPr lang="en-IN" kern="100"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D. Start at the leaf nodes and work upwards.</a:t>
            </a:r>
            <a:endParaRPr lang="en-IN" sz="2800" kern="100"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</p:txBody>
      </p:sp>
      <p:sp>
        <p:nvSpPr>
          <p:cNvPr id="13" name="Google Shape;502;p17"/>
          <p:cNvSpPr/>
          <p:nvPr/>
        </p:nvSpPr>
        <p:spPr>
          <a:xfrm>
            <a:off x="1009894" y="3798238"/>
            <a:ext cx="10413281" cy="801058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2.If the BST is empty, what value is commonly returned as a sentinel when finding the maximum or minimum?</a:t>
            </a:r>
            <a:endParaRPr lang="en-IN" dirty="0"/>
          </a:p>
        </p:txBody>
      </p:sp>
      <p:sp>
        <p:nvSpPr>
          <p:cNvPr id="14" name="Rounded Rectangle 17"/>
          <p:cNvSpPr/>
          <p:nvPr/>
        </p:nvSpPr>
        <p:spPr>
          <a:xfrm>
            <a:off x="1026827" y="4727197"/>
            <a:ext cx="8235159" cy="20360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A. 0</a:t>
            </a:r>
            <a:br>
              <a:rPr lang="en-IN" dirty="0"/>
            </a:br>
            <a:r>
              <a:rPr lang="en-IN" dirty="0"/>
              <a:t>B. INT_MAX for minimum and INT_MIN for maximum</a:t>
            </a:r>
            <a:br>
              <a:rPr lang="en-IN" dirty="0"/>
            </a:br>
            <a:r>
              <a:rPr lang="en-IN" dirty="0"/>
              <a:t>C. NULL</a:t>
            </a:r>
            <a:br>
              <a:rPr lang="en-IN" dirty="0"/>
            </a:br>
            <a:r>
              <a:rPr lang="en-IN" dirty="0"/>
              <a:t>D. The value of the root node</a:t>
            </a:r>
            <a:endParaRPr lang="en-IN" dirty="0"/>
          </a:p>
          <a:p>
            <a:endParaRPr lang="en-US" sz="16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2307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How to find Minimum node in BST</a:t>
            </a:r>
            <a:endParaRPr lang="en-US" b="1" dirty="0">
              <a:cs typeface="Calibri" panose="020F0502020204030204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cs typeface="Calibri" panose="020F0502020204030204"/>
              </a:rPr>
              <a:t>2.How to find Maximum node in BST</a:t>
            </a:r>
            <a:endParaRPr lang="en-US" dirty="0">
              <a:cs typeface="Calibri" panose="020F0502020204030204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cs typeface="Calibri" panose="020F0502020204030204"/>
              </a:rPr>
              <a:t>3. How to Search a node in BST</a:t>
            </a:r>
            <a:endParaRPr lang="en-US" b="1" dirty="0">
              <a:cs typeface="Calibri" panose="020F0502020204030204"/>
            </a:endParaRPr>
          </a:p>
          <a:p>
            <a:pPr>
              <a:lnSpc>
                <a:spcPct val="200000"/>
              </a:lnSpc>
            </a:pPr>
            <a:endParaRPr lang="en-US" b="1" dirty="0">
              <a:cs typeface="Calibri" panose="020F0502020204030204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ACTIVITIES/ CASE STUDIES/ IMPORTANT FACTS RELATED TO THE SESSION</a:t>
            </a:r>
            <a:endParaRPr lang="en-US" sz="2400" dirty="0"/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083212" y="1252025"/>
            <a:ext cx="100865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US" dirty="0"/>
              <a:t>Add the following values one at a time to an initially empty binary search tree :</a:t>
            </a:r>
            <a:endParaRPr lang="en-US" dirty="0"/>
          </a:p>
          <a:p>
            <a:pPr algn="ctr"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       10,23,85,44,26,89,62,45,89</a:t>
            </a:r>
            <a:endParaRPr lang="en-US" altLang="en-US" dirty="0">
              <a:solidFill>
                <a:srgbClr val="FF0000"/>
              </a:solidFill>
            </a:endParaRPr>
          </a:p>
          <a:p>
            <a:pPr marL="342900" indent="-342900" algn="ctr">
              <a:buFont typeface="+mj-lt"/>
              <a:buAutoNum type="arabicPeriod"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2.</a:t>
            </a:r>
            <a:r>
              <a:rPr lang="en-US" b="1" dirty="0"/>
              <a:t> </a:t>
            </a:r>
            <a:r>
              <a:rPr lang="en-US" dirty="0"/>
              <a:t>Write an Algorithm for finding a key element in a Binary Search Tree (BST).</a:t>
            </a:r>
            <a:endParaRPr lang="en-US" dirty="0"/>
          </a:p>
          <a:p>
            <a:pPr>
              <a:defRPr/>
            </a:pPr>
            <a:endParaRPr lang="en-US" dirty="0"/>
          </a:p>
          <a:p>
            <a:pPr lvl="0">
              <a:defRPr/>
            </a:pPr>
            <a:r>
              <a:rPr lang="en-US" dirty="0"/>
              <a:t>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cs typeface="Calibri" panose="020F0502020204030204"/>
              </a:rPr>
              <a:t>Reference Books:</a:t>
            </a:r>
            <a:endParaRPr lang="en-US" sz="2400">
              <a:cs typeface="Calibri" panose="020F0502020204030204"/>
            </a:endParaRPr>
          </a:p>
          <a:p>
            <a:pPr marL="342900" lvl="1" indent="-342900">
              <a:lnSpc>
                <a:spcPct val="150000"/>
              </a:lnSpc>
              <a:buAutoNum type="arabicPeriod"/>
            </a:pPr>
            <a:r>
              <a:rPr lang="en-IN" dirty="0">
                <a:cs typeface="Calibri" panose="020F0502020204030204"/>
              </a:rPr>
              <a:t>"Mark Allen Weiss, Data Structures and Algorithm Analysis in C, 2010 , Second Edition, Pearson Education. </a:t>
            </a:r>
            <a:endParaRPr lang="en-US" dirty="0">
              <a:cs typeface="Calibri" panose="020F0502020204030204"/>
            </a:endParaRPr>
          </a:p>
          <a:p>
            <a:pPr marL="342900" lvl="1" indent="-342900">
              <a:lnSpc>
                <a:spcPct val="150000"/>
              </a:lnSpc>
              <a:buAutoNum type="arabicPeriod"/>
            </a:pPr>
            <a:r>
              <a:rPr lang="en-IN" dirty="0">
                <a:cs typeface="Calibri" panose="020F0502020204030204"/>
              </a:rPr>
              <a:t>2. Ellis Horowitz, Fundamentals of Data Structures in C: Second Edition, 2015.</a:t>
            </a:r>
            <a:endParaRPr lang="en-US" dirty="0">
              <a:cs typeface="Calibri" panose="020F0502020204030204"/>
            </a:endParaRPr>
          </a:p>
          <a:p>
            <a:pPr marL="342900" lvl="1" indent="-342900">
              <a:lnSpc>
                <a:spcPct val="150000"/>
              </a:lnSpc>
              <a:buAutoNum type="arabicPeriod"/>
            </a:pPr>
            <a:r>
              <a:rPr lang="en-IN" dirty="0" err="1">
                <a:cs typeface="Calibri" panose="020F0502020204030204"/>
              </a:rPr>
              <a:t>A.V.Aho</a:t>
            </a:r>
            <a:r>
              <a:rPr lang="en-IN" dirty="0">
                <a:cs typeface="Calibri" panose="020F0502020204030204"/>
              </a:rPr>
              <a:t>, J. E. Hopcroft, and J. D. Ullman, “Data Structures And Algorithms”, Pearson Education, First Edition Reprint 2003. </a:t>
            </a:r>
            <a:endParaRPr lang="en-US" dirty="0">
              <a:cs typeface="Calibri" panose="020F0502020204030204"/>
            </a:endParaRPr>
          </a:p>
          <a:p>
            <a:pPr marL="0" lvl="1">
              <a:lnSpc>
                <a:spcPct val="150000"/>
              </a:lnSpc>
            </a:pPr>
            <a:r>
              <a:rPr lang="en-US" sz="2400" b="1">
                <a:cs typeface="Calibri" panose="020F0502020204030204"/>
              </a:rPr>
              <a:t>Sites and Web links:</a:t>
            </a:r>
            <a:endParaRPr lang="en-US" sz="2400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>
                <a:cs typeface="Calibri" panose="020F0502020204030204"/>
              </a:rPr>
              <a:t>1. </a:t>
            </a:r>
            <a:r>
              <a:rPr lang="en-US" dirty="0">
                <a:cs typeface="Calibri" panose="020F0502020204030204"/>
                <a:hlinkClick r:id="rId1"/>
              </a:rPr>
              <a:t>https://nptel.ac.in/courses/106102064</a:t>
            </a:r>
            <a:endParaRPr lang="en-IN">
              <a:cs typeface="Calibri" panose="020F0502020204030204"/>
            </a:endParaRPr>
          </a:p>
          <a:p>
            <a:r>
              <a:rPr lang="en-US" dirty="0">
                <a:cs typeface="Calibri" panose="020F0502020204030204"/>
                <a:hlinkClick r:id="rId2"/>
              </a:rPr>
              <a:t>2. https://in.udacity.com/course/intro-to-algorithms--cs215</a:t>
            </a:r>
            <a:endParaRPr lang="en-IN">
              <a:cs typeface="Calibri" panose="020F0502020204030204"/>
            </a:endParaRPr>
          </a:p>
          <a:p>
            <a:r>
              <a:rPr lang="en-US">
                <a:cs typeface="Calibri" panose="020F0502020204030204"/>
              </a:rPr>
              <a:t>3. </a:t>
            </a:r>
            <a:r>
              <a:rPr lang="en-US" dirty="0">
                <a:cs typeface="Calibri" panose="020F0502020204030204"/>
                <a:hlinkClick r:id="rId3"/>
              </a:rPr>
              <a:t>https://www.coursera.org/learn/data-structures?action=enroll</a:t>
            </a:r>
            <a:endParaRPr lang="en-US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Data structures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BD0A98-E68B-4DAA-8964-2F739D6D4075}">
  <ds:schemaRefs/>
</ds:datastoreItem>
</file>

<file path=customXml/itemProps2.xml><?xml version="1.0" encoding="utf-8"?>
<ds:datastoreItem xmlns:ds="http://schemas.openxmlformats.org/officeDocument/2006/customXml" ds:itemID="{3DA00F5F-5366-4B1C-9406-30DECA796ABB}">
  <ds:schemaRefs/>
</ds:datastoreItem>
</file>

<file path=customXml/itemProps3.xml><?xml version="1.0" encoding="utf-8"?>
<ds:datastoreItem xmlns:ds="http://schemas.openxmlformats.org/officeDocument/2006/customXml" ds:itemID="{C89A6ECA-0C1B-4F00-836D-A696F073E5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3150</Words>
  <Application>WPS Presentation</Application>
  <PresentationFormat>Widescreen</PresentationFormat>
  <Paragraphs>152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4" baseType="lpstr">
      <vt:lpstr>Arial</vt:lpstr>
      <vt:lpstr>SimSun</vt:lpstr>
      <vt:lpstr>Wingdings</vt:lpstr>
      <vt:lpstr>Arial</vt:lpstr>
      <vt:lpstr>Calibri</vt:lpstr>
      <vt:lpstr>Poppins</vt:lpstr>
      <vt:lpstr>Segoe Print</vt:lpstr>
      <vt:lpstr>BioRhyme ExtraBold</vt:lpstr>
      <vt:lpstr>Poppins</vt:lpstr>
      <vt:lpstr>Poppins</vt:lpstr>
      <vt:lpstr>Times New Roman</vt:lpstr>
      <vt:lpstr>Times New Roman</vt:lpstr>
      <vt:lpstr>Calibri</vt:lpstr>
      <vt:lpstr>Symbol</vt:lpstr>
      <vt:lpstr>Courier New</vt:lpstr>
      <vt:lpstr>Gautami</vt:lpstr>
      <vt:lpstr>Segoe UI Symbol</vt:lpstr>
      <vt:lpstr>Microsoft YaHei</vt:lpstr>
      <vt:lpstr>Arial Unicode MS</vt:lpstr>
      <vt:lpstr>Calibri Light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Anusha M</cp:lastModifiedBy>
  <cp:revision>104</cp:revision>
  <dcterms:created xsi:type="dcterms:W3CDTF">2020-02-08T09:57:00Z</dcterms:created>
  <dcterms:modified xsi:type="dcterms:W3CDTF">2024-12-16T10:13:26Z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6CEE24D95B58486188B8D153E6690F63_13</vt:lpwstr>
  </property>
  <property fmtid="{D5CDD505-2E9C-101B-9397-08002B2CF9AE}" pid="4" name="KSOProductBuildVer">
    <vt:lpwstr>1033-12.2.0.19307</vt:lpwstr>
  </property>
</Properties>
</file>