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1" r:id="rId3"/>
    <p:sldId id="300" r:id="rId5"/>
    <p:sldId id="900" r:id="rId6"/>
    <p:sldId id="910" r:id="rId7"/>
    <p:sldId id="911" r:id="rId8"/>
    <p:sldId id="905" r:id="rId9"/>
    <p:sldId id="288" r:id="rId10"/>
    <p:sldId id="912" r:id="rId11"/>
    <p:sldId id="287" r:id="rId12"/>
    <p:sldId id="301" r:id="rId13"/>
    <p:sldId id="302" r:id="rId14"/>
    <p:sldId id="303" r:id="rId15"/>
    <p:sldId id="299" r:id="rId16"/>
    <p:sldId id="3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293B"/>
    <a:srgbClr val="FF9900"/>
    <a:srgbClr val="E84845"/>
    <a:srgbClr val="FAD2D2"/>
    <a:srgbClr val="F89E4C"/>
    <a:srgbClr val="A81E24"/>
    <a:srgbClr val="FFF2CC"/>
    <a:srgbClr val="CF2F33"/>
    <a:srgbClr val="BA2532"/>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09"/>
    <p:restoredTop sz="94689"/>
  </p:normalViewPr>
  <p:slideViewPr>
    <p:cSldViewPr snapToGrid="0" showGuides="1">
      <p:cViewPr varScale="1">
        <p:scale>
          <a:sx n="82" d="100"/>
          <a:sy n="82" d="100"/>
        </p:scale>
        <p:origin x="-691" y="-91"/>
      </p:cViewPr>
      <p:guideLst>
        <p:guide orient="horz" pos="2160"/>
        <p:guide pos="385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customXml" Target="../customXml/item3.xml"/><Relationship Id="rId22" Type="http://schemas.openxmlformats.org/officeDocument/2006/relationships/customXml" Target="../customXml/item2.xml"/><Relationship Id="rId21" Type="http://schemas.openxmlformats.org/officeDocument/2006/relationships/customXml" Target="../customXml/item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2">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3">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endParaRPr lang="en-US" sz="80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4.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hyperlink" Target="https://www.coursera.org/learn/data-structures?action=enroll" TargetMode="External"/><Relationship Id="rId2" Type="http://schemas.openxmlformats.org/officeDocument/2006/relationships/hyperlink" Target="https://in.udacity.com/course/intro-to-algorithms--cs215" TargetMode="External"/><Relationship Id="rId1" Type="http://schemas.openxmlformats.org/officeDocument/2006/relationships/hyperlink" Target="https://nptel.ac.in/courses/106102064" TargetMode="Externa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1">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30828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Data structures</a:t>
            </a: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smtClean="0">
                <a:solidFill>
                  <a:srgbClr val="C00000"/>
                </a:solidFill>
                <a:cs typeface="Poppins"/>
                <a:sym typeface="BioRhyme ExtraBold"/>
              </a:rPr>
              <a:t>24SC1203</a:t>
            </a:r>
            <a:endParaRPr lang="en-US" sz="3200" b="1" cap="all" dirty="0">
              <a:solidFill>
                <a:srgbClr val="C00000"/>
              </a:solidFill>
              <a:cs typeface="Poppins" panose="00000500000000000000" pitchFamily="2" charset="0"/>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4000" b="1" dirty="0">
                <a:solidFill>
                  <a:srgbClr val="C00000"/>
                </a:solidFill>
                <a:effectLst/>
                <a:cs typeface="Poppins" panose="00000500000000000000" pitchFamily="2" charset="0"/>
              </a:rPr>
              <a:t>BINARY SEARCH TREE</a:t>
            </a:r>
            <a:endParaRPr lang="en-US" sz="4000" b="1" dirty="0">
              <a:solidFill>
                <a:srgbClr val="C00000"/>
              </a:solidFill>
              <a:effectLst/>
              <a:cs typeface="Poppins" panose="00000500000000000000" pitchFamily="2" charset="0"/>
            </a:endParaRP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BES-1</a:t>
            </a:r>
            <a:endParaRPr lang="en-US" sz="4000" dirty="0">
              <a:solidFill>
                <a:srgbClr val="C00000"/>
              </a:solidFill>
              <a:cs typeface="Poppins" pitchFamily="2" charset="77"/>
            </a:endParaRPr>
          </a:p>
        </p:txBody>
      </p:sp>
      <p:sp>
        <p:nvSpPr>
          <p:cNvPr id="8" name="Google Shape;502;p17"/>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a:sym typeface="Calibri" panose="020F0502020204030204"/>
              </a:rPr>
              <a:t>Session - 27</a:t>
            </a:r>
            <a:endParaRPr sz="2400" dirty="0">
              <a:solidFill>
                <a:schemeClr val="lt1"/>
              </a:solidFill>
              <a:ea typeface="Calibri" panose="020F0502020204030204"/>
              <a:cs typeface="Poppins" panose="00000500000000000000" pitchFamily="2" charset="0"/>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2"/>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endParaRPr lang="en-US" sz="2400" dirty="0"/>
          </a:p>
        </p:txBody>
      </p:sp>
      <p:sp>
        <p:nvSpPr>
          <p:cNvPr id="5" name="TextBox 4"/>
          <p:cNvSpPr txBox="1"/>
          <p:nvPr/>
        </p:nvSpPr>
        <p:spPr>
          <a:xfrm>
            <a:off x="914400" y="684469"/>
            <a:ext cx="10731286" cy="785343"/>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Binary search tree</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endParaRPr lang="en-US" sz="2400" dirty="0"/>
          </a:p>
        </p:txBody>
      </p:sp>
      <p:sp>
        <p:nvSpPr>
          <p:cNvPr id="9" name="TextBox 8"/>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endParaRPr lang="en-US" sz="1600" b="0" i="0" dirty="0">
              <a:effectLst/>
              <a:latin typeface="Poppins"/>
              <a:cs typeface="Poppins"/>
            </a:endParaRPr>
          </a:p>
          <a:p>
            <a:pPr marL="342900" indent="-342900">
              <a:buAutoNum type="arabicPeriod"/>
            </a:pPr>
            <a:r>
              <a:rPr lang="en-US" sz="1600" b="1" dirty="0"/>
              <a:t>How to delete a node from binary search tree (BST)</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a:cs typeface="Arial" panose="020B0604020202020204"/>
              </a:rPr>
              <a:t>Deletion of a node in three different cases</a:t>
            </a:r>
            <a:endParaRPr lang="en-US" sz="1600" b="0" i="0" dirty="0">
              <a:effectLst/>
              <a:latin typeface="Arial" panose="020B0604020202020204"/>
              <a:cs typeface="Arial" panose="020B0604020202020204"/>
            </a:endParaRPr>
          </a:p>
          <a:p>
            <a:pPr marL="342900" indent="-342900">
              <a:buAutoNum type="arabicPeriod"/>
            </a:pPr>
            <a:r>
              <a:rPr lang="en-US" sz="1600" dirty="0">
                <a:latin typeface="Arial" panose="020B0604020202020204"/>
                <a:cs typeface="Arial" panose="020B0604020202020204"/>
              </a:rPr>
              <a:t>Merits and Demerits of BST</a:t>
            </a:r>
            <a:endParaRPr lang="en-US" sz="1600" dirty="0">
              <a:latin typeface="Arial" panose="020B0604020202020204"/>
              <a:cs typeface="Arial" panose="020B0604020202020204"/>
            </a:endParaRPr>
          </a:p>
        </p:txBody>
      </p:sp>
      <p:pic>
        <p:nvPicPr>
          <p:cNvPr id="11" name="Graphic 10" descr="Bullseye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endParaRPr lang="en-US" sz="2400" dirty="0"/>
          </a:p>
        </p:txBody>
      </p:sp>
      <p:pic>
        <p:nvPicPr>
          <p:cNvPr id="31" name="Graphic 30" descr="Idea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4400" y="4765771"/>
            <a:ext cx="914400" cy="914400"/>
          </a:xfrm>
          <a:prstGeom prst="rect">
            <a:avLst/>
          </a:prstGeom>
        </p:spPr>
      </p:pic>
      <p:sp>
        <p:nvSpPr>
          <p:cNvPr id="37" name="TextBox 36"/>
          <p:cNvSpPr txBox="1"/>
          <p:nvPr/>
        </p:nvSpPr>
        <p:spPr>
          <a:xfrm>
            <a:off x="1954577" y="4974206"/>
            <a:ext cx="8333096"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endParaRPr lang="en-US" sz="1600" b="0" i="0" dirty="0">
              <a:effectLst/>
              <a:latin typeface="Arial" panose="020B0604020202020204"/>
              <a:cs typeface="Arial" panose="020B0604020202020204"/>
            </a:endParaRPr>
          </a:p>
          <a:p>
            <a:pPr>
              <a:lnSpc>
                <a:spcPct val="200000"/>
              </a:lnSpc>
            </a:pPr>
            <a:r>
              <a:rPr lang="en-US" sz="1600" dirty="0">
                <a:latin typeface="Arial" panose="020B0604020202020204"/>
                <a:cs typeface="Arial" panose="020B0604020202020204"/>
              </a:rPr>
              <a:t>1. Delete a node from BST</a:t>
            </a:r>
            <a:br>
              <a:rPr lang="en-US" sz="1600" dirty="0">
                <a:latin typeface="Arial" panose="020B0604020202020204"/>
                <a:cs typeface="Arial" panose="020B0604020202020204"/>
              </a:rPr>
            </a:br>
            <a:r>
              <a:rPr lang="en-US" sz="1600" dirty="0">
                <a:latin typeface="Arial" panose="020B0604020202020204"/>
                <a:cs typeface="Arial" panose="020B0604020202020204"/>
              </a:rPr>
              <a:t>2. Merits and demerits of </a:t>
            </a:r>
            <a:r>
              <a:rPr lang="en-US" sz="1600" dirty="0" smtClean="0">
                <a:latin typeface="Arial" panose="020B0604020202020204"/>
                <a:cs typeface="Arial" panose="020B0604020202020204"/>
              </a:rPr>
              <a:t>BST</a:t>
            </a:r>
            <a:endParaRPr lang="en-US" sz="1600" b="0" i="0" dirty="0">
              <a:effectLst/>
              <a:latin typeface="Arial" panose="020B0604020202020204"/>
              <a:cs typeface="Arial" panose="020B0604020202020204"/>
            </a:endParaRPr>
          </a:p>
        </p:txBody>
      </p:sp>
      <p:pic>
        <p:nvPicPr>
          <p:cNvPr id="12" name="Picture 2" descr="KL Deemed to be University Logo"/>
          <p:cNvPicPr>
            <a:picLocks noChangeAspect="1" noChangeArrowheads="1"/>
          </p:cNvPicPr>
          <p:nvPr/>
        </p:nvPicPr>
        <p:blipFill>
          <a:blip r:embed="rId7"/>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29529" y="833982"/>
            <a:ext cx="10015725" cy="2677656"/>
          </a:xfrm>
          <a:prstGeom prst="rect">
            <a:avLst/>
          </a:prstGeom>
          <a:noFill/>
        </p:spPr>
        <p:txBody>
          <a:bodyPr wrap="square" lIns="91440" tIns="45720" rIns="91440" bIns="45720" anchor="t">
            <a:spAutoFit/>
          </a:bodyPr>
          <a:lstStyle/>
          <a:p>
            <a:r>
              <a:rPr lang="en-US" altLang="en-US" sz="2400" b="1" dirty="0">
                <a:latin typeface="Times New Roman" panose="02020603050405020304"/>
                <a:ea typeface="+mj-ea"/>
                <a:cs typeface="Times New Roman" panose="02020603050405020304"/>
              </a:rPr>
              <a:t>Deleting a Node from a Binary Search Tree </a:t>
            </a:r>
            <a:br>
              <a:rPr lang="en-US" altLang="en-US" sz="2400" dirty="0">
                <a:latin typeface="Times New Roman" panose="02020603050405020304" pitchFamily="18" charset="0"/>
                <a:ea typeface="+mj-ea"/>
                <a:cs typeface="Times New Roman" panose="02020603050405020304" pitchFamily="18" charset="0"/>
              </a:rPr>
            </a:br>
            <a:r>
              <a:rPr lang="en-US" altLang="en-US" sz="2400" dirty="0">
                <a:latin typeface="Times New Roman" panose="02020603050405020304"/>
                <a:ea typeface="+mj-ea"/>
                <a:cs typeface="Times New Roman" panose="02020603050405020304"/>
              </a:rPr>
              <a:t>	</a:t>
            </a:r>
            <a:r>
              <a:rPr lang="en-US" altLang="en-US" sz="2400" b="1" dirty="0">
                <a:latin typeface="Times New Roman" panose="02020603050405020304"/>
                <a:ea typeface="+mj-ea"/>
                <a:cs typeface="Times New Roman" panose="02020603050405020304"/>
              </a:rPr>
              <a:t>	Case 1:</a:t>
            </a:r>
            <a:r>
              <a:rPr lang="en-US" altLang="en-US" sz="2400" dirty="0">
                <a:latin typeface="Times New Roman" panose="02020603050405020304"/>
                <a:ea typeface="+mj-ea"/>
                <a:cs typeface="Times New Roman" panose="02020603050405020304"/>
              </a:rPr>
              <a:t> Deleting a Node that has No Children </a:t>
            </a:r>
            <a:br>
              <a:rPr lang="en-US" altLang="en-US" sz="2400" dirty="0">
                <a:latin typeface="Times New Roman" panose="02020603050405020304" pitchFamily="18" charset="0"/>
                <a:ea typeface="+mj-ea"/>
                <a:cs typeface="Times New Roman" panose="02020603050405020304" pitchFamily="18" charset="0"/>
              </a:rPr>
            </a:br>
            <a:r>
              <a:rPr lang="en-US" altLang="en-US" sz="2400" dirty="0">
                <a:latin typeface="Times New Roman" panose="02020603050405020304"/>
                <a:ea typeface="+mj-ea"/>
                <a:cs typeface="Times New Roman" panose="02020603050405020304"/>
              </a:rPr>
              <a:t>	</a:t>
            </a:r>
            <a:r>
              <a:rPr lang="en-US" altLang="en-US" sz="2400" b="1" dirty="0">
                <a:latin typeface="Times New Roman" panose="02020603050405020304"/>
                <a:ea typeface="+mj-ea"/>
                <a:cs typeface="Times New Roman" panose="02020603050405020304"/>
              </a:rPr>
              <a:t>	Case 2: </a:t>
            </a:r>
            <a:r>
              <a:rPr lang="en-US" altLang="en-US" sz="2400" dirty="0">
                <a:latin typeface="Times New Roman" panose="02020603050405020304"/>
                <a:ea typeface="+mj-ea"/>
                <a:cs typeface="Times New Roman" panose="02020603050405020304"/>
              </a:rPr>
              <a:t>Deleting a Node with One Child </a:t>
            </a:r>
            <a:br>
              <a:rPr lang="en-US" altLang="en-US" sz="2400" dirty="0">
                <a:latin typeface="Times New Roman" panose="02020603050405020304" pitchFamily="18" charset="0"/>
                <a:ea typeface="+mj-ea"/>
                <a:cs typeface="Times New Roman" panose="02020603050405020304" pitchFamily="18" charset="0"/>
              </a:rPr>
            </a:br>
            <a:r>
              <a:rPr lang="en-US" altLang="en-US" sz="2400" dirty="0">
                <a:latin typeface="Times New Roman" panose="02020603050405020304"/>
                <a:ea typeface="+mj-ea"/>
                <a:cs typeface="Times New Roman" panose="02020603050405020304"/>
              </a:rPr>
              <a:t>	</a:t>
            </a:r>
            <a:r>
              <a:rPr lang="en-US" altLang="en-US" sz="2400" b="1" dirty="0">
                <a:latin typeface="Times New Roman" panose="02020603050405020304"/>
                <a:ea typeface="+mj-ea"/>
                <a:cs typeface="Times New Roman" panose="02020603050405020304"/>
              </a:rPr>
              <a:t>	Case 3:</a:t>
            </a:r>
            <a:r>
              <a:rPr lang="en-US" altLang="en-US" sz="2400" dirty="0">
                <a:latin typeface="Times New Roman" panose="02020603050405020304"/>
                <a:ea typeface="+mj-ea"/>
                <a:cs typeface="Times New Roman" panose="02020603050405020304"/>
              </a:rPr>
              <a:t> Deleting a Node with Two Children </a:t>
            </a:r>
            <a:br>
              <a:rPr lang="en-US" altLang="en-US" sz="2400" dirty="0">
                <a:latin typeface="Times New Roman" panose="02020603050405020304" pitchFamily="18" charset="0"/>
                <a:ea typeface="+mj-ea"/>
                <a:cs typeface="Times New Roman" panose="02020603050405020304" pitchFamily="18" charset="0"/>
              </a:rPr>
            </a:br>
            <a:endParaRPr lang="en-US" altLang="en-US" sz="2400" b="1" dirty="0">
              <a:latin typeface="Times New Roman" panose="02020603050405020304" pitchFamily="18" charset="0"/>
              <a:ea typeface="+mj-ea"/>
              <a:cs typeface="Times New Roman" panose="02020603050405020304" pitchFamily="18" charset="0"/>
            </a:endParaRPr>
          </a:p>
          <a:p>
            <a:r>
              <a:rPr lang="en-US" altLang="en-US" sz="2400" b="1" dirty="0">
                <a:latin typeface="Times New Roman" panose="02020603050405020304"/>
                <a:ea typeface="+mj-ea"/>
                <a:cs typeface="Times New Roman" panose="02020603050405020304"/>
              </a:rPr>
              <a:t>Case 1:</a:t>
            </a:r>
            <a:r>
              <a:rPr lang="en-US" altLang="en-US" sz="2400" dirty="0">
                <a:latin typeface="Times New Roman" panose="02020603050405020304"/>
                <a:ea typeface="+mj-ea"/>
                <a:cs typeface="Times New Roman" panose="02020603050405020304"/>
              </a:rPr>
              <a:t> Deleting a Node that has No Children </a:t>
            </a:r>
            <a:endParaRPr lang="en-US" altLang="en-US" sz="2400" dirty="0">
              <a:latin typeface="Times New Roman" panose="02020603050405020304"/>
              <a:ea typeface="+mj-ea"/>
              <a:cs typeface="Times New Roman" panose="02020603050405020304"/>
            </a:endParaRPr>
          </a:p>
          <a:p>
            <a:endParaRPr lang="en-US" altLang="en-US" sz="2400" dirty="0">
              <a:latin typeface="Times New Roman" panose="02020603050405020304" pitchFamily="18" charset="0"/>
              <a:ea typeface="+mj-ea"/>
              <a:cs typeface="Times New Roman" panose="02020603050405020304" pitchFamily="18" charset="0"/>
            </a:endParaRPr>
          </a:p>
        </p:txBody>
      </p:sp>
      <p:pic>
        <p:nvPicPr>
          <p:cNvPr id="2" name="Picture 2" descr="KL Deemed to be University Logo"/>
          <p:cNvPicPr>
            <a:picLocks noChangeAspect="1" noChangeArrowheads="1"/>
          </p:cNvPicPr>
          <p:nvPr/>
        </p:nvPicPr>
        <p:blipFill>
          <a:blip r:embed="rId1"/>
          <a:srcRect/>
          <a:stretch>
            <a:fillRect/>
          </a:stretch>
        </p:blipFill>
        <p:spPr bwMode="auto">
          <a:xfrm>
            <a:off x="92904" y="163684"/>
            <a:ext cx="1990725" cy="600076"/>
          </a:xfrm>
          <a:prstGeom prst="rect">
            <a:avLst/>
          </a:prstGeom>
          <a:noFill/>
        </p:spPr>
      </p:pic>
      <p:sp>
        <p:nvSpPr>
          <p:cNvPr id="3" name="Rounded Rectangle 17"/>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Deletion of a Node</a:t>
            </a:r>
            <a:endParaRPr lang="en-US" sz="2400"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249895" y="3758121"/>
            <a:ext cx="8525230" cy="216232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5881" y="833982"/>
            <a:ext cx="10015725" cy="5262979"/>
          </a:xfrm>
          <a:prstGeom prst="rect">
            <a:avLst/>
          </a:prstGeom>
          <a:noFill/>
        </p:spPr>
        <p:txBody>
          <a:bodyPr wrap="square" lIns="91440" tIns="45720" rIns="91440" bIns="45720" anchor="t">
            <a:spAutoFit/>
          </a:bodyPr>
          <a:lstStyle/>
          <a:p>
            <a:pPr algn="just"/>
            <a:endParaRPr lang="en-US" altLang="en-US" sz="2400" b="1" dirty="0">
              <a:latin typeface="Times New Roman" panose="02020603050405020304" pitchFamily="18" charset="0"/>
              <a:ea typeface="+mj-ea"/>
              <a:cs typeface="Times New Roman" panose="02020603050405020304" pitchFamily="18" charset="0"/>
            </a:endParaRPr>
          </a:p>
          <a:p>
            <a:pPr algn="just"/>
            <a:r>
              <a:rPr lang="en-US" altLang="en-US" sz="2400" b="1" dirty="0">
                <a:latin typeface="Times New Roman" panose="02020603050405020304"/>
                <a:ea typeface="+mj-ea"/>
                <a:cs typeface="Times New Roman" panose="02020603050405020304"/>
              </a:rPr>
              <a:t>Case 2: Deleting a Node with One Child </a:t>
            </a:r>
            <a:endParaRPr lang="en-US" altLang="en-US" sz="2400" b="1" dirty="0">
              <a:latin typeface="Times New Roman" panose="02020603050405020304" pitchFamily="18" charset="0"/>
              <a:ea typeface="+mj-ea"/>
              <a:cs typeface="Times New Roman" panose="02020603050405020304" pitchFamily="18" charset="0"/>
            </a:endParaRPr>
          </a:p>
          <a:p>
            <a:pPr marL="342900" indent="-342900" algn="just">
              <a:buFont typeface="Arial" panose="020B0604020202020204" pitchFamily="2" charset="2"/>
              <a:buChar char="•"/>
            </a:pPr>
            <a:r>
              <a:rPr lang="en-US" sz="2400" dirty="0">
                <a:latin typeface="Times New Roman" panose="02020603050405020304"/>
                <a:cs typeface="Times New Roman" panose="02020603050405020304"/>
              </a:rPr>
              <a:t>If the root is a leaf node, then return NULL.</a:t>
            </a:r>
            <a:endParaRPr lang="en-US" sz="2400" dirty="0">
              <a:latin typeface="Times New Roman" panose="02020603050405020304"/>
              <a:cs typeface="Times New Roman" panose="02020603050405020304"/>
            </a:endParaRPr>
          </a:p>
          <a:p>
            <a:pPr marL="342900" indent="-342900" algn="just">
              <a:buFont typeface="Arial" panose="020B0604020202020204" pitchFamily="2" charset="2"/>
              <a:buChar char="•"/>
            </a:pPr>
            <a:r>
              <a:rPr lang="en-US" sz="2400" dirty="0">
                <a:latin typeface="Times New Roman" panose="02020603050405020304"/>
                <a:cs typeface="Times New Roman" panose="02020603050405020304"/>
              </a:rPr>
              <a:t>Else if the root has only the left child, then we delete the root node and return its left child.</a:t>
            </a:r>
            <a:endParaRPr lang="en-US" sz="2400" dirty="0">
              <a:latin typeface="Times New Roman" panose="02020603050405020304"/>
              <a:cs typeface="Times New Roman" panose="02020603050405020304"/>
            </a:endParaRPr>
          </a:p>
          <a:p>
            <a:pPr marL="342900" indent="-342900" algn="just">
              <a:buFont typeface="Arial" panose="020B0604020202020204" pitchFamily="2" charset="2"/>
              <a:buChar char="•"/>
            </a:pPr>
            <a:r>
              <a:rPr lang="en-US" sz="2400" dirty="0">
                <a:latin typeface="Times New Roman" panose="02020603050405020304"/>
                <a:cs typeface="Times New Roman" panose="02020603050405020304"/>
              </a:rPr>
              <a:t>Else if the root has only the right child, then we delete the root node and return its right child.</a:t>
            </a:r>
            <a:endParaRPr lang="en-US" sz="2400" dirty="0">
              <a:latin typeface="Times New Roman" panose="02020603050405020304"/>
              <a:cs typeface="Times New Roman" panose="02020603050405020304"/>
            </a:endParaRPr>
          </a:p>
          <a:p>
            <a:pPr algn="just"/>
            <a:endParaRPr lang="en-US" sz="2400" dirty="0">
              <a:latin typeface="Times New Roman" panose="02020603050405020304"/>
              <a:ea typeface="Calibri" panose="020F0502020204030204"/>
              <a:cs typeface="Calibri" panose="020F0502020204030204"/>
            </a:endParaRPr>
          </a:p>
          <a:p>
            <a:pPr marL="342900" indent="-342900" algn="just">
              <a:buFont typeface="Arial" panose="020B0604020202020204" pitchFamily="2" charset="2"/>
              <a:buChar char="•"/>
            </a:pPr>
            <a:endParaRPr lang="en-US" sz="2400" dirty="0">
              <a:latin typeface="Times New Roman" panose="02020603050405020304"/>
              <a:ea typeface="Calibri" panose="020F0502020204030204"/>
              <a:cs typeface="Calibri" panose="020F0502020204030204"/>
            </a:endParaRPr>
          </a:p>
          <a:p>
            <a:pPr algn="just"/>
            <a:endParaRPr lang="en-US" sz="2400" dirty="0">
              <a:latin typeface="Times New Roman" panose="02020603050405020304"/>
              <a:ea typeface="Calibri" panose="020F0502020204030204"/>
              <a:cs typeface="Calibri" panose="020F0502020204030204"/>
            </a:endParaRPr>
          </a:p>
          <a:p>
            <a:pPr algn="just"/>
            <a:br>
              <a:rPr lang="en-US" altLang="en-US" sz="2400" b="1" dirty="0">
                <a:latin typeface="Times New Roman" panose="02020603050405020304" pitchFamily="18" charset="0"/>
                <a:ea typeface="+mj-ea"/>
                <a:cs typeface="Times New Roman" panose="02020603050405020304" pitchFamily="18" charset="0"/>
              </a:rPr>
            </a:br>
            <a:r>
              <a:rPr lang="en-US" altLang="en-US" sz="2400" b="1" dirty="0">
                <a:latin typeface="Times New Roman" panose="02020603050405020304"/>
                <a:ea typeface="+mj-ea"/>
                <a:cs typeface="Times New Roman" panose="02020603050405020304"/>
              </a:rPr>
              <a:t>		</a:t>
            </a:r>
            <a:br>
              <a:rPr lang="en-US" altLang="en-US" sz="2400" b="1" dirty="0">
                <a:latin typeface="Times New Roman" panose="02020603050405020304" pitchFamily="18" charset="0"/>
                <a:ea typeface="+mj-ea"/>
                <a:cs typeface="Times New Roman" panose="02020603050405020304" pitchFamily="18" charset="0"/>
              </a:rPr>
            </a:br>
            <a:endParaRPr lang="en-US" altLang="en-US" sz="2400" b="1" dirty="0">
              <a:latin typeface="Times New Roman" panose="02020603050405020304" pitchFamily="18" charset="0"/>
              <a:ea typeface="+mj-ea"/>
              <a:cs typeface="Times New Roman" panose="02020603050405020304" pitchFamily="18" charset="0"/>
            </a:endParaRPr>
          </a:p>
          <a:p>
            <a:pPr algn="just"/>
            <a:endParaRPr lang="en-US" altLang="en-US" sz="2400" b="1" dirty="0">
              <a:latin typeface="Times New Roman" panose="02020603050405020304" pitchFamily="18" charset="0"/>
              <a:ea typeface="+mj-ea"/>
              <a:cs typeface="Times New Roman" panose="02020603050405020304" pitchFamily="18" charset="0"/>
            </a:endParaRPr>
          </a:p>
        </p:txBody>
      </p:sp>
      <p:pic>
        <p:nvPicPr>
          <p:cNvPr id="2" name="Picture 2" descr="KL Deemed to be University Logo"/>
          <p:cNvPicPr>
            <a:picLocks noChangeAspect="1" noChangeArrowheads="1"/>
          </p:cNvPicPr>
          <p:nvPr/>
        </p:nvPicPr>
        <p:blipFill>
          <a:blip r:embed="rId1"/>
          <a:srcRect/>
          <a:stretch>
            <a:fillRect/>
          </a:stretch>
        </p:blipFill>
        <p:spPr bwMode="auto">
          <a:xfrm>
            <a:off x="92904" y="163684"/>
            <a:ext cx="1990725" cy="600076"/>
          </a:xfrm>
          <a:prstGeom prst="rect">
            <a:avLst/>
          </a:prstGeom>
          <a:noFill/>
        </p:spPr>
      </p:pic>
      <p:sp>
        <p:nvSpPr>
          <p:cNvPr id="3" name="Rounded Rectangle 17"/>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latin typeface="Times New Roman" panose="02020603050405020304" pitchFamily="18" charset="0"/>
                <a:cs typeface="Times New Roman" panose="02020603050405020304" pitchFamily="18" charset="0"/>
              </a:rPr>
              <a:t>Deletion of a Node</a:t>
            </a:r>
            <a:endParaRPr lang="en-US" dirty="0">
              <a:latin typeface="Times New Roman" panose="02020603050405020304" pitchFamily="18" charset="0"/>
              <a:cs typeface="Times New Roman" panose="02020603050405020304" pitchFamily="18" charset="0"/>
            </a:endParaRPr>
          </a:p>
        </p:txBody>
      </p:sp>
      <p:pic>
        <p:nvPicPr>
          <p:cNvPr id="7" name="Picture 6" descr="A diagram of steps and numbers&#10;&#10;Description automatically generated"/>
          <p:cNvPicPr>
            <a:picLocks noChangeAspect="1"/>
          </p:cNvPicPr>
          <p:nvPr/>
        </p:nvPicPr>
        <p:blipFill>
          <a:blip r:embed="rId2"/>
          <a:stretch>
            <a:fillRect/>
          </a:stretch>
        </p:blipFill>
        <p:spPr>
          <a:xfrm>
            <a:off x="2293051" y="3586783"/>
            <a:ext cx="6165910" cy="24405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5881" y="833982"/>
            <a:ext cx="9666858" cy="4524315"/>
          </a:xfrm>
          <a:prstGeom prst="rect">
            <a:avLst/>
          </a:prstGeom>
          <a:noFill/>
        </p:spPr>
        <p:txBody>
          <a:bodyPr wrap="square" lIns="91440" tIns="45720" rIns="91440" bIns="45720" anchor="t">
            <a:spAutoFit/>
          </a:bodyPr>
          <a:lstStyle/>
          <a:p>
            <a:r>
              <a:rPr lang="en-US" altLang="en-US" sz="2400" b="1" dirty="0">
                <a:latin typeface="Times New Roman" panose="02020603050405020304"/>
                <a:cs typeface="Times New Roman" panose="02020603050405020304"/>
              </a:rPr>
              <a:t>Case 3: Deleting a Node with Two Children</a:t>
            </a:r>
            <a:endParaRPr lang="en-US" altLang="en-US" sz="2400" b="1" dirty="0">
              <a:latin typeface="Times New Roman" panose="02020603050405020304"/>
              <a:ea typeface="+mj-ea"/>
              <a:cs typeface="Times New Roman" panose="02020603050405020304"/>
            </a:endParaRPr>
          </a:p>
          <a:p>
            <a:pPr marL="342900" indent="-342900">
              <a:buFont typeface="Arial" panose="020B0604020202020204"/>
              <a:buChar char="•"/>
            </a:pPr>
            <a:r>
              <a:rPr lang="en-IN" sz="2400" dirty="0">
                <a:latin typeface="Times New Roman" panose="02020603050405020304"/>
                <a:cs typeface="Times New Roman" panose="02020603050405020304"/>
              </a:rPr>
              <a:t>We need to first identify the in-order successor of that node, i.e., a node with a key just greater than the key of the given node to be deleted.</a:t>
            </a:r>
            <a:endParaRPr lang="en-IN" sz="2400" dirty="0">
              <a:latin typeface="Times New Roman" panose="02020603050405020304"/>
              <a:cs typeface="Times New Roman" panose="02020603050405020304"/>
            </a:endParaRPr>
          </a:p>
          <a:p>
            <a:pPr marL="342900" indent="-342900">
              <a:buFont typeface="Arial" panose="020B0604020202020204"/>
              <a:buChar char="•"/>
            </a:pPr>
            <a:r>
              <a:rPr lang="en-IN" sz="2400" dirty="0">
                <a:latin typeface="Times New Roman" panose="02020603050405020304"/>
                <a:cs typeface="Times New Roman" panose="02020603050405020304"/>
              </a:rPr>
              <a:t>Then we need to replace the key of the given node with the key of the in-order successor.</a:t>
            </a:r>
            <a:endParaRPr lang="en-IN" sz="2400" dirty="0">
              <a:latin typeface="Times New Roman" panose="02020603050405020304"/>
              <a:cs typeface="Times New Roman" panose="02020603050405020304"/>
            </a:endParaRPr>
          </a:p>
          <a:p>
            <a:pPr marL="342900" indent="-342900">
              <a:buFont typeface="Arial" panose="020B0604020202020204"/>
              <a:buChar char="•"/>
            </a:pPr>
            <a:r>
              <a:rPr lang="en-IN" sz="2400" dirty="0">
                <a:latin typeface="Times New Roman" panose="02020603050405020304"/>
                <a:cs typeface="Times New Roman" panose="02020603050405020304"/>
              </a:rPr>
              <a:t>Delete the in-order successor.</a:t>
            </a:r>
            <a:endParaRPr lang="en-IN" sz="2400" dirty="0">
              <a:latin typeface="Times New Roman" panose="02020603050405020304"/>
              <a:cs typeface="Times New Roman" panose="02020603050405020304"/>
            </a:endParaRPr>
          </a:p>
          <a:p>
            <a:endParaRPr lang="en-IN" sz="2400" dirty="0">
              <a:latin typeface="Times New Roman" panose="02020603050405020304"/>
              <a:ea typeface="Calibri" panose="020F0502020204030204"/>
              <a:cs typeface="Calibri" panose="020F0502020204030204"/>
            </a:endParaRPr>
          </a:p>
          <a:p>
            <a:br>
              <a:rPr lang="en-IN" sz="2400" dirty="0">
                <a:latin typeface="Times New Roman" panose="02020603050405020304"/>
              </a:rPr>
            </a:br>
            <a:br>
              <a:rPr lang="en-US" altLang="en-US" sz="2400" b="1" dirty="0">
                <a:latin typeface="Times New Roman" panose="02020603050405020304" pitchFamily="18" charset="0"/>
                <a:ea typeface="+mj-ea"/>
                <a:cs typeface="Times New Roman" panose="02020603050405020304" pitchFamily="18" charset="0"/>
              </a:rPr>
            </a:br>
            <a:r>
              <a:rPr lang="en-US" altLang="en-US" sz="2400" b="1" dirty="0">
                <a:latin typeface="Times New Roman" panose="02020603050405020304"/>
                <a:ea typeface="+mj-ea"/>
                <a:cs typeface="Times New Roman" panose="02020603050405020304"/>
              </a:rPr>
              <a:t>		</a:t>
            </a:r>
            <a:br>
              <a:rPr lang="en-US" altLang="en-US" sz="2400" b="1" dirty="0">
                <a:latin typeface="Times New Roman" panose="02020603050405020304" pitchFamily="18" charset="0"/>
                <a:ea typeface="+mj-ea"/>
                <a:cs typeface="Times New Roman" panose="02020603050405020304" pitchFamily="18" charset="0"/>
              </a:rPr>
            </a:br>
            <a:endParaRPr lang="en-US" altLang="en-US" sz="2400" b="1" dirty="0">
              <a:latin typeface="Times New Roman" panose="02020603050405020304" pitchFamily="18" charset="0"/>
              <a:ea typeface="+mj-ea"/>
              <a:cs typeface="Times New Roman" panose="02020603050405020304" pitchFamily="18" charset="0"/>
            </a:endParaRPr>
          </a:p>
          <a:p>
            <a:endParaRPr lang="en-US" altLang="en-US" sz="2400" b="1" dirty="0">
              <a:latin typeface="Times New Roman" panose="02020603050405020304" pitchFamily="18" charset="0"/>
              <a:ea typeface="+mj-ea"/>
              <a:cs typeface="Times New Roman" panose="02020603050405020304" pitchFamily="18" charset="0"/>
            </a:endParaRPr>
          </a:p>
        </p:txBody>
      </p:sp>
      <p:pic>
        <p:nvPicPr>
          <p:cNvPr id="2" name="Picture 2" descr="KL Deemed to be University Logo"/>
          <p:cNvPicPr>
            <a:picLocks noChangeAspect="1" noChangeArrowheads="1"/>
          </p:cNvPicPr>
          <p:nvPr/>
        </p:nvPicPr>
        <p:blipFill>
          <a:blip r:embed="rId1"/>
          <a:srcRect/>
          <a:stretch>
            <a:fillRect/>
          </a:stretch>
        </p:blipFill>
        <p:spPr bwMode="auto">
          <a:xfrm>
            <a:off x="92904" y="163684"/>
            <a:ext cx="1990725" cy="600076"/>
          </a:xfrm>
          <a:prstGeom prst="rect">
            <a:avLst/>
          </a:prstGeom>
          <a:noFill/>
        </p:spPr>
      </p:pic>
      <p:sp>
        <p:nvSpPr>
          <p:cNvPr id="3" name="Rounded Rectangle 17"/>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dirty="0"/>
          </a:p>
          <a:p>
            <a:pPr algn="ctr"/>
            <a:r>
              <a:rPr lang="en-US" sz="2400" b="1" dirty="0">
                <a:latin typeface="Times New Roman" panose="02020603050405020304" pitchFamily="18" charset="0"/>
                <a:cs typeface="Times New Roman" panose="02020603050405020304" pitchFamily="18" charset="0"/>
              </a:rPr>
              <a:t>Deletion of a Node</a:t>
            </a:r>
            <a:endParaRPr lang="en-US" dirty="0">
              <a:latin typeface="Times New Roman" panose="02020603050405020304" pitchFamily="18" charset="0"/>
              <a:cs typeface="Times New Roman" panose="02020603050405020304" pitchFamily="18" charset="0"/>
            </a:endParaRPr>
          </a:p>
          <a:p>
            <a:pPr algn="ctr"/>
            <a:endParaRPr lang="en-US" sz="2400" dirty="0">
              <a:ea typeface="Calibri" panose="020F0502020204030204"/>
              <a:cs typeface="Calibri" panose="020F0502020204030204"/>
            </a:endParaRPr>
          </a:p>
        </p:txBody>
      </p:sp>
      <p:pic>
        <p:nvPicPr>
          <p:cNvPr id="5" name="Picture 4" descr="A diagram of a tree&#10;&#10;Description automatically generated"/>
          <p:cNvPicPr>
            <a:picLocks noChangeAspect="1"/>
          </p:cNvPicPr>
          <p:nvPr/>
        </p:nvPicPr>
        <p:blipFill>
          <a:blip r:embed="rId2"/>
          <a:stretch>
            <a:fillRect/>
          </a:stretch>
        </p:blipFill>
        <p:spPr>
          <a:xfrm>
            <a:off x="898795" y="3564622"/>
            <a:ext cx="8897607" cy="25789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KL Deemed to be University Logo"/>
          <p:cNvPicPr>
            <a:picLocks noChangeAspect="1" noChangeArrowheads="1"/>
          </p:cNvPicPr>
          <p:nvPr/>
        </p:nvPicPr>
        <p:blipFill>
          <a:blip r:embed="rId1"/>
          <a:srcRect/>
          <a:stretch>
            <a:fillRect/>
          </a:stretch>
        </p:blipFill>
        <p:spPr bwMode="auto">
          <a:xfrm>
            <a:off x="92904" y="163684"/>
            <a:ext cx="1990725" cy="600076"/>
          </a:xfrm>
          <a:prstGeom prst="rect">
            <a:avLst/>
          </a:prstGeom>
          <a:noFill/>
        </p:spPr>
      </p:pic>
      <p:sp>
        <p:nvSpPr>
          <p:cNvPr id="3" name="Rounded Rectangle 17"/>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dirty="0"/>
          </a:p>
          <a:p>
            <a:pPr algn="ctr"/>
            <a:r>
              <a:rPr lang="en-US" sz="2400" b="1" dirty="0">
                <a:latin typeface="Times New Roman" panose="02020603050405020304" pitchFamily="18" charset="0"/>
                <a:cs typeface="Times New Roman" panose="02020603050405020304" pitchFamily="18" charset="0"/>
              </a:rPr>
              <a:t>Deletion of a node</a:t>
            </a:r>
            <a:endParaRPr lang="en-US" sz="2400" b="1" dirty="0">
              <a:latin typeface="Times New Roman" panose="02020603050405020304" pitchFamily="18" charset="0"/>
              <a:cs typeface="Times New Roman" panose="02020603050405020304" pitchFamily="18" charset="0"/>
            </a:endParaRPr>
          </a:p>
          <a:p>
            <a:pPr algn="ctr"/>
            <a:endParaRPr lang="en-US" sz="2400" dirty="0">
              <a:cs typeface="Calibri" panose="020F0502020204030204"/>
            </a:endParaRPr>
          </a:p>
        </p:txBody>
      </p:sp>
      <p:sp>
        <p:nvSpPr>
          <p:cNvPr id="6" name="Content Placeholder 5"/>
          <p:cNvSpPr>
            <a:spLocks noGrp="1"/>
          </p:cNvSpPr>
          <p:nvPr>
            <p:ph sz="half" idx="1"/>
          </p:nvPr>
        </p:nvSpPr>
        <p:spPr>
          <a:xfrm>
            <a:off x="250634" y="889192"/>
            <a:ext cx="5722129" cy="5492947"/>
          </a:xfrm>
        </p:spPr>
        <p:txBody>
          <a:bodyPr lIns="91440" tIns="45720" rIns="91440" bIns="45720" anchor="t"/>
          <a:lstStyle/>
          <a:p>
            <a:pPr marL="0" indent="0">
              <a:lnSpc>
                <a:spcPct val="100000"/>
              </a:lnSpc>
              <a:spcBef>
                <a:spcPts val="0"/>
              </a:spcBef>
              <a:buNone/>
            </a:pPr>
            <a:r>
              <a:rPr lang="en-US" sz="1900" b="1" dirty="0">
                <a:latin typeface="Times New Roman" panose="02020603050405020304"/>
                <a:cs typeface="Times New Roman" panose="02020603050405020304"/>
              </a:rPr>
              <a:t> Algorithm to delete node in BST</a:t>
            </a:r>
            <a:endParaRPr lang="en-US" sz="1900" dirty="0">
              <a:latin typeface="Times New Roman" panose="02020603050405020304"/>
              <a:cs typeface="Times New Roman" panose="02020603050405020304"/>
            </a:endParaRPr>
          </a:p>
          <a:p>
            <a:pPr marL="0" indent="0">
              <a:lnSpc>
                <a:spcPct val="150000"/>
              </a:lnSpc>
              <a:spcBef>
                <a:spcPts val="0"/>
              </a:spcBef>
              <a:buNone/>
            </a:pPr>
            <a:r>
              <a:rPr lang="en-US" sz="1900" dirty="0">
                <a:latin typeface="Times New Roman" panose="02020603050405020304"/>
                <a:cs typeface="Calibri" panose="020F0502020204030204"/>
              </a:rPr>
              <a:t>Delete (TREE, VAL)</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Step 1:         IF TREE=NULL</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Write "VAL not found in the tree" </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ELSE IF VAL &lt; TREE-&gt; DATA </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Delete(TREE-&gt;LEFT, VAL) </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ELSE IF VAL&gt;TREE-&gt; DATA </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Delete(TREE-&gt; RIGHT, VAL)</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ELSE IF TREE-&gt;LEFT AND TREE-&gt; RIGHT</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SET TEMP=</a:t>
            </a:r>
            <a:r>
              <a:rPr lang="en-US" sz="1900" dirty="0" err="1">
                <a:latin typeface="Times New Roman" panose="02020603050405020304"/>
                <a:cs typeface="Calibri" panose="020F0502020204030204"/>
              </a:rPr>
              <a:t>findLargestNode</a:t>
            </a:r>
            <a:r>
              <a:rPr lang="en-US" sz="1900" dirty="0">
                <a:latin typeface="Times New Roman" panose="02020603050405020304"/>
                <a:cs typeface="Calibri" panose="020F0502020204030204"/>
              </a:rPr>
              <a:t>(TREE-&gt;LEFT)</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SET TREE-&gt;DATA=TEMP-&gt;DATA</a:t>
            </a:r>
            <a:endParaRPr lang="en-US" sz="1900" dirty="0">
              <a:latin typeface="Times New Roman" panose="02020603050405020304"/>
              <a:cs typeface="Calibri" panose="020F0502020204030204"/>
            </a:endParaRPr>
          </a:p>
          <a:p>
            <a:pPr marL="0" indent="0">
              <a:buNone/>
            </a:pPr>
            <a:endParaRPr lang="en-US" sz="1900" dirty="0">
              <a:cs typeface="Calibri" panose="020F0502020204030204"/>
            </a:endParaRPr>
          </a:p>
        </p:txBody>
      </p:sp>
      <p:sp>
        <p:nvSpPr>
          <p:cNvPr id="7" name="Content Placeholder 6"/>
          <p:cNvSpPr>
            <a:spLocks noGrp="1"/>
          </p:cNvSpPr>
          <p:nvPr>
            <p:ph sz="half" idx="2"/>
          </p:nvPr>
        </p:nvSpPr>
        <p:spPr>
          <a:xfrm>
            <a:off x="6584540" y="643812"/>
            <a:ext cx="5512446" cy="6102221"/>
          </a:xfrm>
        </p:spPr>
        <p:txBody>
          <a:bodyPr lIns="91440" tIns="45720" rIns="91440" bIns="45720" anchor="t"/>
          <a:lstStyle/>
          <a:p>
            <a:pPr marL="0" indent="0">
              <a:lnSpc>
                <a:spcPct val="150000"/>
              </a:lnSpc>
              <a:spcBef>
                <a:spcPts val="0"/>
              </a:spcBef>
              <a:buNone/>
            </a:pPr>
            <a:r>
              <a:rPr lang="en-US" sz="1900" dirty="0">
                <a:latin typeface="Times New Roman" panose="02020603050405020304"/>
                <a:cs typeface="Calibri" panose="020F0502020204030204"/>
              </a:rPr>
              <a:t>Delete(TREE-&gt;LEFT, TEMP-&gt;DATA)</a:t>
            </a:r>
            <a:endParaRPr lang="en-US" sz="1900" dirty="0"/>
          </a:p>
          <a:p>
            <a:pPr marL="0" indent="0">
              <a:lnSpc>
                <a:spcPct val="150000"/>
              </a:lnSpc>
              <a:spcBef>
                <a:spcPts val="0"/>
              </a:spcBef>
              <a:buNone/>
            </a:pPr>
            <a:r>
              <a:rPr lang="en-US" sz="1900" dirty="0">
                <a:latin typeface="Times New Roman" panose="02020603050405020304"/>
                <a:cs typeface="Calibri" panose="020F0502020204030204"/>
              </a:rPr>
              <a:t>       ELSE</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SET TEMP=TREE</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IF TREE-&gt;LEFT=NULL AND TREE-&gt; RIGHT=NULL</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SET TREE=NULL </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ELSE IF TREE-&gt;LEFT != NULL</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SET TREE=TREE-&gt; LEFT</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ELSE</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SET TREE=TREE-&gt;RIGHT</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[END OF IF]</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FREE TEMP</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     [END OF IF] </a:t>
            </a:r>
            <a:endParaRPr lang="en-US" sz="1900" dirty="0">
              <a:latin typeface="Times New Roman" panose="02020603050405020304"/>
              <a:cs typeface="Calibri" panose="020F0502020204030204"/>
            </a:endParaRPr>
          </a:p>
          <a:p>
            <a:pPr marL="0" indent="0">
              <a:lnSpc>
                <a:spcPct val="150000"/>
              </a:lnSpc>
              <a:spcBef>
                <a:spcPts val="0"/>
              </a:spcBef>
              <a:buNone/>
            </a:pPr>
            <a:r>
              <a:rPr lang="en-US" sz="1900" dirty="0">
                <a:latin typeface="Times New Roman" panose="02020603050405020304"/>
                <a:cs typeface="Calibri" panose="020F0502020204030204"/>
              </a:rPr>
              <a:t>Step 2: END</a:t>
            </a:r>
            <a:endParaRPr lang="en-US" sz="1900" dirty="0">
              <a:latin typeface="Times New Roman" panose="02020603050405020304"/>
              <a:cs typeface="Calibri" panose="020F0502020204030204"/>
            </a:endParaRPr>
          </a:p>
          <a:p>
            <a:pPr marL="0" indent="0">
              <a:buNone/>
            </a:pPr>
            <a:endParaRPr lang="en-US" sz="1900" dirty="0">
              <a:latin typeface="Times New Roman" panose="02020603050405020304"/>
              <a:cs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smtClean="0">
                <a:latin typeface="Times New Roman" panose="02020603050405020304" pitchFamily="18" charset="0"/>
                <a:cs typeface="Times New Roman" panose="02020603050405020304" pitchFamily="18" charset="0"/>
              </a:rPr>
              <a:t> Description</a:t>
            </a:r>
            <a:r>
              <a:rPr lang="en-US" sz="2000" dirty="0" smtClean="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endParaRPr lang="en-US" sz="200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2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3" name="TextBox 2"/>
          <p:cNvSpPr txBox="1"/>
          <p:nvPr/>
        </p:nvSpPr>
        <p:spPr>
          <a:xfrm>
            <a:off x="609600" y="1017037"/>
            <a:ext cx="9791114" cy="4893647"/>
          </a:xfrm>
          <a:prstGeom prst="rect">
            <a:avLst/>
          </a:prstGeom>
          <a:noFill/>
        </p:spPr>
        <p:txBody>
          <a:bodyPr wrap="square">
            <a:spAutoFit/>
          </a:bodyPr>
          <a:lstStyle/>
          <a:p>
            <a:pPr algn="just" fontAlgn="base"/>
            <a:r>
              <a:rPr lang="en-US" sz="2400" b="1" dirty="0">
                <a:latin typeface="Times New Roman" panose="02020603050405020304" pitchFamily="18" charset="0"/>
                <a:cs typeface="Times New Roman" panose="02020603050405020304" pitchFamily="18" charset="0"/>
              </a:rPr>
              <a:t>Advantages of Binary Search </a:t>
            </a:r>
            <a:r>
              <a:rPr lang="en-US" sz="2400" b="1" dirty="0" smtClean="0">
                <a:latin typeface="Times New Roman" panose="02020603050405020304" pitchFamily="18" charset="0"/>
                <a:cs typeface="Times New Roman" panose="02020603050405020304" pitchFamily="18" charset="0"/>
              </a:rPr>
              <a:t>Tree</a:t>
            </a:r>
            <a:endParaRPr lang="en-US" sz="2400" b="1" dirty="0">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BST is fast in insertion and deletion when balanced. It is fast with a time complexity of O(log n).</a:t>
            </a:r>
            <a:endParaRPr lang="en-US" sz="2400" dirty="0">
              <a:solidFill>
                <a:srgbClr val="273239"/>
              </a:solidFill>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BST is also for fast searching, with a time complexity of O(log n) for most operations. </a:t>
            </a:r>
            <a:endParaRPr lang="en-US" sz="2400" dirty="0">
              <a:solidFill>
                <a:srgbClr val="273239"/>
              </a:solidFill>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BST is efficient. It is efficient because they only store the elements and do not require additional memory for pointers or other data structures.</a:t>
            </a:r>
            <a:endParaRPr lang="en-US" sz="2400" dirty="0">
              <a:solidFill>
                <a:srgbClr val="273239"/>
              </a:solidFill>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We can also do range queries – find keys between N and M (N &lt;= M).</a:t>
            </a:r>
            <a:endParaRPr lang="en-US" sz="2400" dirty="0">
              <a:solidFill>
                <a:srgbClr val="273239"/>
              </a:solidFill>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BST code is simple as compared to other data structures.</a:t>
            </a:r>
            <a:endParaRPr lang="en-US" sz="2400" dirty="0">
              <a:solidFill>
                <a:srgbClr val="273239"/>
              </a:solidFill>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BST can automatically sort elements as they are inserted, so the elements are always stored in a sorted order.</a:t>
            </a:r>
            <a:endParaRPr lang="en-US" sz="2400" dirty="0">
              <a:solidFill>
                <a:srgbClr val="273239"/>
              </a:solidFill>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BST can be easily modified to store additional data or to support other operations. This makes it flexible.</a:t>
            </a:r>
            <a:endParaRPr lang="en-US" sz="2400" b="0" i="0" dirty="0">
              <a:solidFill>
                <a:srgbClr val="273239"/>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3" name="TextBox 2"/>
          <p:cNvSpPr txBox="1"/>
          <p:nvPr/>
        </p:nvSpPr>
        <p:spPr>
          <a:xfrm>
            <a:off x="609600" y="746449"/>
            <a:ext cx="9791114" cy="4893647"/>
          </a:xfrm>
          <a:prstGeom prst="rect">
            <a:avLst/>
          </a:prstGeom>
          <a:noFill/>
        </p:spPr>
        <p:txBody>
          <a:bodyPr wrap="square">
            <a:spAutoFit/>
          </a:bodyPr>
          <a:lstStyle/>
          <a:p>
            <a:pPr algn="just" fontAlgn="base"/>
            <a:r>
              <a:rPr lang="en-US" sz="2400" b="1" dirty="0">
                <a:latin typeface="Times New Roman" panose="02020603050405020304" pitchFamily="18" charset="0"/>
                <a:cs typeface="Times New Roman" panose="02020603050405020304" pitchFamily="18" charset="0"/>
              </a:rPr>
              <a:t>Disadvantages of Binary Search Tree:</a:t>
            </a:r>
            <a:endParaRPr lang="en-US" sz="2400" dirty="0">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The main disadvantage is that we should always implement a balanced binary search tree. Otherwise the cost of operations may not be logarithmic and degenerate into a linear search on an array.</a:t>
            </a:r>
            <a:endParaRPr lang="en-US" sz="2400" dirty="0">
              <a:solidFill>
                <a:srgbClr val="273239"/>
              </a:solidFill>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They are not well-suited for data structures that need to be accessed randomly, since the time complexity for search, insert, and delete operations is O(log n), which is good for large data sets, but not as fast as some other data structures such as arrays or hash tables.</a:t>
            </a:r>
            <a:endParaRPr lang="en-US" sz="2400" dirty="0">
              <a:solidFill>
                <a:srgbClr val="273239"/>
              </a:solidFill>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A BST can be imbalanced or degenerated which can increase the complexity.</a:t>
            </a:r>
            <a:endParaRPr lang="en-US" sz="2400" dirty="0">
              <a:solidFill>
                <a:srgbClr val="273239"/>
              </a:solidFill>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Do not support some operations that are possible with ordered data structures.</a:t>
            </a:r>
            <a:endParaRPr lang="en-US" sz="2400" dirty="0">
              <a:solidFill>
                <a:srgbClr val="273239"/>
              </a:solidFill>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They are not guaranteed to be balanced, which means that in the worst case, the height of the tree could be O(n) and the time complexity for operations could degrade to O(n). </a:t>
            </a:r>
            <a:endParaRPr lang="en-US" sz="2400" b="0" i="0" dirty="0">
              <a:solidFill>
                <a:srgbClr val="273239"/>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latin typeface="Times New Roman" panose="02020603050405020304" pitchFamily="18" charset="0"/>
                <a:cs typeface="Times New Roman" panose="02020603050405020304" pitchFamily="18" charset="0"/>
              </a:rPr>
              <a:t>Summary</a:t>
            </a:r>
            <a:endParaRPr lang="en-US" sz="2400" dirty="0">
              <a:latin typeface="Times New Roman" panose="02020603050405020304" pitchFamily="18" charset="0"/>
              <a:cs typeface="Times New Roman" panose="02020603050405020304" pitchFamily="18" charset="0"/>
            </a:endParaRPr>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8" name="TextBox 17"/>
          <p:cNvSpPr txBox="1"/>
          <p:nvPr/>
        </p:nvSpPr>
        <p:spPr>
          <a:xfrm>
            <a:off x="1083212" y="1252025"/>
            <a:ext cx="6872068" cy="707886"/>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rgbClr val="202124"/>
                </a:solidFill>
                <a:latin typeface="Times New Roman" panose="02020603050405020304" pitchFamily="18" charset="0"/>
                <a:cs typeface="Times New Roman" panose="02020603050405020304" pitchFamily="18" charset="0"/>
              </a:rPr>
              <a:t>Deletion of a node in BST in various cases</a:t>
            </a:r>
            <a:endParaRPr lang="en-US" sz="2000" b="0" i="0" dirty="0">
              <a:solidFill>
                <a:srgbClr val="202124"/>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202124"/>
                </a:solidFill>
                <a:latin typeface="Times New Roman" panose="02020603050405020304" pitchFamily="18" charset="0"/>
                <a:cs typeface="Times New Roman" panose="02020603050405020304" pitchFamily="18" charset="0"/>
              </a:rPr>
              <a:t>Merits and Demerits of BST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latin typeface="Times New Roman" panose="02020603050405020304" pitchFamily="18" charset="0"/>
                <a:cs typeface="Times New Roman" panose="02020603050405020304" pitchFamily="18" charset="0"/>
              </a:rPr>
              <a:t>Self-Assessment Questions</a:t>
            </a:r>
            <a:endParaRPr lang="en-US" sz="2400" dirty="0">
              <a:latin typeface="Times New Roman" panose="02020603050405020304" pitchFamily="18" charset="0"/>
              <a:cs typeface="Times New Roman" panose="02020603050405020304" pitchFamily="18" charset="0"/>
            </a:endParaRPr>
          </a:p>
        </p:txBody>
      </p:sp>
      <p:sp>
        <p:nvSpPr>
          <p:cNvPr id="7" name="Google Shape;502;p17"/>
          <p:cNvSpPr/>
          <p:nvPr/>
        </p:nvSpPr>
        <p:spPr>
          <a:xfrm>
            <a:off x="1009895" y="796686"/>
            <a:ext cx="10172210" cy="100671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dirty="0">
                <a:latin typeface="Times New Roman" panose="02020603050405020304" pitchFamily="18" charset="0"/>
                <a:cs typeface="Times New Roman" panose="02020603050405020304" pitchFamily="18" charset="0"/>
              </a:rPr>
              <a:t>1. How many cases we have to delete a node in BST</a:t>
            </a:r>
            <a:endParaRPr sz="1600" dirty="0">
              <a:solidFill>
                <a:schemeClr val="bg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1" name="Rounded Rectangle 17"/>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1</a:t>
            </a:r>
            <a:endParaRPr lang="en-US" sz="1600" dirty="0">
              <a:latin typeface="Arial" panose="020B0604020202020204" pitchFamily="34" charset="0"/>
            </a:endParaRPr>
          </a:p>
          <a:p>
            <a:r>
              <a:rPr lang="en-IN" dirty="0"/>
              <a:t>(b) 2</a:t>
            </a:r>
            <a:endParaRPr lang="en-IN" dirty="0"/>
          </a:p>
          <a:p>
            <a:r>
              <a:rPr lang="en-IN" dirty="0"/>
              <a:t>(c) 3</a:t>
            </a:r>
            <a:endParaRPr lang="en-IN" dirty="0"/>
          </a:p>
          <a:p>
            <a:r>
              <a:rPr lang="en-IN" dirty="0"/>
              <a:t>(d) 4</a:t>
            </a:r>
            <a:endParaRPr lang="en-IN" dirty="0"/>
          </a:p>
          <a:p>
            <a:r>
              <a:rPr lang="en-IN" dirty="0"/>
              <a:t> </a:t>
            </a:r>
            <a:endParaRPr lang="en-US" sz="1600" dirty="0"/>
          </a:p>
        </p:txBody>
      </p:sp>
      <p:sp>
        <p:nvSpPr>
          <p:cNvPr id="13" name="Google Shape;502;p17"/>
          <p:cNvSpPr/>
          <p:nvPr/>
        </p:nvSpPr>
        <p:spPr>
          <a:xfrm>
            <a:off x="1009895" y="3968496"/>
            <a:ext cx="10172210" cy="35661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dirty="0">
                <a:latin typeface="Times New Roman" panose="02020603050405020304" pitchFamily="18" charset="0"/>
                <a:cs typeface="Times New Roman" panose="02020603050405020304" pitchFamily="18" charset="0"/>
              </a:rPr>
              <a:t>2.Which of the following is false about a binary search tree?</a:t>
            </a:r>
            <a:endParaRPr lang="en-IN" dirty="0">
              <a:latin typeface="Times New Roman" panose="02020603050405020304" pitchFamily="18" charset="0"/>
              <a:cs typeface="Times New Roman" panose="02020603050405020304" pitchFamily="18" charset="0"/>
            </a:endParaRPr>
          </a:p>
        </p:txBody>
      </p:sp>
      <p:sp>
        <p:nvSpPr>
          <p:cNvPr id="14" name="Rounded Rectangle 17"/>
          <p:cNvSpPr/>
          <p:nvPr/>
        </p:nvSpPr>
        <p:spPr>
          <a:xfrm>
            <a:off x="1026828" y="4727197"/>
            <a:ext cx="5154516" cy="203602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latin typeface="Times New Roman" panose="02020603050405020304" pitchFamily="18" charset="0"/>
                <a:cs typeface="Times New Roman" panose="02020603050405020304" pitchFamily="18" charset="0"/>
              </a:rPr>
              <a:t>(a) The left child is always lesser than its parent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 The right child is always greater than its parent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 The left and right sub-trees should also be binary search trees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 In order sequence gives decreasing order of elements</a:t>
            </a:r>
            <a:endParaRPr lang="en-IN" dirty="0">
              <a:latin typeface="Times New Roman" panose="02020603050405020304" pitchFamily="18" charset="0"/>
              <a:cs typeface="Times New Roman" panose="02020603050405020304" pitchFamily="18" charset="0"/>
            </a:endParaRPr>
          </a:p>
          <a:p>
            <a:pPr marL="342900" indent="-342900">
              <a:lnSpc>
                <a:spcPct val="150000"/>
              </a:lnSpc>
              <a:buAutoNum type="alphaLcParenBoth"/>
            </a:pPr>
            <a:endParaRPr lang="en-US" sz="1600" dirty="0">
              <a:latin typeface="Times New Roman" panose="02020603050405020304" pitchFamily="18" charset="0"/>
              <a:cs typeface="Times New Roman" panose="02020603050405020304" pitchFamily="18" charset="0"/>
            </a:endParaRPr>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latin typeface="Times New Roman" panose="02020603050405020304" pitchFamily="18" charset="0"/>
                <a:cs typeface="Times New Roman" panose="02020603050405020304" pitchFamily="18" charset="0"/>
              </a:rPr>
              <a:t>Terminal Questions</a:t>
            </a:r>
            <a:endParaRPr lang="en-US" sz="24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900332" y="1167618"/>
            <a:ext cx="9608234" cy="2223942"/>
          </a:xfrm>
          <a:prstGeom prst="rect">
            <a:avLst/>
          </a:prstGeom>
          <a:noFill/>
        </p:spPr>
        <p:txBody>
          <a:bodyPr wrap="square" lIns="91440" tIns="45720" rIns="91440" bIns="45720" rtlCol="0" anchor="t">
            <a:spAutoFit/>
          </a:bodyPr>
          <a:lstStyle/>
          <a:p>
            <a:pPr>
              <a:lnSpc>
                <a:spcPct val="200000"/>
              </a:lnSpc>
            </a:pPr>
            <a:r>
              <a:rPr lang="en-US" dirty="0">
                <a:latin typeface="Times New Roman" panose="02020603050405020304" pitchFamily="18" charset="0"/>
                <a:cs typeface="Times New Roman" panose="02020603050405020304" pitchFamily="18" charset="0"/>
              </a:rPr>
              <a:t>1. Describe : BST Node Deletion</a:t>
            </a:r>
            <a:endParaRPr lang="en-US" dirty="0">
              <a:latin typeface="Times New Roman" panose="02020603050405020304" pitchFamily="18" charset="0"/>
              <a:cs typeface="Times New Roman" panose="02020603050405020304" pitchFamily="18" charset="0"/>
            </a:endParaRPr>
          </a:p>
          <a:p>
            <a:pPr>
              <a:lnSpc>
                <a:spcPct val="200000"/>
              </a:lnSpc>
            </a:pPr>
            <a:r>
              <a:rPr lang="en-US" dirty="0">
                <a:latin typeface="Times New Roman" panose="02020603050405020304" pitchFamily="18" charset="0"/>
                <a:cs typeface="Times New Roman" panose="02020603050405020304" pitchFamily="18" charset="0"/>
              </a:rPr>
              <a:t>2. List out : Various categories of node deletion case</a:t>
            </a:r>
            <a:endParaRPr lang="en-US" dirty="0">
              <a:latin typeface="Times New Roman" panose="02020603050405020304" pitchFamily="18" charset="0"/>
              <a:ea typeface="Calibri" panose="020F0502020204030204"/>
              <a:cs typeface="Times New Roman" panose="02020603050405020304" pitchFamily="18" charset="0"/>
            </a:endParaRPr>
          </a:p>
          <a:p>
            <a:pPr marL="342900" indent="-342900">
              <a:lnSpc>
                <a:spcPct val="200000"/>
              </a:lnSpc>
            </a:pPr>
            <a:r>
              <a:rPr lang="en-US" dirty="0">
                <a:latin typeface="Times New Roman" panose="02020603050405020304" pitchFamily="18" charset="0"/>
                <a:cs typeface="Times New Roman" panose="02020603050405020304" pitchFamily="18" charset="0"/>
              </a:rPr>
              <a:t>3. Analyze : BST</a:t>
            </a:r>
            <a:endParaRPr lang="en-US" dirty="0">
              <a:latin typeface="Times New Roman" panose="02020603050405020304" pitchFamily="18" charset="0"/>
              <a:ea typeface="Calibri" panose="020F0502020204030204"/>
              <a:cs typeface="Times New Roman" panose="02020603050405020304" pitchFamily="18" charset="0"/>
            </a:endParaRPr>
          </a:p>
          <a:p>
            <a:pPr marL="342900" indent="-342900">
              <a:lnSpc>
                <a:spcPct val="200000"/>
              </a:lnSpc>
            </a:pPr>
            <a:r>
              <a:rPr lang="en-US" dirty="0">
                <a:latin typeface="Times New Roman" panose="02020603050405020304" pitchFamily="18" charset="0"/>
                <a:cs typeface="Times New Roman" panose="02020603050405020304" pitchFamily="18" charset="0"/>
              </a:rPr>
              <a:t>4. Summarize about node deletion</a:t>
            </a:r>
            <a:endParaRPr lang="en-US" dirty="0">
              <a:latin typeface="Times New Roman" panose="02020603050405020304" pitchFamily="18" charset="0"/>
              <a:ea typeface="Calibri" panose="020F0502020204030204"/>
              <a:cs typeface="Times New Roman" panose="02020603050405020304" pitchFamily="18" charset="0"/>
            </a:endParaRPr>
          </a:p>
        </p:txBody>
      </p:sp>
      <p:pic>
        <p:nvPicPr>
          <p:cNvPr id="10"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5035353"/>
          </a:xfrm>
          <a:prstGeom prst="rect">
            <a:avLst/>
          </a:prstGeom>
          <a:noFill/>
        </p:spPr>
        <p:txBody>
          <a:bodyPr wrap="square" lIns="91440" tIns="45720" rIns="91440" bIns="45720" rtlCol="0" anchor="t">
            <a:spAutoFit/>
          </a:bodyPr>
          <a:lstStyle/>
          <a:p>
            <a:pPr>
              <a:lnSpc>
                <a:spcPct val="150000"/>
              </a:lnSpc>
            </a:pPr>
            <a:r>
              <a:rPr lang="en-US" sz="2400" b="1" dirty="0">
                <a:latin typeface="Times New Roman" panose="02020603050405020304" pitchFamily="18" charset="0"/>
                <a:ea typeface="Calibri" panose="020F0502020204030204"/>
                <a:cs typeface="Times New Roman" panose="02020603050405020304" pitchFamily="18" charset="0"/>
              </a:rPr>
              <a:t>Reference </a:t>
            </a:r>
            <a:r>
              <a:rPr lang="en-US" sz="2400" b="1" dirty="0" smtClean="0">
                <a:latin typeface="Times New Roman" panose="02020603050405020304" pitchFamily="18" charset="0"/>
                <a:ea typeface="Calibri" panose="020F0502020204030204"/>
                <a:cs typeface="Times New Roman" panose="02020603050405020304" pitchFamily="18" charset="0"/>
              </a:rPr>
              <a:t>Books</a:t>
            </a:r>
            <a:endParaRPr lang="en-US" sz="2400" dirty="0">
              <a:latin typeface="Times New Roman" panose="02020603050405020304" pitchFamily="18" charset="0"/>
              <a:ea typeface="Calibri" panose="020F0502020204030204"/>
              <a:cs typeface="Times New Roman" panose="02020603050405020304" pitchFamily="18" charset="0"/>
            </a:endParaRPr>
          </a:p>
          <a:p>
            <a:pPr marL="342900" lvl="1" indent="-342900">
              <a:lnSpc>
                <a:spcPct val="150000"/>
              </a:lnSpc>
              <a:buAutoNum type="arabicPeriod"/>
            </a:pPr>
            <a:r>
              <a:rPr lang="en-IN" dirty="0">
                <a:latin typeface="Times New Roman" panose="02020603050405020304" pitchFamily="18" charset="0"/>
                <a:ea typeface="Calibri" panose="020F0502020204030204"/>
                <a:cs typeface="Times New Roman" panose="02020603050405020304" pitchFamily="18" charset="0"/>
              </a:rPr>
              <a:t>"Mark Allen Weiss, Data Structures and Algorithm Analysis in C, 2010 , Second Edition, Pearson Education. </a:t>
            </a:r>
            <a:endParaRPr lang="en-US" dirty="0">
              <a:latin typeface="Times New Roman" panose="02020603050405020304" pitchFamily="18" charset="0"/>
              <a:ea typeface="Calibri" panose="020F0502020204030204"/>
              <a:cs typeface="Times New Roman" panose="02020603050405020304" pitchFamily="18" charset="0"/>
            </a:endParaRPr>
          </a:p>
          <a:p>
            <a:pPr marL="342900" lvl="1" indent="-342900">
              <a:lnSpc>
                <a:spcPct val="150000"/>
              </a:lnSpc>
              <a:buAutoNum type="arabicPeriod"/>
            </a:pPr>
            <a:r>
              <a:rPr lang="en-IN" dirty="0">
                <a:latin typeface="Times New Roman" panose="02020603050405020304" pitchFamily="18" charset="0"/>
                <a:ea typeface="Calibri" panose="020F0502020204030204"/>
                <a:cs typeface="Times New Roman" panose="02020603050405020304" pitchFamily="18" charset="0"/>
              </a:rPr>
              <a:t>2. Ellis Horowitz, Fundamentals of Data Structures in C: Second Edition, 2015.</a:t>
            </a:r>
            <a:endParaRPr lang="en-US" dirty="0">
              <a:latin typeface="Times New Roman" panose="02020603050405020304" pitchFamily="18" charset="0"/>
              <a:ea typeface="Calibri" panose="020F0502020204030204"/>
              <a:cs typeface="Times New Roman" panose="02020603050405020304" pitchFamily="18" charset="0"/>
            </a:endParaRPr>
          </a:p>
          <a:p>
            <a:pPr marL="342900" lvl="1" indent="-342900">
              <a:lnSpc>
                <a:spcPct val="150000"/>
              </a:lnSpc>
              <a:buAutoNum type="arabicPeriod"/>
            </a:pPr>
            <a:r>
              <a:rPr lang="en-IN" dirty="0" err="1">
                <a:latin typeface="Times New Roman" panose="02020603050405020304" pitchFamily="18" charset="0"/>
                <a:ea typeface="Calibri" panose="020F0502020204030204"/>
                <a:cs typeface="Times New Roman" panose="02020603050405020304" pitchFamily="18" charset="0"/>
              </a:rPr>
              <a:t>A.V.Aho</a:t>
            </a:r>
            <a:r>
              <a:rPr lang="en-IN" dirty="0">
                <a:latin typeface="Times New Roman" panose="02020603050405020304" pitchFamily="18" charset="0"/>
                <a:ea typeface="Calibri" panose="020F0502020204030204"/>
                <a:cs typeface="Times New Roman" panose="02020603050405020304" pitchFamily="18" charset="0"/>
              </a:rPr>
              <a:t>, J. E. Hopcroft, and J. D. Ullman, “Data Structures And Algorithms”, Pearson Education, First Edition Reprint 2003. </a:t>
            </a:r>
            <a:endParaRPr lang="en-US" dirty="0">
              <a:latin typeface="Times New Roman" panose="02020603050405020304" pitchFamily="18" charset="0"/>
              <a:ea typeface="Calibri" panose="020F0502020204030204"/>
              <a:cs typeface="Times New Roman" panose="02020603050405020304" pitchFamily="18" charset="0"/>
            </a:endParaRPr>
          </a:p>
          <a:p>
            <a:pPr marL="0" lvl="1">
              <a:lnSpc>
                <a:spcPct val="150000"/>
              </a:lnSpc>
            </a:pPr>
            <a:r>
              <a:rPr lang="en-US" sz="2400" b="1" dirty="0">
                <a:latin typeface="Times New Roman" panose="02020603050405020304" pitchFamily="18" charset="0"/>
                <a:ea typeface="Calibri" panose="020F0502020204030204"/>
                <a:cs typeface="Times New Roman" panose="02020603050405020304" pitchFamily="18" charset="0"/>
              </a:rPr>
              <a:t>Sites and Web links:</a:t>
            </a:r>
            <a:endParaRPr lang="en-US" sz="2400" dirty="0">
              <a:latin typeface="Times New Roman" panose="02020603050405020304" pitchFamily="18" charset="0"/>
              <a:ea typeface="Calibri" panose="020F0502020204030204"/>
              <a:cs typeface="Times New Roman" panose="02020603050405020304" pitchFamily="18" charset="0"/>
            </a:endParaRPr>
          </a:p>
          <a:p>
            <a:pPr>
              <a:lnSpc>
                <a:spcPct val="150000"/>
              </a:lnSpc>
            </a:pPr>
            <a:r>
              <a:rPr lang="en-US" dirty="0">
                <a:latin typeface="Times New Roman" panose="02020603050405020304" pitchFamily="18" charset="0"/>
                <a:ea typeface="Calibri" panose="020F0502020204030204"/>
                <a:cs typeface="Times New Roman" panose="02020603050405020304" pitchFamily="18" charset="0"/>
              </a:rPr>
              <a:t>1. </a:t>
            </a:r>
            <a:r>
              <a:rPr lang="en-US" dirty="0">
                <a:latin typeface="Times New Roman" panose="02020603050405020304" pitchFamily="18" charset="0"/>
                <a:ea typeface="Calibri" panose="020F0502020204030204"/>
                <a:cs typeface="Times New Roman" panose="02020603050405020304" pitchFamily="18" charset="0"/>
                <a:hlinkClick r:id="rId1"/>
              </a:rPr>
              <a:t>https://nptel.ac.in/courses/106102064</a:t>
            </a:r>
            <a:endParaRPr lang="en-IN" dirty="0">
              <a:latin typeface="Times New Roman" panose="02020603050405020304" pitchFamily="18" charset="0"/>
              <a:ea typeface="Calibri" panose="020F0502020204030204"/>
              <a:cs typeface="Times New Roman" panose="02020603050405020304" pitchFamily="18" charset="0"/>
            </a:endParaRPr>
          </a:p>
          <a:p>
            <a:r>
              <a:rPr lang="en-US" dirty="0">
                <a:latin typeface="Times New Roman" panose="02020603050405020304" pitchFamily="18" charset="0"/>
                <a:ea typeface="Calibri" panose="020F0502020204030204"/>
                <a:cs typeface="Times New Roman" panose="02020603050405020304" pitchFamily="18" charset="0"/>
                <a:hlinkClick r:id="rId2"/>
              </a:rPr>
              <a:t>2. https://in.udacity.com/course/intro-to-algorithms--cs215</a:t>
            </a:r>
            <a:endParaRPr lang="en-IN" dirty="0">
              <a:latin typeface="Times New Roman" panose="02020603050405020304" pitchFamily="18" charset="0"/>
              <a:ea typeface="Calibri" panose="020F0502020204030204"/>
              <a:cs typeface="Times New Roman" panose="02020603050405020304" pitchFamily="18" charset="0"/>
            </a:endParaRPr>
          </a:p>
          <a:p>
            <a:r>
              <a:rPr lang="en-US" dirty="0">
                <a:latin typeface="Times New Roman" panose="02020603050405020304" pitchFamily="18" charset="0"/>
                <a:ea typeface="Calibri" panose="020F0502020204030204"/>
                <a:cs typeface="Times New Roman" panose="02020603050405020304" pitchFamily="18" charset="0"/>
              </a:rPr>
              <a:t>3. </a:t>
            </a:r>
            <a:r>
              <a:rPr lang="en-US" dirty="0">
                <a:latin typeface="Times New Roman" panose="02020603050405020304" pitchFamily="18" charset="0"/>
                <a:ea typeface="Calibri" panose="020F0502020204030204"/>
                <a:cs typeface="Times New Roman" panose="02020603050405020304" pitchFamily="18" charset="0"/>
                <a:hlinkClick r:id="rId3"/>
              </a:rPr>
              <a:t>https://www.coursera.org/learn/data-structures?action=enroll</a:t>
            </a:r>
            <a:endParaRPr lang="en-US" dirty="0">
              <a:latin typeface="Times New Roman" panose="02020603050405020304" pitchFamily="18" charset="0"/>
              <a:ea typeface="Calibri" panose="020F0502020204030204"/>
              <a:cs typeface="Times New Roman" panose="02020603050405020304" pitchFamily="18" charset="0"/>
            </a:endParaRPr>
          </a:p>
          <a:p>
            <a:pPr>
              <a:lnSpc>
                <a:spcPct val="150000"/>
              </a:lnSpc>
            </a:pPr>
            <a:endParaRPr lang="en-US" dirty="0">
              <a:latin typeface="Times New Roman" panose="02020603050405020304" pitchFamily="18" charset="0"/>
              <a:ea typeface="Calibri" panose="020F0502020204030204"/>
              <a:cs typeface="Times New Roman" panose="02020603050405020304" pitchFamily="18" charset="0"/>
            </a:endParaRPr>
          </a:p>
          <a:p>
            <a:pPr>
              <a:lnSpc>
                <a:spcPct val="150000"/>
              </a:lnSpc>
            </a:pPr>
            <a:endParaRPr lang="en-US" b="1" dirty="0">
              <a:latin typeface="Times New Roman" panose="02020603050405020304" pitchFamily="18" charset="0"/>
              <a:ea typeface="Calibri" panose="020F0502020204030204"/>
              <a:cs typeface="Times New Roman" panose="02020603050405020304" pitchFamily="18" charset="0"/>
            </a:endParaRPr>
          </a:p>
        </p:txBody>
      </p:sp>
      <p:pic>
        <p:nvPicPr>
          <p:cNvPr id="5" name="Picture 2" descr="KL Deemed to be University Logo"/>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latin typeface="Times New Roman" panose="02020603050405020304" pitchFamily="18" charset="0"/>
                <a:cs typeface="Times New Roman" panose="02020603050405020304" pitchFamily="18" charset="0"/>
              </a:rPr>
              <a:t>Activities/ Case Studies Session</a:t>
            </a:r>
            <a:endParaRPr lang="en-US" sz="2400" dirty="0">
              <a:latin typeface="Times New Roman" panose="02020603050405020304" pitchFamily="18" charset="0"/>
              <a:cs typeface="Times New Roman" panose="02020603050405020304" pitchFamily="18" charset="0"/>
            </a:endParaRPr>
          </a:p>
        </p:txBody>
      </p:sp>
      <p:pic>
        <p:nvPicPr>
          <p:cNvPr id="31"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7" name="TextBox 16"/>
          <p:cNvSpPr txBox="1"/>
          <p:nvPr/>
        </p:nvSpPr>
        <p:spPr>
          <a:xfrm>
            <a:off x="1083212" y="1252025"/>
            <a:ext cx="10086536" cy="1477328"/>
          </a:xfrm>
          <a:prstGeom prst="rect">
            <a:avLst/>
          </a:prstGeom>
          <a:noFill/>
        </p:spPr>
        <p:txBody>
          <a:bodyPr wrap="square" rtlCol="0">
            <a:spAutoFit/>
          </a:bodyPr>
          <a:lstStyle/>
          <a:p>
            <a:pPr>
              <a:defRPr/>
            </a:pPr>
            <a:r>
              <a:rPr lang="en-US" dirty="0">
                <a:latin typeface="Times New Roman" panose="02020603050405020304" pitchFamily="18" charset="0"/>
                <a:cs typeface="Times New Roman" panose="02020603050405020304" pitchFamily="18" charset="0"/>
              </a:rPr>
              <a:t>Add the following values one at a time to an initially empty binary search tree :</a:t>
            </a:r>
            <a:endParaRPr lang="en-US" dirty="0">
              <a:latin typeface="Times New Roman" panose="02020603050405020304" pitchFamily="18" charset="0"/>
              <a:cs typeface="Times New Roman" panose="02020603050405020304" pitchFamily="18" charset="0"/>
            </a:endParaRPr>
          </a:p>
          <a:p>
            <a:pPr>
              <a:defRPr/>
            </a:pPr>
            <a:endParaRPr lang="en-US" dirty="0">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defRPr/>
            </a:pPr>
            <a:r>
              <a:rPr lang="en-US" altLang="en-US" dirty="0">
                <a:solidFill>
                  <a:srgbClr val="FF0000"/>
                </a:solidFill>
                <a:latin typeface="Times New Roman" panose="02020603050405020304" pitchFamily="18" charset="0"/>
                <a:cs typeface="Times New Roman" panose="02020603050405020304" pitchFamily="18" charset="0"/>
              </a:rPr>
              <a:t>10,23,85,44,26,89,62,45,89 </a:t>
            </a:r>
            <a:endParaRPr lang="en-US" altLang="en-US" dirty="0">
              <a:solidFill>
                <a:srgbClr val="FF0000"/>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defRPr/>
            </a:pPr>
            <a:endParaRPr lang="en-US" dirty="0">
              <a:latin typeface="Times New Roman" panose="02020603050405020304" pitchFamily="18" charset="0"/>
              <a:cs typeface="Times New Roman" panose="02020603050405020304" pitchFamily="18" charset="0"/>
            </a:endParaRPr>
          </a:p>
          <a:p>
            <a:pPr>
              <a:defRPr/>
            </a:pPr>
            <a:r>
              <a:rPr lang="en-US" dirty="0">
                <a:latin typeface="Times New Roman" panose="02020603050405020304" pitchFamily="18" charset="0"/>
                <a:cs typeface="Times New Roman" panose="02020603050405020304" pitchFamily="18" charset="0"/>
              </a:rPr>
              <a:t>What is the resulting tree after deleting node 23?</a:t>
            </a:r>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b="1"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Times New Roman" panose="02020603050405020304" pitchFamily="18" charset="0"/>
                <a:cs typeface="Times New Roman" panose="02020603050405020304" pitchFamily="18" charset="0"/>
              </a:rPr>
              <a:t>Team – Data structures</a:t>
            </a:r>
            <a:endParaRPr lang="en-US" sz="2400" dirty="0">
              <a:solidFill>
                <a:schemeClr val="bg1"/>
              </a:solidFill>
              <a:latin typeface="Times New Roman" panose="02020603050405020304" pitchFamily="18" charset="0"/>
              <a:cs typeface="Times New Roman" panose="02020603050405020304" pitchFamily="18" charset="0"/>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1"/>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datastoreItem>
</file>

<file path=customXml/itemProps2.xml><?xml version="1.0" encoding="utf-8"?>
<ds:datastoreItem xmlns:ds="http://schemas.openxmlformats.org/officeDocument/2006/customXml" ds:itemID="{C89A6ECA-0C1B-4F00-836D-A696F073E5C2}">
  <ds:schemaRefs/>
</ds:datastoreItem>
</file>

<file path=customXml/itemProps3.xml><?xml version="1.0" encoding="utf-8"?>
<ds:datastoreItem xmlns:ds="http://schemas.openxmlformats.org/officeDocument/2006/customXml" ds:itemID="{EBBD0A98-E68B-4DAA-8964-2F739D6D4075}">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4957</Words>
  <Application>WPS Presentation</Application>
  <PresentationFormat>Custom</PresentationFormat>
  <Paragraphs>168</Paragraphs>
  <Slides>14</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14</vt:i4>
      </vt:variant>
    </vt:vector>
  </HeadingPairs>
  <TitlesOfParts>
    <vt:vector size="31" baseType="lpstr">
      <vt:lpstr>Arial</vt:lpstr>
      <vt:lpstr>SimSun</vt:lpstr>
      <vt:lpstr>Wingdings</vt:lpstr>
      <vt:lpstr>Arial</vt:lpstr>
      <vt:lpstr>Calibri</vt:lpstr>
      <vt:lpstr>Poppins</vt:lpstr>
      <vt:lpstr>Segoe Print</vt:lpstr>
      <vt:lpstr>BioRhyme ExtraBold</vt:lpstr>
      <vt:lpstr>Poppins</vt:lpstr>
      <vt:lpstr>Poppins</vt:lpstr>
      <vt:lpstr>Times New Roman</vt:lpstr>
      <vt:lpstr>Times New Roman</vt:lpstr>
      <vt:lpstr>Arial</vt:lpstr>
      <vt:lpstr>Microsoft YaHei</vt:lpstr>
      <vt:lpstr>Arial Unicode MS</vt:lpstr>
      <vt:lpstr>Calibri</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Anusha M</cp:lastModifiedBy>
  <cp:revision>202</cp:revision>
  <dcterms:created xsi:type="dcterms:W3CDTF">2020-02-08T09:57:00Z</dcterms:created>
  <dcterms:modified xsi:type="dcterms:W3CDTF">2024-12-16T10:31:26Z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A16BE567F604421CBD8D5CB16CDA7AF6_13</vt:lpwstr>
  </property>
  <property fmtid="{D5CDD505-2E9C-101B-9397-08002B2CF9AE}" pid="4" name="KSOProductBuildVer">
    <vt:lpwstr>1033-12.2.0.19307</vt:lpwstr>
  </property>
</Properties>
</file>