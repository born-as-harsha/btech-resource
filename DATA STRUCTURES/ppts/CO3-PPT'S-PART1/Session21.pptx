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5"/>
  </p:notesMasterIdLst>
  <p:sldIdLst>
    <p:sldId id="326" r:id="rId5"/>
    <p:sldId id="328" r:id="rId6"/>
    <p:sldId id="258" r:id="rId7"/>
    <p:sldId id="331" r:id="rId8"/>
    <p:sldId id="288" r:id="rId9"/>
    <p:sldId id="290" r:id="rId10"/>
    <p:sldId id="305" r:id="rId11"/>
    <p:sldId id="333" r:id="rId12"/>
    <p:sldId id="334" r:id="rId13"/>
    <p:sldId id="335" r:id="rId14"/>
    <p:sldId id="337" r:id="rId15"/>
    <p:sldId id="327" r:id="rId16"/>
    <p:sldId id="324" r:id="rId17"/>
    <p:sldId id="299" r:id="rId18"/>
    <p:sldId id="285" r:id="rId19"/>
    <p:sldId id="301" r:id="rId20"/>
    <p:sldId id="287" r:id="rId21"/>
    <p:sldId id="302" r:id="rId22"/>
    <p:sldId id="30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96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3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4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n.udacity.com/course/intro-to-algorithms--cs215" TargetMode="External"/><Relationship Id="rId2" Type="http://schemas.openxmlformats.org/officeDocument/2006/relationships/hyperlink" Target="https://nptel.ac.in/courses/10610206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coursera.org/learn/data-structures?action=enrol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</a:rPr>
              <a:t>Data Structures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</a:rPr>
              <a:t>24SC1203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Name of the 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Hashing</a:t>
            </a: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>
                <a:solidFill>
                  <a:srgbClr val="FF0000"/>
                </a:solidFill>
              </a:rPr>
              <a:t>BES-I</a:t>
            </a:r>
            <a:endParaRPr lang="en-US" sz="400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276164" y="55722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– 20</a:t>
            </a:r>
            <a:endParaRPr sz="240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1223" y="720328"/>
            <a:ext cx="8866628" cy="8140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>
                <a:effectLst/>
                <a:latin typeface="Times New Roman"/>
                <a:cs typeface="Poppins"/>
              </a:rPr>
              <a:t>To familiarize students with the basic concept of Hashing</a:t>
            </a:r>
          </a:p>
          <a:p>
            <a:pPr>
              <a:lnSpc>
                <a:spcPct val="150000"/>
              </a:lnSpc>
            </a:pPr>
            <a:endParaRPr lang="en-US" sz="1600" b="0" i="0">
              <a:effectLst/>
              <a:latin typeface="Times New Roman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5684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cs typeface="Poppins"/>
              </a:rPr>
              <a:t>This</a:t>
            </a:r>
            <a:r>
              <a:rPr lang="en-US" sz="1600" b="0" i="0">
                <a:effectLst/>
                <a:latin typeface="Times New Roman"/>
                <a:cs typeface="Poppins"/>
              </a:rPr>
              <a:t> </a:t>
            </a:r>
            <a:r>
              <a:rPr lang="en-US" sz="1600">
                <a:latin typeface="Times New Roman"/>
                <a:cs typeface="Poppins"/>
              </a:rPr>
              <a:t>Session</a:t>
            </a:r>
            <a:r>
              <a:rPr lang="en-US" sz="1600" b="0" i="0">
                <a:effectLst/>
                <a:latin typeface="Times New Roman"/>
                <a:cs typeface="Poppins"/>
              </a:rPr>
              <a:t> is designed to:</a:t>
            </a:r>
            <a:r>
              <a:rPr lang="en-US" sz="1600">
                <a:latin typeface="Times New Roman"/>
                <a:cs typeface="Poppins"/>
              </a:rPr>
              <a:t> </a:t>
            </a:r>
            <a:endParaRPr lang="en-US" sz="1600" b="0" i="0">
              <a:effectLst/>
              <a:latin typeface="Times New Roman"/>
              <a:cs typeface="Poppins"/>
            </a:endParaRP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Times New Roman"/>
                <a:cs typeface="Times New Roman"/>
              </a:rPr>
              <a:t>Demonstrate Hashing. Separate chaining</a:t>
            </a: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Times New Roman"/>
                <a:cs typeface="Times New Roman"/>
              </a:rPr>
              <a:t>Describe the types of hashing</a:t>
            </a: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Times New Roman"/>
                <a:cs typeface="Arial" panose="020B0604020202020204"/>
              </a:rPr>
              <a:t>Describe each method</a:t>
            </a:r>
            <a:r>
              <a:rPr lang="en-US" sz="1600">
                <a:latin typeface="Times New Roman"/>
                <a:cs typeface="Arial" panose="020B0604020202020204"/>
              </a:rPr>
              <a:t> </a:t>
            </a:r>
            <a:endParaRPr lang="en-US" sz="1600" b="0" i="0">
              <a:effectLst/>
              <a:latin typeface="Times New Roman"/>
              <a:cs typeface="Arial" panose="020B0604020202020204"/>
            </a:endParaRPr>
          </a:p>
          <a:p>
            <a:pPr marL="342900" indent="-342900">
              <a:buAutoNum type="arabicPeriod"/>
            </a:pPr>
            <a:endParaRPr lang="en-US"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18442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>
                <a:effectLst/>
                <a:latin typeface="Times New Roman"/>
                <a:cs typeface="Arial" panose="020B0604020202020204"/>
              </a:rPr>
              <a:t>At the end of this </a:t>
            </a:r>
            <a:r>
              <a:rPr lang="en-US" sz="1600">
                <a:latin typeface="Times New Roman"/>
                <a:cs typeface="Arial" panose="020B0604020202020204"/>
              </a:rPr>
              <a:t>session</a:t>
            </a:r>
            <a:r>
              <a:rPr lang="en-US" sz="1600" b="0" i="0">
                <a:effectLst/>
                <a:latin typeface="Times New Roman"/>
                <a:cs typeface="Arial" panose="020B0604020202020204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>
                <a:latin typeface="Times New Roman"/>
                <a:cs typeface="Arial"/>
              </a:rPr>
              <a:t>Understand the fundamental concepts of hashing, including hash functions, hash tables</a:t>
            </a:r>
            <a:endParaRPr lang="en-US">
              <a:latin typeface="Times New Roman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Times New Roman"/>
                <a:cs typeface="Arial"/>
              </a:rPr>
              <a:t>Learns different hashing techniques (e.g., Division Method, Mid Square Method, Digit Folding Method, Multiplication Method) and their suitability for different scenarios.</a:t>
            </a:r>
            <a:endParaRPr lang="en-US" sz="1600">
              <a:solidFill>
                <a:srgbClr val="000000"/>
              </a:solidFill>
              <a:latin typeface="Times New Roman"/>
              <a:ea typeface="+mn-lt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Times New Roman"/>
                <a:cs typeface="Arial"/>
              </a:rPr>
              <a:t>Apply hashing to solve practical problems involving efficient data retrieval and storage.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 bldLvl="0" animBg="1"/>
      <p:bldP spid="9" grpId="0" bldLvl="0" animBg="1"/>
      <p:bldP spid="29" grpId="0" bldLvl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1669065" y="129497"/>
            <a:ext cx="8324237" cy="96478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Hashing </a:t>
            </a:r>
          </a:p>
          <a:p>
            <a:endParaRPr lang="en-US" sz="2400">
              <a:cs typeface="Calibri"/>
            </a:endParaRP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781" y="1465781"/>
            <a:ext cx="11336055" cy="45397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IN" sz="2400">
                <a:latin typeface="Times New Roman"/>
                <a:cs typeface="Times New Roman"/>
              </a:rPr>
              <a:t>Hashing is a technique or process of mapping keys, and values into the hash table by using a hash function. </a:t>
            </a:r>
            <a:endParaRPr lang="en-US" sz="2400">
              <a:latin typeface="Times New Roman"/>
              <a:cs typeface="Times New Roman"/>
            </a:endParaRPr>
          </a:p>
          <a:p>
            <a:pPr marL="457200" indent="-457200" algn="just">
              <a:buFont typeface="Arial"/>
              <a:buChar char="•"/>
            </a:pPr>
            <a:r>
              <a:rPr lang="en-IN" sz="2400">
                <a:latin typeface="Times New Roman"/>
                <a:cs typeface="Times New Roman"/>
              </a:rPr>
              <a:t>It is done for faster access to elements and minimizes the number of comparisons while performing the search.</a:t>
            </a:r>
          </a:p>
          <a:p>
            <a:pPr marL="457200" indent="-457200" algn="just">
              <a:buFont typeface="Arial"/>
              <a:buChar char="•"/>
            </a:pPr>
            <a:r>
              <a:rPr lang="en-IN" sz="2400">
                <a:latin typeface="Times New Roman"/>
                <a:cs typeface="Times New Roman"/>
              </a:rPr>
              <a:t>The efficiency of mapping depends on the efficiency of the hash function used.</a:t>
            </a:r>
          </a:p>
          <a:p>
            <a:pPr algn="just"/>
            <a:r>
              <a:rPr lang="en-IN" sz="2400" b="1">
                <a:latin typeface="Times New Roman"/>
                <a:cs typeface="Times New Roman"/>
              </a:rPr>
              <a:t>Hashing Mechanism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It's a technique for efficiently storing and retrieving data using a hash function.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A hash function converts a key (like a name or a number) into an index, which is used to locate the corresponding value in a data structure called a hash table.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Ideally, each key maps to a unique index, but collisions (multiple keys mapping to the same index) can occur and need to be resolved.</a:t>
            </a:r>
            <a:endParaRPr lang="en-IN">
              <a:cs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BB28D-03A0-165C-BB66-51BB3261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126379"/>
            <a:ext cx="11286564" cy="5552607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>
                <a:latin typeface="Times New Roman"/>
                <a:cs typeface="Times New Roman"/>
              </a:rPr>
              <a:t>Hash Table</a:t>
            </a:r>
            <a:endParaRPr lang="en-US"/>
          </a:p>
          <a:p>
            <a:r>
              <a:rPr lang="en-US" sz="2200">
                <a:latin typeface="Times New Roman"/>
                <a:cs typeface="Times New Roman"/>
              </a:rPr>
              <a:t>It's the primary data structure used for hashing.</a:t>
            </a:r>
          </a:p>
          <a:p>
            <a:r>
              <a:rPr lang="en-US" sz="2200">
                <a:latin typeface="Times New Roman"/>
                <a:cs typeface="Times New Roman"/>
              </a:rPr>
              <a:t>It's typically an array of slots, where each slot can hold a key-value pair.</a:t>
            </a:r>
          </a:p>
          <a:p>
            <a:r>
              <a:rPr lang="en-US" sz="2200">
                <a:latin typeface="Times New Roman"/>
                <a:cs typeface="Times New Roman"/>
              </a:rPr>
              <a:t>The hash function determines which slot a key-value pair is placed into.</a:t>
            </a:r>
          </a:p>
          <a:p>
            <a:pPr marL="0" indent="0">
              <a:buNone/>
            </a:pPr>
            <a:r>
              <a:rPr lang="en-US" sz="2200" b="1">
                <a:latin typeface="Times New Roman"/>
                <a:cs typeface="Times New Roman"/>
              </a:rPr>
              <a:t>Hash Function</a:t>
            </a:r>
          </a:p>
          <a:p>
            <a:r>
              <a:rPr lang="en-US" sz="2200">
                <a:latin typeface="Times New Roman"/>
                <a:cs typeface="Times New Roman"/>
              </a:rPr>
              <a:t>It's the core component of hashing.</a:t>
            </a:r>
          </a:p>
          <a:p>
            <a:r>
              <a:rPr lang="en-US" sz="2200">
                <a:latin typeface="Times New Roman"/>
                <a:cs typeface="Times New Roman"/>
              </a:rPr>
              <a:t>It takes a key as input and produces a unique integer value (the hash value) that serves as the index in the hash table.</a:t>
            </a:r>
          </a:p>
          <a:p>
            <a:r>
              <a:rPr lang="en-US" sz="2200">
                <a:latin typeface="Times New Roman"/>
                <a:cs typeface="Times New Roman"/>
              </a:rPr>
              <a:t>Common hash functions include division-based, multiplication-based, and universal hashing.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latin typeface="Times New Roman"/>
                <a:cs typeface="Times New Roman"/>
              </a:rPr>
              <a:t>Hash Key Value</a:t>
            </a:r>
          </a:p>
          <a:p>
            <a:r>
              <a:rPr lang="en-US" sz="2200">
                <a:latin typeface="Times New Roman"/>
                <a:cs typeface="Times New Roman"/>
              </a:rPr>
              <a:t>Hash key value is a special value that serves as an index for a data item.</a:t>
            </a:r>
          </a:p>
          <a:p>
            <a:r>
              <a:rPr lang="en-US" sz="2200">
                <a:latin typeface="Times New Roman"/>
                <a:cs typeface="Times New Roman"/>
              </a:rPr>
              <a:t>It indicates where the data item should be stored in the hash table.</a:t>
            </a:r>
          </a:p>
          <a:p>
            <a:r>
              <a:rPr lang="en-US" sz="2200">
                <a:latin typeface="Times New Roman"/>
                <a:cs typeface="Times New Roman"/>
              </a:rPr>
              <a:t>Hash key value is generated using a hash function.</a:t>
            </a:r>
          </a:p>
          <a:p>
            <a:endParaRPr lang="en-US" sz="2200">
              <a:latin typeface="Times New Roman"/>
              <a:cs typeface="Times New Roman"/>
            </a:endParaRPr>
          </a:p>
          <a:p>
            <a:endParaRPr lang="en-US" sz="2200">
              <a:cs typeface="Calibri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BBBEF61C-6DB3-BBAB-7D10-E9D6A04CD126}"/>
              </a:ext>
            </a:extLst>
          </p:cNvPr>
          <p:cNvSpPr/>
          <p:nvPr/>
        </p:nvSpPr>
        <p:spPr>
          <a:xfrm>
            <a:off x="1669065" y="129497"/>
            <a:ext cx="8324237" cy="96478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Hashing </a:t>
            </a:r>
          </a:p>
          <a:p>
            <a:endParaRPr lang="en-US" sz="2400">
              <a:cs typeface="Calibri"/>
            </a:endParaRP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AEFB89EE-0D2C-D6BD-B3D7-2A0181128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438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075055" y="4352290"/>
            <a:ext cx="6096000" cy="140716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endParaRPr lang="en-US" alt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217" y="761290"/>
            <a:ext cx="8011756" cy="247033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 Box 99"/>
          <p:cNvSpPr txBox="1"/>
          <p:nvPr/>
        </p:nvSpPr>
        <p:spPr>
          <a:xfrm>
            <a:off x="552847" y="3549558"/>
            <a:ext cx="8359775" cy="26337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200" dirty="0">
                <a:latin typeface="Times New Roman"/>
                <a:cs typeface="Times New Roman"/>
              </a:rPr>
              <a:t> </a:t>
            </a:r>
            <a:r>
              <a:rPr lang="en-US" sz="2400" b="1" dirty="0">
                <a:latin typeface="Times New Roman"/>
                <a:cs typeface="Calibri"/>
              </a:rPr>
              <a:t>Types of Hashing</a:t>
            </a:r>
            <a:endParaRPr lang="en-US" b="1">
              <a:latin typeface="Symbol" panose="05050102010706020507" charset="0"/>
              <a:cs typeface="Times New Roman" panose="02020603050405020304" pitchFamily="18" charset="0"/>
              <a:sym typeface="Symbol" panose="05050102010706020507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1</a:t>
            </a:r>
            <a:r>
              <a:rPr lang="en-US" sz="2400" b="1" dirty="0">
                <a:latin typeface="Times New Roman"/>
                <a:cs typeface="Times New Roman"/>
              </a:rPr>
              <a:t>.</a:t>
            </a:r>
            <a:r>
              <a:rPr lang="en-US" sz="2400" dirty="0">
                <a:latin typeface="Times New Roman"/>
                <a:cs typeface="Times New Roman"/>
              </a:rPr>
              <a:t> Division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2. Mid Square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3. Digit Folding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4.Multiplicative Method</a:t>
            </a:r>
          </a:p>
          <a:p>
            <a:endParaRPr lang="en-US" sz="2200" b="0">
              <a:latin typeface="Times New Roman" panose="02020603050405020304" pitchFamily="18" charset="0"/>
              <a:cs typeface="Times New Roman"/>
            </a:endParaRPr>
          </a:p>
          <a:p>
            <a:endParaRPr lang="en-US" sz="2200">
              <a:latin typeface="Times New Roman" panose="02020603050405020304" pitchFamily="18" charset="0"/>
              <a:cs typeface="Times New Roman"/>
            </a:endParaRPr>
          </a:p>
          <a:p>
            <a:endParaRPr lang="en-US" sz="2200">
              <a:latin typeface="Times New Roman" panose="02020603050405020304" pitchFamily="18" charset="0"/>
              <a:cs typeface="Times New Roman"/>
            </a:endParaRPr>
          </a:p>
          <a:p>
            <a:endParaRPr lang="en-US" sz="2200">
              <a:latin typeface="Times New Roman" panose="02020603050405020304" pitchFamily="18" charset="0"/>
              <a:cs typeface="Times New Roman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A913E15-0299-15C9-4AC0-42ADCC1F4C7D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/>
              <a:t>Types of Hashing    </a:t>
            </a:r>
            <a:endParaRPr lang="en-US" sz="3200" b="1"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/>
          <p:cNvSpPr/>
          <p:nvPr/>
        </p:nvSpPr>
        <p:spPr>
          <a:xfrm>
            <a:off x="2476506" y="70605"/>
            <a:ext cx="6846753" cy="76945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b="1"/>
              <a:t>Division method</a:t>
            </a:r>
            <a:endParaRPr lang="en-US" sz="3200" b="1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25259" y="1099625"/>
            <a:ext cx="9356598" cy="71096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1. Division method</a:t>
            </a:r>
          </a:p>
          <a:p>
            <a:pPr indent="-285750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It's a simple and common technique for creating hash functions.</a:t>
            </a:r>
          </a:p>
          <a:p>
            <a:pPr indent="-285750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 involves dividing the key by a fixed integer value (usually the size of the hash table) and using the remainder as the hash value.</a:t>
            </a:r>
          </a:p>
          <a:p>
            <a:pPr marL="285750" indent="-285750">
              <a:buFont typeface="Arial,Sans-Serif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The hash function for the Division method is: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         h(key) = Key% Table size.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IN" sz="2400" b="1" dirty="0">
              <a:latin typeface="Times New Roman"/>
              <a:cs typeface="Times New Roman"/>
            </a:endParaRPr>
          </a:p>
          <a:p>
            <a:pPr algn="just"/>
            <a:r>
              <a:rPr lang="en-IN" sz="2400" b="1" dirty="0">
                <a:latin typeface="Times New Roman"/>
                <a:cs typeface="Times New Roman"/>
              </a:rPr>
              <a:t>Example:</a:t>
            </a:r>
            <a:r>
              <a:rPr lang="en-IN" sz="2400" dirty="0">
                <a:latin typeface="Times New Roman"/>
                <a:cs typeface="Times New Roman"/>
              </a:rPr>
              <a:t> If the record 52,68,99,84 is to be placed in a hash table and </a:t>
            </a:r>
            <a:endParaRPr lang="en-IN" dirty="0">
              <a:latin typeface="Calibri"/>
              <a:cs typeface="Calibri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the table size is 10.</a:t>
            </a:r>
            <a:endParaRPr lang="en-IN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The hash function for the Division method is: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 h(key) = Key% table size.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h(52) = 52%10 =  2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h(68) = 68%10 = 8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h(99) = 99%10 = 9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h(84) = 84%10 = 4</a:t>
            </a:r>
          </a:p>
          <a:p>
            <a:pPr indent="0">
              <a:buFont typeface="Arial" panose="020B0604020202020204" pitchFamily="34" charset="0"/>
              <a:buNone/>
            </a:pPr>
            <a:endParaRPr lang="en-IN" sz="2400">
              <a:latin typeface="Times New Roman"/>
              <a:cs typeface="Times New Roman"/>
            </a:endParaRPr>
          </a:p>
          <a:p>
            <a:endParaRPr lang="en-IN" sz="2400">
              <a:latin typeface="Times New Roman"/>
              <a:cs typeface="Times New Roman"/>
            </a:endParaRPr>
          </a:p>
          <a:p>
            <a:endParaRPr lang="en-IN" sz="2400">
              <a:latin typeface="Times New Roman"/>
              <a:cs typeface="Times New Roman"/>
            </a:endParaRPr>
          </a:p>
          <a:p>
            <a:endParaRPr lang="en-IN" sz="2400" b="1">
              <a:latin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7F43B1-F387-E3A9-2A89-6DE2EF73E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46188"/>
              </p:ext>
            </p:extLst>
          </p:nvPr>
        </p:nvGraphicFramePr>
        <p:xfrm>
          <a:off x="9803025" y="1101810"/>
          <a:ext cx="1603864" cy="5116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932">
                  <a:extLst>
                    <a:ext uri="{9D8B030D-6E8A-4147-A177-3AD203B41FA5}">
                      <a16:colId xmlns:a16="http://schemas.microsoft.com/office/drawing/2014/main" val="692829243"/>
                    </a:ext>
                  </a:extLst>
                </a:gridCol>
                <a:gridCol w="801932">
                  <a:extLst>
                    <a:ext uri="{9D8B030D-6E8A-4147-A177-3AD203B41FA5}">
                      <a16:colId xmlns:a16="http://schemas.microsoft.com/office/drawing/2014/main" val="3078253510"/>
                    </a:ext>
                  </a:extLst>
                </a:gridCol>
              </a:tblGrid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40148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363330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726709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549149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362605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705297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679559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744477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8317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8521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/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/>
              <a:t> </a:t>
            </a:r>
            <a:r>
              <a:rPr lang="en-IN" sz="3200" b="1"/>
              <a:t>Mid square method</a:t>
            </a:r>
            <a:endParaRPr lang="en-US" sz="3200" b="1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66842" y="823315"/>
            <a:ext cx="11458149" cy="63709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IN" sz="2400" dirty="0">
                <a:latin typeface="Times New Roman"/>
                <a:cs typeface="Times New Roman"/>
              </a:rPr>
              <a:t> </a:t>
            </a:r>
            <a:r>
              <a:rPr lang="en-US" altLang="en-IN" sz="2400" dirty="0">
                <a:latin typeface="Times New Roman"/>
                <a:cs typeface="Times New Roman"/>
              </a:rPr>
              <a:t>2. </a:t>
            </a:r>
            <a:r>
              <a:rPr lang="en-IN" sz="2400" b="1" dirty="0">
                <a:latin typeface="Times New Roman"/>
                <a:cs typeface="Times New Roman"/>
              </a:rPr>
              <a:t>Mid square method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It's a technique for generating hash values.</a:t>
            </a:r>
            <a:endParaRPr lang="en-IN" sz="24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 involves squaring the key value and extracting a fixed number of digits from the middle of the squared result as the hash value.</a:t>
            </a:r>
            <a:endParaRPr lang="en-IN" sz="240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The hash function for the Mid Square method is: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h(key) = Key*Key</a:t>
            </a:r>
          </a:p>
          <a:p>
            <a:pPr algn="just"/>
            <a:endParaRPr lang="en-IN" sz="2400" dirty="0">
              <a:latin typeface="Times New Roman"/>
              <a:cs typeface="Times New Roman"/>
            </a:endParaRPr>
          </a:p>
          <a:p>
            <a:pPr algn="just"/>
            <a:r>
              <a:rPr lang="en-IN" sz="2400" b="1" dirty="0">
                <a:latin typeface="Times New Roman"/>
                <a:cs typeface="Times New Roman"/>
              </a:rPr>
              <a:t>Example: </a:t>
            </a:r>
            <a:r>
              <a:rPr lang="en-IN" sz="2400" dirty="0">
                <a:latin typeface="Times New Roman"/>
                <a:cs typeface="Times New Roman"/>
              </a:rPr>
              <a:t>Consider a </a:t>
            </a:r>
            <a:r>
              <a:rPr lang="en-IN" sz="2400" dirty="0">
                <a:latin typeface="Times New Roman"/>
                <a:cs typeface="Calibri"/>
              </a:rPr>
              <a:t>Key</a:t>
            </a:r>
            <a:r>
              <a:rPr lang="en-IN" sz="2400" dirty="0">
                <a:latin typeface="Times New Roman"/>
                <a:cs typeface="Times New Roman"/>
              </a:rPr>
              <a:t> = 12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The hash function for the Mid Square method is: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h(key) = Key*Key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Calibri"/>
              </a:rPr>
              <a:t>          H(12) = 12 * 12 = 144</a:t>
            </a: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 Extract middle digit (hash table size = 10)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 Hash value = 4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 Store or retrieve data at index 4 in the hash table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endParaRPr lang="en-IN" sz="2400" b="1" dirty="0">
              <a:latin typeface="Times New Roman"/>
              <a:cs typeface="Times New Roman"/>
            </a:endParaRPr>
          </a:p>
          <a:p>
            <a:pPr algn="just"/>
            <a:endParaRPr lang="en-IN" sz="2400" dirty="0">
              <a:latin typeface="Times New Roman"/>
              <a:cs typeface="Calibri"/>
            </a:endParaRPr>
          </a:p>
          <a:p>
            <a:pPr algn="just"/>
            <a:endParaRPr lang="en-IN" sz="2400" dirty="0">
              <a:latin typeface="Times New Roman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7C2DD-DB9B-7F03-5AB0-24EFC710F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390"/>
            <a:ext cx="10515600" cy="4799573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dirty="0">
                <a:latin typeface="Times New Roman"/>
                <a:cs typeface="Calibri"/>
              </a:rPr>
              <a:t>3. Digit folding method</a:t>
            </a:r>
            <a:endParaRPr lang="en-IN" sz="2400">
              <a:latin typeface="Times New Roman"/>
              <a:cs typeface="Calibri"/>
            </a:endParaRP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IN" sz="2400" dirty="0">
                <a:latin typeface="Times New Roman"/>
                <a:cs typeface="Calibri"/>
              </a:rPr>
              <a:t>It's a hash function method that involves folding (dividing) a key into multiple parts, adding those parts, and using the result as the hash value.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dirty="0">
                <a:latin typeface="Times New Roman"/>
                <a:cs typeface="Calibri"/>
              </a:rPr>
              <a:t>Example:</a:t>
            </a:r>
            <a:r>
              <a:rPr lang="en-IN" sz="2400" dirty="0">
                <a:latin typeface="Times New Roman"/>
                <a:cs typeface="Calibri"/>
              </a:rPr>
              <a:t> Consider a Key = 123456789 with a hash table size of 1000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Now, break the key into segments of equal length i.e.,  123 | 456 | 789.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   Sum these digits within each segment.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   H(key)=123+456+789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               =1368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/>
                <a:cs typeface="Calibri"/>
              </a:rPr>
              <a:t>    If the sum exceeds the hash table size, use modulo operation to fit it within the         table's range.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/>
                <a:cs typeface="Calibri"/>
              </a:rPr>
              <a:t>   In the example: 1368 % 1000 = 368 (the final hash value).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/>
              <a:cs typeface="Calibri"/>
            </a:endParaRPr>
          </a:p>
        </p:txBody>
      </p:sp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EBD8ABB0-CA56-2ADF-0BDD-42E4504D2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CDD506D-0982-77E3-A350-2F786C888F90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b="1"/>
              <a:t>Digit folding method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277878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A32B5-6B4B-21D9-132D-95A139ABA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125"/>
            <a:ext cx="10515600" cy="5049838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/>
                <a:cs typeface="Calibri"/>
              </a:rPr>
              <a:t>4. Multiplicative Method</a:t>
            </a:r>
          </a:p>
          <a:p>
            <a:pPr marL="342900" indent="-342900" algn="just">
              <a:lnSpc>
                <a:spcPct val="100000"/>
              </a:lnSpc>
            </a:pPr>
            <a:r>
              <a:rPr lang="en-US" sz="2400" dirty="0">
                <a:latin typeface="Times New Roman"/>
                <a:cs typeface="Calibri"/>
              </a:rPr>
              <a:t>Multiplicative hashing is a technique for mapping keys to indices in a hash table that uses multiplication and the fractional part of a number to achieve a good distribution of keys.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/>
                <a:cs typeface="Calibri"/>
              </a:rPr>
              <a:t>The steps involved in the multiplication method are as follows: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Choose a constant A (0 &lt; A &lt; 1)</a:t>
            </a:r>
          </a:p>
          <a:p>
            <a:pPr marL="1257300" lvl="2" algn="just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2400" dirty="0">
                <a:latin typeface="Times New Roman"/>
                <a:cs typeface="Calibri"/>
              </a:rPr>
              <a:t>A common choice is the golden ratio (A ≈ 0.6180339887)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Multiply the key k by A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Extract the fractional part of kA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Multiply the fractional part by the size of the hash table M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Take the floor of the result</a:t>
            </a:r>
          </a:p>
          <a:p>
            <a:pPr marL="1257300" lvl="2" algn="just">
              <a:lnSpc>
                <a:spcPct val="100000"/>
              </a:lnSpc>
              <a:buFont typeface="Wingdings" panose="020B0604020202020204" pitchFamily="34" charset="0"/>
              <a:buChar char="§"/>
            </a:pPr>
            <a:endParaRPr lang="en-US" sz="800" dirty="0">
              <a:solidFill>
                <a:srgbClr val="1F1F1F"/>
              </a:solidFill>
              <a:ea typeface="+mn-lt"/>
              <a:cs typeface="+mn-lt"/>
            </a:endParaRPr>
          </a:p>
        </p:txBody>
      </p:sp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6DD0CD18-6628-ED0D-9542-27EE194AB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A83A5DD-4D90-7166-BB0A-83617815E56E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dirty="0"/>
              <a:t> Multiplicative Method</a:t>
            </a:r>
          </a:p>
        </p:txBody>
      </p:sp>
    </p:spTree>
    <p:extLst>
      <p:ext uri="{BB962C8B-B14F-4D97-AF65-F5344CB8AC3E}">
        <p14:creationId xmlns:p14="http://schemas.microsoft.com/office/powerpoint/2010/main" val="17841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11FAD-2B69-DCB3-E2AC-7F20E1D6A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959"/>
            <a:ext cx="10515600" cy="5071004"/>
          </a:xfrm>
        </p:spPr>
        <p:txBody>
          <a:bodyPr lIns="91440" tIns="45720" rIns="91440" bIns="45720" anchor="t"/>
          <a:lstStyle/>
          <a:p>
            <a:r>
              <a:rPr lang="en-IN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 hash function for the Multiplicative method is: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        h(k) = ⌊m(kA mod 1)⌋</a:t>
            </a:r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Example: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Consider a Key k: 12345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  Constant A: 0.6180339887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  Hash table size m: 10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k*A=12345 * 0.6180339887 =76395.254645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Fractional part: 0.254645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0.254645 * 10 = 2.54645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Floor(2.54645) = 2 (hash index)</a:t>
            </a:r>
          </a:p>
          <a:p>
            <a:pPr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The key 12345 would be mapped to index 2 in the hash table.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D73F5BE1-3332-DF85-F48F-9CB71F23E8FA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dirty="0"/>
              <a:t> Multiplicative Method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638AA858-A0F4-860F-69AD-BC3C251B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7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D4AC0-6945-484B-CD5C-5FFF1451F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551" y="1115112"/>
            <a:ext cx="11268419" cy="5401662"/>
          </a:xfrm>
        </p:spPr>
        <p:txBody>
          <a:bodyPr lIns="91440" tIns="45720" rIns="91440" bIns="45720" anchor="t"/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/>
                <a:cs typeface="Times New Roman"/>
              </a:rPr>
              <a:t>Collision occurs when multiple keys are mapped to the same index (slot) in a hash table by the hash function. </a:t>
            </a:r>
            <a:endParaRPr lang="en-US" sz="2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/>
                <a:cs typeface="Times New Roman"/>
              </a:rPr>
              <a:t>For example, several students having the same locker number in a school, leading to potential conflicts for storage and retrieval.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/>
                <a:cs typeface="Times New Roman"/>
              </a:rPr>
              <a:t>The collision creates a problem because each index in a hash table is supposed to store only one value.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/>
                <a:cs typeface="Times New Roman"/>
              </a:rPr>
              <a:t>There are several collision resolution techniques to manage the performance of a hash table. The two most popular techniques are: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200" dirty="0">
                <a:latin typeface="Times New Roman"/>
                <a:cs typeface="Times New Roman"/>
              </a:rPr>
              <a:t>       1. Open Hashing</a:t>
            </a:r>
          </a:p>
          <a:p>
            <a:pPr lvl="3" algn="just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/>
                <a:cs typeface="Times New Roman"/>
              </a:rPr>
              <a:t>Separate Chaining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200" dirty="0">
                <a:latin typeface="Times New Roman"/>
                <a:cs typeface="Times New Roman"/>
              </a:rPr>
              <a:t>       2. Closed Hashing or Open Addressing</a:t>
            </a: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r>
              <a:rPr lang="en-IN" dirty="0">
                <a:latin typeface="Times New Roman"/>
                <a:cs typeface="Times New Roman"/>
              </a:rPr>
              <a:t>Linear Probing</a:t>
            </a: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r>
              <a:rPr lang="en-IN" dirty="0">
                <a:latin typeface="Times New Roman"/>
                <a:cs typeface="Times New Roman"/>
              </a:rPr>
              <a:t>Quadratic Probing</a:t>
            </a: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150C2AE8-130F-3D97-1D24-2FC732D50178}"/>
              </a:ext>
            </a:extLst>
          </p:cNvPr>
          <p:cNvSpPr/>
          <p:nvPr/>
        </p:nvSpPr>
        <p:spPr>
          <a:xfrm>
            <a:off x="1652864" y="103034"/>
            <a:ext cx="9701345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 dirty="0"/>
              <a:t>Introduction To Collision Resolution Techniques</a:t>
            </a:r>
            <a:endParaRPr lang="en-US" sz="3200" dirty="0">
              <a:cs typeface="Calibri"/>
            </a:endParaRPr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D0317E4D-446B-062F-7A10-2DC8F4E87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3" name="Picture 12" descr="A diagram of a problem solution&#10;&#10;Description automatically generated">
            <a:extLst>
              <a:ext uri="{FF2B5EF4-FFF2-40B4-BE49-F238E27FC236}">
                <a16:creationId xmlns:a16="http://schemas.microsoft.com/office/drawing/2014/main" id="{5A61F2CF-86CC-57F4-8B42-77A4CCA72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316" y="4043247"/>
            <a:ext cx="40671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19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77CC-C580-24DA-8F38-114EF8206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083"/>
            <a:ext cx="10515600" cy="2992591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en-US" sz="2200" b="1">
                <a:latin typeface="Times New Roman"/>
                <a:ea typeface="+mn-lt"/>
                <a:cs typeface="+mn-lt"/>
              </a:rPr>
              <a:t>Open Hashing </a:t>
            </a:r>
            <a:endParaRPr lang="en-US" sz="2200" b="1">
              <a:latin typeface="Times New Roman"/>
              <a:cs typeface="Times New Roman"/>
            </a:endParaRPr>
          </a:p>
          <a:p>
            <a:pPr algn="just"/>
            <a:r>
              <a:rPr lang="en-US" sz="2200">
                <a:latin typeface="Times New Roman"/>
                <a:ea typeface="+mn-lt"/>
                <a:cs typeface="+mn-lt"/>
              </a:rPr>
              <a:t> Each Bucket in the Hash table is the head of a Linked List. 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+mn-lt"/>
              </a:rPr>
              <a:t>All Elements that hash to a Particular Bucket are Placed on the Buckets Linked List .</a:t>
            </a:r>
          </a:p>
          <a:p>
            <a:pPr marL="0" indent="0" algn="just">
              <a:buNone/>
            </a:pPr>
            <a:r>
              <a:rPr lang="en-US" sz="2200">
                <a:latin typeface="Times New Roman"/>
                <a:ea typeface="+mn-lt"/>
                <a:cs typeface="+mn-lt"/>
              </a:rPr>
              <a:t> </a:t>
            </a:r>
            <a:r>
              <a:rPr lang="en-US" sz="2200" b="1">
                <a:latin typeface="Times New Roman"/>
                <a:ea typeface="+mn-lt"/>
                <a:cs typeface="+mn-lt"/>
              </a:rPr>
              <a:t>Closed Hashing 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+mn-lt"/>
              </a:rPr>
              <a:t> Ensures that all elements are stored directly into the Hash Table.</a:t>
            </a:r>
            <a:endParaRPr lang="en-US" sz="2200">
              <a:latin typeface="Times New Roman"/>
              <a:ea typeface="Calibri"/>
              <a:cs typeface="Calibri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2897E438-1DC9-2469-3451-AB7732A6F163}"/>
              </a:ext>
            </a:extLst>
          </p:cNvPr>
          <p:cNvSpPr/>
          <p:nvPr/>
        </p:nvSpPr>
        <p:spPr>
          <a:xfrm>
            <a:off x="1652864" y="103034"/>
            <a:ext cx="9701345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Introduction To Collision Resolution Techniques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73B3B969-C649-58AB-1F3E-5354F89E3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759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719" y="944276"/>
            <a:ext cx="7568585" cy="5636638"/>
          </a:xfrm>
        </p:spPr>
        <p:txBody>
          <a:bodyPr lIns="91440" tIns="45720" rIns="91440" bIns="45720" anchor="t"/>
          <a:lstStyle/>
          <a:p>
            <a:pPr algn="just"/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It is a collision resolution technique that handles collisions in hash tables by storing colliding keys in linked lists.</a:t>
            </a:r>
            <a:endParaRPr lang="en-US" sz="2400">
              <a:latin typeface="Times New Roman"/>
              <a:cs typeface="Calibri"/>
            </a:endParaRPr>
          </a:p>
          <a:p>
            <a:pPr algn="just"/>
            <a:r>
              <a:rPr lang="en-US" sz="2400">
                <a:solidFill>
                  <a:srgbClr val="1F1F1F"/>
                </a:solidFill>
                <a:latin typeface="Times New Roman"/>
                <a:ea typeface="+mn-lt"/>
                <a:cs typeface="+mn-lt"/>
              </a:rPr>
              <a:t>Instead of having a single value at each slot, each slot holds a linked list (or chain) of keys that have hashed to the same index.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The hash function for the Separate Chaining is: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solidFill>
                  <a:srgbClr val="000000"/>
                </a:solidFill>
                <a:latin typeface="Times New Roman"/>
                <a:cs typeface="Times New Roman"/>
              </a:rPr>
              <a:t>     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h(key) = key% </a:t>
            </a:r>
            <a:r>
              <a:rPr lang="en-IN" sz="2400" b="1" err="1">
                <a:solidFill>
                  <a:srgbClr val="000000"/>
                </a:solidFill>
                <a:latin typeface="Times New Roman"/>
                <a:cs typeface="Times New Roman"/>
              </a:rPr>
              <a:t>table_size</a:t>
            </a:r>
            <a:r>
              <a:rPr lang="en-IN" sz="2400" b="1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lang="en-US" sz="2400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/>
                <a:cs typeface="Calibri"/>
              </a:rPr>
              <a:t>Example:</a:t>
            </a:r>
            <a:r>
              <a:rPr lang="en-US" sz="2400">
                <a:latin typeface="Times New Roman"/>
                <a:cs typeface="Calibri"/>
              </a:rPr>
              <a:t> C</a:t>
            </a:r>
            <a:r>
              <a:rPr lang="en-US" sz="2400">
                <a:latin typeface="Times New Roman"/>
                <a:cs typeface="Times New Roman"/>
              </a:rPr>
              <a:t>onsider a sequence of keys as 50, 700, 76, 85, 92, 73, 101 with </a:t>
            </a:r>
            <a:r>
              <a:rPr lang="en-US" sz="2400" err="1">
                <a:latin typeface="Times New Roman"/>
                <a:cs typeface="Times New Roman"/>
              </a:rPr>
              <a:t>table_size</a:t>
            </a:r>
            <a:r>
              <a:rPr lang="en-US" sz="2400">
                <a:latin typeface="Times New Roman"/>
                <a:cs typeface="Times New Roman"/>
              </a:rPr>
              <a:t> 7.</a:t>
            </a:r>
            <a:endParaRPr lang="en-US" sz="2400">
              <a:latin typeface="Times New Roman"/>
              <a:cs typeface="Calibri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h(key) = key% </a:t>
            </a:r>
            <a:r>
              <a:rPr lang="en-IN" sz="2400" err="1">
                <a:latin typeface="Times New Roman"/>
                <a:cs typeface="Times New Roman"/>
              </a:rPr>
              <a:t>table_size</a:t>
            </a:r>
            <a:r>
              <a:rPr lang="en-IN" sz="2400">
                <a:latin typeface="Times New Roman"/>
                <a:cs typeface="Times New Roman"/>
              </a:rPr>
              <a:t>.</a:t>
            </a:r>
            <a:endParaRPr lang="en-US" sz="2400">
              <a:latin typeface="Times New Roman"/>
              <a:cs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h(50) = 50%7 = 1            h(92) = 92%7 = 1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h(700) = 700%7 = 0        h(73) = 73%7 = 3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h(76) = 76%7 = 6            h(101) = 101%7 = 3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>
                <a:latin typeface="Times New Roman"/>
                <a:cs typeface="Times New Roman"/>
              </a:rPr>
              <a:t> h(85) = 85%7 = 1</a:t>
            </a: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95965" y="1201474"/>
            <a:ext cx="4128986" cy="3929388"/>
          </a:xfrm>
          <a:prstGeom prst="rect">
            <a:avLst/>
          </a:prstGeom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5A5AAC3A-32C1-5803-6E7E-9C2A1CF17DFE}"/>
              </a:ext>
            </a:extLst>
          </p:cNvPr>
          <p:cNvSpPr/>
          <p:nvPr/>
        </p:nvSpPr>
        <p:spPr>
          <a:xfrm>
            <a:off x="1652864" y="103034"/>
            <a:ext cx="8985249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Separate Chaining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8" name="Picture 2" descr="KL Deemed to be University Logo">
            <a:extLst>
              <a:ext uri="{FF2B5EF4-FFF2-40B4-BE49-F238E27FC236}">
                <a16:creationId xmlns:a16="http://schemas.microsoft.com/office/drawing/2014/main" id="{47019809-B39D-5C74-6553-D1D179406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2" descr="KL Deemed to be University Logo">
            <a:extLst>
              <a:ext uri="{FF2B5EF4-FFF2-40B4-BE49-F238E27FC236}">
                <a16:creationId xmlns:a16="http://schemas.microsoft.com/office/drawing/2014/main" id="{065B3FCF-86F7-5163-3618-A3817CBAC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5240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252025"/>
            <a:ext cx="12191999" cy="58539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"/>
                <a:cs typeface="Times"/>
              </a:rPr>
              <a:t>Advantages of </a:t>
            </a:r>
            <a:r>
              <a:rPr lang="en-US" altLang="en-IN" sz="2400" b="1" dirty="0">
                <a:latin typeface="Times"/>
                <a:cs typeface="Times"/>
              </a:rPr>
              <a:t>Hashing</a:t>
            </a:r>
            <a:endParaRPr lang="en-IN" sz="2400" b="1" dirty="0">
              <a:latin typeface="Times"/>
              <a:cs typeface="Time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Hashing is extremely efficient.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It completes the search with constant time complexity O(1).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"/>
                <a:cs typeface="Times"/>
              </a:rPr>
              <a:t>Disadvantages of </a:t>
            </a:r>
            <a:r>
              <a:rPr lang="en-US" altLang="en-IN" sz="2400" b="1" dirty="0">
                <a:latin typeface="Times"/>
                <a:cs typeface="Times"/>
              </a:rPr>
              <a:t>Hashing</a:t>
            </a:r>
            <a:endParaRPr lang="en-IN" sz="2400" b="1" dirty="0">
              <a:latin typeface="Times"/>
              <a:cs typeface="Time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Hash tables have a limited capacity and can fill up over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Hash functions may not have the ability to navigate to the next or previous data set.</a:t>
            </a:r>
            <a:endParaRPr lang="en-IN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"/>
                <a:cs typeface="Times"/>
              </a:rPr>
              <a:t>Applications/Uses of </a:t>
            </a:r>
            <a:r>
              <a:rPr lang="en-US" altLang="en-IN" sz="2400" b="1" dirty="0">
                <a:latin typeface="Times"/>
                <a:cs typeface="Times"/>
              </a:rPr>
              <a:t>Hashing</a:t>
            </a:r>
            <a:r>
              <a:rPr lang="en-IN" sz="2400" b="1" dirty="0">
                <a:latin typeface="Times"/>
                <a:cs typeface="Times"/>
              </a:rPr>
              <a:t> in real life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Password storage: Hashing is used to store passwords securely by applying a hash function to the password and storing the hashed result, rather than the plain text password.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Data compression: Hashing is used in data compression algorithms, such as the Huffman coding algorithm, to encode data efficiently.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"/>
              <a:cs typeface="Times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63709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dirty="0">
                <a:latin typeface="Times New Roman"/>
                <a:cs typeface="Times New Roman"/>
              </a:rPr>
              <a:t>1.</a:t>
            </a:r>
            <a:r>
              <a:rPr lang="en-US" sz="2000" dirty="0">
                <a:latin typeface="Times"/>
                <a:cs typeface="Times"/>
              </a:rPr>
              <a:t> </a:t>
            </a:r>
            <a:r>
              <a:rPr lang="en-US" sz="2000" dirty="0">
                <a:latin typeface="Times"/>
                <a:cs typeface="Times"/>
                <a:sym typeface="+mn-ea"/>
              </a:rPr>
              <a:t>Let us consider a simple hash function as “key mod 10” and sequence of keys as 40, 70, 76, 85, 92, 73, 100. Draw hash table and use separate chaining when collision occurs.</a:t>
            </a:r>
            <a:endParaRPr lang="en-US" sz="2000" dirty="0">
              <a:latin typeface="Times"/>
              <a:cs typeface="Times"/>
            </a:endParaRPr>
          </a:p>
          <a:p>
            <a:pPr algn="just"/>
            <a:endParaRPr lang="en-US" sz="2000">
              <a:latin typeface="Times"/>
              <a:cs typeface="Times"/>
            </a:endParaRPr>
          </a:p>
          <a:p>
            <a:pPr algn="just"/>
            <a:r>
              <a:rPr lang="en-US" sz="2000" dirty="0">
                <a:latin typeface="Times"/>
                <a:cs typeface="Times"/>
                <a:sym typeface="+mn-ea"/>
              </a:rPr>
              <a:t>2. Construct a hash table for the given input sequence: 461, 137, 675, 197, 294, 965, 131 and hash function H(k) = k mod 10. Use separate chaining if collision occurs.</a:t>
            </a:r>
            <a:endParaRPr lang="en-US" sz="2000" dirty="0">
              <a:latin typeface="Times"/>
              <a:cs typeface="Times"/>
            </a:endParaRPr>
          </a:p>
          <a:p>
            <a:endParaRPr lang="en-US" sz="2000">
              <a:latin typeface="Times"/>
              <a:cs typeface="Times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SELF-ASSESSMENT QUESTIONS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Google Shape;502;p17"/>
          <p:cNvSpPr/>
          <p:nvPr/>
        </p:nvSpPr>
        <p:spPr>
          <a:xfrm>
            <a:off x="1009895" y="62375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 What is the hash function used in the division method?</a:t>
            </a:r>
            <a:endParaRPr lang="en-US" sz="2400"/>
          </a:p>
          <a:p>
            <a:endParaRPr lang="en-IN" sz="2400"/>
          </a:p>
        </p:txBody>
      </p:sp>
      <p:sp>
        <p:nvSpPr>
          <p:cNvPr id="6" name="Rounded Rectangle 17"/>
          <p:cNvSpPr/>
          <p:nvPr/>
        </p:nvSpPr>
        <p:spPr>
          <a:xfrm>
            <a:off x="1302385" y="1450340"/>
            <a:ext cx="7791450" cy="156845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ym typeface="+mn-ea"/>
              </a:rPr>
              <a:t>a) h(k) = k/m</a:t>
            </a:r>
            <a:endParaRPr lang="en-US"/>
          </a:p>
          <a:p>
            <a:r>
              <a:rPr lang="en-US">
                <a:sym typeface="+mn-ea"/>
              </a:rPr>
              <a:t>b) h(k) = k mod m</a:t>
            </a:r>
            <a:endParaRPr lang="en-US"/>
          </a:p>
          <a:p>
            <a:r>
              <a:rPr lang="en-US">
                <a:sym typeface="+mn-ea"/>
              </a:rPr>
              <a:t>c) h(k) = m/k</a:t>
            </a:r>
            <a:endParaRPr lang="en-US"/>
          </a:p>
          <a:p>
            <a:r>
              <a:rPr lang="en-US">
                <a:sym typeface="+mn-ea"/>
              </a:rPr>
              <a:t>d) h(k) = m mod k</a:t>
            </a:r>
            <a:endParaRPr lang="en-IN"/>
          </a:p>
        </p:txBody>
      </p:sp>
      <p:sp>
        <p:nvSpPr>
          <p:cNvPr id="7" name="Google Shape;502;p17"/>
          <p:cNvSpPr/>
          <p:nvPr/>
        </p:nvSpPr>
        <p:spPr>
          <a:xfrm>
            <a:off x="850510" y="363365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2. Using division method, in a given hash table of size 157, the key of value 172 be placed at position </a:t>
            </a:r>
            <a:endParaRPr lang="en-IN" sz="2400"/>
          </a:p>
        </p:txBody>
      </p:sp>
      <p:sp>
        <p:nvSpPr>
          <p:cNvPr id="9" name="Rounded Rectangle 17"/>
          <p:cNvSpPr/>
          <p:nvPr/>
        </p:nvSpPr>
        <p:spPr>
          <a:xfrm>
            <a:off x="1302385" y="4528185"/>
            <a:ext cx="7791450" cy="168465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  <a:p>
            <a:r>
              <a:rPr lang="en-US">
                <a:sym typeface="+mn-ea"/>
              </a:rPr>
              <a:t>a)  19</a:t>
            </a:r>
            <a:endParaRPr lang="en-US"/>
          </a:p>
          <a:p>
            <a:r>
              <a:rPr lang="en-US">
                <a:sym typeface="+mn-ea"/>
              </a:rPr>
              <a:t>b) 72</a:t>
            </a:r>
            <a:endParaRPr lang="en-US"/>
          </a:p>
          <a:p>
            <a:r>
              <a:rPr lang="en-US">
                <a:sym typeface="+mn-ea"/>
              </a:rPr>
              <a:t>c) 15</a:t>
            </a:r>
            <a:endParaRPr lang="en-US"/>
          </a:p>
          <a:p>
            <a:r>
              <a:rPr lang="en-US">
                <a:sym typeface="+mn-ea"/>
              </a:rPr>
              <a:t>d) 17</a:t>
            </a:r>
            <a:endParaRPr lang="en-I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6" grpId="0" bldLvl="0" animBg="1"/>
      <p:bldP spid="7" grpId="0" bldLvl="0" animBg="1"/>
      <p:bldP spid="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0" y="848264"/>
            <a:ext cx="1210095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5000000000000000000" pitchFamily="2" charset="2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Hashing is a powerful technique for fast data access and storage, but understanding its limitations and careful implementation are essential for optimal performance.</a:t>
            </a:r>
          </a:p>
          <a:p>
            <a:pPr marL="342900" indent="-342900" algn="just">
              <a:buFont typeface="Arial" panose="05000000000000000000" pitchFamily="2" charset="2"/>
              <a:buChar char="•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 panose="05000000000000000000" pitchFamily="2" charset="2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 minimizes the number of comparisons while performing the search.</a:t>
            </a:r>
          </a:p>
          <a:p>
            <a:pPr marL="342900" indent="-342900" algn="just">
              <a:buFont typeface="Arial" panose="05000000000000000000" pitchFamily="2" charset="2"/>
              <a:buChar char="•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 panose="05000000000000000000" pitchFamily="2" charset="2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 It depends on the user, which hash function we wants to use.</a:t>
            </a:r>
            <a:endParaRPr lang="en-IN" sz="2400">
              <a:latin typeface="Times New Roman"/>
              <a:cs typeface="Times New Roman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endParaRPr lang="en-IN" sz="2400" dirty="0">
              <a:latin typeface="Times New Roman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911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Define Hashing?</a:t>
            </a:r>
            <a:endParaRPr lang="en-US">
              <a:cs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List out different types of Hashing Techniques?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Write a C program to implement hashing using separate chaining. Assume </a:t>
            </a:r>
            <a:r>
              <a:rPr lang="en-US" sz="2400">
                <a:latin typeface="Times New Roman"/>
                <a:cs typeface="Times New Roman"/>
              </a:rPr>
              <a:t>that the has table has a size of 10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Construct hash table using separate chaining for the following elements </a:t>
            </a:r>
            <a:r>
              <a:rPr lang="en-US" sz="2400" dirty="0">
                <a:latin typeface="Times New Roman"/>
                <a:cs typeface="Times New Roman"/>
              </a:rPr>
              <a:t>of table size 15, design your own hash function. 23,27,98,6,17,51,77,72,36,53.</a:t>
            </a:r>
            <a:endParaRPr lang="en-US">
              <a:cs typeface="Calibri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REFERENCES FOR FURTHER LEARNING OF THE SESSION</a:t>
            </a:r>
            <a:endParaRPr lang="en-US" sz="2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46628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Reference Books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Times New Roman"/>
                <a:cs typeface="Times New Roman"/>
              </a:rPr>
              <a:t>Mark Allen Weiss, Data Structures and Algorithm Analysis in C, 2010 , Second Edition, </a:t>
            </a:r>
            <a:r>
              <a:rPr lang="en-US" err="1">
                <a:latin typeface="Times New Roman"/>
                <a:cs typeface="Times New Roman"/>
              </a:rPr>
              <a:t>PearsonEducation</a:t>
            </a:r>
            <a:r>
              <a:rPr lang="en-US" dirty="0">
                <a:latin typeface="Times New Roman"/>
                <a:cs typeface="Times New Roman"/>
              </a:rPr>
              <a:t>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Times New Roman"/>
                <a:cs typeface="Times New Roman"/>
              </a:rPr>
              <a:t>2. Ellis Horowitz, Fundamentals of Data Structures in C: Second Edition, 2015</a:t>
            </a: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err="1">
                <a:latin typeface="Times New Roman"/>
                <a:cs typeface="Times New Roman"/>
              </a:rPr>
              <a:t>A.V.Aho</a:t>
            </a:r>
            <a:r>
              <a:rPr lang="en-US" dirty="0">
                <a:latin typeface="Times New Roman"/>
                <a:cs typeface="Times New Roman"/>
              </a:rPr>
              <a:t>, J. E. Hopcroft, and J. D. Ullman, “Data Structures And Algorithms”, Pearson Education, First Edition Reprint2003.</a:t>
            </a:r>
            <a:endParaRPr lang="en-IN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Sites and Web links:</a:t>
            </a: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/>
                <a:cs typeface="Times New Roman"/>
              </a:rPr>
              <a:t>1. </a:t>
            </a:r>
            <a:r>
              <a:rPr lang="en-US" dirty="0">
                <a:latin typeface="Times New Roman"/>
                <a:cs typeface="Times New Roman"/>
                <a:hlinkClick r:id="rId2"/>
              </a:rPr>
              <a:t>https://nptel.ac.in/courses/106102064</a:t>
            </a:r>
            <a:endParaRPr lang="en-IN" dirty="0">
              <a:latin typeface="Times New Roman"/>
              <a:cs typeface="Times New Roman"/>
            </a:endParaRPr>
          </a:p>
          <a:p>
            <a:pPr lvl="0" algn="just"/>
            <a:r>
              <a:rPr lang="en-US" dirty="0">
                <a:latin typeface="Times New Roman"/>
                <a:cs typeface="Times New Roman"/>
                <a:hlinkClick r:id="rId3"/>
              </a:rPr>
              <a:t>2. https://in.udacity.com/course/intro-to-algorithms--cs215</a:t>
            </a:r>
            <a:endParaRPr lang="en-IN" dirty="0">
              <a:latin typeface="Times New Roman"/>
              <a:cs typeface="Times New Roman"/>
            </a:endParaRPr>
          </a:p>
          <a:p>
            <a:pPr lvl="0" algn="just"/>
            <a:r>
              <a:rPr lang="en-US" dirty="0">
                <a:latin typeface="Times New Roman"/>
                <a:cs typeface="Times New Roman"/>
              </a:rPr>
              <a:t>3. </a:t>
            </a:r>
            <a:r>
              <a:rPr lang="en-US" dirty="0">
                <a:latin typeface="Times New Roman"/>
                <a:cs typeface="Times New Roman"/>
                <a:hlinkClick r:id="rId4"/>
              </a:rPr>
              <a:t>https://www.coursera.org/learn/data-structures?action=enroll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3DA00F5F-5366-4B1C-9406-30DECA796AB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1913</Words>
  <Application>Microsoft Office PowerPoint</Application>
  <PresentationFormat>Widescreen</PresentationFormat>
  <Paragraphs>227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Arial,Sans-Serif</vt:lpstr>
      <vt:lpstr>BioRhyme ExtraBold</vt:lpstr>
      <vt:lpstr>Calibri</vt:lpstr>
      <vt:lpstr>Calibri Light</vt:lpstr>
      <vt:lpstr>Courier New</vt:lpstr>
      <vt:lpstr>Poppins</vt:lpstr>
      <vt:lpstr>Symbol</vt:lpstr>
      <vt:lpstr>Times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Dr T Ganesan</cp:lastModifiedBy>
  <cp:revision>200</cp:revision>
  <dcterms:created xsi:type="dcterms:W3CDTF">2020-02-08T09:57:00Z</dcterms:created>
  <dcterms:modified xsi:type="dcterms:W3CDTF">2024-12-16T06:43:13Z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DFE9B6A42C1F4FD99CEA89D1C57D4143_13</vt:lpwstr>
  </property>
  <property fmtid="{D5CDD505-2E9C-101B-9397-08002B2CF9AE}" pid="4" name="KSOProductBuildVer">
    <vt:lpwstr>1033-12.2.0.13359</vt:lpwstr>
  </property>
</Properties>
</file>