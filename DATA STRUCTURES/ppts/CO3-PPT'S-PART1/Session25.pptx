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1" r:id="rId3"/>
    <p:sldId id="300" r:id="rId5"/>
    <p:sldId id="258" r:id="rId6"/>
    <p:sldId id="315" r:id="rId7"/>
    <p:sldId id="316" r:id="rId8"/>
    <p:sldId id="317" r:id="rId9"/>
    <p:sldId id="288" r:id="rId10"/>
    <p:sldId id="290" r:id="rId11"/>
    <p:sldId id="305" r:id="rId12"/>
    <p:sldId id="306" r:id="rId13"/>
    <p:sldId id="311" r:id="rId14"/>
    <p:sldId id="307" r:id="rId15"/>
    <p:sldId id="309" r:id="rId16"/>
    <p:sldId id="312" r:id="rId17"/>
    <p:sldId id="313" r:id="rId18"/>
    <p:sldId id="299" r:id="rId19"/>
    <p:sldId id="318" r:id="rId20"/>
    <p:sldId id="287" r:id="rId21"/>
    <p:sldId id="301" r:id="rId22"/>
    <p:sldId id="302" r:id="rId23"/>
    <p:sldId id="303"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9"/>
    <p:restoredTop sz="94689"/>
  </p:normalViewPr>
  <p:slideViewPr>
    <p:cSldViewPr snapToGrid="0" showGuides="1">
      <p:cViewPr varScale="1">
        <p:scale>
          <a:sx n="75" d="100"/>
          <a:sy n="75" d="100"/>
        </p:scale>
        <p:origin x="874"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customXml" Target="../customXml/item3.xml"/><Relationship Id="rId30" Type="http://schemas.openxmlformats.org/officeDocument/2006/relationships/customXml" Target="../customXml/item2.xml"/><Relationship Id="rId3" Type="http://schemas.openxmlformats.org/officeDocument/2006/relationships/slide" Target="slides/slide1.xml"/><Relationship Id="rId29" Type="http://schemas.openxmlformats.org/officeDocument/2006/relationships/customXml" Target="../customXml/item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2">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3">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endParaRPr lang="en-US" sz="80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4.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4.png"/><Relationship Id="rId1"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hyperlink" Target="https://www.coursera.org/learn/data-structures?action=enroll" TargetMode="External"/><Relationship Id="rId2" Type="http://schemas.openxmlformats.org/officeDocument/2006/relationships/hyperlink" Target="https://in.udacity.com/course/intro-to-algorithms--cs215" TargetMode="External"/><Relationship Id="rId1" Type="http://schemas.openxmlformats.org/officeDocument/2006/relationships/hyperlink" Target="https://nptel.ac.in/courses/106102064"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Times New Roman" panose="02020603050405020304"/>
              <a:cs typeface="Times New Roman" panose="02020603050405020304"/>
            </a:endParaRPr>
          </a:p>
        </p:txBody>
      </p:sp>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416279"/>
          </a:xfrm>
          <a:prstGeom prst="rect">
            <a:avLst/>
          </a:prstGeom>
          <a:noFill/>
          <a:ln>
            <a:noFill/>
          </a:ln>
        </p:spPr>
        <p:txBody>
          <a:bodyPr spcFirstLastPara="1" wrap="square" lIns="91425" tIns="45700" rIns="91425" bIns="45700" anchor="t" anchorCtr="0">
            <a:spAutoFit/>
          </a:bodyPr>
          <a:lstStyle/>
          <a:p>
            <a:pPr algn="ctr"/>
            <a:r>
              <a:rPr lang="en-US" sz="3200" b="1" cap="all" dirty="0">
                <a:solidFill>
                  <a:srgbClr val="C00000"/>
                </a:solidFill>
                <a:latin typeface="Times New Roman" panose="02020603050405020304"/>
                <a:cs typeface="Times New Roman" panose="02020603050405020304"/>
                <a:sym typeface="BioRhyme ExtraBold"/>
              </a:rPr>
              <a:t>COURSE: </a:t>
            </a:r>
            <a:r>
              <a:rPr lang="en-US" sz="3200" b="1" dirty="0">
                <a:solidFill>
                  <a:schemeClr val="accent1"/>
                </a:solidFill>
                <a:latin typeface="Times New Roman" panose="02020603050405020304"/>
                <a:cs typeface="Times New Roman" panose="02020603050405020304"/>
              </a:rPr>
              <a:t>Data Structures</a:t>
            </a:r>
            <a:endParaRPr lang="en-IN" sz="3200" b="1" dirty="0">
              <a:solidFill>
                <a:schemeClr val="accent1"/>
              </a:solidFill>
              <a:latin typeface="Times New Roman" panose="02020603050405020304"/>
              <a:cs typeface="Times New Roman" panose="02020603050405020304"/>
            </a:endParaRPr>
          </a:p>
          <a:p>
            <a:pPr marR="0" lvl="0" indent="0" algn="ctr">
              <a:spcBef>
                <a:spcPts val="0"/>
              </a:spcBef>
              <a:spcAft>
                <a:spcPts val="0"/>
              </a:spcAft>
              <a:buNone/>
            </a:pPr>
            <a:endParaRPr lang="en-US" sz="3200" b="1" cap="all" dirty="0">
              <a:solidFill>
                <a:srgbClr val="C00000"/>
              </a:solidFill>
              <a:latin typeface="Times New Roman" panose="02020603050405020304"/>
              <a:cs typeface="Times New Roman" panose="02020603050405020304"/>
              <a:sym typeface="BioRhyme ExtraBold"/>
            </a:endParaRPr>
          </a:p>
          <a:p>
            <a:pPr algn="ctr"/>
            <a:r>
              <a:rPr lang="en-US" sz="3200" b="1" cap="all" dirty="0">
                <a:solidFill>
                  <a:srgbClr val="C00000"/>
                </a:solidFill>
                <a:latin typeface="Times New Roman" panose="02020603050405020304"/>
                <a:cs typeface="Times New Roman" panose="02020603050405020304"/>
                <a:sym typeface="BioRhyme ExtraBold"/>
              </a:rPr>
              <a:t>COURSE CODE: </a:t>
            </a:r>
            <a:r>
              <a:rPr lang="en-US" sz="3200" b="1" dirty="0">
                <a:solidFill>
                  <a:schemeClr val="accent1"/>
                </a:solidFill>
                <a:latin typeface="Times New Roman" panose="02020603050405020304"/>
                <a:cs typeface="Times New Roman" panose="02020603050405020304"/>
              </a:rPr>
              <a:t>24SC1203</a:t>
            </a:r>
            <a:endParaRPr lang="en-IN" sz="3200" b="1" dirty="0">
              <a:solidFill>
                <a:schemeClr val="accent1"/>
              </a:solidFill>
              <a:latin typeface="Times New Roman" panose="02020603050405020304"/>
              <a:cs typeface="Times New Roman" panose="02020603050405020304"/>
            </a:endParaRPr>
          </a:p>
          <a:p>
            <a:pPr marR="0" lvl="0" indent="0" algn="ctr">
              <a:spcBef>
                <a:spcPts val="0"/>
              </a:spcBef>
              <a:spcAft>
                <a:spcPts val="0"/>
              </a:spcAft>
              <a:buNone/>
            </a:pPr>
            <a:endParaRPr lang="en-US" sz="2000" b="1" dirty="0">
              <a:solidFill>
                <a:schemeClr val="bg1">
                  <a:lumMod val="50000"/>
                </a:schemeClr>
              </a:solidFill>
              <a:latin typeface="Times New Roman" panose="02020603050405020304"/>
              <a:ea typeface="BioRhyme ExtraBold"/>
              <a:cs typeface="Times New Roman" panose="02020603050405020304"/>
              <a:sym typeface="BioRhyme ExtraBold"/>
            </a:endParaRPr>
          </a:p>
          <a:p>
            <a:pPr marR="0" lvl="0" indent="0" algn="ctr">
              <a:spcBef>
                <a:spcPts val="0"/>
              </a:spcBef>
              <a:spcAft>
                <a:spcPts val="0"/>
              </a:spcAft>
              <a:buNone/>
            </a:pPr>
            <a:r>
              <a:rPr lang="en-US" sz="2000" b="1" dirty="0">
                <a:solidFill>
                  <a:schemeClr val="bg1">
                    <a:lumMod val="50000"/>
                  </a:schemeClr>
                </a:solidFill>
                <a:latin typeface="Times New Roman" panose="02020603050405020304"/>
                <a:ea typeface="BioRhyme ExtraBold"/>
                <a:cs typeface="Times New Roman" panose="02020603050405020304"/>
                <a:sym typeface="BioRhyme ExtraBold"/>
              </a:rPr>
              <a:t>Topic: </a:t>
            </a:r>
            <a:endParaRPr lang="en-US" sz="2000" b="1" dirty="0">
              <a:solidFill>
                <a:schemeClr val="bg1">
                  <a:lumMod val="50000"/>
                </a:schemeClr>
              </a:solidFill>
              <a:latin typeface="Times New Roman" panose="02020603050405020304"/>
              <a:ea typeface="BioRhyme ExtraBold"/>
              <a:cs typeface="Times New Roman" panose="02020603050405020304"/>
              <a:sym typeface="BioRhyme ExtraBold"/>
            </a:endParaRPr>
          </a:p>
          <a:p>
            <a:pPr marR="0" lvl="0" indent="0" algn="ctr">
              <a:spcBef>
                <a:spcPts val="0"/>
              </a:spcBef>
              <a:spcAft>
                <a:spcPts val="0"/>
              </a:spcAft>
              <a:buNone/>
            </a:pPr>
            <a:r>
              <a:rPr lang="en-US" sz="4000" b="1" cap="all" dirty="0">
                <a:solidFill>
                  <a:srgbClr val="C00000"/>
                </a:solidFill>
                <a:effectLst/>
                <a:latin typeface="Times New Roman" panose="02020603050405020304"/>
                <a:cs typeface="Times New Roman" panose="02020603050405020304"/>
              </a:rPr>
              <a:t>Name of the topic: </a:t>
            </a:r>
            <a:endParaRPr lang="en-US" sz="4000" b="1" cap="all" dirty="0">
              <a:solidFill>
                <a:srgbClr val="C00000"/>
              </a:solidFill>
              <a:effectLst/>
              <a:latin typeface="Times New Roman" panose="02020603050405020304"/>
              <a:cs typeface="Times New Roman" panose="02020603050405020304"/>
            </a:endParaRPr>
          </a:p>
          <a:p>
            <a:pPr marR="0" lvl="0" indent="0" algn="ctr">
              <a:spcBef>
                <a:spcPts val="0"/>
              </a:spcBef>
              <a:spcAft>
                <a:spcPts val="0"/>
              </a:spcAft>
              <a:buNone/>
            </a:pPr>
            <a:r>
              <a:rPr lang="en-US" sz="4000" b="1" dirty="0">
                <a:solidFill>
                  <a:srgbClr val="00B0F0"/>
                </a:solidFill>
                <a:latin typeface="Times New Roman" panose="02020603050405020304"/>
                <a:cs typeface="Times New Roman" panose="02020603050405020304"/>
              </a:rPr>
              <a:t>Binary trees</a:t>
            </a:r>
            <a:endParaRPr lang="en-US" sz="4000" b="1" dirty="0">
              <a:solidFill>
                <a:srgbClr val="C00000"/>
              </a:solidFill>
              <a:effectLst/>
              <a:latin typeface="Times New Roman" panose="02020603050405020304"/>
              <a:cs typeface="Times New Roman" panose="02020603050405020304"/>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a:cs typeface="Times New Roman" panose="02020603050405020304"/>
            </a:endParaRPr>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latin typeface="Times New Roman" panose="02020603050405020304"/>
                <a:cs typeface="Times New Roman" panose="02020603050405020304"/>
              </a:rPr>
              <a:t>Department of </a:t>
            </a:r>
            <a:r>
              <a:rPr lang="en-US" sz="4000" dirty="0">
                <a:solidFill>
                  <a:srgbClr val="FF0000"/>
                </a:solidFill>
                <a:latin typeface="Times New Roman" panose="02020603050405020304"/>
                <a:cs typeface="Times New Roman" panose="02020603050405020304"/>
              </a:rPr>
              <a:t>BES-I</a:t>
            </a:r>
            <a:endParaRPr lang="en-US" sz="4000" dirty="0">
              <a:solidFill>
                <a:srgbClr val="FF0000"/>
              </a:solidFill>
              <a:latin typeface="Times New Roman" panose="02020603050405020304"/>
              <a:cs typeface="Times New Roman" panose="02020603050405020304"/>
            </a:endParaRPr>
          </a:p>
        </p:txBody>
      </p:sp>
      <p:sp>
        <p:nvSpPr>
          <p:cNvPr id="8" name="Google Shape;502;p17"/>
          <p:cNvSpPr/>
          <p:nvPr/>
        </p:nvSpPr>
        <p:spPr>
          <a:xfrm>
            <a:off x="7276164" y="557227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Times New Roman" panose="02020603050405020304"/>
                <a:ea typeface="Calibri" panose="020F0502020204030204"/>
                <a:cs typeface="Times New Roman" panose="02020603050405020304"/>
                <a:sym typeface="Calibri" panose="020F0502020204030204"/>
              </a:rPr>
              <a:t>Session – 25</a:t>
            </a:r>
            <a:endParaRPr sz="2400" dirty="0">
              <a:solidFill>
                <a:schemeClr val="lt1"/>
              </a:solidFill>
              <a:latin typeface="Times New Roman" panose="02020603050405020304"/>
              <a:ea typeface="Calibri" panose="020F0502020204030204"/>
              <a:cs typeface="Times New Roman" panose="02020603050405020304"/>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a:cs typeface="Times New Roman" panose="02020603050405020304"/>
            </a:endParaRPr>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a:cs typeface="Times New Roman" panose="02020603050405020304"/>
            </a:endParaRPr>
          </a:p>
        </p:txBody>
      </p:sp>
      <p:pic>
        <p:nvPicPr>
          <p:cNvPr id="17" name="Picture 2" descr="KL Deemed to be University Logo"/>
          <p:cNvPicPr>
            <a:picLocks noChangeAspect="1" noChangeArrowheads="1"/>
          </p:cNvPicPr>
          <p:nvPr/>
        </p:nvPicPr>
        <p:blipFill>
          <a:blip r:embed="rId2"/>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latin typeface="Times New Roman" panose="02020603050405020304"/>
                <a:cs typeface="Times New Roman" panose="02020603050405020304"/>
              </a:rPr>
              <a:t>AIM OF THE SESSION</a:t>
            </a:r>
            <a:endParaRPr lang="en-US" sz="2000" dirty="0">
              <a:latin typeface="Times New Roman" panose="02020603050405020304"/>
              <a:cs typeface="Times New Roman" panose="02020603050405020304"/>
            </a:endParaRPr>
          </a:p>
        </p:txBody>
      </p:sp>
      <p:sp>
        <p:nvSpPr>
          <p:cNvPr id="5" name="TextBox 4"/>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Times New Roman" panose="02020603050405020304"/>
                <a:cs typeface="Times New Roman" panose="02020603050405020304"/>
              </a:rPr>
              <a:t>To familiarize students with the basic concept of Binary tree</a:t>
            </a:r>
            <a:endParaRPr lang="en-US" sz="1600" b="0" i="0" dirty="0">
              <a:effectLst/>
              <a:latin typeface="Times New Roman" panose="02020603050405020304"/>
              <a:cs typeface="Times New Roman" panose="02020603050405020304"/>
            </a:endParaRPr>
          </a:p>
          <a:p>
            <a:pPr>
              <a:lnSpc>
                <a:spcPct val="150000"/>
              </a:lnSpc>
            </a:pPr>
            <a:endParaRPr lang="en-US" sz="1600" b="0" i="0" dirty="0">
              <a:effectLst/>
              <a:latin typeface="Times New Roman" panose="02020603050405020304"/>
              <a:cs typeface="Times New Roman" panose="02020603050405020304"/>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latin typeface="Times New Roman" panose="02020603050405020304"/>
                <a:cs typeface="Times New Roman" panose="02020603050405020304"/>
              </a:rPr>
              <a:t>INSTRUCTIONAL OBJECTIVES</a:t>
            </a:r>
            <a:endParaRPr lang="en-US" sz="2000" dirty="0">
              <a:latin typeface="Times New Roman" panose="02020603050405020304"/>
              <a:cs typeface="Times New Roman" panose="02020603050405020304"/>
            </a:endParaRPr>
          </a:p>
        </p:txBody>
      </p:sp>
      <p:sp>
        <p:nvSpPr>
          <p:cNvPr id="9" name="TextBox 8"/>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a:cs typeface="Times New Roman" panose="02020603050405020304"/>
              </a:rPr>
              <a:t>This</a:t>
            </a:r>
            <a:r>
              <a:rPr lang="en-US" sz="1600" b="0" i="0" dirty="0">
                <a:effectLst/>
                <a:latin typeface="Times New Roman" panose="02020603050405020304"/>
                <a:cs typeface="Times New Roman" panose="02020603050405020304"/>
              </a:rPr>
              <a:t> </a:t>
            </a:r>
            <a:r>
              <a:rPr lang="en-US" sz="1600" dirty="0">
                <a:latin typeface="Times New Roman" panose="02020603050405020304"/>
                <a:cs typeface="Times New Roman" panose="02020603050405020304"/>
              </a:rPr>
              <a:t>Session</a:t>
            </a:r>
            <a:r>
              <a:rPr lang="en-US" sz="1600" b="0" i="0" dirty="0">
                <a:effectLst/>
                <a:latin typeface="Times New Roman" panose="02020603050405020304"/>
                <a:cs typeface="Times New Roman" panose="02020603050405020304"/>
              </a:rPr>
              <a:t> is designed to: </a:t>
            </a:r>
            <a:endParaRPr lang="en-US" sz="1600" b="0" i="0" dirty="0">
              <a:effectLst/>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Demonstrate The </a:t>
            </a:r>
            <a:r>
              <a:rPr lang="en-US" sz="1600" dirty="0">
                <a:latin typeface="Times New Roman" panose="02020603050405020304"/>
                <a:cs typeface="Times New Roman" panose="02020603050405020304"/>
              </a:rPr>
              <a:t>Binary tree.</a:t>
            </a:r>
            <a:endParaRPr lang="en-US" sz="1600" b="0" i="0" dirty="0">
              <a:effectLst/>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Describe the types of </a:t>
            </a:r>
            <a:r>
              <a:rPr lang="en-US" sz="1600" dirty="0">
                <a:latin typeface="Times New Roman" panose="02020603050405020304"/>
                <a:cs typeface="Times New Roman" panose="02020603050405020304"/>
              </a:rPr>
              <a:t>Binary tree traversals.</a:t>
            </a:r>
            <a:endParaRPr lang="en-US" sz="1600" dirty="0">
              <a:latin typeface="Times New Roman" panose="02020603050405020304"/>
              <a:cs typeface="Times New Roman" panose="02020603050405020304"/>
            </a:endParaRPr>
          </a:p>
          <a:p>
            <a:pPr marL="342900" indent="-342900">
              <a:buAutoNum type="arabicPeriod"/>
            </a:pPr>
            <a:r>
              <a:rPr lang="en-US" sz="1600" dirty="0">
                <a:latin typeface="Times New Roman" panose="02020603050405020304"/>
                <a:cs typeface="Times New Roman" panose="02020603050405020304"/>
              </a:rPr>
              <a:t>Constructing</a:t>
            </a:r>
            <a:r>
              <a:rPr lang="en-US" sz="1600" b="0" i="0" dirty="0">
                <a:effectLst/>
                <a:latin typeface="Times New Roman" panose="02020603050405020304"/>
                <a:cs typeface="Times New Roman" panose="02020603050405020304"/>
              </a:rPr>
              <a:t> </a:t>
            </a:r>
            <a:r>
              <a:rPr lang="en-US" sz="1600" dirty="0">
                <a:latin typeface="Times New Roman" panose="02020603050405020304"/>
                <a:cs typeface="Times New Roman" panose="02020603050405020304"/>
              </a:rPr>
              <a:t>Binary tree and traversals.</a:t>
            </a:r>
            <a:endParaRPr lang="en-US" sz="1600" dirty="0">
              <a:latin typeface="Times New Roman" panose="02020603050405020304"/>
              <a:cs typeface="Times New Roman" panose="02020603050405020304"/>
            </a:endParaRPr>
          </a:p>
          <a:p>
            <a:pPr marL="342900" indent="-342900">
              <a:buAutoNum type="arabicPeriod"/>
            </a:pPr>
            <a:r>
              <a:rPr lang="en-US" sz="1600" dirty="0">
                <a:latin typeface="Times New Roman" panose="02020603050405020304"/>
                <a:cs typeface="Times New Roman" panose="02020603050405020304"/>
              </a:rPr>
              <a:t>Constructing an expression tree.</a:t>
            </a:r>
            <a:endParaRPr lang="en-US" sz="1600" dirty="0">
              <a:latin typeface="Times New Roman" panose="02020603050405020304"/>
              <a:cs typeface="Times New Roman" panose="02020603050405020304"/>
            </a:endParaRPr>
          </a:p>
          <a:p>
            <a:pPr marL="342900" indent="-342900">
              <a:buAutoNum type="arabicPeriod"/>
            </a:pPr>
            <a:r>
              <a:rPr lang="en-US" sz="1600" dirty="0">
                <a:latin typeface="Times New Roman" panose="02020603050405020304"/>
                <a:cs typeface="Times New Roman" panose="02020603050405020304"/>
              </a:rPr>
              <a:t>List out the advantages and applications of Binary tree.</a:t>
            </a:r>
            <a:endParaRPr lang="en-US" sz="1600" dirty="0">
              <a:latin typeface="Times New Roman" panose="02020603050405020304"/>
              <a:cs typeface="Times New Roman" panose="02020603050405020304"/>
            </a:endParaRPr>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latin typeface="Times New Roman" panose="02020603050405020304"/>
                <a:cs typeface="Times New Roman" panose="02020603050405020304"/>
              </a:rPr>
              <a:t>LEARNING OUTCOMES</a:t>
            </a:r>
            <a:endParaRPr lang="en-US" sz="2000" dirty="0">
              <a:latin typeface="Times New Roman" panose="02020603050405020304"/>
              <a:cs typeface="Times New Roman" panose="02020603050405020304"/>
            </a:endParaRPr>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354217"/>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Times New Roman" panose="02020603050405020304"/>
                <a:cs typeface="Times New Roman" panose="02020603050405020304"/>
              </a:rPr>
              <a:t>At the end of this </a:t>
            </a:r>
            <a:r>
              <a:rPr lang="en-US" sz="1600" dirty="0">
                <a:latin typeface="Times New Roman" panose="02020603050405020304"/>
                <a:cs typeface="Times New Roman" panose="02020603050405020304"/>
              </a:rPr>
              <a:t>session</a:t>
            </a:r>
            <a:r>
              <a:rPr lang="en-US" sz="1600" b="0" i="0" dirty="0">
                <a:effectLst/>
                <a:latin typeface="Times New Roman" panose="02020603050405020304"/>
                <a:cs typeface="Times New Roman" panose="02020603050405020304"/>
              </a:rPr>
              <a:t>, you should be able to:</a:t>
            </a:r>
            <a:endParaRPr lang="en-US" sz="1600" b="0" i="0" dirty="0">
              <a:effectLst/>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Define </a:t>
            </a:r>
            <a:r>
              <a:rPr lang="en-US" sz="1600" dirty="0">
                <a:latin typeface="Times New Roman" panose="02020603050405020304"/>
                <a:cs typeface="Times New Roman" panose="02020603050405020304"/>
              </a:rPr>
              <a:t>Binary tree </a:t>
            </a:r>
            <a:endParaRPr lang="en-US" sz="1600" dirty="0">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Describe </a:t>
            </a:r>
            <a:r>
              <a:rPr lang="en-US" sz="1600" dirty="0">
                <a:latin typeface="Times New Roman" panose="02020603050405020304"/>
                <a:cs typeface="Times New Roman" panose="02020603050405020304"/>
              </a:rPr>
              <a:t>the various</a:t>
            </a:r>
            <a:r>
              <a:rPr lang="en-US" sz="1600" b="0" i="0" dirty="0">
                <a:effectLst/>
                <a:latin typeface="Times New Roman" panose="02020603050405020304"/>
                <a:cs typeface="Times New Roman" panose="02020603050405020304"/>
              </a:rPr>
              <a:t> traversals in </a:t>
            </a:r>
            <a:r>
              <a:rPr lang="en-US" sz="1600" dirty="0">
                <a:latin typeface="Times New Roman" panose="02020603050405020304"/>
                <a:cs typeface="Times New Roman" panose="02020603050405020304"/>
              </a:rPr>
              <a:t>Binary tree </a:t>
            </a:r>
            <a:r>
              <a:rPr lang="en-US" dirty="0">
                <a:latin typeface="Times New Roman" panose="02020603050405020304"/>
                <a:cs typeface="Times New Roman" panose="02020603050405020304"/>
              </a:rPr>
              <a:t>Expression tree construction</a:t>
            </a:r>
            <a:endParaRPr lang="en-US" sz="1600" b="0" i="0" dirty="0">
              <a:effectLst/>
              <a:latin typeface="Times New Roman" panose="02020603050405020304"/>
              <a:cs typeface="Times New Roman" panose="02020603050405020304"/>
            </a:endParaRPr>
          </a:p>
          <a:p>
            <a:pPr marL="342900" indent="-342900">
              <a:buFontTx/>
              <a:buAutoNum type="arabicPeriod"/>
            </a:pPr>
            <a:r>
              <a:rPr lang="en-US" sz="1600" dirty="0">
                <a:latin typeface="Times New Roman" panose="02020603050405020304"/>
                <a:cs typeface="Times New Roman" panose="02020603050405020304"/>
              </a:rPr>
              <a:t>Summarize definition, types and operations of Binary tree and its applications</a:t>
            </a:r>
            <a:endParaRPr lang="en-US" sz="1600" dirty="0">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7"/>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0" i="0" dirty="0">
                <a:effectLst/>
                <a:latin typeface="Times New Roman" panose="02020603050405020304"/>
                <a:cs typeface="Times New Roman" panose="02020603050405020304"/>
              </a:rPr>
              <a:t>Binary tree</a:t>
            </a:r>
            <a:endParaRPr lang="en-US" sz="3600" dirty="0">
              <a:latin typeface="Times New Roman" panose="02020603050405020304"/>
              <a:cs typeface="Times New Roman" panose="02020603050405020304"/>
            </a:endParaRPr>
          </a:p>
          <a:p>
            <a:pPr algn="ctr"/>
            <a:r>
              <a:rPr lang="en-US" sz="2400" dirty="0">
                <a:latin typeface="Times New Roman" panose="02020603050405020304"/>
                <a:cs typeface="Times New Roman" panose="02020603050405020304"/>
              </a:rPr>
              <a:t>INTRODUCTION </a:t>
            </a:r>
            <a:endParaRPr lang="en-US" sz="2400" dirty="0">
              <a:latin typeface="Times New Roman" panose="02020603050405020304"/>
              <a:cs typeface="Times New Roman" panose="02020603050405020304"/>
            </a:endParaRPr>
          </a:p>
        </p:txBody>
      </p:sp>
      <p:pic>
        <p:nvPicPr>
          <p:cNvPr id="4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3" name="TextBox 52"/>
          <p:cNvSpPr txBox="1"/>
          <p:nvPr/>
        </p:nvSpPr>
        <p:spPr>
          <a:xfrm>
            <a:off x="375781" y="1465781"/>
            <a:ext cx="11336055" cy="5016758"/>
          </a:xfrm>
          <a:prstGeom prst="rect">
            <a:avLst/>
          </a:prstGeom>
          <a:noFill/>
        </p:spPr>
        <p:txBody>
          <a:bodyPr wrap="square" rtlCol="0">
            <a:spAutoFit/>
          </a:bodyPr>
          <a:lstStyle/>
          <a:p>
            <a:pPr algn="just">
              <a:buFont typeface="Wingdings" panose="05000000000000000000" pitchFamily="2" charset="2"/>
              <a:buChar char="Ø"/>
            </a:pPr>
            <a:r>
              <a:rPr lang="en-IN" sz="3200" dirty="0">
                <a:latin typeface="Times New Roman" panose="02020603050405020304"/>
                <a:cs typeface="Times New Roman" panose="02020603050405020304"/>
              </a:rPr>
              <a:t> </a:t>
            </a:r>
            <a:r>
              <a:rPr lang="en-IN" sz="3200" b="0" i="0" dirty="0">
                <a:solidFill>
                  <a:srgbClr val="333333"/>
                </a:solidFill>
                <a:effectLst/>
                <a:latin typeface="Times New Roman" panose="02020603050405020304"/>
                <a:cs typeface="Times New Roman" panose="02020603050405020304"/>
              </a:rPr>
              <a:t>A binary tree is a special type of tree data structure in which every node can have a </a:t>
            </a:r>
            <a:r>
              <a:rPr lang="en-IN" sz="3200" b="1" i="0" dirty="0">
                <a:solidFill>
                  <a:srgbClr val="333333"/>
                </a:solidFill>
                <a:effectLst/>
                <a:latin typeface="Times New Roman" panose="02020603050405020304"/>
                <a:cs typeface="Times New Roman" panose="02020603050405020304"/>
              </a:rPr>
              <a:t>maximum of 2 children</a:t>
            </a:r>
            <a:r>
              <a:rPr lang="en-IN" sz="3200" b="0" i="0" dirty="0">
                <a:solidFill>
                  <a:srgbClr val="333333"/>
                </a:solidFill>
                <a:effectLst/>
                <a:latin typeface="Times New Roman" panose="02020603050405020304"/>
                <a:cs typeface="Times New Roman" panose="02020603050405020304"/>
              </a:rPr>
              <a:t>. One is known as a left child and the other is known as right child.</a:t>
            </a:r>
            <a:endParaRPr lang="en-IN" sz="3200" b="0" i="0" dirty="0">
              <a:solidFill>
                <a:srgbClr val="333333"/>
              </a:solidFill>
              <a:effectLst/>
              <a:latin typeface="Times New Roman" panose="02020603050405020304"/>
              <a:cs typeface="Times New Roman" panose="02020603050405020304"/>
            </a:endParaRPr>
          </a:p>
          <a:p>
            <a:pPr algn="just"/>
            <a:r>
              <a:rPr lang="en-IN" sz="3200" b="1" i="0" dirty="0">
                <a:solidFill>
                  <a:srgbClr val="162F59"/>
                </a:solidFill>
                <a:effectLst/>
                <a:latin typeface="Times New Roman" panose="02020603050405020304"/>
                <a:cs typeface="Times New Roman" panose="02020603050405020304"/>
              </a:rPr>
              <a:t>Example</a:t>
            </a:r>
            <a:endParaRPr lang="en-IN" sz="3200" b="1" i="0" dirty="0">
              <a:solidFill>
                <a:srgbClr val="162F59"/>
              </a:solidFill>
              <a:effectLst/>
              <a:latin typeface="Times New Roman" panose="02020603050405020304"/>
              <a:cs typeface="Times New Roman" panose="02020603050405020304"/>
            </a:endParaRPr>
          </a:p>
          <a:p>
            <a:pPr algn="just"/>
            <a:endParaRPr lang="en-IN" sz="3200" dirty="0">
              <a:latin typeface="Times New Roman" panose="02020603050405020304"/>
              <a:cs typeface="Times New Roman" panose="02020603050405020304"/>
            </a:endParaRPr>
          </a:p>
          <a:p>
            <a:pPr algn="just"/>
            <a:endParaRPr lang="en-IN" sz="3200" dirty="0">
              <a:latin typeface="Times New Roman" panose="02020603050405020304"/>
              <a:cs typeface="Times New Roman" panose="02020603050405020304"/>
            </a:endParaRPr>
          </a:p>
          <a:p>
            <a:pPr algn="just"/>
            <a:endParaRPr lang="en-IN" sz="3200" dirty="0">
              <a:latin typeface="Times New Roman" panose="02020603050405020304"/>
              <a:cs typeface="Times New Roman" panose="02020603050405020304"/>
            </a:endParaRPr>
          </a:p>
          <a:p>
            <a:pPr algn="just"/>
            <a:endParaRPr lang="en-IN" sz="3200" dirty="0">
              <a:latin typeface="Times New Roman" panose="02020603050405020304"/>
              <a:cs typeface="Times New Roman" panose="02020603050405020304"/>
            </a:endParaRPr>
          </a:p>
          <a:p>
            <a:pPr algn="just"/>
            <a:endParaRPr lang="en-IN" sz="3200" dirty="0">
              <a:latin typeface="Times New Roman" panose="02020603050405020304"/>
              <a:cs typeface="Times New Roman" panose="02020603050405020304"/>
            </a:endParaRPr>
          </a:p>
          <a:p>
            <a:pPr algn="just"/>
            <a:endParaRPr lang="en-US" sz="3200" dirty="0">
              <a:latin typeface="Times New Roman" panose="02020603050405020304"/>
              <a:cs typeface="Times New Roman" panose="02020603050405020304"/>
            </a:endParaRPr>
          </a:p>
        </p:txBody>
      </p:sp>
      <p:pic>
        <p:nvPicPr>
          <p:cNvPr id="2" name="Picture 1"/>
          <p:cNvPicPr>
            <a:picLocks noChangeAspect="1"/>
          </p:cNvPicPr>
          <p:nvPr/>
        </p:nvPicPr>
        <p:blipFill>
          <a:blip r:embed="rId2"/>
          <a:stretch>
            <a:fillRect/>
          </a:stretch>
        </p:blipFill>
        <p:spPr>
          <a:xfrm>
            <a:off x="1990725" y="4000500"/>
            <a:ext cx="6667500" cy="2857500"/>
          </a:xfrm>
          <a:prstGeom prst="rect">
            <a:avLst/>
          </a:prstGeom>
        </p:spPr>
      </p:pic>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5628701" cy="4351338"/>
          </a:xfrm>
        </p:spPr>
        <p:txBody>
          <a:bodyPr/>
          <a:lstStyle/>
          <a:p>
            <a:pPr marL="0" indent="0" algn="just">
              <a:buNone/>
            </a:pPr>
            <a:r>
              <a:rPr lang="en-IN" b="1" i="0" dirty="0">
                <a:effectLst/>
                <a:latin typeface="Times New Roman" panose="02020603050405020304"/>
                <a:cs typeface="Times New Roman" panose="02020603050405020304"/>
              </a:rPr>
              <a:t>1. Root</a:t>
            </a:r>
            <a:endParaRPr lang="en-IN" b="1" i="0" dirty="0">
              <a:effectLst/>
              <a:latin typeface="Times New Roman" panose="02020603050405020304"/>
              <a:cs typeface="Times New Roman" panose="02020603050405020304"/>
            </a:endParaRPr>
          </a:p>
          <a:p>
            <a:pPr marL="0" indent="0" algn="just">
              <a:buNone/>
            </a:pPr>
            <a:r>
              <a:rPr lang="en-IN" sz="1600" b="0" i="0" dirty="0">
                <a:solidFill>
                  <a:srgbClr val="333333"/>
                </a:solidFill>
                <a:effectLst/>
                <a:latin typeface="Times New Roman" panose="02020603050405020304"/>
                <a:cs typeface="Times New Roman" panose="02020603050405020304"/>
              </a:rPr>
              <a:t>In a tree data structure, the first node is called as </a:t>
            </a:r>
            <a:r>
              <a:rPr lang="en-IN" sz="1600" b="1" i="0" dirty="0">
                <a:solidFill>
                  <a:srgbClr val="333333"/>
                </a:solidFill>
                <a:effectLst/>
                <a:latin typeface="Times New Roman" panose="02020603050405020304"/>
                <a:cs typeface="Times New Roman" panose="02020603050405020304"/>
              </a:rPr>
              <a:t>Root Node</a:t>
            </a:r>
            <a:r>
              <a:rPr lang="en-IN" sz="1600" b="0" i="0" dirty="0">
                <a:solidFill>
                  <a:srgbClr val="333333"/>
                </a:solidFill>
                <a:effectLst/>
                <a:latin typeface="Times New Roman" panose="02020603050405020304"/>
                <a:cs typeface="Times New Roman" panose="02020603050405020304"/>
              </a:rPr>
              <a:t>. </a:t>
            </a:r>
            <a:endParaRPr lang="en-IN" sz="1600" b="0" i="0" dirty="0">
              <a:solidFill>
                <a:srgbClr val="333333"/>
              </a:solidFill>
              <a:effectLst/>
              <a:latin typeface="Times New Roman" panose="02020603050405020304"/>
              <a:cs typeface="Times New Roman" panose="02020603050405020304"/>
            </a:endParaRPr>
          </a:p>
          <a:p>
            <a:pPr marL="0" indent="0">
              <a:buNone/>
            </a:pPr>
            <a:endParaRPr lang="en-IN" dirty="0">
              <a:latin typeface="Times New Roman" panose="02020603050405020304"/>
              <a:cs typeface="Times New Roman" panose="02020603050405020304"/>
            </a:endParaRPr>
          </a:p>
        </p:txBody>
      </p:sp>
      <p:sp>
        <p:nvSpPr>
          <p:cNvPr id="4" name="Rounded Rectangle 17"/>
          <p:cNvSpPr/>
          <p:nvPr/>
        </p:nvSpPr>
        <p:spPr>
          <a:xfrm>
            <a:off x="1546367" y="319049"/>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i="0" dirty="0">
                <a:solidFill>
                  <a:schemeClr val="bg1"/>
                </a:solidFill>
                <a:effectLst/>
                <a:latin typeface="Times New Roman" panose="02020603050405020304"/>
                <a:cs typeface="Times New Roman" panose="02020603050405020304"/>
              </a:rPr>
              <a:t>Tree - Terminology</a:t>
            </a:r>
            <a:endParaRPr lang="en-IN" sz="3600" b="1" i="0" dirty="0">
              <a:solidFill>
                <a:schemeClr val="bg1"/>
              </a:solidFill>
              <a:effectLst/>
              <a:latin typeface="Times New Roman" panose="02020603050405020304"/>
              <a:cs typeface="Times New Roman" panose="02020603050405020304"/>
            </a:endParaRPr>
          </a:p>
        </p:txBody>
      </p:sp>
      <p:pic>
        <p:nvPicPr>
          <p:cNvPr id="5" name="Picture 4"/>
          <p:cNvPicPr>
            <a:picLocks noChangeAspect="1"/>
          </p:cNvPicPr>
          <p:nvPr/>
        </p:nvPicPr>
        <p:blipFill>
          <a:blip r:embed="rId1"/>
          <a:stretch>
            <a:fillRect/>
          </a:stretch>
        </p:blipFill>
        <p:spPr>
          <a:xfrm>
            <a:off x="739048" y="3531595"/>
            <a:ext cx="5628701" cy="2857500"/>
          </a:xfrm>
          <a:prstGeom prst="rect">
            <a:avLst/>
          </a:prstGeom>
        </p:spPr>
      </p:pic>
      <p:sp>
        <p:nvSpPr>
          <p:cNvPr id="9" name="TextBox 8"/>
          <p:cNvSpPr txBox="1"/>
          <p:nvPr/>
        </p:nvSpPr>
        <p:spPr>
          <a:xfrm>
            <a:off x="6367749" y="1807109"/>
            <a:ext cx="6097836" cy="1415772"/>
          </a:xfrm>
          <a:prstGeom prst="rect">
            <a:avLst/>
          </a:prstGeom>
          <a:noFill/>
        </p:spPr>
        <p:txBody>
          <a:bodyPr wrap="square" lIns="91440" tIns="45720" rIns="91440" bIns="45720" anchor="t">
            <a:spAutoFit/>
          </a:bodyPr>
          <a:lstStyle/>
          <a:p>
            <a:r>
              <a:rPr lang="en-IN" sz="3200" b="1" dirty="0">
                <a:latin typeface="Times New Roman" panose="02020603050405020304"/>
                <a:cs typeface="Times New Roman" panose="02020603050405020304"/>
              </a:rPr>
              <a:t>2. Edge</a:t>
            </a:r>
            <a:endParaRPr lang="en-IN" sz="3200" b="1" dirty="0">
              <a:latin typeface="Times New Roman" panose="02020603050405020304"/>
              <a:cs typeface="Times New Roman" panose="02020603050405020304"/>
            </a:endParaRPr>
          </a:p>
          <a:p>
            <a:r>
              <a:rPr lang="en-IN" dirty="0">
                <a:latin typeface="Times New Roman" panose="02020603050405020304"/>
                <a:cs typeface="Times New Roman" panose="02020603050405020304"/>
              </a:rPr>
              <a:t>In a tree data structure, the connecting link between any two nodes is called as EDGE. In a tree with 'N' number of nodes there will be a maximum of 'N-1' number of edges.</a:t>
            </a:r>
            <a:endParaRPr lang="en-IN" dirty="0">
              <a:latin typeface="Times New Roman" panose="02020603050405020304"/>
              <a:cs typeface="Times New Roman" panose="02020603050405020304"/>
            </a:endParaRPr>
          </a:p>
        </p:txBody>
      </p:sp>
      <p:pic>
        <p:nvPicPr>
          <p:cNvPr id="10244" name="Picture 4" descr="tree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7749" y="3531594"/>
            <a:ext cx="5824251" cy="2780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13859"/>
            <a:ext cx="5628701" cy="3643891"/>
          </a:xfrm>
        </p:spPr>
        <p:txBody>
          <a:bodyPr lIns="91440" tIns="45720" rIns="91440" bIns="45720" anchor="t"/>
          <a:lstStyle/>
          <a:p>
            <a:pPr algn="just"/>
            <a:r>
              <a:rPr lang="en-IN" sz="2400" b="1" i="0" dirty="0">
                <a:solidFill>
                  <a:srgbClr val="E00D50"/>
                </a:solidFill>
                <a:effectLst/>
                <a:latin typeface="Times New Roman" panose="02020603050405020304"/>
                <a:cs typeface="Times New Roman" panose="02020603050405020304"/>
              </a:rPr>
              <a:t>3. Parent</a:t>
            </a:r>
            <a:endParaRPr lang="en-IN" sz="2400" b="0" i="0" dirty="0">
              <a:solidFill>
                <a:srgbClr val="333333"/>
              </a:solidFill>
              <a:effectLst/>
              <a:latin typeface="Times New Roman" panose="02020603050405020304"/>
              <a:cs typeface="Times New Roman" panose="02020603050405020304"/>
            </a:endParaRPr>
          </a:p>
          <a:p>
            <a:pPr marL="0" indent="0">
              <a:buNone/>
            </a:pPr>
            <a:endParaRPr lang="en-IN" dirty="0">
              <a:latin typeface="Times New Roman" panose="02020603050405020304"/>
              <a:cs typeface="Times New Roman" panose="02020603050405020304"/>
            </a:endParaRPr>
          </a:p>
        </p:txBody>
      </p:sp>
      <p:sp>
        <p:nvSpPr>
          <p:cNvPr id="4" name="Rounded Rectangle 17"/>
          <p:cNvSpPr/>
          <p:nvPr/>
        </p:nvSpPr>
        <p:spPr>
          <a:xfrm>
            <a:off x="1546367" y="319049"/>
            <a:ext cx="8324237" cy="82972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i="0" dirty="0">
                <a:solidFill>
                  <a:schemeClr val="bg1"/>
                </a:solidFill>
                <a:effectLst/>
                <a:latin typeface="Times New Roman" panose="02020603050405020304"/>
                <a:cs typeface="Times New Roman" panose="02020603050405020304"/>
              </a:rPr>
              <a:t>Tree - Terminology</a:t>
            </a:r>
            <a:endParaRPr lang="en-IN" sz="3600" b="1" i="0" dirty="0">
              <a:solidFill>
                <a:schemeClr val="bg1"/>
              </a:solidFill>
              <a:effectLst/>
              <a:latin typeface="Times New Roman" panose="02020603050405020304"/>
              <a:cs typeface="Times New Roman" panose="02020603050405020304"/>
            </a:endParaRPr>
          </a:p>
        </p:txBody>
      </p:sp>
      <p:sp>
        <p:nvSpPr>
          <p:cNvPr id="9" name="TextBox 8"/>
          <p:cNvSpPr txBox="1"/>
          <p:nvPr/>
        </p:nvSpPr>
        <p:spPr>
          <a:xfrm>
            <a:off x="6237037" y="1268255"/>
            <a:ext cx="5824251" cy="461665"/>
          </a:xfrm>
          <a:prstGeom prst="rect">
            <a:avLst/>
          </a:prstGeom>
          <a:noFill/>
        </p:spPr>
        <p:txBody>
          <a:bodyPr wrap="square" lIns="91440" tIns="45720" rIns="91440" bIns="45720" anchor="t">
            <a:spAutoFit/>
          </a:bodyPr>
          <a:lstStyle/>
          <a:p>
            <a:pPr algn="just"/>
            <a:r>
              <a:rPr lang="en-IN" sz="2400" b="1" i="0" dirty="0">
                <a:solidFill>
                  <a:srgbClr val="E00D50"/>
                </a:solidFill>
                <a:effectLst/>
                <a:latin typeface="Times New Roman" panose="02020603050405020304"/>
                <a:cs typeface="Times New Roman" panose="02020603050405020304"/>
              </a:rPr>
              <a:t>4. Child</a:t>
            </a:r>
            <a:endParaRPr lang="en-IN" sz="2400" b="1" i="0" dirty="0">
              <a:solidFill>
                <a:srgbClr val="E00D50"/>
              </a:solidFill>
              <a:effectLst/>
              <a:latin typeface="Times New Roman" panose="02020603050405020304"/>
              <a:cs typeface="Times New Roman" panose="02020603050405020304"/>
            </a:endParaRPr>
          </a:p>
        </p:txBody>
      </p:sp>
      <p:pic>
        <p:nvPicPr>
          <p:cNvPr id="6" name="Picture 5"/>
          <p:cNvPicPr>
            <a:picLocks noChangeAspect="1"/>
          </p:cNvPicPr>
          <p:nvPr/>
        </p:nvPicPr>
        <p:blipFill>
          <a:blip r:embed="rId1"/>
          <a:stretch>
            <a:fillRect/>
          </a:stretch>
        </p:blipFill>
        <p:spPr>
          <a:xfrm>
            <a:off x="629568" y="1485670"/>
            <a:ext cx="5466432" cy="2677583"/>
          </a:xfrm>
          <a:prstGeom prst="rect">
            <a:avLst/>
          </a:prstGeom>
        </p:spPr>
      </p:pic>
      <p:pic>
        <p:nvPicPr>
          <p:cNvPr id="7" name="Picture 6"/>
          <p:cNvPicPr>
            <a:picLocks noChangeAspect="1"/>
          </p:cNvPicPr>
          <p:nvPr/>
        </p:nvPicPr>
        <p:blipFill>
          <a:blip r:embed="rId2"/>
          <a:stretch>
            <a:fillRect/>
          </a:stretch>
        </p:blipFill>
        <p:spPr>
          <a:xfrm>
            <a:off x="6237037" y="1668365"/>
            <a:ext cx="5562829" cy="2462822"/>
          </a:xfrm>
          <a:prstGeom prst="rect">
            <a:avLst/>
          </a:prstGeom>
        </p:spPr>
      </p:pic>
      <p:sp>
        <p:nvSpPr>
          <p:cNvPr id="12" name="TextBox 11"/>
          <p:cNvSpPr txBox="1"/>
          <p:nvPr/>
        </p:nvSpPr>
        <p:spPr>
          <a:xfrm>
            <a:off x="838200" y="3922171"/>
            <a:ext cx="6097836" cy="461665"/>
          </a:xfrm>
          <a:prstGeom prst="rect">
            <a:avLst/>
          </a:prstGeom>
          <a:noFill/>
        </p:spPr>
        <p:txBody>
          <a:bodyPr wrap="square">
            <a:spAutoFit/>
          </a:bodyPr>
          <a:lstStyle/>
          <a:p>
            <a:r>
              <a:rPr lang="en-IN" sz="2400" b="1" dirty="0">
                <a:solidFill>
                  <a:srgbClr val="FF0000"/>
                </a:solidFill>
                <a:latin typeface="Times New Roman" panose="02020603050405020304"/>
                <a:cs typeface="Times New Roman" panose="02020603050405020304"/>
              </a:rPr>
              <a:t>5. Siblings</a:t>
            </a:r>
            <a:endParaRPr lang="en-IN" sz="2400" b="1" dirty="0">
              <a:solidFill>
                <a:srgbClr val="FF0000"/>
              </a:solidFill>
              <a:latin typeface="Times New Roman" panose="02020603050405020304"/>
              <a:cs typeface="Times New Roman" panose="02020603050405020304"/>
            </a:endParaRPr>
          </a:p>
        </p:txBody>
      </p:sp>
      <p:pic>
        <p:nvPicPr>
          <p:cNvPr id="13" name="Picture 12"/>
          <p:cNvPicPr>
            <a:picLocks noChangeAspect="1"/>
          </p:cNvPicPr>
          <p:nvPr/>
        </p:nvPicPr>
        <p:blipFill>
          <a:blip r:embed="rId3"/>
          <a:stretch>
            <a:fillRect/>
          </a:stretch>
        </p:blipFill>
        <p:spPr>
          <a:xfrm>
            <a:off x="536842" y="4477806"/>
            <a:ext cx="5324131" cy="2462822"/>
          </a:xfrm>
          <a:prstGeom prst="rect">
            <a:avLst/>
          </a:prstGeom>
        </p:spPr>
      </p:pic>
      <p:sp>
        <p:nvSpPr>
          <p:cNvPr id="17" name="TextBox 16"/>
          <p:cNvSpPr txBox="1"/>
          <p:nvPr/>
        </p:nvSpPr>
        <p:spPr>
          <a:xfrm>
            <a:off x="6319033" y="4091514"/>
            <a:ext cx="6097836" cy="461665"/>
          </a:xfrm>
          <a:prstGeom prst="rect">
            <a:avLst/>
          </a:prstGeom>
          <a:noFill/>
        </p:spPr>
        <p:txBody>
          <a:bodyPr wrap="square">
            <a:spAutoFit/>
          </a:bodyPr>
          <a:lstStyle/>
          <a:p>
            <a:r>
              <a:rPr lang="en-IN" sz="2400" b="1" dirty="0">
                <a:solidFill>
                  <a:srgbClr val="FF0000"/>
                </a:solidFill>
                <a:latin typeface="Times New Roman" panose="02020603050405020304"/>
                <a:cs typeface="Times New Roman" panose="02020603050405020304"/>
              </a:rPr>
              <a:t>6. Leaf</a:t>
            </a:r>
            <a:endParaRPr lang="en-IN" sz="2400" b="1" dirty="0">
              <a:solidFill>
                <a:srgbClr val="FF0000"/>
              </a:solidFill>
              <a:latin typeface="Times New Roman" panose="02020603050405020304"/>
              <a:cs typeface="Times New Roman" panose="02020603050405020304"/>
            </a:endParaRPr>
          </a:p>
        </p:txBody>
      </p:sp>
      <p:pic>
        <p:nvPicPr>
          <p:cNvPr id="18" name="Picture 17"/>
          <p:cNvPicPr>
            <a:picLocks noChangeAspect="1"/>
          </p:cNvPicPr>
          <p:nvPr/>
        </p:nvPicPr>
        <p:blipFill>
          <a:blip r:embed="rId4"/>
          <a:stretch>
            <a:fillRect/>
          </a:stretch>
        </p:blipFill>
        <p:spPr>
          <a:xfrm>
            <a:off x="5937920" y="4160995"/>
            <a:ext cx="6097836" cy="2857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77957"/>
            <a:ext cx="10515600" cy="4899006"/>
          </a:xfrm>
        </p:spPr>
        <p:txBody>
          <a:bodyPr/>
          <a:lstStyle/>
          <a:p>
            <a:pPr marL="0" indent="0">
              <a:buNone/>
            </a:pPr>
            <a:r>
              <a:rPr lang="en-IN" b="1" i="0" dirty="0">
                <a:solidFill>
                  <a:srgbClr val="E00D50"/>
                </a:solidFill>
                <a:effectLst/>
                <a:latin typeface="Open Sans" panose="020B0606030504020204" pitchFamily="34" charset="0"/>
              </a:rPr>
              <a:t>7. Degree</a:t>
            </a:r>
            <a:endParaRPr lang="en-IN" b="1" i="0" dirty="0">
              <a:solidFill>
                <a:srgbClr val="E00D50"/>
              </a:solidFill>
              <a:effectLst/>
              <a:latin typeface="Open Sans" panose="020B0606030504020204" pitchFamily="34" charset="0"/>
            </a:endParaRPr>
          </a:p>
          <a:p>
            <a:pPr marL="0" indent="0">
              <a:buNone/>
            </a:pPr>
            <a:endParaRPr lang="en-IN" dirty="0"/>
          </a:p>
        </p:txBody>
      </p:sp>
      <p:sp>
        <p:nvSpPr>
          <p:cNvPr id="4" name="Rounded Rectangle 17"/>
          <p:cNvSpPr/>
          <p:nvPr/>
        </p:nvSpPr>
        <p:spPr>
          <a:xfrm>
            <a:off x="1546367" y="319049"/>
            <a:ext cx="9316264" cy="82972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i="0" dirty="0">
                <a:solidFill>
                  <a:schemeClr val="bg1"/>
                </a:solidFill>
                <a:effectLst/>
                <a:latin typeface="Comfortaa"/>
              </a:rPr>
              <a:t>Tree - Terminology</a:t>
            </a:r>
            <a:endParaRPr lang="en-IN" sz="3600" b="1" i="0" dirty="0">
              <a:solidFill>
                <a:schemeClr val="bg1"/>
              </a:solidFill>
              <a:effectLst/>
              <a:latin typeface="Comfortaa"/>
            </a:endParaRPr>
          </a:p>
        </p:txBody>
      </p:sp>
      <p:pic>
        <p:nvPicPr>
          <p:cNvPr id="5" name="Picture 4"/>
          <p:cNvPicPr>
            <a:picLocks noChangeAspect="1"/>
          </p:cNvPicPr>
          <p:nvPr/>
        </p:nvPicPr>
        <p:blipFill>
          <a:blip r:embed="rId1"/>
          <a:stretch>
            <a:fillRect/>
          </a:stretch>
        </p:blipFill>
        <p:spPr>
          <a:xfrm>
            <a:off x="217354" y="1658727"/>
            <a:ext cx="5764805" cy="2252261"/>
          </a:xfrm>
          <a:prstGeom prst="rect">
            <a:avLst/>
          </a:prstGeom>
        </p:spPr>
      </p:pic>
      <p:sp>
        <p:nvSpPr>
          <p:cNvPr id="7" name="TextBox 6"/>
          <p:cNvSpPr txBox="1"/>
          <p:nvPr/>
        </p:nvSpPr>
        <p:spPr>
          <a:xfrm>
            <a:off x="6094164" y="1277957"/>
            <a:ext cx="6097836" cy="461665"/>
          </a:xfrm>
          <a:prstGeom prst="rect">
            <a:avLst/>
          </a:prstGeom>
          <a:noFill/>
        </p:spPr>
        <p:txBody>
          <a:bodyPr wrap="square">
            <a:spAutoFit/>
          </a:bodyPr>
          <a:lstStyle/>
          <a:p>
            <a:pPr algn="just"/>
            <a:r>
              <a:rPr lang="en-IN" sz="2400" b="1" i="0" dirty="0">
                <a:solidFill>
                  <a:srgbClr val="E00D50"/>
                </a:solidFill>
                <a:effectLst/>
                <a:latin typeface="Open Sans" panose="020B0606030504020204" pitchFamily="34" charset="0"/>
              </a:rPr>
              <a:t>8. Level</a:t>
            </a:r>
            <a:endParaRPr lang="en-IN" sz="2400" b="1" i="0" dirty="0">
              <a:solidFill>
                <a:srgbClr val="E00D50"/>
              </a:solidFill>
              <a:effectLst/>
              <a:latin typeface="Open Sans" panose="020B0606030504020204" pitchFamily="34" charset="0"/>
            </a:endParaRPr>
          </a:p>
        </p:txBody>
      </p:sp>
      <p:pic>
        <p:nvPicPr>
          <p:cNvPr id="8" name="Picture 7"/>
          <p:cNvPicPr>
            <a:picLocks noChangeAspect="1"/>
          </p:cNvPicPr>
          <p:nvPr/>
        </p:nvPicPr>
        <p:blipFill>
          <a:blip r:embed="rId2"/>
          <a:stretch>
            <a:fillRect/>
          </a:stretch>
        </p:blipFill>
        <p:spPr>
          <a:xfrm>
            <a:off x="6209843" y="1670225"/>
            <a:ext cx="5870152" cy="2369949"/>
          </a:xfrm>
          <a:prstGeom prst="rect">
            <a:avLst/>
          </a:prstGeom>
        </p:spPr>
      </p:pic>
      <p:sp>
        <p:nvSpPr>
          <p:cNvPr id="10" name="TextBox 9"/>
          <p:cNvSpPr txBox="1"/>
          <p:nvPr/>
        </p:nvSpPr>
        <p:spPr>
          <a:xfrm>
            <a:off x="320868" y="3871469"/>
            <a:ext cx="6406308" cy="461665"/>
          </a:xfrm>
          <a:prstGeom prst="rect">
            <a:avLst/>
          </a:prstGeom>
          <a:noFill/>
        </p:spPr>
        <p:txBody>
          <a:bodyPr wrap="square">
            <a:spAutoFit/>
          </a:bodyPr>
          <a:lstStyle/>
          <a:p>
            <a:pPr algn="just"/>
            <a:r>
              <a:rPr lang="en-IN" sz="2400" b="1" dirty="0">
                <a:solidFill>
                  <a:srgbClr val="E00D50"/>
                </a:solidFill>
                <a:latin typeface="Open Sans" panose="020B0606030504020204" pitchFamily="34" charset="0"/>
              </a:rPr>
              <a:t>9. </a:t>
            </a:r>
            <a:r>
              <a:rPr lang="en-IN" sz="2400" b="1" i="0" dirty="0">
                <a:solidFill>
                  <a:srgbClr val="E00D50"/>
                </a:solidFill>
                <a:effectLst/>
                <a:latin typeface="Open Sans" panose="020B0606030504020204" pitchFamily="34" charset="0"/>
              </a:rPr>
              <a:t>Height</a:t>
            </a:r>
            <a:endParaRPr lang="en-IN" sz="2400" b="1" i="0" dirty="0">
              <a:solidFill>
                <a:srgbClr val="E00D50"/>
              </a:solidFill>
              <a:effectLst/>
              <a:latin typeface="Open Sans" panose="020B0606030504020204" pitchFamily="34" charset="0"/>
            </a:endParaRPr>
          </a:p>
        </p:txBody>
      </p:sp>
      <p:pic>
        <p:nvPicPr>
          <p:cNvPr id="11" name="Picture 10"/>
          <p:cNvPicPr>
            <a:picLocks noChangeAspect="1"/>
          </p:cNvPicPr>
          <p:nvPr/>
        </p:nvPicPr>
        <p:blipFill>
          <a:blip r:embed="rId3"/>
          <a:stretch>
            <a:fillRect/>
          </a:stretch>
        </p:blipFill>
        <p:spPr>
          <a:xfrm>
            <a:off x="438844" y="4303255"/>
            <a:ext cx="5870152" cy="2626677"/>
          </a:xfrm>
          <a:prstGeom prst="rect">
            <a:avLst/>
          </a:prstGeom>
        </p:spPr>
      </p:pic>
      <p:sp>
        <p:nvSpPr>
          <p:cNvPr id="13" name="TextBox 12"/>
          <p:cNvSpPr txBox="1"/>
          <p:nvPr/>
        </p:nvSpPr>
        <p:spPr>
          <a:xfrm>
            <a:off x="6089573" y="4063109"/>
            <a:ext cx="6097836" cy="461665"/>
          </a:xfrm>
          <a:prstGeom prst="rect">
            <a:avLst/>
          </a:prstGeom>
          <a:noFill/>
        </p:spPr>
        <p:txBody>
          <a:bodyPr wrap="square">
            <a:spAutoFit/>
          </a:bodyPr>
          <a:lstStyle/>
          <a:p>
            <a:pPr algn="just"/>
            <a:r>
              <a:rPr lang="en-IN" sz="2400" b="1" i="0" dirty="0">
                <a:solidFill>
                  <a:srgbClr val="E00D50"/>
                </a:solidFill>
                <a:effectLst/>
                <a:latin typeface="Open Sans" panose="020B0606030504020204" pitchFamily="34" charset="0"/>
              </a:rPr>
              <a:t>10. Sub Tree</a:t>
            </a:r>
            <a:endParaRPr lang="en-IN" sz="2400" b="1" i="0" dirty="0">
              <a:solidFill>
                <a:srgbClr val="E00D50"/>
              </a:solidFill>
              <a:effectLst/>
              <a:latin typeface="Open Sans" panose="020B0606030504020204" pitchFamily="34" charset="0"/>
            </a:endParaRPr>
          </a:p>
        </p:txBody>
      </p:sp>
      <p:pic>
        <p:nvPicPr>
          <p:cNvPr id="14" name="Picture 13"/>
          <p:cNvPicPr>
            <a:picLocks noChangeAspect="1"/>
          </p:cNvPicPr>
          <p:nvPr/>
        </p:nvPicPr>
        <p:blipFill>
          <a:blip r:embed="rId4"/>
          <a:stretch>
            <a:fillRect/>
          </a:stretch>
        </p:blipFill>
        <p:spPr>
          <a:xfrm>
            <a:off x="5970683" y="3952364"/>
            <a:ext cx="6667500" cy="2857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latin typeface="Times New Roman" panose="02020603050405020304"/>
                <a:cs typeface="Times New Roman" panose="02020603050405020304"/>
              </a:rPr>
              <a:t>Example of Binary Tree with  nodes</a:t>
            </a:r>
            <a:endParaRPr lang="en-US" sz="2800" dirty="0">
              <a:solidFill>
                <a:schemeClr val="bg1"/>
              </a:solidFill>
              <a:latin typeface="Times New Roman" panose="02020603050405020304"/>
              <a:cs typeface="Times New Roman" panose="02020603050405020304"/>
            </a:endParaRPr>
          </a:p>
        </p:txBody>
      </p:sp>
      <p:pic>
        <p:nvPicPr>
          <p:cNvPr id="2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Rectangle 1"/>
          <p:cNvSpPr/>
          <p:nvPr/>
        </p:nvSpPr>
        <p:spPr>
          <a:xfrm>
            <a:off x="1751682" y="4353824"/>
            <a:ext cx="8053330" cy="1446550"/>
          </a:xfrm>
          <a:prstGeom prst="rect">
            <a:avLst/>
          </a:prstGeom>
        </p:spPr>
        <p:txBody>
          <a:bodyPr wrap="square">
            <a:spAutoFit/>
          </a:bodyPr>
          <a:lstStyle/>
          <a:p>
            <a:pPr lvl="1"/>
            <a:endParaRPr lang="en-IN" sz="3200" b="1" dirty="0">
              <a:solidFill>
                <a:srgbClr val="0070C0"/>
              </a:solidFill>
              <a:latin typeface="Times New Roman" panose="02020603050405020304"/>
              <a:cs typeface="Times New Roman" panose="02020603050405020304"/>
            </a:endParaRPr>
          </a:p>
          <a:p>
            <a:pPr lvl="1"/>
            <a:r>
              <a:rPr lang="en-IN" sz="3200" b="1" dirty="0">
                <a:latin typeface="Times New Roman" panose="02020603050405020304"/>
                <a:cs typeface="Times New Roman" panose="02020603050405020304"/>
              </a:rPr>
              <a:t>1. </a:t>
            </a:r>
            <a:r>
              <a:rPr lang="en-IN" sz="2400" b="1" i="0" dirty="0">
                <a:effectLst/>
                <a:latin typeface="Times New Roman" panose="02020603050405020304"/>
                <a:cs typeface="Times New Roman" panose="02020603050405020304"/>
              </a:rPr>
              <a:t>Array Representation of Binary Tree</a:t>
            </a:r>
            <a:endParaRPr lang="en-IN" sz="2400" b="1" i="0" dirty="0">
              <a:effectLst/>
              <a:latin typeface="Times New Roman" panose="02020603050405020304"/>
              <a:cs typeface="Times New Roman" panose="02020603050405020304"/>
            </a:endParaRPr>
          </a:p>
          <a:p>
            <a:pPr algn="just"/>
            <a:r>
              <a:rPr lang="en-IN" sz="2400" b="1" i="0" dirty="0">
                <a:effectLst/>
                <a:latin typeface="Times New Roman" panose="02020603050405020304"/>
                <a:cs typeface="Times New Roman" panose="02020603050405020304"/>
              </a:rPr>
              <a:t>      2. Linked List Representation of  Binary Tree</a:t>
            </a:r>
            <a:endParaRPr lang="en-IN" sz="2400" b="1" i="0" dirty="0">
              <a:effectLst/>
              <a:latin typeface="Times New Roman" panose="02020603050405020304"/>
              <a:cs typeface="Times New Roman" panose="02020603050405020304"/>
            </a:endParaRPr>
          </a:p>
        </p:txBody>
      </p:sp>
      <p:sp>
        <p:nvSpPr>
          <p:cNvPr id="7" name="Rounded Rectangle 17"/>
          <p:cNvSpPr/>
          <p:nvPr/>
        </p:nvSpPr>
        <p:spPr>
          <a:xfrm>
            <a:off x="1411158" y="4182550"/>
            <a:ext cx="8316736" cy="6000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latin typeface="Times New Roman" panose="02020603050405020304"/>
                <a:cs typeface="Times New Roman" panose="02020603050405020304"/>
              </a:rPr>
              <a:t>Types of </a:t>
            </a:r>
            <a:r>
              <a:rPr lang="en-IN" sz="2400" b="1" dirty="0">
                <a:solidFill>
                  <a:schemeClr val="bg1"/>
                </a:solidFill>
                <a:latin typeface="Times New Roman" panose="02020603050405020304"/>
                <a:cs typeface="Times New Roman" panose="02020603050405020304"/>
              </a:rPr>
              <a:t>Binary Tree Representations</a:t>
            </a:r>
            <a:endParaRPr lang="en-US" sz="2400" b="1" dirty="0">
              <a:ln w="0"/>
              <a:solidFill>
                <a:schemeClr val="bg1"/>
              </a:solidFill>
              <a:effectLst>
                <a:outerShdw blurRad="38100" dist="19050" dir="2700000" algn="tl" rotWithShape="0">
                  <a:schemeClr val="dk1">
                    <a:alpha val="40000"/>
                  </a:schemeClr>
                </a:outerShdw>
              </a:effectLst>
              <a:latin typeface="Times New Roman" panose="02020603050405020304"/>
              <a:cs typeface="Times New Roman" panose="02020603050405020304"/>
            </a:endParaRPr>
          </a:p>
        </p:txBody>
      </p:sp>
      <p:pic>
        <p:nvPicPr>
          <p:cNvPr id="1026" name="Picture 2" descr="binary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62782" y="854482"/>
            <a:ext cx="5074452" cy="3299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7"/>
                                        </p:tgtEl>
                                      </p:cBhvr>
                                    </p:animEffect>
                                    <p:animScale>
                                      <p:cBhvr>
                                        <p:cTn id="12"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latin typeface="Times New Roman" panose="02020603050405020304"/>
                <a:cs typeface="Times New Roman" panose="02020603050405020304"/>
              </a:rPr>
              <a:t>             Types of Binary Tree               </a:t>
            </a:r>
            <a:endParaRPr lang="en-US" sz="2800" b="1" dirty="0">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3" name="TextBox 12"/>
          <p:cNvSpPr txBox="1"/>
          <p:nvPr/>
        </p:nvSpPr>
        <p:spPr>
          <a:xfrm>
            <a:off x="289253" y="1086772"/>
            <a:ext cx="11866715" cy="4154984"/>
          </a:xfrm>
          <a:prstGeom prst="rect">
            <a:avLst/>
          </a:prstGeom>
          <a:noFill/>
        </p:spPr>
        <p:txBody>
          <a:bodyPr wrap="square" rtlCol="0">
            <a:spAutoFit/>
          </a:bodyPr>
          <a:lstStyle/>
          <a:p>
            <a:r>
              <a:rPr lang="en-IN" sz="2400" b="1" dirty="0">
                <a:latin typeface="Times New Roman" panose="02020603050405020304"/>
                <a:cs typeface="Times New Roman" panose="02020603050405020304"/>
              </a:rPr>
              <a:t> </a:t>
            </a:r>
            <a:r>
              <a:rPr lang="en-IN" sz="2800" b="1" i="0" dirty="0">
                <a:effectLst/>
                <a:latin typeface="Times New Roman" panose="02020603050405020304"/>
                <a:cs typeface="Times New Roman" panose="02020603050405020304"/>
              </a:rPr>
              <a:t>1. Array Representation of Binary Tree</a:t>
            </a:r>
            <a:endParaRPr lang="en-IN" sz="2800" b="1" i="0" dirty="0">
              <a:effectLst/>
              <a:latin typeface="Times New Roman" panose="02020603050405020304"/>
              <a:cs typeface="Times New Roman" panose="02020603050405020304"/>
            </a:endParaRPr>
          </a:p>
          <a:p>
            <a:r>
              <a:rPr lang="en-IN" sz="2000" b="0" i="0" dirty="0">
                <a:solidFill>
                  <a:srgbClr val="333333"/>
                </a:solidFill>
                <a:effectLst/>
                <a:latin typeface="Times New Roman" panose="02020603050405020304"/>
                <a:cs typeface="Times New Roman" panose="02020603050405020304"/>
              </a:rPr>
              <a:t>In array representation of a binary tree, we use one-dimensional array (1-D Array) to represent a binary tree.</a:t>
            </a:r>
            <a:br>
              <a:rPr lang="en-IN" sz="2000" dirty="0">
                <a:latin typeface="Times New Roman" panose="02020603050405020304"/>
                <a:cs typeface="Times New Roman" panose="02020603050405020304"/>
              </a:rPr>
            </a:br>
            <a:r>
              <a:rPr lang="en-IN" sz="2000" b="0" i="0" dirty="0">
                <a:solidFill>
                  <a:srgbClr val="333333"/>
                </a:solidFill>
                <a:effectLst/>
                <a:latin typeface="Times New Roman" panose="02020603050405020304"/>
                <a:cs typeface="Times New Roman" panose="02020603050405020304"/>
              </a:rPr>
              <a:t>Consider the above example of a binary tree and it is represented as follows...</a:t>
            </a:r>
            <a:endParaRPr lang="en-IN" sz="2000" b="1" i="0" dirty="0">
              <a:effectLst/>
              <a:latin typeface="Times New Roman" panose="02020603050405020304"/>
              <a:cs typeface="Times New Roman" panose="02020603050405020304"/>
            </a:endParaRPr>
          </a:p>
          <a:p>
            <a:endParaRPr lang="en-IN" sz="2800" dirty="0">
              <a:latin typeface="Times New Roman" panose="02020603050405020304"/>
              <a:cs typeface="Times New Roman" panose="02020603050405020304"/>
            </a:endParaRPr>
          </a:p>
          <a:p>
            <a:endParaRPr lang="en-IN" sz="2800" b="1" dirty="0">
              <a:latin typeface="Times New Roman" panose="02020603050405020304"/>
              <a:cs typeface="Times New Roman" panose="02020603050405020304"/>
            </a:endParaRPr>
          </a:p>
          <a:p>
            <a:endParaRPr lang="en-IN" sz="2800" b="1" dirty="0">
              <a:latin typeface="Times New Roman" panose="02020603050405020304"/>
              <a:cs typeface="Times New Roman" panose="02020603050405020304"/>
            </a:endParaRPr>
          </a:p>
          <a:p>
            <a:r>
              <a:rPr lang="en-IN" sz="2800" b="1" i="0" dirty="0">
                <a:effectLst/>
                <a:latin typeface="Times New Roman" panose="02020603050405020304"/>
                <a:cs typeface="Times New Roman" panose="02020603050405020304"/>
              </a:rPr>
              <a:t>2. Linked List Representation of Binary Tree</a:t>
            </a:r>
            <a:endParaRPr lang="en-IN" sz="2800" b="1" i="0" dirty="0">
              <a:effectLst/>
              <a:latin typeface="Times New Roman" panose="02020603050405020304"/>
              <a:cs typeface="Times New Roman" panose="02020603050405020304"/>
            </a:endParaRPr>
          </a:p>
          <a:p>
            <a:endParaRPr lang="en-IN" sz="2800" b="1" i="0" dirty="0">
              <a:effectLst/>
              <a:latin typeface="Times New Roman" panose="02020603050405020304"/>
              <a:cs typeface="Times New Roman" panose="02020603050405020304"/>
            </a:endParaRPr>
          </a:p>
          <a:p>
            <a:endParaRPr lang="en-IN" sz="2800" dirty="0">
              <a:latin typeface="Times New Roman" panose="02020603050405020304"/>
              <a:cs typeface="Times New Roman" panose="02020603050405020304"/>
            </a:endParaRPr>
          </a:p>
          <a:p>
            <a:r>
              <a:rPr lang="en-IN" sz="2800" b="1" dirty="0">
                <a:latin typeface="Times New Roman" panose="02020603050405020304"/>
                <a:cs typeface="Times New Roman" panose="02020603050405020304"/>
              </a:rPr>
              <a:t>			</a:t>
            </a:r>
            <a:r>
              <a:rPr lang="en-IN" sz="2000" b="1" dirty="0">
                <a:latin typeface="Times New Roman" panose="02020603050405020304"/>
                <a:cs typeface="Times New Roman" panose="02020603050405020304"/>
              </a:rPr>
              <a:t> </a:t>
            </a:r>
            <a:endParaRPr lang="en-IN" sz="2000" dirty="0">
              <a:latin typeface="Times New Roman" panose="02020603050405020304"/>
              <a:cs typeface="Times New Roman" panose="02020603050405020304"/>
            </a:endParaRPr>
          </a:p>
        </p:txBody>
      </p:sp>
      <p:pic>
        <p:nvPicPr>
          <p:cNvPr id="2054" name="Picture 6" descr="binary tree array represen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81340"/>
            <a:ext cx="11430000" cy="152032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inary Tree Linked List Represent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6250" y="3807333"/>
            <a:ext cx="5354197" cy="29800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1656544" y="245393"/>
            <a:ext cx="9454884"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3200" dirty="0">
                <a:latin typeface="Times New Roman" panose="02020603050405020304"/>
                <a:cs typeface="Times New Roman" panose="02020603050405020304"/>
              </a:rPr>
              <a:t>             Types of binary tree traversals.</a:t>
            </a:r>
            <a:r>
              <a:rPr lang="en-US" sz="4000" dirty="0">
                <a:latin typeface="Times New Roman" panose="02020603050405020304"/>
                <a:cs typeface="Times New Roman" panose="02020603050405020304"/>
              </a:rPr>
              <a:t>  </a:t>
            </a:r>
            <a:r>
              <a:rPr lang="en-US" sz="4400" dirty="0">
                <a:latin typeface="Times New Roman" panose="02020603050405020304"/>
                <a:cs typeface="Times New Roman" panose="02020603050405020304"/>
              </a:rPr>
              <a:t>   </a:t>
            </a:r>
            <a:r>
              <a:rPr lang="en-US" sz="3200" dirty="0">
                <a:latin typeface="Times New Roman" panose="02020603050405020304"/>
                <a:cs typeface="Times New Roman" panose="02020603050405020304"/>
              </a:rPr>
              <a:t>                     </a:t>
            </a:r>
            <a:endParaRPr lang="en-US" sz="2400" dirty="0">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Rectangle 1"/>
          <p:cNvSpPr/>
          <p:nvPr/>
        </p:nvSpPr>
        <p:spPr>
          <a:xfrm>
            <a:off x="356259" y="1320731"/>
            <a:ext cx="11542815" cy="5447645"/>
          </a:xfrm>
          <a:prstGeom prst="rect">
            <a:avLst/>
          </a:prstGeom>
        </p:spPr>
        <p:txBody>
          <a:bodyPr wrap="square" lIns="91440" tIns="45720" rIns="91440" bIns="45720" anchor="t">
            <a:spAutoFit/>
          </a:bodyPr>
          <a:lstStyle/>
          <a:p>
            <a:pPr algn="just"/>
            <a:r>
              <a:rPr lang="en-IN" sz="2400" dirty="0">
                <a:latin typeface="Times New Roman" panose="02020603050405020304"/>
                <a:cs typeface="Times New Roman" panose="02020603050405020304"/>
              </a:rPr>
              <a:t> </a:t>
            </a:r>
            <a:r>
              <a:rPr lang="en-IN" sz="2400" b="0" i="0" dirty="0">
                <a:solidFill>
                  <a:srgbClr val="333333"/>
                </a:solidFill>
                <a:effectLst/>
                <a:latin typeface="Times New Roman" panose="02020603050405020304"/>
                <a:cs typeface="Times New Roman" panose="02020603050405020304"/>
              </a:rPr>
              <a:t>There are three types of binary tree traversals.</a:t>
            </a:r>
            <a:endParaRPr lang="en-IN" sz="2400" b="0" i="0" dirty="0">
              <a:solidFill>
                <a:srgbClr val="333333"/>
              </a:solidFill>
              <a:effectLst/>
              <a:latin typeface="Times New Roman" panose="02020603050405020304"/>
              <a:cs typeface="Times New Roman" panose="02020603050405020304"/>
            </a:endParaRPr>
          </a:p>
          <a:p>
            <a:pPr algn="just">
              <a:buFont typeface="+mj-lt"/>
              <a:buAutoNum type="arabicPeriod"/>
            </a:pPr>
            <a:r>
              <a:rPr lang="en-IN" sz="2400" b="1" i="0" dirty="0">
                <a:solidFill>
                  <a:srgbClr val="333333"/>
                </a:solidFill>
                <a:effectLst/>
                <a:latin typeface="Times New Roman" panose="02020603050405020304"/>
                <a:cs typeface="Times New Roman" panose="02020603050405020304"/>
              </a:rPr>
              <a:t>In - Order Traversal</a:t>
            </a:r>
            <a:endParaRPr lang="en-IN" sz="2400" b="1" i="0" dirty="0">
              <a:solidFill>
                <a:srgbClr val="333333"/>
              </a:solidFill>
              <a:effectLst/>
              <a:latin typeface="Times New Roman" panose="02020603050405020304"/>
              <a:cs typeface="Times New Roman" panose="02020603050405020304"/>
            </a:endParaRPr>
          </a:p>
          <a:p>
            <a:pPr algn="just">
              <a:buFont typeface="+mj-lt"/>
              <a:buAutoNum type="arabicPeriod"/>
            </a:pPr>
            <a:r>
              <a:rPr lang="en-IN" sz="2400" b="1" i="0" dirty="0">
                <a:solidFill>
                  <a:srgbClr val="333333"/>
                </a:solidFill>
                <a:effectLst/>
                <a:latin typeface="Times New Roman" panose="02020603050405020304"/>
                <a:cs typeface="Times New Roman" panose="02020603050405020304"/>
              </a:rPr>
              <a:t>Pre - Order Traversal</a:t>
            </a:r>
            <a:endParaRPr lang="en-IN" sz="2400" b="1" i="0" dirty="0">
              <a:solidFill>
                <a:srgbClr val="333333"/>
              </a:solidFill>
              <a:effectLst/>
              <a:latin typeface="Times New Roman" panose="02020603050405020304"/>
              <a:cs typeface="Times New Roman" panose="02020603050405020304"/>
            </a:endParaRPr>
          </a:p>
          <a:p>
            <a:pPr algn="just">
              <a:buFont typeface="+mj-lt"/>
              <a:buAutoNum type="arabicPeriod"/>
            </a:pPr>
            <a:r>
              <a:rPr lang="en-IN" sz="2400" b="1" i="0" dirty="0">
                <a:solidFill>
                  <a:srgbClr val="333333"/>
                </a:solidFill>
                <a:effectLst/>
                <a:latin typeface="Times New Roman" panose="02020603050405020304"/>
                <a:cs typeface="Times New Roman" panose="02020603050405020304"/>
              </a:rPr>
              <a:t>Post - Order Traversal</a:t>
            </a:r>
            <a:endParaRPr lang="en-IN" sz="2400" b="1" i="0" dirty="0">
              <a:solidFill>
                <a:srgbClr val="333333"/>
              </a:solidFill>
              <a:effectLst/>
              <a:latin typeface="Times New Roman" panose="02020603050405020304"/>
              <a:cs typeface="Times New Roman" panose="02020603050405020304"/>
            </a:endParaRPr>
          </a:p>
          <a:p>
            <a:pPr algn="just"/>
            <a:endParaRPr lang="en-IN" sz="2400" b="1" dirty="0">
              <a:solidFill>
                <a:srgbClr val="333333"/>
              </a:solidFill>
              <a:latin typeface="Times New Roman" panose="02020603050405020304"/>
              <a:cs typeface="Times New Roman" panose="02020603050405020304"/>
            </a:endParaRPr>
          </a:p>
          <a:p>
            <a:pPr algn="just"/>
            <a:r>
              <a:rPr lang="en-IN" sz="2400" b="1" i="0" dirty="0">
                <a:effectLst/>
                <a:latin typeface="Times New Roman" panose="02020603050405020304"/>
                <a:cs typeface="Times New Roman" panose="02020603050405020304"/>
              </a:rPr>
              <a:t>1.In - Order Traversal ( </a:t>
            </a:r>
            <a:r>
              <a:rPr lang="en-IN" sz="2400" b="1" i="0" dirty="0" err="1">
                <a:effectLst/>
                <a:latin typeface="Times New Roman" panose="02020603050405020304"/>
                <a:cs typeface="Times New Roman" panose="02020603050405020304"/>
              </a:rPr>
              <a:t>leftChild</a:t>
            </a:r>
            <a:r>
              <a:rPr lang="en-IN" sz="2400" b="1" i="0" dirty="0">
                <a:effectLst/>
                <a:latin typeface="Times New Roman" panose="02020603050405020304"/>
                <a:cs typeface="Times New Roman" panose="02020603050405020304"/>
              </a:rPr>
              <a:t> - root - </a:t>
            </a:r>
            <a:r>
              <a:rPr lang="en-IN" sz="2400" b="1" i="0" dirty="0" err="1">
                <a:effectLst/>
                <a:latin typeface="Times New Roman" panose="02020603050405020304"/>
                <a:cs typeface="Times New Roman" panose="02020603050405020304"/>
              </a:rPr>
              <a:t>rightChild</a:t>
            </a:r>
            <a:r>
              <a:rPr lang="en-IN" sz="2400" b="1" i="0" dirty="0">
                <a:effectLst/>
                <a:latin typeface="Times New Roman" panose="02020603050405020304"/>
                <a:cs typeface="Times New Roman" panose="02020603050405020304"/>
              </a:rPr>
              <a:t> )</a:t>
            </a:r>
            <a:endParaRPr lang="en-IN" sz="2400" b="1" i="0" dirty="0">
              <a:effectLst/>
              <a:latin typeface="Times New Roman" panose="02020603050405020304"/>
              <a:cs typeface="Times New Roman" panose="02020603050405020304"/>
            </a:endParaRPr>
          </a:p>
          <a:p>
            <a:pPr>
              <a:lnSpc>
                <a:spcPct val="150000"/>
              </a:lnSpc>
            </a:pPr>
            <a:r>
              <a:rPr lang="en-IN" sz="2400" b="0" i="0" dirty="0">
                <a:solidFill>
                  <a:srgbClr val="333333"/>
                </a:solidFill>
                <a:effectLst/>
                <a:latin typeface="Times New Roman" panose="02020603050405020304"/>
                <a:cs typeface="Times New Roman" panose="02020603050405020304"/>
              </a:rPr>
              <a:t>In In-Order traversal, the root node is visited between the left child and right child. In this traversal, the left child node is visited first, then the root node is visited and later we go for visiting the right child node. This in-order traversal is applicable for every root node of all subtrees in the tree. This is performed recursively for all nodes in the tree.</a:t>
            </a:r>
            <a:endParaRPr lang="en-IN" sz="2400" b="1" i="0" dirty="0">
              <a:solidFill>
                <a:srgbClr val="E00D50"/>
              </a:solidFill>
              <a:effectLst/>
              <a:latin typeface="Times New Roman" panose="02020603050405020304"/>
              <a:cs typeface="Times New Roman" panose="02020603050405020304"/>
            </a:endParaRPr>
          </a:p>
          <a:p>
            <a:pPr>
              <a:lnSpc>
                <a:spcPct val="150000"/>
              </a:lnSpc>
            </a:pPr>
            <a:endParaRPr lang="en-IN" sz="2400" dirty="0">
              <a:latin typeface="Times New Roman" panose="02020603050405020304"/>
              <a:cs typeface="Times New Roman" panose="02020603050405020304"/>
            </a:endParaRPr>
          </a:p>
          <a:p>
            <a:pPr lvl="1">
              <a:buFont typeface="Wingdings" panose="05000000000000000000" pitchFamily="2" charset="2"/>
              <a:buChar char="v"/>
            </a:pPr>
            <a:endParaRPr lang="en-IN" sz="2400" dirty="0">
              <a:latin typeface="Times New Roman" panose="02020603050405020304"/>
              <a:cs typeface="Times New Roman" panose="02020603050405020304"/>
            </a:endParaRPr>
          </a:p>
        </p:txBody>
      </p:sp>
      <p:sp>
        <p:nvSpPr>
          <p:cNvPr id="3"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latin typeface="Times New Roman" panose="02020603050405020304"/>
              <a:cs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2990477"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latin typeface="Times New Roman" panose="02020603050405020304"/>
                <a:cs typeface="Times New Roman" panose="02020603050405020304"/>
              </a:rPr>
              <a:t>Example </a:t>
            </a:r>
            <a:r>
              <a:rPr lang="en-US" sz="2400" b="1" dirty="0">
                <a:latin typeface="Times New Roman" panose="02020603050405020304"/>
                <a:cs typeface="Times New Roman" panose="02020603050405020304"/>
              </a:rPr>
              <a:t>of </a:t>
            </a:r>
            <a:r>
              <a:rPr lang="en-IN" sz="2400" b="1" dirty="0">
                <a:latin typeface="Times New Roman" panose="02020603050405020304"/>
                <a:cs typeface="Times New Roman" panose="02020603050405020304"/>
              </a:rPr>
              <a:t>In-Order Traversal</a:t>
            </a:r>
            <a:r>
              <a:rPr lang="en-US" sz="2400" b="1" dirty="0">
                <a:latin typeface="Times New Roman" panose="02020603050405020304"/>
                <a:cs typeface="Times New Roman" panose="02020603050405020304"/>
              </a:rPr>
              <a:t>                     </a:t>
            </a:r>
            <a:r>
              <a:rPr lang="en-US" sz="2400" dirty="0">
                <a:latin typeface="Times New Roman" panose="02020603050405020304"/>
                <a:cs typeface="Times New Roman" panose="02020603050405020304"/>
              </a:rPr>
              <a:t>(Cont..)</a:t>
            </a:r>
            <a:endParaRPr lang="en-US" sz="2400" dirty="0">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Rectangle 1"/>
          <p:cNvSpPr/>
          <p:nvPr/>
        </p:nvSpPr>
        <p:spPr>
          <a:xfrm>
            <a:off x="324592" y="1331748"/>
            <a:ext cx="11542815" cy="5539978"/>
          </a:xfrm>
          <a:prstGeom prst="rect">
            <a:avLst/>
          </a:prstGeom>
        </p:spPr>
        <p:txBody>
          <a:bodyPr wrap="square" lIns="91440" tIns="45720" rIns="91440" bIns="45720" anchor="t">
            <a:spAutoFit/>
          </a:bodyPr>
          <a:lstStyle/>
          <a:p>
            <a:r>
              <a:rPr lang="en-IN" sz="2400" b="1" i="0" dirty="0">
                <a:effectLst/>
                <a:latin typeface="Times New Roman" panose="02020603050405020304"/>
                <a:cs typeface="Times New Roman" panose="02020603050405020304"/>
              </a:rPr>
              <a:t>In-Order Traversal for </a:t>
            </a:r>
            <a:r>
              <a:rPr lang="en-IN" sz="2400" b="1" i="0" dirty="0" err="1">
                <a:effectLst/>
                <a:latin typeface="Times New Roman" panose="02020603050405020304"/>
                <a:cs typeface="Times New Roman" panose="02020603050405020304"/>
              </a:rPr>
              <a:t>belo</a:t>
            </a:r>
            <a:r>
              <a:rPr lang="en-IN" sz="2400" b="1" i="0" dirty="0">
                <a:effectLst/>
                <a:latin typeface="Times New Roman" panose="02020603050405020304"/>
                <a:cs typeface="Times New Roman" panose="02020603050405020304"/>
              </a:rPr>
              <a:t> example of binary tree is</a:t>
            </a:r>
            <a:br>
              <a:rPr lang="en-IN" sz="2400" dirty="0">
                <a:latin typeface="Times New Roman" panose="02020603050405020304"/>
                <a:cs typeface="Times New Roman" panose="02020603050405020304"/>
              </a:rPr>
            </a:br>
            <a:r>
              <a:rPr lang="en-IN" sz="2400" dirty="0">
                <a:latin typeface="Times New Roman" panose="02020603050405020304"/>
                <a:cs typeface="Times New Roman" panose="02020603050405020304"/>
              </a:rPr>
              <a:t>                           </a:t>
            </a:r>
            <a:r>
              <a:rPr lang="en-IN" sz="2400" b="1" i="0" dirty="0">
                <a:solidFill>
                  <a:srgbClr val="333333"/>
                </a:solidFill>
                <a:effectLst/>
                <a:latin typeface="Times New Roman" panose="02020603050405020304"/>
                <a:cs typeface="Times New Roman" panose="02020603050405020304"/>
              </a:rPr>
              <a:t>I - D - J - B - F - A - G - K - C - H</a:t>
            </a:r>
            <a:endParaRPr lang="en-IN" sz="2400" b="1" i="0" dirty="0">
              <a:solidFill>
                <a:srgbClr val="333333"/>
              </a:solidFill>
              <a:effectLst/>
              <a:latin typeface="Times New Roman" panose="02020603050405020304"/>
              <a:cs typeface="Times New Roman" panose="02020603050405020304"/>
            </a:endParaRPr>
          </a:p>
          <a:p>
            <a:endParaRPr lang="en-IN" sz="2400" b="1" dirty="0">
              <a:latin typeface="Times New Roman" panose="02020603050405020304"/>
              <a:cs typeface="Times New Roman" panose="02020603050405020304"/>
            </a:endParaRPr>
          </a:p>
          <a:p>
            <a:endParaRPr lang="en-IN" sz="2400" b="1" dirty="0">
              <a:latin typeface="Times New Roman" panose="02020603050405020304"/>
              <a:cs typeface="Times New Roman" panose="02020603050405020304"/>
            </a:endParaRPr>
          </a:p>
          <a:p>
            <a:endParaRPr lang="en-IN" sz="2400" b="1" dirty="0">
              <a:latin typeface="Times New Roman" panose="02020603050405020304"/>
              <a:cs typeface="Times New Roman" panose="02020603050405020304"/>
            </a:endParaRPr>
          </a:p>
          <a:p>
            <a:endParaRPr lang="en-IN" sz="2400" b="1" dirty="0">
              <a:latin typeface="Times New Roman" panose="02020603050405020304"/>
              <a:cs typeface="Times New Roman" panose="02020603050405020304"/>
            </a:endParaRPr>
          </a:p>
          <a:p>
            <a:endParaRPr lang="en-IN" sz="2000" dirty="0">
              <a:latin typeface="Times New Roman" panose="02020603050405020304"/>
              <a:cs typeface="Times New Roman" panose="02020603050405020304"/>
            </a:endParaRPr>
          </a:p>
          <a:p>
            <a:endParaRPr lang="en-IN" sz="2000" dirty="0">
              <a:latin typeface="Times New Roman" panose="02020603050405020304"/>
              <a:cs typeface="Times New Roman" panose="02020603050405020304"/>
            </a:endParaRPr>
          </a:p>
          <a:p>
            <a:endParaRPr lang="en-IN" sz="2000" dirty="0">
              <a:latin typeface="Times New Roman" panose="02020603050405020304"/>
              <a:cs typeface="Times New Roman" panose="02020603050405020304"/>
            </a:endParaRPr>
          </a:p>
          <a:p>
            <a:endParaRPr lang="en-IN" sz="2000" dirty="0">
              <a:latin typeface="Times New Roman" panose="02020603050405020304"/>
              <a:cs typeface="Times New Roman" panose="02020603050405020304"/>
            </a:endParaRPr>
          </a:p>
          <a:p>
            <a:pPr algn="just"/>
            <a:r>
              <a:rPr lang="en-IN" sz="2000" b="1" i="0" dirty="0">
                <a:effectLst/>
                <a:latin typeface="Times New Roman" panose="02020603050405020304"/>
                <a:cs typeface="Times New Roman" panose="02020603050405020304"/>
              </a:rPr>
              <a:t>2. Pre - Order Traversal ( root - </a:t>
            </a:r>
            <a:r>
              <a:rPr lang="en-IN" sz="2000" b="1" i="0" dirty="0" err="1">
                <a:effectLst/>
                <a:latin typeface="Times New Roman" panose="02020603050405020304"/>
                <a:cs typeface="Times New Roman" panose="02020603050405020304"/>
              </a:rPr>
              <a:t>leftChild</a:t>
            </a:r>
            <a:r>
              <a:rPr lang="en-IN" sz="2000" b="1" i="0" dirty="0">
                <a:effectLst/>
                <a:latin typeface="Times New Roman" panose="02020603050405020304"/>
                <a:cs typeface="Times New Roman" panose="02020603050405020304"/>
              </a:rPr>
              <a:t> - </a:t>
            </a:r>
            <a:r>
              <a:rPr lang="en-IN" sz="2000" b="1" i="0" dirty="0" err="1">
                <a:effectLst/>
                <a:latin typeface="Times New Roman" panose="02020603050405020304"/>
                <a:cs typeface="Times New Roman" panose="02020603050405020304"/>
              </a:rPr>
              <a:t>rightChild</a:t>
            </a:r>
            <a:r>
              <a:rPr lang="en-IN" sz="2000" b="1" i="0" dirty="0">
                <a:effectLst/>
                <a:latin typeface="Times New Roman" panose="02020603050405020304"/>
                <a:cs typeface="Times New Roman" panose="02020603050405020304"/>
              </a:rPr>
              <a:t> )</a:t>
            </a:r>
            <a:endParaRPr lang="en-IN" sz="2000" b="1" i="0" dirty="0">
              <a:effectLst/>
              <a:latin typeface="Times New Roman" panose="02020603050405020304"/>
              <a:cs typeface="Times New Roman" panose="02020603050405020304"/>
            </a:endParaRPr>
          </a:p>
          <a:p>
            <a:pPr algn="just">
              <a:lnSpc>
                <a:spcPct val="150000"/>
              </a:lnSpc>
            </a:pPr>
            <a:r>
              <a:rPr lang="en-IN" sz="2000" b="0" i="0" dirty="0">
                <a:solidFill>
                  <a:srgbClr val="333333"/>
                </a:solidFill>
                <a:effectLst/>
                <a:latin typeface="Times New Roman" panose="02020603050405020304"/>
                <a:cs typeface="Times New Roman" panose="02020603050405020304"/>
              </a:rPr>
              <a:t>In Pre-Order traversal, the root node is visited before the left child and right child nodes. In this traversal, the root node is visited first, then its left child and later its right child. This pre-order traversal is applicable for every root node of all subtrees in the tree.</a:t>
            </a:r>
            <a:endParaRPr lang="en-IN" sz="2000" b="0" i="0" dirty="0">
              <a:solidFill>
                <a:srgbClr val="333333"/>
              </a:solidFill>
              <a:effectLst/>
              <a:latin typeface="Times New Roman" panose="02020603050405020304"/>
              <a:cs typeface="Times New Roman" panose="02020603050405020304"/>
            </a:endParaRPr>
          </a:p>
          <a:p>
            <a:endParaRPr lang="en-IN" sz="2000" dirty="0">
              <a:latin typeface="Times New Roman" panose="02020603050405020304"/>
              <a:cs typeface="Times New Roman" panose="02020603050405020304"/>
            </a:endParaRPr>
          </a:p>
        </p:txBody>
      </p:sp>
      <p:pic>
        <p:nvPicPr>
          <p:cNvPr id="9" name="Picture 8"/>
          <p:cNvPicPr>
            <a:picLocks noChangeAspect="1"/>
          </p:cNvPicPr>
          <p:nvPr/>
        </p:nvPicPr>
        <p:blipFill>
          <a:blip r:embed="rId2"/>
          <a:stretch>
            <a:fillRect/>
          </a:stretch>
        </p:blipFill>
        <p:spPr>
          <a:xfrm>
            <a:off x="2266491" y="2000250"/>
            <a:ext cx="6667500" cy="2857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2243190" y="253280"/>
            <a:ext cx="6164540"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a:cs typeface="Times New Roman" panose="02020603050405020304"/>
              </a:rPr>
              <a:t>Example </a:t>
            </a:r>
            <a:r>
              <a:rPr lang="en-US" sz="2800" b="1" dirty="0">
                <a:latin typeface="Times New Roman" panose="02020603050405020304"/>
                <a:cs typeface="Times New Roman" panose="02020603050405020304"/>
              </a:rPr>
              <a:t>of </a:t>
            </a:r>
            <a:r>
              <a:rPr lang="en-IN" sz="2800" b="1" dirty="0">
                <a:latin typeface="Times New Roman" panose="02020603050405020304"/>
                <a:cs typeface="Times New Roman" panose="02020603050405020304"/>
              </a:rPr>
              <a:t>Pre -Order Traversal</a:t>
            </a:r>
            <a:endParaRPr lang="en-US" sz="2400" dirty="0">
              <a:solidFill>
                <a:schemeClr val="bg1"/>
              </a:solidFill>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Content Placeholder 1"/>
          <p:cNvSpPr>
            <a:spLocks noGrp="1"/>
          </p:cNvSpPr>
          <p:nvPr>
            <p:ph idx="1"/>
          </p:nvPr>
        </p:nvSpPr>
        <p:spPr>
          <a:xfrm>
            <a:off x="838200" y="1156771"/>
            <a:ext cx="10515600" cy="5364602"/>
          </a:xfrm>
        </p:spPr>
        <p:txBody>
          <a:bodyPr lIns="91440" tIns="45720" rIns="91440" bIns="45720" anchor="t"/>
          <a:lstStyle/>
          <a:p>
            <a:pPr marL="0" indent="0">
              <a:buNone/>
            </a:pPr>
            <a:r>
              <a:rPr lang="en-IN" b="1" i="0" dirty="0">
                <a:effectLst/>
                <a:latin typeface="Times New Roman" panose="02020603050405020304"/>
                <a:cs typeface="Times New Roman" panose="02020603050405020304"/>
              </a:rPr>
              <a:t>Pre-Order Traversal for </a:t>
            </a:r>
            <a:r>
              <a:rPr lang="en-IN" b="1" dirty="0">
                <a:latin typeface="Times New Roman" panose="02020603050405020304"/>
                <a:cs typeface="Times New Roman" panose="02020603050405020304"/>
              </a:rPr>
              <a:t>belo</a:t>
            </a:r>
            <a:r>
              <a:rPr lang="en-IN" b="1" dirty="0">
                <a:latin typeface="Times New Roman" panose="02020603050405020304"/>
                <a:ea typeface="+mn-lt"/>
                <a:cs typeface="+mn-lt"/>
              </a:rPr>
              <a:t>w</a:t>
            </a:r>
            <a:r>
              <a:rPr lang="en-IN" b="1" dirty="0">
                <a:latin typeface="Times New Roman" panose="02020603050405020304"/>
                <a:cs typeface="Times New Roman" panose="02020603050405020304"/>
              </a:rPr>
              <a:t> </a:t>
            </a:r>
            <a:r>
              <a:rPr lang="en-IN" b="1" i="0" dirty="0">
                <a:effectLst/>
                <a:latin typeface="Times New Roman" panose="02020603050405020304"/>
                <a:cs typeface="Times New Roman" panose="02020603050405020304"/>
              </a:rPr>
              <a:t>example binary tree is</a:t>
            </a:r>
            <a:br>
              <a:rPr lang="en-IN" dirty="0">
                <a:latin typeface="Times New Roman" panose="02020603050405020304"/>
                <a:cs typeface="Times New Roman" panose="02020603050405020304"/>
              </a:rPr>
            </a:br>
            <a:r>
              <a:rPr lang="en-IN" dirty="0">
                <a:latin typeface="Times New Roman" panose="02020603050405020304"/>
                <a:cs typeface="Times New Roman" panose="02020603050405020304"/>
              </a:rPr>
              <a:t>                        </a:t>
            </a:r>
            <a:r>
              <a:rPr lang="en-IN" b="1" i="0" dirty="0">
                <a:solidFill>
                  <a:srgbClr val="333333"/>
                </a:solidFill>
                <a:effectLst/>
                <a:latin typeface="Times New Roman" panose="02020603050405020304"/>
                <a:cs typeface="Times New Roman" panose="02020603050405020304"/>
              </a:rPr>
              <a:t>A - B - D - I - J - F - C - G - K - H</a:t>
            </a:r>
            <a:endParaRPr lang="en-IN" b="1" i="0" dirty="0">
              <a:solidFill>
                <a:srgbClr val="333333"/>
              </a:solidFill>
              <a:effectLst/>
              <a:latin typeface="Times New Roman" panose="02020603050405020304"/>
              <a:cs typeface="Times New Roman" panose="02020603050405020304"/>
            </a:endParaRPr>
          </a:p>
          <a:p>
            <a:endParaRPr lang="en-IN" dirty="0">
              <a:latin typeface="Times New Roman" panose="02020603050405020304"/>
              <a:cs typeface="Times New Roman" panose="02020603050405020304"/>
            </a:endParaRPr>
          </a:p>
          <a:p>
            <a:endParaRPr lang="en-IN" dirty="0">
              <a:latin typeface="Times New Roman" panose="02020603050405020304"/>
              <a:cs typeface="Times New Roman" panose="02020603050405020304"/>
            </a:endParaRPr>
          </a:p>
          <a:p>
            <a:endParaRPr lang="en-IN" dirty="0">
              <a:latin typeface="Times New Roman" panose="02020603050405020304"/>
              <a:cs typeface="Times New Roman" panose="02020603050405020304"/>
            </a:endParaRPr>
          </a:p>
          <a:p>
            <a:endParaRPr lang="en-IN" dirty="0">
              <a:latin typeface="Times New Roman" panose="02020603050405020304"/>
              <a:cs typeface="Times New Roman" panose="02020603050405020304"/>
            </a:endParaRPr>
          </a:p>
          <a:p>
            <a:r>
              <a:rPr lang="en-IN" sz="2400" b="1" i="0" dirty="0">
                <a:effectLst/>
                <a:latin typeface="Times New Roman" panose="02020603050405020304"/>
                <a:cs typeface="Times New Roman" panose="02020603050405020304"/>
              </a:rPr>
              <a:t>3. Post - Order Traversal ( </a:t>
            </a:r>
            <a:r>
              <a:rPr lang="en-IN" sz="2400" b="1" i="0" dirty="0" err="1">
                <a:effectLst/>
                <a:latin typeface="Times New Roman" panose="02020603050405020304"/>
                <a:cs typeface="Times New Roman" panose="02020603050405020304"/>
              </a:rPr>
              <a:t>leftChild</a:t>
            </a:r>
            <a:r>
              <a:rPr lang="en-IN" sz="2400" b="1" i="0" dirty="0">
                <a:effectLst/>
                <a:latin typeface="Times New Roman" panose="02020603050405020304"/>
                <a:cs typeface="Times New Roman" panose="02020603050405020304"/>
              </a:rPr>
              <a:t> - </a:t>
            </a:r>
            <a:r>
              <a:rPr lang="en-IN" sz="2400" b="1" i="0" dirty="0" err="1">
                <a:effectLst/>
                <a:latin typeface="Times New Roman" panose="02020603050405020304"/>
                <a:cs typeface="Times New Roman" panose="02020603050405020304"/>
              </a:rPr>
              <a:t>rightChild</a:t>
            </a:r>
            <a:r>
              <a:rPr lang="en-IN" sz="2400" b="1" i="0" dirty="0">
                <a:effectLst/>
                <a:latin typeface="Times New Roman" panose="02020603050405020304"/>
                <a:cs typeface="Times New Roman" panose="02020603050405020304"/>
              </a:rPr>
              <a:t> - root )</a:t>
            </a:r>
            <a:endParaRPr lang="en-IN" i="0" dirty="0">
              <a:effectLst/>
              <a:latin typeface="Times New Roman" panose="02020603050405020304"/>
              <a:cs typeface="Times New Roman" panose="02020603050405020304"/>
            </a:endParaRPr>
          </a:p>
          <a:p>
            <a:pPr marL="0" indent="0" algn="just">
              <a:lnSpc>
                <a:spcPct val="150000"/>
              </a:lnSpc>
              <a:buNone/>
            </a:pPr>
            <a:r>
              <a:rPr lang="en-IN" sz="2400" b="0" i="0" dirty="0">
                <a:solidFill>
                  <a:srgbClr val="333333"/>
                </a:solidFill>
                <a:effectLst/>
                <a:latin typeface="Times New Roman" panose="02020603050405020304"/>
                <a:cs typeface="Times New Roman" panose="02020603050405020304"/>
              </a:rPr>
              <a:t>In Post-Order traversal, the root node is visited after left child and right child. In this traversal, left child node is visited first, then its right child and then its root node. This is recursively performed until the right most node is visited.</a:t>
            </a:r>
            <a:br>
              <a:rPr lang="en-IN" sz="2400" b="0" i="0" dirty="0">
                <a:effectLst/>
                <a:latin typeface="Times New Roman" panose="02020603050405020304"/>
                <a:cs typeface="Times New Roman" panose="02020603050405020304"/>
              </a:rPr>
            </a:br>
            <a:endParaRPr lang="en-IN" b="0" i="0" dirty="0">
              <a:solidFill>
                <a:srgbClr val="333333"/>
              </a:solidFill>
              <a:effectLst/>
              <a:latin typeface="Times New Roman" panose="02020603050405020304"/>
              <a:cs typeface="Times New Roman" panose="02020603050405020304"/>
            </a:endParaRPr>
          </a:p>
          <a:p>
            <a:endParaRPr lang="en-IN" dirty="0">
              <a:latin typeface="Times New Roman" panose="02020603050405020304"/>
              <a:cs typeface="Times New Roman" panose="02020603050405020304"/>
            </a:endParaRPr>
          </a:p>
        </p:txBody>
      </p:sp>
      <p:pic>
        <p:nvPicPr>
          <p:cNvPr id="3" name="Picture 2"/>
          <p:cNvPicPr>
            <a:picLocks noChangeAspect="1"/>
          </p:cNvPicPr>
          <p:nvPr/>
        </p:nvPicPr>
        <p:blipFill>
          <a:blip r:embed="rId2"/>
          <a:stretch>
            <a:fillRect/>
          </a:stretch>
        </p:blipFill>
        <p:spPr>
          <a:xfrm>
            <a:off x="2397642" y="1801061"/>
            <a:ext cx="5907602" cy="251002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2243190" y="253280"/>
            <a:ext cx="6164540"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a:cs typeface="Times New Roman" panose="02020603050405020304"/>
              </a:rPr>
              <a:t>Example </a:t>
            </a:r>
            <a:r>
              <a:rPr lang="en-US" sz="2800" b="1" dirty="0">
                <a:latin typeface="Times New Roman" panose="02020603050405020304"/>
                <a:cs typeface="Times New Roman" panose="02020603050405020304"/>
              </a:rPr>
              <a:t>of </a:t>
            </a:r>
            <a:r>
              <a:rPr lang="en-IN" sz="2800" b="1" dirty="0">
                <a:latin typeface="Times New Roman" panose="02020603050405020304"/>
                <a:cs typeface="Times New Roman" panose="02020603050405020304"/>
              </a:rPr>
              <a:t>Post -Order Traversal</a:t>
            </a:r>
            <a:endParaRPr lang="en-US" sz="2400" dirty="0">
              <a:solidFill>
                <a:schemeClr val="bg1"/>
              </a:solidFill>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Rectangle 1"/>
          <p:cNvSpPr/>
          <p:nvPr/>
        </p:nvSpPr>
        <p:spPr>
          <a:xfrm>
            <a:off x="356259" y="1320731"/>
            <a:ext cx="11732822" cy="1261884"/>
          </a:xfrm>
          <a:prstGeom prst="rect">
            <a:avLst/>
          </a:prstGeom>
        </p:spPr>
        <p:txBody>
          <a:bodyPr wrap="square">
            <a:spAutoFit/>
          </a:bodyPr>
          <a:lstStyle/>
          <a:p>
            <a:r>
              <a:rPr lang="en-IN" sz="2800" dirty="0">
                <a:latin typeface="Times New Roman" panose="02020603050405020304"/>
                <a:cs typeface="Times New Roman" panose="02020603050405020304"/>
              </a:rPr>
              <a:t> </a:t>
            </a:r>
            <a:r>
              <a:rPr lang="en-IN" sz="2400" b="1" i="0" dirty="0">
                <a:effectLst/>
                <a:latin typeface="Times New Roman" panose="02020603050405020304"/>
                <a:cs typeface="Times New Roman" panose="02020603050405020304"/>
              </a:rPr>
              <a:t>Post-Order Traversal for above example binary tree is</a:t>
            </a:r>
            <a:br>
              <a:rPr lang="en-IN" sz="2400" dirty="0">
                <a:latin typeface="Times New Roman" panose="02020603050405020304"/>
                <a:cs typeface="Times New Roman" panose="02020603050405020304"/>
              </a:rPr>
            </a:br>
            <a:r>
              <a:rPr lang="en-IN" sz="2400" dirty="0">
                <a:latin typeface="Times New Roman" panose="02020603050405020304"/>
                <a:cs typeface="Times New Roman" panose="02020603050405020304"/>
              </a:rPr>
              <a:t>                        </a:t>
            </a:r>
            <a:r>
              <a:rPr lang="en-IN" sz="2400" b="1" i="0" dirty="0">
                <a:solidFill>
                  <a:srgbClr val="333333"/>
                </a:solidFill>
                <a:effectLst/>
                <a:latin typeface="Times New Roman" panose="02020603050405020304"/>
                <a:cs typeface="Times New Roman" panose="02020603050405020304"/>
              </a:rPr>
              <a:t>I - J - D - F - B - K - G - H - C - A</a:t>
            </a:r>
            <a:endParaRPr lang="en-IN" sz="2400" b="1" i="0" dirty="0">
              <a:solidFill>
                <a:srgbClr val="333333"/>
              </a:solidFill>
              <a:effectLst/>
              <a:latin typeface="Times New Roman" panose="02020603050405020304"/>
              <a:cs typeface="Times New Roman" panose="02020603050405020304"/>
            </a:endParaRPr>
          </a:p>
          <a:p>
            <a:endParaRPr lang="en-IN" sz="2400" dirty="0">
              <a:latin typeface="Times New Roman" panose="02020603050405020304"/>
              <a:cs typeface="Times New Roman" panose="02020603050405020304"/>
            </a:endParaRPr>
          </a:p>
        </p:txBody>
      </p:sp>
      <p:pic>
        <p:nvPicPr>
          <p:cNvPr id="3" name="Picture 2"/>
          <p:cNvPicPr>
            <a:picLocks noChangeAspect="1"/>
          </p:cNvPicPr>
          <p:nvPr/>
        </p:nvPicPr>
        <p:blipFill>
          <a:blip r:embed="rId2"/>
          <a:stretch>
            <a:fillRect/>
          </a:stretch>
        </p:blipFill>
        <p:spPr>
          <a:xfrm>
            <a:off x="2144038" y="2230718"/>
            <a:ext cx="6669602" cy="28592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2243190" y="253280"/>
            <a:ext cx="6592052"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600" b="1" dirty="0">
                <a:latin typeface="Times New Roman" panose="02020603050405020304"/>
                <a:cs typeface="Times New Roman" panose="02020603050405020304"/>
              </a:rPr>
              <a:t>Expression Tree</a:t>
            </a:r>
            <a:endParaRPr lang="en-IN" sz="3600" b="1" dirty="0">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Content Placeholder 1"/>
          <p:cNvSpPr>
            <a:spLocks noGrp="1"/>
          </p:cNvSpPr>
          <p:nvPr>
            <p:ph idx="1"/>
          </p:nvPr>
        </p:nvSpPr>
        <p:spPr>
          <a:xfrm>
            <a:off x="838199" y="1175656"/>
            <a:ext cx="11072751" cy="5498275"/>
          </a:xfrm>
        </p:spPr>
        <p:txBody>
          <a:bodyPr lIns="91440" tIns="45720" rIns="91440" bIns="45720" anchor="t"/>
          <a:lstStyle/>
          <a:p>
            <a:pPr marL="0" indent="0">
              <a:buNone/>
            </a:pPr>
            <a:r>
              <a:rPr lang="en-IN" sz="2400" b="0" i="0" dirty="0">
                <a:effectLst/>
                <a:latin typeface="Times New Roman" panose="02020603050405020304"/>
                <a:cs typeface="Times New Roman" panose="02020603050405020304"/>
              </a:rPr>
              <a:t>An expression tree is a special type of </a:t>
            </a:r>
            <a:r>
              <a:rPr lang="en-IN" sz="2400" b="1" i="0" dirty="0">
                <a:effectLst/>
                <a:latin typeface="Times New Roman" panose="02020603050405020304"/>
                <a:cs typeface="Times New Roman" panose="02020603050405020304"/>
              </a:rPr>
              <a:t> binary tree </a:t>
            </a:r>
            <a:r>
              <a:rPr lang="en-IN" sz="2400" b="0" i="0" dirty="0">
                <a:effectLst/>
                <a:latin typeface="Times New Roman" panose="02020603050405020304"/>
                <a:cs typeface="Times New Roman" panose="02020603050405020304"/>
              </a:rPr>
              <a:t> that is used to store algebraic expressions.</a:t>
            </a:r>
            <a:r>
              <a:rPr lang="en-IN" sz="2400" dirty="0">
                <a:latin typeface="Times New Roman" panose="02020603050405020304"/>
                <a:cs typeface="Times New Roman" panose="02020603050405020304"/>
              </a:rPr>
              <a:t> </a:t>
            </a:r>
            <a:endParaRPr lang="en-IN" sz="2400" b="0" i="0">
              <a:effectLst/>
              <a:latin typeface="Times New Roman" panose="02020603050405020304"/>
              <a:cs typeface="Times New Roman" panose="02020603050405020304"/>
            </a:endParaRPr>
          </a:p>
          <a:p>
            <a:pPr algn="l" rtl="0"/>
            <a:r>
              <a:rPr lang="en-IN" sz="2400" b="0" i="0" dirty="0">
                <a:effectLst/>
                <a:latin typeface="Times New Roman" panose="02020603050405020304"/>
                <a:cs typeface="Times New Roman" panose="02020603050405020304"/>
              </a:rPr>
              <a:t>Consider the algebraic expression given as: </a:t>
            </a:r>
            <a:r>
              <a:rPr lang="en-IN" sz="2400" b="0" i="0" dirty="0">
                <a:solidFill>
                  <a:srgbClr val="2F3235"/>
                </a:solidFill>
                <a:effectLst/>
                <a:latin typeface="Times New Roman" panose="02020603050405020304"/>
                <a:cs typeface="Times New Roman" panose="02020603050405020304"/>
              </a:rPr>
              <a:t>X = </a:t>
            </a:r>
            <a:r>
              <a:rPr lang="en-IN" sz="2400" b="0" i="0" dirty="0">
                <a:solidFill>
                  <a:srgbClr val="777777"/>
                </a:solidFill>
                <a:effectLst/>
                <a:latin typeface="Times New Roman" panose="02020603050405020304"/>
                <a:cs typeface="Times New Roman" panose="02020603050405020304"/>
              </a:rPr>
              <a:t>(</a:t>
            </a:r>
            <a:r>
              <a:rPr lang="en-IN" sz="2400" b="0" i="0" dirty="0">
                <a:solidFill>
                  <a:srgbClr val="2F3235"/>
                </a:solidFill>
                <a:effectLst/>
                <a:latin typeface="Times New Roman" panose="02020603050405020304"/>
                <a:cs typeface="Times New Roman" panose="02020603050405020304"/>
              </a:rPr>
              <a:t>a + b</a:t>
            </a:r>
            <a:r>
              <a:rPr lang="en-IN" sz="2400" b="0" i="0" dirty="0">
                <a:solidFill>
                  <a:srgbClr val="777777"/>
                </a:solidFill>
                <a:effectLst/>
                <a:latin typeface="Times New Roman" panose="02020603050405020304"/>
                <a:cs typeface="Times New Roman" panose="02020603050405020304"/>
              </a:rPr>
              <a:t>)</a:t>
            </a:r>
            <a:r>
              <a:rPr lang="en-IN" sz="2400" b="0" i="0" dirty="0">
                <a:solidFill>
                  <a:srgbClr val="2F3235"/>
                </a:solidFill>
                <a:effectLst/>
                <a:latin typeface="Times New Roman" panose="02020603050405020304"/>
                <a:cs typeface="Times New Roman" panose="02020603050405020304"/>
              </a:rPr>
              <a:t> - </a:t>
            </a:r>
            <a:r>
              <a:rPr lang="en-IN" sz="2400" b="0" i="0" dirty="0">
                <a:solidFill>
                  <a:srgbClr val="777777"/>
                </a:solidFill>
                <a:effectLst/>
                <a:latin typeface="Times New Roman" panose="02020603050405020304"/>
                <a:cs typeface="Times New Roman" panose="02020603050405020304"/>
              </a:rPr>
              <a:t>(</a:t>
            </a:r>
            <a:r>
              <a:rPr lang="en-IN" sz="2400" b="0" i="0" dirty="0">
                <a:solidFill>
                  <a:srgbClr val="2F3235"/>
                </a:solidFill>
                <a:effectLst/>
                <a:latin typeface="Times New Roman" panose="02020603050405020304"/>
                <a:cs typeface="Times New Roman" panose="02020603050405020304"/>
              </a:rPr>
              <a:t>c </a:t>
            </a:r>
            <a:r>
              <a:rPr lang="en-IN" sz="2400" b="0" i="0" dirty="0">
                <a:solidFill>
                  <a:srgbClr val="777777"/>
                </a:solidFill>
                <a:effectLst/>
                <a:latin typeface="Times New Roman" panose="02020603050405020304"/>
                <a:cs typeface="Times New Roman" panose="02020603050405020304"/>
              </a:rPr>
              <a:t>*</a:t>
            </a:r>
            <a:r>
              <a:rPr lang="en-IN" sz="2400" b="0" i="0" dirty="0">
                <a:solidFill>
                  <a:srgbClr val="2F3235"/>
                </a:solidFill>
                <a:effectLst/>
                <a:latin typeface="Times New Roman" panose="02020603050405020304"/>
                <a:cs typeface="Times New Roman" panose="02020603050405020304"/>
              </a:rPr>
              <a:t> d</a:t>
            </a:r>
            <a:r>
              <a:rPr lang="en-IN" sz="2400" b="0" i="0" dirty="0">
                <a:solidFill>
                  <a:srgbClr val="777777"/>
                </a:solidFill>
                <a:effectLst/>
                <a:latin typeface="Times New Roman" panose="02020603050405020304"/>
                <a:cs typeface="Times New Roman" panose="02020603050405020304"/>
              </a:rPr>
              <a:t>)</a:t>
            </a:r>
            <a:r>
              <a:rPr lang="en-IN" sz="2400" dirty="0">
                <a:solidFill>
                  <a:srgbClr val="333333"/>
                </a:solidFill>
                <a:latin typeface="Times New Roman" panose="02020603050405020304"/>
                <a:cs typeface="Times New Roman" panose="02020603050405020304"/>
              </a:rPr>
              <a:t>. </a:t>
            </a:r>
            <a:r>
              <a:rPr lang="en-IN" sz="2400" b="0" i="0" dirty="0">
                <a:effectLst/>
                <a:latin typeface="Times New Roman" panose="02020603050405020304"/>
                <a:cs typeface="Times New Roman" panose="02020603050405020304"/>
              </a:rPr>
              <a:t>This can be represented using a binary tree as follows:</a:t>
            </a:r>
            <a:endParaRPr lang="en-IN" sz="2400" b="0" i="0" dirty="0">
              <a:effectLst/>
              <a:latin typeface="Times New Roman" panose="02020603050405020304"/>
              <a:cs typeface="Times New Roman" panose="02020603050405020304"/>
            </a:endParaRPr>
          </a:p>
          <a:p>
            <a:pPr algn="l" rtl="0"/>
            <a:endParaRPr lang="en-IN" sz="2400" dirty="0">
              <a:latin typeface="Times New Roman" panose="02020603050405020304"/>
              <a:cs typeface="Times New Roman" panose="02020603050405020304"/>
            </a:endParaRPr>
          </a:p>
          <a:p>
            <a:pPr algn="l" rtl="0"/>
            <a:endParaRPr lang="en-IN" sz="2400" dirty="0">
              <a:latin typeface="Times New Roman" panose="02020603050405020304"/>
              <a:cs typeface="Times New Roman" panose="02020603050405020304"/>
            </a:endParaRPr>
          </a:p>
          <a:p>
            <a:pPr algn="l" rtl="0"/>
            <a:endParaRPr lang="en-IN" sz="2400" dirty="0">
              <a:latin typeface="Times New Roman" panose="02020603050405020304"/>
              <a:cs typeface="Times New Roman" panose="02020603050405020304"/>
            </a:endParaRPr>
          </a:p>
          <a:p>
            <a:pPr marL="0" indent="0" algn="l" rtl="0">
              <a:buNone/>
            </a:pPr>
            <a:endParaRPr lang="en-IN" sz="2400" dirty="0">
              <a:latin typeface="Times New Roman" panose="02020603050405020304"/>
              <a:cs typeface="Times New Roman" panose="02020603050405020304"/>
            </a:endParaRPr>
          </a:p>
          <a:p>
            <a:pPr algn="l" rtl="0"/>
            <a:endParaRPr lang="en-IN" sz="2400" dirty="0">
              <a:latin typeface="Times New Roman" panose="02020603050405020304"/>
              <a:cs typeface="Times New Roman" panose="02020603050405020304"/>
            </a:endParaRPr>
          </a:p>
          <a:p>
            <a:r>
              <a:rPr lang="en-IN" sz="2400" b="0" i="0" dirty="0">
                <a:effectLst/>
                <a:latin typeface="Times New Roman" panose="02020603050405020304"/>
                <a:cs typeface="Times New Roman" panose="02020603050405020304"/>
              </a:rPr>
              <a:t>The </a:t>
            </a:r>
            <a:r>
              <a:rPr lang="en-IN" b="1" i="0" dirty="0">
                <a:effectLst/>
                <a:latin typeface="Times New Roman" panose="02020603050405020304"/>
                <a:cs typeface="Times New Roman" panose="02020603050405020304"/>
              </a:rPr>
              <a:t>in-order traversal </a:t>
            </a:r>
            <a:r>
              <a:rPr lang="en-IN" sz="2400" b="0" i="0" dirty="0">
                <a:effectLst/>
                <a:latin typeface="Times New Roman" panose="02020603050405020304"/>
                <a:cs typeface="Times New Roman" panose="02020603050405020304"/>
              </a:rPr>
              <a:t>of the tree returns the </a:t>
            </a:r>
            <a:r>
              <a:rPr lang="en-IN" b="1" i="0" dirty="0">
                <a:effectLst/>
                <a:latin typeface="Times New Roman" panose="02020603050405020304"/>
                <a:cs typeface="Times New Roman" panose="02020603050405020304"/>
              </a:rPr>
              <a:t>infix expression</a:t>
            </a:r>
            <a:r>
              <a:rPr lang="en-IN" sz="2400" b="0" i="0" dirty="0">
                <a:effectLst/>
                <a:latin typeface="Times New Roman" panose="02020603050405020304"/>
                <a:cs typeface="Times New Roman" panose="02020603050405020304"/>
              </a:rPr>
              <a:t>. </a:t>
            </a:r>
            <a:endParaRPr lang="en-IN" sz="2400" b="0" i="0" dirty="0">
              <a:effectLst/>
              <a:latin typeface="Times New Roman" panose="02020603050405020304"/>
              <a:cs typeface="Times New Roman" panose="02020603050405020304"/>
            </a:endParaRPr>
          </a:p>
          <a:p>
            <a:r>
              <a:rPr lang="en-IN" sz="2400" b="0" i="0" dirty="0">
                <a:effectLst/>
                <a:latin typeface="Times New Roman" panose="02020603050405020304"/>
                <a:cs typeface="Times New Roman" panose="02020603050405020304"/>
              </a:rPr>
              <a:t>Similarly, the </a:t>
            </a:r>
            <a:r>
              <a:rPr lang="en-IN" b="1" i="0" dirty="0">
                <a:effectLst/>
                <a:latin typeface="Times New Roman" panose="02020603050405020304"/>
                <a:cs typeface="Times New Roman" panose="02020603050405020304"/>
              </a:rPr>
              <a:t>pre-order </a:t>
            </a:r>
            <a:r>
              <a:rPr lang="en-IN" sz="2400" b="0" i="0" dirty="0">
                <a:effectLst/>
                <a:latin typeface="Times New Roman" panose="02020603050405020304"/>
                <a:cs typeface="Times New Roman" panose="02020603050405020304"/>
              </a:rPr>
              <a:t>and </a:t>
            </a:r>
            <a:r>
              <a:rPr lang="en-IN" b="1" i="0" dirty="0">
                <a:effectLst/>
                <a:latin typeface="Times New Roman" panose="02020603050405020304"/>
                <a:cs typeface="Times New Roman" panose="02020603050405020304"/>
              </a:rPr>
              <a:t>post-order</a:t>
            </a:r>
            <a:r>
              <a:rPr lang="en-IN" sz="2400" b="0" i="0" dirty="0">
                <a:effectLst/>
                <a:latin typeface="Times New Roman" panose="02020603050405020304"/>
                <a:cs typeface="Times New Roman" panose="02020603050405020304"/>
              </a:rPr>
              <a:t> traversal of the expression tree will return </a:t>
            </a:r>
            <a:r>
              <a:rPr lang="en-IN" b="1" i="0" dirty="0">
                <a:effectLst/>
                <a:latin typeface="Times New Roman" panose="02020603050405020304"/>
                <a:cs typeface="Times New Roman" panose="02020603050405020304"/>
              </a:rPr>
              <a:t>prefix</a:t>
            </a:r>
            <a:r>
              <a:rPr lang="en-IN" sz="2400" b="0" i="0" dirty="0">
                <a:effectLst/>
                <a:latin typeface="Times New Roman" panose="02020603050405020304"/>
                <a:cs typeface="Times New Roman" panose="02020603050405020304"/>
              </a:rPr>
              <a:t> and </a:t>
            </a:r>
            <a:r>
              <a:rPr lang="en-IN" b="1" i="0" dirty="0">
                <a:effectLst/>
                <a:latin typeface="Times New Roman" panose="02020603050405020304"/>
                <a:cs typeface="Times New Roman" panose="02020603050405020304"/>
              </a:rPr>
              <a:t>postfix</a:t>
            </a:r>
            <a:r>
              <a:rPr lang="en-IN" sz="2400" b="0" i="0" dirty="0">
                <a:effectLst/>
                <a:latin typeface="Times New Roman" panose="02020603050405020304"/>
                <a:cs typeface="Times New Roman" panose="02020603050405020304"/>
              </a:rPr>
              <a:t> expression respectively.</a:t>
            </a:r>
            <a:endParaRPr lang="en-IN" sz="3600" dirty="0">
              <a:latin typeface="Times New Roman" panose="02020603050405020304"/>
              <a:cs typeface="Times New Roman" panose="02020603050405020304"/>
            </a:endParaRPr>
          </a:p>
        </p:txBody>
      </p:sp>
      <p:pic>
        <p:nvPicPr>
          <p:cNvPr id="6146" name="Picture 2" descr="Expression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9175" y="3234489"/>
            <a:ext cx="2533650" cy="186535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2243189" y="253280"/>
            <a:ext cx="762520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bg1"/>
                </a:solidFill>
                <a:latin typeface="Times New Roman" panose="02020603050405020304"/>
                <a:cs typeface="Times New Roman" panose="02020603050405020304"/>
              </a:rPr>
              <a:t>Constructing an expression tree</a:t>
            </a:r>
            <a:endParaRPr lang="en-US" sz="2400" dirty="0">
              <a:solidFill>
                <a:schemeClr val="bg1"/>
              </a:solidFill>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Content Placeholder 1"/>
          <p:cNvSpPr>
            <a:spLocks noGrp="1"/>
          </p:cNvSpPr>
          <p:nvPr>
            <p:ph idx="1"/>
          </p:nvPr>
        </p:nvSpPr>
        <p:spPr>
          <a:xfrm>
            <a:off x="320634" y="1167367"/>
            <a:ext cx="10515600" cy="2024197"/>
          </a:xfrm>
        </p:spPr>
        <p:txBody>
          <a:bodyPr lIns="91440" tIns="45720" rIns="91440" bIns="45720" anchor="t"/>
          <a:lstStyle/>
          <a:p>
            <a:r>
              <a:rPr lang="en-IN" sz="2400" b="0" i="0" dirty="0">
                <a:effectLst/>
                <a:latin typeface="Times New Roman" panose="02020603050405020304"/>
                <a:cs typeface="Times New Roman" panose="02020603050405020304"/>
              </a:rPr>
              <a:t>An expression tree can be constructed with the help of a </a:t>
            </a:r>
            <a:r>
              <a:rPr lang="en-IN" b="1" dirty="0">
                <a:solidFill>
                  <a:srgbClr val="141C3A"/>
                </a:solidFill>
                <a:latin typeface="Times New Roman" panose="02020603050405020304"/>
                <a:cs typeface="Times New Roman" panose="02020603050405020304"/>
              </a:rPr>
              <a:t>stack</a:t>
            </a:r>
            <a:r>
              <a:rPr lang="en-IN" sz="2400" dirty="0">
                <a:solidFill>
                  <a:srgbClr val="141C3A"/>
                </a:solidFill>
                <a:latin typeface="Times New Roman" panose="02020603050405020304"/>
                <a:cs typeface="Times New Roman" panose="02020603050405020304"/>
              </a:rPr>
              <a:t>.</a:t>
            </a:r>
            <a:endParaRPr lang="en-IN" sz="2400" dirty="0">
              <a:solidFill>
                <a:srgbClr val="141C3A"/>
              </a:solidFill>
              <a:latin typeface="Times New Roman" panose="02020603050405020304"/>
              <a:cs typeface="Times New Roman" panose="02020603050405020304"/>
            </a:endParaRPr>
          </a:p>
          <a:p>
            <a:pPr algn="l" rtl="0"/>
            <a:r>
              <a:rPr lang="en-IN" sz="2400" b="0" i="0" dirty="0">
                <a:effectLst/>
                <a:latin typeface="Times New Roman" panose="02020603050405020304"/>
                <a:cs typeface="Times New Roman" panose="02020603050405020304"/>
              </a:rPr>
              <a:t>Consider the postfix expression </a:t>
            </a:r>
            <a:r>
              <a:rPr lang="en-IN" sz="2400" b="0" i="0" dirty="0">
                <a:solidFill>
                  <a:srgbClr val="2F3235"/>
                </a:solidFill>
                <a:effectLst/>
                <a:latin typeface="Times New Roman" panose="02020603050405020304"/>
                <a:cs typeface="Times New Roman" panose="02020603050405020304"/>
              </a:rPr>
              <a:t>a b - c *</a:t>
            </a:r>
            <a:endParaRPr lang="en-IN" sz="2400" b="0" i="0">
              <a:solidFill>
                <a:srgbClr val="333333"/>
              </a:solidFill>
              <a:effectLst/>
              <a:latin typeface="Times New Roman" panose="02020603050405020304"/>
              <a:cs typeface="Times New Roman" panose="02020603050405020304"/>
            </a:endParaRPr>
          </a:p>
          <a:p>
            <a:pPr marL="0" indent="0">
              <a:buNone/>
            </a:pPr>
            <a:r>
              <a:rPr lang="en-IN" sz="2400" b="0" i="0" dirty="0">
                <a:effectLst/>
                <a:latin typeface="Times New Roman" panose="02020603050405020304"/>
                <a:cs typeface="Times New Roman" panose="02020603050405020304"/>
              </a:rPr>
              <a:t>The following steps are done to create an expression tree.</a:t>
            </a:r>
            <a:endParaRPr lang="en-IN" sz="2400" b="0" i="0" dirty="0">
              <a:effectLst/>
              <a:latin typeface="Times New Roman" panose="02020603050405020304"/>
              <a:cs typeface="Times New Roman" panose="02020603050405020304"/>
            </a:endParaRPr>
          </a:p>
          <a:p>
            <a:pPr algn="l" fontAlgn="base">
              <a:buFont typeface="Arial" panose="020B0604020202020204" pitchFamily="34" charset="0"/>
              <a:buChar char="•"/>
            </a:pPr>
            <a:r>
              <a:rPr lang="en-IN" sz="2400" b="0" i="0" dirty="0">
                <a:effectLst/>
                <a:latin typeface="Times New Roman" panose="02020603050405020304"/>
                <a:cs typeface="Times New Roman" panose="02020603050405020304"/>
              </a:rPr>
              <a:t>If the character is an operand, PUSH it on to the stack.</a:t>
            </a:r>
            <a:endParaRPr lang="en-IN" sz="2400" b="0" i="0" dirty="0">
              <a:effectLst/>
              <a:latin typeface="Times New Roman" panose="02020603050405020304"/>
              <a:cs typeface="Times New Roman" panose="02020603050405020304"/>
            </a:endParaRPr>
          </a:p>
          <a:p>
            <a:pPr algn="l" fontAlgn="base">
              <a:buFont typeface="Arial" panose="020B0604020202020204" pitchFamily="34" charset="0"/>
              <a:buChar char="•"/>
            </a:pPr>
            <a:r>
              <a:rPr lang="en-IN" sz="2400" b="0" i="0" dirty="0">
                <a:effectLst/>
                <a:latin typeface="Times New Roman" panose="02020603050405020304"/>
                <a:cs typeface="Times New Roman" panose="02020603050405020304"/>
              </a:rPr>
              <a:t>If the character is an operator, POP two values from the stack and insert them as the child of operator. A pointer to the new root is pushed on to the stack.</a:t>
            </a:r>
            <a:endParaRPr lang="en-IN" sz="2400" b="0" i="0" dirty="0">
              <a:effectLst/>
              <a:latin typeface="Times New Roman" panose="02020603050405020304"/>
              <a:cs typeface="Times New Roman" panose="02020603050405020304"/>
            </a:endParaRPr>
          </a:p>
          <a:p>
            <a:pPr marL="0" indent="0" algn="l" fontAlgn="base">
              <a:buNone/>
            </a:pPr>
            <a:r>
              <a:rPr lang="en-IN" sz="2400" b="0" i="0" dirty="0">
                <a:effectLst/>
                <a:latin typeface="Times New Roman" panose="02020603050405020304"/>
                <a:cs typeface="Times New Roman" panose="02020603050405020304"/>
              </a:rPr>
              <a:t>Since the first two characters are operands, PUSH it onto the stack.</a:t>
            </a:r>
            <a:endParaRPr lang="en-IN" sz="2400" b="0" i="0" dirty="0">
              <a:effectLst/>
              <a:latin typeface="Times New Roman" panose="02020603050405020304"/>
              <a:cs typeface="Times New Roman" panose="02020603050405020304"/>
            </a:endParaRPr>
          </a:p>
          <a:p>
            <a:pPr marL="0" indent="0">
              <a:buNone/>
            </a:pPr>
            <a:endParaRPr lang="en-IN" dirty="0">
              <a:latin typeface="Times New Roman" panose="02020603050405020304"/>
              <a:cs typeface="Times New Roman" panose="02020603050405020304"/>
            </a:endParaRPr>
          </a:p>
        </p:txBody>
      </p:sp>
      <p:pic>
        <p:nvPicPr>
          <p:cNvPr id="7170" name="Picture 2" descr="expression tree creation exampl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0563" y="4718025"/>
            <a:ext cx="3352800" cy="590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anose="05000000000000000000" pitchFamily="2" charset="2"/>
              <a:buChar char="Ø"/>
            </a:pPr>
            <a:endParaRPr lang="en-IN" sz="2400" dirty="0">
              <a:latin typeface="Times New Roman" panose="02020603050405020304"/>
              <a:cs typeface="Times New Roman" panose="02020603050405020304"/>
            </a:endParaRPr>
          </a:p>
        </p:txBody>
      </p:sp>
      <p:sp>
        <p:nvSpPr>
          <p:cNvPr id="2" name="Content Placeholder 1"/>
          <p:cNvSpPr>
            <a:spLocks noGrp="1"/>
          </p:cNvSpPr>
          <p:nvPr>
            <p:ph sz="half" idx="1"/>
          </p:nvPr>
        </p:nvSpPr>
        <p:spPr>
          <a:xfrm>
            <a:off x="838200" y="935871"/>
            <a:ext cx="5181600" cy="5241092"/>
          </a:xfrm>
        </p:spPr>
        <p:txBody>
          <a:bodyPr/>
          <a:lstStyle/>
          <a:p>
            <a:pPr marL="0" indent="0" algn="l" rtl="0">
              <a:buNone/>
            </a:pPr>
            <a:r>
              <a:rPr lang="en-IN" sz="2000" b="0" i="0" dirty="0">
                <a:effectLst/>
                <a:latin typeface="Times New Roman" panose="02020603050405020304"/>
                <a:cs typeface="Times New Roman" panose="02020603050405020304"/>
              </a:rPr>
              <a:t>When the (</a:t>
            </a:r>
            <a:r>
              <a:rPr lang="en-IN" sz="2000" b="0" i="0" dirty="0">
                <a:solidFill>
                  <a:srgbClr val="2F3235"/>
                </a:solidFill>
                <a:effectLst/>
                <a:latin typeface="Times New Roman" panose="02020603050405020304"/>
                <a:cs typeface="Times New Roman" panose="02020603050405020304"/>
              </a:rPr>
              <a:t>-)</a:t>
            </a:r>
            <a:r>
              <a:rPr lang="en-IN" sz="2000" b="0" i="0" dirty="0">
                <a:effectLst/>
                <a:latin typeface="Times New Roman" panose="02020603050405020304"/>
                <a:cs typeface="Times New Roman" panose="02020603050405020304"/>
              </a:rPr>
              <a:t>symbol is read, a and be are popped from the stack and is added as the child of node </a:t>
            </a:r>
            <a:r>
              <a:rPr lang="en-IN" sz="2000" b="0" i="0" dirty="0">
                <a:solidFill>
                  <a:srgbClr val="2F3235"/>
                </a:solidFill>
                <a:effectLst/>
                <a:latin typeface="Times New Roman" panose="02020603050405020304"/>
                <a:cs typeface="Times New Roman" panose="02020603050405020304"/>
              </a:rPr>
              <a:t>- </a:t>
            </a:r>
            <a:r>
              <a:rPr lang="en-IN" sz="2000" b="0" i="0" dirty="0">
                <a:effectLst/>
                <a:latin typeface="Times New Roman" panose="02020603050405020304"/>
                <a:cs typeface="Times New Roman" panose="02020603050405020304"/>
              </a:rPr>
              <a:t> A pointer to the new node is now pushed onto the stack.</a:t>
            </a:r>
            <a:endParaRPr lang="en-IN" sz="2000" b="0" i="0" dirty="0">
              <a:effectLst/>
              <a:latin typeface="Times New Roman" panose="02020603050405020304"/>
              <a:cs typeface="Times New Roman" panose="02020603050405020304"/>
            </a:endParaRPr>
          </a:p>
          <a:p>
            <a:pPr marL="0" indent="0" algn="l" rtl="0">
              <a:buNone/>
            </a:pPr>
            <a:endParaRPr lang="en-IN" sz="2000" dirty="0">
              <a:latin typeface="Times New Roman" panose="02020603050405020304"/>
              <a:cs typeface="Times New Roman" panose="02020603050405020304"/>
            </a:endParaRPr>
          </a:p>
          <a:p>
            <a:pPr marL="0" indent="0" algn="l" rtl="0">
              <a:buNone/>
            </a:pPr>
            <a:endParaRPr lang="en-IN" sz="2000" dirty="0">
              <a:latin typeface="Times New Roman" panose="02020603050405020304"/>
              <a:cs typeface="Times New Roman" panose="02020603050405020304"/>
            </a:endParaRPr>
          </a:p>
          <a:p>
            <a:pPr marL="0" indent="0" algn="l" rtl="0">
              <a:buNone/>
            </a:pPr>
            <a:endParaRPr lang="en-IN" sz="2000" dirty="0">
              <a:latin typeface="Times New Roman" panose="02020603050405020304"/>
              <a:cs typeface="Times New Roman" panose="02020603050405020304"/>
            </a:endParaRPr>
          </a:p>
          <a:p>
            <a:pPr marL="0" indent="0" algn="l" rtl="0">
              <a:buNone/>
            </a:pPr>
            <a:endParaRPr lang="en-IN" sz="2000" dirty="0">
              <a:latin typeface="Times New Roman" panose="02020603050405020304"/>
              <a:cs typeface="Times New Roman" panose="02020603050405020304"/>
            </a:endParaRPr>
          </a:p>
          <a:p>
            <a:pPr marL="0" indent="0" algn="l" rtl="0">
              <a:buNone/>
            </a:pPr>
            <a:endParaRPr lang="en-IN" sz="2000" dirty="0">
              <a:latin typeface="Times New Roman" panose="02020603050405020304"/>
              <a:cs typeface="Times New Roman" panose="02020603050405020304"/>
            </a:endParaRPr>
          </a:p>
          <a:p>
            <a:pPr algn="l" rtl="0"/>
            <a:r>
              <a:rPr lang="en-IN" sz="2000" b="0" i="0" dirty="0">
                <a:effectLst/>
                <a:latin typeface="Times New Roman" panose="02020603050405020304"/>
                <a:cs typeface="Times New Roman" panose="02020603050405020304"/>
              </a:rPr>
              <a:t>Now </a:t>
            </a:r>
            <a:r>
              <a:rPr lang="en-IN" sz="2000" b="0" i="0" dirty="0">
                <a:solidFill>
                  <a:srgbClr val="2F3235"/>
                </a:solidFill>
                <a:effectLst/>
                <a:latin typeface="Times New Roman" panose="02020603050405020304"/>
                <a:cs typeface="Times New Roman" panose="02020603050405020304"/>
              </a:rPr>
              <a:t>c</a:t>
            </a:r>
            <a:r>
              <a:rPr lang="en-IN" sz="2000" b="0" i="0" dirty="0">
                <a:effectLst/>
                <a:latin typeface="Times New Roman" panose="02020603050405020304"/>
                <a:cs typeface="Times New Roman" panose="02020603050405020304"/>
              </a:rPr>
              <a:t> is read and is pushed onto the stack.</a:t>
            </a:r>
            <a:endParaRPr lang="en-IN" sz="3200" dirty="0">
              <a:latin typeface="Times New Roman" panose="02020603050405020304"/>
              <a:cs typeface="Times New Roman" panose="02020603050405020304"/>
            </a:endParaRPr>
          </a:p>
          <a:p>
            <a:endParaRPr lang="en-IN" sz="2000" dirty="0">
              <a:latin typeface="Times New Roman" panose="02020603050405020304"/>
              <a:cs typeface="Times New Roman" panose="02020603050405020304"/>
            </a:endParaRPr>
          </a:p>
          <a:p>
            <a:pPr marL="0" indent="0">
              <a:buNone/>
            </a:pPr>
            <a:endParaRPr lang="en-IN" sz="2000" dirty="0">
              <a:latin typeface="Times New Roman" panose="02020603050405020304"/>
              <a:cs typeface="Times New Roman" panose="02020603050405020304"/>
            </a:endParaRPr>
          </a:p>
        </p:txBody>
      </p:sp>
      <p:pic>
        <p:nvPicPr>
          <p:cNvPr id="8194" name="Picture 2" descr="expression tree creation exampl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4651" y="2267108"/>
            <a:ext cx="3638550" cy="1400175"/>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expression tree creation example 3"/>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387553" y="4669288"/>
            <a:ext cx="3638550" cy="140017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6172202" y="935871"/>
            <a:ext cx="7233607" cy="1477328"/>
          </a:xfrm>
          <a:prstGeom prst="rect">
            <a:avLst/>
          </a:prstGeom>
          <a:noFill/>
        </p:spPr>
        <p:txBody>
          <a:bodyPr wrap="square">
            <a:spAutoFit/>
          </a:bodyPr>
          <a:lstStyle/>
          <a:p>
            <a:pPr algn="l" rtl="0"/>
            <a:r>
              <a:rPr lang="en-IN" b="0" i="0" dirty="0">
                <a:effectLst/>
                <a:latin typeface="Times New Roman" panose="02020603050405020304"/>
                <a:cs typeface="Times New Roman" panose="02020603050405020304"/>
              </a:rPr>
              <a:t>Finally, the operator ( </a:t>
            </a:r>
            <a:r>
              <a:rPr lang="en-IN" b="0" i="0" dirty="0">
                <a:solidFill>
                  <a:srgbClr val="777777"/>
                </a:solidFill>
                <a:effectLst/>
                <a:latin typeface="Times New Roman" panose="02020603050405020304"/>
                <a:cs typeface="Times New Roman" panose="02020603050405020304"/>
              </a:rPr>
              <a:t>* )</a:t>
            </a:r>
            <a:r>
              <a:rPr lang="en-IN" b="0" i="0" dirty="0">
                <a:solidFill>
                  <a:srgbClr val="2F3235"/>
                </a:solidFill>
                <a:effectLst/>
                <a:latin typeface="Times New Roman" panose="02020603050405020304"/>
                <a:cs typeface="Times New Roman" panose="02020603050405020304"/>
              </a:rPr>
              <a:t> </a:t>
            </a:r>
            <a:r>
              <a:rPr lang="en-IN" b="0" i="0" dirty="0">
                <a:effectLst/>
                <a:latin typeface="Times New Roman" panose="02020603050405020304"/>
                <a:cs typeface="Times New Roman" panose="02020603050405020304"/>
              </a:rPr>
              <a:t>is read, so we pop </a:t>
            </a:r>
            <a:r>
              <a:rPr lang="en-IN" b="0" i="0" dirty="0">
                <a:solidFill>
                  <a:srgbClr val="2F3235"/>
                </a:solidFill>
                <a:effectLst/>
                <a:latin typeface="Times New Roman" panose="02020603050405020304"/>
                <a:cs typeface="Times New Roman" panose="02020603050405020304"/>
              </a:rPr>
              <a:t>c </a:t>
            </a:r>
            <a:endParaRPr lang="en-IN" b="0" i="0" dirty="0">
              <a:solidFill>
                <a:srgbClr val="333333"/>
              </a:solidFill>
              <a:effectLst/>
              <a:latin typeface="Times New Roman" panose="02020603050405020304"/>
              <a:cs typeface="Times New Roman" panose="02020603050405020304"/>
            </a:endParaRPr>
          </a:p>
          <a:p>
            <a:pPr algn="l" rtl="0"/>
            <a:r>
              <a:rPr lang="en-IN" b="0" i="0" dirty="0">
                <a:effectLst/>
                <a:latin typeface="Times New Roman" panose="02020603050405020304"/>
                <a:cs typeface="Times New Roman" panose="02020603050405020304"/>
              </a:rPr>
              <a:t> and ( </a:t>
            </a:r>
            <a:r>
              <a:rPr lang="en-IN" b="0" i="0" dirty="0">
                <a:solidFill>
                  <a:srgbClr val="2F3235"/>
                </a:solidFill>
                <a:effectLst/>
                <a:latin typeface="Times New Roman" panose="02020603050405020304"/>
                <a:cs typeface="Times New Roman" panose="02020603050405020304"/>
              </a:rPr>
              <a:t>- ) </a:t>
            </a:r>
            <a:r>
              <a:rPr lang="en-IN" b="0" i="0" dirty="0">
                <a:effectLst/>
                <a:latin typeface="Times New Roman" panose="02020603050405020304"/>
                <a:cs typeface="Times New Roman" panose="02020603050405020304"/>
              </a:rPr>
              <a:t>from the stack and add it as the child of node </a:t>
            </a:r>
            <a:r>
              <a:rPr lang="en-IN" b="0" i="0" dirty="0">
                <a:solidFill>
                  <a:srgbClr val="777777"/>
                </a:solidFill>
                <a:effectLst/>
                <a:latin typeface="Times New Roman" panose="02020603050405020304"/>
                <a:cs typeface="Times New Roman" panose="02020603050405020304"/>
              </a:rPr>
              <a:t>*</a:t>
            </a:r>
            <a:endParaRPr lang="en-IN" b="0" i="0" dirty="0">
              <a:solidFill>
                <a:srgbClr val="777777"/>
              </a:solidFill>
              <a:effectLst/>
              <a:latin typeface="Times New Roman" panose="02020603050405020304"/>
              <a:cs typeface="Times New Roman" panose="02020603050405020304"/>
            </a:endParaRPr>
          </a:p>
          <a:p>
            <a:pPr algn="l" rtl="0"/>
            <a:endParaRPr lang="en-IN" dirty="0">
              <a:solidFill>
                <a:srgbClr val="777777"/>
              </a:solidFill>
              <a:latin typeface="Times New Roman" panose="02020603050405020304"/>
              <a:cs typeface="Times New Roman" panose="02020603050405020304"/>
            </a:endParaRPr>
          </a:p>
          <a:p>
            <a:pPr algn="l" rtl="0"/>
            <a:r>
              <a:rPr lang="en-IN" b="0" i="0" dirty="0">
                <a:solidFill>
                  <a:srgbClr val="2F3235"/>
                </a:solidFill>
                <a:effectLst/>
                <a:latin typeface="Times New Roman" panose="02020603050405020304"/>
                <a:cs typeface="Times New Roman" panose="02020603050405020304"/>
              </a:rPr>
              <a:t> </a:t>
            </a:r>
            <a:endParaRPr lang="en-IN" b="0" i="0" dirty="0">
              <a:solidFill>
                <a:srgbClr val="333333"/>
              </a:solidFill>
              <a:effectLst/>
              <a:latin typeface="Times New Roman" panose="02020603050405020304"/>
              <a:cs typeface="Times New Roman" panose="02020603050405020304"/>
            </a:endParaRPr>
          </a:p>
          <a:p>
            <a:r>
              <a:rPr lang="en-IN" b="0" i="0" dirty="0">
                <a:effectLst/>
                <a:latin typeface="Times New Roman" panose="02020603050405020304"/>
                <a:cs typeface="Times New Roman" panose="02020603050405020304"/>
              </a:rPr>
              <a:t>.</a:t>
            </a:r>
            <a:endParaRPr lang="en-IN" dirty="0">
              <a:latin typeface="Times New Roman" panose="02020603050405020304"/>
              <a:cs typeface="Times New Roman" panose="02020603050405020304"/>
            </a:endParaRPr>
          </a:p>
        </p:txBody>
      </p:sp>
      <p:pic>
        <p:nvPicPr>
          <p:cNvPr id="8204" name="Picture 12" descr="expression tree creation exampl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9153" y="2529045"/>
            <a:ext cx="4019550" cy="2276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1396546" y="1578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latin typeface="Times New Roman" panose="02020603050405020304"/>
                <a:cs typeface="Times New Roman" panose="02020603050405020304"/>
              </a:rPr>
              <a:t>IMPORTANT FACTS RELATED TO THE SESSION</a:t>
            </a:r>
            <a:endParaRPr lang="en-US" sz="2400" dirty="0">
              <a:latin typeface="Times New Roman" panose="02020603050405020304"/>
              <a:cs typeface="Times New Roman" panose="02020603050405020304"/>
            </a:endParaRPr>
          </a:p>
        </p:txBody>
      </p:sp>
      <p:pic>
        <p:nvPicPr>
          <p:cNvPr id="31"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7" name="TextBox 16"/>
          <p:cNvSpPr txBox="1"/>
          <p:nvPr/>
        </p:nvSpPr>
        <p:spPr>
          <a:xfrm>
            <a:off x="1397000" y="1252025"/>
            <a:ext cx="10011833" cy="5201424"/>
          </a:xfrm>
          <a:prstGeom prst="rect">
            <a:avLst/>
          </a:prstGeom>
          <a:noFill/>
        </p:spPr>
        <p:txBody>
          <a:bodyPr wrap="square" rtlCol="0">
            <a:spAutoFit/>
          </a:bodyPr>
          <a:lstStyle/>
          <a:p>
            <a:r>
              <a:rPr lang="en-IN" sz="2400" b="1" i="0" dirty="0">
                <a:effectLst/>
                <a:latin typeface="Times New Roman" panose="02020603050405020304" pitchFamily="18" charset="0"/>
                <a:cs typeface="Times New Roman" panose="02020603050405020304" pitchFamily="18" charset="0"/>
              </a:rPr>
              <a:t>Advantages of a Binary Trees </a:t>
            </a:r>
            <a:endParaRPr lang="en-IN" sz="2400" b="1"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Binary trees are conceptually simple and easy to implement.</a:t>
            </a:r>
            <a:endParaRPr lang="en-IN" sz="20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Binary trees provide efficient search and retrieval operations. </a:t>
            </a:r>
            <a:endParaRPr lang="en-IN" sz="20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Traversing a binary tree is a well-defined process, and various algorithms (in-order, pre-order, post-order) allow for easy navigation and processing of all elements in the tree. </a:t>
            </a:r>
            <a:endParaRPr lang="en-IN" sz="2000" b="0" i="0" dirty="0">
              <a:effectLst/>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Disadvantages of </a:t>
            </a:r>
            <a:r>
              <a:rPr lang="en-IN" sz="2400" b="1" i="0" dirty="0">
                <a:effectLst/>
                <a:latin typeface="Times New Roman" panose="02020603050405020304" pitchFamily="18" charset="0"/>
                <a:cs typeface="Times New Roman" panose="02020603050405020304" pitchFamily="18" charset="0"/>
              </a:rPr>
              <a:t>Binary Trees </a:t>
            </a:r>
            <a:endParaRPr lang="en-IN" sz="2400" b="1"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Binary trees can have higher memory overhead compared to other data structures. </a:t>
            </a:r>
            <a:endParaRPr lang="en-IN" sz="20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Although binary trees are conceptually simple, ensuring proper balance and implementing self-balancing mechanisms can add complexity to the code.</a:t>
            </a:r>
            <a:endParaRPr lang="en-IN" sz="20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The performance of a binary search tree can be sensitive to the order in which elements are inserted.</a:t>
            </a:r>
            <a:endParaRPr lang="en-IN" sz="2000" b="0" i="0" dirty="0">
              <a:effectLst/>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Applications/Uses of </a:t>
            </a:r>
            <a:r>
              <a:rPr lang="en-IN" sz="2400" b="1" i="0" dirty="0">
                <a:effectLst/>
                <a:latin typeface="Times New Roman" panose="02020603050405020304" pitchFamily="18" charset="0"/>
                <a:cs typeface="Times New Roman" panose="02020603050405020304" pitchFamily="18" charset="0"/>
              </a:rPr>
              <a:t>Binary Trees </a:t>
            </a:r>
            <a:r>
              <a:rPr lang="en-IN" sz="2400" b="1" dirty="0">
                <a:latin typeface="Times New Roman" panose="02020603050405020304" pitchFamily="18" charset="0"/>
                <a:cs typeface="Times New Roman" panose="02020603050405020304" pitchFamily="18" charset="0"/>
              </a:rPr>
              <a:t>in real life</a:t>
            </a:r>
            <a:endParaRPr lang="en-IN"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File systems in computers often use binary trees to represent the hierarchical structure of directories and file.</a:t>
            </a:r>
            <a:endParaRPr lang="en-IN" sz="20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Binary trees can represent organizational hierarchies in business structures</a:t>
            </a:r>
            <a:endParaRPr lang="en-IN" sz="20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Binary trees are used to represent mathematical expressions in compilers and evaluators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red rectangular sign with white text&#10;&#10;Description automatically generated"/>
          <p:cNvPicPr>
            <a:picLocks noGrp="1" noChangeAspect="1"/>
          </p:cNvPicPr>
          <p:nvPr>
            <p:ph idx="1"/>
          </p:nvPr>
        </p:nvPicPr>
        <p:blipFill>
          <a:blip r:embed="rId1"/>
          <a:stretch>
            <a:fillRect/>
          </a:stretch>
        </p:blipFill>
        <p:spPr>
          <a:xfrm>
            <a:off x="2051050" y="402397"/>
            <a:ext cx="6555317" cy="818092"/>
          </a:xfrm>
        </p:spPr>
      </p:pic>
      <p:pic>
        <p:nvPicPr>
          <p:cNvPr id="6"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TextBox 8"/>
          <p:cNvSpPr txBox="1"/>
          <p:nvPr/>
        </p:nvSpPr>
        <p:spPr>
          <a:xfrm>
            <a:off x="521110" y="1565787"/>
            <a:ext cx="11371006" cy="421653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buAutoNum type="arabicPeriod"/>
            </a:pPr>
            <a:r>
              <a:rPr lang="en-IN" sz="2800" dirty="0">
                <a:latin typeface="Times New Roman" panose="02020603050405020304"/>
                <a:cs typeface="Times New Roman" panose="02020603050405020304"/>
              </a:rPr>
              <a:t>Write </a:t>
            </a:r>
            <a:r>
              <a:rPr lang="en-IN" sz="2800" dirty="0" err="1">
                <a:latin typeface="Times New Roman" panose="02020603050405020304"/>
                <a:cs typeface="Times New Roman" panose="02020603050405020304"/>
              </a:rPr>
              <a:t>Inorder</a:t>
            </a:r>
            <a:r>
              <a:rPr lang="en-IN" sz="2800" dirty="0">
                <a:latin typeface="Times New Roman" panose="02020603050405020304"/>
                <a:cs typeface="Times New Roman" panose="02020603050405020304"/>
              </a:rPr>
              <a:t>, Preorder, Post Order to below tree</a:t>
            </a:r>
            <a:endParaRPr lang="en-IN" sz="2800" dirty="0">
              <a:latin typeface="Times New Roman" panose="02020603050405020304"/>
              <a:cs typeface="Times New Roman" panose="02020603050405020304"/>
            </a:endParaRPr>
          </a:p>
          <a:p>
            <a:endParaRPr lang="en-IN"/>
          </a:p>
          <a:p>
            <a:endParaRPr lang="en-IN"/>
          </a:p>
          <a:p>
            <a:endParaRPr lang="en-IN"/>
          </a:p>
          <a:p>
            <a:endParaRPr lang="en-IN"/>
          </a:p>
          <a:p>
            <a:endParaRPr lang="en-IN" sz="2800" dirty="0">
              <a:latin typeface="Times New Roman" panose="02020603050405020304"/>
              <a:cs typeface="Times New Roman" panose="02020603050405020304"/>
            </a:endParaRPr>
          </a:p>
          <a:p>
            <a:endParaRPr lang="en-IN" sz="2800" dirty="0">
              <a:latin typeface="Times New Roman" panose="02020603050405020304"/>
              <a:cs typeface="Times New Roman" panose="02020603050405020304"/>
            </a:endParaRPr>
          </a:p>
          <a:p>
            <a:endParaRPr lang="en-IN" sz="2800" dirty="0">
              <a:latin typeface="Times New Roman" panose="02020603050405020304"/>
              <a:cs typeface="Times New Roman" panose="02020603050405020304"/>
            </a:endParaRPr>
          </a:p>
          <a:p>
            <a:endParaRPr lang="en-IN" sz="2800" dirty="0">
              <a:latin typeface="Times New Roman" panose="02020603050405020304"/>
              <a:cs typeface="Times New Roman" panose="02020603050405020304"/>
            </a:endParaRPr>
          </a:p>
          <a:p>
            <a:endParaRPr lang="en-IN" sz="2800" dirty="0">
              <a:latin typeface="Times New Roman" panose="02020603050405020304"/>
              <a:cs typeface="Times New Roman" panose="02020603050405020304"/>
            </a:endParaRPr>
          </a:p>
          <a:p>
            <a:r>
              <a:rPr lang="en-IN" sz="2800" dirty="0">
                <a:latin typeface="Times New Roman" panose="02020603050405020304"/>
                <a:cs typeface="Times New Roman" panose="02020603050405020304"/>
              </a:rPr>
              <a:t>2. Draw an Expression Tree to A * B + C / D.</a:t>
            </a:r>
            <a:endParaRPr lang="en-IN" dirty="0">
              <a:ea typeface="Calibri" panose="020F0502020204030204"/>
              <a:cs typeface="Calibri" panose="020F0502020204030204"/>
            </a:endParaRPr>
          </a:p>
        </p:txBody>
      </p:sp>
      <p:pic>
        <p:nvPicPr>
          <p:cNvPr id="10" name="Picture 9" descr="A diagram of a diagram&#10;&#10;Description automatically generated"/>
          <p:cNvPicPr>
            <a:picLocks noChangeAspect="1"/>
          </p:cNvPicPr>
          <p:nvPr/>
        </p:nvPicPr>
        <p:blipFill>
          <a:blip r:embed="rId3"/>
          <a:stretch>
            <a:fillRect/>
          </a:stretch>
        </p:blipFill>
        <p:spPr>
          <a:xfrm>
            <a:off x="3887890" y="2187831"/>
            <a:ext cx="4219575" cy="27527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790158" y="179658"/>
            <a:ext cx="5663451"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a:cs typeface="Times New Roman" panose="02020603050405020304"/>
              </a:rPr>
              <a:t>SUMMARY</a:t>
            </a:r>
            <a:endParaRPr lang="en-US" sz="2400" dirty="0">
              <a:latin typeface="Times New Roman" panose="02020603050405020304"/>
              <a:cs typeface="Times New Roman" panose="02020603050405020304"/>
            </a:endParaRPr>
          </a:p>
        </p:txBody>
      </p:sp>
      <p:pic>
        <p:nvPicPr>
          <p:cNvPr id="17" name="Picture 2" descr="KL Deemed to be University Logo"/>
          <p:cNvPicPr>
            <a:picLocks noChangeAspect="1" noChangeArrowheads="1"/>
          </p:cNvPicPr>
          <p:nvPr/>
        </p:nvPicPr>
        <p:blipFill>
          <a:blip r:embed="rId1"/>
          <a:srcRect/>
          <a:stretch>
            <a:fillRect/>
          </a:stretch>
        </p:blipFill>
        <p:spPr bwMode="auto">
          <a:xfrm>
            <a:off x="137583" y="0"/>
            <a:ext cx="1757892" cy="600076"/>
          </a:xfrm>
          <a:prstGeom prst="rect">
            <a:avLst/>
          </a:prstGeom>
          <a:noFill/>
        </p:spPr>
      </p:pic>
      <p:sp>
        <p:nvSpPr>
          <p:cNvPr id="18" name="TextBox 17"/>
          <p:cNvSpPr txBox="1"/>
          <p:nvPr/>
        </p:nvSpPr>
        <p:spPr>
          <a:xfrm>
            <a:off x="846666" y="848264"/>
            <a:ext cx="10682790" cy="5632311"/>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latin typeface="Times New Roman" panose="02020603050405020304"/>
                <a:cs typeface="Times New Roman" panose="02020603050405020304"/>
              </a:rPr>
              <a:t>Tree data structure is a collection of data (Node) which is organized in hierarchical structure recursively</a:t>
            </a:r>
            <a:endParaRPr lang="en-IN" sz="2400" dirty="0">
              <a:latin typeface="Times New Roman" panose="02020603050405020304"/>
              <a:cs typeface="Times New Roman" panose="02020603050405020304"/>
            </a:endParaRPr>
          </a:p>
          <a:p>
            <a:pPr marL="285750" indent="-285750">
              <a:buFont typeface="Wingdings" panose="05000000000000000000" pitchFamily="2" charset="2"/>
              <a:buChar char="Ø"/>
            </a:pPr>
            <a:r>
              <a:rPr lang="en-IN" sz="2400" dirty="0">
                <a:latin typeface="Times New Roman" panose="02020603050405020304"/>
                <a:cs typeface="Times New Roman" panose="02020603050405020304"/>
              </a:rPr>
              <a:t>A tree in which every node can have a maximum of two children is called Binary Tree.</a:t>
            </a:r>
            <a:endParaRPr lang="en-IN" sz="2400" dirty="0">
              <a:latin typeface="Times New Roman" panose="02020603050405020304"/>
              <a:cs typeface="Times New Roman" panose="02020603050405020304"/>
            </a:endParaRPr>
          </a:p>
          <a:p>
            <a:pPr marL="285750" indent="-285750">
              <a:buFont typeface="Wingdings" panose="05000000000000000000" pitchFamily="2" charset="2"/>
              <a:buChar char="Ø"/>
            </a:pPr>
            <a:r>
              <a:rPr lang="en-IN" sz="2400" dirty="0">
                <a:latin typeface="Times New Roman" panose="02020603050405020304"/>
                <a:cs typeface="Times New Roman" panose="02020603050405020304"/>
              </a:rPr>
              <a:t>Several terminologies are used in tree like follows..</a:t>
            </a:r>
            <a:endParaRPr lang="en-IN" sz="2400" dirty="0">
              <a:latin typeface="Times New Roman" panose="02020603050405020304"/>
              <a:cs typeface="Times New Roman" panose="02020603050405020304"/>
            </a:endParaRPr>
          </a:p>
          <a:p>
            <a:r>
              <a:rPr lang="en-IN" sz="2400" dirty="0">
                <a:latin typeface="Times New Roman" panose="02020603050405020304"/>
                <a:cs typeface="Times New Roman" panose="02020603050405020304"/>
              </a:rPr>
              <a:t>     root, parent, child, height, level, </a:t>
            </a:r>
            <a:r>
              <a:rPr lang="en-IN" sz="2400" dirty="0" err="1">
                <a:latin typeface="Times New Roman" panose="02020603050405020304"/>
                <a:cs typeface="Times New Roman" panose="02020603050405020304"/>
              </a:rPr>
              <a:t>deapth</a:t>
            </a:r>
            <a:r>
              <a:rPr lang="en-IN" sz="2400" dirty="0">
                <a:latin typeface="Times New Roman" panose="02020603050405020304"/>
                <a:cs typeface="Times New Roman" panose="02020603050405020304"/>
              </a:rPr>
              <a:t> and subtree etc….</a:t>
            </a:r>
            <a:endParaRPr lang="en-IN" sz="2400" dirty="0">
              <a:latin typeface="Times New Roman" panose="02020603050405020304"/>
              <a:cs typeface="Times New Roman" panose="02020603050405020304"/>
            </a:endParaRPr>
          </a:p>
          <a:p>
            <a:pPr marL="285750" indent="-285750">
              <a:buFont typeface="Wingdings" panose="05000000000000000000" pitchFamily="2" charset="2"/>
              <a:buChar char="Ø"/>
            </a:pPr>
            <a:r>
              <a:rPr lang="en-IN" sz="2400" dirty="0">
                <a:latin typeface="Times New Roman" panose="02020603050405020304"/>
                <a:cs typeface="Times New Roman" panose="02020603050405020304"/>
              </a:rPr>
              <a:t>In a Binary tree, we perform the following traversals</a:t>
            </a:r>
            <a:endParaRPr lang="en-IN" sz="2400" dirty="0">
              <a:latin typeface="Times New Roman" panose="02020603050405020304"/>
              <a:cs typeface="Times New Roman" panose="02020603050405020304"/>
            </a:endParaRPr>
          </a:p>
          <a:p>
            <a:r>
              <a:rPr lang="en-IN" sz="2400" dirty="0">
                <a:latin typeface="Times New Roman" panose="02020603050405020304"/>
                <a:cs typeface="Times New Roman" panose="02020603050405020304"/>
              </a:rPr>
              <a:t>      i) </a:t>
            </a:r>
            <a:r>
              <a:rPr lang="en-IN" sz="2400" dirty="0" err="1">
                <a:latin typeface="Times New Roman" panose="02020603050405020304"/>
                <a:cs typeface="Times New Roman" panose="02020603050405020304"/>
              </a:rPr>
              <a:t>Inorder</a:t>
            </a:r>
            <a:r>
              <a:rPr lang="en-IN" sz="2400" dirty="0">
                <a:latin typeface="Times New Roman" panose="02020603050405020304"/>
                <a:cs typeface="Times New Roman" panose="02020603050405020304"/>
              </a:rPr>
              <a:t>	ii)  Preorder	iii)  post order	 </a:t>
            </a:r>
            <a:endParaRPr lang="en-IN" sz="2400" dirty="0">
              <a:latin typeface="Times New Roman" panose="02020603050405020304"/>
              <a:cs typeface="Times New Roman" panose="02020603050405020304"/>
            </a:endParaRPr>
          </a:p>
          <a:p>
            <a:endParaRPr lang="en-IN" sz="2400" dirty="0">
              <a:latin typeface="Times New Roman" panose="02020603050405020304"/>
              <a:cs typeface="Times New Roman" panose="02020603050405020304"/>
            </a:endParaRPr>
          </a:p>
          <a:p>
            <a:pPr marL="285750" indent="-285750">
              <a:buFont typeface="Wingdings" panose="05000000000000000000" pitchFamily="2" charset="2"/>
              <a:buChar char="Ø"/>
            </a:pPr>
            <a:r>
              <a:rPr lang="en-IN" sz="2400" dirty="0">
                <a:latin typeface="Times New Roman" panose="02020603050405020304"/>
                <a:cs typeface="Times New Roman" panose="02020603050405020304"/>
              </a:rPr>
              <a:t>An expression tree is a special type of binary tree that is used to store algebraic expressions. In an expression tree, each internal node corresponds to the operator and each leaf node corresponds to the operand.</a:t>
            </a:r>
            <a:endParaRPr lang="en-IN" sz="2400" dirty="0">
              <a:latin typeface="Times New Roman" panose="02020603050405020304"/>
              <a:cs typeface="Times New Roman" panose="02020603050405020304"/>
            </a:endParaRPr>
          </a:p>
          <a:p>
            <a:endParaRPr lang="en-IN" sz="2400" dirty="0">
              <a:latin typeface="Times New Roman" panose="02020603050405020304"/>
              <a:cs typeface="Times New Roman" panose="02020603050405020304"/>
            </a:endParaRPr>
          </a:p>
          <a:p>
            <a:pPr marL="285750" indent="-285750">
              <a:buFont typeface="Wingdings" panose="05000000000000000000" pitchFamily="2" charset="2"/>
              <a:buChar char="Ø"/>
            </a:pPr>
            <a:r>
              <a:rPr lang="en-IN" sz="2400" dirty="0">
                <a:latin typeface="Times New Roman" panose="02020603050405020304"/>
                <a:cs typeface="Times New Roman" panose="02020603050405020304"/>
              </a:rPr>
              <a:t>Advantages, Disadvantages and Applications/Uses of Binary Trees in real life.</a:t>
            </a:r>
            <a:endParaRPr lang="en-IN" sz="2400" dirty="0">
              <a:latin typeface="Times New Roman" panose="02020603050405020304"/>
              <a:cs typeface="Times New Roman" panose="02020603050405020304"/>
            </a:endParaRPr>
          </a:p>
          <a:p>
            <a:endParaRPr lang="en-IN" sz="2400" dirty="0">
              <a:latin typeface="Times New Roman" panose="02020603050405020304"/>
              <a:cs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a:cs typeface="Times New Roman" panose="02020603050405020304"/>
              </a:rPr>
              <a:t>SELF-ASSESSMENT QUESTIONS</a:t>
            </a:r>
            <a:endParaRPr lang="en-US" sz="2400" dirty="0">
              <a:latin typeface="Times New Roman" panose="02020603050405020304"/>
              <a:cs typeface="Times New Roman" panose="02020603050405020304"/>
            </a:endParaRPr>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sz="2400" dirty="0">
                <a:latin typeface="Times New Roman" panose="02020603050405020304"/>
                <a:cs typeface="Times New Roman" panose="02020603050405020304"/>
              </a:rPr>
              <a:t>What is a tree in data structures?</a:t>
            </a:r>
            <a:endParaRPr lang="en-IN" sz="2400" dirty="0">
              <a:latin typeface="Times New Roman" panose="02020603050405020304"/>
              <a:cs typeface="Times New Roman" panose="02020603050405020304"/>
            </a:endParaRPr>
          </a:p>
          <a:p>
            <a:pPr lvl="0"/>
            <a:endParaRPr lang="en-IN" sz="2400" dirty="0">
              <a:latin typeface="Times New Roman" panose="02020603050405020304"/>
              <a:cs typeface="Times New Roman" panose="02020603050405020304"/>
            </a:endParaRPr>
          </a:p>
        </p:txBody>
      </p:sp>
      <p:sp>
        <p:nvSpPr>
          <p:cNvPr id="11" name="Rounded Rectangle 17"/>
          <p:cNvSpPr/>
          <p:nvPr/>
        </p:nvSpPr>
        <p:spPr>
          <a:xfrm>
            <a:off x="102682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IN" dirty="0">
                <a:latin typeface="Times New Roman" panose="02020603050405020304"/>
                <a:cs typeface="Times New Roman" panose="02020603050405020304"/>
              </a:rPr>
              <a:t>a. A hierarchical data structure</a:t>
            </a:r>
            <a:endParaRPr lang="en-IN" dirty="0">
              <a:latin typeface="Times New Roman" panose="02020603050405020304"/>
              <a:cs typeface="Times New Roman" panose="02020603050405020304"/>
            </a:endParaRPr>
          </a:p>
          <a:p>
            <a:pPr>
              <a:lnSpc>
                <a:spcPct val="150000"/>
              </a:lnSpc>
            </a:pPr>
            <a:r>
              <a:rPr lang="en-IN" dirty="0">
                <a:latin typeface="Times New Roman" panose="02020603050405020304"/>
                <a:cs typeface="Times New Roman" panose="02020603050405020304"/>
              </a:rPr>
              <a:t>b. A linear data structure</a:t>
            </a:r>
            <a:endParaRPr lang="en-IN" dirty="0">
              <a:latin typeface="Times New Roman" panose="02020603050405020304"/>
              <a:cs typeface="Times New Roman" panose="02020603050405020304"/>
            </a:endParaRPr>
          </a:p>
          <a:p>
            <a:pPr>
              <a:lnSpc>
                <a:spcPct val="150000"/>
              </a:lnSpc>
            </a:pPr>
            <a:r>
              <a:rPr lang="en-IN" dirty="0">
                <a:latin typeface="Times New Roman" panose="02020603050405020304"/>
                <a:cs typeface="Times New Roman" panose="02020603050405020304"/>
              </a:rPr>
              <a:t>c. A non-linear data structure</a:t>
            </a:r>
            <a:endParaRPr lang="en-IN" dirty="0">
              <a:latin typeface="Times New Roman" panose="02020603050405020304"/>
              <a:cs typeface="Times New Roman" panose="02020603050405020304"/>
            </a:endParaRPr>
          </a:p>
          <a:p>
            <a:pPr>
              <a:lnSpc>
                <a:spcPct val="150000"/>
              </a:lnSpc>
            </a:pPr>
            <a:r>
              <a:rPr lang="en-IN" dirty="0">
                <a:latin typeface="Times New Roman" panose="02020603050405020304"/>
                <a:cs typeface="Times New Roman" panose="02020603050405020304"/>
              </a:rPr>
              <a:t>d. A sequential data structure</a:t>
            </a:r>
            <a:br>
              <a:rPr lang="en-IN" dirty="0">
                <a:latin typeface="Times New Roman" panose="02020603050405020304"/>
                <a:cs typeface="Times New Roman" panose="02020603050405020304"/>
              </a:rPr>
            </a:br>
            <a:endParaRPr lang="en-US" dirty="0">
              <a:latin typeface="Times New Roman" panose="02020603050405020304"/>
              <a:cs typeface="Times New Roman" panose="02020603050405020304"/>
            </a:endParaRPr>
          </a:p>
        </p:txBody>
      </p:sp>
      <p:sp>
        <p:nvSpPr>
          <p:cNvPr id="13" name="Google Shape;502;p17"/>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latin typeface="Times New Roman" panose="02020603050405020304"/>
                <a:cs typeface="Times New Roman" panose="02020603050405020304"/>
              </a:rPr>
              <a:t>In a binary tree, each node has at most how many children?</a:t>
            </a:r>
            <a:br>
              <a:rPr lang="en-IN" sz="2400" dirty="0">
                <a:latin typeface="Times New Roman" panose="02020603050405020304"/>
                <a:cs typeface="Times New Roman" panose="02020603050405020304"/>
              </a:rPr>
            </a:br>
            <a:endParaRPr lang="en-IN" sz="2400" dirty="0">
              <a:latin typeface="Times New Roman" panose="02020603050405020304"/>
              <a:cs typeface="Times New Roman" panose="02020603050405020304"/>
            </a:endParaRPr>
          </a:p>
        </p:txBody>
      </p:sp>
      <p:sp>
        <p:nvSpPr>
          <p:cNvPr id="14" name="Rounded Rectangle 17"/>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latin typeface="Times New Roman" panose="02020603050405020304"/>
                <a:cs typeface="Times New Roman" panose="02020603050405020304"/>
              </a:rPr>
              <a:t>a. 1</a:t>
            </a:r>
            <a:endParaRPr lang="en-IN" dirty="0">
              <a:latin typeface="Times New Roman" panose="02020603050405020304"/>
              <a:cs typeface="Times New Roman" panose="02020603050405020304"/>
            </a:endParaRPr>
          </a:p>
          <a:p>
            <a:r>
              <a:rPr lang="en-IN" dirty="0">
                <a:latin typeface="Times New Roman" panose="02020603050405020304"/>
                <a:cs typeface="Times New Roman" panose="02020603050405020304"/>
              </a:rPr>
              <a:t>b. 2</a:t>
            </a:r>
            <a:endParaRPr lang="en-IN" dirty="0">
              <a:latin typeface="Times New Roman" panose="02020603050405020304"/>
              <a:cs typeface="Times New Roman" panose="02020603050405020304"/>
            </a:endParaRPr>
          </a:p>
          <a:p>
            <a:r>
              <a:rPr lang="en-IN" dirty="0">
                <a:latin typeface="Times New Roman" panose="02020603050405020304"/>
                <a:cs typeface="Times New Roman" panose="02020603050405020304"/>
              </a:rPr>
              <a:t>c. 3</a:t>
            </a:r>
            <a:endParaRPr lang="en-IN" dirty="0">
              <a:latin typeface="Times New Roman" panose="02020603050405020304"/>
              <a:cs typeface="Times New Roman" panose="02020603050405020304"/>
            </a:endParaRPr>
          </a:p>
          <a:p>
            <a:r>
              <a:rPr lang="en-IN" dirty="0">
                <a:latin typeface="Times New Roman" panose="02020603050405020304"/>
                <a:cs typeface="Times New Roman" panose="02020603050405020304"/>
              </a:rPr>
              <a:t>d. 4</a:t>
            </a:r>
            <a:endParaRPr lang="en-IN" dirty="0">
              <a:latin typeface="Times New Roman" panose="02020603050405020304"/>
              <a:cs typeface="Times New Roman" panose="02020603050405020304"/>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a:cs typeface="Times New Roman" panose="02020603050405020304"/>
              </a:rPr>
              <a:t>TERMINAL QUESTIONS</a:t>
            </a:r>
            <a:endParaRPr lang="en-US" sz="2400" dirty="0">
              <a:latin typeface="Times New Roman" panose="02020603050405020304"/>
              <a:cs typeface="Times New Roman" panose="02020603050405020304"/>
            </a:endParaRPr>
          </a:p>
        </p:txBody>
      </p:sp>
      <p:sp>
        <p:nvSpPr>
          <p:cNvPr id="9" name="TextBox 8"/>
          <p:cNvSpPr txBox="1"/>
          <p:nvPr/>
        </p:nvSpPr>
        <p:spPr>
          <a:xfrm>
            <a:off x="900332" y="1167618"/>
            <a:ext cx="9608234" cy="2784737"/>
          </a:xfrm>
          <a:prstGeom prst="rect">
            <a:avLst/>
          </a:prstGeom>
          <a:noFill/>
        </p:spPr>
        <p:txBody>
          <a:bodyPr wrap="square" rtlCol="0">
            <a:spAutoFit/>
          </a:bodyPr>
          <a:lstStyle/>
          <a:p>
            <a:pPr>
              <a:lnSpc>
                <a:spcPct val="200000"/>
              </a:lnSpc>
            </a:pPr>
            <a:r>
              <a:rPr lang="en-US" b="1" dirty="0">
                <a:latin typeface="Times New Roman" panose="02020603050405020304"/>
                <a:cs typeface="Times New Roman" panose="02020603050405020304"/>
              </a:rPr>
              <a:t>1. Define Binary Tree?</a:t>
            </a:r>
            <a:endParaRPr lang="en-US" b="1" dirty="0">
              <a:latin typeface="Times New Roman" panose="02020603050405020304"/>
              <a:cs typeface="Times New Roman" panose="02020603050405020304"/>
            </a:endParaRPr>
          </a:p>
          <a:p>
            <a:pPr>
              <a:lnSpc>
                <a:spcPct val="200000"/>
              </a:lnSpc>
            </a:pPr>
            <a:r>
              <a:rPr lang="en-US" b="1" dirty="0">
                <a:latin typeface="Times New Roman" panose="02020603050405020304"/>
                <a:cs typeface="Times New Roman" panose="02020603050405020304"/>
              </a:rPr>
              <a:t>2. </a:t>
            </a:r>
            <a:r>
              <a:rPr lang="en-IN" b="1" dirty="0">
                <a:latin typeface="Times New Roman" panose="02020603050405020304"/>
                <a:cs typeface="Times New Roman" panose="02020603050405020304"/>
              </a:rPr>
              <a:t>Define the height of a binary tree?</a:t>
            </a:r>
            <a:endParaRPr lang="en-IN" b="1" dirty="0">
              <a:latin typeface="Times New Roman" panose="02020603050405020304"/>
              <a:cs typeface="Times New Roman" panose="02020603050405020304"/>
            </a:endParaRPr>
          </a:p>
          <a:p>
            <a:pPr>
              <a:lnSpc>
                <a:spcPct val="200000"/>
              </a:lnSpc>
            </a:pPr>
            <a:r>
              <a:rPr lang="en-US" b="1" dirty="0">
                <a:latin typeface="Times New Roman" panose="02020603050405020304"/>
                <a:cs typeface="Times New Roman" panose="02020603050405020304"/>
              </a:rPr>
              <a:t>3. </a:t>
            </a:r>
            <a:r>
              <a:rPr lang="en-IN" b="1" i="0" dirty="0">
                <a:effectLst/>
                <a:latin typeface="Times New Roman" panose="02020603050405020304"/>
                <a:cs typeface="Times New Roman" panose="02020603050405020304"/>
              </a:rPr>
              <a:t>What is an in-order traversal of a binary tree?</a:t>
            </a:r>
            <a:endParaRPr lang="en-IN" b="1" i="0" dirty="0">
              <a:effectLst/>
              <a:latin typeface="Times New Roman" panose="02020603050405020304"/>
              <a:cs typeface="Times New Roman" panose="02020603050405020304"/>
            </a:endParaRPr>
          </a:p>
          <a:p>
            <a:pPr>
              <a:lnSpc>
                <a:spcPct val="200000"/>
              </a:lnSpc>
            </a:pPr>
            <a:r>
              <a:rPr lang="en-US" b="1" dirty="0">
                <a:latin typeface="Times New Roman" panose="02020603050405020304"/>
                <a:cs typeface="Times New Roman" panose="02020603050405020304"/>
              </a:rPr>
              <a:t>3. </a:t>
            </a:r>
            <a:r>
              <a:rPr lang="en-IN" b="1" i="0" dirty="0">
                <a:effectLst/>
                <a:latin typeface="Times New Roman" panose="02020603050405020304"/>
                <a:cs typeface="Times New Roman" panose="02020603050405020304"/>
              </a:rPr>
              <a:t>Define a leaf node in the context of a binary tree?</a:t>
            </a:r>
            <a:endParaRPr lang="en-IN" b="1" i="0" dirty="0">
              <a:effectLst/>
              <a:latin typeface="Times New Roman" panose="02020603050405020304"/>
              <a:cs typeface="Times New Roman" panose="02020603050405020304"/>
            </a:endParaRPr>
          </a:p>
          <a:p>
            <a:pPr>
              <a:lnSpc>
                <a:spcPct val="200000"/>
              </a:lnSpc>
            </a:pPr>
            <a:r>
              <a:rPr lang="en-US" b="1" dirty="0">
                <a:latin typeface="Times New Roman" panose="02020603050405020304"/>
                <a:cs typeface="Times New Roman" panose="02020603050405020304"/>
              </a:rPr>
              <a:t>4. </a:t>
            </a:r>
            <a:r>
              <a:rPr lang="en-IN" b="1" i="0" dirty="0">
                <a:effectLst/>
                <a:latin typeface="Times New Roman" panose="02020603050405020304"/>
                <a:cs typeface="Times New Roman" panose="02020603050405020304"/>
              </a:rPr>
              <a:t>Define the term "binary tree traversal.“?</a:t>
            </a:r>
            <a:endParaRPr lang="en-US" b="1" dirty="0">
              <a:latin typeface="Times New Roman" panose="02020603050405020304"/>
              <a:cs typeface="Times New Roman" panose="02020603050405020304"/>
            </a:endParaRPr>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a:cs typeface="Times New Roman" panose="02020603050405020304"/>
              </a:rPr>
              <a:t>REFERENCES FOR FURTHER LEARNING OF THE SESSION</a:t>
            </a:r>
            <a:endParaRPr lang="en-US" sz="2400" dirty="0">
              <a:solidFill>
                <a:schemeClr val="bg1"/>
              </a:solidFill>
              <a:latin typeface="Times New Roman" panose="02020603050405020304"/>
              <a:cs typeface="Times New Roman" panose="02020603050405020304"/>
            </a:endParaRPr>
          </a:p>
        </p:txBody>
      </p:sp>
      <p:sp>
        <p:nvSpPr>
          <p:cNvPr id="9" name="TextBox 8"/>
          <p:cNvSpPr txBox="1"/>
          <p:nvPr/>
        </p:nvSpPr>
        <p:spPr>
          <a:xfrm>
            <a:off x="437195" y="1013239"/>
            <a:ext cx="11509382" cy="4204356"/>
          </a:xfrm>
          <a:prstGeom prst="rect">
            <a:avLst/>
          </a:prstGeom>
          <a:noFill/>
        </p:spPr>
        <p:txBody>
          <a:bodyPr wrap="square" rtlCol="0">
            <a:spAutoFit/>
          </a:bodyPr>
          <a:lstStyle/>
          <a:p>
            <a:pPr>
              <a:lnSpc>
                <a:spcPct val="150000"/>
              </a:lnSpc>
            </a:pPr>
            <a:r>
              <a:rPr lang="en-US" sz="2400" b="1" dirty="0">
                <a:latin typeface="Times New Roman" panose="02020603050405020304"/>
                <a:cs typeface="Times New Roman" panose="02020603050405020304"/>
              </a:rPr>
              <a:t>Reference Books:</a:t>
            </a:r>
            <a:endParaRPr lang="en-US" sz="2400" dirty="0">
              <a:latin typeface="Times New Roman" panose="02020603050405020304"/>
              <a:cs typeface="Times New Roman" panose="02020603050405020304"/>
            </a:endParaRPr>
          </a:p>
          <a:p>
            <a:pPr marL="342900" lvl="1" indent="-342900">
              <a:lnSpc>
                <a:spcPct val="150000"/>
              </a:lnSpc>
              <a:buAutoNum type="arabicPeriod"/>
            </a:pPr>
            <a:r>
              <a:rPr lang="en-IN" dirty="0">
                <a:latin typeface="Times New Roman" panose="02020603050405020304"/>
                <a:cs typeface="Times New Roman" panose="02020603050405020304"/>
              </a:rPr>
              <a:t>"Mark Allen Weiss, Data Structures and Algorithm Analysis in C, 2010 , Second Edition, Pearson Education. </a:t>
            </a:r>
            <a:endParaRPr lang="en-IN" dirty="0">
              <a:latin typeface="Times New Roman" panose="02020603050405020304"/>
              <a:cs typeface="Times New Roman" panose="02020603050405020304"/>
            </a:endParaRPr>
          </a:p>
          <a:p>
            <a:pPr marL="342900" lvl="1" indent="-342900">
              <a:lnSpc>
                <a:spcPct val="150000"/>
              </a:lnSpc>
              <a:buAutoNum type="arabicPeriod"/>
            </a:pPr>
            <a:r>
              <a:rPr lang="en-IN" dirty="0">
                <a:latin typeface="Times New Roman" panose="02020603050405020304"/>
                <a:cs typeface="Times New Roman" panose="02020603050405020304"/>
              </a:rPr>
              <a:t>2. Ellis Horowitz, Fundamentals of Data Structures in C: Second Edition, 2015.</a:t>
            </a:r>
            <a:endParaRPr lang="en-IN" dirty="0">
              <a:latin typeface="Times New Roman" panose="02020603050405020304"/>
              <a:cs typeface="Times New Roman" panose="02020603050405020304"/>
            </a:endParaRPr>
          </a:p>
          <a:p>
            <a:pPr marL="342900" lvl="1" indent="-342900">
              <a:lnSpc>
                <a:spcPct val="150000"/>
              </a:lnSpc>
              <a:buAutoNum type="arabicPeriod"/>
            </a:pPr>
            <a:r>
              <a:rPr lang="en-IN" dirty="0" err="1">
                <a:latin typeface="Times New Roman" panose="02020603050405020304"/>
                <a:cs typeface="Times New Roman" panose="02020603050405020304"/>
              </a:rPr>
              <a:t>A.V.Aho</a:t>
            </a:r>
            <a:r>
              <a:rPr lang="en-IN" dirty="0">
                <a:latin typeface="Times New Roman" panose="02020603050405020304"/>
                <a:cs typeface="Times New Roman" panose="02020603050405020304"/>
              </a:rPr>
              <a:t>, J. E. Hopcroft, and J. D. Ullman, “Data Structures And Algorithms”, Pearson Education, First Edition Reprint 2003. </a:t>
            </a:r>
            <a:endParaRPr lang="en-IN" dirty="0">
              <a:latin typeface="Times New Roman" panose="02020603050405020304"/>
              <a:cs typeface="Times New Roman" panose="02020603050405020304"/>
            </a:endParaRPr>
          </a:p>
          <a:p>
            <a:pPr marL="342900" lvl="1" indent="-342900">
              <a:lnSpc>
                <a:spcPct val="150000"/>
              </a:lnSpc>
              <a:buAutoNum type="arabicPeriod"/>
            </a:pPr>
            <a:r>
              <a:rPr lang="en-US" sz="2400" b="1" dirty="0">
                <a:latin typeface="Times New Roman" panose="02020603050405020304"/>
                <a:cs typeface="Times New Roman" panose="02020603050405020304"/>
              </a:rPr>
              <a:t>Sites and Web links:</a:t>
            </a:r>
            <a:endParaRPr lang="en-US" sz="2400" b="1" dirty="0">
              <a:latin typeface="Times New Roman" panose="02020603050405020304"/>
              <a:cs typeface="Times New Roman" panose="02020603050405020304"/>
            </a:endParaRPr>
          </a:p>
          <a:p>
            <a:pPr lvl="0">
              <a:lnSpc>
                <a:spcPct val="150000"/>
              </a:lnSpc>
            </a:pPr>
            <a:r>
              <a:rPr lang="en-US" dirty="0">
                <a:latin typeface="Times New Roman" panose="02020603050405020304"/>
                <a:cs typeface="Times New Roman" panose="02020603050405020304"/>
              </a:rPr>
              <a:t>1. </a:t>
            </a:r>
            <a:r>
              <a:rPr lang="en-US" dirty="0">
                <a:latin typeface="Times New Roman" panose="02020603050405020304"/>
                <a:cs typeface="Times New Roman" panose="02020603050405020304"/>
                <a:hlinkClick r:id="rId1"/>
              </a:rPr>
              <a:t>https://nptel.ac.in/courses/106102064</a:t>
            </a:r>
            <a:endParaRPr lang="en-IN" dirty="0">
              <a:latin typeface="Times New Roman" panose="02020603050405020304"/>
              <a:cs typeface="Times New Roman" panose="02020603050405020304"/>
            </a:endParaRPr>
          </a:p>
          <a:p>
            <a:pPr lvl="0"/>
            <a:r>
              <a:rPr lang="en-US" dirty="0">
                <a:latin typeface="Times New Roman" panose="02020603050405020304"/>
                <a:cs typeface="Times New Roman" panose="02020603050405020304"/>
                <a:hlinkClick r:id="rId2"/>
              </a:rPr>
              <a:t>2. https://in.udacity.com/course/intro-to-algorithms--cs215</a:t>
            </a:r>
            <a:endParaRPr lang="en-IN" dirty="0">
              <a:latin typeface="Times New Roman" panose="02020603050405020304"/>
              <a:cs typeface="Times New Roman" panose="02020603050405020304"/>
            </a:endParaRPr>
          </a:p>
          <a:p>
            <a:pPr lvl="0"/>
            <a:r>
              <a:rPr lang="en-US" dirty="0">
                <a:latin typeface="Times New Roman" panose="02020603050405020304"/>
                <a:cs typeface="Times New Roman" panose="02020603050405020304"/>
              </a:rPr>
              <a:t>3. </a:t>
            </a:r>
            <a:r>
              <a:rPr lang="en-US" dirty="0">
                <a:latin typeface="Times New Roman" panose="02020603050405020304"/>
                <a:cs typeface="Times New Roman" panose="02020603050405020304"/>
                <a:hlinkClick r:id="rId3"/>
              </a:rPr>
              <a:t>https://www.coursera.org/learn/data-structures?action=enroll</a:t>
            </a:r>
            <a:endParaRPr lang="en-US" dirty="0">
              <a:latin typeface="Times New Roman" panose="02020603050405020304"/>
              <a:cs typeface="Times New Roman" panose="02020603050405020304"/>
            </a:endParaRPr>
          </a:p>
          <a:p>
            <a:pPr>
              <a:lnSpc>
                <a:spcPct val="150000"/>
              </a:lnSpc>
            </a:pPr>
            <a:endParaRPr lang="en-US" dirty="0">
              <a:latin typeface="Times New Roman" panose="02020603050405020304"/>
              <a:cs typeface="Times New Roman" panose="02020603050405020304"/>
            </a:endParaRPr>
          </a:p>
        </p:txBody>
      </p:sp>
      <p:pic>
        <p:nvPicPr>
          <p:cNvPr id="5"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a:cs typeface="Times New Roman" panose="02020603050405020304"/>
            </a:endParaRPr>
          </a:p>
          <a:p>
            <a:pPr algn="ctr"/>
            <a:endParaRPr lang="en-US" sz="2400" b="1" dirty="0">
              <a:latin typeface="Times New Roman" panose="02020603050405020304"/>
              <a:cs typeface="Times New Roman" panose="02020603050405020304"/>
            </a:endParaRPr>
          </a:p>
          <a:p>
            <a:pPr algn="ctr"/>
            <a:r>
              <a:rPr lang="en-US" sz="3200" b="1" dirty="0">
                <a:latin typeface="Times New Roman" panose="02020603050405020304"/>
                <a:cs typeface="Times New Roman" panose="02020603050405020304"/>
              </a:rPr>
              <a:t>THANK YOU</a:t>
            </a:r>
            <a:endParaRPr lang="en-US" sz="3200" b="1" dirty="0">
              <a:latin typeface="Times New Roman" panose="02020603050405020304"/>
              <a:cs typeface="Times New Roman" panose="02020603050405020304"/>
            </a:endParaRPr>
          </a:p>
          <a:p>
            <a:pPr algn="ctr"/>
            <a:endParaRPr lang="en-US" sz="2400" dirty="0">
              <a:latin typeface="Times New Roman" panose="02020603050405020304"/>
              <a:cs typeface="Times New Roman" panose="02020603050405020304"/>
            </a:endParaRPr>
          </a:p>
          <a:p>
            <a:pPr algn="ctr"/>
            <a:endParaRPr lang="en-US" sz="2400" dirty="0">
              <a:latin typeface="Times New Roman" panose="02020603050405020304"/>
              <a:cs typeface="Times New Roman" panose="02020603050405020304"/>
            </a:endParaRPr>
          </a:p>
          <a:p>
            <a:pPr algn="ctr"/>
            <a:endParaRPr lang="en-US" sz="2400" dirty="0">
              <a:latin typeface="Times New Roman" panose="02020603050405020304"/>
              <a:cs typeface="Times New Roman" panose="02020603050405020304"/>
            </a:endParaRPr>
          </a:p>
          <a:p>
            <a:pPr algn="ctr"/>
            <a:endParaRPr lang="en-US" sz="2400" dirty="0">
              <a:latin typeface="Times New Roman" panose="02020603050405020304"/>
              <a:cs typeface="Times New Roman" panose="02020603050405020304"/>
            </a:endParaRPr>
          </a:p>
          <a:p>
            <a:pPr algn="ctr"/>
            <a:r>
              <a:rPr lang="en-US" sz="3600" b="1" dirty="0">
                <a:latin typeface="Times New Roman" panose="02020603050405020304"/>
                <a:cs typeface="Times New Roman" panose="02020603050405020304"/>
              </a:rPr>
              <a:t>Team – Data </a:t>
            </a:r>
            <a:r>
              <a:rPr lang="en-US" sz="3600" b="1" dirty="0" err="1">
                <a:latin typeface="Times New Roman" panose="02020603050405020304"/>
                <a:cs typeface="Times New Roman" panose="02020603050405020304"/>
              </a:rPr>
              <a:t>Sructures</a:t>
            </a:r>
            <a:endParaRPr lang="en-US" sz="3600" b="1" dirty="0">
              <a:latin typeface="Times New Roman" panose="02020603050405020304"/>
              <a:cs typeface="Times New Roman" panose="02020603050405020304"/>
            </a:endParaRPr>
          </a:p>
          <a:p>
            <a:pPr algn="ctr"/>
            <a:endParaRPr lang="en-US" sz="2400" dirty="0">
              <a:solidFill>
                <a:schemeClr val="bg1"/>
              </a:solidFill>
              <a:latin typeface="Times New Roman" panose="02020603050405020304"/>
              <a:cs typeface="Times New Roman" panose="02020603050405020304"/>
            </a:endParaRPr>
          </a:p>
          <a:p>
            <a:pPr algn="ctr"/>
            <a:endParaRPr lang="en-US" sz="2400" dirty="0">
              <a:solidFill>
                <a:schemeClr val="bg1"/>
              </a:solidFill>
              <a:latin typeface="Times New Roman" panose="02020603050405020304"/>
              <a:cs typeface="Times New Roman" panose="02020603050405020304"/>
            </a:endParaRPr>
          </a:p>
          <a:p>
            <a:pPr algn="ctr"/>
            <a:endParaRPr lang="en-US" sz="2400" dirty="0">
              <a:solidFill>
                <a:schemeClr val="bg1"/>
              </a:solidFill>
              <a:latin typeface="Times New Roman" panose="02020603050405020304"/>
              <a:cs typeface="Times New Roman" panose="02020603050405020304"/>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A6ECA-0C1B-4F00-836D-A696F073E5C2}">
  <ds:schemaRefs/>
</ds:datastoreItem>
</file>

<file path=customXml/itemProps2.xml><?xml version="1.0" encoding="utf-8"?>
<ds:datastoreItem xmlns:ds="http://schemas.openxmlformats.org/officeDocument/2006/customXml" ds:itemID="{EBBD0A98-E68B-4DAA-8964-2F739D6D4075}">
  <ds:schemaRefs/>
</ds:datastoreItem>
</file>

<file path=customXml/itemProps3.xml><?xml version="1.0" encoding="utf-8"?>
<ds:datastoreItem xmlns:ds="http://schemas.openxmlformats.org/officeDocument/2006/customXml" ds:itemID="{3DA00F5F-5366-4B1C-9406-30DECA796ABB}">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7599</Words>
  <Application>WPS Presentation</Application>
  <PresentationFormat>Widescreen</PresentationFormat>
  <Paragraphs>265</Paragraphs>
  <Slides>22</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22</vt:i4>
      </vt:variant>
    </vt:vector>
  </HeadingPairs>
  <TitlesOfParts>
    <vt:vector size="37" baseType="lpstr">
      <vt:lpstr>Arial</vt:lpstr>
      <vt:lpstr>SimSun</vt:lpstr>
      <vt:lpstr>Wingdings</vt:lpstr>
      <vt:lpstr>Arial</vt:lpstr>
      <vt:lpstr>Calibri</vt:lpstr>
      <vt:lpstr>Times New Roman</vt:lpstr>
      <vt:lpstr>BioRhyme ExtraBold</vt:lpstr>
      <vt:lpstr>Segoe Print</vt:lpstr>
      <vt:lpstr>Open Sans</vt:lpstr>
      <vt:lpstr>Comfortaa</vt:lpstr>
      <vt:lpstr>Microsoft YaHei</vt:lpstr>
      <vt:lpstr>Arial Unicode MS</vt:lpstr>
      <vt:lpstr>Times New Roman</vt:lpstr>
      <vt:lpstr>Calibri Light</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Anusha M</cp:lastModifiedBy>
  <cp:revision>158</cp:revision>
  <dcterms:created xsi:type="dcterms:W3CDTF">2020-02-08T09:57:00Z</dcterms:created>
  <dcterms:modified xsi:type="dcterms:W3CDTF">2024-12-16T10:36:08Z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447B8E083FCA473098F0E52A781181AC_13</vt:lpwstr>
  </property>
  <property fmtid="{D5CDD505-2E9C-101B-9397-08002B2CF9AE}" pid="4" name="KSOProductBuildVer">
    <vt:lpwstr>1033-12.2.0.19307</vt:lpwstr>
  </property>
</Properties>
</file>