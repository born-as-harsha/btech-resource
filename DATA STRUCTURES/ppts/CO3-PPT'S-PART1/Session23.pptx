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1" r:id="rId3"/>
    <p:sldId id="300" r:id="rId5"/>
    <p:sldId id="258" r:id="rId6"/>
    <p:sldId id="288" r:id="rId7"/>
    <p:sldId id="345" r:id="rId8"/>
    <p:sldId id="346" r:id="rId9"/>
    <p:sldId id="290" r:id="rId10"/>
    <p:sldId id="324" r:id="rId11"/>
    <p:sldId id="339" r:id="rId12"/>
    <p:sldId id="338" r:id="rId13"/>
    <p:sldId id="340" r:id="rId14"/>
    <p:sldId id="341" r:id="rId15"/>
    <p:sldId id="342" r:id="rId16"/>
    <p:sldId id="343" r:id="rId17"/>
    <p:sldId id="299" r:id="rId18"/>
    <p:sldId id="337" r:id="rId19"/>
    <p:sldId id="287" r:id="rId20"/>
    <p:sldId id="301" r:id="rId21"/>
    <p:sldId id="302" r:id="rId22"/>
    <p:sldId id="303"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28" autoAdjust="0"/>
  </p:normalViewPr>
  <p:slideViewPr>
    <p:cSldViewPr snapToGrid="0" showGuides="1">
      <p:cViewPr>
        <p:scale>
          <a:sx n="70" d="100"/>
          <a:sy n="70" d="100"/>
        </p:scale>
        <p:origin x="-69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customXml" Target="../customXml/item3.xml"/><Relationship Id="rId3" Type="http://schemas.openxmlformats.org/officeDocument/2006/relationships/slide" Target="slides/slide1.xml"/><Relationship Id="rId29" Type="http://schemas.openxmlformats.org/officeDocument/2006/relationships/customXml" Target="../customXml/item2.xml"/><Relationship Id="rId28" Type="http://schemas.openxmlformats.org/officeDocument/2006/relationships/customXml" Target="../customXml/item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1.jpe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hyperlink" Target="https://www.coursera.org/learn/data-structures?action=enroll" TargetMode="External"/><Relationship Id="rId2" Type="http://schemas.openxmlformats.org/officeDocument/2006/relationships/hyperlink" Target="https://in.udacity.com/course/intro-to-algorithms--cs215" TargetMode="External"/><Relationship Id="rId1" Type="http://schemas.openxmlformats.org/officeDocument/2006/relationships/hyperlink" Target="https://nptel.ac.in/courses/106102064"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540991" y="1933408"/>
            <a:ext cx="6441743" cy="3413760"/>
          </a:xfrm>
          <a:prstGeom prst="rect">
            <a:avLst/>
          </a:prstGeom>
          <a:noFill/>
          <a:ln>
            <a:noFill/>
          </a:ln>
        </p:spPr>
        <p:txBody>
          <a:bodyPr spcFirstLastPara="1" wrap="square" lIns="91425" tIns="45700" rIns="91425" bIns="45700" anchor="t" anchorCtr="0">
            <a:spAutoFit/>
          </a:bodyPr>
          <a:lstStyle/>
          <a:p>
            <a:pPr algn="ctr"/>
            <a:r>
              <a:rPr lang="en-US" sz="3200" b="1" cap="all" dirty="0">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solidFill>
                <a:srgbClr val="C00000"/>
              </a:solidFill>
              <a:cs typeface="Poppins" panose="00000500000000000000" pitchFamily="2" charset="0"/>
              <a:sym typeface="BioRhyme ExtraBold"/>
            </a:endParaRPr>
          </a:p>
          <a:p>
            <a:pPr algn="ctr"/>
            <a:r>
              <a:rPr lang="en-US" sz="3200" b="1" cap="all" dirty="0">
                <a:solidFill>
                  <a:srgbClr val="C00000"/>
                </a:solidFill>
                <a:cs typeface="Poppins"/>
                <a:sym typeface="BioRhyme ExtraBold"/>
              </a:rPr>
              <a:t>COURSE CODE: </a:t>
            </a:r>
            <a:r>
              <a:rPr lang="en-US" sz="3200" b="1" dirty="0">
                <a:solidFill>
                  <a:schemeClr val="accent1"/>
                </a:solidFill>
              </a:rPr>
              <a:t>24SC1203</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4000" b="1" cap="all" dirty="0">
                <a:solidFill>
                  <a:srgbClr val="C00000"/>
                </a:solidFill>
                <a:effectLst/>
                <a:cs typeface="Poppins" panose="00000500000000000000" pitchFamily="2" charset="0"/>
              </a:rPr>
              <a:t>Name of the topic: </a:t>
            </a:r>
            <a:endParaRPr lang="en-US" sz="4000" b="1" cap="all" dirty="0">
              <a:solidFill>
                <a:srgbClr val="C00000"/>
              </a:solidFill>
              <a:effectLst/>
              <a:cs typeface="Poppins" panose="00000500000000000000" pitchFamily="2" charset="0"/>
            </a:endParaRPr>
          </a:p>
          <a:p>
            <a:pPr marR="0" lvl="0" indent="0" algn="ctr">
              <a:spcBef>
                <a:spcPts val="0"/>
              </a:spcBef>
              <a:spcAft>
                <a:spcPts val="0"/>
              </a:spcAft>
              <a:buNone/>
            </a:pPr>
            <a:r>
              <a:rPr lang="en-US" sz="4000" b="1" dirty="0">
                <a:solidFill>
                  <a:srgbClr val="C00000"/>
                </a:solidFill>
                <a:effectLst/>
                <a:cs typeface="Poppins" panose="00000500000000000000" pitchFamily="2" charset="0"/>
              </a:rPr>
              <a:t>Double Hashing, Rehashing</a:t>
            </a:r>
            <a:endParaRPr lang="en-US" sz="4000" b="1" dirty="0">
              <a:solidFill>
                <a:srgbClr val="C00000"/>
              </a:solidFill>
              <a:effectLst/>
              <a:cs typeface="Poppins" panose="00000500000000000000" pitchFamily="2" charset="0"/>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a:solidFill>
                  <a:srgbClr val="C00000"/>
                </a:solidFill>
                <a:cs typeface="Poppins" pitchFamily="2" charset="77"/>
              </a:rPr>
              <a:t>Department of </a:t>
            </a:r>
            <a:r>
              <a:rPr lang="en-US" sz="4000">
                <a:solidFill>
                  <a:srgbClr val="FF0000"/>
                </a:solidFill>
              </a:rPr>
              <a:t>BES-I</a:t>
            </a:r>
            <a:endParaRPr lang="en-US" sz="4000">
              <a:solidFill>
                <a:srgbClr val="FF0000"/>
              </a:solidFill>
              <a:cs typeface="Poppins" pitchFamily="2" charset="77"/>
            </a:endParaRPr>
          </a:p>
        </p:txBody>
      </p:sp>
      <p:sp>
        <p:nvSpPr>
          <p:cNvPr id="8" name="Google Shape;502;p17"/>
          <p:cNvSpPr/>
          <p:nvPr/>
        </p:nvSpPr>
        <p:spPr>
          <a:xfrm>
            <a:off x="7275529" y="585675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ea typeface="Calibri" panose="020F0502020204030204"/>
                <a:cs typeface="Poppins" panose="00000500000000000000" pitchFamily="2" charset="0"/>
                <a:sym typeface="Calibri" panose="020F0502020204030204"/>
              </a:rPr>
              <a:t>Session – 23</a:t>
            </a:r>
            <a:endParaRPr sz="240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2"/>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AIM OF THE SESSION</a:t>
            </a:r>
            <a:endParaRPr lang="en-US" sz="2400"/>
          </a:p>
        </p:txBody>
      </p:sp>
      <p:sp>
        <p:nvSpPr>
          <p:cNvPr id="5" name="TextBox 4"/>
          <p:cNvSpPr txBox="1"/>
          <p:nvPr/>
        </p:nvSpPr>
        <p:spPr>
          <a:xfrm>
            <a:off x="914400" y="684469"/>
            <a:ext cx="10731286" cy="7867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Times New Roman" panose="02020603050405020304"/>
                <a:cs typeface="Times New Roman" panose="02020603050405020304"/>
              </a:rPr>
              <a:t>To familiarize students with the basic concept of Double Hashing, and Rehashing</a:t>
            </a:r>
            <a:endParaRPr lang="en-US" sz="1600" b="0" i="0" dirty="0">
              <a:effectLst/>
              <a:latin typeface="Times New Roman" panose="02020603050405020304"/>
              <a:cs typeface="Times New Roman" panose="02020603050405020304"/>
            </a:endParaRPr>
          </a:p>
          <a:p>
            <a:pPr>
              <a:lnSpc>
                <a:spcPct val="150000"/>
              </a:lnSpc>
            </a:pPr>
            <a:endParaRPr lang="en-US" sz="1600" b="0" i="0" dirty="0">
              <a:effectLst/>
              <a:latin typeface="Times New Roman" panose="02020603050405020304"/>
              <a:cs typeface="Times New Roman" panose="02020603050405020304"/>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INSTRUCTIONAL OBJECTIVES</a:t>
            </a:r>
            <a:endParaRPr lang="en-US" sz="2400"/>
          </a:p>
        </p:txBody>
      </p:sp>
      <p:sp>
        <p:nvSpPr>
          <p:cNvPr id="9" name="TextBox 8"/>
          <p:cNvSpPr txBox="1"/>
          <p:nvPr/>
        </p:nvSpPr>
        <p:spPr>
          <a:xfrm>
            <a:off x="1752600" y="2438605"/>
            <a:ext cx="9801454"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a:cs typeface="Times New Roman" panose="02020603050405020304"/>
              </a:rPr>
              <a:t>This</a:t>
            </a:r>
            <a:r>
              <a:rPr lang="en-US" sz="1600" b="0" i="0" dirty="0">
                <a:effectLst/>
                <a:latin typeface="Times New Roman" panose="02020603050405020304"/>
                <a:cs typeface="Times New Roman" panose="02020603050405020304"/>
              </a:rPr>
              <a:t> </a:t>
            </a:r>
            <a:r>
              <a:rPr lang="en-US" sz="1600" dirty="0">
                <a:latin typeface="Times New Roman" panose="02020603050405020304"/>
                <a:cs typeface="Times New Roman" panose="02020603050405020304"/>
              </a:rPr>
              <a:t>Session</a:t>
            </a:r>
            <a:r>
              <a:rPr lang="en-US" sz="1600" b="0" i="0" dirty="0">
                <a:effectLst/>
                <a:latin typeface="Times New Roman" panose="02020603050405020304"/>
                <a:cs typeface="Times New Roman" panose="02020603050405020304"/>
              </a:rPr>
              <a:t> is designed to: </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Demonstrate </a:t>
            </a:r>
            <a:r>
              <a:rPr lang="en-US" sz="1600" dirty="0">
                <a:effectLst/>
                <a:latin typeface="Times New Roman" panose="02020603050405020304"/>
                <a:cs typeface="Times New Roman" panose="02020603050405020304"/>
                <a:sym typeface="+mn-ea"/>
              </a:rPr>
              <a:t>Double Hashing, and Rehashing</a:t>
            </a:r>
            <a:endParaRPr lang="en-US" sz="1600" b="0" i="0" dirty="0">
              <a:effectLst/>
              <a:latin typeface="Times New Roman" panose="02020603050405020304"/>
              <a:cs typeface="Times New Roman" panose="02020603050405020304"/>
            </a:endParaRPr>
          </a:p>
          <a:p>
            <a:pPr marL="342900" indent="-342900">
              <a:buAutoNum type="arabicPeriod"/>
            </a:pPr>
            <a:r>
              <a:rPr lang="en-US" sz="1600" dirty="0">
                <a:latin typeface="Times New Roman" panose="02020603050405020304"/>
                <a:cs typeface="Times New Roman" panose="02020603050405020304"/>
              </a:rPr>
              <a:t>List out the advantages and applications of Double hashing and Rehashing techniques.</a:t>
            </a:r>
            <a:endParaRPr lang="en-US" sz="1600" dirty="0">
              <a:latin typeface="Times New Roman" panose="02020603050405020304"/>
              <a:cs typeface="Times New Roman" panose="02020603050405020304"/>
            </a:endParaRPr>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LEARNING OUTCOMES</a:t>
            </a:r>
            <a:endParaRPr lang="en-US" sz="240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765771"/>
            <a:ext cx="914400" cy="914400"/>
          </a:xfrm>
          <a:prstGeom prst="rect">
            <a:avLst/>
          </a:prstGeom>
        </p:spPr>
      </p:pic>
      <p:sp>
        <p:nvSpPr>
          <p:cNvPr id="37" name="TextBox 36"/>
          <p:cNvSpPr txBox="1"/>
          <p:nvPr/>
        </p:nvSpPr>
        <p:spPr>
          <a:xfrm>
            <a:off x="1752600" y="4763050"/>
            <a:ext cx="9599478" cy="133261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a:cs typeface="Times New Roman" panose="02020603050405020304"/>
              </a:rPr>
              <a:t>At the end of this </a:t>
            </a:r>
            <a:r>
              <a:rPr lang="en-US" sz="1600" dirty="0">
                <a:latin typeface="Times New Roman" panose="02020603050405020304"/>
                <a:cs typeface="Times New Roman" panose="02020603050405020304"/>
              </a:rPr>
              <a:t>session</a:t>
            </a:r>
            <a:r>
              <a:rPr lang="en-US" sz="1600" b="0" i="0" dirty="0">
                <a:effectLst/>
                <a:latin typeface="Times New Roman" panose="02020603050405020304"/>
                <a:cs typeface="Times New Roman" panose="02020603050405020304"/>
              </a:rPr>
              <a:t>, you should be able to:</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Define </a:t>
            </a:r>
            <a:r>
              <a:rPr lang="en-US" sz="1600" dirty="0">
                <a:effectLst/>
                <a:latin typeface="Times New Roman" panose="02020603050405020304"/>
                <a:cs typeface="Times New Roman" panose="02020603050405020304"/>
                <a:sym typeface="+mn-ea"/>
              </a:rPr>
              <a:t>Double Hashing, Rehashing</a:t>
            </a:r>
            <a:r>
              <a:rPr lang="en-US" sz="1600" dirty="0">
                <a:latin typeface="Times New Roman" panose="02020603050405020304"/>
                <a:cs typeface="Times New Roman" panose="02020603050405020304"/>
                <a:sym typeface="+mn-ea"/>
              </a:rPr>
              <a:t>.</a:t>
            </a:r>
            <a:endParaRPr lang="en-US" sz="1600" b="0" i="0" dirty="0">
              <a:effectLst/>
              <a:latin typeface="Times New Roman" panose="02020603050405020304"/>
              <a:cs typeface="Times New Roman" panose="02020603050405020304"/>
            </a:endParaRPr>
          </a:p>
          <a:p>
            <a:pPr marL="342900" indent="-342900">
              <a:buAutoNum type="arabicPeriod"/>
            </a:pPr>
            <a:r>
              <a:rPr lang="en-US" sz="1600" b="0" i="0" dirty="0">
                <a:effectLst/>
                <a:latin typeface="Times New Roman" panose="02020603050405020304"/>
                <a:cs typeface="Times New Roman" panose="02020603050405020304"/>
              </a:rPr>
              <a:t>Describe process of both Double hashing and Rehashing techniques.</a:t>
            </a:r>
            <a:r>
              <a:rPr lang="en-US" sz="1600" dirty="0">
                <a:latin typeface="Times New Roman" panose="02020603050405020304"/>
                <a:cs typeface="Times New Roman" panose="02020603050405020304"/>
              </a:rPr>
              <a:t>.</a:t>
            </a:r>
            <a:endParaRPr lang="en-US" sz="1600" dirty="0">
              <a:latin typeface="Times New Roman" panose="02020603050405020304"/>
              <a:cs typeface="Times New Roman" panose="02020603050405020304"/>
            </a:endParaRPr>
          </a:p>
          <a:p>
            <a:pPr marL="342900" indent="-342900">
              <a:buAutoNum type="arabicPeriod"/>
            </a:pPr>
            <a:r>
              <a:rPr lang="en-US" sz="1600" dirty="0">
                <a:latin typeface="Times New Roman" panose="02020603050405020304"/>
                <a:cs typeface="Times New Roman" panose="02020603050405020304"/>
              </a:rPr>
              <a:t>Summarize definition, process and its advantages and disadvantages and also applications</a:t>
            </a:r>
            <a:endParaRPr lang="en-US" sz="1600" dirty="0">
              <a:latin typeface="Times New Roman" panose="02020603050405020304"/>
              <a:cs typeface="Times New Roman" panose="02020603050405020304"/>
            </a:endParaRPr>
          </a:p>
        </p:txBody>
      </p:sp>
      <p:pic>
        <p:nvPicPr>
          <p:cNvPr id="12" name="Picture 2" descr="KL Deemed to be University Logo"/>
          <p:cNvPicPr>
            <a:picLocks noChangeAspect="1" noChangeArrowheads="1"/>
          </p:cNvPicPr>
          <p:nvPr/>
        </p:nvPicPr>
        <p:blipFill>
          <a:blip r:embed="rId7"/>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1579245" y="84455"/>
            <a:ext cx="8324215" cy="6508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Times New Roman" panose="02020603050405020304" pitchFamily="18" charset="0"/>
                <a:cs typeface="Times New Roman" panose="02020603050405020304" pitchFamily="18" charset="0"/>
              </a:rPr>
              <a:t>Double Hashing</a:t>
            </a:r>
            <a:endParaRPr lang="en-US" sz="36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endParaRPr>
          </a:p>
        </p:txBody>
      </p:sp>
      <p:pic>
        <p:nvPicPr>
          <p:cNvPr id="4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3" name="TextBox 52"/>
          <p:cNvSpPr txBox="1"/>
          <p:nvPr/>
        </p:nvSpPr>
        <p:spPr>
          <a:xfrm>
            <a:off x="286603" y="817957"/>
            <a:ext cx="11587576" cy="5731510"/>
          </a:xfrm>
          <a:prstGeom prst="rect">
            <a:avLst/>
          </a:prstGeom>
          <a:noFill/>
        </p:spPr>
        <p:txBody>
          <a:bodyPr wrap="square" lIns="91440" tIns="45720" rIns="91440" bIns="45720" rtlCol="0" anchor="t">
            <a:noAutofit/>
          </a:bodyPr>
          <a:lstStyle/>
          <a:p>
            <a:pPr marL="342900" indent="-342900" algn="just">
              <a:lnSpc>
                <a:spcPct val="150000"/>
              </a:lnSpc>
              <a:buFont typeface="Arial" panose="020B0604020202020204"/>
              <a:buChar char="•"/>
            </a:pPr>
            <a:r>
              <a:rPr lang="en-IN" sz="2400" b="1" dirty="0">
                <a:latin typeface="Times New Roman" panose="02020603050405020304"/>
                <a:cs typeface="Times New Roman" panose="02020603050405020304"/>
              </a:rPr>
              <a:t>Double hashing </a:t>
            </a:r>
            <a:r>
              <a:rPr lang="en-IN" sz="2400" dirty="0">
                <a:latin typeface="Times New Roman" panose="02020603050405020304"/>
                <a:cs typeface="Times New Roman" panose="02020603050405020304"/>
              </a:rPr>
              <a:t>is a collision resolution technique that utilizes two hash functions to handle collisions when multiple keys map to the same index in a hash table.</a:t>
            </a:r>
            <a:endParaRPr lang="en-IN" sz="2400" dirty="0">
              <a:latin typeface="Times New Roman" panose="02020603050405020304"/>
              <a:cs typeface="Times New Roman" panose="02020603050405020304"/>
            </a:endParaRPr>
          </a:p>
          <a:p>
            <a:pPr marL="342900" indent="-342900" algn="just">
              <a:lnSpc>
                <a:spcPct val="150000"/>
              </a:lnSpc>
              <a:buFont typeface="Arial" panose="020B0604020202020204"/>
              <a:buChar char="•"/>
            </a:pPr>
            <a:r>
              <a:rPr lang="en-IN" sz="2400" dirty="0">
                <a:latin typeface="Times New Roman" panose="02020603050405020304"/>
                <a:cs typeface="Times New Roman" panose="02020603050405020304"/>
              </a:rPr>
              <a:t>First hash function is typically </a:t>
            </a:r>
            <a:r>
              <a:rPr lang="en-IN" sz="2400" b="1" dirty="0">
                <a:latin typeface="Times New Roman" panose="02020603050405020304"/>
                <a:cs typeface="Times New Roman" panose="02020603050405020304"/>
              </a:rPr>
              <a:t>hash1(key) = key % TABLE_SIZE</a:t>
            </a:r>
            <a:endParaRPr lang="en-IN" sz="2400" b="1" dirty="0">
              <a:latin typeface="Times New Roman" panose="02020603050405020304"/>
              <a:cs typeface="Times New Roman" panose="02020603050405020304"/>
            </a:endParaRPr>
          </a:p>
          <a:p>
            <a:pPr marL="342900" indent="-342900" algn="just">
              <a:lnSpc>
                <a:spcPct val="150000"/>
              </a:lnSpc>
              <a:buFont typeface="Arial" panose="020B0604020202020204"/>
              <a:buChar char="•"/>
            </a:pPr>
            <a:r>
              <a:rPr lang="en-IN" sz="2400" dirty="0">
                <a:latin typeface="Times New Roman" panose="02020603050405020304"/>
                <a:cs typeface="Times New Roman" panose="02020603050405020304"/>
              </a:rPr>
              <a:t>Whenever collision occurs, second hash function is </a:t>
            </a:r>
            <a:endParaRPr lang="en-IN" sz="2400" dirty="0">
              <a:latin typeface="Times New Roman" panose="02020603050405020304"/>
              <a:cs typeface="Calibri" panose="020F0502020204030204"/>
            </a:endParaRPr>
          </a:p>
          <a:p>
            <a:pPr algn="just">
              <a:lnSpc>
                <a:spcPct val="150000"/>
              </a:lnSpc>
            </a:pPr>
            <a:r>
              <a:rPr lang="en-IN" sz="2400" dirty="0">
                <a:latin typeface="Times New Roman" panose="02020603050405020304"/>
                <a:cs typeface="Times New Roman" panose="02020603050405020304"/>
              </a:rPr>
              <a:t>      </a:t>
            </a:r>
            <a:r>
              <a:rPr lang="en-IN" sz="2400" b="1" dirty="0">
                <a:latin typeface="Times New Roman" panose="02020603050405020304"/>
                <a:cs typeface="Times New Roman" panose="02020603050405020304"/>
              </a:rPr>
              <a:t>hash2(key) = PRIME – (key % PRIME) </a:t>
            </a:r>
            <a:endParaRPr lang="en-IN" sz="2400" b="1" dirty="0">
              <a:latin typeface="Times New Roman" panose="02020603050405020304"/>
              <a:cs typeface="Calibri" panose="020F0502020204030204"/>
            </a:endParaRPr>
          </a:p>
          <a:p>
            <a:pPr algn="just">
              <a:lnSpc>
                <a:spcPct val="150000"/>
              </a:lnSpc>
            </a:pPr>
            <a:r>
              <a:rPr lang="en-IN" sz="2400" dirty="0">
                <a:latin typeface="Times New Roman" panose="02020603050405020304"/>
                <a:cs typeface="Times New Roman" panose="02020603050405020304"/>
              </a:rPr>
              <a:t>     where PRIME is a prime smaller than the TABLE_SIZE.</a:t>
            </a:r>
            <a:endParaRPr lang="en-IN" sz="2400" dirty="0">
              <a:latin typeface="Times New Roman" panose="02020603050405020304"/>
              <a:cs typeface="Calibri" panose="020F0502020204030204"/>
            </a:endParaRPr>
          </a:p>
          <a:p>
            <a:pPr marL="342900" indent="-342900" algn="just">
              <a:lnSpc>
                <a:spcPct val="150000"/>
              </a:lnSpc>
              <a:buFont typeface="Arial" panose="020B0604020202020204"/>
              <a:buChar char="•"/>
            </a:pPr>
            <a:r>
              <a:rPr lang="en-IN" sz="2400" dirty="0">
                <a:latin typeface="Times New Roman" panose="02020603050405020304"/>
                <a:cs typeface="Times New Roman" panose="02020603050405020304"/>
              </a:rPr>
              <a:t>Then calculate </a:t>
            </a:r>
            <a:r>
              <a:rPr lang="en-IN" sz="2400" b="1" dirty="0">
                <a:latin typeface="Times New Roman" panose="02020603050405020304"/>
                <a:cs typeface="Times New Roman" panose="02020603050405020304"/>
              </a:rPr>
              <a:t>h(key, i ) = (hash1(key) + i * hash2(key)) % </a:t>
            </a:r>
            <a:r>
              <a:rPr lang="en-IN" sz="2400" b="1" dirty="0" err="1">
                <a:latin typeface="Times New Roman" panose="02020603050405020304"/>
                <a:cs typeface="Times New Roman" panose="02020603050405020304"/>
              </a:rPr>
              <a:t>tableSize</a:t>
            </a:r>
            <a:r>
              <a:rPr lang="en-IN" sz="2400" b="1" dirty="0">
                <a:latin typeface="Times New Roman" panose="02020603050405020304"/>
                <a:cs typeface="Times New Roman" panose="02020603050405020304"/>
              </a:rPr>
              <a:t> </a:t>
            </a:r>
            <a:endParaRPr lang="en-IN" sz="2400" b="1" dirty="0">
              <a:latin typeface="Times New Roman" panose="02020603050405020304"/>
              <a:cs typeface="Times New Roman" panose="02020603050405020304"/>
            </a:endParaRPr>
          </a:p>
          <a:p>
            <a:pPr algn="just"/>
            <a:r>
              <a:rPr lang="en-IN" sz="2800" dirty="0">
                <a:latin typeface="Times New Roman" panose="02020603050405020304"/>
                <a:ea typeface="+mn-lt"/>
                <a:cs typeface="Times New Roman" panose="02020603050405020304"/>
              </a:rPr>
              <a:t>     </a:t>
            </a:r>
            <a:r>
              <a:rPr lang="en-IN" sz="2400" dirty="0">
                <a:latin typeface="Times New Roman" panose="02020603050405020304"/>
                <a:ea typeface="+mn-lt"/>
                <a:cs typeface="Times New Roman" panose="02020603050405020304"/>
              </a:rPr>
              <a:t>Where, i is the probe count, starting from 1 and incrementing for each failed attempt.</a:t>
            </a:r>
            <a:endParaRPr lang="en-US" sz="2400" dirty="0">
              <a:latin typeface="Times New Roman" panose="02020603050405020304"/>
              <a:ea typeface="+mn-lt"/>
              <a:cs typeface="Times New Roman" panose="02020603050405020304"/>
            </a:endParaRPr>
          </a:p>
          <a:p>
            <a:pPr marL="342900" indent="-342900" algn="just">
              <a:buFont typeface="Arial,Sans-Serif"/>
              <a:buChar char="•"/>
            </a:pPr>
            <a:endParaRPr lang="en-IN" sz="2200" dirty="0">
              <a:solidFill>
                <a:srgbClr val="1F1F1F"/>
              </a:solidFill>
              <a:latin typeface="Times New Roman" panose="02020603050405020304"/>
              <a:ea typeface="+mn-lt"/>
              <a:cs typeface="Times New Roman" panose="02020603050405020304"/>
            </a:endParaRPr>
          </a:p>
          <a:p>
            <a:pPr marL="342900" indent="-342900" algn="just">
              <a:lnSpc>
                <a:spcPct val="150000"/>
              </a:lnSpc>
              <a:buFont typeface="Arial" panose="020B0604020202020204"/>
              <a:buChar char="•"/>
            </a:pPr>
            <a:endParaRPr lang="en-IN" sz="2200" b="1" dirty="0">
              <a:latin typeface="Times New Roman" panose="02020603050405020304"/>
              <a:ea typeface="+mn-lt"/>
              <a:cs typeface="Times New Roman" panose="02020603050405020304"/>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Content Placeholder 2"/>
          <p:cNvSpPr>
            <a:spLocks noGrp="1"/>
          </p:cNvSpPr>
          <p:nvPr>
            <p:ph sz="half" idx="1"/>
          </p:nvPr>
        </p:nvSpPr>
        <p:spPr>
          <a:xfrm>
            <a:off x="450376" y="779357"/>
            <a:ext cx="11518711" cy="5799695"/>
          </a:xfrm>
        </p:spPr>
        <p:txBody>
          <a:bodyPr lIns="91440" tIns="45720" rIns="91440" bIns="45720" anchor="t"/>
          <a:lstStyle/>
          <a:p>
            <a:pPr marL="0" indent="0" algn="just">
              <a:lnSpc>
                <a:spcPct val="100000"/>
              </a:lnSpc>
              <a:spcBef>
                <a:spcPts val="0"/>
              </a:spcBef>
              <a:buNone/>
            </a:pPr>
            <a:r>
              <a:rPr lang="en-IN" sz="2000" b="1" dirty="0">
                <a:latin typeface="Times New Roman" panose="02020603050405020304"/>
                <a:ea typeface="Calibri" panose="020F0502020204030204"/>
                <a:cs typeface="Times New Roman" panose="02020603050405020304"/>
              </a:rPr>
              <a:t>Example: </a:t>
            </a:r>
            <a:r>
              <a:rPr lang="en-US" sz="2000" dirty="0">
                <a:latin typeface="Times New Roman" panose="02020603050405020304"/>
                <a:ea typeface="Calibri" panose="020F0502020204030204"/>
                <a:cs typeface="Times New Roman" panose="02020603050405020304"/>
              </a:rPr>
              <a:t>Consider a sequence of keys as 20, 34, 45, 70, 56 with </a:t>
            </a:r>
            <a:r>
              <a:rPr lang="en-US" sz="2000" dirty="0" err="1">
                <a:latin typeface="Times New Roman" panose="02020603050405020304"/>
                <a:ea typeface="Calibri" panose="020F0502020204030204"/>
                <a:cs typeface="Times New Roman" panose="02020603050405020304"/>
              </a:rPr>
              <a:t>table_size</a:t>
            </a:r>
            <a:r>
              <a:rPr lang="en-US" sz="2000" dirty="0">
                <a:latin typeface="Times New Roman" panose="02020603050405020304"/>
                <a:ea typeface="Calibri" panose="020F0502020204030204"/>
                <a:cs typeface="Times New Roman" panose="02020603050405020304"/>
              </a:rPr>
              <a:t> 11</a:t>
            </a:r>
            <a:endParaRPr lang="en-IN" sz="2000" dirty="0">
              <a:latin typeface="Times New Roman" panose="02020603050405020304"/>
              <a:ea typeface="Calibri" panose="020F0502020204030204"/>
              <a:cs typeface="Times New Roman" panose="02020603050405020304"/>
            </a:endParaRPr>
          </a:p>
          <a:p>
            <a:pPr algn="just">
              <a:lnSpc>
                <a:spcPct val="100000"/>
              </a:lnSpc>
              <a:spcBef>
                <a:spcPts val="0"/>
              </a:spcBef>
            </a:pPr>
            <a:r>
              <a:rPr lang="en-IN" sz="2000" dirty="0">
                <a:latin typeface="Times New Roman" panose="02020603050405020304"/>
                <a:ea typeface="Calibri" panose="020F0502020204030204"/>
                <a:cs typeface="Times New Roman" panose="02020603050405020304"/>
              </a:rPr>
              <a:t>h</a:t>
            </a:r>
            <a:r>
              <a:rPr lang="en-IN" sz="2000" baseline="-25000" dirty="0">
                <a:latin typeface="Times New Roman" panose="02020603050405020304"/>
                <a:ea typeface="Calibri" panose="020F0502020204030204"/>
                <a:cs typeface="Times New Roman" panose="02020603050405020304"/>
              </a:rPr>
              <a:t>1</a:t>
            </a:r>
            <a:r>
              <a:rPr lang="en-IN" sz="2000" dirty="0">
                <a:latin typeface="Times New Roman" panose="02020603050405020304"/>
                <a:ea typeface="Calibri" panose="020F0502020204030204"/>
                <a:cs typeface="Times New Roman" panose="02020603050405020304"/>
              </a:rPr>
              <a:t>(20) = 20 mod 11=9</a:t>
            </a:r>
            <a:endParaRPr lang="en-US" sz="2000" dirty="0">
              <a:latin typeface="Times New Roman" panose="02020603050405020304"/>
              <a:ea typeface="Calibri" panose="020F0502020204030204"/>
              <a:cs typeface="Times New Roman" panose="02020603050405020304"/>
            </a:endParaRPr>
          </a:p>
          <a:p>
            <a:pPr algn="just">
              <a:lnSpc>
                <a:spcPct val="100000"/>
              </a:lnSpc>
              <a:spcBef>
                <a:spcPts val="0"/>
              </a:spcBef>
            </a:pPr>
            <a:r>
              <a:rPr lang="en-IN" sz="2000" dirty="0">
                <a:latin typeface="Times New Roman" panose="02020603050405020304"/>
                <a:ea typeface="Calibri" panose="020F0502020204030204"/>
                <a:cs typeface="Times New Roman" panose="02020603050405020304"/>
              </a:rPr>
              <a:t>h</a:t>
            </a:r>
            <a:r>
              <a:rPr lang="en-IN" sz="2000" baseline="-25000" dirty="0">
                <a:latin typeface="Times New Roman" panose="02020603050405020304"/>
                <a:ea typeface="Calibri" panose="020F0502020204030204"/>
                <a:cs typeface="Times New Roman" panose="02020603050405020304"/>
              </a:rPr>
              <a:t>1</a:t>
            </a:r>
            <a:r>
              <a:rPr lang="en-IN" sz="2000" dirty="0">
                <a:latin typeface="Times New Roman" panose="02020603050405020304"/>
                <a:ea typeface="Calibri" panose="020F0502020204030204"/>
                <a:cs typeface="Times New Roman" panose="02020603050405020304"/>
              </a:rPr>
              <a:t>(34) = 34 mod 11=1</a:t>
            </a:r>
            <a:endParaRPr lang="en-US" sz="2000" dirty="0">
              <a:latin typeface="Times New Roman" panose="02020603050405020304"/>
              <a:ea typeface="Calibri" panose="020F0502020204030204"/>
              <a:cs typeface="Times New Roman" panose="02020603050405020304"/>
            </a:endParaRPr>
          </a:p>
          <a:p>
            <a:pPr algn="just">
              <a:lnSpc>
                <a:spcPct val="100000"/>
              </a:lnSpc>
              <a:spcBef>
                <a:spcPts val="0"/>
              </a:spcBef>
            </a:pPr>
            <a:r>
              <a:rPr lang="en-IN" sz="2000" dirty="0">
                <a:latin typeface="Times New Roman" panose="02020603050405020304"/>
                <a:ea typeface="Calibri" panose="020F0502020204030204"/>
                <a:cs typeface="Times New Roman" panose="02020603050405020304"/>
              </a:rPr>
              <a:t>h</a:t>
            </a:r>
            <a:r>
              <a:rPr lang="en-IN" sz="2000" baseline="-25000" dirty="0">
                <a:latin typeface="Times New Roman" panose="02020603050405020304"/>
                <a:ea typeface="Calibri" panose="020F0502020204030204"/>
                <a:cs typeface="Times New Roman" panose="02020603050405020304"/>
              </a:rPr>
              <a:t>1</a:t>
            </a:r>
            <a:r>
              <a:rPr lang="en-IN" sz="2000" dirty="0">
                <a:latin typeface="Times New Roman" panose="02020603050405020304"/>
                <a:ea typeface="Calibri" panose="020F0502020204030204"/>
                <a:cs typeface="Times New Roman" panose="02020603050405020304"/>
              </a:rPr>
              <a:t>(45) = 45 mod 11=1</a:t>
            </a:r>
            <a:endParaRPr lang="en-US" sz="2000" dirty="0">
              <a:latin typeface="Times New Roman" panose="02020603050405020304"/>
              <a:ea typeface="Calibri" panose="020F0502020204030204"/>
              <a:cs typeface="Times New Roman" panose="02020603050405020304"/>
            </a:endParaRPr>
          </a:p>
          <a:p>
            <a:pPr marL="0" indent="0" algn="just">
              <a:lnSpc>
                <a:spcPct val="100000"/>
              </a:lnSpc>
              <a:spcBef>
                <a:spcPts val="0"/>
              </a:spcBef>
              <a:buNone/>
            </a:pPr>
            <a:r>
              <a:rPr lang="en-IN" sz="2000" dirty="0">
                <a:latin typeface="Times New Roman" panose="02020603050405020304"/>
                <a:ea typeface="Calibri" panose="020F0502020204030204"/>
                <a:cs typeface="Times New Roman" panose="02020603050405020304"/>
              </a:rPr>
              <a:t>     Collision Occurs at index 1, so calculate second hash function </a:t>
            </a:r>
            <a:endParaRPr lang="en-US" sz="2000" dirty="0">
              <a:latin typeface="Times New Roman" panose="02020603050405020304"/>
              <a:ea typeface="Calibri" panose="020F0502020204030204"/>
              <a:cs typeface="Times New Roman" panose="02020603050405020304"/>
            </a:endParaRPr>
          </a:p>
          <a:p>
            <a:pPr marL="0" indent="0" algn="just">
              <a:lnSpc>
                <a:spcPct val="100000"/>
              </a:lnSpc>
              <a:spcBef>
                <a:spcPts val="0"/>
              </a:spcBef>
              <a:buNone/>
            </a:pPr>
            <a:r>
              <a:rPr lang="en-IN" sz="2000" dirty="0">
                <a:latin typeface="Times New Roman" panose="02020603050405020304"/>
                <a:ea typeface="Calibri" panose="020F0502020204030204"/>
                <a:cs typeface="Times New Roman" panose="02020603050405020304"/>
              </a:rPr>
              <a:t>     h</a:t>
            </a:r>
            <a:r>
              <a:rPr lang="en-IN" sz="2000" baseline="-25000" dirty="0">
                <a:latin typeface="Times New Roman" panose="02020603050405020304"/>
                <a:ea typeface="Calibri" panose="020F0502020204030204"/>
                <a:cs typeface="Times New Roman" panose="02020603050405020304"/>
              </a:rPr>
              <a:t>2</a:t>
            </a:r>
            <a:r>
              <a:rPr lang="en-IN" sz="2000" dirty="0">
                <a:latin typeface="Times New Roman" panose="02020603050405020304"/>
                <a:ea typeface="Calibri" panose="020F0502020204030204"/>
                <a:cs typeface="Times New Roman" panose="02020603050405020304"/>
              </a:rPr>
              <a:t>(45) = 8 - (45 mod 8) = 3</a:t>
            </a:r>
            <a:endParaRPr lang="en-US" sz="2000" dirty="0">
              <a:latin typeface="Times New Roman" panose="02020603050405020304"/>
              <a:ea typeface="Calibri" panose="020F0502020204030204"/>
              <a:cs typeface="Times New Roman" panose="02020603050405020304"/>
            </a:endParaRPr>
          </a:p>
          <a:p>
            <a:pPr marL="0" indent="0" algn="just">
              <a:lnSpc>
                <a:spcPct val="100000"/>
              </a:lnSpc>
              <a:spcBef>
                <a:spcPts val="0"/>
              </a:spcBef>
              <a:buNone/>
            </a:pPr>
            <a:r>
              <a:rPr lang="en-IN" sz="2000" dirty="0">
                <a:latin typeface="Times New Roman" panose="02020603050405020304"/>
                <a:ea typeface="Calibri" panose="020F0502020204030204"/>
                <a:cs typeface="Times New Roman" panose="02020603050405020304"/>
              </a:rPr>
              <a:t>    Now, calculate h(45, 1) = (1 + 1 * 3) mod 11=4, where i=1</a:t>
            </a:r>
            <a:endParaRPr lang="en-US" sz="2000" dirty="0">
              <a:latin typeface="Times New Roman" panose="02020603050405020304"/>
              <a:ea typeface="Calibri" panose="020F0502020204030204"/>
              <a:cs typeface="Times New Roman" panose="02020603050405020304"/>
            </a:endParaRPr>
          </a:p>
          <a:p>
            <a:pPr algn="just">
              <a:lnSpc>
                <a:spcPct val="100000"/>
              </a:lnSpc>
              <a:spcBef>
                <a:spcPts val="0"/>
              </a:spcBef>
            </a:pPr>
            <a:r>
              <a:rPr lang="en-IN" sz="2000" dirty="0">
                <a:latin typeface="Times New Roman" panose="02020603050405020304"/>
                <a:ea typeface="Calibri" panose="020F0502020204030204"/>
                <a:cs typeface="Times New Roman" panose="02020603050405020304"/>
              </a:rPr>
              <a:t>h</a:t>
            </a:r>
            <a:r>
              <a:rPr lang="en-IN" sz="2000" baseline="-25000" dirty="0">
                <a:latin typeface="Times New Roman" panose="02020603050405020304"/>
                <a:ea typeface="Calibri" panose="020F0502020204030204"/>
                <a:cs typeface="Times New Roman" panose="02020603050405020304"/>
              </a:rPr>
              <a:t>1</a:t>
            </a:r>
            <a:r>
              <a:rPr lang="en-IN" sz="2000" dirty="0">
                <a:latin typeface="Times New Roman" panose="02020603050405020304"/>
                <a:ea typeface="Calibri" panose="020F0502020204030204"/>
                <a:cs typeface="Times New Roman" panose="02020603050405020304"/>
              </a:rPr>
              <a:t>(70) = 70 mod 11=4</a:t>
            </a:r>
            <a:endParaRPr lang="en-IN" sz="2000" dirty="0">
              <a:latin typeface="Times New Roman" panose="02020603050405020304"/>
              <a:ea typeface="Calibri" panose="020F0502020204030204"/>
              <a:cs typeface="Times New Roman" panose="02020603050405020304"/>
            </a:endParaRPr>
          </a:p>
          <a:p>
            <a:pPr marL="0" indent="0" algn="just">
              <a:lnSpc>
                <a:spcPct val="100000"/>
              </a:lnSpc>
              <a:spcBef>
                <a:spcPts val="0"/>
              </a:spcBef>
              <a:buNone/>
            </a:pPr>
            <a:r>
              <a:rPr lang="en-IN" sz="2000" dirty="0">
                <a:latin typeface="Times New Roman" panose="02020603050405020304"/>
                <a:ea typeface="Calibri" panose="020F0502020204030204"/>
                <a:cs typeface="Times New Roman" panose="02020603050405020304"/>
              </a:rPr>
              <a:t>    Collision Occurs at index 4, so calculate second hash function </a:t>
            </a:r>
            <a:endParaRPr lang="en-US" sz="2000" dirty="0">
              <a:latin typeface="Times New Roman" panose="02020603050405020304"/>
              <a:ea typeface="Calibri" panose="020F0502020204030204"/>
              <a:cs typeface="Times New Roman" panose="02020603050405020304"/>
            </a:endParaRPr>
          </a:p>
          <a:p>
            <a:pPr marL="0" indent="0" algn="just">
              <a:lnSpc>
                <a:spcPct val="100000"/>
              </a:lnSpc>
              <a:spcBef>
                <a:spcPts val="0"/>
              </a:spcBef>
              <a:buNone/>
            </a:pPr>
            <a:r>
              <a:rPr lang="en-IN" sz="2000" dirty="0">
                <a:latin typeface="Times New Roman" panose="02020603050405020304"/>
                <a:ea typeface="Calibri" panose="020F0502020204030204"/>
                <a:cs typeface="Times New Roman" panose="02020603050405020304"/>
              </a:rPr>
              <a:t>    h2(70) = 8 - (70 mod 8) = 2</a:t>
            </a:r>
            <a:endParaRPr lang="en-US" sz="2000" dirty="0">
              <a:latin typeface="Times New Roman" panose="02020603050405020304"/>
              <a:ea typeface="Calibri" panose="020F0502020204030204"/>
              <a:cs typeface="Times New Roman" panose="02020603050405020304"/>
            </a:endParaRPr>
          </a:p>
          <a:p>
            <a:pPr marL="0" indent="0" algn="just">
              <a:lnSpc>
                <a:spcPct val="100000"/>
              </a:lnSpc>
              <a:spcBef>
                <a:spcPts val="0"/>
              </a:spcBef>
              <a:buNone/>
            </a:pPr>
            <a:r>
              <a:rPr lang="en-IN" sz="2000" dirty="0">
                <a:latin typeface="Times New Roman" panose="02020603050405020304"/>
                <a:ea typeface="Calibri" panose="020F0502020204030204"/>
                <a:cs typeface="Times New Roman" panose="02020603050405020304"/>
              </a:rPr>
              <a:t>   h(70, 1) = (4 + 1 * 2) mod 11=6</a:t>
            </a:r>
            <a:endParaRPr lang="en-US" sz="2000" dirty="0">
              <a:latin typeface="Times New Roman" panose="02020603050405020304"/>
              <a:ea typeface="Calibri" panose="020F0502020204030204"/>
              <a:cs typeface="Times New Roman" panose="02020603050405020304"/>
            </a:endParaRPr>
          </a:p>
          <a:p>
            <a:pPr algn="just"/>
            <a:r>
              <a:rPr lang="en-IN" sz="2000" dirty="0">
                <a:latin typeface="Times New Roman" panose="02020603050405020304"/>
                <a:cs typeface="Times New Roman" panose="02020603050405020304"/>
              </a:rPr>
              <a:t>h1(56) = 56 mod 11=1</a:t>
            </a:r>
            <a:endParaRPr lang="en-IN" sz="2000" dirty="0">
              <a:latin typeface="Times New Roman" panose="02020603050405020304"/>
              <a:cs typeface="Times New Roman" panose="02020603050405020304"/>
            </a:endParaRPr>
          </a:p>
          <a:p>
            <a:pPr marL="0" indent="0" algn="just">
              <a:buNone/>
            </a:pPr>
            <a:r>
              <a:rPr lang="en-IN" sz="2000" dirty="0">
                <a:latin typeface="Times New Roman" panose="02020603050405020304"/>
                <a:cs typeface="Times New Roman" panose="02020603050405020304"/>
              </a:rPr>
              <a:t>   Collision Occurs at index 1, so calculate second hash function </a:t>
            </a:r>
            <a:endParaRPr lang="en-IN" sz="2000" dirty="0">
              <a:latin typeface="Times New Roman" panose="02020603050405020304"/>
              <a:cs typeface="Times New Roman" panose="02020603050405020304"/>
            </a:endParaRPr>
          </a:p>
          <a:p>
            <a:pPr marL="0" indent="0" algn="l">
              <a:buNone/>
            </a:pPr>
            <a:r>
              <a:rPr lang="en-IN" sz="2000" dirty="0">
                <a:latin typeface="Times New Roman" panose="02020603050405020304"/>
                <a:cs typeface="Times New Roman" panose="02020603050405020304"/>
              </a:rPr>
              <a:t>   h2(56) = 8 - (56 mod 8) = 8</a:t>
            </a:r>
            <a:br>
              <a:rPr lang="en-IN" sz="2000" dirty="0">
                <a:latin typeface="Times New Roman" panose="02020603050405020304"/>
                <a:cs typeface="Times New Roman" panose="02020603050405020304"/>
              </a:rPr>
            </a:br>
            <a:r>
              <a:rPr lang="en-IN" sz="2000" dirty="0">
                <a:latin typeface="Times New Roman" panose="02020603050405020304"/>
                <a:cs typeface="Times New Roman" panose="02020603050405020304"/>
              </a:rPr>
              <a:t>   h(56, 1) = (1 + 1 * 8) mod 11=9, where i=1</a:t>
            </a:r>
            <a:endParaRPr lang="en-IN" sz="2000" dirty="0">
              <a:latin typeface="Times New Roman" panose="02020603050405020304"/>
              <a:cs typeface="Times New Roman" panose="02020603050405020304"/>
            </a:endParaRPr>
          </a:p>
          <a:p>
            <a:pPr marL="0" indent="0" algn="just">
              <a:buNone/>
            </a:pPr>
            <a:r>
              <a:rPr lang="en-IN" sz="2000" dirty="0">
                <a:latin typeface="Times New Roman" panose="02020603050405020304"/>
                <a:cs typeface="Times New Roman" panose="02020603050405020304"/>
              </a:rPr>
              <a:t>Again, Collision Occurs, increment i, h(56, 2) = (1 + 2 * 8) mod 11=6, where i=2</a:t>
            </a:r>
            <a:endParaRPr lang="en-IN" sz="2000" dirty="0">
              <a:latin typeface="Times New Roman" panose="02020603050405020304"/>
              <a:cs typeface="Times New Roman" panose="02020603050405020304"/>
            </a:endParaRPr>
          </a:p>
          <a:p>
            <a:pPr marL="0" indent="0" algn="just">
              <a:buNone/>
            </a:pPr>
            <a:r>
              <a:rPr lang="en-IN" sz="2000" dirty="0">
                <a:latin typeface="Times New Roman" panose="02020603050405020304"/>
                <a:cs typeface="Times New Roman" panose="02020603050405020304"/>
              </a:rPr>
              <a:t>Again, Collision Occurs, increment i, h(56, 3) = (1 + 3 * 8) mod 11=3, where i=3</a:t>
            </a:r>
            <a:endParaRPr lang="en-IN" sz="2000" dirty="0">
              <a:latin typeface="Times New Roman" panose="02020603050405020304"/>
              <a:cs typeface="Times New Roman" panose="02020603050405020304"/>
            </a:endParaRPr>
          </a:p>
        </p:txBody>
      </p:sp>
      <p:pic>
        <p:nvPicPr>
          <p:cNvPr id="5" name="Picture 4"/>
          <p:cNvPicPr>
            <a:picLocks noChangeAspect="1"/>
          </p:cNvPicPr>
          <p:nvPr/>
        </p:nvPicPr>
        <p:blipFill>
          <a:blip r:embed="rId2"/>
          <a:stretch>
            <a:fillRect/>
          </a:stretch>
        </p:blipFill>
        <p:spPr>
          <a:xfrm>
            <a:off x="10165586" y="1419367"/>
            <a:ext cx="1530545" cy="3746535"/>
          </a:xfrm>
          <a:prstGeom prst="rect">
            <a:avLst/>
          </a:prstGeom>
        </p:spPr>
      </p:pic>
      <p:sp>
        <p:nvSpPr>
          <p:cNvPr id="9" name="Rounded Rectangle 17"/>
          <p:cNvSpPr/>
          <p:nvPr/>
        </p:nvSpPr>
        <p:spPr>
          <a:xfrm>
            <a:off x="1579245" y="84455"/>
            <a:ext cx="8324215" cy="6508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Double Hashing</a:t>
            </a:r>
            <a:endParaRPr lang="en-US" sz="36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Content Placeholder 2"/>
          <p:cNvSpPr>
            <a:spLocks noGrp="1"/>
          </p:cNvSpPr>
          <p:nvPr>
            <p:ph sz="half" idx="1"/>
          </p:nvPr>
        </p:nvSpPr>
        <p:spPr>
          <a:xfrm>
            <a:off x="450376" y="779357"/>
            <a:ext cx="11518711" cy="5799695"/>
          </a:xfrm>
        </p:spPr>
        <p:txBody>
          <a:bodyPr lIns="91440" tIns="45720" rIns="91440" bIns="45720" anchor="t"/>
          <a:lstStyle/>
          <a:p>
            <a:pPr marL="0" indent="0" algn="just">
              <a:buNone/>
            </a:pPr>
            <a:r>
              <a:rPr lang="en-US" sz="2000" b="1" dirty="0"/>
              <a:t>Why use Double Hashing?</a:t>
            </a:r>
            <a:endParaRPr lang="en-IN" sz="2000" b="1" dirty="0"/>
          </a:p>
          <a:p>
            <a:pPr algn="just"/>
            <a:r>
              <a:rPr lang="en-US" sz="2000" dirty="0"/>
              <a:t>Double hashing is used to resolve collisions in a hash table, which can occur when multiple keys map to the same value. There are a few reasons why double hashing is useful in this situation:</a:t>
            </a:r>
            <a:endParaRPr lang="en-IN" sz="2000" dirty="0"/>
          </a:p>
          <a:p>
            <a:pPr lvl="0" algn="just"/>
            <a:r>
              <a:rPr lang="en-US" sz="2000" b="1" dirty="0"/>
              <a:t>Improved performance</a:t>
            </a:r>
            <a:r>
              <a:rPr lang="en-US" sz="2000" dirty="0"/>
              <a:t>: Double hashing can help to reduce the number of collisions and improve the performance of a hash table. Since the second hash function is used to calculate an offset, it is less likely that the same position will be occupied multiple times, reducing the number of collisions.</a:t>
            </a:r>
            <a:br>
              <a:rPr lang="en-US" sz="2000" dirty="0"/>
            </a:br>
            <a:r>
              <a:rPr lang="en-US" sz="2000" dirty="0"/>
              <a:t> </a:t>
            </a:r>
            <a:endParaRPr lang="en-IN" sz="2000" dirty="0"/>
          </a:p>
          <a:p>
            <a:pPr lvl="0" algn="l"/>
            <a:r>
              <a:rPr lang="en-US" sz="2000" b="1" dirty="0"/>
              <a:t>Better distribution of keys</a:t>
            </a:r>
            <a:r>
              <a:rPr lang="en-US" sz="2000" dirty="0"/>
              <a:t>: Double hashing can help to distribute keys more evenly across the hash table, which can improve the overall performance of the hash table.</a:t>
            </a:r>
            <a:br>
              <a:rPr lang="en-US" sz="2000" dirty="0"/>
            </a:br>
            <a:r>
              <a:rPr lang="en-US" sz="2000" dirty="0"/>
              <a:t> </a:t>
            </a:r>
            <a:endParaRPr lang="en-IN" sz="2000" dirty="0"/>
          </a:p>
          <a:p>
            <a:pPr lvl="0" algn="l"/>
            <a:r>
              <a:rPr lang="en-US" sz="2000" b="1" dirty="0"/>
              <a:t>Flexibility</a:t>
            </a:r>
            <a:r>
              <a:rPr lang="en-US" sz="2000" dirty="0"/>
              <a:t>: Double hashing can be used with different types of hash functions, which means that it can be easily adapted to different situations.</a:t>
            </a:r>
            <a:br>
              <a:rPr lang="en-US" sz="2000" dirty="0"/>
            </a:br>
            <a:r>
              <a:rPr lang="en-US" sz="2000" dirty="0"/>
              <a:t> </a:t>
            </a:r>
            <a:endParaRPr lang="en-IN" sz="2000" dirty="0"/>
          </a:p>
          <a:p>
            <a:pPr lvl="0" algn="just"/>
            <a:r>
              <a:rPr lang="en-US" sz="2000" b="1" dirty="0"/>
              <a:t>Robustness</a:t>
            </a:r>
            <a:r>
              <a:rPr lang="en-US" sz="2000" dirty="0"/>
              <a:t>: Double Hashing is more robust to the poor choice of the primary hash function.</a:t>
            </a:r>
            <a:endParaRPr lang="en-IN" sz="2000" dirty="0"/>
          </a:p>
          <a:p>
            <a:pPr marL="0" indent="0" algn="just">
              <a:lnSpc>
                <a:spcPct val="100000"/>
              </a:lnSpc>
              <a:spcBef>
                <a:spcPts val="0"/>
              </a:spcBef>
              <a:buNone/>
            </a:pPr>
            <a:endParaRPr lang="en-IN" sz="2000" dirty="0">
              <a:latin typeface="Times New Roman" panose="02020603050405020304"/>
              <a:cs typeface="Times New Roman" panose="02020603050405020304"/>
            </a:endParaRPr>
          </a:p>
        </p:txBody>
      </p:sp>
      <p:sp>
        <p:nvSpPr>
          <p:cNvPr id="9" name="Rounded Rectangle 17"/>
          <p:cNvSpPr/>
          <p:nvPr/>
        </p:nvSpPr>
        <p:spPr>
          <a:xfrm>
            <a:off x="1579245" y="84455"/>
            <a:ext cx="8324215" cy="6508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Need of Double Hashing</a:t>
            </a:r>
            <a:endParaRPr lang="en-US" sz="32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Content Placeholder 2"/>
          <p:cNvSpPr>
            <a:spLocks noGrp="1"/>
          </p:cNvSpPr>
          <p:nvPr>
            <p:ph sz="half" idx="1"/>
          </p:nvPr>
        </p:nvSpPr>
        <p:spPr>
          <a:xfrm>
            <a:off x="150126" y="779357"/>
            <a:ext cx="11818962" cy="5799695"/>
          </a:xfrm>
        </p:spPr>
        <p:txBody>
          <a:bodyPr lIns="91440" tIns="45720" rIns="91440" bIns="45720" anchor="t"/>
          <a:lstStyle/>
          <a:p>
            <a:pPr marL="0" indent="0">
              <a:lnSpc>
                <a:spcPct val="100000"/>
              </a:lnSpc>
              <a:spcBef>
                <a:spcPts val="0"/>
              </a:spcBef>
              <a:buNone/>
            </a:pPr>
            <a:endParaRPr lang="en-US" sz="2000" b="1" dirty="0"/>
          </a:p>
          <a:p>
            <a:pPr marL="0" indent="0">
              <a:lnSpc>
                <a:spcPct val="100000"/>
              </a:lnSpc>
              <a:spcBef>
                <a:spcPts val="0"/>
              </a:spcBef>
              <a:buNone/>
            </a:pPr>
            <a:r>
              <a:rPr lang="en-US" sz="2400" b="1" dirty="0"/>
              <a:t>Advantages of Double Hashing</a:t>
            </a:r>
            <a:endParaRPr lang="en-IN" sz="2400" b="1" dirty="0"/>
          </a:p>
          <a:p>
            <a:pPr lvl="0">
              <a:lnSpc>
                <a:spcPct val="100000"/>
              </a:lnSpc>
              <a:spcBef>
                <a:spcPts val="0"/>
              </a:spcBef>
            </a:pPr>
            <a:r>
              <a:rPr lang="en-US" sz="2400" dirty="0"/>
              <a:t>No extra space is required. </a:t>
            </a:r>
            <a:endParaRPr lang="en-IN" sz="2400" dirty="0"/>
          </a:p>
          <a:p>
            <a:pPr lvl="0">
              <a:lnSpc>
                <a:spcPct val="100000"/>
              </a:lnSpc>
              <a:spcBef>
                <a:spcPts val="0"/>
              </a:spcBef>
            </a:pPr>
            <a:r>
              <a:rPr lang="en-US" sz="2400" dirty="0"/>
              <a:t>Primary Clustering does not occur. </a:t>
            </a:r>
            <a:endParaRPr lang="en-IN" sz="2400" dirty="0"/>
          </a:p>
          <a:p>
            <a:pPr lvl="0">
              <a:lnSpc>
                <a:spcPct val="100000"/>
              </a:lnSpc>
              <a:spcBef>
                <a:spcPts val="0"/>
              </a:spcBef>
            </a:pPr>
            <a:r>
              <a:rPr lang="en-US" sz="2400" dirty="0"/>
              <a:t>Secondary Clustering also does not occur. </a:t>
            </a:r>
            <a:endParaRPr lang="en-IN" sz="2400" dirty="0"/>
          </a:p>
          <a:p>
            <a:pPr lvl="0">
              <a:lnSpc>
                <a:spcPct val="100000"/>
              </a:lnSpc>
              <a:spcBef>
                <a:spcPts val="0"/>
              </a:spcBef>
            </a:pPr>
            <a:r>
              <a:rPr lang="en-US" sz="2400" dirty="0"/>
              <a:t>It can be used with different types of hash functions. </a:t>
            </a:r>
            <a:endParaRPr lang="en-IN" sz="2400" dirty="0"/>
          </a:p>
          <a:p>
            <a:pPr lvl="0">
              <a:lnSpc>
                <a:spcPct val="100000"/>
              </a:lnSpc>
              <a:spcBef>
                <a:spcPts val="0"/>
              </a:spcBef>
            </a:pPr>
            <a:r>
              <a:rPr lang="en-US" sz="2400" dirty="0"/>
              <a:t>It reduces the clustering effect of keys and decreases the chance of keys being stored in consecutive buckets.</a:t>
            </a:r>
            <a:endParaRPr lang="en-IN" sz="2400" dirty="0"/>
          </a:p>
          <a:p>
            <a:pPr marL="0" indent="0">
              <a:lnSpc>
                <a:spcPct val="100000"/>
              </a:lnSpc>
              <a:spcBef>
                <a:spcPts val="0"/>
              </a:spcBef>
              <a:buNone/>
            </a:pPr>
            <a:endParaRPr lang="en-US" sz="2400" b="1" dirty="0"/>
          </a:p>
          <a:p>
            <a:pPr marL="0" indent="0">
              <a:lnSpc>
                <a:spcPct val="100000"/>
              </a:lnSpc>
              <a:spcBef>
                <a:spcPts val="0"/>
              </a:spcBef>
              <a:buNone/>
            </a:pPr>
            <a:r>
              <a:rPr lang="en-US" sz="2400" b="1" dirty="0"/>
              <a:t>Disadvantages of Double Hashing</a:t>
            </a:r>
            <a:endParaRPr lang="en-IN" sz="2400" b="1" dirty="0"/>
          </a:p>
          <a:p>
            <a:pPr lvl="0">
              <a:lnSpc>
                <a:spcPct val="100000"/>
              </a:lnSpc>
              <a:spcBef>
                <a:spcPts val="0"/>
              </a:spcBef>
            </a:pPr>
            <a:r>
              <a:rPr lang="en-US" sz="2400" dirty="0"/>
              <a:t>Poor cache performance. </a:t>
            </a:r>
            <a:endParaRPr lang="en-IN" sz="2400" dirty="0"/>
          </a:p>
          <a:p>
            <a:pPr lvl="0">
              <a:lnSpc>
                <a:spcPct val="100000"/>
              </a:lnSpc>
              <a:spcBef>
                <a:spcPts val="0"/>
              </a:spcBef>
            </a:pPr>
            <a:r>
              <a:rPr lang="en-US" sz="2400" dirty="0"/>
              <a:t>It's a little complicated because it uses two hash functions. </a:t>
            </a:r>
            <a:endParaRPr lang="en-IN" sz="2400" dirty="0"/>
          </a:p>
          <a:p>
            <a:pPr lvl="0">
              <a:lnSpc>
                <a:spcPct val="100000"/>
              </a:lnSpc>
              <a:spcBef>
                <a:spcPts val="0"/>
              </a:spcBef>
            </a:pPr>
            <a:r>
              <a:rPr lang="en-US" sz="2400" dirty="0"/>
              <a:t>It has a bit harder implementation. </a:t>
            </a:r>
            <a:endParaRPr lang="en-IN" sz="2400" dirty="0"/>
          </a:p>
          <a:p>
            <a:pPr lvl="0">
              <a:lnSpc>
                <a:spcPct val="100000"/>
              </a:lnSpc>
              <a:spcBef>
                <a:spcPts val="0"/>
              </a:spcBef>
            </a:pPr>
            <a:r>
              <a:rPr lang="en-US" sz="2400" dirty="0"/>
              <a:t>It consumes more memory than other collision resolution techniques. </a:t>
            </a:r>
            <a:endParaRPr lang="en-IN" sz="2400" dirty="0"/>
          </a:p>
          <a:p>
            <a:pPr lvl="0">
              <a:lnSpc>
                <a:spcPct val="100000"/>
              </a:lnSpc>
              <a:spcBef>
                <a:spcPts val="0"/>
              </a:spcBef>
            </a:pPr>
            <a:r>
              <a:rPr lang="en-US" sz="2400" dirty="0"/>
              <a:t>It may not be the best choice for small tables.</a:t>
            </a:r>
            <a:endParaRPr lang="en-IN" sz="2400" dirty="0"/>
          </a:p>
        </p:txBody>
      </p:sp>
      <p:sp>
        <p:nvSpPr>
          <p:cNvPr id="9" name="Rounded Rectangle 17"/>
          <p:cNvSpPr/>
          <p:nvPr/>
        </p:nvSpPr>
        <p:spPr>
          <a:xfrm>
            <a:off x="1579245" y="84455"/>
            <a:ext cx="8820349" cy="6508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Advantages &amp; Disadvantages of Double Hashing</a:t>
            </a:r>
            <a:endParaRPr lang="en-US" sz="28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Rehashing</a:t>
            </a:r>
            <a:endParaRPr lang="en-US" sz="3200" b="1"/>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Text Box 1"/>
          <p:cNvSpPr txBox="1"/>
          <p:nvPr/>
        </p:nvSpPr>
        <p:spPr>
          <a:xfrm>
            <a:off x="95534" y="722905"/>
            <a:ext cx="11955439" cy="5816977"/>
          </a:xfrm>
          <a:prstGeom prst="rect">
            <a:avLst/>
          </a:prstGeom>
          <a:noFill/>
        </p:spPr>
        <p:txBody>
          <a:bodyPr wrap="square" lIns="91440" tIns="45720" rIns="91440" bIns="45720" rtlCol="0" anchor="t">
            <a:spAutoFit/>
          </a:bodyPr>
          <a:lstStyle/>
          <a:p>
            <a:r>
              <a:rPr lang="en-US" sz="3200" b="1" dirty="0">
                <a:solidFill>
                  <a:srgbClr val="FF0000"/>
                </a:solidFill>
                <a:latin typeface="Times New Roman" panose="02020603050405020304"/>
                <a:cs typeface="Times New Roman" panose="02020603050405020304"/>
              </a:rPr>
              <a:t>Rehashing:</a:t>
            </a:r>
            <a:endParaRPr lang="en-US" sz="3200" dirty="0">
              <a:solidFill>
                <a:srgbClr val="FF0000"/>
              </a:solidFill>
              <a:latin typeface="Times New Roman" panose="02020603050405020304"/>
              <a:cs typeface="Times New Roman" panose="02020603050405020304"/>
            </a:endParaRPr>
          </a:p>
          <a:p>
            <a:pPr marL="342900" indent="-342900" algn="just">
              <a:buFont typeface="Arial" panose="020B0604020202020204"/>
              <a:buChar char="•"/>
            </a:pPr>
            <a:r>
              <a:rPr lang="en-US" sz="2800" b="1" dirty="0">
                <a:latin typeface="Times New Roman" panose="02020603050405020304"/>
                <a:cs typeface="Times New Roman" panose="02020603050405020304"/>
              </a:rPr>
              <a:t>Rehashing</a:t>
            </a:r>
            <a:r>
              <a:rPr lang="en-US" sz="2800" dirty="0">
                <a:latin typeface="Times New Roman" panose="02020603050405020304"/>
                <a:cs typeface="Times New Roman" panose="02020603050405020304"/>
              </a:rPr>
              <a:t> method is used to </a:t>
            </a:r>
            <a:r>
              <a:rPr lang="en-US" sz="2800" b="1" dirty="0">
                <a:latin typeface="Times New Roman" panose="02020603050405020304"/>
                <a:cs typeface="Times New Roman" panose="02020603050405020304"/>
              </a:rPr>
              <a:t>prevent collisions</a:t>
            </a:r>
            <a:r>
              <a:rPr lang="en-US" sz="2800" dirty="0">
                <a:latin typeface="Times New Roman" panose="02020603050405020304"/>
                <a:cs typeface="Times New Roman" panose="02020603050405020304"/>
              </a:rPr>
              <a:t> by </a:t>
            </a:r>
            <a:r>
              <a:rPr lang="en-US" sz="2800" b="1" dirty="0">
                <a:latin typeface="Times New Roman" panose="02020603050405020304"/>
                <a:cs typeface="Times New Roman" panose="02020603050405020304"/>
              </a:rPr>
              <a:t>increasing the size</a:t>
            </a:r>
            <a:r>
              <a:rPr lang="en-US" sz="2800" dirty="0">
                <a:latin typeface="Times New Roman" panose="02020603050405020304"/>
                <a:cs typeface="Times New Roman" panose="02020603050405020304"/>
              </a:rPr>
              <a:t> of a </a:t>
            </a:r>
            <a:r>
              <a:rPr lang="en-US" sz="2800" dirty="0" err="1">
                <a:latin typeface="Times New Roman" panose="02020603050405020304"/>
                <a:cs typeface="Times New Roman" panose="02020603050405020304"/>
              </a:rPr>
              <a:t>hashmap</a:t>
            </a:r>
            <a:r>
              <a:rPr lang="en-US" sz="2800" dirty="0">
                <a:latin typeface="Times New Roman" panose="02020603050405020304"/>
                <a:cs typeface="Times New Roman" panose="02020603050405020304"/>
              </a:rPr>
              <a:t> and </a:t>
            </a:r>
            <a:r>
              <a:rPr lang="en-US" sz="2800" b="1" dirty="0">
                <a:latin typeface="Times New Roman" panose="02020603050405020304"/>
                <a:cs typeface="Times New Roman" panose="02020603050405020304"/>
              </a:rPr>
              <a:t>redistributing </a:t>
            </a:r>
            <a:r>
              <a:rPr lang="en-US" sz="2800" dirty="0">
                <a:latin typeface="Times New Roman" panose="02020603050405020304"/>
                <a:cs typeface="Times New Roman" panose="02020603050405020304"/>
              </a:rPr>
              <a:t>the elements into new buckets based on their new hash values. </a:t>
            </a:r>
            <a:endParaRPr lang="en-US" sz="2000" dirty="0">
              <a:latin typeface="Times New Roman" panose="02020603050405020304"/>
              <a:ea typeface="Calibri" panose="020F0502020204030204"/>
              <a:cs typeface="Times New Roman" panose="02020603050405020304"/>
            </a:endParaRPr>
          </a:p>
          <a:p>
            <a:r>
              <a:rPr lang="en-IN" sz="3200" b="1" dirty="0">
                <a:solidFill>
                  <a:srgbClr val="FF0000"/>
                </a:solidFill>
              </a:rPr>
              <a:t>Steps for Rehashing</a:t>
            </a:r>
            <a:endParaRPr lang="en-IN" sz="3200" b="1" dirty="0">
              <a:solidFill>
                <a:srgbClr val="FF0000"/>
              </a:solidFill>
            </a:endParaRPr>
          </a:p>
          <a:p>
            <a:r>
              <a:rPr lang="en-IN" sz="2800" b="1" dirty="0"/>
              <a:t>Initial Hash Table Creation</a:t>
            </a:r>
            <a:r>
              <a:rPr lang="en-IN" sz="2800" dirty="0"/>
              <a:t>:</a:t>
            </a:r>
            <a:endParaRPr lang="en-IN" sz="2800" dirty="0"/>
          </a:p>
          <a:p>
            <a:pPr marL="800100" lvl="1" indent="-342900">
              <a:buFont typeface="Arial" panose="020B0604020202020204" pitchFamily="34" charset="0"/>
              <a:buChar char="•"/>
            </a:pPr>
            <a:r>
              <a:rPr lang="en-IN" sz="2800" dirty="0"/>
              <a:t>Create a hash table of size NN.</a:t>
            </a:r>
            <a:endParaRPr lang="en-IN" sz="2800" dirty="0"/>
          </a:p>
          <a:p>
            <a:pPr marL="800100" lvl="1" indent="-342900">
              <a:buFont typeface="Arial" panose="020B0604020202020204" pitchFamily="34" charset="0"/>
              <a:buChar char="•"/>
            </a:pPr>
            <a:r>
              <a:rPr lang="en-IN" sz="2800" dirty="0"/>
              <a:t>Use a hash function h(x)=</a:t>
            </a:r>
            <a:r>
              <a:rPr lang="en-IN" sz="2800" dirty="0" err="1"/>
              <a:t>x%N</a:t>
            </a:r>
            <a:r>
              <a:rPr lang="en-IN" sz="2800" dirty="0"/>
              <a:t> to compute the index for each key.</a:t>
            </a:r>
            <a:endParaRPr lang="en-IN" sz="2800" dirty="0"/>
          </a:p>
          <a:p>
            <a:pPr marL="800100" lvl="1" indent="-342900">
              <a:buFont typeface="Arial" panose="020B0604020202020204" pitchFamily="34" charset="0"/>
              <a:buChar char="•"/>
            </a:pPr>
            <a:r>
              <a:rPr lang="en-IN" sz="2800" dirty="0"/>
              <a:t>Insert keys into the hash table using open addressing or chaining to resolve collisions.</a:t>
            </a:r>
            <a:endParaRPr lang="en-IN" sz="2800" dirty="0"/>
          </a:p>
          <a:p>
            <a:r>
              <a:rPr lang="en-IN" sz="2800" b="1" dirty="0"/>
              <a:t>Monitor the Load Factor</a:t>
            </a:r>
            <a:r>
              <a:rPr lang="en-IN" sz="2800" dirty="0"/>
              <a:t>:</a:t>
            </a:r>
            <a:endParaRPr lang="en-IN" sz="2800" dirty="0"/>
          </a:p>
          <a:p>
            <a:pPr marL="800100" lvl="1" indent="-342900">
              <a:buFont typeface="Arial" panose="020B0604020202020204" pitchFamily="34" charset="0"/>
              <a:buChar char="•"/>
            </a:pPr>
            <a:r>
              <a:rPr lang="en-IN" sz="2800" dirty="0"/>
              <a:t>Load Factor (LF) = Number of Elements/Table Size.</a:t>
            </a:r>
            <a:endParaRPr lang="en-IN" sz="2800" dirty="0"/>
          </a:p>
          <a:p>
            <a:pPr marL="800100" lvl="1" indent="-342900">
              <a:buFont typeface="Arial" panose="020B0604020202020204" pitchFamily="34" charset="0"/>
              <a:buChar char="•"/>
            </a:pPr>
            <a:r>
              <a:rPr lang="en-IN" sz="2800" dirty="0"/>
              <a:t>When LF&gt;threshold (e.g., 0.75), trigger rehashing.</a:t>
            </a:r>
            <a:endParaRPr lang="en-IN" sz="2800"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nvSpPr>
        <p:spPr>
          <a:xfrm>
            <a:off x="163772" y="753851"/>
            <a:ext cx="11859905" cy="5810722"/>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gn="just">
              <a:lnSpc>
                <a:spcPct val="150000"/>
              </a:lnSpc>
              <a:buAutoNum type="arabicPeriod"/>
            </a:pPr>
            <a:r>
              <a:rPr lang="en-IN" sz="2400" b="1" dirty="0">
                <a:latin typeface="Times New Roman" panose="02020603050405020304" pitchFamily="18" charset="0"/>
                <a:cs typeface="Times New Roman" panose="02020603050405020304" pitchFamily="18" charset="0"/>
              </a:rPr>
              <a:t>Check the Load Factor:</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Periodically or after each insertion operation, the hash table </a:t>
            </a:r>
            <a:r>
              <a:rPr lang="en-IN" sz="2400" b="1" dirty="0">
                <a:latin typeface="Times New Roman" panose="02020603050405020304" pitchFamily="18" charset="0"/>
                <a:cs typeface="Times New Roman" panose="02020603050405020304" pitchFamily="18" charset="0"/>
              </a:rPr>
              <a:t>checks its load factor. </a:t>
            </a:r>
            <a:r>
              <a:rPr lang="en-IN" sz="2400" dirty="0">
                <a:latin typeface="Times New Roman" panose="02020603050405020304" pitchFamily="18" charset="0"/>
                <a:cs typeface="Times New Roman" panose="02020603050405020304" pitchFamily="18" charset="0"/>
              </a:rPr>
              <a:t>If the load factor exceeds a predefined threshold (often around 0.7 or 0.8),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it indicates that the table is becoming crowded, and rehashing is needed.</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b="1" dirty="0">
                <a:latin typeface="Times New Roman" panose="02020603050405020304" pitchFamily="18" charset="0"/>
                <a:cs typeface="Times New Roman" panose="02020603050405020304" pitchFamily="18" charset="0"/>
              </a:rPr>
              <a:t>2. Create a New Hash Table:</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 new, larger hash table is </a:t>
            </a:r>
            <a:r>
              <a:rPr lang="en-IN" sz="2400" b="1" dirty="0">
                <a:latin typeface="Times New Roman" panose="02020603050405020304" pitchFamily="18" charset="0"/>
                <a:cs typeface="Times New Roman" panose="02020603050405020304" pitchFamily="18" charset="0"/>
              </a:rPr>
              <a:t>created with double size</a:t>
            </a:r>
            <a:r>
              <a:rPr lang="en-IN" sz="2400" dirty="0">
                <a:latin typeface="Times New Roman" panose="02020603050405020304" pitchFamily="18" charset="0"/>
                <a:cs typeface="Times New Roman" panose="02020603050405020304" pitchFamily="18" charset="0"/>
              </a:rPr>
              <a:t>, to reduce the load factor and make the table more efficient.</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b="1" dirty="0">
                <a:latin typeface="Times New Roman" panose="02020603050405020304" pitchFamily="18" charset="0"/>
                <a:cs typeface="Times New Roman" panose="02020603050405020304" pitchFamily="18" charset="0"/>
              </a:rPr>
              <a:t>3. Rehashing Process:</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Each element of the old hash table is </a:t>
            </a:r>
            <a:r>
              <a:rPr lang="en-IN" sz="2400" b="1" dirty="0">
                <a:latin typeface="Times New Roman" panose="02020603050405020304" pitchFamily="18" charset="0"/>
                <a:cs typeface="Times New Roman" panose="02020603050405020304" pitchFamily="18" charset="0"/>
              </a:rPr>
              <a:t>rehashed to new </a:t>
            </a:r>
            <a:r>
              <a:rPr lang="en-IN" sz="2400" dirty="0">
                <a:latin typeface="Times New Roman" panose="02020603050405020304" pitchFamily="18" charset="0"/>
                <a:cs typeface="Times New Roman" panose="02020603050405020304" pitchFamily="18" charset="0"/>
              </a:rPr>
              <a:t>hash table using the updated hash function. Hence keys are redistributes the </a:t>
            </a:r>
            <a:r>
              <a:rPr lang="en-IN" sz="2400" b="1" dirty="0">
                <a:latin typeface="Times New Roman" panose="02020603050405020304" pitchFamily="18" charset="0"/>
                <a:cs typeface="Times New Roman" panose="02020603050405020304" pitchFamily="18" charset="0"/>
              </a:rPr>
              <a:t>key-value</a:t>
            </a:r>
            <a:r>
              <a:rPr lang="en-IN" sz="2400" dirty="0">
                <a:latin typeface="Times New Roman" panose="02020603050405020304" pitchFamily="18" charset="0"/>
                <a:cs typeface="Times New Roman" panose="02020603050405020304" pitchFamily="18" charset="0"/>
              </a:rPr>
              <a:t> pairs among the new buckets.</a:t>
            </a:r>
            <a:endParaRPr lang="en-IN" sz="2400" dirty="0">
              <a:latin typeface="Times New Roman" panose="02020603050405020304" pitchFamily="18" charset="0"/>
              <a:cs typeface="Times New Roman" panose="02020603050405020304" pitchFamily="18" charset="0"/>
            </a:endParaRPr>
          </a:p>
        </p:txBody>
      </p:sp>
      <p:sp>
        <p:nvSpPr>
          <p:cNvPr id="3"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Rehashing Working process</a:t>
            </a:r>
            <a:endParaRPr lang="en-US" dirty="0"/>
          </a:p>
        </p:txBody>
      </p:sp>
      <p:pic>
        <p:nvPicPr>
          <p:cNvPr id="9"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nvSpPr>
        <p:spPr>
          <a:xfrm>
            <a:off x="163772" y="753851"/>
            <a:ext cx="11859905" cy="5810722"/>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n-IN" sz="2400" b="1" dirty="0">
                <a:latin typeface="Times New Roman" panose="02020603050405020304" pitchFamily="18" charset="0"/>
                <a:cs typeface="Times New Roman" panose="02020603050405020304" pitchFamily="18" charset="0"/>
              </a:rPr>
              <a:t>4. Transfer Elements:</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key-value</a:t>
            </a:r>
            <a:r>
              <a:rPr lang="en-IN" sz="2400" dirty="0">
                <a:latin typeface="Times New Roman" panose="02020603050405020304" pitchFamily="18" charset="0"/>
                <a:cs typeface="Times New Roman" panose="02020603050405020304" pitchFamily="18" charset="0"/>
              </a:rPr>
              <a:t> pairs are transferred from the </a:t>
            </a:r>
            <a:r>
              <a:rPr lang="en-IN" sz="2400" b="1" dirty="0">
                <a:latin typeface="Times New Roman" panose="02020603050405020304" pitchFamily="18" charset="0"/>
                <a:cs typeface="Times New Roman" panose="02020603050405020304" pitchFamily="18" charset="0"/>
              </a:rPr>
              <a:t>old table to the new tab</a:t>
            </a:r>
            <a:r>
              <a:rPr lang="en-IN" sz="2400" dirty="0">
                <a:latin typeface="Times New Roman" panose="02020603050405020304" pitchFamily="18" charset="0"/>
                <a:cs typeface="Times New Roman" panose="02020603050405020304" pitchFamily="18" charset="0"/>
              </a:rPr>
              <a:t>le to the appropriate locations based on their new hash values. </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5. </a:t>
            </a:r>
            <a:r>
              <a:rPr lang="en-IN" sz="2400" b="1" dirty="0">
                <a:latin typeface="Times New Roman" panose="02020603050405020304" pitchFamily="18" charset="0"/>
                <a:cs typeface="Times New Roman" panose="02020603050405020304" pitchFamily="18" charset="0"/>
              </a:rPr>
              <a:t>Update References:</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Any references or pointers to the old hash table are updated to point to the new hash table.</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b="1" dirty="0">
                <a:latin typeface="Times New Roman" panose="02020603050405020304" pitchFamily="18" charset="0"/>
                <a:cs typeface="Times New Roman" panose="02020603050405020304" pitchFamily="18" charset="0"/>
              </a:rPr>
              <a:t>6. Dispose of the Old Table:</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Once all elements have been transferred, the old hash table can be </a:t>
            </a:r>
            <a:r>
              <a:rPr lang="en-IN" sz="2400" dirty="0" err="1">
                <a:latin typeface="Times New Roman" panose="02020603050405020304" pitchFamily="18" charset="0"/>
                <a:cs typeface="Times New Roman" panose="02020603050405020304" pitchFamily="18" charset="0"/>
              </a:rPr>
              <a:t>deallocated</a:t>
            </a:r>
            <a:r>
              <a:rPr lang="en-IN" sz="2400" dirty="0">
                <a:latin typeface="Times New Roman" panose="02020603050405020304" pitchFamily="18" charset="0"/>
                <a:cs typeface="Times New Roman" panose="02020603050405020304" pitchFamily="18" charset="0"/>
              </a:rPr>
              <a:t> or discarded.</a:t>
            </a:r>
            <a:endParaRPr lang="en-IN" sz="2400" dirty="0">
              <a:latin typeface="Times New Roman" panose="02020603050405020304" pitchFamily="18" charset="0"/>
              <a:cs typeface="Times New Roman" panose="02020603050405020304" pitchFamily="18" charset="0"/>
            </a:endParaRPr>
          </a:p>
        </p:txBody>
      </p:sp>
      <p:sp>
        <p:nvSpPr>
          <p:cNvPr id="3"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Rehashing Working process</a:t>
            </a:r>
            <a:endParaRPr lang="en-US" dirty="0"/>
          </a:p>
        </p:txBody>
      </p:sp>
      <p:pic>
        <p:nvPicPr>
          <p:cNvPr id="9"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nvSpPr>
        <p:spPr>
          <a:xfrm>
            <a:off x="326885" y="753850"/>
            <a:ext cx="11737736" cy="610414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2800" b="1" dirty="0">
                <a:latin typeface="Times New Roman" panose="02020603050405020304"/>
                <a:cs typeface="Times New Roman" panose="02020603050405020304"/>
              </a:rPr>
              <a:t>Example:</a:t>
            </a:r>
            <a:endParaRPr lang="en-US" sz="2800" b="1" dirty="0">
              <a:latin typeface="Times New Roman" panose="02020603050405020304"/>
              <a:cs typeface="Times New Roman" panose="02020603050405020304"/>
            </a:endParaRPr>
          </a:p>
          <a:p>
            <a:pPr marL="342900" indent="-342900">
              <a:lnSpc>
                <a:spcPct val="150000"/>
              </a:lnSpc>
              <a:buFont typeface="Arial" panose="020B0604020202020204"/>
              <a:buChar char="•"/>
            </a:pPr>
            <a:r>
              <a:rPr lang="en-US" sz="2800" b="1" dirty="0">
                <a:latin typeface="Times New Roman" panose="02020603050405020304"/>
                <a:cs typeface="Times New Roman" panose="02020603050405020304"/>
              </a:rPr>
              <a:t>Good load factor value is 75, </a:t>
            </a:r>
            <a:r>
              <a:rPr lang="en-US" sz="2800" dirty="0">
                <a:latin typeface="Times New Roman" panose="02020603050405020304"/>
                <a:cs typeface="Times New Roman" panose="02020603050405020304"/>
              </a:rPr>
              <a:t>while </a:t>
            </a:r>
            <a:r>
              <a:rPr lang="en-US" sz="2800" dirty="0" err="1">
                <a:latin typeface="Times New Roman" panose="02020603050405020304"/>
                <a:cs typeface="Times New Roman" panose="02020603050405020304"/>
              </a:rPr>
              <a:t>HashMap's</a:t>
            </a:r>
            <a:r>
              <a:rPr lang="en-US" sz="2800" dirty="0">
                <a:latin typeface="Times New Roman" panose="02020603050405020304"/>
                <a:cs typeface="Times New Roman" panose="02020603050405020304"/>
              </a:rPr>
              <a:t> default beginning capacity is 16, when the number of elements hits or exceeds 0.75 times the capacity, the complexity rises.</a:t>
            </a:r>
            <a:endParaRPr lang="en-US" sz="4800" dirty="0">
              <a:latin typeface="Calibri Light" panose="020F0302020204030204"/>
              <a:ea typeface="Calibri Light" panose="020F0302020204030204"/>
              <a:cs typeface="Calibri Light" panose="020F0302020204030204"/>
            </a:endParaRPr>
          </a:p>
          <a:p>
            <a:pPr marL="342900" indent="-342900">
              <a:lnSpc>
                <a:spcPct val="150000"/>
              </a:lnSpc>
              <a:buFont typeface="Arial" panose="020B0604020202020204"/>
              <a:buChar char="•"/>
            </a:pPr>
            <a:r>
              <a:rPr lang="en-US" sz="2800" dirty="0">
                <a:latin typeface="Times New Roman" panose="02020603050405020304"/>
                <a:cs typeface="Times New Roman" panose="02020603050405020304"/>
              </a:rPr>
              <a:t> To combat this, the array's </a:t>
            </a:r>
            <a:r>
              <a:rPr lang="en-US" sz="2800" b="1" dirty="0">
                <a:latin typeface="Times New Roman" panose="02020603050405020304"/>
                <a:cs typeface="Times New Roman" panose="02020603050405020304"/>
              </a:rPr>
              <a:t>size is doubled</a:t>
            </a:r>
            <a:r>
              <a:rPr lang="en-US" sz="2800" dirty="0">
                <a:latin typeface="Times New Roman" panose="02020603050405020304"/>
                <a:cs typeface="Times New Roman" panose="02020603050405020304"/>
              </a:rPr>
              <a:t>, and all the values are hashed again and saved in the new double-sized array. </a:t>
            </a:r>
            <a:endParaRPr lang="en-US" sz="4800" dirty="0">
              <a:latin typeface="Calibri Light" panose="020F0302020204030204"/>
              <a:ea typeface="Calibri Light" panose="020F0302020204030204"/>
              <a:cs typeface="Calibri Light" panose="020F0302020204030204"/>
            </a:endParaRPr>
          </a:p>
          <a:p>
            <a:pPr marL="342900" indent="-342900">
              <a:lnSpc>
                <a:spcPct val="150000"/>
              </a:lnSpc>
              <a:buFont typeface="Arial" panose="020B0604020202020204"/>
              <a:buChar char="•"/>
            </a:pPr>
            <a:r>
              <a:rPr lang="en-US" sz="2800" dirty="0">
                <a:latin typeface="Times New Roman" panose="02020603050405020304"/>
                <a:cs typeface="Times New Roman" panose="02020603050405020304"/>
              </a:rPr>
              <a:t>After Rehashing items can fall into same bucket or different bucket into new array.</a:t>
            </a:r>
            <a:endParaRPr lang="en-US" sz="2800" dirty="0">
              <a:latin typeface="Times New Roman" panose="02020603050405020304"/>
              <a:cs typeface="Times New Roman" panose="02020603050405020304"/>
            </a:endParaRPr>
          </a:p>
          <a:p>
            <a:pPr>
              <a:lnSpc>
                <a:spcPct val="150000"/>
              </a:lnSpc>
            </a:pPr>
            <a:r>
              <a:rPr lang="en-US" sz="2800" b="1" dirty="0">
                <a:latin typeface="Times New Roman" panose="02020603050405020304"/>
                <a:cs typeface="Times New Roman" panose="02020603050405020304"/>
              </a:rPr>
              <a:t>Ex:</a:t>
            </a:r>
            <a:r>
              <a:rPr lang="en-US" sz="2800" dirty="0">
                <a:latin typeface="Times New Roman" panose="02020603050405020304"/>
                <a:cs typeface="Times New Roman" panose="02020603050405020304"/>
              </a:rPr>
              <a:t> when the number of items reaches 12, rehashing begins. (as 12 = 0.75 * 16).</a:t>
            </a:r>
            <a:endParaRPr lang="en-US" sz="4800" dirty="0">
              <a:ea typeface="Calibri Light" panose="020F0302020204030204"/>
              <a:cs typeface="Calibri Light" panose="020F0302020204030204"/>
            </a:endParaRPr>
          </a:p>
        </p:txBody>
      </p:sp>
      <p:sp>
        <p:nvSpPr>
          <p:cNvPr id="3"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b="1" dirty="0"/>
              <a:t>Load Factor</a:t>
            </a:r>
            <a:endParaRPr lang="en-US" dirty="0"/>
          </a:p>
        </p:txBody>
      </p:sp>
      <p:pic>
        <p:nvPicPr>
          <p:cNvPr id="9"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nvSpPr>
        <p:spPr>
          <a:xfrm>
            <a:off x="136478" y="753850"/>
            <a:ext cx="11928143" cy="610414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IN" sz="2400" b="1" dirty="0"/>
              <a:t>Given Keys:   </a:t>
            </a:r>
            <a:r>
              <a:rPr lang="en-IN" sz="2400" dirty="0"/>
              <a:t>34, 67, 89, 23, 19, 29, 93, 85, 78, 20, 51, 67</a:t>
            </a:r>
            <a:endParaRPr lang="en-IN" sz="2400" dirty="0"/>
          </a:p>
          <a:p>
            <a:pPr>
              <a:lnSpc>
                <a:spcPct val="150000"/>
              </a:lnSpc>
            </a:pPr>
            <a:r>
              <a:rPr lang="en-IN" sz="2400" b="1" dirty="0"/>
              <a:t>Initial Hash Table Size:  </a:t>
            </a:r>
            <a:r>
              <a:rPr lang="en-IN" sz="2400" dirty="0"/>
              <a:t>10</a:t>
            </a:r>
            <a:endParaRPr lang="en-IN" sz="2400" dirty="0"/>
          </a:p>
          <a:p>
            <a:pPr>
              <a:lnSpc>
                <a:spcPct val="150000"/>
              </a:lnSpc>
            </a:pPr>
            <a:r>
              <a:rPr lang="en-IN" sz="2400" b="1" dirty="0"/>
              <a:t>Load Factor Threshold:  </a:t>
            </a:r>
            <a:r>
              <a:rPr lang="en-IN" sz="2400" dirty="0"/>
              <a:t>0.75 </a:t>
            </a:r>
            <a:endParaRPr lang="en-IN" sz="2400" dirty="0"/>
          </a:p>
          <a:p>
            <a:pPr>
              <a:lnSpc>
                <a:spcPct val="150000"/>
              </a:lnSpc>
            </a:pPr>
            <a:r>
              <a:rPr lang="en-IN" sz="2800" dirty="0"/>
              <a:t>    </a:t>
            </a:r>
            <a:r>
              <a:rPr lang="en-IN" sz="2400" dirty="0"/>
              <a:t>(Rehashing triggers when number of elements </a:t>
            </a:r>
            <a:r>
              <a:rPr lang="en-IN" sz="2400"/>
              <a:t>exceeds 10×0.75=7.5).</a:t>
            </a:r>
            <a:endParaRPr lang="en-IN" sz="2400" dirty="0"/>
          </a:p>
          <a:p>
            <a:endParaRPr lang="en-IN" sz="2400" dirty="0"/>
          </a:p>
          <a:p>
            <a:endParaRPr lang="en-IN" sz="2400" dirty="0"/>
          </a:p>
        </p:txBody>
      </p:sp>
      <p:sp>
        <p:nvSpPr>
          <p:cNvPr id="3" name="Rounded Rectangle 17"/>
          <p:cNvSpPr/>
          <p:nvPr/>
        </p:nvSpPr>
        <p:spPr>
          <a:xfrm>
            <a:off x="3121964" y="70605"/>
            <a:ext cx="6201295" cy="5294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3200" b="1" dirty="0"/>
              <a:t>Problem Setup</a:t>
            </a:r>
            <a:endParaRPr lang="en-IN" sz="3200" b="1" dirty="0"/>
          </a:p>
          <a:p>
            <a:pPr algn="ctr"/>
            <a:endParaRPr lang="en-US" sz="1400" dirty="0"/>
          </a:p>
        </p:txBody>
      </p:sp>
      <p:pic>
        <p:nvPicPr>
          <p:cNvPr id="9"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nvSpPr>
        <p:spPr>
          <a:xfrm>
            <a:off x="136478" y="753850"/>
            <a:ext cx="11928143" cy="6104149"/>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400" dirty="0"/>
          </a:p>
        </p:txBody>
      </p:sp>
      <p:sp>
        <p:nvSpPr>
          <p:cNvPr id="3" name="Rounded Rectangle 17"/>
          <p:cNvSpPr/>
          <p:nvPr/>
        </p:nvSpPr>
        <p:spPr>
          <a:xfrm>
            <a:off x="3121964" y="70605"/>
            <a:ext cx="6201295" cy="5294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lgn="ctr" fontAlgn="base">
              <a:spcBef>
                <a:spcPct val="0"/>
              </a:spcBef>
              <a:spcAft>
                <a:spcPct val="0"/>
              </a:spcAft>
            </a:pPr>
            <a:r>
              <a:rPr lang="en-US" sz="3200" b="1" dirty="0">
                <a:solidFill>
                  <a:schemeClr val="bg1"/>
                </a:solidFill>
                <a:latin typeface="Arial" panose="020B0604020202020204" pitchFamily="34" charset="0"/>
                <a:cs typeface="Arial" panose="020B0604020202020204" pitchFamily="34" charset="0"/>
              </a:rPr>
              <a:t>Hash Table Creation:</a:t>
            </a:r>
            <a:endParaRPr lang="en-US" sz="3200" b="1" dirty="0">
              <a:solidFill>
                <a:schemeClr val="bg1"/>
              </a:solidFill>
              <a:latin typeface="Arial" panose="020B0604020202020204" pitchFamily="34" charset="0"/>
              <a:cs typeface="Arial" panose="020B0604020202020204" pitchFamily="34" charset="0"/>
            </a:endParaRPr>
          </a:p>
          <a:p>
            <a:pPr algn="ctr"/>
            <a:endParaRPr lang="en-US" sz="1400" dirty="0"/>
          </a:p>
        </p:txBody>
      </p:sp>
      <p:pic>
        <p:nvPicPr>
          <p:cNvPr id="9"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graphicFrame>
        <p:nvGraphicFramePr>
          <p:cNvPr id="2" name="Table 1"/>
          <p:cNvGraphicFramePr>
            <a:graphicFrameLocks noGrp="1"/>
          </p:cNvGraphicFramePr>
          <p:nvPr/>
        </p:nvGraphicFramePr>
        <p:xfrm>
          <a:off x="268405" y="1628407"/>
          <a:ext cx="10363201" cy="4355033"/>
        </p:xfrm>
        <a:graphic>
          <a:graphicData uri="http://schemas.openxmlformats.org/drawingml/2006/table">
            <a:tbl>
              <a:tblPr/>
              <a:tblGrid>
                <a:gridCol w="1296538"/>
                <a:gridCol w="2893325"/>
                <a:gridCol w="6173338"/>
              </a:tblGrid>
              <a:tr h="398533">
                <a:tc>
                  <a:txBody>
                    <a:bodyPr/>
                    <a:lstStyle/>
                    <a:p>
                      <a:pPr algn="ctr"/>
                      <a:r>
                        <a:rPr lang="en-IN" sz="2400" b="1" dirty="0"/>
                        <a:t>Key</a:t>
                      </a:r>
                      <a:endParaRPr lang="en-IN" sz="2400" dirty="0"/>
                    </a:p>
                  </a:txBody>
                  <a:tcPr anchor="ctr">
                    <a:lnL>
                      <a:noFill/>
                    </a:lnL>
                    <a:lnR>
                      <a:noFill/>
                    </a:lnR>
                    <a:lnT>
                      <a:noFill/>
                    </a:lnT>
                    <a:lnB>
                      <a:noFill/>
                    </a:lnB>
                    <a:solidFill>
                      <a:schemeClr val="accent5">
                        <a:lumMod val="60000"/>
                        <a:lumOff val="40000"/>
                      </a:schemeClr>
                    </a:solidFill>
                  </a:tcPr>
                </a:tc>
                <a:tc>
                  <a:txBody>
                    <a:bodyPr/>
                    <a:lstStyle/>
                    <a:p>
                      <a:pPr algn="ctr"/>
                      <a:r>
                        <a:rPr lang="en-IN" sz="2400" b="1" dirty="0"/>
                        <a:t>Hash Value</a:t>
                      </a:r>
                      <a:r>
                        <a:rPr lang="en-IN" sz="2400" dirty="0"/>
                        <a:t> (Index)</a:t>
                      </a:r>
                      <a:endParaRPr lang="en-IN" sz="2400" dirty="0"/>
                    </a:p>
                  </a:txBody>
                  <a:tcPr anchor="ctr">
                    <a:lnL>
                      <a:noFill/>
                    </a:lnL>
                    <a:lnR>
                      <a:noFill/>
                    </a:lnR>
                    <a:lnT>
                      <a:noFill/>
                    </a:lnT>
                    <a:lnB>
                      <a:noFill/>
                    </a:lnB>
                    <a:solidFill>
                      <a:schemeClr val="accent5">
                        <a:lumMod val="60000"/>
                        <a:lumOff val="40000"/>
                      </a:schemeClr>
                    </a:solidFill>
                  </a:tcPr>
                </a:tc>
                <a:tc>
                  <a:txBody>
                    <a:bodyPr/>
                    <a:lstStyle/>
                    <a:p>
                      <a:pPr algn="ctr"/>
                      <a:r>
                        <a:rPr lang="en-IN" sz="2400" b="1" dirty="0"/>
                        <a:t>Action</a:t>
                      </a:r>
                      <a:endParaRPr lang="en-IN" sz="2400" dirty="0"/>
                    </a:p>
                  </a:txBody>
                  <a:tcPr anchor="ctr">
                    <a:lnL>
                      <a:noFill/>
                    </a:lnL>
                    <a:lnR>
                      <a:noFill/>
                    </a:lnR>
                    <a:lnT>
                      <a:noFill/>
                    </a:lnT>
                    <a:lnB>
                      <a:noFill/>
                    </a:lnB>
                    <a:solidFill>
                      <a:schemeClr val="accent5">
                        <a:lumMod val="60000"/>
                        <a:lumOff val="40000"/>
                      </a:schemeClr>
                    </a:solidFill>
                  </a:tcPr>
                </a:tc>
              </a:tr>
              <a:tr h="398533">
                <a:tc>
                  <a:txBody>
                    <a:bodyPr/>
                    <a:lstStyle/>
                    <a:p>
                      <a:pPr algn="ctr"/>
                      <a:r>
                        <a:rPr lang="en-IN" sz="2400" dirty="0"/>
                        <a:t>34</a:t>
                      </a:r>
                      <a:endParaRPr lang="en-IN" sz="2400" dirty="0"/>
                    </a:p>
                  </a:txBody>
                  <a:tcPr anchor="ctr">
                    <a:lnL>
                      <a:noFill/>
                    </a:lnL>
                    <a:lnR>
                      <a:noFill/>
                    </a:lnR>
                    <a:lnT>
                      <a:noFill/>
                    </a:lnT>
                    <a:lnB>
                      <a:noFill/>
                    </a:lnB>
                  </a:tcPr>
                </a:tc>
                <a:tc>
                  <a:txBody>
                    <a:bodyPr/>
                    <a:lstStyle/>
                    <a:p>
                      <a:r>
                        <a:rPr lang="en-IN" sz="2400" dirty="0"/>
                        <a:t>34%10=434%10=4</a:t>
                      </a:r>
                      <a:endParaRPr lang="en-IN" sz="2400" dirty="0"/>
                    </a:p>
                  </a:txBody>
                  <a:tcPr anchor="ctr">
                    <a:lnL>
                      <a:noFill/>
                    </a:lnL>
                    <a:lnR>
                      <a:noFill/>
                    </a:lnR>
                    <a:lnT>
                      <a:noFill/>
                    </a:lnT>
                    <a:lnB>
                      <a:noFill/>
                    </a:lnB>
                  </a:tcPr>
                </a:tc>
                <a:tc>
                  <a:txBody>
                    <a:bodyPr/>
                    <a:lstStyle/>
                    <a:p>
                      <a:r>
                        <a:rPr lang="en-IN" sz="2400" dirty="0"/>
                        <a:t>Insert at index 4</a:t>
                      </a:r>
                      <a:endParaRPr lang="en-IN" sz="2400" dirty="0"/>
                    </a:p>
                  </a:txBody>
                  <a:tcPr anchor="ctr">
                    <a:lnL>
                      <a:noFill/>
                    </a:lnL>
                    <a:lnR>
                      <a:noFill/>
                    </a:lnR>
                    <a:lnT>
                      <a:noFill/>
                    </a:lnT>
                    <a:lnB>
                      <a:noFill/>
                    </a:lnB>
                  </a:tcPr>
                </a:tc>
              </a:tr>
              <a:tr h="398533">
                <a:tc>
                  <a:txBody>
                    <a:bodyPr/>
                    <a:lstStyle/>
                    <a:p>
                      <a:pPr algn="ctr"/>
                      <a:r>
                        <a:rPr lang="en-IN" sz="2400" dirty="0"/>
                        <a:t>67</a:t>
                      </a:r>
                      <a:endParaRPr lang="en-IN" sz="2400" dirty="0"/>
                    </a:p>
                  </a:txBody>
                  <a:tcPr anchor="ctr">
                    <a:lnL>
                      <a:noFill/>
                    </a:lnL>
                    <a:lnR>
                      <a:noFill/>
                    </a:lnR>
                    <a:lnT>
                      <a:noFill/>
                    </a:lnT>
                    <a:lnB>
                      <a:noFill/>
                    </a:lnB>
                  </a:tcPr>
                </a:tc>
                <a:tc>
                  <a:txBody>
                    <a:bodyPr/>
                    <a:lstStyle/>
                    <a:p>
                      <a:r>
                        <a:rPr lang="en-IN" sz="2400"/>
                        <a:t>67%10=767%10=7</a:t>
                      </a:r>
                      <a:endParaRPr lang="en-IN" sz="2400"/>
                    </a:p>
                  </a:txBody>
                  <a:tcPr anchor="ctr">
                    <a:lnL>
                      <a:noFill/>
                    </a:lnL>
                    <a:lnR>
                      <a:noFill/>
                    </a:lnR>
                    <a:lnT>
                      <a:noFill/>
                    </a:lnT>
                    <a:lnB>
                      <a:noFill/>
                    </a:lnB>
                  </a:tcPr>
                </a:tc>
                <a:tc>
                  <a:txBody>
                    <a:bodyPr/>
                    <a:lstStyle/>
                    <a:p>
                      <a:r>
                        <a:rPr lang="en-IN" sz="2400" dirty="0"/>
                        <a:t>Insert at index 7</a:t>
                      </a:r>
                      <a:endParaRPr lang="en-IN" sz="2400" dirty="0"/>
                    </a:p>
                  </a:txBody>
                  <a:tcPr anchor="ctr">
                    <a:lnL>
                      <a:noFill/>
                    </a:lnL>
                    <a:lnR>
                      <a:noFill/>
                    </a:lnR>
                    <a:lnT>
                      <a:noFill/>
                    </a:lnT>
                    <a:lnB>
                      <a:noFill/>
                    </a:lnB>
                  </a:tcPr>
                </a:tc>
              </a:tr>
              <a:tr h="398533">
                <a:tc>
                  <a:txBody>
                    <a:bodyPr/>
                    <a:lstStyle/>
                    <a:p>
                      <a:pPr algn="ctr"/>
                      <a:r>
                        <a:rPr lang="en-IN" sz="2400" dirty="0"/>
                        <a:t>89</a:t>
                      </a:r>
                      <a:endParaRPr lang="en-IN" sz="2400" dirty="0"/>
                    </a:p>
                  </a:txBody>
                  <a:tcPr anchor="ctr">
                    <a:lnL>
                      <a:noFill/>
                    </a:lnL>
                    <a:lnR>
                      <a:noFill/>
                    </a:lnR>
                    <a:lnT>
                      <a:noFill/>
                    </a:lnT>
                    <a:lnB>
                      <a:noFill/>
                    </a:lnB>
                  </a:tcPr>
                </a:tc>
                <a:tc>
                  <a:txBody>
                    <a:bodyPr/>
                    <a:lstStyle/>
                    <a:p>
                      <a:r>
                        <a:rPr lang="en-IN" sz="2400" dirty="0"/>
                        <a:t>89%10=989%10=9</a:t>
                      </a:r>
                      <a:endParaRPr lang="en-IN" sz="2400" dirty="0"/>
                    </a:p>
                  </a:txBody>
                  <a:tcPr anchor="ctr">
                    <a:lnL>
                      <a:noFill/>
                    </a:lnL>
                    <a:lnR>
                      <a:noFill/>
                    </a:lnR>
                    <a:lnT>
                      <a:noFill/>
                    </a:lnT>
                    <a:lnB>
                      <a:noFill/>
                    </a:lnB>
                  </a:tcPr>
                </a:tc>
                <a:tc>
                  <a:txBody>
                    <a:bodyPr/>
                    <a:lstStyle/>
                    <a:p>
                      <a:r>
                        <a:rPr lang="en-IN" sz="2400" dirty="0"/>
                        <a:t>Insert at index 9</a:t>
                      </a:r>
                      <a:endParaRPr lang="en-IN" sz="2400" dirty="0"/>
                    </a:p>
                  </a:txBody>
                  <a:tcPr anchor="ctr">
                    <a:lnL>
                      <a:noFill/>
                    </a:lnL>
                    <a:lnR>
                      <a:noFill/>
                    </a:lnR>
                    <a:lnT>
                      <a:noFill/>
                    </a:lnT>
                    <a:lnB>
                      <a:noFill/>
                    </a:lnB>
                  </a:tcPr>
                </a:tc>
              </a:tr>
              <a:tr h="398533">
                <a:tc>
                  <a:txBody>
                    <a:bodyPr/>
                    <a:lstStyle/>
                    <a:p>
                      <a:pPr algn="ctr"/>
                      <a:r>
                        <a:rPr lang="en-IN" sz="2400" dirty="0"/>
                        <a:t>23</a:t>
                      </a:r>
                      <a:endParaRPr lang="en-IN" sz="2400" dirty="0"/>
                    </a:p>
                  </a:txBody>
                  <a:tcPr anchor="ctr">
                    <a:lnL>
                      <a:noFill/>
                    </a:lnL>
                    <a:lnR>
                      <a:noFill/>
                    </a:lnR>
                    <a:lnT>
                      <a:noFill/>
                    </a:lnT>
                    <a:lnB>
                      <a:noFill/>
                    </a:lnB>
                  </a:tcPr>
                </a:tc>
                <a:tc>
                  <a:txBody>
                    <a:bodyPr/>
                    <a:lstStyle/>
                    <a:p>
                      <a:r>
                        <a:rPr lang="en-IN" sz="2400"/>
                        <a:t>23%10=323%10=3</a:t>
                      </a:r>
                      <a:endParaRPr lang="en-IN" sz="2400"/>
                    </a:p>
                  </a:txBody>
                  <a:tcPr anchor="ctr">
                    <a:lnL>
                      <a:noFill/>
                    </a:lnL>
                    <a:lnR>
                      <a:noFill/>
                    </a:lnR>
                    <a:lnT>
                      <a:noFill/>
                    </a:lnT>
                    <a:lnB>
                      <a:noFill/>
                    </a:lnB>
                  </a:tcPr>
                </a:tc>
                <a:tc>
                  <a:txBody>
                    <a:bodyPr/>
                    <a:lstStyle/>
                    <a:p>
                      <a:r>
                        <a:rPr lang="en-IN" sz="2400" dirty="0"/>
                        <a:t>Insert at index 3</a:t>
                      </a:r>
                      <a:endParaRPr lang="en-IN" sz="2400" dirty="0"/>
                    </a:p>
                  </a:txBody>
                  <a:tcPr anchor="ctr">
                    <a:lnL>
                      <a:noFill/>
                    </a:lnL>
                    <a:lnR>
                      <a:noFill/>
                    </a:lnR>
                    <a:lnT>
                      <a:noFill/>
                    </a:lnT>
                    <a:lnB>
                      <a:noFill/>
                    </a:lnB>
                  </a:tcPr>
                </a:tc>
              </a:tr>
              <a:tr h="697433">
                <a:tc>
                  <a:txBody>
                    <a:bodyPr/>
                    <a:lstStyle/>
                    <a:p>
                      <a:pPr algn="ctr"/>
                      <a:r>
                        <a:rPr lang="en-IN" sz="2400" dirty="0"/>
                        <a:t>19</a:t>
                      </a:r>
                      <a:endParaRPr lang="en-IN" sz="2400" dirty="0"/>
                    </a:p>
                  </a:txBody>
                  <a:tcPr anchor="ctr">
                    <a:lnL>
                      <a:noFill/>
                    </a:lnL>
                    <a:lnR>
                      <a:noFill/>
                    </a:lnR>
                    <a:lnT>
                      <a:noFill/>
                    </a:lnT>
                    <a:lnB>
                      <a:noFill/>
                    </a:lnB>
                  </a:tcPr>
                </a:tc>
                <a:tc>
                  <a:txBody>
                    <a:bodyPr/>
                    <a:lstStyle/>
                    <a:p>
                      <a:r>
                        <a:rPr lang="en-IN" sz="2400" dirty="0"/>
                        <a:t>19%10=919%10=9</a:t>
                      </a:r>
                      <a:endParaRPr lang="en-IN" sz="2400" dirty="0"/>
                    </a:p>
                  </a:txBody>
                  <a:tcPr anchor="ctr">
                    <a:lnL>
                      <a:noFill/>
                    </a:lnL>
                    <a:lnR>
                      <a:noFill/>
                    </a:lnR>
                    <a:lnT>
                      <a:noFill/>
                    </a:lnT>
                    <a:lnB>
                      <a:noFill/>
                    </a:lnB>
                  </a:tcPr>
                </a:tc>
                <a:tc>
                  <a:txBody>
                    <a:bodyPr/>
                    <a:lstStyle/>
                    <a:p>
                      <a:r>
                        <a:rPr lang="en-IN" sz="2400" dirty="0"/>
                        <a:t>Collision, resolve (next slot) → Insert at index 0</a:t>
                      </a:r>
                      <a:endParaRPr lang="en-IN" sz="2400" dirty="0"/>
                    </a:p>
                  </a:txBody>
                  <a:tcPr anchor="ctr">
                    <a:lnL>
                      <a:noFill/>
                    </a:lnL>
                    <a:lnR>
                      <a:noFill/>
                    </a:lnR>
                    <a:lnT>
                      <a:noFill/>
                    </a:lnT>
                    <a:lnB>
                      <a:noFill/>
                    </a:lnB>
                  </a:tcPr>
                </a:tc>
              </a:tr>
              <a:tr h="398533">
                <a:tc>
                  <a:txBody>
                    <a:bodyPr/>
                    <a:lstStyle/>
                    <a:p>
                      <a:pPr algn="ctr"/>
                      <a:r>
                        <a:rPr lang="en-IN" sz="2400" dirty="0"/>
                        <a:t>29</a:t>
                      </a:r>
                      <a:endParaRPr lang="en-IN" sz="2400" dirty="0"/>
                    </a:p>
                  </a:txBody>
                  <a:tcPr anchor="ctr">
                    <a:lnL>
                      <a:noFill/>
                    </a:lnL>
                    <a:lnR>
                      <a:noFill/>
                    </a:lnR>
                    <a:lnT>
                      <a:noFill/>
                    </a:lnT>
                    <a:lnB>
                      <a:noFill/>
                    </a:lnB>
                  </a:tcPr>
                </a:tc>
                <a:tc>
                  <a:txBody>
                    <a:bodyPr/>
                    <a:lstStyle/>
                    <a:p>
                      <a:r>
                        <a:rPr lang="en-IN" sz="2400"/>
                        <a:t>29%10=929%10=9</a:t>
                      </a:r>
                      <a:endParaRPr lang="en-IN" sz="2400"/>
                    </a:p>
                  </a:txBody>
                  <a:tcPr anchor="ctr">
                    <a:lnL>
                      <a:noFill/>
                    </a:lnL>
                    <a:lnR>
                      <a:noFill/>
                    </a:lnR>
                    <a:lnT>
                      <a:noFill/>
                    </a:lnT>
                    <a:lnB>
                      <a:noFill/>
                    </a:lnB>
                  </a:tcPr>
                </a:tc>
                <a:tc>
                  <a:txBody>
                    <a:bodyPr/>
                    <a:lstStyle/>
                    <a:p>
                      <a:r>
                        <a:rPr lang="en-IN" sz="2400" dirty="0"/>
                        <a:t>Collision, resolve → Insert at index 1</a:t>
                      </a:r>
                      <a:endParaRPr lang="en-IN" sz="2400" dirty="0"/>
                    </a:p>
                  </a:txBody>
                  <a:tcPr anchor="ctr">
                    <a:lnL>
                      <a:noFill/>
                    </a:lnL>
                    <a:lnR>
                      <a:noFill/>
                    </a:lnR>
                    <a:lnT>
                      <a:noFill/>
                    </a:lnT>
                    <a:lnB>
                      <a:noFill/>
                    </a:lnB>
                  </a:tcPr>
                </a:tc>
              </a:tr>
              <a:tr h="398533">
                <a:tc>
                  <a:txBody>
                    <a:bodyPr/>
                    <a:lstStyle/>
                    <a:p>
                      <a:pPr algn="ctr"/>
                      <a:r>
                        <a:rPr lang="en-IN" sz="2400" dirty="0"/>
                        <a:t>93</a:t>
                      </a:r>
                      <a:endParaRPr lang="en-IN" sz="2400" dirty="0"/>
                    </a:p>
                  </a:txBody>
                  <a:tcPr anchor="ctr">
                    <a:lnL>
                      <a:noFill/>
                    </a:lnL>
                    <a:lnR>
                      <a:noFill/>
                    </a:lnR>
                    <a:lnT>
                      <a:noFill/>
                    </a:lnT>
                    <a:lnB>
                      <a:noFill/>
                    </a:lnB>
                  </a:tcPr>
                </a:tc>
                <a:tc>
                  <a:txBody>
                    <a:bodyPr/>
                    <a:lstStyle/>
                    <a:p>
                      <a:r>
                        <a:rPr lang="en-IN" sz="2400"/>
                        <a:t>93%10=393%10=3</a:t>
                      </a:r>
                      <a:endParaRPr lang="en-IN" sz="2400"/>
                    </a:p>
                  </a:txBody>
                  <a:tcPr anchor="ctr">
                    <a:lnL>
                      <a:noFill/>
                    </a:lnL>
                    <a:lnR>
                      <a:noFill/>
                    </a:lnR>
                    <a:lnT>
                      <a:noFill/>
                    </a:lnT>
                    <a:lnB>
                      <a:noFill/>
                    </a:lnB>
                  </a:tcPr>
                </a:tc>
                <a:tc>
                  <a:txBody>
                    <a:bodyPr/>
                    <a:lstStyle/>
                    <a:p>
                      <a:r>
                        <a:rPr lang="en-IN" sz="2400" dirty="0"/>
                        <a:t>Collision, resolve → Insert at index 5</a:t>
                      </a:r>
                      <a:endParaRPr lang="en-IN" sz="2400" dirty="0"/>
                    </a:p>
                  </a:txBody>
                  <a:tcPr anchor="ctr">
                    <a:lnL>
                      <a:noFill/>
                    </a:lnL>
                    <a:lnR>
                      <a:noFill/>
                    </a:lnR>
                    <a:lnT>
                      <a:noFill/>
                    </a:lnT>
                    <a:lnB>
                      <a:noFill/>
                    </a:lnB>
                  </a:tcPr>
                </a:tc>
              </a:tr>
              <a:tr h="398533">
                <a:tc>
                  <a:txBody>
                    <a:bodyPr/>
                    <a:lstStyle/>
                    <a:p>
                      <a:pPr algn="ctr"/>
                      <a:r>
                        <a:rPr lang="en-IN" sz="2400" b="1" dirty="0"/>
                        <a:t>85</a:t>
                      </a:r>
                      <a:endParaRPr lang="en-IN" sz="2400" dirty="0"/>
                    </a:p>
                  </a:txBody>
                  <a:tcPr anchor="ctr">
                    <a:lnL>
                      <a:noFill/>
                    </a:lnL>
                    <a:lnR>
                      <a:noFill/>
                    </a:lnR>
                    <a:lnT>
                      <a:noFill/>
                    </a:lnT>
                    <a:lnB>
                      <a:noFill/>
                    </a:lnB>
                  </a:tcPr>
                </a:tc>
                <a:tc>
                  <a:txBody>
                    <a:bodyPr/>
                    <a:lstStyle/>
                    <a:p>
                      <a:r>
                        <a:rPr lang="en-IN" sz="2400"/>
                        <a:t>85%10=585%10=5</a:t>
                      </a:r>
                      <a:endParaRPr lang="en-IN" sz="2400"/>
                    </a:p>
                  </a:txBody>
                  <a:tcPr anchor="ctr">
                    <a:lnL>
                      <a:noFill/>
                    </a:lnL>
                    <a:lnR>
                      <a:noFill/>
                    </a:lnR>
                    <a:lnT>
                      <a:noFill/>
                    </a:lnT>
                    <a:lnB>
                      <a:noFill/>
                    </a:lnB>
                  </a:tcPr>
                </a:tc>
                <a:tc>
                  <a:txBody>
                    <a:bodyPr/>
                    <a:lstStyle/>
                    <a:p>
                      <a:r>
                        <a:rPr lang="en-IN" sz="2400" dirty="0"/>
                        <a:t>Collision, resolve → Insert at index 6</a:t>
                      </a:r>
                      <a:endParaRPr lang="en-IN" sz="2400" dirty="0"/>
                    </a:p>
                  </a:txBody>
                  <a:tcPr anchor="ctr">
                    <a:lnL>
                      <a:noFill/>
                    </a:lnL>
                    <a:lnR>
                      <a:noFill/>
                    </a:lnR>
                    <a:lnT>
                      <a:noFill/>
                    </a:lnT>
                    <a:lnB>
                      <a:noFill/>
                    </a:lnB>
                  </a:tcPr>
                </a:tc>
              </a:tr>
            </a:tbl>
          </a:graphicData>
        </a:graphic>
      </p:graphicFrame>
      <p:sp>
        <p:nvSpPr>
          <p:cNvPr id="4" name="Rectangle 1"/>
          <p:cNvSpPr>
            <a:spLocks noChangeArrowheads="1"/>
          </p:cNvSpPr>
          <p:nvPr/>
        </p:nvSpPr>
        <p:spPr bwMode="auto">
          <a:xfrm>
            <a:off x="268405" y="1062855"/>
            <a:ext cx="94760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Hash Function:   </a:t>
            </a: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h(x)=x%10</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420" y="0"/>
            <a:ext cx="8980226" cy="6262415"/>
          </a:xfrm>
        </p:spPr>
        <p:txBody>
          <a:bodyPr lIns="91440" tIns="45720" rIns="91440" bIns="45720" anchor="t"/>
          <a:lstStyle/>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7"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fontAlgn="base">
              <a:spcBef>
                <a:spcPct val="0"/>
              </a:spcBef>
              <a:spcAft>
                <a:spcPct val="0"/>
              </a:spcAft>
            </a:pPr>
            <a:r>
              <a:rPr lang="en-US" sz="3200" b="1" dirty="0">
                <a:solidFill>
                  <a:schemeClr val="bg1"/>
                </a:solidFill>
                <a:latin typeface="Arial" panose="020B0604020202020204" pitchFamily="34" charset="0"/>
                <a:cs typeface="Arial" panose="020B0604020202020204" pitchFamily="34" charset="0"/>
              </a:rPr>
              <a:t>Hash Table Before Rehashing</a:t>
            </a:r>
            <a:endParaRPr lang="en-US" sz="3200" b="1" dirty="0">
              <a:solidFill>
                <a:schemeClr val="bg1"/>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nvGraphicFramePr>
        <p:xfrm>
          <a:off x="177421" y="800624"/>
          <a:ext cx="4080680" cy="5699760"/>
        </p:xfrm>
        <a:graphic>
          <a:graphicData uri="http://schemas.openxmlformats.org/drawingml/2006/table">
            <a:tbl>
              <a:tblPr/>
              <a:tblGrid>
                <a:gridCol w="1514901"/>
                <a:gridCol w="2565779"/>
              </a:tblGrid>
              <a:tr h="0">
                <a:tc>
                  <a:txBody>
                    <a:bodyPr/>
                    <a:lstStyle/>
                    <a:p>
                      <a:r>
                        <a:rPr lang="en-IN" sz="2800" b="1" dirty="0"/>
                        <a:t>Index</a:t>
                      </a:r>
                      <a:endParaRPr lang="en-IN" sz="2800" dirty="0"/>
                    </a:p>
                  </a:txBody>
                  <a:tcPr anchor="ctr">
                    <a:lnL>
                      <a:noFill/>
                    </a:lnL>
                    <a:lnR>
                      <a:noFill/>
                    </a:lnR>
                    <a:lnT>
                      <a:noFill/>
                    </a:lnT>
                    <a:lnB>
                      <a:noFill/>
                    </a:lnB>
                    <a:solidFill>
                      <a:srgbClr val="00B0F0"/>
                    </a:solidFill>
                  </a:tcPr>
                </a:tc>
                <a:tc>
                  <a:txBody>
                    <a:bodyPr/>
                    <a:lstStyle/>
                    <a:p>
                      <a:r>
                        <a:rPr lang="en-IN" sz="2800" b="1" dirty="0"/>
                        <a:t>Key Value</a:t>
                      </a:r>
                      <a:endParaRPr lang="en-IN" sz="2800" dirty="0"/>
                    </a:p>
                  </a:txBody>
                  <a:tcPr anchor="ctr">
                    <a:lnL>
                      <a:noFill/>
                    </a:lnL>
                    <a:lnR>
                      <a:noFill/>
                    </a:lnR>
                    <a:lnT>
                      <a:noFill/>
                    </a:lnT>
                    <a:lnB>
                      <a:noFill/>
                    </a:lnB>
                    <a:solidFill>
                      <a:srgbClr val="00B0F0"/>
                    </a:solidFill>
                  </a:tcPr>
                </a:tc>
              </a:tr>
              <a:tr h="0">
                <a:tc>
                  <a:txBody>
                    <a:bodyPr/>
                    <a:lstStyle/>
                    <a:p>
                      <a:r>
                        <a:rPr lang="en-IN" sz="2800"/>
                        <a:t>0</a:t>
                      </a:r>
                      <a:endParaRPr lang="en-IN" sz="2800"/>
                    </a:p>
                  </a:txBody>
                  <a:tcPr anchor="ctr">
                    <a:lnL>
                      <a:noFill/>
                    </a:lnL>
                    <a:lnR>
                      <a:noFill/>
                    </a:lnR>
                    <a:lnT>
                      <a:noFill/>
                    </a:lnT>
                    <a:lnB>
                      <a:noFill/>
                    </a:lnB>
                  </a:tcPr>
                </a:tc>
                <a:tc>
                  <a:txBody>
                    <a:bodyPr/>
                    <a:lstStyle/>
                    <a:p>
                      <a:r>
                        <a:rPr lang="en-IN" sz="2800" dirty="0"/>
                        <a:t>19</a:t>
                      </a:r>
                      <a:endParaRPr lang="en-IN" sz="2800" dirty="0"/>
                    </a:p>
                  </a:txBody>
                  <a:tcPr anchor="ctr">
                    <a:lnL>
                      <a:noFill/>
                    </a:lnL>
                    <a:lnR>
                      <a:noFill/>
                    </a:lnR>
                    <a:lnT>
                      <a:noFill/>
                    </a:lnT>
                    <a:lnB>
                      <a:noFill/>
                    </a:lnB>
                  </a:tcPr>
                </a:tc>
              </a:tr>
              <a:tr h="0">
                <a:tc>
                  <a:txBody>
                    <a:bodyPr/>
                    <a:lstStyle/>
                    <a:p>
                      <a:r>
                        <a:rPr lang="en-IN" sz="2800"/>
                        <a:t>1</a:t>
                      </a:r>
                      <a:endParaRPr lang="en-IN" sz="2800"/>
                    </a:p>
                  </a:txBody>
                  <a:tcPr anchor="ctr">
                    <a:lnL>
                      <a:noFill/>
                    </a:lnL>
                    <a:lnR>
                      <a:noFill/>
                    </a:lnR>
                    <a:lnT>
                      <a:noFill/>
                    </a:lnT>
                    <a:lnB>
                      <a:noFill/>
                    </a:lnB>
                  </a:tcPr>
                </a:tc>
                <a:tc>
                  <a:txBody>
                    <a:bodyPr/>
                    <a:lstStyle/>
                    <a:p>
                      <a:r>
                        <a:rPr lang="en-IN" sz="2800" dirty="0"/>
                        <a:t>29</a:t>
                      </a:r>
                      <a:endParaRPr lang="en-IN" sz="2800" dirty="0"/>
                    </a:p>
                  </a:txBody>
                  <a:tcPr anchor="ctr">
                    <a:lnL>
                      <a:noFill/>
                    </a:lnL>
                    <a:lnR>
                      <a:noFill/>
                    </a:lnR>
                    <a:lnT>
                      <a:noFill/>
                    </a:lnT>
                    <a:lnB>
                      <a:noFill/>
                    </a:lnB>
                  </a:tcPr>
                </a:tc>
              </a:tr>
              <a:tr h="0">
                <a:tc>
                  <a:txBody>
                    <a:bodyPr/>
                    <a:lstStyle/>
                    <a:p>
                      <a:r>
                        <a:rPr lang="en-IN" sz="2800" dirty="0"/>
                        <a:t>2</a:t>
                      </a:r>
                      <a:endParaRPr lang="en-IN" sz="2800" dirty="0"/>
                    </a:p>
                  </a:txBody>
                  <a:tcPr anchor="ctr">
                    <a:lnL>
                      <a:noFill/>
                    </a:lnL>
                    <a:lnR>
                      <a:noFill/>
                    </a:lnR>
                    <a:lnT>
                      <a:noFill/>
                    </a:lnT>
                    <a:lnB>
                      <a:noFill/>
                    </a:lnB>
                  </a:tcPr>
                </a:tc>
                <a:tc>
                  <a:txBody>
                    <a:bodyPr/>
                    <a:lstStyle/>
                    <a:p>
                      <a:r>
                        <a:rPr lang="en-IN" sz="2800" dirty="0"/>
                        <a:t>-</a:t>
                      </a:r>
                      <a:endParaRPr lang="en-IN" sz="2800" dirty="0"/>
                    </a:p>
                  </a:txBody>
                  <a:tcPr anchor="ctr">
                    <a:lnL>
                      <a:noFill/>
                    </a:lnL>
                    <a:lnR>
                      <a:noFill/>
                    </a:lnR>
                    <a:lnT>
                      <a:noFill/>
                    </a:lnT>
                    <a:lnB>
                      <a:noFill/>
                    </a:lnB>
                  </a:tcPr>
                </a:tc>
              </a:tr>
              <a:tr h="0">
                <a:tc>
                  <a:txBody>
                    <a:bodyPr/>
                    <a:lstStyle/>
                    <a:p>
                      <a:r>
                        <a:rPr lang="en-IN" sz="2800"/>
                        <a:t>3</a:t>
                      </a:r>
                      <a:endParaRPr lang="en-IN" sz="2800"/>
                    </a:p>
                  </a:txBody>
                  <a:tcPr anchor="ctr">
                    <a:lnL>
                      <a:noFill/>
                    </a:lnL>
                    <a:lnR>
                      <a:noFill/>
                    </a:lnR>
                    <a:lnT>
                      <a:noFill/>
                    </a:lnT>
                    <a:lnB>
                      <a:noFill/>
                    </a:lnB>
                  </a:tcPr>
                </a:tc>
                <a:tc>
                  <a:txBody>
                    <a:bodyPr/>
                    <a:lstStyle/>
                    <a:p>
                      <a:r>
                        <a:rPr lang="en-IN" sz="2800" dirty="0"/>
                        <a:t>23</a:t>
                      </a:r>
                      <a:endParaRPr lang="en-IN" sz="2800" dirty="0"/>
                    </a:p>
                  </a:txBody>
                  <a:tcPr anchor="ctr">
                    <a:lnL>
                      <a:noFill/>
                    </a:lnL>
                    <a:lnR>
                      <a:noFill/>
                    </a:lnR>
                    <a:lnT>
                      <a:noFill/>
                    </a:lnT>
                    <a:lnB>
                      <a:noFill/>
                    </a:lnB>
                  </a:tcPr>
                </a:tc>
              </a:tr>
              <a:tr h="0">
                <a:tc>
                  <a:txBody>
                    <a:bodyPr/>
                    <a:lstStyle/>
                    <a:p>
                      <a:r>
                        <a:rPr lang="en-IN" sz="2800"/>
                        <a:t>4</a:t>
                      </a:r>
                      <a:endParaRPr lang="en-IN" sz="2800"/>
                    </a:p>
                  </a:txBody>
                  <a:tcPr anchor="ctr">
                    <a:lnL>
                      <a:noFill/>
                    </a:lnL>
                    <a:lnR>
                      <a:noFill/>
                    </a:lnR>
                    <a:lnT>
                      <a:noFill/>
                    </a:lnT>
                    <a:lnB>
                      <a:noFill/>
                    </a:lnB>
                  </a:tcPr>
                </a:tc>
                <a:tc>
                  <a:txBody>
                    <a:bodyPr/>
                    <a:lstStyle/>
                    <a:p>
                      <a:r>
                        <a:rPr lang="en-IN" sz="2800" dirty="0"/>
                        <a:t>34</a:t>
                      </a:r>
                      <a:endParaRPr lang="en-IN" sz="2800" dirty="0"/>
                    </a:p>
                  </a:txBody>
                  <a:tcPr anchor="ctr">
                    <a:lnL>
                      <a:noFill/>
                    </a:lnL>
                    <a:lnR>
                      <a:noFill/>
                    </a:lnR>
                    <a:lnT>
                      <a:noFill/>
                    </a:lnT>
                    <a:lnB>
                      <a:noFill/>
                    </a:lnB>
                  </a:tcPr>
                </a:tc>
              </a:tr>
              <a:tr h="0">
                <a:tc>
                  <a:txBody>
                    <a:bodyPr/>
                    <a:lstStyle/>
                    <a:p>
                      <a:r>
                        <a:rPr lang="en-IN" sz="2800"/>
                        <a:t>5</a:t>
                      </a:r>
                      <a:endParaRPr lang="en-IN" sz="2800"/>
                    </a:p>
                  </a:txBody>
                  <a:tcPr anchor="ctr">
                    <a:lnL>
                      <a:noFill/>
                    </a:lnL>
                    <a:lnR>
                      <a:noFill/>
                    </a:lnR>
                    <a:lnT>
                      <a:noFill/>
                    </a:lnT>
                    <a:lnB>
                      <a:noFill/>
                    </a:lnB>
                  </a:tcPr>
                </a:tc>
                <a:tc>
                  <a:txBody>
                    <a:bodyPr/>
                    <a:lstStyle/>
                    <a:p>
                      <a:r>
                        <a:rPr lang="en-IN" sz="2800" dirty="0"/>
                        <a:t>93</a:t>
                      </a:r>
                      <a:endParaRPr lang="en-IN" sz="2800" dirty="0"/>
                    </a:p>
                  </a:txBody>
                  <a:tcPr anchor="ctr">
                    <a:lnL>
                      <a:noFill/>
                    </a:lnL>
                    <a:lnR>
                      <a:noFill/>
                    </a:lnR>
                    <a:lnT>
                      <a:noFill/>
                    </a:lnT>
                    <a:lnB>
                      <a:noFill/>
                    </a:lnB>
                  </a:tcPr>
                </a:tc>
              </a:tr>
              <a:tr h="0">
                <a:tc>
                  <a:txBody>
                    <a:bodyPr/>
                    <a:lstStyle/>
                    <a:p>
                      <a:r>
                        <a:rPr lang="en-IN" sz="2800"/>
                        <a:t>6</a:t>
                      </a:r>
                      <a:endParaRPr lang="en-IN" sz="2800"/>
                    </a:p>
                  </a:txBody>
                  <a:tcPr anchor="ctr">
                    <a:lnL>
                      <a:noFill/>
                    </a:lnL>
                    <a:lnR>
                      <a:noFill/>
                    </a:lnR>
                    <a:lnT>
                      <a:noFill/>
                    </a:lnT>
                    <a:lnB>
                      <a:noFill/>
                    </a:lnB>
                  </a:tcPr>
                </a:tc>
                <a:tc>
                  <a:txBody>
                    <a:bodyPr/>
                    <a:lstStyle/>
                    <a:p>
                      <a:r>
                        <a:rPr lang="en-IN" sz="2800" dirty="0"/>
                        <a:t>85</a:t>
                      </a:r>
                      <a:endParaRPr lang="en-IN" sz="2800" dirty="0"/>
                    </a:p>
                  </a:txBody>
                  <a:tcPr anchor="ctr">
                    <a:lnL>
                      <a:noFill/>
                    </a:lnL>
                    <a:lnR>
                      <a:noFill/>
                    </a:lnR>
                    <a:lnT>
                      <a:noFill/>
                    </a:lnT>
                    <a:lnB>
                      <a:noFill/>
                    </a:lnB>
                  </a:tcPr>
                </a:tc>
              </a:tr>
              <a:tr h="0">
                <a:tc>
                  <a:txBody>
                    <a:bodyPr/>
                    <a:lstStyle/>
                    <a:p>
                      <a:r>
                        <a:rPr lang="en-IN" sz="2800"/>
                        <a:t>7</a:t>
                      </a:r>
                      <a:endParaRPr lang="en-IN" sz="2800"/>
                    </a:p>
                  </a:txBody>
                  <a:tcPr anchor="ctr">
                    <a:lnL>
                      <a:noFill/>
                    </a:lnL>
                    <a:lnR>
                      <a:noFill/>
                    </a:lnR>
                    <a:lnT>
                      <a:noFill/>
                    </a:lnT>
                    <a:lnB>
                      <a:noFill/>
                    </a:lnB>
                  </a:tcPr>
                </a:tc>
                <a:tc>
                  <a:txBody>
                    <a:bodyPr/>
                    <a:lstStyle/>
                    <a:p>
                      <a:r>
                        <a:rPr lang="en-IN" sz="2800" dirty="0"/>
                        <a:t>67</a:t>
                      </a:r>
                      <a:endParaRPr lang="en-IN" sz="2800" dirty="0"/>
                    </a:p>
                  </a:txBody>
                  <a:tcPr anchor="ctr">
                    <a:lnL>
                      <a:noFill/>
                    </a:lnL>
                    <a:lnR>
                      <a:noFill/>
                    </a:lnR>
                    <a:lnT>
                      <a:noFill/>
                    </a:lnT>
                    <a:lnB>
                      <a:noFill/>
                    </a:lnB>
                  </a:tcPr>
                </a:tc>
              </a:tr>
              <a:tr h="0">
                <a:tc>
                  <a:txBody>
                    <a:bodyPr/>
                    <a:lstStyle/>
                    <a:p>
                      <a:r>
                        <a:rPr lang="en-IN" sz="2800" dirty="0"/>
                        <a:t>8</a:t>
                      </a:r>
                      <a:endParaRPr lang="en-IN" sz="2800" dirty="0"/>
                    </a:p>
                  </a:txBody>
                  <a:tcPr anchor="ctr">
                    <a:lnL>
                      <a:noFill/>
                    </a:lnL>
                    <a:lnR>
                      <a:noFill/>
                    </a:lnR>
                    <a:lnT>
                      <a:noFill/>
                    </a:lnT>
                    <a:lnB>
                      <a:noFill/>
                    </a:lnB>
                  </a:tcPr>
                </a:tc>
                <a:tc>
                  <a:txBody>
                    <a:bodyPr/>
                    <a:lstStyle/>
                    <a:p>
                      <a:r>
                        <a:rPr lang="en-IN" sz="2800" dirty="0"/>
                        <a:t>-</a:t>
                      </a:r>
                      <a:endParaRPr lang="en-IN" sz="2800" dirty="0"/>
                    </a:p>
                  </a:txBody>
                  <a:tcPr anchor="ctr">
                    <a:lnL>
                      <a:noFill/>
                    </a:lnL>
                    <a:lnR>
                      <a:noFill/>
                    </a:lnR>
                    <a:lnT>
                      <a:noFill/>
                    </a:lnT>
                    <a:lnB>
                      <a:noFill/>
                    </a:lnB>
                  </a:tcPr>
                </a:tc>
              </a:tr>
              <a:tr h="0">
                <a:tc>
                  <a:txBody>
                    <a:bodyPr/>
                    <a:lstStyle/>
                    <a:p>
                      <a:r>
                        <a:rPr lang="en-IN" sz="2800"/>
                        <a:t>9</a:t>
                      </a:r>
                      <a:endParaRPr lang="en-IN" sz="2800"/>
                    </a:p>
                  </a:txBody>
                  <a:tcPr anchor="ctr">
                    <a:lnL>
                      <a:noFill/>
                    </a:lnL>
                    <a:lnR>
                      <a:noFill/>
                    </a:lnR>
                    <a:lnT>
                      <a:noFill/>
                    </a:lnT>
                    <a:lnB>
                      <a:noFill/>
                    </a:lnB>
                  </a:tcPr>
                </a:tc>
                <a:tc>
                  <a:txBody>
                    <a:bodyPr/>
                    <a:lstStyle/>
                    <a:p>
                      <a:r>
                        <a:rPr lang="en-IN" sz="2800" dirty="0"/>
                        <a:t>89</a:t>
                      </a:r>
                      <a:endParaRPr lang="en-IN" sz="2800" dirty="0"/>
                    </a:p>
                  </a:txBody>
                  <a:tcPr anchor="ctr">
                    <a:lnL>
                      <a:noFill/>
                    </a:lnL>
                    <a:lnR>
                      <a:noFill/>
                    </a:lnR>
                    <a:lnT>
                      <a:noFill/>
                    </a:lnT>
                    <a:lnB>
                      <a:noFill/>
                    </a:lnB>
                  </a:tcPr>
                </a:tc>
              </a:tr>
            </a:tbl>
          </a:graphicData>
        </a:graphic>
      </p:graphicFrame>
      <p:sp>
        <p:nvSpPr>
          <p:cNvPr id="6" name="Rectangle 5"/>
          <p:cNvSpPr/>
          <p:nvPr/>
        </p:nvSpPr>
        <p:spPr>
          <a:xfrm>
            <a:off x="3698544" y="2787893"/>
            <a:ext cx="8338782" cy="3539430"/>
          </a:xfrm>
          <a:prstGeom prst="rect">
            <a:avLst/>
          </a:prstGeom>
        </p:spPr>
        <p:txBody>
          <a:bodyPr wrap="square">
            <a:spAutoFit/>
          </a:bodyPr>
          <a:lstStyle/>
          <a:p>
            <a:pPr lvl="0"/>
            <a:r>
              <a:rPr lang="en-US" sz="2800" dirty="0">
                <a:latin typeface="Arial" panose="020B0604020202020204" pitchFamily="34" charset="0"/>
                <a:cs typeface="Arial" panose="020B0604020202020204" pitchFamily="34" charset="0"/>
              </a:rPr>
              <a:t>At this point, </a:t>
            </a:r>
            <a:r>
              <a:rPr lang="en-US" sz="2800" b="1" dirty="0">
                <a:latin typeface="Arial" panose="020B0604020202020204" pitchFamily="34" charset="0"/>
                <a:cs typeface="Arial" panose="020B0604020202020204" pitchFamily="34" charset="0"/>
              </a:rPr>
              <a:t>Load Factor</a:t>
            </a:r>
            <a:r>
              <a:rPr lang="en-US" sz="2800" dirty="0">
                <a:latin typeface="Arial" panose="020B0604020202020204" pitchFamily="34" charset="0"/>
                <a:cs typeface="Arial" panose="020B0604020202020204" pitchFamily="34" charset="0"/>
              </a:rPr>
              <a:t> = 8/10= 0.8,</a:t>
            </a:r>
            <a:endParaRPr lang="en-US" sz="2800" dirty="0">
              <a:latin typeface="Arial" panose="020B0604020202020204" pitchFamily="34" charset="0"/>
              <a:cs typeface="Arial" panose="020B0604020202020204" pitchFamily="34" charset="0"/>
            </a:endParaRPr>
          </a:p>
          <a:p>
            <a:pPr lvl="0"/>
            <a:r>
              <a:rPr lang="en-US" sz="2800" dirty="0">
                <a:latin typeface="Arial" panose="020B0604020202020204" pitchFamily="34" charset="0"/>
                <a:cs typeface="Arial" panose="020B0604020202020204" pitchFamily="34" charset="0"/>
              </a:rPr>
              <a:t>0.8 &gt; 0.75, so </a:t>
            </a:r>
            <a:r>
              <a:rPr lang="en-US" sz="2800" b="1" dirty="0">
                <a:latin typeface="Arial" panose="020B0604020202020204" pitchFamily="34" charset="0"/>
                <a:cs typeface="Arial" panose="020B0604020202020204" pitchFamily="34" charset="0"/>
              </a:rPr>
              <a:t>rehashing is triggered</a:t>
            </a:r>
            <a:r>
              <a:rPr lang="en-US" sz="2800" dirty="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a:p>
            <a:endParaRPr lang="en-IN" sz="2800" b="1" dirty="0"/>
          </a:p>
          <a:p>
            <a:r>
              <a:rPr lang="en-IN" sz="2800" b="1" dirty="0"/>
              <a:t>New Hash Table Size: </a:t>
            </a:r>
            <a:r>
              <a:rPr lang="en-IN" sz="2800" dirty="0"/>
              <a:t>20 (Double the initial size).</a:t>
            </a:r>
            <a:endParaRPr lang="en-IN" sz="2800" dirty="0"/>
          </a:p>
          <a:p>
            <a:r>
              <a:rPr lang="en-IN" sz="2800" b="1" dirty="0"/>
              <a:t>New Hash Function: </a:t>
            </a:r>
            <a:r>
              <a:rPr lang="en-IN" sz="2800" dirty="0"/>
              <a:t>h′(x)=x%20</a:t>
            </a:r>
            <a:endParaRPr lang="en-IN" sz="2800" dirty="0"/>
          </a:p>
          <a:p>
            <a:endParaRPr lang="en-IN" sz="2800" dirty="0"/>
          </a:p>
          <a:p>
            <a:r>
              <a:rPr lang="en-IN" sz="2800" b="1" dirty="0"/>
              <a:t>Rehashing Keys: </a:t>
            </a:r>
            <a:r>
              <a:rPr lang="en-IN" sz="2800" dirty="0"/>
              <a:t>Reinsert all keys from the old table into the new table using the new hash function.</a:t>
            </a:r>
            <a:endParaRPr lang="en-I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95585"/>
            <a:ext cx="12105005" cy="6262415"/>
          </a:xfrm>
        </p:spPr>
        <p:txBody>
          <a:bodyPr lIns="91440" tIns="45720" rIns="91440" bIns="45720" anchor="t"/>
          <a:lstStyle/>
          <a:p>
            <a:pPr marL="0" indent="0" algn="just">
              <a:buNone/>
            </a:pPr>
            <a:r>
              <a:rPr lang="en-US" sz="2400" dirty="0">
                <a:latin typeface="Times New Roman" panose="02020603050405020304"/>
                <a:cs typeface="Times New Roman" panose="02020603050405020304"/>
              </a:rPr>
              <a:t>   </a:t>
            </a:r>
            <a:endParaRPr lang="en-US" sz="2400" dirty="0">
              <a:latin typeface="Times New Roman" panose="02020603050405020304"/>
              <a:cs typeface="Times New Roman" panose="02020603050405020304"/>
            </a:endParaRPr>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7"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lgn="ctr" fontAlgn="base">
              <a:spcBef>
                <a:spcPct val="0"/>
              </a:spcBef>
              <a:spcAft>
                <a:spcPct val="0"/>
              </a:spcAft>
            </a:pPr>
            <a:r>
              <a:rPr lang="en-US" sz="2800" b="1" dirty="0">
                <a:solidFill>
                  <a:schemeClr val="bg1"/>
                </a:solidFill>
                <a:latin typeface="Arial" panose="020B0604020202020204" pitchFamily="34" charset="0"/>
                <a:cs typeface="Arial" panose="020B0604020202020204" pitchFamily="34" charset="0"/>
              </a:rPr>
              <a:t>Hash Table After Rehashing</a:t>
            </a:r>
            <a:endParaRPr lang="en-US" sz="2800" b="1" dirty="0">
              <a:solidFill>
                <a:schemeClr val="bg1"/>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nvGraphicFramePr>
        <p:xfrm>
          <a:off x="1091821" y="818789"/>
          <a:ext cx="7765576" cy="5614800"/>
        </p:xfrm>
        <a:graphic>
          <a:graphicData uri="http://schemas.openxmlformats.org/drawingml/2006/table">
            <a:tbl>
              <a:tblPr/>
              <a:tblGrid>
                <a:gridCol w="1764627"/>
                <a:gridCol w="1764627"/>
                <a:gridCol w="1764627"/>
                <a:gridCol w="2471695"/>
              </a:tblGrid>
              <a:tr h="172381">
                <a:tc>
                  <a:txBody>
                    <a:bodyPr/>
                    <a:lstStyle/>
                    <a:p>
                      <a:pPr algn="ctr"/>
                      <a:r>
                        <a:rPr lang="en-IN" sz="2800" b="1" dirty="0"/>
                        <a:t>Index</a:t>
                      </a:r>
                      <a:endParaRPr lang="en-IN" sz="2800" dirty="0"/>
                    </a:p>
                  </a:txBody>
                  <a:tcPr marL="53881" marR="53881" marT="26940" marB="26940" anchor="ctr">
                    <a:lnL>
                      <a:noFill/>
                    </a:lnL>
                    <a:lnR>
                      <a:noFill/>
                    </a:lnR>
                    <a:lnT>
                      <a:noFill/>
                    </a:lnT>
                    <a:lnB>
                      <a:noFill/>
                    </a:lnB>
                    <a:solidFill>
                      <a:srgbClr val="00B0F0"/>
                    </a:solidFill>
                  </a:tcPr>
                </a:tc>
                <a:tc>
                  <a:txBody>
                    <a:bodyPr/>
                    <a:lstStyle/>
                    <a:p>
                      <a:pPr algn="ctr"/>
                      <a:r>
                        <a:rPr lang="en-IN" sz="2800" b="1" dirty="0"/>
                        <a:t>Value</a:t>
                      </a:r>
                      <a:endParaRPr lang="en-IN" sz="2800" dirty="0"/>
                    </a:p>
                  </a:txBody>
                  <a:tcPr marL="53881" marR="53881" marT="26940" marB="26940" anchor="ctr">
                    <a:lnL>
                      <a:noFill/>
                    </a:lnL>
                    <a:lnR>
                      <a:noFill/>
                    </a:lnR>
                    <a:lnT>
                      <a:noFill/>
                    </a:lnT>
                    <a:lnB>
                      <a:noFill/>
                    </a:lnB>
                    <a:solidFill>
                      <a:srgbClr val="00B0F0"/>
                    </a:solidFill>
                  </a:tcPr>
                </a:tc>
                <a:tc>
                  <a:txBody>
                    <a:bodyPr/>
                    <a:lstStyle/>
                    <a:p>
                      <a:pPr algn="ctr"/>
                      <a:r>
                        <a:rPr lang="en-IN" sz="2800" b="1" dirty="0"/>
                        <a:t>Index</a:t>
                      </a:r>
                      <a:endParaRPr lang="en-IN" sz="2800" dirty="0"/>
                    </a:p>
                  </a:txBody>
                  <a:tcPr marL="53881" marR="53881" marT="26940" marB="26940" anchor="ctr">
                    <a:lnL>
                      <a:noFill/>
                    </a:lnL>
                    <a:lnR>
                      <a:noFill/>
                    </a:lnR>
                    <a:lnT>
                      <a:noFill/>
                    </a:lnT>
                    <a:lnB>
                      <a:noFill/>
                    </a:lnB>
                    <a:solidFill>
                      <a:srgbClr val="00B0F0"/>
                    </a:solidFill>
                  </a:tcPr>
                </a:tc>
                <a:tc>
                  <a:txBody>
                    <a:bodyPr/>
                    <a:lstStyle/>
                    <a:p>
                      <a:pPr algn="ctr"/>
                      <a:r>
                        <a:rPr lang="en-IN" sz="2800" b="1" dirty="0"/>
                        <a:t>Value</a:t>
                      </a:r>
                      <a:endParaRPr lang="en-IN" sz="2800" dirty="0"/>
                    </a:p>
                  </a:txBody>
                  <a:tcPr marL="53881" marR="53881" marT="26940" marB="26940" anchor="ctr">
                    <a:lnL>
                      <a:noFill/>
                    </a:lnL>
                    <a:lnR>
                      <a:noFill/>
                    </a:lnR>
                    <a:lnT>
                      <a:noFill/>
                    </a:lnT>
                    <a:lnB>
                      <a:noFill/>
                    </a:lnB>
                    <a:solidFill>
                      <a:srgbClr val="00B0F0"/>
                    </a:solidFill>
                  </a:tcPr>
                </a:tc>
              </a:tr>
              <a:tr h="276472">
                <a:tc>
                  <a:txBody>
                    <a:bodyPr/>
                    <a:lstStyle/>
                    <a:p>
                      <a:pPr algn="ctr"/>
                      <a:r>
                        <a:rPr lang="en-IN" sz="2800" dirty="0"/>
                        <a:t>0</a:t>
                      </a:r>
                      <a:endParaRPr lang="en-IN" sz="2800" dirty="0"/>
                    </a:p>
                  </a:txBody>
                  <a:tcPr marL="53881" marR="53881" marT="26940" marB="26940" anchor="ctr">
                    <a:lnL>
                      <a:noFill/>
                    </a:lnL>
                    <a:lnR>
                      <a:noFill/>
                    </a:lnR>
                    <a:lnT>
                      <a:noFill/>
                    </a:lnT>
                    <a:lnB>
                      <a:noFill/>
                    </a:lnB>
                  </a:tcPr>
                </a:tc>
                <a:tc>
                  <a:txBody>
                    <a:bodyPr/>
                    <a:lstStyle/>
                    <a:p>
                      <a:pPr algn="ctr"/>
                      <a:r>
                        <a:rPr lang="en-IN" sz="2800" dirty="0"/>
                        <a:t>20</a:t>
                      </a:r>
                      <a:endParaRPr lang="en-IN" sz="2800" dirty="0"/>
                    </a:p>
                  </a:txBody>
                  <a:tcPr marL="53881" marR="53881" marT="26940" marB="26940" anchor="ctr">
                    <a:lnL>
                      <a:noFill/>
                    </a:lnL>
                    <a:lnR>
                      <a:noFill/>
                    </a:lnR>
                    <a:lnT>
                      <a:noFill/>
                    </a:lnT>
                    <a:lnB>
                      <a:noFill/>
                    </a:lnB>
                  </a:tcPr>
                </a:tc>
                <a:tc>
                  <a:txBody>
                    <a:bodyPr/>
                    <a:lstStyle/>
                    <a:p>
                      <a:pPr algn="ctr"/>
                      <a:r>
                        <a:rPr lang="en-IN" sz="2800" dirty="0"/>
                        <a:t>10</a:t>
                      </a:r>
                      <a:endParaRPr lang="en-IN" sz="2800" dirty="0"/>
                    </a:p>
                  </a:txBody>
                  <a:tcPr marL="53881" marR="53881" marT="26940" marB="26940" anchor="ctr">
                    <a:lnL>
                      <a:noFill/>
                    </a:lnL>
                    <a:lnR>
                      <a:noFill/>
                    </a:lnR>
                    <a:lnT>
                      <a:noFill/>
                    </a:lnT>
                    <a:lnB>
                      <a:noFill/>
                    </a:lnB>
                  </a:tcPr>
                </a:tc>
                <a:tc>
                  <a:txBody>
                    <a:bodyPr/>
                    <a:lstStyle/>
                    <a:p>
                      <a:pPr algn="ctr"/>
                      <a:r>
                        <a:rPr lang="en-IN" sz="2800" dirty="0"/>
                        <a:t>29</a:t>
                      </a:r>
                      <a:endParaRPr lang="en-IN" sz="2800" dirty="0"/>
                    </a:p>
                  </a:txBody>
                  <a:tcPr marL="53881" marR="53881" marT="26940" marB="26940" anchor="ctr">
                    <a:lnL>
                      <a:noFill/>
                    </a:lnL>
                    <a:lnR>
                      <a:noFill/>
                    </a:lnR>
                    <a:lnT>
                      <a:noFill/>
                    </a:lnT>
                    <a:lnB>
                      <a:noFill/>
                    </a:lnB>
                  </a:tcPr>
                </a:tc>
              </a:tr>
              <a:tr h="215522">
                <a:tc>
                  <a:txBody>
                    <a:bodyPr/>
                    <a:lstStyle/>
                    <a:p>
                      <a:pPr algn="ctr"/>
                      <a:r>
                        <a:rPr lang="en-IN" sz="2800"/>
                        <a:t>1</a:t>
                      </a:r>
                      <a:endParaRPr lang="en-IN" sz="280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c>
                  <a:txBody>
                    <a:bodyPr/>
                    <a:lstStyle/>
                    <a:p>
                      <a:pPr algn="ctr"/>
                      <a:r>
                        <a:rPr lang="en-IN" sz="2800" dirty="0"/>
                        <a:t>11</a:t>
                      </a:r>
                      <a:endParaRPr lang="en-IN" sz="2800" dirty="0"/>
                    </a:p>
                  </a:txBody>
                  <a:tcPr marL="53881" marR="53881" marT="26940" marB="26940" anchor="ctr">
                    <a:lnL>
                      <a:noFill/>
                    </a:lnL>
                    <a:lnR>
                      <a:noFill/>
                    </a:lnR>
                    <a:lnT>
                      <a:noFill/>
                    </a:lnT>
                    <a:lnB>
                      <a:noFill/>
                    </a:lnB>
                  </a:tcPr>
                </a:tc>
                <a:tc>
                  <a:txBody>
                    <a:bodyPr/>
                    <a:lstStyle/>
                    <a:p>
                      <a:pPr algn="ctr"/>
                      <a:r>
                        <a:rPr lang="en-IN" sz="2800" dirty="0"/>
                        <a:t>51</a:t>
                      </a:r>
                      <a:endParaRPr lang="en-IN" sz="2800" dirty="0"/>
                    </a:p>
                  </a:txBody>
                  <a:tcPr marL="53881" marR="53881" marT="26940" marB="26940" anchor="ctr">
                    <a:lnL>
                      <a:noFill/>
                    </a:lnL>
                    <a:lnR>
                      <a:noFill/>
                    </a:lnR>
                    <a:lnT>
                      <a:noFill/>
                    </a:lnT>
                    <a:lnB>
                      <a:noFill/>
                    </a:lnB>
                  </a:tcPr>
                </a:tc>
              </a:tr>
              <a:tr h="215522">
                <a:tc>
                  <a:txBody>
                    <a:bodyPr/>
                    <a:lstStyle/>
                    <a:p>
                      <a:pPr algn="ctr"/>
                      <a:r>
                        <a:rPr lang="en-IN" sz="2800"/>
                        <a:t>2</a:t>
                      </a:r>
                      <a:endParaRPr lang="en-IN" sz="280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c>
                  <a:txBody>
                    <a:bodyPr/>
                    <a:lstStyle/>
                    <a:p>
                      <a:pPr algn="ctr"/>
                      <a:r>
                        <a:rPr lang="en-IN" sz="2800" dirty="0"/>
                        <a:t>12</a:t>
                      </a:r>
                      <a:endParaRPr lang="en-IN" sz="2800" dirty="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r>
              <a:tr h="215522">
                <a:tc>
                  <a:txBody>
                    <a:bodyPr/>
                    <a:lstStyle/>
                    <a:p>
                      <a:pPr algn="ctr"/>
                      <a:r>
                        <a:rPr lang="en-IN" sz="2800" dirty="0"/>
                        <a:t>3</a:t>
                      </a:r>
                      <a:endParaRPr lang="en-IN" sz="2800" dirty="0"/>
                    </a:p>
                  </a:txBody>
                  <a:tcPr marL="53881" marR="53881" marT="26940" marB="26940" anchor="ctr">
                    <a:lnL>
                      <a:noFill/>
                    </a:lnL>
                    <a:lnR>
                      <a:noFill/>
                    </a:lnR>
                    <a:lnT>
                      <a:noFill/>
                    </a:lnT>
                    <a:lnB>
                      <a:noFill/>
                    </a:lnB>
                  </a:tcPr>
                </a:tc>
                <a:tc>
                  <a:txBody>
                    <a:bodyPr/>
                    <a:lstStyle/>
                    <a:p>
                      <a:pPr algn="ctr"/>
                      <a:r>
                        <a:rPr lang="en-IN" sz="2800" dirty="0"/>
                        <a:t>23</a:t>
                      </a:r>
                      <a:endParaRPr lang="en-IN" sz="2800" dirty="0"/>
                    </a:p>
                  </a:txBody>
                  <a:tcPr marL="53881" marR="53881" marT="26940" marB="26940" anchor="ctr">
                    <a:lnL>
                      <a:noFill/>
                    </a:lnL>
                    <a:lnR>
                      <a:noFill/>
                    </a:lnR>
                    <a:lnT>
                      <a:noFill/>
                    </a:lnT>
                    <a:lnB>
                      <a:noFill/>
                    </a:lnB>
                  </a:tcPr>
                </a:tc>
                <a:tc>
                  <a:txBody>
                    <a:bodyPr/>
                    <a:lstStyle/>
                    <a:p>
                      <a:pPr algn="ctr"/>
                      <a:r>
                        <a:rPr lang="en-IN" sz="2800"/>
                        <a:t>13</a:t>
                      </a:r>
                      <a:endParaRPr lang="en-IN" sz="2800"/>
                    </a:p>
                  </a:txBody>
                  <a:tcPr marL="53881" marR="53881" marT="26940" marB="26940" anchor="ctr">
                    <a:lnL>
                      <a:noFill/>
                    </a:lnL>
                    <a:lnR>
                      <a:noFill/>
                    </a:lnR>
                    <a:lnT>
                      <a:noFill/>
                    </a:lnT>
                    <a:lnB>
                      <a:noFill/>
                    </a:lnB>
                  </a:tcPr>
                </a:tc>
                <a:tc>
                  <a:txBody>
                    <a:bodyPr/>
                    <a:lstStyle/>
                    <a:p>
                      <a:pPr algn="ctr"/>
                      <a:r>
                        <a:rPr lang="en-IN" sz="2800" dirty="0"/>
                        <a:t>93</a:t>
                      </a:r>
                      <a:endParaRPr lang="en-IN" sz="2800" dirty="0"/>
                    </a:p>
                  </a:txBody>
                  <a:tcPr marL="53881" marR="53881" marT="26940" marB="26940" anchor="ctr">
                    <a:lnL>
                      <a:noFill/>
                    </a:lnL>
                    <a:lnR>
                      <a:noFill/>
                    </a:lnR>
                    <a:lnT>
                      <a:noFill/>
                    </a:lnT>
                    <a:lnB>
                      <a:noFill/>
                    </a:lnB>
                  </a:tcPr>
                </a:tc>
              </a:tr>
              <a:tr h="215522">
                <a:tc>
                  <a:txBody>
                    <a:bodyPr/>
                    <a:lstStyle/>
                    <a:p>
                      <a:pPr algn="ctr"/>
                      <a:r>
                        <a:rPr lang="en-IN" sz="2800"/>
                        <a:t>4</a:t>
                      </a:r>
                      <a:endParaRPr lang="en-IN" sz="280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c>
                  <a:txBody>
                    <a:bodyPr/>
                    <a:lstStyle/>
                    <a:p>
                      <a:pPr algn="ctr"/>
                      <a:r>
                        <a:rPr lang="en-IN" sz="2800"/>
                        <a:t>14</a:t>
                      </a:r>
                      <a:endParaRPr lang="en-IN" sz="2800"/>
                    </a:p>
                  </a:txBody>
                  <a:tcPr marL="53881" marR="53881" marT="26940" marB="26940" anchor="ctr">
                    <a:lnL>
                      <a:noFill/>
                    </a:lnL>
                    <a:lnR>
                      <a:noFill/>
                    </a:lnR>
                    <a:lnT>
                      <a:noFill/>
                    </a:lnT>
                    <a:lnB>
                      <a:noFill/>
                    </a:lnB>
                  </a:tcPr>
                </a:tc>
                <a:tc>
                  <a:txBody>
                    <a:bodyPr/>
                    <a:lstStyle/>
                    <a:p>
                      <a:pPr algn="ctr"/>
                      <a:r>
                        <a:rPr lang="en-IN" sz="2800" dirty="0"/>
                        <a:t>34</a:t>
                      </a:r>
                      <a:endParaRPr lang="en-IN" sz="2800" dirty="0"/>
                    </a:p>
                  </a:txBody>
                  <a:tcPr marL="53881" marR="53881" marT="26940" marB="26940" anchor="ctr">
                    <a:lnL>
                      <a:noFill/>
                    </a:lnL>
                    <a:lnR>
                      <a:noFill/>
                    </a:lnR>
                    <a:lnT>
                      <a:noFill/>
                    </a:lnT>
                    <a:lnB>
                      <a:noFill/>
                    </a:lnB>
                  </a:tcPr>
                </a:tc>
              </a:tr>
              <a:tr h="215522">
                <a:tc>
                  <a:txBody>
                    <a:bodyPr/>
                    <a:lstStyle/>
                    <a:p>
                      <a:pPr algn="ctr"/>
                      <a:r>
                        <a:rPr lang="en-IN" sz="2800"/>
                        <a:t>5</a:t>
                      </a:r>
                      <a:endParaRPr lang="en-IN" sz="2800"/>
                    </a:p>
                  </a:txBody>
                  <a:tcPr marL="53881" marR="53881" marT="26940" marB="26940" anchor="ctr">
                    <a:lnL>
                      <a:noFill/>
                    </a:lnL>
                    <a:lnR>
                      <a:noFill/>
                    </a:lnR>
                    <a:lnT>
                      <a:noFill/>
                    </a:lnT>
                    <a:lnB>
                      <a:noFill/>
                    </a:lnB>
                  </a:tcPr>
                </a:tc>
                <a:tc>
                  <a:txBody>
                    <a:bodyPr/>
                    <a:lstStyle/>
                    <a:p>
                      <a:pPr algn="ctr"/>
                      <a:r>
                        <a:rPr lang="en-IN" sz="2800" dirty="0"/>
                        <a:t>85</a:t>
                      </a:r>
                      <a:endParaRPr lang="en-IN" sz="2800" dirty="0"/>
                    </a:p>
                  </a:txBody>
                  <a:tcPr marL="53881" marR="53881" marT="26940" marB="26940" anchor="ctr">
                    <a:lnL>
                      <a:noFill/>
                    </a:lnL>
                    <a:lnR>
                      <a:noFill/>
                    </a:lnR>
                    <a:lnT>
                      <a:noFill/>
                    </a:lnT>
                    <a:lnB>
                      <a:noFill/>
                    </a:lnB>
                  </a:tcPr>
                </a:tc>
                <a:tc>
                  <a:txBody>
                    <a:bodyPr/>
                    <a:lstStyle/>
                    <a:p>
                      <a:pPr algn="ctr"/>
                      <a:r>
                        <a:rPr lang="en-IN" sz="2800"/>
                        <a:t>15</a:t>
                      </a:r>
                      <a:endParaRPr lang="en-IN" sz="280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r>
              <a:tr h="215522">
                <a:tc>
                  <a:txBody>
                    <a:bodyPr/>
                    <a:lstStyle/>
                    <a:p>
                      <a:pPr algn="ctr"/>
                      <a:r>
                        <a:rPr lang="en-IN" sz="2800"/>
                        <a:t>6</a:t>
                      </a:r>
                      <a:endParaRPr lang="en-IN" sz="280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c>
                  <a:txBody>
                    <a:bodyPr/>
                    <a:lstStyle/>
                    <a:p>
                      <a:pPr algn="ctr"/>
                      <a:r>
                        <a:rPr lang="en-IN" sz="2800"/>
                        <a:t>16</a:t>
                      </a:r>
                      <a:endParaRPr lang="en-IN" sz="280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r>
              <a:tr h="215522">
                <a:tc>
                  <a:txBody>
                    <a:bodyPr/>
                    <a:lstStyle/>
                    <a:p>
                      <a:pPr algn="ctr"/>
                      <a:r>
                        <a:rPr lang="en-IN" sz="2800"/>
                        <a:t>7</a:t>
                      </a:r>
                      <a:endParaRPr lang="en-IN" sz="2800"/>
                    </a:p>
                  </a:txBody>
                  <a:tcPr marL="53881" marR="53881" marT="26940" marB="26940" anchor="ctr">
                    <a:lnL>
                      <a:noFill/>
                    </a:lnL>
                    <a:lnR>
                      <a:noFill/>
                    </a:lnR>
                    <a:lnT>
                      <a:noFill/>
                    </a:lnT>
                    <a:lnB>
                      <a:noFill/>
                    </a:lnB>
                  </a:tcPr>
                </a:tc>
                <a:tc>
                  <a:txBody>
                    <a:bodyPr/>
                    <a:lstStyle/>
                    <a:p>
                      <a:pPr algn="ctr"/>
                      <a:r>
                        <a:rPr lang="en-IN" sz="2800" dirty="0"/>
                        <a:t>67</a:t>
                      </a:r>
                      <a:endParaRPr lang="en-IN" sz="2800" dirty="0"/>
                    </a:p>
                  </a:txBody>
                  <a:tcPr marL="53881" marR="53881" marT="26940" marB="26940" anchor="ctr">
                    <a:lnL>
                      <a:noFill/>
                    </a:lnL>
                    <a:lnR>
                      <a:noFill/>
                    </a:lnR>
                    <a:lnT>
                      <a:noFill/>
                    </a:lnT>
                    <a:lnB>
                      <a:noFill/>
                    </a:lnB>
                  </a:tcPr>
                </a:tc>
                <a:tc>
                  <a:txBody>
                    <a:bodyPr/>
                    <a:lstStyle/>
                    <a:p>
                      <a:pPr algn="ctr"/>
                      <a:r>
                        <a:rPr lang="en-IN" sz="2800"/>
                        <a:t>17</a:t>
                      </a:r>
                      <a:endParaRPr lang="en-IN" sz="2800"/>
                    </a:p>
                  </a:txBody>
                  <a:tcPr marL="53881" marR="53881" marT="26940" marB="26940" anchor="ctr">
                    <a:lnL>
                      <a:noFill/>
                    </a:lnL>
                    <a:lnR>
                      <a:noFill/>
                    </a:lnR>
                    <a:lnT>
                      <a:noFill/>
                    </a:lnT>
                    <a:lnB>
                      <a:noFill/>
                    </a:lnB>
                  </a:tcPr>
                </a:tc>
                <a:tc>
                  <a:txBody>
                    <a:bodyPr/>
                    <a:lstStyle/>
                    <a:p>
                      <a:pPr algn="ctr"/>
                      <a:r>
                        <a:rPr lang="en-IN" sz="2800" dirty="0"/>
                        <a:t>-</a:t>
                      </a:r>
                      <a:endParaRPr lang="en-IN" sz="2800" dirty="0"/>
                    </a:p>
                  </a:txBody>
                  <a:tcPr marL="53881" marR="53881" marT="26940" marB="26940" anchor="ctr">
                    <a:lnL>
                      <a:noFill/>
                    </a:lnL>
                    <a:lnR>
                      <a:noFill/>
                    </a:lnR>
                    <a:lnT>
                      <a:noFill/>
                    </a:lnT>
                    <a:lnB>
                      <a:noFill/>
                    </a:lnB>
                  </a:tcPr>
                </a:tc>
              </a:tr>
              <a:tr h="215522">
                <a:tc>
                  <a:txBody>
                    <a:bodyPr/>
                    <a:lstStyle/>
                    <a:p>
                      <a:pPr algn="ctr"/>
                      <a:r>
                        <a:rPr lang="en-IN" sz="2800"/>
                        <a:t>8</a:t>
                      </a:r>
                      <a:endParaRPr lang="en-IN" sz="2800"/>
                    </a:p>
                  </a:txBody>
                  <a:tcPr marL="53881" marR="53881" marT="26940" marB="26940" anchor="ctr">
                    <a:lnL>
                      <a:noFill/>
                    </a:lnL>
                    <a:lnR>
                      <a:noFill/>
                    </a:lnR>
                    <a:lnT>
                      <a:noFill/>
                    </a:lnT>
                    <a:lnB>
                      <a:noFill/>
                    </a:lnB>
                  </a:tcPr>
                </a:tc>
                <a:tc>
                  <a:txBody>
                    <a:bodyPr/>
                    <a:lstStyle/>
                    <a:p>
                      <a:pPr algn="ctr"/>
                      <a:r>
                        <a:rPr lang="en-IN" sz="2800" dirty="0"/>
                        <a:t>67</a:t>
                      </a:r>
                      <a:endParaRPr lang="en-IN" sz="2800" dirty="0"/>
                    </a:p>
                  </a:txBody>
                  <a:tcPr marL="53881" marR="53881" marT="26940" marB="26940" anchor="ctr">
                    <a:lnL>
                      <a:noFill/>
                    </a:lnL>
                    <a:lnR>
                      <a:noFill/>
                    </a:lnR>
                    <a:lnT>
                      <a:noFill/>
                    </a:lnT>
                    <a:lnB>
                      <a:noFill/>
                    </a:lnB>
                  </a:tcPr>
                </a:tc>
                <a:tc>
                  <a:txBody>
                    <a:bodyPr/>
                    <a:lstStyle/>
                    <a:p>
                      <a:pPr algn="ctr"/>
                      <a:r>
                        <a:rPr lang="en-IN" sz="2800"/>
                        <a:t>18</a:t>
                      </a:r>
                      <a:endParaRPr lang="en-IN" sz="2800"/>
                    </a:p>
                  </a:txBody>
                  <a:tcPr marL="53881" marR="53881" marT="26940" marB="26940" anchor="ctr">
                    <a:lnL>
                      <a:noFill/>
                    </a:lnL>
                    <a:lnR>
                      <a:noFill/>
                    </a:lnR>
                    <a:lnT>
                      <a:noFill/>
                    </a:lnT>
                    <a:lnB>
                      <a:noFill/>
                    </a:lnB>
                  </a:tcPr>
                </a:tc>
                <a:tc>
                  <a:txBody>
                    <a:bodyPr/>
                    <a:lstStyle/>
                    <a:p>
                      <a:pPr algn="ctr"/>
                      <a:r>
                        <a:rPr lang="en-IN" sz="2800" dirty="0"/>
                        <a:t>78</a:t>
                      </a:r>
                      <a:endParaRPr lang="en-IN" sz="2800" dirty="0"/>
                    </a:p>
                  </a:txBody>
                  <a:tcPr marL="53881" marR="53881" marT="26940" marB="26940" anchor="ctr">
                    <a:lnL>
                      <a:noFill/>
                    </a:lnL>
                    <a:lnR>
                      <a:noFill/>
                    </a:lnR>
                    <a:lnT>
                      <a:noFill/>
                    </a:lnT>
                    <a:lnB>
                      <a:noFill/>
                    </a:lnB>
                  </a:tcPr>
                </a:tc>
              </a:tr>
              <a:tr h="215522">
                <a:tc>
                  <a:txBody>
                    <a:bodyPr/>
                    <a:lstStyle/>
                    <a:p>
                      <a:pPr algn="ctr"/>
                      <a:r>
                        <a:rPr lang="en-IN" sz="2800"/>
                        <a:t>9</a:t>
                      </a:r>
                      <a:endParaRPr lang="en-IN" sz="2800"/>
                    </a:p>
                  </a:txBody>
                  <a:tcPr marL="53881" marR="53881" marT="26940" marB="26940" anchor="ctr">
                    <a:lnL>
                      <a:noFill/>
                    </a:lnL>
                    <a:lnR>
                      <a:noFill/>
                    </a:lnR>
                    <a:lnT>
                      <a:noFill/>
                    </a:lnT>
                    <a:lnB>
                      <a:noFill/>
                    </a:lnB>
                  </a:tcPr>
                </a:tc>
                <a:tc>
                  <a:txBody>
                    <a:bodyPr/>
                    <a:lstStyle/>
                    <a:p>
                      <a:pPr algn="ctr"/>
                      <a:r>
                        <a:rPr lang="en-IN" sz="2800" dirty="0"/>
                        <a:t>89</a:t>
                      </a:r>
                      <a:endParaRPr lang="en-IN" sz="2800" dirty="0"/>
                    </a:p>
                  </a:txBody>
                  <a:tcPr marL="53881" marR="53881" marT="26940" marB="26940" anchor="ctr">
                    <a:lnL>
                      <a:noFill/>
                    </a:lnL>
                    <a:lnR>
                      <a:noFill/>
                    </a:lnR>
                    <a:lnT>
                      <a:noFill/>
                    </a:lnT>
                    <a:lnB>
                      <a:noFill/>
                    </a:lnB>
                  </a:tcPr>
                </a:tc>
                <a:tc>
                  <a:txBody>
                    <a:bodyPr/>
                    <a:lstStyle/>
                    <a:p>
                      <a:pPr algn="ctr"/>
                      <a:r>
                        <a:rPr lang="en-IN" sz="2800"/>
                        <a:t>19</a:t>
                      </a:r>
                      <a:endParaRPr lang="en-IN" sz="2800"/>
                    </a:p>
                  </a:txBody>
                  <a:tcPr marL="53881" marR="53881" marT="26940" marB="26940" anchor="ctr">
                    <a:lnL>
                      <a:noFill/>
                    </a:lnL>
                    <a:lnR>
                      <a:noFill/>
                    </a:lnR>
                    <a:lnT>
                      <a:noFill/>
                    </a:lnT>
                    <a:lnB>
                      <a:noFill/>
                    </a:lnB>
                  </a:tcPr>
                </a:tc>
                <a:tc>
                  <a:txBody>
                    <a:bodyPr/>
                    <a:lstStyle/>
                    <a:p>
                      <a:pPr algn="ctr"/>
                      <a:r>
                        <a:rPr lang="en-IN" sz="2800" dirty="0"/>
                        <a:t>19</a:t>
                      </a:r>
                      <a:endParaRPr lang="en-IN" sz="2800" dirty="0"/>
                    </a:p>
                  </a:txBody>
                  <a:tcPr marL="53881" marR="53881" marT="26940" marB="26940" anchor="ctr">
                    <a:lnL>
                      <a:noFill/>
                    </a:lnL>
                    <a:lnR>
                      <a:noFill/>
                    </a:lnR>
                    <a:lnT>
                      <a:noFill/>
                    </a:lnT>
                    <a:lnB>
                      <a:noFill/>
                    </a:lnB>
                  </a:tcPr>
                </a:tc>
              </a:tr>
              <a:tr h="0">
                <a:tc>
                  <a:txBody>
                    <a:bodyPr/>
                    <a:lstStyle/>
                    <a:p>
                      <a:endParaRPr lang="en-IN" dirty="0"/>
                    </a:p>
                  </a:txBody>
                  <a:tcPr marL="53881" marR="53881" marT="26940" marB="26940" anchor="ctr">
                    <a:lnL>
                      <a:noFill/>
                    </a:lnL>
                    <a:lnR>
                      <a:noFill/>
                    </a:lnR>
                    <a:lnT>
                      <a:noFill/>
                    </a:lnT>
                    <a:lnB>
                      <a:noFill/>
                    </a:lnB>
                  </a:tcPr>
                </a:tc>
                <a:tc>
                  <a:txBody>
                    <a:bodyPr/>
                    <a:lstStyle/>
                    <a:p>
                      <a:endParaRPr lang="en-IN" dirty="0"/>
                    </a:p>
                  </a:txBody>
                  <a:tcPr marL="53881" marR="53881" marT="26940" marB="26940" anchor="ctr">
                    <a:lnL>
                      <a:noFill/>
                    </a:lnL>
                    <a:lnR>
                      <a:noFill/>
                    </a:lnR>
                    <a:lnT>
                      <a:noFill/>
                    </a:lnT>
                    <a:lnB>
                      <a:noFill/>
                    </a:lnB>
                  </a:tcPr>
                </a:tc>
                <a:tc>
                  <a:txBody>
                    <a:bodyPr/>
                    <a:lstStyle/>
                    <a:p>
                      <a:endParaRPr lang="en-IN" sz="1600" dirty="0"/>
                    </a:p>
                  </a:txBody>
                  <a:tcPr marL="53881" marR="53881" marT="26940" marB="26940" anchor="ctr">
                    <a:lnL>
                      <a:noFill/>
                    </a:lnL>
                    <a:lnR>
                      <a:noFill/>
                    </a:lnR>
                    <a:lnT>
                      <a:noFill/>
                    </a:lnT>
                    <a:lnB>
                      <a:noFill/>
                    </a:lnB>
                  </a:tcPr>
                </a:tc>
                <a:tc>
                  <a:txBody>
                    <a:bodyPr/>
                    <a:lstStyle/>
                    <a:p>
                      <a:endParaRPr lang="en-IN" sz="1600" dirty="0"/>
                    </a:p>
                  </a:txBody>
                  <a:tcPr marL="53881" marR="53881" marT="26940" marB="26940" anchor="ctr">
                    <a:lnL>
                      <a:noFill/>
                    </a:lnL>
                    <a:lnR>
                      <a:noFill/>
                    </a:lnR>
                    <a:lnT>
                      <a:noFill/>
                    </a:lnT>
                    <a:lnB>
                      <a:noFill/>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IMPORTANT FACTS RELATED TO THE SESSION</a:t>
            </a:r>
            <a:endParaRPr lang="en-US" sz="2400"/>
          </a:p>
        </p:txBody>
      </p:sp>
      <p:pic>
        <p:nvPicPr>
          <p:cNvPr id="31"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7" name="TextBox 16"/>
          <p:cNvSpPr txBox="1"/>
          <p:nvPr/>
        </p:nvSpPr>
        <p:spPr>
          <a:xfrm>
            <a:off x="365125" y="941070"/>
            <a:ext cx="12192000" cy="6042660"/>
          </a:xfrm>
          <a:prstGeom prst="rect">
            <a:avLst/>
          </a:prstGeom>
          <a:noFill/>
        </p:spPr>
        <p:txBody>
          <a:bodyPr wrap="square" rtlCol="0">
            <a:noAutofit/>
          </a:bodyPr>
          <a:lstStyle/>
          <a:p>
            <a:r>
              <a:rPr lang="en-IN" sz="2400" b="1" dirty="0">
                <a:latin typeface="Times New Roman" panose="02020603050405020304" pitchFamily="18" charset="0"/>
                <a:cs typeface="Times New Roman" panose="02020603050405020304" pitchFamily="18" charset="0"/>
              </a:rPr>
              <a:t>Advantages of </a:t>
            </a:r>
            <a:r>
              <a:rPr lang="en-US" altLang="en-IN" sz="2400" b="1" dirty="0">
                <a:latin typeface="Times New Roman" panose="02020603050405020304" pitchFamily="18" charset="0"/>
                <a:cs typeface="Times New Roman" panose="02020603050405020304" pitchFamily="18" charset="0"/>
              </a:rPr>
              <a:t>Double hashing</a:t>
            </a:r>
            <a:endParaRPr lang="en-IN"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can reduce clustering by using a second hash function to determine the next probe location. </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can handle a larger number of collisions than linear probing.</a:t>
            </a:r>
            <a:endParaRPr lang="en-IN"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IN" sz="2400" b="1"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IN" sz="2400" b="1" dirty="0">
                <a:latin typeface="Times New Roman" panose="02020603050405020304" pitchFamily="18" charset="0"/>
                <a:cs typeface="Times New Roman" panose="02020603050405020304" pitchFamily="18" charset="0"/>
              </a:rPr>
              <a:t>Disadvantages of </a:t>
            </a:r>
            <a:r>
              <a:rPr lang="en-US" altLang="en-IN" sz="2400" b="1" dirty="0">
                <a:latin typeface="Times New Roman" panose="02020603050405020304" pitchFamily="18" charset="0"/>
                <a:cs typeface="Times New Roman" panose="02020603050405020304" pitchFamily="18" charset="0"/>
                <a:sym typeface="+mn-ea"/>
              </a:rPr>
              <a:t>Double hashing</a:t>
            </a:r>
            <a:endParaRPr lang="en-IN"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 It can be more complex to implement and understand than linear or quadratic probing</a:t>
            </a:r>
            <a:endParaRPr lang="en-IN"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US" altLang="en-IN" sz="2400" b="1"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IN" sz="2400" b="1" dirty="0">
                <a:latin typeface="Times New Roman" panose="02020603050405020304" pitchFamily="18" charset="0"/>
                <a:cs typeface="Times New Roman" panose="02020603050405020304" pitchFamily="18" charset="0"/>
              </a:rPr>
              <a:t>Advantages of Rehashing</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Handling collisions: As mentioned above, rehashing is primarily used to handle collisions in hash tables. ...</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Improving performance: Rehashing can also be used to improve the performance of hash </a:t>
            </a:r>
            <a:endParaRPr lang="en-IN"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tables</a:t>
            </a:r>
            <a:endParaRPr lang="en-IN" sz="24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0235" y="1108075"/>
            <a:ext cx="10515600" cy="4989830"/>
          </a:xfrm>
        </p:spPr>
        <p:txBody>
          <a:bodyPr/>
          <a:lstStyle/>
          <a:p>
            <a:pPr indent="0">
              <a:buFont typeface="Arial" panose="020B0604020202020204" pitchFamily="34" charset="0"/>
              <a:buNone/>
            </a:pPr>
            <a:r>
              <a:rPr lang="en-IN" sz="2400" b="1">
                <a:latin typeface="Times New Roman" panose="02020603050405020304" pitchFamily="18" charset="0"/>
                <a:cs typeface="Times New Roman" panose="02020603050405020304" pitchFamily="18" charset="0"/>
                <a:sym typeface="+mn-ea"/>
              </a:rPr>
              <a:t>Applications</a:t>
            </a:r>
            <a:r>
              <a:rPr lang="en-US" altLang="en-IN" sz="2400" b="1">
                <a:latin typeface="Times New Roman" panose="02020603050405020304" pitchFamily="18" charset="0"/>
                <a:cs typeface="Times New Roman" panose="02020603050405020304" pitchFamily="18" charset="0"/>
                <a:sym typeface="+mn-ea"/>
              </a:rPr>
              <a:t> of rehashing </a:t>
            </a:r>
            <a:r>
              <a:rPr lang="en-IN" sz="2400" b="1">
                <a:latin typeface="Times New Roman" panose="02020603050405020304" pitchFamily="18" charset="0"/>
                <a:cs typeface="Times New Roman" panose="02020603050405020304" pitchFamily="18" charset="0"/>
                <a:sym typeface="+mn-ea"/>
              </a:rPr>
              <a:t>in real life</a:t>
            </a:r>
            <a:endParaRPr lang="en-IN"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Password Verification</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Data Structures</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File System</a:t>
            </a:r>
            <a:r>
              <a:rPr lang="en-US" altLang="en-IN" sz="2400">
                <a:latin typeface="Times New Roman" panose="02020603050405020304" pitchFamily="18" charset="0"/>
                <a:cs typeface="Times New Roman" panose="02020603050405020304" pitchFamily="18" charset="0"/>
                <a:sym typeface="+mn-ea"/>
              </a:rPr>
              <a:t>.</a:t>
            </a:r>
            <a:endParaRPr lang="en-IN" sz="2400">
              <a:latin typeface="Times New Roman" panose="02020603050405020304" pitchFamily="18" charset="0"/>
              <a:cs typeface="Times New Roman" panose="02020603050405020304" pitchFamily="18" charset="0"/>
            </a:endParaRPr>
          </a:p>
          <a:p>
            <a:pPr marL="0" indent="0">
              <a:buNone/>
            </a:pPr>
            <a:endParaRPr lang="en-US" sz="2400">
              <a:latin typeface="Times New Roman" panose="02020603050405020304" pitchFamily="18" charset="0"/>
              <a:cs typeface="Times New Roman" panose="02020603050405020304" pitchFamily="18" charset="0"/>
            </a:endParaRPr>
          </a:p>
          <a:p>
            <a:pPr marL="0" indent="0">
              <a:buNone/>
            </a:pPr>
            <a:r>
              <a:rPr lang="en-US" sz="2400" b="1">
                <a:latin typeface="Times New Roman" panose="02020603050405020304" pitchFamily="18" charset="0"/>
                <a:cs typeface="Times New Roman" panose="02020603050405020304" pitchFamily="18" charset="0"/>
              </a:rPr>
              <a:t>Applications of Double Hashing</a:t>
            </a:r>
            <a:endParaRPr lang="en-US" sz="2400" b="1">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To prevent the collision of two keys ,the idea of Double Hashing is used. In case any collision occurs when we just use traditional hash code evaluating function, another hash code is generated by some other function and both the hash codes are used to find a free space by probing through array elements.</a:t>
            </a:r>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IMPORTANT FACTS RELATED TO THE SESSION</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SUMMARY</a:t>
            </a:r>
            <a:endParaRPr lang="en-US" sz="240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4523105"/>
          </a:xfrm>
          <a:prstGeom prst="rect">
            <a:avLst/>
          </a:prstGeom>
          <a:noFill/>
        </p:spPr>
        <p:txBody>
          <a:bodyPr wrap="square" rtlCol="0">
            <a:spAutoFit/>
          </a:bodyPr>
          <a:lstStyle/>
          <a:p>
            <a:pPr algn="just">
              <a:buFont typeface="Wingdings" panose="05000000000000000000" pitchFamily="2" charset="2"/>
              <a:buChar char="Ø"/>
            </a:pPr>
            <a:r>
              <a:rPr lang="en-IN" sz="2400" b="1">
                <a:latin typeface="Times New Roman" panose="02020603050405020304" pitchFamily="18" charset="0"/>
                <a:cs typeface="Times New Roman" panose="02020603050405020304" pitchFamily="18" charset="0"/>
                <a:sym typeface="+mn-ea"/>
              </a:rPr>
              <a:t>Double hashing</a:t>
            </a:r>
            <a:r>
              <a:rPr lang="en-US" altLang="en-IN" sz="2400">
                <a:latin typeface="Times New Roman" panose="02020603050405020304" pitchFamily="18" charset="0"/>
                <a:cs typeface="Times New Roman" panose="02020603050405020304" pitchFamily="18" charset="0"/>
                <a:sym typeface="+mn-ea"/>
              </a:rPr>
              <a:t>:</a:t>
            </a:r>
            <a:r>
              <a:rPr lang="en-IN" sz="2400">
                <a:latin typeface="Times New Roman" panose="02020603050405020304" pitchFamily="18" charset="0"/>
                <a:cs typeface="Times New Roman" panose="02020603050405020304" pitchFamily="18" charset="0"/>
                <a:sym typeface="+mn-ea"/>
              </a:rPr>
              <a:t>It is a technique in which two hash function are used when there is an occurrence of collision.</a:t>
            </a:r>
            <a:endParaRPr lang="en-IN" sz="240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endParaRPr lang="en-IN"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sym typeface="+mn-ea"/>
              </a:rPr>
              <a:t>The hash functions for this technique are:</a:t>
            </a:r>
            <a:endParaRPr lang="en-IN" sz="240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r>
              <a:rPr lang="en-IN" sz="2400">
                <a:latin typeface="Times New Roman" panose="02020603050405020304" pitchFamily="18" charset="0"/>
                <a:cs typeface="Times New Roman" panose="02020603050405020304" pitchFamily="18" charset="0"/>
                <a:sym typeface="+mn-ea"/>
              </a:rPr>
              <a:t>       H1(key)= (key % table size + i * H2(key))% table size</a:t>
            </a:r>
            <a:endParaRPr lang="en-IN" sz="240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r>
              <a:rPr lang="en-IN" sz="2400">
                <a:latin typeface="Times New Roman" panose="02020603050405020304" pitchFamily="18" charset="0"/>
                <a:cs typeface="Times New Roman" panose="02020603050405020304" pitchFamily="18" charset="0"/>
                <a:sym typeface="+mn-ea"/>
              </a:rPr>
              <a:t>                               Whereas H2(key)=P-(key mod P); i=0,1..&lt;size</a:t>
            </a:r>
            <a:endParaRPr lang="en-IN" sz="240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endParaRPr lang="en-IN"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sym typeface="+mn-ea"/>
              </a:rPr>
              <a:t>Rehashing </a:t>
            </a:r>
            <a:r>
              <a:rPr lang="en-US" sz="2400">
                <a:latin typeface="Times New Roman" panose="02020603050405020304" pitchFamily="18" charset="0"/>
                <a:cs typeface="Times New Roman" panose="02020603050405020304" pitchFamily="18" charset="0"/>
                <a:sym typeface="+mn-ea"/>
              </a:rPr>
              <a:t>is the process of increasing the size of a hashmap and redistributing the elements to new buckets based on their new hash values. It is done to improve the performance of the hashmap and to prevent collisions caused by a high load factor.</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IN" sz="240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SELF-ASSESSMENT QUESTIONS</a:t>
            </a:r>
            <a:endParaRPr lang="en-US" sz="2400"/>
          </a:p>
        </p:txBody>
      </p:sp>
      <p:sp>
        <p:nvSpPr>
          <p:cNvPr id="13" name="Google Shape;502;p17"/>
          <p:cNvSpPr/>
          <p:nvPr/>
        </p:nvSpPr>
        <p:spPr>
          <a:xfrm>
            <a:off x="859770" y="3095421"/>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dirty="0">
                <a:sym typeface="+mn-ea"/>
              </a:rPr>
              <a:t>2.</a:t>
            </a:r>
            <a:r>
              <a:rPr lang="en-IN" sz="2400" dirty="0">
                <a:sym typeface="+mn-ea"/>
              </a:rPr>
              <a:t> Double hashing is one of the best methods available for open addressing</a:t>
            </a:r>
            <a:br>
              <a:rPr lang="en-IN" sz="2400" dirty="0"/>
            </a:br>
            <a:endParaRPr lang="en-IN" sz="2400" dirty="0"/>
          </a:p>
        </p:txBody>
      </p:sp>
      <p:sp>
        <p:nvSpPr>
          <p:cNvPr id="14" name="Rounded Rectangle 17"/>
          <p:cNvSpPr/>
          <p:nvPr/>
        </p:nvSpPr>
        <p:spPr>
          <a:xfrm>
            <a:off x="1126172" y="4249704"/>
            <a:ext cx="8292465" cy="66349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a:p>
            <a:r>
              <a:rPr lang="en-IN" dirty="0"/>
              <a:t>a) True               b) </a:t>
            </a:r>
            <a:r>
              <a:rPr lang="en-IN" dirty="0" err="1"/>
              <a:t>Falseny</a:t>
            </a:r>
            <a:r>
              <a:rPr lang="en-IN" dirty="0"/>
              <a:t> point</a:t>
            </a:r>
            <a:endParaRPr lang="en-IN"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Google Shape;502;p17"/>
          <p:cNvSpPr/>
          <p:nvPr/>
        </p:nvSpPr>
        <p:spPr>
          <a:xfrm>
            <a:off x="1009895" y="89426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a:sym typeface="+mn-ea"/>
              </a:rPr>
              <a:t>1.</a:t>
            </a:r>
            <a:r>
              <a:rPr lang="en-IN" sz="2400">
                <a:sym typeface="+mn-ea"/>
              </a:rPr>
              <a:t> </a:t>
            </a:r>
            <a:r>
              <a:rPr lang="en-US" sz="2400">
                <a:sym typeface="+mn-ea"/>
              </a:rPr>
              <a:t>What is the hash function used in Double Hashing?</a:t>
            </a:r>
            <a:endParaRPr lang="en-IN" sz="2400"/>
          </a:p>
        </p:txBody>
      </p:sp>
      <p:sp>
        <p:nvSpPr>
          <p:cNvPr id="5" name="Rounded Rectangle 17"/>
          <p:cNvSpPr/>
          <p:nvPr/>
        </p:nvSpPr>
        <p:spPr>
          <a:xfrm>
            <a:off x="1376680" y="1744346"/>
            <a:ext cx="7791450" cy="86237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a:p>
            <a:r>
              <a:rPr lang="en-US" dirty="0">
                <a:sym typeface="+mn-ea"/>
              </a:rPr>
              <a:t>a) (h1(k) – i*h2(k))mod m       b) h1(k) + h2(k)</a:t>
            </a:r>
            <a:endParaRPr lang="en-US" dirty="0"/>
          </a:p>
          <a:p>
            <a:r>
              <a:rPr lang="en-US" dirty="0">
                <a:sym typeface="+mn-ea"/>
              </a:rPr>
              <a:t>c) (h1(k) + i*h2(k))mod m       d) (h1(k) + h2(k))mod m</a:t>
            </a:r>
            <a:endParaRPr lang="en-IN"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14" grpId="0" bldLvl="0" animBg="1"/>
      <p:bldP spid="3" grpId="0" bldLvl="0" animBg="1"/>
      <p:bldP spid="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TERMINAL QUESTIONS</a:t>
            </a:r>
            <a:endParaRPr lang="en-US" sz="2400"/>
          </a:p>
        </p:txBody>
      </p:sp>
      <p:sp>
        <p:nvSpPr>
          <p:cNvPr id="9" name="TextBox 8"/>
          <p:cNvSpPr txBox="1"/>
          <p:nvPr/>
        </p:nvSpPr>
        <p:spPr>
          <a:xfrm>
            <a:off x="605155" y="1167765"/>
            <a:ext cx="10814050" cy="2230739"/>
          </a:xfrm>
          <a:prstGeom prst="rect">
            <a:avLst/>
          </a:prstGeom>
          <a:noFill/>
        </p:spPr>
        <p:txBody>
          <a:bodyPr wrap="square" lIns="91440" tIns="45720" rIns="91440" bIns="45720" rtlCol="0" anchor="t">
            <a:spAutoFit/>
          </a:bodyPr>
          <a:lstStyle/>
          <a:p>
            <a:pPr>
              <a:lnSpc>
                <a:spcPct val="200000"/>
              </a:lnSpc>
            </a:pPr>
            <a:r>
              <a:rPr lang="en-US" b="1"/>
              <a:t>1. What is Load factor?</a:t>
            </a:r>
            <a:endParaRPr lang="en-US" b="1"/>
          </a:p>
          <a:p>
            <a:pPr>
              <a:lnSpc>
                <a:spcPct val="200000"/>
              </a:lnSpc>
            </a:pPr>
            <a:r>
              <a:rPr lang="en-US" b="1"/>
              <a:t>2. When is rehashing  done?</a:t>
            </a:r>
            <a:endParaRPr lang="en-US" b="1">
              <a:cs typeface="Calibri" panose="020F0502020204030204"/>
            </a:endParaRPr>
          </a:p>
          <a:p>
            <a:pPr>
              <a:lnSpc>
                <a:spcPct val="200000"/>
              </a:lnSpc>
            </a:pPr>
            <a:r>
              <a:rPr lang="en-US" b="1"/>
              <a:t>3. What is local depth, global depth?</a:t>
            </a:r>
            <a:endParaRPr lang="en-US" b="1">
              <a:cs typeface="Calibri" panose="020F0502020204030204"/>
            </a:endParaRPr>
          </a:p>
          <a:p>
            <a:pPr>
              <a:lnSpc>
                <a:spcPct val="200000"/>
              </a:lnSpc>
            </a:pPr>
            <a:endParaRPr lang="en-US" b="1"/>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REFERENCES FOR FURTHER LEARNING OF THE SESSION</a:t>
            </a:r>
            <a:endParaRPr lang="en-US" sz="240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62815"/>
          </a:xfrm>
          <a:prstGeom prst="rect">
            <a:avLst/>
          </a:prstGeom>
          <a:noFill/>
        </p:spPr>
        <p:txBody>
          <a:bodyPr wrap="square" rtlCol="0">
            <a:spAutoFit/>
          </a:bodyPr>
          <a:lstStyle/>
          <a:p>
            <a:pPr>
              <a:lnSpc>
                <a:spcPct val="150000"/>
              </a:lnSpc>
            </a:pPr>
            <a:r>
              <a:rPr lang="en-US" sz="2400" b="1"/>
              <a:t>Reference Books:</a:t>
            </a:r>
            <a:endParaRPr lang="en-US" sz="2400"/>
          </a:p>
          <a:p>
            <a:pPr marL="342900" lvl="1" indent="-342900">
              <a:lnSpc>
                <a:spcPct val="150000"/>
              </a:lnSpc>
              <a:buAutoNum type="arabicPeriod"/>
            </a:pPr>
            <a:r>
              <a:rPr lang="en-US"/>
              <a:t>Mark Allen Weiss, Data Structures and Algorithm Analysis in C, 2010 , Second Edition, </a:t>
            </a:r>
            <a:r>
              <a:rPr lang="en-US" err="1"/>
              <a:t>PearsonEducation</a:t>
            </a:r>
            <a:r>
              <a:rPr lang="en-US"/>
              <a:t>.</a:t>
            </a:r>
            <a:endParaRPr lang="en-IN" sz="2400"/>
          </a:p>
          <a:p>
            <a:pPr marL="342900" lvl="1" indent="-342900">
              <a:lnSpc>
                <a:spcPct val="150000"/>
              </a:lnSpc>
              <a:buAutoNum type="arabicPeriod"/>
            </a:pPr>
            <a:r>
              <a:rPr lang="en-US"/>
              <a:t>2. Ellis Horowitz, Fundamentals of Data Structures in C: Second Edition, 2015</a:t>
            </a:r>
            <a:endParaRPr lang="en-US"/>
          </a:p>
          <a:p>
            <a:pPr marL="342900" lvl="1" indent="-342900">
              <a:lnSpc>
                <a:spcPct val="150000"/>
              </a:lnSpc>
              <a:buAutoNum type="arabicPeriod"/>
            </a:pPr>
            <a:r>
              <a:rPr lang="en-US" err="1"/>
              <a:t>A.V.Aho</a:t>
            </a:r>
            <a:r>
              <a:rPr lang="en-US"/>
              <a:t>, J. E. </a:t>
            </a:r>
            <a:r>
              <a:rPr lang="en-US" err="1"/>
              <a:t>Hopcroft</a:t>
            </a:r>
            <a:r>
              <a:rPr lang="en-US"/>
              <a:t>, and J. D. Ullman, “Data Structures And Algorithms”, Pearson Education, First Edition Reprint2003.</a:t>
            </a:r>
            <a:endParaRPr lang="en-IN"/>
          </a:p>
          <a:p>
            <a:pPr>
              <a:lnSpc>
                <a:spcPct val="150000"/>
              </a:lnSpc>
            </a:pPr>
            <a:endParaRPr lang="en-US" b="1"/>
          </a:p>
          <a:p>
            <a:pPr>
              <a:lnSpc>
                <a:spcPct val="150000"/>
              </a:lnSpc>
            </a:pPr>
            <a:r>
              <a:rPr lang="en-US" sz="2400" b="1"/>
              <a:t>Sites and Web links:</a:t>
            </a:r>
            <a:endParaRPr lang="en-US" sz="2400" b="1"/>
          </a:p>
          <a:p>
            <a:pPr lvl="0">
              <a:lnSpc>
                <a:spcPct val="150000"/>
              </a:lnSpc>
            </a:pPr>
            <a:r>
              <a:rPr lang="en-US"/>
              <a:t>1. </a:t>
            </a:r>
            <a:r>
              <a:rPr lang="en-US">
                <a:hlinkClick r:id="rId1"/>
              </a:rPr>
              <a:t>https://nptel.ac.in/courses/106102064</a:t>
            </a:r>
            <a:endParaRPr lang="en-IN"/>
          </a:p>
          <a:p>
            <a:pPr lvl="0"/>
            <a:r>
              <a:rPr lang="en-US">
                <a:hlinkClick r:id="rId2"/>
              </a:rPr>
              <a:t>2. https://in.udacity.com/course/intro-to-algorithms--cs215</a:t>
            </a:r>
            <a:endParaRPr lang="en-IN"/>
          </a:p>
          <a:p>
            <a:pPr lvl="0"/>
            <a:r>
              <a:rPr lang="en-US"/>
              <a:t>3. </a:t>
            </a:r>
            <a:r>
              <a:rPr lang="en-US">
                <a:hlinkClick r:id="rId3"/>
              </a:rPr>
              <a:t>https://www.coursera.org/learn/data-structures?action=enroll</a:t>
            </a:r>
            <a:endParaRPr lang="en-US"/>
          </a:p>
          <a:p>
            <a:pPr>
              <a:lnSpc>
                <a:spcPct val="150000"/>
              </a:lnSpc>
            </a:pPr>
            <a:endParaRPr lang="en-US"/>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Poppins" pitchFamily="2" charset="77"/>
              <a:cs typeface="Poppins" pitchFamily="2" charset="77"/>
            </a:endParaRPr>
          </a:p>
          <a:p>
            <a:pPr algn="ctr"/>
            <a:endParaRPr lang="en-US" sz="2400" b="1">
              <a:latin typeface="Poppins" pitchFamily="2" charset="77"/>
              <a:cs typeface="Poppins" pitchFamily="2" charset="77"/>
            </a:endParaRPr>
          </a:p>
          <a:p>
            <a:pPr algn="ctr"/>
            <a:r>
              <a:rPr lang="en-US" sz="3200" b="1">
                <a:latin typeface="Poppins" pitchFamily="2" charset="77"/>
                <a:cs typeface="Poppins" pitchFamily="2" charset="77"/>
              </a:rPr>
              <a:t>THANK YOU</a:t>
            </a:r>
            <a:endParaRPr lang="en-US" sz="3200" b="1">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endParaRPr lang="en-US" sz="2400">
              <a:latin typeface="Poppins" pitchFamily="2" charset="77"/>
              <a:cs typeface="Poppins" pitchFamily="2" charset="77"/>
            </a:endParaRPr>
          </a:p>
          <a:p>
            <a:pPr algn="ctr"/>
            <a:r>
              <a:rPr lang="en-US" sz="3600" b="1">
                <a:latin typeface="Poppins" pitchFamily="2" charset="77"/>
                <a:cs typeface="Poppins" pitchFamily="2" charset="77"/>
              </a:rPr>
              <a:t>Team – Data </a:t>
            </a:r>
            <a:r>
              <a:rPr lang="en-US" sz="3600" b="1" err="1">
                <a:latin typeface="Poppins" pitchFamily="2" charset="77"/>
                <a:cs typeface="Poppins" pitchFamily="2" charset="77"/>
              </a:rPr>
              <a:t>Sructures</a:t>
            </a:r>
            <a:endParaRPr lang="en-US" sz="3600" b="1">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a:p>
            <a:pPr algn="ctr"/>
            <a:endParaRPr lang="en-US" sz="240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datastoreItem>
</file>

<file path=customXml/itemProps2.xml><?xml version="1.0" encoding="utf-8"?>
<ds:datastoreItem xmlns:ds="http://schemas.openxmlformats.org/officeDocument/2006/customXml" ds:itemID="{EBBD0A98-E68B-4DAA-8964-2F739D6D4075}">
  <ds:schemaRefs/>
</ds:datastoreItem>
</file>

<file path=customXml/itemProps3.xml><?xml version="1.0" encoding="utf-8"?>
<ds:datastoreItem xmlns:ds="http://schemas.openxmlformats.org/officeDocument/2006/customXml" ds:itemID="{3DA00F5F-5366-4B1C-9406-30DECA796ABB}">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9196</Words>
  <Application>WPS Presentation</Application>
  <PresentationFormat>Widescreen</PresentationFormat>
  <Paragraphs>434</Paragraphs>
  <Slides>21</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21</vt:i4>
      </vt:variant>
    </vt:vector>
  </HeadingPairs>
  <TitlesOfParts>
    <vt:vector size="39" baseType="lpstr">
      <vt:lpstr>Arial</vt:lpstr>
      <vt:lpstr>SimSun</vt:lpstr>
      <vt:lpstr>Wingdings</vt:lpstr>
      <vt:lpstr>Arial</vt:lpstr>
      <vt:lpstr>Calibri</vt:lpstr>
      <vt:lpstr>Poppins</vt:lpstr>
      <vt:lpstr>Segoe Print</vt:lpstr>
      <vt:lpstr>BioRhyme ExtraBold</vt:lpstr>
      <vt:lpstr>Poppins</vt:lpstr>
      <vt:lpstr>Poppins</vt:lpstr>
      <vt:lpstr>Times New Roman</vt:lpstr>
      <vt:lpstr>Times New Roman</vt:lpstr>
      <vt:lpstr>Arial,Sans-Serif</vt:lpstr>
      <vt:lpstr>Calibri Light</vt:lpstr>
      <vt:lpstr>Microsoft YaHei</vt:lpstr>
      <vt:lpstr>Arial Unicode MS</vt:lpstr>
      <vt:lpstr>Calibri</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Anusha M</cp:lastModifiedBy>
  <cp:revision>32</cp:revision>
  <dcterms:created xsi:type="dcterms:W3CDTF">2020-02-08T09:57:00Z</dcterms:created>
  <dcterms:modified xsi:type="dcterms:W3CDTF">2024-12-18T08:52:35Z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8A436E80C8F14982A534705B9AB8D132_13</vt:lpwstr>
  </property>
  <property fmtid="{D5CDD505-2E9C-101B-9397-08002B2CF9AE}" pid="4" name="KSOProductBuildVer">
    <vt:lpwstr>1033-12.2.0.19307</vt:lpwstr>
  </property>
</Properties>
</file>