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1" r:id="rId3"/>
    <p:sldId id="300" r:id="rId5"/>
    <p:sldId id="305" r:id="rId6"/>
    <p:sldId id="327" r:id="rId7"/>
    <p:sldId id="325" r:id="rId8"/>
    <p:sldId id="258" r:id="rId9"/>
    <p:sldId id="288" r:id="rId10"/>
    <p:sldId id="326" r:id="rId11"/>
    <p:sldId id="299" r:id="rId12"/>
    <p:sldId id="285" r:id="rId13"/>
    <p:sldId id="301" r:id="rId14"/>
    <p:sldId id="287" r:id="rId15"/>
    <p:sldId id="302" r:id="rId16"/>
    <p:sldId id="30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>
        <p:scale>
          <a:sx n="50" d="100"/>
          <a:sy n="50" d="100"/>
        </p:scale>
        <p:origin x="-1476" y="-492"/>
      </p:cViewPr>
      <p:guideLst>
        <p:guide orient="horz" pos="2160"/>
        <p:guide pos="38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customXml" Target="../customXml/item3.xml"/><Relationship Id="rId23" Type="http://schemas.openxmlformats.org/officeDocument/2006/relationships/customXml" Target="../customXml/item2.xml"/><Relationship Id="rId22" Type="http://schemas.openxmlformats.org/officeDocument/2006/relationships/customXml" Target="../customXml/item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2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3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  <a:endParaRPr lang="en-US" sz="80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4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1.xml"/><Relationship Id="rId3" Type="http://schemas.openxmlformats.org/officeDocument/2006/relationships/image" Target="NULL" TargetMode="External"/><Relationship Id="rId2" Type="http://schemas.openxmlformats.org/officeDocument/2006/relationships/image" Target="../media/image12.jpe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3.jpe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4.jpe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hyperlink" Target="https://www.coursera.org/learn/data-structures?action=enroll" TargetMode="External"/><Relationship Id="rId2" Type="http://schemas.openxmlformats.org/officeDocument/2006/relationships/hyperlink" Target="https://in.udacity.com/course/intro-to-algorithms--cs215" TargetMode="External"/><Relationship Id="rId1" Type="http://schemas.openxmlformats.org/officeDocument/2006/relationships/hyperlink" Target="https://nptel.ac.in/courses/106102064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838401" y="1933408"/>
            <a:ext cx="7458602" cy="3168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3200" b="1" cap="all" dirty="0">
                <a:solidFill>
                  <a:srgbClr val="C00000"/>
                </a:solidFill>
                <a:latin typeface="Calibri" panose="020F0502020204030204"/>
                <a:cs typeface="Poppins" panose="00000500000000000000" pitchFamily="2" charset="0"/>
                <a:sym typeface="BioRhyme ExtraBold"/>
              </a:rPr>
              <a:t>COURSE: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/>
                <a:cs typeface="Calibri" panose="020F0502020204030204"/>
              </a:rPr>
              <a:t>Data Structures</a:t>
            </a:r>
            <a:endParaRPr lang="en-IN" sz="3200" b="1" dirty="0">
              <a:solidFill>
                <a:schemeClr val="accent1"/>
              </a:solidFill>
              <a:latin typeface="Calibri" panose="020F0502020204030204"/>
              <a:cs typeface="Calibri" panose="020F0502020204030204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solidFill>
                <a:srgbClr val="C00000"/>
              </a:solidFill>
              <a:latin typeface="Calibri" panose="020F0502020204030204"/>
              <a:cs typeface="Poppins" panose="00000500000000000000" pitchFamily="2" charset="0"/>
            </a:endParaRPr>
          </a:p>
          <a:p>
            <a:pPr algn="ctr"/>
            <a:r>
              <a:rPr lang="en-US" sz="3200" b="1" cap="all" dirty="0">
                <a:solidFill>
                  <a:srgbClr val="C00000"/>
                </a:solidFill>
                <a:latin typeface="Calibri" panose="020F0502020204030204"/>
                <a:cs typeface="Poppins"/>
                <a:sym typeface="BioRhyme ExtraBold"/>
              </a:rPr>
              <a:t>COURSE CODE: </a:t>
            </a:r>
            <a:r>
              <a:rPr lang="en-US" sz="3200" b="1" dirty="0">
                <a:solidFill>
                  <a:schemeClr val="accent1"/>
                </a:solidFill>
                <a:latin typeface="Calibri" panose="020F0502020204030204"/>
                <a:cs typeface="Calibri" panose="020F0502020204030204"/>
              </a:rPr>
              <a:t>24SC1203</a:t>
            </a:r>
            <a:endParaRPr lang="en-IN" sz="3200" b="1" dirty="0">
              <a:solidFill>
                <a:schemeClr val="accent1"/>
              </a:solidFill>
              <a:latin typeface="Calibri" panose="020F0502020204030204"/>
              <a:cs typeface="Calibri" panose="020F0502020204030204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latin typeface="Calibri" panose="020F0502020204030204"/>
              <a:ea typeface="BioRhyme ExtraBold"/>
              <a:cs typeface="Poppins" panose="00000500000000000000" pitchFamily="2" charset="0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alibri" panose="020F0502020204030204"/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Calibri" panose="020F0502020204030204"/>
              <a:ea typeface="BioRhyme ExtraBold"/>
              <a:cs typeface="Poppins" panose="00000500000000000000" pitchFamily="2" charset="0"/>
            </a:endParaRPr>
          </a:p>
          <a:p>
            <a:pPr algn="ctr"/>
            <a:r>
              <a:rPr lang="en-US" sz="3200" b="1" cap="all" dirty="0">
                <a:solidFill>
                  <a:srgbClr val="C00000"/>
                </a:solidFill>
                <a:effectLst/>
                <a:latin typeface="Times New Roman" panose="02020603050405020304"/>
                <a:cs typeface="Poppins"/>
              </a:rPr>
              <a:t>Name of the topic: </a:t>
            </a:r>
            <a:r>
              <a:rPr lang="en-US" sz="3200" b="1" dirty="0">
                <a:solidFill>
                  <a:srgbClr val="C00000"/>
                </a:solidFill>
                <a:effectLst/>
                <a:latin typeface="Times New Roman" panose="02020603050405020304"/>
                <a:cs typeface="Poppins"/>
              </a:rPr>
              <a:t>Linear probing, Quadratic </a:t>
            </a:r>
            <a:r>
              <a:rPr lang="en-US" sz="3200" b="1" dirty="0" smtClean="0">
                <a:solidFill>
                  <a:srgbClr val="C00000"/>
                </a:solidFill>
                <a:effectLst/>
                <a:latin typeface="Times New Roman" panose="02020603050405020304"/>
                <a:cs typeface="Poppins"/>
              </a:rPr>
              <a:t>probing</a:t>
            </a:r>
            <a:endParaRPr lang="en-US" sz="3200" b="1" dirty="0">
              <a:solidFill>
                <a:srgbClr val="C00000"/>
              </a:solidFill>
              <a:effectLst/>
              <a:latin typeface="Times New Roman" panose="02020603050405020304"/>
              <a:cs typeface="Poppins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>
                <a:solidFill>
                  <a:srgbClr val="C00000"/>
                </a:solidFill>
                <a:cs typeface="Poppins" pitchFamily="2" charset="77"/>
              </a:rPr>
              <a:t>Department of </a:t>
            </a:r>
            <a:r>
              <a:rPr lang="en-US" sz="4000">
                <a:solidFill>
                  <a:srgbClr val="FF0000"/>
                </a:solidFill>
              </a:rPr>
              <a:t>BES-I</a:t>
            </a:r>
            <a:endParaRPr lang="en-US" sz="4000">
              <a:solidFill>
                <a:srgbClr val="FF0000"/>
              </a:solidFill>
              <a:cs typeface="Poppins" pitchFamily="2" charset="77"/>
            </a:endParaRPr>
          </a:p>
        </p:txBody>
      </p:sp>
      <p:sp>
        <p:nvSpPr>
          <p:cNvPr id="8" name="Google Shape;502;p17"/>
          <p:cNvSpPr/>
          <p:nvPr/>
        </p:nvSpPr>
        <p:spPr>
          <a:xfrm>
            <a:off x="7276164" y="557227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Session – 22</a:t>
            </a:r>
            <a:endParaRPr sz="240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AIM OF THE SESSION</a:t>
            </a:r>
            <a:endParaRPr lang="en-US" sz="2400"/>
          </a:p>
        </p:txBody>
      </p:sp>
      <p:sp>
        <p:nvSpPr>
          <p:cNvPr id="5" name="TextBox 4"/>
          <p:cNvSpPr txBox="1"/>
          <p:nvPr/>
        </p:nvSpPr>
        <p:spPr>
          <a:xfrm>
            <a:off x="914400" y="684469"/>
            <a:ext cx="10731286" cy="87566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>
                <a:effectLst/>
                <a:latin typeface="Poppins"/>
                <a:cs typeface="Poppins"/>
              </a:rPr>
              <a:t>To familiarize students with the basic concept of </a:t>
            </a:r>
            <a:r>
              <a:rPr lang="en-US" spc="-5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Collision Resolution Techniques</a:t>
            </a:r>
            <a:endParaRPr lang="en-US" sz="1600" b="0" i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INSTRUCTIONAL OBJECTIVES</a:t>
            </a:r>
            <a:endParaRPr lang="en-US" sz="2400"/>
          </a:p>
        </p:txBody>
      </p:sp>
      <p:sp>
        <p:nvSpPr>
          <p:cNvPr id="9" name="TextBox 8"/>
          <p:cNvSpPr txBox="1"/>
          <p:nvPr/>
        </p:nvSpPr>
        <p:spPr>
          <a:xfrm>
            <a:off x="1752600" y="2438605"/>
            <a:ext cx="8791575" cy="156845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>
                <a:latin typeface="Poppins"/>
                <a:cs typeface="Poppins"/>
              </a:rPr>
              <a:t>This</a:t>
            </a:r>
            <a:r>
              <a:rPr lang="en-US" sz="1600" b="0" i="0">
                <a:effectLst/>
                <a:latin typeface="Poppins"/>
                <a:cs typeface="Poppins"/>
              </a:rPr>
              <a:t> </a:t>
            </a:r>
            <a:r>
              <a:rPr lang="en-US" sz="1600">
                <a:latin typeface="Poppins"/>
                <a:cs typeface="Poppins"/>
              </a:rPr>
              <a:t>Session</a:t>
            </a:r>
            <a:r>
              <a:rPr lang="en-US" sz="1600" b="0" i="0">
                <a:effectLst/>
                <a:latin typeface="Poppins"/>
                <a:cs typeface="Poppins"/>
              </a:rPr>
              <a:t> is designed to: </a:t>
            </a:r>
            <a:endParaRPr lang="en-US" sz="1600" b="0" i="0">
              <a:effectLst/>
              <a:latin typeface="Poppins"/>
              <a:cs typeface="Poppins"/>
            </a:endParaRPr>
          </a:p>
          <a:p>
            <a:pPr marL="342900" indent="-342900">
              <a:buAutoNum type="arabicPeriod"/>
            </a:pPr>
            <a:r>
              <a:rPr lang="en-US" sz="1600" b="0" i="0">
                <a:effectLst/>
                <a:latin typeface="Arial" panose="020B0604020202020204"/>
                <a:cs typeface="Arial" panose="020B0604020202020204"/>
              </a:rPr>
              <a:t>Demonstrate </a:t>
            </a:r>
            <a:r>
              <a:rPr lang="en-US" sz="1600">
                <a:latin typeface="Arial" panose="020B0604020202020204"/>
                <a:cs typeface="Arial" panose="020B0604020202020204"/>
              </a:rPr>
              <a:t>Collision</a:t>
            </a:r>
            <a:r>
              <a:rPr lang="en-US" sz="1600" b="0" i="0">
                <a:effectLst/>
                <a:latin typeface="Arial" panose="020B0604020202020204"/>
                <a:cs typeface="Arial" panose="020B0604020202020204"/>
              </a:rPr>
              <a:t> resolution techniques</a:t>
            </a:r>
            <a:endParaRPr lang="en-US" sz="1600" b="0" i="0">
              <a:effectLst/>
              <a:latin typeface="Arial" panose="020B0604020202020204"/>
              <a:cs typeface="Arial" panose="020B0604020202020204"/>
            </a:endParaRPr>
          </a:p>
          <a:p>
            <a:pPr marL="342900" indent="-342900">
              <a:buAutoNum type="arabicPeriod"/>
            </a:pPr>
            <a:r>
              <a:rPr lang="en-US" sz="1600" b="0" i="0">
                <a:effectLst/>
                <a:latin typeface="Arial" panose="020B0604020202020204"/>
                <a:cs typeface="Arial" panose="020B0604020202020204"/>
              </a:rPr>
              <a:t>Describe the types of collision </a:t>
            </a:r>
            <a:r>
              <a:rPr lang="en-US" sz="1600">
                <a:latin typeface="Arial" panose="020B0604020202020204"/>
                <a:cs typeface="Arial" panose="020B0604020202020204"/>
              </a:rPr>
              <a:t>resolution</a:t>
            </a:r>
            <a:r>
              <a:rPr lang="en-US" sz="1600" b="0" i="0">
                <a:effectLst/>
                <a:latin typeface="Arial" panose="020B0604020202020204"/>
                <a:cs typeface="Arial" panose="020B0604020202020204"/>
              </a:rPr>
              <a:t> techniques</a:t>
            </a:r>
            <a:endParaRPr lang="en-US" sz="1600" b="0" i="0">
              <a:effectLst/>
              <a:latin typeface="Arial" panose="020B0604020202020204"/>
              <a:cs typeface="Arial" panose="020B0604020202020204"/>
            </a:endParaRPr>
          </a:p>
          <a:p>
            <a:pPr marL="342900" indent="-342900">
              <a:buAutoNum type="arabicPeriod"/>
            </a:pPr>
            <a:r>
              <a:rPr lang="en-US" sz="1600" b="0" i="0">
                <a:effectLst/>
                <a:latin typeface="Arial" panose="020B0604020202020204"/>
                <a:cs typeface="Arial" panose="020B0604020202020204"/>
              </a:rPr>
              <a:t>Describe </a:t>
            </a:r>
            <a:r>
              <a:rPr lang="en-US" sz="1600">
                <a:latin typeface="Arial" panose="020B0604020202020204"/>
                <a:cs typeface="Arial" panose="020B0604020202020204"/>
              </a:rPr>
              <a:t>each </a:t>
            </a:r>
            <a:r>
              <a:rPr lang="en-US" sz="1600" b="0" i="0">
                <a:effectLst/>
                <a:latin typeface="Arial" panose="020B0604020202020204"/>
                <a:cs typeface="Arial" panose="020B0604020202020204"/>
              </a:rPr>
              <a:t>method</a:t>
            </a:r>
            <a:r>
              <a:rPr lang="en-US" sz="1600">
                <a:latin typeface="Arial" panose="020B0604020202020204"/>
                <a:cs typeface="Arial" panose="020B0604020202020204"/>
              </a:rPr>
              <a:t> </a:t>
            </a:r>
            <a:endParaRPr lang="en-US"/>
          </a:p>
          <a:p>
            <a:pPr indent="0">
              <a:buNone/>
            </a:pPr>
            <a:r>
              <a:rPr lang="en-US" sz="1600">
                <a:latin typeface="Arial" panose="020B0604020202020204"/>
                <a:cs typeface="Arial" panose="020B0604020202020204"/>
              </a:rPr>
              <a:t>.</a:t>
            </a:r>
            <a:endParaRPr lang="en-US" sz="16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LEARNING OUTCOMES</a:t>
            </a:r>
            <a:endParaRPr lang="en-US" sz="2400"/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600" y="4783025"/>
            <a:ext cx="8791575" cy="132207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At the end of this 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session</a:t>
            </a: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, you should be able to:</a:t>
            </a:r>
            <a:endParaRPr lang="en-US" sz="1600" b="0" i="0" dirty="0">
              <a:effectLst/>
              <a:latin typeface="Arial" panose="020B0604020202020204"/>
              <a:cs typeface="Arial" panose="020B0604020202020204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Define Collision resolution 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techniques</a:t>
            </a:r>
            <a:endParaRPr lang="en-US" sz="1600" b="0" i="0" dirty="0">
              <a:effectLst/>
              <a:latin typeface="Arial" panose="020B0604020202020204" pitchFamily="34" charset="0"/>
              <a:cs typeface="Arial" panose="020B0604020202020204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Describe</a:t>
            </a:r>
            <a:r>
              <a:rPr lang="en-US" sz="1600" dirty="0">
                <a:latin typeface="Arial" panose="020B0604020202020204"/>
                <a:cs typeface="Arial" panose="020B0604020202020204"/>
              </a:rPr>
              <a:t> </a:t>
            </a:r>
            <a:r>
              <a:rPr lang="en-US" sz="1600" b="0" i="0" dirty="0">
                <a:effectLst/>
                <a:latin typeface="Arial" panose="020B0604020202020204"/>
                <a:cs typeface="Arial" panose="020B0604020202020204"/>
              </a:rPr>
              <a:t>types of collision resolution techniques.</a:t>
            </a:r>
            <a:endParaRPr lang="en-US" sz="1600" b="0" i="0" dirty="0">
              <a:effectLst/>
              <a:latin typeface="Arial" panose="020B0604020202020204"/>
              <a:cs typeface="Arial" panose="020B0604020202020204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/>
                <a:cs typeface="Arial" panose="020B0604020202020204"/>
              </a:rPr>
              <a:t>Summarize definition, types of resolution techniques and its applications</a:t>
            </a:r>
            <a:endParaRPr lang="en-US" sz="160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ldLvl="0" animBg="1"/>
      <p:bldP spid="7" grpId="0" animBg="1"/>
      <p:bldP spid="9" grpId="0" bldLvl="0" animBg="1"/>
      <p:bldP spid="29" grpId="0" animBg="1"/>
      <p:bldP spid="3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42551" y="1115112"/>
            <a:ext cx="11268419" cy="5401662"/>
          </a:xfrm>
        </p:spPr>
        <p:txBody>
          <a:bodyPr lIns="91440" tIns="45720" rIns="91440" bIns="45720" anchor="t"/>
          <a:lstStyle/>
          <a:p>
            <a:pPr marL="285750" indent="-285750" algn="just">
              <a:lnSpc>
                <a:spcPct val="100000"/>
              </a:lnSpc>
              <a:spcBef>
                <a:spcPts val="0"/>
              </a:spcBef>
            </a:pPr>
            <a:r>
              <a:rPr lang="en-IN" sz="2200" dirty="0">
                <a:latin typeface="Times New Roman" panose="02020603050405020304"/>
                <a:cs typeface="Times New Roman" panose="02020603050405020304"/>
              </a:rPr>
              <a:t>Collision occurs when multiple keys are mapped to the same index (slot) in a hash table by the hash function. </a:t>
            </a:r>
            <a:endParaRPr lang="en-US" sz="2200" dirty="0">
              <a:latin typeface="Times New Roman" panose="02020603050405020304"/>
              <a:cs typeface="Times New Roman" panose="02020603050405020304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2200" dirty="0">
                <a:latin typeface="Times New Roman" panose="02020603050405020304"/>
                <a:cs typeface="Times New Roman" panose="02020603050405020304"/>
              </a:rPr>
              <a:t>For example, several students having the same locker number in a school, leading to potential conflicts for storage and retrieval.</a:t>
            </a:r>
            <a:endParaRPr lang="en-IN" sz="2200" dirty="0"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</a:pPr>
            <a:r>
              <a:rPr lang="en-IN" sz="2200" dirty="0">
                <a:latin typeface="Times New Roman" panose="02020603050405020304"/>
                <a:cs typeface="Times New Roman" panose="02020603050405020304"/>
              </a:rPr>
              <a:t>The collision creates a problem because each index in a hash table is supposed to store only one value.</a:t>
            </a:r>
            <a:endParaRPr lang="en-IN" sz="2200" dirty="0">
              <a:latin typeface="Times New Roman" panose="02020603050405020304"/>
              <a:cs typeface="Times New Roman" panose="02020603050405020304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sz="2200" dirty="0">
                <a:latin typeface="Times New Roman" panose="02020603050405020304"/>
                <a:cs typeface="Times New Roman" panose="02020603050405020304"/>
              </a:rPr>
              <a:t>There are several collision resolution techniques to manage the performance of a hash table. The two most popular techniques are:</a:t>
            </a:r>
            <a:endParaRPr lang="en-IN" sz="2200" dirty="0">
              <a:latin typeface="Times New Roman" panose="02020603050405020304"/>
              <a:cs typeface="Times New Roman" panose="02020603050405020304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200" dirty="0">
                <a:latin typeface="Times New Roman" panose="02020603050405020304"/>
                <a:cs typeface="Times New Roman" panose="02020603050405020304"/>
              </a:rPr>
              <a:t>       1. Open Hashing</a:t>
            </a:r>
            <a:endParaRPr lang="en-IN" sz="2200" dirty="0">
              <a:latin typeface="Times New Roman" panose="02020603050405020304"/>
              <a:cs typeface="Times New Roman" panose="02020603050405020304"/>
            </a:endParaRPr>
          </a:p>
          <a:p>
            <a:pPr lvl="3" algn="just"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Times New Roman" panose="02020603050405020304"/>
                <a:cs typeface="Times New Roman" panose="02020603050405020304"/>
              </a:rPr>
              <a:t>Separate Chaining</a:t>
            </a:r>
            <a:endParaRPr lang="en-IN" dirty="0">
              <a:latin typeface="Times New Roman" panose="02020603050405020304"/>
              <a:cs typeface="Times New Roman" panose="02020603050405020304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IN" sz="2200" dirty="0">
                <a:latin typeface="Times New Roman" panose="02020603050405020304"/>
                <a:cs typeface="Times New Roman" panose="02020603050405020304"/>
              </a:rPr>
              <a:t>       2. Closed Hashing or Open Addressing</a:t>
            </a:r>
            <a:endParaRPr lang="en-IN" sz="2200" dirty="0">
              <a:latin typeface="Times New Roman" panose="02020603050405020304"/>
              <a:cs typeface="Times New Roman" panose="02020603050405020304"/>
            </a:endParaRPr>
          </a:p>
          <a:p>
            <a:pPr lvl="3" algn="just">
              <a:lnSpc>
                <a:spcPct val="150000"/>
              </a:lnSpc>
              <a:spcBef>
                <a:spcPts val="0"/>
              </a:spcBef>
            </a:pPr>
            <a:r>
              <a:rPr lang="en-IN" dirty="0">
                <a:latin typeface="Times New Roman" panose="02020603050405020304"/>
                <a:cs typeface="Times New Roman" panose="02020603050405020304"/>
              </a:rPr>
              <a:t>Linear Probing</a:t>
            </a:r>
            <a:endParaRPr lang="en-IN" dirty="0">
              <a:latin typeface="Times New Roman" panose="02020603050405020304"/>
              <a:cs typeface="Times New Roman" panose="02020603050405020304"/>
            </a:endParaRPr>
          </a:p>
          <a:p>
            <a:pPr lvl="3" algn="just">
              <a:lnSpc>
                <a:spcPct val="150000"/>
              </a:lnSpc>
              <a:spcBef>
                <a:spcPts val="0"/>
              </a:spcBef>
            </a:pPr>
            <a:r>
              <a:rPr lang="en-IN" dirty="0">
                <a:latin typeface="Times New Roman" panose="02020603050405020304"/>
                <a:cs typeface="Times New Roman" panose="02020603050405020304"/>
              </a:rPr>
              <a:t>Quadratic Probing</a:t>
            </a:r>
            <a:endParaRPr lang="en-IN" dirty="0">
              <a:latin typeface="Times New Roman" panose="02020603050405020304"/>
              <a:cs typeface="Times New Roman" panose="02020603050405020304"/>
            </a:endParaRPr>
          </a:p>
          <a:p>
            <a:pPr lvl="3" algn="just">
              <a:lnSpc>
                <a:spcPct val="150000"/>
              </a:lnSpc>
              <a:spcBef>
                <a:spcPts val="0"/>
              </a:spcBef>
            </a:pPr>
            <a:endParaRPr lang="en-IN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Rounded Rectangle 17"/>
          <p:cNvSpPr/>
          <p:nvPr/>
        </p:nvSpPr>
        <p:spPr>
          <a:xfrm>
            <a:off x="1652864" y="103034"/>
            <a:ext cx="9701345" cy="7150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600"/>
              <a:t>Introduction To Collision Resolution Techniques</a:t>
            </a:r>
            <a:endParaRPr lang="en-US" sz="3200">
              <a:cs typeface="Calibri" panose="020F0502020204030204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3" name="Picture 12" descr="A diagram of a problem solution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206" y="4043247"/>
            <a:ext cx="4067175" cy="2333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36083"/>
            <a:ext cx="10515600" cy="2992591"/>
          </a:xfrm>
        </p:spPr>
        <p:txBody>
          <a:bodyPr lIns="91440" tIns="45720" rIns="91440" bIns="45720" anchor="t"/>
          <a:lstStyle/>
          <a:p>
            <a:pPr marL="0" indent="0" algn="just">
              <a:buNone/>
            </a:pPr>
            <a:r>
              <a:rPr lang="en-US" sz="2200" b="1">
                <a:latin typeface="Times New Roman" panose="02020603050405020304"/>
                <a:ea typeface="+mn-lt"/>
                <a:cs typeface="+mn-lt"/>
              </a:rPr>
              <a:t>Open Hashing </a:t>
            </a:r>
            <a:endParaRPr lang="en-US" sz="2200" b="1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US" sz="2200">
                <a:latin typeface="Times New Roman" panose="02020603050405020304"/>
                <a:ea typeface="+mn-lt"/>
                <a:cs typeface="+mn-lt"/>
              </a:rPr>
              <a:t> Each Bucket in the Hash table is the head of a Linked List. </a:t>
            </a:r>
            <a:endParaRPr lang="en-US" sz="2200">
              <a:latin typeface="Times New Roman" panose="02020603050405020304"/>
              <a:ea typeface="+mn-lt"/>
              <a:cs typeface="+mn-lt"/>
            </a:endParaRPr>
          </a:p>
          <a:p>
            <a:pPr algn="just"/>
            <a:r>
              <a:rPr lang="en-US" sz="2200">
                <a:latin typeface="Times New Roman" panose="02020603050405020304"/>
                <a:ea typeface="+mn-lt"/>
                <a:cs typeface="+mn-lt"/>
              </a:rPr>
              <a:t>All Elements that hash to a Particular Bucket are Placed on the Buckets Linked List .</a:t>
            </a:r>
            <a:endParaRPr lang="en-US" sz="2200">
              <a:latin typeface="Times New Roman" panose="02020603050405020304"/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US" sz="2200">
                <a:latin typeface="Times New Roman" panose="02020603050405020304"/>
                <a:ea typeface="+mn-lt"/>
                <a:cs typeface="+mn-lt"/>
              </a:rPr>
              <a:t> </a:t>
            </a:r>
            <a:r>
              <a:rPr lang="en-US" sz="2200" b="1">
                <a:latin typeface="Times New Roman" panose="02020603050405020304"/>
                <a:ea typeface="+mn-lt"/>
                <a:cs typeface="+mn-lt"/>
              </a:rPr>
              <a:t>Closed Hashing </a:t>
            </a:r>
            <a:endParaRPr lang="en-US" sz="2200" b="1">
              <a:latin typeface="Times New Roman" panose="02020603050405020304"/>
              <a:ea typeface="+mn-lt"/>
              <a:cs typeface="+mn-lt"/>
            </a:endParaRPr>
          </a:p>
          <a:p>
            <a:pPr algn="just"/>
            <a:r>
              <a:rPr lang="en-US" sz="2200">
                <a:latin typeface="Times New Roman" panose="02020603050405020304"/>
                <a:ea typeface="+mn-lt"/>
                <a:cs typeface="+mn-lt"/>
              </a:rPr>
              <a:t> Ensures that all elements are stored directly into the Hash Table.</a:t>
            </a:r>
            <a:endParaRPr lang="en-US" sz="2200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" name="Rounded Rectangle 17"/>
          <p:cNvSpPr/>
          <p:nvPr/>
        </p:nvSpPr>
        <p:spPr>
          <a:xfrm>
            <a:off x="1652864" y="103034"/>
            <a:ext cx="9701345" cy="7150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600"/>
              <a:t>Introduction To Collision Resolution Techniques</a:t>
            </a:r>
            <a:endParaRPr lang="en-US" sz="3200">
              <a:cs typeface="Calibri" panose="020F0502020204030204"/>
            </a:endParaRPr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1652864" y="121396"/>
            <a:ext cx="8985249" cy="68374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/>
              <a:t> Linear Probing</a:t>
            </a:r>
            <a:endParaRPr lang="en-US"/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82627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357558" y="878014"/>
            <a:ext cx="11372743" cy="55262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 algn="just">
              <a:buFont typeface="Arial" panose="020B0604020202020204"/>
              <a:buChar char="•"/>
            </a:pPr>
            <a:r>
              <a:rPr lang="en-IN" sz="2200">
                <a:solidFill>
                  <a:srgbClr val="1F1F1F"/>
                </a:solidFill>
                <a:latin typeface="Times New Roman" panose="02020603050405020304"/>
                <a:cs typeface="Calibri" panose="020F0502020204030204"/>
              </a:rPr>
              <a:t>It's</a:t>
            </a:r>
            <a:r>
              <a:rPr lang="en-IN" sz="2200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 an open addressing collision resolution technique.</a:t>
            </a:r>
            <a:endParaRPr lang="en-US">
              <a:cs typeface="Calibri" panose="020F0502020204030204"/>
            </a:endParaRPr>
          </a:p>
          <a:p>
            <a:pPr marL="342900" indent="-342900" algn="just">
              <a:buFont typeface="Arial" panose="020B0604020202020204"/>
              <a:buChar char="•"/>
            </a:pPr>
            <a:r>
              <a:rPr lang="en-IN" sz="2200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When a collision occurs, it probes sequentially for the next available slot in the hash table.</a:t>
            </a:r>
            <a:endParaRPr lang="en-IN" sz="220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buFont typeface="Arial" panose="020B0604020202020204"/>
              <a:buChar char="•"/>
            </a:pPr>
            <a:r>
              <a:rPr lang="en-IN" sz="2400">
                <a:solidFill>
                  <a:srgbClr val="000000"/>
                </a:solidFill>
                <a:latin typeface="Times New Roman" panose="02020603050405020304"/>
                <a:ea typeface="+mn-lt"/>
                <a:cs typeface="Times New Roman" panose="02020603050405020304"/>
              </a:rPr>
              <a:t>The</a:t>
            </a:r>
            <a:r>
              <a:rPr lang="en-IN" sz="2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hash function for the Linear Probing to an initial index:</a:t>
            </a:r>
            <a:endParaRPr lang="en-US" sz="240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IN" sz="2400" b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    h(key) = Key% </a:t>
            </a:r>
            <a:r>
              <a:rPr lang="en-IN" sz="2400" b="1" err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Table_size</a:t>
            </a:r>
            <a:r>
              <a:rPr lang="en-IN" sz="2400" b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.</a:t>
            </a:r>
            <a:endParaRPr lang="en-US" sz="2400" b="1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n-IN" sz="2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If a collision occurs at the any index, linearly probe for the next available slot:</a:t>
            </a:r>
            <a:endParaRPr lang="en-US" sz="240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algn="l"/>
            <a:r>
              <a:rPr lang="en-IN" sz="2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    </a:t>
            </a:r>
            <a:r>
              <a:rPr lang="en-IN" sz="2400" b="1" err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probe_index</a:t>
            </a:r>
            <a:r>
              <a:rPr lang="en-IN" sz="2400" b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(key) = (key + </a:t>
            </a:r>
            <a:r>
              <a:rPr lang="en-IN" sz="2400" b="1" err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IN" sz="2400" b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) % </a:t>
            </a:r>
            <a:r>
              <a:rPr lang="en-IN" sz="2400" b="1" err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Table_size</a:t>
            </a:r>
            <a:br>
              <a:rPr lang="en-IN" sz="2400">
                <a:latin typeface="Times New Roman" panose="02020603050405020304"/>
                <a:cs typeface="Times New Roman" panose="02020603050405020304"/>
              </a:rPr>
            </a:br>
            <a:r>
              <a:rPr lang="en-IN" sz="2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   Where, </a:t>
            </a:r>
            <a:r>
              <a:rPr lang="en-IN" sz="2400" err="1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IN" sz="2400">
                <a:solidFill>
                  <a:srgbClr val="000000"/>
                </a:solidFill>
                <a:latin typeface="Times New Roman" panose="02020603050405020304"/>
                <a:cs typeface="Times New Roman" panose="02020603050405020304"/>
              </a:rPr>
              <a:t> is the probe count, starting from 1 and incrementing for each failed attempt.</a:t>
            </a:r>
            <a:endParaRPr lang="en-US" sz="2400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buFont typeface="Arial" panose="020B0604020202020204"/>
              <a:buChar char="•"/>
            </a:pPr>
            <a:endParaRPr lang="en-IN" sz="2200">
              <a:solidFill>
                <a:srgbClr val="1F1F1F"/>
              </a:solidFill>
              <a:latin typeface="Times New Roman" panose="02020603050405020304"/>
              <a:cs typeface="Calibri" panose="020F0502020204030204"/>
            </a:endParaRPr>
          </a:p>
          <a:p>
            <a:pPr algn="just"/>
            <a:r>
              <a:rPr lang="en-IN" sz="2200" b="1">
                <a:latin typeface="Times New Roman" panose="02020603050405020304"/>
                <a:cs typeface="Calibri" panose="020F0502020204030204"/>
              </a:rPr>
              <a:t>Working Mechanism</a:t>
            </a:r>
            <a:endParaRPr lang="en-IN" sz="2200" b="1">
              <a:latin typeface="Times New Roman" panose="02020603050405020304"/>
              <a:cs typeface="Calibri" panose="020F0502020204030204"/>
            </a:endParaRPr>
          </a:p>
          <a:p>
            <a:pPr marL="342900" indent="-342900" algn="just">
              <a:buFont typeface="Arial" panose="020B0604020202020204"/>
              <a:buChar char="•"/>
            </a:pPr>
            <a:r>
              <a:rPr lang="en-IN" sz="2200" b="1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Calculate the hash value:</a:t>
            </a:r>
            <a:r>
              <a:rPr lang="en-IN" sz="2200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 Use a hash function to determine the initial slot for a key.</a:t>
            </a:r>
            <a:endParaRPr lang="en-IN" sz="2200">
              <a:solidFill>
                <a:srgbClr val="1F1F1F"/>
              </a:solidFill>
              <a:latin typeface="Times New Roman" panose="02020603050405020304"/>
              <a:ea typeface="+mn-lt"/>
              <a:cs typeface="+mn-lt"/>
            </a:endParaRPr>
          </a:p>
          <a:p>
            <a:pPr marL="342900" indent="-342900" algn="just">
              <a:buFont typeface="Arial" panose="020B0604020202020204"/>
              <a:buChar char="•"/>
            </a:pPr>
            <a:r>
              <a:rPr lang="en-IN" sz="2200" b="1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Check for collision:</a:t>
            </a:r>
            <a:r>
              <a:rPr lang="en-IN" sz="2200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 If the slot is occupied, start linear probing:</a:t>
            </a:r>
            <a:endParaRPr lang="en-IN" sz="2200">
              <a:solidFill>
                <a:srgbClr val="1F1F1F"/>
              </a:solidFill>
              <a:latin typeface="Times New Roman" panose="02020603050405020304"/>
              <a:ea typeface="+mn-lt"/>
              <a:cs typeface="+mn-lt"/>
            </a:endParaRPr>
          </a:p>
          <a:p>
            <a:pPr marL="800100" lvl="2" indent="-342900" algn="just">
              <a:buFont typeface="Wingdings" panose="05000000000000000000"/>
              <a:buChar char="§"/>
            </a:pPr>
            <a:r>
              <a:rPr lang="en-IN" sz="2200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Sequentially check the next available slot in the table.</a:t>
            </a:r>
            <a:endParaRPr lang="en-IN" sz="2200">
              <a:solidFill>
                <a:srgbClr val="1F1F1F"/>
              </a:solidFill>
              <a:latin typeface="Times New Roman" panose="02020603050405020304"/>
              <a:ea typeface="+mn-lt"/>
              <a:cs typeface="+mn-lt"/>
            </a:endParaRPr>
          </a:p>
          <a:p>
            <a:pPr marL="800100" lvl="2" indent="-342900" algn="just">
              <a:buFont typeface="Wingdings" panose="05000000000000000000"/>
              <a:buChar char="§"/>
            </a:pPr>
            <a:r>
              <a:rPr lang="en-IN" sz="2200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Wrap around to the beginning if you reach the end.</a:t>
            </a:r>
            <a:endParaRPr lang="en-IN" sz="2200">
              <a:solidFill>
                <a:srgbClr val="1F1F1F"/>
              </a:solidFill>
              <a:latin typeface="Times New Roman" panose="02020603050405020304"/>
              <a:ea typeface="+mn-lt"/>
              <a:cs typeface="+mn-lt"/>
            </a:endParaRPr>
          </a:p>
          <a:p>
            <a:pPr marL="342900" indent="-342900" algn="just">
              <a:buFont typeface="Arial" panose="020B0604020202020204"/>
              <a:buChar char="•"/>
            </a:pPr>
            <a:r>
              <a:rPr lang="en-IN" sz="2200" b="1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Insert or search:</a:t>
            </a:r>
            <a:r>
              <a:rPr lang="en-IN" sz="2200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 Once an empty slot is found, insert the key or search for it.</a:t>
            </a:r>
            <a:endParaRPr lang="en-IN" sz="2200">
              <a:solidFill>
                <a:srgbClr val="1F1F1F"/>
              </a:solidFill>
              <a:latin typeface="Times New Roman" panose="02020603050405020304"/>
              <a:ea typeface="+mn-lt"/>
              <a:cs typeface="+mn-lt"/>
            </a:endParaRPr>
          </a:p>
          <a:p>
            <a:pPr marL="285750" indent="-285750">
              <a:buFont typeface="Arial" panose="020B0604020202020204"/>
              <a:buChar char="•"/>
            </a:pPr>
            <a:endParaRPr lang="en-IN" sz="1200">
              <a:solidFill>
                <a:srgbClr val="1F1F1F"/>
              </a:solidFill>
              <a:cs typeface="Calibri" panose="020F0502020204030204"/>
            </a:endParaRPr>
          </a:p>
          <a:p>
            <a:endParaRPr lang="en-IN" sz="2400">
              <a:latin typeface="Times New Roman" panose="02020603050405020304"/>
              <a:cs typeface="Times New Roman" panose="02020603050405020304"/>
            </a:endParaRPr>
          </a:p>
          <a:p>
            <a:endParaRPr lang="en-US"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1579418" y="341733"/>
            <a:ext cx="8985249" cy="94080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3200"/>
              <a:t> Linear Probing</a:t>
            </a:r>
            <a:endParaRPr lang="en-US"/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82627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375920" y="1465580"/>
            <a:ext cx="11336020" cy="48836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just"/>
            <a:r>
              <a:rPr lang="en-IN" sz="2200" b="1">
                <a:latin typeface="Times New Roman" panose="02020603050405020304"/>
                <a:cs typeface="Calibri" panose="020F0502020204030204"/>
              </a:rPr>
              <a:t>Example: </a:t>
            </a:r>
            <a:r>
              <a:rPr lang="en-IN" sz="2200">
                <a:latin typeface="Times New Roman" panose="02020603050405020304"/>
                <a:cs typeface="Calibri" panose="020F0502020204030204"/>
              </a:rPr>
              <a:t>Consider 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a sequence of keys as 71, 64, 56, 36 with table size 10</a:t>
            </a:r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IN" sz="2400">
                <a:latin typeface="Times New Roman" panose="02020603050405020304"/>
                <a:cs typeface="Times New Roman" panose="02020603050405020304"/>
              </a:rPr>
              <a:t>The hash function for the Division method is:</a:t>
            </a:r>
            <a:endParaRPr 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IN" sz="2400">
                <a:latin typeface="Times New Roman" panose="02020603050405020304"/>
                <a:cs typeface="Times New Roman" panose="02020603050405020304"/>
              </a:rPr>
              <a:t>         h(key) = Key% table size.</a:t>
            </a:r>
            <a:endParaRPr lang="en-US" sz="24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200">
                <a:latin typeface="Times New Roman" panose="02020603050405020304"/>
                <a:cs typeface="Times New Roman" panose="02020603050405020304"/>
              </a:rPr>
              <a:t>          h(71)=71%10=1</a:t>
            </a:r>
            <a:endParaRPr lang="en-IN" sz="22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200">
                <a:latin typeface="Times New Roman" panose="02020603050405020304"/>
                <a:cs typeface="Times New Roman" panose="02020603050405020304"/>
              </a:rPr>
              <a:t>         h(64)=64%10=4</a:t>
            </a:r>
            <a:endParaRPr lang="en-IN" sz="22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200">
                <a:latin typeface="Times New Roman" panose="02020603050405020304"/>
                <a:cs typeface="Times New Roman" panose="02020603050405020304"/>
              </a:rPr>
              <a:t>         h(56)=56%10=6</a:t>
            </a:r>
            <a:endParaRPr lang="en-IN" sz="22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200">
                <a:latin typeface="Times New Roman" panose="02020603050405020304"/>
                <a:cs typeface="Times New Roman" panose="02020603050405020304"/>
              </a:rPr>
              <a:t>         h(36)=36%10=6</a:t>
            </a:r>
            <a:endParaRPr lang="en-IN" sz="22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400">
                <a:latin typeface="Times New Roman" panose="02020603050405020304"/>
                <a:cs typeface="Times New Roman" panose="02020603050405020304"/>
              </a:rPr>
              <a:t>Now, collision occurs at the index 6</a:t>
            </a:r>
            <a:endParaRPr lang="en-IN" sz="24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400" err="1">
                <a:latin typeface="Times New Roman" panose="02020603050405020304"/>
                <a:cs typeface="Times New Roman" panose="02020603050405020304"/>
              </a:rPr>
              <a:t>probe_index</a:t>
            </a:r>
            <a:r>
              <a:rPr lang="en-IN" sz="2400">
                <a:latin typeface="Times New Roman" panose="02020603050405020304"/>
                <a:cs typeface="Times New Roman" panose="02020603050405020304"/>
              </a:rPr>
              <a:t>(key) = (key + </a:t>
            </a:r>
            <a:r>
              <a:rPr lang="en-IN" sz="240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IN" sz="2400">
                <a:latin typeface="Times New Roman" panose="02020603050405020304"/>
                <a:cs typeface="Times New Roman" panose="02020603050405020304"/>
              </a:rPr>
              <a:t>) % </a:t>
            </a:r>
            <a:r>
              <a:rPr lang="en-IN" sz="2400" err="1">
                <a:latin typeface="Times New Roman" panose="02020603050405020304"/>
                <a:cs typeface="Times New Roman" panose="02020603050405020304"/>
              </a:rPr>
              <a:t>Table_size</a:t>
            </a:r>
            <a:endParaRPr lang="en-IN" sz="2400" err="1">
              <a:latin typeface="Times New Roman" panose="02020603050405020304"/>
              <a:cs typeface="Times New Roman" panose="02020603050405020304"/>
            </a:endParaRPr>
          </a:p>
          <a:p>
            <a:pPr algn="l"/>
            <a:r>
              <a:rPr lang="en-IN" sz="2400">
                <a:latin typeface="Times New Roman" panose="02020603050405020304"/>
                <a:cs typeface="Times New Roman" panose="02020603050405020304"/>
              </a:rPr>
              <a:t>Initially </a:t>
            </a:r>
            <a:r>
              <a:rPr lang="en-IN" sz="240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IN" sz="2400">
                <a:latin typeface="Times New Roman" panose="02020603050405020304"/>
                <a:cs typeface="Times New Roman" panose="02020603050405020304"/>
              </a:rPr>
              <a:t>=1</a:t>
            </a:r>
            <a:br>
              <a:rPr lang="en-IN" sz="2400">
                <a:latin typeface="Times New Roman" panose="02020603050405020304"/>
                <a:cs typeface="Times New Roman" panose="02020603050405020304"/>
              </a:rPr>
            </a:br>
            <a:r>
              <a:rPr lang="en-IN" sz="2400" err="1">
                <a:latin typeface="Times New Roman" panose="02020603050405020304"/>
                <a:cs typeface="Times New Roman" panose="02020603050405020304"/>
              </a:rPr>
              <a:t>probe_index</a:t>
            </a:r>
            <a:r>
              <a:rPr lang="en-IN" sz="2400">
                <a:latin typeface="Times New Roman" panose="02020603050405020304"/>
                <a:cs typeface="Times New Roman" panose="02020603050405020304"/>
              </a:rPr>
              <a:t>(36) =(36+1)%10=7</a:t>
            </a:r>
            <a:endParaRPr lang="en-IN"/>
          </a:p>
          <a:p>
            <a:pPr algn="just"/>
            <a:r>
              <a:rPr lang="en-IN" sz="2400">
                <a:latin typeface="Times New Roman" panose="02020603050405020304"/>
                <a:cs typeface="Times New Roman" panose="02020603050405020304"/>
              </a:rPr>
              <a:t>Now, key 36 is placed at index 7</a:t>
            </a:r>
            <a:endParaRPr lang="en-IN" sz="24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1073742850" name="Picture Placeholder 1073742849" descr="Linear probing"/>
          <p:cNvPicPr>
            <a:picLocks noGrp="1" noChangeAspect="1"/>
          </p:cNvPicPr>
          <p:nvPr>
            <p:ph type="pic" idx="2"/>
          </p:nvPr>
        </p:nvPicPr>
        <p:blipFill>
          <a:blip r:embed="rId2" r:link="rId3"/>
          <a:stretch>
            <a:fillRect/>
          </a:stretch>
        </p:blipFill>
        <p:spPr>
          <a:xfrm>
            <a:off x="9905371" y="1969211"/>
            <a:ext cx="1400175" cy="2724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1828801" y="300038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Quadratic Probing</a:t>
            </a:r>
            <a:endParaRPr lang="en-US" sz="2800">
              <a:solidFill>
                <a:schemeClr val="bg1"/>
              </a:solidFill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00" name="Text Box 99"/>
          <p:cNvSpPr txBox="1"/>
          <p:nvPr/>
        </p:nvSpPr>
        <p:spPr>
          <a:xfrm>
            <a:off x="412115" y="1231265"/>
            <a:ext cx="11156705" cy="4702175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It's a collision resolution technique used in hash tables that employ open addressing.</a:t>
            </a:r>
            <a:endParaRPr lang="en-US"/>
          </a:p>
          <a:p>
            <a:pPr marL="342900" indent="-342900" algn="just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2200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When a collision occurs (two keys hash to the same index), quadratic probing probes a sequence of alternate hash table indices using a quadratic function.</a:t>
            </a:r>
            <a:endParaRPr lang="en-US" sz="2200">
              <a:solidFill>
                <a:srgbClr val="1F1F1F"/>
              </a:solidFill>
              <a:latin typeface="Times New Roman" panose="02020603050405020304"/>
              <a:ea typeface="+mn-lt"/>
              <a:cs typeface="+mn-lt"/>
            </a:endParaRPr>
          </a:p>
          <a:p>
            <a:pPr marL="342900" indent="-342900" algn="just">
              <a:lnSpc>
                <a:spcPct val="150000"/>
              </a:lnSpc>
              <a:buFont typeface="Arial,Sans-Serif"/>
              <a:buChar char="•"/>
            </a:pPr>
            <a:r>
              <a:rPr lang="en-IN" sz="2400">
                <a:latin typeface="Times New Roman" panose="02020603050405020304"/>
                <a:cs typeface="Times New Roman" panose="02020603050405020304"/>
              </a:rPr>
              <a:t>The hash function for the Quadratic Probing to an initial index:</a:t>
            </a:r>
            <a:endParaRPr lang="en-US" sz="2400">
              <a:latin typeface="Times New Roman" panose="02020603050405020304"/>
              <a:cs typeface="Times New Roman" panose="02020603050405020304"/>
            </a:endParaRPr>
          </a:p>
          <a:p>
            <a:pPr algn="just">
              <a:lnSpc>
                <a:spcPct val="150000"/>
              </a:lnSpc>
            </a:pPr>
            <a:r>
              <a:rPr lang="en-IN" sz="2400">
                <a:latin typeface="Times New Roman" panose="02020603050405020304"/>
                <a:cs typeface="Times New Roman" panose="02020603050405020304"/>
              </a:rPr>
              <a:t> </a:t>
            </a:r>
            <a:r>
              <a:rPr lang="en-IN" sz="2400" b="1">
                <a:latin typeface="Times New Roman" panose="02020603050405020304"/>
                <a:cs typeface="Times New Roman" panose="02020603050405020304"/>
              </a:rPr>
              <a:t>    h(key) = Key% </a:t>
            </a:r>
            <a:r>
              <a:rPr lang="en-IN" sz="2400" b="1" err="1">
                <a:latin typeface="Times New Roman" panose="02020603050405020304"/>
                <a:cs typeface="Times New Roman" panose="02020603050405020304"/>
              </a:rPr>
              <a:t>Table_size</a:t>
            </a:r>
            <a:r>
              <a:rPr lang="en-IN" sz="2400" b="1">
                <a:latin typeface="Times New Roman" panose="02020603050405020304"/>
                <a:cs typeface="Times New Roman" panose="02020603050405020304"/>
              </a:rPr>
              <a:t>.</a:t>
            </a:r>
            <a:endParaRPr lang="en-US" sz="2400"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just">
              <a:lnSpc>
                <a:spcPct val="150000"/>
              </a:lnSpc>
              <a:buFont typeface="Arial,Sans-Serif"/>
              <a:buChar char="•"/>
            </a:pPr>
            <a:r>
              <a:rPr lang="en-IN" sz="2400">
                <a:latin typeface="Times New Roman" panose="02020603050405020304"/>
                <a:cs typeface="Times New Roman" panose="02020603050405020304"/>
              </a:rPr>
              <a:t>If a collision occurs at the any index, linearly probe for the next available slot:</a:t>
            </a:r>
            <a:endParaRPr lang="en-US" sz="2400">
              <a:latin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50000"/>
              </a:lnSpc>
            </a:pPr>
            <a:r>
              <a:rPr lang="en-IN" sz="2400">
                <a:latin typeface="Times New Roman" panose="02020603050405020304"/>
                <a:cs typeface="Times New Roman" panose="02020603050405020304"/>
              </a:rPr>
              <a:t>    </a:t>
            </a:r>
            <a:r>
              <a:rPr lang="en-IN" sz="2400" b="1" err="1">
                <a:latin typeface="Times New Roman" panose="02020603050405020304"/>
                <a:cs typeface="Times New Roman" panose="02020603050405020304"/>
              </a:rPr>
              <a:t>Quaprobe_index</a:t>
            </a:r>
            <a:r>
              <a:rPr lang="en-IN" sz="2400" b="1">
                <a:latin typeface="Times New Roman" panose="02020603050405020304"/>
                <a:cs typeface="Times New Roman" panose="02020603050405020304"/>
              </a:rPr>
              <a:t>(key) = (key + </a:t>
            </a:r>
            <a:r>
              <a:rPr lang="en-IN" sz="2400" b="1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IN" sz="2400" b="1">
                <a:latin typeface="Times New Roman" panose="02020603050405020304"/>
                <a:cs typeface="Times New Roman" panose="02020603050405020304"/>
              </a:rPr>
              <a:t>*</a:t>
            </a:r>
            <a:r>
              <a:rPr lang="en-IN" sz="2400" b="1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IN" sz="2400" b="1">
                <a:latin typeface="Times New Roman" panose="02020603050405020304"/>
                <a:cs typeface="Times New Roman" panose="02020603050405020304"/>
              </a:rPr>
              <a:t>) % </a:t>
            </a:r>
            <a:r>
              <a:rPr lang="en-IN" sz="2400" b="1" err="1">
                <a:latin typeface="Times New Roman" panose="02020603050405020304"/>
                <a:cs typeface="Times New Roman" panose="02020603050405020304"/>
              </a:rPr>
              <a:t>Table_size</a:t>
            </a:r>
            <a:br>
              <a:rPr lang="en-IN" sz="2400" b="1">
                <a:latin typeface="Times New Roman" panose="02020603050405020304"/>
                <a:cs typeface="Times New Roman" panose="02020603050405020304"/>
              </a:rPr>
            </a:br>
            <a:r>
              <a:rPr lang="en-US" sz="2400" b="1">
                <a:latin typeface="Arial" panose="020B0604020202020204"/>
                <a:cs typeface="Times New Roman" panose="02020603050405020304"/>
              </a:rPr>
              <a:t>   </a:t>
            </a:r>
            <a:r>
              <a:rPr lang="en-IN" sz="2400">
                <a:latin typeface="Times New Roman" panose="02020603050405020304"/>
                <a:cs typeface="Times New Roman" panose="02020603050405020304"/>
              </a:rPr>
              <a:t>Where, </a:t>
            </a:r>
            <a:r>
              <a:rPr lang="en-IN" sz="240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IN" sz="2400">
                <a:latin typeface="Times New Roman" panose="02020603050405020304"/>
                <a:cs typeface="Times New Roman" panose="02020603050405020304"/>
              </a:rPr>
              <a:t> is the probe count, starting from 1 and incrementing for each failed attempt.</a:t>
            </a:r>
            <a:endParaRPr lang="en-US"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 algn="just">
              <a:buFont typeface="Arial,Sans-Serif"/>
              <a:buChar char="•"/>
            </a:pPr>
            <a:endParaRPr lang="en-IN" sz="2200">
              <a:solidFill>
                <a:srgbClr val="1F1F1F"/>
              </a:solidFill>
              <a:latin typeface="Times New Roman" panose="02020603050405020304"/>
              <a:cs typeface="Times New Roman" panose="02020603050405020304"/>
            </a:endParaRPr>
          </a:p>
          <a:p>
            <a:endParaRPr lang="en-US" sz="2400" b="1">
              <a:latin typeface="Arial" panose="020B0604020202020204"/>
              <a:cs typeface="Times New Roman" panose="02020603050405020304"/>
            </a:endParaRPr>
          </a:p>
          <a:p>
            <a:pPr indent="0"/>
            <a:endParaRPr lang="en-US" sz="2400" b="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7822" y="1437701"/>
            <a:ext cx="8618861" cy="54784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>
                <a:latin typeface="Times New Roman" panose="02020603050405020304"/>
                <a:cs typeface="Segoe UI" panose="020B0502040204020203"/>
              </a:rPr>
              <a:t>Example: </a:t>
            </a:r>
            <a:r>
              <a:rPr lang="en-IN" sz="2200">
                <a:latin typeface="Times New Roman" panose="02020603050405020304"/>
                <a:cs typeface="Times New Roman" panose="02020603050405020304"/>
              </a:rPr>
              <a:t>Consider </a:t>
            </a:r>
            <a:r>
              <a:rPr lang="en-US" sz="2400">
                <a:latin typeface="Times New Roman" panose="02020603050405020304"/>
                <a:cs typeface="Times New Roman" panose="02020603050405020304"/>
              </a:rPr>
              <a:t>a sequence of keys as 67, 90,55,49,17 with table size 10</a:t>
            </a:r>
            <a:endParaRPr lang="en-US" sz="2400">
              <a:latin typeface="Times New Roman" panose="02020603050405020304"/>
              <a:cs typeface="Times New Roman" panose="02020603050405020304"/>
            </a:endParaRPr>
          </a:p>
          <a:p>
            <a:r>
              <a:rPr lang="en-US" sz="2400">
                <a:latin typeface="Times New Roman" panose="02020603050405020304"/>
                <a:cs typeface="Segoe UI" panose="020B0502040204020203"/>
              </a:rPr>
              <a:t>​</a:t>
            </a:r>
            <a:r>
              <a:rPr lang="en-IN" sz="2400">
                <a:latin typeface="Times New Roman" panose="02020603050405020304"/>
                <a:cs typeface="Times New Roman" panose="02020603050405020304"/>
              </a:rPr>
              <a:t>The hash function for the Division method is:</a:t>
            </a:r>
            <a:endParaRPr lang="en-US" sz="24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400">
                <a:latin typeface="Times New Roman" panose="02020603050405020304"/>
                <a:cs typeface="Times New Roman" panose="02020603050405020304"/>
              </a:rPr>
              <a:t>         h(key) = Key% table size.</a:t>
            </a:r>
            <a:endParaRPr lang="en-US" sz="24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200">
                <a:latin typeface="Times New Roman" panose="02020603050405020304"/>
                <a:cs typeface="Times New Roman" panose="02020603050405020304"/>
              </a:rPr>
              <a:t>          h(67) = 67%10 = 7</a:t>
            </a:r>
            <a:endParaRPr lang="en-US" sz="22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200">
                <a:latin typeface="Times New Roman" panose="02020603050405020304"/>
                <a:cs typeface="Times New Roman" panose="02020603050405020304"/>
              </a:rPr>
              <a:t>         h(90) = 90%10 = 0</a:t>
            </a:r>
            <a:endParaRPr lang="en-US" sz="22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200">
                <a:latin typeface="Times New Roman" panose="02020603050405020304"/>
                <a:cs typeface="Times New Roman" panose="02020603050405020304"/>
              </a:rPr>
              <a:t>         h(55) = 55%10 = 5</a:t>
            </a:r>
            <a:endParaRPr lang="en-US" sz="22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200">
                <a:latin typeface="Times New Roman" panose="02020603050405020304"/>
                <a:cs typeface="Times New Roman" panose="02020603050405020304"/>
              </a:rPr>
              <a:t>         h(49) = 49%10 = 9</a:t>
            </a:r>
            <a:endParaRPr lang="en-IN" sz="22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200">
                <a:latin typeface="Times New Roman" panose="02020603050405020304"/>
                <a:cs typeface="Times New Roman" panose="02020603050405020304"/>
              </a:rPr>
              <a:t>         h(17) = 17%10 = 7</a:t>
            </a:r>
            <a:endParaRPr lang="en-US" sz="22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400">
                <a:latin typeface="Times New Roman" panose="02020603050405020304"/>
                <a:cs typeface="Times New Roman" panose="02020603050405020304"/>
              </a:rPr>
              <a:t>Now, collision occurs at the index 7</a:t>
            </a:r>
            <a:endParaRPr lang="en-US" sz="24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400" err="1">
                <a:latin typeface="Times New Roman" panose="02020603050405020304"/>
                <a:cs typeface="Times New Roman" panose="02020603050405020304"/>
              </a:rPr>
              <a:t>Quaprobe_index</a:t>
            </a:r>
            <a:r>
              <a:rPr lang="en-IN" sz="2400">
                <a:latin typeface="Times New Roman" panose="02020603050405020304"/>
                <a:cs typeface="Times New Roman" panose="02020603050405020304"/>
              </a:rPr>
              <a:t>(key) = (key + </a:t>
            </a:r>
            <a:r>
              <a:rPr lang="en-IN" sz="240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IN" sz="2400">
                <a:latin typeface="Times New Roman" panose="02020603050405020304"/>
                <a:cs typeface="Times New Roman" panose="02020603050405020304"/>
              </a:rPr>
              <a:t>*</a:t>
            </a:r>
            <a:r>
              <a:rPr lang="en-IN" sz="240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IN" sz="2400">
                <a:latin typeface="Times New Roman" panose="02020603050405020304"/>
                <a:cs typeface="Times New Roman" panose="02020603050405020304"/>
              </a:rPr>
              <a:t>) % </a:t>
            </a:r>
            <a:r>
              <a:rPr lang="en-IN" sz="2400" err="1">
                <a:latin typeface="Times New Roman" panose="02020603050405020304"/>
                <a:cs typeface="Times New Roman" panose="02020603050405020304"/>
              </a:rPr>
              <a:t>Table_size</a:t>
            </a:r>
            <a:endParaRPr lang="en-US" sz="2400">
              <a:latin typeface="Times New Roman" panose="02020603050405020304"/>
              <a:cs typeface="Times New Roman" panose="02020603050405020304"/>
            </a:endParaRPr>
          </a:p>
          <a:p>
            <a:pPr algn="l"/>
            <a:r>
              <a:rPr lang="en-IN" sz="2400">
                <a:latin typeface="Times New Roman" panose="02020603050405020304"/>
                <a:cs typeface="Times New Roman" panose="02020603050405020304"/>
              </a:rPr>
              <a:t>Initially </a:t>
            </a:r>
            <a:r>
              <a:rPr lang="en-IN" sz="2400" err="1"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IN" sz="2400">
                <a:latin typeface="Times New Roman" panose="02020603050405020304"/>
                <a:cs typeface="Times New Roman" panose="02020603050405020304"/>
              </a:rPr>
              <a:t>=1</a:t>
            </a:r>
            <a:br>
              <a:rPr lang="en-IN" sz="2400">
                <a:latin typeface="Times New Roman" panose="02020603050405020304"/>
                <a:cs typeface="Times New Roman" panose="02020603050405020304"/>
              </a:rPr>
            </a:br>
            <a:r>
              <a:rPr lang="en-IN" sz="2400" err="1">
                <a:latin typeface="Times New Roman" panose="02020603050405020304"/>
                <a:cs typeface="Times New Roman" panose="02020603050405020304"/>
              </a:rPr>
              <a:t>probe_index</a:t>
            </a:r>
            <a:r>
              <a:rPr lang="en-IN" sz="2400">
                <a:latin typeface="Times New Roman" panose="02020603050405020304"/>
                <a:cs typeface="Times New Roman" panose="02020603050405020304"/>
              </a:rPr>
              <a:t>(17) =(17+1*1)%10=8</a:t>
            </a:r>
            <a:endParaRPr lang="en-IN" sz="2400">
              <a:latin typeface="Times New Roman" panose="02020603050405020304"/>
              <a:cs typeface="Times New Roman" panose="02020603050405020304"/>
            </a:endParaRPr>
          </a:p>
          <a:p>
            <a:pPr algn="just"/>
            <a:r>
              <a:rPr lang="en-IN" sz="2400">
                <a:latin typeface="Times New Roman" panose="02020603050405020304"/>
                <a:cs typeface="Times New Roman" panose="02020603050405020304"/>
              </a:rPr>
              <a:t>Now, key 17 is placed at index 8</a:t>
            </a:r>
            <a:endParaRPr lang="en-US" sz="2400">
              <a:latin typeface="Times New Roman" panose="02020603050405020304"/>
              <a:cs typeface="Times New Roman" panose="02020603050405020304"/>
            </a:endParaRPr>
          </a:p>
          <a:p>
            <a:pPr algn="just"/>
            <a:endParaRPr lang="en-US" sz="2400">
              <a:latin typeface="Times New Roman" panose="02020603050405020304"/>
              <a:cs typeface="Segoe UI" panose="020B0502040204020203"/>
            </a:endParaRPr>
          </a:p>
        </p:txBody>
      </p:sp>
      <p:sp>
        <p:nvSpPr>
          <p:cNvPr id="5" name="Rounded Rectangle 17"/>
          <p:cNvSpPr/>
          <p:nvPr/>
        </p:nvSpPr>
        <p:spPr>
          <a:xfrm>
            <a:off x="1828801" y="300038"/>
            <a:ext cx="7469580" cy="66410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>
                <a:solidFill>
                  <a:schemeClr val="bg1"/>
                </a:solidFill>
              </a:rPr>
              <a:t>Quadratic Probing</a:t>
            </a:r>
            <a:endParaRPr lang="en-US" sz="2800">
              <a:solidFill>
                <a:schemeClr val="bg1"/>
              </a:solidFill>
            </a:endParaRPr>
          </a:p>
        </p:txBody>
      </p:sp>
      <p:pic>
        <p:nvPicPr>
          <p:cNvPr id="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8" name="Picture 7" descr="quadratic prob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557" y="1309228"/>
            <a:ext cx="1981200" cy="3248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IMPORTANT FACTS RELATED TO THE SESSION</a:t>
            </a:r>
            <a:endParaRPr lang="en-US" sz="2400"/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0" y="1252025"/>
            <a:ext cx="12191999" cy="52629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>
                <a:latin typeface="Times New Roman" panose="02020603050405020304"/>
                <a:cs typeface="Times New Roman" panose="02020603050405020304"/>
              </a:rPr>
              <a:t>Advantages of a C</a:t>
            </a:r>
            <a:r>
              <a:rPr lang="en-US" altLang="en-IN" sz="2400" b="1" err="1">
                <a:latin typeface="Times New Roman" panose="02020603050405020304"/>
                <a:cs typeface="Times New Roman" panose="02020603050405020304"/>
              </a:rPr>
              <a:t>ollision</a:t>
            </a:r>
            <a:r>
              <a:rPr lang="en-US" altLang="en-IN" sz="2400" b="1">
                <a:latin typeface="Times New Roman" panose="02020603050405020304"/>
                <a:cs typeface="Times New Roman" panose="02020603050405020304"/>
              </a:rPr>
              <a:t> Resolution Techniques</a:t>
            </a:r>
            <a:endParaRPr lang="en-IN" sz="2400" b="1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IN" sz="2400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Enable efficient hash table operations (insertion, deletion, search) in average cases, often achieving O(1) time complexity.</a:t>
            </a:r>
            <a:endParaRPr lang="en-IN" sz="2400">
              <a:solidFill>
                <a:srgbClr val="1F1F1F"/>
              </a:solidFill>
              <a:latin typeface="Times New Roman" panose="02020603050405020304"/>
              <a:ea typeface="+mn-lt"/>
              <a:cs typeface="+mn-lt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IN" sz="2400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Allow for flexible hash table usage, even when collisions occur.</a:t>
            </a:r>
            <a:endParaRPr lang="en-IN" sz="2400">
              <a:latin typeface="Times New Roman" panose="02020603050405020304"/>
              <a:cs typeface="Times New Roman" panose="02020603050405020304"/>
            </a:endParaRPr>
          </a:p>
          <a:p>
            <a:endParaRPr lang="en-IN" sz="2400" b="1">
              <a:latin typeface="Times New Roman" panose="02020603050405020304"/>
              <a:cs typeface="Times New Roman" panose="02020603050405020304"/>
            </a:endParaRPr>
          </a:p>
          <a:p>
            <a:r>
              <a:rPr lang="en-IN" sz="2400" b="1">
                <a:latin typeface="Times New Roman" panose="02020603050405020304"/>
                <a:cs typeface="Times New Roman" panose="02020603050405020304"/>
              </a:rPr>
              <a:t>Disadvantages</a:t>
            </a:r>
            <a:endParaRPr lang="en-US" altLang="en-IN" sz="2400" b="1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Can degrade performance if the hash table becomes too full, potentially leading to worst-case O(n) time complexity.</a:t>
            </a:r>
            <a:endParaRPr lang="en-IN" sz="2400">
              <a:solidFill>
                <a:srgbClr val="1F1F1F"/>
              </a:solidFill>
              <a:latin typeface="Times New Roman" panose="02020603050405020304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rgbClr val="1F1F1F"/>
                </a:solidFill>
                <a:latin typeface="Times New Roman" panose="02020603050405020304"/>
                <a:ea typeface="+mn-lt"/>
                <a:cs typeface="+mn-lt"/>
              </a:rPr>
              <a:t>Require careful selection of a good hash function to minimize collisions and ensure even key distribution.</a:t>
            </a:r>
            <a:endParaRPr lang="en-IN" sz="2400">
              <a:solidFill>
                <a:srgbClr val="1F1F1F"/>
              </a:solidFill>
              <a:latin typeface="Times New Roman" panose="02020603050405020304"/>
              <a:ea typeface="+mn-lt"/>
              <a:cs typeface="+mn-lt"/>
            </a:endParaRPr>
          </a:p>
          <a:p>
            <a:endParaRPr lang="en-IN" sz="2400" b="1">
              <a:latin typeface="Times New Roman" panose="02020603050405020304"/>
              <a:cs typeface="Times New Roman" panose="02020603050405020304"/>
            </a:endParaRPr>
          </a:p>
          <a:p>
            <a:r>
              <a:rPr lang="en-IN" sz="2400" b="1" err="1">
                <a:latin typeface="Times New Roman" panose="02020603050405020304"/>
                <a:cs typeface="Times New Roman" panose="02020603050405020304"/>
              </a:rPr>
              <a:t>Applicatio</a:t>
            </a:r>
            <a:r>
              <a:rPr lang="en-US" altLang="en-IN" sz="2400" b="1">
                <a:latin typeface="Times New Roman" panose="02020603050405020304"/>
                <a:cs typeface="Times New Roman" panose="02020603050405020304"/>
              </a:rPr>
              <a:t>ns</a:t>
            </a:r>
            <a:endParaRPr lang="en-IN" sz="2400" b="1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/>
                <a:cs typeface="Times New Roman" panose="02020603050405020304"/>
              </a:rPr>
              <a:t>Symbol tables</a:t>
            </a:r>
            <a:endParaRPr lang="en-IN" sz="24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latin typeface="Times New Roman" panose="02020603050405020304"/>
                <a:cs typeface="Times New Roman" panose="02020603050405020304"/>
              </a:rPr>
              <a:t>Caching</a:t>
            </a:r>
            <a:endParaRPr lang="en-IN"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EXAMPLES</a:t>
            </a:r>
            <a:endParaRPr lang="en-US" sz="2400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225847" y="960304"/>
            <a:ext cx="11483246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algn="just">
              <a:buAutoNum type="arabicPeriod"/>
            </a:pPr>
            <a:r>
              <a:rPr lang="en-US" sz="2400">
                <a:solidFill>
                  <a:srgbClr val="1F1F1F"/>
                </a:solidFill>
                <a:latin typeface="Times New Roman" panose="02020603050405020304"/>
              </a:rPr>
              <a:t>Let us consider a simple hash function as “key mod 5” and a sequence of keys that are to be inserted are 50, 70, 76, 93. Draw hash table using Linear probing technique.</a:t>
            </a:r>
            <a:endParaRPr lang="en-US"/>
          </a:p>
          <a:p>
            <a:pPr marL="457200" indent="-457200" algn="just">
              <a:buAutoNum type="arabicPeriod"/>
            </a:pPr>
            <a:endParaRPr lang="en-US" sz="2400">
              <a:solidFill>
                <a:srgbClr val="1F1F1F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57200" indent="-457200" algn="just">
              <a:buAutoNum type="arabicPeriod"/>
            </a:pPr>
            <a:r>
              <a:rPr lang="en-US" sz="2400">
                <a:solidFill>
                  <a:srgbClr val="1F1F1F"/>
                </a:solidFill>
                <a:latin typeface="Times New Roman" panose="02020603050405020304"/>
                <a:cs typeface="Times New Roman" panose="02020603050405020304"/>
              </a:rPr>
              <a:t>Let us consider table Size = 7, hash function as Hash(x) = x % 7 and collision resolution strategy to be f(</a:t>
            </a:r>
            <a:r>
              <a:rPr lang="en-US" sz="2400" err="1">
                <a:solidFill>
                  <a:srgbClr val="1F1F1F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lang="en-US" sz="2400">
                <a:solidFill>
                  <a:srgbClr val="1F1F1F"/>
                </a:solidFill>
                <a:latin typeface="Times New Roman" panose="02020603050405020304"/>
                <a:cs typeface="Times New Roman" panose="02020603050405020304"/>
              </a:rPr>
              <a:t>) = i2 . Insert = 22, 30, and 50.</a:t>
            </a:r>
            <a:endParaRPr lang="en-US" sz="2400">
              <a:solidFill>
                <a:srgbClr val="1F1F1F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just">
              <a:buFont typeface="Arial" panose="020B0604020202020204"/>
              <a:buChar char="•"/>
            </a:pPr>
            <a:endParaRPr lang="en-US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just">
              <a:buFont typeface="Arial" panose="020B0604020202020204"/>
              <a:buChar char="•"/>
            </a:pPr>
            <a:endParaRPr lang="en-US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285750" indent="-285750" algn="just">
              <a:buFont typeface="Arial" panose="020B0604020202020204"/>
              <a:buChar char="•"/>
            </a:pPr>
            <a:endParaRPr lang="en-US">
              <a:solidFill>
                <a:srgbClr val="00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AutoNum type="arabicPeriod"/>
            </a:pPr>
            <a:endParaRPr lang="en-US" sz="2400">
              <a:solidFill>
                <a:srgbClr val="1F1F1F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SELF-ASSESSMENT QUESTIONS</a:t>
            </a:r>
            <a:endParaRPr lang="en-US" sz="240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0" name="Picture Placeholder 99"/>
          <p:cNvPicPr>
            <a:picLocks noGrp="1" noChangeAspect="1"/>
          </p:cNvPicPr>
          <p:nvPr>
            <p:ph type="pic" idx="2"/>
          </p:nvPr>
        </p:nvPicPr>
        <p:blipFill>
          <a:blip r:embed="rId2"/>
          <a:stretch>
            <a:fillRect/>
          </a:stretch>
        </p:blipFill>
        <p:spPr>
          <a:xfrm>
            <a:off x="10144760" y="1878013"/>
            <a:ext cx="1066800" cy="20669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Google Shape;502;p17"/>
          <p:cNvSpPr/>
          <p:nvPr/>
        </p:nvSpPr>
        <p:spPr>
          <a:xfrm>
            <a:off x="605155" y="671195"/>
            <a:ext cx="10606405" cy="1207135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>
                <a:sym typeface="+mn-ea"/>
              </a:rPr>
              <a:t> </a:t>
            </a:r>
            <a:endParaRPr lang="en-US" sz="2400">
              <a:sym typeface="+mn-ea"/>
            </a:endParaRPr>
          </a:p>
          <a:p>
            <a:r>
              <a:rPr lang="en-US" sz="2400">
                <a:sym typeface="+mn-ea"/>
              </a:rPr>
              <a:t>1.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hash table of length 10 uses open addressing with hash function h(k)=k mod 10, and linear probing. After inserting 6 values into an empty hash table, the table is as shown below.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/>
          </a:p>
        </p:txBody>
      </p:sp>
      <p:sp>
        <p:nvSpPr>
          <p:cNvPr id="6" name="Rounded Rectangle 17"/>
          <p:cNvSpPr/>
          <p:nvPr/>
        </p:nvSpPr>
        <p:spPr>
          <a:xfrm>
            <a:off x="1009650" y="1949450"/>
            <a:ext cx="8862060" cy="181229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Which one of the following choices gives a possible order in which the key values could have been inserted in the table?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(A) 46, 42, 34, 52, 23, 33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(B) 34, 42, 23, 52, 33, 46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(C) 46, 34, 42, 23, 52, 33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(D) 42, 46, 33, 23, 34, 52 </a:t>
            </a:r>
            <a:endParaRPr lang="en-IN"/>
          </a:p>
        </p:txBody>
      </p:sp>
      <p:sp>
        <p:nvSpPr>
          <p:cNvPr id="7" name="Google Shape;502;p17"/>
          <p:cNvSpPr/>
          <p:nvPr/>
        </p:nvSpPr>
        <p:spPr>
          <a:xfrm>
            <a:off x="487680" y="4109085"/>
            <a:ext cx="10606405" cy="624205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>
                <a:sym typeface="+mn-ea"/>
              </a:rPr>
              <a:t> </a:t>
            </a:r>
            <a:endParaRPr lang="en-US" sz="2400">
              <a:sym typeface="+mn-ea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 Which of the following schemes does quadratic probing come under?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/>
          </a:p>
        </p:txBody>
      </p:sp>
      <p:sp>
        <p:nvSpPr>
          <p:cNvPr id="9" name="Rounded Rectangle 17"/>
          <p:cNvSpPr/>
          <p:nvPr/>
        </p:nvSpPr>
        <p:spPr>
          <a:xfrm>
            <a:off x="1009650" y="4787900"/>
            <a:ext cx="8862060" cy="181229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a) rehashing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b) extended hashing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c) separate chaining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d) open addressing</a:t>
            </a:r>
            <a:endParaRPr lang="en-IN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bldLvl="0" animBg="1"/>
      <p:bldP spid="6" grpId="0" bldLvl="0" animBg="1"/>
      <p:bldP spid="7" grpId="0" bldLvl="0" animBg="1"/>
      <p:bldP spid="9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SUMMARY</a:t>
            </a:r>
            <a:endParaRPr lang="en-US" sz="240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0" y="848264"/>
            <a:ext cx="12100956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/>
              <a:buChar char="•"/>
            </a:pPr>
            <a:r>
              <a:rPr lang="en-IN" sz="2400">
                <a:solidFill>
                  <a:srgbClr val="1F1F1F"/>
                </a:solidFill>
                <a:latin typeface="Times New Roman" panose="02020603050405020304"/>
                <a:ea typeface="+mn-lt"/>
                <a:cs typeface="Times New Roman" panose="02020603050405020304"/>
              </a:rPr>
              <a:t>Collision</a:t>
            </a:r>
            <a:r>
              <a:rPr lang="en-IN" sz="2400">
                <a:solidFill>
                  <a:srgbClr val="1F1F1F"/>
                </a:solidFill>
                <a:latin typeface="Times New Roman" panose="02020603050405020304"/>
              </a:rPr>
              <a:t> resolution techniques are crucial in hash tables to effectively deal with collisions occurring when different keys map to the same index. </a:t>
            </a:r>
            <a:endParaRPr lang="en-US" sz="2400">
              <a:solidFill>
                <a:srgbClr val="1F1F1F"/>
              </a:solidFill>
              <a:latin typeface="Times New Roman" panose="02020603050405020304"/>
            </a:endParaRPr>
          </a:p>
          <a:p>
            <a:pPr marL="342900" indent="-342900">
              <a:buFont typeface="Arial" panose="020B0604020202020204"/>
              <a:buChar char="•"/>
            </a:pPr>
            <a:endParaRPr lang="en-IN" sz="2400">
              <a:solidFill>
                <a:srgbClr val="1F1F1F"/>
              </a:solidFill>
              <a:latin typeface="Times New Roman" panose="02020603050405020304"/>
            </a:endParaRPr>
          </a:p>
          <a:p>
            <a:pPr marL="342900" indent="-342900">
              <a:buFont typeface="Arial" panose="020B0604020202020204"/>
              <a:buChar char="•"/>
            </a:pPr>
            <a:r>
              <a:rPr lang="en-IN" sz="2400">
                <a:solidFill>
                  <a:srgbClr val="1F1F1F"/>
                </a:solidFill>
                <a:latin typeface="Times New Roman" panose="02020603050405020304"/>
              </a:rPr>
              <a:t>Each technique has its own advantages and disadvantages, making the choice depend on specific needs and priorities.</a:t>
            </a:r>
            <a:endParaRPr lang="en-US" sz="2400">
              <a:solidFill>
                <a:srgbClr val="1F1F1F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TERMINAL QUESTIONS</a:t>
            </a:r>
            <a:endParaRPr lang="en-US" sz="2400"/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6731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>
                <a:solidFill>
                  <a:srgbClr val="1F1F1F"/>
                </a:solidFill>
                <a:latin typeface="Times New Roman" panose="02020603050405020304"/>
                <a:cs typeface="Times New Roman" panose="02020603050405020304"/>
              </a:rPr>
              <a:t>List</a:t>
            </a:r>
            <a:r>
              <a:rPr lang="en-US" sz="2400">
                <a:solidFill>
                  <a:srgbClr val="1F1F1F"/>
                </a:solidFill>
                <a:latin typeface="Times New Roman" panose="02020603050405020304"/>
                <a:ea typeface="+mn-lt"/>
                <a:cs typeface="Times New Roman" panose="02020603050405020304"/>
              </a:rPr>
              <a:t> out different types of Collision Resolution Techniques?</a:t>
            </a:r>
            <a:endParaRPr lang="en-US"/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>
                <a:solidFill>
                  <a:srgbClr val="1F1F1F"/>
                </a:solidFill>
                <a:latin typeface="Times New Roman" panose="02020603050405020304"/>
                <a:ea typeface="+mn-lt"/>
                <a:cs typeface="Times New Roman" panose="02020603050405020304"/>
              </a:rPr>
              <a:t>The</a:t>
            </a:r>
            <a:r>
              <a:rPr lang="en-US" sz="2400">
                <a:solidFill>
                  <a:srgbClr val="1F1F1F"/>
                </a:solidFill>
                <a:latin typeface="Times New Roman" panose="02020603050405020304"/>
                <a:ea typeface="+mn-lt"/>
                <a:cs typeface="Times New Roman" panose="02020603050405020304"/>
                <a:sym typeface="+mn-ea"/>
              </a:rPr>
              <a:t> keys 12,18,13,2,3,23,5 and 15 are inserted into an initially empty hash table of length 10 using open addressing with hash function h(k)=k mod 10 and linear probing show the resultant hash table?</a:t>
            </a:r>
            <a:endParaRPr lang="en-US" sz="2400">
              <a:solidFill>
                <a:srgbClr val="1F1F1F"/>
              </a:solidFill>
              <a:latin typeface="Times New Roman" panose="02020603050405020304"/>
              <a:ea typeface="+mn-lt"/>
              <a:cs typeface="Times New Roman" panose="02020603050405020304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>
                <a:solidFill>
                  <a:srgbClr val="1F1F1F"/>
                </a:solidFill>
                <a:latin typeface="Times New Roman" panose="02020603050405020304"/>
                <a:ea typeface="+mn-lt"/>
                <a:cs typeface="Times New Roman" panose="02020603050405020304"/>
                <a:sym typeface="+mn-ea"/>
              </a:rPr>
              <a:t> Define collision</a:t>
            </a:r>
            <a:endParaRPr lang="en-US" sz="2400">
              <a:solidFill>
                <a:srgbClr val="1F1F1F"/>
              </a:solidFill>
              <a:latin typeface="Times New Roman" panose="02020603050405020304"/>
              <a:ea typeface="+mn-lt"/>
              <a:cs typeface="Times New Roman" panose="02020603050405020304"/>
            </a:endParaRP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REFERENCES FOR FURTHER LEARNING OF THE SESSION</a:t>
            </a:r>
            <a:endParaRPr lang="en-US" sz="24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7195" y="1013239"/>
            <a:ext cx="11509382" cy="54970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/>
              <a:t>Reference Books:</a:t>
            </a:r>
            <a:endParaRPr lang="en-US" sz="2400"/>
          </a:p>
          <a:p>
            <a:pPr marL="342900" lvl="1" indent="-342900" algn="just">
              <a:lnSpc>
                <a:spcPct val="150000"/>
              </a:lnSpc>
              <a:buAutoNum type="arabicPeriod"/>
            </a:pPr>
            <a:r>
              <a:rPr lang="en-US" sz="2200">
                <a:solidFill>
                  <a:srgbClr val="1F1F1F"/>
                </a:solidFill>
                <a:latin typeface="Times New Roman" panose="02020603050405020304"/>
                <a:ea typeface="+mn-lt"/>
                <a:cs typeface="Times New Roman" panose="02020603050405020304"/>
              </a:rPr>
              <a:t>Mark Allen Weiss, Data Structures and Algorithm Analysis in C, 2010 , Second Edition, </a:t>
            </a:r>
            <a:r>
              <a:rPr lang="en-US" sz="2200" err="1">
                <a:solidFill>
                  <a:srgbClr val="1F1F1F"/>
                </a:solidFill>
                <a:latin typeface="Times New Roman" panose="02020603050405020304"/>
                <a:ea typeface="+mn-lt"/>
                <a:cs typeface="Times New Roman" panose="02020603050405020304"/>
              </a:rPr>
              <a:t>PearsonEducation</a:t>
            </a:r>
            <a:r>
              <a:rPr lang="en-US" sz="2200">
                <a:solidFill>
                  <a:srgbClr val="1F1F1F"/>
                </a:solidFill>
                <a:latin typeface="Times New Roman" panose="02020603050405020304"/>
                <a:ea typeface="+mn-lt"/>
                <a:cs typeface="Times New Roman" panose="02020603050405020304"/>
              </a:rPr>
              <a:t>.</a:t>
            </a:r>
            <a:endParaRPr lang="en-IN" sz="2200">
              <a:solidFill>
                <a:srgbClr val="1F1F1F"/>
              </a:solidFill>
              <a:latin typeface="Times New Roman" panose="02020603050405020304"/>
              <a:ea typeface="+mn-lt"/>
              <a:cs typeface="Times New Roman" panose="02020603050405020304"/>
            </a:endParaRPr>
          </a:p>
          <a:p>
            <a:pPr marL="342900" lvl="1" indent="-342900" algn="just">
              <a:lnSpc>
                <a:spcPct val="150000"/>
              </a:lnSpc>
              <a:buAutoNum type="arabicPeriod"/>
            </a:pPr>
            <a:r>
              <a:rPr lang="en-US" sz="2200">
                <a:solidFill>
                  <a:srgbClr val="1F1F1F"/>
                </a:solidFill>
                <a:latin typeface="Times New Roman" panose="02020603050405020304"/>
                <a:ea typeface="+mn-lt"/>
                <a:cs typeface="Times New Roman" panose="02020603050405020304"/>
              </a:rPr>
              <a:t>2. Ellis Horowitz, Fundamentals of Data Structures in C: Second Edition, 2015</a:t>
            </a:r>
            <a:endParaRPr lang="en-US" sz="2200">
              <a:solidFill>
                <a:srgbClr val="1F1F1F"/>
              </a:solidFill>
              <a:latin typeface="Times New Roman" panose="02020603050405020304"/>
              <a:ea typeface="+mn-lt"/>
              <a:cs typeface="Times New Roman" panose="02020603050405020304"/>
            </a:endParaRPr>
          </a:p>
          <a:p>
            <a:pPr marL="342900" lvl="1" indent="-342900" algn="just">
              <a:lnSpc>
                <a:spcPct val="150000"/>
              </a:lnSpc>
              <a:buAutoNum type="arabicPeriod"/>
            </a:pPr>
            <a:r>
              <a:rPr lang="en-US" sz="2200" err="1">
                <a:solidFill>
                  <a:srgbClr val="1F1F1F"/>
                </a:solidFill>
                <a:latin typeface="Times New Roman" panose="02020603050405020304"/>
                <a:ea typeface="+mn-lt"/>
                <a:cs typeface="Times New Roman" panose="02020603050405020304"/>
              </a:rPr>
              <a:t>A.V.Aho</a:t>
            </a:r>
            <a:r>
              <a:rPr lang="en-US" sz="2200">
                <a:solidFill>
                  <a:srgbClr val="1F1F1F"/>
                </a:solidFill>
                <a:latin typeface="Times New Roman" panose="02020603050405020304"/>
                <a:ea typeface="+mn-lt"/>
                <a:cs typeface="Times New Roman" panose="02020603050405020304"/>
              </a:rPr>
              <a:t>, J. E. </a:t>
            </a:r>
            <a:r>
              <a:rPr lang="en-US" sz="2200" err="1">
                <a:solidFill>
                  <a:srgbClr val="1F1F1F"/>
                </a:solidFill>
                <a:latin typeface="Times New Roman" panose="02020603050405020304"/>
                <a:ea typeface="+mn-lt"/>
                <a:cs typeface="Times New Roman" panose="02020603050405020304"/>
              </a:rPr>
              <a:t>Hopcroft</a:t>
            </a:r>
            <a:r>
              <a:rPr lang="en-US" sz="2200">
                <a:solidFill>
                  <a:srgbClr val="1F1F1F"/>
                </a:solidFill>
                <a:latin typeface="Times New Roman" panose="02020603050405020304"/>
                <a:ea typeface="+mn-lt"/>
                <a:cs typeface="Times New Roman" panose="02020603050405020304"/>
              </a:rPr>
              <a:t>, and J. D. Ullman, “Data Structures And Algorithms”, Pearson Education, First Edition Reprint2003.</a:t>
            </a:r>
            <a:endParaRPr lang="en-IN" sz="2200">
              <a:solidFill>
                <a:srgbClr val="1F1F1F"/>
              </a:solidFill>
              <a:latin typeface="Times New Roman" panose="02020603050405020304"/>
              <a:ea typeface="+mn-lt"/>
              <a:cs typeface="Times New Roman" panose="02020603050405020304"/>
            </a:endParaRPr>
          </a:p>
          <a:p>
            <a:pPr>
              <a:lnSpc>
                <a:spcPct val="150000"/>
              </a:lnSpc>
            </a:pPr>
            <a:endParaRPr lang="en-US" b="1"/>
          </a:p>
          <a:p>
            <a:pPr>
              <a:lnSpc>
                <a:spcPct val="150000"/>
              </a:lnSpc>
            </a:pPr>
            <a:r>
              <a:rPr lang="en-US" sz="2400" b="1"/>
              <a:t>Sites and Web links:</a:t>
            </a:r>
            <a:endParaRPr lang="en-US" sz="2400" b="1">
              <a:cs typeface="Calibri" panose="020F0502020204030204"/>
            </a:endParaRPr>
          </a:p>
          <a:p>
            <a:pPr lvl="0">
              <a:lnSpc>
                <a:spcPct val="150000"/>
              </a:lnSpc>
            </a:pPr>
            <a:r>
              <a:rPr lang="en-US"/>
              <a:t>1. </a:t>
            </a:r>
            <a:r>
              <a:rPr lang="en-US">
                <a:hlinkClick r:id="rId1"/>
              </a:rPr>
              <a:t>https://nptel.ac.in/courses/106102064</a:t>
            </a:r>
            <a:endParaRPr lang="en-IN"/>
          </a:p>
          <a:p>
            <a:pPr lvl="0"/>
            <a:r>
              <a:rPr lang="en-US">
                <a:hlinkClick r:id="rId2"/>
              </a:rPr>
              <a:t>2. https://in.udacity.com/course/intro-to-algorithms--cs215</a:t>
            </a:r>
            <a:endParaRPr lang="en-IN"/>
          </a:p>
          <a:p>
            <a:pPr lvl="0"/>
            <a:r>
              <a:rPr lang="en-US"/>
              <a:t>3. </a:t>
            </a:r>
            <a:r>
              <a:rPr lang="en-US">
                <a:hlinkClick r:id="rId3"/>
              </a:rPr>
              <a:t>https://www.coursera.org/learn/data-structures?action=enroll</a:t>
            </a:r>
            <a:endParaRPr lang="en-US"/>
          </a:p>
          <a:p>
            <a:pPr>
              <a:lnSpc>
                <a:spcPct val="150000"/>
              </a:lnSpc>
            </a:pPr>
            <a:endParaRPr lang="en-US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200" b="1">
                <a:latin typeface="Poppins" pitchFamily="2" charset="77"/>
                <a:cs typeface="Poppins" pitchFamily="2" charset="77"/>
              </a:rPr>
              <a:t>THANK YOU</a:t>
            </a:r>
            <a:endParaRPr lang="en-US" sz="3200" b="1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3600" b="1">
                <a:latin typeface="Poppins" pitchFamily="2" charset="77"/>
                <a:cs typeface="Poppins" pitchFamily="2" charset="77"/>
              </a:rPr>
              <a:t>Team – Data </a:t>
            </a:r>
            <a:r>
              <a:rPr lang="en-US" sz="3600" b="1" err="1">
                <a:latin typeface="Poppins" pitchFamily="2" charset="77"/>
                <a:cs typeface="Poppins" pitchFamily="2" charset="77"/>
              </a:rPr>
              <a:t>Sructures</a:t>
            </a:r>
            <a:endParaRPr lang="en-US" sz="3600" b="1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BD0A98-E68B-4DAA-8964-2F739D6D4075}">
  <ds:schemaRefs/>
</ds:datastoreItem>
</file>

<file path=customXml/itemProps2.xml><?xml version="1.0" encoding="utf-8"?>
<ds:datastoreItem xmlns:ds="http://schemas.openxmlformats.org/officeDocument/2006/customXml" ds:itemID="{C89A6ECA-0C1B-4F00-836D-A696F073E5C2}">
  <ds:schemaRefs/>
</ds:datastoreItem>
</file>

<file path=customXml/itemProps3.xml><?xml version="1.0" encoding="utf-8"?>
<ds:datastoreItem xmlns:ds="http://schemas.openxmlformats.org/officeDocument/2006/customXml" ds:itemID="{3DA00F5F-5366-4B1C-9406-30DECA796ABB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6396</Words>
  <Application>WPS Presentation</Application>
  <PresentationFormat>Custom</PresentationFormat>
  <Paragraphs>196</Paragraphs>
  <Slides>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5" baseType="lpstr">
      <vt:lpstr>Arial</vt:lpstr>
      <vt:lpstr>SimSun</vt:lpstr>
      <vt:lpstr>Wingdings</vt:lpstr>
      <vt:lpstr>Arial</vt:lpstr>
      <vt:lpstr>Calibri</vt:lpstr>
      <vt:lpstr>Poppins</vt:lpstr>
      <vt:lpstr>Segoe Print</vt:lpstr>
      <vt:lpstr>BioRhyme ExtraBold</vt:lpstr>
      <vt:lpstr>Poppins</vt:lpstr>
      <vt:lpstr>Times New Roman</vt:lpstr>
      <vt:lpstr>Poppins</vt:lpstr>
      <vt:lpstr>Times New Roman</vt:lpstr>
      <vt:lpstr>Tahoma</vt:lpstr>
      <vt:lpstr>Arial,Sans-Serif</vt:lpstr>
      <vt:lpstr>Wingdings</vt:lpstr>
      <vt:lpstr>Segoe UI</vt:lpstr>
      <vt:lpstr>Microsoft YaHei</vt:lpstr>
      <vt:lpstr>Arial Unicode MS</vt:lpstr>
      <vt:lpstr>Calibri Light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Anusha M</cp:lastModifiedBy>
  <cp:revision>9</cp:revision>
  <dcterms:created xsi:type="dcterms:W3CDTF">2020-02-08T09:57:00Z</dcterms:created>
  <dcterms:modified xsi:type="dcterms:W3CDTF">2024-12-16T10:55:20Z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ICV">
    <vt:lpwstr>AA32DB61BD554778A9A0939EC78B90F8_13</vt:lpwstr>
  </property>
  <property fmtid="{D5CDD505-2E9C-101B-9397-08002B2CF9AE}" pid="4" name="KSOProductBuildVer">
    <vt:lpwstr>1033-12.2.0.19307</vt:lpwstr>
  </property>
</Properties>
</file>