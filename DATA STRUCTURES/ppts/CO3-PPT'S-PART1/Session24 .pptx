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1" r:id="rId3"/>
    <p:sldId id="300" r:id="rId5"/>
    <p:sldId id="344" r:id="rId6"/>
    <p:sldId id="331" r:id="rId7"/>
    <p:sldId id="333" r:id="rId8"/>
    <p:sldId id="334" r:id="rId9"/>
    <p:sldId id="335" r:id="rId10"/>
    <p:sldId id="336" r:id="rId11"/>
    <p:sldId id="345" r:id="rId12"/>
    <p:sldId id="346" r:id="rId13"/>
    <p:sldId id="347" r:id="rId14"/>
    <p:sldId id="348" r:id="rId15"/>
    <p:sldId id="349" r:id="rId16"/>
    <p:sldId id="299" r:id="rId17"/>
    <p:sldId id="285" r:id="rId18"/>
    <p:sldId id="337" r:id="rId19"/>
    <p:sldId id="287" r:id="rId20"/>
    <p:sldId id="301" r:id="rId21"/>
    <p:sldId id="302" r:id="rId22"/>
    <p:sldId id="303" r:id="rId23"/>
    <p:sldId id="30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128" autoAdjust="0"/>
  </p:normalViewPr>
  <p:slideViewPr>
    <p:cSldViewPr snapToGrid="0" showGuides="1">
      <p:cViewPr>
        <p:scale>
          <a:sx n="70" d="100"/>
          <a:sy n="70" d="100"/>
        </p:scale>
        <p:origin x="-690"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customXml" Target="../customXml/item3.xml"/><Relationship Id="rId3" Type="http://schemas.openxmlformats.org/officeDocument/2006/relationships/slide" Target="slides/slide1.xml"/><Relationship Id="rId29" Type="http://schemas.openxmlformats.org/officeDocument/2006/relationships/customXml" Target="../customXml/item2.xml"/><Relationship Id="rId28" Type="http://schemas.openxmlformats.org/officeDocument/2006/relationships/customXml" Target="../customXml/item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p:cNvPicPr>
            <a:picLocks noChangeAspect="1"/>
          </p:cNvPicPr>
          <p:nvPr userDrawn="1"/>
        </p:nvPicPr>
        <p:blipFill>
          <a:blip r:embed="rId12">
            <a:alphaModFix amt="5000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p:cNvPicPr>
            <a:picLocks noChangeAspect="1"/>
          </p:cNvPicPr>
          <p:nvPr userDrawn="1"/>
        </p:nvPicPr>
        <p:blipFill rotWithShape="1">
          <a:blip r:embed="rId13">
            <a:alphaModFix amt="35000"/>
            <a:clrChange>
              <a:clrFrom>
                <a:srgbClr val="F6F6F6"/>
              </a:clrFrom>
              <a:clrTo>
                <a:srgbClr val="F6F6F6">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r="26721" b="8103"/>
          <a:stretch>
            <a:fillRect/>
          </a:stretch>
        </p:blipFill>
        <p:spPr>
          <a:xfrm>
            <a:off x="8376334" y="4104641"/>
            <a:ext cx="3815666" cy="2707640"/>
          </a:xfrm>
          <a:prstGeom prst="rect">
            <a:avLst/>
          </a:prstGeom>
        </p:spPr>
      </p:pic>
      <p:sp>
        <p:nvSpPr>
          <p:cNvPr id="7" name="TextBox 6"/>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endParaRPr lang="en-US" sz="800">
              <a:solidFill>
                <a:schemeClr val="bg1">
                  <a:lumMod val="95000"/>
                </a:scheme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1.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11.xml"/><Relationship Id="rId7" Type="http://schemas.openxmlformats.org/officeDocument/2006/relationships/image" Target="../media/image4.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17.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18.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23.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hyperlink" Target="https://www.coursera.org/learn/data-structures?action=enroll" TargetMode="External"/><Relationship Id="rId2" Type="http://schemas.openxmlformats.org/officeDocument/2006/relationships/hyperlink" Target="https://in.udacity.com/course/intro-to-algorithms--cs215" TargetMode="External"/><Relationship Id="rId1" Type="http://schemas.openxmlformats.org/officeDocument/2006/relationships/hyperlink" Target="https://nptel.ac.in/courses/106102064" TargetMode="Externa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1">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923127" y="1933408"/>
            <a:ext cx="5773003" cy="2983230"/>
          </a:xfrm>
          <a:prstGeom prst="rect">
            <a:avLst/>
          </a:prstGeom>
          <a:noFill/>
          <a:ln>
            <a:noFill/>
          </a:ln>
        </p:spPr>
        <p:txBody>
          <a:bodyPr spcFirstLastPara="1" wrap="square" lIns="91425" tIns="45700" rIns="91425" bIns="45700" anchor="t" anchorCtr="0">
            <a:spAutoFit/>
          </a:bodyPr>
          <a:lstStyle/>
          <a:p>
            <a:pPr algn="ctr"/>
            <a:r>
              <a:rPr lang="en-US" sz="3200" b="1" cap="all" dirty="0">
                <a:solidFill>
                  <a:srgbClr val="C00000"/>
                </a:solidFill>
                <a:cs typeface="Poppins" panose="00000500000000000000" pitchFamily="2" charset="0"/>
                <a:sym typeface="BioRhyme ExtraBold"/>
              </a:rPr>
              <a:t>COURSE: </a:t>
            </a:r>
            <a:r>
              <a:rPr lang="en-US" sz="3200" b="1" dirty="0">
                <a:solidFill>
                  <a:schemeClr val="accent1"/>
                </a:solidFill>
              </a:rPr>
              <a:t>Data Structures</a:t>
            </a:r>
            <a:endParaRPr lang="en-IN" sz="3200" b="1" dirty="0">
              <a:solidFill>
                <a:schemeClr val="accent1"/>
              </a:solidFill>
            </a:endParaRPr>
          </a:p>
          <a:p>
            <a:pPr marR="0" lvl="0" indent="0" algn="ctr">
              <a:spcBef>
                <a:spcPts val="0"/>
              </a:spcBef>
              <a:spcAft>
                <a:spcPts val="0"/>
              </a:spcAft>
              <a:buNone/>
            </a:pPr>
            <a:endParaRPr lang="en-US" sz="3200" b="1" cap="all" dirty="0">
              <a:solidFill>
                <a:srgbClr val="C00000"/>
              </a:solidFill>
              <a:cs typeface="Poppins" panose="00000500000000000000" pitchFamily="2" charset="0"/>
              <a:sym typeface="BioRhyme ExtraBold"/>
            </a:endParaRPr>
          </a:p>
          <a:p>
            <a:pPr algn="ctr"/>
            <a:r>
              <a:rPr lang="en-US" sz="3200" b="1" cap="all" dirty="0">
                <a:solidFill>
                  <a:srgbClr val="C00000"/>
                </a:solidFill>
                <a:cs typeface="Poppins"/>
                <a:sym typeface="BioRhyme ExtraBold"/>
              </a:rPr>
              <a:t>COURSE CODE: </a:t>
            </a:r>
            <a:r>
              <a:rPr lang="en-US" sz="3200" b="1" dirty="0">
                <a:solidFill>
                  <a:schemeClr val="accent1"/>
                </a:solidFill>
              </a:rPr>
              <a:t>24SC1203</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3200" b="1" cap="all" dirty="0">
                <a:solidFill>
                  <a:srgbClr val="C00000"/>
                </a:solidFill>
                <a:effectLst/>
                <a:cs typeface="Poppins" panose="00000500000000000000" pitchFamily="2" charset="0"/>
              </a:rPr>
              <a:t>Name of the topic: </a:t>
            </a:r>
            <a:endParaRPr lang="en-US" sz="3200" b="1" cap="all" dirty="0">
              <a:solidFill>
                <a:srgbClr val="C00000"/>
              </a:solidFill>
              <a:effectLst/>
              <a:cs typeface="Poppins" panose="00000500000000000000" pitchFamily="2" charset="0"/>
            </a:endParaRPr>
          </a:p>
          <a:p>
            <a:pPr marR="0" lvl="0" indent="0" algn="ctr">
              <a:spcBef>
                <a:spcPts val="0"/>
              </a:spcBef>
              <a:spcAft>
                <a:spcPts val="0"/>
              </a:spcAft>
              <a:buNone/>
            </a:pPr>
            <a:r>
              <a:rPr lang="en-US" sz="4000" b="1" dirty="0">
                <a:solidFill>
                  <a:srgbClr val="C00000"/>
                </a:solidFill>
                <a:effectLst/>
                <a:cs typeface="Poppins" panose="00000500000000000000" pitchFamily="2" charset="0"/>
              </a:rPr>
              <a:t>Extendible Hashing</a:t>
            </a:r>
            <a:endParaRPr lang="en-US" sz="4000" b="1" dirty="0">
              <a:solidFill>
                <a:srgbClr val="C00000"/>
              </a:solidFill>
              <a:effectLst/>
              <a:cs typeface="Poppins" panose="00000500000000000000" pitchFamily="2" charset="0"/>
            </a:endParaRPr>
          </a:p>
        </p:txBody>
      </p:sp>
      <p:sp>
        <p:nvSpPr>
          <p:cNvPr id="19" name="Rectangle: Rounded Corners 18"/>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a:solidFill>
                  <a:srgbClr val="C00000"/>
                </a:solidFill>
                <a:cs typeface="Poppins" pitchFamily="2" charset="77"/>
              </a:rPr>
              <a:t>Department of </a:t>
            </a:r>
            <a:r>
              <a:rPr lang="en-US" sz="4000">
                <a:solidFill>
                  <a:srgbClr val="FF0000"/>
                </a:solidFill>
              </a:rPr>
              <a:t>BES-I</a:t>
            </a:r>
            <a:endParaRPr lang="en-US" sz="4000">
              <a:solidFill>
                <a:srgbClr val="FF0000"/>
              </a:solidFill>
              <a:cs typeface="Poppins" pitchFamily="2" charset="77"/>
            </a:endParaRPr>
          </a:p>
        </p:txBody>
      </p:sp>
      <p:sp>
        <p:nvSpPr>
          <p:cNvPr id="8" name="Google Shape;502;p17"/>
          <p:cNvSpPr/>
          <p:nvPr/>
        </p:nvSpPr>
        <p:spPr>
          <a:xfrm>
            <a:off x="7275529" y="585675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ea typeface="Calibri" panose="020F0502020204030204"/>
                <a:cs typeface="Poppins" panose="00000500000000000000" pitchFamily="2" charset="0"/>
                <a:sym typeface="Calibri" panose="020F0502020204030204"/>
              </a:rPr>
              <a:t>Session – 24</a:t>
            </a:r>
            <a:endParaRPr sz="2400">
              <a:solidFill>
                <a:schemeClr val="lt1"/>
              </a:solidFill>
              <a:ea typeface="Calibri" panose="020F0502020204030204"/>
              <a:cs typeface="Poppins" panose="00000500000000000000" pitchFamily="2" charset="0"/>
              <a:sym typeface="Calibri" panose="020F0502020204030204"/>
            </a:endParaRP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2"/>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AIM OF THE SESSION</a:t>
            </a:r>
            <a:endParaRPr lang="en-US" sz="2400"/>
          </a:p>
        </p:txBody>
      </p:sp>
      <p:sp>
        <p:nvSpPr>
          <p:cNvPr id="5" name="TextBox 4"/>
          <p:cNvSpPr txBox="1"/>
          <p:nvPr/>
        </p:nvSpPr>
        <p:spPr>
          <a:xfrm>
            <a:off x="914400" y="684469"/>
            <a:ext cx="10731286" cy="78675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Times New Roman" panose="02020603050405020304"/>
                <a:cs typeface="Times New Roman" panose="02020603050405020304"/>
              </a:rPr>
              <a:t>To familiarize students with the basic concept of  Extendible hashing</a:t>
            </a:r>
            <a:endParaRPr lang="en-US" sz="1600" b="0" i="0" dirty="0">
              <a:effectLst/>
              <a:latin typeface="Times New Roman" panose="02020603050405020304"/>
              <a:cs typeface="Times New Roman" panose="02020603050405020304"/>
            </a:endParaRPr>
          </a:p>
          <a:p>
            <a:pPr>
              <a:lnSpc>
                <a:spcPct val="150000"/>
              </a:lnSpc>
            </a:pPr>
            <a:endParaRPr lang="en-US" sz="1600" b="0" i="0" dirty="0">
              <a:effectLst/>
              <a:latin typeface="Times New Roman" panose="02020603050405020304"/>
              <a:cs typeface="Times New Roman" panose="02020603050405020304"/>
            </a:endParaRPr>
          </a:p>
        </p:txBody>
      </p:sp>
      <p:sp>
        <p:nvSpPr>
          <p:cNvPr id="7" name="Rounded Rectangle 17"/>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INSTRUCTIONAL OBJECTIVES</a:t>
            </a:r>
            <a:endParaRPr lang="en-US" sz="2400"/>
          </a:p>
        </p:txBody>
      </p:sp>
      <p:sp>
        <p:nvSpPr>
          <p:cNvPr id="9" name="TextBox 8"/>
          <p:cNvSpPr txBox="1"/>
          <p:nvPr/>
        </p:nvSpPr>
        <p:spPr>
          <a:xfrm>
            <a:off x="1752600" y="2438605"/>
            <a:ext cx="9801454" cy="1076325"/>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Times New Roman" panose="02020603050405020304"/>
                <a:cs typeface="Times New Roman" panose="02020603050405020304"/>
              </a:rPr>
              <a:t>This</a:t>
            </a:r>
            <a:r>
              <a:rPr lang="en-US" sz="1600" b="0" i="0" dirty="0">
                <a:effectLst/>
                <a:latin typeface="Times New Roman" panose="02020603050405020304"/>
                <a:cs typeface="Times New Roman" panose="02020603050405020304"/>
              </a:rPr>
              <a:t> </a:t>
            </a:r>
            <a:r>
              <a:rPr lang="en-US" sz="1600" dirty="0">
                <a:latin typeface="Times New Roman" panose="02020603050405020304"/>
                <a:cs typeface="Times New Roman" panose="02020603050405020304"/>
              </a:rPr>
              <a:t>Session</a:t>
            </a:r>
            <a:r>
              <a:rPr lang="en-US" sz="1600" b="0" i="0" dirty="0">
                <a:effectLst/>
                <a:latin typeface="Times New Roman" panose="02020603050405020304"/>
                <a:cs typeface="Times New Roman" panose="02020603050405020304"/>
              </a:rPr>
              <a:t> is designed to: </a:t>
            </a:r>
            <a:endParaRPr lang="en-US" sz="1600" b="0" i="0" dirty="0">
              <a:effectLst/>
              <a:latin typeface="Times New Roman" panose="02020603050405020304"/>
              <a:cs typeface="Times New Roman" panose="02020603050405020304"/>
            </a:endParaRPr>
          </a:p>
          <a:p>
            <a:pPr marL="342900" indent="-342900">
              <a:buAutoNum type="arabicPeriod"/>
            </a:pPr>
            <a:r>
              <a:rPr lang="en-US" sz="1600" b="0" i="0" dirty="0">
                <a:effectLst/>
                <a:latin typeface="Times New Roman" panose="02020603050405020304"/>
                <a:cs typeface="Times New Roman" panose="02020603050405020304"/>
              </a:rPr>
              <a:t>Demonstrate </a:t>
            </a:r>
            <a:r>
              <a:rPr lang="en-US" sz="1600" dirty="0">
                <a:effectLst/>
                <a:latin typeface="Times New Roman" panose="02020603050405020304"/>
                <a:cs typeface="Times New Roman" panose="02020603050405020304"/>
                <a:sym typeface="+mn-ea"/>
              </a:rPr>
              <a:t>Extendible hashing that can avoid collisions in the hash table.</a:t>
            </a:r>
            <a:r>
              <a:rPr lang="en-US" sz="1600" dirty="0">
                <a:latin typeface="Times New Roman" panose="02020603050405020304"/>
                <a:cs typeface="Times New Roman" panose="02020603050405020304"/>
                <a:sym typeface="+mn-ea"/>
              </a:rPr>
              <a:t>.</a:t>
            </a:r>
            <a:endParaRPr lang="en-US" sz="1600" b="0" i="0" dirty="0">
              <a:effectLst/>
              <a:latin typeface="Times New Roman" panose="02020603050405020304"/>
              <a:cs typeface="Times New Roman" panose="02020603050405020304"/>
            </a:endParaRPr>
          </a:p>
          <a:p>
            <a:pPr marL="342900" indent="-342900">
              <a:buAutoNum type="arabicPeriod"/>
            </a:pPr>
            <a:r>
              <a:rPr lang="en-US" sz="1600" dirty="0">
                <a:latin typeface="Times New Roman" panose="02020603050405020304"/>
                <a:cs typeface="Times New Roman" panose="02020603050405020304"/>
              </a:rPr>
              <a:t>List out the advantages, disadvantages and applications of extendible hashing.</a:t>
            </a:r>
            <a:endParaRPr lang="en-US" sz="1600" dirty="0">
              <a:latin typeface="Times New Roman" panose="02020603050405020304"/>
              <a:cs typeface="Times New Roman" panose="02020603050405020304"/>
            </a:endParaRPr>
          </a:p>
        </p:txBody>
      </p:sp>
      <p:pic>
        <p:nvPicPr>
          <p:cNvPr id="11" name="Graphic 10" descr="Bullseye outline"/>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438605"/>
            <a:ext cx="914400" cy="914400"/>
          </a:xfrm>
          <a:prstGeom prst="rect">
            <a:avLst/>
          </a:prstGeom>
        </p:spPr>
      </p:pic>
      <p:sp>
        <p:nvSpPr>
          <p:cNvPr id="29" name="Rounded Rectangle 17"/>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LEARNING OUTCOMES</a:t>
            </a:r>
            <a:endParaRPr lang="en-US" sz="2400"/>
          </a:p>
        </p:txBody>
      </p:sp>
      <p:pic>
        <p:nvPicPr>
          <p:cNvPr id="31" name="Graphic 30" descr="Idea outline"/>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4400" y="4765771"/>
            <a:ext cx="914400" cy="914400"/>
          </a:xfrm>
          <a:prstGeom prst="rect">
            <a:avLst/>
          </a:prstGeom>
        </p:spPr>
      </p:pic>
      <p:sp>
        <p:nvSpPr>
          <p:cNvPr id="37" name="TextBox 36"/>
          <p:cNvSpPr txBox="1"/>
          <p:nvPr/>
        </p:nvSpPr>
        <p:spPr>
          <a:xfrm>
            <a:off x="1752600" y="4763050"/>
            <a:ext cx="9599478" cy="133261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Times New Roman" panose="02020603050405020304"/>
                <a:cs typeface="Times New Roman" panose="02020603050405020304"/>
              </a:rPr>
              <a:t>At the end of this </a:t>
            </a:r>
            <a:r>
              <a:rPr lang="en-US" sz="1600" dirty="0">
                <a:latin typeface="Times New Roman" panose="02020603050405020304"/>
                <a:cs typeface="Times New Roman" panose="02020603050405020304"/>
              </a:rPr>
              <a:t>session</a:t>
            </a:r>
            <a:r>
              <a:rPr lang="en-US" sz="1600" b="0" i="0" dirty="0">
                <a:effectLst/>
                <a:latin typeface="Times New Roman" panose="02020603050405020304"/>
                <a:cs typeface="Times New Roman" panose="02020603050405020304"/>
              </a:rPr>
              <a:t>, you should be able to:</a:t>
            </a:r>
            <a:endParaRPr lang="en-US" sz="1600" b="0" i="0" dirty="0">
              <a:effectLst/>
              <a:latin typeface="Times New Roman" panose="02020603050405020304"/>
              <a:cs typeface="Times New Roman" panose="02020603050405020304"/>
            </a:endParaRPr>
          </a:p>
          <a:p>
            <a:pPr marL="342900" indent="-342900">
              <a:buAutoNum type="arabicPeriod"/>
            </a:pPr>
            <a:r>
              <a:rPr lang="en-US" sz="1600" b="0" i="0" dirty="0">
                <a:effectLst/>
                <a:latin typeface="Times New Roman" panose="02020603050405020304"/>
                <a:cs typeface="Times New Roman" panose="02020603050405020304"/>
              </a:rPr>
              <a:t>Define </a:t>
            </a:r>
            <a:r>
              <a:rPr lang="en-US" sz="1600" dirty="0">
                <a:effectLst/>
                <a:latin typeface="Times New Roman" panose="02020603050405020304"/>
                <a:cs typeface="Times New Roman" panose="02020603050405020304"/>
                <a:sym typeface="+mn-ea"/>
              </a:rPr>
              <a:t>Extendible hashing</a:t>
            </a:r>
            <a:r>
              <a:rPr lang="en-US" sz="1600" dirty="0">
                <a:latin typeface="Times New Roman" panose="02020603050405020304"/>
                <a:cs typeface="Times New Roman" panose="02020603050405020304"/>
                <a:sym typeface="+mn-ea"/>
              </a:rPr>
              <a:t>.</a:t>
            </a:r>
            <a:endParaRPr lang="en-US" sz="1600" b="0" i="0" dirty="0">
              <a:effectLst/>
              <a:latin typeface="Times New Roman" panose="02020603050405020304"/>
              <a:cs typeface="Times New Roman" panose="02020603050405020304"/>
            </a:endParaRPr>
          </a:p>
          <a:p>
            <a:pPr marL="342900" indent="-342900">
              <a:buAutoNum type="arabicPeriod"/>
            </a:pPr>
            <a:r>
              <a:rPr lang="en-US" sz="1600" b="0" i="0" dirty="0">
                <a:effectLst/>
                <a:latin typeface="Times New Roman" panose="02020603050405020304"/>
                <a:cs typeface="Times New Roman" panose="02020603050405020304"/>
              </a:rPr>
              <a:t>Describe rehashing method</a:t>
            </a:r>
            <a:r>
              <a:rPr lang="en-US" sz="1600" dirty="0">
                <a:latin typeface="Times New Roman" panose="02020603050405020304"/>
                <a:cs typeface="Times New Roman" panose="02020603050405020304"/>
              </a:rPr>
              <a:t>.</a:t>
            </a:r>
            <a:endParaRPr lang="en-US" sz="1600" dirty="0">
              <a:latin typeface="Times New Roman" panose="02020603050405020304"/>
              <a:cs typeface="Times New Roman" panose="02020603050405020304"/>
            </a:endParaRPr>
          </a:p>
          <a:p>
            <a:pPr marL="342900" indent="-342900">
              <a:buAutoNum type="arabicPeriod"/>
            </a:pPr>
            <a:r>
              <a:rPr lang="en-US" sz="1600" dirty="0">
                <a:latin typeface="Times New Roman" panose="02020603050405020304"/>
                <a:cs typeface="Times New Roman" panose="02020603050405020304"/>
              </a:rPr>
              <a:t>Summarize definition, its advantages, </a:t>
            </a:r>
            <a:r>
              <a:rPr lang="en-US" sz="1600" dirty="0" err="1">
                <a:latin typeface="Times New Roman" panose="02020603050405020304"/>
                <a:cs typeface="Times New Roman" panose="02020603050405020304"/>
              </a:rPr>
              <a:t>disadvanges</a:t>
            </a:r>
            <a:r>
              <a:rPr lang="en-US" sz="1600" dirty="0">
                <a:latin typeface="Times New Roman" panose="02020603050405020304"/>
                <a:cs typeface="Times New Roman" panose="02020603050405020304"/>
              </a:rPr>
              <a:t> and its applications</a:t>
            </a:r>
            <a:endParaRPr lang="en-US" sz="1600" dirty="0">
              <a:latin typeface="Times New Roman" panose="02020603050405020304"/>
              <a:cs typeface="Times New Roman" panose="02020603050405020304"/>
            </a:endParaRPr>
          </a:p>
        </p:txBody>
      </p:sp>
      <p:pic>
        <p:nvPicPr>
          <p:cNvPr id="12" name="Picture 2" descr="KL Deemed to be University Logo"/>
          <p:cNvPicPr>
            <a:picLocks noChangeAspect="1" noChangeArrowheads="1"/>
          </p:cNvPicPr>
          <p:nvPr/>
        </p:nvPicPr>
        <p:blipFill>
          <a:blip r:embed="rId7"/>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ldLvl="0" animBg="1"/>
      <p:bldP spid="7" grpId="0" animBg="1"/>
      <p:bldP spid="9" grpId="0" bldLvl="0" animBg="1"/>
      <p:bldP spid="29" grpId="0" animBg="1"/>
      <p:bldP spid="37"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95585"/>
            <a:ext cx="12105005" cy="6262415"/>
          </a:xfrm>
        </p:spPr>
        <p:txBody>
          <a:bodyPr lIns="91440" tIns="45720" rIns="91440" bIns="45720" anchor="t"/>
          <a:lstStyle/>
          <a:p>
            <a:pPr marL="0" indent="0" algn="just">
              <a:buNone/>
            </a:pPr>
            <a:r>
              <a:rPr lang="en-US" b="1" dirty="0">
                <a:latin typeface="Times New Roman" panose="02020603050405020304"/>
                <a:cs typeface="Times New Roman" panose="02020603050405020304"/>
              </a:rPr>
              <a:t>Extendible Hashing</a:t>
            </a:r>
            <a:r>
              <a:rPr lang="en-US" dirty="0">
                <a:latin typeface="Times New Roman" panose="02020603050405020304"/>
                <a:cs typeface="Times New Roman" panose="02020603050405020304"/>
              </a:rPr>
              <a:t> is a dynamic hashing method wherein directories, and buckets are used to hash data.   It is an aggressively flexible method in which the hash function also experiences dynamic changes. </a:t>
            </a:r>
            <a:endParaRPr lang="en-US" dirty="0">
              <a:latin typeface="Times New Roman" panose="02020603050405020304" pitchFamily="18" charset="0"/>
              <a:cs typeface="Times New Roman" panose="02020603050405020304" pitchFamily="18" charset="0"/>
            </a:endParaRPr>
          </a:p>
          <a:p>
            <a:pPr marL="0" indent="0">
              <a:buNone/>
            </a:pPr>
            <a:endParaRPr lang="en-IN" b="1" dirty="0"/>
          </a:p>
        </p:txBody>
      </p:sp>
      <p:pic>
        <p:nvPicPr>
          <p:cNvPr id="5"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7"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t>Extendible Hashing</a:t>
            </a:r>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5851" y="2210937"/>
            <a:ext cx="7055874" cy="4401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05332" y="2072157"/>
            <a:ext cx="5833264" cy="523220"/>
          </a:xfrm>
          <a:prstGeom prst="rect">
            <a:avLst/>
          </a:prstGeom>
        </p:spPr>
        <p:txBody>
          <a:bodyPr wrap="none">
            <a:spAutoFit/>
          </a:bodyPr>
          <a:lstStyle/>
          <a:p>
            <a:r>
              <a:rPr lang="en-IN" sz="2800" b="1" dirty="0"/>
              <a:t>Basic Structure of Extendible Hashing:</a:t>
            </a:r>
            <a:endParaRPr lang="en-IN" sz="2800" b="1" dirty="0"/>
          </a:p>
        </p:txBody>
      </p:sp>
      <p:sp>
        <p:nvSpPr>
          <p:cNvPr id="4" name="Rectangle 3"/>
          <p:cNvSpPr/>
          <p:nvPr/>
        </p:nvSpPr>
        <p:spPr>
          <a:xfrm>
            <a:off x="52743" y="3185067"/>
            <a:ext cx="6096000" cy="2677656"/>
          </a:xfrm>
          <a:prstGeom prst="rect">
            <a:avLst/>
          </a:prstGeom>
        </p:spPr>
        <p:txBody>
          <a:bodyPr>
            <a:spAutoFit/>
          </a:bodyPr>
          <a:lstStyle/>
          <a:p>
            <a:r>
              <a:rPr lang="en-IN" sz="2400" b="1" dirty="0"/>
              <a:t>The main features in this hashing technique are: </a:t>
            </a:r>
            <a:endParaRPr lang="en-IN" sz="2400" b="1" dirty="0"/>
          </a:p>
          <a:p>
            <a:pPr algn="just"/>
            <a:r>
              <a:rPr lang="en-IN" sz="2400" b="1" dirty="0"/>
              <a:t>i) Directories:</a:t>
            </a:r>
            <a:r>
              <a:rPr lang="en-IN" sz="2400" dirty="0"/>
              <a:t> To store </a:t>
            </a:r>
            <a:r>
              <a:rPr lang="en-IN" sz="2400" b="1" dirty="0"/>
              <a:t>addresses of the buckets </a:t>
            </a:r>
            <a:r>
              <a:rPr lang="en-IN" sz="2400" dirty="0"/>
              <a:t>in pointers. An id is assigned to each directory which may change each time when Directory Expansion takes place.</a:t>
            </a:r>
            <a:endParaRPr lang="en-IN" sz="2400" dirty="0"/>
          </a:p>
          <a:p>
            <a:pPr algn="just"/>
            <a:r>
              <a:rPr lang="en-IN" sz="2400" b="1" dirty="0"/>
              <a:t>ii) Buckets:</a:t>
            </a:r>
            <a:r>
              <a:rPr lang="en-IN" sz="2400" dirty="0"/>
              <a:t> To store the actual data.</a:t>
            </a:r>
            <a:endParaRPr lang="en-I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95585"/>
            <a:ext cx="12105005" cy="6262415"/>
          </a:xfrm>
        </p:spPr>
        <p:txBody>
          <a:bodyPr lIns="91440" tIns="45720" rIns="91440" bIns="45720" anchor="t"/>
          <a:lstStyle/>
          <a:p>
            <a:pPr marL="0" indent="0" algn="just">
              <a:buNone/>
            </a:pPr>
            <a:endParaRPr lang="en-US" sz="2400" b="1" dirty="0">
              <a:latin typeface="Times New Roman" panose="02020603050405020304"/>
              <a:cs typeface="Times New Roman" panose="02020603050405020304"/>
            </a:endParaRPr>
          </a:p>
          <a:p>
            <a:pPr marL="0" indent="0" algn="just">
              <a:buNone/>
            </a:pPr>
            <a:r>
              <a:rPr lang="en-US" b="1" dirty="0">
                <a:latin typeface="Times New Roman" panose="02020603050405020304"/>
                <a:cs typeface="Times New Roman" panose="02020603050405020304"/>
              </a:rPr>
              <a:t>Terms used in Extendible Hashing:</a:t>
            </a:r>
            <a:endParaRPr lang="en-US"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a:cs typeface="Times New Roman" panose="02020603050405020304"/>
              </a:rPr>
              <a:t>Directories:</a:t>
            </a:r>
            <a:r>
              <a:rPr lang="en-US" sz="2400" dirty="0">
                <a:latin typeface="Times New Roman" panose="02020603050405020304"/>
                <a:cs typeface="Times New Roman" panose="02020603050405020304"/>
              </a:rPr>
              <a:t> Instead of using a single hash table, extendible hashing uses a multi-level directory structure.</a:t>
            </a:r>
            <a:endParaRPr lang="en-US" sz="2400" dirty="0">
              <a:latin typeface="Times New Roman" panose="02020603050405020304"/>
              <a:cs typeface="Times New Roman" panose="02020603050405020304"/>
            </a:endParaRPr>
          </a:p>
          <a:p>
            <a:pPr algn="just"/>
            <a:r>
              <a:rPr lang="en-US" sz="2400" b="1" dirty="0">
                <a:latin typeface="Times New Roman" panose="02020603050405020304"/>
                <a:cs typeface="Times New Roman" panose="02020603050405020304"/>
              </a:rPr>
              <a:t>Buckets:</a:t>
            </a:r>
            <a:r>
              <a:rPr lang="en-US" sz="2400" dirty="0">
                <a:latin typeface="Times New Roman" panose="02020603050405020304"/>
                <a:cs typeface="Times New Roman" panose="02020603050405020304"/>
              </a:rPr>
              <a:t> Each directory entry points to a bucket, which stores a subset of </a:t>
            </a:r>
            <a:r>
              <a:rPr lang="en-US" sz="2400" b="1" dirty="0">
                <a:latin typeface="Times New Roman" panose="02020603050405020304"/>
                <a:cs typeface="Times New Roman" panose="02020603050405020304"/>
              </a:rPr>
              <a:t>key-value</a:t>
            </a:r>
            <a:r>
              <a:rPr lang="en-US" sz="2400" dirty="0">
                <a:latin typeface="Times New Roman" panose="02020603050405020304"/>
                <a:cs typeface="Times New Roman" panose="02020603050405020304"/>
              </a:rPr>
              <a:t> pairs.</a:t>
            </a:r>
            <a:endParaRPr lang="en-US" sz="2400" dirty="0">
              <a:latin typeface="Times New Roman" panose="02020603050405020304"/>
              <a:cs typeface="Times New Roman" panose="02020603050405020304"/>
            </a:endParaRPr>
          </a:p>
          <a:p>
            <a:pPr algn="just"/>
            <a:r>
              <a:rPr lang="en-US" sz="2400" b="1" dirty="0">
                <a:latin typeface="Times New Roman" panose="02020603050405020304"/>
                <a:cs typeface="Times New Roman" panose="02020603050405020304"/>
              </a:rPr>
              <a:t>Local Depth:</a:t>
            </a:r>
            <a:r>
              <a:rPr lang="en-US" sz="2400" dirty="0">
                <a:latin typeface="Times New Roman" panose="02020603050405020304"/>
                <a:cs typeface="Times New Roman" panose="02020603050405020304"/>
              </a:rPr>
              <a:t> Each bucket has a </a:t>
            </a:r>
            <a:r>
              <a:rPr lang="en-US" sz="2400" b="1" dirty="0">
                <a:latin typeface="Times New Roman" panose="02020603050405020304"/>
                <a:cs typeface="Times New Roman" panose="02020603050405020304"/>
              </a:rPr>
              <a:t>local depth</a:t>
            </a:r>
            <a:r>
              <a:rPr lang="en-US" sz="2400" dirty="0">
                <a:latin typeface="Times New Roman" panose="02020603050405020304"/>
                <a:cs typeface="Times New Roman" panose="02020603050405020304"/>
              </a:rPr>
              <a:t>, means the number of bits from the hash value used for addressing within that bucket.</a:t>
            </a:r>
            <a:endParaRPr lang="en-US" sz="2400" dirty="0">
              <a:latin typeface="Times New Roman" panose="02020603050405020304"/>
              <a:cs typeface="Times New Roman" panose="02020603050405020304"/>
            </a:endParaRPr>
          </a:p>
          <a:p>
            <a:pPr algn="just"/>
            <a:r>
              <a:rPr lang="en-US" sz="2400" b="1" dirty="0">
                <a:latin typeface="Times New Roman" panose="02020603050405020304"/>
                <a:cs typeface="Times New Roman" panose="02020603050405020304"/>
              </a:rPr>
              <a:t>Global Depth:</a:t>
            </a:r>
            <a:r>
              <a:rPr lang="en-US" sz="2400" dirty="0">
                <a:latin typeface="Times New Roman" panose="02020603050405020304"/>
                <a:cs typeface="Times New Roman" panose="02020603050405020304"/>
              </a:rPr>
              <a:t> The directory's </a:t>
            </a:r>
            <a:r>
              <a:rPr lang="en-US" sz="2400" b="1" dirty="0">
                <a:latin typeface="Times New Roman" panose="02020603050405020304"/>
                <a:cs typeface="Times New Roman" panose="02020603050405020304"/>
              </a:rPr>
              <a:t>global depth </a:t>
            </a:r>
            <a:r>
              <a:rPr lang="en-US" sz="2400" dirty="0">
                <a:latin typeface="Times New Roman" panose="02020603050405020304"/>
                <a:cs typeface="Times New Roman" panose="02020603050405020304"/>
              </a:rPr>
              <a:t>determines the maximum number of bits used for addressing.</a:t>
            </a:r>
            <a:endParaRPr lang="en-US" sz="2400" dirty="0">
              <a:latin typeface="Times New Roman" panose="02020603050405020304"/>
              <a:cs typeface="Times New Roman" panose="02020603050405020304"/>
            </a:endParaRPr>
          </a:p>
          <a:p>
            <a:pPr algn="just"/>
            <a:r>
              <a:rPr lang="en-US" sz="2400" b="1" dirty="0">
                <a:latin typeface="Times New Roman" panose="02020603050405020304"/>
                <a:cs typeface="Times New Roman" panose="02020603050405020304"/>
              </a:rPr>
              <a:t>Bucket Splitting: </a:t>
            </a:r>
            <a:r>
              <a:rPr lang="en-US" sz="2400" dirty="0">
                <a:latin typeface="Times New Roman" panose="02020603050405020304"/>
                <a:cs typeface="Times New Roman" panose="02020603050405020304"/>
              </a:rPr>
              <a:t>When the number of elements in a bucket exceeds a particular size, then the bucket is split into two parts.</a:t>
            </a:r>
            <a:endParaRPr lang="en-US" sz="2400" dirty="0">
              <a:latin typeface="Times New Roman" panose="02020603050405020304"/>
              <a:cs typeface="Times New Roman" panose="02020603050405020304"/>
            </a:endParaRPr>
          </a:p>
          <a:p>
            <a:pPr algn="just"/>
            <a:r>
              <a:rPr lang="en-US" sz="2400" b="1" dirty="0">
                <a:latin typeface="Times New Roman" panose="02020603050405020304"/>
                <a:cs typeface="Times New Roman" panose="02020603050405020304"/>
              </a:rPr>
              <a:t>Directory Expansion:</a:t>
            </a:r>
            <a:r>
              <a:rPr lang="en-US" sz="2400" dirty="0">
                <a:latin typeface="Times New Roman" panose="02020603050405020304"/>
                <a:cs typeface="Times New Roman" panose="02020603050405020304"/>
              </a:rPr>
              <a:t> Directory Expansion Takes place when a bucket overflows. Directory Expansion is performed when the local depth of the overflowing bucket is equal to the global depth.</a:t>
            </a:r>
            <a:endParaRPr lang="en-US" dirty="0"/>
          </a:p>
          <a:p>
            <a:pPr marL="0" indent="0" algn="just">
              <a:buNone/>
            </a:pPr>
            <a:endParaRPr lang="en-US" sz="2400" dirty="0">
              <a:latin typeface="Times New Roman" panose="02020603050405020304"/>
              <a:cs typeface="Times New Roman" panose="02020603050405020304"/>
            </a:endParaRPr>
          </a:p>
        </p:txBody>
      </p:sp>
      <p:pic>
        <p:nvPicPr>
          <p:cNvPr id="5"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7"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t>Extendible Hashing</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8595" y="904875"/>
            <a:ext cx="11904345" cy="5786120"/>
          </a:xfrm>
        </p:spPr>
        <p:txBody>
          <a:bodyPr lIns="91440" tIns="45720" rIns="91440" bIns="45720" anchor="t"/>
          <a:lstStyle/>
          <a:p>
            <a:pPr marL="0" indent="0" algn="just">
              <a:buNone/>
            </a:pPr>
            <a:r>
              <a:rPr lang="en-US" b="1" dirty="0">
                <a:latin typeface="Times New Roman" panose="02020603050405020304"/>
                <a:cs typeface="Times New Roman" panose="02020603050405020304"/>
              </a:rPr>
              <a:t>Example: </a:t>
            </a:r>
            <a:r>
              <a:rPr lang="en-US" dirty="0">
                <a:latin typeface="Times New Roman" panose="02020603050405020304"/>
                <a:cs typeface="Times New Roman" panose="02020603050405020304"/>
              </a:rPr>
              <a:t> </a:t>
            </a:r>
            <a:endParaRPr lang="en-US" dirty="0">
              <a:latin typeface="Times New Roman" panose="02020603050405020304"/>
              <a:cs typeface="Times New Roman" panose="02020603050405020304"/>
            </a:endParaRPr>
          </a:p>
          <a:p>
            <a:pPr marL="0" indent="0" algn="just">
              <a:buNone/>
            </a:pPr>
            <a:r>
              <a:rPr lang="en-US" dirty="0">
                <a:latin typeface="Times New Roman" panose="02020603050405020304"/>
                <a:cs typeface="Times New Roman" panose="02020603050405020304"/>
              </a:rPr>
              <a:t>Consider elements: 16,4,6,22,24,10,31,7,9,20,26  with bucket Size 3. </a:t>
            </a:r>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a:cs typeface="Times New Roman" panose="02020603050405020304"/>
              </a:rPr>
              <a:t>Hash Function: </a:t>
            </a:r>
            <a:r>
              <a:rPr lang="en-US" dirty="0">
                <a:latin typeface="Times New Roman" panose="02020603050405020304"/>
                <a:cs typeface="Times New Roman" panose="02020603050405020304"/>
              </a:rPr>
              <a:t>Suppose the global depth is X. </a:t>
            </a:r>
            <a:endParaRPr lang="en-US" dirty="0">
              <a:latin typeface="Times New Roman" panose="02020603050405020304"/>
              <a:cs typeface="Times New Roman" panose="02020603050405020304"/>
            </a:endParaRPr>
          </a:p>
          <a:p>
            <a:pPr marL="0" indent="0" algn="just">
              <a:buNone/>
            </a:pPr>
            <a:r>
              <a:rPr lang="en-US" dirty="0">
                <a:latin typeface="Times New Roman" panose="02020603050405020304"/>
                <a:cs typeface="Times New Roman" panose="02020603050405020304"/>
              </a:rPr>
              <a:t>                           Then the Hash Function returns X LSBs. </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a:latin typeface="Times New Roman" panose="02020603050405020304"/>
                <a:cs typeface="Times New Roman" panose="02020603050405020304"/>
              </a:rPr>
              <a:t> First, calculate the binary forms of each given numbers.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a:cs typeface="Times New Roman" panose="02020603050405020304"/>
              </a:rPr>
              <a:t>	16- 10000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a:cs typeface="Times New Roman" panose="02020603050405020304"/>
              </a:rPr>
              <a:t>	 4-  00100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a:cs typeface="Times New Roman" panose="02020603050405020304"/>
              </a:rPr>
              <a:t>	 6-  00110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a:cs typeface="Times New Roman" panose="02020603050405020304"/>
              </a:rPr>
              <a:t>	22- 10110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a:cs typeface="Times New Roman" panose="02020603050405020304"/>
              </a:rPr>
              <a:t>	24- 11000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a:cs typeface="Times New Roman" panose="02020603050405020304"/>
              </a:rPr>
              <a:t> </a:t>
            </a: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7"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t>Extendible Hashing</a:t>
            </a:r>
            <a:endParaRPr lang="en-US"/>
          </a:p>
        </p:txBody>
      </p:sp>
      <p:pic>
        <p:nvPicPr>
          <p:cNvPr id="9"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2" name="Rectangle 1"/>
          <p:cNvSpPr/>
          <p:nvPr/>
        </p:nvSpPr>
        <p:spPr>
          <a:xfrm>
            <a:off x="3905203" y="3401749"/>
            <a:ext cx="2317408" cy="2677656"/>
          </a:xfrm>
          <a:prstGeom prst="rect">
            <a:avLst/>
          </a:prstGeom>
        </p:spPr>
        <p:txBody>
          <a:bodyPr wrap="square">
            <a:spAutoFit/>
          </a:bodyPr>
          <a:lstStyle/>
          <a:p>
            <a:r>
              <a:rPr lang="en-US" sz="2800" dirty="0">
                <a:latin typeface="Times New Roman" panose="02020603050405020304"/>
                <a:cs typeface="Times New Roman" panose="02020603050405020304"/>
              </a:rPr>
              <a:t>10- 01010</a:t>
            </a:r>
            <a:endParaRPr lang="en-US" sz="2800" dirty="0">
              <a:latin typeface="Times New Roman" panose="02020603050405020304" pitchFamily="18" charset="0"/>
              <a:cs typeface="Times New Roman" panose="02020603050405020304" pitchFamily="18" charset="0"/>
              <a:sym typeface="+mn-ea"/>
            </a:endParaRPr>
          </a:p>
          <a:p>
            <a:r>
              <a:rPr lang="en-US" sz="2800" dirty="0">
                <a:latin typeface="Times New Roman" panose="02020603050405020304" pitchFamily="18" charset="0"/>
                <a:cs typeface="Times New Roman" panose="02020603050405020304" pitchFamily="18" charset="0"/>
                <a:sym typeface="+mn-ea"/>
              </a:rPr>
              <a:t>31- 11111 </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sym typeface="+mn-ea"/>
              </a:rPr>
              <a:t>  7- 00111 </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sym typeface="+mn-ea"/>
              </a:rPr>
              <a:t>  9- 01001 </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sym typeface="+mn-ea"/>
              </a:rPr>
              <a:t>20- 10100 </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sym typeface="+mn-ea"/>
              </a:rPr>
              <a:t>26- 11010</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77421" y="852583"/>
            <a:ext cx="11682483" cy="5799677"/>
          </a:xfrm>
        </p:spPr>
        <p:txBody>
          <a:bodyPr/>
          <a:lstStyle/>
          <a:p>
            <a:r>
              <a:rPr lang="en-US" sz="3200" dirty="0">
                <a:latin typeface="Times New Roman" panose="02020603050405020304" pitchFamily="18" charset="0"/>
                <a:cs typeface="Times New Roman" panose="02020603050405020304" pitchFamily="18" charset="0"/>
                <a:sym typeface="+mn-ea"/>
              </a:rPr>
              <a:t>Initially, the global-depth and local-depth </a:t>
            </a:r>
            <a:endParaRPr lang="en-US" sz="3200" dirty="0">
              <a:latin typeface="Times New Roman" panose="02020603050405020304" pitchFamily="18" charset="0"/>
              <a:cs typeface="Times New Roman" panose="02020603050405020304" pitchFamily="18" charset="0"/>
              <a:sym typeface="+mn-ea"/>
            </a:endParaRPr>
          </a:p>
          <a:p>
            <a:pPr marL="0" indent="0">
              <a:buNone/>
            </a:pPr>
            <a:r>
              <a:rPr lang="en-US" sz="3200" dirty="0">
                <a:latin typeface="Times New Roman" panose="02020603050405020304" pitchFamily="18" charset="0"/>
                <a:cs typeface="Times New Roman" panose="02020603050405020304" pitchFamily="18" charset="0"/>
                <a:sym typeface="+mn-ea"/>
              </a:rPr>
              <a:t>is always 1. </a:t>
            </a:r>
            <a:endParaRPr lang="en-US" sz="3200" dirty="0">
              <a:latin typeface="Times New Roman" panose="02020603050405020304" pitchFamily="18" charset="0"/>
              <a:cs typeface="Times New Roman" panose="02020603050405020304" pitchFamily="18" charset="0"/>
              <a:sym typeface="+mn-ea"/>
            </a:endParaRPr>
          </a:p>
          <a:p>
            <a:pPr marL="0" indent="0">
              <a:buNone/>
            </a:pPr>
            <a:endParaRPr lang="en-US" sz="3200" dirty="0">
              <a:latin typeface="Times New Roman" panose="02020603050405020304" pitchFamily="18" charset="0"/>
              <a:cs typeface="Times New Roman" panose="02020603050405020304" pitchFamily="18" charset="0"/>
            </a:endParaRPr>
          </a:p>
          <a:p>
            <a:pPr marL="0" indent="0">
              <a:buNone/>
            </a:pPr>
            <a:r>
              <a:rPr lang="en-US" sz="3200" b="1" dirty="0"/>
              <a:t>Inserting 16</a:t>
            </a:r>
            <a:r>
              <a:rPr lang="en-US" sz="3200" dirty="0"/>
              <a:t>: </a:t>
            </a:r>
            <a:endParaRPr lang="en-US" sz="3200" dirty="0"/>
          </a:p>
          <a:p>
            <a:r>
              <a:rPr lang="en-US" dirty="0"/>
              <a:t>The binary format of 16 is 10000 and </a:t>
            </a:r>
            <a:endParaRPr lang="en-US" dirty="0"/>
          </a:p>
          <a:p>
            <a:pPr marL="0" indent="0">
              <a:buNone/>
            </a:pPr>
            <a:r>
              <a:rPr lang="en-US" dirty="0"/>
              <a:t>   global-depth is 1.</a:t>
            </a:r>
            <a:endParaRPr lang="en-US" dirty="0"/>
          </a:p>
          <a:p>
            <a:r>
              <a:rPr lang="en-US" dirty="0"/>
              <a:t>The hash function returns 1 LSB of 10000 </a:t>
            </a:r>
            <a:endParaRPr lang="en-US" dirty="0"/>
          </a:p>
          <a:p>
            <a:pPr marL="0" indent="0">
              <a:buNone/>
            </a:pPr>
            <a:r>
              <a:rPr lang="en-US" dirty="0"/>
              <a:t>   which is 0. Hence, 16 is mapped to the directory </a:t>
            </a:r>
            <a:endParaRPr lang="en-US" dirty="0"/>
          </a:p>
          <a:p>
            <a:pPr marL="0" indent="0">
              <a:buNone/>
            </a:pPr>
            <a:r>
              <a:rPr lang="en-US" dirty="0"/>
              <a:t>   with id=0. </a:t>
            </a:r>
            <a:endParaRPr lang="en-US" dirty="0"/>
          </a:p>
        </p:txBody>
      </p:sp>
      <p:pic>
        <p:nvPicPr>
          <p:cNvPr id="100" name="Content Placeholder 99"/>
          <p:cNvPicPr>
            <a:picLocks noGrp="1" noChangeAspect="1"/>
          </p:cNvPicPr>
          <p:nvPr>
            <p:ph sz="half" idx="2"/>
          </p:nvPr>
        </p:nvPicPr>
        <p:blipFill>
          <a:blip r:embed="rId1"/>
          <a:stretch>
            <a:fillRect/>
          </a:stretch>
        </p:blipFill>
        <p:spPr>
          <a:xfrm>
            <a:off x="7710986" y="750103"/>
            <a:ext cx="4133967" cy="2648190"/>
          </a:xfrm>
          <a:prstGeom prst="rect">
            <a:avLst/>
          </a:prstGeom>
          <a:noFill/>
          <a:ln w="9525">
            <a:noFill/>
          </a:ln>
        </p:spPr>
      </p:pic>
      <p:pic>
        <p:nvPicPr>
          <p:cNvPr id="101" name="Picture 100"/>
          <p:cNvPicPr/>
          <p:nvPr/>
        </p:nvPicPr>
        <p:blipFill>
          <a:blip r:embed="rId2"/>
          <a:stretch>
            <a:fillRect/>
          </a:stretch>
        </p:blipFill>
        <p:spPr>
          <a:xfrm>
            <a:off x="7710986" y="3384645"/>
            <a:ext cx="4192474" cy="2635067"/>
          </a:xfrm>
          <a:prstGeom prst="rect">
            <a:avLst/>
          </a:prstGeom>
          <a:noFill/>
          <a:ln w="9525">
            <a:noFill/>
          </a:ln>
        </p:spPr>
      </p:pic>
      <p:sp>
        <p:nvSpPr>
          <p:cNvPr id="4"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t>Extendible Hashing</a:t>
            </a:r>
            <a:endParaRPr lang="en-US"/>
          </a:p>
        </p:txBody>
      </p:sp>
      <p:pic>
        <p:nvPicPr>
          <p:cNvPr id="6"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0252" y="629330"/>
            <a:ext cx="10971634" cy="5786075"/>
          </a:xfrm>
        </p:spPr>
        <p:txBody>
          <a:bodyPr lIns="91440" tIns="45720" rIns="91440" bIns="45720" anchor="t"/>
          <a:lstStyle/>
          <a:p>
            <a:pPr marL="0" indent="0">
              <a:buNone/>
            </a:pPr>
            <a:r>
              <a:rPr lang="en-US" b="1" dirty="0"/>
              <a:t>Inserting 4 and 6: </a:t>
            </a:r>
            <a:endParaRPr lang="en-US" b="1" dirty="0"/>
          </a:p>
          <a:p>
            <a:pPr marL="0" indent="0" algn="just">
              <a:buNone/>
            </a:pPr>
            <a:r>
              <a:rPr lang="en-US" dirty="0"/>
              <a:t>Both 4(100) and 6(110)have 0 in </a:t>
            </a:r>
            <a:endParaRPr lang="en-US" dirty="0"/>
          </a:p>
          <a:p>
            <a:pPr marL="0" indent="0" algn="just">
              <a:buNone/>
            </a:pPr>
            <a:r>
              <a:rPr lang="en-US" dirty="0"/>
              <a:t>their LSB. Hence, they are hashed </a:t>
            </a:r>
            <a:endParaRPr lang="en-US" dirty="0"/>
          </a:p>
          <a:p>
            <a:pPr marL="0" indent="0" algn="just">
              <a:buNone/>
            </a:pPr>
            <a:r>
              <a:rPr lang="en-US" dirty="0"/>
              <a:t>as follows: </a:t>
            </a:r>
            <a:endParaRPr lang="en-US" dirty="0"/>
          </a:p>
          <a:p>
            <a:endParaRPr lang="en-US" dirty="0"/>
          </a:p>
          <a:p>
            <a:endParaRPr lang="en-US" dirty="0"/>
          </a:p>
          <a:p>
            <a:pPr marL="0" indent="0">
              <a:buNone/>
            </a:pPr>
            <a:r>
              <a:rPr lang="en-US" b="1" dirty="0"/>
              <a:t>Inserting 22: </a:t>
            </a:r>
            <a:r>
              <a:rPr lang="en-US" dirty="0"/>
              <a:t>The binary form of 22 is </a:t>
            </a:r>
            <a:endParaRPr lang="en-US" dirty="0"/>
          </a:p>
          <a:p>
            <a:pPr marL="0" indent="0">
              <a:buNone/>
            </a:pPr>
            <a:r>
              <a:rPr lang="en-US" dirty="0"/>
              <a:t>10110. Its LSB is 0. The bucket pointed </a:t>
            </a:r>
            <a:endParaRPr lang="en-US" dirty="0"/>
          </a:p>
          <a:p>
            <a:pPr marL="0" indent="0">
              <a:buNone/>
            </a:pPr>
            <a:r>
              <a:rPr lang="en-US" dirty="0"/>
              <a:t>by directory 0 is already full. Hence,</a:t>
            </a:r>
            <a:endParaRPr lang="en-US" dirty="0"/>
          </a:p>
          <a:p>
            <a:pPr marL="0" indent="0">
              <a:buNone/>
            </a:pPr>
            <a:r>
              <a:rPr lang="en-US" dirty="0"/>
              <a:t>overflow occurs. </a:t>
            </a:r>
            <a:endParaRPr lang="en-US" dirty="0">
              <a:cs typeface="Calibri" panose="020F0502020204030204"/>
            </a:endParaRPr>
          </a:p>
          <a:p>
            <a:pPr marL="0" indent="0">
              <a:buNone/>
            </a:pPr>
            <a:endParaRPr lang="en-US" dirty="0"/>
          </a:p>
        </p:txBody>
      </p:sp>
      <p:pic>
        <p:nvPicPr>
          <p:cNvPr id="102" name="Content Placeholder 101"/>
          <p:cNvPicPr>
            <a:picLocks noGrp="1" noChangeAspect="1"/>
          </p:cNvPicPr>
          <p:nvPr>
            <p:ph sz="half" idx="2"/>
          </p:nvPr>
        </p:nvPicPr>
        <p:blipFill>
          <a:blip r:embed="rId1"/>
          <a:stretch>
            <a:fillRect/>
          </a:stretch>
        </p:blipFill>
        <p:spPr>
          <a:xfrm>
            <a:off x="7036259" y="626837"/>
            <a:ext cx="4731385" cy="1943735"/>
          </a:xfrm>
          <a:prstGeom prst="rect">
            <a:avLst/>
          </a:prstGeom>
          <a:noFill/>
          <a:ln w="9525">
            <a:noFill/>
          </a:ln>
        </p:spPr>
      </p:pic>
      <p:pic>
        <p:nvPicPr>
          <p:cNvPr id="103" name="Picture 102"/>
          <p:cNvPicPr/>
          <p:nvPr/>
        </p:nvPicPr>
        <p:blipFill>
          <a:blip r:embed="rId2"/>
          <a:stretch>
            <a:fillRect/>
          </a:stretch>
        </p:blipFill>
        <p:spPr>
          <a:xfrm>
            <a:off x="7118916" y="2841434"/>
            <a:ext cx="5019675" cy="2627630"/>
          </a:xfrm>
          <a:prstGeom prst="rect">
            <a:avLst/>
          </a:prstGeom>
          <a:noFill/>
          <a:ln w="9525">
            <a:noFill/>
          </a:ln>
        </p:spPr>
      </p:pic>
      <p:sp>
        <p:nvSpPr>
          <p:cNvPr id="4"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t>Extendible Hashing</a:t>
            </a:r>
            <a:endParaRPr lang="en-US"/>
          </a:p>
        </p:txBody>
      </p:sp>
      <p:pic>
        <p:nvPicPr>
          <p:cNvPr id="6"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423082" y="668655"/>
            <a:ext cx="11443164" cy="5410835"/>
          </a:xfrm>
          <a:prstGeom prst="rect">
            <a:avLst/>
          </a:prstGeom>
          <a:noFill/>
        </p:spPr>
        <p:txBody>
          <a:bodyPr wrap="square" lIns="91440" tIns="45720" rIns="91440" bIns="45720" rtlCol="0" anchor="t">
            <a:noAutofit/>
          </a:bodyPr>
          <a:lstStyle/>
          <a:p>
            <a:pPr algn="just"/>
            <a:r>
              <a:rPr lang="en-US" sz="2800" dirty="0">
                <a:latin typeface="Times New Roman" panose="02020603050405020304"/>
                <a:cs typeface="Times New Roman" panose="02020603050405020304"/>
              </a:rPr>
              <a:t>Since, Local Depth = Global Depth, </a:t>
            </a:r>
            <a:endParaRPr lang="en-US" sz="2800" dirty="0">
              <a:latin typeface="Times New Roman" panose="02020603050405020304"/>
              <a:cs typeface="Times New Roman" panose="02020603050405020304"/>
            </a:endParaRPr>
          </a:p>
          <a:p>
            <a:pPr algn="just"/>
            <a:r>
              <a:rPr lang="en-US" sz="2800" dirty="0">
                <a:latin typeface="Times New Roman" panose="02020603050405020304"/>
                <a:cs typeface="Times New Roman" panose="02020603050405020304"/>
              </a:rPr>
              <a:t>The bucket splits and directory expansion takes place. Also, rehashing numbers present in the overflowing bucket takes place after the split. </a:t>
            </a:r>
            <a:endParaRPr lang="en-US" sz="2800" dirty="0">
              <a:latin typeface="Times New Roman" panose="02020603050405020304"/>
              <a:cs typeface="Times New Roman" panose="02020603050405020304"/>
            </a:endParaRPr>
          </a:p>
          <a:p>
            <a:pPr algn="just"/>
            <a:r>
              <a:rPr lang="en-US" sz="2800" dirty="0">
                <a:latin typeface="Times New Roman" panose="02020603050405020304"/>
                <a:cs typeface="Times New Roman" panose="02020603050405020304"/>
              </a:rPr>
              <a:t>Hence, 16,4,6,22 are now rehashed w.r.t 2 LSBs.  </a:t>
            </a:r>
            <a:endParaRPr lang="en-US" sz="2000" dirty="0">
              <a:latin typeface="Calibri" panose="020F0502020204030204"/>
              <a:cs typeface="Calibri" panose="020F0502020204030204"/>
            </a:endParaRPr>
          </a:p>
          <a:p>
            <a:pPr algn="just"/>
            <a:r>
              <a:rPr lang="en-US" sz="2800" dirty="0">
                <a:latin typeface="Times New Roman" panose="02020603050405020304"/>
                <a:cs typeface="Times New Roman" panose="02020603050405020304"/>
              </a:rPr>
              <a:t>  16 (10000), </a:t>
            </a:r>
            <a:endParaRPr lang="en-US" sz="2800" dirty="0">
              <a:latin typeface="Times New Roman" panose="02020603050405020304"/>
              <a:cs typeface="Times New Roman" panose="02020603050405020304"/>
            </a:endParaRPr>
          </a:p>
          <a:p>
            <a:pPr algn="just"/>
            <a:r>
              <a:rPr lang="en-US" sz="2800" dirty="0">
                <a:latin typeface="Times New Roman" panose="02020603050405020304"/>
                <a:cs typeface="Times New Roman" panose="02020603050405020304"/>
              </a:rPr>
              <a:t>  4       (100),</a:t>
            </a:r>
            <a:endParaRPr lang="en-US" sz="2800" dirty="0">
              <a:latin typeface="Times New Roman" panose="02020603050405020304"/>
              <a:cs typeface="Times New Roman" panose="02020603050405020304"/>
            </a:endParaRPr>
          </a:p>
          <a:p>
            <a:pPr algn="just"/>
            <a:r>
              <a:rPr lang="en-US" sz="2800" dirty="0">
                <a:latin typeface="Times New Roman" panose="02020603050405020304"/>
                <a:cs typeface="Times New Roman" panose="02020603050405020304"/>
              </a:rPr>
              <a:t>  6       (110),</a:t>
            </a:r>
            <a:endParaRPr lang="en-US" sz="2800" dirty="0">
              <a:latin typeface="Times New Roman" panose="02020603050405020304"/>
              <a:cs typeface="Times New Roman" panose="02020603050405020304"/>
            </a:endParaRPr>
          </a:p>
          <a:p>
            <a:pPr algn="just"/>
            <a:r>
              <a:rPr lang="en-US" sz="2800" dirty="0">
                <a:latin typeface="Times New Roman" panose="02020603050405020304"/>
                <a:cs typeface="Times New Roman" panose="02020603050405020304"/>
              </a:rPr>
              <a:t>22   (10110). </a:t>
            </a:r>
            <a:endParaRPr lang="en-US" sz="2000" dirty="0">
              <a:cs typeface="Calibri" panose="020F0502020204030204"/>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7" name="Content Placeholder 6"/>
          <p:cNvPicPr>
            <a:picLocks noGrp="1" noChangeAspect="1"/>
          </p:cNvPicPr>
          <p:nvPr>
            <p:ph/>
          </p:nvPr>
        </p:nvPicPr>
        <p:blipFill>
          <a:blip r:embed="rId1"/>
          <a:stretch>
            <a:fillRect/>
          </a:stretch>
        </p:blipFill>
        <p:spPr>
          <a:xfrm>
            <a:off x="5008728" y="2613546"/>
            <a:ext cx="7183272" cy="4032914"/>
          </a:xfrm>
          <a:prstGeom prst="rect">
            <a:avLst/>
          </a:prstGeom>
        </p:spPr>
      </p:pic>
      <p:sp>
        <p:nvSpPr>
          <p:cNvPr id="3"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dirty="0"/>
              <a:t>Extendible Hashing process</a:t>
            </a:r>
            <a:endParaRPr lang="en-US" dirty="0"/>
          </a:p>
        </p:txBody>
      </p:sp>
      <p:pic>
        <p:nvPicPr>
          <p:cNvPr id="6"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632345" y="5930921"/>
            <a:ext cx="10272215" cy="523220"/>
          </a:xfrm>
          <a:prstGeom prst="rect">
            <a:avLst/>
          </a:prstGeom>
        </p:spPr>
        <p:txBody>
          <a:bodyPr wrap="square">
            <a:spAutoFit/>
          </a:bodyPr>
          <a:lstStyle/>
          <a:p>
            <a:r>
              <a:rPr lang="en-IN" sz="2800" b="1" dirty="0"/>
              <a:t> Note </a:t>
            </a:r>
            <a:r>
              <a:rPr lang="en-IN" sz="2800" dirty="0"/>
              <a:t>:  The bucket which was underflow has remained untouched</a:t>
            </a:r>
            <a:endParaRPr lang="en-I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423082" y="668655"/>
            <a:ext cx="11443164" cy="5410835"/>
          </a:xfrm>
          <a:prstGeom prst="rect">
            <a:avLst/>
          </a:prstGeom>
          <a:noFill/>
        </p:spPr>
        <p:txBody>
          <a:bodyPr wrap="square" lIns="91440" tIns="45720" rIns="91440" bIns="45720" rtlCol="0" anchor="t">
            <a:noAutofit/>
          </a:bodyPr>
          <a:lstStyle/>
          <a:p>
            <a:pPr lvl="0"/>
            <a:r>
              <a:rPr lang="en-IN" sz="2800" b="1" dirty="0"/>
              <a:t>Inserting 24 and 10:</a:t>
            </a:r>
            <a:r>
              <a:rPr lang="en-IN" sz="2800" dirty="0"/>
              <a:t> </a:t>
            </a:r>
            <a:endParaRPr lang="en-IN" sz="2800" dirty="0"/>
          </a:p>
          <a:p>
            <a:pPr lvl="0"/>
            <a:endParaRPr lang="en-IN" sz="2800" dirty="0"/>
          </a:p>
          <a:p>
            <a:r>
              <a:rPr lang="en-IN" sz="2800" dirty="0"/>
              <a:t>24  (110</a:t>
            </a:r>
            <a:r>
              <a:rPr lang="en-IN" sz="2800" b="1" dirty="0"/>
              <a:t>00</a:t>
            </a:r>
            <a:r>
              <a:rPr lang="en-IN" sz="2800" dirty="0"/>
              <a:t>), and </a:t>
            </a:r>
            <a:endParaRPr lang="en-IN" sz="2800" dirty="0"/>
          </a:p>
          <a:p>
            <a:r>
              <a:rPr lang="en-IN" sz="2800" dirty="0"/>
              <a:t>10  (10</a:t>
            </a:r>
            <a:r>
              <a:rPr lang="en-IN" sz="2800" b="1" dirty="0"/>
              <a:t>10</a:t>
            </a:r>
            <a:r>
              <a:rPr lang="en-IN" sz="2800" dirty="0"/>
              <a:t>). </a:t>
            </a:r>
            <a:endParaRPr lang="en-US" sz="2000" dirty="0">
              <a:latin typeface="Calibri" panose="020F0502020204030204"/>
              <a:cs typeface="Calibri" panose="020F0502020204030204"/>
            </a:endParaRPr>
          </a:p>
          <a:p>
            <a:pPr algn="just"/>
            <a:r>
              <a:rPr lang="en-US" sz="2800" dirty="0">
                <a:latin typeface="Times New Roman" panose="02020603050405020304"/>
                <a:cs typeface="Times New Roman" panose="02020603050405020304"/>
              </a:rPr>
              <a:t>  </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3"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dirty="0"/>
              <a:t>Extendible Hashing process</a:t>
            </a:r>
            <a:endParaRPr lang="en-US" dirty="0"/>
          </a:p>
        </p:txBody>
      </p:sp>
      <p:pic>
        <p:nvPicPr>
          <p:cNvPr id="6"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2" name="Content Placeholder 1"/>
          <p:cNvSpPr>
            <a:spLocks noGrp="1"/>
          </p:cNvSpPr>
          <p:nvPr>
            <p:ph/>
          </p:nvPr>
        </p:nvSpPr>
        <p:spPr>
          <a:xfrm>
            <a:off x="218363" y="668655"/>
            <a:ext cx="11395881" cy="5508308"/>
          </a:xfrm>
        </p:spPr>
        <p:txBody>
          <a:bodyPr/>
          <a:lstStyle/>
          <a:p>
            <a:pPr marL="0" indent="0">
              <a:buNone/>
            </a:pPr>
            <a:endParaRPr lang="en-IN" dirty="0"/>
          </a:p>
          <a:p>
            <a:pPr marL="0" indent="0">
              <a:buNone/>
            </a:pPr>
            <a:endParaRPr lang="en-IN" dirty="0"/>
          </a:p>
        </p:txBody>
      </p:sp>
      <p:pic>
        <p:nvPicPr>
          <p:cNvPr id="8" name="Picture 7" descr="https://media.geeksforgeeks.org/wp-content/uploads/20190803221042/hash62.png"/>
          <p:cNvPicPr/>
          <p:nvPr/>
        </p:nvPicPr>
        <p:blipFill>
          <a:blip r:embed="rId2">
            <a:extLst>
              <a:ext uri="{28A0092B-C50C-407E-A947-70E740481C1C}">
                <a14:useLocalDpi xmlns:a14="http://schemas.microsoft.com/office/drawing/2010/main" val="0"/>
              </a:ext>
            </a:extLst>
          </a:blip>
          <a:srcRect/>
          <a:stretch>
            <a:fillRect/>
          </a:stretch>
        </p:blipFill>
        <p:spPr bwMode="auto">
          <a:xfrm>
            <a:off x="4591989" y="1094896"/>
            <a:ext cx="7274257" cy="455835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423082" y="668655"/>
            <a:ext cx="11443164" cy="5410835"/>
          </a:xfrm>
          <a:prstGeom prst="rect">
            <a:avLst/>
          </a:prstGeom>
          <a:noFill/>
        </p:spPr>
        <p:txBody>
          <a:bodyPr wrap="square" lIns="91440" tIns="45720" rIns="91440" bIns="45720" rtlCol="0" anchor="t">
            <a:noAutofit/>
          </a:bodyPr>
          <a:lstStyle/>
          <a:p>
            <a:pPr lvl="0"/>
            <a:r>
              <a:rPr lang="en-IN" sz="3200" b="1" dirty="0"/>
              <a:t>Inserting 31, 7, 9:</a:t>
            </a:r>
            <a:r>
              <a:rPr lang="en-IN" sz="3200" dirty="0"/>
              <a:t> </a:t>
            </a:r>
            <a:endParaRPr lang="en-IN" sz="3200" dirty="0"/>
          </a:p>
          <a:p>
            <a:endParaRPr lang="en-IN" sz="2800" dirty="0"/>
          </a:p>
          <a:p>
            <a:r>
              <a:rPr lang="en-IN" sz="3200" dirty="0"/>
              <a:t>31 (111</a:t>
            </a:r>
            <a:r>
              <a:rPr lang="en-IN" sz="3200" b="1" dirty="0"/>
              <a:t>11</a:t>
            </a:r>
            <a:r>
              <a:rPr lang="en-IN" sz="3200" dirty="0"/>
              <a:t>), </a:t>
            </a:r>
            <a:endParaRPr lang="en-IN" sz="3200" dirty="0"/>
          </a:p>
          <a:p>
            <a:r>
              <a:rPr lang="en-IN" sz="3200" dirty="0"/>
              <a:t>7       (1</a:t>
            </a:r>
            <a:r>
              <a:rPr lang="en-IN" sz="3200" b="1" dirty="0"/>
              <a:t>11</a:t>
            </a:r>
            <a:r>
              <a:rPr lang="en-IN" sz="3200" dirty="0"/>
              <a:t>), </a:t>
            </a:r>
            <a:endParaRPr lang="en-IN" sz="3200" dirty="0"/>
          </a:p>
          <a:p>
            <a:r>
              <a:rPr lang="en-IN" sz="3200" dirty="0"/>
              <a:t>9     (10</a:t>
            </a:r>
            <a:r>
              <a:rPr lang="en-IN" sz="3200" b="1" dirty="0"/>
              <a:t>01</a:t>
            </a:r>
            <a:r>
              <a:rPr lang="en-IN" sz="3200" dirty="0"/>
              <a:t>). </a:t>
            </a:r>
            <a:endParaRPr lang="en-IN" sz="3200" dirty="0"/>
          </a:p>
          <a:p>
            <a:r>
              <a:rPr lang="en-IN" sz="3200" dirty="0"/>
              <a:t>have either 01 or 11 </a:t>
            </a:r>
            <a:endParaRPr lang="en-IN" sz="3200" dirty="0"/>
          </a:p>
          <a:p>
            <a:r>
              <a:rPr lang="en-IN" sz="3200" dirty="0"/>
              <a:t>in their LSBs. </a:t>
            </a:r>
            <a:endParaRPr lang="en-IN" sz="3200" dirty="0"/>
          </a:p>
          <a:p>
            <a:pPr algn="just"/>
            <a:r>
              <a:rPr lang="en-US" sz="2800" dirty="0">
                <a:latin typeface="Times New Roman" panose="02020603050405020304"/>
                <a:cs typeface="Times New Roman" panose="02020603050405020304"/>
              </a:rPr>
              <a:t>  </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3"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dirty="0"/>
              <a:t>Extendible Hashing process</a:t>
            </a:r>
            <a:endParaRPr lang="en-US" dirty="0"/>
          </a:p>
        </p:txBody>
      </p:sp>
      <p:pic>
        <p:nvPicPr>
          <p:cNvPr id="6"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2" name="Content Placeholder 1"/>
          <p:cNvSpPr>
            <a:spLocks noGrp="1"/>
          </p:cNvSpPr>
          <p:nvPr>
            <p:ph/>
          </p:nvPr>
        </p:nvSpPr>
        <p:spPr>
          <a:xfrm>
            <a:off x="4367284" y="668655"/>
            <a:ext cx="7246960" cy="5508308"/>
          </a:xfrm>
        </p:spPr>
        <p:txBody>
          <a:bodyPr/>
          <a:lstStyle/>
          <a:p>
            <a:pPr marL="0" indent="0">
              <a:buNone/>
            </a:pPr>
            <a:endParaRPr lang="en-IN" dirty="0"/>
          </a:p>
          <a:p>
            <a:pPr marL="0" indent="0">
              <a:buNone/>
            </a:pPr>
            <a:endParaRPr lang="en-IN" dirty="0"/>
          </a:p>
        </p:txBody>
      </p:sp>
      <p:pic>
        <p:nvPicPr>
          <p:cNvPr id="7" name="Picture 6" descr="https://media.geeksforgeeks.org/wp-content/uploads/20190803222615/hash73.png"/>
          <p:cNvPicPr/>
          <p:nvPr/>
        </p:nvPicPr>
        <p:blipFill>
          <a:blip r:embed="rId2">
            <a:extLst>
              <a:ext uri="{28A0092B-C50C-407E-A947-70E740481C1C}">
                <a14:useLocalDpi xmlns:a14="http://schemas.microsoft.com/office/drawing/2010/main" val="0"/>
              </a:ext>
            </a:extLst>
          </a:blip>
          <a:srcRect/>
          <a:stretch>
            <a:fillRect/>
          </a:stretch>
        </p:blipFill>
        <p:spPr bwMode="auto">
          <a:xfrm>
            <a:off x="4535999" y="887105"/>
            <a:ext cx="7656001" cy="47357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423082" y="668655"/>
            <a:ext cx="11443164" cy="5410835"/>
          </a:xfrm>
          <a:prstGeom prst="rect">
            <a:avLst/>
          </a:prstGeom>
          <a:noFill/>
        </p:spPr>
        <p:txBody>
          <a:bodyPr wrap="square" lIns="91440" tIns="45720" rIns="91440" bIns="45720" rtlCol="0" anchor="t">
            <a:noAutofit/>
          </a:bodyPr>
          <a:lstStyle/>
          <a:p>
            <a:pPr lvl="0"/>
            <a:r>
              <a:rPr lang="en-IN" sz="3200" dirty="0"/>
              <a:t>since the </a:t>
            </a:r>
            <a:r>
              <a:rPr lang="en-IN" sz="3200" b="1" dirty="0"/>
              <a:t>local depth of the bucket = global-depth</a:t>
            </a:r>
            <a:r>
              <a:rPr lang="en-IN" sz="3200" dirty="0"/>
              <a:t>, directory expansion (doubling) with bucket splitting.</a:t>
            </a:r>
            <a:endParaRPr lang="en-US" sz="2400" dirty="0">
              <a:latin typeface="Times New Roman" panose="02020603050405020304" pitchFamily="18" charset="0"/>
              <a:cs typeface="Times New Roman" panose="02020603050405020304" pitchFamily="18" charset="0"/>
            </a:endParaRPr>
          </a:p>
        </p:txBody>
      </p:sp>
      <p:sp>
        <p:nvSpPr>
          <p:cNvPr id="3"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dirty="0"/>
              <a:t>Extendible Hashing process</a:t>
            </a:r>
            <a:endParaRPr lang="en-US" dirty="0"/>
          </a:p>
        </p:txBody>
      </p:sp>
      <p:pic>
        <p:nvPicPr>
          <p:cNvPr id="6"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2" name="Content Placeholder 1"/>
          <p:cNvSpPr>
            <a:spLocks noGrp="1"/>
          </p:cNvSpPr>
          <p:nvPr>
            <p:ph/>
          </p:nvPr>
        </p:nvSpPr>
        <p:spPr>
          <a:xfrm>
            <a:off x="4367284" y="668655"/>
            <a:ext cx="7246960" cy="5508308"/>
          </a:xfrm>
        </p:spPr>
        <p:txBody>
          <a:bodyPr/>
          <a:lstStyle/>
          <a:p>
            <a:pPr marL="0" indent="0">
              <a:buNone/>
            </a:pPr>
            <a:endParaRPr lang="en-IN" dirty="0"/>
          </a:p>
          <a:p>
            <a:pPr marL="0" indent="0">
              <a:buNone/>
            </a:pPr>
            <a:endParaRPr lang="en-IN" dirty="0"/>
          </a:p>
        </p:txBody>
      </p:sp>
      <p:pic>
        <p:nvPicPr>
          <p:cNvPr id="8" name="Picture 7" descr="https://media.geeksforgeeks.org/wp-content/uploads/20190803221043/hash7.12.png"/>
          <p:cNvPicPr/>
          <p:nvPr/>
        </p:nvPicPr>
        <p:blipFill>
          <a:blip r:embed="rId2">
            <a:extLst>
              <a:ext uri="{28A0092B-C50C-407E-A947-70E740481C1C}">
                <a14:useLocalDpi xmlns:a14="http://schemas.microsoft.com/office/drawing/2010/main" val="0"/>
              </a:ext>
            </a:extLst>
          </a:blip>
          <a:srcRect/>
          <a:stretch>
            <a:fillRect/>
          </a:stretch>
        </p:blipFill>
        <p:spPr bwMode="auto">
          <a:xfrm>
            <a:off x="1" y="2446826"/>
            <a:ext cx="6428096" cy="4295168"/>
          </a:xfrm>
          <a:prstGeom prst="rect">
            <a:avLst/>
          </a:prstGeom>
          <a:noFill/>
          <a:ln>
            <a:noFill/>
          </a:ln>
        </p:spPr>
      </p:pic>
      <p:pic>
        <p:nvPicPr>
          <p:cNvPr id="9" name="Picture 8" descr="https://media.geeksforgeeks.org/wp-content/uploads/20190803104120/hash81.png"/>
          <p:cNvPicPr/>
          <p:nvPr/>
        </p:nvPicPr>
        <p:blipFill>
          <a:blip r:embed="rId3">
            <a:extLst>
              <a:ext uri="{28A0092B-C50C-407E-A947-70E740481C1C}">
                <a14:useLocalDpi xmlns:a14="http://schemas.microsoft.com/office/drawing/2010/main" val="0"/>
              </a:ext>
            </a:extLst>
          </a:blip>
          <a:srcRect/>
          <a:stretch>
            <a:fillRect/>
          </a:stretch>
        </p:blipFill>
        <p:spPr bwMode="auto">
          <a:xfrm>
            <a:off x="5621954" y="2183641"/>
            <a:ext cx="6570046" cy="4558353"/>
          </a:xfrm>
          <a:prstGeom prst="rect">
            <a:avLst/>
          </a:prstGeom>
          <a:noFill/>
          <a:ln>
            <a:noFill/>
          </a:ln>
        </p:spPr>
      </p:pic>
      <p:sp>
        <p:nvSpPr>
          <p:cNvPr id="10" name="Rectangle 9"/>
          <p:cNvSpPr/>
          <p:nvPr/>
        </p:nvSpPr>
        <p:spPr>
          <a:xfrm>
            <a:off x="7379137" y="1952808"/>
            <a:ext cx="3888244" cy="461665"/>
          </a:xfrm>
          <a:prstGeom prst="rect">
            <a:avLst/>
          </a:prstGeom>
        </p:spPr>
        <p:txBody>
          <a:bodyPr wrap="none">
            <a:spAutoFit/>
          </a:bodyPr>
          <a:lstStyle/>
          <a:p>
            <a:pPr lvl="0"/>
            <a:r>
              <a:rPr lang="en-IN" sz="2400" b="1" dirty="0"/>
              <a:t>After Expansion and Splitting</a:t>
            </a:r>
            <a:endParaRPr lang="en-US"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274963" y="97622"/>
            <a:ext cx="6555138" cy="51588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Extendible Hashing process</a:t>
            </a:r>
            <a:endParaRPr lang="en-US" sz="2800" dirty="0"/>
          </a:p>
        </p:txBody>
      </p:sp>
      <p:pic>
        <p:nvPicPr>
          <p:cNvPr id="31"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17" name="TextBox 16"/>
          <p:cNvSpPr txBox="1"/>
          <p:nvPr/>
        </p:nvSpPr>
        <p:spPr>
          <a:xfrm>
            <a:off x="177421" y="941070"/>
            <a:ext cx="7153109" cy="6042660"/>
          </a:xfrm>
          <a:prstGeom prst="rect">
            <a:avLst/>
          </a:prstGeom>
          <a:noFill/>
        </p:spPr>
        <p:txBody>
          <a:bodyPr wrap="square" rtlCol="0">
            <a:noAutofit/>
          </a:bodyPr>
          <a:lstStyle/>
          <a:p>
            <a:pPr lvl="0"/>
            <a:r>
              <a:rPr lang="en-IN" sz="2800" b="1" dirty="0"/>
              <a:t>Inserting 26:</a:t>
            </a:r>
            <a:r>
              <a:rPr lang="en-IN" sz="2800" dirty="0"/>
              <a:t> </a:t>
            </a:r>
            <a:endParaRPr lang="en-IN" sz="2800" dirty="0"/>
          </a:p>
          <a:p>
            <a:r>
              <a:rPr lang="en-IN" sz="2800" dirty="0"/>
              <a:t>Global depth is 3. </a:t>
            </a:r>
            <a:endParaRPr lang="en-IN" sz="2800" dirty="0"/>
          </a:p>
          <a:p>
            <a:r>
              <a:rPr lang="en-IN" sz="2800" dirty="0"/>
              <a:t>Hence, 3 LSBs of 26(11</a:t>
            </a:r>
            <a:r>
              <a:rPr lang="en-IN" sz="2800" b="1" dirty="0"/>
              <a:t>010</a:t>
            </a:r>
            <a:r>
              <a:rPr lang="en-IN" sz="2800" dirty="0"/>
              <a:t>) </a:t>
            </a:r>
            <a:endParaRPr lang="en-IN" sz="2800" dirty="0">
              <a:latin typeface="Times New Roman" panose="02020603050405020304" pitchFamily="18" charset="0"/>
              <a:cs typeface="Times New Roman" panose="02020603050405020304" pitchFamily="18" charset="0"/>
            </a:endParaRPr>
          </a:p>
        </p:txBody>
      </p:sp>
      <p:pic>
        <p:nvPicPr>
          <p:cNvPr id="5" name="Picture 4" descr="https://media.geeksforgeeks.org/wp-content/uploads/20190803222301/hash93.png"/>
          <p:cNvPicPr/>
          <p:nvPr/>
        </p:nvPicPr>
        <p:blipFill>
          <a:blip r:embed="rId2">
            <a:extLst>
              <a:ext uri="{28A0092B-C50C-407E-A947-70E740481C1C}">
                <a14:useLocalDpi xmlns:a14="http://schemas.microsoft.com/office/drawing/2010/main" val="0"/>
              </a:ext>
            </a:extLst>
          </a:blip>
          <a:srcRect/>
          <a:stretch>
            <a:fillRect/>
          </a:stretch>
        </p:blipFill>
        <p:spPr bwMode="auto">
          <a:xfrm>
            <a:off x="4217158" y="1405719"/>
            <a:ext cx="7806521" cy="5268036"/>
          </a:xfrm>
          <a:prstGeom prst="rect">
            <a:avLst/>
          </a:prstGeom>
          <a:noFill/>
          <a:ln>
            <a:noFill/>
          </a:ln>
        </p:spPr>
      </p:pic>
      <p:sp>
        <p:nvSpPr>
          <p:cNvPr id="2" name="Rectangle 1"/>
          <p:cNvSpPr/>
          <p:nvPr/>
        </p:nvSpPr>
        <p:spPr>
          <a:xfrm>
            <a:off x="1" y="3322177"/>
            <a:ext cx="4435522" cy="2677656"/>
          </a:xfrm>
          <a:prstGeom prst="rect">
            <a:avLst/>
          </a:prstGeom>
        </p:spPr>
        <p:txBody>
          <a:bodyPr wrap="square">
            <a:spAutoFit/>
          </a:bodyPr>
          <a:lstStyle/>
          <a:p>
            <a:r>
              <a:rPr lang="en-IN" sz="2800" dirty="0"/>
              <a:t>The bucket overflows, since the </a:t>
            </a:r>
            <a:r>
              <a:rPr lang="en-IN" sz="2800" b="1" dirty="0"/>
              <a:t>local depth of bucket &lt; Global depth (2&lt;3)</a:t>
            </a:r>
            <a:r>
              <a:rPr lang="en-IN" sz="2800" dirty="0"/>
              <a:t>, directories are </a:t>
            </a:r>
            <a:r>
              <a:rPr lang="en-IN" sz="2800" b="1" dirty="0"/>
              <a:t>not doubled </a:t>
            </a:r>
            <a:r>
              <a:rPr lang="en-IN" sz="2800" dirty="0"/>
              <a:t>but, only the bucket is split and elements are rehashed. </a:t>
            </a:r>
            <a:endParaRPr lang="en-IN" sz="28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274963" y="94372"/>
            <a:ext cx="7141992"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Extendible Hashing process</a:t>
            </a:r>
            <a:endParaRPr lang="en-US" sz="3200" dirty="0"/>
          </a:p>
        </p:txBody>
      </p:sp>
      <p:pic>
        <p:nvPicPr>
          <p:cNvPr id="31"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pic>
        <p:nvPicPr>
          <p:cNvPr id="5" name="Picture 4" descr="https://media.geeksforgeeks.org/wp-content/uploads/20190803104123/hash101.png"/>
          <p:cNvPicPr/>
          <p:nvPr/>
        </p:nvPicPr>
        <p:blipFill>
          <a:blip r:embed="rId2">
            <a:extLst>
              <a:ext uri="{28A0092B-C50C-407E-A947-70E740481C1C}">
                <a14:useLocalDpi xmlns:a14="http://schemas.microsoft.com/office/drawing/2010/main" val="0"/>
              </a:ext>
            </a:extLst>
          </a:blip>
          <a:srcRect/>
          <a:stretch>
            <a:fillRect/>
          </a:stretch>
        </p:blipFill>
        <p:spPr bwMode="auto">
          <a:xfrm>
            <a:off x="3138985" y="1075234"/>
            <a:ext cx="8434317" cy="4626591"/>
          </a:xfrm>
          <a:prstGeom prst="rect">
            <a:avLst/>
          </a:prstGeom>
          <a:noFill/>
          <a:ln>
            <a:noFill/>
          </a:ln>
        </p:spPr>
      </p:pic>
      <p:sp>
        <p:nvSpPr>
          <p:cNvPr id="6" name="TextBox 5"/>
          <p:cNvSpPr txBox="1"/>
          <p:nvPr/>
        </p:nvSpPr>
        <p:spPr>
          <a:xfrm>
            <a:off x="1294689" y="5811008"/>
            <a:ext cx="9282326" cy="546536"/>
          </a:xfrm>
          <a:prstGeom prst="rect">
            <a:avLst/>
          </a:prstGeom>
          <a:noFill/>
        </p:spPr>
        <p:txBody>
          <a:bodyPr wrap="square" rtlCol="0">
            <a:noAutofit/>
          </a:bodyPr>
          <a:lstStyle/>
          <a:p>
            <a:pPr lvl="0"/>
            <a:r>
              <a:rPr lang="en-IN" sz="2800" b="1" dirty="0"/>
              <a:t>Hence, Hashing of all given 11 Numbers is Completed.</a:t>
            </a:r>
            <a:endParaRPr lang="en-IN" sz="2800" dirty="0"/>
          </a:p>
        </p:txBody>
      </p:sp>
      <p:sp>
        <p:nvSpPr>
          <p:cNvPr id="2" name="Rectangle 1"/>
          <p:cNvSpPr/>
          <p:nvPr/>
        </p:nvSpPr>
        <p:spPr>
          <a:xfrm>
            <a:off x="995362" y="1056288"/>
            <a:ext cx="4885889" cy="523220"/>
          </a:xfrm>
          <a:prstGeom prst="rect">
            <a:avLst/>
          </a:prstGeom>
        </p:spPr>
        <p:txBody>
          <a:bodyPr wrap="none">
            <a:spAutoFit/>
          </a:bodyPr>
          <a:lstStyle/>
          <a:p>
            <a:pPr lvl="0"/>
            <a:r>
              <a:rPr lang="en-IN" sz="2800" b="1" dirty="0"/>
              <a:t>After Splitting, The buckets are:</a:t>
            </a:r>
            <a:endParaRPr lang="en-IN" sz="28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274963" y="94372"/>
            <a:ext cx="7919915"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buFont typeface="Arial" panose="020B0604020202020204" pitchFamily="34" charset="0"/>
              <a:buNone/>
            </a:pPr>
            <a:r>
              <a:rPr lang="en-US" altLang="en-IN" sz="2400" b="1" dirty="0">
                <a:latin typeface="Times New Roman" panose="02020603050405020304" pitchFamily="18" charset="0"/>
                <a:cs typeface="Times New Roman" panose="02020603050405020304" pitchFamily="18" charset="0"/>
              </a:rPr>
              <a:t>Advantages &amp; Disadvantages of Extendible Hashing</a:t>
            </a:r>
            <a:endParaRPr lang="en-US" altLang="en-IN" sz="2400" b="1" dirty="0">
              <a:latin typeface="Times New Roman" panose="02020603050405020304" pitchFamily="18" charset="0"/>
              <a:cs typeface="Times New Roman" panose="02020603050405020304" pitchFamily="18" charset="0"/>
            </a:endParaRPr>
          </a:p>
        </p:txBody>
      </p:sp>
      <p:pic>
        <p:nvPicPr>
          <p:cNvPr id="31"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17" name="TextBox 16"/>
          <p:cNvSpPr txBox="1"/>
          <p:nvPr/>
        </p:nvSpPr>
        <p:spPr>
          <a:xfrm>
            <a:off x="365125" y="941070"/>
            <a:ext cx="11371950" cy="5487026"/>
          </a:xfrm>
          <a:prstGeom prst="rect">
            <a:avLst/>
          </a:prstGeom>
          <a:noFill/>
        </p:spPr>
        <p:txBody>
          <a:bodyPr wrap="square" rtlCol="0">
            <a:noAutofit/>
          </a:bodyPr>
          <a:lstStyle/>
          <a:p>
            <a:pPr indent="0">
              <a:buFont typeface="Arial" panose="020B0604020202020204" pitchFamily="34" charset="0"/>
              <a:buNone/>
            </a:pPr>
            <a:r>
              <a:rPr lang="en-US" altLang="en-IN" sz="2400" b="1" dirty="0">
                <a:latin typeface="Times New Roman" panose="02020603050405020304" pitchFamily="18" charset="0"/>
                <a:cs typeface="Times New Roman" panose="02020603050405020304" pitchFamily="18" charset="0"/>
              </a:rPr>
              <a:t>Advantages of Extendible Hashing</a:t>
            </a:r>
            <a:endParaRPr lang="en-US" altLang="en-IN"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IN" sz="2400" dirty="0">
                <a:latin typeface="Times New Roman" panose="02020603050405020304" pitchFamily="18" charset="0"/>
                <a:cs typeface="Times New Roman" panose="02020603050405020304" pitchFamily="18" charset="0"/>
              </a:rPr>
              <a:t>Data retrieval is less expensive (in terms of computing).</a:t>
            </a:r>
            <a:endParaRPr lang="en-US" altLang="en-IN"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dirty="0"/>
              <a:t>No problem of Data-loss since the storage capacity increases dynamically.</a:t>
            </a:r>
            <a:endParaRPr lang="en-IN" sz="2400" dirty="0"/>
          </a:p>
          <a:p>
            <a:r>
              <a:rPr lang="en-IN" sz="2400" dirty="0"/>
              <a:t>     With dynamic changes in hashing function, associated old values are rehashed w.r.t</a:t>
            </a:r>
            <a:endParaRPr lang="en-IN" sz="2400" dirty="0"/>
          </a:p>
          <a:p>
            <a:r>
              <a:rPr lang="en-IN" sz="2400" dirty="0"/>
              <a:t>      the new hash function</a:t>
            </a:r>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r>
              <a:rPr lang="en-US" altLang="en-IN" sz="2400" b="1" dirty="0">
                <a:latin typeface="Times New Roman" panose="02020603050405020304" pitchFamily="18" charset="0"/>
                <a:cs typeface="Times New Roman" panose="02020603050405020304" pitchFamily="18" charset="0"/>
              </a:rPr>
              <a:t>Disadvantages of Extendible Hashing</a:t>
            </a:r>
            <a:endParaRPr lang="en-US" altLang="en-IN"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IN" sz="2400" dirty="0">
                <a:latin typeface="Times New Roman" panose="02020603050405020304" pitchFamily="18" charset="0"/>
                <a:cs typeface="Times New Roman" panose="02020603050405020304" pitchFamily="18" charset="0"/>
              </a:rPr>
              <a:t>Increased algorithm complexity</a:t>
            </a:r>
            <a:endParaRPr lang="en-US" alt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IN" sz="2400" dirty="0">
                <a:latin typeface="Times New Roman" panose="02020603050405020304" pitchFamily="18" charset="0"/>
                <a:cs typeface="Times New Roman" panose="02020603050405020304" pitchFamily="18" charset="0"/>
              </a:rPr>
              <a:t>Extra memory overhead to store index inside the bucket.</a:t>
            </a:r>
            <a:endParaRPr lang="en-US" altLang="en-IN"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dirty="0"/>
              <a:t>Memory is wasted in pointers when the global depth and local depth difference becomes drastic.</a:t>
            </a:r>
            <a:endParaRPr lang="en-IN" sz="2400" dirty="0"/>
          </a:p>
          <a:p>
            <a:pPr marL="342900" lvl="0" indent="-342900">
              <a:buFont typeface="Arial" panose="020B0604020202020204" pitchFamily="34" charset="0"/>
              <a:buChar char="•"/>
            </a:pPr>
            <a:r>
              <a:rPr lang="en-IN" sz="2400" dirty="0"/>
              <a:t>This method is complicated to code.</a:t>
            </a:r>
            <a:endParaRPr lang="en-IN" sz="2400" dirty="0"/>
          </a:p>
          <a:p>
            <a:pPr marL="342900" indent="-342900">
              <a:buFont typeface="Arial" panose="020B0604020202020204" pitchFamily="34" charset="0"/>
              <a:buChar char="•"/>
            </a:pPr>
            <a:endParaRPr lang="en-IN" sz="2400" b="1"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Practice Problem</a:t>
            </a:r>
            <a:endParaRPr lang="en-US" sz="2800" b="1" dirty="0"/>
          </a:p>
        </p:txBody>
      </p:sp>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pic>
        <p:nvPicPr>
          <p:cNvPr id="6" name="Picture 5" descr="A diagram of numbers and lines&#10;&#10;Description automatically generated"/>
          <p:cNvPicPr>
            <a:picLocks noChangeAspect="1"/>
          </p:cNvPicPr>
          <p:nvPr/>
        </p:nvPicPr>
        <p:blipFill>
          <a:blip r:embed="rId2"/>
          <a:stretch>
            <a:fillRect/>
          </a:stretch>
        </p:blipFill>
        <p:spPr>
          <a:xfrm>
            <a:off x="2037654" y="3111690"/>
            <a:ext cx="7079050" cy="3507474"/>
          </a:xfrm>
          <a:prstGeom prst="rect">
            <a:avLst/>
          </a:prstGeom>
        </p:spPr>
      </p:pic>
      <p:sp>
        <p:nvSpPr>
          <p:cNvPr id="11" name="Content Placeholder 10"/>
          <p:cNvSpPr>
            <a:spLocks noGrp="1"/>
          </p:cNvSpPr>
          <p:nvPr>
            <p:ph/>
          </p:nvPr>
        </p:nvSpPr>
        <p:spPr>
          <a:xfrm>
            <a:off x="163773" y="887104"/>
            <a:ext cx="11614245" cy="5622878"/>
          </a:xfrm>
        </p:spPr>
        <p:txBody>
          <a:bodyPr lIns="91440" tIns="45720" rIns="91440" bIns="45720" anchor="t"/>
          <a:lstStyle/>
          <a:p>
            <a:pPr algn="just"/>
            <a:r>
              <a:rPr lang="en-US" sz="2400" dirty="0">
                <a:latin typeface="Times New Roman" panose="02020603050405020304"/>
                <a:cs typeface="Times New Roman" panose="02020603050405020304"/>
              </a:rPr>
              <a:t>Consider an extendible hashing structure that, each bucket can hold up to 2 records. Is initially empty (only one empty bucket). Consider the result after inserting keys 8, 16, 4, 3, 11, 12 in order, using the lowest bits for the hash function. That is records in a bucket of local depth d agree on their rightmost d bits. For example, key 4 (0100) and key 12(1100) agree on their rightmost 3 bits (100). What is the global depth of the resulting directory? Now insert key 18. What is the local depth of the bucket that contains key 18?</a:t>
            </a:r>
            <a:endParaRPr lang="en-US" dirty="0">
              <a:latin typeface="Calibri" panose="020F0502020204030204"/>
              <a:cs typeface="Calibri" panose="020F0502020204030204"/>
            </a:endParaRPr>
          </a:p>
          <a:p>
            <a:pPr marL="0" indent="0">
              <a:buNone/>
            </a:pPr>
            <a:endParaRPr lang="en-US" sz="2400" dirty="0">
              <a:latin typeface="Times New Roman" panose="02020603050405020304"/>
              <a:cs typeface="Times New Roman" panose="02020603050405020304"/>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9307" y="1009934"/>
            <a:ext cx="11696132" cy="5087971"/>
          </a:xfrm>
        </p:spPr>
        <p:txBody>
          <a:bodyPr/>
          <a:lstStyle/>
          <a:p>
            <a:pPr marL="0" indent="0">
              <a:buNone/>
            </a:pPr>
            <a:r>
              <a:rPr lang="en-US" sz="2400" b="1" dirty="0">
                <a:latin typeface="Times New Roman" panose="02020603050405020304" pitchFamily="18" charset="0"/>
                <a:cs typeface="Times New Roman" panose="02020603050405020304" pitchFamily="18" charset="0"/>
              </a:rPr>
              <a:t>Applications of Extendible Hashing</a:t>
            </a:r>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All modern file systems use extendible hashing.</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mn-ea"/>
              </a:rPr>
              <a:t>Extendible hashing is widely used in database systems and applications requiring dynamic and scalable indexing.</a:t>
            </a:r>
            <a:endParaRPr lang="en-IN"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endParaRPr lang="en-IN" sz="2400" b="1" dirty="0">
              <a:latin typeface="Times New Roman" panose="02020603050405020304" pitchFamily="18" charset="0"/>
              <a:cs typeface="Times New Roman" panose="02020603050405020304" pitchFamily="18" charset="0"/>
              <a:sym typeface="+mn-ea"/>
            </a:endParaRPr>
          </a:p>
          <a:p>
            <a:endParaRPr lang="en-US" sz="2400" dirty="0">
              <a:latin typeface="Times New Roman" panose="02020603050405020304" pitchFamily="18" charset="0"/>
              <a:cs typeface="Times New Roman" panose="02020603050405020304" pitchFamily="18" charset="0"/>
            </a:endParaRPr>
          </a:p>
        </p:txBody>
      </p:sp>
      <p:sp>
        <p:nvSpPr>
          <p:cNvPr id="4" name="Rounded Rectangle 17"/>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IMPORTANT FACTS RELATED TO THE SESSION</a:t>
            </a:r>
            <a:endParaRPr 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SUMMARY</a:t>
            </a:r>
            <a:endParaRPr lang="en-US" sz="2400" b="1" dirty="0"/>
          </a:p>
        </p:txBody>
      </p:sp>
      <p:pic>
        <p:nvPicPr>
          <p:cNvPr id="17"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18" name="TextBox 17"/>
          <p:cNvSpPr txBox="1"/>
          <p:nvPr/>
        </p:nvSpPr>
        <p:spPr>
          <a:xfrm>
            <a:off x="0" y="848264"/>
            <a:ext cx="11805313" cy="4154170"/>
          </a:xfrm>
          <a:prstGeom prst="rect">
            <a:avLst/>
          </a:prstGeom>
          <a:noFill/>
        </p:spPr>
        <p:txBody>
          <a:bodyPr wrap="square" rtlCol="0">
            <a:spAutoFit/>
          </a:bodyPr>
          <a:lstStyle/>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sym typeface="+mn-ea"/>
              </a:rPr>
              <a:t>Extendible Hashing</a:t>
            </a:r>
            <a:r>
              <a:rPr lang="en-US" sz="2400" dirty="0">
                <a:latin typeface="Times New Roman" panose="02020603050405020304" pitchFamily="18" charset="0"/>
                <a:cs typeface="Times New Roman" panose="02020603050405020304" pitchFamily="18" charset="0"/>
                <a:sym typeface="+mn-ea"/>
              </a:rPr>
              <a:t> is a dynamic hashing method wherein directories, and buckets are used to hash data. It is an aggressively flexible method in which the hash function also experiences dynamic changes. </a:t>
            </a:r>
            <a:endParaRPr lang="en-US" sz="2400" dirty="0">
              <a:latin typeface="Times New Roman" panose="02020603050405020304" pitchFamily="18" charset="0"/>
              <a:cs typeface="Times New Roman" panose="02020603050405020304" pitchFamily="18" charset="0"/>
              <a:sym typeface="+mn-ea"/>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sym typeface="+mn-ea"/>
              </a:rPr>
              <a:t>Number of Directories = 2^Global Depth.</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Extendible hashing is a dynamic hashing technique used in data structures to manage growing datasets efficiently. </a:t>
            </a: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uses a directory of pointers to buckets, allowing the hash table to grow or shrink dynamically without extensive reorganization. Hash values are represented as binary bits, and only a prefix of these bits is used to index the directory, which expands as needed to resolve collisions. </a:t>
            </a: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SELF-ASSESSMENT QUESTIONS</a:t>
            </a:r>
            <a:endParaRPr lang="en-US" sz="2400"/>
          </a:p>
        </p:txBody>
      </p:sp>
      <p:sp>
        <p:nvSpPr>
          <p:cNvPr id="13" name="Google Shape;502;p17"/>
          <p:cNvSpPr/>
          <p:nvPr/>
        </p:nvSpPr>
        <p:spPr>
          <a:xfrm>
            <a:off x="995362" y="289229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US" altLang="en-IN" sz="2400" dirty="0">
                <a:sym typeface="+mn-ea"/>
              </a:rPr>
              <a:t>2.</a:t>
            </a:r>
            <a:r>
              <a:rPr lang="en-IN" sz="2400" dirty="0">
                <a:sym typeface="+mn-ea"/>
              </a:rPr>
              <a:t> In extendible hashing ___________ is used in the directory</a:t>
            </a:r>
            <a:endParaRPr lang="en-IN" sz="2400" dirty="0"/>
          </a:p>
        </p:txBody>
      </p:sp>
      <p:sp>
        <p:nvSpPr>
          <p:cNvPr id="14" name="Rounded Rectangle 17"/>
          <p:cNvSpPr/>
          <p:nvPr/>
        </p:nvSpPr>
        <p:spPr>
          <a:xfrm>
            <a:off x="1009895" y="4004045"/>
            <a:ext cx="9976553" cy="469900"/>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a:p>
            <a:r>
              <a:rPr lang="en-IN" dirty="0"/>
              <a:t>a) Global depth     		 b) Local depth 		c) Load factor       	 d) All the above.</a:t>
            </a:r>
            <a:endParaRPr lang="en-IN" dirty="0"/>
          </a:p>
        </p:txBody>
      </p:sp>
      <p:pic>
        <p:nvPicPr>
          <p:cNvPr id="8"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3" name="Google Shape;502;p17"/>
          <p:cNvSpPr/>
          <p:nvPr/>
        </p:nvSpPr>
        <p:spPr>
          <a:xfrm>
            <a:off x="1009895" y="89426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IN" sz="2400" dirty="0"/>
              <a:t>1. Rehashing is also called as . . . . . .</a:t>
            </a:r>
            <a:endParaRPr lang="en-IN" sz="2400" dirty="0"/>
          </a:p>
        </p:txBody>
      </p:sp>
      <p:sp>
        <p:nvSpPr>
          <p:cNvPr id="5" name="Rounded Rectangle 17"/>
          <p:cNvSpPr/>
          <p:nvPr/>
        </p:nvSpPr>
        <p:spPr>
          <a:xfrm>
            <a:off x="1376679" y="1744345"/>
            <a:ext cx="9805425" cy="562127"/>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A. Internal hashing   	B. External hashing       </a:t>
            </a:r>
            <a:r>
              <a:rPr lang="en-IN" b="1" dirty="0"/>
              <a:t>C. Extendible hashing</a:t>
            </a:r>
            <a:r>
              <a:rPr lang="en-IN" dirty="0"/>
              <a:t> 	D. Uniform hashing</a:t>
            </a:r>
            <a:endParaRPr lang="en-IN" dirty="0"/>
          </a:p>
        </p:txBody>
      </p:sp>
      <p:sp>
        <p:nvSpPr>
          <p:cNvPr id="9" name="Google Shape;502;p17"/>
          <p:cNvSpPr/>
          <p:nvPr/>
        </p:nvSpPr>
        <p:spPr>
          <a:xfrm>
            <a:off x="1009895" y="492933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US" altLang="en-IN" sz="2400" dirty="0">
                <a:sym typeface="+mn-ea"/>
              </a:rPr>
              <a:t>2.</a:t>
            </a:r>
            <a:r>
              <a:rPr lang="en-IN" sz="2400" dirty="0">
                <a:sym typeface="+mn-ea"/>
              </a:rPr>
              <a:t> In extendible hashing  what is the initial values for local depth and global depth?</a:t>
            </a:r>
            <a:endParaRPr lang="en-IN" sz="2400" dirty="0"/>
          </a:p>
        </p:txBody>
      </p:sp>
      <p:sp>
        <p:nvSpPr>
          <p:cNvPr id="10" name="Rounded Rectangle 17"/>
          <p:cNvSpPr/>
          <p:nvPr/>
        </p:nvSpPr>
        <p:spPr>
          <a:xfrm>
            <a:off x="995362" y="5998893"/>
            <a:ext cx="8292465" cy="469900"/>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a:p>
            <a:r>
              <a:rPr lang="en-IN" dirty="0"/>
              <a:t>a) 0   0     b) 1  1 	c) 2   2        d) 3   3</a:t>
            </a:r>
            <a:endParaRPr lang="en-IN"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up)">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3" grpId="0" animBg="1"/>
      <p:bldP spid="14" grpId="0" bldLvl="0" animBg="1"/>
      <p:bldP spid="3" grpId="0" bldLvl="0" animBg="1"/>
      <p:bldP spid="5" grpId="0" bldLvl="0" animBg="1"/>
      <p:bldP spid="9" grpId="0" animBg="1"/>
      <p:bldP spid="10"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TERMINAL QUESTIONS</a:t>
            </a:r>
            <a:endParaRPr lang="en-US" sz="2400"/>
          </a:p>
        </p:txBody>
      </p:sp>
      <p:sp>
        <p:nvSpPr>
          <p:cNvPr id="9" name="TextBox 8"/>
          <p:cNvSpPr txBox="1"/>
          <p:nvPr/>
        </p:nvSpPr>
        <p:spPr>
          <a:xfrm>
            <a:off x="368490" y="1167765"/>
            <a:ext cx="11586949" cy="4893647"/>
          </a:xfrm>
          <a:prstGeom prst="rect">
            <a:avLst/>
          </a:prstGeom>
          <a:noFill/>
        </p:spPr>
        <p:txBody>
          <a:bodyPr wrap="square" lIns="91440" tIns="45720" rIns="91440" bIns="45720" rtlCol="0" anchor="t">
            <a:spAutoFit/>
          </a:bodyPr>
          <a:lstStyle/>
          <a:p>
            <a:pPr>
              <a:lnSpc>
                <a:spcPct val="200000"/>
              </a:lnSpc>
            </a:pPr>
            <a:r>
              <a:rPr lang="en-US" sz="2400" dirty="0"/>
              <a:t>1. Mention the condition that </a:t>
            </a:r>
            <a:r>
              <a:rPr lang="en-US" sz="2400" dirty="0" err="1"/>
              <a:t>demmands</a:t>
            </a:r>
            <a:r>
              <a:rPr lang="en-US" sz="2400" dirty="0"/>
              <a:t> the bucket splitting in the extendible hashing?</a:t>
            </a:r>
            <a:endParaRPr lang="en-US" sz="2400" dirty="0"/>
          </a:p>
          <a:p>
            <a:pPr>
              <a:lnSpc>
                <a:spcPct val="200000"/>
              </a:lnSpc>
            </a:pPr>
            <a:r>
              <a:rPr lang="en-US" sz="2400" dirty="0"/>
              <a:t>2. When is rehashing  done?</a:t>
            </a:r>
            <a:endParaRPr lang="en-US" sz="2400" dirty="0">
              <a:cs typeface="Calibri" panose="020F0502020204030204"/>
            </a:endParaRPr>
          </a:p>
          <a:p>
            <a:pPr>
              <a:lnSpc>
                <a:spcPct val="200000"/>
              </a:lnSpc>
            </a:pPr>
            <a:r>
              <a:rPr lang="en-US" sz="2400" dirty="0"/>
              <a:t>3. What is local depth, global depth?</a:t>
            </a:r>
            <a:endParaRPr lang="en-US" sz="2400" dirty="0">
              <a:cs typeface="Calibri" panose="020F0502020204030204"/>
            </a:endParaRPr>
          </a:p>
          <a:p>
            <a:pPr>
              <a:lnSpc>
                <a:spcPct val="200000"/>
              </a:lnSpc>
            </a:pPr>
            <a:r>
              <a:rPr lang="en-US" sz="2400" dirty="0"/>
              <a:t>4. What is the purpose of Directory and Bucket in the extendible hashing?</a:t>
            </a:r>
            <a:endParaRPr lang="en-US" sz="2400" dirty="0"/>
          </a:p>
          <a:p>
            <a:pPr>
              <a:lnSpc>
                <a:spcPct val="200000"/>
              </a:lnSpc>
            </a:pPr>
            <a:r>
              <a:rPr lang="en-US" sz="2400" dirty="0"/>
              <a:t>5. List out the applications of extendible hashing?</a:t>
            </a:r>
            <a:endParaRPr lang="en-US" sz="2400" dirty="0"/>
          </a:p>
          <a:p>
            <a:pPr>
              <a:lnSpc>
                <a:spcPct val="200000"/>
              </a:lnSpc>
            </a:pPr>
            <a:endParaRPr lang="en-US" b="1" dirty="0"/>
          </a:p>
          <a:p>
            <a:pPr>
              <a:lnSpc>
                <a:spcPct val="200000"/>
              </a:lnSpc>
            </a:pPr>
            <a:endParaRPr lang="en-US" b="1" dirty="0"/>
          </a:p>
        </p:txBody>
      </p:sp>
      <p:pic>
        <p:nvPicPr>
          <p:cNvPr id="10"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REFERENCES FOR FURTHER LEARNING OF THE SESSION</a:t>
            </a:r>
            <a:endParaRPr lang="en-US" sz="240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259308" y="1013239"/>
            <a:ext cx="11832608" cy="5155257"/>
          </a:xfrm>
          <a:prstGeom prst="rect">
            <a:avLst/>
          </a:prstGeom>
          <a:noFill/>
        </p:spPr>
        <p:txBody>
          <a:bodyPr wrap="square" rtlCol="0">
            <a:spAutoFit/>
          </a:bodyPr>
          <a:lstStyle/>
          <a:p>
            <a:pPr>
              <a:lnSpc>
                <a:spcPct val="150000"/>
              </a:lnSpc>
            </a:pPr>
            <a:r>
              <a:rPr lang="en-US" sz="2800" b="1" dirty="0"/>
              <a:t>Reference Books:</a:t>
            </a:r>
            <a:endParaRPr lang="en-US" sz="2800" dirty="0"/>
          </a:p>
          <a:p>
            <a:pPr marL="342900" lvl="1" indent="-342900">
              <a:lnSpc>
                <a:spcPct val="150000"/>
              </a:lnSpc>
              <a:buAutoNum type="arabicPeriod"/>
            </a:pPr>
            <a:r>
              <a:rPr lang="en-US" sz="2000" dirty="0"/>
              <a:t>Mark Allen Weiss, Data Structures and Algorithm Analysis in C, 2010 , Second Edition, </a:t>
            </a:r>
            <a:r>
              <a:rPr lang="en-US" sz="2000" dirty="0" err="1"/>
              <a:t>PearsonEducation</a:t>
            </a:r>
            <a:r>
              <a:rPr lang="en-US" sz="2000" dirty="0"/>
              <a:t>.</a:t>
            </a:r>
            <a:endParaRPr lang="en-IN" sz="2800" dirty="0"/>
          </a:p>
          <a:p>
            <a:pPr marL="342900" lvl="1" indent="-342900">
              <a:lnSpc>
                <a:spcPct val="150000"/>
              </a:lnSpc>
              <a:buAutoNum type="arabicPeriod"/>
            </a:pPr>
            <a:r>
              <a:rPr lang="en-US" sz="2000" dirty="0"/>
              <a:t>Ellis Horowitz, Fundamentals of Data Structures in C: Second Edition, 2015</a:t>
            </a:r>
            <a:endParaRPr lang="en-US" sz="2000" dirty="0"/>
          </a:p>
          <a:p>
            <a:pPr marL="342900" lvl="1" indent="-342900">
              <a:lnSpc>
                <a:spcPct val="150000"/>
              </a:lnSpc>
              <a:buAutoNum type="arabicPeriod"/>
            </a:pPr>
            <a:r>
              <a:rPr lang="en-US" sz="2000" dirty="0" err="1"/>
              <a:t>A.V.Aho</a:t>
            </a:r>
            <a:r>
              <a:rPr lang="en-US" sz="2000" dirty="0"/>
              <a:t>, J. E. </a:t>
            </a:r>
            <a:r>
              <a:rPr lang="en-US" sz="2000" dirty="0" err="1"/>
              <a:t>Hopcroft</a:t>
            </a:r>
            <a:r>
              <a:rPr lang="en-US" sz="2000" dirty="0"/>
              <a:t>, and J. D. Ullman, “Data Structures And Algorithms”, Pearson Education, First Edition Reprint2003.</a:t>
            </a:r>
            <a:endParaRPr lang="en-IN" sz="2000" dirty="0"/>
          </a:p>
          <a:p>
            <a:pPr>
              <a:lnSpc>
                <a:spcPct val="150000"/>
              </a:lnSpc>
            </a:pPr>
            <a:endParaRPr lang="en-US" sz="2000" b="1" dirty="0"/>
          </a:p>
          <a:p>
            <a:pPr>
              <a:lnSpc>
                <a:spcPct val="150000"/>
              </a:lnSpc>
            </a:pPr>
            <a:r>
              <a:rPr lang="en-US" sz="2800" b="1" dirty="0"/>
              <a:t>Sites and Web links:</a:t>
            </a:r>
            <a:endParaRPr lang="en-US" sz="2800" b="1" dirty="0"/>
          </a:p>
          <a:p>
            <a:pPr lvl="0">
              <a:lnSpc>
                <a:spcPct val="150000"/>
              </a:lnSpc>
            </a:pPr>
            <a:r>
              <a:rPr lang="en-US" sz="2000" dirty="0"/>
              <a:t>1. </a:t>
            </a:r>
            <a:r>
              <a:rPr lang="en-US" sz="2000" dirty="0">
                <a:hlinkClick r:id="rId1"/>
              </a:rPr>
              <a:t>https://nptel.ac.in/courses/106102064</a:t>
            </a:r>
            <a:endParaRPr lang="en-IN" sz="2000" dirty="0"/>
          </a:p>
          <a:p>
            <a:pPr lvl="0"/>
            <a:r>
              <a:rPr lang="en-US" sz="2000" dirty="0">
                <a:hlinkClick r:id="rId2"/>
              </a:rPr>
              <a:t>2. https://in.udacity.com/course/intro-to-algorithms--cs215</a:t>
            </a:r>
            <a:endParaRPr lang="en-IN" sz="2000" dirty="0"/>
          </a:p>
          <a:p>
            <a:pPr lvl="0"/>
            <a:r>
              <a:rPr lang="en-US" sz="2000" dirty="0"/>
              <a:t>3. </a:t>
            </a:r>
            <a:r>
              <a:rPr lang="en-US" sz="2000" dirty="0">
                <a:hlinkClick r:id="rId3"/>
              </a:rPr>
              <a:t>https://www.coursera.org/learn/data-structures?action=enroll</a:t>
            </a:r>
            <a:endParaRPr lang="en-US" sz="2000" dirty="0"/>
          </a:p>
          <a:p>
            <a:pPr>
              <a:lnSpc>
                <a:spcPct val="150000"/>
              </a:lnSpc>
            </a:pPr>
            <a:endParaRPr lang="en-US" dirty="0"/>
          </a:p>
        </p:txBody>
      </p:sp>
      <p:pic>
        <p:nvPicPr>
          <p:cNvPr id="5" name="Picture 2" descr="KL Deemed to be University Logo"/>
          <p:cNvPicPr>
            <a:picLocks noChangeAspect="1" noChangeArrowheads="1"/>
          </p:cNvPicPr>
          <p:nvPr/>
        </p:nvPicPr>
        <p:blipFill>
          <a:blip r:embed="rId4"/>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Poppins" pitchFamily="2" charset="77"/>
              <a:cs typeface="Poppins" pitchFamily="2" charset="77"/>
            </a:endParaRPr>
          </a:p>
          <a:p>
            <a:pPr algn="ctr"/>
            <a:endParaRPr lang="en-US" sz="2400" b="1">
              <a:latin typeface="Poppins" pitchFamily="2" charset="77"/>
              <a:cs typeface="Poppins" pitchFamily="2" charset="77"/>
            </a:endParaRPr>
          </a:p>
          <a:p>
            <a:pPr algn="ctr"/>
            <a:r>
              <a:rPr lang="en-US" sz="3200" b="1">
                <a:latin typeface="Poppins" pitchFamily="2" charset="77"/>
                <a:cs typeface="Poppins" pitchFamily="2" charset="77"/>
              </a:rPr>
              <a:t>THANK YOU</a:t>
            </a:r>
            <a:endParaRPr lang="en-US" sz="3200" b="1">
              <a:latin typeface="Poppins" pitchFamily="2" charset="77"/>
              <a:cs typeface="Poppins" pitchFamily="2" charset="77"/>
            </a:endParaRPr>
          </a:p>
          <a:p>
            <a:pPr algn="ctr"/>
            <a:endParaRPr lang="en-US" sz="2400">
              <a:latin typeface="Poppins" pitchFamily="2" charset="77"/>
              <a:cs typeface="Poppins" pitchFamily="2" charset="77"/>
            </a:endParaRPr>
          </a:p>
          <a:p>
            <a:pPr algn="ctr"/>
            <a:endParaRPr lang="en-US" sz="2400">
              <a:latin typeface="Poppins" pitchFamily="2" charset="77"/>
              <a:cs typeface="Poppins" pitchFamily="2" charset="77"/>
            </a:endParaRPr>
          </a:p>
          <a:p>
            <a:pPr algn="ctr"/>
            <a:endParaRPr lang="en-US" sz="2400">
              <a:latin typeface="Poppins" pitchFamily="2" charset="77"/>
              <a:cs typeface="Poppins" pitchFamily="2" charset="77"/>
            </a:endParaRPr>
          </a:p>
          <a:p>
            <a:pPr algn="ctr"/>
            <a:endParaRPr lang="en-US" sz="2400">
              <a:latin typeface="Poppins" pitchFamily="2" charset="77"/>
              <a:cs typeface="Poppins" pitchFamily="2" charset="77"/>
            </a:endParaRPr>
          </a:p>
          <a:p>
            <a:pPr algn="ctr"/>
            <a:r>
              <a:rPr lang="en-US" sz="3600" b="1">
                <a:latin typeface="Poppins" pitchFamily="2" charset="77"/>
                <a:cs typeface="Poppins" pitchFamily="2" charset="77"/>
              </a:rPr>
              <a:t>Team – Data </a:t>
            </a:r>
            <a:r>
              <a:rPr lang="en-US" sz="3600" b="1" err="1">
                <a:latin typeface="Poppins" pitchFamily="2" charset="77"/>
                <a:cs typeface="Poppins" pitchFamily="2" charset="77"/>
              </a:rPr>
              <a:t>Sructures</a:t>
            </a:r>
            <a:endParaRPr lang="en-US" sz="3600" b="1">
              <a:latin typeface="Poppins" pitchFamily="2" charset="77"/>
              <a:cs typeface="Poppins" pitchFamily="2" charset="77"/>
            </a:endParaRPr>
          </a:p>
          <a:p>
            <a:pPr algn="ctr"/>
            <a:endParaRPr lang="en-US" sz="2400">
              <a:solidFill>
                <a:schemeClr val="bg1"/>
              </a:solidFill>
              <a:latin typeface="Poppins" pitchFamily="2" charset="77"/>
              <a:cs typeface="Poppins" pitchFamily="2" charset="77"/>
            </a:endParaRPr>
          </a:p>
          <a:p>
            <a:pPr algn="ctr"/>
            <a:endParaRPr lang="en-US" sz="2400">
              <a:solidFill>
                <a:schemeClr val="bg1"/>
              </a:solidFill>
              <a:latin typeface="Poppins" pitchFamily="2" charset="77"/>
              <a:cs typeface="Poppins" pitchFamily="2" charset="77"/>
            </a:endParaRPr>
          </a:p>
          <a:p>
            <a:pPr algn="ctr"/>
            <a:endParaRPr lang="en-US" sz="240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1"/>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9A6ECA-0C1B-4F00-836D-A696F073E5C2}">
  <ds:schemaRefs/>
</ds:datastoreItem>
</file>

<file path=customXml/itemProps2.xml><?xml version="1.0" encoding="utf-8"?>
<ds:datastoreItem xmlns:ds="http://schemas.openxmlformats.org/officeDocument/2006/customXml" ds:itemID="{EBBD0A98-E68B-4DAA-8964-2F739D6D4075}">
  <ds:schemaRefs/>
</ds:datastoreItem>
</file>

<file path=customXml/itemProps3.xml><?xml version="1.0" encoding="utf-8"?>
<ds:datastoreItem xmlns:ds="http://schemas.openxmlformats.org/officeDocument/2006/customXml" ds:itemID="{3DA00F5F-5366-4B1C-9406-30DECA796ABB}">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7187</Words>
  <Application>WPS Presentation</Application>
  <PresentationFormat>Widescreen</PresentationFormat>
  <Paragraphs>250</Paragraphs>
  <Slides>21</Slides>
  <Notes>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21</vt:i4>
      </vt:variant>
    </vt:vector>
  </HeadingPairs>
  <TitlesOfParts>
    <vt:vector size="38" baseType="lpstr">
      <vt:lpstr>Arial</vt:lpstr>
      <vt:lpstr>SimSun</vt:lpstr>
      <vt:lpstr>Wingdings</vt:lpstr>
      <vt:lpstr>Arial</vt:lpstr>
      <vt:lpstr>Calibri</vt:lpstr>
      <vt:lpstr>Poppins</vt:lpstr>
      <vt:lpstr>Segoe Print</vt:lpstr>
      <vt:lpstr>BioRhyme ExtraBold</vt:lpstr>
      <vt:lpstr>Poppins</vt:lpstr>
      <vt:lpstr>Poppins</vt:lpstr>
      <vt:lpstr>Times New Roman</vt:lpstr>
      <vt:lpstr>Times New Roman</vt:lpstr>
      <vt:lpstr>Microsoft YaHei</vt:lpstr>
      <vt:lpstr>Arial Unicode MS</vt:lpstr>
      <vt:lpstr>Calibri</vt:lpstr>
      <vt:lpstr>Calibri Light</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Anusha M</cp:lastModifiedBy>
  <cp:revision>68</cp:revision>
  <dcterms:created xsi:type="dcterms:W3CDTF">2020-02-08T09:57:00Z</dcterms:created>
  <dcterms:modified xsi:type="dcterms:W3CDTF">2024-12-18T08:50:25Z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y fmtid="{D5CDD505-2E9C-101B-9397-08002B2CF9AE}" pid="3" name="ICV">
    <vt:lpwstr>B97D0473DA824DF39DBDDCEED76D15C4_13</vt:lpwstr>
  </property>
  <property fmtid="{D5CDD505-2E9C-101B-9397-08002B2CF9AE}" pid="4" name="KSOProductBuildVer">
    <vt:lpwstr>1033-12.2.0.19307</vt:lpwstr>
  </property>
</Properties>
</file>