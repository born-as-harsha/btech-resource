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notesMasterIdLst>
    <p:notesMasterId r:id="rId17"/>
  </p:notesMasterIdLst>
  <p:sldIdLst>
    <p:sldId id="271" r:id="rId4"/>
    <p:sldId id="300" r:id="rId5"/>
    <p:sldId id="258" r:id="rId6"/>
    <p:sldId id="312" r:id="rId7"/>
    <p:sldId id="288" r:id="rId8"/>
    <p:sldId id="290" r:id="rId9"/>
    <p:sldId id="305" r:id="rId10"/>
    <p:sldId id="313" r:id="rId11"/>
    <p:sldId id="301" r:id="rId12"/>
    <p:sldId id="314" r:id="rId13"/>
    <p:sldId id="302" r:id="rId14"/>
    <p:sldId id="303" r:id="rId15"/>
    <p:sldId id="304"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E84845"/>
    <a:srgbClr val="FAD2D2"/>
    <a:srgbClr val="F89E4C"/>
    <a:srgbClr val="A81E24"/>
    <a:srgbClr val="FFF2CC"/>
    <a:srgbClr val="CF2F33"/>
    <a:srgbClr val="BA25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57" d="100"/>
          <a:sy n="57" d="100"/>
        </p:scale>
        <p:origin x="924"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360345-2D64-19F8-25DB-7183C3EA92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AAD66110-A4B2-74E1-4D7F-ECF1C98F148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65A2F57-A065-4D65-B4D8-19D3E60C58EF}" type="datetimeFigureOut">
              <a:rPr lang="en-US"/>
              <a:pPr>
                <a:defRPr/>
              </a:pPr>
              <a:t>12/16/2024</a:t>
            </a:fld>
            <a:endParaRPr lang="en-US"/>
          </a:p>
        </p:txBody>
      </p:sp>
      <p:sp>
        <p:nvSpPr>
          <p:cNvPr id="4" name="Slide Image Placeholder 3">
            <a:extLst>
              <a:ext uri="{FF2B5EF4-FFF2-40B4-BE49-F238E27FC236}">
                <a16:creationId xmlns:a16="http://schemas.microsoft.com/office/drawing/2014/main" id="{19360030-F204-DBEA-C78D-2F62983E8BE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B78F348-3050-018B-075E-05D88A26D89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6791BB0E-977C-D393-EC84-80329D6245C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5E9045C9-F4F9-3463-4858-E85C8B855BA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E607F20F-42EA-4F08-B090-7B16DF456CF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Google Shape;461;p16:notes">
            <a:extLst>
              <a:ext uri="{FF2B5EF4-FFF2-40B4-BE49-F238E27FC236}">
                <a16:creationId xmlns:a16="http://schemas.microsoft.com/office/drawing/2014/main" id="{C69A12DC-EABA-B9F4-B556-40CD242AD88E}"/>
              </a:ext>
            </a:extLst>
          </p:cNvPr>
          <p:cNvSpPr>
            <a:spLocks noGrp="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eaLnBrk="1" hangingPunct="1">
              <a:spcBef>
                <a:spcPct val="0"/>
              </a:spcBef>
            </a:pPr>
            <a:endParaRPr lang="en-US" altLang="en-US"/>
          </a:p>
        </p:txBody>
      </p:sp>
      <p:sp>
        <p:nvSpPr>
          <p:cNvPr id="14339" name="Google Shape;462;p16:notes">
            <a:extLst>
              <a:ext uri="{FF2B5EF4-FFF2-40B4-BE49-F238E27FC236}">
                <a16:creationId xmlns:a16="http://schemas.microsoft.com/office/drawing/2014/main" id="{DDAD42F7-C518-179F-82CE-DD6EE55073C7}"/>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 name="T10" fmla="*/ 0 w 120000"/>
              <a:gd name="T11" fmla="*/ 0 h 120000"/>
              <a:gd name="T12" fmla="*/ 120000 w 120000"/>
              <a:gd name="T13" fmla="*/ 120000 h 120000"/>
            </a:gdLst>
            <a:ahLst/>
            <a:cxnLst>
              <a:cxn ang="0">
                <a:pos x="T0" y="T1"/>
              </a:cxn>
              <a:cxn ang="0">
                <a:pos x="T2" y="T3"/>
              </a:cxn>
              <a:cxn ang="0">
                <a:pos x="T4" y="T5"/>
              </a:cxn>
              <a:cxn ang="0">
                <a:pos x="T6" y="T7"/>
              </a:cxn>
              <a:cxn ang="0">
                <a:pos x="T8" y="T9"/>
              </a:cxn>
            </a:cxnLst>
            <a:rect l="T10" t="T11" r="T12" b="T13"/>
            <a:pathLst>
              <a:path w="120000" h="120000" extrusionOk="0">
                <a:moveTo>
                  <a:pt x="0" y="0"/>
                </a:moveTo>
                <a:lnTo>
                  <a:pt x="120000" y="0"/>
                </a:lnTo>
                <a:lnTo>
                  <a:pt x="120000" y="120000"/>
                </a:lnTo>
                <a:lnTo>
                  <a:pt x="0" y="120000"/>
                </a:lnTo>
                <a:lnTo>
                  <a:pt x="0" y="0"/>
                </a:lnTo>
                <a:close/>
              </a:path>
            </a:pathLst>
          </a:cu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0FDCD557-1C08-51B4-8146-7813308253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CB3FBEBE-D771-BBD2-B0CB-DDB6E09629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412" name="Slide Number Placeholder 3">
            <a:extLst>
              <a:ext uri="{FF2B5EF4-FFF2-40B4-BE49-F238E27FC236}">
                <a16:creationId xmlns:a16="http://schemas.microsoft.com/office/drawing/2014/main" id="{ECF39E60-6209-10B4-D2DA-8BD475D98D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CBA5C54-3BEC-46EE-B05D-B8544A3D3FBF}" type="slidenum">
              <a:rPr lang="en-US" altLang="en-US"/>
              <a:pPr>
                <a:spcBef>
                  <a:spcPct val="0"/>
                </a:spcBef>
              </a:pPr>
              <a:t>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C385AD-4414-1521-F95D-EE68514BB064}"/>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16E02F35-3573-48DF-AE04-FB57E5AECE83}" type="datetimeFigureOut">
              <a:rPr lang="en-US"/>
              <a:pPr>
                <a:defRPr/>
              </a:pPr>
              <a:t>12/16/2024</a:t>
            </a:fld>
            <a:endParaRPr lang="en-US"/>
          </a:p>
        </p:txBody>
      </p:sp>
      <p:sp>
        <p:nvSpPr>
          <p:cNvPr id="5" name="Footer Placeholder 4">
            <a:extLst>
              <a:ext uri="{FF2B5EF4-FFF2-40B4-BE49-F238E27FC236}">
                <a16:creationId xmlns:a16="http://schemas.microsoft.com/office/drawing/2014/main" id="{C1A6A757-EB6B-083F-5C37-199881219DEB}"/>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73FAFADC-7233-D84A-67AC-A1CDB316054E}"/>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5A6FB3EC-5604-497A-AAD8-FBE850722C37}" type="slidenum">
              <a:rPr lang="en-US" altLang="en-US"/>
              <a:pPr>
                <a:defRPr/>
              </a:pPr>
              <a:t>‹#›</a:t>
            </a:fld>
            <a:endParaRPr lang="en-US" altLang="en-US"/>
          </a:p>
        </p:txBody>
      </p:sp>
    </p:spTree>
    <p:extLst>
      <p:ext uri="{BB962C8B-B14F-4D97-AF65-F5344CB8AC3E}">
        <p14:creationId xmlns:p14="http://schemas.microsoft.com/office/powerpoint/2010/main" val="3723906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34235B-12EB-6534-B477-DC9640229A2D}"/>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E7C4C422-BDF1-4CBC-B2D0-7C9F7D723580}" type="datetimeFigureOut">
              <a:rPr lang="en-US"/>
              <a:pPr>
                <a:defRPr/>
              </a:pPr>
              <a:t>12/16/2024</a:t>
            </a:fld>
            <a:endParaRPr lang="en-US"/>
          </a:p>
        </p:txBody>
      </p:sp>
      <p:sp>
        <p:nvSpPr>
          <p:cNvPr id="5" name="Footer Placeholder 4">
            <a:extLst>
              <a:ext uri="{FF2B5EF4-FFF2-40B4-BE49-F238E27FC236}">
                <a16:creationId xmlns:a16="http://schemas.microsoft.com/office/drawing/2014/main" id="{7AA7D123-65E7-2749-FD4E-A5FD06BA2C17}"/>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DCE58C04-1300-8269-1A79-56EC14B3434C}"/>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96E46D05-AB29-4722-9D1A-C06390B37CEB}" type="slidenum">
              <a:rPr lang="en-US" altLang="en-US"/>
              <a:pPr>
                <a:defRPr/>
              </a:pPr>
              <a:t>‹#›</a:t>
            </a:fld>
            <a:endParaRPr lang="en-US" altLang="en-US"/>
          </a:p>
        </p:txBody>
      </p:sp>
    </p:spTree>
    <p:extLst>
      <p:ext uri="{BB962C8B-B14F-4D97-AF65-F5344CB8AC3E}">
        <p14:creationId xmlns:p14="http://schemas.microsoft.com/office/powerpoint/2010/main" val="507406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3E08D6-8AC1-18D2-694F-D76FF14797CB}"/>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96CF7993-B99B-4321-90B5-EFF06BD09C71}" type="datetimeFigureOut">
              <a:rPr lang="en-US"/>
              <a:pPr>
                <a:defRPr/>
              </a:pPr>
              <a:t>12/16/2024</a:t>
            </a:fld>
            <a:endParaRPr lang="en-US"/>
          </a:p>
        </p:txBody>
      </p:sp>
      <p:sp>
        <p:nvSpPr>
          <p:cNvPr id="5" name="Footer Placeholder 4">
            <a:extLst>
              <a:ext uri="{FF2B5EF4-FFF2-40B4-BE49-F238E27FC236}">
                <a16:creationId xmlns:a16="http://schemas.microsoft.com/office/drawing/2014/main" id="{1A228F8E-CD17-0F19-D785-2D92A338F37D}"/>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B2C1F9E6-F819-7884-3EBE-42C25CBF4A62}"/>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6BA999A4-DA2F-4CF5-80F2-40B3983BB0BA}" type="slidenum">
              <a:rPr lang="en-US" altLang="en-US"/>
              <a:pPr>
                <a:defRPr/>
              </a:pPr>
              <a:t>‹#›</a:t>
            </a:fld>
            <a:endParaRPr lang="en-US" altLang="en-US"/>
          </a:p>
        </p:txBody>
      </p:sp>
    </p:spTree>
    <p:extLst>
      <p:ext uri="{BB962C8B-B14F-4D97-AF65-F5344CB8AC3E}">
        <p14:creationId xmlns:p14="http://schemas.microsoft.com/office/powerpoint/2010/main" val="2086925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CBBF4F-22B8-787B-7A52-31FB776F8EF4}"/>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44E05198-7812-4099-AC20-2A3D93B87EBE}" type="datetimeFigureOut">
              <a:rPr lang="en-US"/>
              <a:pPr>
                <a:defRPr/>
              </a:pPr>
              <a:t>12/16/2024</a:t>
            </a:fld>
            <a:endParaRPr lang="en-US"/>
          </a:p>
        </p:txBody>
      </p:sp>
      <p:sp>
        <p:nvSpPr>
          <p:cNvPr id="6" name="Footer Placeholder 5">
            <a:extLst>
              <a:ext uri="{FF2B5EF4-FFF2-40B4-BE49-F238E27FC236}">
                <a16:creationId xmlns:a16="http://schemas.microsoft.com/office/drawing/2014/main" id="{F81B2EFE-5B57-BE2C-810A-F42918C73AC1}"/>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2A40B159-B0D5-69AE-74C7-037878143333}"/>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E4787CCF-B2B0-4E1B-9099-AC2B75553D1F}" type="slidenum">
              <a:rPr lang="en-US" altLang="en-US"/>
              <a:pPr>
                <a:defRPr/>
              </a:pPr>
              <a:t>‹#›</a:t>
            </a:fld>
            <a:endParaRPr lang="en-US" altLang="en-US"/>
          </a:p>
        </p:txBody>
      </p:sp>
    </p:spTree>
    <p:extLst>
      <p:ext uri="{BB962C8B-B14F-4D97-AF65-F5344CB8AC3E}">
        <p14:creationId xmlns:p14="http://schemas.microsoft.com/office/powerpoint/2010/main" val="2956251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166B71-8E98-D0FF-ECBC-4776ED3D1E8B}"/>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6E0EDB44-0ABC-4211-8181-A6C2F05B958B}" type="datetimeFigureOut">
              <a:rPr lang="en-US"/>
              <a:pPr>
                <a:defRPr/>
              </a:pPr>
              <a:t>12/16/2024</a:t>
            </a:fld>
            <a:endParaRPr lang="en-US"/>
          </a:p>
        </p:txBody>
      </p:sp>
      <p:sp>
        <p:nvSpPr>
          <p:cNvPr id="8" name="Footer Placeholder 7">
            <a:extLst>
              <a:ext uri="{FF2B5EF4-FFF2-40B4-BE49-F238E27FC236}">
                <a16:creationId xmlns:a16="http://schemas.microsoft.com/office/drawing/2014/main" id="{1F9781C6-9584-86B0-4DBA-461A445A3083}"/>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9" name="Slide Number Placeholder 8">
            <a:extLst>
              <a:ext uri="{FF2B5EF4-FFF2-40B4-BE49-F238E27FC236}">
                <a16:creationId xmlns:a16="http://schemas.microsoft.com/office/drawing/2014/main" id="{424564B3-B2A7-DD27-9993-055E39FAA583}"/>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D40E327F-E489-46BE-8CE9-986726D8B3AA}" type="slidenum">
              <a:rPr lang="en-US" altLang="en-US"/>
              <a:pPr>
                <a:defRPr/>
              </a:pPr>
              <a:t>‹#›</a:t>
            </a:fld>
            <a:endParaRPr lang="en-US" altLang="en-US"/>
          </a:p>
        </p:txBody>
      </p:sp>
    </p:spTree>
    <p:extLst>
      <p:ext uri="{BB962C8B-B14F-4D97-AF65-F5344CB8AC3E}">
        <p14:creationId xmlns:p14="http://schemas.microsoft.com/office/powerpoint/2010/main" val="3036085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E9DF4D88-34A9-E745-C0AD-F9D714DCEDB0}"/>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969C7080-4A14-4312-AA5A-A0C2A05EC945}" type="datetimeFigureOut">
              <a:rPr lang="en-US"/>
              <a:pPr>
                <a:defRPr/>
              </a:pPr>
              <a:t>12/16/2024</a:t>
            </a:fld>
            <a:endParaRPr lang="en-US"/>
          </a:p>
        </p:txBody>
      </p:sp>
      <p:sp>
        <p:nvSpPr>
          <p:cNvPr id="4" name="Footer Placeholder 3">
            <a:extLst>
              <a:ext uri="{FF2B5EF4-FFF2-40B4-BE49-F238E27FC236}">
                <a16:creationId xmlns:a16="http://schemas.microsoft.com/office/drawing/2014/main" id="{5659F93E-B1AC-8E06-691D-3674CFAFB5AB}"/>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20B0EC85-EF5C-DC39-8A88-99303E7E8004}"/>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5AEE9457-82D0-494B-BDA9-D4F107132C86}" type="slidenum">
              <a:rPr lang="en-US" altLang="en-US"/>
              <a:pPr>
                <a:defRPr/>
              </a:pPr>
              <a:t>‹#›</a:t>
            </a:fld>
            <a:endParaRPr lang="en-US" altLang="en-US"/>
          </a:p>
        </p:txBody>
      </p:sp>
    </p:spTree>
    <p:extLst>
      <p:ext uri="{BB962C8B-B14F-4D97-AF65-F5344CB8AC3E}">
        <p14:creationId xmlns:p14="http://schemas.microsoft.com/office/powerpoint/2010/main" val="1939799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74FF4B-09B9-A6D3-8915-9D3BA2C017AB}"/>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57DBACF4-FC2C-4F85-81A8-1ECCA5ED0F21}" type="datetimeFigureOut">
              <a:rPr lang="en-US"/>
              <a:pPr>
                <a:defRPr/>
              </a:pPr>
              <a:t>12/16/2024</a:t>
            </a:fld>
            <a:endParaRPr lang="en-US"/>
          </a:p>
        </p:txBody>
      </p:sp>
      <p:sp>
        <p:nvSpPr>
          <p:cNvPr id="3" name="Footer Placeholder 2">
            <a:extLst>
              <a:ext uri="{FF2B5EF4-FFF2-40B4-BE49-F238E27FC236}">
                <a16:creationId xmlns:a16="http://schemas.microsoft.com/office/drawing/2014/main" id="{960278B5-7403-5124-1F0D-0EB2A91D77F8}"/>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4" name="Slide Number Placeholder 3">
            <a:extLst>
              <a:ext uri="{FF2B5EF4-FFF2-40B4-BE49-F238E27FC236}">
                <a16:creationId xmlns:a16="http://schemas.microsoft.com/office/drawing/2014/main" id="{24B0B3A8-6AD6-F069-7E92-E1311B4AC5F5}"/>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8ADA65B6-42DB-4281-8850-6D7EC4DABEF7}" type="slidenum">
              <a:rPr lang="en-US" altLang="en-US"/>
              <a:pPr>
                <a:defRPr/>
              </a:pPr>
              <a:t>‹#›</a:t>
            </a:fld>
            <a:endParaRPr lang="en-US" altLang="en-US"/>
          </a:p>
        </p:txBody>
      </p:sp>
    </p:spTree>
    <p:extLst>
      <p:ext uri="{BB962C8B-B14F-4D97-AF65-F5344CB8AC3E}">
        <p14:creationId xmlns:p14="http://schemas.microsoft.com/office/powerpoint/2010/main" val="65873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5556F2-0CCB-50DF-9FB7-DBA04FAB242F}"/>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DFC90F92-2003-4AE9-A721-C3F89D36A471}" type="datetimeFigureOut">
              <a:rPr lang="en-US"/>
              <a:pPr>
                <a:defRPr/>
              </a:pPr>
              <a:t>12/16/2024</a:t>
            </a:fld>
            <a:endParaRPr lang="en-US"/>
          </a:p>
        </p:txBody>
      </p:sp>
      <p:sp>
        <p:nvSpPr>
          <p:cNvPr id="6" name="Footer Placeholder 5">
            <a:extLst>
              <a:ext uri="{FF2B5EF4-FFF2-40B4-BE49-F238E27FC236}">
                <a16:creationId xmlns:a16="http://schemas.microsoft.com/office/drawing/2014/main" id="{8006DF0E-C8ED-EB06-67D2-73FA2683C180}"/>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2AD66827-8451-4EAC-BE97-E5FDAE64CD7F}"/>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FDA8AAF7-C603-4C41-A682-7FD9B66E6F87}" type="slidenum">
              <a:rPr lang="en-US" altLang="en-US"/>
              <a:pPr>
                <a:defRPr/>
              </a:pPr>
              <a:t>‹#›</a:t>
            </a:fld>
            <a:endParaRPr lang="en-US" altLang="en-US"/>
          </a:p>
        </p:txBody>
      </p:sp>
    </p:spTree>
    <p:extLst>
      <p:ext uri="{BB962C8B-B14F-4D97-AF65-F5344CB8AC3E}">
        <p14:creationId xmlns:p14="http://schemas.microsoft.com/office/powerpoint/2010/main" val="4247251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41B30D-9681-75C6-B86F-CC41EE4B23C0}"/>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80D674D3-9EED-4D5C-8C8F-CB1CF4686558}" type="datetimeFigureOut">
              <a:rPr lang="en-US"/>
              <a:pPr>
                <a:defRPr/>
              </a:pPr>
              <a:t>12/16/2024</a:t>
            </a:fld>
            <a:endParaRPr lang="en-US"/>
          </a:p>
        </p:txBody>
      </p:sp>
      <p:sp>
        <p:nvSpPr>
          <p:cNvPr id="5" name="Footer Placeholder 4">
            <a:extLst>
              <a:ext uri="{FF2B5EF4-FFF2-40B4-BE49-F238E27FC236}">
                <a16:creationId xmlns:a16="http://schemas.microsoft.com/office/drawing/2014/main" id="{D014A82A-0E48-5C26-6FD9-03B1C66FE701}"/>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B44D8175-0896-B6BA-25B7-6F14D9E03A9A}"/>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C668E017-9858-49EF-B610-18E2DBB88698}" type="slidenum">
              <a:rPr lang="en-US" altLang="en-US"/>
              <a:pPr>
                <a:defRPr/>
              </a:pPr>
              <a:t>‹#›</a:t>
            </a:fld>
            <a:endParaRPr lang="en-US" altLang="en-US"/>
          </a:p>
        </p:txBody>
      </p:sp>
    </p:spTree>
    <p:extLst>
      <p:ext uri="{BB962C8B-B14F-4D97-AF65-F5344CB8AC3E}">
        <p14:creationId xmlns:p14="http://schemas.microsoft.com/office/powerpoint/2010/main" val="4044407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531F739B-BF31-C3D3-3DB3-26D20019A2DA}"/>
              </a:ext>
            </a:extLst>
          </p:cNvPr>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fld id="{D47ACED9-B0BA-4119-94F7-AF909F7E4C42}" type="datetimeFigureOut">
              <a:rPr lang="en-US"/>
              <a:pPr>
                <a:defRPr/>
              </a:pPr>
              <a:t>12/16/2024</a:t>
            </a:fld>
            <a:endParaRPr lang="en-US"/>
          </a:p>
        </p:txBody>
      </p:sp>
      <p:sp>
        <p:nvSpPr>
          <p:cNvPr id="4" name="Footer Placeholder 3">
            <a:extLst>
              <a:ext uri="{FF2B5EF4-FFF2-40B4-BE49-F238E27FC236}">
                <a16:creationId xmlns:a16="http://schemas.microsoft.com/office/drawing/2014/main" id="{94A6ADFA-B741-AA13-F411-369E12A11FBB}"/>
              </a:ext>
            </a:extLst>
          </p:cNvPr>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solidFill>
                  <a:prstClr val="black">
                    <a:tint val="75000"/>
                  </a:prstClr>
                </a:solidFill>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DDE93438-90D0-7C16-3591-78FB035637BF}"/>
              </a:ext>
            </a:extLst>
          </p:cNvPr>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latin typeface="Calibri" panose="020F0502020204030204" pitchFamily="34" charset="0"/>
              </a:defRPr>
            </a:lvl1pPr>
          </a:lstStyle>
          <a:p>
            <a:pPr>
              <a:defRPr/>
            </a:pPr>
            <a:fld id="{D45FDFCB-1473-476D-88D0-FE4EA0BBAB7B}" type="slidenum">
              <a:rPr lang="en-US" altLang="en-US"/>
              <a:pPr>
                <a:defRPr/>
              </a:pPr>
              <a:t>‹#›</a:t>
            </a:fld>
            <a:endParaRPr lang="en-US" altLang="en-US"/>
          </a:p>
        </p:txBody>
      </p:sp>
    </p:spTree>
    <p:extLst>
      <p:ext uri="{BB962C8B-B14F-4D97-AF65-F5344CB8AC3E}">
        <p14:creationId xmlns:p14="http://schemas.microsoft.com/office/powerpoint/2010/main" val="1825031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endParaRPr noProof="0">
              <a:sym typeface="Calibri"/>
            </a:endParaRPr>
          </a:p>
        </p:txBody>
      </p:sp>
    </p:spTree>
    <p:extLst>
      <p:ext uri="{BB962C8B-B14F-4D97-AF65-F5344CB8AC3E}">
        <p14:creationId xmlns:p14="http://schemas.microsoft.com/office/powerpoint/2010/main" val="3210153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alpha val="20784"/>
          </a:srgbClr>
        </a:solidFill>
        <a:effectLst/>
      </p:bgPr>
    </p:bg>
    <p:spTree>
      <p:nvGrpSpPr>
        <p:cNvPr id="1" name=""/>
        <p:cNvGrpSpPr/>
        <p:nvPr/>
      </p:nvGrpSpPr>
      <p:grpSpPr>
        <a:xfrm>
          <a:off x="0" y="0"/>
          <a:ext cx="0" cy="0"/>
          <a:chOff x="0" y="0"/>
          <a:chExt cx="0" cy="0"/>
        </a:xfrm>
      </p:grpSpPr>
      <p:pic>
        <p:nvPicPr>
          <p:cNvPr id="1026" name="Picture 10" descr="Background pattern&#10;&#10;Description automatically generated">
            <a:extLst>
              <a:ext uri="{FF2B5EF4-FFF2-40B4-BE49-F238E27FC236}">
                <a16:creationId xmlns:a16="http://schemas.microsoft.com/office/drawing/2014/main" id="{3E587D7C-1817-31EA-9B3E-90EE2B1E9EE2}"/>
              </a:ext>
            </a:extLst>
          </p:cNvPr>
          <p:cNvPicPr>
            <a:picLocks noChangeAspect="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0916B5A-7EB8-DB89-DAD5-347EEC7F65A7}"/>
              </a:ext>
            </a:extLst>
          </p:cNvPr>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0A37B3EB-B96B-0AB6-BB05-97C02FC8AE9C}"/>
              </a:ext>
            </a:extLst>
          </p:cNvPr>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4" name="Picture 13" descr="Background pattern&#10;&#10;Description automatically generated">
            <a:extLst>
              <a:ext uri="{FF2B5EF4-FFF2-40B4-BE49-F238E27FC236}">
                <a16:creationId xmlns:a16="http://schemas.microsoft.com/office/drawing/2014/main" id="{4F6F436F-39A3-4D2F-FFD3-38ED404E6087}"/>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blip>
          <a:srcRect r="26721" b="8103"/>
          <a:stretch/>
        </p:blipFill>
        <p:spPr>
          <a:xfrm>
            <a:off x="8376334" y="4104641"/>
            <a:ext cx="3815666" cy="2707640"/>
          </a:xfrm>
          <a:prstGeom prst="rect">
            <a:avLst/>
          </a:prstGeom>
        </p:spPr>
      </p:pic>
      <p:sp>
        <p:nvSpPr>
          <p:cNvPr id="1030" name="TextBox 6">
            <a:extLst>
              <a:ext uri="{FF2B5EF4-FFF2-40B4-BE49-F238E27FC236}">
                <a16:creationId xmlns:a16="http://schemas.microsoft.com/office/drawing/2014/main" id="{E49EA3DF-DCE3-7F4E-21A1-20CAB5C34F24}"/>
              </a:ext>
            </a:extLst>
          </p:cNvPr>
          <p:cNvSpPr txBox="1">
            <a:spLocks noChangeArrowheads="1"/>
          </p:cNvSpPr>
          <p:nvPr userDrawn="1"/>
        </p:nvSpPr>
        <p:spPr bwMode="auto">
          <a:xfrm>
            <a:off x="0" y="6602413"/>
            <a:ext cx="2132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rgbClr val="F2F2F2"/>
                </a:solidFill>
                <a:latin typeface="Calibri" panose="020F0502020204030204" pitchFamily="34" charset="0"/>
              </a:rPr>
              <a:t>CREATED BY K. VICTOR BABU</a:t>
            </a: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4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in.udacity.com/course/intro-to-algorithms--cs215" TargetMode="External"/><Relationship Id="rId2" Type="http://schemas.openxmlformats.org/officeDocument/2006/relationships/hyperlink" Target="https://nptel.ac.in/courses/106102064"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coursera.org/learn/data-structures?action=enroll"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32A6EA-261F-C0D9-234D-D829092A4701}"/>
              </a:ext>
            </a:extLst>
          </p:cNvPr>
          <p:cNvSpPr/>
          <p:nvPr/>
        </p:nvSpPr>
        <p:spPr>
          <a:xfrm>
            <a:off x="0"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315" name="Google Shape;464;p16">
            <a:extLst>
              <a:ext uri="{FF2B5EF4-FFF2-40B4-BE49-F238E27FC236}">
                <a16:creationId xmlns:a16="http://schemas.microsoft.com/office/drawing/2014/main" id="{9E8666AF-7C60-206F-3ABE-69294E0A358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6525"/>
            <a:ext cx="6027738" cy="662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6" name="Google Shape;476;p16">
            <a:extLst>
              <a:ext uri="{FF2B5EF4-FFF2-40B4-BE49-F238E27FC236}">
                <a16:creationId xmlns:a16="http://schemas.microsoft.com/office/drawing/2014/main" id="{FA60BA01-B0D6-99CE-4238-8077A0EC8ECA}"/>
              </a:ext>
            </a:extLst>
          </p:cNvPr>
          <p:cNvSpPr txBox="1"/>
          <p:nvPr/>
        </p:nvSpPr>
        <p:spPr>
          <a:xfrm>
            <a:off x="5394325" y="1933575"/>
            <a:ext cx="6902450" cy="3416300"/>
          </a:xfrm>
          <a:prstGeom prst="rect">
            <a:avLst/>
          </a:prstGeom>
          <a:noFill/>
          <a:ln>
            <a:noFill/>
          </a:ln>
        </p:spPr>
        <p:txBody>
          <a:bodyPr spcFirstLastPara="1" lIns="91425" tIns="45700" rIns="91425" bIns="45700">
            <a:spAutoFit/>
          </a:bodyPr>
          <a:lstStyle/>
          <a:p>
            <a:pPr algn="ctr" eaLnBrk="1" fontAlgn="auto" hangingPunct="1">
              <a:spcBef>
                <a:spcPts val="0"/>
              </a:spcBef>
              <a:spcAft>
                <a:spcPts val="0"/>
              </a:spcAft>
              <a:defRPr/>
            </a:pPr>
            <a:r>
              <a:rPr lang="en-US" sz="3200" b="1" cap="all" dirty="0">
                <a:ln/>
                <a:solidFill>
                  <a:srgbClr val="C00000"/>
                </a:solidFill>
                <a:latin typeface="+mn-lt"/>
                <a:cs typeface="Poppins" panose="00000500000000000000" pitchFamily="2" charset="0"/>
                <a:sym typeface="BioRhyme ExtraBold"/>
              </a:rPr>
              <a:t>COURSE: </a:t>
            </a:r>
            <a:r>
              <a:rPr lang="en-US" sz="3200" b="1" dirty="0">
                <a:solidFill>
                  <a:schemeClr val="accent1"/>
                </a:solidFill>
                <a:latin typeface="+mn-lt"/>
                <a:cs typeface="+mn-cs"/>
              </a:rPr>
              <a:t>Data Structures</a:t>
            </a:r>
            <a:endParaRPr lang="en-IN" sz="3200" b="1" dirty="0">
              <a:solidFill>
                <a:schemeClr val="accent1"/>
              </a:solidFill>
              <a:latin typeface="+mn-lt"/>
              <a:cs typeface="+mn-cs"/>
            </a:endParaRPr>
          </a:p>
          <a:p>
            <a:pPr algn="ctr" eaLnBrk="1" fontAlgn="auto" hangingPunct="1">
              <a:spcBef>
                <a:spcPts val="0"/>
              </a:spcBef>
              <a:spcAft>
                <a:spcPts val="0"/>
              </a:spcAft>
              <a:defRPr/>
            </a:pPr>
            <a:endParaRPr lang="en-US" sz="3200" b="1" cap="all" dirty="0">
              <a:ln/>
              <a:solidFill>
                <a:srgbClr val="C00000"/>
              </a:solidFill>
              <a:latin typeface="+mn-lt"/>
              <a:cs typeface="Poppins" panose="00000500000000000000" pitchFamily="2" charset="0"/>
              <a:sym typeface="BioRhyme ExtraBold"/>
            </a:endParaRPr>
          </a:p>
          <a:p>
            <a:pPr algn="ctr" eaLnBrk="1" fontAlgn="auto" hangingPunct="1">
              <a:spcBef>
                <a:spcPts val="0"/>
              </a:spcBef>
              <a:spcAft>
                <a:spcPts val="0"/>
              </a:spcAft>
              <a:defRPr/>
            </a:pPr>
            <a:r>
              <a:rPr lang="en-US" sz="3200" b="1" cap="all" dirty="0">
                <a:ln/>
                <a:solidFill>
                  <a:srgbClr val="C00000"/>
                </a:solidFill>
                <a:latin typeface="+mn-lt"/>
                <a:cs typeface="Poppins" panose="00000500000000000000" pitchFamily="2" charset="0"/>
                <a:sym typeface="BioRhyme ExtraBold"/>
              </a:rPr>
              <a:t>COURSE CODE: </a:t>
            </a:r>
            <a:r>
              <a:rPr lang="en-US" sz="3200" b="1" dirty="0">
                <a:solidFill>
                  <a:schemeClr val="accent1"/>
                </a:solidFill>
                <a:latin typeface="+mn-lt"/>
                <a:cs typeface="+mn-cs"/>
              </a:rPr>
              <a:t>24SC1203</a:t>
            </a:r>
            <a:endParaRPr lang="en-IN" sz="3200" b="1" dirty="0">
              <a:solidFill>
                <a:schemeClr val="accent1"/>
              </a:solidFill>
              <a:latin typeface="+mn-lt"/>
              <a:cs typeface="+mn-cs"/>
            </a:endParaRPr>
          </a:p>
          <a:p>
            <a:pPr algn="ctr" eaLnBrk="1" fontAlgn="auto" hangingPunct="1">
              <a:spcBef>
                <a:spcPts val="0"/>
              </a:spcBef>
              <a:spcAft>
                <a:spcPts val="0"/>
              </a:spcAft>
              <a:defRPr/>
            </a:pPr>
            <a:endParaRPr lang="en-US" sz="2000" b="1" dirty="0">
              <a:solidFill>
                <a:schemeClr val="bg1">
                  <a:lumMod val="50000"/>
                </a:schemeClr>
              </a:solidFill>
              <a:latin typeface="+mn-lt"/>
              <a:ea typeface="BioRhyme ExtraBold"/>
              <a:cs typeface="Poppins" panose="00000500000000000000" pitchFamily="2" charset="0"/>
              <a:sym typeface="BioRhyme ExtraBold"/>
            </a:endParaRPr>
          </a:p>
          <a:p>
            <a:pPr algn="ctr" eaLnBrk="1" fontAlgn="auto" hangingPunct="1">
              <a:spcBef>
                <a:spcPts val="0"/>
              </a:spcBef>
              <a:spcAft>
                <a:spcPts val="0"/>
              </a:spcAft>
              <a:defRPr/>
            </a:pPr>
            <a:r>
              <a:rPr lang="en-US" sz="2000" b="1" dirty="0">
                <a:solidFill>
                  <a:schemeClr val="bg1">
                    <a:lumMod val="50000"/>
                  </a:schemeClr>
                </a:solidFill>
                <a:latin typeface="+mn-lt"/>
                <a:ea typeface="BioRhyme ExtraBold"/>
                <a:cs typeface="Poppins" panose="00000500000000000000" pitchFamily="2" charset="0"/>
                <a:sym typeface="BioRhyme ExtraBold"/>
              </a:rPr>
              <a:t>Topic: </a:t>
            </a:r>
          </a:p>
          <a:p>
            <a:pPr algn="ctr" eaLnBrk="1" fontAlgn="auto" hangingPunct="1">
              <a:spcBef>
                <a:spcPts val="0"/>
              </a:spcBef>
              <a:spcAft>
                <a:spcPts val="0"/>
              </a:spcAft>
              <a:defRPr/>
            </a:pPr>
            <a:r>
              <a:rPr lang="en-US" sz="4000" b="1" cap="all" dirty="0">
                <a:ln/>
                <a:solidFill>
                  <a:srgbClr val="C00000"/>
                </a:solidFill>
                <a:latin typeface="+mn-lt"/>
                <a:cs typeface="Poppins" panose="00000500000000000000" pitchFamily="2" charset="0"/>
              </a:rPr>
              <a:t>Name of the topic: </a:t>
            </a:r>
          </a:p>
          <a:p>
            <a:pPr algn="ctr" eaLnBrk="1" fontAlgn="auto" hangingPunct="1">
              <a:spcBef>
                <a:spcPts val="0"/>
              </a:spcBef>
              <a:spcAft>
                <a:spcPts val="0"/>
              </a:spcAft>
              <a:defRPr/>
            </a:pPr>
            <a:r>
              <a:rPr lang="en-US" sz="4000" b="1" dirty="0">
                <a:solidFill>
                  <a:srgbClr val="00B0F0"/>
                </a:solidFill>
                <a:latin typeface="Times New Roman" pitchFamily="18" charset="0"/>
                <a:cs typeface="Times New Roman" pitchFamily="18" charset="0"/>
              </a:rPr>
              <a:t>BFS </a:t>
            </a:r>
            <a:endParaRPr lang="en-US" sz="4000" b="1" dirty="0">
              <a:solidFill>
                <a:srgbClr val="C00000"/>
              </a:solidFill>
              <a:latin typeface="+mn-lt"/>
              <a:cs typeface="Poppins" panose="00000500000000000000" pitchFamily="2" charset="0"/>
            </a:endParaRPr>
          </a:p>
        </p:txBody>
      </p:sp>
      <p:sp>
        <p:nvSpPr>
          <p:cNvPr id="19" name="Rectangle: Rounded Corners 18">
            <a:extLst>
              <a:ext uri="{FF2B5EF4-FFF2-40B4-BE49-F238E27FC236}">
                <a16:creationId xmlns:a16="http://schemas.microsoft.com/office/drawing/2014/main" id="{B96C36DD-D646-E5BF-AE26-674936D606F5}"/>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320" name="Google Shape;475;p16">
            <a:extLst>
              <a:ext uri="{FF2B5EF4-FFF2-40B4-BE49-F238E27FC236}">
                <a16:creationId xmlns:a16="http://schemas.microsoft.com/office/drawing/2014/main" id="{A410A775-1A1D-F086-0070-6DDF4CEAEE4D}"/>
              </a:ext>
            </a:extLst>
          </p:cNvPr>
          <p:cNvSpPr txBox="1">
            <a:spLocks noChangeArrowheads="1"/>
          </p:cNvSpPr>
          <p:nvPr/>
        </p:nvSpPr>
        <p:spPr bwMode="auto">
          <a:xfrm>
            <a:off x="6096000" y="830263"/>
            <a:ext cx="45958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000">
                <a:solidFill>
                  <a:srgbClr val="C00000"/>
                </a:solidFill>
                <a:latin typeface="Calibri" panose="020F0502020204030204" pitchFamily="34" charset="0"/>
                <a:ea typeface="Poppins" panose="00000500000000000000" pitchFamily="2" charset="0"/>
                <a:cs typeface="Poppins" panose="00000500000000000000" pitchFamily="2" charset="0"/>
              </a:rPr>
              <a:t>Department of </a:t>
            </a:r>
            <a:r>
              <a:rPr lang="en-US" altLang="en-US" sz="4000">
                <a:solidFill>
                  <a:srgbClr val="FF0000"/>
                </a:solidFill>
                <a:latin typeface="Calibri" panose="020F0502020204030204" pitchFamily="34" charset="0"/>
              </a:rPr>
              <a:t>BES-I</a:t>
            </a:r>
            <a:endParaRPr lang="en-US" altLang="en-US" sz="4000">
              <a:solidFill>
                <a:srgbClr val="FF0000"/>
              </a:solidFill>
              <a:latin typeface="Calibri" panose="020F0502020204030204" pitchFamily="34" charset="0"/>
              <a:ea typeface="Poppins" panose="00000500000000000000" pitchFamily="2" charset="0"/>
              <a:cs typeface="Poppins" panose="00000500000000000000" pitchFamily="2" charset="0"/>
            </a:endParaRPr>
          </a:p>
        </p:txBody>
      </p:sp>
      <p:sp>
        <p:nvSpPr>
          <p:cNvPr id="8" name="Google Shape;502;p17">
            <a:extLst>
              <a:ext uri="{FF2B5EF4-FFF2-40B4-BE49-F238E27FC236}">
                <a16:creationId xmlns:a16="http://schemas.microsoft.com/office/drawing/2014/main" id="{F32089E3-4C71-198C-BE9F-8692E23B4AD6}"/>
              </a:ext>
            </a:extLst>
          </p:cNvPr>
          <p:cNvSpPr/>
          <p:nvPr/>
        </p:nvSpPr>
        <p:spPr>
          <a:xfrm>
            <a:off x="7275513" y="5572125"/>
            <a:ext cx="2235200" cy="452438"/>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lIns="91425" tIns="45700" rIns="91425" bIns="45700" anchor="ctr"/>
          <a:lstStyle/>
          <a:p>
            <a:pPr algn="ctr" eaLnBrk="1" fontAlgn="auto" hangingPunct="1">
              <a:spcBef>
                <a:spcPts val="0"/>
              </a:spcBef>
              <a:spcAft>
                <a:spcPts val="0"/>
              </a:spcAft>
              <a:defRPr/>
            </a:pPr>
            <a:r>
              <a:rPr lang="en-US" sz="2400" dirty="0">
                <a:solidFill>
                  <a:schemeClr val="lt1"/>
                </a:solidFill>
                <a:latin typeface="+mn-lt"/>
                <a:ea typeface="Calibri"/>
                <a:cs typeface="Poppins" panose="00000500000000000000" pitchFamily="2" charset="0"/>
                <a:sym typeface="Calibri"/>
              </a:rPr>
              <a:t>Session – 36 </a:t>
            </a:r>
            <a:endParaRPr sz="2400" dirty="0">
              <a:solidFill>
                <a:schemeClr val="lt1"/>
              </a:solidFill>
              <a:latin typeface="+mn-lt"/>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330EAF77-CCE5-83AD-4A3B-C7D5403ED651}"/>
              </a:ext>
            </a:extLst>
          </p:cNvPr>
          <p:cNvSpPr/>
          <p:nvPr/>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5" name="Rectangle 34">
            <a:extLst>
              <a:ext uri="{FF2B5EF4-FFF2-40B4-BE49-F238E27FC236}">
                <a16:creationId xmlns:a16="http://schemas.microsoft.com/office/drawing/2014/main" id="{A3C3E10B-C1D1-D424-0207-E82A0ED5463B}"/>
              </a:ext>
            </a:extLst>
          </p:cNvPr>
          <p:cNvSpPr/>
          <p:nvPr/>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324" name="Picture 2" descr="KL Deemed to be University Logo">
            <a:extLst>
              <a:ext uri="{FF2B5EF4-FFF2-40B4-BE49-F238E27FC236}">
                <a16:creationId xmlns:a16="http://schemas.microsoft.com/office/drawing/2014/main" id="{41035E53-142B-A03D-43D3-C3E3D593AA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50" y="82550"/>
            <a:ext cx="2509838"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CE12C09C-B243-1C3D-5BF7-13732857A97C}"/>
              </a:ext>
            </a:extLst>
          </p:cNvPr>
          <p:cNvSpPr/>
          <p:nvPr/>
        </p:nvSpPr>
        <p:spPr>
          <a:xfrm>
            <a:off x="4471988" y="84138"/>
            <a:ext cx="3011487"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AIM OF THE SESSION</a:t>
            </a:r>
          </a:p>
        </p:txBody>
      </p:sp>
      <p:sp>
        <p:nvSpPr>
          <p:cNvPr id="5" name="TextBox 4">
            <a:extLst>
              <a:ext uri="{FF2B5EF4-FFF2-40B4-BE49-F238E27FC236}">
                <a16:creationId xmlns:a16="http://schemas.microsoft.com/office/drawing/2014/main" id="{4FBAAD7B-0A42-E460-737E-0FEEF2EDE4AC}"/>
              </a:ext>
            </a:extLst>
          </p:cNvPr>
          <p:cNvSpPr txBox="1"/>
          <p:nvPr/>
        </p:nvSpPr>
        <p:spPr>
          <a:xfrm>
            <a:off x="914400" y="684469"/>
            <a:ext cx="10731286" cy="87716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a:spAutoFit/>
          </a:bodyPr>
          <a:lstStyle/>
          <a:p>
            <a:pPr eaLnBrk="1" fontAlgn="auto" hangingPunct="1">
              <a:lnSpc>
                <a:spcPct val="150000"/>
              </a:lnSpc>
              <a:spcBef>
                <a:spcPts val="0"/>
              </a:spcBef>
              <a:spcAft>
                <a:spcPts val="0"/>
              </a:spcAft>
              <a:defRPr/>
            </a:pPr>
            <a:r>
              <a:rPr lang="en-US" sz="1600" dirty="0">
                <a:latin typeface="Poppins"/>
                <a:cs typeface="Poppins"/>
              </a:rPr>
              <a:t>To familiarize students with the basic concept of </a:t>
            </a:r>
            <a:r>
              <a:rPr lang="en-US" spc="-5" dirty="0">
                <a:latin typeface="Times New Roman" panose="02020603050405020304" pitchFamily="18" charset="0"/>
                <a:ea typeface="Tahoma" panose="020B0604030504040204" pitchFamily="34" charset="0"/>
                <a:cs typeface="Times New Roman" panose="02020603050405020304" pitchFamily="18" charset="0"/>
              </a:rPr>
              <a:t>BFS.</a:t>
            </a:r>
            <a:endParaRPr lang="en-US" sz="1600" dirty="0">
              <a:latin typeface="Poppins"/>
              <a:cs typeface="Poppins"/>
            </a:endParaRPr>
          </a:p>
          <a:p>
            <a:pPr eaLnBrk="1" fontAlgn="auto" hangingPunct="1">
              <a:lnSpc>
                <a:spcPct val="150000"/>
              </a:lnSpc>
              <a:spcBef>
                <a:spcPts val="0"/>
              </a:spcBef>
              <a:spcAft>
                <a:spcPts val="0"/>
              </a:spcAft>
              <a:defRPr/>
            </a:pPr>
            <a:endParaRPr lang="en-US" sz="1600" dirty="0">
              <a:latin typeface="Poppins"/>
              <a:cs typeface="Poppins"/>
            </a:endParaRPr>
          </a:p>
        </p:txBody>
      </p:sp>
      <p:sp>
        <p:nvSpPr>
          <p:cNvPr id="7" name="Rounded Rectangle 17">
            <a:extLst>
              <a:ext uri="{FF2B5EF4-FFF2-40B4-BE49-F238E27FC236}">
                <a16:creationId xmlns:a16="http://schemas.microsoft.com/office/drawing/2014/main" id="{B3AF322D-6511-D936-D06C-68BD5753E813}"/>
              </a:ext>
            </a:extLst>
          </p:cNvPr>
          <p:cNvSpPr/>
          <p:nvPr/>
        </p:nvSpPr>
        <p:spPr>
          <a:xfrm>
            <a:off x="4160838" y="1806575"/>
            <a:ext cx="3870325"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INSTRUCTIONAL OBJECTIVES</a:t>
            </a:r>
          </a:p>
        </p:txBody>
      </p:sp>
      <p:sp>
        <p:nvSpPr>
          <p:cNvPr id="9" name="TextBox 8">
            <a:extLst>
              <a:ext uri="{FF2B5EF4-FFF2-40B4-BE49-F238E27FC236}">
                <a16:creationId xmlns:a16="http://schemas.microsoft.com/office/drawing/2014/main" id="{318CAAC7-6F38-2DF4-EC12-3BFB125D72C2}"/>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a:spAutoFit/>
          </a:bodyPr>
          <a:lstStyle/>
          <a:p>
            <a:pPr eaLnBrk="1" fontAlgn="auto" hangingPunct="1">
              <a:lnSpc>
                <a:spcPct val="200000"/>
              </a:lnSpc>
              <a:spcBef>
                <a:spcPts val="0"/>
              </a:spcBef>
              <a:spcAft>
                <a:spcPts val="0"/>
              </a:spcAft>
              <a:defRPr/>
            </a:pPr>
            <a:r>
              <a:rPr lang="en-US" sz="1600" dirty="0">
                <a:latin typeface="Poppins"/>
                <a:cs typeface="Poppins"/>
              </a:rPr>
              <a:t>This Session is designed to: </a:t>
            </a:r>
          </a:p>
          <a:p>
            <a:pPr marL="342900" indent="-342900" eaLnBrk="1" fontAlgn="auto" hangingPunct="1">
              <a:spcBef>
                <a:spcPts val="0"/>
              </a:spcBef>
              <a:spcAft>
                <a:spcPts val="0"/>
              </a:spcAft>
              <a:buFontTx/>
              <a:buAutoNum type="arabicPeriod"/>
              <a:defRPr/>
            </a:pPr>
            <a:r>
              <a:rPr lang="en-US" sz="1600" dirty="0">
                <a:cs typeface="+mn-cs"/>
              </a:rPr>
              <a:t>Demonstrate the BFS.</a:t>
            </a:r>
          </a:p>
          <a:p>
            <a:pPr marL="342900" indent="-342900" eaLnBrk="1" fontAlgn="auto" hangingPunct="1">
              <a:spcBef>
                <a:spcPts val="0"/>
              </a:spcBef>
              <a:spcAft>
                <a:spcPts val="0"/>
              </a:spcAft>
              <a:buFontTx/>
              <a:buAutoNum type="arabicPeriod"/>
              <a:defRPr/>
            </a:pPr>
            <a:r>
              <a:rPr lang="en-US" sz="1600" dirty="0">
                <a:cs typeface="+mn-cs"/>
              </a:rPr>
              <a:t>Apply BFS to Real-World Problems.</a:t>
            </a:r>
          </a:p>
          <a:p>
            <a:pPr marL="342900" indent="-342900" eaLnBrk="1" fontAlgn="auto" hangingPunct="1">
              <a:spcBef>
                <a:spcPts val="0"/>
              </a:spcBef>
              <a:spcAft>
                <a:spcPts val="0"/>
              </a:spcAft>
              <a:buFontTx/>
              <a:buAutoNum type="arabicPeriod"/>
              <a:defRPr/>
            </a:pPr>
            <a:r>
              <a:rPr lang="en-US" sz="1600" dirty="0">
                <a:latin typeface="Arial"/>
                <a:cs typeface="Arial"/>
              </a:rPr>
              <a:t>Describe the each operation </a:t>
            </a:r>
          </a:p>
          <a:p>
            <a:pPr marL="342900" indent="-342900" eaLnBrk="1" fontAlgn="auto" hangingPunct="1">
              <a:spcBef>
                <a:spcPts val="0"/>
              </a:spcBef>
              <a:spcAft>
                <a:spcPts val="0"/>
              </a:spcAft>
              <a:buFontTx/>
              <a:buAutoNum type="arabicPeriod"/>
              <a:defRPr/>
            </a:pPr>
            <a:r>
              <a:rPr lang="en-US" sz="1600" dirty="0">
                <a:latin typeface="Arial"/>
                <a:cs typeface="Arial"/>
              </a:rPr>
              <a:t>List out the advantages and disadvantages with BFS.</a:t>
            </a:r>
          </a:p>
        </p:txBody>
      </p:sp>
      <p:pic>
        <p:nvPicPr>
          <p:cNvPr id="11" name="Graphic 10" descr="Bullseye outline">
            <a:extLst>
              <a:ext uri="{FF2B5EF4-FFF2-40B4-BE49-F238E27FC236}">
                <a16:creationId xmlns:a16="http://schemas.microsoft.com/office/drawing/2014/main" id="{AC726E2C-E6F1-6AC6-1BE6-2CC8EEB0C8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254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Graphic 26" descr="Presentation with checklist outline">
            <a:extLst>
              <a:ext uri="{FF2B5EF4-FFF2-40B4-BE49-F238E27FC236}">
                <a16:creationId xmlns:a16="http://schemas.microsoft.com/office/drawing/2014/main" id="{157AD199-9B9B-B07F-F8EC-E7278508FA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384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ounded Rectangle 17">
            <a:extLst>
              <a:ext uri="{FF2B5EF4-FFF2-40B4-BE49-F238E27FC236}">
                <a16:creationId xmlns:a16="http://schemas.microsoft.com/office/drawing/2014/main" id="{7428F8A1-C954-8726-FC6A-7EADF8A12CDF}"/>
              </a:ext>
            </a:extLst>
          </p:cNvPr>
          <p:cNvSpPr/>
          <p:nvPr/>
        </p:nvSpPr>
        <p:spPr>
          <a:xfrm>
            <a:off x="4213225" y="4249738"/>
            <a:ext cx="3870325"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LEARNING OUTCOMES</a:t>
            </a:r>
          </a:p>
        </p:txBody>
      </p:sp>
      <p:pic>
        <p:nvPicPr>
          <p:cNvPr id="31" name="Graphic 30" descr="Idea outline">
            <a:extLst>
              <a:ext uri="{FF2B5EF4-FFF2-40B4-BE49-F238E27FC236}">
                <a16:creationId xmlns:a16="http://schemas.microsoft.com/office/drawing/2014/main" id="{DA1F5C9A-224B-687D-477C-6029BCE8D7F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7656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Box 36">
            <a:extLst>
              <a:ext uri="{FF2B5EF4-FFF2-40B4-BE49-F238E27FC236}">
                <a16:creationId xmlns:a16="http://schemas.microsoft.com/office/drawing/2014/main" id="{63BAC5B3-8F5A-49CA-60A8-63B4F7C1E024}"/>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a:spAutoFit/>
          </a:bodyPr>
          <a:lstStyle/>
          <a:p>
            <a:pPr eaLnBrk="1" fontAlgn="auto" hangingPunct="1">
              <a:lnSpc>
                <a:spcPct val="200000"/>
              </a:lnSpc>
              <a:spcBef>
                <a:spcPts val="0"/>
              </a:spcBef>
              <a:spcAft>
                <a:spcPts val="0"/>
              </a:spcAft>
              <a:defRPr/>
            </a:pPr>
            <a:r>
              <a:rPr lang="en-US" sz="1600" dirty="0">
                <a:latin typeface="Arial"/>
                <a:cs typeface="Arial"/>
              </a:rPr>
              <a:t>At the end of this session, you should be able to:</a:t>
            </a:r>
          </a:p>
          <a:p>
            <a:pPr marL="342900" indent="-342900" eaLnBrk="1" fontAlgn="auto" hangingPunct="1">
              <a:spcBef>
                <a:spcPts val="0"/>
              </a:spcBef>
              <a:spcAft>
                <a:spcPts val="0"/>
              </a:spcAft>
              <a:buFontTx/>
              <a:buAutoNum type="arabicPeriod"/>
              <a:defRPr/>
            </a:pPr>
            <a:r>
              <a:rPr lang="en-US" sz="1600" dirty="0">
                <a:cs typeface="+mn-cs"/>
              </a:rPr>
              <a:t>Define BFS</a:t>
            </a:r>
          </a:p>
          <a:p>
            <a:pPr marL="342900" indent="-342900" eaLnBrk="1" fontAlgn="auto" hangingPunct="1">
              <a:spcBef>
                <a:spcPts val="0"/>
              </a:spcBef>
              <a:spcAft>
                <a:spcPts val="0"/>
              </a:spcAft>
              <a:buFontTx/>
              <a:buAutoNum type="arabicPeriod"/>
              <a:defRPr/>
            </a:pPr>
            <a:r>
              <a:rPr lang="en-US" sz="1600" dirty="0">
                <a:cs typeface="+mn-cs"/>
              </a:rPr>
              <a:t>Describe the BFS and its operations</a:t>
            </a:r>
          </a:p>
          <a:p>
            <a:pPr marL="342900" indent="-342900" eaLnBrk="1" fontAlgn="auto" hangingPunct="1">
              <a:spcBef>
                <a:spcPts val="0"/>
              </a:spcBef>
              <a:spcAft>
                <a:spcPts val="0"/>
              </a:spcAft>
              <a:buFontTx/>
              <a:buAutoNum type="arabicPeriod"/>
              <a:defRPr/>
            </a:pPr>
            <a:r>
              <a:rPr lang="en-US" sz="1600" dirty="0">
                <a:cs typeface="+mn-cs"/>
              </a:rPr>
              <a:t>Summarize definition, and operations of BFS, its applications</a:t>
            </a:r>
            <a:endParaRPr lang="en-US" sz="1600" dirty="0">
              <a:latin typeface="Poppins" panose="00000500000000000000" pitchFamily="2" charset="0"/>
              <a:cs typeface="Poppins" panose="00000500000000000000" pitchFamily="2" charset="0"/>
            </a:endParaRPr>
          </a:p>
        </p:txBody>
      </p:sp>
      <p:pic>
        <p:nvPicPr>
          <p:cNvPr id="15377" name="Picture 2" descr="KL Deemed to be University Logo">
            <a:extLst>
              <a:ext uri="{FF2B5EF4-FFF2-40B4-BE49-F238E27FC236}">
                <a16:creationId xmlns:a16="http://schemas.microsoft.com/office/drawing/2014/main" id="{F85DEEAC-E518-1A4D-5157-BADE6A504F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6FDAAB2F-1624-2058-4C2B-D13D3F79565C}"/>
              </a:ext>
            </a:extLst>
          </p:cNvPr>
          <p:cNvSpPr/>
          <p:nvPr/>
        </p:nvSpPr>
        <p:spPr>
          <a:xfrm>
            <a:off x="1579563" y="84138"/>
            <a:ext cx="8324850" cy="7350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3600" dirty="0"/>
              <a:t>BFS - </a:t>
            </a:r>
            <a:r>
              <a:rPr lang="en-US" sz="2400" dirty="0"/>
              <a:t>INTRODUCTION </a:t>
            </a:r>
          </a:p>
        </p:txBody>
      </p:sp>
      <p:pic>
        <p:nvPicPr>
          <p:cNvPr id="16387" name="Picture 2" descr="KL Deemed to be University Logo">
            <a:extLst>
              <a:ext uri="{FF2B5EF4-FFF2-40B4-BE49-F238E27FC236}">
                <a16:creationId xmlns:a16="http://schemas.microsoft.com/office/drawing/2014/main" id="{0920FA1A-57C2-14E0-6BBE-48063548B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52">
            <a:extLst>
              <a:ext uri="{FF2B5EF4-FFF2-40B4-BE49-F238E27FC236}">
                <a16:creationId xmlns:a16="http://schemas.microsoft.com/office/drawing/2014/main" id="{3F730A26-41A8-E76F-8AA1-19533F46CE4D}"/>
              </a:ext>
            </a:extLst>
          </p:cNvPr>
          <p:cNvSpPr txBox="1">
            <a:spLocks noChangeArrowheads="1"/>
          </p:cNvSpPr>
          <p:nvPr/>
        </p:nvSpPr>
        <p:spPr bwMode="auto">
          <a:xfrm>
            <a:off x="376238" y="1465263"/>
            <a:ext cx="11336337" cy="427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IN" altLang="en-US" sz="3200">
                <a:latin typeface="Calibri" panose="020F0502020204030204" pitchFamily="34" charset="0"/>
              </a:rPr>
              <a:t> </a:t>
            </a:r>
            <a:r>
              <a:rPr lang="en-US" altLang="en-US" sz="2000">
                <a:latin typeface="Times New Roman" panose="02020603050405020304" pitchFamily="18" charset="0"/>
                <a:cs typeface="Times New Roman" panose="02020603050405020304" pitchFamily="18" charset="0"/>
              </a:rPr>
              <a:t>Breadth-First Search (BFS) is a fundamental graph traversal algorithm used to explore and analyze graphs and trees in a systematic manner. It starts from a specified source vertex and visits all the vertices in the graph, level by level, before moving to the next depth level. </a:t>
            </a:r>
          </a:p>
          <a:p>
            <a:pPr algn="just" eaLnBrk="1" hangingPunct="1"/>
            <a:endParaRPr lang="en-US" altLang="en-US" sz="200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endParaRPr lang="en-US" altLang="en-US" sz="2000">
              <a:latin typeface="Times New Roman" panose="02020603050405020304" pitchFamily="18" charset="0"/>
              <a:cs typeface="Times New Roman" panose="02020603050405020304" pitchFamily="18" charset="0"/>
            </a:endParaRPr>
          </a:p>
          <a:p>
            <a:pPr algn="just" eaLnBrk="1" hangingPunct="1"/>
            <a:endParaRPr lang="en-IN" altLang="en-US" sz="200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This approach ensures that vertices at lower levels are visited before vertices at deeper levels, making BFS particularly useful for finding the shortest path between nodes and solving problems where proximity matters.</a:t>
            </a:r>
          </a:p>
          <a:p>
            <a:pPr algn="just" eaLnBrk="1" hangingPunct="1">
              <a:buFont typeface="Wingdings" panose="05000000000000000000" pitchFamily="2" charset="2"/>
              <a:buChar char="Ø"/>
            </a:pPr>
            <a:endParaRPr lang="en-US" altLang="en-US" sz="2000">
              <a:latin typeface="Times New Roman" panose="02020603050405020304" pitchFamily="18" charset="0"/>
              <a:cs typeface="Times New Roman" panose="02020603050405020304" pitchFamily="18" charset="0"/>
            </a:endParaRPr>
          </a:p>
          <a:p>
            <a:pPr algn="just" eaLnBrk="1" hangingPunct="1"/>
            <a:endParaRPr lang="en-US" altLang="en-US" sz="200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Ø"/>
            </a:pPr>
            <a:r>
              <a:rPr lang="en-US" altLang="en-US" sz="2000">
                <a:latin typeface="Times New Roman" panose="02020603050405020304" pitchFamily="18" charset="0"/>
                <a:cs typeface="Times New Roman" panose="02020603050405020304" pitchFamily="18" charset="0"/>
              </a:rPr>
              <a:t>Traversal means visiting all the nodes of a graph. Breadth First Traversal or Breadth First Search is a recursive algorithm for searching all the vertices of a graph or tree data structure.</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BBEFD-DF08-65E2-0B39-485D0F7EBD58}"/>
              </a:ext>
            </a:extLst>
          </p:cNvPr>
          <p:cNvSpPr>
            <a:spLocks noGrp="1"/>
          </p:cNvSpPr>
          <p:nvPr>
            <p:ph idx="1"/>
          </p:nvPr>
        </p:nvSpPr>
        <p:spPr>
          <a:xfrm>
            <a:off x="0" y="1371599"/>
            <a:ext cx="11658600" cy="5124995"/>
          </a:xfrm>
        </p:spPr>
        <p:txBody>
          <a:bodyPr/>
          <a:lstStyle/>
          <a:p>
            <a:pPr eaLnBrk="1" fontAlgn="auto" hangingPunct="1">
              <a:spcAft>
                <a:spcPts val="0"/>
              </a:spcAft>
              <a:buFont typeface="Arial" panose="020B0604020202020204" pitchFamily="34" charset="0"/>
              <a:buNone/>
              <a:defRPr/>
            </a:pPr>
            <a:r>
              <a:rPr lang="en-US" sz="2000" dirty="0">
                <a:latin typeface="Times New Roman" panose="02020603050405020304" pitchFamily="18" charset="0"/>
                <a:cs typeface="Times New Roman" panose="02020603050405020304" pitchFamily="18" charset="0"/>
              </a:rPr>
              <a:t>	A standard BFS implementation puts each vertex of the graph into one of two categories:</a:t>
            </a:r>
          </a:p>
          <a:p>
            <a:pPr lvl="5">
              <a:defRPr/>
            </a:pPr>
            <a:r>
              <a:rPr lang="en-US" sz="2000" b="1" dirty="0">
                <a:latin typeface="Times New Roman" panose="02020603050405020304" pitchFamily="18" charset="0"/>
                <a:cs typeface="Times New Roman" panose="02020603050405020304" pitchFamily="18" charset="0"/>
              </a:rPr>
              <a:t>Visited</a:t>
            </a:r>
          </a:p>
          <a:p>
            <a:pPr lvl="5">
              <a:defRPr/>
            </a:pPr>
            <a:r>
              <a:rPr lang="en-US" sz="2000" b="1" dirty="0">
                <a:latin typeface="Times New Roman" panose="02020603050405020304" pitchFamily="18" charset="0"/>
                <a:cs typeface="Times New Roman" panose="02020603050405020304" pitchFamily="18" charset="0"/>
              </a:rPr>
              <a:t>Not Visited</a:t>
            </a:r>
          </a:p>
          <a:p>
            <a:pPr eaLnBrk="1" fontAlgn="auto" hangingPunct="1">
              <a:spcAft>
                <a:spcPts val="0"/>
              </a:spcAft>
              <a:buFont typeface="Arial" panose="020B0604020202020204" pitchFamily="34" charset="0"/>
              <a:buNone/>
              <a:defRPr/>
            </a:pPr>
            <a:r>
              <a:rPr lang="en-US" sz="2000" dirty="0">
                <a:latin typeface="Times New Roman" panose="02020603050405020304" pitchFamily="18" charset="0"/>
                <a:cs typeface="Times New Roman" panose="02020603050405020304" pitchFamily="18" charset="0"/>
              </a:rPr>
              <a:t>	The purpose of the algorithm is to mark each vertex as visited while avoiding cycles.</a:t>
            </a:r>
          </a:p>
          <a:p>
            <a:pPr marL="0" indent="0" eaLnBrk="1" fontAlgn="auto" hangingPunct="1">
              <a:spcAft>
                <a:spcPts val="0"/>
              </a:spcAft>
              <a:buFont typeface="Arial" panose="020B0604020202020204" pitchFamily="34" charset="0"/>
              <a:buNone/>
              <a:defRPr/>
            </a:pPr>
            <a:endParaRPr lang="en-US" sz="2000" b="1"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The algorithm works as follows:</a:t>
            </a:r>
          </a:p>
          <a:p>
            <a:pPr eaLnBrk="1" fontAlgn="auto" hangingPunct="1">
              <a:spcAft>
                <a:spcPts val="0"/>
              </a:spcAft>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Step 1: 	</a:t>
            </a:r>
            <a:r>
              <a:rPr lang="en-US" sz="2000" dirty="0">
                <a:latin typeface="Times New Roman" panose="02020603050405020304" pitchFamily="18" charset="0"/>
                <a:cs typeface="Times New Roman" panose="02020603050405020304" pitchFamily="18" charset="0"/>
              </a:rPr>
              <a:t>Start by putting any one of the graph's vertices at the back of a queue.</a:t>
            </a:r>
          </a:p>
          <a:p>
            <a:pPr eaLnBrk="1" fontAlgn="auto" hangingPunct="1">
              <a:spcAft>
                <a:spcPts val="0"/>
              </a:spcAft>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Step 2:	</a:t>
            </a:r>
            <a:r>
              <a:rPr lang="en-US" sz="2000" dirty="0">
                <a:latin typeface="Times New Roman" panose="02020603050405020304" pitchFamily="18" charset="0"/>
                <a:cs typeface="Times New Roman" panose="02020603050405020304" pitchFamily="18" charset="0"/>
              </a:rPr>
              <a:t>Take the front item of the queue and add it to the visited list.</a:t>
            </a:r>
          </a:p>
          <a:p>
            <a:pPr eaLnBrk="1" fontAlgn="auto" hangingPunct="1">
              <a:spcAft>
                <a:spcPts val="0"/>
              </a:spcAft>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Step 3: 	</a:t>
            </a:r>
            <a:r>
              <a:rPr lang="en-US" sz="2000" dirty="0">
                <a:latin typeface="Times New Roman" panose="02020603050405020304" pitchFamily="18" charset="0"/>
                <a:cs typeface="Times New Roman" panose="02020603050405020304" pitchFamily="18" charset="0"/>
              </a:rPr>
              <a:t>Create a list of that vertex's adjacent nodes. Add the ones which aren't in the visited list to the back of 	the queue.</a:t>
            </a:r>
          </a:p>
          <a:p>
            <a:pPr eaLnBrk="1" fontAlgn="auto" hangingPunct="1">
              <a:spcAft>
                <a:spcPts val="0"/>
              </a:spcAft>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Step 4:	</a:t>
            </a:r>
            <a:r>
              <a:rPr lang="en-US" sz="2000" dirty="0">
                <a:latin typeface="Times New Roman" panose="02020603050405020304" pitchFamily="18" charset="0"/>
                <a:cs typeface="Times New Roman" panose="02020603050405020304" pitchFamily="18" charset="0"/>
              </a:rPr>
              <a:t>Keep repeating steps 2 and 3 until the queue is empty.</a:t>
            </a:r>
          </a:p>
          <a:p>
            <a:pPr eaLnBrk="1" fontAlgn="auto" hangingPunct="1">
              <a:spcAft>
                <a:spcPts val="0"/>
              </a:spcAft>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Step 5:	</a:t>
            </a:r>
            <a:r>
              <a:rPr lang="en-US" sz="2000" dirty="0">
                <a:latin typeface="Times New Roman" panose="02020603050405020304" pitchFamily="18" charset="0"/>
                <a:cs typeface="Times New Roman" panose="02020603050405020304" pitchFamily="18" charset="0"/>
              </a:rPr>
              <a:t>The graph might have two different disconnected parts so to make sure that we cover every vertex, we   	can also run the BFS algorithm on every node</a:t>
            </a:r>
          </a:p>
          <a:p>
            <a:pPr eaLnBrk="1" fontAlgn="auto" hangingPunct="1">
              <a:spcAft>
                <a:spcPts val="0"/>
              </a:spcAft>
              <a:defRPr/>
            </a:pPr>
            <a:endParaRPr lang="en-US" dirty="0"/>
          </a:p>
        </p:txBody>
      </p:sp>
      <p:pic>
        <p:nvPicPr>
          <p:cNvPr id="18435" name="Picture 2" descr="KL Deemed to be University Logo">
            <a:extLst>
              <a:ext uri="{FF2B5EF4-FFF2-40B4-BE49-F238E27FC236}">
                <a16:creationId xmlns:a16="http://schemas.microsoft.com/office/drawing/2014/main" id="{9A4D31C1-0816-94DA-0CB3-AC364B8FF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ounded Rectangle 17">
            <a:extLst>
              <a:ext uri="{FF2B5EF4-FFF2-40B4-BE49-F238E27FC236}">
                <a16:creationId xmlns:a16="http://schemas.microsoft.com/office/drawing/2014/main" id="{FD32A1C7-9E88-8EAC-F3C3-B964393E76B6}"/>
              </a:ext>
            </a:extLst>
          </p:cNvPr>
          <p:cNvSpPr/>
          <p:nvPr/>
        </p:nvSpPr>
        <p:spPr>
          <a:xfrm>
            <a:off x="2006600" y="109538"/>
            <a:ext cx="8324850" cy="7175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800" b="1" dirty="0">
                <a:latin typeface="Times New Roman" pitchFamily="18" charset="0"/>
                <a:cs typeface="Times New Roman" pitchFamily="18" charset="0"/>
              </a:rPr>
              <a:t>BFS Algorithm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FA28C99-A8BF-8EA7-45CD-75A68ADA6DB2}"/>
              </a:ext>
            </a:extLst>
          </p:cNvPr>
          <p:cNvSpPr/>
          <p:nvPr/>
        </p:nvSpPr>
        <p:spPr>
          <a:xfrm>
            <a:off x="1828800" y="300038"/>
            <a:ext cx="7469188" cy="6635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bg1"/>
                </a:solidFill>
                <a:latin typeface="Times New Roman" pitchFamily="18" charset="0"/>
                <a:cs typeface="Times New Roman" pitchFamily="18" charset="0"/>
              </a:rPr>
              <a:t>Example of BFS</a:t>
            </a:r>
            <a:endParaRPr lang="en-US" sz="2800" dirty="0">
              <a:solidFill>
                <a:schemeClr val="bg1"/>
              </a:solidFill>
            </a:endParaRPr>
          </a:p>
        </p:txBody>
      </p:sp>
      <p:pic>
        <p:nvPicPr>
          <p:cNvPr id="19459" name="Picture 2" descr="KL Deemed to be University Logo">
            <a:extLst>
              <a:ext uri="{FF2B5EF4-FFF2-40B4-BE49-F238E27FC236}">
                <a16:creationId xmlns:a16="http://schemas.microsoft.com/office/drawing/2014/main" id="{AEC577A9-76BD-0CE4-C7C3-ADE2F062C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CB4AFA89-F851-B9E9-F943-6C6C03E8A641}"/>
              </a:ext>
            </a:extLst>
          </p:cNvPr>
          <p:cNvSpPr/>
          <p:nvPr/>
        </p:nvSpPr>
        <p:spPr>
          <a:xfrm>
            <a:off x="644525" y="2959100"/>
            <a:ext cx="11547475" cy="1016000"/>
          </a:xfrm>
          <a:prstGeom prst="rect">
            <a:avLst/>
          </a:prstGeom>
        </p:spPr>
        <p:txBody>
          <a:bodyPr>
            <a:spAutoFit/>
          </a:bodyPr>
          <a:lstStyle/>
          <a:p>
            <a:pPr eaLnBrk="1" fontAlgn="auto" hangingPunct="1">
              <a:spcBef>
                <a:spcPts val="0"/>
              </a:spcBef>
              <a:spcAft>
                <a:spcPts val="0"/>
              </a:spcAft>
              <a:defRPr/>
            </a:pPr>
            <a:r>
              <a:rPr lang="en-US" sz="2000" dirty="0">
                <a:solidFill>
                  <a:srgbClr val="282828"/>
                </a:solidFill>
                <a:latin typeface="Times New Roman" panose="02020603050405020304" pitchFamily="18" charset="0"/>
                <a:cs typeface="Times New Roman" panose="02020603050405020304" pitchFamily="18" charset="0"/>
              </a:rPr>
              <a:t>				Undirected Graph with Vertices</a:t>
            </a:r>
          </a:p>
          <a:p>
            <a:pPr marL="285750" indent="-285750" eaLnBrk="1" fontAlgn="auto" hangingPunct="1">
              <a:spcBef>
                <a:spcPts val="0"/>
              </a:spcBef>
              <a:spcAft>
                <a:spcPts val="0"/>
              </a:spcAft>
              <a:buFont typeface="Arial" panose="020B0604020202020204" pitchFamily="34" charset="0"/>
              <a:buChar char="•"/>
              <a:defRPr/>
            </a:pPr>
            <a:r>
              <a:rPr lang="en-US" sz="2000" dirty="0">
                <a:latin typeface="+mn-lt"/>
                <a:cs typeface="+mn-cs"/>
              </a:rPr>
              <a:t>We start from vertex 0, the BFS algorithm starts by putting it in the Visited list and putting all its adjacent vertices in the stack.</a:t>
            </a:r>
            <a:endParaRPr lang="en-US" sz="2000" dirty="0">
              <a:latin typeface="Times New Roman" panose="02020603050405020304" pitchFamily="18" charset="0"/>
              <a:cs typeface="Times New Roman" panose="02020603050405020304" pitchFamily="18" charset="0"/>
            </a:endParaRPr>
          </a:p>
        </p:txBody>
      </p:sp>
      <p:pic>
        <p:nvPicPr>
          <p:cNvPr id="19461" name="Picture 4" descr="undirected graph with 5 vertices">
            <a:extLst>
              <a:ext uri="{FF2B5EF4-FFF2-40B4-BE49-F238E27FC236}">
                <a16:creationId xmlns:a16="http://schemas.microsoft.com/office/drawing/2014/main" id="{D07EB2E8-4C80-3316-52AF-4204014357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313" y="1165225"/>
            <a:ext cx="7053262"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descr="visit start vertex and add its adjacent vertices to queue">
            <a:extLst>
              <a:ext uri="{FF2B5EF4-FFF2-40B4-BE49-F238E27FC236}">
                <a16:creationId xmlns:a16="http://schemas.microsoft.com/office/drawing/2014/main" id="{50678B14-5186-8A13-0B4E-72CE9754A2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313" y="4110038"/>
            <a:ext cx="7369175"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Rectangle 4">
            <a:extLst>
              <a:ext uri="{FF2B5EF4-FFF2-40B4-BE49-F238E27FC236}">
                <a16:creationId xmlns:a16="http://schemas.microsoft.com/office/drawing/2014/main" id="{BC3C8536-BA3B-7748-4C38-663C6A31630A}"/>
              </a:ext>
            </a:extLst>
          </p:cNvPr>
          <p:cNvSpPr>
            <a:spLocks noChangeArrowheads="1"/>
          </p:cNvSpPr>
          <p:nvPr/>
        </p:nvSpPr>
        <p:spPr bwMode="auto">
          <a:xfrm>
            <a:off x="3014663" y="6161088"/>
            <a:ext cx="5770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Visit start vertex and add its adjacent vertices to queue</a:t>
            </a:r>
            <a:endParaRPr lang="en-US" altLang="en-US">
              <a:latin typeface="Calibri" panose="020F0502020204030204" pitchFamily="34" charset="0"/>
            </a:endParaRP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EFDD32B4-EAA4-C1CC-E075-FF5EA8FE774D}"/>
              </a:ext>
            </a:extLst>
          </p:cNvPr>
          <p:cNvSpPr/>
          <p:nvPr/>
        </p:nvSpPr>
        <p:spPr>
          <a:xfrm>
            <a:off x="3122613" y="69850"/>
            <a:ext cx="2333625" cy="4302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sz="3200" b="1" dirty="0" err="1"/>
              <a:t>Cont</a:t>
            </a:r>
            <a:r>
              <a:rPr lang="en-US" sz="3200" b="1" dirty="0"/>
              <a:t>…</a:t>
            </a:r>
          </a:p>
        </p:txBody>
      </p:sp>
      <p:pic>
        <p:nvPicPr>
          <p:cNvPr id="20483" name="Picture 2" descr="KL Deemed to be University Logo">
            <a:extLst>
              <a:ext uri="{FF2B5EF4-FFF2-40B4-BE49-F238E27FC236}">
                <a16:creationId xmlns:a16="http://schemas.microsoft.com/office/drawing/2014/main" id="{DAD39929-EB0E-F6B5-E8DF-8E132826D5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4">
            <a:extLst>
              <a:ext uri="{FF2B5EF4-FFF2-40B4-BE49-F238E27FC236}">
                <a16:creationId xmlns:a16="http://schemas.microsoft.com/office/drawing/2014/main" id="{0A15AC91-226C-854E-06E6-42495001265C}"/>
              </a:ext>
            </a:extLst>
          </p:cNvPr>
          <p:cNvSpPr>
            <a:spLocks noChangeArrowheads="1"/>
          </p:cNvSpPr>
          <p:nvPr/>
        </p:nvSpPr>
        <p:spPr bwMode="auto">
          <a:xfrm>
            <a:off x="569913" y="768350"/>
            <a:ext cx="110013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Next, we visit the element at the front of queue i.e. 1 and go to its adjacent nodes. Since 0 has already been visited, we visit 2 instead.</a:t>
            </a:r>
            <a:endParaRPr lang="en-US" altLang="en-US">
              <a:latin typeface="Calibri" panose="020F0502020204030204" pitchFamily="34" charset="0"/>
            </a:endParaRPr>
          </a:p>
        </p:txBody>
      </p:sp>
      <p:pic>
        <p:nvPicPr>
          <p:cNvPr id="20485" name="Picture 2" descr="visit the first neighbour of start node 0, which is 1">
            <a:extLst>
              <a:ext uri="{FF2B5EF4-FFF2-40B4-BE49-F238E27FC236}">
                <a16:creationId xmlns:a16="http://schemas.microsoft.com/office/drawing/2014/main" id="{231A7F40-F903-E0F4-4C78-567DF58DF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200" y="1155700"/>
            <a:ext cx="7521575"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Rectangle 6">
            <a:extLst>
              <a:ext uri="{FF2B5EF4-FFF2-40B4-BE49-F238E27FC236}">
                <a16:creationId xmlns:a16="http://schemas.microsoft.com/office/drawing/2014/main" id="{034BFB4A-FEF4-CFE8-454E-C4935B8AE9D0}"/>
              </a:ext>
            </a:extLst>
          </p:cNvPr>
          <p:cNvSpPr>
            <a:spLocks noChangeArrowheads="1"/>
          </p:cNvSpPr>
          <p:nvPr/>
        </p:nvSpPr>
        <p:spPr bwMode="auto">
          <a:xfrm>
            <a:off x="627063" y="3762375"/>
            <a:ext cx="104346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Vertex 2 has an unvisited adjacent vertex in 4, so we add that to the back of the queue and visit 3, which is at the front of the queue.</a:t>
            </a:r>
            <a:endParaRPr lang="en-US" altLang="en-US">
              <a:latin typeface="Calibri" panose="020F0502020204030204" pitchFamily="34" charset="0"/>
            </a:endParaRPr>
          </a:p>
        </p:txBody>
      </p:sp>
      <p:pic>
        <p:nvPicPr>
          <p:cNvPr id="20487" name="Picture 4" descr="visit 2 which was added to queue earlier to add its neighbours">
            <a:extLst>
              <a:ext uri="{FF2B5EF4-FFF2-40B4-BE49-F238E27FC236}">
                <a16:creationId xmlns:a16="http://schemas.microsoft.com/office/drawing/2014/main" id="{040A42F1-31E3-3925-E82E-B82F76B7AF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119563"/>
            <a:ext cx="7421563"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Rectangle 9">
            <a:extLst>
              <a:ext uri="{FF2B5EF4-FFF2-40B4-BE49-F238E27FC236}">
                <a16:creationId xmlns:a16="http://schemas.microsoft.com/office/drawing/2014/main" id="{172600BA-F97B-5746-F634-0374630CEEF7}"/>
              </a:ext>
            </a:extLst>
          </p:cNvPr>
          <p:cNvSpPr>
            <a:spLocks noChangeArrowheads="1"/>
          </p:cNvSpPr>
          <p:nvPr/>
        </p:nvSpPr>
        <p:spPr bwMode="auto">
          <a:xfrm>
            <a:off x="3021013" y="3057525"/>
            <a:ext cx="5207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Visit the first neighbor of start node 0, which is 1</a:t>
            </a:r>
            <a:endParaRPr lang="en-US" altLang="en-US">
              <a:latin typeface="Calibri" panose="020F0502020204030204" pitchFamily="34" charset="0"/>
            </a:endParaRPr>
          </a:p>
        </p:txBody>
      </p:sp>
      <p:sp>
        <p:nvSpPr>
          <p:cNvPr id="20489" name="Rectangle 12">
            <a:extLst>
              <a:ext uri="{FF2B5EF4-FFF2-40B4-BE49-F238E27FC236}">
                <a16:creationId xmlns:a16="http://schemas.microsoft.com/office/drawing/2014/main" id="{D2A5857F-A301-63A5-051A-D0B927EC45CE}"/>
              </a:ext>
            </a:extLst>
          </p:cNvPr>
          <p:cNvSpPr>
            <a:spLocks noChangeArrowheads="1"/>
          </p:cNvSpPr>
          <p:nvPr/>
        </p:nvSpPr>
        <p:spPr bwMode="auto">
          <a:xfrm>
            <a:off x="2914650" y="5843588"/>
            <a:ext cx="653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Visit 2 which was added to queue earlier to add its neighbors</a:t>
            </a:r>
            <a:endParaRPr lang="en-US" altLang="en-US">
              <a:latin typeface="Calibri" panose="020F0502020204030204" pitchFamily="34" charset="0"/>
            </a:endParaRP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404F6FE0-BEFE-C6E3-60A8-A549D96D7582}"/>
              </a:ext>
            </a:extLst>
          </p:cNvPr>
          <p:cNvSpPr/>
          <p:nvPr/>
        </p:nvSpPr>
        <p:spPr>
          <a:xfrm>
            <a:off x="2979738" y="246063"/>
            <a:ext cx="3400425" cy="4159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en-US" sz="2400" dirty="0"/>
              <a:t>  (Cont..)</a:t>
            </a:r>
          </a:p>
        </p:txBody>
      </p:sp>
      <p:pic>
        <p:nvPicPr>
          <p:cNvPr id="21507" name="Picture 2" descr="KL Deemed to be University Logo">
            <a:extLst>
              <a:ext uri="{FF2B5EF4-FFF2-40B4-BE49-F238E27FC236}">
                <a16:creationId xmlns:a16="http://schemas.microsoft.com/office/drawing/2014/main" id="{3906FBB8-9993-0505-AB18-AB0B72D85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2" descr="visit ">
            <a:extLst>
              <a:ext uri="{FF2B5EF4-FFF2-40B4-BE49-F238E27FC236}">
                <a16:creationId xmlns:a16="http://schemas.microsoft.com/office/drawing/2014/main" id="{650E4013-8700-88AF-D6D7-73CDF5F78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363" y="766763"/>
            <a:ext cx="9250362" cy="195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4">
            <a:extLst>
              <a:ext uri="{FF2B5EF4-FFF2-40B4-BE49-F238E27FC236}">
                <a16:creationId xmlns:a16="http://schemas.microsoft.com/office/drawing/2014/main" id="{ADB75440-0F6F-8733-68A1-0CF52A9B834F}"/>
              </a:ext>
            </a:extLst>
          </p:cNvPr>
          <p:cNvSpPr>
            <a:spLocks noChangeArrowheads="1"/>
          </p:cNvSpPr>
          <p:nvPr/>
        </p:nvSpPr>
        <p:spPr bwMode="auto">
          <a:xfrm>
            <a:off x="4640263" y="2709863"/>
            <a:ext cx="2530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4 remains in the queue</a:t>
            </a:r>
            <a:endParaRPr lang="en-US" altLang="en-US">
              <a:latin typeface="Calibri" panose="020F0502020204030204" pitchFamily="34" charset="0"/>
            </a:endParaRPr>
          </a:p>
        </p:txBody>
      </p:sp>
      <p:sp>
        <p:nvSpPr>
          <p:cNvPr id="21510" name="Rectangle 6">
            <a:extLst>
              <a:ext uri="{FF2B5EF4-FFF2-40B4-BE49-F238E27FC236}">
                <a16:creationId xmlns:a16="http://schemas.microsoft.com/office/drawing/2014/main" id="{14320381-5B71-F986-028F-165A3D8CB0BD}"/>
              </a:ext>
            </a:extLst>
          </p:cNvPr>
          <p:cNvSpPr>
            <a:spLocks noChangeArrowheads="1"/>
          </p:cNvSpPr>
          <p:nvPr/>
        </p:nvSpPr>
        <p:spPr bwMode="auto">
          <a:xfrm>
            <a:off x="995363" y="3109913"/>
            <a:ext cx="1011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Only 4 remains in the queue since the only adjacent node of 3 i.e. 0 is already visited. We visit it.</a:t>
            </a:r>
            <a:endParaRPr lang="en-US" altLang="en-US">
              <a:latin typeface="Calibri" panose="020F0502020204030204" pitchFamily="34" charset="0"/>
            </a:endParaRPr>
          </a:p>
        </p:txBody>
      </p:sp>
      <p:pic>
        <p:nvPicPr>
          <p:cNvPr id="21511" name="Picture 4" descr="visit last remaining item in queue to check if it has unvisited neighbours">
            <a:extLst>
              <a:ext uri="{FF2B5EF4-FFF2-40B4-BE49-F238E27FC236}">
                <a16:creationId xmlns:a16="http://schemas.microsoft.com/office/drawing/2014/main" id="{DF6FED04-344A-3E81-AAAE-C28ED9946F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 y="3457575"/>
            <a:ext cx="94869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Rectangle 7">
            <a:extLst>
              <a:ext uri="{FF2B5EF4-FFF2-40B4-BE49-F238E27FC236}">
                <a16:creationId xmlns:a16="http://schemas.microsoft.com/office/drawing/2014/main" id="{B2524E50-D1F4-297D-242C-889B4EA11666}"/>
              </a:ext>
            </a:extLst>
          </p:cNvPr>
          <p:cNvSpPr>
            <a:spLocks noChangeArrowheads="1"/>
          </p:cNvSpPr>
          <p:nvPr/>
        </p:nvSpPr>
        <p:spPr bwMode="auto">
          <a:xfrm>
            <a:off x="1470025" y="5410200"/>
            <a:ext cx="8120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Visit last remaining item in the queue to check if it has unvisited neighbors</a:t>
            </a:r>
            <a:endParaRPr lang="en-US" altLang="en-US">
              <a:latin typeface="Calibri" panose="020F0502020204030204" pitchFamily="34" charset="0"/>
            </a:endParaRPr>
          </a:p>
        </p:txBody>
      </p:sp>
      <p:sp>
        <p:nvSpPr>
          <p:cNvPr id="21513" name="Rectangle 8">
            <a:extLst>
              <a:ext uri="{FF2B5EF4-FFF2-40B4-BE49-F238E27FC236}">
                <a16:creationId xmlns:a16="http://schemas.microsoft.com/office/drawing/2014/main" id="{1136732A-3197-547A-A225-D2D84C0DB532}"/>
              </a:ext>
            </a:extLst>
          </p:cNvPr>
          <p:cNvSpPr>
            <a:spLocks noChangeArrowheads="1"/>
          </p:cNvSpPr>
          <p:nvPr/>
        </p:nvSpPr>
        <p:spPr bwMode="auto">
          <a:xfrm>
            <a:off x="533400" y="5772150"/>
            <a:ext cx="10668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euclid_circular_a"/>
              </a:rPr>
              <a:t>Since the queue is empty, we have completed the Breadth First Traversal of the graph.</a:t>
            </a:r>
          </a:p>
          <a:p>
            <a:pPr eaLnBrk="1" hangingPunct="1"/>
            <a:br>
              <a:rPr lang="en-US" altLang="en-US">
                <a:latin typeface="Calibri" panose="020F0502020204030204" pitchFamily="34" charset="0"/>
              </a:rPr>
            </a:br>
            <a:endParaRPr lang="en-US" altLang="en-US">
              <a:latin typeface="Calibri" panose="020F0502020204030204" pitchFamily="34" charset="0"/>
            </a:endParaRP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E376F41-FA0F-0840-166E-83460FCE96D8}"/>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br>
              <a:rPr lang="en-US" altLang="en-US" sz="2400" b="1">
                <a:latin typeface="Times New Roman" panose="02020603050405020304" pitchFamily="18" charset="0"/>
                <a:ea typeface="Yu Gothic UI Semibold" panose="020B0700000000000000" pitchFamily="34" charset="-128"/>
                <a:cs typeface="Times New Roman" panose="02020603050405020304" pitchFamily="18" charset="0"/>
              </a:rPr>
            </a:br>
            <a:br>
              <a:rPr lang="en-US" altLang="en-US" sz="2400" b="1">
                <a:latin typeface="Times New Roman" panose="02020603050405020304" pitchFamily="18" charset="0"/>
                <a:ea typeface="Yu Gothic UI Semibold" panose="020B0700000000000000" pitchFamily="34" charset="-128"/>
                <a:cs typeface="Times New Roman" panose="02020603050405020304" pitchFamily="18" charset="0"/>
              </a:rPr>
            </a:br>
            <a:br>
              <a:rPr lang="en-US" altLang="en-US" sz="2400" b="1">
                <a:latin typeface="Times New Roman" panose="02020603050405020304" pitchFamily="18" charset="0"/>
                <a:ea typeface="Yu Gothic UI Semibold" panose="020B0700000000000000" pitchFamily="34" charset="-128"/>
                <a:cs typeface="Times New Roman" panose="02020603050405020304" pitchFamily="18" charset="0"/>
              </a:rPr>
            </a:br>
            <a:r>
              <a:rPr lang="en-US" altLang="en-US" sz="2400" b="1">
                <a:latin typeface="Times New Roman" panose="02020603050405020304" pitchFamily="18" charset="0"/>
                <a:ea typeface="Yu Gothic UI Semibold" panose="020B0700000000000000" pitchFamily="34" charset="-128"/>
                <a:cs typeface="Times New Roman" panose="02020603050405020304" pitchFamily="18" charset="0"/>
              </a:rPr>
              <a:t>BFS Algorithm Complexity</a:t>
            </a:r>
            <a:br>
              <a:rPr lang="en-US" altLang="en-US" sz="2400" b="1">
                <a:latin typeface="Times New Roman" panose="02020603050405020304" pitchFamily="18" charset="0"/>
                <a:ea typeface="Yu Gothic UI Semibold" panose="020B0700000000000000" pitchFamily="34" charset="-128"/>
                <a:cs typeface="Times New Roman" panose="02020603050405020304" pitchFamily="18" charset="0"/>
              </a:rPr>
            </a:br>
            <a:br>
              <a:rPr lang="en-US" altLang="en-US" sz="2400" b="1">
                <a:latin typeface="Times New Roman" panose="02020603050405020304" pitchFamily="18" charset="0"/>
                <a:ea typeface="Yu Gothic UI Semibold" panose="020B0700000000000000" pitchFamily="34" charset="-128"/>
                <a:cs typeface="Times New Roman" panose="02020603050405020304" pitchFamily="18" charset="0"/>
              </a:rPr>
            </a:br>
            <a:r>
              <a:rPr lang="en-US" altLang="en-US" sz="2400">
                <a:latin typeface="Times New Roman" panose="02020603050405020304" pitchFamily="18" charset="0"/>
                <a:ea typeface="Yu Gothic UI Semibold" panose="020B0700000000000000" pitchFamily="34" charset="-128"/>
                <a:cs typeface="Times New Roman" panose="02020603050405020304" pitchFamily="18" charset="0"/>
              </a:rPr>
              <a:t>The time complexity of the BFS algorithm is represented in the form of O(V + E), where V is the number of nodes and E is the number of edges.</a:t>
            </a:r>
            <a:br>
              <a:rPr lang="en-US" altLang="en-US" sz="2400">
                <a:latin typeface="Times New Roman" panose="02020603050405020304" pitchFamily="18" charset="0"/>
                <a:ea typeface="Yu Gothic UI Semibold" panose="020B0700000000000000" pitchFamily="34" charset="-128"/>
                <a:cs typeface="Times New Roman" panose="02020603050405020304" pitchFamily="18" charset="0"/>
              </a:rPr>
            </a:br>
            <a:r>
              <a:rPr lang="en-US" altLang="en-US" sz="2400">
                <a:latin typeface="Times New Roman" panose="02020603050405020304" pitchFamily="18" charset="0"/>
                <a:ea typeface="Yu Gothic UI Semibold" panose="020B0700000000000000" pitchFamily="34" charset="-128"/>
                <a:cs typeface="Times New Roman" panose="02020603050405020304" pitchFamily="18" charset="0"/>
              </a:rPr>
              <a:t>The space complexity of the algorithm is O(V).</a:t>
            </a:r>
            <a:br>
              <a:rPr lang="en-US" altLang="en-US" sz="2400">
                <a:latin typeface="Times New Roman" panose="02020603050405020304" pitchFamily="18" charset="0"/>
                <a:ea typeface="Yu Gothic UI Semibold" panose="020B0700000000000000" pitchFamily="34" charset="-128"/>
                <a:cs typeface="Times New Roman" panose="02020603050405020304" pitchFamily="18" charset="0"/>
              </a:rPr>
            </a:br>
            <a:endParaRPr lang="en-US" altLang="en-US" sz="2400">
              <a:ea typeface="Yu Gothic UI Semibold" panose="020B0700000000000000" pitchFamily="34" charset="-128"/>
              <a:cs typeface="Times New Roman" panose="02020603050405020304" pitchFamily="18" charset="0"/>
            </a:endParaRPr>
          </a:p>
        </p:txBody>
      </p:sp>
      <p:sp>
        <p:nvSpPr>
          <p:cNvPr id="3" name="Content Placeholder 2">
            <a:extLst>
              <a:ext uri="{FF2B5EF4-FFF2-40B4-BE49-F238E27FC236}">
                <a16:creationId xmlns:a16="http://schemas.microsoft.com/office/drawing/2014/main" id="{5A61A704-27B8-0A5D-694C-81307824A94A}"/>
              </a:ext>
            </a:extLst>
          </p:cNvPr>
          <p:cNvSpPr>
            <a:spLocks noGrp="1"/>
          </p:cNvSpPr>
          <p:nvPr>
            <p:ph idx="1"/>
          </p:nvPr>
        </p:nvSpPr>
        <p:spPr>
          <a:xfrm>
            <a:off x="838200" y="2786063"/>
            <a:ext cx="10515600" cy="3390900"/>
          </a:xfrm>
        </p:spPr>
        <p:txBody>
          <a:bodyPr/>
          <a:lstStyle/>
          <a:p>
            <a:pPr eaLnBrk="1" fontAlgn="auto" hangingPunct="1">
              <a:spcAft>
                <a:spcPts val="0"/>
              </a:spcAft>
              <a:buFont typeface="Arial" panose="020B0604020202020204" pitchFamily="34" charset="0"/>
              <a:buNone/>
              <a:defRPr/>
            </a:pPr>
            <a:endParaRPr lang="en-US" sz="2400" b="1" dirty="0">
              <a:latin typeface="Times New Roman" pitchFamily="18" charset="0"/>
              <a:cs typeface="Times New Roman" pitchFamily="18" charset="0"/>
            </a:endParaRPr>
          </a:p>
          <a:p>
            <a:pPr eaLnBrk="1" fontAlgn="auto" hangingPunct="1">
              <a:spcAft>
                <a:spcPts val="0"/>
              </a:spcAft>
              <a:buFont typeface="Arial" panose="020B0604020202020204" pitchFamily="34" charset="0"/>
              <a:buNone/>
              <a:defRPr/>
            </a:pPr>
            <a:r>
              <a:rPr lang="en-US" sz="2400" b="1" dirty="0">
                <a:latin typeface="Times New Roman" pitchFamily="18" charset="0"/>
                <a:cs typeface="Times New Roman" pitchFamily="18" charset="0"/>
              </a:rPr>
              <a:t>BFS Algorithm Applications</a:t>
            </a:r>
          </a:p>
          <a:p>
            <a:pPr marL="457200" indent="-457200" eaLnBrk="1" fontAlgn="auto" hangingPunct="1">
              <a:spcAft>
                <a:spcPts val="0"/>
              </a:spcAft>
              <a:buFont typeface="+mj-lt"/>
              <a:buAutoNum type="arabicPeriod"/>
              <a:defRPr/>
            </a:pPr>
            <a:r>
              <a:rPr lang="en-US" sz="2400" dirty="0">
                <a:latin typeface="Times New Roman" pitchFamily="18" charset="0"/>
                <a:cs typeface="Times New Roman" pitchFamily="18" charset="0"/>
              </a:rPr>
              <a:t>To build index by search index</a:t>
            </a:r>
          </a:p>
          <a:p>
            <a:pPr marL="457200" indent="-457200" eaLnBrk="1" fontAlgn="auto" hangingPunct="1">
              <a:spcAft>
                <a:spcPts val="0"/>
              </a:spcAft>
              <a:buFont typeface="+mj-lt"/>
              <a:buAutoNum type="arabicPeriod"/>
              <a:defRPr/>
            </a:pPr>
            <a:r>
              <a:rPr lang="en-US" sz="2400" dirty="0">
                <a:latin typeface="Times New Roman" pitchFamily="18" charset="0"/>
                <a:cs typeface="Times New Roman" pitchFamily="18" charset="0"/>
              </a:rPr>
              <a:t>For GPS navigation</a:t>
            </a:r>
          </a:p>
          <a:p>
            <a:pPr marL="457200" indent="-457200" eaLnBrk="1" fontAlgn="auto" hangingPunct="1">
              <a:spcAft>
                <a:spcPts val="0"/>
              </a:spcAft>
              <a:buFont typeface="+mj-lt"/>
              <a:buAutoNum type="arabicPeriod"/>
              <a:defRPr/>
            </a:pPr>
            <a:r>
              <a:rPr lang="en-US" sz="2400" dirty="0">
                <a:latin typeface="Times New Roman" pitchFamily="18" charset="0"/>
                <a:cs typeface="Times New Roman" pitchFamily="18" charset="0"/>
              </a:rPr>
              <a:t>Path finding algorithms</a:t>
            </a:r>
          </a:p>
          <a:p>
            <a:pPr marL="457200" indent="-457200" eaLnBrk="1" fontAlgn="auto" hangingPunct="1">
              <a:spcAft>
                <a:spcPts val="0"/>
              </a:spcAft>
              <a:buFont typeface="+mj-lt"/>
              <a:buAutoNum type="arabicPeriod"/>
              <a:defRPr/>
            </a:pPr>
            <a:r>
              <a:rPr lang="en-US" sz="2400" dirty="0">
                <a:latin typeface="Times New Roman" pitchFamily="18" charset="0"/>
                <a:cs typeface="Times New Roman" pitchFamily="18" charset="0"/>
              </a:rPr>
              <a:t>In Ford-Fulkerson algorithm to find maximum flow in a network</a:t>
            </a:r>
          </a:p>
          <a:p>
            <a:pPr marL="457200" indent="-457200" eaLnBrk="1" fontAlgn="auto" hangingPunct="1">
              <a:spcAft>
                <a:spcPts val="0"/>
              </a:spcAft>
              <a:buFont typeface="+mj-lt"/>
              <a:buAutoNum type="arabicPeriod"/>
              <a:defRPr/>
            </a:pPr>
            <a:r>
              <a:rPr lang="en-US" sz="2400" dirty="0">
                <a:latin typeface="Times New Roman" pitchFamily="18" charset="0"/>
                <a:cs typeface="Times New Roman" pitchFamily="18" charset="0"/>
              </a:rPr>
              <a:t>Cycle detection in an undirected graph</a:t>
            </a:r>
          </a:p>
          <a:p>
            <a:pPr eaLnBrk="1" fontAlgn="auto" hangingPunct="1">
              <a:spcAft>
                <a:spcPts val="0"/>
              </a:spcAft>
              <a:defRPr/>
            </a:pPr>
            <a:endParaRPr lang="en-US" sz="1400" dirty="0"/>
          </a:p>
        </p:txBody>
      </p:sp>
      <p:sp>
        <p:nvSpPr>
          <p:cNvPr id="4" name="Rounded Rectangle 17">
            <a:extLst>
              <a:ext uri="{FF2B5EF4-FFF2-40B4-BE49-F238E27FC236}">
                <a16:creationId xmlns:a16="http://schemas.microsoft.com/office/drawing/2014/main" id="{596F83C3-4271-F3CF-13D9-48C80B18A9A2}"/>
              </a:ext>
            </a:extLst>
          </p:cNvPr>
          <p:cNvSpPr/>
          <p:nvPr/>
        </p:nvSpPr>
        <p:spPr>
          <a:xfrm>
            <a:off x="1668463" y="173038"/>
            <a:ext cx="9148762" cy="7223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IMPORTANT FACTS RELATED TO THE SESSION-BFS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17D6572-C655-AC83-1F38-8A9B179F61A1}"/>
              </a:ext>
            </a:extLst>
          </p:cNvPr>
          <p:cNvSpPr/>
          <p:nvPr/>
        </p:nvSpPr>
        <p:spPr>
          <a:xfrm>
            <a:off x="3390900" y="95250"/>
            <a:ext cx="5410200" cy="411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SELF-ASSESSMENT QUESTIONS</a:t>
            </a:r>
          </a:p>
        </p:txBody>
      </p:sp>
      <p:sp>
        <p:nvSpPr>
          <p:cNvPr id="7" name="Google Shape;502;p17">
            <a:extLst>
              <a:ext uri="{FF2B5EF4-FFF2-40B4-BE49-F238E27FC236}">
                <a16:creationId xmlns:a16="http://schemas.microsoft.com/office/drawing/2014/main" id="{DB75A656-5252-3284-A43F-902D2994838F}"/>
              </a:ext>
            </a:extLst>
          </p:cNvPr>
          <p:cNvSpPr/>
          <p:nvPr/>
        </p:nvSpPr>
        <p:spPr>
          <a:xfrm>
            <a:off x="995363" y="842963"/>
            <a:ext cx="10172700" cy="70961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marL="342900" indent="-342900" eaLnBrk="1" fontAlgn="auto" hangingPunct="1">
              <a:spcBef>
                <a:spcPts val="0"/>
              </a:spcBef>
              <a:spcAft>
                <a:spcPts val="0"/>
              </a:spcAft>
              <a:buFont typeface="+mj-lt"/>
              <a:buAutoNum type="arabicPeriod"/>
              <a:defRPr/>
            </a:pPr>
            <a:endParaRPr lang="en-US" sz="2400" dirty="0">
              <a:latin typeface="+mn-lt"/>
              <a:cs typeface="+mn-cs"/>
            </a:endParaRPr>
          </a:p>
          <a:p>
            <a:pPr marL="342900" indent="-342900" eaLnBrk="1" fontAlgn="auto" hangingPunct="1">
              <a:spcBef>
                <a:spcPts val="0"/>
              </a:spcBef>
              <a:spcAft>
                <a:spcPts val="0"/>
              </a:spcAft>
              <a:buFont typeface="+mj-lt"/>
              <a:buAutoNum type="arabicPeriod"/>
              <a:defRPr/>
            </a:pPr>
            <a:r>
              <a:rPr lang="en-US" sz="2400" dirty="0">
                <a:latin typeface="+mn-lt"/>
                <a:cs typeface="+mn-cs"/>
              </a:rPr>
              <a:t>Breadth First Search is equivalent to which of the traversal in the Binary Trees?</a:t>
            </a:r>
            <a:br>
              <a:rPr lang="en-IN" sz="2400" dirty="0">
                <a:latin typeface="+mn-lt"/>
                <a:cs typeface="+mn-cs"/>
              </a:rPr>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E390E9E1-711A-4654-363A-774C13228431}"/>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50000"/>
              </a:lnSpc>
              <a:spcBef>
                <a:spcPts val="0"/>
              </a:spcBef>
              <a:spcAft>
                <a:spcPts val="0"/>
              </a:spcAft>
              <a:defRPr/>
            </a:pPr>
            <a:endParaRPr lang="en-US" dirty="0"/>
          </a:p>
          <a:p>
            <a:pPr eaLnBrk="1" fontAlgn="auto" hangingPunct="1">
              <a:lnSpc>
                <a:spcPct val="150000"/>
              </a:lnSpc>
              <a:spcBef>
                <a:spcPts val="0"/>
              </a:spcBef>
              <a:spcAft>
                <a:spcPts val="0"/>
              </a:spcAft>
              <a:defRPr/>
            </a:pPr>
            <a:r>
              <a:rPr lang="en-US" dirty="0"/>
              <a:t>a) Pre-order Traversal</a:t>
            </a:r>
            <a:br>
              <a:rPr lang="en-US" dirty="0"/>
            </a:br>
            <a:r>
              <a:rPr lang="en-US" dirty="0"/>
              <a:t>b) Post-order Traversal</a:t>
            </a:r>
            <a:br>
              <a:rPr lang="en-US" dirty="0"/>
            </a:br>
            <a:r>
              <a:rPr lang="en-US" dirty="0"/>
              <a:t>c) Level-order Traversal</a:t>
            </a:r>
            <a:br>
              <a:rPr lang="en-US" dirty="0"/>
            </a:br>
            <a:r>
              <a:rPr lang="en-US" dirty="0"/>
              <a:t>d) In-order Traversal</a:t>
            </a:r>
            <a:br>
              <a:rPr lang="en-IN" dirty="0"/>
            </a:br>
            <a:endParaRPr lang="en-US" dirty="0"/>
          </a:p>
        </p:txBody>
      </p:sp>
      <p:sp>
        <p:nvSpPr>
          <p:cNvPr id="13" name="Google Shape;502;p17">
            <a:extLst>
              <a:ext uri="{FF2B5EF4-FFF2-40B4-BE49-F238E27FC236}">
                <a16:creationId xmlns:a16="http://schemas.microsoft.com/office/drawing/2014/main" id="{2FF65436-B4CB-1D91-7FB4-84F45F2F89C1}"/>
              </a:ext>
            </a:extLst>
          </p:cNvPr>
          <p:cNvSpPr/>
          <p:nvPr/>
        </p:nvSpPr>
        <p:spPr>
          <a:xfrm>
            <a:off x="1009650" y="3821113"/>
            <a:ext cx="10172700" cy="70961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eaLnBrk="1" fontAlgn="auto" hangingPunct="1">
              <a:spcBef>
                <a:spcPts val="0"/>
              </a:spcBef>
              <a:spcAft>
                <a:spcPts val="0"/>
              </a:spcAft>
              <a:defRPr/>
            </a:pPr>
            <a:r>
              <a:rPr lang="en-IN" sz="2400" dirty="0">
                <a:latin typeface="+mn-lt"/>
                <a:cs typeface="+mn-cs"/>
              </a:rPr>
              <a:t>2. </a:t>
            </a:r>
            <a:r>
              <a:rPr lang="en-US" sz="2400" dirty="0">
                <a:latin typeface="+mn-lt"/>
                <a:cs typeface="+mn-cs"/>
              </a:rPr>
              <a:t>Traversal of a graph is different from tree because</a:t>
            </a:r>
            <a:r>
              <a:rPr lang="en-IN" sz="2400" dirty="0">
                <a:latin typeface="+mn-lt"/>
                <a:cs typeface="+mn-cs"/>
              </a:rPr>
              <a:t>?</a:t>
            </a:r>
            <a:br>
              <a:rPr lang="en-IN" sz="2400" dirty="0">
                <a:latin typeface="+mn-lt"/>
                <a:cs typeface="+mn-cs"/>
              </a:rPr>
            </a:br>
            <a:endParaRPr lang="en-IN" sz="2400" dirty="0">
              <a:latin typeface="+mn-lt"/>
              <a:cs typeface="+mn-cs"/>
            </a:endParaRPr>
          </a:p>
        </p:txBody>
      </p:sp>
      <p:sp>
        <p:nvSpPr>
          <p:cNvPr id="14" name="Rounded Rectangle 17">
            <a:extLst>
              <a:ext uri="{FF2B5EF4-FFF2-40B4-BE49-F238E27FC236}">
                <a16:creationId xmlns:a16="http://schemas.microsoft.com/office/drawing/2014/main" id="{E338FA44-C094-094E-948F-F2BE31229991}"/>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eaLnBrk="1" fontAlgn="auto" hangingPunct="1">
              <a:spcBef>
                <a:spcPts val="0"/>
              </a:spcBef>
              <a:spcAft>
                <a:spcPts val="0"/>
              </a:spcAft>
              <a:buFontTx/>
              <a:buAutoNum type="alphaLcParenR"/>
              <a:defRPr/>
            </a:pPr>
            <a:r>
              <a:rPr lang="en-US" dirty="0"/>
              <a:t>There can be a loop in graph so we must maintain a visited flag for every vertex</a:t>
            </a:r>
            <a:endParaRPr lang="en-IN" dirty="0"/>
          </a:p>
          <a:p>
            <a:pPr marL="342900" indent="-342900" eaLnBrk="1" fontAlgn="auto" hangingPunct="1">
              <a:spcBef>
                <a:spcPts val="0"/>
              </a:spcBef>
              <a:spcAft>
                <a:spcPts val="0"/>
              </a:spcAft>
              <a:buFontTx/>
              <a:buAutoNum type="alphaLcParenR"/>
              <a:defRPr/>
            </a:pPr>
            <a:r>
              <a:rPr lang="en-IN" dirty="0"/>
              <a:t> </a:t>
            </a:r>
            <a:r>
              <a:rPr lang="en-US" dirty="0"/>
              <a:t>DFS of a graph uses stack, but </a:t>
            </a:r>
            <a:r>
              <a:rPr lang="en-US" dirty="0" err="1"/>
              <a:t>inorder</a:t>
            </a:r>
            <a:r>
              <a:rPr lang="en-US" dirty="0"/>
              <a:t> traversal of a tree is recursive</a:t>
            </a:r>
          </a:p>
          <a:p>
            <a:pPr marL="342900" indent="-342900" eaLnBrk="1" fontAlgn="auto" hangingPunct="1">
              <a:spcBef>
                <a:spcPts val="0"/>
              </a:spcBef>
              <a:spcAft>
                <a:spcPts val="0"/>
              </a:spcAft>
              <a:buFontTx/>
              <a:buAutoNum type="alphaLcParenR"/>
              <a:defRPr/>
            </a:pPr>
            <a:r>
              <a:rPr lang="en-US" dirty="0"/>
              <a:t>BFS of a graph uses queue, but a time efficient BFS of a tree is recursive.</a:t>
            </a:r>
            <a:endParaRPr lang="en-IN" dirty="0"/>
          </a:p>
          <a:p>
            <a:pPr marL="342900" indent="-342900" eaLnBrk="1" fontAlgn="auto" hangingPunct="1">
              <a:spcBef>
                <a:spcPts val="0"/>
              </a:spcBef>
              <a:spcAft>
                <a:spcPts val="0"/>
              </a:spcAft>
              <a:buFontTx/>
              <a:buAutoNum type="alphaLcParenR"/>
              <a:defRPr/>
            </a:pPr>
            <a:r>
              <a:rPr lang="en-US" dirty="0"/>
              <a:t>All of the above</a:t>
            </a:r>
            <a:endParaRPr lang="en-IN" dirty="0"/>
          </a:p>
        </p:txBody>
      </p:sp>
      <p:pic>
        <p:nvPicPr>
          <p:cNvPr id="23563" name="Picture 2" descr="KL Deemed to be University Logo">
            <a:extLst>
              <a:ext uri="{FF2B5EF4-FFF2-40B4-BE49-F238E27FC236}">
                <a16:creationId xmlns:a16="http://schemas.microsoft.com/office/drawing/2014/main" id="{7249F8BE-D1EB-230C-13B3-F1619F5E12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9FEB0815-51AB-30A7-FA35-C5A4C4844197}"/>
              </a:ext>
            </a:extLst>
          </p:cNvPr>
          <p:cNvSpPr/>
          <p:nvPr/>
        </p:nvSpPr>
        <p:spPr>
          <a:xfrm>
            <a:off x="3390900" y="95250"/>
            <a:ext cx="5410200" cy="411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SELF-ASSESSMENT QUESTIONS</a:t>
            </a:r>
          </a:p>
        </p:txBody>
      </p:sp>
      <p:sp>
        <p:nvSpPr>
          <p:cNvPr id="7" name="Google Shape;502;p17">
            <a:extLst>
              <a:ext uri="{FF2B5EF4-FFF2-40B4-BE49-F238E27FC236}">
                <a16:creationId xmlns:a16="http://schemas.microsoft.com/office/drawing/2014/main" id="{07DEA126-66F9-3CDC-EA8B-49431715E223}"/>
              </a:ext>
            </a:extLst>
          </p:cNvPr>
          <p:cNvSpPr/>
          <p:nvPr/>
        </p:nvSpPr>
        <p:spPr>
          <a:xfrm>
            <a:off x="995363" y="842963"/>
            <a:ext cx="10172700" cy="70961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marL="342900" indent="-342900" eaLnBrk="1" fontAlgn="auto" hangingPunct="1">
              <a:spcBef>
                <a:spcPts val="0"/>
              </a:spcBef>
              <a:spcAft>
                <a:spcPts val="0"/>
              </a:spcAft>
              <a:defRPr/>
            </a:pPr>
            <a:r>
              <a:rPr lang="en-US" sz="2400" dirty="0">
                <a:latin typeface="+mn-lt"/>
                <a:cs typeface="+mn-cs"/>
              </a:rPr>
              <a:t>3. What is the space complexity of BFS?</a:t>
            </a:r>
            <a:br>
              <a:rPr lang="en-IN" sz="2400" dirty="0">
                <a:latin typeface="+mn-lt"/>
                <a:cs typeface="+mn-cs"/>
              </a:rPr>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D3BA5A4C-5C8B-A652-FABA-4E362C0BAB4D}"/>
              </a:ext>
            </a:extLst>
          </p:cNvPr>
          <p:cNvSpPr/>
          <p:nvPr/>
        </p:nvSpPr>
        <p:spPr>
          <a:xfrm>
            <a:off x="1157456" y="1809800"/>
            <a:ext cx="9911138"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50000"/>
              </a:lnSpc>
              <a:spcBef>
                <a:spcPts val="0"/>
              </a:spcBef>
              <a:spcAft>
                <a:spcPts val="0"/>
              </a:spcAft>
              <a:defRPr/>
            </a:pPr>
            <a:br>
              <a:rPr lang="en-IN" dirty="0"/>
            </a:br>
            <a:r>
              <a:rPr lang="en-US" dirty="0"/>
              <a:t>a) O(E)</a:t>
            </a:r>
            <a:br>
              <a:rPr lang="en-US" dirty="0"/>
            </a:br>
            <a:r>
              <a:rPr lang="en-US" dirty="0"/>
              <a:t>b) O(V + E)</a:t>
            </a:r>
            <a:br>
              <a:rPr lang="en-US" dirty="0"/>
            </a:br>
            <a:r>
              <a:rPr lang="en-US" dirty="0"/>
              <a:t>c) O(V)</a:t>
            </a:r>
            <a:br>
              <a:rPr lang="en-US" dirty="0"/>
            </a:br>
            <a:r>
              <a:rPr lang="en-US" dirty="0"/>
              <a:t>d) O(V^2)</a:t>
            </a:r>
          </a:p>
          <a:p>
            <a:pPr eaLnBrk="1" fontAlgn="auto" hangingPunct="1">
              <a:lnSpc>
                <a:spcPct val="150000"/>
              </a:lnSpc>
              <a:spcBef>
                <a:spcPts val="0"/>
              </a:spcBef>
              <a:spcAft>
                <a:spcPts val="0"/>
              </a:spcAft>
              <a:defRPr/>
            </a:pPr>
            <a:endParaRPr lang="en-US" dirty="0"/>
          </a:p>
        </p:txBody>
      </p:sp>
      <p:sp>
        <p:nvSpPr>
          <p:cNvPr id="13" name="Google Shape;502;p17">
            <a:extLst>
              <a:ext uri="{FF2B5EF4-FFF2-40B4-BE49-F238E27FC236}">
                <a16:creationId xmlns:a16="http://schemas.microsoft.com/office/drawing/2014/main" id="{EAAF873F-A184-EA52-BBB7-B9DD8C1401F6}"/>
              </a:ext>
            </a:extLst>
          </p:cNvPr>
          <p:cNvSpPr/>
          <p:nvPr/>
        </p:nvSpPr>
        <p:spPr>
          <a:xfrm>
            <a:off x="966788" y="3821113"/>
            <a:ext cx="10172700" cy="70961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eaLnBrk="1" fontAlgn="auto" hangingPunct="1">
              <a:spcBef>
                <a:spcPts val="0"/>
              </a:spcBef>
              <a:spcAft>
                <a:spcPts val="0"/>
              </a:spcAft>
              <a:defRPr/>
            </a:pPr>
            <a:r>
              <a:rPr lang="en-IN" sz="2400" dirty="0">
                <a:latin typeface="+mn-lt"/>
                <a:cs typeface="+mn-cs"/>
              </a:rPr>
              <a:t>4.</a:t>
            </a:r>
            <a:r>
              <a:rPr lang="en-US" sz="2400" dirty="0">
                <a:latin typeface="+mn-lt"/>
                <a:cs typeface="+mn-cs"/>
              </a:rPr>
              <a:t> Which data structure is primarily used in the BFS algorithm?</a:t>
            </a:r>
            <a:br>
              <a:rPr lang="en-IN" sz="2400" dirty="0">
                <a:latin typeface="+mn-lt"/>
                <a:cs typeface="+mn-cs"/>
              </a:rPr>
            </a:br>
            <a:endParaRPr lang="en-IN" sz="2400" dirty="0">
              <a:latin typeface="+mn-lt"/>
              <a:cs typeface="+mn-cs"/>
            </a:endParaRPr>
          </a:p>
        </p:txBody>
      </p:sp>
      <p:sp>
        <p:nvSpPr>
          <p:cNvPr id="14" name="Rounded Rectangle 17">
            <a:extLst>
              <a:ext uri="{FF2B5EF4-FFF2-40B4-BE49-F238E27FC236}">
                <a16:creationId xmlns:a16="http://schemas.microsoft.com/office/drawing/2014/main" id="{3D13125A-AB95-CA16-E7B9-3663EEFC41AD}"/>
              </a:ext>
            </a:extLst>
          </p:cNvPr>
          <p:cNvSpPr/>
          <p:nvPr/>
        </p:nvSpPr>
        <p:spPr>
          <a:xfrm>
            <a:off x="1184066" y="4805574"/>
            <a:ext cx="10093534"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eaLnBrk="1" fontAlgn="auto" hangingPunct="1">
              <a:spcBef>
                <a:spcPts val="0"/>
              </a:spcBef>
              <a:spcAft>
                <a:spcPts val="0"/>
              </a:spcAft>
              <a:buFontTx/>
              <a:buAutoNum type="alphaLcParenR"/>
              <a:defRPr/>
            </a:pPr>
            <a:r>
              <a:rPr lang="en-US" dirty="0"/>
              <a:t>Stack</a:t>
            </a:r>
          </a:p>
          <a:p>
            <a:pPr marL="342900" indent="-342900" eaLnBrk="1" fontAlgn="auto" hangingPunct="1">
              <a:spcBef>
                <a:spcPts val="0"/>
              </a:spcBef>
              <a:spcAft>
                <a:spcPts val="0"/>
              </a:spcAft>
              <a:buFontTx/>
              <a:buAutoNum type="alphaLcParenR"/>
              <a:defRPr/>
            </a:pPr>
            <a:r>
              <a:rPr lang="en-US" dirty="0"/>
              <a:t> Queue</a:t>
            </a:r>
          </a:p>
          <a:p>
            <a:pPr marL="342900" indent="-342900" eaLnBrk="1" fontAlgn="auto" hangingPunct="1">
              <a:spcBef>
                <a:spcPts val="0"/>
              </a:spcBef>
              <a:spcAft>
                <a:spcPts val="0"/>
              </a:spcAft>
              <a:defRPr/>
            </a:pPr>
            <a:r>
              <a:rPr lang="en-US" dirty="0"/>
              <a:t>c)    Linked List</a:t>
            </a:r>
          </a:p>
          <a:p>
            <a:pPr marL="342900" indent="-342900" eaLnBrk="1" fontAlgn="auto" hangingPunct="1">
              <a:spcBef>
                <a:spcPts val="0"/>
              </a:spcBef>
              <a:spcAft>
                <a:spcPts val="0"/>
              </a:spcAft>
              <a:defRPr/>
            </a:pPr>
            <a:r>
              <a:rPr lang="en-US" dirty="0"/>
              <a:t>d)    Array</a:t>
            </a:r>
          </a:p>
          <a:p>
            <a:pPr marL="342900" indent="-342900" eaLnBrk="1" fontAlgn="auto" hangingPunct="1">
              <a:spcBef>
                <a:spcPts val="0"/>
              </a:spcBef>
              <a:spcAft>
                <a:spcPts val="0"/>
              </a:spcAft>
              <a:defRPr/>
            </a:pPr>
            <a:endParaRPr lang="en-IN" dirty="0"/>
          </a:p>
        </p:txBody>
      </p:sp>
      <p:pic>
        <p:nvPicPr>
          <p:cNvPr id="24587" name="Picture 2" descr="KL Deemed to be University Logo">
            <a:extLst>
              <a:ext uri="{FF2B5EF4-FFF2-40B4-BE49-F238E27FC236}">
                <a16:creationId xmlns:a16="http://schemas.microsoft.com/office/drawing/2014/main" id="{899A0ECF-DB1C-36C6-5115-BBA559C6D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8" name="Rectangle 1">
            <a:extLst>
              <a:ext uri="{FF2B5EF4-FFF2-40B4-BE49-F238E27FC236}">
                <a16:creationId xmlns:a16="http://schemas.microsoft.com/office/drawing/2014/main" id="{6DA67D27-FB64-37B4-1BB0-280638EB5D2F}"/>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latin typeface="Calibri" panose="020F0502020204030204" pitchFamily="34" charset="0"/>
                <a:cs typeface="Times New Roman" panose="02020603050405020304" pitchFamily="18" charset="0"/>
              </a:rPr>
              <a:t>a) O(E)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b) O(V + 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c) O(V)</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d) O(V^2)</a:t>
            </a:r>
            <a:endParaRPr lang="en-US" altLang="en-US"/>
          </a:p>
        </p:txBody>
      </p:sp>
      <p:sp>
        <p:nvSpPr>
          <p:cNvPr id="24589" name="Rectangle 2">
            <a:extLst>
              <a:ext uri="{FF2B5EF4-FFF2-40B4-BE49-F238E27FC236}">
                <a16:creationId xmlns:a16="http://schemas.microsoft.com/office/drawing/2014/main" id="{5FE60F44-A246-B97E-518E-E15F3363F688}"/>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latin typeface="Calibri" panose="020F0502020204030204" pitchFamily="34" charset="0"/>
                <a:cs typeface="Times New Roman" panose="02020603050405020304" pitchFamily="18" charset="0"/>
              </a:rPr>
              <a:t>a) O(E)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b) O(V + 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c) O(V)</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d) O(V^2)</a:t>
            </a:r>
            <a:endParaRPr lang="en-US" altLang="en-US"/>
          </a:p>
        </p:txBody>
      </p:sp>
      <p:sp>
        <p:nvSpPr>
          <p:cNvPr id="24590" name="Rectangle 3">
            <a:extLst>
              <a:ext uri="{FF2B5EF4-FFF2-40B4-BE49-F238E27FC236}">
                <a16:creationId xmlns:a16="http://schemas.microsoft.com/office/drawing/2014/main" id="{7919BE48-10BA-F913-84EE-B5D9F8662BB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latin typeface="Calibri" panose="020F0502020204030204" pitchFamily="34" charset="0"/>
                <a:cs typeface="Times New Roman" panose="02020603050405020304" pitchFamily="18" charset="0"/>
              </a:rPr>
              <a:t>a) Stack</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b) Queue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c) Linked List</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d) Array</a:t>
            </a:r>
            <a:endParaRPr lang="en-US" altLang="en-US"/>
          </a:p>
        </p:txBody>
      </p:sp>
      <p:sp>
        <p:nvSpPr>
          <p:cNvPr id="24591" name="Rectangle 4">
            <a:extLst>
              <a:ext uri="{FF2B5EF4-FFF2-40B4-BE49-F238E27FC236}">
                <a16:creationId xmlns:a16="http://schemas.microsoft.com/office/drawing/2014/main" id="{C19A3CBB-1031-8C76-CE14-1A723709FEB3}"/>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latin typeface="Calibri" panose="020F0502020204030204" pitchFamily="34" charset="0"/>
                <a:cs typeface="Times New Roman" panose="02020603050405020304" pitchFamily="18" charset="0"/>
              </a:rPr>
              <a:t>a) Stack</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b) Queue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c) Linked List</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d) Array</a:t>
            </a:r>
            <a:endParaRPr lang="en-US" altLang="en-US"/>
          </a:p>
        </p:txBody>
      </p:sp>
      <p:sp>
        <p:nvSpPr>
          <p:cNvPr id="24592" name="Rectangle 5">
            <a:extLst>
              <a:ext uri="{FF2B5EF4-FFF2-40B4-BE49-F238E27FC236}">
                <a16:creationId xmlns:a16="http://schemas.microsoft.com/office/drawing/2014/main" id="{7B3D27B6-2B33-9790-CCFF-1F254C8B69E6}"/>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latin typeface="Calibri" panose="020F0502020204030204" pitchFamily="34" charset="0"/>
                <a:cs typeface="Times New Roman" panose="02020603050405020304" pitchFamily="18" charset="0"/>
              </a:rPr>
              <a:t>a) Stack</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b) Queue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c) Linked List</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d) Array</a:t>
            </a:r>
            <a:endParaRPr lang="en-US" altLang="en-US"/>
          </a:p>
        </p:txBody>
      </p:sp>
      <p:sp>
        <p:nvSpPr>
          <p:cNvPr id="24593" name="Rectangle 6">
            <a:extLst>
              <a:ext uri="{FF2B5EF4-FFF2-40B4-BE49-F238E27FC236}">
                <a16:creationId xmlns:a16="http://schemas.microsoft.com/office/drawing/2014/main" id="{31104B9A-C0AF-64FF-68AE-34B1FA3378F6}"/>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latin typeface="Calibri" panose="020F0502020204030204" pitchFamily="34" charset="0"/>
                <a:cs typeface="Times New Roman" panose="02020603050405020304" pitchFamily="18" charset="0"/>
              </a:rPr>
              <a:t>a) Stack</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b) Queue</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c) Linked List</a:t>
            </a:r>
            <a:br>
              <a:rPr lang="en-US" altLang="en-US" sz="1200">
                <a:latin typeface="Calibri" panose="020F0502020204030204" pitchFamily="34" charset="0"/>
                <a:cs typeface="Times New Roman" panose="02020603050405020304" pitchFamily="18" charset="0"/>
              </a:rPr>
            </a:br>
            <a:r>
              <a:rPr lang="en-US" altLang="en-US" sz="1200">
                <a:latin typeface="Calibri" panose="020F0502020204030204" pitchFamily="34" charset="0"/>
                <a:cs typeface="Times New Roman" panose="02020603050405020304" pitchFamily="18" charset="0"/>
              </a:rPr>
              <a:t>d) Array</a:t>
            </a:r>
            <a:endParaRPr lang="en-US"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7238CC7-EC52-BB12-23F7-18E39EE59EC3}"/>
              </a:ext>
            </a:extLst>
          </p:cNvPr>
          <p:cNvSpPr/>
          <p:nvPr/>
        </p:nvSpPr>
        <p:spPr>
          <a:xfrm>
            <a:off x="3390900" y="95250"/>
            <a:ext cx="5410200" cy="411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TERMINAL QUESTIONS</a:t>
            </a:r>
          </a:p>
        </p:txBody>
      </p:sp>
      <p:sp>
        <p:nvSpPr>
          <p:cNvPr id="25603" name="TextBox 8">
            <a:extLst>
              <a:ext uri="{FF2B5EF4-FFF2-40B4-BE49-F238E27FC236}">
                <a16:creationId xmlns:a16="http://schemas.microsoft.com/office/drawing/2014/main" id="{E45FBA91-9B2A-1561-44E0-EAF6D632A344}"/>
              </a:ext>
            </a:extLst>
          </p:cNvPr>
          <p:cNvSpPr txBox="1">
            <a:spLocks noChangeArrowheads="1"/>
          </p:cNvSpPr>
          <p:nvPr/>
        </p:nvSpPr>
        <p:spPr bwMode="auto">
          <a:xfrm>
            <a:off x="900113" y="1168400"/>
            <a:ext cx="960913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200000"/>
              </a:lnSpc>
            </a:pPr>
            <a:r>
              <a:rPr lang="en-US" altLang="en-US" b="1">
                <a:latin typeface="Calibri" panose="020F0502020204030204" pitchFamily="34" charset="0"/>
              </a:rPr>
              <a:t>1. Describe the Breadth First Search (BFS) in a graph or tree?</a:t>
            </a:r>
          </a:p>
          <a:p>
            <a:pPr eaLnBrk="1" hangingPunct="1">
              <a:lnSpc>
                <a:spcPct val="200000"/>
              </a:lnSpc>
            </a:pPr>
            <a:r>
              <a:rPr lang="en-US" altLang="en-US" b="1">
                <a:latin typeface="Calibri" panose="020F0502020204030204" pitchFamily="34" charset="0"/>
              </a:rPr>
              <a:t>2. Describe the BFS algorithm work in a C program?</a:t>
            </a:r>
          </a:p>
          <a:p>
            <a:pPr eaLnBrk="1" hangingPunct="1">
              <a:lnSpc>
                <a:spcPct val="200000"/>
              </a:lnSpc>
            </a:pPr>
            <a:r>
              <a:rPr lang="en-US" altLang="en-US" b="1">
                <a:latin typeface="Calibri" panose="020F0502020204030204" pitchFamily="34" charset="0"/>
              </a:rPr>
              <a:t>3. Can BFS be used to search in un weighted and weighted graphs?</a:t>
            </a:r>
          </a:p>
          <a:p>
            <a:pPr eaLnBrk="1" hangingPunct="1">
              <a:lnSpc>
                <a:spcPct val="200000"/>
              </a:lnSpc>
            </a:pPr>
            <a:r>
              <a:rPr lang="en-US" altLang="en-US" b="1">
                <a:latin typeface="Calibri" panose="020F0502020204030204" pitchFamily="34" charset="0"/>
              </a:rPr>
              <a:t>4. What are the space and time complexities of BFS?</a:t>
            </a:r>
          </a:p>
          <a:p>
            <a:pPr eaLnBrk="1" hangingPunct="1">
              <a:lnSpc>
                <a:spcPct val="200000"/>
              </a:lnSpc>
            </a:pPr>
            <a:r>
              <a:rPr lang="en-US" altLang="en-US" b="1">
                <a:latin typeface="Calibri" panose="020F0502020204030204" pitchFamily="34" charset="0"/>
              </a:rPr>
              <a:t>5. How does BFS handle disconnected graphs?</a:t>
            </a:r>
          </a:p>
          <a:p>
            <a:pPr eaLnBrk="1" hangingPunct="1">
              <a:lnSpc>
                <a:spcPct val="200000"/>
              </a:lnSpc>
            </a:pPr>
            <a:r>
              <a:rPr lang="en-US" altLang="en-US" b="1">
                <a:latin typeface="Calibri" panose="020F0502020204030204" pitchFamily="34" charset="0"/>
              </a:rPr>
              <a:t>6. When would you use BFS?</a:t>
            </a:r>
          </a:p>
        </p:txBody>
      </p:sp>
      <p:pic>
        <p:nvPicPr>
          <p:cNvPr id="25604" name="Picture 2" descr="KL Deemed to be University Logo">
            <a:extLst>
              <a:ext uri="{FF2B5EF4-FFF2-40B4-BE49-F238E27FC236}">
                <a16:creationId xmlns:a16="http://schemas.microsoft.com/office/drawing/2014/main" id="{42AE49B9-AF2E-334A-C693-C30570EED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80DCF2A-4272-8D80-26A9-9BEAA421E4A1}"/>
              </a:ext>
            </a:extLst>
          </p:cNvPr>
          <p:cNvSpPr/>
          <p:nvPr/>
        </p:nvSpPr>
        <p:spPr>
          <a:xfrm>
            <a:off x="2160588" y="93663"/>
            <a:ext cx="7105650" cy="4127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26627" name="TextBox 8">
            <a:extLst>
              <a:ext uri="{FF2B5EF4-FFF2-40B4-BE49-F238E27FC236}">
                <a16:creationId xmlns:a16="http://schemas.microsoft.com/office/drawing/2014/main" id="{4207DC9D-CB70-8E8C-6DDD-AD32959E67A5}"/>
              </a:ext>
            </a:extLst>
          </p:cNvPr>
          <p:cNvSpPr txBox="1">
            <a:spLocks noChangeArrowheads="1"/>
          </p:cNvSpPr>
          <p:nvPr/>
        </p:nvSpPr>
        <p:spPr bwMode="auto">
          <a:xfrm>
            <a:off x="436563" y="1012825"/>
            <a:ext cx="11509375"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3429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150000"/>
              </a:lnSpc>
            </a:pPr>
            <a:r>
              <a:rPr lang="en-US" altLang="en-US" sz="2400" b="1">
                <a:latin typeface="Calibri" panose="020F0502020204030204" pitchFamily="34" charset="0"/>
              </a:rPr>
              <a:t>Reference Books:</a:t>
            </a:r>
            <a:endParaRPr lang="en-US" altLang="en-US" sz="2400">
              <a:latin typeface="Calibri" panose="020F0502020204030204" pitchFamily="34" charset="0"/>
            </a:endParaRPr>
          </a:p>
          <a:p>
            <a:pPr lvl="1" eaLnBrk="1" hangingPunct="1">
              <a:lnSpc>
                <a:spcPct val="150000"/>
              </a:lnSpc>
              <a:buFontTx/>
              <a:buAutoNum type="arabicPeriod"/>
            </a:pPr>
            <a:r>
              <a:rPr lang="en-US" altLang="en-US">
                <a:latin typeface="Calibri" panose="020F0502020204030204" pitchFamily="34" charset="0"/>
              </a:rPr>
              <a:t>Mark Allen Weiss, Data Structures and Algorithm Analysis in C, 2010 , Second Edition, PearsonEducation.</a:t>
            </a:r>
            <a:endParaRPr lang="en-IN" altLang="en-US" sz="2400">
              <a:latin typeface="Calibri" panose="020F0502020204030204" pitchFamily="34" charset="0"/>
            </a:endParaRPr>
          </a:p>
          <a:p>
            <a:pPr lvl="1" eaLnBrk="1" hangingPunct="1">
              <a:lnSpc>
                <a:spcPct val="150000"/>
              </a:lnSpc>
              <a:buFontTx/>
              <a:buAutoNum type="arabicPeriod"/>
            </a:pPr>
            <a:r>
              <a:rPr lang="en-US" altLang="en-US">
                <a:latin typeface="Calibri" panose="020F0502020204030204" pitchFamily="34" charset="0"/>
              </a:rPr>
              <a:t>2. Ellis Horowitz, Fundamentals of Data Structures in C: Second Edition, 2015</a:t>
            </a:r>
          </a:p>
          <a:p>
            <a:pPr lvl="1" eaLnBrk="1" hangingPunct="1">
              <a:lnSpc>
                <a:spcPct val="150000"/>
              </a:lnSpc>
              <a:buFontTx/>
              <a:buAutoNum type="arabicPeriod"/>
            </a:pPr>
            <a:r>
              <a:rPr lang="en-US" altLang="en-US">
                <a:latin typeface="Calibri" panose="020F0502020204030204" pitchFamily="34" charset="0"/>
              </a:rPr>
              <a:t>A.V.Aho, J. E. Hopcroft, and J. D. Ullman, “Data Structures And Algorithms”, Pearson Education, First Edition Reprint2003.</a:t>
            </a:r>
            <a:endParaRPr lang="en-IN" altLang="en-US">
              <a:latin typeface="Calibri" panose="020F0502020204030204" pitchFamily="34" charset="0"/>
            </a:endParaRPr>
          </a:p>
          <a:p>
            <a:pPr eaLnBrk="1" hangingPunct="1">
              <a:lnSpc>
                <a:spcPct val="150000"/>
              </a:lnSpc>
            </a:pPr>
            <a:endParaRPr lang="en-US" altLang="en-US" b="1">
              <a:latin typeface="Calibri" panose="020F0502020204030204" pitchFamily="34" charset="0"/>
            </a:endParaRPr>
          </a:p>
          <a:p>
            <a:pPr eaLnBrk="1" hangingPunct="1">
              <a:lnSpc>
                <a:spcPct val="150000"/>
              </a:lnSpc>
            </a:pPr>
            <a:r>
              <a:rPr lang="en-US" altLang="en-US" sz="2400" b="1">
                <a:latin typeface="Calibri" panose="020F0502020204030204" pitchFamily="34" charset="0"/>
              </a:rPr>
              <a:t>Sites and Web links:</a:t>
            </a:r>
          </a:p>
          <a:p>
            <a:pPr eaLnBrk="1" hangingPunct="1">
              <a:lnSpc>
                <a:spcPct val="150000"/>
              </a:lnSpc>
            </a:pPr>
            <a:r>
              <a:rPr lang="en-US" altLang="en-US">
                <a:latin typeface="Calibri" panose="020F0502020204030204" pitchFamily="34" charset="0"/>
              </a:rPr>
              <a:t>1. </a:t>
            </a:r>
            <a:r>
              <a:rPr lang="en-US" altLang="en-US">
                <a:latin typeface="Calibri" panose="020F0502020204030204" pitchFamily="34" charset="0"/>
                <a:hlinkClick r:id="rId2"/>
              </a:rPr>
              <a:t>https://nptel.ac.in/courses/106102064</a:t>
            </a:r>
            <a:endParaRPr lang="en-IN" altLang="en-US">
              <a:latin typeface="Calibri" panose="020F0502020204030204" pitchFamily="34" charset="0"/>
            </a:endParaRPr>
          </a:p>
          <a:p>
            <a:pPr eaLnBrk="1" hangingPunct="1"/>
            <a:r>
              <a:rPr lang="en-US" altLang="en-US">
                <a:latin typeface="Calibri" panose="020F0502020204030204" pitchFamily="34" charset="0"/>
                <a:hlinkClick r:id="rId3"/>
              </a:rPr>
              <a:t>2. https://in.udacity.com/course/intro-to-algorithms--cs215</a:t>
            </a:r>
            <a:endParaRPr lang="en-IN" altLang="en-US">
              <a:latin typeface="Calibri" panose="020F0502020204030204" pitchFamily="34" charset="0"/>
            </a:endParaRPr>
          </a:p>
          <a:p>
            <a:pPr eaLnBrk="1" hangingPunct="1"/>
            <a:r>
              <a:rPr lang="en-US" altLang="en-US">
                <a:latin typeface="Calibri" panose="020F0502020204030204" pitchFamily="34" charset="0"/>
              </a:rPr>
              <a:t>3. </a:t>
            </a:r>
            <a:r>
              <a:rPr lang="en-US" altLang="en-US">
                <a:latin typeface="Calibri" panose="020F0502020204030204" pitchFamily="34" charset="0"/>
                <a:hlinkClick r:id="rId4"/>
              </a:rPr>
              <a:t>https://www.coursera.org/learn/data-structures?action=enroll</a:t>
            </a:r>
            <a:endParaRPr lang="en-US" altLang="en-US">
              <a:latin typeface="Calibri" panose="020F0502020204030204" pitchFamily="34" charset="0"/>
            </a:endParaRPr>
          </a:p>
          <a:p>
            <a:pPr eaLnBrk="1" hangingPunct="1">
              <a:lnSpc>
                <a:spcPct val="150000"/>
              </a:lnSpc>
            </a:pPr>
            <a:endParaRPr lang="en-US" altLang="en-US">
              <a:latin typeface="Calibri" panose="020F0502020204030204" pitchFamily="34" charset="0"/>
            </a:endParaRPr>
          </a:p>
        </p:txBody>
      </p:sp>
      <p:pic>
        <p:nvPicPr>
          <p:cNvPr id="26628" name="Picture 2" descr="KL Deemed to be University Logo">
            <a:extLst>
              <a:ext uri="{FF2B5EF4-FFF2-40B4-BE49-F238E27FC236}">
                <a16:creationId xmlns:a16="http://schemas.microsoft.com/office/drawing/2014/main" id="{BA23FB6E-B517-FB3E-8473-6326FCA284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D2A2443F-41CD-FDB6-513C-378BF047F948}"/>
              </a:ext>
            </a:extLst>
          </p:cNvPr>
          <p:cNvSpPr/>
          <p:nvPr/>
        </p:nvSpPr>
        <p:spPr>
          <a:xfrm>
            <a:off x="2601913" y="1857375"/>
            <a:ext cx="7920037" cy="2882900"/>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b="1" dirty="0">
              <a:latin typeface="Poppins" pitchFamily="2" charset="77"/>
              <a:cs typeface="Poppins" pitchFamily="2" charset="77"/>
            </a:endParaRPr>
          </a:p>
          <a:p>
            <a:pPr algn="ctr" eaLnBrk="1" fontAlgn="auto" hangingPunct="1">
              <a:spcBef>
                <a:spcPts val="0"/>
              </a:spcBef>
              <a:spcAft>
                <a:spcPts val="0"/>
              </a:spcAft>
              <a:defRPr/>
            </a:pPr>
            <a:r>
              <a:rPr lang="en-US" sz="3200" b="1" dirty="0">
                <a:latin typeface="Poppins" pitchFamily="2" charset="77"/>
                <a:cs typeface="Poppins" pitchFamily="2" charset="77"/>
              </a:rPr>
              <a:t>THANK YOU</a:t>
            </a: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endParaRPr lang="en-US" sz="2400" dirty="0">
              <a:latin typeface="Poppins" pitchFamily="2" charset="77"/>
              <a:cs typeface="Poppins" pitchFamily="2" charset="77"/>
            </a:endParaRPr>
          </a:p>
          <a:p>
            <a:pPr algn="ctr" eaLnBrk="1" fontAlgn="auto" hangingPunct="1">
              <a:spcBef>
                <a:spcPts val="0"/>
              </a:spcBef>
              <a:spcAft>
                <a:spcPts val="0"/>
              </a:spcAft>
              <a:defRPr/>
            </a:pP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eaLnBrk="1" fontAlgn="auto" hangingPunct="1">
              <a:spcBef>
                <a:spcPts val="0"/>
              </a:spcBef>
              <a:spcAft>
                <a:spcPts val="0"/>
              </a:spcAft>
              <a:defRPr/>
            </a:pPr>
            <a:endParaRPr lang="en-US" sz="2400" dirty="0">
              <a:solidFill>
                <a:schemeClr val="bg1"/>
              </a:solidFill>
              <a:latin typeface="Poppins" pitchFamily="2" charset="77"/>
              <a:cs typeface="Poppins" pitchFamily="2" charset="77"/>
            </a:endParaRPr>
          </a:p>
          <a:p>
            <a:pPr algn="ctr" eaLnBrk="1" fontAlgn="auto" hangingPunct="1">
              <a:spcBef>
                <a:spcPts val="0"/>
              </a:spcBef>
              <a:spcAft>
                <a:spcPts val="0"/>
              </a:spcAft>
              <a:defRPr/>
            </a:pPr>
            <a:endParaRPr lang="en-US" sz="2400" dirty="0">
              <a:solidFill>
                <a:schemeClr val="bg1"/>
              </a:solidFill>
              <a:latin typeface="Poppins" pitchFamily="2" charset="77"/>
              <a:cs typeface="Poppins" pitchFamily="2" charset="77"/>
            </a:endParaRPr>
          </a:p>
          <a:p>
            <a:pPr algn="ctr" eaLnBrk="1" fontAlgn="auto" hangingPunct="1">
              <a:spcBef>
                <a:spcPts val="0"/>
              </a:spcBef>
              <a:spcAft>
                <a:spcPts val="0"/>
              </a:spcAft>
              <a:defRPr/>
            </a:pPr>
            <a:endParaRPr lang="en-US" sz="2400" dirty="0">
              <a:solidFill>
                <a:schemeClr val="bg1"/>
              </a:solidFill>
              <a:latin typeface="Poppins" pitchFamily="2" charset="77"/>
              <a:cs typeface="Poppins" pitchFamily="2" charset="77"/>
            </a:endParaRPr>
          </a:p>
        </p:txBody>
      </p:sp>
      <p:pic>
        <p:nvPicPr>
          <p:cNvPr id="27651" name="Picture 2" descr="KL Deemed to be University Logo">
            <a:extLst>
              <a:ext uri="{FF2B5EF4-FFF2-40B4-BE49-F238E27FC236}">
                <a16:creationId xmlns:a16="http://schemas.microsoft.com/office/drawing/2014/main" id="{33FD7B1A-7AD9-C688-4E1B-0F7B2D130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975" y="2560638"/>
            <a:ext cx="32353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3277</TotalTime>
  <Words>1197</Words>
  <Application>Microsoft Office PowerPoint</Application>
  <PresentationFormat>Widescreen</PresentationFormat>
  <Paragraphs>118</Paragraphs>
  <Slides>13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Calibri Light</vt:lpstr>
      <vt:lpstr>Calibri</vt:lpstr>
      <vt:lpstr>Poppins</vt:lpstr>
      <vt:lpstr>BioRhyme ExtraBold</vt:lpstr>
      <vt:lpstr>Times New Roman</vt:lpstr>
      <vt:lpstr>Tahoma</vt:lpstr>
      <vt:lpstr>Wingdings</vt:lpstr>
      <vt:lpstr>euclid_circular_a</vt:lpstr>
      <vt:lpstr>Yu Gothic UI Semibold</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BFS Algorithm Complexity  The time complexity of the BFS algorithm is represented in the form of O(V + E), where V is the number of nodes and E is the number of edges. The space complexity of the algorithm is O(V).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SANAKA HIMA NAGA SAI</cp:lastModifiedBy>
  <cp:revision>104</cp:revision>
  <dcterms:created xsi:type="dcterms:W3CDTF">2020-02-08T09:57:44Z</dcterms:created>
  <dcterms:modified xsi:type="dcterms:W3CDTF">2024-12-16T11:24:36Z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