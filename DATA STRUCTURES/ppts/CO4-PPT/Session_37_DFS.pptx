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17"/>
  </p:notesMasterIdLst>
  <p:sldIdLst>
    <p:sldId id="271" r:id="rId4"/>
    <p:sldId id="300" r:id="rId5"/>
    <p:sldId id="258" r:id="rId6"/>
    <p:sldId id="312" r:id="rId7"/>
    <p:sldId id="315" r:id="rId8"/>
    <p:sldId id="316" r:id="rId9"/>
    <p:sldId id="317" r:id="rId10"/>
    <p:sldId id="318" r:id="rId11"/>
    <p:sldId id="314" r:id="rId12"/>
    <p:sldId id="319" r:id="rId13"/>
    <p:sldId id="302" r:id="rId14"/>
    <p:sldId id="303" r:id="rId15"/>
    <p:sldId id="304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7273E-1FB4-2151-8741-ECA8B5FE1C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BCD8E-9CCE-722A-8743-DFFB5375BCF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0B99A21-7C9F-483C-A590-E88528803805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753242-113A-E475-C420-7A729961E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602577-F195-67DB-5726-B37A257AE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78E90-6A48-0111-CE2E-A8BA013A1C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79420-33DC-2567-8D26-7B8A202CE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15F293E-857F-4BBA-A824-EE72C840DA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461;p16:notes">
            <a:extLst>
              <a:ext uri="{FF2B5EF4-FFF2-40B4-BE49-F238E27FC236}">
                <a16:creationId xmlns:a16="http://schemas.microsoft.com/office/drawing/2014/main" id="{DE098601-8820-35EB-545B-2F9E6E9C75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39" name="Google Shape;462;p16:notes">
            <a:extLst>
              <a:ext uri="{FF2B5EF4-FFF2-40B4-BE49-F238E27FC236}">
                <a16:creationId xmlns:a16="http://schemas.microsoft.com/office/drawing/2014/main" id="{C0A2CCD3-54C8-7D3B-E2E3-F1970D34C1D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89319029-C85B-B9A1-C25C-B5F4559428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141C4499-132F-5E2A-ACE0-B1D9939BAA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5997CB0-BC3D-6EA9-586C-959533550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2943C4-2998-41C9-B2C1-1315195C7135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0E55-C9B3-C571-7C13-A2A72A53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DAF6CB-BB9E-4D67-B88D-3E5021FE7F7D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3479-5716-8BBA-A7D7-D3711C50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78F08-CEE2-9B58-F851-8E6BC7D4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C03A2DC-0AFA-42F2-9F1A-8086783061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235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05D48-6141-97BA-A79B-9200137B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673D2A-D11D-49FB-822B-44396B3F6B74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69860-C963-00F8-DEF6-3368221A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2DFE5-97AF-FA73-6D21-4C01A5A8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AD5B7E9-0350-479D-B0BD-45F1DD279C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64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D16AB-5A5D-F81B-8FA8-1D17EAE3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DBC2726-54D3-4501-8E8F-AE7970F3E1F7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032A0-A5DD-7D8C-7C3A-C3BCA107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5B3A-B9CD-BCE2-E241-7ADB90F6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DCCA3B5-4F17-4AD4-9A37-2C7B3D6808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5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320DC-A2AB-1A84-B7CA-0F36393C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CF7C6C-4234-488C-8798-25EE4D4E4D0D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88541-225E-8205-E69B-D43BC03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9ED67-A2FC-60AF-4EF7-37332051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D13EE74-DBCC-4FA6-911E-F361C8268F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97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2E566-968A-7581-45D1-10B1BF75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63D26D7-7EC2-4A2A-9A96-FF6361C9A59D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8F35B-BED0-E63F-A93A-3E0BBD73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DB154-35DA-F48D-4117-0B7B66BF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B1833B8-9642-4DBB-A961-14D0D8EBB2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46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7BEBE-89CA-C3FC-D473-1F7890AA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744A57-5BD1-4705-A9DF-6E17EEC2FB90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5C793-001F-3030-ACE3-A91C0E3E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D586B-6565-90EC-CA9A-8F9BC215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6E85CF4-9877-4567-A404-4E29F34E40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0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A3AB3-684C-8731-CBD9-DF7E667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C4CE3AD-C7CF-4308-B712-4B25A1B1EF00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82D6D-E773-D494-7EBC-BE83425C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47CCC-5413-B00D-C45F-A461CB69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946A00C-3D8C-4020-980B-B10503CE4B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92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08237-69AA-9876-C468-7997CB3F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208EB62-DB52-4448-B8DC-356F9DB20B68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CBA98-6EF1-21CD-D9F2-E027F063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D34C9-1CAA-0952-BE60-5FF976C8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760979D-32D6-47E1-8920-C5CF11257E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281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3E53B-FA54-1BE4-AD2D-10CCAAB4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84F29DD-48BD-41BB-9C15-B6468AEACAD1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1BA6A-0449-FF2E-F659-F7BC47D2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332D-C272-2B4A-C75D-DD595F98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171BD-85C0-4875-889B-D293C8603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86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F811C-2AD4-3545-4A2B-A777B6A4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51BC72-F946-4831-A2F3-DB0E31A7F875}" type="datetimeFigureOut">
              <a:rPr lang="en-US"/>
              <a:pPr>
                <a:defRPr/>
              </a:pPr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BDDDC-6E66-1A84-B699-F62985F2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E167A-2EFE-9FAA-2590-C5B6EC7B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4E6667F-4529-488F-A69D-5314BFE4BA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52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 noProof="0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69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>
            <a:alpha val="2078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68DFEF4E-DE36-4EF6-B50D-90476A5B15D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AD85CB-C336-1892-A2B3-9D42614C56A7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99488-9A4D-55F6-4470-019762B3ADA7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B1E9ACE0-DB04-4F4A-B2C4-4B6655EE05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1030" name="TextBox 6">
            <a:extLst>
              <a:ext uri="{FF2B5EF4-FFF2-40B4-BE49-F238E27FC236}">
                <a16:creationId xmlns:a16="http://schemas.microsoft.com/office/drawing/2014/main" id="{0D45C65E-959B-39B0-478F-0DF339313C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02413"/>
            <a:ext cx="2132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F2F2F2"/>
                </a:solidFill>
                <a:latin typeface="Calibri" panose="020F0502020204030204" pitchFamily="34" charset="0"/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.udacity.com/course/intro-to-algorithms--cs215" TargetMode="External"/><Relationship Id="rId2" Type="http://schemas.openxmlformats.org/officeDocument/2006/relationships/hyperlink" Target="https://nptel.ac.in/courses/10610206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coursera.org/learn/data-structures?action=enrol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6FC8D2-544F-7191-9B06-21D774E942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3315" name="Google Shape;464;p16">
            <a:extLst>
              <a:ext uri="{FF2B5EF4-FFF2-40B4-BE49-F238E27FC236}">
                <a16:creationId xmlns:a16="http://schemas.microsoft.com/office/drawing/2014/main" id="{2F687F3A-1E30-0CE6-254A-11AC8F0A224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6027738" cy="662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6" name="Google Shape;476;p16">
            <a:extLst>
              <a:ext uri="{FF2B5EF4-FFF2-40B4-BE49-F238E27FC236}">
                <a16:creationId xmlns:a16="http://schemas.microsoft.com/office/drawing/2014/main" id="{5D894E52-94FF-FAFE-F1FC-3D3741524092}"/>
              </a:ext>
            </a:extLst>
          </p:cNvPr>
          <p:cNvSpPr txBox="1"/>
          <p:nvPr/>
        </p:nvSpPr>
        <p:spPr>
          <a:xfrm>
            <a:off x="5394325" y="1933575"/>
            <a:ext cx="6902450" cy="34163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Data Structures</a:t>
            </a:r>
            <a:endParaRPr lang="en-IN" sz="3200" b="1" dirty="0">
              <a:solidFill>
                <a:schemeClr val="accent1"/>
              </a:solidFill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cap="all" dirty="0">
              <a:ln/>
              <a:solidFill>
                <a:srgbClr val="C00000"/>
              </a:solidFill>
              <a:latin typeface="+mn-lt"/>
              <a:cs typeface="Poppins" panose="00000500000000000000" pitchFamily="2" charset="0"/>
              <a:sym typeface="BioRhyme ExtraBold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24SC1203</a:t>
            </a:r>
            <a:endParaRPr lang="en-IN" sz="3200" b="1" dirty="0">
              <a:solidFill>
                <a:schemeClr val="accent1"/>
              </a:solidFill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+mn-lt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+mn-lt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cap="all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Name of the topic: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DFS </a:t>
            </a:r>
            <a:endParaRPr lang="en-US" sz="4000" b="1" dirty="0">
              <a:solidFill>
                <a:srgbClr val="C00000"/>
              </a:solidFill>
              <a:latin typeface="+mn-lt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D69B63-498C-AC04-4651-9D8F185CD333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20" name="Google Shape;475;p16">
            <a:extLst>
              <a:ext uri="{FF2B5EF4-FFF2-40B4-BE49-F238E27FC236}">
                <a16:creationId xmlns:a16="http://schemas.microsoft.com/office/drawing/2014/main" id="{316626B3-A4D9-2051-9600-8511426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30263"/>
            <a:ext cx="4595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000">
                <a:solidFill>
                  <a:srgbClr val="C00000"/>
                </a:solidFill>
                <a:latin typeface="Calibri" panose="020F0502020204030204" pitchFamily="34" charset="0"/>
                <a:ea typeface="Poppins" panose="00000500000000000000" pitchFamily="2" charset="0"/>
                <a:cs typeface="Poppins" panose="00000500000000000000" pitchFamily="2" charset="0"/>
              </a:rPr>
              <a:t>Department of </a:t>
            </a:r>
            <a:r>
              <a:rPr lang="en-US" altLang="en-US" sz="4000">
                <a:solidFill>
                  <a:srgbClr val="FF0000"/>
                </a:solidFill>
                <a:latin typeface="Calibri" panose="020F0502020204030204" pitchFamily="34" charset="0"/>
              </a:rPr>
              <a:t>BES-I</a:t>
            </a:r>
            <a:endParaRPr lang="en-US" altLang="en-US" sz="4000">
              <a:solidFill>
                <a:srgbClr val="FF0000"/>
              </a:solidFill>
              <a:latin typeface="Calibri" panose="020F0502020204030204" pitchFamily="34" charset="0"/>
              <a:ea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E672274C-9A82-D7CE-855B-B137408D8335}"/>
              </a:ext>
            </a:extLst>
          </p:cNvPr>
          <p:cNvSpPr/>
          <p:nvPr/>
        </p:nvSpPr>
        <p:spPr>
          <a:xfrm>
            <a:off x="7275513" y="5572125"/>
            <a:ext cx="2235200" cy="452438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lt1"/>
                </a:solidFill>
                <a:latin typeface="+mn-lt"/>
                <a:ea typeface="Calibri"/>
                <a:cs typeface="Poppins" panose="00000500000000000000" pitchFamily="2" charset="0"/>
                <a:sym typeface="Calibri"/>
              </a:rPr>
              <a:t>Session – 37 </a:t>
            </a:r>
            <a:endParaRPr sz="2400" dirty="0">
              <a:solidFill>
                <a:schemeClr val="lt1"/>
              </a:solidFill>
              <a:latin typeface="+mn-lt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98B15D-ED8C-A4AD-C8E6-F72AC626B9AF}"/>
              </a:ext>
            </a:extLst>
          </p:cNvPr>
          <p:cNvSpPr/>
          <p:nvPr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FBBF73-33E1-3CA3-5901-E6DFC3EFDBEF}"/>
              </a:ext>
            </a:extLst>
          </p:cNvPr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3324" name="Picture 2" descr="KL Deemed to be University Logo">
            <a:extLst>
              <a:ext uri="{FF2B5EF4-FFF2-40B4-BE49-F238E27FC236}">
                <a16:creationId xmlns:a16="http://schemas.microsoft.com/office/drawing/2014/main" id="{41719FBA-58AA-1FCD-9023-B348AD5E4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82550"/>
            <a:ext cx="2509838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A0C98BB-BE06-383E-C775-69AB0A1871A0}"/>
              </a:ext>
            </a:extLst>
          </p:cNvPr>
          <p:cNvSpPr/>
          <p:nvPr/>
        </p:nvSpPr>
        <p:spPr>
          <a:xfrm>
            <a:off x="4471988" y="84138"/>
            <a:ext cx="3011487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35040-17F8-77DD-4691-AA3347338EE8}"/>
              </a:ext>
            </a:extLst>
          </p:cNvPr>
          <p:cNvSpPr txBox="1"/>
          <p:nvPr/>
        </p:nvSpPr>
        <p:spPr>
          <a:xfrm>
            <a:off x="914400" y="684469"/>
            <a:ext cx="10731286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Poppins"/>
                <a:cs typeface="Poppins"/>
              </a:rPr>
              <a:t>To familiarize students with the basic concept of </a:t>
            </a:r>
            <a:r>
              <a:rPr lang="en-US" sz="16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</a:t>
            </a:r>
            <a:r>
              <a:rPr lang="en-US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FS.</a:t>
            </a:r>
            <a:endParaRPr lang="en-US" sz="1600" dirty="0">
              <a:latin typeface="Poppins"/>
              <a:cs typeface="Poppin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182A8FE-C85C-B116-C58C-529333D6B8D2}"/>
              </a:ext>
            </a:extLst>
          </p:cNvPr>
          <p:cNvSpPr/>
          <p:nvPr/>
        </p:nvSpPr>
        <p:spPr>
          <a:xfrm>
            <a:off x="4160838" y="1806575"/>
            <a:ext cx="387032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D419D-A7F2-4B8E-20CF-0089102C737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Poppins"/>
                <a:cs typeface="Poppins"/>
              </a:rPr>
              <a:t>This Session is designed to: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cs typeface="+mn-cs"/>
              </a:rPr>
              <a:t>Demonstrate the DFS.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cs typeface="+mn-cs"/>
              </a:rPr>
              <a:t>Apply DFS to Real-World Problems.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latin typeface="Arial"/>
                <a:cs typeface="Arial"/>
              </a:rPr>
              <a:t>Describe the each operation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latin typeface="Arial"/>
                <a:cs typeface="Arial"/>
              </a:rPr>
              <a:t>List out the advantages and disadvantages with DFS.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36A19B26-E0CE-4114-1A9E-7EB325A2B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4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AB7B9BB3-D1F8-F6B2-DB89-9B0DA3C7A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84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FFC0556E-476D-0BAF-0497-80CC4D172CEF}"/>
              </a:ext>
            </a:extLst>
          </p:cNvPr>
          <p:cNvSpPr/>
          <p:nvPr/>
        </p:nvSpPr>
        <p:spPr>
          <a:xfrm>
            <a:off x="4213225" y="4249738"/>
            <a:ext cx="387032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0B4B3032-D6E9-87C2-D7EA-288E62279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656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EA8CE35-1D41-0969-B05E-6923777D0E5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/>
                <a:cs typeface="Arial"/>
              </a:rPr>
              <a:t>At the end of this session, you should be able to: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cs typeface="+mn-cs"/>
              </a:rPr>
              <a:t>Define DFS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cs typeface="+mn-cs"/>
              </a:rPr>
              <a:t>Describe the DFS and its operations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cs typeface="+mn-cs"/>
              </a:rPr>
              <a:t>Summarize definition, and operations of DFS, its applications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377" name="Picture 2" descr="KL Deemed to be University Logo">
            <a:extLst>
              <a:ext uri="{FF2B5EF4-FFF2-40B4-BE49-F238E27FC236}">
                <a16:creationId xmlns:a16="http://schemas.microsoft.com/office/drawing/2014/main" id="{5D375D0D-C2C4-C9C2-0522-7C4128B33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4D529E73-8463-AB7B-E762-C5B866453AA2}"/>
              </a:ext>
            </a:extLst>
          </p:cNvPr>
          <p:cNvSpPr/>
          <p:nvPr/>
        </p:nvSpPr>
        <p:spPr>
          <a:xfrm>
            <a:off x="1579563" y="84138"/>
            <a:ext cx="8324850" cy="73501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DFS - </a:t>
            </a:r>
            <a:r>
              <a:rPr lang="en-US" sz="2400" dirty="0"/>
              <a:t>INTRODUCTION </a:t>
            </a:r>
          </a:p>
        </p:txBody>
      </p:sp>
      <p:pic>
        <p:nvPicPr>
          <p:cNvPr id="16387" name="Picture 2" descr="KL Deemed to be University Logo">
            <a:extLst>
              <a:ext uri="{FF2B5EF4-FFF2-40B4-BE49-F238E27FC236}">
                <a16:creationId xmlns:a16="http://schemas.microsoft.com/office/drawing/2014/main" id="{3BCC99A3-9BB2-FF64-1054-E87E617BE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52">
            <a:extLst>
              <a:ext uri="{FF2B5EF4-FFF2-40B4-BE49-F238E27FC236}">
                <a16:creationId xmlns:a16="http://schemas.microsoft.com/office/drawing/2014/main" id="{491F641B-D4C4-968D-5A12-602EC1B78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2603500"/>
            <a:ext cx="1133633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(DFS) is a fundamental graph traversal algorithm used to explore all the nodes and edges of a graph. Unlike Breadth-First Search (BFS), which explores nodes level by level, DFS explores as far down a branch of the graph as possible before backtracking. It is called "depth-first" because it goes as deep as possible into the graph before retracing its steps.</a:t>
            </a:r>
          </a:p>
          <a:p>
            <a:pPr algn="just" eaLnBrk="1" hangingPunct="1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DFS can be applied to both directed and undirected graphs and can be used for tasks like searching for a specific node, finding connected components, topological sorting, and solving puzzles or problems like mazes.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B803-E56F-9B99-09D5-8A4889C12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599"/>
            <a:ext cx="11658600" cy="512499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standard BFS implementation puts each vertex of the graph into one of two categories:</a:t>
            </a:r>
          </a:p>
          <a:p>
            <a:pPr lvl="5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Visited</a:t>
            </a:r>
          </a:p>
          <a:p>
            <a:pPr lvl="5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Visited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purpose of the algorithm is to mark each vertex as visited while avoiding cycles.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works as follows: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by putting any one of the graph's vertices at the back of a queue.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front item of the queue and add it to the visited list.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 of that vertex's adjacent nodes. Add the ones which aren't in the visited list to the back of 	the queue.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repeating steps 2 and 3 until the queue is empty.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might have two different disconnected parts so to make sure that we cover every vertex, we   	can also run the BFS algorithm on every node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8435" name="Picture 2" descr="KL Deemed to be University Logo">
            <a:extLst>
              <a:ext uri="{FF2B5EF4-FFF2-40B4-BE49-F238E27FC236}">
                <a16:creationId xmlns:a16="http://schemas.microsoft.com/office/drawing/2014/main" id="{656D2413-143E-DEFC-77FC-28C5EF8E9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31F62CB-82DB-9DED-1C76-7D85F750D4B0}"/>
              </a:ext>
            </a:extLst>
          </p:cNvPr>
          <p:cNvSpPr/>
          <p:nvPr/>
        </p:nvSpPr>
        <p:spPr>
          <a:xfrm>
            <a:off x="2006600" y="109538"/>
            <a:ext cx="8324850" cy="71755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DFS Algorithm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7671DF6-6131-3E65-7F8D-8F7E83579D8E}"/>
              </a:ext>
            </a:extLst>
          </p:cNvPr>
          <p:cNvSpPr/>
          <p:nvPr/>
        </p:nvSpPr>
        <p:spPr>
          <a:xfrm>
            <a:off x="2243138" y="263525"/>
            <a:ext cx="6164262" cy="70961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3200" b="1" dirty="0">
                <a:solidFill>
                  <a:schemeClr val="bg1"/>
                </a:solidFill>
              </a:rPr>
              <a:t>DFS  Example Graph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9459" name="Picture 2" descr="KL Deemed to be University Logo">
            <a:extLst>
              <a:ext uri="{FF2B5EF4-FFF2-40B4-BE49-F238E27FC236}">
                <a16:creationId xmlns:a16="http://schemas.microsoft.com/office/drawing/2014/main" id="{0B94182B-2D6F-1702-5838-5E2B0D7D0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Content Placeholder 2">
            <a:extLst>
              <a:ext uri="{FF2B5EF4-FFF2-40B4-BE49-F238E27FC236}">
                <a16:creationId xmlns:a16="http://schemas.microsoft.com/office/drawing/2014/main" id="{C64F6570-1BE1-728D-F4D5-50C17BC85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304925"/>
            <a:ext cx="8129588" cy="2239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3">
            <a:extLst>
              <a:ext uri="{FF2B5EF4-FFF2-40B4-BE49-F238E27FC236}">
                <a16:creationId xmlns:a16="http://schemas.microsoft.com/office/drawing/2014/main" id="{D9164F4E-66F4-C2A5-A8BA-6EA0B286E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3603625"/>
            <a:ext cx="11703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 start from vertex 0, the DFS algorithm starts by putting it in the Visited list and putting all its adjacent vertices in the stack.</a:t>
            </a: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3268410C-B913-BED7-4810-3F081B89F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249738"/>
            <a:ext cx="83756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D56B50B-0C9A-20D1-3599-E6A690F86D5E}"/>
              </a:ext>
            </a:extLst>
          </p:cNvPr>
          <p:cNvSpPr/>
          <p:nvPr/>
        </p:nvSpPr>
        <p:spPr>
          <a:xfrm>
            <a:off x="2243138" y="254000"/>
            <a:ext cx="6164262" cy="708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chemeClr val="bg1"/>
                </a:solidFill>
              </a:rPr>
              <a:t>DFS Conti..</a:t>
            </a:r>
          </a:p>
        </p:txBody>
      </p:sp>
      <p:pic>
        <p:nvPicPr>
          <p:cNvPr id="20483" name="Picture 2" descr="KL Deemed to be University Logo">
            <a:extLst>
              <a:ext uri="{FF2B5EF4-FFF2-40B4-BE49-F238E27FC236}">
                <a16:creationId xmlns:a16="http://schemas.microsoft.com/office/drawing/2014/main" id="{23741648-F9C7-1E9F-D7DA-C925ACCED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1">
            <a:extLst>
              <a:ext uri="{FF2B5EF4-FFF2-40B4-BE49-F238E27FC236}">
                <a16:creationId xmlns:a16="http://schemas.microsoft.com/office/drawing/2014/main" id="{511C386A-F1BF-7A87-FCFE-F1A0A103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962025"/>
            <a:ext cx="11731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Next, we visit the element at the top of stack i.e. 1 and go to its adjacent nodes. Since 0 has already been visited, we visit 2 instead.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5" name="Picture 2">
            <a:extLst>
              <a:ext uri="{FF2B5EF4-FFF2-40B4-BE49-F238E27FC236}">
                <a16:creationId xmlns:a16="http://schemas.microsoft.com/office/drawing/2014/main" id="{D4A5B8D6-EA5E-BEFE-FA37-41F7CC602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793875"/>
            <a:ext cx="856932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3">
            <a:extLst>
              <a:ext uri="{FF2B5EF4-FFF2-40B4-BE49-F238E27FC236}">
                <a16:creationId xmlns:a16="http://schemas.microsoft.com/office/drawing/2014/main" id="{B19F3FC4-A6C6-28FD-8CB9-02BD4059F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3905250"/>
            <a:ext cx="11345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Vertex 2 has an unvisited adjacent vertex in 4, so we add that to the top of the stack and visit it.</a:t>
            </a:r>
          </a:p>
        </p:txBody>
      </p:sp>
      <p:pic>
        <p:nvPicPr>
          <p:cNvPr id="20487" name="Picture 4">
            <a:extLst>
              <a:ext uri="{FF2B5EF4-FFF2-40B4-BE49-F238E27FC236}">
                <a16:creationId xmlns:a16="http://schemas.microsoft.com/office/drawing/2014/main" id="{0ABC6E08-0281-9C70-5E09-E3D1C912E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4740275"/>
            <a:ext cx="8569325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D44D703D-6E43-01DF-78D8-521EA4E2520F}"/>
              </a:ext>
            </a:extLst>
          </p:cNvPr>
          <p:cNvSpPr/>
          <p:nvPr/>
        </p:nvSpPr>
        <p:spPr>
          <a:xfrm>
            <a:off x="2243138" y="254000"/>
            <a:ext cx="3119437" cy="4159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DFS Conti….</a:t>
            </a:r>
          </a:p>
        </p:txBody>
      </p:sp>
      <p:pic>
        <p:nvPicPr>
          <p:cNvPr id="21507" name="Picture 2" descr="KL Deemed to be University Logo">
            <a:extLst>
              <a:ext uri="{FF2B5EF4-FFF2-40B4-BE49-F238E27FC236}">
                <a16:creationId xmlns:a16="http://schemas.microsoft.com/office/drawing/2014/main" id="{8583436F-77D9-9EBC-2E13-E8EDB083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Content Placeholder 2">
            <a:extLst>
              <a:ext uri="{FF2B5EF4-FFF2-40B4-BE49-F238E27FC236}">
                <a16:creationId xmlns:a16="http://schemas.microsoft.com/office/drawing/2014/main" id="{67E3E587-9CFF-5BAC-0151-87F33374D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25" y="757238"/>
            <a:ext cx="9913938" cy="2238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3">
            <a:extLst>
              <a:ext uri="{FF2B5EF4-FFF2-40B4-BE49-F238E27FC236}">
                <a16:creationId xmlns:a16="http://schemas.microsoft.com/office/drawing/2014/main" id="{EFC2D562-E7D0-051A-9C17-5EED906C7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838450"/>
            <a:ext cx="1194911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After we visit the last element 3, it doesn't have any unvisited adjacent nodes, so we have </a:t>
            </a:r>
          </a:p>
          <a:p>
            <a:pPr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completed the Depth First Traversal of the graph.</a:t>
            </a:r>
          </a:p>
          <a:p>
            <a:pPr eaLnBrk="1" hangingPunct="1"/>
            <a:br>
              <a:rPr lang="en-US" altLang="en-US">
                <a:latin typeface="Calibri" panose="020F0502020204030204" pitchFamily="34" charset="0"/>
              </a:rPr>
            </a:br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21510" name="Picture 4">
            <a:extLst>
              <a:ext uri="{FF2B5EF4-FFF2-40B4-BE49-F238E27FC236}">
                <a16:creationId xmlns:a16="http://schemas.microsoft.com/office/drawing/2014/main" id="{919AED31-05D1-D99B-6823-73167B4FB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25" y="3570288"/>
            <a:ext cx="9958388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D9D0AC7-F29C-2268-8A03-F4EA037A0E59}"/>
              </a:ext>
            </a:extLst>
          </p:cNvPr>
          <p:cNvSpPr/>
          <p:nvPr/>
        </p:nvSpPr>
        <p:spPr>
          <a:xfrm>
            <a:off x="1990725" y="155575"/>
            <a:ext cx="9148763" cy="72231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IMPORTANT FACTS RELATED TO THE SESSION-DFS</a:t>
            </a:r>
          </a:p>
        </p:txBody>
      </p:sp>
      <p:pic>
        <p:nvPicPr>
          <p:cNvPr id="22531" name="Picture 2" descr="KL Deemed to be University Logo">
            <a:extLst>
              <a:ext uri="{FF2B5EF4-FFF2-40B4-BE49-F238E27FC236}">
                <a16:creationId xmlns:a16="http://schemas.microsoft.com/office/drawing/2014/main" id="{0A2DE97A-2684-EF8A-574B-E1B804B71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77DE95-8714-BE2B-6726-295F19032DE4}"/>
              </a:ext>
            </a:extLst>
          </p:cNvPr>
          <p:cNvSpPr txBox="1"/>
          <p:nvPr/>
        </p:nvSpPr>
        <p:spPr>
          <a:xfrm>
            <a:off x="0" y="927100"/>
            <a:ext cx="12192000" cy="5202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DFS Algorithm Complexity</a:t>
            </a:r>
          </a:p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time complexity of the DFS algorithm is represented in the form of O(V + E), 	where V is the number of nodes and E is the number of edges.</a:t>
            </a:r>
          </a:p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space complexity of the algorithm is O(V).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Application of DFS Algorithm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path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if the graph is bipartite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strongly connected components of a graph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detecting cycles in a graph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IN" sz="2000" dirty="0">
              <a:latin typeface="+mn-lt"/>
              <a:cs typeface="+mn-cs"/>
            </a:endParaRPr>
          </a:p>
        </p:txBody>
      </p:sp>
      <p:sp>
        <p:nvSpPr>
          <p:cNvPr id="22533" name="Rectangle 1">
            <a:extLst>
              <a:ext uri="{FF2B5EF4-FFF2-40B4-BE49-F238E27FC236}">
                <a16:creationId xmlns:a16="http://schemas.microsoft.com/office/drawing/2014/main" id="{AD9BA31F-1976-C0E3-7645-5658AF117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2840038"/>
            <a:ext cx="25400" cy="276225"/>
          </a:xfrm>
          <a:prstGeom prst="rect">
            <a:avLst/>
          </a:prstGeom>
          <a:solidFill>
            <a:srgbClr val="F9F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696" tIns="0" rIns="12696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53FCD0C2-4844-CE67-F7A7-DC65F5AC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8" y="4344988"/>
            <a:ext cx="26987" cy="277812"/>
          </a:xfrm>
          <a:prstGeom prst="rect">
            <a:avLst/>
          </a:prstGeom>
          <a:solidFill>
            <a:srgbClr val="F9F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696" tIns="0" rIns="12696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07D3993-D66C-6FB9-5C48-387BE822363D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45C498D5-213A-C777-B42D-2EA38FD1D927}"/>
              </a:ext>
            </a:extLst>
          </p:cNvPr>
          <p:cNvSpPr/>
          <p:nvPr/>
        </p:nvSpPr>
        <p:spPr>
          <a:xfrm>
            <a:off x="995363" y="895350"/>
            <a:ext cx="10172700" cy="80327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What happens when DFS encounters a node that has already been visited?</a:t>
            </a:r>
            <a:endParaRPr sz="2000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D73CE83E-19FD-81FE-A8E9-B7FF0991AAFE}"/>
              </a:ext>
            </a:extLst>
          </p:cNvPr>
          <p:cNvSpPr/>
          <p:nvPr/>
        </p:nvSpPr>
        <p:spPr>
          <a:xfrm>
            <a:off x="1157456" y="1809800"/>
            <a:ext cx="9911138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a) It processes the node again</a:t>
            </a:r>
            <a:br>
              <a:rPr lang="en-US" dirty="0"/>
            </a:br>
            <a:r>
              <a:rPr lang="en-US" dirty="0"/>
              <a:t>b) It skips the node and moves to the next unvisited neighbor</a:t>
            </a:r>
            <a:br>
              <a:rPr lang="en-US" dirty="0"/>
            </a:br>
            <a:r>
              <a:rPr lang="en-US" dirty="0"/>
              <a:t>c) It stops the algorithm</a:t>
            </a:r>
            <a:br>
              <a:rPr lang="en-US" dirty="0"/>
            </a:br>
            <a:r>
              <a:rPr lang="en-US" dirty="0"/>
              <a:t>d) It causes an infinite loop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4ABFE668-5543-EC41-05DB-698BC1F1F6D5}"/>
              </a:ext>
            </a:extLst>
          </p:cNvPr>
          <p:cNvSpPr/>
          <p:nvPr/>
        </p:nvSpPr>
        <p:spPr>
          <a:xfrm>
            <a:off x="1052513" y="3846513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latin typeface="+mn-lt"/>
                <a:cs typeface="+mn-cs"/>
              </a:rPr>
              <a:t>2</a:t>
            </a:r>
            <a:r>
              <a:rPr lang="en-IN" sz="2000" dirty="0">
                <a:latin typeface="+mn-lt"/>
                <a:cs typeface="+mn-cs"/>
              </a:rPr>
              <a:t>.</a:t>
            </a:r>
            <a:r>
              <a:rPr lang="en-US" sz="2000" dirty="0"/>
              <a:t> DFS can be implemented using which of the following approaches?</a:t>
            </a:r>
            <a:br>
              <a:rPr lang="en-IN" sz="2400" dirty="0">
                <a:latin typeface="+mn-lt"/>
                <a:cs typeface="+mn-cs"/>
              </a:rPr>
            </a:br>
            <a:endParaRPr lang="en-IN" sz="2400" dirty="0">
              <a:latin typeface="+mn-lt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5128355C-7EAA-87DD-93AB-D56D112F7B33}"/>
              </a:ext>
            </a:extLst>
          </p:cNvPr>
          <p:cNvSpPr/>
          <p:nvPr/>
        </p:nvSpPr>
        <p:spPr>
          <a:xfrm>
            <a:off x="1184066" y="4805574"/>
            <a:ext cx="10093534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	a) Recursion only</a:t>
            </a:r>
            <a:br>
              <a:rPr lang="en-US" dirty="0"/>
            </a:br>
            <a:r>
              <a:rPr lang="en-US" dirty="0"/>
              <a:t>b) Stack only</a:t>
            </a:r>
            <a:br>
              <a:rPr lang="en-US" dirty="0"/>
            </a:br>
            <a:r>
              <a:rPr lang="en-US" dirty="0"/>
              <a:t>c) Recursion or stack</a:t>
            </a:r>
            <a:br>
              <a:rPr lang="en-US" dirty="0"/>
            </a:br>
            <a:r>
              <a:rPr lang="en-US" dirty="0"/>
              <a:t>d) Queue only</a:t>
            </a:r>
            <a:endParaRPr lang="en-IN" dirty="0"/>
          </a:p>
        </p:txBody>
      </p:sp>
      <p:pic>
        <p:nvPicPr>
          <p:cNvPr id="23563" name="Picture 2" descr="KL Deemed to be University Logo">
            <a:extLst>
              <a:ext uri="{FF2B5EF4-FFF2-40B4-BE49-F238E27FC236}">
                <a16:creationId xmlns:a16="http://schemas.microsoft.com/office/drawing/2014/main" id="{671C7AB6-3357-2A00-7162-419A4D404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4" name="Rectangle 1">
            <a:extLst>
              <a:ext uri="{FF2B5EF4-FFF2-40B4-BE49-F238E27FC236}">
                <a16:creationId xmlns:a16="http://schemas.microsoft.com/office/drawing/2014/main" id="{FB0ED6B0-A8A3-5C5B-C5EB-1B45DA467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O(E)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O(V + 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O(V)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O(V^2)</a:t>
            </a:r>
            <a:endParaRPr lang="en-US" altLang="en-US"/>
          </a:p>
        </p:txBody>
      </p:sp>
      <p:sp>
        <p:nvSpPr>
          <p:cNvPr id="23565" name="Rectangle 2">
            <a:extLst>
              <a:ext uri="{FF2B5EF4-FFF2-40B4-BE49-F238E27FC236}">
                <a16:creationId xmlns:a16="http://schemas.microsoft.com/office/drawing/2014/main" id="{BFCE2E0D-6C1C-D8EF-0F31-11992F328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O(E)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O(V + 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O(V)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O(V^2)</a:t>
            </a:r>
            <a:endParaRPr lang="en-US" altLang="en-US"/>
          </a:p>
        </p:txBody>
      </p:sp>
      <p:sp>
        <p:nvSpPr>
          <p:cNvPr id="23566" name="Rectangle 3">
            <a:extLst>
              <a:ext uri="{FF2B5EF4-FFF2-40B4-BE49-F238E27FC236}">
                <a16:creationId xmlns:a16="http://schemas.microsoft.com/office/drawing/2014/main" id="{35DA8C66-8984-BA0B-DC4F-740BA7B16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3567" name="Rectangle 4">
            <a:extLst>
              <a:ext uri="{FF2B5EF4-FFF2-40B4-BE49-F238E27FC236}">
                <a16:creationId xmlns:a16="http://schemas.microsoft.com/office/drawing/2014/main" id="{9936AB7E-57EC-AFE0-68A9-47625B03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3568" name="Rectangle 5">
            <a:extLst>
              <a:ext uri="{FF2B5EF4-FFF2-40B4-BE49-F238E27FC236}">
                <a16:creationId xmlns:a16="http://schemas.microsoft.com/office/drawing/2014/main" id="{669F4C0B-971B-D449-FE39-FAFACB6A5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3569" name="Rectangle 6">
            <a:extLst>
              <a:ext uri="{FF2B5EF4-FFF2-40B4-BE49-F238E27FC236}">
                <a16:creationId xmlns:a16="http://schemas.microsoft.com/office/drawing/2014/main" id="{800510BE-4B50-76A3-D0F3-90B2B1EB8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637E55F-2E81-3750-C633-B434769BF3A5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FF56B133-CDCC-9A01-AAB6-1AC50338DF27}"/>
              </a:ext>
            </a:extLst>
          </p:cNvPr>
          <p:cNvSpPr/>
          <p:nvPr/>
        </p:nvSpPr>
        <p:spPr>
          <a:xfrm>
            <a:off x="995363" y="842963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3.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Which traversal technique does DFS follow?</a:t>
            </a:r>
            <a:endParaRPr sz="2000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17FE99A7-0C0A-D64C-E77B-A26F7590FC2B}"/>
              </a:ext>
            </a:extLst>
          </p:cNvPr>
          <p:cNvSpPr/>
          <p:nvPr/>
        </p:nvSpPr>
        <p:spPr>
          <a:xfrm>
            <a:off x="1183582" y="1809800"/>
            <a:ext cx="9911138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IN" dirty="0"/>
            </a:br>
            <a:r>
              <a:rPr lang="en-US" dirty="0"/>
              <a:t>a) Pre-order traversal</a:t>
            </a:r>
            <a:br>
              <a:rPr lang="en-US" dirty="0"/>
            </a:br>
            <a:r>
              <a:rPr lang="en-US" dirty="0"/>
              <a:t>b) Post-order traversal</a:t>
            </a:r>
            <a:br>
              <a:rPr lang="en-US" dirty="0"/>
            </a:br>
            <a:r>
              <a:rPr lang="en-US" dirty="0"/>
              <a:t>c) In-order traversal</a:t>
            </a:r>
            <a:br>
              <a:rPr lang="en-US" dirty="0"/>
            </a:br>
            <a:r>
              <a:rPr lang="en-US" dirty="0"/>
              <a:t>d) Level-order traversal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2092874E-6DE6-9898-94FC-986ADBE4826D}"/>
              </a:ext>
            </a:extLst>
          </p:cNvPr>
          <p:cNvSpPr/>
          <p:nvPr/>
        </p:nvSpPr>
        <p:spPr>
          <a:xfrm>
            <a:off x="966788" y="3821113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DFS is typically used for which type of graph problems?</a:t>
            </a:r>
            <a:br>
              <a:rPr lang="en-IN" sz="2400" dirty="0">
                <a:latin typeface="+mn-lt"/>
                <a:cs typeface="+mn-cs"/>
              </a:rPr>
            </a:br>
            <a:endParaRPr lang="en-IN" sz="2400" dirty="0">
              <a:latin typeface="+mn-lt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B5BDC830-A7B4-216A-0833-2FCF8A536DB4}"/>
              </a:ext>
            </a:extLst>
          </p:cNvPr>
          <p:cNvSpPr/>
          <p:nvPr/>
        </p:nvSpPr>
        <p:spPr>
          <a:xfrm>
            <a:off x="1184066" y="4805574"/>
            <a:ext cx="10093534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a)Finding shortest paths in weighted graphs</a:t>
            </a: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b) Solving mazes</a:t>
            </a: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c) Finding the minimum spanning tree</a:t>
            </a: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d) Detecting cycles in directed graphs</a:t>
            </a:r>
            <a:endParaRPr lang="en-IN" dirty="0"/>
          </a:p>
        </p:txBody>
      </p:sp>
      <p:pic>
        <p:nvPicPr>
          <p:cNvPr id="24587" name="Picture 2" descr="KL Deemed to be University Logo">
            <a:extLst>
              <a:ext uri="{FF2B5EF4-FFF2-40B4-BE49-F238E27FC236}">
                <a16:creationId xmlns:a16="http://schemas.microsoft.com/office/drawing/2014/main" id="{753A744D-91D8-F5D6-6F7D-823200024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8" name="Rectangle 1">
            <a:extLst>
              <a:ext uri="{FF2B5EF4-FFF2-40B4-BE49-F238E27FC236}">
                <a16:creationId xmlns:a16="http://schemas.microsoft.com/office/drawing/2014/main" id="{3086765F-4729-51EF-36BC-FC10238D3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O(E)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O(V + 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O(V)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O(V^2)</a:t>
            </a:r>
            <a:endParaRPr lang="en-US" altLang="en-US"/>
          </a:p>
        </p:txBody>
      </p:sp>
      <p:sp>
        <p:nvSpPr>
          <p:cNvPr id="24589" name="Rectangle 2">
            <a:extLst>
              <a:ext uri="{FF2B5EF4-FFF2-40B4-BE49-F238E27FC236}">
                <a16:creationId xmlns:a16="http://schemas.microsoft.com/office/drawing/2014/main" id="{A9293989-48DB-C2AF-1CCF-57089DCB1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O(E)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O(V + E)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O(V)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O(V^2)</a:t>
            </a:r>
            <a:endParaRPr lang="en-US" altLang="en-US"/>
          </a:p>
        </p:txBody>
      </p:sp>
      <p:sp>
        <p:nvSpPr>
          <p:cNvPr id="24590" name="Rectangle 3">
            <a:extLst>
              <a:ext uri="{FF2B5EF4-FFF2-40B4-BE49-F238E27FC236}">
                <a16:creationId xmlns:a16="http://schemas.microsoft.com/office/drawing/2014/main" id="{B0F63426-D107-D9CE-E2BC-A3DB19931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4591" name="Rectangle 4">
            <a:extLst>
              <a:ext uri="{FF2B5EF4-FFF2-40B4-BE49-F238E27FC236}">
                <a16:creationId xmlns:a16="http://schemas.microsoft.com/office/drawing/2014/main" id="{6D434617-346F-48DB-2DB2-9A1DB870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4592" name="Rectangle 5">
            <a:extLst>
              <a:ext uri="{FF2B5EF4-FFF2-40B4-BE49-F238E27FC236}">
                <a16:creationId xmlns:a16="http://schemas.microsoft.com/office/drawing/2014/main" id="{51C809C2-3F9E-5808-26A1-FB8C226E5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  <p:sp>
        <p:nvSpPr>
          <p:cNvPr id="24593" name="Rectangle 6">
            <a:extLst>
              <a:ext uri="{FF2B5EF4-FFF2-40B4-BE49-F238E27FC236}">
                <a16:creationId xmlns:a16="http://schemas.microsoft.com/office/drawing/2014/main" id="{508165E0-C78E-A29C-506D-9436FA397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a) Stack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b) Queue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c) Linked List</a:t>
            </a:r>
            <a:b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200">
                <a:latin typeface="Calibri" panose="020F0502020204030204" pitchFamily="34" charset="0"/>
                <a:cs typeface="Times New Roman" panose="02020603050405020304" pitchFamily="18" charset="0"/>
              </a:rPr>
              <a:t>d) Array</a:t>
            </a:r>
            <a:endParaRPr lang="en-US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A5563B5-A624-0E46-909B-494DC6D2A924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TERMINAL QUESTIONS</a:t>
            </a:r>
          </a:p>
        </p:txBody>
      </p:sp>
      <p:pic>
        <p:nvPicPr>
          <p:cNvPr id="25603" name="Picture 2" descr="KL Deemed to be University Logo">
            <a:extLst>
              <a:ext uri="{FF2B5EF4-FFF2-40B4-BE49-F238E27FC236}">
                <a16:creationId xmlns:a16="http://schemas.microsoft.com/office/drawing/2014/main" id="{BC0518BC-5B5A-AAE6-0D26-1C71BE611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Rectangle 8">
            <a:extLst>
              <a:ext uri="{FF2B5EF4-FFF2-40B4-BE49-F238E27FC236}">
                <a16:creationId xmlns:a16="http://schemas.microsoft.com/office/drawing/2014/main" id="{259B5B31-7A3C-B260-61E6-FA01A8B10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1446213"/>
            <a:ext cx="8107363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Explain the Depth-First Search (DFS) algorithm and how it works?</a:t>
            </a:r>
          </a:p>
          <a:p>
            <a:pPr marL="457200" indent="-457200"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2. What are the key differences between DFS and BFS?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3. How would you implement DFS iteratively (using a stack)?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4. What are some applications of DFS?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5. Can DFS be used to find the shortest path in an </a:t>
            </a:r>
            <a:r>
              <a:rPr lang="en-US" sz="2000" dirty="0" err="1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unweighted</a:t>
            </a: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graph? Why or why not?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6. What is a "back edge" in the context of DFS, and how does it relate to cycle detection?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7. What is the time complexity of DFS for a graph with V vertices and E edges?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702B5FF-74B3-F426-FD73-F2587EF408E6}"/>
              </a:ext>
            </a:extLst>
          </p:cNvPr>
          <p:cNvSpPr/>
          <p:nvPr/>
        </p:nvSpPr>
        <p:spPr>
          <a:xfrm>
            <a:off x="2160588" y="93663"/>
            <a:ext cx="7105650" cy="41275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27" name="TextBox 8">
            <a:extLst>
              <a:ext uri="{FF2B5EF4-FFF2-40B4-BE49-F238E27FC236}">
                <a16:creationId xmlns:a16="http://schemas.microsoft.com/office/drawing/2014/main" id="{EF742F37-A1F0-CD41-B4F5-A1150D548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012825"/>
            <a:ext cx="11509375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400" b="1">
                <a:latin typeface="Calibri" panose="020F0502020204030204" pitchFamily="34" charset="0"/>
              </a:rPr>
              <a:t>Reference Books:</a:t>
            </a: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>
                <a:latin typeface="Calibri" panose="020F0502020204030204" pitchFamily="34" charset="0"/>
              </a:rPr>
              <a:t>Mark Allen Weiss, Data Structures and Algorithm Analysis in C, 2010 , Second Edition, PearsonEducation.</a:t>
            </a:r>
            <a:endParaRPr lang="en-IN" altLang="en-US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>
                <a:latin typeface="Calibri" panose="020F0502020204030204" pitchFamily="34" charset="0"/>
              </a:rPr>
              <a:t>2. Ellis Horowitz, Fundamentals of Data Structures in C: Second Edition, 2015</a:t>
            </a:r>
          </a:p>
          <a:p>
            <a:pPr lvl="1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>
                <a:latin typeface="Calibri" panose="020F0502020204030204" pitchFamily="34" charset="0"/>
              </a:rPr>
              <a:t>A.V.Aho, J. E. Hopcroft, and J. D. Ullman, “Data Structures And Algorithms”, Pearson Education, First Edition Reprint2003.</a:t>
            </a:r>
            <a:endParaRPr lang="en-IN" altLang="en-US"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b="1"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b="1">
                <a:latin typeface="Calibri" panose="020F0502020204030204" pitchFamily="34" charset="0"/>
              </a:rPr>
              <a:t>Sites and Web links: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>
                <a:latin typeface="Calibri" panose="020F0502020204030204" pitchFamily="34" charset="0"/>
              </a:rPr>
              <a:t>1. </a:t>
            </a:r>
            <a:r>
              <a:rPr lang="en-US" altLang="en-US">
                <a:latin typeface="Calibri" panose="020F0502020204030204" pitchFamily="34" charset="0"/>
                <a:hlinkClick r:id="rId2"/>
              </a:rPr>
              <a:t>https://nptel.ac.in/courses/106102064</a:t>
            </a:r>
            <a:endParaRPr lang="en-IN" altLang="en-US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>
                <a:latin typeface="Calibri" panose="020F0502020204030204" pitchFamily="34" charset="0"/>
                <a:hlinkClick r:id="rId3"/>
              </a:rPr>
              <a:t>2. https://in.udacity.com/course/intro-to-algorithms--cs215</a:t>
            </a:r>
            <a:endParaRPr lang="en-IN" altLang="en-US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3. </a:t>
            </a:r>
            <a:r>
              <a:rPr lang="en-US" altLang="en-US">
                <a:latin typeface="Calibri" panose="020F0502020204030204" pitchFamily="34" charset="0"/>
                <a:hlinkClick r:id="rId4"/>
              </a:rPr>
              <a:t>https://www.coursera.org/learn/data-structures?action=enroll</a:t>
            </a:r>
            <a:endParaRPr lang="en-US" altLang="en-US"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26628" name="Picture 2" descr="KL Deemed to be University Logo">
            <a:extLst>
              <a:ext uri="{FF2B5EF4-FFF2-40B4-BE49-F238E27FC236}">
                <a16:creationId xmlns:a16="http://schemas.microsoft.com/office/drawing/2014/main" id="{09463DC2-3651-D3BB-6768-A096CE797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9C49AD-7FFA-313D-3AD2-848FDC71C5F9}"/>
              </a:ext>
            </a:extLst>
          </p:cNvPr>
          <p:cNvSpPr/>
          <p:nvPr/>
        </p:nvSpPr>
        <p:spPr>
          <a:xfrm>
            <a:off x="2601913" y="1857375"/>
            <a:ext cx="7920037" cy="28829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dirty="0" err="1">
                <a:latin typeface="Poppins" pitchFamily="2" charset="77"/>
                <a:cs typeface="Poppins" pitchFamily="2" charset="77"/>
              </a:rPr>
              <a:t>Sructures</a:t>
            </a:r>
            <a:endParaRPr lang="en-US" sz="3600" b="1" dirty="0"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27651" name="Picture 2" descr="KL Deemed to be University Logo">
            <a:extLst>
              <a:ext uri="{FF2B5EF4-FFF2-40B4-BE49-F238E27FC236}">
                <a16:creationId xmlns:a16="http://schemas.microsoft.com/office/drawing/2014/main" id="{F1D82859-6F00-C00C-5BEB-B7BBD988B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560638"/>
            <a:ext cx="32353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3324</TotalTime>
  <Words>1252</Words>
  <Application>Microsoft Office PowerPoint</Application>
  <PresentationFormat>Widescreen</PresentationFormat>
  <Paragraphs>119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 Light</vt:lpstr>
      <vt:lpstr>Calibri</vt:lpstr>
      <vt:lpstr>Poppins</vt:lpstr>
      <vt:lpstr>BioRhyme ExtraBold</vt:lpstr>
      <vt:lpstr>Times New Roman</vt:lpstr>
      <vt:lpstr>Tahoma</vt:lpstr>
      <vt:lpstr>Wingdings</vt:lpstr>
      <vt:lpstr>SimSun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SANAKA HIMA NAGA SAI</cp:lastModifiedBy>
  <cp:revision>108</cp:revision>
  <dcterms:created xsi:type="dcterms:W3CDTF">2020-02-08T09:57:44Z</dcterms:created>
  <dcterms:modified xsi:type="dcterms:W3CDTF">2024-12-16T11:25:09Z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