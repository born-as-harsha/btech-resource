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1" r:id="rId3"/>
    <p:sldId id="300" r:id="rId5"/>
    <p:sldId id="258" r:id="rId6"/>
    <p:sldId id="423" r:id="rId7"/>
    <p:sldId id="424" r:id="rId8"/>
    <p:sldId id="425" r:id="rId9"/>
    <p:sldId id="426" r:id="rId10"/>
    <p:sldId id="427" r:id="rId11"/>
    <p:sldId id="428" r:id="rId12"/>
    <p:sldId id="429" r:id="rId13"/>
    <p:sldId id="430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39FA4D-9E70-481F-936D-B0B2BAD40B71}">
          <p14:sldIdLst>
            <p14:sldId id="271"/>
            <p14:sldId id="300"/>
            <p14:sldId id="258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</p14:sldIdLst>
        </p14:section>
        <p14:section name="Untitled Section" id="{6581676A-317C-40FD-A648-90596D1B8012}">
          <p14:sldIdLst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2532"/>
    <a:srgbClr val="A81E24"/>
    <a:srgbClr val="FF9900"/>
    <a:srgbClr val="E84845"/>
    <a:srgbClr val="FAD2D2"/>
    <a:srgbClr val="F89E4C"/>
    <a:srgbClr val="FFF2CC"/>
    <a:srgbClr val="CF2F33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74" y="43"/>
      </p:cViewPr>
      <p:guideLst>
        <p:guide orient="horz" pos="21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15_Picture with Caption">
  <p:cSld name="15_Picture with Ca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L Deemed to be University Logo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9246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3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4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  <a:endParaRPr lang="en-US" sz="80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11151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3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dirty="0">
                <a:solidFill>
                  <a:srgbClr val="A81E24"/>
                </a:solidFill>
                <a:sym typeface="BioRhyme ExtraBold"/>
              </a:rPr>
              <a:t>Data Structures </a:t>
            </a:r>
            <a:endParaRPr lang="en-US" b="1" dirty="0">
              <a:solidFill>
                <a:srgbClr val="A81E24"/>
              </a:solidFill>
              <a:ea typeface="Calibri" panose="020F0502020204030204"/>
              <a:cs typeface="Calibri" panose="020F0502020204030204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24sc120</a:t>
            </a:r>
            <a:endParaRPr lang="en-US" sz="3600" b="1" dirty="0">
              <a:solidFill>
                <a:srgbClr val="A81E24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algn="ctr"/>
            <a:r>
              <a:rPr lang="en-US" sz="4000" b="1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Introduction to Graph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>
                <a:solidFill>
                  <a:srgbClr val="C00000"/>
                </a:solidFill>
                <a:cs typeface="Poppins"/>
              </a:rPr>
              <a:t>Department of BES-1</a:t>
            </a:r>
            <a:endParaRPr lang="en-US" sz="4000">
              <a:solidFill>
                <a:srgbClr val="C00000"/>
              </a:solidFill>
              <a:cs typeface="Poppins" pitchFamily="2" charset="77"/>
            </a:endParaRPr>
          </a:p>
        </p:txBody>
      </p:sp>
      <p:sp>
        <p:nvSpPr>
          <p:cNvPr id="8" name="Google Shape;502;p17"/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/>
                <a:sym typeface="Calibri" panose="020F0502020204030204"/>
              </a:rPr>
              <a:t>Session - 35</a:t>
            </a:r>
            <a:endParaRPr sz="2400" dirty="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AIM OF THE SESSION</a:t>
            </a:r>
            <a:endParaRPr lang="en-US" sz="2400"/>
          </a:p>
        </p:txBody>
      </p:sp>
      <p:sp>
        <p:nvSpPr>
          <p:cNvPr id="5" name="TextBox 4"/>
          <p:cNvSpPr txBox="1"/>
          <p:nvPr/>
        </p:nvSpPr>
        <p:spPr>
          <a:xfrm>
            <a:off x="914400" y="684469"/>
            <a:ext cx="10731286" cy="78675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ea typeface="+mn-lt"/>
                <a:cs typeface="+mn-lt"/>
              </a:rPr>
              <a:t>To familiarize students with the basic concept of Graphs and its representation </a:t>
            </a:r>
            <a:endParaRPr lang="en-US" sz="16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1600" b="0" i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INSTRUCTIONAL OBJECTIVES</a:t>
            </a:r>
            <a:endParaRPr lang="en-US" sz="2400"/>
          </a:p>
        </p:txBody>
      </p:sp>
      <p:sp>
        <p:nvSpPr>
          <p:cNvPr id="9" name="TextBox 8"/>
          <p:cNvSpPr txBox="1"/>
          <p:nvPr/>
        </p:nvSpPr>
        <p:spPr>
          <a:xfrm>
            <a:off x="1752600" y="2438605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ea typeface="+mn-lt"/>
                <a:cs typeface="+mn-lt"/>
              </a:rPr>
              <a:t>This Session is designed to:</a:t>
            </a:r>
            <a:endParaRPr lang="en-US"/>
          </a:p>
          <a:p>
            <a:pPr marL="342900" indent="-342900">
              <a:buFont typeface="Arial" panose="020B0604020202020204"/>
              <a:buAutoNum type="arabicPeriod"/>
            </a:pPr>
            <a:r>
              <a:rPr lang="en-US" sz="1600" dirty="0">
                <a:ea typeface="+mn-lt"/>
                <a:cs typeface="+mn-lt"/>
              </a:rPr>
              <a:t>Define a graph and its basic components.</a:t>
            </a:r>
            <a:endParaRPr lang="en-US" sz="1600" dirty="0">
              <a:ea typeface="+mn-lt"/>
              <a:cs typeface="+mn-lt"/>
            </a:endParaRPr>
          </a:p>
          <a:p>
            <a:pPr marL="342900" indent="-342900">
              <a:buFont typeface="Arial" panose="020B0604020202020204"/>
              <a:buAutoNum type="arabicPeriod"/>
            </a:pPr>
            <a:r>
              <a:rPr lang="en-US" sz="1600" dirty="0">
                <a:ea typeface="+mn-lt"/>
                <a:cs typeface="+mn-lt"/>
              </a:rPr>
              <a:t>Differentiate between types </a:t>
            </a:r>
            <a:r>
              <a:rPr lang="en-US" sz="1600">
                <a:ea typeface="+mn-lt"/>
                <a:cs typeface="+mn-lt"/>
                <a:sym typeface="+mn-ea"/>
              </a:rPr>
              <a:t>of graphs.</a:t>
            </a:r>
            <a:endParaRPr lang="en-US" sz="1600" dirty="0">
              <a:ea typeface="+mn-lt"/>
              <a:cs typeface="+mn-lt"/>
            </a:endParaRPr>
          </a:p>
          <a:p>
            <a:pPr marL="342900" indent="-342900">
              <a:buFont typeface="Arial" panose="020B0604020202020204"/>
              <a:buAutoNum type="arabicPeriod"/>
            </a:pPr>
            <a:r>
              <a:rPr lang="en-US" sz="1600">
                <a:ea typeface="+mn-lt"/>
                <a:cs typeface="+mn-lt"/>
                <a:sym typeface="+mn-ea"/>
              </a:rPr>
              <a:t>Explain graph representation techniques.</a:t>
            </a:r>
            <a:endParaRPr lang="en-US" sz="1600" dirty="0">
              <a:ea typeface="+mn-lt"/>
              <a:cs typeface="+mn-lt"/>
            </a:endParaRP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LEARNING OUTCOMES</a:t>
            </a:r>
            <a:endParaRPr lang="en-US" sz="2400"/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600" y="4772230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ea typeface="+mn-lt"/>
                <a:cs typeface="+mn-lt"/>
              </a:rPr>
              <a:t>At the end of this session, you should be able to:</a:t>
            </a:r>
            <a:endParaRPr lang="en-US"/>
          </a:p>
          <a:p>
            <a:pPr marL="342900" indent="-342900">
              <a:buFont typeface="Arial" panose="020B0604020202020204"/>
              <a:buAutoNum type="arabicPeriod"/>
            </a:pPr>
            <a:r>
              <a:rPr lang="en-US" sz="1600" dirty="0">
                <a:ea typeface="+mn-lt"/>
                <a:cs typeface="+mn-lt"/>
              </a:rPr>
              <a:t>Understand the concept of graphs </a:t>
            </a:r>
            <a:endParaRPr lang="en-US" sz="1600" dirty="0">
              <a:ea typeface="+mn-lt"/>
              <a:cs typeface="+mn-lt"/>
            </a:endParaRPr>
          </a:p>
          <a:p>
            <a:pPr marL="342900" indent="-342900">
              <a:buFont typeface="Arial" panose="020B0604020202020204"/>
              <a:buAutoNum type="arabicPeriod"/>
            </a:pPr>
            <a:r>
              <a:rPr lang="en-US" sz="1600" dirty="0">
                <a:ea typeface="+mn-lt"/>
                <a:cs typeface="+mn-lt"/>
              </a:rPr>
              <a:t>Identify different types of graphs</a:t>
            </a:r>
            <a:endParaRPr lang="en-US" sz="1600" dirty="0">
              <a:ea typeface="+mn-lt"/>
              <a:cs typeface="+mn-lt"/>
            </a:endParaRPr>
          </a:p>
          <a:p>
            <a:pPr marL="342900" indent="-342900">
              <a:buFont typeface="Arial" panose="020B0604020202020204"/>
              <a:buAutoNum type="arabicPeriod"/>
            </a:pPr>
            <a:r>
              <a:rPr lang="en-US" sz="1600" dirty="0">
                <a:ea typeface="+mn-lt"/>
                <a:cs typeface="+mn-lt"/>
              </a:rPr>
              <a:t>Learn and implement graph representations</a:t>
            </a:r>
            <a:endParaRPr lang="en-US" sz="1600" dirty="0">
              <a:ea typeface="+mn-lt"/>
              <a:cs typeface="+mn-lt"/>
            </a:endParaRPr>
          </a:p>
          <a:p>
            <a:pPr>
              <a:buFont typeface="Arial" panose="020B0604020202020204"/>
              <a:buChar char="•"/>
            </a:pPr>
            <a:endParaRPr lang="en-US" sz="1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ldLvl="0" animBg="1"/>
      <p:bldP spid="7" grpId="0" animBg="1"/>
      <p:bldP spid="9" grpId="0" bldLvl="0" animBg="1"/>
      <p:bldP spid="29" grpId="0" animBg="1"/>
      <p:bldP spid="3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INTRODUCTION </a:t>
            </a:r>
            <a:endParaRPr lang="en-US" dirty="0"/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285750" y="706755"/>
            <a:ext cx="11363325" cy="61493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196850" indent="0" algn="just"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7170" algn="l"/>
              </a:tabLst>
            </a:pPr>
            <a:endParaRPr lang="en-US" sz="2800" spc="-5" dirty="0">
              <a:solidFill>
                <a:srgbClr val="00B0F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196850" indent="0" algn="just"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800" b="1" spc="-5" dirty="0">
                <a:solidFill>
                  <a:srgbClr val="BA2532"/>
                </a:solidFill>
                <a:latin typeface="Times New Roman" panose="02020603050405020304"/>
                <a:ea typeface="Tahoma" panose="020B0604030504040204"/>
                <a:cs typeface="Times New Roman" panose="02020603050405020304"/>
                <a:sym typeface="+mn-ea"/>
              </a:rPr>
              <a:t>What is a Graph?</a:t>
            </a:r>
            <a:endParaRPr lang="en-US" sz="2800" b="1" spc="-5" dirty="0">
              <a:solidFill>
                <a:srgbClr val="BA2532"/>
              </a:solidFill>
              <a:latin typeface="Times New Roman" panose="02020603050405020304"/>
              <a:ea typeface="Tahoma" panose="020B0604030504040204"/>
              <a:cs typeface="Times New Roman" panose="02020603050405020304"/>
            </a:endParaRPr>
          </a:p>
          <a:p>
            <a:pPr algn="just">
              <a:tabLst>
                <a:tab pos="217170" algn="l"/>
              </a:tabLst>
            </a:pPr>
            <a:r>
              <a:rPr lang="en-US" sz="2800" spc="-5" dirty="0">
                <a:latin typeface="Times New Roman" panose="02020603050405020304"/>
                <a:ea typeface="+mn-lt"/>
                <a:cs typeface="+mn-lt"/>
                <a:sym typeface="+mn-ea"/>
              </a:rPr>
              <a:t>A Graph in Data Structures is a type of non-primitive and non-linear data </a:t>
            </a:r>
            <a:r>
              <a:rPr lang="en-US" sz="2800" spc="-5" dirty="0" err="1">
                <a:latin typeface="Times New Roman" panose="02020603050405020304"/>
                <a:ea typeface="+mn-lt"/>
                <a:cs typeface="+mn-lt"/>
                <a:sym typeface="+mn-ea"/>
              </a:rPr>
              <a:t>structue</a:t>
            </a:r>
            <a:r>
              <a:rPr lang="en-US" sz="2800" spc="-5" dirty="0">
                <a:latin typeface="Times New Roman" panose="02020603050405020304"/>
                <a:ea typeface="+mn-lt"/>
                <a:cs typeface="+mn-lt"/>
                <a:sym typeface="+mn-ea"/>
              </a:rPr>
              <a:t> that represents a set of </a:t>
            </a:r>
            <a:r>
              <a:rPr lang="en-US" sz="2800" b="1" spc="-5" dirty="0">
                <a:latin typeface="Times New Roman" panose="02020603050405020304"/>
                <a:ea typeface="+mn-lt"/>
                <a:cs typeface="+mn-lt"/>
                <a:sym typeface="+mn-ea"/>
              </a:rPr>
              <a:t>vertices </a:t>
            </a:r>
            <a:r>
              <a:rPr lang="en-US" sz="2800" b="1" spc="-5" dirty="0">
                <a:latin typeface="Times New Roman" panose="02020603050405020304"/>
                <a:ea typeface="+mn-lt"/>
                <a:cs typeface="+mn-lt"/>
              </a:rPr>
              <a:t>(</a:t>
            </a:r>
            <a:r>
              <a:rPr lang="en-US" sz="2800" b="1" spc="-5" dirty="0">
                <a:latin typeface="Times New Roman" panose="02020603050405020304"/>
                <a:ea typeface="+mn-lt"/>
                <a:cs typeface="+mn-lt"/>
                <a:sym typeface="+mn-ea"/>
              </a:rPr>
              <a:t>nodes)</a:t>
            </a:r>
            <a:r>
              <a:rPr lang="en-US" sz="2800" spc="-5" dirty="0">
                <a:latin typeface="Times New Roman" panose="02020603050405020304"/>
                <a:ea typeface="+mn-lt"/>
                <a:cs typeface="+mn-lt"/>
              </a:rPr>
              <a:t> and </a:t>
            </a:r>
            <a:r>
              <a:rPr lang="en-US" sz="2800" b="1" spc="-5" dirty="0">
                <a:latin typeface="Times New Roman" panose="02020603050405020304"/>
                <a:ea typeface="+mn-lt"/>
                <a:cs typeface="+mn-lt"/>
                <a:sym typeface="+mn-ea"/>
              </a:rPr>
              <a:t>edges (connections)</a:t>
            </a:r>
            <a:r>
              <a:rPr lang="en-US" sz="2800" spc="-5" dirty="0">
                <a:latin typeface="Times New Roman" panose="02020603050405020304"/>
                <a:ea typeface="+mn-lt"/>
                <a:cs typeface="+mn-lt"/>
                <a:sym typeface="+mn-ea"/>
              </a:rPr>
              <a:t> that link pairs of vertices. It is represented as G=(V,E)</a:t>
            </a:r>
            <a:endParaRPr lang="en-US" sz="2800" dirty="0">
              <a:latin typeface="Times New Roman" panose="02020603050405020304"/>
              <a:ea typeface="+mn-lt"/>
              <a:cs typeface="+mn-lt"/>
            </a:endParaRPr>
          </a:p>
          <a:p>
            <a:pPr algn="just">
              <a:tabLst>
                <a:tab pos="217170" algn="l"/>
              </a:tabLst>
            </a:pPr>
            <a:endParaRPr lang="en-US" sz="2800" spc="-5" dirty="0">
              <a:latin typeface="Times New Roman" panose="02020603050405020304"/>
              <a:ea typeface="+mn-lt"/>
              <a:cs typeface="+mn-lt"/>
            </a:endParaRPr>
          </a:p>
          <a:p>
            <a:pPr algn="just">
              <a:tabLst>
                <a:tab pos="217170" algn="l"/>
              </a:tabLst>
            </a:pPr>
            <a:endParaRPr lang="en-US" sz="2800" spc="-5" dirty="0">
              <a:latin typeface="Times New Roman" panose="02020603050405020304"/>
              <a:ea typeface="+mn-lt"/>
              <a:cs typeface="+mn-lt"/>
            </a:endParaRPr>
          </a:p>
          <a:p>
            <a:pPr algn="just">
              <a:tabLst>
                <a:tab pos="217170" algn="l"/>
              </a:tabLst>
            </a:pPr>
            <a:endParaRPr lang="en-US" sz="2800" spc="-5" dirty="0">
              <a:latin typeface="Times New Roman" panose="02020603050405020304"/>
              <a:ea typeface="+mn-lt"/>
              <a:cs typeface="+mn-lt"/>
            </a:endParaRPr>
          </a:p>
          <a:p>
            <a:pPr algn="just">
              <a:tabLst>
                <a:tab pos="217170" algn="l"/>
              </a:tabLst>
            </a:pPr>
            <a:endParaRPr lang="en-US" sz="2800" spc="-5" dirty="0">
              <a:latin typeface="Times New Roman" panose="02020603050405020304"/>
              <a:ea typeface="+mn-lt"/>
              <a:cs typeface="+mn-lt"/>
            </a:endParaRPr>
          </a:p>
          <a:p>
            <a:pPr algn="just">
              <a:tabLst>
                <a:tab pos="217170" algn="l"/>
              </a:tabLst>
            </a:pPr>
            <a:endParaRPr lang="en-US" sz="2800" spc="-5" dirty="0">
              <a:latin typeface="Times New Roman" panose="02020603050405020304"/>
              <a:ea typeface="+mn-lt"/>
              <a:cs typeface="+mn-lt"/>
            </a:endParaRPr>
          </a:p>
          <a:p>
            <a:pPr algn="just">
              <a:tabLst>
                <a:tab pos="217170" algn="l"/>
              </a:tabLst>
            </a:pPr>
            <a:endParaRPr lang="en-US" sz="2800" spc="-5" dirty="0">
              <a:latin typeface="Times New Roman" panose="02020603050405020304"/>
              <a:ea typeface="+mn-lt"/>
              <a:cs typeface="+mn-lt"/>
            </a:endParaRPr>
          </a:p>
          <a:p>
            <a:pPr algn="just">
              <a:buFont typeface="Arial" panose="020B0604020202020204" pitchFamily="2" charset="2"/>
              <a:buChar char="•"/>
              <a:tabLst>
                <a:tab pos="217170" algn="l"/>
              </a:tabLst>
            </a:pPr>
            <a:r>
              <a:rPr lang="en-US" sz="2800" spc="-5" dirty="0">
                <a:latin typeface="Times New Roman" panose="02020603050405020304"/>
                <a:ea typeface="+mn-lt"/>
                <a:cs typeface="+mn-lt"/>
                <a:sym typeface="+mn-ea"/>
              </a:rPr>
              <a:t> Graphs are used to model relationships or connections in a wide range </a:t>
            </a:r>
            <a:r>
              <a:rPr lang="en-US" sz="2800" spc="-5" dirty="0">
                <a:latin typeface="Times New Roman" panose="02020603050405020304"/>
                <a:ea typeface="+mn-lt"/>
                <a:cs typeface="+mn-lt"/>
              </a:rPr>
              <a:t>of domains, such as networks, social relationships, or dependencies.</a:t>
            </a:r>
            <a:endParaRPr lang="en-US" sz="2800" spc="-5" dirty="0">
              <a:latin typeface="Times New Roman" panose="02020603050405020304"/>
              <a:ea typeface="+mn-lt"/>
              <a:cs typeface="+mn-lt"/>
            </a:endParaRPr>
          </a:p>
          <a:p>
            <a:pPr marL="0" marR="196850" indent="0" algn="just"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7170" algn="l"/>
              </a:tabLst>
            </a:pPr>
            <a:endParaRPr lang="en-US" sz="2800" spc="-5" dirty="0">
              <a:latin typeface="Times New Roman" panose="02020603050405020304"/>
              <a:ea typeface="+mn-lt"/>
              <a:cs typeface="+mn-lt"/>
            </a:endParaRPr>
          </a:p>
        </p:txBody>
      </p:sp>
      <p:pic>
        <p:nvPicPr>
          <p:cNvPr id="2" name="Picture 1" descr="A diagram of a network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765" y="3126105"/>
            <a:ext cx="6788150" cy="1993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8418" y="160686"/>
            <a:ext cx="6556918" cy="368418"/>
          </a:xfr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Types of Graphs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29089"/>
            <a:ext cx="10515600" cy="5447874"/>
          </a:xfrm>
        </p:spPr>
        <p:txBody>
          <a:bodyPr lIns="91440" tIns="45720" rIns="91440" bIns="45720" anchor="t"/>
          <a:lstStyle/>
          <a:p>
            <a:pPr marL="0" indent="0" algn="ctr">
              <a:buNone/>
            </a:pPr>
            <a:r>
              <a:rPr lang="en-US" sz="4000" b="1" spc="-5" dirty="0">
                <a:solidFill>
                  <a:srgbClr val="BA2532"/>
                </a:solidFill>
                <a:latin typeface="Times New Roman" panose="02020603050405020304"/>
                <a:ea typeface="Tahoma" panose="020B0604030504040204"/>
                <a:cs typeface="Times New Roman" panose="02020603050405020304"/>
              </a:rPr>
              <a:t>Directed Graph Vs Undirected Graph</a:t>
            </a:r>
            <a:endParaRPr lang="en-US" sz="4000" b="1" spc="-5">
              <a:solidFill>
                <a:srgbClr val="BA2532"/>
              </a:solidFill>
              <a:latin typeface="Times New Roman" panose="02020603050405020304"/>
              <a:ea typeface="Tahoma" panose="020B0604030504040204"/>
              <a:cs typeface="Times New Roman" panose="02020603050405020304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/>
                <a:ea typeface="+mn-lt"/>
                <a:cs typeface="+mn-lt"/>
              </a:rPr>
              <a:t>Dir</a:t>
            </a: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ected Graphs (Digraphs)</a:t>
            </a:r>
            <a:endParaRPr lang="en-US" sz="24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  Edges have a direction, indicating a one-way connection between nodes.</a:t>
            </a:r>
            <a:endParaRPr lang="en-US" sz="440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 </a:t>
            </a: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 Example: </a:t>
            </a: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A flight route from City A to City B.</a:t>
            </a:r>
            <a:endParaRPr lang="en-US" sz="24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/>
              <a:ea typeface="+mn-lt"/>
              <a:cs typeface="+mn-lt"/>
            </a:endParaRPr>
          </a:p>
          <a:p>
            <a:endParaRPr lang="en-US" sz="2400" dirty="0">
              <a:latin typeface="Times New Roman" panose="02020603050405020304"/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Undirected Graphs</a:t>
            </a:r>
            <a:endParaRPr lang="en-US" sz="44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  Edges do not have a direction, representing a two-way connection.</a:t>
            </a:r>
            <a:endParaRPr lang="en-US" sz="440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  </a:t>
            </a: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Example:</a:t>
            </a: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 A friendship in a social network.</a:t>
            </a:r>
            <a:endParaRPr lang="en-US" sz="4400">
              <a:latin typeface="Times New Roman" panose="02020603050405020304"/>
              <a:cs typeface="Times New Roman" panose="02020603050405020304"/>
            </a:endParaRPr>
          </a:p>
          <a:p>
            <a:pPr marL="514350" indent="-514350">
              <a:buAutoNum type="arabicPeriod"/>
            </a:pPr>
            <a:endParaRPr lang="en-US" sz="24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6" name="Picture 5" descr="A diagram of a graph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717" y="5095967"/>
            <a:ext cx="2601022" cy="1428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A diagram of a directed graph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014" y="2393749"/>
            <a:ext cx="2596375" cy="17660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520" y="738505"/>
            <a:ext cx="10515600" cy="5438458"/>
          </a:xfrm>
        </p:spPr>
        <p:txBody>
          <a:bodyPr lIns="91440" tIns="45720" rIns="91440" bIns="45720" anchor="t"/>
          <a:lstStyle/>
          <a:p>
            <a:pPr marL="0" indent="0" algn="ctr">
              <a:buNone/>
            </a:pPr>
            <a:r>
              <a:rPr lang="en-US" sz="4000" b="1" spc="-5" dirty="0">
                <a:solidFill>
                  <a:srgbClr val="BA2532"/>
                </a:solidFill>
                <a:latin typeface="Times New Roman" panose="02020603050405020304"/>
                <a:ea typeface="Tahoma" panose="020B0604030504040204"/>
                <a:cs typeface="Times New Roman" panose="02020603050405020304"/>
              </a:rPr>
              <a:t>Weighted Graph Vs Unweighted Graph</a:t>
            </a:r>
            <a:endParaRPr lang="en-US" sz="4000" b="1" spc="-5" dirty="0">
              <a:solidFill>
                <a:srgbClr val="BA2532"/>
              </a:solidFill>
              <a:latin typeface="Times New Roman" panose="02020603050405020304"/>
              <a:ea typeface="Tahoma" panose="020B0604030504040204"/>
              <a:cs typeface="Times New Roman" panose="02020603050405020304"/>
            </a:endParaRPr>
          </a:p>
          <a:p>
            <a:pPr>
              <a:buFont typeface="Arial" panose="020B0604020202020204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Weighted Graphs</a:t>
            </a:r>
            <a:endParaRPr lang="en-US">
              <a:solidFill>
                <a:srgbClr val="000000"/>
              </a:solidFill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indent="0">
              <a:buNone/>
            </a:pPr>
            <a:r>
              <a:rPr lang="en-US" dirty="0">
                <a:latin typeface="Times New Roman" panose="02020603050405020304"/>
                <a:ea typeface="+mn-lt"/>
                <a:cs typeface="+mn-lt"/>
              </a:rPr>
              <a:t> Edges have an associated weight or cost, representing the magnitude of the connection.</a:t>
            </a:r>
            <a:endParaRPr lang="en-US" sz="480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r>
              <a:rPr lang="en-US" dirty="0">
                <a:latin typeface="Times New Roman" panose="02020603050405020304"/>
                <a:ea typeface="+mn-lt"/>
                <a:cs typeface="+mn-lt"/>
              </a:rPr>
              <a:t> </a:t>
            </a:r>
            <a:r>
              <a:rPr lang="en-US" b="1" dirty="0">
                <a:latin typeface="Times New Roman" panose="02020603050405020304"/>
                <a:ea typeface="+mn-lt"/>
                <a:cs typeface="+mn-lt"/>
              </a:rPr>
              <a:t> Example:</a:t>
            </a:r>
            <a:r>
              <a:rPr lang="en-US" dirty="0">
                <a:latin typeface="Times New Roman" panose="02020603050405020304"/>
                <a:ea typeface="+mn-lt"/>
                <a:cs typeface="+mn-lt"/>
              </a:rPr>
              <a:t> Distances between cities on a map.</a:t>
            </a:r>
            <a:endParaRPr lang="en-US" sz="480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endParaRPr lang="en-US" dirty="0">
              <a:latin typeface="Times New Roman" panose="02020603050405020304"/>
              <a:ea typeface="+mn-lt"/>
              <a:cs typeface="+mn-lt"/>
            </a:endParaRPr>
          </a:p>
          <a:p>
            <a:pPr>
              <a:buNone/>
            </a:pPr>
            <a:endParaRPr lang="en-US" dirty="0">
              <a:latin typeface="Times New Roman" panose="02020603050405020304"/>
              <a:ea typeface="+mn-lt"/>
              <a:cs typeface="+mn-lt"/>
            </a:endParaRPr>
          </a:p>
          <a:p>
            <a:pPr>
              <a:buNone/>
            </a:pPr>
            <a:endParaRPr lang="en-US" dirty="0">
              <a:latin typeface="Times New Roman" panose="02020603050405020304"/>
              <a:ea typeface="+mn-lt"/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b="1" dirty="0">
                <a:latin typeface="Times New Roman" panose="02020603050405020304"/>
                <a:ea typeface="+mn-lt"/>
                <a:cs typeface="+mn-lt"/>
              </a:rPr>
              <a:t>Unweighted Graphs</a:t>
            </a:r>
            <a:endParaRPr lang="en-US" sz="48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indent="0">
              <a:buNone/>
            </a:pPr>
            <a:r>
              <a:rPr lang="en-US" dirty="0">
                <a:latin typeface="Times New Roman" panose="02020603050405020304"/>
                <a:ea typeface="+mn-lt"/>
                <a:cs typeface="+mn-lt"/>
              </a:rPr>
              <a:t> All edges are equal in importance or cost.</a:t>
            </a:r>
            <a:endParaRPr lang="en-US" sz="480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/>
                <a:ea typeface="+mn-lt"/>
                <a:cs typeface="+mn-lt"/>
              </a:rPr>
              <a:t>  Example:</a:t>
            </a:r>
            <a:r>
              <a:rPr lang="en-US" dirty="0">
                <a:latin typeface="Times New Roman" panose="02020603050405020304"/>
                <a:ea typeface="+mn-lt"/>
                <a:cs typeface="+mn-lt"/>
              </a:rPr>
              <a:t> A network of computers connected via cables.</a:t>
            </a:r>
            <a:endParaRPr lang="en-US" sz="480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48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3988418" y="160686"/>
            <a:ext cx="6556918" cy="368418"/>
          </a:xfrm>
          <a:prstGeom prst="rect">
            <a:avLst/>
          </a:prstGeom>
          <a:solidFill>
            <a:srgbClr val="BA2532"/>
          </a:solidFill>
          <a:ln w="19050" cap="flat" cmpd="sng" algn="ctr">
            <a:noFill/>
            <a:prstDash val="solid"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Types of Graphs</a:t>
            </a:r>
            <a:endParaRPr lang="en-US" sz="2400" dirty="0"/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" name="Picture 9" descr="A diagram of a graph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8470" y="2437130"/>
            <a:ext cx="2569845" cy="15957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 descr="A diagram of a network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105" y="4165600"/>
            <a:ext cx="2569845" cy="16725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6585"/>
            <a:ext cx="10515600" cy="5499418"/>
          </a:xfrm>
        </p:spPr>
        <p:txBody>
          <a:bodyPr lIns="91440" tIns="45720" rIns="91440" bIns="45720" anchor="t"/>
          <a:lstStyle/>
          <a:p>
            <a:pPr marL="0" indent="0" algn="ctr">
              <a:buNone/>
            </a:pPr>
            <a:r>
              <a:rPr lang="en-US" sz="4000" b="1" spc="-5" dirty="0">
                <a:solidFill>
                  <a:srgbClr val="BA2532"/>
                </a:solidFill>
                <a:latin typeface="Times New Roman" panose="02020603050405020304"/>
                <a:ea typeface="Tahoma" panose="020B0604030504040204"/>
                <a:cs typeface="Times New Roman" panose="02020603050405020304"/>
              </a:rPr>
              <a:t>Cycle Graph Vs Acyclic Graph</a:t>
            </a:r>
            <a:endParaRPr lang="en-US" sz="4000" b="1" spc="-5" dirty="0">
              <a:solidFill>
                <a:srgbClr val="BA2532"/>
              </a:solidFill>
              <a:latin typeface="Times New Roman" panose="02020603050405020304"/>
              <a:ea typeface="Tahoma" panose="020B0604030504040204"/>
              <a:cs typeface="Times New Roman" panose="02020603050405020304"/>
            </a:endParaRPr>
          </a:p>
          <a:p>
            <a:pPr marL="0" indent="0" algn="ctr">
              <a:buNone/>
            </a:pPr>
            <a:endParaRPr lang="en-US" b="1" dirty="0">
              <a:latin typeface="Times New Roman" panose="02020603050405020304"/>
              <a:ea typeface="+mn-lt"/>
              <a:cs typeface="Times New Roman" panose="02020603050405020304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Cyclic Graphs</a:t>
            </a:r>
            <a:endParaRPr lang="en-US" sz="24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/>
                <a:ea typeface="+mn-lt"/>
                <a:cs typeface="+mn-lt"/>
              </a:rPr>
              <a:t>Contain one or more cycles (paths where the start and end nodes are the same).</a:t>
            </a:r>
            <a:endParaRPr lang="en-US" dirty="0">
              <a:latin typeface="Times New Roman" panose="02020603050405020304"/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/>
                <a:ea typeface="+mn-lt"/>
                <a:cs typeface="+mn-lt"/>
              </a:rPr>
              <a:t>Example</a:t>
            </a:r>
            <a:r>
              <a:rPr lang="en-US" dirty="0">
                <a:latin typeface="Times New Roman" panose="02020603050405020304"/>
                <a:ea typeface="+mn-lt"/>
                <a:cs typeface="+mn-lt"/>
              </a:rPr>
              <a:t>: A network of roads forming a loop.</a:t>
            </a:r>
            <a:endParaRPr lang="en-US" sz="4000" dirty="0">
              <a:latin typeface="Times New Roman" panose="02020603050405020304"/>
              <a:cs typeface="Times New Roman" panose="02020603050405020304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/>
              <a:ea typeface="+mn-lt"/>
              <a:cs typeface="+mn-lt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Acyclic Graphs</a:t>
            </a:r>
            <a:endParaRPr lang="en-US" sz="4400" dirty="0">
              <a:latin typeface="Times New Roman" panose="02020603050405020304"/>
              <a:cs typeface="Times New Roman" panose="02020603050405020304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/>
                <a:ea typeface="+mn-lt"/>
                <a:cs typeface="+mn-lt"/>
              </a:rPr>
              <a:t>Do not contain cycles.</a:t>
            </a:r>
            <a:endParaRPr lang="en-US" sz="40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/>
                <a:ea typeface="+mn-lt"/>
                <a:cs typeface="+mn-lt"/>
              </a:rPr>
              <a:t>Example:</a:t>
            </a:r>
            <a:r>
              <a:rPr lang="en-US" dirty="0">
                <a:latin typeface="Times New Roman" panose="02020603050405020304"/>
                <a:ea typeface="+mn-lt"/>
                <a:cs typeface="+mn-lt"/>
              </a:rPr>
              <a:t> A dependency graph for tasks where no task depends on itself indirectly.</a:t>
            </a:r>
            <a:endParaRPr lang="en-US" sz="400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endParaRPr lang="en-US" sz="40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3988418" y="160686"/>
            <a:ext cx="6556918" cy="368418"/>
          </a:xfrm>
          <a:prstGeom prst="rect">
            <a:avLst/>
          </a:prstGeom>
          <a:solidFill>
            <a:srgbClr val="BA2532"/>
          </a:solidFill>
          <a:ln w="19050" cap="flat" cmpd="sng" algn="ctr">
            <a:noFill/>
            <a:prstDash val="solid"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Types of Graphs</a:t>
            </a:r>
            <a:endParaRPr lang="en-US" sz="2400" dirty="0"/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8" name="Picture 7" descr="A diagram of a cycle graph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487" y="2702560"/>
            <a:ext cx="2714625" cy="1600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 descr="A diagram of a graph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037" y="5095557"/>
            <a:ext cx="2886075" cy="14382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395" y="734695"/>
            <a:ext cx="11508740" cy="5290185"/>
          </a:xfrm>
        </p:spPr>
        <p:txBody>
          <a:bodyPr lIns="91440" tIns="45720" rIns="91440" bIns="45720" anchor="t"/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latin typeface="Times New Roman" panose="02020603050405020304"/>
                <a:cs typeface="Times New Roman" panose="02020603050405020304"/>
              </a:rPr>
              <a:t>Vertex (Node): 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In graph data structures, a vertex (also known as a node) is a fundamental unit that represents an entity or point within the graph.</a:t>
            </a:r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pPr algn="just">
              <a:lnSpc>
                <a:spcPct val="100000"/>
              </a:lnSpc>
            </a:pPr>
            <a:r>
              <a:rPr lang="en-US" sz="2400" b="1" dirty="0">
                <a:latin typeface="Times New Roman" panose="02020603050405020304"/>
                <a:cs typeface="Times New Roman" panose="02020603050405020304"/>
              </a:rPr>
              <a:t>Edge: 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An Edge is a connection between two vertices in a graph. It can be either directed or undirected.</a:t>
            </a:r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pPr algn="just">
              <a:lnSpc>
                <a:spcPct val="100000"/>
              </a:lnSpc>
            </a:pPr>
            <a:r>
              <a:rPr lang="en-US" sz="2400" b="1" dirty="0">
                <a:latin typeface="Times New Roman" panose="02020603050405020304"/>
                <a:cs typeface="Times New Roman" panose="02020603050405020304"/>
              </a:rPr>
              <a:t>Adjacent Nodes: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 Two nodes are considered adjacent if they are directly connected by an edge.</a:t>
            </a:r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pPr algn="just">
              <a:lnSpc>
                <a:spcPct val="100000"/>
              </a:lnSpc>
            </a:pPr>
            <a:r>
              <a:rPr lang="en-US" sz="2400" b="1" dirty="0">
                <a:latin typeface="Times New Roman" panose="02020603050405020304"/>
                <a:cs typeface="Times New Roman" panose="02020603050405020304"/>
              </a:rPr>
              <a:t>Path: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 A path can be defined as the sequence of nodes that are followed in order to reach some destination node V from the source node U.</a:t>
            </a:r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pPr algn="just">
              <a:lnSpc>
                <a:spcPct val="100000"/>
              </a:lnSpc>
            </a:pPr>
            <a:r>
              <a:rPr lang="en-US" sz="2400" b="1" dirty="0">
                <a:latin typeface="Times New Roman" panose="02020603050405020304"/>
                <a:cs typeface="Times New Roman" panose="02020603050405020304"/>
              </a:rPr>
              <a:t>Degree of the Node: 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A degree of a node is the number of edges that are connected with that node. A node with degree 0 is called as isolated node.</a:t>
            </a:r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pPr algn="just">
              <a:lnSpc>
                <a:spcPct val="100000"/>
              </a:lnSpc>
            </a:pP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In-Degree:</a:t>
            </a: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 The number of incoming edges to a vertex in a directed graph.</a:t>
            </a:r>
            <a:endParaRPr lang="en-US" sz="24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algn="just">
              <a:lnSpc>
                <a:spcPct val="100000"/>
              </a:lnSpc>
            </a:pP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Out-Degree: </a:t>
            </a: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The number of outgoing edges from a vertex in a directed graph.</a:t>
            </a:r>
            <a:endParaRPr lang="en-US" sz="24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algn="just">
              <a:lnSpc>
                <a:spcPct val="100000"/>
              </a:lnSpc>
            </a:pPr>
            <a:r>
              <a:rPr lang="en-US" sz="2400" b="1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Length</a:t>
            </a:r>
            <a:r>
              <a:rPr lang="en-US" sz="2400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 of a path: Number of edges in the path. Sometimes the sum of the weights of the edges.</a:t>
            </a:r>
            <a:endParaRPr lang="en-US" sz="24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4" name="Rounded Rectangle 17"/>
          <p:cNvSpPr/>
          <p:nvPr/>
        </p:nvSpPr>
        <p:spPr>
          <a:xfrm>
            <a:off x="4061460" y="83820"/>
            <a:ext cx="5462270" cy="51562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en-US" sz="2800" b="1" dirty="0"/>
              <a:t>Graph Terminology </a:t>
            </a:r>
            <a:b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40601"/>
            <a:ext cx="10515600" cy="5336362"/>
          </a:xfrm>
        </p:spPr>
        <p:txBody>
          <a:bodyPr lIns="91440" tIns="45720" rIns="91440" bIns="45720" anchor="t"/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/>
                <a:ea typeface="+mn-lt"/>
                <a:cs typeface="+mn-lt"/>
              </a:rPr>
              <a:t>To efficiently store and process graphs, it is essential to understand different ways of representations. Some of them are</a:t>
            </a:r>
            <a:endParaRPr lang="en-US" sz="3200" dirty="0">
              <a:latin typeface="Times New Roman" panose="02020603050405020304"/>
              <a:ea typeface="+mn-lt"/>
              <a:cs typeface="+mn-lt"/>
            </a:endParaRPr>
          </a:p>
          <a:p>
            <a:pPr marL="514350" indent="-514350" algn="just">
              <a:buAutoNum type="arabicPeriod"/>
            </a:pPr>
            <a:r>
              <a:rPr lang="en-US" sz="32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Adjacency Matrix</a:t>
            </a:r>
            <a:endParaRPr lang="en-US" sz="32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514350" indent="-514350" algn="just">
              <a:buAutoNum type="arabicPeriod"/>
            </a:pPr>
            <a:r>
              <a:rPr lang="en-US" sz="3200" dirty="0">
                <a:latin typeface="Times New Roman" panose="02020603050405020304"/>
                <a:ea typeface="+mn-lt"/>
                <a:cs typeface="+mn-lt"/>
              </a:rPr>
              <a:t>Adjacency List</a:t>
            </a:r>
            <a:endParaRPr lang="en-US" sz="3200" dirty="0">
              <a:latin typeface="Times New Roman" panose="02020603050405020304"/>
              <a:ea typeface="+mn-lt"/>
              <a:cs typeface="+mn-lt"/>
            </a:endParaRPr>
          </a:p>
          <a:p>
            <a:pPr marL="514350" indent="-514350" algn="just">
              <a:buAutoNum type="arabicPeriod"/>
            </a:pPr>
            <a:r>
              <a:rPr lang="en-US" sz="32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Transitive C</a:t>
            </a:r>
            <a:r>
              <a:rPr lang="en-US" sz="3200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losure</a:t>
            </a:r>
            <a:endParaRPr lang="en-US" sz="32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5" name="Rounded Rectangle 17"/>
          <p:cNvSpPr/>
          <p:nvPr/>
        </p:nvSpPr>
        <p:spPr>
          <a:xfrm>
            <a:off x="4061460" y="83820"/>
            <a:ext cx="5462270" cy="51562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/>
              <a:t>GRAPH REPRESENTATION </a:t>
            </a:r>
            <a:endParaRPr lang="en-US" sz="2800" b="1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40601"/>
            <a:ext cx="10515600" cy="5336362"/>
          </a:xfrm>
        </p:spPr>
        <p:txBody>
          <a:bodyPr lIns="91440" tIns="45720" rIns="91440" bIns="45720" anchor="t"/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An </a:t>
            </a:r>
            <a:r>
              <a:rPr lang="en-US" sz="2000" b="1" dirty="0">
                <a:latin typeface="Times New Roman" panose="02020603050405020304"/>
                <a:ea typeface="+mn-lt"/>
                <a:cs typeface="+mn-lt"/>
              </a:rPr>
              <a:t>adjacency matrix</a:t>
            </a:r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 is a 2D array that represents a graph.</a:t>
            </a:r>
            <a:endParaRPr lang="en-US" sz="20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lvl="1" algn="just"/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Rows and columns represent vertices.</a:t>
            </a:r>
            <a:endParaRPr lang="en-US" sz="2000">
              <a:latin typeface="Times New Roman" panose="02020603050405020304"/>
              <a:cs typeface="Times New Roman" panose="02020603050405020304"/>
            </a:endParaRPr>
          </a:p>
          <a:p>
            <a:pPr lvl="1" algn="just"/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A cell at position (</a:t>
            </a:r>
            <a:r>
              <a:rPr lang="en-US" sz="2000" dirty="0" err="1">
                <a:latin typeface="Times New Roman" panose="02020603050405020304"/>
                <a:ea typeface="+mn-lt"/>
                <a:cs typeface="+mn-lt"/>
              </a:rPr>
              <a:t>i,j</a:t>
            </a:r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) indicates whether there is an edge from vertex </a:t>
            </a:r>
            <a:r>
              <a:rPr lang="en-US" sz="2000" dirty="0" err="1">
                <a:latin typeface="Times New Roman" panose="02020603050405020304"/>
                <a:ea typeface="+mn-lt"/>
                <a:cs typeface="+mn-lt"/>
              </a:rPr>
              <a:t>i</a:t>
            </a:r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 to vertex j.</a:t>
            </a:r>
            <a:endParaRPr lang="en-US" sz="2000" dirty="0">
              <a:latin typeface="Times New Roman" panose="02020603050405020304"/>
              <a:ea typeface="+mn-lt"/>
              <a:cs typeface="+mn-lt"/>
            </a:endParaRPr>
          </a:p>
          <a:p>
            <a:pPr lvl="1" algn="just"/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For weighted graphs, the cell stores the weight of the edge; for unweighted graphs, it typically stores 1 if an edge exists, and 0 otherwise.</a:t>
            </a:r>
            <a:endParaRPr lang="en-US" sz="20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 sz="2000" b="1" dirty="0">
                <a:latin typeface="Times New Roman" panose="02020603050405020304"/>
                <a:ea typeface="+mn-lt"/>
                <a:cs typeface="+mn-lt"/>
              </a:rPr>
              <a:t>Example</a:t>
            </a:r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 (Directed Graph):For a graph with vertices A, B, C:</a:t>
            </a:r>
            <a:endParaRPr lang="en-US" sz="20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algn="just"/>
            <a:endParaRPr lang="en-US" sz="2000" dirty="0">
              <a:latin typeface="Times New Roman" panose="02020603050405020304"/>
              <a:ea typeface="+mn-lt"/>
              <a:cs typeface="+mn-lt"/>
            </a:endParaRPr>
          </a:p>
          <a:p>
            <a:pPr algn="just"/>
            <a:endParaRPr lang="en-US" sz="2000" dirty="0">
              <a:latin typeface="Times New Roman" panose="02020603050405020304"/>
              <a:ea typeface="+mn-lt"/>
              <a:cs typeface="+mn-lt"/>
            </a:endParaRPr>
          </a:p>
          <a:p>
            <a:pPr algn="just"/>
            <a:endParaRPr lang="en-US" sz="2000" dirty="0">
              <a:latin typeface="Times New Roman" panose="02020603050405020304"/>
              <a:ea typeface="+mn-lt"/>
              <a:cs typeface="+mn-lt"/>
            </a:endParaRPr>
          </a:p>
          <a:p>
            <a:pPr algn="just"/>
            <a:endParaRPr lang="en-US" sz="2000" dirty="0">
              <a:latin typeface="Times New Roman" panose="02020603050405020304"/>
              <a:ea typeface="+mn-lt"/>
              <a:cs typeface="+mn-lt"/>
            </a:endParaRPr>
          </a:p>
          <a:p>
            <a:pPr algn="just"/>
            <a:endParaRPr lang="en-US" sz="2000" dirty="0">
              <a:latin typeface="Times New Roman" panose="02020603050405020304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/>
              <a:ea typeface="+mn-lt"/>
              <a:cs typeface="+mn-lt"/>
            </a:endParaRPr>
          </a:p>
          <a:p>
            <a:pPr algn="just"/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Row 0 represents edges from A: A→B.</a:t>
            </a:r>
            <a:endParaRPr lang="en-US" sz="20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Row 1 represents edges from B: B→C.</a:t>
            </a:r>
            <a:endParaRPr lang="en-US" sz="20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Row 2 represents edges from C: C→A.</a:t>
            </a:r>
            <a:endParaRPr lang="en-US" sz="2000">
              <a:latin typeface="Times New Roman" panose="02020603050405020304"/>
              <a:cs typeface="Times New Roman" panose="02020603050405020304"/>
            </a:endParaRPr>
          </a:p>
          <a:p>
            <a:pPr marL="514350" indent="-514350" algn="just">
              <a:buAutoNum type="arabicPeriod"/>
            </a:pPr>
            <a:endParaRPr lang="en-US" sz="20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5" name="Rounded Rectangle 17"/>
          <p:cNvSpPr/>
          <p:nvPr/>
        </p:nvSpPr>
        <p:spPr>
          <a:xfrm>
            <a:off x="4061460" y="83820"/>
            <a:ext cx="5462270" cy="51562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2400" b="1" dirty="0"/>
              <a:t>Adjacency Matrix </a:t>
            </a:r>
            <a:endParaRPr lang="en-US" sz="2400" b="1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Double Bracket 1"/>
          <p:cNvSpPr/>
          <p:nvPr/>
        </p:nvSpPr>
        <p:spPr>
          <a:xfrm>
            <a:off x="4992370" y="3310890"/>
            <a:ext cx="1744980" cy="135255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libri" panose="020F0502020204030204"/>
                <a:cs typeface="Calibri" panose="020F0502020204030204"/>
              </a:rPr>
              <a:t>0    1  0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dirty="0">
                <a:ea typeface="Calibri" panose="020F0502020204030204"/>
                <a:cs typeface="Calibri" panose="020F0502020204030204"/>
              </a:rPr>
              <a:t>0    0  1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dirty="0">
                <a:ea typeface="Calibri" panose="020F0502020204030204"/>
                <a:cs typeface="Calibri" panose="020F0502020204030204"/>
              </a:rPr>
              <a:t>1    0   0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226185" y="3428365"/>
            <a:ext cx="2601595" cy="1755775"/>
            <a:chOff x="1225990" y="2590762"/>
            <a:chExt cx="2601472" cy="1434970"/>
          </a:xfrm>
        </p:grpSpPr>
        <p:grpSp>
          <p:nvGrpSpPr>
            <p:cNvPr id="19" name="Group 18"/>
            <p:cNvGrpSpPr/>
            <p:nvPr/>
          </p:nvGrpSpPr>
          <p:grpSpPr>
            <a:xfrm>
              <a:off x="1225990" y="2590762"/>
              <a:ext cx="2601472" cy="1434970"/>
              <a:chOff x="3855896" y="2080845"/>
              <a:chExt cx="2601472" cy="1434970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4718538" y="2080845"/>
                <a:ext cx="718038" cy="61546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ea typeface="Calibri" panose="020F0502020204030204"/>
                    <a:cs typeface="Calibri" panose="020F0502020204030204"/>
                  </a:rPr>
                  <a:t>B</a:t>
                </a:r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3855896" y="2900354"/>
                <a:ext cx="718038" cy="61546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dirty="0">
                    <a:ea typeface="Calibri" panose="020F0502020204030204"/>
                    <a:cs typeface="Calibri" panose="020F0502020204030204"/>
                  </a:rPr>
                  <a:t>A</a:t>
                </a:r>
                <a:endParaRPr lang="en-US" dirty="0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5739330" y="2900354"/>
                <a:ext cx="718038" cy="61546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dirty="0">
                    <a:ea typeface="Calibri" panose="020F0502020204030204"/>
                    <a:cs typeface="Calibri" panose="020F0502020204030204"/>
                  </a:rPr>
                  <a:t>C</a:t>
                </a:r>
                <a:endParaRPr lang="en-US" dirty="0"/>
              </a:p>
            </p:txBody>
          </p:sp>
          <p:cxnSp>
            <p:nvCxnSpPr>
              <p:cNvPr id="17" name="Straight Arrow Connector 16"/>
              <p:cNvCxnSpPr/>
              <p:nvPr/>
            </p:nvCxnSpPr>
            <p:spPr>
              <a:xfrm flipV="1">
                <a:off x="4426634" y="2485878"/>
                <a:ext cx="326878" cy="4364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5346785" y="2433539"/>
                <a:ext cx="456274" cy="5843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Arrow Connector 19"/>
            <p:cNvCxnSpPr/>
            <p:nvPr/>
          </p:nvCxnSpPr>
          <p:spPr>
            <a:xfrm flipH="1" flipV="1">
              <a:off x="1940560" y="3759200"/>
              <a:ext cx="1158240" cy="406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1385"/>
            <a:ext cx="10668000" cy="5357178"/>
          </a:xfrm>
        </p:spPr>
        <p:txBody>
          <a:bodyPr lIns="91440" tIns="45720" rIns="91440" bIns="45720" anchor="t"/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An </a:t>
            </a: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adjacency list</a:t>
            </a: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 represents a graph as a collection of lists, where each vertex has a list of its neighboring vertices.</a:t>
            </a:r>
            <a:endParaRPr lang="en-US" sz="2400">
              <a:latin typeface="Times New Roman" panose="02020603050405020304"/>
              <a:ea typeface="+mn-lt"/>
              <a:cs typeface="+mn-lt"/>
            </a:endParaRPr>
          </a:p>
          <a:p>
            <a:pPr marL="285750" indent="-285750" algn="just"/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Each vertex is a key in a dictionary (or index in an array).</a:t>
            </a:r>
            <a:endParaRPr lang="en-US" sz="2400" dirty="0">
              <a:latin typeface="Times New Roman" panose="02020603050405020304"/>
              <a:ea typeface="+mn-lt"/>
              <a:cs typeface="+mn-lt"/>
            </a:endParaRPr>
          </a:p>
          <a:p>
            <a:pPr marL="285750" indent="-285750" algn="just"/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The value is a list of adjacent vertices (and weights if the graph is weighted).</a:t>
            </a:r>
            <a:endParaRPr lang="en-US" sz="2400" dirty="0">
              <a:latin typeface="Times New Roman" panose="02020603050405020304"/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Example </a:t>
            </a: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(Undirected Graph): </a:t>
            </a:r>
            <a:r>
              <a:rPr lang="en-US" sz="2400" dirty="0">
                <a:latin typeface="Times New Roman" panose="02020603050405020304"/>
                <a:ea typeface="+mn-lt"/>
                <a:cs typeface="Times New Roman" panose="02020603050405020304"/>
              </a:rPr>
              <a:t>For a graph with vertices A, B, C, D</a:t>
            </a: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 with edges A−B, B−C, C−D:</a:t>
            </a:r>
            <a:endParaRPr lang="en-US" sz="2400" dirty="0">
              <a:latin typeface="Times New Roman" panose="02020603050405020304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/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A:[B]
B:[A,C]
C:[B,D]
D: [C]</a:t>
            </a:r>
            <a:endParaRPr lang="en-US" sz="4400" dirty="0"/>
          </a:p>
          <a:p>
            <a:pPr marL="0" indent="0" algn="just">
              <a:buNone/>
            </a:pPr>
            <a:endParaRPr lang="en-US" sz="4400" dirty="0">
              <a:latin typeface="Times New Roman" panose="02020603050405020304"/>
              <a:ea typeface="+mn-lt"/>
              <a:cs typeface="+mn-lt"/>
            </a:endParaRPr>
          </a:p>
        </p:txBody>
      </p:sp>
      <p:sp>
        <p:nvSpPr>
          <p:cNvPr id="5" name="Rounded Rectangle 17"/>
          <p:cNvSpPr/>
          <p:nvPr/>
        </p:nvSpPr>
        <p:spPr>
          <a:xfrm>
            <a:off x="4061460" y="83820"/>
            <a:ext cx="5462270" cy="51562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2400" b="1" dirty="0"/>
              <a:t>Adjacency List </a:t>
            </a:r>
            <a:endParaRPr lang="en-US" sz="2400" b="1"/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grpSp>
        <p:nvGrpSpPr>
          <p:cNvPr id="20" name="Group 19"/>
          <p:cNvGrpSpPr/>
          <p:nvPr/>
        </p:nvGrpSpPr>
        <p:grpSpPr>
          <a:xfrm>
            <a:off x="8970402" y="3551026"/>
            <a:ext cx="2601472" cy="2306238"/>
            <a:chOff x="7852802" y="3274166"/>
            <a:chExt cx="2601472" cy="2306238"/>
          </a:xfrm>
        </p:grpSpPr>
        <p:sp>
          <p:nvSpPr>
            <p:cNvPr id="9" name="Oval 8"/>
            <p:cNvSpPr/>
            <p:nvPr/>
          </p:nvSpPr>
          <p:spPr>
            <a:xfrm>
              <a:off x="8715444" y="3274166"/>
              <a:ext cx="718038" cy="6154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ea typeface="Calibri" panose="020F0502020204030204"/>
                  <a:cs typeface="Calibri" panose="020F0502020204030204"/>
                </a:rPr>
                <a:t>B</a:t>
              </a:r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852802" y="4093675"/>
              <a:ext cx="718038" cy="6154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 panose="020F0502020204030204"/>
                  <a:cs typeface="Calibri" panose="020F0502020204030204"/>
                </a:rPr>
                <a:t>A</a:t>
              </a:r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9736236" y="4093675"/>
              <a:ext cx="718038" cy="6154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 panose="020F0502020204030204"/>
                  <a:cs typeface="Calibri" panose="020F0502020204030204"/>
                </a:rPr>
                <a:t>C</a:t>
              </a:r>
              <a:endParaRPr lang="en-US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8623429" y="4964943"/>
              <a:ext cx="718038" cy="6154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 panose="020F0502020204030204"/>
                  <a:cs typeface="Calibri" panose="020F0502020204030204"/>
                </a:rPr>
                <a:t>D</a:t>
              </a:r>
              <a:endParaRPr lang="en-US" dirty="0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V="1">
              <a:off x="8389815" y="3730477"/>
              <a:ext cx="286238" cy="357359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 flipV="1">
              <a:off x="9417732" y="3679676"/>
              <a:ext cx="445282" cy="438639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9346612" y="4585674"/>
              <a:ext cx="465602" cy="557041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0265"/>
            <a:ext cx="10515600" cy="5326698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The </a:t>
            </a: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transitive closure</a:t>
            </a: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 of a graph determines the reachability of nodes. It creates a new graph that shows all possible paths between nodes in the original graph. </a:t>
            </a:r>
            <a:endParaRPr lang="en-US" sz="2400" dirty="0">
              <a:latin typeface="Times New Roman" panose="02020603050405020304"/>
              <a:ea typeface="+mn-lt"/>
              <a:cs typeface="+mn-lt"/>
            </a:endParaRPr>
          </a:p>
        </p:txBody>
      </p:sp>
      <p:sp>
        <p:nvSpPr>
          <p:cNvPr id="5" name="Rounded Rectangle 17"/>
          <p:cNvSpPr/>
          <p:nvPr/>
        </p:nvSpPr>
        <p:spPr>
          <a:xfrm>
            <a:off x="4061460" y="83820"/>
            <a:ext cx="5462270" cy="51562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2400" b="1" dirty="0"/>
              <a:t>Transitive Closure</a:t>
            </a:r>
            <a:endParaRPr lang="en-US" dirty="0"/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grpSp>
        <p:nvGrpSpPr>
          <p:cNvPr id="13" name="Group 12"/>
          <p:cNvGrpSpPr/>
          <p:nvPr/>
        </p:nvGrpSpPr>
        <p:grpSpPr>
          <a:xfrm>
            <a:off x="1612070" y="2235162"/>
            <a:ext cx="2601472" cy="1434970"/>
            <a:chOff x="3855896" y="2080845"/>
            <a:chExt cx="2601472" cy="1434970"/>
          </a:xfrm>
        </p:grpSpPr>
        <p:sp>
          <p:nvSpPr>
            <p:cNvPr id="2" name="Oval 1"/>
            <p:cNvSpPr/>
            <p:nvPr/>
          </p:nvSpPr>
          <p:spPr>
            <a:xfrm>
              <a:off x="4718538" y="2080845"/>
              <a:ext cx="718038" cy="6154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ea typeface="Calibri" panose="020F0502020204030204"/>
                  <a:cs typeface="Calibri" panose="020F0502020204030204"/>
                </a:rPr>
                <a:t>B</a:t>
              </a:r>
              <a:endParaRPr lang="en-US" dirty="0"/>
            </a:p>
          </p:txBody>
        </p:sp>
        <p:sp>
          <p:nvSpPr>
            <p:cNvPr id="4" name="Oval 3"/>
            <p:cNvSpPr/>
            <p:nvPr/>
          </p:nvSpPr>
          <p:spPr>
            <a:xfrm>
              <a:off x="3855896" y="2900354"/>
              <a:ext cx="718038" cy="6154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 panose="020F0502020204030204"/>
                  <a:cs typeface="Calibri" panose="020F0502020204030204"/>
                </a:rPr>
                <a:t>A</a:t>
              </a:r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5739330" y="2900354"/>
              <a:ext cx="718038" cy="6154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 panose="020F0502020204030204"/>
                  <a:cs typeface="Calibri" panose="020F0502020204030204"/>
                </a:rPr>
                <a:t>C</a:t>
              </a:r>
              <a:endParaRPr lang="en-US" dirty="0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4426634" y="2485878"/>
              <a:ext cx="326878" cy="4364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5346785" y="2433539"/>
              <a:ext cx="456274" cy="5843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852805" y="1577975"/>
            <a:ext cx="8013700" cy="3538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dirty="0">
                <a:latin typeface="Times New Roman" panose="02020603050405020304"/>
              </a:rPr>
              <a:t>Example</a:t>
            </a:r>
            <a:r>
              <a:rPr lang="en-US" sz="2400" dirty="0">
                <a:latin typeface="Times New Roman" panose="02020603050405020304"/>
              </a:rPr>
              <a:t> (Directed Graph):For a graph with vertices A, B, C:</a:t>
            </a:r>
            <a:endParaRPr lang="en-US" sz="2400" dirty="0">
              <a:latin typeface="Times New Roman" panose="02020603050405020304"/>
            </a:endParaRPr>
          </a:p>
          <a:p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3200">
              <a:ea typeface="+mn-lt"/>
              <a:cs typeface="+mn-lt"/>
            </a:endParaRPr>
          </a:p>
          <a:p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Double Bracket 14"/>
          <p:cNvSpPr/>
          <p:nvPr/>
        </p:nvSpPr>
        <p:spPr>
          <a:xfrm>
            <a:off x="6786880" y="2489200"/>
            <a:ext cx="1148080" cy="9144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 panose="020F0502020204030204"/>
                <a:cs typeface="Calibri" panose="020F0502020204030204"/>
              </a:rPr>
              <a:t>0    1   1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dirty="0">
                <a:ea typeface="Calibri" panose="020F0502020204030204"/>
                <a:cs typeface="Calibri" panose="020F0502020204030204"/>
              </a:rPr>
              <a:t>0    0   1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dirty="0">
                <a:ea typeface="Calibri" panose="020F0502020204030204"/>
                <a:cs typeface="Calibri" panose="020F0502020204030204"/>
              </a:rPr>
              <a:t>0    0   0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3280" y="4358640"/>
            <a:ext cx="7457440" cy="15684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28600" indent="-228600" algn="just">
              <a:buChar char="•"/>
            </a:pPr>
            <a:r>
              <a:rPr lang="en-US" sz="2400" dirty="0">
                <a:latin typeface="Times New Roman" panose="02020603050405020304"/>
                <a:cs typeface="Arial" panose="020B0604020202020204"/>
              </a:rPr>
              <a:t>Row 0 represents edges from A: A→B.​</a:t>
            </a:r>
            <a:endParaRPr lang="en-US" sz="2400" dirty="0">
              <a:latin typeface="Times New Roman" panose="02020603050405020304"/>
              <a:cs typeface="Arial" panose="020B0604020202020204"/>
            </a:endParaRPr>
          </a:p>
          <a:p>
            <a:pPr marL="228600" indent="-228600" algn="just">
              <a:buChar char="•"/>
            </a:pP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Row 0 represents edges from A: A→B &amp; B→C. </a:t>
            </a:r>
            <a:endParaRPr lang="en-US" sz="2400" dirty="0">
              <a:latin typeface="Times New Roman" panose="02020603050405020304"/>
              <a:cs typeface="Arial" panose="020B0604020202020204"/>
            </a:endParaRPr>
          </a:p>
          <a:p>
            <a:pPr marL="228600" indent="-228600" algn="just">
              <a:buChar char="•"/>
            </a:pPr>
            <a:r>
              <a:rPr lang="en-US" sz="2400" dirty="0">
                <a:latin typeface="Times New Roman" panose="02020603050405020304"/>
                <a:cs typeface="Arial" panose="020B0604020202020204"/>
              </a:rPr>
              <a:t>Row 1 represents edges from B: B→C.​</a:t>
            </a:r>
            <a:endParaRPr lang="en-US" sz="2400" dirty="0">
              <a:latin typeface="Times New Roman" panose="02020603050405020304"/>
              <a:cs typeface="Arial" panose="020B0604020202020204"/>
            </a:endParaRPr>
          </a:p>
          <a:p>
            <a:pPr marL="228600" indent="-228600" algn="just">
              <a:buChar char="•"/>
            </a:pPr>
            <a:r>
              <a:rPr lang="en-US" sz="2400" dirty="0">
                <a:latin typeface="Times New Roman" panose="02020603050405020304"/>
                <a:cs typeface="Arial" panose="020B0604020202020204"/>
              </a:rPr>
              <a:t>Row 2 represents edges from C: [].​</a:t>
            </a:r>
            <a:endParaRPr lang="en-US" sz="2400" dirty="0">
              <a:latin typeface="Times New Roman" panose="020206030504050203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>
                <a:latin typeface="Poppins" pitchFamily="2" charset="77"/>
                <a:cs typeface="Poppins" pitchFamily="2" charset="77"/>
              </a:rPr>
              <a:t>THANK YOU</a:t>
            </a:r>
            <a:endParaRPr lang="en-US" sz="2400" b="1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>
                <a:latin typeface="Poppins"/>
                <a:cs typeface="Poppins"/>
              </a:rPr>
              <a:t>CO4 – </a:t>
            </a:r>
            <a:r>
              <a:rPr lang="en-US" sz="3200" b="1"/>
              <a:t>Data Structures </a:t>
            </a:r>
            <a:endParaRPr lang="en-US" sz="3200" b="1">
              <a:ea typeface="Calibri" panose="020F0502020204030204"/>
              <a:cs typeface="Calibri" panose="020F0502020204030204"/>
            </a:endParaRPr>
          </a:p>
          <a:p>
            <a:pPr algn="ctr"/>
            <a:endParaRPr lang="en-US" sz="24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4285</Words>
  <Application>WPS Presentation</Application>
  <PresentationFormat>Widescreen</PresentationFormat>
  <Paragraphs>190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SimSun</vt:lpstr>
      <vt:lpstr>Wingdings</vt:lpstr>
      <vt:lpstr>Arial</vt:lpstr>
      <vt:lpstr>Calibri</vt:lpstr>
      <vt:lpstr>BioRhyme ExtraBold</vt:lpstr>
      <vt:lpstr>Segoe Print</vt:lpstr>
      <vt:lpstr>Poppins</vt:lpstr>
      <vt:lpstr>Poppins</vt:lpstr>
      <vt:lpstr>Poppins</vt:lpstr>
      <vt:lpstr>Times New Roman</vt:lpstr>
      <vt:lpstr>Tahoma</vt:lpstr>
      <vt:lpstr>Times New Roman</vt:lpstr>
      <vt:lpstr>Tahoma</vt:lpstr>
      <vt:lpstr>Arial</vt:lpstr>
      <vt:lpstr>Microsoft YaHei</vt:lpstr>
      <vt:lpstr>Arial Unicode MS</vt:lpstr>
      <vt:lpstr>Calibri</vt:lpstr>
      <vt:lpstr>1_Office Theme</vt:lpstr>
      <vt:lpstr>PowerPoint 演示文稿</vt:lpstr>
      <vt:lpstr>PowerPoint 演示文稿</vt:lpstr>
      <vt:lpstr>PowerPoint 演示文稿</vt:lpstr>
      <vt:lpstr>Types of Graphs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Arun Bhaskar</cp:lastModifiedBy>
  <cp:revision>489</cp:revision>
  <dcterms:created xsi:type="dcterms:W3CDTF">2020-02-08T09:57:00Z</dcterms:created>
  <dcterms:modified xsi:type="dcterms:W3CDTF">2024-12-16T10:57:51Z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ICV">
    <vt:lpwstr>E507977E0DD044DDA157887CD3DD9D27</vt:lpwstr>
  </property>
  <property fmtid="{D5CDD505-2E9C-101B-9397-08002B2CF9AE}" pid="4" name="KSOProductBuildVer">
    <vt:lpwstr>1033-12.2.0.19307</vt:lpwstr>
  </property>
</Properties>
</file>