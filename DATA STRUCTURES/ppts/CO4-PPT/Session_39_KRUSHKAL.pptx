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71" r:id="rId2"/>
    <p:sldId id="300" r:id="rId3"/>
    <p:sldId id="258" r:id="rId4"/>
    <p:sldId id="288" r:id="rId5"/>
    <p:sldId id="290" r:id="rId6"/>
    <p:sldId id="285" r:id="rId7"/>
    <p:sldId id="315" r:id="rId8"/>
    <p:sldId id="317" r:id="rId9"/>
    <p:sldId id="316" r:id="rId10"/>
    <p:sldId id="318" r:id="rId11"/>
    <p:sldId id="319" r:id="rId12"/>
    <p:sldId id="320" r:id="rId13"/>
    <p:sldId id="321" r:id="rId14"/>
    <p:sldId id="322" r:id="rId15"/>
    <p:sldId id="287" r:id="rId16"/>
    <p:sldId id="301" r:id="rId17"/>
    <p:sldId id="302" r:id="rId18"/>
    <p:sldId id="303" r:id="rId19"/>
    <p:sldId id="30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9"/>
    <p:restoredTop sz="94689"/>
  </p:normalViewPr>
  <p:slideViewPr>
    <p:cSldViewPr snapToGrid="0" showGuides="1">
      <p:cViewPr varScale="1">
        <p:scale>
          <a:sx n="57" d="100"/>
          <a:sy n="57" d="100"/>
        </p:scale>
        <p:origin x="924" y="36"/>
      </p:cViewPr>
      <p:guideLst>
        <p:guide orient="horz" pos="2160"/>
        <p:guide pos="387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t>12/16/2024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p:cNvPicPr>
            <a:picLocks noChangeAspect="1"/>
          </p:cNvPicPr>
          <p:nvPr userDrawn="1"/>
        </p:nvPicPr>
        <p:blipFill>
          <a:blip r:embed="rId13">
            <a:alphaModFix amt="5000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p:cNvPicPr>
            <a:picLocks noChangeAspect="1"/>
          </p:cNvPicPr>
          <p:nvPr userDrawn="1"/>
        </p:nvPicPr>
        <p:blipFill rotWithShape="1">
          <a:blip r:embed="rId14">
            <a:alphaModFix amt="35000"/>
            <a:clrChange>
              <a:clrFrom>
                <a:srgbClr val="F6F6F6"/>
              </a:clrFrom>
              <a:clrTo>
                <a:srgbClr val="F6F6F6">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r="26721" b="8103"/>
          <a:stretch>
            <a:fillRect/>
          </a:stretch>
        </p:blipFill>
        <p:spPr>
          <a:xfrm>
            <a:off x="8376334" y="4104641"/>
            <a:ext cx="3815666" cy="2707640"/>
          </a:xfrm>
          <a:prstGeom prst="rect">
            <a:avLst/>
          </a:prstGeom>
        </p:spPr>
      </p:pic>
      <p:sp>
        <p:nvSpPr>
          <p:cNvPr id="7" name="TextBox 6"/>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492950"/>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IN" altLang="en-US" sz="2800" b="1" cap="all" dirty="0">
                <a:solidFill>
                  <a:srgbClr val="C00000"/>
                </a:solidFill>
                <a:latin typeface="Times New Roman" panose="02020603050405020304" pitchFamily="18" charset="0"/>
                <a:cs typeface="Times New Roman" panose="02020603050405020304" pitchFamily="18" charset="0"/>
                <a:sym typeface="BioRhyme ExtraBold"/>
              </a:rPr>
              <a:t>Data Structures</a:t>
            </a:r>
          </a:p>
          <a:p>
            <a:pPr marR="0" lvl="0" indent="0" algn="ctr">
              <a:spcBef>
                <a:spcPts val="0"/>
              </a:spcBef>
              <a:spcAft>
                <a:spcPts val="0"/>
              </a:spcAft>
              <a:buNone/>
            </a:pPr>
            <a:endParaRPr lang="en-US" sz="2800" b="1" cap="all" dirty="0">
              <a:solidFill>
                <a:srgbClr val="C00000"/>
              </a:solidFill>
              <a:latin typeface="Times New Roman" panose="02020603050405020304" pitchFamily="18" charset="0"/>
              <a:cs typeface="Times New Roman" panose="02020603050405020304" pitchFamily="18" charset="0"/>
              <a:sym typeface="BioRhyme ExtraBold"/>
            </a:endParaRPr>
          </a:p>
          <a:p>
            <a:pPr marR="0" lvl="0" indent="0" algn="ctr">
              <a:spcBef>
                <a:spcPts val="0"/>
              </a:spcBef>
              <a:spcAft>
                <a:spcPts val="0"/>
              </a:spcAft>
              <a:buNone/>
            </a:pPr>
            <a:r>
              <a:rPr lang="en-IN" altLang="en-US" sz="2800" b="1" cap="all" dirty="0">
                <a:solidFill>
                  <a:srgbClr val="C00000"/>
                </a:solidFill>
                <a:latin typeface="Times New Roman" panose="02020603050405020304" pitchFamily="18" charset="0"/>
                <a:cs typeface="Times New Roman" panose="02020603050405020304" pitchFamily="18" charset="0"/>
                <a:sym typeface="BioRhyme ExtraBold"/>
              </a:rPr>
              <a:t>24SC1203</a:t>
            </a:r>
            <a:endParaRPr lang="en-US" sz="2800" b="1" cap="all" dirty="0">
              <a:solidFill>
                <a:srgbClr val="C00000"/>
              </a:solidFill>
              <a:latin typeface="Times New Roman" panose="02020603050405020304" pitchFamily="18" charset="0"/>
              <a:cs typeface="Times New Roman" panose="02020603050405020304" pitchFamily="18" charset="0"/>
              <a:sym typeface="BioRhyme ExtraBold"/>
            </a:endParaRPr>
          </a:p>
          <a:p>
            <a:pPr marR="0" lvl="0" indent="0" algn="ctr">
              <a:spcBef>
                <a:spcPts val="0"/>
              </a:spcBef>
              <a:spcAft>
                <a:spcPts val="0"/>
              </a:spcAft>
              <a:buNone/>
            </a:pPr>
            <a:endParaRPr lang="en-US" b="1" dirty="0">
              <a:solidFill>
                <a:schemeClr val="bg1">
                  <a:lumMod val="50000"/>
                </a:schemeClr>
              </a:solidFill>
              <a:latin typeface="Times New Roman" panose="02020603050405020304" pitchFamily="18" charset="0"/>
              <a:ea typeface="BioRhyme ExtraBold"/>
              <a:cs typeface="Times New Roman" panose="02020603050405020304" pitchFamily="18" charset="0"/>
              <a:sym typeface="BioRhyme ExtraBold"/>
            </a:endParaRPr>
          </a:p>
          <a:p>
            <a:pPr marR="0" lvl="0" indent="0" algn="ctr">
              <a:spcBef>
                <a:spcPts val="0"/>
              </a:spcBef>
              <a:spcAft>
                <a:spcPts val="0"/>
              </a:spcAft>
              <a:buNone/>
            </a:pPr>
            <a:r>
              <a:rPr lang="en-US" b="1" dirty="0">
                <a:solidFill>
                  <a:schemeClr val="bg1">
                    <a:lumMod val="50000"/>
                  </a:schemeClr>
                </a:solidFill>
                <a:latin typeface="Times New Roman" panose="02020603050405020304" pitchFamily="18" charset="0"/>
                <a:ea typeface="BioRhyme ExtraBold"/>
                <a:cs typeface="Times New Roman" panose="02020603050405020304" pitchFamily="18" charset="0"/>
                <a:sym typeface="BioRhyme ExtraBold"/>
              </a:rPr>
              <a:t>Topic: </a:t>
            </a:r>
          </a:p>
          <a:p>
            <a:pPr marR="0" lvl="0" indent="0" algn="ctr">
              <a:spcBef>
                <a:spcPts val="0"/>
              </a:spcBef>
              <a:spcAft>
                <a:spcPts val="0"/>
              </a:spcAft>
              <a:buNone/>
            </a:pPr>
            <a:r>
              <a:rPr lang="en-IN" altLang="en-US" sz="3600" b="1" dirty="0">
                <a:solidFill>
                  <a:srgbClr val="C00000"/>
                </a:solidFill>
                <a:effectLst/>
                <a:latin typeface="Times New Roman" panose="02020603050405020304" pitchFamily="18" charset="0"/>
                <a:cs typeface="Times New Roman" panose="02020603050405020304" pitchFamily="18" charset="0"/>
              </a:rPr>
              <a:t>KRUSKAL’S ALGORITHM</a:t>
            </a:r>
          </a:p>
        </p:txBody>
      </p:sp>
      <p:sp>
        <p:nvSpPr>
          <p:cNvPr id="19" name="Rectangle: Rounded Corners 18"/>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5485"/>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a:t>
            </a:r>
            <a:r>
              <a:rPr lang="en-IN" altLang="en-US" sz="4000" dirty="0">
                <a:solidFill>
                  <a:srgbClr val="C00000"/>
                </a:solidFill>
                <a:cs typeface="Poppins" pitchFamily="2" charset="77"/>
              </a:rPr>
              <a:t>BES</a:t>
            </a:r>
            <a:r>
              <a:rPr lang="en-US" sz="4000" dirty="0">
                <a:solidFill>
                  <a:srgbClr val="C00000"/>
                </a:solidFill>
                <a:cs typeface="Poppins" pitchFamily="2" charset="77"/>
              </a:rPr>
              <a:t>-</a:t>
            </a:r>
            <a:r>
              <a:rPr lang="en-IN" altLang="en-US" sz="4000" dirty="0">
                <a:solidFill>
                  <a:srgbClr val="C00000"/>
                </a:solidFill>
                <a:cs typeface="Poppins" pitchFamily="2" charset="77"/>
              </a:rPr>
              <a:t>1</a:t>
            </a:r>
          </a:p>
        </p:txBody>
      </p:sp>
      <p:sp>
        <p:nvSpPr>
          <p:cNvPr id="8" name="Google Shape;502;p17"/>
          <p:cNvSpPr/>
          <p:nvPr/>
        </p:nvSpPr>
        <p:spPr>
          <a:xfrm>
            <a:off x="7623168" y="4758078"/>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panose="00000500000000000000" pitchFamily="2" charset="0"/>
                <a:sym typeface="Calibri" panose="020F0502020204030204"/>
              </a:rPr>
              <a:t>Session - </a:t>
            </a:r>
            <a:r>
              <a:rPr lang="en-IN" altLang="en-US" sz="2400" dirty="0">
                <a:solidFill>
                  <a:schemeClr val="lt1"/>
                </a:solidFill>
                <a:ea typeface="Calibri" panose="020F0502020204030204"/>
                <a:cs typeface="Poppins" panose="00000500000000000000" pitchFamily="2" charset="0"/>
                <a:sym typeface="Calibri" panose="020F0502020204030204"/>
              </a:rPr>
              <a:t>39</a:t>
            </a:r>
          </a:p>
        </p:txBody>
      </p:sp>
      <p:sp>
        <p:nvSpPr>
          <p:cNvPr id="33" name="Rectangle 32"/>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p:cNvSpPr txBox="1"/>
          <p:nvPr/>
        </p:nvSpPr>
        <p:spPr>
          <a:xfrm>
            <a:off x="914400" y="684469"/>
            <a:ext cx="10731286" cy="46037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Times New Roman" panose="02020603050405020304" pitchFamily="18" charset="0"/>
                <a:cs typeface="Times New Roman" panose="02020603050405020304" pitchFamily="18" charset="0"/>
              </a:rPr>
              <a:t>To familiarize students with the basic concept of</a:t>
            </a:r>
            <a:r>
              <a:rPr lang="en-IN" altLang="en-US" sz="1600" b="0" i="0" dirty="0">
                <a:effectLst/>
                <a:latin typeface="Times New Roman" panose="02020603050405020304" pitchFamily="18" charset="0"/>
                <a:cs typeface="Times New Roman" panose="02020603050405020304" pitchFamily="18" charset="0"/>
              </a:rPr>
              <a:t> Kruskal’s Algorithm</a:t>
            </a:r>
          </a:p>
        </p:txBody>
      </p:sp>
      <p:sp>
        <p:nvSpPr>
          <p:cNvPr id="7" name="Rounded Rectangle 17"/>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p:cNvSpPr txBox="1"/>
          <p:nvPr/>
        </p:nvSpPr>
        <p:spPr>
          <a:xfrm>
            <a:off x="1752600" y="2438605"/>
            <a:ext cx="8791575" cy="1076325"/>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Times New Roman" panose="02020603050405020304" pitchFamily="18" charset="0"/>
                <a:cs typeface="Times New Roman" panose="02020603050405020304" pitchFamily="18" charset="0"/>
              </a:rPr>
              <a:t>This</a:t>
            </a:r>
            <a:r>
              <a:rPr lang="en-US" sz="1600" b="0" i="0" dirty="0">
                <a:effectLst/>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Session</a:t>
            </a:r>
            <a:r>
              <a:rPr lang="en-US" sz="1600" b="0" i="0" dirty="0">
                <a:effectLst/>
                <a:latin typeface="Times New Roman" panose="02020603050405020304" pitchFamily="18" charset="0"/>
                <a:cs typeface="Times New Roman" panose="02020603050405020304" pitchFamily="18" charset="0"/>
              </a:rPr>
              <a:t> is designed to:</a:t>
            </a:r>
          </a:p>
          <a:p>
            <a:pPr marL="342900" indent="-342900">
              <a:buAutoNum type="arabicPeriod"/>
            </a:pPr>
            <a:r>
              <a:rPr lang="en-US" sz="1600" b="0" i="0" dirty="0">
                <a:effectLst/>
                <a:latin typeface="Times New Roman" panose="02020603050405020304" pitchFamily="18" charset="0"/>
                <a:cs typeface="Times New Roman" panose="02020603050405020304" pitchFamily="18" charset="0"/>
              </a:rPr>
              <a:t>Demonstrate</a:t>
            </a:r>
            <a:r>
              <a:rPr lang="en-IN" altLang="en-US" sz="1600" b="0" i="0" dirty="0">
                <a:effectLst/>
                <a:latin typeface="Times New Roman" panose="02020603050405020304" pitchFamily="18" charset="0"/>
                <a:cs typeface="Times New Roman" panose="02020603050405020304" pitchFamily="18" charset="0"/>
              </a:rPr>
              <a:t> Kruskal’s Algorithm</a:t>
            </a:r>
            <a:endParaRPr lang="en-US" sz="1600" b="0" i="0" dirty="0">
              <a:effectLst/>
              <a:latin typeface="Times New Roman" panose="02020603050405020304" pitchFamily="18" charset="0"/>
              <a:cs typeface="Times New Roman" panose="02020603050405020304" pitchFamily="18" charset="0"/>
            </a:endParaRPr>
          </a:p>
          <a:p>
            <a:pPr marL="342900" indent="-342900">
              <a:buAutoNum type="arabicPeriod"/>
            </a:pPr>
            <a:r>
              <a:rPr lang="en-US" sz="1600" b="0" i="0" dirty="0">
                <a:effectLst/>
                <a:latin typeface="Times New Roman" panose="02020603050405020304" pitchFamily="18" charset="0"/>
                <a:cs typeface="Times New Roman" panose="02020603050405020304" pitchFamily="18" charset="0"/>
              </a:rPr>
              <a:t>Describe</a:t>
            </a:r>
            <a:r>
              <a:rPr lang="en-IN" altLang="en-US" sz="1600" b="0" i="0" dirty="0">
                <a:effectLst/>
                <a:latin typeface="Times New Roman" panose="02020603050405020304" pitchFamily="18" charset="0"/>
                <a:cs typeface="Times New Roman" panose="02020603050405020304" pitchFamily="18" charset="0"/>
              </a:rPr>
              <a:t> </a:t>
            </a:r>
            <a:r>
              <a:rPr lang="en-IN" altLang="en-US" sz="1600" dirty="0">
                <a:effectLst/>
                <a:latin typeface="Times New Roman" panose="02020603050405020304" pitchFamily="18" charset="0"/>
                <a:cs typeface="Times New Roman" panose="02020603050405020304" pitchFamily="18" charset="0"/>
                <a:sym typeface="+mn-ea"/>
              </a:rPr>
              <a:t>Minimum Spanning Tree</a:t>
            </a:r>
            <a:endParaRPr lang="en-US" sz="1600" dirty="0">
              <a:latin typeface="Times New Roman" panose="02020603050405020304" pitchFamily="18" charset="0"/>
              <a:cs typeface="Times New Roman" panose="02020603050405020304" pitchFamily="18" charset="0"/>
            </a:endParaRPr>
          </a:p>
        </p:txBody>
      </p:sp>
      <p:pic>
        <p:nvPicPr>
          <p:cNvPr id="11" name="Graphic 10" descr="Bullseye outline"/>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p:cNvSpPr txBox="1"/>
          <p:nvPr/>
        </p:nvSpPr>
        <p:spPr>
          <a:xfrm>
            <a:off x="1752600" y="4772230"/>
            <a:ext cx="8791575" cy="1076325"/>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Times New Roman" panose="02020603050405020304" pitchFamily="18" charset="0"/>
                <a:cs typeface="Times New Roman" panose="02020603050405020304" pitchFamily="18" charset="0"/>
              </a:rPr>
              <a:t>At the end of this </a:t>
            </a:r>
            <a:r>
              <a:rPr lang="en-US" sz="1600" dirty="0">
                <a:latin typeface="Times New Roman" panose="02020603050405020304" pitchFamily="18" charset="0"/>
                <a:cs typeface="Times New Roman" panose="02020603050405020304" pitchFamily="18" charset="0"/>
              </a:rPr>
              <a:t>session</a:t>
            </a:r>
            <a:r>
              <a:rPr lang="en-US" sz="1600" b="0" i="0" dirty="0">
                <a:effectLst/>
                <a:latin typeface="Times New Roman" panose="02020603050405020304" pitchFamily="18" charset="0"/>
                <a:cs typeface="Times New Roman" panose="02020603050405020304" pitchFamily="18" charset="0"/>
              </a:rPr>
              <a:t>, you should be able to:</a:t>
            </a:r>
          </a:p>
          <a:p>
            <a:pPr marL="342900" indent="-342900">
              <a:buAutoNum type="arabicPeriod"/>
            </a:pPr>
            <a:r>
              <a:rPr lang="en-US" sz="1600" b="0" i="0" dirty="0">
                <a:effectLst/>
                <a:latin typeface="Times New Roman" panose="02020603050405020304" pitchFamily="18" charset="0"/>
                <a:cs typeface="Times New Roman" panose="02020603050405020304" pitchFamily="18" charset="0"/>
              </a:rPr>
              <a:t>Define</a:t>
            </a:r>
            <a:r>
              <a:rPr lang="en-IN" altLang="en-US" sz="1600" b="0" i="0" dirty="0">
                <a:effectLst/>
                <a:latin typeface="Times New Roman" panose="02020603050405020304" pitchFamily="18" charset="0"/>
                <a:cs typeface="Times New Roman" panose="02020603050405020304" pitchFamily="18" charset="0"/>
              </a:rPr>
              <a:t> </a:t>
            </a:r>
            <a:r>
              <a:rPr lang="en-IN" altLang="en-US" sz="1600" dirty="0">
                <a:effectLst/>
                <a:latin typeface="Times New Roman" panose="02020603050405020304" pitchFamily="18" charset="0"/>
                <a:cs typeface="Times New Roman" panose="02020603050405020304" pitchFamily="18" charset="0"/>
                <a:sym typeface="+mn-ea"/>
              </a:rPr>
              <a:t>Minimum Spanning Tree</a:t>
            </a:r>
            <a:endParaRPr lang="en-US" sz="1600" b="0" i="0" dirty="0">
              <a:effectLst/>
              <a:latin typeface="Times New Roman" panose="02020603050405020304" pitchFamily="18" charset="0"/>
              <a:cs typeface="Times New Roman" panose="02020603050405020304" pitchFamily="18" charset="0"/>
            </a:endParaRPr>
          </a:p>
          <a:p>
            <a:pPr marL="342900" indent="-342900">
              <a:buAutoNum type="arabicPeriod"/>
            </a:pPr>
            <a:r>
              <a:rPr lang="en-US" sz="1600" dirty="0">
                <a:latin typeface="Times New Roman" panose="02020603050405020304" pitchFamily="18" charset="0"/>
                <a:cs typeface="Times New Roman" panose="02020603050405020304" pitchFamily="18" charset="0"/>
              </a:rPr>
              <a:t>Summarize</a:t>
            </a:r>
            <a:r>
              <a:rPr lang="en-IN" altLang="en-US" sz="1600" dirty="0">
                <a:latin typeface="Times New Roman" panose="02020603050405020304" pitchFamily="18" charset="0"/>
                <a:cs typeface="Times New Roman" panose="02020603050405020304" pitchFamily="18" charset="0"/>
              </a:rPr>
              <a:t> Kruskal’s Algorithm</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3" name="Subtitle 2"/>
          <p:cNvSpPr>
            <a:spLocks noGrp="1"/>
          </p:cNvSpPr>
          <p:nvPr>
            <p:ph type="subTitle" idx="1"/>
          </p:nvPr>
        </p:nvSpPr>
        <p:spPr>
          <a:xfrm>
            <a:off x="826769" y="1403985"/>
            <a:ext cx="10853953" cy="4210685"/>
          </a:xfrm>
        </p:spPr>
        <p:txBody>
          <a:bodyPr rtlCol="0">
            <a:normAutofit/>
          </a:bodyPr>
          <a:lstStyle/>
          <a:p>
            <a:pPr marL="0" indent="0" algn="just" fontAlgn="auto">
              <a:lnSpc>
                <a:spcPct val="250000"/>
              </a:lnSpc>
              <a:spcAft>
                <a:spcPts val="0"/>
              </a:spcAft>
              <a:buNone/>
              <a:defRPr/>
            </a:pPr>
            <a:r>
              <a:rPr lang="en-US" sz="2000" dirty="0">
                <a:latin typeface="Times New Roman" panose="02020603050405020304" pitchFamily="18" charset="0"/>
                <a:cs typeface="Times New Roman" panose="02020603050405020304" pitchFamily="18" charset="0"/>
              </a:rPr>
              <a:t>In this </a:t>
            </a:r>
            <a:r>
              <a:rPr lang="en-US" sz="2000" dirty="0" err="1">
                <a:latin typeface="Times New Roman" panose="02020603050405020304" pitchFamily="18" charset="0"/>
                <a:cs typeface="Times New Roman" panose="02020603050405020304" pitchFamily="18" charset="0"/>
              </a:rPr>
              <a:t>session,we</a:t>
            </a:r>
            <a:r>
              <a:rPr lang="en-US" sz="2000" dirty="0">
                <a:latin typeface="Times New Roman" panose="02020603050405020304" pitchFamily="18" charset="0"/>
                <a:cs typeface="Times New Roman" panose="02020603050405020304" pitchFamily="18" charset="0"/>
              </a:rPr>
              <a:t> discuss about Kruskal's Algorithm, which is a key technique for finding the Minimum Spanning Tree (MST) in a connected, undirected graph. This algorithm uses a greedy approach by selecting edges with the least weight while avoiding cycles. We will explore its working principle, steps, and real-world applications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kern="100" dirty="0">
                <a:effectLst/>
                <a:latin typeface="Times New Roman" panose="02020603050405020304" pitchFamily="18" charset="0"/>
                <a:ea typeface="Aptos" panose="020B0004020202020204" pitchFamily="34" charset="0"/>
                <a:cs typeface="Times New Roman" panose="02020603050405020304" pitchFamily="18" charset="0"/>
                <a:sym typeface="+mn-ea"/>
              </a:rPr>
              <a:t>Kruskal's Algorithm</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TextBox 2"/>
          <p:cNvSpPr txBox="1"/>
          <p:nvPr/>
        </p:nvSpPr>
        <p:spPr>
          <a:xfrm>
            <a:off x="786581" y="919034"/>
            <a:ext cx="10668000" cy="5364480"/>
          </a:xfrm>
          <a:prstGeom prst="rect">
            <a:avLst/>
          </a:prstGeom>
          <a:noFill/>
        </p:spPr>
        <p:txBody>
          <a:bodyPr wrap="square">
            <a:spAutoFit/>
          </a:bodyPr>
          <a:lstStyle/>
          <a:p>
            <a:pPr marL="0" marR="0" indent="0" algn="just">
              <a:lnSpc>
                <a:spcPct val="200000"/>
              </a:lnSpc>
              <a:spcAft>
                <a:spcPts val="800"/>
              </a:spcAft>
              <a:buNone/>
            </a:pPr>
            <a:r>
              <a:rPr lang="en-US" sz="2800" b="1" kern="100" dirty="0">
                <a:effectLst/>
                <a:latin typeface="Times New Roman" panose="02020603050405020304" pitchFamily="18" charset="0"/>
                <a:ea typeface="Aptos" panose="020B0004020202020204" pitchFamily="34" charset="0"/>
                <a:cs typeface="Times New Roman" panose="02020603050405020304" pitchFamily="18" charset="0"/>
              </a:rPr>
              <a:t>Kruskal's Algorithm</a:t>
            </a:r>
            <a:endParaRPr lang="en-US" sz="2800" b="1" kern="100" dirty="0">
              <a:latin typeface="Times New Roman" panose="02020603050405020304" pitchFamily="18" charset="0"/>
              <a:ea typeface="Aptos" panose="020B0004020202020204" pitchFamily="34" charset="0"/>
              <a:cs typeface="Times New Roman" panose="02020603050405020304" pitchFamily="18" charset="0"/>
            </a:endParaRPr>
          </a:p>
          <a:p>
            <a:pPr marL="0" marR="0" indent="0" algn="just">
              <a:lnSpc>
                <a:spcPct val="200000"/>
              </a:lnSpc>
              <a:spcAft>
                <a:spcPts val="800"/>
              </a:spcAft>
              <a:buNone/>
            </a:pP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Kruskal's Algorithm is used to find the minimum spanning tree for a connected weighted graph. The main target of the algorithm is to find the subset of edges by using which we can traverse every vertex of the graph. It follows the greedy approach that finds an optimum solution at every stage instead of focusing on a global optimum.</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3" name="Content Placeholder 2"/>
          <p:cNvSpPr>
            <a:spLocks noGrp="1"/>
          </p:cNvSpPr>
          <p:nvPr>
            <p:ph idx="1"/>
          </p:nvPr>
        </p:nvSpPr>
        <p:spPr>
          <a:xfrm>
            <a:off x="838200" y="734060"/>
            <a:ext cx="10996295" cy="4925060"/>
          </a:xfrm>
        </p:spPr>
        <p:txBody>
          <a:bodyPr rtlCol="0">
            <a:noAutofit/>
          </a:bodyPr>
          <a:lstStyle/>
          <a:p>
            <a:pPr marL="0" marR="0" indent="0" algn="just">
              <a:lnSpc>
                <a:spcPct val="150000"/>
              </a:lnSpc>
              <a:spcAft>
                <a:spcPts val="800"/>
              </a:spcAft>
              <a:buNone/>
            </a:pPr>
            <a:r>
              <a:rPr lang="en-US" sz="2400" b="1" kern="100" dirty="0">
                <a:effectLst/>
                <a:latin typeface="Times New Roman" panose="02020603050405020304" pitchFamily="18" charset="0"/>
                <a:ea typeface="Aptos" panose="020B0004020202020204" pitchFamily="34" charset="0"/>
                <a:cs typeface="Times New Roman" panose="02020603050405020304" pitchFamily="18" charset="0"/>
              </a:rPr>
              <a:t>Working:</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gn="just">
              <a:lnSpc>
                <a:spcPct val="150000"/>
              </a:lnSpc>
              <a:spcAft>
                <a:spcPts val="800"/>
              </a:spcAft>
              <a:buNone/>
            </a:pPr>
            <a:r>
              <a:rPr lang="en-US" sz="2400" kern="100" dirty="0">
                <a:effectLst/>
                <a:latin typeface="Times New Roman" panose="02020603050405020304" pitchFamily="18" charset="0"/>
                <a:ea typeface="Aptos" panose="020B0004020202020204" pitchFamily="34" charset="0"/>
                <a:cs typeface="Times New Roman" panose="02020603050405020304" pitchFamily="18" charset="0"/>
              </a:rPr>
              <a:t>	In Kruskal's algorithm, we start from edges with the lowest weight and keep adding the edges until the goal is reached. The steps to implement Kruskal's algorithm are listed as follows -</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marL="457200" marR="0" lvl="0" indent="-457200" algn="just">
              <a:lnSpc>
                <a:spcPct val="150000"/>
              </a:lnSpc>
              <a:spcAft>
                <a:spcPts val="800"/>
              </a:spcAft>
              <a:buSzPts val="1000"/>
              <a:buFont typeface="+mj-lt"/>
              <a:buAutoNum type="arabicParenR"/>
              <a:tabLst>
                <a:tab pos="457200" algn="l"/>
              </a:tabLst>
            </a:pPr>
            <a:r>
              <a:rPr lang="en-US" sz="2400" kern="100" dirty="0">
                <a:effectLst/>
                <a:latin typeface="Times New Roman" panose="02020603050405020304" pitchFamily="18" charset="0"/>
                <a:ea typeface="Aptos" panose="020B0004020202020204" pitchFamily="34" charset="0"/>
                <a:cs typeface="Times New Roman" panose="02020603050405020304" pitchFamily="18" charset="0"/>
              </a:rPr>
              <a:t>First, sort all the edges from low weight to high.</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marL="457200" marR="0" lvl="0" indent="-457200" algn="just">
              <a:lnSpc>
                <a:spcPct val="150000"/>
              </a:lnSpc>
              <a:spcAft>
                <a:spcPts val="800"/>
              </a:spcAft>
              <a:buSzPts val="1000"/>
              <a:buFont typeface="+mj-lt"/>
              <a:buAutoNum type="arabicParenR"/>
              <a:tabLst>
                <a:tab pos="457200" algn="l"/>
              </a:tabLst>
            </a:pPr>
            <a:r>
              <a:rPr lang="en-US" sz="2400" kern="100" dirty="0">
                <a:effectLst/>
                <a:latin typeface="Times New Roman" panose="02020603050405020304" pitchFamily="18" charset="0"/>
                <a:ea typeface="Aptos" panose="020B0004020202020204" pitchFamily="34" charset="0"/>
                <a:cs typeface="Times New Roman" panose="02020603050405020304" pitchFamily="18" charset="0"/>
              </a:rPr>
              <a:t>Now, take the edge with the lowest weight and add it to the spanning tree. If the edge to be added creates a cycle, then reject the edge.</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marL="457200" marR="0" lvl="0" indent="-457200" algn="just">
              <a:lnSpc>
                <a:spcPct val="150000"/>
              </a:lnSpc>
              <a:spcAft>
                <a:spcPts val="800"/>
              </a:spcAft>
              <a:buSzPts val="1000"/>
              <a:buFont typeface="+mj-lt"/>
              <a:buAutoNum type="arabicParenR"/>
              <a:tabLst>
                <a:tab pos="457200" algn="l"/>
              </a:tabLst>
            </a:pPr>
            <a:r>
              <a:rPr lang="en-US" sz="2400" kern="100" dirty="0">
                <a:effectLst/>
                <a:latin typeface="Times New Roman" panose="02020603050405020304" pitchFamily="18" charset="0"/>
                <a:ea typeface="Aptos" panose="020B0004020202020204" pitchFamily="34" charset="0"/>
                <a:cs typeface="Times New Roman" panose="02020603050405020304" pitchFamily="18" charset="0"/>
              </a:rPr>
              <a:t>Continue to add the edges until we reach all vertices, and a minimum spanning tree is created.</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gn="just" fontAlgn="auto">
              <a:lnSpc>
                <a:spcPct val="150000"/>
              </a:lnSpc>
              <a:spcBef>
                <a:spcPts val="500"/>
              </a:spcBef>
              <a:spcAft>
                <a:spcPts val="500"/>
              </a:spcAft>
              <a:buNone/>
              <a:defRPr/>
            </a:pPr>
            <a:endParaRPr lang="en-US" sz="3200" dirty="0">
              <a:latin typeface="Times New Roman" panose="02020603050405020304" pitchFamily="18" charset="0"/>
              <a:cs typeface="Times New Roman" panose="02020603050405020304" pitchFamily="18" charset="0"/>
            </a:endParaRPr>
          </a:p>
          <a:p>
            <a:pPr algn="just" fontAlgn="auto">
              <a:spcAft>
                <a:spcPts val="0"/>
              </a:spcAft>
              <a:defRPr/>
            </a:pPr>
            <a:endParaRPr lang="en-US" sz="32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3" name="Text Box 2"/>
          <p:cNvSpPr txBox="1"/>
          <p:nvPr/>
        </p:nvSpPr>
        <p:spPr>
          <a:xfrm>
            <a:off x="1527175" y="857250"/>
            <a:ext cx="7785735" cy="1568450"/>
          </a:xfrm>
          <a:prstGeom prst="rect">
            <a:avLst/>
          </a:prstGeom>
          <a:noFill/>
        </p:spPr>
        <p:txBody>
          <a:bodyPr wrap="square" rtlCol="0" anchor="t">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pPr>
            <a:r>
              <a:rPr lang="en-US" altLang="en-US" sz="2400" dirty="0">
                <a:ln>
                  <a:noFill/>
                </a:ln>
                <a:effectLst/>
                <a:latin typeface="Times New Roman" panose="02020603050405020304" pitchFamily="18" charset="0"/>
                <a:ea typeface="Calibri" panose="020F0502020204030204" charset="0"/>
                <a:cs typeface="Times New Roman" panose="02020603050405020304" pitchFamily="18" charset="0"/>
                <a:sym typeface="+mn-ea"/>
              </a:rPr>
              <a:t>The algorithm is a Greedy Algorithm. </a:t>
            </a:r>
            <a:endPar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pPr>
            <a:r>
              <a:rPr lang="en-US" altLang="en-US" sz="2400" dirty="0">
                <a:ln>
                  <a:noFill/>
                </a:ln>
                <a:effectLst/>
                <a:latin typeface="Times New Roman" panose="02020603050405020304" pitchFamily="18" charset="0"/>
                <a:ea typeface="Calibri" panose="020F0502020204030204" charset="0"/>
                <a:cs typeface="Times New Roman" panose="02020603050405020304" pitchFamily="18" charset="0"/>
                <a:sym typeface="+mn-ea"/>
              </a:rPr>
              <a:t>The Greedy Choice is to pick the smallest weight edge that does not cause a cycle in the MST constructed so far. </a:t>
            </a:r>
            <a:endPar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pPr>
            <a:r>
              <a:rPr lang="en-US" altLang="en-US" sz="2400" dirty="0">
                <a:ln>
                  <a:noFill/>
                </a:ln>
                <a:effectLst/>
                <a:latin typeface="Times New Roman" panose="02020603050405020304" pitchFamily="18" charset="0"/>
                <a:ea typeface="Calibri" panose="020F0502020204030204" charset="0"/>
                <a:cs typeface="Times New Roman" panose="02020603050405020304" pitchFamily="18" charset="0"/>
                <a:sym typeface="+mn-ea"/>
              </a:rPr>
              <a:t>Consider the below input graph.</a:t>
            </a:r>
          </a:p>
        </p:txBody>
      </p:sp>
      <p:pic>
        <p:nvPicPr>
          <p:cNvPr id="5126" name="Picture 6"/>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303682" y="2473848"/>
            <a:ext cx="3980960" cy="2332189"/>
          </a:xfrm>
          <a:prstGeom prst="rect">
            <a:avLst/>
          </a:prstGeom>
          <a:noFill/>
          <a:extLst>
            <a:ext uri="{909E8E84-426E-40DD-AFC4-6F175D3DCCD1}">
              <a14:hiddenFill xmlns:a14="http://schemas.microsoft.com/office/drawing/2010/main">
                <a:solidFill>
                  <a:srgbClr val="FFFFFF"/>
                </a:solidFill>
              </a14:hiddenFill>
            </a:ext>
          </a:extLst>
        </p:spPr>
      </p:pic>
      <p:sp>
        <p:nvSpPr>
          <p:cNvPr id="5" name="Text Box 4"/>
          <p:cNvSpPr txBox="1"/>
          <p:nvPr/>
        </p:nvSpPr>
        <p:spPr>
          <a:xfrm>
            <a:off x="699135" y="4920615"/>
            <a:ext cx="10798175" cy="829945"/>
          </a:xfrm>
          <a:prstGeom prst="rect">
            <a:avLst/>
          </a:prstGeom>
          <a:noFill/>
        </p:spPr>
        <p:txBody>
          <a:bodyPr wrap="square" rtlCol="0" anchor="t">
            <a:spAutoFit/>
          </a:bodyPr>
          <a:lstStyle/>
          <a:p>
            <a:pPr marL="342900" indent="-342900">
              <a:buFont typeface="Wingdings" panose="05000000000000000000" pitchFamily="2" charset="2"/>
              <a:buChar char="v"/>
            </a:pPr>
            <a:r>
              <a:rPr lang="en-IN" sz="2400" dirty="0">
                <a:effectLst/>
                <a:latin typeface="Times New Roman" panose="02020603050405020304" pitchFamily="18" charset="0"/>
                <a:ea typeface="Calibri" panose="020F0502020204030204" charset="0"/>
                <a:cs typeface="Times New Roman" panose="02020603050405020304" pitchFamily="18" charset="0"/>
                <a:sym typeface="+mn-ea"/>
              </a:rPr>
              <a:t>The graph contains 9 vertices and 14 edges. So, the minimum spanning tree formed will have (9 – 1) = 8 edges.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1524000" y="214313"/>
            <a:ext cx="2768600" cy="16287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lvl1pPr>
              <a:defRPr>
                <a:solidFill>
                  <a:schemeClr val="tx1"/>
                </a:solidFill>
                <a:latin typeface="Calibri" panose="020F0502020204030204" charset="0"/>
              </a:defRPr>
            </a:lvl1pPr>
            <a:lvl2pPr>
              <a:defRPr>
                <a:solidFill>
                  <a:schemeClr val="tx1"/>
                </a:solidFill>
                <a:latin typeface="Calibri" panose="020F0502020204030204" charset="0"/>
              </a:defRPr>
            </a:lvl2pPr>
            <a:lvl3pPr>
              <a:defRPr>
                <a:solidFill>
                  <a:schemeClr val="tx1"/>
                </a:solidFill>
                <a:latin typeface="Calibri" panose="020F0502020204030204" charset="0"/>
              </a:defRPr>
            </a:lvl3pPr>
            <a:lvl4pPr>
              <a:defRPr>
                <a:solidFill>
                  <a:schemeClr val="tx1"/>
                </a:solidFill>
                <a:latin typeface="Calibri" panose="020F0502020204030204" charset="0"/>
              </a:defRPr>
            </a:lvl4pPr>
            <a:lvl5pPr>
              <a:defRPr>
                <a:solidFill>
                  <a:schemeClr val="tx1"/>
                </a:solidFill>
                <a:latin typeface="Calibri" panose="020F0502020204030204" charset="0"/>
              </a:defRPr>
            </a:lvl5pPr>
            <a:lvl6pPr fontAlgn="base">
              <a:spcBef>
                <a:spcPct val="0"/>
              </a:spcBef>
              <a:spcAft>
                <a:spcPct val="0"/>
              </a:spcAft>
              <a:defRPr>
                <a:solidFill>
                  <a:schemeClr val="tx1"/>
                </a:solidFill>
                <a:latin typeface="Calibri" panose="020F0502020204030204" charset="0"/>
              </a:defRPr>
            </a:lvl6pPr>
            <a:lvl7pPr fontAlgn="base">
              <a:spcBef>
                <a:spcPct val="0"/>
              </a:spcBef>
              <a:spcAft>
                <a:spcPct val="0"/>
              </a:spcAft>
              <a:defRPr>
                <a:solidFill>
                  <a:schemeClr val="tx1"/>
                </a:solidFill>
                <a:latin typeface="Calibri" panose="020F0502020204030204" charset="0"/>
              </a:defRPr>
            </a:lvl7pPr>
            <a:lvl8pPr fontAlgn="base">
              <a:spcBef>
                <a:spcPct val="0"/>
              </a:spcBef>
              <a:spcAft>
                <a:spcPct val="0"/>
              </a:spcAft>
              <a:defRPr>
                <a:solidFill>
                  <a:schemeClr val="tx1"/>
                </a:solidFill>
                <a:latin typeface="Calibri" panose="020F0502020204030204" charset="0"/>
              </a:defRPr>
            </a:lvl8pPr>
            <a:lvl9pPr fontAlgn="base">
              <a:spcBef>
                <a:spcPct val="0"/>
              </a:spcBef>
              <a:spcAft>
                <a:spcPct val="0"/>
              </a:spcAft>
              <a:defRPr>
                <a:solidFill>
                  <a:schemeClr val="tx1"/>
                </a:solidFill>
                <a:latin typeface="Calibri" panose="020F050202020403020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en-IN" altLang="en-US" sz="675" b="1" i="0" u="none" strike="noStrike" cap="none" normalizeH="0" baseline="0" dirty="0">
              <a:ln>
                <a:noFill/>
              </a:ln>
              <a:solidFill>
                <a:srgbClr val="303030"/>
              </a:solidFill>
              <a:effectLst/>
              <a:latin typeface="roboto condensed"/>
            </a:endParaRPr>
          </a:p>
          <a:p>
            <a:pPr marL="0" marR="0" lvl="0" indent="0" algn="l" defTabSz="914400" rtl="0" eaLnBrk="0" fontAlgn="base" latinLnBrk="0" hangingPunct="0">
              <a:lnSpc>
                <a:spcPct val="100000"/>
              </a:lnSpc>
              <a:spcBef>
                <a:spcPct val="0"/>
              </a:spcBef>
              <a:spcAft>
                <a:spcPct val="0"/>
              </a:spcAft>
              <a:buClrTx/>
              <a:buSzTx/>
              <a:buFontTx/>
              <a:buNone/>
            </a:pPr>
            <a:r>
              <a:rPr kumimoji="0" lang="en-IN" altLang="en-US" sz="825" b="0" i="0" u="none" strike="noStrike" cap="none" normalizeH="0" baseline="0" dirty="0">
                <a:ln>
                  <a:noFill/>
                </a:ln>
                <a:solidFill>
                  <a:srgbClr val="303030"/>
                </a:solidFill>
                <a:effectLst/>
                <a:latin typeface="Calibri" panose="020F0502020204030204" charset="0"/>
              </a:rPr>
              <a:t> </a:t>
            </a:r>
            <a:endParaRPr kumimoji="0" lang="en-IN" altLang="en-US" sz="600" b="0" i="0" u="none" strike="noStrike" cap="none" normalizeH="0" baseline="0" dirty="0">
              <a:ln>
                <a:noFill/>
              </a:ln>
              <a:solidFill>
                <a:schemeClr val="tx1"/>
              </a:solidFill>
              <a:effectLst/>
              <a:latin typeface="Calibri" panose="020F050202020403020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IN" altLang="en-US" sz="825" b="0" i="0" u="none" strike="noStrike" cap="none" normalizeH="0" baseline="0" dirty="0">
                <a:ln>
                  <a:noFill/>
                </a:ln>
                <a:solidFill>
                  <a:srgbClr val="303030"/>
                </a:solidFill>
                <a:effectLst/>
                <a:latin typeface="Arimo"/>
              </a:rPr>
              <a:t>  </a:t>
            </a:r>
            <a:r>
              <a:rPr kumimoji="0" lang="en-IN" altLang="en-US" sz="9075" b="0" i="0" u="none" strike="noStrike" cap="none" normalizeH="0" baseline="0" dirty="0">
                <a:ln>
                  <a:noFill/>
                </a:ln>
                <a:solidFill>
                  <a:srgbClr val="303030"/>
                </a:solidFill>
                <a:effectLst/>
                <a:latin typeface="Calibri" panose="020F0502020204030204" charset="0"/>
              </a:rPr>
              <a:t>          </a:t>
            </a:r>
            <a:endParaRPr kumimoji="0" lang="en-IN" altLang="en-US" sz="1350" b="0" i="0" u="none" strike="noStrike" cap="none" normalizeH="0" baseline="0" dirty="0">
              <a:ln>
                <a:noFill/>
              </a:ln>
              <a:solidFill>
                <a:schemeClr val="tx1"/>
              </a:solidFill>
              <a:effectLst/>
              <a:latin typeface="Calibri" panose="020F0502020204030204" charset="0"/>
            </a:endParaRPr>
          </a:p>
        </p:txBody>
      </p:sp>
      <p:sp>
        <p:nvSpPr>
          <p:cNvPr id="8" name="TextBox 6"/>
          <p:cNvSpPr txBox="1"/>
          <p:nvPr/>
        </p:nvSpPr>
        <p:spPr>
          <a:xfrm>
            <a:off x="1841500" y="996950"/>
            <a:ext cx="1761490" cy="5565775"/>
          </a:xfrm>
          <a:prstGeom prst="rect">
            <a:avLst/>
          </a:prstGeom>
          <a:noFill/>
        </p:spPr>
        <p:txBody>
          <a:bodyPr wrap="square">
            <a:spAutoFit/>
          </a:bodyPr>
          <a:lstStyle/>
          <a:p>
            <a:pPr algn="ctr">
              <a:lnSpc>
                <a:spcPct val="115000"/>
              </a:lnSpc>
              <a:spcAft>
                <a:spcPts val="1000"/>
              </a:spcAft>
            </a:pPr>
            <a:r>
              <a:rPr lang="en-IN" b="1" dirty="0">
                <a:effectLst/>
                <a:latin typeface="Cambria" panose="02040503050406030204" pitchFamily="18" charset="0"/>
                <a:ea typeface="Calibri" panose="020F0502020204030204" charset="0"/>
                <a:cs typeface="Times New Roman" panose="02020603050405020304" pitchFamily="18" charset="0"/>
              </a:rPr>
              <a:t>After sorting:</a:t>
            </a:r>
            <a:endParaRPr lang="en-IN" b="1" dirty="0">
              <a:effectLst/>
              <a:latin typeface="Calibri" panose="020F0502020204030204" charset="0"/>
              <a:ea typeface="Calibri" panose="020F0502020204030204" charset="0"/>
              <a:cs typeface="Times New Roman" panose="02020603050405020304" pitchFamily="18" charset="0"/>
            </a:endParaRPr>
          </a:p>
          <a:p>
            <a:pPr algn="ctr">
              <a:lnSpc>
                <a:spcPct val="115000"/>
              </a:lnSpc>
              <a:spcAft>
                <a:spcPts val="1000"/>
              </a:spcAft>
            </a:pPr>
            <a:r>
              <a:rPr lang="en-IN" sz="1600" b="1" dirty="0">
                <a:effectLst/>
                <a:latin typeface="Cambria" panose="02040503050406030204" pitchFamily="18" charset="0"/>
                <a:ea typeface="Calibri" panose="020F0502020204030204" charset="0"/>
                <a:cs typeface="Times New Roman" panose="02020603050405020304" pitchFamily="18" charset="0"/>
              </a:rPr>
              <a:t>Weight   </a:t>
            </a:r>
            <a:r>
              <a:rPr lang="en-IN" sz="1600" b="1" dirty="0" err="1">
                <a:effectLst/>
                <a:latin typeface="Cambria" panose="02040503050406030204" pitchFamily="18" charset="0"/>
                <a:ea typeface="Calibri" panose="020F0502020204030204" charset="0"/>
                <a:cs typeface="Times New Roman" panose="02020603050405020304" pitchFamily="18" charset="0"/>
              </a:rPr>
              <a:t>Src</a:t>
            </a:r>
            <a:r>
              <a:rPr lang="en-IN" sz="1600" b="1" dirty="0">
                <a:effectLst/>
                <a:latin typeface="Cambria" panose="02040503050406030204" pitchFamily="18" charset="0"/>
                <a:ea typeface="Calibri" panose="020F0502020204030204" charset="0"/>
                <a:cs typeface="Times New Roman" panose="02020603050405020304" pitchFamily="18" charset="0"/>
              </a:rPr>
              <a:t>    </a:t>
            </a:r>
            <a:r>
              <a:rPr lang="en-IN" sz="1600" b="1" dirty="0" err="1">
                <a:effectLst/>
                <a:latin typeface="Cambria" panose="02040503050406030204" pitchFamily="18" charset="0"/>
                <a:ea typeface="Calibri" panose="020F0502020204030204" charset="0"/>
                <a:cs typeface="Times New Roman" panose="02020603050405020304" pitchFamily="18" charset="0"/>
              </a:rPr>
              <a:t>Dest</a:t>
            </a:r>
            <a:endParaRPr lang="en-IN" sz="1600" b="1" dirty="0">
              <a:effectLst/>
              <a:latin typeface="Calibri" panose="020F0502020204030204" charset="0"/>
              <a:ea typeface="Calibri" panose="020F0502020204030204" charset="0"/>
              <a:cs typeface="Times New Roman" panose="02020603050405020304" pitchFamily="18" charset="0"/>
            </a:endParaRPr>
          </a:p>
          <a:p>
            <a:pPr algn="ctr">
              <a:lnSpc>
                <a:spcPct val="115000"/>
              </a:lnSpc>
              <a:spcAft>
                <a:spcPts val="1000"/>
              </a:spcAft>
            </a:pPr>
            <a:r>
              <a:rPr lang="en-IN" b="1" dirty="0">
                <a:effectLst/>
                <a:latin typeface="Cambria" panose="02040503050406030204" pitchFamily="18" charset="0"/>
                <a:ea typeface="Calibri" panose="020F0502020204030204" charset="0"/>
                <a:cs typeface="Times New Roman" panose="02020603050405020304" pitchFamily="18" charset="0"/>
              </a:rPr>
              <a:t>10        6   1</a:t>
            </a:r>
            <a:endParaRPr lang="en-IN" b="1" dirty="0">
              <a:effectLst/>
              <a:latin typeface="Calibri" panose="020F0502020204030204" charset="0"/>
              <a:ea typeface="Calibri" panose="020F0502020204030204" charset="0"/>
              <a:cs typeface="Times New Roman" panose="02020603050405020304" pitchFamily="18" charset="0"/>
            </a:endParaRPr>
          </a:p>
          <a:p>
            <a:pPr algn="ctr">
              <a:lnSpc>
                <a:spcPct val="115000"/>
              </a:lnSpc>
              <a:spcAft>
                <a:spcPts val="1000"/>
              </a:spcAft>
            </a:pPr>
            <a:r>
              <a:rPr lang="en-IN" b="1" dirty="0">
                <a:effectLst/>
                <a:latin typeface="Cambria" panose="02040503050406030204" pitchFamily="18" charset="0"/>
                <a:ea typeface="Calibri" panose="020F0502020204030204" charset="0"/>
                <a:cs typeface="Times New Roman" panose="02020603050405020304" pitchFamily="18" charset="0"/>
              </a:rPr>
              <a:t>12         4      3</a:t>
            </a:r>
            <a:endParaRPr lang="en-IN" b="1" dirty="0">
              <a:effectLst/>
              <a:latin typeface="Calibri" panose="020F0502020204030204" charset="0"/>
              <a:ea typeface="Calibri" panose="020F0502020204030204" charset="0"/>
              <a:cs typeface="Times New Roman" panose="02020603050405020304" pitchFamily="18" charset="0"/>
            </a:endParaRPr>
          </a:p>
          <a:p>
            <a:pPr algn="ctr">
              <a:lnSpc>
                <a:spcPct val="115000"/>
              </a:lnSpc>
              <a:spcAft>
                <a:spcPts val="1000"/>
              </a:spcAft>
            </a:pPr>
            <a:r>
              <a:rPr lang="en-IN" b="1" dirty="0">
                <a:effectLst/>
                <a:latin typeface="Cambria" panose="02040503050406030204" pitchFamily="18" charset="0"/>
                <a:ea typeface="Calibri" panose="020F0502020204030204" charset="0"/>
                <a:cs typeface="Times New Roman" panose="02020603050405020304" pitchFamily="18" charset="0"/>
              </a:rPr>
              <a:t>14         2      7</a:t>
            </a:r>
            <a:endParaRPr lang="en-IN" b="1" dirty="0">
              <a:effectLst/>
              <a:latin typeface="Calibri" panose="020F0502020204030204" charset="0"/>
              <a:ea typeface="Calibri" panose="020F0502020204030204" charset="0"/>
              <a:cs typeface="Times New Roman" panose="02020603050405020304" pitchFamily="18" charset="0"/>
            </a:endParaRPr>
          </a:p>
          <a:p>
            <a:pPr algn="ctr">
              <a:lnSpc>
                <a:spcPct val="115000"/>
              </a:lnSpc>
              <a:spcAft>
                <a:spcPts val="1000"/>
              </a:spcAft>
            </a:pPr>
            <a:r>
              <a:rPr lang="en-IN" b="1" dirty="0">
                <a:effectLst/>
                <a:latin typeface="Cambria" panose="02040503050406030204" pitchFamily="18" charset="0"/>
                <a:ea typeface="Calibri" panose="020F0502020204030204" charset="0"/>
                <a:cs typeface="Times New Roman" panose="02020603050405020304" pitchFamily="18" charset="0"/>
              </a:rPr>
              <a:t>16        2      3</a:t>
            </a:r>
            <a:endParaRPr lang="en-IN" b="1" dirty="0">
              <a:effectLst/>
              <a:latin typeface="Calibri" panose="020F0502020204030204" charset="0"/>
              <a:ea typeface="Calibri" panose="020F0502020204030204" charset="0"/>
              <a:cs typeface="Times New Roman" panose="02020603050405020304" pitchFamily="18" charset="0"/>
            </a:endParaRPr>
          </a:p>
          <a:p>
            <a:pPr algn="ctr">
              <a:lnSpc>
                <a:spcPct val="115000"/>
              </a:lnSpc>
              <a:spcAft>
                <a:spcPts val="1000"/>
              </a:spcAft>
            </a:pPr>
            <a:r>
              <a:rPr lang="en-IN" b="1" dirty="0">
                <a:effectLst/>
                <a:latin typeface="Cambria" panose="02040503050406030204" pitchFamily="18" charset="0"/>
                <a:ea typeface="Calibri" panose="020F0502020204030204" charset="0"/>
                <a:cs typeface="Times New Roman" panose="02020603050405020304" pitchFamily="18" charset="0"/>
              </a:rPr>
              <a:t>18         5     4</a:t>
            </a:r>
          </a:p>
          <a:p>
            <a:pPr algn="ctr">
              <a:lnSpc>
                <a:spcPct val="115000"/>
              </a:lnSpc>
              <a:spcAft>
                <a:spcPts val="1000"/>
              </a:spcAft>
            </a:pPr>
            <a:r>
              <a:rPr lang="en-IN" b="1" dirty="0">
                <a:effectLst/>
                <a:latin typeface="Cambria" panose="02040503050406030204" pitchFamily="18" charset="0"/>
                <a:ea typeface="Calibri" panose="020F0502020204030204" charset="0"/>
                <a:cs typeface="Times New Roman" panose="02020603050405020304" pitchFamily="18" charset="0"/>
              </a:rPr>
              <a:t>22         8      6</a:t>
            </a:r>
            <a:endParaRPr lang="en-IN" b="1" dirty="0">
              <a:effectLst/>
              <a:latin typeface="Calibri" panose="020F0502020204030204" charset="0"/>
              <a:ea typeface="Calibri" panose="020F0502020204030204" charset="0"/>
              <a:cs typeface="Times New Roman" panose="02020603050405020304" pitchFamily="18" charset="0"/>
            </a:endParaRPr>
          </a:p>
          <a:p>
            <a:pPr algn="ctr">
              <a:lnSpc>
                <a:spcPct val="115000"/>
              </a:lnSpc>
              <a:spcAft>
                <a:spcPts val="1000"/>
              </a:spcAft>
            </a:pPr>
            <a:r>
              <a:rPr lang="en-IN" b="1" dirty="0">
                <a:effectLst/>
                <a:latin typeface="Cambria" panose="02040503050406030204" pitchFamily="18" charset="0"/>
                <a:ea typeface="Calibri" panose="020F0502020204030204" charset="0"/>
                <a:cs typeface="Times New Roman" panose="02020603050405020304" pitchFamily="18" charset="0"/>
              </a:rPr>
              <a:t>24         5      7</a:t>
            </a:r>
            <a:endParaRPr lang="en-IN" b="1" dirty="0">
              <a:effectLst/>
              <a:latin typeface="Calibri" panose="020F0502020204030204" charset="0"/>
              <a:ea typeface="Calibri" panose="020F0502020204030204" charset="0"/>
              <a:cs typeface="Times New Roman" panose="02020603050405020304" pitchFamily="18" charset="0"/>
            </a:endParaRPr>
          </a:p>
          <a:p>
            <a:pPr algn="ctr">
              <a:lnSpc>
                <a:spcPct val="115000"/>
              </a:lnSpc>
              <a:spcAft>
                <a:spcPts val="1000"/>
              </a:spcAft>
            </a:pPr>
            <a:r>
              <a:rPr lang="en-IN" b="1" dirty="0">
                <a:effectLst/>
                <a:latin typeface="Cambria" panose="02040503050406030204" pitchFamily="18" charset="0"/>
                <a:ea typeface="Calibri" panose="020F0502020204030204" charset="0"/>
                <a:cs typeface="Times New Roman" panose="02020603050405020304" pitchFamily="18" charset="0"/>
              </a:rPr>
              <a:t>25         6      5</a:t>
            </a:r>
            <a:endParaRPr lang="en-IN" b="1" dirty="0">
              <a:effectLst/>
              <a:latin typeface="Calibri" panose="020F0502020204030204" charset="0"/>
              <a:ea typeface="Calibri" panose="020F0502020204030204" charset="0"/>
              <a:cs typeface="Times New Roman" panose="02020603050405020304" pitchFamily="18" charset="0"/>
            </a:endParaRPr>
          </a:p>
          <a:p>
            <a:pPr algn="ctr">
              <a:lnSpc>
                <a:spcPct val="115000"/>
              </a:lnSpc>
              <a:spcAft>
                <a:spcPts val="1000"/>
              </a:spcAft>
            </a:pPr>
            <a:r>
              <a:rPr lang="en-IN" b="1" dirty="0">
                <a:effectLst/>
                <a:latin typeface="Cambria" panose="02040503050406030204" pitchFamily="18" charset="0"/>
                <a:ea typeface="Calibri" panose="020F0502020204030204" charset="0"/>
                <a:cs typeface="Times New Roman" panose="02020603050405020304" pitchFamily="18" charset="0"/>
              </a:rPr>
              <a:t>28         1      2</a:t>
            </a:r>
            <a:endParaRPr lang="en-IN" b="1" dirty="0">
              <a:effectLst/>
              <a:latin typeface="Calibri" panose="020F0502020204030204" charset="0"/>
              <a:ea typeface="Calibri" panose="020F0502020204030204" charset="0"/>
              <a:cs typeface="Times New Roman" panose="02020603050405020304" pitchFamily="18" charset="0"/>
            </a:endParaRPr>
          </a:p>
          <a:p>
            <a:pPr algn="ctr">
              <a:lnSpc>
                <a:spcPct val="115000"/>
              </a:lnSpc>
              <a:spcAft>
                <a:spcPts val="1000"/>
              </a:spcAft>
            </a:pPr>
            <a:endParaRPr lang="en-IN" b="1" dirty="0">
              <a:effectLst/>
              <a:latin typeface="Calibri" panose="020F0502020204030204" charset="0"/>
              <a:ea typeface="Calibri" panose="020F0502020204030204" charset="0"/>
              <a:cs typeface="Times New Roman" panose="02020603050405020304" pitchFamily="18" charset="0"/>
            </a:endParaRPr>
          </a:p>
        </p:txBody>
      </p:sp>
      <p:sp>
        <p:nvSpPr>
          <p:cNvPr id="9" name="TextBox 8"/>
          <p:cNvSpPr txBox="1"/>
          <p:nvPr/>
        </p:nvSpPr>
        <p:spPr>
          <a:xfrm>
            <a:off x="3823335" y="787400"/>
            <a:ext cx="7959090" cy="1568450"/>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sym typeface="+mn-ea"/>
              </a:rPr>
              <a:t>Step 1:</a:t>
            </a:r>
            <a:r>
              <a:rPr lang="en-IN" altLang="en-US" sz="2400" dirty="0">
                <a:latin typeface="Times New Roman" panose="02020603050405020304" pitchFamily="18" charset="0"/>
                <a:cs typeface="Times New Roman" panose="02020603050405020304" pitchFamily="18" charset="0"/>
                <a:sym typeface="+mn-ea"/>
              </a:rPr>
              <a:t> </a:t>
            </a:r>
            <a:r>
              <a:rPr lang="en-IN" sz="2400" dirty="0">
                <a:effectLst/>
                <a:latin typeface="Times New Roman" panose="02020603050405020304" pitchFamily="18" charset="0"/>
                <a:ea typeface="Calibri" panose="020F0502020204030204" charset="0"/>
                <a:cs typeface="Times New Roman" panose="02020603050405020304" pitchFamily="18" charset="0"/>
              </a:rPr>
              <a:t>Now pick all edges one by one from sorted list of edges</a:t>
            </a:r>
          </a:p>
          <a:p>
            <a:br>
              <a:rPr lang="en-IN" sz="2400" dirty="0">
                <a:effectLst/>
                <a:latin typeface="Times New Roman" panose="02020603050405020304" pitchFamily="18" charset="0"/>
                <a:ea typeface="Calibri" panose="020F0502020204030204" charset="0"/>
                <a:cs typeface="Times New Roman" panose="02020603050405020304" pitchFamily="18" charset="0"/>
              </a:rPr>
            </a:br>
            <a:r>
              <a:rPr lang="en-IN" sz="2400" dirty="0">
                <a:effectLst/>
                <a:latin typeface="Times New Roman" panose="02020603050405020304" pitchFamily="18" charset="0"/>
                <a:ea typeface="Calibri" panose="020F0502020204030204" charset="0"/>
                <a:cs typeface="Times New Roman" panose="02020603050405020304" pitchFamily="18" charset="0"/>
              </a:rPr>
              <a:t>1. Pick edge 6-1:  No cycle is formed, include it.</a:t>
            </a:r>
            <a:br>
              <a:rPr lang="en-IN" sz="2400" dirty="0">
                <a:effectLst/>
                <a:latin typeface="Times New Roman" panose="02020603050405020304" pitchFamily="18" charset="0"/>
                <a:ea typeface="Calibri" panose="020F0502020204030204" charset="0"/>
                <a:cs typeface="Times New Roman" panose="02020603050405020304" pitchFamily="18" charset="0"/>
              </a:rPr>
            </a:br>
            <a:endParaRPr lang="en-IN" sz="2400" dirty="0">
              <a:effectLst/>
              <a:latin typeface="Times New Roman" panose="02020603050405020304" pitchFamily="18" charset="0"/>
              <a:ea typeface="Calibri" panose="020F0502020204030204" charset="0"/>
              <a:cs typeface="Times New Roman" panose="02020603050405020304" pitchFamily="18" charset="0"/>
            </a:endParaRPr>
          </a:p>
        </p:txBody>
      </p:sp>
      <p:pic>
        <p:nvPicPr>
          <p:cNvPr id="19458"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r="63127" b="25842"/>
          <a:stretch>
            <a:fillRect/>
          </a:stretch>
        </p:blipFill>
        <p:spPr bwMode="auto">
          <a:xfrm>
            <a:off x="5172075" y="2716530"/>
            <a:ext cx="1758950" cy="14268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445260" y="968375"/>
            <a:ext cx="10083800" cy="52197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step 2:</a:t>
            </a:r>
            <a:r>
              <a:rPr lang="en-IN" altLang="en-US" sz="2800" dirty="0">
                <a:latin typeface="Times New Roman" panose="02020603050405020304" pitchFamily="18" charset="0"/>
                <a:cs typeface="Times New Roman" panose="02020603050405020304" pitchFamily="18" charset="0"/>
              </a:rPr>
              <a:t> Now pick edge 4-12. No cycle is formed, hence include it.</a:t>
            </a:r>
          </a:p>
        </p:txBody>
      </p:sp>
      <p:pic>
        <p:nvPicPr>
          <p:cNvPr id="2048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61870" t="24220"/>
          <a:stretch>
            <a:fillRect/>
          </a:stretch>
        </p:blipFill>
        <p:spPr bwMode="auto">
          <a:xfrm>
            <a:off x="5469255" y="2562225"/>
            <a:ext cx="1509395" cy="1619250"/>
          </a:xfrm>
          <a:prstGeom prst="rect">
            <a:avLst/>
          </a:prstGeom>
          <a:noFill/>
          <a:extLst>
            <a:ext uri="{909E8E84-426E-40DD-AFC4-6F175D3DCCD1}">
              <a14:hiddenFill xmlns:a14="http://schemas.microsoft.com/office/drawing/2010/main">
                <a:solidFill>
                  <a:srgbClr val="FFFFFF"/>
                </a:solidFill>
              </a14:hiddenFill>
            </a:ext>
          </a:extLst>
        </p:spPr>
      </p:pic>
      <p:pic>
        <p:nvPicPr>
          <p:cNvPr id="19458" name="Picture 2"/>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r="63127" b="25842"/>
          <a:stretch>
            <a:fillRect/>
          </a:stretch>
        </p:blipFill>
        <p:spPr bwMode="auto">
          <a:xfrm>
            <a:off x="4083050" y="2138045"/>
            <a:ext cx="1758950" cy="14268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691005" y="968375"/>
            <a:ext cx="9701530" cy="52197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step 3:</a:t>
            </a:r>
            <a:r>
              <a:rPr lang="en-IN" altLang="en-US" sz="2800" dirty="0">
                <a:latin typeface="Times New Roman" panose="02020603050405020304" pitchFamily="18" charset="0"/>
                <a:cs typeface="Times New Roman" panose="02020603050405020304" pitchFamily="18" charset="0"/>
              </a:rPr>
              <a:t> Now pick edge 4-12. No cycle is formed, hence include it.</a:t>
            </a:r>
          </a:p>
        </p:txBody>
      </p:sp>
      <p:pic>
        <p:nvPicPr>
          <p:cNvPr id="2048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61870" t="24220"/>
          <a:stretch>
            <a:fillRect/>
          </a:stretch>
        </p:blipFill>
        <p:spPr bwMode="auto">
          <a:xfrm>
            <a:off x="5469255" y="2562225"/>
            <a:ext cx="1509395" cy="1619250"/>
          </a:xfrm>
          <a:prstGeom prst="rect">
            <a:avLst/>
          </a:prstGeom>
          <a:noFill/>
          <a:extLst>
            <a:ext uri="{909E8E84-426E-40DD-AFC4-6F175D3DCCD1}">
              <a14:hiddenFill xmlns:a14="http://schemas.microsoft.com/office/drawing/2010/main">
                <a:solidFill>
                  <a:srgbClr val="FFFFFF"/>
                </a:solidFill>
              </a14:hiddenFill>
            </a:ext>
          </a:extLst>
        </p:spPr>
      </p:pic>
      <p:pic>
        <p:nvPicPr>
          <p:cNvPr id="19458" name="Picture 2"/>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r="63127" b="25842"/>
          <a:stretch>
            <a:fillRect/>
          </a:stretch>
        </p:blipFill>
        <p:spPr bwMode="auto">
          <a:xfrm>
            <a:off x="4083050" y="2138045"/>
            <a:ext cx="1758950" cy="14268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87755" y="1068070"/>
            <a:ext cx="8951595" cy="4441825"/>
          </a:xfrm>
        </p:spPr>
        <p:txBody>
          <a:bodyPr/>
          <a:lstStyle/>
          <a:p>
            <a:r>
              <a:rPr lang="en-US" dirty="0">
                <a:latin typeface="Times New Roman" panose="02020603050405020304" pitchFamily="18" charset="0"/>
                <a:cs typeface="Times New Roman" panose="02020603050405020304" pitchFamily="18" charset="0"/>
              </a:rPr>
              <a:t>Step 4:</a:t>
            </a:r>
            <a:r>
              <a:rPr lang="en-IN" altLang="en-US" dirty="0">
                <a:latin typeface="Times New Roman" panose="02020603050405020304" pitchFamily="18" charset="0"/>
                <a:cs typeface="Times New Roman" panose="02020603050405020304" pitchFamily="18" charset="0"/>
              </a:rPr>
              <a:t> Now pick edge 7-2. No cycle is formed, include it.</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19458"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r="63127" b="25842"/>
          <a:stretch>
            <a:fillRect/>
          </a:stretch>
        </p:blipFill>
        <p:spPr bwMode="auto">
          <a:xfrm>
            <a:off x="4512310" y="2761615"/>
            <a:ext cx="1645285" cy="1334770"/>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p:cNvGrpSpPr/>
          <p:nvPr/>
        </p:nvGrpSpPr>
        <p:grpSpPr>
          <a:xfrm>
            <a:off x="4231640" y="2761615"/>
            <a:ext cx="3828415" cy="2362835"/>
            <a:chOff x="4264" y="4677"/>
            <a:chExt cx="6029" cy="3393"/>
          </a:xfrm>
        </p:grpSpPr>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l="41082" b="-3584"/>
            <a:stretch>
              <a:fillRect/>
            </a:stretch>
          </p:blipFill>
          <p:spPr bwMode="auto">
            <a:xfrm>
              <a:off x="7297" y="4804"/>
              <a:ext cx="2996" cy="3266"/>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89610"/>
            <a:ext cx="10515600" cy="5487670"/>
          </a:xfrm>
        </p:spPr>
        <p:txBody>
          <a:bodyPr/>
          <a:lstStyle/>
          <a:p>
            <a:r>
              <a:rPr lang="en-US" sz="3200" dirty="0">
                <a:latin typeface="Times New Roman" panose="02020603050405020304" pitchFamily="18" charset="0"/>
                <a:cs typeface="Times New Roman" panose="02020603050405020304" pitchFamily="18" charset="0"/>
              </a:rPr>
              <a:t>Step 5:</a:t>
            </a:r>
            <a:r>
              <a:rPr lang="en-IN" altLang="en-US" sz="3200" dirty="0">
                <a:latin typeface="Times New Roman" panose="02020603050405020304" pitchFamily="18" charset="0"/>
                <a:cs typeface="Times New Roman" panose="02020603050405020304" pitchFamily="18" charset="0"/>
              </a:rPr>
              <a:t> Now pick edge 2-3. No cycle is formed, so include it.</a:t>
            </a:r>
            <a:endParaRPr lang="en-US" sz="3200" dirty="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l="43504" t="-9475" b="-233"/>
          <a:stretch>
            <a:fillRect/>
          </a:stretch>
        </p:blipFill>
        <p:spPr bwMode="auto">
          <a:xfrm>
            <a:off x="5469255" y="2058670"/>
            <a:ext cx="2655570" cy="310261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r="63127" b="25842"/>
          <a:stretch>
            <a:fillRect/>
          </a:stretch>
        </p:blipFill>
        <p:spPr bwMode="auto">
          <a:xfrm>
            <a:off x="3514725" y="2510790"/>
            <a:ext cx="1758950" cy="16408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37945"/>
            <a:ext cx="10515600" cy="4351338"/>
          </a:xfrm>
        </p:spPr>
        <p:txBody>
          <a:bodyPr/>
          <a:lstStyle/>
          <a:p>
            <a:r>
              <a:rPr lang="en-US" dirty="0">
                <a:latin typeface="Times New Roman" panose="02020603050405020304" pitchFamily="18" charset="0"/>
                <a:cs typeface="Times New Roman" panose="02020603050405020304" pitchFamily="18" charset="0"/>
              </a:rPr>
              <a:t>Step 6:</a:t>
            </a:r>
            <a:r>
              <a:rPr lang="en-IN" altLang="en-US" dirty="0">
                <a:latin typeface="Times New Roman" panose="02020603050405020304" pitchFamily="18" charset="0"/>
                <a:cs typeface="Times New Roman" panose="02020603050405020304" pitchFamily="18" charset="0"/>
              </a:rPr>
              <a:t> Now pick edge 5-4. No cycle is formed, so include it.</a:t>
            </a:r>
          </a:p>
          <a:p>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3180" y="2341245"/>
            <a:ext cx="4355465" cy="24085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02665" y="508635"/>
            <a:ext cx="10892155" cy="5717540"/>
          </a:xfrm>
        </p:spPr>
        <p:txBody>
          <a:bodyPr/>
          <a:lstStyle/>
          <a:p>
            <a:r>
              <a:rPr lang="en-US" sz="2400" dirty="0">
                <a:latin typeface="Times New Roman" panose="02020603050405020304" pitchFamily="18" charset="0"/>
                <a:cs typeface="Times New Roman" panose="02020603050405020304" pitchFamily="18" charset="0"/>
              </a:rPr>
              <a:t>Step 7:</a:t>
            </a:r>
            <a:r>
              <a:rPr lang="en-IN" altLang="en-US" sz="2400" dirty="0">
                <a:latin typeface="Times New Roman" panose="02020603050405020304" pitchFamily="18" charset="0"/>
                <a:cs typeface="Times New Roman" panose="02020603050405020304" pitchFamily="18" charset="0"/>
              </a:rPr>
              <a:t>Now pick edge 6-5. No cycle is formed, so include it.</a:t>
            </a:r>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lang="en-IN" altLang="en-US" sz="2400" dirty="0">
              <a:ln>
                <a:noFill/>
              </a:ln>
              <a:solidFill>
                <a:srgbClr val="303030"/>
              </a:solidFill>
              <a:effectLst/>
              <a:latin typeface="Times New Roman" panose="02020603050405020304" pitchFamily="18" charset="0"/>
              <a:cs typeface="Times New Roman" panose="02020603050405020304" pitchFamily="18" charset="0"/>
              <a:sym typeface="+mn-ea"/>
            </a:endParaRPr>
          </a:p>
          <a:p>
            <a:pPr marL="0" marR="0" lvl="0" indent="0" algn="ctr" defTabSz="914400" rtl="0" eaLnBrk="1" fontAlgn="base" latinLnBrk="0" hangingPunct="1">
              <a:lnSpc>
                <a:spcPct val="100000"/>
              </a:lnSpc>
              <a:spcBef>
                <a:spcPct val="0"/>
              </a:spcBef>
              <a:spcAft>
                <a:spcPct val="0"/>
              </a:spcAft>
              <a:buClrTx/>
              <a:buSzTx/>
              <a:buFontTx/>
              <a:buNone/>
            </a:pPr>
            <a:endParaRPr lang="en-IN" altLang="en-US" sz="2400" dirty="0">
              <a:ln>
                <a:noFill/>
              </a:ln>
              <a:solidFill>
                <a:srgbClr val="303030"/>
              </a:solidFill>
              <a:effectLst/>
              <a:latin typeface="Times New Roman" panose="02020603050405020304" pitchFamily="18" charset="0"/>
              <a:cs typeface="Times New Roman" panose="02020603050405020304" pitchFamily="18" charset="0"/>
              <a:sym typeface="+mn-ea"/>
            </a:endParaRPr>
          </a:p>
          <a:p>
            <a:pPr marL="0" marR="0" lvl="0" indent="0" algn="ctr" defTabSz="914400" rtl="0" eaLnBrk="1" fontAlgn="base" latinLnBrk="0" hangingPunct="1">
              <a:lnSpc>
                <a:spcPct val="100000"/>
              </a:lnSpc>
              <a:spcBef>
                <a:spcPct val="0"/>
              </a:spcBef>
              <a:spcAft>
                <a:spcPct val="0"/>
              </a:spcAft>
              <a:buClrTx/>
              <a:buSzTx/>
              <a:buFontTx/>
              <a:buNone/>
            </a:pPr>
            <a:endParaRPr lang="en-IN" altLang="en-US" sz="2400" dirty="0">
              <a:ln>
                <a:noFill/>
              </a:ln>
              <a:solidFill>
                <a:srgbClr val="303030"/>
              </a:solidFill>
              <a:effectLst/>
              <a:latin typeface="Times New Roman" panose="02020603050405020304" pitchFamily="18" charset="0"/>
              <a:cs typeface="Times New Roman" panose="02020603050405020304" pitchFamily="18" charset="0"/>
              <a:sym typeface="+mn-ea"/>
            </a:endParaRPr>
          </a:p>
          <a:p>
            <a:pPr marL="0" marR="0" lvl="0" indent="0" algn="ctr" defTabSz="914400" rtl="0" eaLnBrk="1" fontAlgn="base" latinLnBrk="0" hangingPunct="1">
              <a:lnSpc>
                <a:spcPct val="100000"/>
              </a:lnSpc>
              <a:spcBef>
                <a:spcPct val="0"/>
              </a:spcBef>
              <a:spcAft>
                <a:spcPct val="0"/>
              </a:spcAft>
              <a:buClrTx/>
              <a:buSzTx/>
              <a:buFontTx/>
              <a:buNone/>
            </a:pPr>
            <a:endParaRPr lang="en-IN" altLang="en-US" sz="2400" dirty="0">
              <a:ln>
                <a:noFill/>
              </a:ln>
              <a:solidFill>
                <a:srgbClr val="303030"/>
              </a:solidFill>
              <a:effectLst/>
              <a:latin typeface="Times New Roman" panose="02020603050405020304" pitchFamily="18" charset="0"/>
              <a:cs typeface="Times New Roman" panose="02020603050405020304" pitchFamily="18" charset="0"/>
              <a:sym typeface="+mn-ea"/>
            </a:endParaRPr>
          </a:p>
          <a:p>
            <a:pPr marL="0" marR="0" lvl="0" indent="0" algn="l" defTabSz="914400" rtl="0" eaLnBrk="1" fontAlgn="base" latinLnBrk="0" hangingPunct="1">
              <a:lnSpc>
                <a:spcPct val="100000"/>
              </a:lnSpc>
              <a:spcBef>
                <a:spcPct val="0"/>
              </a:spcBef>
              <a:spcAft>
                <a:spcPct val="0"/>
              </a:spcAft>
              <a:buClrTx/>
              <a:buSzTx/>
              <a:buFontTx/>
              <a:buNone/>
            </a:pPr>
            <a:r>
              <a:rPr lang="en-IN" altLang="en-US" sz="2400" dirty="0">
                <a:ln>
                  <a:noFill/>
                </a:ln>
                <a:solidFill>
                  <a:srgbClr val="303030"/>
                </a:solidFill>
                <a:effectLst/>
                <a:latin typeface="Times New Roman" panose="02020603050405020304" pitchFamily="18" charset="0"/>
                <a:cs typeface="Times New Roman" panose="02020603050405020304" pitchFamily="18" charset="0"/>
                <a:sym typeface="+mn-ea"/>
              </a:rPr>
              <a:t>Since all the vertices have been connected / included in the MST, so we stop.</a:t>
            </a:r>
          </a:p>
          <a:p>
            <a:pPr marL="0" marR="0" lvl="0" indent="0" algn="l" defTabSz="914400" rtl="0" eaLnBrk="1" fontAlgn="base" latinLnBrk="0" hangingPunct="1">
              <a:lnSpc>
                <a:spcPct val="100000"/>
              </a:lnSpc>
              <a:spcBef>
                <a:spcPct val="0"/>
              </a:spcBef>
              <a:spcAft>
                <a:spcPct val="0"/>
              </a:spcAft>
              <a:buClrTx/>
              <a:buSzTx/>
              <a:buFontTx/>
              <a:buNone/>
            </a:pPr>
            <a:r>
              <a:rPr lang="en-IN" altLang="en-US" sz="2400" dirty="0">
                <a:ln>
                  <a:noFill/>
                </a:ln>
                <a:solidFill>
                  <a:srgbClr val="303030"/>
                </a:solidFill>
                <a:effectLst/>
                <a:latin typeface="Times New Roman" panose="02020603050405020304" pitchFamily="18" charset="0"/>
                <a:cs typeface="Times New Roman" panose="02020603050405020304" pitchFamily="18" charset="0"/>
                <a:sym typeface="+mn-ea"/>
              </a:rPr>
              <a:t>Weight of the MST = Sum of all edge weights= 10 + 25 + 22 + 12 + 16 + 14</a:t>
            </a:r>
            <a:endParaRPr kumimoji="0" lang="en-IN"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lang="en-IN" altLang="en-US" sz="2400" dirty="0">
                <a:ln>
                  <a:noFill/>
                </a:ln>
                <a:solidFill>
                  <a:srgbClr val="303030"/>
                </a:solidFill>
                <a:effectLst/>
                <a:latin typeface="Times New Roman" panose="02020603050405020304" pitchFamily="18" charset="0"/>
                <a:cs typeface="Times New Roman" panose="02020603050405020304" pitchFamily="18" charset="0"/>
                <a:sym typeface="+mn-ea"/>
              </a:rPr>
              <a:t>= 99 units</a:t>
            </a:r>
            <a:endParaRPr kumimoji="0" lang="en-IN"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IN" altLang="en-US" b="0" i="0" u="none" strike="noStrike" cap="none" normalizeH="0" baseline="0" dirty="0">
              <a:ln>
                <a:noFill/>
              </a:ln>
              <a:solidFill>
                <a:srgbClr val="303030"/>
              </a:solidFill>
              <a:effectLst/>
              <a:latin typeface="Times New Roman" panose="02020603050405020304" pitchFamily="18" charset="0"/>
              <a:cs typeface="Times New Roman" panose="02020603050405020304" pitchFamily="18" charset="0"/>
            </a:endParaRPr>
          </a:p>
          <a:p>
            <a:endParaRPr kumimoji="0" lang="en-IN" altLang="en-US" b="0" i="0" u="none" strike="noStrike" cap="none" normalizeH="0" baseline="0" dirty="0">
              <a:ln>
                <a:noFill/>
              </a:ln>
              <a:solidFill>
                <a:srgbClr val="303030"/>
              </a:solidFill>
              <a:effectLst/>
              <a:latin typeface="Times New Roman" panose="02020603050405020304" pitchFamily="18" charset="0"/>
              <a:cs typeface="Times New Roman" panose="02020603050405020304" pitchFamily="18" charset="0"/>
            </a:endParaRPr>
          </a:p>
        </p:txBody>
      </p:sp>
      <p:pic>
        <p:nvPicPr>
          <p:cNvPr id="2458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2710" y="1639570"/>
            <a:ext cx="4067175" cy="203708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5"/>
          <p:cNvSpPr>
            <a:spLocks noChangeArrowheads="1"/>
          </p:cNvSpPr>
          <p:nvPr/>
        </p:nvSpPr>
        <p:spPr bwMode="auto">
          <a:xfrm>
            <a:off x="5963920" y="826770"/>
            <a:ext cx="264160" cy="403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lvl1pPr>
              <a:defRPr>
                <a:solidFill>
                  <a:schemeClr val="tx1"/>
                </a:solidFill>
                <a:latin typeface="Calibri" panose="020F0502020204030204" charset="0"/>
              </a:defRPr>
            </a:lvl1pPr>
            <a:lvl2pPr>
              <a:defRPr>
                <a:solidFill>
                  <a:schemeClr val="tx1"/>
                </a:solidFill>
                <a:latin typeface="Calibri" panose="020F0502020204030204" charset="0"/>
              </a:defRPr>
            </a:lvl2pPr>
            <a:lvl3pPr>
              <a:defRPr>
                <a:solidFill>
                  <a:schemeClr val="tx1"/>
                </a:solidFill>
                <a:latin typeface="Calibri" panose="020F0502020204030204" charset="0"/>
              </a:defRPr>
            </a:lvl3pPr>
            <a:lvl4pPr>
              <a:defRPr>
                <a:solidFill>
                  <a:schemeClr val="tx1"/>
                </a:solidFill>
                <a:latin typeface="Calibri" panose="020F0502020204030204" charset="0"/>
              </a:defRPr>
            </a:lvl4pPr>
            <a:lvl5pPr>
              <a:defRPr>
                <a:solidFill>
                  <a:schemeClr val="tx1"/>
                </a:solidFill>
                <a:latin typeface="Calibri" panose="020F0502020204030204" charset="0"/>
              </a:defRPr>
            </a:lvl5pPr>
            <a:lvl6pPr fontAlgn="base">
              <a:spcBef>
                <a:spcPct val="0"/>
              </a:spcBef>
              <a:spcAft>
                <a:spcPct val="0"/>
              </a:spcAft>
              <a:defRPr>
                <a:solidFill>
                  <a:schemeClr val="tx1"/>
                </a:solidFill>
                <a:latin typeface="Calibri" panose="020F0502020204030204" charset="0"/>
              </a:defRPr>
            </a:lvl6pPr>
            <a:lvl7pPr fontAlgn="base">
              <a:spcBef>
                <a:spcPct val="0"/>
              </a:spcBef>
              <a:spcAft>
                <a:spcPct val="0"/>
              </a:spcAft>
              <a:defRPr>
                <a:solidFill>
                  <a:schemeClr val="tx1"/>
                </a:solidFill>
                <a:latin typeface="Calibri" panose="020F0502020204030204" charset="0"/>
              </a:defRPr>
            </a:lvl7pPr>
            <a:lvl8pPr fontAlgn="base">
              <a:spcBef>
                <a:spcPct val="0"/>
              </a:spcBef>
              <a:spcAft>
                <a:spcPct val="0"/>
              </a:spcAft>
              <a:defRPr>
                <a:solidFill>
                  <a:schemeClr val="tx1"/>
                </a:solidFill>
                <a:latin typeface="Calibri" panose="020F0502020204030204" charset="0"/>
              </a:defRPr>
            </a:lvl8pPr>
            <a:lvl9pPr fontAlgn="base">
              <a:spcBef>
                <a:spcPct val="0"/>
              </a:spcBef>
              <a:spcAft>
                <a:spcPct val="0"/>
              </a:spcAft>
              <a:defRPr>
                <a:solidFill>
                  <a:schemeClr val="tx1"/>
                </a:solidFill>
                <a:latin typeface="Calibri" panose="020F0502020204030204" charset="0"/>
              </a:defRPr>
            </a:lvl9pPr>
          </a:lstStyle>
          <a:p>
            <a:pPr marL="0" marR="0" lvl="0" indent="0" algn="ctr" defTabSz="914400" rtl="0" eaLnBrk="0" fontAlgn="base" latinLnBrk="0" hangingPunct="0">
              <a:lnSpc>
                <a:spcPct val="100000"/>
              </a:lnSpc>
              <a:spcBef>
                <a:spcPct val="0"/>
              </a:spcBef>
              <a:spcAft>
                <a:spcPct val="0"/>
              </a:spcAft>
              <a:buClrTx/>
              <a:buSzTx/>
              <a:buFontTx/>
              <a:buNone/>
            </a:pPr>
            <a:br>
              <a:rPr kumimoji="0" lang="en-IN" altLang="en-US" sz="825" b="0" i="0" u="none" strike="noStrike" cap="none" normalizeH="0" baseline="0" dirty="0">
                <a:ln>
                  <a:noFill/>
                </a:ln>
                <a:solidFill>
                  <a:srgbClr val="303030"/>
                </a:solidFill>
                <a:effectLst/>
                <a:latin typeface="Arimo"/>
              </a:rPr>
            </a:br>
            <a:endParaRPr kumimoji="0" lang="en-IN" altLang="en-US" sz="1350" b="0" i="0" u="none" strike="noStrike" cap="none" normalizeH="0" baseline="0" dirty="0">
              <a:ln>
                <a:noFill/>
              </a:ln>
              <a:solidFill>
                <a:schemeClr val="tx1"/>
              </a:solidFill>
              <a:effectLst/>
              <a:latin typeface="Calibri" panose="020F05020202040302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1037"/>
            <a:ext cx="10515600" cy="754473"/>
          </a:xfrm>
        </p:spPr>
        <p:txBody>
          <a:bodyPr/>
          <a:lstStyle/>
          <a:p>
            <a:r>
              <a:rPr lang="en-US" sz="2800" b="1" dirty="0">
                <a:latin typeface="Times New Roman" panose="02020603050405020304" pitchFamily="18" charset="0"/>
                <a:cs typeface="Times New Roman" panose="02020603050405020304" pitchFamily="18" charset="0"/>
              </a:rPr>
              <a:t>APPLICATIONS:</a:t>
            </a:r>
          </a:p>
        </p:txBody>
      </p:sp>
      <p:sp>
        <p:nvSpPr>
          <p:cNvPr id="3" name="Content Placeholder 2"/>
          <p:cNvSpPr>
            <a:spLocks noGrp="1"/>
          </p:cNvSpPr>
          <p:nvPr>
            <p:ph idx="1"/>
          </p:nvPr>
        </p:nvSpPr>
        <p:spPr>
          <a:xfrm>
            <a:off x="838200" y="1071716"/>
            <a:ext cx="10515600" cy="5105247"/>
          </a:xfrm>
        </p:spPr>
        <p:txBody>
          <a:bodyPr/>
          <a:lstStyle/>
          <a:p>
            <a:pPr marR="0" algn="just">
              <a:lnSpc>
                <a:spcPct val="150000"/>
              </a:lnSpc>
              <a:spcAft>
                <a:spcPts val="800"/>
              </a:spcAft>
              <a:buFont typeface="Wingdings" panose="05000000000000000000" pitchFamily="2" charset="2"/>
              <a:buChar char="Ø"/>
            </a:pPr>
            <a:endParaRPr lang="en-US" sz="3200" kern="100" dirty="0">
              <a:effectLst/>
              <a:latin typeface="Aptos" panose="020B0004020202020204" pitchFamily="34" charset="0"/>
              <a:ea typeface="Aptos" panose="020B0004020202020204" pitchFamily="34" charset="0"/>
              <a:cs typeface="Times New Roman" panose="02020603050405020304" pitchFamily="18" charset="0"/>
            </a:endParaRPr>
          </a:p>
          <a:p>
            <a:pPr marR="0" lvl="0" algn="just">
              <a:lnSpc>
                <a:spcPct val="150000"/>
              </a:lnSpc>
              <a:spcAft>
                <a:spcPts val="800"/>
              </a:spcAft>
              <a:buSzPts val="1000"/>
              <a:buFont typeface="Wingdings" panose="05000000000000000000" pitchFamily="2" charset="2"/>
              <a:buChar char="Ø"/>
              <a:tabLst>
                <a:tab pos="457200" algn="l"/>
              </a:tabLst>
            </a:pPr>
            <a:r>
              <a:rPr lang="en-US" sz="3200" kern="100" dirty="0">
                <a:effectLst/>
                <a:latin typeface="Times New Roman" panose="02020603050405020304" pitchFamily="18" charset="0"/>
                <a:ea typeface="Aptos" panose="020B0004020202020204" pitchFamily="34" charset="0"/>
                <a:cs typeface="Times New Roman" panose="02020603050405020304" pitchFamily="18" charset="0"/>
              </a:rPr>
              <a:t>Kruskal's algorithm can be used to layout electrical wiring among cities.</a:t>
            </a:r>
            <a:endParaRPr lang="en-US" sz="3200" kern="100" dirty="0">
              <a:latin typeface="Aptos" panose="020B0004020202020204" pitchFamily="34" charset="0"/>
              <a:ea typeface="Aptos" panose="020B0004020202020204" pitchFamily="34" charset="0"/>
              <a:cs typeface="Times New Roman" panose="02020603050405020304" pitchFamily="18" charset="0"/>
            </a:endParaRPr>
          </a:p>
          <a:p>
            <a:pPr marR="0" lvl="0" algn="just">
              <a:lnSpc>
                <a:spcPct val="150000"/>
              </a:lnSpc>
              <a:spcAft>
                <a:spcPts val="800"/>
              </a:spcAft>
              <a:buSzPts val="1000"/>
              <a:buFont typeface="Wingdings" panose="05000000000000000000" pitchFamily="2" charset="2"/>
              <a:buChar char="Ø"/>
              <a:tabLst>
                <a:tab pos="457200" algn="l"/>
              </a:tabLst>
            </a:pPr>
            <a:r>
              <a:rPr lang="en-US" sz="3200" kern="100" dirty="0">
                <a:effectLst/>
                <a:latin typeface="Times New Roman" panose="02020603050405020304" pitchFamily="18" charset="0"/>
                <a:ea typeface="Aptos" panose="020B0004020202020204" pitchFamily="34" charset="0"/>
                <a:cs typeface="Times New Roman" panose="02020603050405020304" pitchFamily="18" charset="0"/>
              </a:rPr>
              <a:t>It can be used to lay down LAN connections.</a:t>
            </a:r>
            <a:endParaRPr lang="en-US" sz="32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50000"/>
              </a:lnSpc>
              <a:buFont typeface="Wingdings" panose="05000000000000000000" pitchFamily="2" charset="2"/>
              <a:buChar char="Ø"/>
            </a:pPr>
            <a:endParaRPr lang="en-US" sz="32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687607" y="831020"/>
            <a:ext cx="10086536" cy="5262245"/>
          </a:xfrm>
          <a:prstGeom prst="rect">
            <a:avLst/>
          </a:prstGeom>
          <a:noFill/>
        </p:spPr>
        <p:txBody>
          <a:bodyPr wrap="square" rtlCol="0">
            <a:spAutoFit/>
          </a:bodyPr>
          <a:lstStyle/>
          <a:p>
            <a:pPr algn="just">
              <a:lnSpc>
                <a:spcPct val="200000"/>
              </a:lnSpc>
            </a:pPr>
            <a:r>
              <a:rPr lang="en-US" sz="2400" dirty="0">
                <a:latin typeface="Times New Roman" panose="02020603050405020304" pitchFamily="18" charset="0"/>
                <a:cs typeface="Times New Roman" panose="02020603050405020304" pitchFamily="18" charset="0"/>
              </a:rPr>
              <a:t>	In summary, Kruskal's Algorithm is a greedy method used to find the Minimum Spanning Tree (MST) of a connected, undirected graph. It sorts edges by weight and selects the smallest edges while ensuring no cycles are formed using the Union-Find data structure. The process continues until all vertices are connected with minimum total edge weight. This makes Kruskal's algorithm efficient for edge-centric graph problems.</a:t>
            </a:r>
          </a:p>
          <a:p>
            <a:pPr marL="342900" indent="-342900" algn="just">
              <a:lnSpc>
                <a:spcPct val="200000"/>
              </a:lnSpc>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SELF-ASSESSMENT QUESTIONS</a:t>
            </a:r>
          </a:p>
        </p:txBody>
      </p:sp>
      <p:sp>
        <p:nvSpPr>
          <p:cNvPr id="7" name="Google Shape;502;p17"/>
          <p:cNvSpPr/>
          <p:nvPr/>
        </p:nvSpPr>
        <p:spPr>
          <a:xfrm>
            <a:off x="1009650" y="1093470"/>
            <a:ext cx="10172065" cy="547370"/>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marR="0" lvl="0" indent="-342900" rtl="0">
              <a:spcBef>
                <a:spcPts val="0"/>
              </a:spcBef>
              <a:spcAft>
                <a:spcPts val="0"/>
              </a:spcAft>
              <a:buFont typeface="+mj-lt"/>
              <a:buAutoNum type="arabicPeriod"/>
            </a:pPr>
            <a:r>
              <a:rPr lang="en-US" sz="1600" dirty="0">
                <a:solidFill>
                  <a:schemeClr val="bg1"/>
                </a:solidFill>
                <a:latin typeface="Times New Roman" panose="02020603050405020304" pitchFamily="18" charset="0"/>
                <a:ea typeface="Calibri" panose="020F0502020204030204"/>
                <a:cs typeface="Times New Roman" panose="02020603050405020304" pitchFamily="18" charset="0"/>
                <a:sym typeface="Calibri" panose="020F0502020204030204"/>
              </a:rPr>
              <a:t>Kruskal’s algorithm is a ______</a:t>
            </a:r>
          </a:p>
          <a:p>
            <a:pPr marL="342900" marR="0" lvl="0" indent="-342900" rtl="0">
              <a:spcBef>
                <a:spcPts val="0"/>
              </a:spcBef>
              <a:spcAft>
                <a:spcPts val="0"/>
              </a:spcAft>
              <a:buFont typeface="+mj-lt"/>
              <a:buAutoNum type="arabicPeriod"/>
            </a:pPr>
            <a:endParaRPr sz="1600">
              <a:solidFill>
                <a:schemeClr val="bg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1" name="Rounded Rectangle 17"/>
          <p:cNvSpPr/>
          <p:nvPr/>
        </p:nvSpPr>
        <p:spPr>
          <a:xfrm>
            <a:off x="1026795" y="1978025"/>
            <a:ext cx="4636135" cy="1645920"/>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rtl="0">
              <a:spcBef>
                <a:spcPts val="0"/>
              </a:spcBef>
              <a:spcAft>
                <a:spcPts val="0"/>
              </a:spcAft>
              <a:buFont typeface="+mj-lt"/>
              <a:buNone/>
            </a:pPr>
            <a:r>
              <a:rPr lang="en-US" sz="1600" dirty="0">
                <a:solidFill>
                  <a:schemeClr val="bg1"/>
                </a:solidFill>
                <a:latin typeface="Times New Roman" panose="02020603050405020304" pitchFamily="18" charset="0"/>
                <a:ea typeface="Calibri" panose="020F0502020204030204"/>
                <a:cs typeface="Times New Roman" panose="02020603050405020304" pitchFamily="18" charset="0"/>
                <a:sym typeface="Calibri" panose="020F0502020204030204"/>
              </a:rPr>
              <a:t>a) divide and conquer algorithm</a:t>
            </a:r>
          </a:p>
          <a:p>
            <a:pPr marR="0" lvl="0" indent="0" rtl="0">
              <a:spcBef>
                <a:spcPts val="0"/>
              </a:spcBef>
              <a:spcAft>
                <a:spcPts val="0"/>
              </a:spcAft>
              <a:buFont typeface="+mj-lt"/>
              <a:buNone/>
            </a:pPr>
            <a:r>
              <a:rPr lang="en-US" sz="1600" dirty="0">
                <a:solidFill>
                  <a:schemeClr val="bg1"/>
                </a:solidFill>
                <a:latin typeface="Times New Roman" panose="02020603050405020304" pitchFamily="18" charset="0"/>
                <a:ea typeface="Calibri" panose="020F0502020204030204"/>
                <a:cs typeface="Times New Roman" panose="02020603050405020304" pitchFamily="18" charset="0"/>
                <a:sym typeface="Calibri" panose="020F0502020204030204"/>
              </a:rPr>
              <a:t>b) dynamic programming algorithm</a:t>
            </a:r>
          </a:p>
          <a:p>
            <a:pPr marR="0" lvl="0" indent="0" rtl="0">
              <a:spcBef>
                <a:spcPts val="0"/>
              </a:spcBef>
              <a:spcAft>
                <a:spcPts val="0"/>
              </a:spcAft>
              <a:buFont typeface="+mj-lt"/>
              <a:buNone/>
            </a:pPr>
            <a:r>
              <a:rPr lang="en-US" sz="1600" dirty="0">
                <a:solidFill>
                  <a:schemeClr val="bg1"/>
                </a:solidFill>
                <a:latin typeface="Times New Roman" panose="02020603050405020304" pitchFamily="18" charset="0"/>
                <a:ea typeface="Calibri" panose="020F0502020204030204"/>
                <a:cs typeface="Times New Roman" panose="02020603050405020304" pitchFamily="18" charset="0"/>
                <a:sym typeface="Calibri" panose="020F0502020204030204"/>
              </a:rPr>
              <a:t>c) greedy algorithm</a:t>
            </a:r>
          </a:p>
          <a:p>
            <a:pPr marR="0" lvl="0" indent="0" rtl="0">
              <a:spcBef>
                <a:spcPts val="0"/>
              </a:spcBef>
              <a:spcAft>
                <a:spcPts val="0"/>
              </a:spcAft>
              <a:buFont typeface="+mj-lt"/>
              <a:buNone/>
            </a:pPr>
            <a:r>
              <a:rPr lang="en-US" sz="1600" dirty="0">
                <a:solidFill>
                  <a:schemeClr val="bg1"/>
                </a:solidFill>
                <a:latin typeface="Times New Roman" panose="02020603050405020304" pitchFamily="18" charset="0"/>
                <a:ea typeface="Calibri" panose="020F0502020204030204"/>
                <a:cs typeface="Times New Roman" panose="02020603050405020304" pitchFamily="18" charset="0"/>
                <a:sym typeface="Calibri" panose="020F0502020204030204"/>
              </a:rPr>
              <a:t>d) approximation algorithm</a:t>
            </a:r>
          </a:p>
          <a:p>
            <a:pPr marR="0" lvl="0" indent="0" rtl="0">
              <a:spcBef>
                <a:spcPts val="0"/>
              </a:spcBef>
              <a:spcAft>
                <a:spcPts val="0"/>
              </a:spcAft>
              <a:buFont typeface="+mj-lt"/>
              <a:buNone/>
            </a:pPr>
            <a:endParaRPr lang="en-US" sz="1600" dirty="0">
              <a:solidFill>
                <a:schemeClr val="bg1"/>
              </a:solidFill>
            </a:endParaRPr>
          </a:p>
        </p:txBody>
      </p:sp>
      <p:sp>
        <p:nvSpPr>
          <p:cNvPr id="13" name="Google Shape;502;p17"/>
          <p:cNvSpPr/>
          <p:nvPr/>
        </p:nvSpPr>
        <p:spPr>
          <a:xfrm>
            <a:off x="813250" y="3820449"/>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Times New Roman" panose="02020603050405020304" pitchFamily="18" charset="0"/>
                <a:ea typeface="Calibri" panose="020F0502020204030204"/>
                <a:cs typeface="Times New Roman" panose="02020603050405020304" pitchFamily="18" charset="0"/>
                <a:sym typeface="Calibri" panose="020F0502020204030204"/>
              </a:rPr>
              <a:t>2. </a:t>
            </a:r>
            <a:r>
              <a:rPr lang="en-US" sz="1600" b="1" kern="100" dirty="0">
                <a:solidFill>
                  <a:schemeClr val="bg1"/>
                </a:solidFill>
                <a:latin typeface="Times New Roman" panose="02020603050405020304" pitchFamily="18" charset="0"/>
                <a:ea typeface="Aptos" panose="020B0004020202020204" pitchFamily="34" charset="0"/>
                <a:cs typeface="Times New Roman" panose="02020603050405020304" pitchFamily="18" charset="0"/>
              </a:rPr>
              <a:t>In Kruskal's algorithm, how are edges processed?</a:t>
            </a:r>
            <a:endParaRPr lang="en-US" sz="1600" dirty="0">
              <a:solidFill>
                <a:schemeClr val="bg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4" name="Rounded Rectangle 17"/>
          <p:cNvSpPr/>
          <p:nvPr/>
        </p:nvSpPr>
        <p:spPr>
          <a:xfrm>
            <a:off x="1009895" y="4650658"/>
            <a:ext cx="4466673" cy="1722367"/>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1600" kern="100" dirty="0">
                <a:latin typeface="Times New Roman" panose="02020603050405020304" pitchFamily="18" charset="0"/>
                <a:ea typeface="Aptos" panose="020B0004020202020204" pitchFamily="34" charset="0"/>
                <a:cs typeface="Times New Roman" panose="02020603050405020304" pitchFamily="18" charset="0"/>
              </a:rPr>
              <a:t>A. From the largest to the smallest weight</a:t>
            </a:r>
            <a:br>
              <a:rPr lang="en-US" sz="1600" kern="100" dirty="0">
                <a:latin typeface="Times New Roman" panose="02020603050405020304" pitchFamily="18" charset="0"/>
                <a:ea typeface="Aptos" panose="020B0004020202020204" pitchFamily="34" charset="0"/>
                <a:cs typeface="Times New Roman" panose="02020603050405020304" pitchFamily="18" charset="0"/>
              </a:rPr>
            </a:br>
            <a:r>
              <a:rPr lang="en-US" sz="1600" kern="100" dirty="0">
                <a:latin typeface="Times New Roman" panose="02020603050405020304" pitchFamily="18" charset="0"/>
                <a:ea typeface="Aptos" panose="020B0004020202020204" pitchFamily="34" charset="0"/>
                <a:cs typeface="Times New Roman" panose="02020603050405020304" pitchFamily="18" charset="0"/>
              </a:rPr>
              <a:t>B. In arbitrary order</a:t>
            </a:r>
            <a:br>
              <a:rPr lang="en-US" sz="1600" kern="100" dirty="0">
                <a:latin typeface="Times New Roman" panose="02020603050405020304" pitchFamily="18" charset="0"/>
                <a:ea typeface="Aptos" panose="020B0004020202020204" pitchFamily="34" charset="0"/>
                <a:cs typeface="Times New Roman" panose="02020603050405020304" pitchFamily="18" charset="0"/>
              </a:rPr>
            </a:br>
            <a:r>
              <a:rPr lang="en-US" sz="1600" kern="100" dirty="0">
                <a:latin typeface="Times New Roman" panose="02020603050405020304" pitchFamily="18" charset="0"/>
                <a:ea typeface="Aptos" panose="020B0004020202020204" pitchFamily="34" charset="0"/>
                <a:cs typeface="Times New Roman" panose="02020603050405020304" pitchFamily="18" charset="0"/>
              </a:rPr>
              <a:t>C. From the smallest to the largest weight</a:t>
            </a:r>
            <a:br>
              <a:rPr lang="en-US" sz="1600" kern="100" dirty="0">
                <a:latin typeface="Times New Roman" panose="02020603050405020304" pitchFamily="18" charset="0"/>
                <a:ea typeface="Aptos" panose="020B0004020202020204" pitchFamily="34" charset="0"/>
                <a:cs typeface="Times New Roman" panose="02020603050405020304" pitchFamily="18" charset="0"/>
              </a:rPr>
            </a:br>
            <a:r>
              <a:rPr lang="en-US" sz="1600" kern="100" dirty="0">
                <a:latin typeface="Times New Roman" panose="02020603050405020304" pitchFamily="18" charset="0"/>
                <a:ea typeface="Aptos" panose="020B0004020202020204" pitchFamily="34" charset="0"/>
                <a:cs typeface="Times New Roman" panose="02020603050405020304" pitchFamily="18" charset="0"/>
              </a:rPr>
              <a:t>D. Based on vertex degree</a:t>
            </a:r>
            <a:endParaRPr lang="en-US" sz="1600" kern="100" dirty="0">
              <a:latin typeface="Aptos" panose="020B0004020202020204" pitchFamily="34" charset="0"/>
              <a:ea typeface="Aptos" panose="020B0004020202020204" pitchFamily="34" charset="0"/>
              <a:cs typeface="Times New Roman" panose="02020603050405020304" pitchFamily="18" charset="0"/>
            </a:endParaRPr>
          </a:p>
          <a:p>
            <a:pPr indent="0">
              <a:lnSpc>
                <a:spcPct val="150000"/>
              </a:lnSpc>
              <a:buNone/>
            </a:pPr>
            <a:endParaRPr lang="en-US" sz="1600" dirty="0">
              <a:solidFill>
                <a:schemeClr val="bg1"/>
              </a:solidFill>
            </a:endParaRP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535940" y="672465"/>
            <a:ext cx="10155555" cy="5538504"/>
          </a:xfrm>
          <a:prstGeom prst="rect">
            <a:avLst/>
          </a:prstGeom>
          <a:noFill/>
        </p:spPr>
        <p:txBody>
          <a:bodyPr wrap="square" rtlCol="0">
            <a:spAutoFit/>
          </a:bodyPr>
          <a:lstStyle/>
          <a:p>
            <a:pPr marL="457200" indent="-457200" algn="just">
              <a:lnSpc>
                <a:spcPct val="200000"/>
              </a:lnSpc>
              <a:buAutoNum type="arabicPeriod"/>
            </a:pPr>
            <a:r>
              <a:rPr lang="en-US" sz="2000" dirty="0">
                <a:latin typeface="Times New Roman" panose="02020603050405020304" pitchFamily="18" charset="0"/>
                <a:cs typeface="Times New Roman" panose="02020603050405020304" pitchFamily="18" charset="0"/>
              </a:rPr>
              <a:t>What is the main approach used by Kruskal's algorithm to find the Minimum Spanning Tree (MST)?</a:t>
            </a:r>
          </a:p>
          <a:p>
            <a:pPr marL="457200" indent="-457200" algn="just">
              <a:lnSpc>
                <a:spcPct val="200000"/>
              </a:lnSpc>
              <a:buAutoNum type="arabicPeriod"/>
            </a:pPr>
            <a:r>
              <a:rPr lang="en-US" sz="2000" dirty="0">
                <a:latin typeface="Times New Roman" panose="02020603050405020304" pitchFamily="18" charset="0"/>
                <a:cs typeface="Times New Roman" panose="02020603050405020304" pitchFamily="18" charset="0"/>
              </a:rPr>
              <a:t>In Kruskal's algorithm, how are edges processed?</a:t>
            </a:r>
          </a:p>
          <a:p>
            <a:pPr marL="457200" indent="-457200" algn="just">
              <a:lnSpc>
                <a:spcPct val="200000"/>
              </a:lnSpc>
              <a:buAutoNum type="arabicPeriod"/>
            </a:pPr>
            <a:r>
              <a:rPr lang="en-US" sz="2000" dirty="0">
                <a:latin typeface="Times New Roman" panose="02020603050405020304" pitchFamily="18" charset="0"/>
                <a:cs typeface="Times New Roman" panose="02020603050405020304" pitchFamily="18" charset="0"/>
              </a:rPr>
              <a:t>What is the time complexity of Kruskal's algorithm if edges are sorted using an efficient sorting algorithm?</a:t>
            </a:r>
            <a:endParaRPr lang="en-US" sz="2000" b="1" dirty="0">
              <a:latin typeface="Times New Roman" panose="02020603050405020304" pitchFamily="18" charset="0"/>
              <a:cs typeface="Times New Roman" panose="02020603050405020304" pitchFamily="18" charset="0"/>
            </a:endParaRPr>
          </a:p>
          <a:p>
            <a:pPr>
              <a:lnSpc>
                <a:spcPct val="200000"/>
              </a:lnSpc>
            </a:pPr>
            <a:endParaRPr lang="en-US" sz="2000" b="1" dirty="0">
              <a:latin typeface="Times New Roman" panose="02020603050405020304" pitchFamily="18" charset="0"/>
              <a:cs typeface="Times New Roman" panose="02020603050405020304" pitchFamily="18" charset="0"/>
            </a:endParaRPr>
          </a:p>
          <a:p>
            <a:pPr>
              <a:lnSpc>
                <a:spcPct val="200000"/>
              </a:lnSpc>
            </a:pPr>
            <a:endParaRPr lang="en-IN" altLang="en-US" sz="2000" b="1" dirty="0">
              <a:latin typeface="Times New Roman" panose="02020603050405020304" pitchFamily="18" charset="0"/>
              <a:cs typeface="Times New Roman" panose="02020603050405020304" pitchFamily="18" charset="0"/>
            </a:endParaRPr>
          </a:p>
          <a:p>
            <a:pPr>
              <a:lnSpc>
                <a:spcPct val="200000"/>
              </a:lnSpc>
            </a:pPr>
            <a:endParaRPr lang="en-US" sz="2000" b="1" dirty="0">
              <a:latin typeface="Times New Roman" panose="02020603050405020304" pitchFamily="18" charset="0"/>
              <a:cs typeface="Times New Roman" panose="02020603050405020304" pitchFamily="18" charset="0"/>
            </a:endParaRPr>
          </a:p>
          <a:p>
            <a:pPr>
              <a:lnSpc>
                <a:spcPct val="200000"/>
              </a:lnSpc>
            </a:pPr>
            <a:endParaRPr lang="en-US" sz="2000" b="1" dirty="0">
              <a:latin typeface="Times New Roman" panose="02020603050405020304" pitchFamily="18" charset="0"/>
              <a:cs typeface="Times New Roman" panose="02020603050405020304" pitchFamily="18" charset="0"/>
            </a:endParaRP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4247317"/>
          </a:xfrm>
          <a:prstGeom prst="rect">
            <a:avLst/>
          </a:prstGeom>
          <a:noFill/>
        </p:spPr>
        <p:txBody>
          <a:bodyPr wrap="square" rtlCol="0">
            <a:spAutoFit/>
          </a:bodyPr>
          <a:lstStyle/>
          <a:p>
            <a:pPr>
              <a:lnSpc>
                <a:spcPct val="150000"/>
              </a:lnSpc>
            </a:pPr>
            <a:r>
              <a:rPr lang="en-US" b="1" dirty="0"/>
              <a:t>Reference Books:</a:t>
            </a:r>
            <a:endParaRPr lang="en-US" dirty="0"/>
          </a:p>
          <a:p>
            <a:pPr>
              <a:lnSpc>
                <a:spcPct val="150000"/>
              </a:lnSpc>
            </a:pPr>
            <a:r>
              <a:rPr lang="en-US" dirty="0"/>
              <a:t>1.  </a:t>
            </a:r>
          </a:p>
          <a:p>
            <a:pPr>
              <a:lnSpc>
                <a:spcPct val="150000"/>
              </a:lnSpc>
            </a:pPr>
            <a:r>
              <a:rPr lang="en-US" dirty="0"/>
              <a:t>2. </a:t>
            </a:r>
          </a:p>
          <a:p>
            <a:pPr>
              <a:lnSpc>
                <a:spcPct val="150000"/>
              </a:lnSpc>
            </a:pPr>
            <a:r>
              <a:rPr lang="en-US" dirty="0"/>
              <a:t>3.</a:t>
            </a:r>
          </a:p>
          <a:p>
            <a:pPr>
              <a:lnSpc>
                <a:spcPct val="150000"/>
              </a:lnSpc>
            </a:pPr>
            <a:endParaRPr lang="en-US" dirty="0"/>
          </a:p>
          <a:p>
            <a:pPr>
              <a:lnSpc>
                <a:spcPct val="150000"/>
              </a:lnSpc>
            </a:pPr>
            <a:r>
              <a:rPr lang="en-US" b="1" dirty="0"/>
              <a:t>Sites and Web links:</a:t>
            </a:r>
          </a:p>
          <a:p>
            <a:pPr>
              <a:lnSpc>
                <a:spcPct val="150000"/>
              </a:lnSpc>
            </a:pPr>
            <a:r>
              <a:rPr lang="en-US" dirty="0"/>
              <a:t>1.  </a:t>
            </a:r>
          </a:p>
          <a:p>
            <a:pPr>
              <a:lnSpc>
                <a:spcPct val="150000"/>
              </a:lnSpc>
            </a:pPr>
            <a:r>
              <a:rPr lang="en-US" dirty="0"/>
              <a:t>2. </a:t>
            </a:r>
          </a:p>
          <a:p>
            <a:pPr>
              <a:lnSpc>
                <a:spcPct val="150000"/>
              </a:lnSpc>
            </a:pPr>
            <a:r>
              <a:rPr lang="en-US" dirty="0"/>
              <a:t>3.</a:t>
            </a:r>
          </a:p>
          <a:p>
            <a:pPr>
              <a:lnSpc>
                <a:spcPct val="150000"/>
              </a:lnSpc>
            </a:pPr>
            <a:endParaRPr lang="en-US" dirty="0"/>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TextBox 8"/>
          <p:cNvSpPr txBox="1"/>
          <p:nvPr/>
        </p:nvSpPr>
        <p:spPr>
          <a:xfrm>
            <a:off x="900332" y="1167618"/>
            <a:ext cx="9608234" cy="5077460"/>
          </a:xfrm>
          <a:prstGeom prst="rect">
            <a:avLst/>
          </a:prstGeom>
          <a:noFill/>
        </p:spPr>
        <p:txBody>
          <a:bodyPr wrap="square" rtlCol="0">
            <a:spAutoFit/>
          </a:bodyPr>
          <a:lstStyle/>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1.A.V.Aho, J. E. Hopcroft, and J. D. Ullman, “Data Structures And Algorithms”, Pearson Education, First Edition Reprint2003.</a:t>
            </a:r>
          </a:p>
          <a:p>
            <a:pPr>
              <a:lnSpc>
                <a:spcPct val="150000"/>
              </a:lnSpc>
            </a:pPr>
            <a:r>
              <a:rPr lang="en-US" dirty="0">
                <a:latin typeface="Times New Roman" panose="02020603050405020304" pitchFamily="18" charset="0"/>
                <a:cs typeface="Times New Roman" panose="02020603050405020304" pitchFamily="18" charset="0"/>
              </a:rPr>
              <a:t>2.Horowitz, Sahni, Anderson Freed, “Fundamentals of datastructures in C” , Second Edition-2007.</a:t>
            </a:r>
          </a:p>
          <a:p>
            <a:pPr>
              <a:lnSpc>
                <a:spcPct val="150000"/>
              </a:lnSpc>
            </a:pPr>
            <a:r>
              <a:rPr lang="en-US" dirty="0">
                <a:latin typeface="Times New Roman" panose="02020603050405020304" pitchFamily="18" charset="0"/>
                <a:cs typeface="Times New Roman" panose="02020603050405020304" pitchFamily="18" charset="0"/>
              </a:rPr>
              <a:t>3.R. F. Gilberg, B. A. Forouzan, “Data Structures”, Second Edition, Thomson India Ed ition, 2005.</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IN" altLang="en-US"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https://www.gatevidyalay.com/</a:t>
            </a:r>
          </a:p>
          <a:p>
            <a:pPr>
              <a:lnSpc>
                <a:spcPct val="150000"/>
              </a:lnSpc>
            </a:pPr>
            <a:r>
              <a:rPr lang="en-US" dirty="0">
                <a:latin typeface="Times New Roman" panose="02020603050405020304" pitchFamily="18" charset="0"/>
                <a:cs typeface="Times New Roman" panose="02020603050405020304" pitchFamily="18" charset="0"/>
              </a:rPr>
              <a:t>2. </a:t>
            </a:r>
            <a:r>
              <a:rPr lang="en-US" dirty="0">
                <a:latin typeface="Times New Roman" panose="02020603050405020304" pitchFamily="18" charset="0"/>
                <a:cs typeface="Times New Roman" panose="02020603050405020304" pitchFamily="18" charset="0"/>
                <a:sym typeface="+mn-ea"/>
              </a:rPr>
              <a:t>https://www.</a:t>
            </a:r>
            <a:r>
              <a:rPr lang="en-IN" altLang="en-US" dirty="0">
                <a:latin typeface="Times New Roman" panose="02020603050405020304" pitchFamily="18" charset="0"/>
                <a:cs typeface="Times New Roman" panose="02020603050405020304" pitchFamily="18" charset="0"/>
                <a:sym typeface="+mn-ea"/>
              </a:rPr>
              <a:t>simplilearn.com/tutorials/c-tutorial/data-structures-in-c</a:t>
            </a: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sym typeface="+mn-ea"/>
              </a:rPr>
              <a:t>3.https://www.</a:t>
            </a:r>
            <a:r>
              <a:rPr lang="en-IN" altLang="en-US" dirty="0">
                <a:latin typeface="Times New Roman" panose="02020603050405020304" pitchFamily="18" charset="0"/>
                <a:cs typeface="Times New Roman" panose="02020603050405020304" pitchFamily="18" charset="0"/>
                <a:sym typeface="+mn-ea"/>
              </a:rPr>
              <a:t>udemy.com/course/learn-data-structures-using-c-programming-language/</a:t>
            </a: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THANK YOU</a:t>
            </a:r>
          </a:p>
          <a:p>
            <a:pPr algn="ct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Team – </a:t>
            </a:r>
            <a:r>
              <a:rPr lang="en-IN" altLang="en-US" sz="2400" b="1" dirty="0">
                <a:latin typeface="Times New Roman" panose="02020603050405020304" pitchFamily="18" charset="0"/>
                <a:cs typeface="Times New Roman" panose="02020603050405020304" pitchFamily="18" charset="0"/>
              </a:rPr>
              <a:t>Data Structures</a:t>
            </a:r>
            <a:endParaRPr lang="en-US" sz="2400" b="1" dirty="0">
              <a:latin typeface="Times New Roman" panose="02020603050405020304" pitchFamily="18" charset="0"/>
              <a:cs typeface="Times New Roman" panose="02020603050405020304" pitchFamily="18" charset="0"/>
            </a:endParaRPr>
          </a:p>
          <a:p>
            <a:pPr algn="ctr"/>
            <a:endParaRPr lang="en-US" sz="2400" dirty="0">
              <a:solidFill>
                <a:schemeClr val="bg1"/>
              </a:solidFill>
              <a:latin typeface="Times New Roman" panose="02020603050405020304" pitchFamily="18" charset="0"/>
              <a:cs typeface="Times New Roman" panose="02020603050405020304" pitchFamily="18" charset="0"/>
            </a:endParaRPr>
          </a:p>
          <a:p>
            <a:pPr algn="ctr"/>
            <a:endParaRPr lang="en-US" sz="2400" dirty="0">
              <a:solidFill>
                <a:schemeClr val="bg1"/>
              </a:solidFill>
              <a:latin typeface="Times New Roman" panose="02020603050405020304" pitchFamily="18" charset="0"/>
              <a:cs typeface="Times New Roman" panose="02020603050405020304" pitchFamily="18" charset="0"/>
            </a:endParaRPr>
          </a:p>
          <a:p>
            <a:pPr algn="ctr"/>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942</Words>
  <Application>Microsoft Office PowerPoint</Application>
  <PresentationFormat>Widescreen</PresentationFormat>
  <Paragraphs>162</Paragraphs>
  <Slides>19</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Aptos</vt:lpstr>
      <vt:lpstr>Arial</vt:lpstr>
      <vt:lpstr>Arimo</vt:lpstr>
      <vt:lpstr>Calibri</vt:lpstr>
      <vt:lpstr>Cambria</vt:lpstr>
      <vt:lpstr>Poppins</vt:lpstr>
      <vt:lpstr>roboto condensed</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APPLICATIONS: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SANAKA HIMA NAGA SAI</cp:lastModifiedBy>
  <cp:revision>53</cp:revision>
  <dcterms:created xsi:type="dcterms:W3CDTF">2020-02-08T09:57:00Z</dcterms:created>
  <dcterms:modified xsi:type="dcterms:W3CDTF">2024-12-16T11:21:13Z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y fmtid="{D5CDD505-2E9C-101B-9397-08002B2CF9AE}" pid="3" name="ICV">
    <vt:lpwstr>4AC6F79B639F404D8A6A7122DD99DCA7</vt:lpwstr>
  </property>
  <property fmtid="{D5CDD505-2E9C-101B-9397-08002B2CF9AE}" pid="4" name="KSOProductBuildVer">
    <vt:lpwstr>1033-12.2.0.19307</vt:lpwstr>
  </property>
</Properties>
</file>