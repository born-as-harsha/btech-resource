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318" r:id="rId6"/>
    <p:sldId id="326" r:id="rId7"/>
    <p:sldId id="325" r:id="rId8"/>
    <p:sldId id="258" r:id="rId9"/>
    <p:sldId id="309" r:id="rId10"/>
    <p:sldId id="317" r:id="rId11"/>
    <p:sldId id="314" r:id="rId12"/>
    <p:sldId id="308" r:id="rId13"/>
    <p:sldId id="310" r:id="rId14"/>
    <p:sldId id="311" r:id="rId15"/>
    <p:sldId id="312" r:id="rId16"/>
    <p:sldId id="313" r:id="rId17"/>
    <p:sldId id="319" r:id="rId18"/>
    <p:sldId id="320" r:id="rId19"/>
    <p:sldId id="321" r:id="rId20"/>
    <p:sldId id="322" r:id="rId21"/>
    <p:sldId id="323" r:id="rId22"/>
    <p:sldId id="287" r:id="rId23"/>
    <p:sldId id="315" r:id="rId24"/>
    <p:sldId id="316" r:id="rId25"/>
    <p:sldId id="303"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FF9900"/>
    <a:srgbClr val="E84845"/>
    <a:srgbClr val="FAD2D2"/>
    <a:srgbClr val="F89E4C"/>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89"/>
  </p:normalViewPr>
  <p:slideViewPr>
    <p:cSldViewPr snapToGrid="0" showGuides="1">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customXml" Target="../customXml/item3.xml"/><Relationship Id="rId32" Type="http://schemas.openxmlformats.org/officeDocument/2006/relationships/customXml" Target="../customXml/item2.xml"/><Relationship Id="rId31" Type="http://schemas.openxmlformats.org/officeDocument/2006/relationships/customXml" Target="../customXml/item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en.wikipedia.org/wiki/Cut_(graph_theory)" TargetMode="Externa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36698"/>
            <a:ext cx="6027459" cy="6623931"/>
          </a:xfrm>
          <a:prstGeom prst="rect">
            <a:avLst/>
          </a:prstGeom>
          <a:noFill/>
          <a:ln>
            <a:noFill/>
          </a:ln>
        </p:spPr>
      </p:pic>
      <p:sp>
        <p:nvSpPr>
          <p:cNvPr id="476" name="Google Shape;476;p16"/>
          <p:cNvSpPr txBox="1"/>
          <p:nvPr/>
        </p:nvSpPr>
        <p:spPr>
          <a:xfrm>
            <a:off x="5658455" y="1941413"/>
            <a:ext cx="5640916" cy="292383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err="1">
                <a:solidFill>
                  <a:srgbClr val="C00000"/>
                </a:solidFill>
                <a:cs typeface="Poppins" panose="00000500000000000000" pitchFamily="2" charset="0"/>
                <a:sym typeface="BioRhyme ExtraBold"/>
              </a:rPr>
              <a:t>DaTA</a:t>
            </a:r>
            <a:r>
              <a:rPr lang="en-US" sz="3200" b="1" cap="all" dirty="0">
                <a:solidFill>
                  <a:srgbClr val="C00000"/>
                </a:solidFill>
                <a:cs typeface="Poppins" panose="00000500000000000000" pitchFamily="2" charset="0"/>
                <a:sym typeface="BioRhyme ExtraBold"/>
              </a:rPr>
              <a:t> STRUCTURE</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24sc120</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algn="ctr"/>
            <a:r>
              <a:rPr lang="en-IN" sz="4000" b="1" dirty="0">
                <a:solidFill>
                  <a:srgbClr val="A81E24"/>
                </a:solidFill>
                <a:ea typeface="Calibri" panose="020F0502020204030204" pitchFamily="34" charset="0"/>
                <a:cs typeface="Times New Roman" panose="02020603050405020304" pitchFamily="18" charset="0"/>
              </a:rPr>
              <a:t>Prim’s Minimum Spanning Tree (MST)</a:t>
            </a:r>
            <a:endParaRPr lang="en-IN" sz="4000" b="1" dirty="0">
              <a:solidFill>
                <a:srgbClr val="A81E24"/>
              </a:solidFill>
              <a:ea typeface="Calibri" panose="020F0502020204030204" pitchFamily="34" charset="0"/>
              <a:cs typeface="Times New Roman" panose="02020603050405020304" pitchFamily="18"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endParaRPr lang="en-US" sz="4000" dirty="0">
              <a:solidFill>
                <a:srgbClr val="C00000"/>
              </a:solidFill>
              <a:cs typeface="Poppins" pitchFamily="2" charset="77"/>
            </a:endParaRPr>
          </a:p>
        </p:txBody>
      </p:sp>
      <p:sp>
        <p:nvSpPr>
          <p:cNvPr id="8" name="Google Shape;502;p17"/>
          <p:cNvSpPr/>
          <p:nvPr/>
        </p:nvSpPr>
        <p:spPr>
          <a:xfrm>
            <a:off x="7545857" y="5268102"/>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- 38</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endParaRPr lang="en-US" sz="2400" dirty="0"/>
          </a:p>
        </p:txBody>
      </p:sp>
      <p:sp>
        <p:nvSpPr>
          <p:cNvPr id="5" name="TextBox 4"/>
          <p:cNvSpPr txBox="1"/>
          <p:nvPr/>
        </p:nvSpPr>
        <p:spPr>
          <a:xfrm>
            <a:off x="914400" y="684469"/>
            <a:ext cx="10731286" cy="46166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t>
            </a:r>
            <a:r>
              <a:rPr lang="en-US" sz="1600" dirty="0">
                <a:latin typeface="Poppins"/>
                <a:cs typeface="Poppins"/>
              </a:rPr>
              <a:t>concept of Prim’s minimum Spanning Tree.</a:t>
            </a:r>
            <a:endParaRPr lang="en-US" sz="1600" b="0" i="0" dirty="0">
              <a:effectLst/>
              <a:latin typeface="Poppins"/>
              <a:cs typeface="Poppins"/>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endParaRPr lang="en-US" sz="2400" dirty="0"/>
          </a:p>
        </p:txBody>
      </p:sp>
      <p:sp>
        <p:nvSpPr>
          <p:cNvPr id="9" name="TextBox 8"/>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342900" indent="-342900">
              <a:buAutoNum type="arabicPeriod"/>
            </a:pPr>
            <a:r>
              <a:rPr lang="en-US" sz="1600" b="0" i="0" dirty="0">
                <a:effectLst/>
                <a:latin typeface="Arial" panose="020B0604020202020204" pitchFamily="34" charset="0"/>
              </a:rPr>
              <a:t>Demonstrate :-  Minimum Spanning tree and its type.</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 Prim’s </a:t>
            </a:r>
            <a:r>
              <a:rPr lang="en-US" sz="1600" dirty="0">
                <a:latin typeface="Arial" panose="020B0604020202020204" pitchFamily="34" charset="0"/>
              </a:rPr>
              <a:t>Algorithm and calculating MST using Prim’s algorithm.</a:t>
            </a:r>
            <a:endParaRPr lang="en-US" sz="1600" b="0" i="0" dirty="0">
              <a:effectLst/>
              <a:latin typeface="Arial" panose="020B0604020202020204" pitchFamily="34" charset="0"/>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342900" indent="-342900">
              <a:buAutoNum type="arabicPeriod"/>
            </a:pPr>
            <a:r>
              <a:rPr lang="en-US" sz="1600" b="0" i="0" dirty="0">
                <a:effectLst/>
                <a:latin typeface="Arial" panose="020B0604020202020204" pitchFamily="34" charset="0"/>
              </a:rPr>
              <a:t>Define :- </a:t>
            </a:r>
            <a:r>
              <a:rPr lang="en-US" sz="1600" dirty="0">
                <a:latin typeface="Arial" panose="020B0604020202020204" pitchFamily="34" charset="0"/>
              </a:rPr>
              <a:t>Minimum Spanning tree and its types</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 Prim’s Algorithm</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How to calculate MST with Prim’s Algorithm.</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4860"/>
            <a:ext cx="10515600" cy="5392420"/>
          </a:xfrm>
        </p:spPr>
        <p:txBody>
          <a:bodyPr/>
          <a:lstStyle/>
          <a:p>
            <a:pPr algn="just"/>
            <a:r>
              <a:rPr lang="en-US" dirty="0">
                <a:solidFill>
                  <a:srgbClr val="292929"/>
                </a:solidFill>
                <a:latin typeface="Times New Roman" panose="02020603050405020304" pitchFamily="18" charset="0"/>
                <a:cs typeface="Times New Roman" panose="02020603050405020304" pitchFamily="18" charset="0"/>
              </a:rPr>
              <a:t>A minimum spanning tree (MST) is a spanning tree that has a weight that is equal to or less than all of the other spanning trees in a weighted, connected, undirected graph. </a:t>
            </a:r>
            <a:endParaRPr lang="en-IN" dirty="0">
              <a:solidFill>
                <a:srgbClr val="292929"/>
              </a:solidFill>
              <a:latin typeface="Times New Roman" panose="02020603050405020304" pitchFamily="18"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Rounded Rectangle 17"/>
          <p:cNvSpPr>
            <a:spLocks noGrp="1"/>
          </p:cNvSpPr>
          <p:nvPr>
            <p:ph type="title"/>
          </p:nvPr>
        </p:nvSpPr>
        <p:spPr>
          <a:xfrm>
            <a:off x="3777615" y="136525"/>
            <a:ext cx="6878955" cy="4635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latin typeface="Times New Roman" panose="02020603050405020304" pitchFamily="18" charset="0"/>
                <a:cs typeface="Times New Roman" panose="02020603050405020304" pitchFamily="18" charset="0"/>
                <a:sym typeface="+mn-ea"/>
              </a:rPr>
              <a:t>Minimum spanning tree</a:t>
            </a:r>
            <a:endParaRPr lang="en-IN" sz="3200" b="1" dirty="0">
              <a:solidFill>
                <a:schemeClr val="bg1"/>
              </a:solidFill>
              <a:latin typeface="Times New Roman" panose="02020603050405020304" pitchFamily="18" charset="0"/>
              <a:cs typeface="Times New Roman" panose="02020603050405020304" pitchFamily="18" charset="0"/>
              <a:sym typeface="+mn-ea"/>
            </a:endParaRPr>
          </a:p>
        </p:txBody>
      </p:sp>
      <p:pic>
        <p:nvPicPr>
          <p:cNvPr id="2" name="Picture 1" descr="minimum spanning tree exampl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25395" y="2308225"/>
            <a:ext cx="7086600" cy="40786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6800"/>
            <a:ext cx="10515600" cy="5110163"/>
          </a:xfrm>
        </p:spPr>
        <p:txBody>
          <a:bodyPr/>
          <a:lstStyle/>
          <a:p>
            <a:pPr>
              <a:lnSpc>
                <a:spcPct val="150000"/>
              </a:lnSpc>
            </a:pPr>
            <a:r>
              <a:rPr lang="en-US" sz="2800" b="0" dirty="0">
                <a:solidFill>
                  <a:srgbClr val="273239"/>
                </a:solidFill>
                <a:effectLst/>
                <a:latin typeface="Times New Roman" panose="02020603050405020304" pitchFamily="18" charset="0"/>
                <a:cs typeface="Times New Roman" panose="02020603050405020304" pitchFamily="18" charset="0"/>
              </a:rPr>
              <a:t>A spanning tree is a subset of Graph G, such that all the vertices are connected using minimum possible number of edges. </a:t>
            </a:r>
            <a:endParaRPr lang="en-US" sz="2800" b="0" dirty="0">
              <a:solidFill>
                <a:srgbClr val="273239"/>
              </a:solidFill>
              <a:effectLst/>
              <a:latin typeface="Times New Roman" panose="02020603050405020304" pitchFamily="18" charset="0"/>
              <a:cs typeface="Times New Roman" panose="02020603050405020304" pitchFamily="18" charset="0"/>
            </a:endParaRPr>
          </a:p>
          <a:p>
            <a:pPr algn="just" rtl="0" fontAlgn="base">
              <a:lnSpc>
                <a:spcPct val="150000"/>
              </a:lnSpc>
              <a:spcAft>
                <a:spcPts val="750"/>
              </a:spcAft>
            </a:pPr>
            <a:r>
              <a:rPr lang="en-US" sz="2800" b="0" dirty="0">
                <a:solidFill>
                  <a:srgbClr val="273239"/>
                </a:solidFill>
                <a:effectLst/>
                <a:latin typeface="Times New Roman" panose="02020603050405020304" pitchFamily="18" charset="0"/>
                <a:cs typeface="Times New Roman" panose="02020603050405020304" pitchFamily="18" charset="0"/>
              </a:rPr>
              <a:t>Hence, a spanning tree does not have cycles and a graph may have more than one spanning tree</a:t>
            </a:r>
            <a:r>
              <a:rPr lang="en-US" sz="2800" b="0" i="1" dirty="0">
                <a:solidFill>
                  <a:srgbClr val="273239"/>
                </a:solidFill>
                <a:effectLst/>
                <a:latin typeface="Times New Roman" panose="02020603050405020304" pitchFamily="18" charset="0"/>
                <a:cs typeface="Times New Roman" panose="02020603050405020304" pitchFamily="18" charset="0"/>
              </a:rPr>
              <a:t>.</a:t>
            </a:r>
            <a:endParaRPr lang="en-US" sz="2800" b="0" i="1" dirty="0">
              <a:solidFill>
                <a:srgbClr val="273239"/>
              </a:solidFill>
              <a:effectLst/>
              <a:latin typeface="Times New Roman" panose="02020603050405020304" pitchFamily="18" charset="0"/>
              <a:cs typeface="Times New Roman" panose="02020603050405020304" pitchFamily="18" charset="0"/>
            </a:endParaRPr>
          </a:p>
          <a:p>
            <a:pPr marL="0" indent="0">
              <a:buNone/>
            </a:pPr>
            <a:br>
              <a:rPr lang="en-US" sz="2800" dirty="0"/>
            </a:br>
            <a:endParaRPr lang="en-IN" sz="4000" b="1" dirty="0">
              <a:solidFill>
                <a:srgbClr val="7030A0"/>
              </a:solidFill>
              <a:latin typeface="Times New Roman" panose="02020603050405020304" pitchFamily="18"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Rounded Rectangle 17"/>
          <p:cNvSpPr>
            <a:spLocks noGrp="1"/>
          </p:cNvSpPr>
          <p:nvPr>
            <p:ph type="title"/>
          </p:nvPr>
        </p:nvSpPr>
        <p:spPr>
          <a:xfrm>
            <a:off x="3777343" y="136525"/>
            <a:ext cx="4234544" cy="46355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sym typeface="+mn-ea"/>
              </a:rPr>
              <a:t>Spanning tree</a:t>
            </a:r>
            <a:endParaRPr lang="en-IN" sz="2400" b="1" dirty="0">
              <a:solidFill>
                <a:schemeClr val="bg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1066800"/>
            <a:ext cx="11111865" cy="5110480"/>
          </a:xfrm>
        </p:spPr>
        <p:txBody>
          <a:bodyPr/>
          <a:lstStyle/>
          <a:p>
            <a:pPr>
              <a:lnSpc>
                <a:spcPct val="150000"/>
              </a:lnSpc>
            </a:pPr>
            <a:r>
              <a:rPr lang="en-US" dirty="0">
                <a:solidFill>
                  <a:srgbClr val="292929"/>
                </a:solidFill>
                <a:latin typeface="Times New Roman" panose="02020603050405020304" pitchFamily="18" charset="0"/>
                <a:cs typeface="Times New Roman" panose="02020603050405020304" pitchFamily="18" charset="0"/>
              </a:rPr>
              <a:t>Removing one edge from Spanning Tree will make it disconnected.</a:t>
            </a:r>
            <a:endParaRPr lang="en-US" dirty="0">
              <a:solidFill>
                <a:srgbClr val="292929"/>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292929"/>
                </a:solidFill>
                <a:latin typeface="Times New Roman" panose="02020603050405020304" pitchFamily="18" charset="0"/>
                <a:cs typeface="Times New Roman" panose="02020603050405020304" pitchFamily="18" charset="0"/>
              </a:rPr>
              <a:t>Adding one edge to the Spanning Tree will create a loop.</a:t>
            </a:r>
            <a:endParaRPr lang="en-US" dirty="0">
              <a:solidFill>
                <a:srgbClr val="292929"/>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292929"/>
                </a:solidFill>
                <a:latin typeface="Times New Roman" panose="02020603050405020304" pitchFamily="18" charset="0"/>
                <a:cs typeface="Times New Roman" panose="02020603050405020304" pitchFamily="18" charset="0"/>
              </a:rPr>
              <a:t>If each edge has distinct weights, then there will be only one unique MST.</a:t>
            </a:r>
            <a:endParaRPr lang="en-US" dirty="0">
              <a:solidFill>
                <a:srgbClr val="292929"/>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292929"/>
                </a:solidFill>
                <a:latin typeface="Times New Roman" panose="02020603050405020304" pitchFamily="18" charset="0"/>
                <a:cs typeface="Times New Roman" panose="02020603050405020304" pitchFamily="18" charset="0"/>
              </a:rPr>
              <a:t>If each edge has few same weights, then there will be more than 2 MSTs.</a:t>
            </a:r>
            <a:endParaRPr lang="en-US" dirty="0">
              <a:solidFill>
                <a:srgbClr val="292929"/>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292929"/>
                </a:solidFill>
                <a:latin typeface="Times New Roman" panose="02020603050405020304" pitchFamily="18" charset="0"/>
                <a:cs typeface="Times New Roman" panose="02020603050405020304" pitchFamily="18" charset="0"/>
              </a:rPr>
              <a:t>A complete and  undirected graph   contains n</a:t>
            </a:r>
            <a:r>
              <a:rPr lang="en-US" baseline="30000" dirty="0">
                <a:solidFill>
                  <a:srgbClr val="292929"/>
                </a:solidFill>
                <a:latin typeface="Times New Roman" panose="02020603050405020304" pitchFamily="18" charset="0"/>
                <a:cs typeface="Times New Roman" panose="02020603050405020304" pitchFamily="18" charset="0"/>
              </a:rPr>
              <a:t>n-2    </a:t>
            </a:r>
            <a:r>
              <a:rPr lang="en-US" dirty="0">
                <a:solidFill>
                  <a:srgbClr val="292929"/>
                </a:solidFill>
                <a:latin typeface="Times New Roman" panose="02020603050405020304" pitchFamily="18" charset="0"/>
                <a:cs typeface="Times New Roman" panose="02020603050405020304" pitchFamily="18" charset="0"/>
              </a:rPr>
              <a:t>spanning trees.</a:t>
            </a:r>
            <a:endParaRPr lang="en-US" dirty="0">
              <a:solidFill>
                <a:srgbClr val="292929"/>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292929"/>
                </a:solidFill>
                <a:latin typeface="Times New Roman" panose="02020603050405020304" pitchFamily="18" charset="0"/>
                <a:cs typeface="Times New Roman" panose="02020603050405020304" pitchFamily="18" charset="0"/>
              </a:rPr>
              <a:t>Connected and Undirected graph contains 1 Spanning Tree.</a:t>
            </a:r>
            <a:endParaRPr lang="en-US" dirty="0">
              <a:solidFill>
                <a:srgbClr val="292929"/>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aseline="30000" dirty="0">
              <a:solidFill>
                <a:srgbClr val="292929"/>
              </a:solidFill>
              <a:latin typeface="Times New Roman" panose="02020603050405020304" pitchFamily="18" charset="0"/>
              <a:cs typeface="Times New Roman" panose="02020603050405020304" pitchFamily="18" charset="0"/>
            </a:endParaRPr>
          </a:p>
          <a:p>
            <a:pPr marL="0" indent="0" algn="just">
              <a:lnSpc>
                <a:spcPct val="150000"/>
              </a:lnSpc>
              <a:buNone/>
            </a:pPr>
            <a:r>
              <a:rPr lang="en-US" baseline="30000" dirty="0">
                <a:solidFill>
                  <a:srgbClr val="292929"/>
                </a:solidFill>
                <a:latin typeface="Times New Roman" panose="02020603050405020304" pitchFamily="18" charset="0"/>
                <a:cs typeface="Times New Roman" panose="02020603050405020304" pitchFamily="18" charset="0"/>
              </a:rPr>
              <a:t>    </a:t>
            </a:r>
            <a:endParaRPr lang="en-US" baseline="30000" dirty="0">
              <a:solidFill>
                <a:srgbClr val="292929"/>
              </a:solidFill>
              <a:latin typeface="Times New Roman" panose="02020603050405020304" pitchFamily="18"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Rounded Rectangle 17"/>
          <p:cNvSpPr>
            <a:spLocks noGrp="1"/>
          </p:cNvSpPr>
          <p:nvPr>
            <p:ph type="title"/>
          </p:nvPr>
        </p:nvSpPr>
        <p:spPr>
          <a:xfrm>
            <a:off x="2189480" y="136525"/>
            <a:ext cx="8268970" cy="4635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sym typeface="+mn-ea"/>
              </a:rPr>
              <a:t>General Properties of Spanning Tree</a:t>
            </a:r>
            <a:endParaRPr lang="en-IN" sz="2400" b="1" dirty="0">
              <a:solidFill>
                <a:schemeClr val="bg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p:cNvSpPr txBox="1"/>
          <p:nvPr/>
        </p:nvSpPr>
        <p:spPr bwMode="auto">
          <a:xfrm>
            <a:off x="503853" y="946344"/>
            <a:ext cx="11363682" cy="5465341"/>
          </a:xfrm>
          <a:prstGeom prst="rect">
            <a:avLst/>
          </a:prstGeom>
          <a:noFill/>
          <a:ln w="9525">
            <a:noFill/>
            <a:miter lim="800000"/>
          </a:ln>
        </p:spPr>
        <p:txBody>
          <a:bodyPr vert="horz" wrap="square" lIns="91440" tIns="45720" rIns="91440" bIns="45720" numCol="1" anchor="t" anchorCtr="0" compatLnSpc="1">
            <a:normAutofit lnSpcReduction="10000"/>
          </a:bodyPr>
          <a:lstStyle>
            <a:lvl1pPr marL="0" indent="0" algn="ctr" rtl="0" eaLnBrk="0" fontAlgn="base" hangingPunct="0">
              <a:spcBef>
                <a:spcPct val="20000"/>
              </a:spcBef>
              <a:spcAft>
                <a:spcPct val="0"/>
              </a:spcAft>
              <a:buFont typeface="Arial" panose="020B0604020202020204" pitchFamily="34" charset="0"/>
              <a:buNone/>
              <a:defRPr sz="3200" kern="1200">
                <a:solidFill>
                  <a:schemeClr val="tx1">
                    <a:lumMod val="65000"/>
                    <a:lumOff val="3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50000"/>
              </a:lnSpc>
              <a:spcBef>
                <a:spcPts val="600"/>
              </a:spcBef>
              <a:spcAft>
                <a:spcPts val="600"/>
              </a:spcAft>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 Create a set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that keeps track of vertices already included in MST.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 Assign a key value to all vertices in the input graph. Initialize all key values as INFINITE. Assign key value as 0 for the first vertex so that it is picked first.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 While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doesn’t include all vertices</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----Pick a vertex u which is not there in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and has minimum key value.</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----Include u to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----Update key value of all adjacent vertices of u. To update the key values, iterate through all adjacent vertices. For every adjacent vertex v, if weight of edge u-v is less than the previous key value of v, update the key value as weight of u-v</a:t>
            </a:r>
            <a:endPar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spcBef>
                <a:spcPts val="600"/>
              </a:spcBef>
              <a:spcAft>
                <a:spcPts val="600"/>
              </a:spcAft>
            </a:pPr>
            <a:endParaRPr lang="en-US" b="1" dirty="0">
              <a:solidFill>
                <a:srgbClr val="0070C0"/>
              </a:solidFill>
              <a:latin typeface="euclid_circular_a"/>
            </a:endParaRPr>
          </a:p>
        </p:txBody>
      </p:sp>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r>
              <a:rPr lang="en-US" sz="2400" b="1" dirty="0">
                <a:solidFill>
                  <a:schemeClr val="bg1"/>
                </a:solidFill>
                <a:latin typeface="Times New Roman" panose="02020603050405020304" pitchFamily="18" charset="0"/>
                <a:cs typeface="Times New Roman" panose="02020603050405020304" pitchFamily="18" charset="0"/>
                <a:sym typeface="+mn-ea"/>
              </a:rPr>
              <a:t>Algorithm</a:t>
            </a:r>
            <a:endParaRPr lang="en-US" sz="2400" b="1" dirty="0">
              <a:solidFill>
                <a:schemeClr val="bg1"/>
              </a:solidFill>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Content Placeholder 2"/>
          <p:cNvSpPr>
            <a:spLocks noGrp="1"/>
          </p:cNvSpPr>
          <p:nvPr>
            <p:ph idx="1"/>
          </p:nvPr>
        </p:nvSpPr>
        <p:spPr>
          <a:xfrm>
            <a:off x="612058" y="600076"/>
            <a:ext cx="11579942" cy="3688895"/>
          </a:xfrm>
        </p:spPr>
        <p:txBody>
          <a:bodyPr>
            <a:norm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The idea of using key values is to pick the minimum weight edge from </a:t>
            </a:r>
            <a:r>
              <a:rPr lang="en-US" altLang="en-US" sz="2400" dirty="0">
                <a:latin typeface="Times New Roman" panose="02020603050405020304" pitchFamily="18" charset="0"/>
                <a:ea typeface="Calibri" panose="020F0502020204030204" pitchFamily="34" charset="0"/>
                <a:cs typeface="Times New Roman" panose="02020603050405020304" pitchFamily="18" charset="0"/>
                <a:hlinkClick r:id="rId2"/>
              </a:rPr>
              <a:t>cut</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a:t>
            </a: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eaLnBrk="0" fontAlgn="base" hangingPunct="0">
              <a:lnSpc>
                <a:spcPct val="150000"/>
              </a:lnSpc>
              <a:spcBef>
                <a:spcPct val="0"/>
              </a:spcBef>
              <a:spcAft>
                <a:spcPct val="0"/>
              </a:spcAft>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The key values are used only for vertices which are not yet included in MST, the key value for these vertices indicate the minimum weight edges connecting them to the set of vertices included in MST.</a:t>
            </a: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lang="en-US" altLang="en-US" dirty="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6" name="Rectangle 5"/>
          <p:cNvSpPr/>
          <p:nvPr/>
        </p:nvSpPr>
        <p:spPr>
          <a:xfrm>
            <a:off x="848995" y="812800"/>
            <a:ext cx="10885805" cy="5158105"/>
          </a:xfrm>
          <a:prstGeom prst="rect">
            <a:avLst/>
          </a:prstGeom>
        </p:spPr>
        <p:txBody>
          <a:bodyPr wrap="square">
            <a:noAutofit/>
          </a:bodyPr>
          <a:lstStyle/>
          <a:p>
            <a:pPr>
              <a:lnSpc>
                <a:spcPct val="150000"/>
              </a:lnSpc>
              <a:buFont typeface="+mj-lt"/>
              <a:buAutoNum type="arabicPeriod"/>
            </a:pPr>
            <a:r>
              <a:rPr lang="en-IN" sz="2800" dirty="0">
                <a:solidFill>
                  <a:srgbClr val="292929"/>
                </a:solidFill>
                <a:latin typeface="Times New Roman" panose="02020603050405020304" pitchFamily="18" charset="0"/>
                <a:cs typeface="Times New Roman" panose="02020603050405020304" pitchFamily="18" charset="0"/>
              </a:rPr>
              <a:t>Prim’s algorithm</a:t>
            </a:r>
            <a:endParaRPr lang="en-IN" sz="2800" dirty="0">
              <a:solidFill>
                <a:srgbClr val="292929"/>
              </a:solidFill>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IN" sz="2800" dirty="0" err="1">
                <a:solidFill>
                  <a:srgbClr val="292929"/>
                </a:solidFill>
                <a:latin typeface="Times New Roman" panose="02020603050405020304" pitchFamily="18" charset="0"/>
                <a:cs typeface="Times New Roman" panose="02020603050405020304" pitchFamily="18" charset="0"/>
              </a:rPr>
              <a:t>Kruskal’s</a:t>
            </a:r>
            <a:r>
              <a:rPr lang="en-IN" sz="2800" dirty="0">
                <a:solidFill>
                  <a:srgbClr val="292929"/>
                </a:solidFill>
                <a:latin typeface="Times New Roman" panose="02020603050405020304" pitchFamily="18" charset="0"/>
                <a:cs typeface="Times New Roman" panose="02020603050405020304" pitchFamily="18" charset="0"/>
              </a:rPr>
              <a:t> algorithm</a:t>
            </a:r>
            <a:endParaRPr lang="en-IN" sz="2800" dirty="0">
              <a:solidFill>
                <a:srgbClr val="292929"/>
              </a:solidFill>
              <a:latin typeface="Times New Roman" panose="02020603050405020304" pitchFamily="18" charset="0"/>
              <a:cs typeface="Times New Roman" panose="02020603050405020304" pitchFamily="18" charset="0"/>
            </a:endParaRPr>
          </a:p>
          <a:p>
            <a:pPr>
              <a:lnSpc>
                <a:spcPct val="150000"/>
              </a:lnSpc>
            </a:pPr>
            <a:r>
              <a:rPr lang="en-IN" sz="2800" b="1" dirty="0">
                <a:solidFill>
                  <a:srgbClr val="7030A0"/>
                </a:solidFill>
                <a:latin typeface="Times New Roman" panose="02020603050405020304" pitchFamily="18" charset="0"/>
                <a:cs typeface="Times New Roman" panose="02020603050405020304" pitchFamily="18" charset="0"/>
              </a:rPr>
              <a:t>Applications</a:t>
            </a:r>
            <a:endParaRPr lang="en-IN" sz="28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800" dirty="0">
                <a:solidFill>
                  <a:srgbClr val="292929"/>
                </a:solidFill>
                <a:latin typeface="Times New Roman" panose="02020603050405020304" pitchFamily="18" charset="0"/>
                <a:cs typeface="Times New Roman" panose="02020603050405020304" pitchFamily="18" charset="0"/>
              </a:rPr>
              <a:t>Used to construct trees for broadcasting in computer networks.</a:t>
            </a:r>
            <a:endParaRPr lang="en-IN" sz="2800" dirty="0">
              <a:solidFill>
                <a:srgbClr val="292929"/>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800" dirty="0">
                <a:solidFill>
                  <a:srgbClr val="292929"/>
                </a:solidFill>
                <a:latin typeface="Times New Roman" panose="02020603050405020304" pitchFamily="18" charset="0"/>
                <a:cs typeface="Times New Roman" panose="02020603050405020304" pitchFamily="18" charset="0"/>
              </a:rPr>
              <a:t>Used in graph-based cluster analysis.</a:t>
            </a:r>
            <a:endParaRPr lang="en-IN" sz="2800" dirty="0">
              <a:solidFill>
                <a:srgbClr val="292929"/>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800" dirty="0">
                <a:solidFill>
                  <a:srgbClr val="292929"/>
                </a:solidFill>
                <a:latin typeface="Times New Roman" panose="02020603050405020304" pitchFamily="18" charset="0"/>
                <a:cs typeface="Times New Roman" panose="02020603050405020304" pitchFamily="18" charset="0"/>
              </a:rPr>
              <a:t>Used in image segmentation.</a:t>
            </a:r>
            <a:endParaRPr lang="en-IN" sz="2800" dirty="0">
              <a:solidFill>
                <a:srgbClr val="292929"/>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800" dirty="0">
                <a:solidFill>
                  <a:srgbClr val="292929"/>
                </a:solidFill>
                <a:latin typeface="Times New Roman" panose="02020603050405020304" pitchFamily="18" charset="0"/>
                <a:cs typeface="Times New Roman" panose="02020603050405020304" pitchFamily="18" charset="0"/>
              </a:rPr>
              <a:t>Used in regionalisation of socio-geographic areas, where regions are grouped into contiguous regions</a:t>
            </a:r>
            <a:r>
              <a:rPr lang="en-IN" sz="2000" dirty="0">
                <a:solidFill>
                  <a:srgbClr val="292929"/>
                </a:solidFill>
                <a:cs typeface="Times New Roman" panose="02020603050405020304" pitchFamily="18" charset="0"/>
              </a:rPr>
              <a:t>.</a:t>
            </a:r>
            <a:endParaRPr lang="en-IN" sz="2000" dirty="0">
              <a:solidFill>
                <a:srgbClr val="292929"/>
              </a:solidFill>
              <a:cs typeface="Times New Roman" panose="02020603050405020304" pitchFamily="18" charset="0"/>
            </a:endParaRPr>
          </a:p>
        </p:txBody>
      </p:sp>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6029"/>
            <a:ext cx="10515600" cy="4750934"/>
          </a:xfrm>
        </p:spPr>
        <p:txBody>
          <a:bodyPr/>
          <a:lstStyle/>
          <a:p>
            <a:r>
              <a:rPr lang="en-US" altLang="en-US" dirty="0">
                <a:ea typeface="Calibri" panose="020F0502020204030204" pitchFamily="34" charset="0"/>
                <a:cs typeface="Times New Roman" panose="02020603050405020304" pitchFamily="18" charset="0"/>
              </a:rPr>
              <a:t>Let us understand with the following example:</a:t>
            </a:r>
            <a:br>
              <a:rPr lang="en-US" altLang="en-US" dirty="0">
                <a:ea typeface="Calibri" panose="020F0502020204030204" pitchFamily="34" charset="0"/>
                <a:cs typeface="Times New Roman" panose="02020603050405020304" pitchFamily="18" charset="0"/>
              </a:rPr>
            </a:br>
            <a:endParaRPr lang="en-US" altLang="en-US" dirty="0">
              <a:cs typeface="Times New Roman" panose="02020603050405020304" pitchFamily="18" charset="0"/>
            </a:endParaRPr>
          </a:p>
          <a:p>
            <a:pPr marL="0" indent="0">
              <a:buNone/>
            </a:pPr>
            <a:endParaRPr lang="en-US" dirty="0"/>
          </a:p>
        </p:txBody>
      </p:sp>
      <p:sp>
        <p:nvSpPr>
          <p:cNvPr id="4" name="Rounded Rectangle 17"/>
          <p:cNvSpPr>
            <a:spLocks noGrp="1"/>
          </p:cNvSpPr>
          <p:nvPr>
            <p:ph type="title"/>
          </p:nvPr>
        </p:nvSpPr>
        <p:spPr>
          <a:xfrm>
            <a:off x="3788228" y="117929"/>
            <a:ext cx="4386943" cy="36421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9" name="Picture 8"/>
          <p:cNvPicPr>
            <a:picLocks noChangeAspect="1"/>
          </p:cNvPicPr>
          <p:nvPr/>
        </p:nvPicPr>
        <p:blipFill>
          <a:blip r:embed="rId2"/>
          <a:srcRect t="2450"/>
          <a:stretch>
            <a:fillRect/>
          </a:stretch>
        </p:blipFill>
        <p:spPr>
          <a:xfrm>
            <a:off x="2275205" y="2134235"/>
            <a:ext cx="6563995" cy="3918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8" name="Content Placeholder 2"/>
          <p:cNvSpPr>
            <a:spLocks noGrp="1"/>
          </p:cNvSpPr>
          <p:nvPr>
            <p:ph idx="1"/>
          </p:nvPr>
        </p:nvSpPr>
        <p:spPr>
          <a:xfrm>
            <a:off x="366603" y="966721"/>
            <a:ext cx="11183139" cy="2908592"/>
          </a:xfrm>
        </p:spPr>
        <p:txBody>
          <a:bodyPr>
            <a:normAutofit/>
          </a:bodyPr>
          <a:lstStyle/>
          <a:p>
            <a:pPr marL="0" indent="0" algn="l">
              <a:buNone/>
            </a:pPr>
            <a:r>
              <a:rPr lang="en-US" sz="2400" b="1" u="sng" dirty="0">
                <a:solidFill>
                  <a:srgbClr val="273239"/>
                </a:solidFill>
                <a:effectLst/>
                <a:latin typeface="Times New Roman" panose="02020603050405020304" pitchFamily="18" charset="0"/>
                <a:cs typeface="Times New Roman" panose="02020603050405020304" pitchFamily="18" charset="0"/>
              </a:rPr>
              <a:t>Step 1:</a:t>
            </a:r>
            <a:r>
              <a:rPr lang="en-US" sz="2400" b="0" dirty="0">
                <a:solidFill>
                  <a:srgbClr val="273239"/>
                </a:solidFill>
                <a:effectLst/>
                <a:latin typeface="Times New Roman" panose="02020603050405020304" pitchFamily="18" charset="0"/>
                <a:cs typeface="Times New Roman" panose="02020603050405020304" pitchFamily="18" charset="0"/>
              </a:rPr>
              <a:t> Firstly, we select an arbitrary vertex that acts as the starting vertex of the</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Minimum Spanning Tree. Here we have selected vertex </a:t>
            </a:r>
            <a:r>
              <a:rPr lang="en-US" sz="2400" b="1" dirty="0">
                <a:solidFill>
                  <a:srgbClr val="273239"/>
                </a:solidFill>
                <a:effectLst/>
                <a:latin typeface="Times New Roman" panose="02020603050405020304" pitchFamily="18" charset="0"/>
                <a:cs typeface="Times New Roman" panose="02020603050405020304" pitchFamily="18" charset="0"/>
              </a:rPr>
              <a:t>0</a:t>
            </a:r>
            <a:r>
              <a:rPr lang="en-US" sz="2400" b="0" dirty="0">
                <a:solidFill>
                  <a:srgbClr val="273239"/>
                </a:solidFill>
                <a:effectLst/>
                <a:latin typeface="Times New Roman" panose="02020603050405020304" pitchFamily="18" charset="0"/>
                <a:cs typeface="Times New Roman" panose="02020603050405020304" pitchFamily="18" charset="0"/>
              </a:rPr>
              <a:t> as the starting vertex.</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10"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990725" y="1970313"/>
            <a:ext cx="7734300" cy="416922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Content Placeholder 2"/>
          <p:cNvSpPr>
            <a:spLocks noGrp="1"/>
          </p:cNvSpPr>
          <p:nvPr>
            <p:ph idx="1"/>
          </p:nvPr>
        </p:nvSpPr>
        <p:spPr>
          <a:xfrm>
            <a:off x="424543" y="925286"/>
            <a:ext cx="11342914" cy="3581400"/>
          </a:xfrm>
        </p:spPr>
        <p:txBody>
          <a:bodyPr>
            <a:normAutofit/>
          </a:bodyPr>
          <a:lstStyle/>
          <a:p>
            <a:pPr algn="l" rtl="0" fontAlgn="base"/>
            <a:r>
              <a:rPr lang="en-US" b="1" u="sng" dirty="0">
                <a:solidFill>
                  <a:srgbClr val="273239"/>
                </a:solidFill>
                <a:effectLst/>
                <a:latin typeface="Times New Roman" panose="02020603050405020304" pitchFamily="18" charset="0"/>
                <a:cs typeface="Times New Roman" panose="02020603050405020304" pitchFamily="18" charset="0"/>
              </a:rPr>
              <a:t>Step 2:</a:t>
            </a:r>
            <a:r>
              <a:rPr lang="en-US" b="0" dirty="0">
                <a:solidFill>
                  <a:srgbClr val="273239"/>
                </a:solidFill>
                <a:effectLst/>
                <a:latin typeface="Times New Roman" panose="02020603050405020304" pitchFamily="18" charset="0"/>
                <a:cs typeface="Times New Roman" panose="02020603050405020304" pitchFamily="18" charset="0"/>
              </a:rPr>
              <a:t> All the edges connecting the incomplete MST and other vertices are</a:t>
            </a:r>
            <a:endParaRPr lang="en-US" b="0" dirty="0">
              <a:solidFill>
                <a:srgbClr val="273239"/>
              </a:solidFill>
              <a:effectLst/>
              <a:latin typeface="Times New Roman" panose="02020603050405020304" pitchFamily="18" charset="0"/>
              <a:cs typeface="Times New Roman" panose="02020603050405020304" pitchFamily="18" charset="0"/>
            </a:endParaRPr>
          </a:p>
          <a:p>
            <a:pPr algn="l" rtl="0" fontAlgn="base"/>
            <a:r>
              <a:rPr lang="en-US" b="0" dirty="0">
                <a:solidFill>
                  <a:srgbClr val="273239"/>
                </a:solidFill>
                <a:effectLst/>
                <a:latin typeface="Times New Roman" panose="02020603050405020304" pitchFamily="18" charset="0"/>
                <a:cs typeface="Times New Roman" panose="02020603050405020304" pitchFamily="18" charset="0"/>
              </a:rPr>
              <a:t> the edges {0, 1} and {0, 7}. Between these two the edge with minimum</a:t>
            </a:r>
            <a:endParaRPr lang="en-US" b="0" dirty="0">
              <a:solidFill>
                <a:srgbClr val="273239"/>
              </a:solidFill>
              <a:effectLst/>
              <a:latin typeface="Times New Roman" panose="02020603050405020304" pitchFamily="18" charset="0"/>
              <a:cs typeface="Times New Roman" panose="02020603050405020304" pitchFamily="18" charset="0"/>
            </a:endParaRPr>
          </a:p>
          <a:p>
            <a:pPr algn="l" rtl="0" fontAlgn="base"/>
            <a:r>
              <a:rPr lang="en-US" b="0" dirty="0">
                <a:solidFill>
                  <a:srgbClr val="273239"/>
                </a:solidFill>
                <a:effectLst/>
                <a:latin typeface="Times New Roman" panose="02020603050405020304" pitchFamily="18" charset="0"/>
                <a:cs typeface="Times New Roman" panose="02020603050405020304" pitchFamily="18" charset="0"/>
              </a:rPr>
              <a:t> weight is {0, 1}. So include the edge and vertex 1 in the MST.</a:t>
            </a:r>
            <a:endParaRPr lang="en-US" b="0" dirty="0">
              <a:solidFill>
                <a:srgbClr val="273239"/>
              </a:solidFill>
              <a:effectLst/>
              <a:latin typeface="Times New Roman" panose="02020603050405020304" pitchFamily="18" charset="0"/>
              <a:cs typeface="Times New Roman" panose="02020603050405020304" pitchFamily="18" charset="0"/>
            </a:endParaRPr>
          </a:p>
          <a:p>
            <a:pPr marL="0" indent="0">
              <a:buNone/>
            </a:pPr>
            <a:br>
              <a:rPr lang="en-US" sz="2400" dirty="0"/>
            </a:b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466975" y="2351313"/>
            <a:ext cx="7258050" cy="41583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4" name="Content Placeholder 2"/>
          <p:cNvSpPr>
            <a:spLocks noGrp="1"/>
          </p:cNvSpPr>
          <p:nvPr>
            <p:ph idx="1"/>
          </p:nvPr>
        </p:nvSpPr>
        <p:spPr>
          <a:xfrm>
            <a:off x="489858" y="698090"/>
            <a:ext cx="10885713" cy="3525568"/>
          </a:xfrm>
        </p:spPr>
        <p:txBody>
          <a:bodyPr>
            <a:normAutofit/>
          </a:bodyPr>
          <a:lstStyle/>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t>
            </a:r>
            <a:r>
              <a:rPr lang="en-US" sz="2400" b="1" u="sng" dirty="0">
                <a:solidFill>
                  <a:srgbClr val="273239"/>
                </a:solidFill>
                <a:effectLst/>
                <a:latin typeface="Times New Roman" panose="02020603050405020304" pitchFamily="18" charset="0"/>
                <a:cs typeface="Times New Roman" panose="02020603050405020304" pitchFamily="18" charset="0"/>
              </a:rPr>
              <a:t>Step 3:</a:t>
            </a:r>
            <a:r>
              <a:rPr lang="en-US" sz="2400" b="0" dirty="0">
                <a:solidFill>
                  <a:srgbClr val="273239"/>
                </a:solidFill>
                <a:effectLst/>
                <a:latin typeface="Times New Roman" panose="02020603050405020304" pitchFamily="18" charset="0"/>
                <a:cs typeface="Times New Roman" panose="02020603050405020304" pitchFamily="18" charset="0"/>
              </a:rPr>
              <a:t> The edges connecting the incomplete MST to other vertices are {0, 7}, {1, 7}</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and {1, 2}. Among these edges the minimum weight is 8 which is of the edges {0, 7}</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and {1, 2}. Let us here include the edge {0, 7} and the vertex 7 in the MST. [We could</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have also included edge {1, 2} and vertex 2 in the MST]. </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l">
              <a:buNone/>
            </a:pPr>
            <a:endParaRPr lang="en-US" sz="2400" b="0" dirty="0">
              <a:solidFill>
                <a:srgbClr val="000000"/>
              </a:solidFill>
              <a:effectLst/>
              <a:latin typeface="Times New Roman" panose="02020603050405020304" pitchFamily="18" charset="0"/>
              <a:cs typeface="Times New Roman" panose="02020603050405020304" pitchFamily="18" charset="0"/>
            </a:endParaRPr>
          </a:p>
        </p:txBody>
      </p:sp>
      <p:sp>
        <p:nvSpPr>
          <p:cNvPr id="8"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694089" y="2634341"/>
            <a:ext cx="7722054" cy="37664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0076"/>
            <a:ext cx="11821886" cy="2643867"/>
          </a:xfrm>
        </p:spPr>
        <p:txBody>
          <a:bodyPr/>
          <a:lstStyle/>
          <a:p>
            <a:pPr marL="0" indent="0" eaLnBrk="0" fontAlgn="base" hangingPunct="0">
              <a:lnSpc>
                <a:spcPct val="150000"/>
              </a:lnSpc>
              <a:spcBef>
                <a:spcPct val="0"/>
              </a:spcBef>
              <a:spcAft>
                <a:spcPct val="0"/>
              </a:spcAft>
              <a:buNone/>
            </a:pPr>
            <a:r>
              <a:rPr lang="en-US" sz="2400" b="1" u="sng" dirty="0">
                <a:solidFill>
                  <a:srgbClr val="273239"/>
                </a:solidFill>
                <a:effectLst/>
                <a:latin typeface="Times New Roman" panose="02020603050405020304" pitchFamily="18" charset="0"/>
                <a:cs typeface="Times New Roman" panose="02020603050405020304" pitchFamily="18" charset="0"/>
              </a:rPr>
              <a:t>Step 4:</a:t>
            </a:r>
            <a:r>
              <a:rPr lang="en-US" sz="2400" b="0" dirty="0">
                <a:solidFill>
                  <a:srgbClr val="273239"/>
                </a:solidFill>
                <a:effectLst/>
                <a:latin typeface="Times New Roman" panose="02020603050405020304" pitchFamily="18" charset="0"/>
                <a:cs typeface="Times New Roman" panose="02020603050405020304" pitchFamily="18" charset="0"/>
              </a:rPr>
              <a:t> The edges that connect the incomplete MST with the fringe vertices are {1, 2}, {7, 6} and {7, 8}. Add the edge {7, 6} and the vertex 6 in the MST as it has the least weight (i.e., 1).</a:t>
            </a:r>
            <a:endParaRPr lang="en-US" sz="2400" b="0" dirty="0">
              <a:solidFill>
                <a:srgbClr val="000000"/>
              </a:solidFill>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dirty="0">
              <a:ea typeface="Calibri" panose="020F0502020204030204" pitchFamily="34"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dirty="0">
              <a:ea typeface="Calibri" panose="020F0502020204030204" pitchFamily="34"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6"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466975" y="2460171"/>
            <a:ext cx="7258050" cy="34398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5:</a:t>
            </a:r>
            <a:r>
              <a:rPr lang="en-US" sz="2400" b="0" dirty="0">
                <a:solidFill>
                  <a:srgbClr val="273239"/>
                </a:solidFill>
                <a:effectLst/>
                <a:latin typeface="Times New Roman" panose="02020603050405020304" pitchFamily="18" charset="0"/>
                <a:cs typeface="Times New Roman" panose="02020603050405020304" pitchFamily="18" charset="0"/>
              </a:rPr>
              <a:t> The connecting edges now are {7, 8}, {1, 2}, {6, 8} and {6, 5}. Include</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edge {6, 5} and vertex 5 in the MST as the edge has the minimum weight (i.e., 2)</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among them</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466975" y="1817913"/>
            <a:ext cx="7258050" cy="3940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6:</a:t>
            </a:r>
            <a:r>
              <a:rPr lang="en-US" sz="2400" b="0" dirty="0">
                <a:solidFill>
                  <a:srgbClr val="273239"/>
                </a:solidFill>
                <a:effectLst/>
                <a:latin typeface="Times New Roman" panose="02020603050405020304" pitchFamily="18" charset="0"/>
                <a:cs typeface="Times New Roman" panose="02020603050405020304" pitchFamily="18" charset="0"/>
              </a:rPr>
              <a:t> Among the current connecting edges, the edge {5, 2} has the minimum</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weight. So include that edge and the vertex 2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466975" y="1861457"/>
            <a:ext cx="7258050" cy="3886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7:</a:t>
            </a:r>
            <a:r>
              <a:rPr lang="en-US" sz="2400" b="0" dirty="0">
                <a:solidFill>
                  <a:srgbClr val="273239"/>
                </a:solidFill>
                <a:effectLst/>
                <a:latin typeface="Times New Roman" panose="02020603050405020304" pitchFamily="18" charset="0"/>
                <a:cs typeface="Times New Roman" panose="02020603050405020304" pitchFamily="18" charset="0"/>
              </a:rPr>
              <a:t> The connecting edges between the incomplete MST and the other edges are</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{2, 8}, {2, 3}, {5, 3} and {5, 4}. The edge with minimum weight is edge {2, 8}</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which has weight 2. So include this edge and the vertex 8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905000" y="2220685"/>
            <a:ext cx="7820025" cy="38784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8:</a:t>
            </a:r>
            <a:r>
              <a:rPr lang="en-US" sz="2400" b="0" dirty="0">
                <a:solidFill>
                  <a:srgbClr val="273239"/>
                </a:solidFill>
                <a:effectLst/>
                <a:latin typeface="Times New Roman" panose="02020603050405020304" pitchFamily="18" charset="0"/>
                <a:cs typeface="Times New Roman" panose="02020603050405020304" pitchFamily="18" charset="0"/>
              </a:rPr>
              <a:t> See here that the edges {7, 8} and {2, 3} both have same weight which are</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minimum. But 7 is already part of MST. So we will consider the edge {2, 3} and</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include that edge and vertex 3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990724" y="2546350"/>
            <a:ext cx="7523389" cy="3702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9:</a:t>
            </a:r>
            <a:r>
              <a:rPr lang="en-US" sz="2400" b="0" dirty="0">
                <a:solidFill>
                  <a:srgbClr val="273239"/>
                </a:solidFill>
                <a:effectLst/>
                <a:latin typeface="Times New Roman" panose="02020603050405020304" pitchFamily="18" charset="0"/>
                <a:cs typeface="Times New Roman" panose="02020603050405020304" pitchFamily="18" charset="0"/>
              </a:rPr>
              <a:t> Only  the vertex 4 remains to be included. The minimum weighted edge from the incomplete MST to 4 is {3, 4}.</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947057" y="1545772"/>
            <a:ext cx="8777968" cy="30806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 name="Subtitle 4"/>
          <p:cNvSpPr>
            <a:spLocks noGrp="1"/>
          </p:cNvSpPr>
          <p:nvPr>
            <p:ph idx="1"/>
          </p:nvPr>
        </p:nvSpPr>
        <p:spPr>
          <a:xfrm>
            <a:off x="163513" y="758825"/>
            <a:ext cx="10515600" cy="4351338"/>
          </a:xfrm>
        </p:spPr>
        <p:txBody>
          <a:bodyPr wrap="square" anchor="t">
            <a:noAutofit/>
          </a:bodyPr>
          <a:lstStyle/>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The final structure of the MST is as follows and the weight of the edges of the MST</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is (4 + 8 + 1 + 2 + 4 + 2 + 7 + 9) = </a:t>
            </a:r>
            <a:r>
              <a:rPr lang="en-US" sz="2400" b="1" dirty="0">
                <a:solidFill>
                  <a:srgbClr val="273239"/>
                </a:solidFill>
                <a:effectLst/>
                <a:latin typeface="Times New Roman" panose="02020603050405020304" pitchFamily="18" charset="0"/>
                <a:cs typeface="Times New Roman" panose="02020603050405020304" pitchFamily="18" charset="0"/>
              </a:rPr>
              <a:t>37</a:t>
            </a:r>
            <a:r>
              <a:rPr lang="en-US" sz="2400" b="0" dirty="0">
                <a:solidFill>
                  <a:srgbClr val="273239"/>
                </a:solidFill>
                <a:effectLst/>
                <a:latin typeface="Times New Roman" panose="02020603050405020304" pitchFamily="18" charset="0"/>
                <a:cs typeface="Times New Roman" panose="02020603050405020304" pitchFamily="18" charset="0"/>
              </a:rPr>
              <a:t>.</a:t>
            </a:r>
            <a:endParaRPr lang="en-US" sz="2400"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Prim’s Algorithm (Example </a:t>
            </a:r>
            <a:r>
              <a:rPr lang="en-US" sz="2400" b="1" dirty="0" err="1">
                <a:solidFill>
                  <a:schemeClr val="bg1"/>
                </a:solidFill>
                <a:latin typeface="Times New Roman" panose="02020603050405020304" pitchFamily="18" charset="0"/>
                <a:cs typeface="Times New Roman" panose="02020603050405020304" pitchFamily="18" charset="0"/>
              </a:rPr>
              <a:t>conti</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990725" y="1894113"/>
            <a:ext cx="7734300" cy="36399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Box 2"/>
          <p:cNvSpPr txBox="1"/>
          <p:nvPr/>
        </p:nvSpPr>
        <p:spPr>
          <a:xfrm>
            <a:off x="523240" y="1642110"/>
            <a:ext cx="11045825" cy="2676525"/>
          </a:xfrm>
          <a:prstGeom prst="rect">
            <a:avLst/>
          </a:prstGeom>
          <a:noFill/>
        </p:spPr>
        <p:txBody>
          <a:bodyPr wrap="square">
            <a:spAutoFit/>
          </a:bodyPr>
          <a:lstStyle/>
          <a:p>
            <a:pPr marL="571500" indent="-5715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Prim's technique works on the simple principle that </a:t>
            </a:r>
            <a:r>
              <a:rPr lang="en-US" sz="2800" b="1" dirty="0">
                <a:latin typeface="Times New Roman" panose="02020603050405020304" pitchFamily="18" charset="0"/>
                <a:cs typeface="Times New Roman" panose="02020603050405020304" pitchFamily="18" charset="0"/>
              </a:rPr>
              <a:t>all vertices in a spanning tree must be connected</a:t>
            </a:r>
            <a:r>
              <a:rPr lang="en-US" sz="2800" dirty="0">
                <a:latin typeface="Times New Roman" panose="02020603050405020304" pitchFamily="18" charset="0"/>
                <a:cs typeface="Times New Roman" panose="02020603050405020304" pitchFamily="18" charset="0"/>
              </a:rPr>
              <a:t>. To build a Spanning Tree, the two distinct subsets of vertices should be joined and they must be connected in such a way that summation of all edge weights is minimum.</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KL Deemed to be University Logo"/>
          <p:cNvPicPr>
            <a:picLocks noChangeAspect="1" noChangeArrowheads="1"/>
          </p:cNvPicPr>
          <p:nvPr/>
        </p:nvPicPr>
        <p:blipFill>
          <a:blip r:embed="rId1"/>
          <a:srcRect/>
          <a:stretch>
            <a:fillRect/>
          </a:stretch>
        </p:blipFill>
        <p:spPr bwMode="auto">
          <a:xfrm>
            <a:off x="0" y="65087"/>
            <a:ext cx="1990725" cy="600076"/>
          </a:xfrm>
          <a:prstGeom prst="rect">
            <a:avLst/>
          </a:prstGeom>
          <a:noFill/>
        </p:spPr>
      </p:pic>
      <p:sp>
        <p:nvSpPr>
          <p:cNvPr id="5" name="Title 4"/>
          <p:cNvSpPr>
            <a:spLocks noGrp="1"/>
          </p:cNvSpPr>
          <p:nvPr>
            <p:ph type="title"/>
          </p:nvPr>
        </p:nvSpPr>
        <p:spPr>
          <a:xfrm>
            <a:off x="3331029" y="170317"/>
            <a:ext cx="4669971" cy="49484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dirty="0"/>
              <a:t>SELF-ASSESSMENT QUESTIONS</a:t>
            </a:r>
            <a:endParaRPr lang="en-US" sz="2400" dirty="0"/>
          </a:p>
        </p:txBody>
      </p:sp>
      <p:sp>
        <p:nvSpPr>
          <p:cNvPr id="6" name="Google Shape;502;p17"/>
          <p:cNvSpPr>
            <a:spLocks noGrp="1"/>
          </p:cNvSpPr>
          <p:nvPr>
            <p:ph idx="1"/>
          </p:nvPr>
        </p:nvSpPr>
        <p:spPr>
          <a:xfrm>
            <a:off x="838200" y="1109935"/>
            <a:ext cx="10515600" cy="41683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spcBef>
                <a:spcPts val="0"/>
              </a:spcBef>
              <a:buFont typeface="+mj-lt"/>
              <a:buAutoNum type="arabicPeriod"/>
            </a:pPr>
            <a:r>
              <a:rPr lang="en-US" sz="1600" dirty="0"/>
              <a:t>Prim’s algorithm is a ______</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7" name="Rounded Rectangle 6"/>
          <p:cNvSpPr/>
          <p:nvPr/>
        </p:nvSpPr>
        <p:spPr>
          <a:xfrm>
            <a:off x="995362" y="1787641"/>
            <a:ext cx="352220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buAutoNum type="alphaLcParenBoth"/>
            </a:pPr>
            <a:r>
              <a:rPr lang="en-US" sz="1600" dirty="0"/>
              <a:t>Divide and conquer algorithm</a:t>
            </a:r>
            <a:endParaRPr lang="en-US" sz="1600" dirty="0">
              <a:latin typeface="Arial" panose="020B0604020202020204" pitchFamily="34" charset="0"/>
            </a:endParaRPr>
          </a:p>
          <a:p>
            <a:pPr marL="342900" indent="-342900">
              <a:lnSpc>
                <a:spcPct val="150000"/>
              </a:lnSpc>
              <a:buAutoNum type="alphaLcParenBoth"/>
            </a:pPr>
            <a:r>
              <a:rPr lang="en-US" sz="1600" dirty="0"/>
              <a:t>Greedy algorithm</a:t>
            </a:r>
            <a:endParaRPr lang="en-US" sz="1600" dirty="0">
              <a:latin typeface="Arial" panose="020B0604020202020204" pitchFamily="34" charset="0"/>
            </a:endParaRPr>
          </a:p>
          <a:p>
            <a:pPr marL="342900" indent="-342900">
              <a:lnSpc>
                <a:spcPct val="150000"/>
              </a:lnSpc>
              <a:buAutoNum type="alphaLcParenBoth"/>
            </a:pPr>
            <a:r>
              <a:rPr lang="en-US" sz="1600" dirty="0"/>
              <a:t>Dynamic Programming</a:t>
            </a:r>
            <a:endParaRPr lang="en-US" sz="1600" dirty="0">
              <a:latin typeface="Arial" panose="020B0604020202020204" pitchFamily="34" charset="0"/>
            </a:endParaRPr>
          </a:p>
          <a:p>
            <a:pPr marL="342900" indent="-342900">
              <a:lnSpc>
                <a:spcPct val="150000"/>
              </a:lnSpc>
              <a:buAutoNum type="alphaLcParenBoth"/>
            </a:pPr>
            <a:r>
              <a:rPr lang="en-US" sz="1600" dirty="0"/>
              <a:t>Approximation algorithm</a:t>
            </a:r>
            <a:endParaRPr lang="en-US" sz="1600" dirty="0"/>
          </a:p>
        </p:txBody>
      </p:sp>
      <p:sp>
        <p:nvSpPr>
          <p:cNvPr id="8" name="Google Shape;502;p17"/>
          <p:cNvSpPr txBox="1"/>
          <p:nvPr/>
        </p:nvSpPr>
        <p:spPr>
          <a:xfrm>
            <a:off x="838200" y="3694343"/>
            <a:ext cx="10515600" cy="41683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743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200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657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None/>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2. </a:t>
            </a:r>
            <a:r>
              <a:rPr lang="en-US" sz="1600" dirty="0"/>
              <a:t>Prim’s algorithm can be efficiently implemented using _____ for graphs with greater density.</a:t>
            </a:r>
            <a:endPar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9" name="Rounded Rectangle 8"/>
          <p:cNvSpPr/>
          <p:nvPr/>
        </p:nvSpPr>
        <p:spPr>
          <a:xfrm>
            <a:off x="995361" y="4489316"/>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buAutoNum type="alphaLcParenBoth"/>
            </a:pPr>
            <a:r>
              <a:rPr lang="en-US" sz="1600" dirty="0"/>
              <a:t>d-</a:t>
            </a:r>
            <a:r>
              <a:rPr lang="en-US" sz="1600" dirty="0" err="1"/>
              <a:t>ary</a:t>
            </a:r>
            <a:r>
              <a:rPr lang="en-US" sz="1600" dirty="0"/>
              <a:t> heap</a:t>
            </a:r>
            <a:endParaRPr lang="en-US" sz="1600" dirty="0">
              <a:latin typeface="Arial" panose="020B0604020202020204" pitchFamily="34" charset="0"/>
            </a:endParaRPr>
          </a:p>
          <a:p>
            <a:pPr marL="342900" indent="-342900">
              <a:lnSpc>
                <a:spcPct val="150000"/>
              </a:lnSpc>
              <a:buAutoNum type="alphaLcParenBoth"/>
            </a:pPr>
            <a:r>
              <a:rPr lang="en-US" sz="1600" dirty="0"/>
              <a:t>linear search</a:t>
            </a:r>
            <a:endParaRPr lang="en-US" sz="1600" dirty="0">
              <a:latin typeface="Arial" panose="020B0604020202020204" pitchFamily="34" charset="0"/>
            </a:endParaRPr>
          </a:p>
          <a:p>
            <a:pPr marL="342900" indent="-342900">
              <a:lnSpc>
                <a:spcPct val="150000"/>
              </a:lnSpc>
              <a:buAutoNum type="alphaLcParenBoth"/>
            </a:pPr>
            <a:r>
              <a:rPr lang="en-US" sz="1600" dirty="0" err="1"/>
              <a:t>fibonacci</a:t>
            </a:r>
            <a:r>
              <a:rPr lang="en-US" sz="1600" dirty="0"/>
              <a:t> heap</a:t>
            </a:r>
            <a:endParaRPr lang="en-US" sz="1600" dirty="0">
              <a:latin typeface="Arial" panose="020B0604020202020204" pitchFamily="34" charset="0"/>
            </a:endParaRPr>
          </a:p>
          <a:p>
            <a:pPr marL="342900" indent="-342900">
              <a:lnSpc>
                <a:spcPct val="150000"/>
              </a:lnSpc>
              <a:buAutoNum type="alphaLcParenBoth"/>
            </a:pPr>
            <a:r>
              <a:rPr lang="en-US" sz="1600" dirty="0"/>
              <a:t>binary search</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0229" y="665163"/>
            <a:ext cx="10515600" cy="5718175"/>
          </a:xfrm>
        </p:spPr>
        <p:txBody>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1. Describe the minimum cost of a Spanning tree using Prim’s Algorithm? </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2. List out the steps involved in Prim’s Algorithm?</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3. Analyze the implementation details of minimum spanning tree using Prim’s Algorithm?</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4. Summarize the concept of Prim’s Minimum Spanning Tree?</a:t>
            </a: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descr="KL Deemed to be University Logo"/>
          <p:cNvPicPr>
            <a:picLocks noChangeAspect="1" noChangeArrowheads="1"/>
          </p:cNvPicPr>
          <p:nvPr/>
        </p:nvPicPr>
        <p:blipFill>
          <a:blip r:embed="rId1"/>
          <a:srcRect/>
          <a:stretch>
            <a:fillRect/>
          </a:stretch>
        </p:blipFill>
        <p:spPr bwMode="auto">
          <a:xfrm>
            <a:off x="0" y="65087"/>
            <a:ext cx="1990725" cy="600076"/>
          </a:xfrm>
          <a:prstGeom prst="rect">
            <a:avLst/>
          </a:prstGeom>
          <a:noFill/>
        </p:spPr>
      </p:pic>
      <p:sp>
        <p:nvSpPr>
          <p:cNvPr id="5" name="Rounded Rectangle 17"/>
          <p:cNvSpPr>
            <a:spLocks noGrp="1"/>
          </p:cNvSpPr>
          <p:nvPr>
            <p:ph type="title"/>
          </p:nvPr>
        </p:nvSpPr>
        <p:spPr>
          <a:xfrm>
            <a:off x="2994025" y="127000"/>
            <a:ext cx="5507038" cy="538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831818"/>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 </a:t>
            </a:r>
            <a:r>
              <a:rPr lang="en-US" dirty="0" err="1"/>
              <a:t>A.V.Aho</a:t>
            </a:r>
            <a:r>
              <a:rPr lang="en-US" dirty="0"/>
              <a:t>, J. E. </a:t>
            </a:r>
            <a:r>
              <a:rPr lang="en-US" dirty="0" err="1"/>
              <a:t>Hopcroft</a:t>
            </a:r>
            <a:r>
              <a:rPr lang="en-US" dirty="0"/>
              <a:t>, and J. D. Ullman, “Data Structures And Algorithms”, Pearson Education, First Edition Reprint2003. </a:t>
            </a:r>
            <a:endParaRPr lang="en-US" dirty="0"/>
          </a:p>
          <a:p>
            <a:pPr marL="342900" indent="-342900">
              <a:lnSpc>
                <a:spcPct val="150000"/>
              </a:lnSpc>
              <a:buAutoNum type="arabicPeriod"/>
            </a:pPr>
            <a:r>
              <a:rPr lang="en-US" dirty="0"/>
              <a:t> Horowitz, </a:t>
            </a:r>
            <a:r>
              <a:rPr lang="en-US" dirty="0" err="1"/>
              <a:t>Sahni</a:t>
            </a:r>
            <a:r>
              <a:rPr lang="en-US" dirty="0"/>
              <a:t>, Anderson Freed, “Fundamentals of </a:t>
            </a:r>
            <a:r>
              <a:rPr lang="en-US" dirty="0" err="1"/>
              <a:t>datastructures</a:t>
            </a:r>
            <a:r>
              <a:rPr lang="en-US" dirty="0"/>
              <a:t> in C” , Second Edition-2007.</a:t>
            </a:r>
            <a:endParaRPr lang="en-US" dirty="0"/>
          </a:p>
          <a:p>
            <a:pPr marL="342900" indent="-342900">
              <a:lnSpc>
                <a:spcPct val="150000"/>
              </a:lnSpc>
              <a:buAutoNum type="arabicPeriod"/>
            </a:pPr>
            <a:r>
              <a:rPr lang="en-US" dirty="0"/>
              <a:t> R. F. </a:t>
            </a:r>
            <a:r>
              <a:rPr lang="en-US" dirty="0" err="1"/>
              <a:t>Gilberg</a:t>
            </a:r>
            <a:r>
              <a:rPr lang="en-US" dirty="0"/>
              <a:t>, B. A. </a:t>
            </a:r>
            <a:r>
              <a:rPr lang="en-US" dirty="0" err="1"/>
              <a:t>Forouzan</a:t>
            </a:r>
            <a:r>
              <a:rPr lang="en-US" dirty="0"/>
              <a:t>, “Data Structures”, Second Edition, Thomson India Ed </a:t>
            </a:r>
            <a:r>
              <a:rPr lang="en-US" dirty="0" err="1"/>
              <a:t>ition</a:t>
            </a:r>
            <a:r>
              <a:rPr lang="en-US" dirty="0"/>
              <a:t>, 2005</a:t>
            </a:r>
            <a:endParaRPr lang="en-US" dirty="0"/>
          </a:p>
          <a:p>
            <a:pPr marL="342900" indent="-342900">
              <a:lnSpc>
                <a:spcPct val="150000"/>
              </a:lnSpc>
              <a:buAutoNum type="arabicPeriod"/>
            </a:pPr>
            <a:r>
              <a:rPr lang="en-US" dirty="0"/>
              <a:t> Robert Kruse, C.L. </a:t>
            </a:r>
            <a:r>
              <a:rPr lang="en-US" dirty="0" err="1"/>
              <a:t>Tondo</a:t>
            </a:r>
            <a:r>
              <a:rPr lang="en-US" dirty="0"/>
              <a:t>, Bruce Leung, </a:t>
            </a:r>
            <a:r>
              <a:rPr lang="en-US" dirty="0" err="1"/>
              <a:t>Shashi</a:t>
            </a:r>
            <a:r>
              <a:rPr lang="en-US" dirty="0"/>
              <a:t> </a:t>
            </a:r>
            <a:r>
              <a:rPr lang="en-US" dirty="0" err="1"/>
              <a:t>Mogalla</a:t>
            </a:r>
            <a:r>
              <a:rPr lang="en-US" dirty="0"/>
              <a:t>, “Data Structures &amp; Program Design in C”, FourthEdition-2007. </a:t>
            </a:r>
            <a:endParaRPr lang="en-US" dirty="0"/>
          </a:p>
          <a:p>
            <a:pPr>
              <a:lnSpc>
                <a:spcPct val="150000"/>
              </a:lnSpc>
            </a:pPr>
            <a:r>
              <a:rPr lang="en-US" b="1" dirty="0"/>
              <a:t>Sites and Web links:</a:t>
            </a:r>
            <a:endParaRPr lang="en-US" b="1" dirty="0"/>
          </a:p>
          <a:p>
            <a:pPr>
              <a:lnSpc>
                <a:spcPct val="150000"/>
              </a:lnSpc>
            </a:pPr>
            <a:r>
              <a:rPr lang="en-US" dirty="0"/>
              <a:t>https://www.studytonight.com/data-structures/prims-minimum-spanning-tree</a:t>
            </a:r>
            <a:endParaRPr lang="en-US" dirty="0"/>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BES-1 – DATA STRUCTURE</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C89A6ECA-0C1B-4F00-836D-A696F073E5C2}">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6484</Words>
  <Application>WPS Presentation</Application>
  <PresentationFormat>Widescreen</PresentationFormat>
  <Paragraphs>239</Paragraphs>
  <Slides>24</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24</vt:i4>
      </vt:variant>
    </vt:vector>
  </HeadingPairs>
  <TitlesOfParts>
    <vt:vector size="41" baseType="lpstr">
      <vt:lpstr>Arial</vt:lpstr>
      <vt:lpstr>SimSun</vt:lpstr>
      <vt:lpstr>Wingdings</vt:lpstr>
      <vt:lpstr>Arial</vt:lpstr>
      <vt:lpstr>Calibri</vt:lpstr>
      <vt:lpstr>Poppins</vt:lpstr>
      <vt:lpstr>Segoe Print</vt:lpstr>
      <vt:lpstr>BioRhyme ExtraBold</vt:lpstr>
      <vt:lpstr>Calibri</vt:lpstr>
      <vt:lpstr>Times New Roman</vt:lpstr>
      <vt:lpstr>Poppins</vt:lpstr>
      <vt:lpstr>Poppins</vt:lpstr>
      <vt:lpstr>euclid_circular_a</vt:lpstr>
      <vt:lpstr>Microsoft YaHei</vt:lpstr>
      <vt:lpstr>Arial Unicode MS</vt:lpstr>
      <vt:lpstr>Calibri Light</vt:lpstr>
      <vt:lpstr>1_Office Theme</vt:lpstr>
      <vt:lpstr>PowerPoint 演示文稿</vt:lpstr>
      <vt:lpstr>PowerPoint 演示文稿</vt:lpstr>
      <vt:lpstr>SESSION INTRODUCTION </vt:lpstr>
      <vt:lpstr>SESSION INTRODUCTION </vt:lpstr>
      <vt:lpstr>SESSION INTRODUCTION </vt:lpstr>
      <vt:lpstr>PowerPoint 演示文稿</vt:lpstr>
      <vt:lpstr>PowerPoint 演示文稿</vt:lpstr>
      <vt:lpstr>PowerPoint 演示文稿</vt:lpstr>
      <vt:lpstr>Prim’s Algorithm (Example)</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PowerPoint 演示文稿</vt:lpstr>
      <vt:lpstr>SELF-ASSESSMENT QUESTIONS</vt:lpstr>
      <vt:lpstr>TERMINAL QUESTIONS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Arun Bhaskar</cp:lastModifiedBy>
  <cp:revision>106</cp:revision>
  <dcterms:created xsi:type="dcterms:W3CDTF">2020-02-08T09:57:00Z</dcterms:created>
  <dcterms:modified xsi:type="dcterms:W3CDTF">2024-12-16T09:52:52Z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6DE7FE81402A4F2089B5BAFB7EB16A10_12</vt:lpwstr>
  </property>
  <property fmtid="{D5CDD505-2E9C-101B-9397-08002B2CF9AE}" pid="4" name="KSOProductBuildVer">
    <vt:lpwstr>1033-12.2.0.19307</vt:lpwstr>
  </property>
</Properties>
</file>