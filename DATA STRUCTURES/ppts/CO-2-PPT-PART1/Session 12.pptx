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6"/>
  </p:notesMasterIdLst>
  <p:sldIdLst>
    <p:sldId id="271" r:id="rId5"/>
    <p:sldId id="300" r:id="rId6"/>
    <p:sldId id="258" r:id="rId7"/>
    <p:sldId id="318" r:id="rId8"/>
    <p:sldId id="288" r:id="rId9"/>
    <p:sldId id="290" r:id="rId10"/>
    <p:sldId id="314" r:id="rId11"/>
    <p:sldId id="306" r:id="rId12"/>
    <p:sldId id="305" r:id="rId13"/>
    <p:sldId id="311" r:id="rId14"/>
    <p:sldId id="317" r:id="rId15"/>
    <p:sldId id="319" r:id="rId16"/>
    <p:sldId id="310" r:id="rId17"/>
    <p:sldId id="309" r:id="rId18"/>
    <p:sldId id="312" r:id="rId19"/>
    <p:sldId id="313" r:id="rId20"/>
    <p:sldId id="322" r:id="rId21"/>
    <p:sldId id="323" r:id="rId22"/>
    <p:sldId id="324" r:id="rId23"/>
    <p:sldId id="328" r:id="rId24"/>
    <p:sldId id="329" r:id="rId25"/>
    <p:sldId id="325" r:id="rId26"/>
    <p:sldId id="326" r:id="rId27"/>
    <p:sldId id="327" r:id="rId28"/>
    <p:sldId id="287" r:id="rId29"/>
    <p:sldId id="321" r:id="rId30"/>
    <p:sldId id="320" r:id="rId31"/>
    <p:sldId id="301" r:id="rId32"/>
    <p:sldId id="302" r:id="rId33"/>
    <p:sldId id="303" r:id="rId34"/>
    <p:sldId id="30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AD2D2"/>
    <a:srgbClr val="FF9900"/>
    <a:srgbClr val="E84845"/>
    <a:srgbClr val="F89E4C"/>
    <a:srgbClr val="A81E24"/>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9"/>
  </p:normalViewPr>
  <p:slideViewPr>
    <p:cSldViewPr snapToGrid="0">
      <p:cViewPr varScale="1">
        <p:scale>
          <a:sx n="81" d="100"/>
          <a:sy n="81" d="100"/>
        </p:scale>
        <p:origin x="725"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in.udacity.com/course/intro-to-algorithms--cs215" TargetMode="External"/><Relationship Id="rId2" Type="http://schemas.openxmlformats.org/officeDocument/2006/relationships/hyperlink" Target="https://nptel.ac.in/courses/10610206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coursera.org/learn/data-structures?action=enroll"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Circular Linked List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12</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Circular linked list</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Circular linked list</a:t>
            </a:r>
          </a:p>
          <a:p>
            <a:pPr marL="342900" indent="-342900">
              <a:buAutoNum type="arabicPeriod"/>
            </a:pPr>
            <a:r>
              <a:rPr lang="en-US" sz="1600" b="0" i="0" dirty="0">
                <a:effectLst/>
                <a:latin typeface="Arial" panose="020B0604020202020204" pitchFamily="34" charset="0"/>
              </a:rPr>
              <a:t>Describe the types of circular linked list.</a:t>
            </a:r>
          </a:p>
          <a:p>
            <a:pPr marL="342900" indent="-342900">
              <a:buAutoNum type="arabicPeriod"/>
            </a:pPr>
            <a:r>
              <a:rPr lang="en-US" sz="1600" b="0" i="0" dirty="0">
                <a:effectLst/>
                <a:latin typeface="Arial" panose="020B0604020202020204" pitchFamily="34" charset="0"/>
              </a:rPr>
              <a:t>List out the operations possible on the circular linked list.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CLL.</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Circular linked list</a:t>
            </a:r>
          </a:p>
          <a:p>
            <a:pPr marL="342900" indent="-342900">
              <a:buAutoNum type="arabicPeriod"/>
            </a:pPr>
            <a:r>
              <a:rPr lang="en-US" sz="1600" b="0" i="0" dirty="0">
                <a:effectLst/>
                <a:latin typeface="Arial" panose="020B0604020202020204" pitchFamily="34" charset="0"/>
              </a:rPr>
              <a:t>Describe two types of circular linked list. And their operations</a:t>
            </a:r>
          </a:p>
          <a:p>
            <a:pPr marL="342900" indent="-342900">
              <a:buAutoNum type="arabicPeriod"/>
            </a:pPr>
            <a:r>
              <a:rPr lang="en-US" sz="1600" dirty="0">
                <a:latin typeface="Arial" panose="020B0604020202020204" pitchFamily="34" charset="0"/>
              </a:rPr>
              <a:t>Summarize definition, types and operations of circular linked list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Circular Linked list</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3539430"/>
          </a:xfrm>
          <a:prstGeom prst="rect">
            <a:avLst/>
          </a:prstGeom>
          <a:noFill/>
        </p:spPr>
        <p:txBody>
          <a:bodyPr wrap="square" rtlCol="0">
            <a:spAutoFit/>
          </a:bodyPr>
          <a:lstStyle/>
          <a:p>
            <a:pPr algn="just">
              <a:buFont typeface="Wingdings" pitchFamily="2" charset="2"/>
              <a:buChar char="Ø"/>
            </a:pPr>
            <a:r>
              <a:rPr lang="en-IN" sz="3200" dirty="0"/>
              <a:t> A </a:t>
            </a:r>
            <a:r>
              <a:rPr lang="en-IN" sz="3200" b="1" dirty="0"/>
              <a:t>circular linked list</a:t>
            </a:r>
            <a:r>
              <a:rPr lang="en-IN" sz="3200" dirty="0"/>
              <a:t> </a:t>
            </a:r>
            <a:r>
              <a:rPr lang="en-US" sz="3200" dirty="0"/>
              <a:t>is a series of nodes .</a:t>
            </a:r>
          </a:p>
          <a:p>
            <a:pPr algn="just"/>
            <a:endParaRPr lang="en-US" sz="3200" dirty="0"/>
          </a:p>
          <a:p>
            <a:pPr algn="just">
              <a:buFont typeface="Wingdings" pitchFamily="2" charset="2"/>
              <a:buChar char="Ø"/>
            </a:pPr>
            <a:r>
              <a:rPr lang="en-US" sz="3200" dirty="0"/>
              <a:t>Each element is connected to its successor element</a:t>
            </a:r>
          </a:p>
          <a:p>
            <a:pPr algn="just">
              <a:buFont typeface="Wingdings" pitchFamily="2" charset="2"/>
              <a:buChar char="Ø"/>
            </a:pPr>
            <a:r>
              <a:rPr lang="en-US" sz="3200" dirty="0"/>
              <a:t>the last element loops back to the first element</a:t>
            </a:r>
          </a:p>
          <a:p>
            <a:pPr algn="just">
              <a:buFont typeface="Wingdings" pitchFamily="2" charset="2"/>
              <a:buChar char="Ø"/>
            </a:pPr>
            <a:r>
              <a:rPr lang="en-US" sz="3200" dirty="0"/>
              <a:t> creates a continuous circle of connections.</a:t>
            </a:r>
            <a:endParaRPr lang="en-IN" sz="3200" dirty="0"/>
          </a:p>
          <a:p>
            <a:pPr algn="just">
              <a:buNone/>
            </a:pPr>
            <a:endParaRPr lang="en-IN" sz="32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p:txBody>
      </p:sp>
      <p:sp>
        <p:nvSpPr>
          <p:cNvPr id="5" name="Rectangle 4"/>
          <p:cNvSpPr/>
          <p:nvPr/>
        </p:nvSpPr>
        <p:spPr>
          <a:xfrm>
            <a:off x="1703539" y="4509370"/>
            <a:ext cx="1102291"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8" name="Rectangle 7"/>
          <p:cNvSpPr/>
          <p:nvPr/>
        </p:nvSpPr>
        <p:spPr>
          <a:xfrm>
            <a:off x="6087649" y="4473879"/>
            <a:ext cx="1066799"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p:cNvSpPr/>
          <p:nvPr/>
        </p:nvSpPr>
        <p:spPr>
          <a:xfrm>
            <a:off x="7156537" y="4475968"/>
            <a:ext cx="10480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10096</a:t>
            </a:r>
          </a:p>
        </p:txBody>
      </p:sp>
      <p:sp>
        <p:nvSpPr>
          <p:cNvPr id="10" name="Rectangle 9"/>
          <p:cNvSpPr/>
          <p:nvPr/>
        </p:nvSpPr>
        <p:spPr>
          <a:xfrm>
            <a:off x="2782866" y="4523984"/>
            <a:ext cx="12004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1001100</a:t>
            </a:r>
          </a:p>
        </p:txBody>
      </p:sp>
      <p:cxnSp>
        <p:nvCxnSpPr>
          <p:cNvPr id="12" name="Straight Arrow Connector 11"/>
          <p:cNvCxnSpPr>
            <a:stCxn id="10" idx="3"/>
            <a:endCxn id="53" idx="2"/>
          </p:cNvCxnSpPr>
          <p:nvPr/>
        </p:nvCxnSpPr>
        <p:spPr>
          <a:xfrm>
            <a:off x="3983278" y="4974921"/>
            <a:ext cx="2060531" cy="30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9" idx="3"/>
          </p:cNvCxnSpPr>
          <p:nvPr/>
        </p:nvCxnSpPr>
        <p:spPr>
          <a:xfrm>
            <a:off x="8204549" y="4926905"/>
            <a:ext cx="1189972" cy="149894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0800000">
            <a:off x="601249" y="6388274"/>
            <a:ext cx="8855902" cy="26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131524" y="5668030"/>
            <a:ext cx="1465547" cy="25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5" idx="1"/>
          </p:cNvCxnSpPr>
          <p:nvPr/>
        </p:nvCxnSpPr>
        <p:spPr>
          <a:xfrm>
            <a:off x="601249" y="4947781"/>
            <a:ext cx="1102290" cy="125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517731" y="5599134"/>
            <a:ext cx="926926" cy="369332"/>
          </a:xfrm>
          <a:prstGeom prst="rect">
            <a:avLst/>
          </a:prstGeom>
          <a:noFill/>
        </p:spPr>
        <p:txBody>
          <a:bodyPr wrap="square" rtlCol="0">
            <a:spAutoFit/>
          </a:bodyPr>
          <a:lstStyle/>
          <a:p>
            <a:r>
              <a:rPr lang="en-US" dirty="0"/>
              <a:t>10096</a:t>
            </a:r>
          </a:p>
        </p:txBody>
      </p:sp>
      <p:sp>
        <p:nvSpPr>
          <p:cNvPr id="36" name="TextBox 35"/>
          <p:cNvSpPr txBox="1"/>
          <p:nvPr/>
        </p:nvSpPr>
        <p:spPr>
          <a:xfrm>
            <a:off x="6688899" y="5586608"/>
            <a:ext cx="1215023" cy="369332"/>
          </a:xfrm>
          <a:prstGeom prst="rect">
            <a:avLst/>
          </a:prstGeom>
          <a:noFill/>
        </p:spPr>
        <p:txBody>
          <a:bodyPr wrap="square" rtlCol="0">
            <a:spAutoFit/>
          </a:bodyPr>
          <a:lstStyle/>
          <a:p>
            <a:r>
              <a:rPr lang="en-US" dirty="0"/>
              <a:t>1001100</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175364"/>
            <a:ext cx="8324237" cy="70215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p>
          <a:p>
            <a:pPr algn="ctr"/>
            <a:r>
              <a:rPr lang="en-US" sz="3600" b="1" dirty="0"/>
              <a:t>Circular Linked list</a:t>
            </a:r>
          </a:p>
          <a:p>
            <a:r>
              <a:rPr lang="en-US" sz="2400" dirty="0"/>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117601"/>
            <a:ext cx="11596086" cy="5509200"/>
          </a:xfrm>
          <a:prstGeom prst="rect">
            <a:avLst/>
          </a:prstGeom>
          <a:noFill/>
        </p:spPr>
        <p:txBody>
          <a:bodyPr wrap="square" rtlCol="0">
            <a:spAutoFit/>
          </a:bodyPr>
          <a:lstStyle/>
          <a:p>
            <a:pPr algn="just">
              <a:buClr>
                <a:srgbClr val="C00000"/>
              </a:buClr>
            </a:pPr>
            <a:r>
              <a:rPr lang="en-IN" sz="3200" dirty="0"/>
              <a:t> </a:t>
            </a:r>
            <a:r>
              <a:rPr lang="en-IN" sz="3200" b="1" u="sng" dirty="0">
                <a:cs typeface="Times New Roman" pitchFamily="18" charset="0"/>
              </a:rPr>
              <a:t>Advantages of a Circular linked list</a:t>
            </a:r>
          </a:p>
          <a:p>
            <a:pPr marL="342900" indent="-342900" algn="just">
              <a:buClr>
                <a:srgbClr val="C00000"/>
              </a:buClr>
              <a:buFont typeface="Arial" pitchFamily="34" charset="0"/>
              <a:buChar char="•"/>
            </a:pPr>
            <a:r>
              <a:rPr lang="en-IN" sz="3200" dirty="0">
                <a:cs typeface="Times New Roman" pitchFamily="18" charset="0"/>
              </a:rPr>
              <a:t>Entire list can be traversed from any node.</a:t>
            </a:r>
          </a:p>
          <a:p>
            <a:pPr marL="342900" indent="-342900" algn="just">
              <a:buClr>
                <a:srgbClr val="C00000"/>
              </a:buClr>
              <a:buFont typeface="Arial" pitchFamily="34" charset="0"/>
              <a:buChar char="•"/>
            </a:pPr>
            <a:r>
              <a:rPr lang="en-IN" sz="3200" dirty="0">
                <a:cs typeface="Times New Roman" pitchFamily="18" charset="0"/>
              </a:rPr>
              <a:t>Circular lists are the required data structure when we want a list to be accessed in a circle or loop.</a:t>
            </a:r>
          </a:p>
          <a:p>
            <a:pPr marL="342900" indent="-342900" algn="just">
              <a:buClr>
                <a:srgbClr val="C00000"/>
              </a:buClr>
              <a:buFont typeface="Arial" pitchFamily="34" charset="0"/>
              <a:buChar char="•"/>
            </a:pPr>
            <a:r>
              <a:rPr lang="en-IN" sz="3200" dirty="0">
                <a:cs typeface="Times New Roman" pitchFamily="18" charset="0"/>
              </a:rPr>
              <a:t>Despite of being singly circular linked list we can easily traverse to its previous node, which is not possible in singly linked list.</a:t>
            </a:r>
          </a:p>
          <a:p>
            <a:pPr algn="just">
              <a:buClr>
                <a:srgbClr val="C00000"/>
              </a:buClr>
            </a:pPr>
            <a:r>
              <a:rPr lang="en-IN" sz="3200" b="1" u="sng" dirty="0">
                <a:cs typeface="Times New Roman" pitchFamily="18" charset="0"/>
              </a:rPr>
              <a:t>Disadvantages of Circular linked list</a:t>
            </a:r>
          </a:p>
          <a:p>
            <a:pPr marL="342900" indent="-342900" algn="just">
              <a:buClr>
                <a:srgbClr val="C00000"/>
              </a:buClr>
              <a:buFont typeface="Arial" pitchFamily="34" charset="0"/>
              <a:buChar char="•"/>
            </a:pPr>
            <a:r>
              <a:rPr lang="en-IN" sz="3200" dirty="0">
                <a:cs typeface="Times New Roman" pitchFamily="18" charset="0"/>
              </a:rPr>
              <a:t>Circular list are complex as compared to singly linked lists.</a:t>
            </a:r>
          </a:p>
          <a:p>
            <a:pPr marL="342900" indent="-342900" algn="just">
              <a:buClr>
                <a:srgbClr val="C00000"/>
              </a:buClr>
              <a:buFont typeface="Arial" pitchFamily="34" charset="0"/>
              <a:buChar char="•"/>
            </a:pPr>
            <a:r>
              <a:rPr lang="en-IN" sz="3200" dirty="0">
                <a:cs typeface="Times New Roman" pitchFamily="18" charset="0"/>
              </a:rPr>
              <a:t>Reversing of circular list is a complex as compared to singly or doubly lists.</a:t>
            </a:r>
          </a:p>
          <a:p>
            <a:pPr marL="342900" indent="-342900" algn="just">
              <a:buClr>
                <a:srgbClr val="C00000"/>
              </a:buClr>
              <a:buFont typeface="Arial" pitchFamily="34" charset="0"/>
              <a:buChar char="•"/>
            </a:pPr>
            <a:r>
              <a:rPr lang="en-IN" sz="3200" dirty="0">
                <a:cs typeface="Times New Roman" pitchFamily="18" charset="0"/>
              </a:rPr>
              <a:t>If not traversed carefully, then we could end up in an infinite loop.</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0" y="300038"/>
            <a:ext cx="10183659"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600" b="1" dirty="0">
                <a:solidFill>
                  <a:schemeClr val="bg1"/>
                </a:solidFill>
                <a:cs typeface="Times New Roman" pitchFamily="18" charset="0"/>
              </a:rPr>
              <a:t>Example of Circular Linked list with 3 nodes</a:t>
            </a:r>
            <a:endParaRPr lang="en-US" sz="36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995362" y="4353824"/>
            <a:ext cx="6096000" cy="2062103"/>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r>
              <a:rPr lang="en-IN" sz="3200" b="1" dirty="0">
                <a:cs typeface="Times New Roman" pitchFamily="18" charset="0"/>
              </a:rPr>
              <a:t>Circular Singly Linked list</a:t>
            </a:r>
          </a:p>
          <a:p>
            <a:pPr marL="971550" lvl="1" indent="-514350">
              <a:buAutoNum type="arabicPeriod"/>
            </a:pPr>
            <a:r>
              <a:rPr lang="en-IN" sz="3200" b="1" dirty="0">
                <a:cs typeface="Times New Roman" pitchFamily="18" charset="0"/>
              </a:rPr>
              <a:t>Circular Doubly Linked list</a:t>
            </a:r>
            <a:br>
              <a:rPr lang="en-IN" sz="3200" b="1" dirty="0">
                <a:cs typeface="Times New Roman" pitchFamily="18" charset="0"/>
              </a:rPr>
            </a:br>
            <a:endParaRPr lang="en-IN" sz="3200" b="1" dirty="0">
              <a:cs typeface="Times New Roman" pitchFamily="18" charset="0"/>
            </a:endParaRPr>
          </a:p>
        </p:txBody>
      </p:sp>
      <p:sp>
        <p:nvSpPr>
          <p:cNvPr id="7" name="Rounded Rectangle 17">
            <a:extLst>
              <a:ext uri="{FF2B5EF4-FFF2-40B4-BE49-F238E27FC236}">
                <a16:creationId xmlns:a16="http://schemas.microsoft.com/office/drawing/2014/main" id="{39DC903D-9003-4F3D-87E9-EE7D5BEB5D03}"/>
              </a:ext>
            </a:extLst>
          </p:cNvPr>
          <p:cNvSpPr/>
          <p:nvPr/>
        </p:nvSpPr>
        <p:spPr>
          <a:xfrm>
            <a:off x="1411158" y="4353826"/>
            <a:ext cx="4045923"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dirty="0"/>
              <a:t>Types -</a:t>
            </a:r>
            <a:endPar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9" name="Content Placeholder 8" descr="C1.png"/>
          <p:cNvPicPr>
            <a:picLocks noGrp="1" noChangeAspect="1"/>
          </p:cNvPicPr>
          <p:nvPr>
            <p:ph idx="1"/>
          </p:nvPr>
        </p:nvPicPr>
        <p:blipFill>
          <a:blip r:embed="rId3"/>
          <a:stretch>
            <a:fillRect/>
          </a:stretch>
        </p:blipFill>
        <p:spPr>
          <a:xfrm>
            <a:off x="601249" y="999066"/>
            <a:ext cx="10647124" cy="3217334"/>
          </a:xfr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76863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5324535"/>
          </a:xfrm>
          <a:prstGeom prst="rect">
            <a:avLst/>
          </a:prstGeom>
          <a:noFill/>
        </p:spPr>
        <p:txBody>
          <a:bodyPr wrap="square" rtlCol="0">
            <a:spAutoFit/>
          </a:bodyPr>
          <a:lstStyle/>
          <a:p>
            <a:r>
              <a:rPr lang="en-IN" sz="2400" b="1" dirty="0">
                <a:cs typeface="Times New Roman" pitchFamily="18" charset="0"/>
              </a:rPr>
              <a:t>1. </a:t>
            </a:r>
            <a:r>
              <a:rPr lang="en-IN" sz="3200" b="1" dirty="0">
                <a:cs typeface="Times New Roman" pitchFamily="18" charset="0"/>
              </a:rPr>
              <a:t>Circular Singly Linked List</a:t>
            </a:r>
            <a:endParaRPr lang="en-IN" sz="3200" dirty="0">
              <a:cs typeface="Times New Roman" pitchFamily="18" charset="0"/>
            </a:endParaRPr>
          </a:p>
          <a:p>
            <a:pPr marL="457200" indent="-457200">
              <a:buFont typeface="Arial" pitchFamily="34" charset="0"/>
              <a:buChar char="•"/>
            </a:pPr>
            <a:r>
              <a:rPr lang="en-IN" sz="3200" dirty="0">
                <a:cs typeface="Times New Roman" pitchFamily="18" charset="0"/>
              </a:rPr>
              <a:t>Here, the address of the last node consists of the address of the first node.</a:t>
            </a:r>
          </a:p>
          <a:p>
            <a:endParaRPr lang="en-IN" sz="2800" dirty="0"/>
          </a:p>
          <a:p>
            <a:endParaRPr lang="en-IN" sz="2800" b="1" dirty="0"/>
          </a:p>
          <a:p>
            <a:endParaRPr lang="en-IN" sz="2800" b="1" dirty="0"/>
          </a:p>
          <a:p>
            <a:pPr algn="ctr"/>
            <a:endParaRPr lang="en-IN" sz="2800" b="1" dirty="0"/>
          </a:p>
          <a:p>
            <a:r>
              <a:rPr lang="en-IN" sz="2400" b="1" dirty="0"/>
              <a:t>			</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15" name="Picture 14" descr="Circular-Linked-List-in-C.jpg"/>
          <p:cNvPicPr>
            <a:picLocks noChangeAspect="1"/>
          </p:cNvPicPr>
          <p:nvPr/>
        </p:nvPicPr>
        <p:blipFill>
          <a:blip r:embed="rId3"/>
          <a:stretch>
            <a:fillRect/>
          </a:stretch>
        </p:blipFill>
        <p:spPr>
          <a:xfrm>
            <a:off x="588722" y="2793935"/>
            <a:ext cx="11160691" cy="3625023"/>
          </a:xfrm>
          <a:prstGeom prst="rect">
            <a:avLst/>
          </a:prstGeom>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7060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3231654"/>
          </a:xfrm>
          <a:prstGeom prst="rect">
            <a:avLst/>
          </a:prstGeom>
          <a:noFill/>
        </p:spPr>
        <p:txBody>
          <a:bodyPr wrap="square" rtlCol="0">
            <a:spAutoFit/>
          </a:bodyPr>
          <a:lstStyle/>
          <a:p>
            <a:r>
              <a:rPr lang="en-IN" sz="2400" b="1" dirty="0"/>
              <a:t>2. </a:t>
            </a:r>
            <a:r>
              <a:rPr lang="en-IN" sz="3200" b="1" dirty="0"/>
              <a:t>Circular Doubly Linked List</a:t>
            </a:r>
            <a:endParaRPr lang="en-IN" sz="3200" dirty="0"/>
          </a:p>
          <a:p>
            <a:pPr marL="457200" indent="-457200">
              <a:buFont typeface="Arial" pitchFamily="34" charset="0"/>
              <a:buChar char="•"/>
            </a:pPr>
            <a:r>
              <a:rPr lang="en-IN" sz="3200" dirty="0"/>
              <a:t>Here, in addition to the last node storing the address of the first node, the first node will also store the address of the last node.</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8" name="Picture 7" descr="C_4.png"/>
          <p:cNvPicPr>
            <a:picLocks noChangeAspect="1"/>
          </p:cNvPicPr>
          <p:nvPr/>
        </p:nvPicPr>
        <p:blipFill>
          <a:blip r:embed="rId3"/>
          <a:stretch>
            <a:fillRect/>
          </a:stretch>
        </p:blipFill>
        <p:spPr>
          <a:xfrm>
            <a:off x="601249" y="3345147"/>
            <a:ext cx="10622071" cy="2229161"/>
          </a:xfrm>
          <a:prstGeom prst="rect">
            <a:avLst/>
          </a:prstGeom>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8944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Setup the Circular Linked List</a:t>
            </a:r>
            <a:endParaRPr lang="en-US" sz="36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 y="1320731"/>
            <a:ext cx="12192000" cy="5201424"/>
          </a:xfrm>
          <a:prstGeom prst="rect">
            <a:avLst/>
          </a:prstGeom>
        </p:spPr>
        <p:txBody>
          <a:bodyPr wrap="square">
            <a:spAutoFit/>
          </a:bodyPr>
          <a:lstStyle/>
          <a:p>
            <a:pPr>
              <a:buFont typeface="Wingdings" pitchFamily="2" charset="2"/>
              <a:buChar char="v"/>
            </a:pPr>
            <a:r>
              <a:rPr lang="en-IN" sz="2400" dirty="0">
                <a:latin typeface="Times New Roman" pitchFamily="18" charset="0"/>
                <a:cs typeface="Times New Roman" pitchFamily="18" charset="0"/>
              </a:rPr>
              <a:t> </a:t>
            </a:r>
            <a:r>
              <a:rPr lang="en-IN" sz="3200" dirty="0">
                <a:cs typeface="Times New Roman" pitchFamily="18" charset="0"/>
              </a:rPr>
              <a:t>Before we implement those operations, first we need to </a:t>
            </a:r>
            <a:r>
              <a:rPr lang="en-IN" sz="3200" b="1" dirty="0">
                <a:cs typeface="Times New Roman" pitchFamily="18" charset="0"/>
              </a:rPr>
              <a:t>setup empty list</a:t>
            </a:r>
            <a:r>
              <a:rPr lang="en-IN" sz="3200" dirty="0">
                <a:cs typeface="Times New Roman" pitchFamily="18" charset="0"/>
              </a:rPr>
              <a:t>.</a:t>
            </a:r>
          </a:p>
          <a:p>
            <a:r>
              <a:rPr lang="en-IN" sz="3200" dirty="0">
                <a:cs typeface="Times New Roman" pitchFamily="18" charset="0"/>
              </a:rPr>
              <a:t> </a:t>
            </a:r>
          </a:p>
          <a:p>
            <a:pPr marL="342900" indent="-342900">
              <a:buFont typeface="Wingdings" pitchFamily="2" charset="2"/>
              <a:buChar char="Ø"/>
            </a:pPr>
            <a:r>
              <a:rPr lang="en-IN" sz="3200" b="1" dirty="0">
                <a:cs typeface="Times New Roman" pitchFamily="18" charset="0"/>
              </a:rPr>
              <a:t>Perform the following steps to setup Empty CLL:</a:t>
            </a:r>
            <a:r>
              <a:rPr lang="en-IN" sz="3200" dirty="0">
                <a:cs typeface="Times New Roman" pitchFamily="18" charset="0"/>
              </a:rPr>
              <a:t>.</a:t>
            </a:r>
          </a:p>
          <a:p>
            <a:r>
              <a:rPr lang="en-IN" sz="3200" dirty="0">
                <a:cs typeface="Times New Roman" pitchFamily="18" charset="0"/>
              </a:rPr>
              <a:t>   </a:t>
            </a:r>
          </a:p>
          <a:p>
            <a:r>
              <a:rPr lang="en-IN" sz="3200" dirty="0">
                <a:cs typeface="Times New Roman" pitchFamily="18" charset="0"/>
              </a:rPr>
              <a:t>   Step 1 - Define a </a:t>
            </a:r>
            <a:r>
              <a:rPr lang="en-IN" sz="3200" b="1" dirty="0">
                <a:cs typeface="Times New Roman" pitchFamily="18" charset="0"/>
              </a:rPr>
              <a:t>Node</a:t>
            </a:r>
            <a:r>
              <a:rPr lang="en-IN" sz="3200" dirty="0">
                <a:cs typeface="Times New Roman" pitchFamily="18" charset="0"/>
              </a:rPr>
              <a:t> structure with two members/fields </a:t>
            </a:r>
            <a:r>
              <a:rPr lang="en-IN" sz="3200" b="1" dirty="0">
                <a:cs typeface="Times New Roman" pitchFamily="18" charset="0"/>
              </a:rPr>
              <a:t>data</a:t>
            </a:r>
            <a:r>
              <a:rPr lang="en-IN" sz="3200" dirty="0">
                <a:cs typeface="Times New Roman" pitchFamily="18" charset="0"/>
              </a:rPr>
              <a:t> and     </a:t>
            </a:r>
            <a:r>
              <a:rPr lang="en-IN" sz="3200" b="1" dirty="0">
                <a:cs typeface="Times New Roman" pitchFamily="18" charset="0"/>
              </a:rPr>
              <a:t>next</a:t>
            </a:r>
            <a:endParaRPr lang="en-IN" sz="3200" dirty="0">
              <a:cs typeface="Times New Roman" pitchFamily="18" charset="0"/>
            </a:endParaRPr>
          </a:p>
          <a:p>
            <a:r>
              <a:rPr lang="en-IN" sz="3200" dirty="0">
                <a:cs typeface="Times New Roman" pitchFamily="18" charset="0"/>
              </a:rPr>
              <a:t>   Step 2 - Define a Node pointer '</a:t>
            </a:r>
            <a:r>
              <a:rPr lang="en-IN" sz="3200" b="1" dirty="0">
                <a:cs typeface="Times New Roman" pitchFamily="18" charset="0"/>
              </a:rPr>
              <a:t>head</a:t>
            </a:r>
            <a:r>
              <a:rPr lang="en-IN" sz="3200" dirty="0">
                <a:cs typeface="Times New Roman" pitchFamily="18" charset="0"/>
              </a:rPr>
              <a:t>' and set it to </a:t>
            </a:r>
            <a:r>
              <a:rPr lang="en-IN" sz="3200" b="1" dirty="0">
                <a:cs typeface="Times New Roman" pitchFamily="18" charset="0"/>
              </a:rPr>
              <a:t>NULL</a:t>
            </a:r>
            <a:r>
              <a:rPr lang="en-IN" sz="3200" dirty="0">
                <a:cs typeface="Times New Roman" pitchFamily="18" charset="0"/>
              </a:rPr>
              <a:t>.</a:t>
            </a:r>
          </a:p>
          <a:p>
            <a:r>
              <a:rPr lang="en-IN" sz="3200" dirty="0">
                <a:cs typeface="Times New Roman" pitchFamily="18" charset="0"/>
              </a:rPr>
              <a:t>   Step 3 – Then perform the Operations one by one.</a:t>
            </a:r>
          </a:p>
          <a:p>
            <a:endParaRPr lang="en-IN" sz="2400" b="1" dirty="0">
              <a:latin typeface="Times New Roman" pitchFamily="18" charset="0"/>
              <a:cs typeface="Times New Roman" pitchFamily="18" charset="0"/>
            </a:endParaRPr>
          </a:p>
          <a:p>
            <a:endParaRPr lang="en-IN" sz="2000" dirty="0"/>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07067" y="345602"/>
            <a:ext cx="106849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OPERATIONS ON CIRCULAR LINKED LIST </a:t>
            </a:r>
            <a:r>
              <a:rPr lang="en-US" sz="3600" dirty="0"/>
              <a:t>(Cont..)</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73193" y="1117531"/>
            <a:ext cx="11542815" cy="1631216"/>
          </a:xfrm>
          <a:prstGeom prst="rect">
            <a:avLst/>
          </a:prstGeom>
        </p:spPr>
        <p:txBody>
          <a:bodyPr wrap="square">
            <a:spAutoFit/>
          </a:bodyPr>
          <a:lstStyle/>
          <a:p>
            <a:pPr lvl="1"/>
            <a:endParaRPr lang="en-IN" sz="2400" dirty="0"/>
          </a:p>
          <a:p>
            <a:pPr lvl="1"/>
            <a:endParaRPr lang="en-IN" sz="2400" dirty="0"/>
          </a:p>
          <a:p>
            <a:endParaRPr lang="en-IN" sz="2800" b="1" dirty="0"/>
          </a:p>
          <a:p>
            <a:pPr lvl="1"/>
            <a:endParaRPr lang="en-IN" sz="2400" dirty="0"/>
          </a:p>
        </p:txBody>
      </p:sp>
      <p:sp>
        <p:nvSpPr>
          <p:cNvPr id="7" name="Content Placeholder 6"/>
          <p:cNvSpPr>
            <a:spLocks noGrp="1"/>
          </p:cNvSpPr>
          <p:nvPr>
            <p:ph idx="1"/>
          </p:nvPr>
        </p:nvSpPr>
        <p:spPr>
          <a:xfrm>
            <a:off x="965200" y="1148292"/>
            <a:ext cx="10515600" cy="4351338"/>
          </a:xfrm>
        </p:spPr>
        <p:txBody>
          <a:bodyPr/>
          <a:lstStyle/>
          <a:p>
            <a:pPr marL="342900" indent="-342900">
              <a:lnSpc>
                <a:spcPct val="100000"/>
              </a:lnSpc>
              <a:buClr>
                <a:srgbClr val="FF0000"/>
              </a:buClr>
            </a:pPr>
            <a:r>
              <a:rPr lang="en-IN" sz="3200" dirty="0">
                <a:cs typeface="Times New Roman" pitchFamily="18" charset="0"/>
              </a:rPr>
              <a:t>Creation of list</a:t>
            </a:r>
          </a:p>
          <a:p>
            <a:pPr marL="342900" indent="-342900">
              <a:lnSpc>
                <a:spcPct val="100000"/>
              </a:lnSpc>
              <a:buClr>
                <a:srgbClr val="FF0000"/>
              </a:buClr>
            </a:pPr>
            <a:r>
              <a:rPr lang="en-IN" sz="3200" dirty="0">
                <a:cs typeface="Times New Roman" pitchFamily="18" charset="0"/>
              </a:rPr>
              <a:t>Insertion of node</a:t>
            </a:r>
          </a:p>
          <a:p>
            <a:pPr marL="1257300" lvl="2" indent="-342900">
              <a:lnSpc>
                <a:spcPct val="100000"/>
              </a:lnSpc>
              <a:buClr>
                <a:srgbClr val="FF0000"/>
              </a:buClr>
            </a:pPr>
            <a:r>
              <a:rPr lang="en-IN" sz="3200" dirty="0">
                <a:cs typeface="Times New Roman" pitchFamily="18" charset="0"/>
              </a:rPr>
              <a:t>At the beginning of list</a:t>
            </a:r>
          </a:p>
          <a:p>
            <a:pPr marL="1257300" lvl="2" indent="-342900">
              <a:lnSpc>
                <a:spcPct val="100000"/>
              </a:lnSpc>
              <a:buClr>
                <a:srgbClr val="FF0000"/>
              </a:buClr>
            </a:pPr>
            <a:r>
              <a:rPr lang="en-IN" sz="3200" dirty="0">
                <a:cs typeface="Times New Roman" pitchFamily="18" charset="0"/>
              </a:rPr>
              <a:t>At any position in the list</a:t>
            </a:r>
          </a:p>
          <a:p>
            <a:pPr marL="1257300" lvl="2" indent="-342900">
              <a:lnSpc>
                <a:spcPct val="100000"/>
              </a:lnSpc>
              <a:buClr>
                <a:srgbClr val="FF0000"/>
              </a:buClr>
            </a:pPr>
            <a:r>
              <a:rPr lang="en-IN" sz="3200" dirty="0">
                <a:cs typeface="Times New Roman" pitchFamily="18" charset="0"/>
              </a:rPr>
              <a:t>At the end of list</a:t>
            </a:r>
          </a:p>
          <a:p>
            <a:pPr marL="342900" indent="-342900">
              <a:lnSpc>
                <a:spcPct val="100000"/>
              </a:lnSpc>
              <a:buClr>
                <a:srgbClr val="FF0000"/>
              </a:buClr>
            </a:pPr>
            <a:r>
              <a:rPr lang="en-IN" sz="3200" dirty="0">
                <a:cs typeface="Times New Roman" pitchFamily="18" charset="0"/>
              </a:rPr>
              <a:t>Deletion of node</a:t>
            </a:r>
          </a:p>
          <a:p>
            <a:pPr marL="1257300" lvl="2" indent="-342900">
              <a:lnSpc>
                <a:spcPct val="100000"/>
              </a:lnSpc>
              <a:buClr>
                <a:srgbClr val="FF0000"/>
              </a:buClr>
            </a:pPr>
            <a:r>
              <a:rPr lang="en-IN" sz="3200" dirty="0">
                <a:cs typeface="Times New Roman" pitchFamily="18" charset="0"/>
              </a:rPr>
              <a:t>Deletion of first node</a:t>
            </a:r>
          </a:p>
          <a:p>
            <a:pPr marL="1257300" lvl="2" indent="-342900">
              <a:lnSpc>
                <a:spcPct val="100000"/>
              </a:lnSpc>
              <a:buClr>
                <a:srgbClr val="FF0000"/>
              </a:buClr>
            </a:pPr>
            <a:r>
              <a:rPr lang="en-IN" sz="3200" dirty="0">
                <a:cs typeface="Times New Roman" pitchFamily="18" charset="0"/>
              </a:rPr>
              <a:t>Deletion of node from middle of the list</a:t>
            </a:r>
          </a:p>
          <a:p>
            <a:pPr marL="1257300" lvl="2" indent="-342900">
              <a:lnSpc>
                <a:spcPct val="100000"/>
              </a:lnSpc>
              <a:buClr>
                <a:srgbClr val="FF0000"/>
              </a:buClr>
            </a:pPr>
            <a:r>
              <a:rPr lang="en-IN" sz="3200" dirty="0">
                <a:cs typeface="Times New Roman" pitchFamily="18" charset="0"/>
              </a:rPr>
              <a:t>Deletion of last node</a:t>
            </a:r>
          </a:p>
          <a:p>
            <a:endParaRPr lang="en-US"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427967" y="215251"/>
            <a:ext cx="10764033" cy="77199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cs typeface="Times New Roman" pitchFamily="18" charset="0"/>
            </a:endParaRPr>
          </a:p>
          <a:p>
            <a:pPr algn="ctr"/>
            <a:endParaRPr lang="en-US" sz="3200" b="1" dirty="0">
              <a:solidFill>
                <a:schemeClr val="bg1"/>
              </a:solidFill>
              <a:cs typeface="Times New Roman" pitchFamily="18" charset="0"/>
            </a:endParaRPr>
          </a:p>
          <a:p>
            <a:pPr algn="ctr"/>
            <a:r>
              <a:rPr lang="en-US" sz="3600" b="1" dirty="0">
                <a:solidFill>
                  <a:schemeClr val="bg1"/>
                </a:solidFill>
                <a:cs typeface="Times New Roman" pitchFamily="18" charset="0"/>
              </a:rPr>
              <a:t>Algorithm for Creating &amp; </a:t>
            </a:r>
            <a:r>
              <a:rPr lang="en-US" sz="3600" b="1" dirty="0"/>
              <a:t>displaying a circular linked list</a:t>
            </a:r>
          </a:p>
          <a:p>
            <a:pPr algn="ctr"/>
            <a:r>
              <a:rPr lang="en-US" sz="3600" b="1" dirty="0">
                <a:solidFill>
                  <a:schemeClr val="bg1"/>
                </a:solidFill>
                <a:cs typeface="Times New Roman" pitchFamily="18" charset="0"/>
              </a:rPr>
              <a:t> </a:t>
            </a:r>
            <a:br>
              <a:rPr lang="en-US" sz="3600" b="1" dirty="0">
                <a:solidFill>
                  <a:srgbClr val="7030A0"/>
                </a:solidFill>
                <a:cs typeface="Times New Roman" pitchFamily="18" charset="0"/>
              </a:rPr>
            </a:br>
            <a:endParaRPr lang="en-US" sz="3600" b="1" dirty="0">
              <a:solidFill>
                <a:schemeClr val="bg1"/>
              </a:solidFill>
              <a:cs typeface="Times New Roman"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Content Placeholder 8"/>
          <p:cNvSpPr>
            <a:spLocks noGrp="1"/>
          </p:cNvSpPr>
          <p:nvPr>
            <p:ph idx="1"/>
          </p:nvPr>
        </p:nvSpPr>
        <p:spPr>
          <a:xfrm>
            <a:off x="838200" y="1126067"/>
            <a:ext cx="10515600" cy="5050896"/>
          </a:xfrm>
        </p:spPr>
        <p:txBody>
          <a:bodyPr/>
          <a:lstStyle/>
          <a:p>
            <a:r>
              <a:rPr lang="en-US" dirty="0"/>
              <a:t>Define a Node class which represents a node in the list. It has two properties data and next which will point to the next node.</a:t>
            </a:r>
          </a:p>
          <a:p>
            <a:r>
              <a:rPr lang="en-US" dirty="0"/>
              <a:t>Define another class for creating the circular linked list and it has two nodes: head and tail. It has two methods: add() and display() .</a:t>
            </a:r>
          </a:p>
          <a:p>
            <a:r>
              <a:rPr lang="en-US" b="1" dirty="0"/>
              <a:t>add()</a:t>
            </a:r>
            <a:r>
              <a:rPr lang="en-US" dirty="0"/>
              <a:t> will add the node to the list:</a:t>
            </a:r>
          </a:p>
          <a:p>
            <a:pPr lvl="1"/>
            <a:r>
              <a:rPr lang="en-US" dirty="0"/>
              <a:t>It first checks whether the head is null, then it will insert the node as the head.</a:t>
            </a:r>
          </a:p>
          <a:p>
            <a:pPr lvl="1"/>
            <a:r>
              <a:rPr lang="en-US" dirty="0"/>
              <a:t>Both head and tail will point to the newly added node.</a:t>
            </a:r>
          </a:p>
          <a:p>
            <a:pPr lvl="1"/>
            <a:r>
              <a:rPr lang="en-US" dirty="0"/>
              <a:t>If the head is not null, the new node will be the new tail, and the new tail will point to the head as it is a circular linked list.</a:t>
            </a:r>
          </a:p>
          <a:p>
            <a:r>
              <a:rPr lang="en-US" b="1" dirty="0"/>
              <a:t>display()</a:t>
            </a:r>
            <a:r>
              <a:rPr lang="en-US" dirty="0"/>
              <a:t> will show all the nodes present in the list.</a:t>
            </a:r>
          </a:p>
          <a:p>
            <a:pPr lvl="1"/>
            <a:r>
              <a:rPr lang="en-US" dirty="0"/>
              <a:t>Define a new node 'current' that will point to the head.</a:t>
            </a:r>
          </a:p>
          <a:p>
            <a:pPr lvl="1"/>
            <a:r>
              <a:rPr lang="en-US" dirty="0"/>
              <a:t>Print </a:t>
            </a:r>
            <a:r>
              <a:rPr lang="en-US" dirty="0" err="1"/>
              <a:t>current.data</a:t>
            </a:r>
            <a:r>
              <a:rPr lang="en-US" dirty="0"/>
              <a:t> till current will points to head</a:t>
            </a:r>
          </a:p>
          <a:p>
            <a:pPr lvl="1"/>
            <a:r>
              <a:rPr lang="en-US" dirty="0"/>
              <a:t>Current will point to the next node in the list in each iteration.</a:t>
            </a:r>
          </a:p>
          <a:p>
            <a:pPr lvl="1"/>
            <a:endParaRPr lang="en-US" dirty="0"/>
          </a:p>
          <a:p>
            <a:pPr>
              <a:buNone/>
            </a:pPr>
            <a:endParaRPr lang="en-US" sz="1100"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8804766"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SinglyLinkedlist4.png"/>
          <p:cNvPicPr>
            <a:picLocks noGrp="1" noChangeAspect="1"/>
          </p:cNvPicPr>
          <p:nvPr>
            <p:ph idx="1"/>
          </p:nvPr>
        </p:nvPicPr>
        <p:blipFill>
          <a:blip r:embed="rId3"/>
          <a:stretch>
            <a:fillRect/>
          </a:stretch>
        </p:blipFill>
        <p:spPr>
          <a:xfrm>
            <a:off x="613774" y="1139868"/>
            <a:ext cx="7991607" cy="2455102"/>
          </a:xfrm>
        </p:spPr>
      </p:pic>
      <p:pic>
        <p:nvPicPr>
          <p:cNvPr id="9" name="Picture 8" descr="CircularSinglLinkedList5-660x168.png"/>
          <p:cNvPicPr>
            <a:picLocks noChangeAspect="1"/>
          </p:cNvPicPr>
          <p:nvPr/>
        </p:nvPicPr>
        <p:blipFill>
          <a:blip r:embed="rId4"/>
          <a:stretch>
            <a:fillRect/>
          </a:stretch>
        </p:blipFill>
        <p:spPr>
          <a:xfrm>
            <a:off x="3356975" y="3657600"/>
            <a:ext cx="8668011" cy="3006246"/>
          </a:xfrm>
          <a:prstGeom prst="rect">
            <a:avLst/>
          </a:prstGeom>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18137" y="0"/>
            <a:ext cx="9268229"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Content Placeholder 6"/>
          <p:cNvSpPr>
            <a:spLocks noGrp="1"/>
          </p:cNvSpPr>
          <p:nvPr>
            <p:ph idx="1"/>
          </p:nvPr>
        </p:nvSpPr>
        <p:spPr>
          <a:xfrm>
            <a:off x="0" y="826718"/>
            <a:ext cx="11999933" cy="5350245"/>
          </a:xfrm>
        </p:spPr>
        <p:txBody>
          <a:bodyPr/>
          <a:lstStyle/>
          <a:p>
            <a:r>
              <a:rPr lang="en-US" sz="3200" b="1" dirty="0"/>
              <a:t>Step 1:</a:t>
            </a:r>
            <a:r>
              <a:rPr lang="en-US" sz="3200" dirty="0"/>
              <a:t> IF PTR = NULL {Write OVERFLOW (Go to Step 11) [END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TEMP = HEAD</a:t>
            </a:r>
          </a:p>
          <a:p>
            <a:r>
              <a:rPr lang="en-US" sz="3200" b="1" dirty="0"/>
              <a:t>Step 6:</a:t>
            </a:r>
            <a:r>
              <a:rPr lang="en-US" sz="3200" dirty="0"/>
              <a:t> Repeat Step 8 while TEMP -&gt; NEXT != HEAD</a:t>
            </a:r>
          </a:p>
          <a:p>
            <a:r>
              <a:rPr lang="en-US" sz="3200" b="1" dirty="0"/>
              <a:t>Step 7:</a:t>
            </a:r>
            <a:r>
              <a:rPr lang="en-US" sz="3200" dirty="0"/>
              <a:t> SET TEMP = TEMP -&gt; NEXT[END OF LOOP]</a:t>
            </a:r>
          </a:p>
          <a:p>
            <a:r>
              <a:rPr lang="en-US" sz="3200" b="1" dirty="0"/>
              <a:t>Step 8:</a:t>
            </a:r>
            <a:r>
              <a:rPr lang="en-US" sz="3200" dirty="0"/>
              <a:t> SET NEW_NODE -&gt; NEXT = HEAD</a:t>
            </a:r>
          </a:p>
          <a:p>
            <a:r>
              <a:rPr lang="en-US" sz="3200" b="1" dirty="0"/>
              <a:t>Step 9:</a:t>
            </a:r>
            <a:r>
              <a:rPr lang="en-US" sz="3200" dirty="0"/>
              <a:t> SET TEMP → NEXT = NEW_NODE</a:t>
            </a:r>
          </a:p>
          <a:p>
            <a:r>
              <a:rPr lang="en-US" sz="3200" b="1" dirty="0"/>
              <a:t>Step 10:</a:t>
            </a:r>
            <a:r>
              <a:rPr lang="en-US" sz="3200" dirty="0"/>
              <a:t> SET HEAD = NEW_NODE</a:t>
            </a:r>
          </a:p>
          <a:p>
            <a:r>
              <a:rPr lang="en-US" sz="3200" b="1" dirty="0"/>
              <a:t>Step 11:</a:t>
            </a:r>
            <a:r>
              <a:rPr lang="en-US" sz="3200" dirty="0"/>
              <a:t> EXIT</a:t>
            </a:r>
          </a:p>
          <a:p>
            <a:endParaRPr lang="en-US"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03123" y="253280"/>
            <a:ext cx="10688877"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(Deletion of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9" name="Content Placeholder 8" descr="CircularSinglyLinkedlist6.png"/>
          <p:cNvPicPr>
            <a:picLocks noGrp="1" noChangeAspect="1"/>
          </p:cNvPicPr>
          <p:nvPr>
            <p:ph idx="1"/>
          </p:nvPr>
        </p:nvPicPr>
        <p:blipFill>
          <a:blip r:embed="rId3"/>
          <a:stretch>
            <a:fillRect/>
          </a:stretch>
        </p:blipFill>
        <p:spPr>
          <a:xfrm>
            <a:off x="710025" y="1363912"/>
            <a:ext cx="7244001" cy="2393895"/>
          </a:xfrm>
        </p:spPr>
      </p:pic>
      <p:pic>
        <p:nvPicPr>
          <p:cNvPr id="10" name="Picture 9" descr="CircularSinglyLinkedlist7-660x234.png"/>
          <p:cNvPicPr>
            <a:picLocks noChangeAspect="1"/>
          </p:cNvPicPr>
          <p:nvPr/>
        </p:nvPicPr>
        <p:blipFill>
          <a:blip r:embed="rId4"/>
          <a:stretch>
            <a:fillRect/>
          </a:stretch>
        </p:blipFill>
        <p:spPr>
          <a:xfrm>
            <a:off x="4396636" y="3945699"/>
            <a:ext cx="7795364" cy="2661780"/>
          </a:xfrm>
          <a:prstGeom prst="rect">
            <a:avLst/>
          </a:prstGeom>
        </p:spPr>
      </p:pic>
    </p:spTree>
    <p:extLst>
      <p:ext uri="{BB962C8B-B14F-4D97-AF65-F5344CB8AC3E}">
        <p14:creationId xmlns:p14="http://schemas.microsoft.com/office/powerpoint/2010/main" val="14605683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9694114"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162839" y="1175656"/>
            <a:ext cx="11748112" cy="5498275"/>
          </a:xfrm>
        </p:spPr>
        <p:txBody>
          <a:bodyPr/>
          <a:lstStyle/>
          <a:p>
            <a:r>
              <a:rPr lang="en-US" sz="3200" b="1" dirty="0"/>
              <a:t>Step 1:</a:t>
            </a:r>
            <a:r>
              <a:rPr lang="en-US" sz="3200" dirty="0"/>
              <a:t> IF PTR = NULL  Write OVERFLOW(Go to Step 1)[END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NEW_NODE -&gt; NEXT = HEAD</a:t>
            </a:r>
          </a:p>
          <a:p>
            <a:r>
              <a:rPr lang="en-US" sz="3200" b="1" dirty="0"/>
              <a:t>Step 6:</a:t>
            </a:r>
            <a:r>
              <a:rPr lang="en-US" sz="3200" dirty="0"/>
              <a:t> SET TEMP = HEAD</a:t>
            </a:r>
          </a:p>
          <a:p>
            <a:r>
              <a:rPr lang="en-US" sz="3200" b="1" dirty="0"/>
              <a:t>Step 7:</a:t>
            </a:r>
            <a:r>
              <a:rPr lang="en-US" sz="3200" dirty="0"/>
              <a:t> Repeat Step 8 while TEMP -&gt; NEXT != HEAD</a:t>
            </a:r>
          </a:p>
          <a:p>
            <a:r>
              <a:rPr lang="en-US" sz="3200" b="1" dirty="0"/>
              <a:t>Step 8:</a:t>
            </a:r>
            <a:r>
              <a:rPr lang="en-US" sz="3200" dirty="0"/>
              <a:t> SET TEMP = TEMP -&gt; NEXT [END OF LOOP]</a:t>
            </a:r>
          </a:p>
          <a:p>
            <a:r>
              <a:rPr lang="en-US" sz="3200" b="1" dirty="0"/>
              <a:t>Step 9:</a:t>
            </a:r>
            <a:r>
              <a:rPr lang="en-US" sz="3200" dirty="0"/>
              <a:t> SET TEMP -&gt; NEXT = NEW_NODE</a:t>
            </a:r>
          </a:p>
          <a:p>
            <a:r>
              <a:rPr lang="en-US" sz="3200" b="1" dirty="0"/>
              <a:t>Step 10:</a:t>
            </a:r>
            <a:r>
              <a:rPr lang="en-US" sz="3200" dirty="0"/>
              <a:t> EXIT</a:t>
            </a:r>
          </a:p>
          <a:p>
            <a:pPr>
              <a:buNone/>
            </a:pPr>
            <a:br>
              <a:rPr lang="en-US" sz="3200" dirty="0"/>
            </a:br>
            <a:endParaRPr lang="en-IN" sz="3200" b="1" dirty="0"/>
          </a:p>
        </p:txBody>
      </p:sp>
    </p:spTree>
    <p:extLst>
      <p:ext uri="{BB962C8B-B14F-4D97-AF65-F5344CB8AC3E}">
        <p14:creationId xmlns:p14="http://schemas.microsoft.com/office/powerpoint/2010/main" val="3892933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ll1-660x203.png"/>
          <p:cNvPicPr>
            <a:picLocks noGrp="1" noChangeAspect="1"/>
          </p:cNvPicPr>
          <p:nvPr>
            <p:ph idx="1"/>
          </p:nvPr>
        </p:nvPicPr>
        <p:blipFill>
          <a:blip r:embed="rId3"/>
          <a:stretch>
            <a:fillRect/>
          </a:stretch>
        </p:blipFill>
        <p:spPr>
          <a:xfrm>
            <a:off x="405529" y="1227551"/>
            <a:ext cx="8450371" cy="2467627"/>
          </a:xfrm>
        </p:spPr>
      </p:pic>
      <p:pic>
        <p:nvPicPr>
          <p:cNvPr id="9" name="Picture 8" descr="CircularSinglyLinkedList9-660x212.png"/>
          <p:cNvPicPr>
            <a:picLocks noChangeAspect="1"/>
          </p:cNvPicPr>
          <p:nvPr/>
        </p:nvPicPr>
        <p:blipFill>
          <a:blip r:embed="rId4"/>
          <a:stretch>
            <a:fillRect/>
          </a:stretch>
        </p:blipFill>
        <p:spPr>
          <a:xfrm>
            <a:off x="2041742" y="3858015"/>
            <a:ext cx="9732724" cy="2780779"/>
          </a:xfrm>
          <a:prstGeom prst="rect">
            <a:avLst/>
          </a:prstGeom>
        </p:spPr>
      </p:pic>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741118"/>
            <a:ext cx="11649692" cy="4980316"/>
          </a:xfrm>
        </p:spPr>
        <p:txBody>
          <a:bodyPr/>
          <a:lstStyle/>
          <a:p>
            <a:pPr fontAlgn="base">
              <a:buNone/>
            </a:pPr>
            <a:r>
              <a:rPr lang="en-US" sz="3200" dirty="0"/>
              <a:t>To insert a node in between the two nodes, follow these steps: </a:t>
            </a:r>
          </a:p>
          <a:p>
            <a:pPr fontAlgn="base">
              <a:buNone/>
            </a:pPr>
            <a:endParaRPr lang="en-US" sz="3200" dirty="0"/>
          </a:p>
          <a:p>
            <a:pPr fontAlgn="base"/>
            <a:r>
              <a:rPr lang="en-US" sz="3200" dirty="0"/>
              <a:t>Create a node, say T. </a:t>
            </a:r>
          </a:p>
          <a:p>
            <a:pPr fontAlgn="base"/>
            <a:r>
              <a:rPr lang="en-US" sz="3200" dirty="0"/>
              <a:t>Search for the node after which T needs to be inserted, say that node is P. </a:t>
            </a:r>
          </a:p>
          <a:p>
            <a:pPr fontAlgn="base"/>
            <a:r>
              <a:rPr lang="en-US" sz="3200" dirty="0"/>
              <a:t>Make T -&gt; next = P -&gt; next; </a:t>
            </a:r>
          </a:p>
          <a:p>
            <a:pPr fontAlgn="base"/>
            <a:r>
              <a:rPr lang="en-US" sz="3200" dirty="0"/>
              <a:t>P -&gt; next = T.</a:t>
            </a:r>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node then, in that case, we need to traverse the list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r>
              <a:rPr lang="en-US" sz="3200" dirty="0"/>
              <a:t>Write UNDERFLOW (Go to Step 8) [END OF IF]</a:t>
            </a:r>
          </a:p>
          <a:p>
            <a:r>
              <a:rPr lang="en-US" sz="3200" b="1" dirty="0"/>
              <a:t>Step 2:</a:t>
            </a:r>
            <a:r>
              <a:rPr lang="en-US" sz="3200" dirty="0"/>
              <a:t> SET PTR = HEAD</a:t>
            </a:r>
          </a:p>
          <a:p>
            <a:r>
              <a:rPr lang="en-US" sz="3200" b="1" dirty="0"/>
              <a:t>Step 3:</a:t>
            </a:r>
            <a:r>
              <a:rPr lang="en-US" sz="3200" dirty="0"/>
              <a:t> Repeat Step 4 while PTR → NEXT != HEAD</a:t>
            </a:r>
          </a:p>
          <a:p>
            <a:r>
              <a:rPr lang="en-US" sz="3200" b="1" dirty="0"/>
              <a:t>Step 4:</a:t>
            </a:r>
            <a:r>
              <a:rPr lang="en-US" sz="3200" dirty="0"/>
              <a:t> SET PTR = PTR → next  [END OF LOOP]</a:t>
            </a:r>
          </a:p>
          <a:p>
            <a:r>
              <a:rPr lang="en-US" sz="3200" b="1" dirty="0"/>
              <a:t>Step 5:</a:t>
            </a:r>
            <a:r>
              <a:rPr lang="en-US" sz="3200" dirty="0"/>
              <a:t> SET PTR → NEXT = HEAD → NEXT</a:t>
            </a:r>
          </a:p>
          <a:p>
            <a:r>
              <a:rPr lang="en-US" sz="3200" b="1" dirty="0"/>
              <a:t>Step 6:</a:t>
            </a:r>
            <a:r>
              <a:rPr lang="en-US" sz="3200" dirty="0"/>
              <a:t> FREE HEAD</a:t>
            </a:r>
          </a:p>
          <a:p>
            <a:r>
              <a:rPr lang="en-US" sz="3200" b="1" dirty="0"/>
              <a:t>Step 7:</a:t>
            </a:r>
            <a:r>
              <a:rPr lang="en-US" sz="3200" dirty="0"/>
              <a:t> SET HEAD = PTR → NEXT</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25" name="Picture 24" descr="deletion-in-circular-singly-linked-list-at-beginning.png"/>
          <p:cNvPicPr>
            <a:picLocks noChangeAspect="1"/>
          </p:cNvPicPr>
          <p:nvPr/>
        </p:nvPicPr>
        <p:blipFill>
          <a:blip r:embed="rId3"/>
          <a:stretch>
            <a:fillRect/>
          </a:stretch>
        </p:blipFill>
        <p:spPr>
          <a:xfrm>
            <a:off x="864296" y="1465545"/>
            <a:ext cx="10784909" cy="4960307"/>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sp>
        <p:nvSpPr>
          <p:cNvPr id="3073" name="Rectangle 1"/>
          <p:cNvSpPr>
            <a:spLocks noChangeArrowheads="1"/>
          </p:cNvSpPr>
          <p:nvPr/>
        </p:nvSpPr>
        <p:spPr bwMode="auto">
          <a:xfrm>
            <a:off x="0" y="1064713"/>
            <a:ext cx="121920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1</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is empty</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just return from the function.</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2</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one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head == tail then assigned head and tail equal to null.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3</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middle node of the list at 1 position. In this case, we have to modify the head and tail also. Head becomes tail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tail.next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becomes also tail.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4</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more than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position of the middle node is greater than 1. In this case, we define the two-node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Assign head to the temp.</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traverse the list using temp up to the middle node. In each iteration assign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 = 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 =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temp.next</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Now temp is pointing to middle node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pointing to previous node of the middle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set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temp.next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temp=null,</a:t>
            </a:r>
            <a:endParaRPr kumimoji="0" lang="en-US" sz="2400" b="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circularlinkedlist-660x206.png"/>
          <p:cNvPicPr/>
          <p:nvPr/>
        </p:nvPicPr>
        <p:blipFill>
          <a:blip r:embed="rId3"/>
          <a:stretch>
            <a:fillRect/>
          </a:stretch>
        </p:blipFill>
        <p:spPr>
          <a:xfrm>
            <a:off x="345003" y="1200470"/>
            <a:ext cx="10928422" cy="2394500"/>
          </a:xfrm>
          <a:prstGeom prst="rect">
            <a:avLst/>
          </a:prstGeom>
        </p:spPr>
      </p:pic>
      <p:pic>
        <p:nvPicPr>
          <p:cNvPr id="8" name="Picture 7" descr="deletemiddlenode-660x259.png"/>
          <p:cNvPicPr/>
          <p:nvPr/>
        </p:nvPicPr>
        <p:blipFill>
          <a:blip r:embed="rId4"/>
          <a:stretch>
            <a:fillRect/>
          </a:stretch>
        </p:blipFill>
        <p:spPr>
          <a:xfrm>
            <a:off x="313150" y="3920648"/>
            <a:ext cx="10885117" cy="2430048"/>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ii)Deletion in Circular singly linked list at the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element, then in order to delete the last element, we need to reach the last node.</a:t>
            </a:r>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pPr>
              <a:buNone/>
            </a:pPr>
            <a:r>
              <a:rPr lang="en-US" sz="3200" dirty="0"/>
              <a:t>          Write UNDERFLOW   (Go to Step 8) [END OF IF]</a:t>
            </a:r>
          </a:p>
          <a:p>
            <a:r>
              <a:rPr lang="en-US" sz="3200" b="1" dirty="0"/>
              <a:t>Step 2:</a:t>
            </a:r>
            <a:r>
              <a:rPr lang="en-US" sz="3200" dirty="0"/>
              <a:t> SET PTR = HEAD</a:t>
            </a:r>
          </a:p>
          <a:p>
            <a:r>
              <a:rPr lang="en-US" sz="3200" b="1" dirty="0"/>
              <a:t>Step 3:</a:t>
            </a:r>
            <a:r>
              <a:rPr lang="en-US" sz="3200" dirty="0"/>
              <a:t> Repeat Steps 4 and 5 while PTR -&gt; NEXT != HEAD</a:t>
            </a:r>
          </a:p>
          <a:p>
            <a:r>
              <a:rPr lang="en-US" sz="3200" b="1" dirty="0"/>
              <a:t>Step 4:</a:t>
            </a:r>
            <a:r>
              <a:rPr lang="en-US" sz="3200" dirty="0"/>
              <a:t> SET PREPTR = PTR</a:t>
            </a:r>
          </a:p>
          <a:p>
            <a:r>
              <a:rPr lang="en-US" sz="3200" b="1" dirty="0"/>
              <a:t>Step 5:</a:t>
            </a:r>
            <a:r>
              <a:rPr lang="en-US" sz="3200" dirty="0"/>
              <a:t> SET PTR = PTR -&gt; NEXT  [END OF LOOP]</a:t>
            </a:r>
          </a:p>
          <a:p>
            <a:r>
              <a:rPr lang="en-US" sz="3200" b="1" dirty="0"/>
              <a:t>Step 6:</a:t>
            </a:r>
            <a:r>
              <a:rPr lang="en-US" sz="3200" dirty="0"/>
              <a:t> SET PREPTR -&gt; NEXT = HEAD</a:t>
            </a:r>
          </a:p>
          <a:p>
            <a:r>
              <a:rPr lang="en-US" sz="3200" b="1" dirty="0"/>
              <a:t>Step 7:</a:t>
            </a:r>
            <a:r>
              <a:rPr lang="en-US" sz="3200" dirty="0"/>
              <a:t> FREE PTR</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deletion-in-circular-singly-linked-list-at-end.png"/>
          <p:cNvPicPr>
            <a:picLocks noChangeAspect="1"/>
          </p:cNvPicPr>
          <p:nvPr/>
        </p:nvPicPr>
        <p:blipFill>
          <a:blip r:embed="rId3"/>
          <a:stretch>
            <a:fillRect/>
          </a:stretch>
        </p:blipFill>
        <p:spPr>
          <a:xfrm>
            <a:off x="212942" y="1390389"/>
            <a:ext cx="11786992" cy="5223353"/>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79241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2400" dirty="0"/>
              <a:t>A circular linked list is a sequence of elements in which every element has a link to its next element in the sequence and the last element has a link to the first element.</a:t>
            </a:r>
          </a:p>
          <a:p>
            <a:pPr marL="285750" indent="-285750">
              <a:buFont typeface="Wingdings" pitchFamily="2" charset="2"/>
              <a:buChar char="Ø"/>
            </a:pPr>
            <a:r>
              <a:rPr lang="en-IN" sz="2400" dirty="0"/>
              <a:t>That means circular linked list is similar to the single linked list except that the last node points to the first node in the list</a:t>
            </a:r>
          </a:p>
          <a:p>
            <a:pPr marL="285750" indent="-285750">
              <a:buFont typeface="Wingdings" pitchFamily="2" charset="2"/>
              <a:buChar char="Ø"/>
            </a:pPr>
            <a:r>
              <a:rPr lang="en-IN" sz="2400" dirty="0"/>
              <a:t>In a circular linked list, we perform the following operations...</a:t>
            </a:r>
          </a:p>
          <a:p>
            <a:r>
              <a:rPr lang="en-IN" sz="2400" dirty="0"/>
              <a:t>      i) Insertion	ii)  Deletion	iii)  Display	iv) Search</a:t>
            </a:r>
          </a:p>
          <a:p>
            <a:endParaRPr lang="en-IN" sz="2400" dirty="0"/>
          </a:p>
          <a:p>
            <a:pPr marL="285750" indent="-285750">
              <a:buFont typeface="Wingdings" pitchFamily="2" charset="2"/>
              <a:buChar char="Ø"/>
            </a:pPr>
            <a:r>
              <a:rPr lang="en-IN" sz="2400" dirty="0"/>
              <a:t>The insertion operation can be performed in three ways. They are as follows...</a:t>
            </a:r>
          </a:p>
          <a:p>
            <a:r>
              <a:rPr lang="en-IN" sz="2400" dirty="0"/>
              <a:t>      i)   Inserting At Beginning of the list</a:t>
            </a:r>
          </a:p>
          <a:p>
            <a:r>
              <a:rPr lang="en-IN" sz="2400" dirty="0"/>
              <a:t>      ii)  Inserting At End of the list</a:t>
            </a:r>
          </a:p>
          <a:p>
            <a:r>
              <a:rPr lang="en-IN" sz="2400" dirty="0"/>
              <a:t>      iii) Inserting At Specific location in the list</a:t>
            </a:r>
          </a:p>
          <a:p>
            <a:endParaRPr lang="en-IN" sz="2400" dirty="0"/>
          </a:p>
          <a:p>
            <a:pPr marL="285750" indent="-285750">
              <a:buFont typeface="Wingdings" pitchFamily="2" charset="2"/>
              <a:buChar char="Ø"/>
            </a:pPr>
            <a:r>
              <a:rPr lang="en-IN" sz="2400" dirty="0"/>
              <a:t>The deletion operation can be performed in three ways those are as follows...</a:t>
            </a:r>
          </a:p>
          <a:p>
            <a:r>
              <a:rPr lang="en-IN" sz="2400" dirty="0"/>
              <a:t>      i)   Deleting from Beginning of the list</a:t>
            </a:r>
          </a:p>
          <a:p>
            <a:r>
              <a:rPr lang="en-IN" sz="2400" dirty="0"/>
              <a:t>      ii)  Deleting from End of the list</a:t>
            </a:r>
          </a:p>
          <a:p>
            <a:r>
              <a:rPr lang="en-IN" sz="2400" dirty="0"/>
              <a:t>      iii) Deleting a Specific Node</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729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    (Cont..)</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5632311"/>
          </a:xfrm>
          <a:prstGeom prst="rect">
            <a:avLst/>
          </a:prstGeom>
          <a:noFill/>
        </p:spPr>
        <p:txBody>
          <a:bodyPr wrap="square" rtlCol="0">
            <a:spAutoFit/>
          </a:bodyPr>
          <a:lstStyle/>
          <a:p>
            <a:pPr algn="just"/>
            <a:r>
              <a:rPr lang="en-US" sz="2400" dirty="0"/>
              <a:t>Circular linked lists are a type of linked list where the last node points back to the first node, forming a loop. This circular structure allows continuous traversal from any node in the list. Key aspects include:</a:t>
            </a:r>
          </a:p>
          <a:p>
            <a:pPr algn="just"/>
            <a:r>
              <a:rPr lang="en-US" sz="2400" b="1" dirty="0"/>
              <a:t>Structure:</a:t>
            </a:r>
            <a:r>
              <a:rPr lang="en-US" sz="2400" dirty="0"/>
              <a:t> Nodes are linked in a sequence, and the last node connects back to the first node, creating a circular loop.</a:t>
            </a:r>
          </a:p>
          <a:p>
            <a:pPr algn="just"/>
            <a:r>
              <a:rPr lang="en-US" sz="2400" b="1" dirty="0"/>
              <a:t>Traversal:</a:t>
            </a:r>
            <a:r>
              <a:rPr lang="en-US" sz="2400" dirty="0"/>
              <a:t> Special attention is needed during traversal to prevent infinite loops within the circular structure. Proper exit conditions or marking visited nodes are essential.</a:t>
            </a:r>
          </a:p>
          <a:p>
            <a:pPr algn="just"/>
            <a:r>
              <a:rPr lang="en-US" sz="2400" b="1" dirty="0"/>
              <a:t>Operations:</a:t>
            </a:r>
            <a:r>
              <a:rPr lang="en-US" sz="2400" dirty="0"/>
              <a:t> Insertion, deletion, and traversal operations require careful handling of pointers to maintain the circular structure.</a:t>
            </a:r>
          </a:p>
          <a:p>
            <a:pPr algn="just"/>
            <a:r>
              <a:rPr lang="en-US" sz="2400" b="1" dirty="0"/>
              <a:t>Memory Management:</a:t>
            </a:r>
            <a:r>
              <a:rPr lang="en-US" sz="2400" dirty="0"/>
              <a:t> They offer benefits in memory allocation due to their continuous loop structure.</a:t>
            </a:r>
          </a:p>
          <a:p>
            <a:pPr algn="just"/>
            <a:r>
              <a:rPr lang="en-US" sz="2400" b="1" dirty="0"/>
              <a:t>Applications:</a:t>
            </a:r>
            <a:r>
              <a:rPr lang="en-US" sz="2400" dirty="0"/>
              <a:t> Used in scenarios requiring continuous looping behavior, like round-robin scheduling or circular buffers in memory management.</a:t>
            </a:r>
          </a:p>
          <a:p>
            <a:pPr algn="just"/>
            <a:r>
              <a:rPr lang="en-US" sz="2400" b="1" dirty="0"/>
              <a:t>Cycle Detection:</a:t>
            </a:r>
            <a:r>
              <a:rPr lang="en-US" sz="2400" dirty="0"/>
              <a:t> Techniques like Floyd's cycle detection algorithm are employed to detect cycles within the list.</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455835" y="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3200" dirty="0"/>
              <a:t>In a circular linked list, we perform the following operations...</a:t>
            </a:r>
          </a:p>
          <a:p>
            <a:r>
              <a:rPr lang="en-IN" sz="3200" dirty="0"/>
              <a:t>      i) Creation	ii)  Insertion	iii)  Deletion 	iv) display</a:t>
            </a:r>
          </a:p>
          <a:p>
            <a:pPr marL="285750" indent="-285750">
              <a:buFont typeface="Wingdings" pitchFamily="2" charset="2"/>
              <a:buChar char="Ø"/>
            </a:pPr>
            <a:r>
              <a:rPr lang="en-IN" sz="3200" dirty="0"/>
              <a:t>The insertion operation can be performed in three ways. They are as follows...</a:t>
            </a:r>
          </a:p>
          <a:p>
            <a:r>
              <a:rPr lang="en-IN" sz="3200" dirty="0"/>
              <a:t>      i)   Inserting At Beginning of the list</a:t>
            </a:r>
          </a:p>
          <a:p>
            <a:r>
              <a:rPr lang="en-IN" sz="3200" dirty="0"/>
              <a:t>      ii)  Inserting At End of the list</a:t>
            </a:r>
          </a:p>
          <a:p>
            <a:r>
              <a:rPr lang="en-IN" sz="3200" dirty="0"/>
              <a:t>      iii) Inserting At Specific location in the list</a:t>
            </a:r>
          </a:p>
          <a:p>
            <a:pPr marL="285750" indent="-285750">
              <a:buFont typeface="Wingdings" pitchFamily="2" charset="2"/>
              <a:buChar char="Ø"/>
            </a:pPr>
            <a:r>
              <a:rPr lang="en-IN" sz="3200" dirty="0"/>
              <a:t>The deletion operation can be performed in three ways those are as follows...</a:t>
            </a:r>
          </a:p>
          <a:p>
            <a:r>
              <a:rPr lang="en-IN" sz="3200" dirty="0"/>
              <a:t>      i)   Deleting from Beginning of the list</a:t>
            </a:r>
          </a:p>
          <a:p>
            <a:r>
              <a:rPr lang="en-IN" sz="3200" dirty="0"/>
              <a:t>      ii)  Deleting from End of the list</a:t>
            </a:r>
          </a:p>
          <a:p>
            <a:r>
              <a:rPr lang="en-IN" sz="3200" dirty="0"/>
              <a:t>      iii) Deleting a Specific Node</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1565753" y="94783"/>
            <a:ext cx="9870510" cy="65677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In a circular linked list with </a:t>
            </a:r>
            <a:r>
              <a:rPr lang="en-US" sz="2400" i="1" dirty="0"/>
              <a:t>n</a:t>
            </a:r>
            <a:r>
              <a:rPr lang="en-US" sz="2400" dirty="0"/>
              <a:t> nodes, how many pointers need to be updated when deleting the last node?</a:t>
            </a: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96419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dirty="0"/>
              <a:t>One</a:t>
            </a:r>
          </a:p>
          <a:p>
            <a:pPr marL="342900" indent="-342900">
              <a:lnSpc>
                <a:spcPct val="150000"/>
              </a:lnSpc>
              <a:buAutoNum type="alphaLcParenR"/>
            </a:pPr>
            <a:r>
              <a:rPr lang="en-US" dirty="0"/>
              <a:t>Two </a:t>
            </a:r>
          </a:p>
          <a:p>
            <a:pPr marL="342900" indent="-342900">
              <a:lnSpc>
                <a:spcPct val="150000"/>
              </a:lnSpc>
              <a:buAutoNum type="alphaLcParenR"/>
            </a:pPr>
            <a:r>
              <a:rPr lang="en-US" dirty="0"/>
              <a:t> None  </a:t>
            </a:r>
          </a:p>
          <a:p>
            <a:pPr marL="342900" indent="-342900">
              <a:lnSpc>
                <a:spcPct val="150000"/>
              </a:lnSpc>
              <a:buAutoNum type="alphaLcParenR"/>
            </a:pPr>
            <a:r>
              <a:rPr lang="en-US" dirty="0"/>
              <a:t>n</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false about a circular linked list?</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Every node has a successor</a:t>
            </a:r>
            <a:br>
              <a:rPr lang="en-IN" dirty="0"/>
            </a:br>
            <a:r>
              <a:rPr lang="en-IN" dirty="0"/>
              <a:t>b) Time complexity of inserting a new node at the head of the list is O(1)</a:t>
            </a:r>
            <a:br>
              <a:rPr lang="en-IN" dirty="0"/>
            </a:br>
            <a:r>
              <a:rPr lang="en-IN" dirty="0"/>
              <a:t>c) Time complexity for deleting the last node is O(n)</a:t>
            </a:r>
            <a:br>
              <a:rPr lang="en-IN" dirty="0"/>
            </a:br>
            <a:r>
              <a:rPr lang="en-IN" dirty="0"/>
              <a:t>d) We can traverse the whole circular linked list by starting from any point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59414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TERMINAL QUESTIONS</a:t>
            </a:r>
          </a:p>
        </p:txBody>
      </p:sp>
      <p:sp>
        <p:nvSpPr>
          <p:cNvPr id="9" name="TextBox 8"/>
          <p:cNvSpPr txBox="1"/>
          <p:nvPr/>
        </p:nvSpPr>
        <p:spPr>
          <a:xfrm>
            <a:off x="887805" y="1064711"/>
            <a:ext cx="10698769" cy="5693866"/>
          </a:xfrm>
          <a:prstGeom prst="rect">
            <a:avLst/>
          </a:prstGeom>
          <a:noFill/>
        </p:spPr>
        <p:txBody>
          <a:bodyPr wrap="square" rtlCol="0">
            <a:spAutoFit/>
          </a:bodyPr>
          <a:lstStyle/>
          <a:p>
            <a:pPr marL="514350" indent="-514350" algn="just">
              <a:buAutoNum type="arabicPeriod"/>
            </a:pPr>
            <a:r>
              <a:rPr lang="en-US" sz="2800" dirty="0"/>
              <a:t>Explore the scenario's where circular linked lists are preferred over other data structures, such as arrays or doubly linked lists. Highlight the specific applications or problems where the circular nature of the list provides a significant advantage.</a:t>
            </a:r>
          </a:p>
          <a:p>
            <a:pPr algn="just"/>
            <a:r>
              <a:rPr lang="en-US" sz="2800" dirty="0"/>
              <a:t>2. List out different types of Circular linked lists?</a:t>
            </a:r>
          </a:p>
          <a:p>
            <a:pPr algn="just"/>
            <a:r>
              <a:rPr lang="en-US" sz="2800" dirty="0"/>
              <a:t>3. List out different operations can perform on Circular linked lists?</a:t>
            </a:r>
          </a:p>
          <a:p>
            <a:pPr algn="just"/>
            <a:r>
              <a:rPr lang="en-US" sz="2800" dirty="0"/>
              <a:t>4. Analyze the time complexity of the CLL for the operations such as                insertion, deletion, and search</a:t>
            </a:r>
          </a:p>
          <a:p>
            <a:pPr algn="just"/>
            <a:r>
              <a:rPr lang="en-US" sz="2800" dirty="0"/>
              <a:t>5.Describe the potential drawbacks or challenges of implementing circular linked lists compared  to singly linked lists. Highlight scenarios where circularity might lead to complexities or inefficiencies in data manipulation</a:t>
            </a:r>
          </a:p>
          <a:p>
            <a:pPr algn="just"/>
            <a:endParaRPr lang="en-US" sz="2800"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1352812" y="93891"/>
            <a:ext cx="10622070" cy="90819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REFERENCES FOR FURTHER LEARNING OF THE SESSION</a:t>
            </a:r>
            <a:endParaRPr lang="en-US" sz="36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6170920"/>
          </a:xfrm>
          <a:prstGeom prst="rect">
            <a:avLst/>
          </a:prstGeom>
          <a:noFill/>
        </p:spPr>
        <p:txBody>
          <a:bodyPr wrap="square" rtlCol="0">
            <a:spAutoFit/>
          </a:bodyPr>
          <a:lstStyle/>
          <a:p>
            <a:r>
              <a:rPr lang="en-US" sz="3200" b="1" dirty="0"/>
              <a:t>Reference Books:</a:t>
            </a:r>
            <a:endParaRPr lang="en-US" sz="3200" dirty="0"/>
          </a:p>
          <a:p>
            <a:pPr marL="342900" lvl="1" indent="-342900">
              <a:buAutoNum type="arabicPeriod"/>
            </a:pPr>
            <a:r>
              <a:rPr lang="en-US" sz="3200" dirty="0"/>
              <a:t>Mark Allen Weiss, Data Structures and Algorithm Analysis in C, 2010 , Second Edition, </a:t>
            </a:r>
            <a:r>
              <a:rPr lang="en-US" sz="3200" dirty="0" err="1"/>
              <a:t>PearsonEducation</a:t>
            </a:r>
            <a:r>
              <a:rPr lang="en-US" sz="3200" dirty="0"/>
              <a:t>.</a:t>
            </a:r>
            <a:endParaRPr lang="en-IN" sz="3200" dirty="0"/>
          </a:p>
          <a:p>
            <a:pPr marL="342900" lvl="1" indent="-342900">
              <a:buAutoNum type="arabicPeriod"/>
            </a:pPr>
            <a:r>
              <a:rPr lang="en-US" sz="3200" dirty="0"/>
              <a:t>2. Ellis Horowitz, Fundamentals of Data Structures in C: Second Edition, 2015</a:t>
            </a:r>
          </a:p>
          <a:p>
            <a:pPr marL="342900" lvl="1" indent="-342900">
              <a:buAutoNum type="arabicPeriod"/>
            </a:pPr>
            <a:r>
              <a:rPr lang="en-US" sz="3200" dirty="0" err="1"/>
              <a:t>A.V.Aho</a:t>
            </a:r>
            <a:r>
              <a:rPr lang="en-US" sz="3200" dirty="0"/>
              <a:t>, J. E. </a:t>
            </a:r>
            <a:r>
              <a:rPr lang="en-US" sz="3200" dirty="0" err="1"/>
              <a:t>Hopcroft</a:t>
            </a:r>
            <a:r>
              <a:rPr lang="en-US" sz="3200" dirty="0"/>
              <a:t>, and J. D. Ullman, “Data Structures And Algorithms”, Pearson Education, First Edition Reprint2003.</a:t>
            </a:r>
            <a:endParaRPr lang="en-US" sz="3200" b="1" dirty="0"/>
          </a:p>
          <a:p>
            <a:r>
              <a:rPr lang="en-US" sz="3200" b="1" dirty="0"/>
              <a:t>Sites and Web links:</a:t>
            </a:r>
          </a:p>
          <a:p>
            <a:pPr lvl="0">
              <a:lnSpc>
                <a:spcPct val="150000"/>
              </a:lnSpc>
            </a:pPr>
            <a:r>
              <a:rPr lang="en-US" sz="3200" dirty="0"/>
              <a:t>1. </a:t>
            </a:r>
            <a:r>
              <a:rPr lang="en-US" sz="3200" dirty="0">
                <a:hlinkClick r:id="rId2"/>
              </a:rPr>
              <a:t>https://nptel.ac.in/courses/106102064</a:t>
            </a:r>
            <a:endParaRPr lang="en-IN" sz="3200" dirty="0"/>
          </a:p>
          <a:p>
            <a:pPr lvl="0"/>
            <a:r>
              <a:rPr lang="en-US" sz="3200" dirty="0">
                <a:hlinkClick r:id="rId3"/>
              </a:rPr>
              <a:t>2. https://in.udacity.com/course/intro-to-algorithms--cs215</a:t>
            </a:r>
            <a:endParaRPr lang="en-IN" sz="3200" dirty="0"/>
          </a:p>
          <a:p>
            <a:pPr lvl="0"/>
            <a:r>
              <a:rPr lang="en-US" sz="3200" dirty="0"/>
              <a:t>3. </a:t>
            </a:r>
            <a:r>
              <a:rPr lang="en-US" sz="3200" dirty="0">
                <a:hlinkClick r:id="rId4"/>
              </a:rPr>
              <a:t>https://www.coursera.org/learn/data-structures?action=enroll</a:t>
            </a:r>
            <a:endParaRPr lang="en-US" sz="3200"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Structures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elements/1.1/"/>
    <ds:schemaRef ds:uri="0125a647-8023-46ae-ae6e-85cf36d841bd"/>
    <ds:schemaRef ds:uri="http://purl.org/dc/terms/"/>
    <ds:schemaRef ds:uri="d43ee83c-3e71-4748-8ebc-8eaadf79342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2371</TotalTime>
  <Words>2540</Words>
  <Application>Microsoft Office PowerPoint</Application>
  <PresentationFormat>Widescreen</PresentationFormat>
  <Paragraphs>266</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BioRhyme ExtraBold</vt:lpstr>
      <vt:lpstr>Calibri</vt:lpstr>
      <vt:lpstr>Poppins</vt:lpstr>
      <vt:lpstr>Söhne</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gvenkatesh1210@outlook.com</cp:lastModifiedBy>
  <cp:revision>83</cp:revision>
  <dcterms:created xsi:type="dcterms:W3CDTF">2020-02-08T09:57:44Z</dcterms:created>
  <dcterms:modified xsi:type="dcterms:W3CDTF">2024-12-13T06:50:56Z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