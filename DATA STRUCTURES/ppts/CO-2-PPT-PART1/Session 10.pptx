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71" r:id="rId5"/>
    <p:sldId id="300" r:id="rId6"/>
    <p:sldId id="258" r:id="rId7"/>
    <p:sldId id="288" r:id="rId8"/>
    <p:sldId id="305" r:id="rId9"/>
    <p:sldId id="306" r:id="rId10"/>
    <p:sldId id="311" r:id="rId11"/>
    <p:sldId id="315" r:id="rId12"/>
    <p:sldId id="316" r:id="rId13"/>
    <p:sldId id="317" r:id="rId14"/>
    <p:sldId id="318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Suresh B V N V" userId="46cc3a3c-d6e3-4f9f-b2e6-2a3b85efca88" providerId="ADAL" clId="{429CE46F-BD81-4AD1-ADFB-3D15D44BDDC9}"/>
    <pc:docChg chg="modSld">
      <pc:chgData name="Krishna Suresh B V N V" userId="46cc3a3c-d6e3-4f9f-b2e6-2a3b85efca88" providerId="ADAL" clId="{429CE46F-BD81-4AD1-ADFB-3D15D44BDDC9}" dt="2024-12-16T10:54:37.103" v="2" actId="20577"/>
      <pc:docMkLst>
        <pc:docMk/>
      </pc:docMkLst>
      <pc:sldChg chg="modSp mod">
        <pc:chgData name="Krishna Suresh B V N V" userId="46cc3a3c-d6e3-4f9f-b2e6-2a3b85efca88" providerId="ADAL" clId="{429CE46F-BD81-4AD1-ADFB-3D15D44BDDC9}" dt="2024-12-16T10:54:37.103" v="2" actId="20577"/>
        <pc:sldMkLst>
          <pc:docMk/>
          <pc:sldMk cId="0" sldId="271"/>
        </pc:sldMkLst>
        <pc:spChg chg="mod">
          <ac:chgData name="Krishna Suresh B V N V" userId="46cc3a3c-d6e3-4f9f-b2e6-2a3b85efca88" providerId="ADAL" clId="{429CE46F-BD81-4AD1-ADFB-3D15D44BDDC9}" dt="2024-12-16T10:54:37.103" v="2" actId="20577"/>
          <ac:spMkLst>
            <pc:docMk/>
            <pc:sldMk cId="0" sldId="271"/>
            <ac:spMk id="8" creationId="{7153E61F-4441-DBE3-3DFF-6E9EF6C48D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bubble-sort-algorith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669726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COURSE: </a:t>
            </a: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  <a:endParaRPr lang="en-IN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CODE: </a:t>
            </a: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24SC1203</a:t>
            </a:r>
            <a:endParaRPr lang="en-IN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of the 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itchFamily="18" charset="0"/>
              </a:rPr>
              <a:t>Singly Linked List</a:t>
            </a:r>
            <a:endParaRPr lang="en-US" sz="40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BES-I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276164" y="557227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– 10</a:t>
            </a:r>
            <a:endParaRPr sz="240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3434105" y="212247"/>
            <a:ext cx="5428562" cy="33980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752600" y="615845"/>
            <a:ext cx="8791575" cy="98078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familiarize students with the basic concept of </a:t>
            </a:r>
            <a:r>
              <a:rPr lang="en-US" sz="24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Singly linked list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3486304" y="1646496"/>
            <a:ext cx="5219392" cy="37130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104286"/>
            <a:ext cx="8791575" cy="224676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to: 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 The </a:t>
            </a: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Singly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linked list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types of </a:t>
            </a: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Singly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linked list.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out the operations possible on the </a:t>
            </a: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Singly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linked list.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 each operation 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out the advantages and applications of SLL.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3645234" y="4334726"/>
            <a:ext cx="4901532" cy="43104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93899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Singly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linked list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 two types of </a:t>
            </a: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Singly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linked list. And their operations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definition, types and operations of circular linked list and its applications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1933881" y="172551"/>
            <a:ext cx="8324237" cy="119786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Singly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Linked List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579418" y="1465781"/>
            <a:ext cx="101324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linear data structure in which the elements are not stored in contiguous memory locations.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is connected only to its next element using a pointer</a:t>
            </a:r>
            <a:r>
              <a:rPr lang="en-IN" sz="2800" dirty="0">
                <a:latin typeface="Times New Roman" panose="02020603050405020304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itchFamily="18" charset="0"/>
              </a:rPr>
              <a:t> Every node points to its next node in the sequence and the last node points NULL.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itchFamily="18" charset="0"/>
              </a:rPr>
              <a:t>	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7193DFAD-EA98-73AF-D927-D3C59AA7A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4621161"/>
            <a:ext cx="7734300" cy="182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1768576" y="216696"/>
            <a:ext cx="9291483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Example of Singly Linked list with 4 nodes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BC752-6031-1D55-1FB5-B7E78444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54762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2052" name="Picture 4" descr="Singly linked list">
            <a:extLst>
              <a:ext uri="{FF2B5EF4-FFF2-40B4-BE49-F238E27FC236}">
                <a16:creationId xmlns:a16="http://schemas.microsoft.com/office/drawing/2014/main" id="{8DFD9807-65C9-D0C7-C56E-32090D95C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838" y="1353179"/>
            <a:ext cx="9878961" cy="50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1990725" y="245393"/>
            <a:ext cx="9088953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SINGLY LINKED LIST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990725" y="1094589"/>
            <a:ext cx="90889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singly linked list, we can perform the following operations...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1990725" y="272089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the Singly Linked List                               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990725" y="1320731"/>
            <a:ext cx="9908349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we implement those operations, first we need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empty list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the following steps to setup Empty SLL: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Step 1 - Define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 with two members/fields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Step 2 - Define a Node pointer '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and set it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Step 3 – Then perform the Operations one by one.</a:t>
            </a:r>
          </a:p>
          <a:p>
            <a:pPr>
              <a:buFont typeface="Wingdings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 node is defined (represented) as: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data;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 * next;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};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struct Node *head=NULL;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4284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243190" y="253280"/>
            <a:ext cx="781521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endParaRPr lang="en-US" sz="3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0101D4-7D00-E166-BBE9-087A7172F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131728"/>
              </p:ext>
            </p:extLst>
          </p:nvPr>
        </p:nvGraphicFramePr>
        <p:xfrm>
          <a:off x="1651819" y="1243611"/>
          <a:ext cx="91931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3162">
                  <a:extLst>
                    <a:ext uri="{9D8B030D-6E8A-4147-A177-3AD203B41FA5}">
                      <a16:colId xmlns:a16="http://schemas.microsoft.com/office/drawing/2014/main" val="2511576208"/>
                    </a:ext>
                  </a:extLst>
                </a:gridCol>
              </a:tblGrid>
              <a:tr h="1007976">
                <a:tc>
                  <a:txBody>
                    <a:bodyPr/>
                    <a:lstStyle/>
                    <a:p>
                      <a:pPr rtl="0" fontAlgn="base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the steps below to solve the problem:</a:t>
                      </a:r>
                    </a:p>
                    <a:p>
                      <a:pPr fontAlgn="base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Initialize three pointers 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prev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as NULL, 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curr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as 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head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and 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next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as NULL.</a:t>
                      </a:r>
                    </a:p>
                    <a:p>
                      <a:pPr fontAlgn="base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Iterate through the linked list. In a loop, do the following:</a:t>
                      </a:r>
                    </a:p>
                    <a:p>
                      <a:pPr lvl="1" fontAlgn="base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 the next node, 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next = 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curr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-&gt; next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lvl="1" fontAlgn="base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Update the next pointer of </a:t>
                      </a:r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curr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to </a:t>
                      </a:r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prev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curr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-&gt; next = 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prev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lvl="1" fontAlgn="base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Update </a:t>
                      </a:r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prev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as </a:t>
                      </a:r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curr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curr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as next, 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prev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curr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and 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curr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next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556307"/>
                  </a:ext>
                </a:extLst>
              </a:tr>
            </a:tbl>
          </a:graphicData>
        </a:graphic>
      </p:graphicFrame>
      <p:pic>
        <p:nvPicPr>
          <p:cNvPr id="1032" name="Picture 8" descr="Reverse a linked list || Iterative and Recursive methods (C#) | by Despina  ioannide | Dev Genius">
            <a:extLst>
              <a:ext uri="{FF2B5EF4-FFF2-40B4-BE49-F238E27FC236}">
                <a16:creationId xmlns:a16="http://schemas.microsoft.com/office/drawing/2014/main" id="{C1E4E9D8-5B6F-3ECB-7093-A13EA542D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163852"/>
            <a:ext cx="7620000" cy="361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36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243190" y="253280"/>
            <a:ext cx="789386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endParaRPr lang="en-US" sz="3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9FA8C4-7940-9B49-F4B1-3B4A1EA6A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559265"/>
              </p:ext>
            </p:extLst>
          </p:nvPr>
        </p:nvGraphicFramePr>
        <p:xfrm>
          <a:off x="1356853" y="878981"/>
          <a:ext cx="9763430" cy="132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3430">
                  <a:extLst>
                    <a:ext uri="{9D8B030D-6E8A-4147-A177-3AD203B41FA5}">
                      <a16:colId xmlns:a16="http://schemas.microsoft.com/office/drawing/2014/main" val="3697389799"/>
                    </a:ext>
                  </a:extLst>
                </a:gridCol>
              </a:tblGrid>
              <a:tr h="1323446"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apply </a:t>
                      </a:r>
                      <a:r>
                        <a:rPr lang="en-US" sz="1800" b="1" i="1" u="sng" kern="1200" dirty="0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Bubble Sort</a:t>
                      </a:r>
                      <a:r>
                        <a:rPr lang="en-US" sz="1800" b="0" i="1" u="sng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a linked list, we need to traverse the list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multiple times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comparing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adjacent 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nodes and 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swapping 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their positions by adjusting their links if the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current 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node’s data is 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greater 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than the 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next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During each pass, the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largest 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unsorted element 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moves to its correct position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at the end of the list. This process continues until no more swaps are needed, indicating that the list is </a:t>
                      </a:r>
                      <a:r>
                        <a:rPr lang="en-US" sz="18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sorted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7467"/>
                  </a:ext>
                </a:extLst>
              </a:tr>
            </a:tbl>
          </a:graphicData>
        </a:graphic>
      </p:graphicFrame>
      <p:pic>
        <p:nvPicPr>
          <p:cNvPr id="2050" name="Picture 2" descr="Sort a Linked List - Tutorial">
            <a:extLst>
              <a:ext uri="{FF2B5EF4-FFF2-40B4-BE49-F238E27FC236}">
                <a16:creationId xmlns:a16="http://schemas.microsoft.com/office/drawing/2014/main" id="{279F43C9-6854-EB06-E9E4-012A30A44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68" y="2564847"/>
            <a:ext cx="11803355" cy="4104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75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663554" y="360418"/>
            <a:ext cx="100885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Node *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bubbleSort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(struct Node *head)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node *t1,*t2;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For(t1=head;t1-&gt;next!=null;t1=t1-&gt;next)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For(t2=head;t2-&gt;next!=NULL;t2=t2-&gt;next)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if(t2-&gt;data&gt;t2-&gt;next-&gt;data)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t=t2-&gt;data;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t2-&gt;data=t2-&gt;next-&gt;data;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t2-&gt;next-&gt;data=t;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174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243189" y="253280"/>
            <a:ext cx="8183345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Merging</a:t>
            </a:r>
            <a:endParaRPr lang="en-US" sz="3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34E6F9-679F-1DE4-C2E0-CF8F336FE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890076"/>
              </p:ext>
            </p:extLst>
          </p:nvPr>
        </p:nvGraphicFramePr>
        <p:xfrm>
          <a:off x="1115736" y="1368940"/>
          <a:ext cx="1424184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1844">
                  <a:extLst>
                    <a:ext uri="{9D8B030D-6E8A-4147-A177-3AD203B41FA5}">
                      <a16:colId xmlns:a16="http://schemas.microsoft.com/office/drawing/2014/main" val="1158556924"/>
                    </a:ext>
                  </a:extLst>
                </a:gridCol>
              </a:tblGrid>
              <a:tr h="1200174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Merging two linked lists can mean different operations depending on the context. </a:t>
                      </a:r>
                    </a:p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Here are two common scenarios: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Merge Two Sorted Linked Lists</a:t>
                      </a:r>
                    </a:p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the linked lists are sorted, you can merge them into one sorted list. Here's the algorithm: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two pointers, one for each list.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the current nodes of both lists.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 the smaller value to the merged list and move the pointer for that list forward.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one list is exhausted, append the remaining nodes of the other list.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2415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613EFF8-F07A-C883-67DA-45AB093FD3D9}"/>
              </a:ext>
            </a:extLst>
          </p:cNvPr>
          <p:cNvSpPr txBox="1"/>
          <p:nvPr/>
        </p:nvSpPr>
        <p:spPr>
          <a:xfrm>
            <a:off x="1115736" y="4272916"/>
            <a:ext cx="107735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Concatenate Two Linked Lists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simply want to append one linked list to another: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the first list to its 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the last node of the first list to the head of the second list.</a:t>
            </a:r>
          </a:p>
        </p:txBody>
      </p:sp>
    </p:spTree>
    <p:extLst>
      <p:ext uri="{BB962C8B-B14F-4D97-AF65-F5344CB8AC3E}">
        <p14:creationId xmlns:p14="http://schemas.microsoft.com/office/powerpoint/2010/main" val="412617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E96270-579E-5090-D0BD-75263D6CE02C}"/>
              </a:ext>
            </a:extLst>
          </p:cNvPr>
          <p:cNvSpPr txBox="1"/>
          <p:nvPr/>
        </p:nvSpPr>
        <p:spPr>
          <a:xfrm>
            <a:off x="530603" y="671691"/>
            <a:ext cx="609460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typedef struct Node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data;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struct Node* next;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Node;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to create a new node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Node*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createNode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data)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(Node*)malloc(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(Node));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-&gt;data = data;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 NULL;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Merge two sorted linked lists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Node*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mergeSortedLists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(Node* list1, Node* list2)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(!list1) return list2;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(!list2) return list1;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3E49F-D133-6D8A-7521-5656E12FAF01}"/>
              </a:ext>
            </a:extLst>
          </p:cNvPr>
          <p:cNvSpPr txBox="1"/>
          <p:nvPr/>
        </p:nvSpPr>
        <p:spPr>
          <a:xfrm>
            <a:off x="5891169" y="671691"/>
            <a:ext cx="609460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Node*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mergedHead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NULL;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(list1-&gt;data &lt;= list2-&gt;data)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mergedHead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list1;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mergedHead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mergeSortedLists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(list1-&gt;next, list2);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else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mergedHead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list2;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mergedHead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mergeSortedLists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(list1, list2-&gt;next);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mergedHead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to print the linked list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printList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(Node* head)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(head)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-&gt; ", head-&gt;data);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head = head-&gt;next;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("NULL\n");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960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2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600" b="1" dirty="0">
                <a:latin typeface="Poppins" pitchFamily="2" charset="77"/>
                <a:cs typeface="Poppins" pitchFamily="2" charset="77"/>
              </a:rPr>
              <a:t>Team – Data Structures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9A6ECA-0C1B-4F00-836D-A696F073E5C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43ee83c-3e71-4748-8ebc-8eaadf793425"/>
    <ds:schemaRef ds:uri="0125a647-8023-46ae-ae6e-85cf36d841b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2174</TotalTime>
  <Words>968</Words>
  <Application>Microsoft Office PowerPoint</Application>
  <PresentationFormat>Widescreen</PresentationFormat>
  <Paragraphs>145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Krishna Suresh B V N V</cp:lastModifiedBy>
  <cp:revision>147</cp:revision>
  <dcterms:created xsi:type="dcterms:W3CDTF">2020-02-08T09:57:44Z</dcterms:created>
  <dcterms:modified xsi:type="dcterms:W3CDTF">2024-12-16T10:54:40Z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