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2"/>
  </p:notesMasterIdLst>
  <p:sldIdLst>
    <p:sldId id="271" r:id="rId5"/>
    <p:sldId id="300" r:id="rId6"/>
    <p:sldId id="258" r:id="rId7"/>
    <p:sldId id="261" r:id="rId8"/>
    <p:sldId id="314" r:id="rId9"/>
    <p:sldId id="277" r:id="rId10"/>
    <p:sldId id="315" r:id="rId11"/>
    <p:sldId id="316" r:id="rId12"/>
    <p:sldId id="288" r:id="rId13"/>
    <p:sldId id="327" r:id="rId14"/>
    <p:sldId id="317" r:id="rId15"/>
    <p:sldId id="328" r:id="rId16"/>
    <p:sldId id="318" r:id="rId17"/>
    <p:sldId id="319" r:id="rId18"/>
    <p:sldId id="320" r:id="rId19"/>
    <p:sldId id="321" r:id="rId20"/>
    <p:sldId id="322" r:id="rId21"/>
    <p:sldId id="324" r:id="rId22"/>
    <p:sldId id="323" r:id="rId23"/>
    <p:sldId id="299" r:id="rId24"/>
    <p:sldId id="326" r:id="rId25"/>
    <p:sldId id="285" r:id="rId26"/>
    <p:sldId id="287" r:id="rId27"/>
    <p:sldId id="301" r:id="rId28"/>
    <p:sldId id="302" r:id="rId29"/>
    <p:sldId id="303" r:id="rId30"/>
    <p:sldId id="304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CF4"/>
    <a:srgbClr val="E3293B"/>
    <a:srgbClr val="A81E24"/>
    <a:srgbClr val="E84845"/>
    <a:srgbClr val="FF9900"/>
    <a:srgbClr val="FAD2D2"/>
    <a:srgbClr val="F89E4C"/>
    <a:srgbClr val="FFF2CC"/>
    <a:srgbClr val="CF2F33"/>
    <a:srgbClr val="BA25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0FDB9A-789B-4CB9-998D-BDFF742DC4A1}" v="2" dt="2023-12-29T09:35:58.517"/>
  </p1510:revLst>
</p1510:revInfo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89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 Haritha" userId="550545d3-18dc-474c-99a8-9d1e2949031b" providerId="ADAL" clId="{410FDB9A-789B-4CB9-998D-BDFF742DC4A1}"/>
    <pc:docChg chg="undo custSel modSld">
      <pc:chgData name="U Haritha" userId="550545d3-18dc-474c-99a8-9d1e2949031b" providerId="ADAL" clId="{410FDB9A-789B-4CB9-998D-BDFF742DC4A1}" dt="2023-12-29T09:36:49.326" v="6" actId="1076"/>
      <pc:docMkLst>
        <pc:docMk/>
      </pc:docMkLst>
      <pc:sldChg chg="modSp mod modAnim">
        <pc:chgData name="U Haritha" userId="550545d3-18dc-474c-99a8-9d1e2949031b" providerId="ADAL" clId="{410FDB9A-789B-4CB9-998D-BDFF742DC4A1}" dt="2023-12-29T09:36:49.326" v="6" actId="1076"/>
        <pc:sldMkLst>
          <pc:docMk/>
          <pc:sldMk cId="0" sldId="277"/>
        </pc:sldMkLst>
        <pc:spChg chg="mod">
          <ac:chgData name="U Haritha" userId="550545d3-18dc-474c-99a8-9d1e2949031b" providerId="ADAL" clId="{410FDB9A-789B-4CB9-998D-BDFF742DC4A1}" dt="2023-12-29T09:36:41.428" v="5" actId="1076"/>
          <ac:spMkLst>
            <pc:docMk/>
            <pc:sldMk cId="0" sldId="277"/>
            <ac:spMk id="23" creationId="{A9D0F89D-7BD1-5314-8304-9EB573168E33}"/>
          </ac:spMkLst>
        </pc:spChg>
        <pc:spChg chg="mod">
          <ac:chgData name="U Haritha" userId="550545d3-18dc-474c-99a8-9d1e2949031b" providerId="ADAL" clId="{410FDB9A-789B-4CB9-998D-BDFF742DC4A1}" dt="2023-12-29T09:36:34.733" v="4" actId="1076"/>
          <ac:spMkLst>
            <pc:docMk/>
            <pc:sldMk cId="0" sldId="277"/>
            <ac:spMk id="29" creationId="{CBD5DEBF-A9E7-4CE9-C9FE-E4CE4E14FF61}"/>
          </ac:spMkLst>
        </pc:spChg>
        <pc:spChg chg="mod">
          <ac:chgData name="U Haritha" userId="550545d3-18dc-474c-99a8-9d1e2949031b" providerId="ADAL" clId="{410FDB9A-789B-4CB9-998D-BDFF742DC4A1}" dt="2023-12-29T09:36:49.326" v="6" actId="1076"/>
          <ac:spMkLst>
            <pc:docMk/>
            <pc:sldMk cId="0" sldId="277"/>
            <ac:spMk id="6147" creationId="{1A146D1F-1BD0-6DDF-DFE8-32BB4E3579F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D66ED-011C-444B-AF08-9B316B070C56}" type="datetimeFigureOut">
              <a:rPr lang="en-US" smtClean="0"/>
              <a:pPr/>
              <a:t>12/16/2024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4ADD7-897F-4F47-A317-DE24AB827D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658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435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0096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5232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5934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7884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994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165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1242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919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91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977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458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9970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83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6515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628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78929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074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2F4508AD-1BA8-6D49-AD89-BB8C58C99DD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03452" cy="300345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CAD2B12-09F5-6D4A-9C1D-AFF6A38F62BF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72F43C-0ACD-CF48-BDDC-4CA06CD195D7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Background pattern&#10;&#10;Description automatically generated">
            <a:extLst>
              <a:ext uri="{FF2B5EF4-FFF2-40B4-BE49-F238E27FC236}">
                <a16:creationId xmlns:a16="http://schemas.microsoft.com/office/drawing/2014/main" id="{D4A3453C-FFE4-E949-B42B-748B5090DD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1" b="8103"/>
          <a:stretch/>
        </p:blipFill>
        <p:spPr>
          <a:xfrm>
            <a:off x="8376334" y="4104641"/>
            <a:ext cx="3815666" cy="2707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A8F9C9-F65C-BB4A-BF8E-4636F166836D}"/>
              </a:ext>
            </a:extLst>
          </p:cNvPr>
          <p:cNvSpPr txBox="1"/>
          <p:nvPr userDrawn="1"/>
        </p:nvSpPr>
        <p:spPr>
          <a:xfrm>
            <a:off x="1" y="6602979"/>
            <a:ext cx="21320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</a:p>
        </p:txBody>
      </p:sp>
    </p:spTree>
    <p:extLst>
      <p:ext uri="{BB962C8B-B14F-4D97-AF65-F5344CB8AC3E}">
        <p14:creationId xmlns:p14="http://schemas.microsoft.com/office/powerpoint/2010/main" val="626841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98423B-5803-30F8-31C4-BF716BD7197E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582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5394455" y="1944294"/>
            <a:ext cx="6601602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COURSE: </a:t>
            </a:r>
            <a:r>
              <a:rPr lang="en-US" sz="3200" b="1" dirty="0">
                <a:solidFill>
                  <a:schemeClr val="accent1"/>
                </a:solidFill>
              </a:rPr>
              <a:t>Data Structures</a:t>
            </a:r>
            <a:endParaRPr lang="en-IN" sz="3200" b="1" dirty="0">
              <a:solidFill>
                <a:schemeClr val="accent1"/>
              </a:solidFill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3200" b="1" cap="all" dirty="0">
              <a:ln/>
              <a:solidFill>
                <a:srgbClr val="C00000"/>
              </a:solidFill>
              <a:cs typeface="Poppins" panose="00000500000000000000" pitchFamily="2" charset="0"/>
              <a:sym typeface="BioRhyme ExtraBold"/>
            </a:endParaRPr>
          </a:p>
          <a:p>
            <a:pPr algn="ctr"/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COURSE CODE: </a:t>
            </a:r>
            <a:r>
              <a:rPr lang="en-US" sz="3200" b="1" dirty="0">
                <a:solidFill>
                  <a:schemeClr val="accent1"/>
                </a:solidFill>
              </a:rPr>
              <a:t>24SC1203</a:t>
            </a:r>
            <a:endParaRPr lang="en-IN" sz="3200" b="1" dirty="0">
              <a:solidFill>
                <a:schemeClr val="accent1"/>
              </a:solidFill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cap="all" dirty="0">
                <a:ln/>
                <a:solidFill>
                  <a:srgbClr val="C00000"/>
                </a:solidFill>
                <a:effectLst/>
                <a:cs typeface="Poppins" panose="00000500000000000000" pitchFamily="2" charset="0"/>
              </a:rPr>
              <a:t>Name of the 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Doubly Linked List -DLL </a:t>
            </a:r>
            <a:endParaRPr lang="en-US" sz="4000" b="1" dirty="0">
              <a:solidFill>
                <a:srgbClr val="C00000"/>
              </a:solidFill>
              <a:effectLst/>
              <a:cs typeface="Poppins" panose="00000500000000000000" pitchFamily="2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9F0C376-F4D3-1950-3474-EFF28411BDC6}"/>
              </a:ext>
            </a:extLst>
          </p:cNvPr>
          <p:cNvSpPr/>
          <p:nvPr/>
        </p:nvSpPr>
        <p:spPr>
          <a:xfrm>
            <a:off x="6233250" y="925390"/>
            <a:ext cx="4486331" cy="574765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5" name="Google Shape;475;p16"/>
          <p:cNvSpPr txBox="1"/>
          <p:nvPr/>
        </p:nvSpPr>
        <p:spPr>
          <a:xfrm>
            <a:off x="6095999" y="830715"/>
            <a:ext cx="4595447" cy="70784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  <a:cs typeface="Poppins" pitchFamily="2" charset="77"/>
              </a:rPr>
              <a:t>Department of </a:t>
            </a:r>
            <a:r>
              <a:rPr lang="en-US" sz="4000" dirty="0">
                <a:solidFill>
                  <a:srgbClr val="FF0000"/>
                </a:solidFill>
              </a:rPr>
              <a:t>BES-I</a:t>
            </a:r>
            <a:endParaRPr lang="en-US" sz="4000" dirty="0">
              <a:solidFill>
                <a:srgbClr val="FF0000"/>
              </a:solidFill>
              <a:cs typeface="Poppins" pitchFamily="2" charset="77"/>
            </a:endParaRP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7080955" y="6154717"/>
            <a:ext cx="2235116" cy="487553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– 11</a:t>
            </a:r>
            <a:endParaRPr sz="2400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471372" y="84408"/>
            <a:ext cx="301157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1752600" y="617443"/>
            <a:ext cx="10731286" cy="42601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Poppins"/>
                <a:cs typeface="Poppins"/>
              </a:rPr>
              <a:t>To familiarize students with the concept of</a:t>
            </a:r>
            <a:r>
              <a:rPr lang="en-US" sz="1600" dirty="0"/>
              <a:t> Doubly Linked List . </a:t>
            </a:r>
            <a:endParaRPr lang="en-US" sz="1600" b="0" i="0" dirty="0">
              <a:effectLst/>
              <a:latin typeface="Poppins"/>
              <a:cs typeface="Poppins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4160582" y="1807062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1752600" y="2438605"/>
            <a:ext cx="8791575" cy="132343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This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  <a:r>
              <a:rPr lang="en-US" sz="1600" dirty="0">
                <a:latin typeface="Poppins"/>
                <a:cs typeface="Poppins"/>
              </a:rPr>
              <a:t>Session</a:t>
            </a:r>
            <a:r>
              <a:rPr lang="en-US" sz="1600" b="0" i="0" dirty="0">
                <a:effectLst/>
                <a:latin typeface="Poppins"/>
                <a:cs typeface="Poppins"/>
              </a:rPr>
              <a:t> is designed to: 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Demonstrate </a:t>
            </a:r>
            <a:r>
              <a:rPr lang="en-US" sz="1600" dirty="0">
                <a:latin typeface="Arial" panose="020B0604020202020204" pitchFamily="34" charset="0"/>
              </a:rPr>
              <a:t>the concept of Doubly Linked List.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To implement doubly linked list in C.</a:t>
            </a:r>
            <a:endParaRPr lang="en-US" sz="1600" b="0" i="0" dirty="0">
              <a:effectLst/>
              <a:latin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To create functions for performing operations like insertion , Deletion and Display</a:t>
            </a:r>
            <a:r>
              <a:rPr lang="en-US" sz="1600" b="0" i="0" dirty="0"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212971" y="4249110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1752600" y="4794002"/>
            <a:ext cx="8791575" cy="107721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/>
                <a:cs typeface="Arial"/>
              </a:rPr>
              <a:t>At the end of this </a:t>
            </a:r>
            <a:r>
              <a:rPr lang="en-US" sz="1600" dirty="0">
                <a:latin typeface="Arial"/>
                <a:cs typeface="Arial"/>
              </a:rPr>
              <a:t>session</a:t>
            </a:r>
            <a:r>
              <a:rPr lang="en-US" sz="1600" b="0" i="0" dirty="0">
                <a:effectLst/>
                <a:latin typeface="Arial"/>
                <a:cs typeface="Arial"/>
              </a:rPr>
              <a:t>, you should be able to:</a:t>
            </a:r>
          </a:p>
          <a:p>
            <a:pPr marL="342900" indent="-342900">
              <a:buAutoNum type="arabicPeriod"/>
            </a:pPr>
            <a:r>
              <a:rPr lang="en-US" sz="1600" b="1" dirty="0"/>
              <a:t>Understand the concept  and  importance of Doubly Linked List.</a:t>
            </a:r>
          </a:p>
          <a:p>
            <a:pPr marL="342900" indent="-342900">
              <a:buAutoNum type="arabicPeriod"/>
            </a:pPr>
            <a:r>
              <a:rPr lang="en-US" sz="1600" b="1" dirty="0"/>
              <a:t>To create doubly linked list and perform operations  such as insertion, deletion and display,</a:t>
            </a: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1579418" y="84673"/>
            <a:ext cx="8324237" cy="938584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Doubly Linked List     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53" name="TextBox 52"/>
          <p:cNvSpPr txBox="1"/>
          <p:nvPr/>
        </p:nvSpPr>
        <p:spPr>
          <a:xfrm>
            <a:off x="375781" y="1465781"/>
            <a:ext cx="11644983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sz="2400" b="1" dirty="0"/>
              <a:t>A linked data structure  consisting of a set of sequentially linked records called nodes</a:t>
            </a:r>
            <a:r>
              <a:rPr lang="en-IN" sz="2400" dirty="0"/>
              <a:t>. 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Every node has the following fields    </a:t>
            </a:r>
          </a:p>
          <a:p>
            <a:pPr marL="1657350" lvl="3" indent="-28575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Data. part</a:t>
            </a:r>
          </a:p>
          <a:p>
            <a:pPr marL="1657350" lvl="3" indent="-28575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Link to the previous node</a:t>
            </a:r>
          </a:p>
          <a:p>
            <a:pPr marL="1657350" lvl="3" indent="-28575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Link to the next node</a:t>
            </a:r>
          </a:p>
          <a:p>
            <a:pPr marL="1657350" lvl="3" indent="-285750">
              <a:buFont typeface="Arial" panose="020B0604020202020204" pitchFamily="34" charset="0"/>
              <a:buChar char="•"/>
              <a:defRPr/>
            </a:pP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defRPr/>
            </a:pP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Hence in a  doubly linked lists navigation both directions is possible.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B68F61-BE53-E0B0-5ACE-4EACB5B8BC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0740" y="3820271"/>
            <a:ext cx="4747532" cy="93984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0DE1F99-E112-17AF-7693-01E69586E4A6}"/>
              </a:ext>
            </a:extLst>
          </p:cNvPr>
          <p:cNvSpPr txBox="1"/>
          <p:nvPr/>
        </p:nvSpPr>
        <p:spPr>
          <a:xfrm>
            <a:off x="7675926" y="1967061"/>
            <a:ext cx="2781402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Struct node</a:t>
            </a:r>
          </a:p>
          <a:p>
            <a:r>
              <a:rPr lang="en-US" sz="2400" dirty="0"/>
              <a:t>{</a:t>
            </a:r>
          </a:p>
          <a:p>
            <a:r>
              <a:rPr lang="en-US" sz="2400" dirty="0"/>
              <a:t>Struct node *pre;</a:t>
            </a:r>
          </a:p>
          <a:p>
            <a:r>
              <a:rPr lang="en-US" sz="2400" dirty="0"/>
              <a:t>Struct node data;</a:t>
            </a:r>
          </a:p>
          <a:p>
            <a:r>
              <a:rPr lang="en-US" sz="2400" dirty="0"/>
              <a:t>Struct node *next;</a:t>
            </a:r>
          </a:p>
          <a:p>
            <a:r>
              <a:rPr lang="en-US" sz="2400" dirty="0"/>
              <a:t>};</a:t>
            </a:r>
          </a:p>
          <a:p>
            <a:endParaRPr lang="en-US" sz="2400" dirty="0"/>
          </a:p>
          <a:p>
            <a:r>
              <a:rPr lang="en-US" sz="1600" dirty="0">
                <a:solidFill>
                  <a:srgbClr val="FF0000"/>
                </a:solidFill>
              </a:rPr>
              <a:t>Code Representation </a:t>
            </a:r>
          </a:p>
        </p:txBody>
      </p:sp>
      <p:cxnSp>
        <p:nvCxnSpPr>
          <p:cNvPr id="4" name="Connector: Curved 3">
            <a:extLst>
              <a:ext uri="{FF2B5EF4-FFF2-40B4-BE49-F238E27FC236}">
                <a16:creationId xmlns:a16="http://schemas.microsoft.com/office/drawing/2014/main" id="{5E06B209-C988-B2EA-B93A-9024C2A36E7D}"/>
              </a:ext>
            </a:extLst>
          </p:cNvPr>
          <p:cNvCxnSpPr>
            <a:cxnSpLocks/>
          </p:cNvCxnSpPr>
          <p:nvPr/>
        </p:nvCxnSpPr>
        <p:spPr>
          <a:xfrm rot="16200000" flipV="1">
            <a:off x="8942192" y="4084040"/>
            <a:ext cx="762957" cy="514085"/>
          </a:xfrm>
          <a:prstGeom prst="curvedConnector3">
            <a:avLst/>
          </a:prstGeom>
          <a:ln w="38100">
            <a:solidFill>
              <a:srgbClr val="E3293B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9052342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936C371-DE63-7E58-6882-E0A1B32AB6FC}"/>
              </a:ext>
            </a:extLst>
          </p:cNvPr>
          <p:cNvSpPr/>
          <p:nvPr/>
        </p:nvSpPr>
        <p:spPr>
          <a:xfrm>
            <a:off x="1720850" y="4379914"/>
            <a:ext cx="795338" cy="88582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sz="1600" b="1" dirty="0">
                <a:solidFill>
                  <a:srgbClr val="002060"/>
                </a:solidFill>
              </a:rPr>
              <a:t>NULL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430ADE-296C-79B9-E43F-265AB0C2786C}"/>
              </a:ext>
            </a:extLst>
          </p:cNvPr>
          <p:cNvSpPr/>
          <p:nvPr/>
        </p:nvSpPr>
        <p:spPr>
          <a:xfrm>
            <a:off x="2486025" y="4379914"/>
            <a:ext cx="896938" cy="88582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550F5D-A6EA-B735-A13F-074F5A38F102}"/>
              </a:ext>
            </a:extLst>
          </p:cNvPr>
          <p:cNvSpPr/>
          <p:nvPr/>
        </p:nvSpPr>
        <p:spPr>
          <a:xfrm>
            <a:off x="3354388" y="4379913"/>
            <a:ext cx="896937" cy="88582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dirty="0"/>
              <a:t>2000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50B2C5-EC34-A40F-DEE8-A897C1EEF737}"/>
              </a:ext>
            </a:extLst>
          </p:cNvPr>
          <p:cNvSpPr/>
          <p:nvPr/>
        </p:nvSpPr>
        <p:spPr>
          <a:xfrm>
            <a:off x="4924425" y="4379914"/>
            <a:ext cx="1017588" cy="88582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dirty="0"/>
              <a:t>1000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35B8F9-42FC-DB8E-C0E7-7173ACE35ED1}"/>
              </a:ext>
            </a:extLst>
          </p:cNvPr>
          <p:cNvSpPr/>
          <p:nvPr/>
        </p:nvSpPr>
        <p:spPr>
          <a:xfrm>
            <a:off x="5903914" y="4379914"/>
            <a:ext cx="877887" cy="88582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dirty="0">
                <a:solidFill>
                  <a:schemeClr val="tx1"/>
                </a:solidFill>
              </a:rPr>
              <a:t>30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9748F8-364C-A3EB-F469-4D031172AD9B}"/>
              </a:ext>
            </a:extLst>
          </p:cNvPr>
          <p:cNvSpPr/>
          <p:nvPr/>
        </p:nvSpPr>
        <p:spPr>
          <a:xfrm>
            <a:off x="6742114" y="4379914"/>
            <a:ext cx="877887" cy="88582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dirty="0"/>
              <a:t>3000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FA2516-01A4-C702-9BBE-C5EDF8EFF657}"/>
              </a:ext>
            </a:extLst>
          </p:cNvPr>
          <p:cNvSpPr/>
          <p:nvPr/>
        </p:nvSpPr>
        <p:spPr>
          <a:xfrm>
            <a:off x="8054975" y="4379914"/>
            <a:ext cx="877888" cy="88582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dirty="0"/>
              <a:t>2000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24062CD-D647-7AEF-6286-0E4907017DCA}"/>
              </a:ext>
            </a:extLst>
          </p:cNvPr>
          <p:cNvSpPr/>
          <p:nvPr/>
        </p:nvSpPr>
        <p:spPr>
          <a:xfrm>
            <a:off x="8894764" y="4379914"/>
            <a:ext cx="879475" cy="88582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dirty="0">
                <a:solidFill>
                  <a:schemeClr val="tx1"/>
                </a:solidFill>
              </a:rPr>
              <a:t>50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C6FF99-8BAF-BAD6-CB34-0FC2F9D326A5}"/>
              </a:ext>
            </a:extLst>
          </p:cNvPr>
          <p:cNvSpPr/>
          <p:nvPr/>
        </p:nvSpPr>
        <p:spPr>
          <a:xfrm>
            <a:off x="9790114" y="4379914"/>
            <a:ext cx="877887" cy="88582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 b="1" dirty="0">
              <a:solidFill>
                <a:srgbClr val="002060"/>
              </a:solidFill>
            </a:endParaRPr>
          </a:p>
          <a:p>
            <a:pPr algn="ctr">
              <a:defRPr/>
            </a:pPr>
            <a:r>
              <a:rPr lang="en-IN" b="1" dirty="0">
                <a:solidFill>
                  <a:srgbClr val="002060"/>
                </a:solidFill>
              </a:rPr>
              <a:t>NULL</a:t>
            </a:r>
          </a:p>
          <a:p>
            <a:pPr algn="ctr">
              <a:defRPr/>
            </a:pPr>
            <a:endParaRPr lang="en-IN" dirty="0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84EC98A1-1EDF-B08D-7048-A80DB8722FF9}"/>
              </a:ext>
            </a:extLst>
          </p:cNvPr>
          <p:cNvSpPr/>
          <p:nvPr/>
        </p:nvSpPr>
        <p:spPr>
          <a:xfrm>
            <a:off x="4251326" y="4622800"/>
            <a:ext cx="657225" cy="4603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F0D78FD2-139D-0545-7BA7-0A3D92867209}"/>
              </a:ext>
            </a:extLst>
          </p:cNvPr>
          <p:cNvSpPr/>
          <p:nvPr/>
        </p:nvSpPr>
        <p:spPr>
          <a:xfrm>
            <a:off x="7620001" y="4668838"/>
            <a:ext cx="434975" cy="444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  <p:sp>
        <p:nvSpPr>
          <p:cNvPr id="19" name="Arrow: Left 18">
            <a:extLst>
              <a:ext uri="{FF2B5EF4-FFF2-40B4-BE49-F238E27FC236}">
                <a16:creationId xmlns:a16="http://schemas.microsoft.com/office/drawing/2014/main" id="{827318C8-E259-B493-A628-921937A810E0}"/>
              </a:ext>
            </a:extLst>
          </p:cNvPr>
          <p:cNvSpPr/>
          <p:nvPr/>
        </p:nvSpPr>
        <p:spPr>
          <a:xfrm>
            <a:off x="4267200" y="5005389"/>
            <a:ext cx="641350" cy="46037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  <p:sp>
        <p:nvSpPr>
          <p:cNvPr id="20" name="Arrow: Left 19">
            <a:extLst>
              <a:ext uri="{FF2B5EF4-FFF2-40B4-BE49-F238E27FC236}">
                <a16:creationId xmlns:a16="http://schemas.microsoft.com/office/drawing/2014/main" id="{E49DA187-CF51-EB7D-D0BE-C98A0846E2DF}"/>
              </a:ext>
            </a:extLst>
          </p:cNvPr>
          <p:cNvSpPr/>
          <p:nvPr/>
        </p:nvSpPr>
        <p:spPr>
          <a:xfrm>
            <a:off x="7580313" y="5005389"/>
            <a:ext cx="474662" cy="46037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  <p:sp>
        <p:nvSpPr>
          <p:cNvPr id="4115" name="TextBox 20">
            <a:extLst>
              <a:ext uri="{FF2B5EF4-FFF2-40B4-BE49-F238E27FC236}">
                <a16:creationId xmlns:a16="http://schemas.microsoft.com/office/drawing/2014/main" id="{393496B7-1F05-52A7-4638-B5160F1527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4113" y="5573714"/>
            <a:ext cx="10207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rgbClr val="59595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rgbClr val="59595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rgbClr val="59595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1000</a:t>
            </a:r>
          </a:p>
        </p:txBody>
      </p:sp>
      <p:sp>
        <p:nvSpPr>
          <p:cNvPr id="4116" name="TextBox 21">
            <a:extLst>
              <a:ext uri="{FF2B5EF4-FFF2-40B4-BE49-F238E27FC236}">
                <a16:creationId xmlns:a16="http://schemas.microsoft.com/office/drawing/2014/main" id="{3B3ED3F4-F6C5-2988-FC54-1F0353220E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2476" y="5573714"/>
            <a:ext cx="102076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rgbClr val="59595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rgbClr val="59595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rgbClr val="59595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2000</a:t>
            </a:r>
          </a:p>
        </p:txBody>
      </p:sp>
      <p:sp>
        <p:nvSpPr>
          <p:cNvPr id="4117" name="TextBox 22">
            <a:extLst>
              <a:ext uri="{FF2B5EF4-FFF2-40B4-BE49-F238E27FC236}">
                <a16:creationId xmlns:a16="http://schemas.microsoft.com/office/drawing/2014/main" id="{8B467081-AAF2-3333-B78E-72D3119A94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9351" y="5573714"/>
            <a:ext cx="102076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rgbClr val="59595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rgbClr val="59595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rgbClr val="59595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3000</a:t>
            </a:r>
          </a:p>
        </p:txBody>
      </p:sp>
      <p:sp>
        <p:nvSpPr>
          <p:cNvPr id="4118" name="TextBox 23">
            <a:extLst>
              <a:ext uri="{FF2B5EF4-FFF2-40B4-BE49-F238E27FC236}">
                <a16:creationId xmlns:a16="http://schemas.microsoft.com/office/drawing/2014/main" id="{6127FFC1-B303-DF62-0BFD-581EFFF660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3647" y="3331937"/>
            <a:ext cx="12652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rgbClr val="59595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rgbClr val="59595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rgbClr val="59595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    Head</a:t>
            </a:r>
          </a:p>
        </p:txBody>
      </p:sp>
      <p:pic>
        <p:nvPicPr>
          <p:cNvPr id="5" name="Picture 2" descr="KL Deemed to be University Logo">
            <a:extLst>
              <a:ext uri="{FF2B5EF4-FFF2-40B4-BE49-F238E27FC236}">
                <a16:creationId xmlns:a16="http://schemas.microsoft.com/office/drawing/2014/main" id="{82440E1E-7841-A960-0B20-24A4AE546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2522" y="153989"/>
            <a:ext cx="1990725" cy="600076"/>
          </a:xfrm>
          <a:prstGeom prst="rect">
            <a:avLst/>
          </a:prstGeom>
          <a:noFill/>
        </p:spPr>
      </p:pic>
      <p:sp>
        <p:nvSpPr>
          <p:cNvPr id="22" name="Rounded Rectangle 17">
            <a:extLst>
              <a:ext uri="{FF2B5EF4-FFF2-40B4-BE49-F238E27FC236}">
                <a16:creationId xmlns:a16="http://schemas.microsoft.com/office/drawing/2014/main" id="{CA7A789B-D156-C2FF-34BF-4B5D81DA4A7E}"/>
              </a:ext>
            </a:extLst>
          </p:cNvPr>
          <p:cNvSpPr/>
          <p:nvPr/>
        </p:nvSpPr>
        <p:spPr>
          <a:xfrm>
            <a:off x="1933881" y="97538"/>
            <a:ext cx="8324237" cy="1197862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rial"/>
                <a:cs typeface="Arial"/>
              </a:rPr>
              <a:t>A  Sample Doubly Linked List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F87DABE-7DCF-4EC6-A104-65AC04D30819}"/>
              </a:ext>
            </a:extLst>
          </p:cNvPr>
          <p:cNvSpPr/>
          <p:nvPr/>
        </p:nvSpPr>
        <p:spPr>
          <a:xfrm>
            <a:off x="2122265" y="3331937"/>
            <a:ext cx="795338" cy="4603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1000</a:t>
            </a:r>
          </a:p>
        </p:txBody>
      </p:sp>
      <p:sp>
        <p:nvSpPr>
          <p:cNvPr id="2" name="Arrow: Up 1">
            <a:extLst>
              <a:ext uri="{FF2B5EF4-FFF2-40B4-BE49-F238E27FC236}">
                <a16:creationId xmlns:a16="http://schemas.microsoft.com/office/drawing/2014/main" id="{D3F9144C-7720-4DEC-A7CD-E3A3A8A4E2A3}"/>
              </a:ext>
            </a:extLst>
          </p:cNvPr>
          <p:cNvSpPr/>
          <p:nvPr/>
        </p:nvSpPr>
        <p:spPr>
          <a:xfrm>
            <a:off x="2424113" y="3792312"/>
            <a:ext cx="45719" cy="587602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2088697" y="67684"/>
            <a:ext cx="6064704" cy="1197862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rial"/>
                <a:cs typeface="Arial"/>
              </a:rPr>
              <a:t>Operations on Doubly Linked List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7972" y="250372"/>
            <a:ext cx="1990725" cy="600076"/>
          </a:xfrm>
          <a:prstGeom prst="rect">
            <a:avLst/>
          </a:prstGeom>
          <a:noFill/>
        </p:spPr>
      </p:pic>
      <p:sp>
        <p:nvSpPr>
          <p:cNvPr id="53" name="TextBox 52"/>
          <p:cNvSpPr txBox="1"/>
          <p:nvPr/>
        </p:nvSpPr>
        <p:spPr>
          <a:xfrm>
            <a:off x="375781" y="1465781"/>
            <a:ext cx="11644983" cy="5297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buFont typeface="Symbol" panose="05050102010706020507" pitchFamily="18" charset="2"/>
              <a:buChar char=""/>
              <a:defRPr/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Insertion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Font typeface="Arial" panose="020B0604020202020204" pitchFamily="34" charset="0"/>
              <a:buNone/>
              <a:defRPr/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Insert a Node in the  beginning. </a:t>
            </a:r>
          </a:p>
          <a:p>
            <a:pPr marL="0" indent="0">
              <a:lnSpc>
                <a:spcPct val="107000"/>
              </a:lnSpc>
              <a:buFont typeface="Arial" panose="020B0604020202020204" pitchFamily="34" charset="0"/>
              <a:buNone/>
              <a:defRPr/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Insert a Node at the end.</a:t>
            </a:r>
          </a:p>
          <a:p>
            <a:pPr marL="0" indent="0">
              <a:lnSpc>
                <a:spcPct val="107000"/>
              </a:lnSpc>
              <a:buFont typeface="Arial" panose="020B0604020202020204" pitchFamily="34" charset="0"/>
              <a:buNone/>
              <a:defRPr/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Insert a Node at a specified position.</a:t>
            </a:r>
            <a:endParaRPr lang="en-IN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buFont typeface="Symbol" panose="05050102010706020507" pitchFamily="18" charset="2"/>
              <a:buChar char=""/>
              <a:defRPr/>
            </a:pP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Deletion </a:t>
            </a:r>
          </a:p>
          <a:p>
            <a:pPr marL="0" indent="0">
              <a:lnSpc>
                <a:spcPct val="107000"/>
              </a:lnSpc>
              <a:buFont typeface="Arial" panose="020B0604020202020204" pitchFamily="34" charset="0"/>
              <a:buNone/>
              <a:defRPr/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Delete a Node in the  beginning. </a:t>
            </a:r>
          </a:p>
          <a:p>
            <a:pPr marL="0" indent="0">
              <a:lnSpc>
                <a:spcPct val="107000"/>
              </a:lnSpc>
              <a:buFont typeface="Arial" panose="020B0604020202020204" pitchFamily="34" charset="0"/>
              <a:buNone/>
              <a:defRPr/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Delete a Node at the end.</a:t>
            </a:r>
          </a:p>
          <a:p>
            <a:pPr marL="0" indent="0">
              <a:lnSpc>
                <a:spcPct val="107000"/>
              </a:lnSpc>
              <a:buFont typeface="Arial" panose="020B0604020202020204" pitchFamily="34" charset="0"/>
              <a:buNone/>
              <a:defRPr/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Delete a Node at a specified position.</a:t>
            </a:r>
            <a:endParaRPr lang="en-IN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defRPr/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  <a:defRPr/>
            </a:pP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Display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ALL elements in DLL</a:t>
            </a:r>
            <a:endParaRPr lang="en-AU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1744024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1A146D1F-1BD0-6DDF-DFE8-32BB4E3579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0601" y="1074058"/>
            <a:ext cx="10768262" cy="5475515"/>
          </a:xfrm>
        </p:spPr>
        <p:txBody>
          <a:bodyPr/>
          <a:lstStyle/>
          <a:p>
            <a:pPr marL="0" indent="0">
              <a:buNone/>
            </a:pPr>
            <a:r>
              <a:rPr lang="en-IN" altLang="en-US" dirty="0"/>
              <a:t> </a:t>
            </a:r>
          </a:p>
          <a:p>
            <a:pPr marL="0" indent="0">
              <a:buNone/>
            </a:pPr>
            <a:r>
              <a:rPr lang="en-IN" altLang="en-US" dirty="0"/>
              <a:t>        Case I</a:t>
            </a:r>
          </a:p>
          <a:p>
            <a:pPr marL="0" indent="0">
              <a:buNone/>
            </a:pPr>
            <a:endParaRPr lang="en-IN" altLang="en-US" dirty="0"/>
          </a:p>
          <a:p>
            <a:pPr marL="0" indent="0">
              <a:buNone/>
            </a:pPr>
            <a:endParaRPr lang="en-IN" altLang="en-US" dirty="0"/>
          </a:p>
          <a:p>
            <a:pPr marL="0" indent="0">
              <a:buNone/>
            </a:pPr>
            <a:r>
              <a:rPr lang="en-IN" altLang="en-US" dirty="0"/>
              <a:t>        Case II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97423-ADD9-47E4-FAF5-330A0A253F2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1126447" y="6179686"/>
            <a:ext cx="2133600" cy="365125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1C892-C661-92AA-7C7B-DFAA9A484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67388" y="6238876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BES-1       KLEF                                   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13162D-8CFE-997B-F71B-5C873920CD35}"/>
              </a:ext>
            </a:extLst>
          </p:cNvPr>
          <p:cNvSpPr/>
          <p:nvPr/>
        </p:nvSpPr>
        <p:spPr>
          <a:xfrm>
            <a:off x="5049839" y="1373189"/>
            <a:ext cx="1381125" cy="65563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dirty="0">
                <a:solidFill>
                  <a:srgbClr val="FF0000"/>
                </a:solidFill>
              </a:rPr>
              <a:t>3500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100D3F-4026-2067-9876-FEEB7F02FFCC}"/>
              </a:ext>
            </a:extLst>
          </p:cNvPr>
          <p:cNvSpPr/>
          <p:nvPr/>
        </p:nvSpPr>
        <p:spPr>
          <a:xfrm>
            <a:off x="4505325" y="3735389"/>
            <a:ext cx="795338" cy="88582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sz="1600" b="1" strike="sngStrike" dirty="0">
                <a:solidFill>
                  <a:srgbClr val="002060"/>
                </a:solidFill>
              </a:rPr>
              <a:t>NULL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B98D95-A79D-6D99-C456-770F548600EF}"/>
              </a:ext>
            </a:extLst>
          </p:cNvPr>
          <p:cNvSpPr/>
          <p:nvPr/>
        </p:nvSpPr>
        <p:spPr>
          <a:xfrm>
            <a:off x="5322888" y="3740491"/>
            <a:ext cx="896938" cy="8858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0352C2-EE26-09DC-83D3-1DFDA95CBE40}"/>
              </a:ext>
            </a:extLst>
          </p:cNvPr>
          <p:cNvSpPr/>
          <p:nvPr/>
        </p:nvSpPr>
        <p:spPr>
          <a:xfrm>
            <a:off x="6219826" y="3737204"/>
            <a:ext cx="896937" cy="88582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dirty="0"/>
              <a:t>3000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138B13-73E5-28C4-D3C0-4703489961F0}"/>
              </a:ext>
            </a:extLst>
          </p:cNvPr>
          <p:cNvSpPr/>
          <p:nvPr/>
        </p:nvSpPr>
        <p:spPr>
          <a:xfrm>
            <a:off x="7840664" y="3703639"/>
            <a:ext cx="1017587" cy="88582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dirty="0"/>
              <a:t>2000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3E05078-62A8-B2B2-9419-D1C3F3AD06F3}"/>
              </a:ext>
            </a:extLst>
          </p:cNvPr>
          <p:cNvSpPr/>
          <p:nvPr/>
        </p:nvSpPr>
        <p:spPr>
          <a:xfrm>
            <a:off x="8858251" y="3699103"/>
            <a:ext cx="877888" cy="8858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dirty="0">
                <a:solidFill>
                  <a:schemeClr val="tx1"/>
                </a:solidFill>
              </a:rPr>
              <a:t>30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76E44C4F-5CC3-3AF4-140E-9D343641419C}"/>
              </a:ext>
            </a:extLst>
          </p:cNvPr>
          <p:cNvSpPr/>
          <p:nvPr/>
        </p:nvSpPr>
        <p:spPr>
          <a:xfrm>
            <a:off x="7161214" y="3911600"/>
            <a:ext cx="657225" cy="4603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  <p:sp>
        <p:nvSpPr>
          <p:cNvPr id="18" name="Arrow: Left 17">
            <a:extLst>
              <a:ext uri="{FF2B5EF4-FFF2-40B4-BE49-F238E27FC236}">
                <a16:creationId xmlns:a16="http://schemas.microsoft.com/office/drawing/2014/main" id="{3F27904A-7470-3972-9FDB-6088EDCB1C3B}"/>
              </a:ext>
            </a:extLst>
          </p:cNvPr>
          <p:cNvSpPr/>
          <p:nvPr/>
        </p:nvSpPr>
        <p:spPr>
          <a:xfrm flipV="1">
            <a:off x="7188200" y="4316414"/>
            <a:ext cx="641350" cy="46037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  <p:sp>
        <p:nvSpPr>
          <p:cNvPr id="6158" name="TextBox 21">
            <a:extLst>
              <a:ext uri="{FF2B5EF4-FFF2-40B4-BE49-F238E27FC236}">
                <a16:creationId xmlns:a16="http://schemas.microsoft.com/office/drawing/2014/main" id="{EFC48F18-1D6C-2A3B-B496-AA281F066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5363" y="4773614"/>
            <a:ext cx="10207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rgbClr val="59595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rgbClr val="59595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rgbClr val="59595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2000</a:t>
            </a:r>
          </a:p>
        </p:txBody>
      </p:sp>
      <p:sp>
        <p:nvSpPr>
          <p:cNvPr id="6159" name="TextBox 22">
            <a:extLst>
              <a:ext uri="{FF2B5EF4-FFF2-40B4-BE49-F238E27FC236}">
                <a16:creationId xmlns:a16="http://schemas.microsoft.com/office/drawing/2014/main" id="{01CFB858-1F4D-98CC-AC17-7182FCE87A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62938" y="4791076"/>
            <a:ext cx="10207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rgbClr val="59595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rgbClr val="59595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rgbClr val="59595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3000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9D0F89D-7BD1-5314-8304-9EB573168E33}"/>
              </a:ext>
            </a:extLst>
          </p:cNvPr>
          <p:cNvSpPr/>
          <p:nvPr/>
        </p:nvSpPr>
        <p:spPr>
          <a:xfrm>
            <a:off x="7589839" y="1270455"/>
            <a:ext cx="795337" cy="88582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sz="1600" b="1" dirty="0">
                <a:solidFill>
                  <a:srgbClr val="002060"/>
                </a:solidFill>
              </a:rPr>
              <a:t>NULL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9ABE205-9940-BACA-C2DE-25888D7CDF4E}"/>
              </a:ext>
            </a:extLst>
          </p:cNvPr>
          <p:cNvSpPr/>
          <p:nvPr/>
        </p:nvSpPr>
        <p:spPr>
          <a:xfrm>
            <a:off x="8408989" y="1277939"/>
            <a:ext cx="898525" cy="8858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D9AA98C-4F7A-B1D7-DDA4-19C21E843014}"/>
              </a:ext>
            </a:extLst>
          </p:cNvPr>
          <p:cNvSpPr txBox="1"/>
          <p:nvPr/>
        </p:nvSpPr>
        <p:spPr>
          <a:xfrm>
            <a:off x="4103371" y="2772459"/>
            <a:ext cx="873760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IN" strike="sngStrike" dirty="0"/>
              <a:t>2000</a:t>
            </a:r>
          </a:p>
          <a:p>
            <a:pPr>
              <a:defRPr/>
            </a:pPr>
            <a:r>
              <a:rPr lang="en-IN" dirty="0"/>
              <a:t>3500 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BD5DEBF-A9E7-4CE9-C9FE-E4CE4E14FF61}"/>
              </a:ext>
            </a:extLst>
          </p:cNvPr>
          <p:cNvSpPr/>
          <p:nvPr/>
        </p:nvSpPr>
        <p:spPr>
          <a:xfrm>
            <a:off x="9307514" y="1270455"/>
            <a:ext cx="795338" cy="88582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sz="1600" b="1" dirty="0">
                <a:solidFill>
                  <a:srgbClr val="002060"/>
                </a:solidFill>
              </a:rPr>
              <a:t>NULL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0C6CEC7-0C4A-6EB3-A479-E0E7E543C5D0}"/>
              </a:ext>
            </a:extLst>
          </p:cNvPr>
          <p:cNvSpPr/>
          <p:nvPr/>
        </p:nvSpPr>
        <p:spPr>
          <a:xfrm>
            <a:off x="9652000" y="3709989"/>
            <a:ext cx="795338" cy="88582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sz="1600" b="1" dirty="0">
                <a:solidFill>
                  <a:srgbClr val="002060"/>
                </a:solidFill>
              </a:rPr>
              <a:t>NULL</a:t>
            </a:r>
          </a:p>
        </p:txBody>
      </p:sp>
      <p:sp>
        <p:nvSpPr>
          <p:cNvPr id="6165" name="TextBox 30">
            <a:extLst>
              <a:ext uri="{FF2B5EF4-FFF2-40B4-BE49-F238E27FC236}">
                <a16:creationId xmlns:a16="http://schemas.microsoft.com/office/drawing/2014/main" id="{A7A14E4A-9997-AD56-4228-ABAD864337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8500" y="4819651"/>
            <a:ext cx="184785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rgbClr val="59595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rgbClr val="59595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rgbClr val="59595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Newnode   3500</a:t>
            </a:r>
          </a:p>
        </p:txBody>
      </p:sp>
      <p:sp>
        <p:nvSpPr>
          <p:cNvPr id="6166" name="TextBox 35">
            <a:extLst>
              <a:ext uri="{FF2B5EF4-FFF2-40B4-BE49-F238E27FC236}">
                <a16:creationId xmlns:a16="http://schemas.microsoft.com/office/drawing/2014/main" id="{A66FF8C9-E793-C9FB-13A5-B49C4CBC89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8939" y="1538288"/>
            <a:ext cx="8969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rgbClr val="59595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rgbClr val="59595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rgbClr val="59595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Head</a:t>
            </a:r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5E58551B-CF03-9643-761B-CABE62DC67DB}"/>
              </a:ext>
            </a:extLst>
          </p:cNvPr>
          <p:cNvSpPr/>
          <p:nvPr/>
        </p:nvSpPr>
        <p:spPr>
          <a:xfrm>
            <a:off x="3973514" y="3952875"/>
            <a:ext cx="566737" cy="4603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  <p:sp>
        <p:nvSpPr>
          <p:cNvPr id="39" name="Arrow: Left 38">
            <a:extLst>
              <a:ext uri="{FF2B5EF4-FFF2-40B4-BE49-F238E27FC236}">
                <a16:creationId xmlns:a16="http://schemas.microsoft.com/office/drawing/2014/main" id="{DEC5AA87-7313-54A3-B4F6-3C6F7125F648}"/>
              </a:ext>
            </a:extLst>
          </p:cNvPr>
          <p:cNvSpPr/>
          <p:nvPr/>
        </p:nvSpPr>
        <p:spPr>
          <a:xfrm>
            <a:off x="3983039" y="4316414"/>
            <a:ext cx="549275" cy="46037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  <p:sp>
        <p:nvSpPr>
          <p:cNvPr id="42" name="Arrow: Left 41">
            <a:extLst>
              <a:ext uri="{FF2B5EF4-FFF2-40B4-BE49-F238E27FC236}">
                <a16:creationId xmlns:a16="http://schemas.microsoft.com/office/drawing/2014/main" id="{AA86C568-E050-CDDF-5690-53A3D7E2D6CD}"/>
              </a:ext>
            </a:extLst>
          </p:cNvPr>
          <p:cNvSpPr/>
          <p:nvPr/>
        </p:nvSpPr>
        <p:spPr>
          <a:xfrm>
            <a:off x="6462714" y="1589089"/>
            <a:ext cx="1127125" cy="46037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  <p:sp>
        <p:nvSpPr>
          <p:cNvPr id="6170" name="TextBox 42">
            <a:extLst>
              <a:ext uri="{FF2B5EF4-FFF2-40B4-BE49-F238E27FC236}">
                <a16:creationId xmlns:a16="http://schemas.microsoft.com/office/drawing/2014/main" id="{F89E7930-F54F-D656-33E1-BA9FDBD4C7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4254" y="2939256"/>
            <a:ext cx="8969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rgbClr val="59595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rgbClr val="59595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rgbClr val="59595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Head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F37896B-C293-89D3-E9AD-62E24F50B831}"/>
              </a:ext>
            </a:extLst>
          </p:cNvPr>
          <p:cNvSpPr/>
          <p:nvPr/>
        </p:nvSpPr>
        <p:spPr>
          <a:xfrm>
            <a:off x="1577975" y="3852864"/>
            <a:ext cx="795338" cy="88582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sz="1600" b="1" dirty="0">
                <a:solidFill>
                  <a:srgbClr val="002060"/>
                </a:solidFill>
              </a:rPr>
              <a:t>NULL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DE990EE-67CC-AF2E-F9EA-A0F7BD30F6BD}"/>
              </a:ext>
            </a:extLst>
          </p:cNvPr>
          <p:cNvSpPr/>
          <p:nvPr/>
        </p:nvSpPr>
        <p:spPr>
          <a:xfrm>
            <a:off x="2278064" y="3844926"/>
            <a:ext cx="896937" cy="8858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43880C3-3C1C-8C92-5340-58BB060608CE}"/>
              </a:ext>
            </a:extLst>
          </p:cNvPr>
          <p:cNvSpPr/>
          <p:nvPr/>
        </p:nvSpPr>
        <p:spPr>
          <a:xfrm>
            <a:off x="3193372" y="3844925"/>
            <a:ext cx="795337" cy="88582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sz="1600" b="1" dirty="0">
                <a:solidFill>
                  <a:srgbClr val="002060"/>
                </a:solidFill>
              </a:rPr>
              <a:t>NULL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961B620B-D3C4-846B-706D-FAE7A5517363}"/>
              </a:ext>
            </a:extLst>
          </p:cNvPr>
          <p:cNvCxnSpPr/>
          <p:nvPr/>
        </p:nvCxnSpPr>
        <p:spPr>
          <a:xfrm flipV="1">
            <a:off x="3175000" y="3040063"/>
            <a:ext cx="0" cy="8048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0B5AAF7-8615-BBE6-1DF3-1480CE347F28}"/>
              </a:ext>
            </a:extLst>
          </p:cNvPr>
          <p:cNvCxnSpPr/>
          <p:nvPr/>
        </p:nvCxnSpPr>
        <p:spPr>
          <a:xfrm>
            <a:off x="3175000" y="3040063"/>
            <a:ext cx="9191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76" name="TextBox 30">
            <a:extLst>
              <a:ext uri="{FF2B5EF4-FFF2-40B4-BE49-F238E27FC236}">
                <a16:creationId xmlns:a16="http://schemas.microsoft.com/office/drawing/2014/main" id="{E8BB6318-41DA-65B2-9B8F-53D53ACDAB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8703" y="2116137"/>
            <a:ext cx="184785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rgbClr val="59595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rgbClr val="59595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rgbClr val="59595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Newnode   3500</a:t>
            </a:r>
          </a:p>
        </p:txBody>
      </p:sp>
      <p:sp>
        <p:nvSpPr>
          <p:cNvPr id="12" name="Rounded Rectangle 17">
            <a:extLst>
              <a:ext uri="{FF2B5EF4-FFF2-40B4-BE49-F238E27FC236}">
                <a16:creationId xmlns:a16="http://schemas.microsoft.com/office/drawing/2014/main" id="{F5FB1112-D722-6A2C-71C6-1F45C9782310}"/>
              </a:ext>
            </a:extLst>
          </p:cNvPr>
          <p:cNvSpPr/>
          <p:nvPr/>
        </p:nvSpPr>
        <p:spPr>
          <a:xfrm>
            <a:off x="3405867" y="185399"/>
            <a:ext cx="5106761" cy="743631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rial"/>
                <a:cs typeface="Arial"/>
              </a:rPr>
              <a:t>Insertion at the beginning</a:t>
            </a:r>
          </a:p>
        </p:txBody>
      </p:sp>
      <p:pic>
        <p:nvPicPr>
          <p:cNvPr id="13" name="Picture 2" descr="KL Deemed to be University Logo">
            <a:extLst>
              <a:ext uri="{FF2B5EF4-FFF2-40B4-BE49-F238E27FC236}">
                <a16:creationId xmlns:a16="http://schemas.microsoft.com/office/drawing/2014/main" id="{C7B857FF-59A6-97C3-D5D2-7428F5E165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2522" y="153989"/>
            <a:ext cx="1990725" cy="600076"/>
          </a:xfrm>
          <a:prstGeom prst="rect">
            <a:avLst/>
          </a:prstGeom>
          <a:noFill/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95B88A7-2C11-CF05-1B2A-B358B60C0EC9}"/>
              </a:ext>
            </a:extLst>
          </p:cNvPr>
          <p:cNvCxnSpPr>
            <a:endCxn id="46" idx="3"/>
          </p:cNvCxnSpPr>
          <p:nvPr/>
        </p:nvCxnSpPr>
        <p:spPr>
          <a:xfrm flipV="1">
            <a:off x="3473450" y="4287838"/>
            <a:ext cx="515259" cy="190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D5C2C10-5DD1-445A-AF60-477A7AC72526}"/>
              </a:ext>
            </a:extLst>
          </p:cNvPr>
          <p:cNvCxnSpPr/>
          <p:nvPr/>
        </p:nvCxnSpPr>
        <p:spPr>
          <a:xfrm>
            <a:off x="3405867" y="4287838"/>
            <a:ext cx="4104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EF1A552-31F4-5392-64C9-0E922256FED2}"/>
              </a:ext>
            </a:extLst>
          </p:cNvPr>
          <p:cNvSpPr txBox="1"/>
          <p:nvPr/>
        </p:nvSpPr>
        <p:spPr>
          <a:xfrm>
            <a:off x="3276168" y="4361935"/>
            <a:ext cx="883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2000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B52DC3-AFE4-30A5-0A92-E3AE7E0A029C}"/>
              </a:ext>
            </a:extLst>
          </p:cNvPr>
          <p:cNvSpPr txBox="1"/>
          <p:nvPr/>
        </p:nvSpPr>
        <p:spPr>
          <a:xfrm>
            <a:off x="4516439" y="4339432"/>
            <a:ext cx="735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3500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52"/>
          <p:cNvSpPr txBox="1"/>
          <p:nvPr/>
        </p:nvSpPr>
        <p:spPr>
          <a:xfrm>
            <a:off x="375781" y="1465781"/>
            <a:ext cx="1164498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" name="Picture 2" descr="KL Deemed to be University Logo">
            <a:extLst>
              <a:ext uri="{FF2B5EF4-FFF2-40B4-BE49-F238E27FC236}">
                <a16:creationId xmlns:a16="http://schemas.microsoft.com/office/drawing/2014/main" id="{1E821D88-BA7E-B770-353C-EDD6A4879D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7972" y="250372"/>
            <a:ext cx="1990725" cy="600076"/>
          </a:xfrm>
          <a:prstGeom prst="rect">
            <a:avLst/>
          </a:prstGeom>
          <a:noFill/>
        </p:spPr>
      </p:pic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FC3237EE-4BF8-4D3F-6FE4-62C0C5B7469E}"/>
              </a:ext>
            </a:extLst>
          </p:cNvPr>
          <p:cNvSpPr/>
          <p:nvPr/>
        </p:nvSpPr>
        <p:spPr>
          <a:xfrm>
            <a:off x="2088697" y="305142"/>
            <a:ext cx="6946447" cy="743631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rial"/>
                <a:cs typeface="Arial"/>
              </a:rPr>
              <a:t>Insertion at the beginning - Algorithm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E16EF4-87AB-4BCF-1F93-AA870C526EB3}"/>
              </a:ext>
            </a:extLst>
          </p:cNvPr>
          <p:cNvSpPr txBox="1"/>
          <p:nvPr/>
        </p:nvSpPr>
        <p:spPr>
          <a:xfrm>
            <a:off x="1556658" y="1698901"/>
            <a:ext cx="959031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IF Head = NULL THEN</a:t>
            </a:r>
          </a:p>
          <a:p>
            <a:pPr marL="0" indent="0" algn="just"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Head =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Newnode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ELSE SET NEW_NODE -&gt; DATA = VAL</a:t>
            </a:r>
          </a:p>
          <a:p>
            <a:pPr marL="0" indent="0" algn="just"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SET NEW_NODE -&gt; NEXT = Head</a:t>
            </a:r>
          </a:p>
          <a:p>
            <a:pPr marL="0" indent="0" algn="just"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SET Head-&gt;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prev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Newnode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 Head=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Newnode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6: 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EXIT</a:t>
            </a:r>
          </a:p>
        </p:txBody>
      </p:sp>
    </p:spTree>
    <p:extLst>
      <p:ext uri="{BB962C8B-B14F-4D97-AF65-F5344CB8AC3E}">
        <p14:creationId xmlns:p14="http://schemas.microsoft.com/office/powerpoint/2010/main" val="1076374759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2036153" y="156632"/>
            <a:ext cx="8324237" cy="68156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rial"/>
                <a:cs typeface="Arial"/>
              </a:rPr>
              <a:t>Insertion at the End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5057" y="238124"/>
            <a:ext cx="1990725" cy="600076"/>
          </a:xfrm>
          <a:prstGeom prst="rect">
            <a:avLst/>
          </a:prstGeom>
          <a:noFill/>
        </p:spPr>
      </p:pic>
      <p:sp>
        <p:nvSpPr>
          <p:cNvPr id="53" name="TextBox 52"/>
          <p:cNvSpPr txBox="1"/>
          <p:nvPr/>
        </p:nvSpPr>
        <p:spPr>
          <a:xfrm>
            <a:off x="375781" y="1465781"/>
            <a:ext cx="1164498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0ECE79-A979-94B8-5862-8B6A5A4A2B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8506" y="1011098"/>
            <a:ext cx="9916885" cy="21200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C339142-4B55-59BD-0A5C-3FF31C8E48D0}"/>
              </a:ext>
            </a:extLst>
          </p:cNvPr>
          <p:cNvSpPr txBox="1"/>
          <p:nvPr/>
        </p:nvSpPr>
        <p:spPr>
          <a:xfrm>
            <a:off x="8597143" y="3038250"/>
            <a:ext cx="5878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/>
              <a:t>ptr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B304AE-752F-4EE2-E67D-CB5B4F4DB210}"/>
              </a:ext>
            </a:extLst>
          </p:cNvPr>
          <p:cNvSpPr/>
          <p:nvPr/>
        </p:nvSpPr>
        <p:spPr>
          <a:xfrm>
            <a:off x="9933277" y="1926769"/>
            <a:ext cx="718457" cy="55467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NULL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E98826-47FC-3FCB-9FBE-DD6864C8E45D}"/>
              </a:ext>
            </a:extLst>
          </p:cNvPr>
          <p:cNvSpPr/>
          <p:nvPr/>
        </p:nvSpPr>
        <p:spPr>
          <a:xfrm>
            <a:off x="10651734" y="1943097"/>
            <a:ext cx="718457" cy="55467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2221A3-B8F5-1F08-26C0-F307D4978981}"/>
              </a:ext>
            </a:extLst>
          </p:cNvPr>
          <p:cNvSpPr/>
          <p:nvPr/>
        </p:nvSpPr>
        <p:spPr>
          <a:xfrm>
            <a:off x="11397205" y="1926768"/>
            <a:ext cx="718457" cy="55467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NULL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B81D02E-3B04-21B3-A036-E665DBFD13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63" y="4144883"/>
            <a:ext cx="9916885" cy="2120037"/>
          </a:xfrm>
          <a:prstGeom prst="rect">
            <a:avLst/>
          </a:prstGeom>
        </p:spPr>
      </p:pic>
      <p:sp>
        <p:nvSpPr>
          <p:cNvPr id="13" name="Arrow: Up 12">
            <a:extLst>
              <a:ext uri="{FF2B5EF4-FFF2-40B4-BE49-F238E27FC236}">
                <a16:creationId xmlns:a16="http://schemas.microsoft.com/office/drawing/2014/main" id="{F753DE12-A048-50B4-FB2F-0936C8B6C511}"/>
              </a:ext>
            </a:extLst>
          </p:cNvPr>
          <p:cNvSpPr/>
          <p:nvPr/>
        </p:nvSpPr>
        <p:spPr>
          <a:xfrm>
            <a:off x="8678848" y="5846902"/>
            <a:ext cx="223095" cy="701833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row: Up 13">
            <a:extLst>
              <a:ext uri="{FF2B5EF4-FFF2-40B4-BE49-F238E27FC236}">
                <a16:creationId xmlns:a16="http://schemas.microsoft.com/office/drawing/2014/main" id="{F1D2899A-89B7-3B4F-730D-C4837A63A429}"/>
              </a:ext>
            </a:extLst>
          </p:cNvPr>
          <p:cNvSpPr/>
          <p:nvPr/>
        </p:nvSpPr>
        <p:spPr>
          <a:xfrm>
            <a:off x="8374048" y="2767304"/>
            <a:ext cx="223095" cy="701833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E419B79-8966-13E1-340E-4AEBDF1A8AA9}"/>
              </a:ext>
            </a:extLst>
          </p:cNvPr>
          <p:cNvSpPr/>
          <p:nvPr/>
        </p:nvSpPr>
        <p:spPr>
          <a:xfrm>
            <a:off x="10001161" y="5018312"/>
            <a:ext cx="718457" cy="55467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3000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FD4F246-2009-455E-E851-8E476CE61BBF}"/>
              </a:ext>
            </a:extLst>
          </p:cNvPr>
          <p:cNvSpPr/>
          <p:nvPr/>
        </p:nvSpPr>
        <p:spPr>
          <a:xfrm>
            <a:off x="10719618" y="5018311"/>
            <a:ext cx="718457" cy="55467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316150E-1354-5E6D-B037-405A6FC34971}"/>
              </a:ext>
            </a:extLst>
          </p:cNvPr>
          <p:cNvSpPr/>
          <p:nvPr/>
        </p:nvSpPr>
        <p:spPr>
          <a:xfrm>
            <a:off x="11438075" y="5032027"/>
            <a:ext cx="718457" cy="55467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NULL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E2227C2A-FE10-282D-8C71-27AC6A5A5665}"/>
              </a:ext>
            </a:extLst>
          </p:cNvPr>
          <p:cNvSpPr/>
          <p:nvPr/>
        </p:nvSpPr>
        <p:spPr>
          <a:xfrm>
            <a:off x="9339943" y="5236029"/>
            <a:ext cx="661218" cy="59618"/>
          </a:xfrm>
          <a:prstGeom prst="rightArrow">
            <a:avLst/>
          </a:prstGeom>
          <a:solidFill>
            <a:srgbClr val="E329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Arrow: Left 19">
            <a:extLst>
              <a:ext uri="{FF2B5EF4-FFF2-40B4-BE49-F238E27FC236}">
                <a16:creationId xmlns:a16="http://schemas.microsoft.com/office/drawing/2014/main" id="{B0255A36-3FBE-7AC2-E24D-2491E126B0D9}"/>
              </a:ext>
            </a:extLst>
          </p:cNvPr>
          <p:cNvSpPr/>
          <p:nvPr/>
        </p:nvSpPr>
        <p:spPr>
          <a:xfrm>
            <a:off x="9427029" y="5513364"/>
            <a:ext cx="528019" cy="5962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7D6CD8C-9607-A5FA-BE2F-254264D3CF2D}"/>
              </a:ext>
            </a:extLst>
          </p:cNvPr>
          <p:cNvSpPr txBox="1"/>
          <p:nvPr/>
        </p:nvSpPr>
        <p:spPr>
          <a:xfrm>
            <a:off x="8839200" y="6049476"/>
            <a:ext cx="5878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/>
              <a:t>ptr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D8CC208-0F69-AF9D-6CB0-00E64BDF809B}"/>
              </a:ext>
            </a:extLst>
          </p:cNvPr>
          <p:cNvSpPr txBox="1"/>
          <p:nvPr/>
        </p:nvSpPr>
        <p:spPr>
          <a:xfrm>
            <a:off x="10692707" y="2786743"/>
            <a:ext cx="1480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Newnode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1B17B33-9B99-CB09-7F49-5E0CA57E8879}"/>
              </a:ext>
            </a:extLst>
          </p:cNvPr>
          <p:cNvSpPr txBox="1"/>
          <p:nvPr/>
        </p:nvSpPr>
        <p:spPr>
          <a:xfrm>
            <a:off x="723219" y="3593522"/>
            <a:ext cx="39140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AFTER INSERTION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B9A64FB-9194-2CD1-57BA-864FC1461044}"/>
              </a:ext>
            </a:extLst>
          </p:cNvPr>
          <p:cNvSpPr txBox="1"/>
          <p:nvPr/>
        </p:nvSpPr>
        <p:spPr>
          <a:xfrm>
            <a:off x="9318757" y="4321124"/>
            <a:ext cx="20832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Ptr-&gt;next=Newnode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4FB5E17-C01C-FE2F-FD8F-0E6BA72DFACF}"/>
              </a:ext>
            </a:extLst>
          </p:cNvPr>
          <p:cNvSpPr txBox="1"/>
          <p:nvPr/>
        </p:nvSpPr>
        <p:spPr>
          <a:xfrm>
            <a:off x="9133114" y="5704176"/>
            <a:ext cx="20907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/>
              <a:t>Newnode</a:t>
            </a:r>
            <a:r>
              <a:rPr lang="en-IN" dirty="0"/>
              <a:t>-&gt;</a:t>
            </a:r>
            <a:r>
              <a:rPr lang="en-IN" dirty="0" err="1"/>
              <a:t>prev</a:t>
            </a:r>
            <a:r>
              <a:rPr lang="en-IN" dirty="0"/>
              <a:t>=ptr</a:t>
            </a:r>
          </a:p>
        </p:txBody>
      </p:sp>
      <p:cxnSp>
        <p:nvCxnSpPr>
          <p:cNvPr id="28" name="Connector: Curved 27">
            <a:extLst>
              <a:ext uri="{FF2B5EF4-FFF2-40B4-BE49-F238E27FC236}">
                <a16:creationId xmlns:a16="http://schemas.microsoft.com/office/drawing/2014/main" id="{0335E949-5F6F-7722-0171-7F2D567B077B}"/>
              </a:ext>
            </a:extLst>
          </p:cNvPr>
          <p:cNvCxnSpPr/>
          <p:nvPr/>
        </p:nvCxnSpPr>
        <p:spPr>
          <a:xfrm rot="5400000" flipH="1" flipV="1">
            <a:off x="9665071" y="4695938"/>
            <a:ext cx="341571" cy="330609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Curved 29">
            <a:extLst>
              <a:ext uri="{FF2B5EF4-FFF2-40B4-BE49-F238E27FC236}">
                <a16:creationId xmlns:a16="http://schemas.microsoft.com/office/drawing/2014/main" id="{F2ADD9FA-735F-9DBB-A9E1-A9352DC79F13}"/>
              </a:ext>
            </a:extLst>
          </p:cNvPr>
          <p:cNvCxnSpPr/>
          <p:nvPr/>
        </p:nvCxnSpPr>
        <p:spPr>
          <a:xfrm rot="16200000" flipH="1">
            <a:off x="9633346" y="5644392"/>
            <a:ext cx="260202" cy="14481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7918429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1480458" y="348985"/>
            <a:ext cx="7469580" cy="66410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latin typeface="Arial"/>
                <a:cs typeface="Arial"/>
              </a:rPr>
              <a:t>Insertion at End - Algorithm</a:t>
            </a: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Rectangle 1"/>
          <p:cNvSpPr/>
          <p:nvPr/>
        </p:nvSpPr>
        <p:spPr>
          <a:xfrm>
            <a:off x="1152524" y="2471108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sz="32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971550" lvl="1" indent="-514350">
              <a:buAutoNum type="arabicPeriod"/>
            </a:pPr>
            <a:endParaRPr lang="en-IN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64179"/>
            <a:ext cx="10515600" cy="4912784"/>
          </a:xfrm>
        </p:spPr>
        <p:txBody>
          <a:bodyPr/>
          <a:lstStyle/>
          <a:p>
            <a:pPr marL="0" indent="0" algn="just">
              <a:buNone/>
            </a:pP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IF Head = NULL THEN</a:t>
            </a:r>
          </a:p>
          <a:p>
            <a:pPr marL="0" indent="0" algn="just">
              <a:buNone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Head =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Newnode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ELSE SET NEW_NODE -&gt; DATA = VAL</a:t>
            </a:r>
          </a:p>
          <a:p>
            <a:pPr marL="0" indent="0" algn="just">
              <a:buNone/>
            </a:pP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SET NEW_NODE -&gt; NEXT = NULL</a:t>
            </a:r>
          </a:p>
          <a:p>
            <a:pPr marL="0" indent="0" algn="just">
              <a:buNone/>
            </a:pP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SET NEW_NODE -&gt; PREV = NULL</a:t>
            </a:r>
          </a:p>
          <a:p>
            <a:pPr marL="0" indent="0" algn="just">
              <a:buNone/>
            </a:pP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SET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Head</a:t>
            </a:r>
          </a:p>
          <a:p>
            <a:pPr marL="0" indent="0" algn="just">
              <a:buNone/>
            </a:pP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6: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Repeat  while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 NEXT != NULL</a:t>
            </a:r>
          </a:p>
          <a:p>
            <a:pPr marL="0" indent="0" algn="just">
              <a:buNone/>
            </a:pP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6.1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SET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 NEXT</a:t>
            </a:r>
          </a:p>
          <a:p>
            <a:pPr marL="0" indent="0" algn="just">
              <a:buNone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[END OF LOOP]</a:t>
            </a:r>
          </a:p>
          <a:p>
            <a:pPr marL="0" indent="0" algn="just">
              <a:buNone/>
            </a:pP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7: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SET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-&gt; NEXT = NEW_NODE</a:t>
            </a:r>
          </a:p>
          <a:p>
            <a:pPr marL="0" indent="0" algn="just">
              <a:buNone/>
            </a:pP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8: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SET NEW_NODE -&gt; PREV =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9: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EXIT</a:t>
            </a:r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680355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E86696-A87E-CA71-E93C-6F03891372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7571" y="1817914"/>
            <a:ext cx="10515600" cy="3208957"/>
          </a:xfrm>
        </p:spPr>
      </p:pic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D1C7A887-AED4-1CCF-6B1D-527B0E3C7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676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latin typeface="Arial"/>
                <a:cs typeface="Arial"/>
              </a:rPr>
              <a:t>Insertion at a specified position</a:t>
            </a:r>
          </a:p>
        </p:txBody>
      </p:sp>
    </p:spTree>
    <p:extLst>
      <p:ext uri="{BB962C8B-B14F-4D97-AF65-F5344CB8AC3E}">
        <p14:creationId xmlns:p14="http://schemas.microsoft.com/office/powerpoint/2010/main" val="4206064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Rectangle 1"/>
          <p:cNvSpPr/>
          <p:nvPr/>
        </p:nvSpPr>
        <p:spPr>
          <a:xfrm>
            <a:off x="1152524" y="2471108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sz="32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971550" lvl="1" indent="-514350">
              <a:buAutoNum type="arabicPeriod"/>
            </a:pPr>
            <a:endParaRPr lang="en-IN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ounded Rectangle 17">
            <a:extLst>
              <a:ext uri="{FF2B5EF4-FFF2-40B4-BE49-F238E27FC236}">
                <a16:creationId xmlns:a16="http://schemas.microsoft.com/office/drawing/2014/main" id="{11A1DB0B-CE35-51E3-6653-2221B52B2B17}"/>
              </a:ext>
            </a:extLst>
          </p:cNvPr>
          <p:cNvSpPr/>
          <p:nvPr/>
        </p:nvSpPr>
        <p:spPr>
          <a:xfrm>
            <a:off x="1828801" y="300038"/>
            <a:ext cx="7469580" cy="66410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latin typeface="Arial"/>
                <a:cs typeface="Arial"/>
              </a:rPr>
              <a:t>Insertion at a specified position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C4E4DD1-5E6F-EA33-9C26-02DB080A97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995" y="994097"/>
            <a:ext cx="9916885" cy="2120037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CB42328-6DB8-B301-4E36-7B0BB6F9E571}"/>
              </a:ext>
            </a:extLst>
          </p:cNvPr>
          <p:cNvSpPr/>
          <p:nvPr/>
        </p:nvSpPr>
        <p:spPr>
          <a:xfrm>
            <a:off x="5558210" y="3432786"/>
            <a:ext cx="718457" cy="55467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NULL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4E067A2-310A-9959-F266-8F92AD1FC1A8}"/>
              </a:ext>
            </a:extLst>
          </p:cNvPr>
          <p:cNvSpPr/>
          <p:nvPr/>
        </p:nvSpPr>
        <p:spPr>
          <a:xfrm>
            <a:off x="6276667" y="3432786"/>
            <a:ext cx="718457" cy="55467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100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F1FA5-8A37-67A1-0919-7D7338594C62}"/>
              </a:ext>
            </a:extLst>
          </p:cNvPr>
          <p:cNvSpPr/>
          <p:nvPr/>
        </p:nvSpPr>
        <p:spPr>
          <a:xfrm>
            <a:off x="6995124" y="3432786"/>
            <a:ext cx="718457" cy="55467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NULL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2CFE98-932C-9D8D-276B-C1ED9042969A}"/>
              </a:ext>
            </a:extLst>
          </p:cNvPr>
          <p:cNvSpPr txBox="1"/>
          <p:nvPr/>
        </p:nvSpPr>
        <p:spPr>
          <a:xfrm>
            <a:off x="6276667" y="4068518"/>
            <a:ext cx="1480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Newnode</a:t>
            </a:r>
            <a:endParaRPr lang="en-IN" dirty="0"/>
          </a:p>
          <a:p>
            <a:r>
              <a:rPr lang="en-IN" dirty="0"/>
              <a:t>5000</a:t>
            </a:r>
          </a:p>
        </p:txBody>
      </p:sp>
      <p:sp>
        <p:nvSpPr>
          <p:cNvPr id="18" name="Arrow: Up 17">
            <a:extLst>
              <a:ext uri="{FF2B5EF4-FFF2-40B4-BE49-F238E27FC236}">
                <a16:creationId xmlns:a16="http://schemas.microsoft.com/office/drawing/2014/main" id="{6C12466D-1B87-8597-2F11-6EA82C547890}"/>
              </a:ext>
            </a:extLst>
          </p:cNvPr>
          <p:cNvSpPr/>
          <p:nvPr/>
        </p:nvSpPr>
        <p:spPr>
          <a:xfrm>
            <a:off x="4200524" y="2617626"/>
            <a:ext cx="223095" cy="701833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F815F0-0873-A950-6E2E-82408EEEC743}"/>
              </a:ext>
            </a:extLst>
          </p:cNvPr>
          <p:cNvSpPr txBox="1"/>
          <p:nvPr/>
        </p:nvSpPr>
        <p:spPr>
          <a:xfrm>
            <a:off x="4132862" y="3387067"/>
            <a:ext cx="8490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/>
              <a:t>ptr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7FA17E-178E-9B7B-BB46-B34CAB552EE5}"/>
              </a:ext>
            </a:extLst>
          </p:cNvPr>
          <p:cNvSpPr txBox="1"/>
          <p:nvPr/>
        </p:nvSpPr>
        <p:spPr>
          <a:xfrm>
            <a:off x="658056" y="1045555"/>
            <a:ext cx="60946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Before Insertion at a specified position</a:t>
            </a:r>
          </a:p>
        </p:txBody>
      </p:sp>
    </p:spTree>
    <p:extLst>
      <p:ext uri="{BB962C8B-B14F-4D97-AF65-F5344CB8AC3E}">
        <p14:creationId xmlns:p14="http://schemas.microsoft.com/office/powerpoint/2010/main" val="551870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AFE8526-D3DC-9530-978A-3BEF67EF3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 descr="KL Deemed to be University Logo">
            <a:extLst>
              <a:ext uri="{FF2B5EF4-FFF2-40B4-BE49-F238E27FC236}">
                <a16:creationId xmlns:a16="http://schemas.microsoft.com/office/drawing/2014/main" id="{A8EF6482-2553-6A70-C2E3-29EB758E58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4FE40B1-A8BD-3965-FF40-11F94B3DB5CF}"/>
              </a:ext>
            </a:extLst>
          </p:cNvPr>
          <p:cNvSpPr/>
          <p:nvPr/>
        </p:nvSpPr>
        <p:spPr>
          <a:xfrm>
            <a:off x="1152524" y="2471108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sz="32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971550" lvl="1" indent="-514350">
              <a:buAutoNum type="arabicPeriod"/>
            </a:pPr>
            <a:endParaRPr lang="en-IN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ounded Rectangle 17">
            <a:extLst>
              <a:ext uri="{FF2B5EF4-FFF2-40B4-BE49-F238E27FC236}">
                <a16:creationId xmlns:a16="http://schemas.microsoft.com/office/drawing/2014/main" id="{CBC4AF72-E5EA-A10C-5528-819024BE2F73}"/>
              </a:ext>
            </a:extLst>
          </p:cNvPr>
          <p:cNvSpPr/>
          <p:nvPr/>
        </p:nvSpPr>
        <p:spPr>
          <a:xfrm>
            <a:off x="1828801" y="300038"/>
            <a:ext cx="7469580" cy="66410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latin typeface="Arial"/>
                <a:cs typeface="Arial"/>
              </a:rPr>
              <a:t>Insertion at a specified position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491DDCE-6457-CADB-314D-CE373988B105}"/>
              </a:ext>
            </a:extLst>
          </p:cNvPr>
          <p:cNvGrpSpPr/>
          <p:nvPr/>
        </p:nvGrpSpPr>
        <p:grpSpPr>
          <a:xfrm>
            <a:off x="6096000" y="3945263"/>
            <a:ext cx="2155371" cy="554673"/>
            <a:chOff x="5558210" y="3432786"/>
            <a:chExt cx="2155371" cy="55467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11B36E0-BC7A-2F58-CA44-D6BA358DA188}"/>
                </a:ext>
              </a:extLst>
            </p:cNvPr>
            <p:cNvSpPr/>
            <p:nvPr/>
          </p:nvSpPr>
          <p:spPr>
            <a:xfrm>
              <a:off x="5558210" y="3432786"/>
              <a:ext cx="718457" cy="55467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2000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A461122-4779-EAC3-1D05-515C6DCEF5DA}"/>
                </a:ext>
              </a:extLst>
            </p:cNvPr>
            <p:cNvSpPr/>
            <p:nvPr/>
          </p:nvSpPr>
          <p:spPr>
            <a:xfrm>
              <a:off x="6298438" y="3432786"/>
              <a:ext cx="718457" cy="55467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100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DBF702B-9E32-FDDD-7D49-6F3E62781D91}"/>
                </a:ext>
              </a:extLst>
            </p:cNvPr>
            <p:cNvSpPr/>
            <p:nvPr/>
          </p:nvSpPr>
          <p:spPr>
            <a:xfrm>
              <a:off x="6995124" y="3432786"/>
              <a:ext cx="718457" cy="55467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3000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E2873D02-79DD-A7D9-851D-CC0F579AB5E5}"/>
              </a:ext>
            </a:extLst>
          </p:cNvPr>
          <p:cNvSpPr txBox="1"/>
          <p:nvPr/>
        </p:nvSpPr>
        <p:spPr>
          <a:xfrm>
            <a:off x="6661996" y="4582031"/>
            <a:ext cx="1480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Newnode</a:t>
            </a:r>
            <a:endParaRPr lang="en-IN" dirty="0"/>
          </a:p>
          <a:p>
            <a:r>
              <a:rPr lang="en-IN" dirty="0"/>
              <a:t>5000</a:t>
            </a:r>
          </a:p>
        </p:txBody>
      </p:sp>
      <p:sp>
        <p:nvSpPr>
          <p:cNvPr id="18" name="Arrow: Up 17">
            <a:extLst>
              <a:ext uri="{FF2B5EF4-FFF2-40B4-BE49-F238E27FC236}">
                <a16:creationId xmlns:a16="http://schemas.microsoft.com/office/drawing/2014/main" id="{FC0BF0CB-B48D-0B3D-EC49-24D2DE566084}"/>
              </a:ext>
            </a:extLst>
          </p:cNvPr>
          <p:cNvSpPr/>
          <p:nvPr/>
        </p:nvSpPr>
        <p:spPr>
          <a:xfrm>
            <a:off x="4066229" y="3120415"/>
            <a:ext cx="223095" cy="701833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7FEB4C-F24C-A716-BEEE-6477E6F8D189}"/>
              </a:ext>
            </a:extLst>
          </p:cNvPr>
          <p:cNvSpPr txBox="1"/>
          <p:nvPr/>
        </p:nvSpPr>
        <p:spPr>
          <a:xfrm>
            <a:off x="3641686" y="3428691"/>
            <a:ext cx="8490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/>
              <a:t>ptr</a:t>
            </a:r>
          </a:p>
        </p:txBody>
      </p: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12BB0F3D-3F54-6456-1DFF-CC7A059E35C6}"/>
              </a:ext>
            </a:extLst>
          </p:cNvPr>
          <p:cNvCxnSpPr>
            <a:cxnSpLocks/>
            <a:endCxn id="14" idx="1"/>
          </p:cNvCxnSpPr>
          <p:nvPr/>
        </p:nvCxnSpPr>
        <p:spPr>
          <a:xfrm rot="5400000">
            <a:off x="5562696" y="3492389"/>
            <a:ext cx="1263516" cy="196907"/>
          </a:xfrm>
          <a:prstGeom prst="curvedConnector4">
            <a:avLst>
              <a:gd name="adj1" fmla="val 39025"/>
              <a:gd name="adj2" fmla="val 216095"/>
            </a:avLst>
          </a:prstGeom>
          <a:ln w="38100">
            <a:solidFill>
              <a:srgbClr val="A81E24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647FD8E4-79C6-8163-7505-3742CBCC1F0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850377" y="3175144"/>
            <a:ext cx="931645" cy="608595"/>
          </a:xfrm>
          <a:prstGeom prst="curvedConnector3">
            <a:avLst/>
          </a:prstGeom>
          <a:ln w="38100">
            <a:solidFill>
              <a:srgbClr val="E3293B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8356883-7ABC-F9DB-A5B7-B4677B875AAA}"/>
              </a:ext>
            </a:extLst>
          </p:cNvPr>
          <p:cNvSpPr txBox="1"/>
          <p:nvPr/>
        </p:nvSpPr>
        <p:spPr>
          <a:xfrm>
            <a:off x="245204" y="4029332"/>
            <a:ext cx="406686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ptr-&gt;next=Newnode</a:t>
            </a:r>
          </a:p>
          <a:p>
            <a:pPr marL="342900" indent="-342900"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Newnode-&gt;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prev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=ptr</a:t>
            </a:r>
          </a:p>
          <a:p>
            <a:pPr marL="342900" indent="-342900"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Newnode-&gt;next=ptr-&gt;next</a:t>
            </a:r>
          </a:p>
          <a:p>
            <a:pPr marL="342900" indent="-342900"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Ptr-&gt;next-&gt;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prev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=Newnode</a:t>
            </a:r>
          </a:p>
        </p:txBody>
      </p:sp>
      <p:cxnSp>
        <p:nvCxnSpPr>
          <p:cNvPr id="30" name="Connector: Curved 29">
            <a:extLst>
              <a:ext uri="{FF2B5EF4-FFF2-40B4-BE49-F238E27FC236}">
                <a16:creationId xmlns:a16="http://schemas.microsoft.com/office/drawing/2014/main" id="{F9B8F258-2DC2-7E88-2A49-7DAFBD601C4C}"/>
              </a:ext>
            </a:extLst>
          </p:cNvPr>
          <p:cNvCxnSpPr>
            <a:cxnSpLocks/>
          </p:cNvCxnSpPr>
          <p:nvPr/>
        </p:nvCxnSpPr>
        <p:spPr>
          <a:xfrm rot="5400000">
            <a:off x="7121735" y="3002047"/>
            <a:ext cx="1392060" cy="330183"/>
          </a:xfrm>
          <a:prstGeom prst="curvedConnector3">
            <a:avLst>
              <a:gd name="adj1" fmla="val 50000"/>
            </a:avLst>
          </a:prstGeom>
          <a:ln w="38100">
            <a:solidFill>
              <a:srgbClr val="A81E24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Curved 31">
            <a:extLst>
              <a:ext uri="{FF2B5EF4-FFF2-40B4-BE49-F238E27FC236}">
                <a16:creationId xmlns:a16="http://schemas.microsoft.com/office/drawing/2014/main" id="{A521AA4A-1B54-73AD-CAF1-66FECD23A6EA}"/>
              </a:ext>
            </a:extLst>
          </p:cNvPr>
          <p:cNvCxnSpPr>
            <a:cxnSpLocks/>
            <a:endCxn id="61" idx="3"/>
          </p:cNvCxnSpPr>
          <p:nvPr/>
        </p:nvCxnSpPr>
        <p:spPr>
          <a:xfrm rot="5400000" flipH="1" flipV="1">
            <a:off x="5329076" y="3263916"/>
            <a:ext cx="1784574" cy="414832"/>
          </a:xfrm>
          <a:prstGeom prst="curvedConnector4">
            <a:avLst>
              <a:gd name="adj1" fmla="val 40155"/>
              <a:gd name="adj2" fmla="val 155107"/>
            </a:avLst>
          </a:prstGeom>
          <a:ln w="38100">
            <a:solidFill>
              <a:srgbClr val="E3293B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Group 54">
            <a:extLst>
              <a:ext uri="{FF2B5EF4-FFF2-40B4-BE49-F238E27FC236}">
                <a16:creationId xmlns:a16="http://schemas.microsoft.com/office/drawing/2014/main" id="{34D1C184-B3F9-0597-E72D-C8C3554EF53D}"/>
              </a:ext>
            </a:extLst>
          </p:cNvPr>
          <p:cNvGrpSpPr/>
          <p:nvPr/>
        </p:nvGrpSpPr>
        <p:grpSpPr>
          <a:xfrm>
            <a:off x="529628" y="1713806"/>
            <a:ext cx="10067925" cy="1830290"/>
            <a:chOff x="1720850" y="3732214"/>
            <a:chExt cx="10067925" cy="2307033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12583B98-149D-39A7-5CFB-76C6392E3671}"/>
                </a:ext>
              </a:extLst>
            </p:cNvPr>
            <p:cNvSpPr/>
            <p:nvPr/>
          </p:nvSpPr>
          <p:spPr>
            <a:xfrm>
              <a:off x="1720850" y="4379914"/>
              <a:ext cx="795338" cy="8858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IN" sz="1600" b="1" dirty="0">
                  <a:solidFill>
                    <a:srgbClr val="002060"/>
                  </a:solidFill>
                </a:rPr>
                <a:t>NULL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F176BCDB-1FF5-A30B-27D4-488656A0A171}"/>
                </a:ext>
              </a:extLst>
            </p:cNvPr>
            <p:cNvSpPr/>
            <p:nvPr/>
          </p:nvSpPr>
          <p:spPr>
            <a:xfrm>
              <a:off x="2486025" y="4379914"/>
              <a:ext cx="896938" cy="885825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IN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DC1ACF47-DD1A-3933-7C76-4B1376C13577}"/>
                </a:ext>
              </a:extLst>
            </p:cNvPr>
            <p:cNvSpPr/>
            <p:nvPr/>
          </p:nvSpPr>
          <p:spPr>
            <a:xfrm>
              <a:off x="3354389" y="4379914"/>
              <a:ext cx="896937" cy="8858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IN" dirty="0"/>
                <a:t>2000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BD9E0081-EFF3-1160-83DB-45C8D7F213FF}"/>
                </a:ext>
              </a:extLst>
            </p:cNvPr>
            <p:cNvSpPr/>
            <p:nvPr/>
          </p:nvSpPr>
          <p:spPr>
            <a:xfrm>
              <a:off x="4924425" y="4379914"/>
              <a:ext cx="1017588" cy="8858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IN" dirty="0"/>
                <a:t>1000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B1D721C1-FA1D-E915-615E-A9551936AB48}"/>
                </a:ext>
              </a:extLst>
            </p:cNvPr>
            <p:cNvSpPr/>
            <p:nvPr/>
          </p:nvSpPr>
          <p:spPr>
            <a:xfrm>
              <a:off x="5903914" y="4379914"/>
              <a:ext cx="877887" cy="885825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IN" dirty="0">
                  <a:solidFill>
                    <a:schemeClr val="tx1"/>
                  </a:solidFill>
                </a:rPr>
                <a:t>30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77DE822C-BF98-8E04-07D9-849C7D1F5048}"/>
                </a:ext>
              </a:extLst>
            </p:cNvPr>
            <p:cNvSpPr/>
            <p:nvPr/>
          </p:nvSpPr>
          <p:spPr>
            <a:xfrm>
              <a:off x="6742114" y="4379914"/>
              <a:ext cx="877887" cy="8858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IN" dirty="0"/>
                <a:t>5000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F38499E-2EBC-875D-6D1E-DDD2DBE47EF7}"/>
                </a:ext>
              </a:extLst>
            </p:cNvPr>
            <p:cNvSpPr/>
            <p:nvPr/>
          </p:nvSpPr>
          <p:spPr>
            <a:xfrm>
              <a:off x="9153524" y="4397972"/>
              <a:ext cx="877888" cy="8858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IN" dirty="0"/>
                <a:t>5000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644F2775-0128-B506-5540-48989B2A9742}"/>
                </a:ext>
              </a:extLst>
            </p:cNvPr>
            <p:cNvSpPr/>
            <p:nvPr/>
          </p:nvSpPr>
          <p:spPr>
            <a:xfrm>
              <a:off x="10031412" y="4397973"/>
              <a:ext cx="879475" cy="885825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IN" dirty="0">
                  <a:solidFill>
                    <a:schemeClr val="tx1"/>
                  </a:solidFill>
                </a:rPr>
                <a:t>50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ED41ED9B-9226-4323-3227-908981C6872E}"/>
                </a:ext>
              </a:extLst>
            </p:cNvPr>
            <p:cNvSpPr/>
            <p:nvPr/>
          </p:nvSpPr>
          <p:spPr>
            <a:xfrm>
              <a:off x="10910888" y="4416031"/>
              <a:ext cx="877887" cy="8858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 b="1" dirty="0">
                <a:solidFill>
                  <a:srgbClr val="002060"/>
                </a:solidFill>
              </a:endParaRPr>
            </a:p>
            <a:p>
              <a:pPr algn="ctr">
                <a:defRPr/>
              </a:pPr>
              <a:r>
                <a:rPr lang="en-IN" b="1" dirty="0">
                  <a:solidFill>
                    <a:srgbClr val="002060"/>
                  </a:solidFill>
                </a:rPr>
                <a:t>NULL</a:t>
              </a:r>
            </a:p>
            <a:p>
              <a:pPr algn="ctr">
                <a:defRPr/>
              </a:pPr>
              <a:endParaRPr lang="en-IN" dirty="0"/>
            </a:p>
          </p:txBody>
        </p:sp>
        <p:sp>
          <p:nvSpPr>
            <p:cNvPr id="65" name="Arrow: Right 64">
              <a:extLst>
                <a:ext uri="{FF2B5EF4-FFF2-40B4-BE49-F238E27FC236}">
                  <a16:creationId xmlns:a16="http://schemas.microsoft.com/office/drawing/2014/main" id="{363EA790-5789-04FD-A963-6D72913EAB42}"/>
                </a:ext>
              </a:extLst>
            </p:cNvPr>
            <p:cNvSpPr/>
            <p:nvPr/>
          </p:nvSpPr>
          <p:spPr>
            <a:xfrm>
              <a:off x="4251326" y="4622800"/>
              <a:ext cx="657225" cy="46038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/>
            </a:p>
          </p:txBody>
        </p:sp>
        <p:sp>
          <p:nvSpPr>
            <p:cNvPr id="66" name="Arrow: Left 65">
              <a:extLst>
                <a:ext uri="{FF2B5EF4-FFF2-40B4-BE49-F238E27FC236}">
                  <a16:creationId xmlns:a16="http://schemas.microsoft.com/office/drawing/2014/main" id="{EDEAB631-5601-61B1-A56D-F4F30139B1BE}"/>
                </a:ext>
              </a:extLst>
            </p:cNvPr>
            <p:cNvSpPr/>
            <p:nvPr/>
          </p:nvSpPr>
          <p:spPr>
            <a:xfrm>
              <a:off x="4267200" y="5005389"/>
              <a:ext cx="641350" cy="46037"/>
            </a:xfrm>
            <a:prstGeom prst="lef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/>
            </a:p>
          </p:txBody>
        </p:sp>
        <p:sp>
          <p:nvSpPr>
            <p:cNvPr id="67" name="TextBox 20">
              <a:extLst>
                <a:ext uri="{FF2B5EF4-FFF2-40B4-BE49-F238E27FC236}">
                  <a16:creationId xmlns:a16="http://schemas.microsoft.com/office/drawing/2014/main" id="{C34DE6DF-62A7-D62C-6D78-8324F41B22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4113" y="5573714"/>
              <a:ext cx="1020762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595959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rgbClr val="595959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rgbClr val="595959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rgbClr val="595959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rgbClr val="59595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59595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59595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59595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595959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IN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1000</a:t>
              </a:r>
            </a:p>
          </p:txBody>
        </p:sp>
        <p:sp>
          <p:nvSpPr>
            <p:cNvPr id="68" name="TextBox 21">
              <a:extLst>
                <a:ext uri="{FF2B5EF4-FFF2-40B4-BE49-F238E27FC236}">
                  <a16:creationId xmlns:a16="http://schemas.microsoft.com/office/drawing/2014/main" id="{B2F0286E-794C-5716-371F-9925089ACF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32476" y="5573714"/>
              <a:ext cx="1020763" cy="465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595959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rgbClr val="595959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rgbClr val="595959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rgbClr val="595959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rgbClr val="59595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59595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59595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59595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595959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IN" altLang="en-US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2000</a:t>
              </a:r>
              <a:endParaRPr lang="en-IN" altLang="en-US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" name="TextBox 22">
              <a:extLst>
                <a:ext uri="{FF2B5EF4-FFF2-40B4-BE49-F238E27FC236}">
                  <a16:creationId xmlns:a16="http://schemas.microsoft.com/office/drawing/2014/main" id="{E01E755B-71B7-7114-48F1-45F825E254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44148" y="5448820"/>
              <a:ext cx="1020763" cy="465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595959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rgbClr val="595959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rgbClr val="595959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rgbClr val="595959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rgbClr val="59595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59595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59595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59595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595959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IN" altLang="en-US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3000</a:t>
              </a:r>
            </a:p>
          </p:txBody>
        </p:sp>
        <p:sp>
          <p:nvSpPr>
            <p:cNvPr id="70" name="TextBox 23">
              <a:extLst>
                <a:ext uri="{FF2B5EF4-FFF2-40B4-BE49-F238E27FC236}">
                  <a16:creationId xmlns:a16="http://schemas.microsoft.com/office/drawing/2014/main" id="{0D940B77-CD26-B373-FC7D-F4A939B7B4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7725" y="3732214"/>
              <a:ext cx="1906588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595959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rgbClr val="595959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rgbClr val="595959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rgbClr val="595959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rgbClr val="59595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59595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59595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59595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595959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IN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1000    Head</a:t>
              </a:r>
            </a:p>
          </p:txBody>
        </p: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996D8700-BDC1-47A9-2CAF-38D7A8F61CB9}"/>
              </a:ext>
            </a:extLst>
          </p:cNvPr>
          <p:cNvSpPr txBox="1"/>
          <p:nvPr/>
        </p:nvSpPr>
        <p:spPr>
          <a:xfrm>
            <a:off x="926503" y="1248677"/>
            <a:ext cx="60946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After Insertion at a specified position</a:t>
            </a:r>
          </a:p>
        </p:txBody>
      </p:sp>
    </p:spTree>
    <p:extLst>
      <p:ext uri="{BB962C8B-B14F-4D97-AF65-F5344CB8AC3E}">
        <p14:creationId xmlns:p14="http://schemas.microsoft.com/office/powerpoint/2010/main" val="1490054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83029"/>
            <a:ext cx="1990725" cy="600076"/>
          </a:xfrm>
          <a:prstGeom prst="rect">
            <a:avLst/>
          </a:prstGeom>
          <a:noFill/>
        </p:spPr>
      </p:pic>
      <p:sp>
        <p:nvSpPr>
          <p:cNvPr id="2" name="Rectangle 1"/>
          <p:cNvSpPr/>
          <p:nvPr/>
        </p:nvSpPr>
        <p:spPr>
          <a:xfrm>
            <a:off x="1152524" y="2471108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sz="32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971550" lvl="1" indent="-514350">
              <a:buAutoNum type="arabicPeriod"/>
            </a:pPr>
            <a:endParaRPr lang="en-IN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ounded Rectangle 17">
            <a:extLst>
              <a:ext uri="{FF2B5EF4-FFF2-40B4-BE49-F238E27FC236}">
                <a16:creationId xmlns:a16="http://schemas.microsoft.com/office/drawing/2014/main" id="{8C2F2AF4-F9DD-55E3-B794-5702B3387E18}"/>
              </a:ext>
            </a:extLst>
          </p:cNvPr>
          <p:cNvSpPr/>
          <p:nvPr/>
        </p:nvSpPr>
        <p:spPr>
          <a:xfrm>
            <a:off x="2492830" y="125866"/>
            <a:ext cx="7469580" cy="600077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latin typeface="Arial"/>
                <a:cs typeface="Arial"/>
              </a:rPr>
              <a:t>Insertion at a specified position - Algorithm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240DCB-4D0A-D6C9-06F5-51EF4B702B23}"/>
              </a:ext>
            </a:extLst>
          </p:cNvPr>
          <p:cNvSpPr txBox="1"/>
          <p:nvPr/>
        </p:nvSpPr>
        <p:spPr>
          <a:xfrm>
            <a:off x="1290948" y="878479"/>
            <a:ext cx="987334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 Step 1:</a:t>
            </a:r>
            <a:r>
              <a:rPr lang="en-US" dirty="0"/>
              <a:t> IF PTR = NULL</a:t>
            </a:r>
          </a:p>
          <a:p>
            <a:r>
              <a:rPr lang="en-US" dirty="0"/>
              <a:t>   Write OVERFLOW</a:t>
            </a:r>
            <a:br>
              <a:rPr lang="en-US" dirty="0"/>
            </a:br>
            <a:r>
              <a:rPr lang="en-US" dirty="0"/>
              <a:t>   Go to Step 15</a:t>
            </a:r>
            <a:br>
              <a:rPr lang="en-US" dirty="0"/>
            </a:br>
            <a:r>
              <a:rPr lang="en-US" dirty="0"/>
              <a:t> [END OF IF]</a:t>
            </a:r>
          </a:p>
          <a:p>
            <a:r>
              <a:rPr lang="en-US" b="1" dirty="0"/>
              <a:t> Step 2:</a:t>
            </a:r>
            <a:r>
              <a:rPr lang="en-US" dirty="0"/>
              <a:t> SET NEW_NODE = PTR</a:t>
            </a:r>
          </a:p>
          <a:p>
            <a:r>
              <a:rPr lang="en-US" b="1" dirty="0"/>
              <a:t> Step 3:</a:t>
            </a:r>
            <a:r>
              <a:rPr lang="en-US" dirty="0"/>
              <a:t> SET PTR = PTR -&gt; NEXT</a:t>
            </a:r>
          </a:p>
          <a:p>
            <a:r>
              <a:rPr lang="en-US" b="1" dirty="0"/>
              <a:t> Step 4:</a:t>
            </a:r>
            <a:r>
              <a:rPr lang="en-US" dirty="0"/>
              <a:t> SET NEW_NODE -&gt; DATA = VAL</a:t>
            </a:r>
          </a:p>
          <a:p>
            <a:r>
              <a:rPr lang="en-US" b="1" dirty="0"/>
              <a:t> Step 5:</a:t>
            </a:r>
            <a:r>
              <a:rPr lang="en-US" dirty="0"/>
              <a:t> SET TEMP = START</a:t>
            </a:r>
          </a:p>
          <a:p>
            <a:r>
              <a:rPr lang="en-US" b="1" dirty="0"/>
              <a:t> Step 6:</a:t>
            </a:r>
            <a:r>
              <a:rPr lang="en-US" dirty="0"/>
              <a:t> SET I = 0</a:t>
            </a:r>
          </a:p>
          <a:p>
            <a:r>
              <a:rPr lang="en-US" b="1" dirty="0"/>
              <a:t> Step 7:</a:t>
            </a:r>
            <a:r>
              <a:rPr lang="en-US" dirty="0"/>
              <a:t> REPEAT 8 to 10 until I&lt;="" li=""&gt; </a:t>
            </a:r>
          </a:p>
          <a:p>
            <a:r>
              <a:rPr lang="en-US" b="1" dirty="0"/>
              <a:t> Step 8:</a:t>
            </a:r>
            <a:r>
              <a:rPr lang="en-US" dirty="0"/>
              <a:t> SET TEMP = TEMP -&gt; NEXT</a:t>
            </a:r>
          </a:p>
          <a:p>
            <a:r>
              <a:rPr lang="en-US" b="1" dirty="0"/>
              <a:t> Step 9:</a:t>
            </a:r>
            <a:r>
              <a:rPr lang="en-US" dirty="0"/>
              <a:t> IF TEMP = NULL </a:t>
            </a:r>
          </a:p>
          <a:p>
            <a:r>
              <a:rPr lang="en-US" b="1" dirty="0"/>
              <a:t> Step 10:</a:t>
            </a:r>
            <a:r>
              <a:rPr lang="en-US" dirty="0"/>
              <a:t> WRITE "LESS THAN DESIRED NO. OF ELEMENTS"</a:t>
            </a:r>
          </a:p>
          <a:p>
            <a:r>
              <a:rPr lang="en-US" dirty="0"/>
              <a:t>                  GOTO STEP 15</a:t>
            </a:r>
            <a:br>
              <a:rPr lang="en-US" dirty="0"/>
            </a:br>
            <a:r>
              <a:rPr lang="en-US" dirty="0"/>
              <a:t>                   [END OF IF] </a:t>
            </a:r>
          </a:p>
          <a:p>
            <a:r>
              <a:rPr lang="en-US" b="1" dirty="0"/>
              <a:t> Step 11:</a:t>
            </a:r>
            <a:r>
              <a:rPr lang="en-US" dirty="0"/>
              <a:t> SET NEW_NODE -&gt; NEXT = TEMP -&gt; NEXT</a:t>
            </a:r>
          </a:p>
          <a:p>
            <a:r>
              <a:rPr lang="en-US" b="1" dirty="0"/>
              <a:t> Step 12:</a:t>
            </a:r>
            <a:r>
              <a:rPr lang="en-US" dirty="0"/>
              <a:t> SET NEW_NODE -&gt; PREV = TEMP</a:t>
            </a:r>
          </a:p>
          <a:p>
            <a:r>
              <a:rPr lang="en-US" b="1" dirty="0"/>
              <a:t> Step 13 :</a:t>
            </a:r>
            <a:r>
              <a:rPr lang="en-US" dirty="0"/>
              <a:t> SET TEMP -&gt; NEXT = NEW_NODE</a:t>
            </a:r>
          </a:p>
          <a:p>
            <a:r>
              <a:rPr lang="en-US" b="1" dirty="0"/>
              <a:t> Step 14:</a:t>
            </a:r>
            <a:r>
              <a:rPr lang="en-US" dirty="0"/>
              <a:t> SET TEMP -&gt; NEXT -&gt; PREV = NEW_NODE</a:t>
            </a:r>
          </a:p>
          <a:p>
            <a:r>
              <a:rPr lang="en-US" b="1" dirty="0"/>
              <a:t> Step 15:</a:t>
            </a:r>
            <a:r>
              <a:rPr lang="en-US" dirty="0"/>
              <a:t> EXIT</a:t>
            </a:r>
          </a:p>
        </p:txBody>
      </p:sp>
    </p:spTree>
    <p:extLst>
      <p:ext uri="{BB962C8B-B14F-4D97-AF65-F5344CB8AC3E}">
        <p14:creationId xmlns:p14="http://schemas.microsoft.com/office/powerpoint/2010/main" val="1713798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Rectangle 1"/>
          <p:cNvSpPr/>
          <p:nvPr/>
        </p:nvSpPr>
        <p:spPr>
          <a:xfrm>
            <a:off x="1152524" y="2471108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sz="32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971550" lvl="1" indent="-514350">
              <a:buAutoNum type="arabicPeriod"/>
            </a:pPr>
            <a:endParaRPr lang="en-IN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56F8DCD8-002A-7D4D-D2A5-3B3908A200B4}"/>
              </a:ext>
            </a:extLst>
          </p:cNvPr>
          <p:cNvSpPr/>
          <p:nvPr/>
        </p:nvSpPr>
        <p:spPr>
          <a:xfrm>
            <a:off x="2122715" y="109499"/>
            <a:ext cx="7469580" cy="66410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latin typeface="Arial"/>
                <a:cs typeface="Arial"/>
              </a:rPr>
              <a:t>Deletion at Begin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0C54094-804F-EF37-1FB5-541B87E27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7657" y="1257562"/>
            <a:ext cx="9596686" cy="2167653"/>
          </a:xfrm>
          <a:prstGeom prst="rect">
            <a:avLst/>
          </a:prstGeom>
        </p:spPr>
      </p:pic>
      <p:sp>
        <p:nvSpPr>
          <p:cNvPr id="12" name="TextBox 23">
            <a:extLst>
              <a:ext uri="{FF2B5EF4-FFF2-40B4-BE49-F238E27FC236}">
                <a16:creationId xmlns:a16="http://schemas.microsoft.com/office/drawing/2014/main" id="{A99DC7E5-58B3-666B-9DE3-E9CCAB8AF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1457" y="853848"/>
            <a:ext cx="190658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rgbClr val="59595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rgbClr val="59595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rgbClr val="59595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1000   Head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A61D9DA-8D64-42EE-35A7-F3628A35E0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62" y="4580848"/>
            <a:ext cx="9596686" cy="2167653"/>
          </a:xfrm>
          <a:prstGeom prst="rect">
            <a:avLst/>
          </a:prstGeom>
        </p:spPr>
      </p:pic>
      <p:sp>
        <p:nvSpPr>
          <p:cNvPr id="14" name="TextBox 23">
            <a:extLst>
              <a:ext uri="{FF2B5EF4-FFF2-40B4-BE49-F238E27FC236}">
                <a16:creationId xmlns:a16="http://schemas.microsoft.com/office/drawing/2014/main" id="{A6B36C4B-5128-64E8-5105-C35EB52FA7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2715" y="3547973"/>
            <a:ext cx="87614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rgbClr val="59595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rgbClr val="59595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rgbClr val="59595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2400" strike="sngStrike" dirty="0">
                <a:solidFill>
                  <a:schemeClr val="tx1"/>
                </a:solidFill>
                <a:latin typeface="Times New Roman" panose="02020603050405020304" pitchFamily="18" charset="0"/>
              </a:rPr>
              <a:t>1000      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IN" altLang="en-US" sz="2400" b="1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 </a:t>
            </a:r>
            <a:r>
              <a:rPr lang="en-I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EBA7518-A9BE-BCDD-8BF6-A7074CDB6002}"/>
              </a:ext>
            </a:extLst>
          </p:cNvPr>
          <p:cNvCxnSpPr/>
          <p:nvPr/>
        </p:nvCxnSpPr>
        <p:spPr>
          <a:xfrm>
            <a:off x="1676400" y="4321629"/>
            <a:ext cx="1611086" cy="2013857"/>
          </a:xfrm>
          <a:prstGeom prst="line">
            <a:avLst/>
          </a:prstGeom>
          <a:ln w="444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4CEB960-F8DB-C1BB-583B-767FC1B22F4B}"/>
              </a:ext>
            </a:extLst>
          </p:cNvPr>
          <p:cNvCxnSpPr/>
          <p:nvPr/>
        </p:nvCxnSpPr>
        <p:spPr>
          <a:xfrm flipV="1">
            <a:off x="1676400" y="4141530"/>
            <a:ext cx="1611086" cy="2193956"/>
          </a:xfrm>
          <a:prstGeom prst="line">
            <a:avLst/>
          </a:prstGeom>
          <a:ln w="444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F8C3663-588A-361C-CC18-EC700BF89F6E}"/>
              </a:ext>
            </a:extLst>
          </p:cNvPr>
          <p:cNvCxnSpPr/>
          <p:nvPr/>
        </p:nvCxnSpPr>
        <p:spPr>
          <a:xfrm>
            <a:off x="4615543" y="5421086"/>
            <a:ext cx="947057" cy="0"/>
          </a:xfrm>
          <a:prstGeom prst="line">
            <a:avLst/>
          </a:prstGeom>
          <a:ln w="38100">
            <a:solidFill>
              <a:srgbClr val="E329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596B8CB-BBCE-CE00-4CBC-813CA8A461A8}"/>
              </a:ext>
            </a:extLst>
          </p:cNvPr>
          <p:cNvSpPr txBox="1"/>
          <p:nvPr/>
        </p:nvSpPr>
        <p:spPr>
          <a:xfrm>
            <a:off x="4702629" y="5528441"/>
            <a:ext cx="947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NULL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0A8085-A988-71DC-D91C-A6CD13453181}"/>
              </a:ext>
            </a:extLst>
          </p:cNvPr>
          <p:cNvSpPr txBox="1"/>
          <p:nvPr/>
        </p:nvSpPr>
        <p:spPr>
          <a:xfrm>
            <a:off x="2993732" y="3510413"/>
            <a:ext cx="876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2000 Head</a:t>
            </a:r>
          </a:p>
        </p:txBody>
      </p:sp>
      <p:sp>
        <p:nvSpPr>
          <p:cNvPr id="4" name="Arrow: Up 3">
            <a:extLst>
              <a:ext uri="{FF2B5EF4-FFF2-40B4-BE49-F238E27FC236}">
                <a16:creationId xmlns:a16="http://schemas.microsoft.com/office/drawing/2014/main" id="{D2FBAC83-8306-3A50-B5F4-0C86C4076228}"/>
              </a:ext>
            </a:extLst>
          </p:cNvPr>
          <p:cNvSpPr/>
          <p:nvPr/>
        </p:nvSpPr>
        <p:spPr>
          <a:xfrm>
            <a:off x="2591656" y="6004152"/>
            <a:ext cx="223095" cy="701833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58DE65-02CD-A0C8-AE13-639EF74E553D}"/>
              </a:ext>
            </a:extLst>
          </p:cNvPr>
          <p:cNvSpPr txBox="1"/>
          <p:nvPr/>
        </p:nvSpPr>
        <p:spPr>
          <a:xfrm>
            <a:off x="2814751" y="6292970"/>
            <a:ext cx="1256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ptr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B28CEA-5BFC-B758-0026-10A5013BE438}"/>
              </a:ext>
            </a:extLst>
          </p:cNvPr>
          <p:cNvSpPr txBox="1"/>
          <p:nvPr/>
        </p:nvSpPr>
        <p:spPr>
          <a:xfrm>
            <a:off x="592342" y="1199366"/>
            <a:ext cx="60946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Before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0CD731-DD54-8FB5-D031-54739F50068D}"/>
              </a:ext>
            </a:extLst>
          </p:cNvPr>
          <p:cNvSpPr txBox="1"/>
          <p:nvPr/>
        </p:nvSpPr>
        <p:spPr>
          <a:xfrm>
            <a:off x="592342" y="4301673"/>
            <a:ext cx="60946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After</a:t>
            </a:r>
          </a:p>
        </p:txBody>
      </p:sp>
    </p:spTree>
    <p:extLst>
      <p:ext uri="{BB962C8B-B14F-4D97-AF65-F5344CB8AC3E}">
        <p14:creationId xmlns:p14="http://schemas.microsoft.com/office/powerpoint/2010/main" val="4235706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Rectangle 1"/>
          <p:cNvSpPr/>
          <p:nvPr/>
        </p:nvSpPr>
        <p:spPr>
          <a:xfrm>
            <a:off x="1152524" y="2471108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sz="32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971550" lvl="1" indent="-514350">
              <a:buAutoNum type="arabicPeriod"/>
            </a:pPr>
            <a:endParaRPr lang="en-IN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ounded Rectangle 17">
            <a:extLst>
              <a:ext uri="{FF2B5EF4-FFF2-40B4-BE49-F238E27FC236}">
                <a16:creationId xmlns:a16="http://schemas.microsoft.com/office/drawing/2014/main" id="{E1EEC3AA-88F5-AD65-A356-60A83837FE5B}"/>
              </a:ext>
            </a:extLst>
          </p:cNvPr>
          <p:cNvSpPr/>
          <p:nvPr/>
        </p:nvSpPr>
        <p:spPr>
          <a:xfrm>
            <a:off x="1480458" y="348985"/>
            <a:ext cx="7469580" cy="66410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latin typeface="Arial"/>
                <a:cs typeface="Arial"/>
              </a:rPr>
              <a:t>Deletion at Begin- Algorithm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826E17-4C90-4707-092F-7238F922878E}"/>
              </a:ext>
            </a:extLst>
          </p:cNvPr>
          <p:cNvSpPr txBox="1"/>
          <p:nvPr/>
        </p:nvSpPr>
        <p:spPr>
          <a:xfrm>
            <a:off x="2167248" y="1609333"/>
            <a:ext cx="6096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sz="2400" b="1" dirty="0">
                <a:cs typeface="Times New Roman" panose="02020603050405020304" pitchFamily="18" charset="0"/>
              </a:rPr>
              <a:t>STEP 1:</a:t>
            </a:r>
            <a:r>
              <a:rPr lang="en-US" sz="2400" dirty="0">
                <a:cs typeface="Times New Roman" panose="02020603050405020304" pitchFamily="18" charset="0"/>
              </a:rPr>
              <a:t> IF HEAD = NULL  THEN</a:t>
            </a:r>
          </a:p>
          <a:p>
            <a:pPr algn="just">
              <a:defRPr/>
            </a:pPr>
            <a:r>
              <a:rPr lang="en-US" sz="2400" dirty="0">
                <a:cs typeface="Times New Roman" panose="02020603050405020304" pitchFamily="18" charset="0"/>
              </a:rPr>
              <a:t>              Display   Empty DLL</a:t>
            </a:r>
          </a:p>
          <a:p>
            <a:pPr algn="just">
              <a:defRPr/>
            </a:pPr>
            <a:r>
              <a:rPr lang="en-US" sz="2400" b="1" dirty="0">
                <a:cs typeface="Times New Roman" panose="02020603050405020304" pitchFamily="18" charset="0"/>
              </a:rPr>
              <a:t>STEP 2:</a:t>
            </a:r>
            <a:r>
              <a:rPr lang="en-US" sz="2400" dirty="0">
                <a:cs typeface="Times New Roman" panose="02020603050405020304" pitchFamily="18" charset="0"/>
              </a:rPr>
              <a:t> ELSE SET PTR = HEAD</a:t>
            </a:r>
          </a:p>
          <a:p>
            <a:pPr algn="just">
              <a:defRPr/>
            </a:pPr>
            <a:r>
              <a:rPr lang="en-US" sz="2400" b="1" dirty="0">
                <a:cs typeface="Times New Roman" panose="02020603050405020304" pitchFamily="18" charset="0"/>
              </a:rPr>
              <a:t>STEP 3:</a:t>
            </a:r>
            <a:r>
              <a:rPr lang="en-US" sz="2400" dirty="0">
                <a:cs typeface="Times New Roman" panose="02020603050405020304" pitchFamily="18" charset="0"/>
              </a:rPr>
              <a:t> SET HEAD = HEAD → NEXT</a:t>
            </a:r>
          </a:p>
          <a:p>
            <a:pPr algn="just">
              <a:defRPr/>
            </a:pPr>
            <a:r>
              <a:rPr lang="en-US" sz="2400" b="1" dirty="0">
                <a:cs typeface="Times New Roman" panose="02020603050405020304" pitchFamily="18" charset="0"/>
              </a:rPr>
              <a:t>STEP 4:</a:t>
            </a:r>
            <a:r>
              <a:rPr lang="en-US" sz="2400" dirty="0">
                <a:cs typeface="Times New Roman" panose="02020603050405020304" pitchFamily="18" charset="0"/>
              </a:rPr>
              <a:t> SET HEAD → PREV = NULL</a:t>
            </a:r>
          </a:p>
          <a:p>
            <a:pPr algn="just">
              <a:defRPr/>
            </a:pPr>
            <a:r>
              <a:rPr lang="en-US" sz="2400" b="1" dirty="0">
                <a:cs typeface="Times New Roman" panose="02020603050405020304" pitchFamily="18" charset="0"/>
              </a:rPr>
              <a:t>STEP 5:</a:t>
            </a:r>
            <a:r>
              <a:rPr lang="en-US" sz="2400" dirty="0">
                <a:cs typeface="Times New Roman" panose="02020603050405020304" pitchFamily="18" charset="0"/>
              </a:rPr>
              <a:t> FREE PTR</a:t>
            </a:r>
          </a:p>
          <a:p>
            <a:pPr algn="just">
              <a:defRPr/>
            </a:pPr>
            <a:r>
              <a:rPr lang="en-US" sz="2400" b="1" dirty="0">
                <a:cs typeface="Times New Roman" panose="02020603050405020304" pitchFamily="18" charset="0"/>
              </a:rPr>
              <a:t>STEP 6:</a:t>
            </a:r>
            <a:r>
              <a:rPr lang="en-US" sz="2400" dirty="0">
                <a:cs typeface="Times New Roman" panose="02020603050405020304" pitchFamily="18" charset="0"/>
              </a:rPr>
              <a:t> EXIT</a:t>
            </a:r>
          </a:p>
        </p:txBody>
      </p:sp>
    </p:spTree>
    <p:extLst>
      <p:ext uri="{BB962C8B-B14F-4D97-AF65-F5344CB8AC3E}">
        <p14:creationId xmlns:p14="http://schemas.microsoft.com/office/powerpoint/2010/main" val="2932861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Rectangle 1"/>
          <p:cNvSpPr/>
          <p:nvPr/>
        </p:nvSpPr>
        <p:spPr>
          <a:xfrm>
            <a:off x="1152524" y="2471108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sz="32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971550" lvl="1" indent="-514350">
              <a:buAutoNum type="arabicPeriod"/>
            </a:pPr>
            <a:endParaRPr lang="en-IN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E8642AB8-B8FE-7B55-97CD-8EC182E44D01}"/>
              </a:ext>
            </a:extLst>
          </p:cNvPr>
          <p:cNvSpPr/>
          <p:nvPr/>
        </p:nvSpPr>
        <p:spPr>
          <a:xfrm>
            <a:off x="2231572" y="216696"/>
            <a:ext cx="7469580" cy="66410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latin typeface="Arial"/>
                <a:cs typeface="Arial"/>
              </a:rPr>
              <a:t>Deletion at End- Algorithm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337A16-60F0-3211-3A38-252C9957C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43" y="930638"/>
            <a:ext cx="10787743" cy="24945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796099A-BFBE-91D6-269A-34950DC22C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42" y="3755777"/>
            <a:ext cx="10787743" cy="2494577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773746A-9C67-79D3-F132-FEDEC7E55A0D}"/>
              </a:ext>
            </a:extLst>
          </p:cNvPr>
          <p:cNvCxnSpPr/>
          <p:nvPr/>
        </p:nvCxnSpPr>
        <p:spPr>
          <a:xfrm>
            <a:off x="8294915" y="4036500"/>
            <a:ext cx="1611086" cy="2013857"/>
          </a:xfrm>
          <a:prstGeom prst="line">
            <a:avLst/>
          </a:prstGeom>
          <a:ln w="444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8740314-2A88-0907-60DB-988472A06E25}"/>
              </a:ext>
            </a:extLst>
          </p:cNvPr>
          <p:cNvCxnSpPr/>
          <p:nvPr/>
        </p:nvCxnSpPr>
        <p:spPr>
          <a:xfrm flipV="1">
            <a:off x="7990114" y="3946450"/>
            <a:ext cx="1611086" cy="2193956"/>
          </a:xfrm>
          <a:prstGeom prst="line">
            <a:avLst/>
          </a:prstGeom>
          <a:ln w="444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E308BD7-91D3-071A-DFFD-369ABA5D0E9D}"/>
              </a:ext>
            </a:extLst>
          </p:cNvPr>
          <p:cNvCxnSpPr/>
          <p:nvPr/>
        </p:nvCxnSpPr>
        <p:spPr>
          <a:xfrm>
            <a:off x="6259286" y="5138057"/>
            <a:ext cx="674914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DA117E4-0EF4-14AC-1922-E19FEF5B2EA9}"/>
              </a:ext>
            </a:extLst>
          </p:cNvPr>
          <p:cNvSpPr txBox="1"/>
          <p:nvPr/>
        </p:nvSpPr>
        <p:spPr>
          <a:xfrm>
            <a:off x="6259286" y="4768725"/>
            <a:ext cx="674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NULL</a:t>
            </a:r>
          </a:p>
        </p:txBody>
      </p:sp>
      <p:sp>
        <p:nvSpPr>
          <p:cNvPr id="15" name="Arrow: Up 14">
            <a:extLst>
              <a:ext uri="{FF2B5EF4-FFF2-40B4-BE49-F238E27FC236}">
                <a16:creationId xmlns:a16="http://schemas.microsoft.com/office/drawing/2014/main" id="{6A9AA31B-A508-C874-4E82-3E966D345713}"/>
              </a:ext>
            </a:extLst>
          </p:cNvPr>
          <p:cNvSpPr/>
          <p:nvPr/>
        </p:nvSpPr>
        <p:spPr>
          <a:xfrm>
            <a:off x="7807872" y="5603495"/>
            <a:ext cx="223095" cy="701833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531DB2-5558-B42F-5E73-11A4907877A4}"/>
              </a:ext>
            </a:extLst>
          </p:cNvPr>
          <p:cNvSpPr txBox="1"/>
          <p:nvPr/>
        </p:nvSpPr>
        <p:spPr>
          <a:xfrm>
            <a:off x="6443001" y="5911249"/>
            <a:ext cx="674914" cy="369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Ptr1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19A315-BB00-B701-3AAA-D7F7602723E0}"/>
              </a:ext>
            </a:extLst>
          </p:cNvPr>
          <p:cNvSpPr txBox="1"/>
          <p:nvPr/>
        </p:nvSpPr>
        <p:spPr>
          <a:xfrm>
            <a:off x="805543" y="3425215"/>
            <a:ext cx="2492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After Insertion</a:t>
            </a:r>
          </a:p>
        </p:txBody>
      </p:sp>
      <p:sp>
        <p:nvSpPr>
          <p:cNvPr id="18" name="Arrow: Up 17">
            <a:extLst>
              <a:ext uri="{FF2B5EF4-FFF2-40B4-BE49-F238E27FC236}">
                <a16:creationId xmlns:a16="http://schemas.microsoft.com/office/drawing/2014/main" id="{CF73A2E0-4D2E-9AC2-69C1-916BC97596E2}"/>
              </a:ext>
            </a:extLst>
          </p:cNvPr>
          <p:cNvSpPr/>
          <p:nvPr/>
        </p:nvSpPr>
        <p:spPr>
          <a:xfrm>
            <a:off x="6252562" y="5576008"/>
            <a:ext cx="223095" cy="701833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491E47-BD22-4600-2DC1-0D2E4B7F4DB3}"/>
              </a:ext>
            </a:extLst>
          </p:cNvPr>
          <p:cNvSpPr txBox="1"/>
          <p:nvPr/>
        </p:nvSpPr>
        <p:spPr>
          <a:xfrm>
            <a:off x="8142514" y="6163116"/>
            <a:ext cx="674914" cy="369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Ptr</a:t>
            </a:r>
          </a:p>
        </p:txBody>
      </p:sp>
    </p:spTree>
    <p:extLst>
      <p:ext uri="{BB962C8B-B14F-4D97-AF65-F5344CB8AC3E}">
        <p14:creationId xmlns:p14="http://schemas.microsoft.com/office/powerpoint/2010/main" val="4022923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Rectangle 1"/>
          <p:cNvSpPr/>
          <p:nvPr/>
        </p:nvSpPr>
        <p:spPr>
          <a:xfrm>
            <a:off x="1152524" y="2471108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sz="32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971550" lvl="1" indent="-514350">
              <a:buAutoNum type="arabicPeriod"/>
            </a:pPr>
            <a:endParaRPr lang="en-IN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8122EB71-3722-A807-2721-66A638136BEF}"/>
              </a:ext>
            </a:extLst>
          </p:cNvPr>
          <p:cNvSpPr/>
          <p:nvPr/>
        </p:nvSpPr>
        <p:spPr>
          <a:xfrm>
            <a:off x="2231572" y="216696"/>
            <a:ext cx="7469580" cy="66410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latin typeface="Arial"/>
                <a:cs typeface="Arial"/>
              </a:rPr>
              <a:t>Deletion at End- Algorithm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40CB58-CB44-203B-4155-A09A18A06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562" y="1249546"/>
            <a:ext cx="10515600" cy="4765360"/>
          </a:xfrm>
        </p:spPr>
        <p:txBody>
          <a:bodyPr/>
          <a:lstStyle/>
          <a:p>
            <a:pPr marL="0" indent="0" algn="just">
              <a:buNone/>
              <a:defRPr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IF HEAD = NULL</a:t>
            </a:r>
          </a:p>
          <a:p>
            <a:pPr marL="0" indent="0" algn="just">
              <a:buFont typeface="Arial" panose="020B0604020202020204" pitchFamily="34" charset="0"/>
              <a:buNone/>
              <a:defRPr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PRINT  EMPTY DLL</a:t>
            </a:r>
          </a:p>
          <a:p>
            <a:pPr marL="0" indent="0" algn="just">
              <a:buNone/>
              <a:defRPr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ELSE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SET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HEAD</a:t>
            </a:r>
          </a:p>
          <a:p>
            <a:pPr marL="0" indent="0" algn="just">
              <a:buNone/>
              <a:defRPr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REPEAT STEP 4 WHILE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!= NULL</a:t>
            </a:r>
          </a:p>
          <a:p>
            <a:pPr marL="0" indent="0" algn="just">
              <a:buNone/>
              <a:defRPr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0" indent="0" algn="just">
              <a:buNone/>
              <a:defRPr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4.1  ptr1=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  <a:defRPr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4.2  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-&gt;NEXT</a:t>
            </a:r>
          </a:p>
          <a:p>
            <a:pPr marL="0" indent="0" algn="just">
              <a:buFont typeface="Arial" panose="020B0604020202020204" pitchFamily="34" charset="0"/>
              <a:buNone/>
              <a:defRPr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[END OF LOOP]</a:t>
            </a:r>
          </a:p>
          <a:p>
            <a:pPr marL="0" indent="0" algn="just">
              <a:buFont typeface="Arial" panose="020B0604020202020204" pitchFamily="34" charset="0"/>
              <a:buNone/>
              <a:defRPr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     SET ptr1-&gt;next = NULL</a:t>
            </a:r>
          </a:p>
          <a:p>
            <a:pPr marL="0" indent="0" algn="just">
              <a:buFont typeface="Arial" panose="020B0604020202020204" pitchFamily="34" charset="0"/>
              <a:buNone/>
              <a:defRPr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free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  <a:defRPr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Exit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749930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Rectangle 1"/>
          <p:cNvSpPr/>
          <p:nvPr/>
        </p:nvSpPr>
        <p:spPr>
          <a:xfrm>
            <a:off x="1152524" y="2471108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sz="32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971550" lvl="1" indent="-514350">
              <a:buAutoNum type="arabicPeriod"/>
            </a:pPr>
            <a:endParaRPr lang="en-IN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ounded Rectangle 17">
            <a:extLst>
              <a:ext uri="{FF2B5EF4-FFF2-40B4-BE49-F238E27FC236}">
                <a16:creationId xmlns:a16="http://schemas.microsoft.com/office/drawing/2014/main" id="{3A356901-1EAF-CC7F-1949-26A7EE2C762B}"/>
              </a:ext>
            </a:extLst>
          </p:cNvPr>
          <p:cNvSpPr/>
          <p:nvPr/>
        </p:nvSpPr>
        <p:spPr>
          <a:xfrm>
            <a:off x="1905000" y="162267"/>
            <a:ext cx="7469580" cy="66410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latin typeface="Arial"/>
                <a:cs typeface="Arial"/>
              </a:rPr>
              <a:t>Deletion at Specified Position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DD543B7-6DC1-A8B1-5484-674AEFC36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80" y="988637"/>
            <a:ext cx="9916885" cy="2120037"/>
          </a:xfrm>
          <a:prstGeom prst="rect">
            <a:avLst/>
          </a:prstGeom>
        </p:spPr>
      </p:pic>
      <p:sp>
        <p:nvSpPr>
          <p:cNvPr id="10" name="Arrow: Up 9">
            <a:extLst>
              <a:ext uri="{FF2B5EF4-FFF2-40B4-BE49-F238E27FC236}">
                <a16:creationId xmlns:a16="http://schemas.microsoft.com/office/drawing/2014/main" id="{CAACF863-D9A4-6B84-4984-B84F54354C50}"/>
              </a:ext>
            </a:extLst>
          </p:cNvPr>
          <p:cNvSpPr/>
          <p:nvPr/>
        </p:nvSpPr>
        <p:spPr>
          <a:xfrm>
            <a:off x="5178909" y="5923764"/>
            <a:ext cx="223095" cy="701833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Up 10">
            <a:extLst>
              <a:ext uri="{FF2B5EF4-FFF2-40B4-BE49-F238E27FC236}">
                <a16:creationId xmlns:a16="http://schemas.microsoft.com/office/drawing/2014/main" id="{25E604A2-AFA4-C629-A655-BB30B05457B7}"/>
              </a:ext>
            </a:extLst>
          </p:cNvPr>
          <p:cNvSpPr/>
          <p:nvPr/>
        </p:nvSpPr>
        <p:spPr>
          <a:xfrm>
            <a:off x="3023355" y="5896748"/>
            <a:ext cx="223095" cy="701833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B6069F-C725-0142-117E-C57FE93DBFC7}"/>
              </a:ext>
            </a:extLst>
          </p:cNvPr>
          <p:cNvSpPr txBox="1"/>
          <p:nvPr/>
        </p:nvSpPr>
        <p:spPr>
          <a:xfrm>
            <a:off x="5459124" y="6086308"/>
            <a:ext cx="76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ptr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B5E69F-E9A2-A9F1-C853-2237A0BA1937}"/>
              </a:ext>
            </a:extLst>
          </p:cNvPr>
          <p:cNvSpPr txBox="1"/>
          <p:nvPr/>
        </p:nvSpPr>
        <p:spPr>
          <a:xfrm>
            <a:off x="3254706" y="6139686"/>
            <a:ext cx="76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ptr1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C4256E5B-8990-F773-BD4C-FBA1A6690C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728" y="3631659"/>
            <a:ext cx="9916885" cy="2120037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DEDE93C-AFA4-7F7B-35E9-9999AC59C769}"/>
              </a:ext>
            </a:extLst>
          </p:cNvPr>
          <p:cNvCxnSpPr/>
          <p:nvPr/>
        </p:nvCxnSpPr>
        <p:spPr>
          <a:xfrm flipV="1">
            <a:off x="3766457" y="3635908"/>
            <a:ext cx="0" cy="82723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8D300AD-56DF-2FE2-C945-C72C713C9BD5}"/>
              </a:ext>
            </a:extLst>
          </p:cNvPr>
          <p:cNvCxnSpPr/>
          <p:nvPr/>
        </p:nvCxnSpPr>
        <p:spPr>
          <a:xfrm>
            <a:off x="3777343" y="3635908"/>
            <a:ext cx="438694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887EDE8-D723-909C-A48F-2CF4D4E72690}"/>
              </a:ext>
            </a:extLst>
          </p:cNvPr>
          <p:cNvCxnSpPr/>
          <p:nvPr/>
        </p:nvCxnSpPr>
        <p:spPr>
          <a:xfrm>
            <a:off x="8131629" y="3635908"/>
            <a:ext cx="0" cy="82723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13D9EA9-6CCE-701E-C2D4-BDC86B9F97A1}"/>
              </a:ext>
            </a:extLst>
          </p:cNvPr>
          <p:cNvCxnSpPr/>
          <p:nvPr/>
        </p:nvCxnSpPr>
        <p:spPr>
          <a:xfrm>
            <a:off x="8262257" y="5170714"/>
            <a:ext cx="0" cy="58523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26288AC-FB5E-641E-876A-2E9AAD19F0E5}"/>
              </a:ext>
            </a:extLst>
          </p:cNvPr>
          <p:cNvCxnSpPr/>
          <p:nvPr/>
        </p:nvCxnSpPr>
        <p:spPr>
          <a:xfrm flipH="1">
            <a:off x="3494314" y="5755945"/>
            <a:ext cx="478971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805C08D-DADD-EB32-BE5C-DB046493C6EB}"/>
              </a:ext>
            </a:extLst>
          </p:cNvPr>
          <p:cNvCxnSpPr/>
          <p:nvPr/>
        </p:nvCxnSpPr>
        <p:spPr>
          <a:xfrm flipV="1">
            <a:off x="3505200" y="5170714"/>
            <a:ext cx="0" cy="5852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BF501FBF-1CEA-ED9A-B77F-B31A566DB6F5}"/>
              </a:ext>
            </a:extLst>
          </p:cNvPr>
          <p:cNvSpPr txBox="1"/>
          <p:nvPr/>
        </p:nvSpPr>
        <p:spPr>
          <a:xfrm>
            <a:off x="4658669" y="3297047"/>
            <a:ext cx="2895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Ptr1-&gt;next=ptr-&gt;next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532C8DB-F11F-885C-D72B-8C94FC040538}"/>
              </a:ext>
            </a:extLst>
          </p:cNvPr>
          <p:cNvSpPr txBox="1"/>
          <p:nvPr/>
        </p:nvSpPr>
        <p:spPr>
          <a:xfrm>
            <a:off x="6460732" y="5755482"/>
            <a:ext cx="2699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Ptr-&gt;next-&gt;</a:t>
            </a:r>
            <a:r>
              <a:rPr lang="en-IN" dirty="0" err="1"/>
              <a:t>prev</a:t>
            </a:r>
            <a:r>
              <a:rPr lang="en-IN" dirty="0"/>
              <a:t>=ptr1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EFB3DE4-B8C8-CBBD-7B8B-0B936CD7AD72}"/>
              </a:ext>
            </a:extLst>
          </p:cNvPr>
          <p:cNvCxnSpPr/>
          <p:nvPr/>
        </p:nvCxnSpPr>
        <p:spPr>
          <a:xfrm>
            <a:off x="5290457" y="4193613"/>
            <a:ext cx="1349829" cy="1222237"/>
          </a:xfrm>
          <a:prstGeom prst="line">
            <a:avLst/>
          </a:prstGeom>
          <a:ln w="3810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1AF76B2-96FD-05B5-A1B4-A9A31352547B}"/>
              </a:ext>
            </a:extLst>
          </p:cNvPr>
          <p:cNvCxnSpPr/>
          <p:nvPr/>
        </p:nvCxnSpPr>
        <p:spPr>
          <a:xfrm flipV="1">
            <a:off x="5012872" y="4049525"/>
            <a:ext cx="1543080" cy="1397567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90BAA18A-36DB-B5BB-F5BE-304361D1C7A0}"/>
              </a:ext>
            </a:extLst>
          </p:cNvPr>
          <p:cNvCxnSpPr/>
          <p:nvPr/>
        </p:nvCxnSpPr>
        <p:spPr>
          <a:xfrm>
            <a:off x="3254706" y="4804731"/>
            <a:ext cx="675037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D2A1EAF-C2AE-B1FD-9A2F-5E0D6B7584DA}"/>
              </a:ext>
            </a:extLst>
          </p:cNvPr>
          <p:cNvSpPr txBox="1"/>
          <p:nvPr/>
        </p:nvSpPr>
        <p:spPr>
          <a:xfrm>
            <a:off x="3243760" y="4427163"/>
            <a:ext cx="759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3000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85C0065-97FD-446B-92B5-CDB17CEEFC2D}"/>
              </a:ext>
            </a:extLst>
          </p:cNvPr>
          <p:cNvCxnSpPr/>
          <p:nvPr/>
        </p:nvCxnSpPr>
        <p:spPr>
          <a:xfrm>
            <a:off x="7870249" y="4811512"/>
            <a:ext cx="675037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0DB89D96-42FC-32B1-B937-0E90AEC5D12B}"/>
              </a:ext>
            </a:extLst>
          </p:cNvPr>
          <p:cNvSpPr txBox="1"/>
          <p:nvPr/>
        </p:nvSpPr>
        <p:spPr>
          <a:xfrm>
            <a:off x="7848602" y="4440056"/>
            <a:ext cx="759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1000</a:t>
            </a:r>
          </a:p>
        </p:txBody>
      </p:sp>
    </p:spTree>
    <p:extLst>
      <p:ext uri="{BB962C8B-B14F-4D97-AF65-F5344CB8AC3E}">
        <p14:creationId xmlns:p14="http://schemas.microsoft.com/office/powerpoint/2010/main" val="2324273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Rectangle 1"/>
          <p:cNvSpPr/>
          <p:nvPr/>
        </p:nvSpPr>
        <p:spPr>
          <a:xfrm>
            <a:off x="1152524" y="2471108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sz="32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971550" lvl="1" indent="-514350">
              <a:buAutoNum type="arabicPeriod"/>
            </a:pPr>
            <a:endParaRPr lang="en-IN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ounded Rectangle 17">
            <a:extLst>
              <a:ext uri="{FF2B5EF4-FFF2-40B4-BE49-F238E27FC236}">
                <a16:creationId xmlns:a16="http://schemas.microsoft.com/office/drawing/2014/main" id="{DB57998B-3B57-ADAE-2630-7800FD8637AD}"/>
              </a:ext>
            </a:extLst>
          </p:cNvPr>
          <p:cNvSpPr/>
          <p:nvPr/>
        </p:nvSpPr>
        <p:spPr>
          <a:xfrm>
            <a:off x="2231572" y="216696"/>
            <a:ext cx="7469580" cy="66410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latin typeface="Arial"/>
                <a:cs typeface="Arial"/>
              </a:rPr>
              <a:t>Deletion at Specified Position- Algorithm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AC8EAA-F7B4-00C0-C86D-419A14A0177B}"/>
              </a:ext>
            </a:extLst>
          </p:cNvPr>
          <p:cNvSpPr txBox="1"/>
          <p:nvPr/>
        </p:nvSpPr>
        <p:spPr>
          <a:xfrm>
            <a:off x="1152523" y="1870226"/>
            <a:ext cx="9635219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 : IF Head = NULL THEN</a:t>
            </a:r>
          </a:p>
          <a:p>
            <a:pPr algn="just"/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Display  DLL is empty</a:t>
            </a:r>
          </a:p>
          <a:p>
            <a:pPr algn="just"/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 : SET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HEAD and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</a:p>
          <a:p>
            <a:pPr algn="just"/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 3: Read position pos</a:t>
            </a:r>
          </a:p>
          <a:p>
            <a:pPr algn="just"/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 :  Repeat Step 4 while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&lt;pos</a:t>
            </a:r>
          </a:p>
          <a:p>
            <a:pPr algn="just"/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 :   SET ptr1=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SET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-&gt; NEXT</a:t>
            </a:r>
          </a:p>
          <a:p>
            <a:pPr algn="just"/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I&lt;- I+1</a:t>
            </a:r>
          </a:p>
          <a:p>
            <a:pPr algn="just"/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[END OF LOOP]</a:t>
            </a:r>
          </a:p>
          <a:p>
            <a:pPr algn="just"/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 :  6.1 SET </a:t>
            </a:r>
            <a:r>
              <a:rPr lang="en-IN" sz="2400" dirty="0"/>
              <a:t>Ptr1-&gt;next=ptr-&gt;next</a:t>
            </a:r>
          </a:p>
          <a:p>
            <a:pPr algn="just"/>
            <a:r>
              <a:rPr lang="en-IN" sz="2400" dirty="0"/>
              <a:t>              6.2 SET Ptr-&gt;next-&gt;</a:t>
            </a:r>
            <a:r>
              <a:rPr lang="en-IN" sz="2400" dirty="0" err="1"/>
              <a:t>prev</a:t>
            </a:r>
            <a:r>
              <a:rPr lang="en-IN" sz="2400" dirty="0"/>
              <a:t>=ptr1</a:t>
            </a:r>
          </a:p>
          <a:p>
            <a:pPr algn="just"/>
            <a:r>
              <a:rPr lang="en-IN" sz="2400" dirty="0"/>
              <a:t>              6.3  Free Ptr</a:t>
            </a:r>
          </a:p>
          <a:p>
            <a:pPr algn="just"/>
            <a:r>
              <a:rPr lang="en-IN" sz="2400" dirty="0"/>
              <a:t>Step 7 : Exit</a:t>
            </a:r>
          </a:p>
          <a:p>
            <a:pPr algn="just"/>
            <a:endParaRPr lang="en-US" altLang="en-US" sz="2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5885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Rounded Rectangle 17">
            <a:extLst>
              <a:ext uri="{FF2B5EF4-FFF2-40B4-BE49-F238E27FC236}">
                <a16:creationId xmlns:a16="http://schemas.microsoft.com/office/drawing/2014/main" id="{0B964271-188D-E32E-440A-51335D9253D7}"/>
              </a:ext>
            </a:extLst>
          </p:cNvPr>
          <p:cNvSpPr/>
          <p:nvPr/>
        </p:nvSpPr>
        <p:spPr>
          <a:xfrm>
            <a:off x="2231572" y="216696"/>
            <a:ext cx="7469580" cy="66410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latin typeface="Arial"/>
                <a:cs typeface="Arial"/>
              </a:rPr>
              <a:t>Display  a  DLL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9AABF9-9D1C-B30D-6BC4-2F1D674BE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362" y="1141037"/>
            <a:ext cx="9916885" cy="2120037"/>
          </a:xfrm>
          <a:prstGeom prst="rect">
            <a:avLst/>
          </a:prstGeom>
        </p:spPr>
      </p:pic>
      <p:sp>
        <p:nvSpPr>
          <p:cNvPr id="5" name="Arrow: Up 4">
            <a:extLst>
              <a:ext uri="{FF2B5EF4-FFF2-40B4-BE49-F238E27FC236}">
                <a16:creationId xmlns:a16="http://schemas.microsoft.com/office/drawing/2014/main" id="{76FD2D9D-DD0F-C5F2-EA0A-161F79EB021B}"/>
              </a:ext>
            </a:extLst>
          </p:cNvPr>
          <p:cNvSpPr/>
          <p:nvPr/>
        </p:nvSpPr>
        <p:spPr>
          <a:xfrm>
            <a:off x="3099737" y="2910157"/>
            <a:ext cx="223095" cy="701833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A3947C-E432-14C9-E5FF-30AF67974AB9}"/>
              </a:ext>
            </a:extLst>
          </p:cNvPr>
          <p:cNvSpPr txBox="1"/>
          <p:nvPr/>
        </p:nvSpPr>
        <p:spPr>
          <a:xfrm>
            <a:off x="3396342" y="3059668"/>
            <a:ext cx="859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ptr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A69F5C-FF1E-6E66-B60D-5E79EB865954}"/>
              </a:ext>
            </a:extLst>
          </p:cNvPr>
          <p:cNvSpPr txBox="1"/>
          <p:nvPr/>
        </p:nvSpPr>
        <p:spPr>
          <a:xfrm>
            <a:off x="1647956" y="4545550"/>
            <a:ext cx="609460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Run a loop from starting node to end node –while  visiting a node display it.</a:t>
            </a:r>
          </a:p>
        </p:txBody>
      </p:sp>
    </p:spTree>
    <p:extLst>
      <p:ext uri="{BB962C8B-B14F-4D97-AF65-F5344CB8AC3E}">
        <p14:creationId xmlns:p14="http://schemas.microsoft.com/office/powerpoint/2010/main" val="130014634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8125 0.01968 L 0.28125 0.01968 C 0.2862 0.01898 0.29128 0.01829 0.29636 0.01806 C 0.3086 0.01736 0.32083 0.01783 0.33294 0.01644 C 0.33568 0.01621 0.33828 0.01366 0.34102 0.01343 C 0.34753 0.01227 0.35404 0.01227 0.36068 0.01181 C 0.36354 0.01088 0.37552 0.00718 0.37943 0.00718 C 0.39037 0.00718 0.40143 0.0081 0.41237 0.00857 C 0.41511 0.00973 0.41771 0.01111 0.42044 0.01181 C 0.42643 0.0132 0.43229 0.01389 0.43828 0.01482 C 0.44193 0.01551 0.44544 0.01644 0.44896 0.01644 C 0.46745 0.0169 0.48594 0.01644 0.50443 0.01644 L 0.50443 0.01644 " pathEditMode="relative" ptsTypes="AAAAAAAAAAAAA">
                                      <p:cBhvr>
                                        <p:cTn id="1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347 0.03495 L 0.03347 0.03495 C 0.04258 0.0412 0.05156 0.0493 0.06107 0.05393 C 0.07005 0.05833 0.07956 0.05949 0.0888 0.0618 C 0.13737 0.07384 0.11979 0.06805 0.1763 0.07453 C 0.18698 0.07569 0.19766 0.07801 0.20847 0.07939 L 0.2763 0.08564 L 0.28972 0.08727 C 0.29323 0.08819 0.29675 0.09004 0.30039 0.09051 C 0.32474 0.09328 0.33802 0.09166 0.36289 0.09051 C 0.37735 0.08657 0.40521 0.07963 0.42005 0.07453 C 0.42487 0.07291 0.42956 0.07014 0.43438 0.06828 C 0.43972 0.06597 0.44505 0.06435 0.45039 0.0618 C 0.4543 0.05995 0.45808 0.0574 0.46198 0.05555 C 0.46589 0.0537 0.46979 0.05254 0.4737 0.05069 C 0.48594 0.04467 0.47005 0.05092 0.48255 0.04282 C 0.48425 0.04166 0.4862 0.04166 0.48789 0.0412 C 0.4888 0.04027 0.48985 0.03935 0.49063 0.03819 C 0.49167 0.03611 0.49401 0.02963 0.49505 0.02708 C 0.49531 0.02477 0.49544 0.02268 0.49597 0.0206 C 0.49636 0.01898 0.49727 0.01759 0.49779 0.01597 C 0.49961 0.00926 0.49948 0.01041 0.49948 0.00648 L 0.49948 0.00648 " pathEditMode="relative" ptsTypes="AAAAAAAAAAAAAAAAAAAAAAA">
                                      <p:cBhvr>
                                        <p:cTn id="1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1AB0C265-973F-01BE-6EE5-81929A4791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0372" y="268024"/>
            <a:ext cx="1990725" cy="600076"/>
          </a:xfrm>
          <a:prstGeom prst="rect">
            <a:avLst/>
          </a:prstGeom>
          <a:noFill/>
        </p:spPr>
      </p:pic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598B38DA-2755-8A2E-251D-4D058D68E7A9}"/>
              </a:ext>
            </a:extLst>
          </p:cNvPr>
          <p:cNvSpPr/>
          <p:nvPr/>
        </p:nvSpPr>
        <p:spPr>
          <a:xfrm>
            <a:off x="2764972" y="268024"/>
            <a:ext cx="7469580" cy="66410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latin typeface="Arial"/>
                <a:cs typeface="Arial"/>
              </a:rPr>
              <a:t>Display  a  DLL- Algorithm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56D1CA-A5F8-FDC8-35D9-AB0FCB981D38}"/>
              </a:ext>
            </a:extLst>
          </p:cNvPr>
          <p:cNvSpPr txBox="1"/>
          <p:nvPr/>
        </p:nvSpPr>
        <p:spPr>
          <a:xfrm>
            <a:off x="3254829" y="1472236"/>
            <a:ext cx="746958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IF HEAD = NULL</a:t>
            </a:r>
          </a:p>
          <a:p>
            <a:pPr marL="0" indent="0" algn="just">
              <a:buFont typeface="Arial" panose="020B0604020202020204" pitchFamily="34" charset="0"/>
              <a:buNone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PRINT  EMPTY DLL</a:t>
            </a:r>
          </a:p>
          <a:p>
            <a:pPr algn="just">
              <a:defRPr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ELSE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SET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HEAD</a:t>
            </a:r>
          </a:p>
          <a:p>
            <a:pPr algn="just">
              <a:defRPr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REPEAT STEP 4 WHILE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!= NULL</a:t>
            </a:r>
          </a:p>
          <a:p>
            <a:pPr algn="just">
              <a:defRPr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just"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4.1  Display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-&gt;data</a:t>
            </a:r>
          </a:p>
          <a:p>
            <a:pPr algn="just"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4.2  SET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-&gt;NEXT</a:t>
            </a:r>
          </a:p>
          <a:p>
            <a:pPr marL="0" indent="0" algn="just">
              <a:buFont typeface="Arial" panose="020B0604020202020204" pitchFamily="34" charset="0"/>
              <a:buNone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[END OF LOOP]</a:t>
            </a:r>
          </a:p>
          <a:p>
            <a:pPr algn="just">
              <a:defRPr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Exit</a:t>
            </a:r>
          </a:p>
        </p:txBody>
      </p:sp>
    </p:spTree>
    <p:extLst>
      <p:ext uri="{BB962C8B-B14F-4D97-AF65-F5344CB8AC3E}">
        <p14:creationId xmlns:p14="http://schemas.microsoft.com/office/powerpoint/2010/main" val="4221671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54D31061-350D-4864-BF25-E3C3C4699CDC}"/>
              </a:ext>
            </a:extLst>
          </p:cNvPr>
          <p:cNvSpPr/>
          <p:nvPr/>
        </p:nvSpPr>
        <p:spPr>
          <a:xfrm>
            <a:off x="3771922" y="93980"/>
            <a:ext cx="5475773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Doubly Linked List – Merits  and Demerits</a:t>
            </a:r>
          </a:p>
        </p:txBody>
      </p:sp>
      <p:pic>
        <p:nvPicPr>
          <p:cNvPr id="3" name="Picture 2" descr="KL Deemed to be University Logo">
            <a:extLst>
              <a:ext uri="{FF2B5EF4-FFF2-40B4-BE49-F238E27FC236}">
                <a16:creationId xmlns:a16="http://schemas.microsoft.com/office/drawing/2014/main" id="{3EC00787-429B-9DB9-39C0-EFAB656AF2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3029" y="158053"/>
            <a:ext cx="1990725" cy="600076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75CDC9-9106-142B-F872-D1A23F081344}"/>
              </a:ext>
            </a:extLst>
          </p:cNvPr>
          <p:cNvSpPr txBox="1"/>
          <p:nvPr/>
        </p:nvSpPr>
        <p:spPr>
          <a:xfrm>
            <a:off x="1394721" y="900439"/>
            <a:ext cx="17580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Merits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18944C-79CF-209F-E9A2-752BDD373781}"/>
              </a:ext>
            </a:extLst>
          </p:cNvPr>
          <p:cNvSpPr txBox="1"/>
          <p:nvPr/>
        </p:nvSpPr>
        <p:spPr>
          <a:xfrm>
            <a:off x="1394720" y="4127981"/>
            <a:ext cx="17580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De</a:t>
            </a:r>
            <a:r>
              <a:rPr lang="en-IN" sz="2400" b="1" dirty="0"/>
              <a:t> </a:t>
            </a:r>
            <a:r>
              <a:rPr lang="en-IN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Merits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940F95-12D1-E815-A25E-98366B5682F1}"/>
              </a:ext>
            </a:extLst>
          </p:cNvPr>
          <p:cNvSpPr txBox="1"/>
          <p:nvPr/>
        </p:nvSpPr>
        <p:spPr>
          <a:xfrm>
            <a:off x="1567543" y="1504415"/>
            <a:ext cx="10286999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 DLL can be traversed in both forward and backward directions. 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delete operation in DLL is more efficient if a pointer to the node to be    deleted is given. 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200" dirty="0"/>
              <a:t>In DLL, we can get the previous node using the previous pointer hence deletion operation is easily performed. In contrast in an SLL to get previous pointer , traversal is needed.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D0D72C-6C03-CF7F-077E-486863700622}"/>
              </a:ext>
            </a:extLst>
          </p:cNvPr>
          <p:cNvSpPr txBox="1"/>
          <p:nvPr/>
        </p:nvSpPr>
        <p:spPr>
          <a:xfrm>
            <a:off x="1828799" y="4749330"/>
            <a:ext cx="92746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Every node of DLL Requires extra space for a previous pointer. </a:t>
            </a:r>
          </a:p>
        </p:txBody>
      </p:sp>
    </p:spTree>
    <p:extLst>
      <p:ext uri="{BB962C8B-B14F-4D97-AF65-F5344CB8AC3E}">
        <p14:creationId xmlns:p14="http://schemas.microsoft.com/office/powerpoint/2010/main" val="12696293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1FA19A5-9588-483E-843E-C76873B71790}"/>
              </a:ext>
            </a:extLst>
          </p:cNvPr>
          <p:cNvSpPr/>
          <p:nvPr/>
        </p:nvSpPr>
        <p:spPr>
          <a:xfrm>
            <a:off x="3530991" y="84408"/>
            <a:ext cx="641486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SUMMARY</a:t>
            </a:r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7F379A5-1715-503B-1C25-2B21ADF10410}"/>
              </a:ext>
            </a:extLst>
          </p:cNvPr>
          <p:cNvSpPr txBox="1"/>
          <p:nvPr/>
        </p:nvSpPr>
        <p:spPr>
          <a:xfrm>
            <a:off x="566057" y="1443841"/>
            <a:ext cx="1086394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highlight>
                  <a:srgbClr val="FFFCF4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The size of the Doubly  linked list can be dynamically adjusted based on the number of elements added or removed.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highlight>
                  <a:srgbClr val="FFFCF4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Each node contains two pointers: one pointing to the previous node and one pointing to the next node.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highlight>
                  <a:srgbClr val="FFFCF4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The first node’s previous pointer points to null and the last node’s next pointer points to null.</a:t>
            </a:r>
          </a:p>
          <a:p>
            <a:endParaRPr lang="en-US" sz="2400" dirty="0">
              <a:highlight>
                <a:srgbClr val="FFFCF4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highlight>
                  <a:srgbClr val="FFFCF4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The linked list can be traversed in both forward and backward directions.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highlight>
                  <a:srgbClr val="FFFCF4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Insertions and deletions can be performed in constant time at both the beginning and the end of the list.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highlight>
                  <a:srgbClr val="FFFCF4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It requires more memory compared to a singly linked list, as each node has two pointers.</a:t>
            </a:r>
          </a:p>
        </p:txBody>
      </p:sp>
    </p:spTree>
    <p:extLst>
      <p:ext uri="{BB962C8B-B14F-4D97-AF65-F5344CB8AC3E}">
        <p14:creationId xmlns:p14="http://schemas.microsoft.com/office/powerpoint/2010/main" val="4254978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1009895" y="1006867"/>
            <a:ext cx="10661548" cy="796533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br>
              <a:rPr lang="en-IN" sz="2400" dirty="0"/>
            </a:br>
            <a:endParaRPr sz="2400" dirty="0">
              <a:solidFill>
                <a:schemeClr val="bg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1026828" y="2000009"/>
            <a:ext cx="6237001" cy="1623723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dirty="0"/>
              <a:t>In a Doubly linked list , the number of pointers affected for performing an insertion operation will be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IN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IN" dirty="0"/>
          </a:p>
          <a:p>
            <a:r>
              <a:rPr lang="en-IN" dirty="0"/>
              <a:t>A) 4</a:t>
            </a:r>
            <a:br>
              <a:rPr lang="en-IN" dirty="0"/>
            </a:br>
            <a:r>
              <a:rPr lang="en-IN" dirty="0"/>
              <a:t>B)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1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Depends on the nodes of the doubly linked list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br>
              <a:rPr lang="en-IN" dirty="0"/>
            </a:br>
            <a:endParaRPr lang="en-US" dirty="0"/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1009895" y="3820343"/>
            <a:ext cx="10661548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2400" dirty="0"/>
              <a:t>2. </a:t>
            </a:r>
            <a:r>
              <a:rPr lang="en-US" sz="2400" dirty="0"/>
              <a:t>Which of the following is false about a doubly linked list</a:t>
            </a:r>
            <a:br>
              <a:rPr lang="en-IN" sz="2400" dirty="0"/>
            </a:br>
            <a:endParaRPr lang="en-IN" sz="2400" dirty="0"/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1026828" y="4727198"/>
            <a:ext cx="8247121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a)We can traverse bidirectionally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b)Incurs more space when compared to an SLL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</a:t>
            </a:r>
            <a:r>
              <a:rPr lang="en-US" dirty="0"/>
              <a:t> The insertion and deletion of a node take a bit longer.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</a:t>
            </a:r>
            <a:r>
              <a:rPr lang="en-US" dirty="0"/>
              <a:t> Implementing a doubly linked list is easier than singly linked list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9276617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13" grpId="0" animBg="1"/>
      <p:bldP spid="1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TERMINAL QUESTIONS</a:t>
            </a:r>
          </a:p>
        </p:txBody>
      </p:sp>
      <p:pic>
        <p:nvPicPr>
          <p:cNvPr id="10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D6F5A76-3767-2A58-6565-9C6ABBE0E809}"/>
              </a:ext>
            </a:extLst>
          </p:cNvPr>
          <p:cNvSpPr txBox="1"/>
          <p:nvPr/>
        </p:nvSpPr>
        <p:spPr>
          <a:xfrm>
            <a:off x="1861457" y="979714"/>
            <a:ext cx="23621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Problem Description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8B501C-4B5C-0116-2814-EF818FAF0CFC}"/>
              </a:ext>
            </a:extLst>
          </p:cNvPr>
          <p:cNvSpPr txBox="1"/>
          <p:nvPr/>
        </p:nvSpPr>
        <p:spPr>
          <a:xfrm>
            <a:off x="1892655" y="1544018"/>
            <a:ext cx="885364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Write a program for insertion at beginning</a:t>
            </a:r>
          </a:p>
          <a:p>
            <a:r>
              <a:rPr lang="en-IN" sz="2400" dirty="0"/>
              <a:t>Write a program for insertion at end.</a:t>
            </a:r>
          </a:p>
          <a:p>
            <a:r>
              <a:rPr lang="en-IN" sz="2400" dirty="0"/>
              <a:t>Write a program for insertion at specific position</a:t>
            </a:r>
          </a:p>
          <a:p>
            <a:r>
              <a:rPr lang="en-IN" sz="2400" dirty="0"/>
              <a:t>Write a program for deletion at beginning</a:t>
            </a:r>
          </a:p>
          <a:p>
            <a:r>
              <a:rPr lang="en-IN" sz="2400" dirty="0"/>
              <a:t>Write a program for deletion at end</a:t>
            </a:r>
          </a:p>
          <a:p>
            <a:r>
              <a:rPr lang="en-IN" sz="2400" dirty="0"/>
              <a:t>Write a program for deletion at specific position</a:t>
            </a:r>
          </a:p>
          <a:p>
            <a:r>
              <a:rPr lang="en-IN" sz="2400" dirty="0"/>
              <a:t>Write a program to display all node values</a:t>
            </a:r>
          </a:p>
          <a:p>
            <a:r>
              <a:rPr lang="en-IN" sz="2400" dirty="0"/>
              <a:t>Write a program to print in reverse order using previous pointer.</a:t>
            </a:r>
          </a:p>
          <a:p>
            <a:r>
              <a:rPr lang="en-IN" sz="2400" dirty="0"/>
              <a:t>Write a program to sort the list .</a:t>
            </a:r>
          </a:p>
        </p:txBody>
      </p:sp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2161309" y="93891"/>
            <a:ext cx="7105194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REFERENCES FOR FURTHER LEARNING OF THE SESSION</a:t>
            </a:r>
            <a:endParaRPr lang="en-U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7195" y="1013239"/>
            <a:ext cx="1150938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Reference Books:</a:t>
            </a:r>
            <a:endParaRPr lang="en-US" sz="2400" dirty="0"/>
          </a:p>
          <a:p>
            <a:pPr marL="342900" lvl="1" indent="-342900">
              <a:lnSpc>
                <a:spcPct val="150000"/>
              </a:lnSpc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 Allen Weiss, Data Structures and Algorithm Analysis in C, 2010 , Second Edition,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PearsonEducation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>
              <a:lnSpc>
                <a:spcPct val="150000"/>
              </a:lnSpc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Ellis Horowitz, Fundamentals of Data Structures in C: Second Edition, 2015</a:t>
            </a:r>
          </a:p>
          <a:p>
            <a:pPr marL="342900" lvl="1" indent="-342900">
              <a:lnSpc>
                <a:spcPct val="150000"/>
              </a:lnSpc>
              <a:buAutoNum type="arabicPeriod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A.V.Aho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 E.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Hopcroft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J. D. Ullman, “Data Structures And Algorithms”, Pearson Education, First Edition Reprint2003.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Sites and Web links: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https://www.youtube.com/watch?v=MxKBRgyO-94&amp;t=638s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https://www.youtube.com/watch?v=PAceaOSnxQs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https://panda.ime.usp.br/pythonds/static/pythonds_pt/02-EDBasicos/InfixPrefixandPostfixExpressions.html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https://www.javatpoint.com/convert-infix-to-postfix-notation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https://www.scaler.com/topics/infix-to-postfix-conversion/</a:t>
            </a:r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2602523" y="1856934"/>
            <a:ext cx="7920111" cy="288387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3200" b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3600" b="1" dirty="0">
                <a:latin typeface="Poppins" pitchFamily="2" charset="77"/>
                <a:cs typeface="Poppins" pitchFamily="2" charset="77"/>
              </a:rPr>
              <a:t>Team – Data </a:t>
            </a:r>
            <a:r>
              <a:rPr lang="en-US" sz="3600" b="1" dirty="0" err="1">
                <a:latin typeface="Poppins" pitchFamily="2" charset="77"/>
                <a:cs typeface="Poppins" pitchFamily="2" charset="77"/>
              </a:rPr>
              <a:t>Sructures</a:t>
            </a:r>
            <a:endParaRPr lang="en-US" sz="3600" b="1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14534" y="2560321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058B0D91A7444BDF69F20EF097C18" ma:contentTypeVersion="14" ma:contentTypeDescription="Create a new document." ma:contentTypeScope="" ma:versionID="0ede872240208156a106060c7bf37a70">
  <xsd:schema xmlns:xsd="http://www.w3.org/2001/XMLSchema" xmlns:xs="http://www.w3.org/2001/XMLSchema" xmlns:p="http://schemas.microsoft.com/office/2006/metadata/properties" xmlns:ns3="d43ee83c-3e71-4748-8ebc-8eaadf793425" xmlns:ns4="0125a647-8023-46ae-ae6e-85cf36d841bd" targetNamespace="http://schemas.microsoft.com/office/2006/metadata/properties" ma:root="true" ma:fieldsID="e836ceb473825fb8f3d8aa266dca4abb" ns3:_="" ns4:_="">
    <xsd:import namespace="d43ee83c-3e71-4748-8ebc-8eaadf793425"/>
    <xsd:import namespace="0125a647-8023-46ae-ae6e-85cf36d841b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3ee83c-3e71-4748-8ebc-8eaadf79342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25a647-8023-46ae-ae6e-85cf36d841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89A6ECA-0C1B-4F00-836D-A696F073E5C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d43ee83c-3e71-4748-8ebc-8eaadf793425"/>
    <ds:schemaRef ds:uri="0125a647-8023-46ae-ae6e-85cf36d841bd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DA00F5F-5366-4B1C-9406-30DECA796AB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BBD0A98-E68B-4DAA-8964-2F739D6D4075}">
  <ds:schemaRefs>
    <ds:schemaRef ds:uri="http://schemas.microsoft.com/office/2006/metadata/properties"/>
    <ds:schemaRef ds:uri="http://www.w3.org/2000/xmlns/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2383</TotalTime>
  <Words>1669</Words>
  <Application>Microsoft Office PowerPoint</Application>
  <PresentationFormat>Widescreen</PresentationFormat>
  <Paragraphs>320</Paragraphs>
  <Slides>27</Slides>
  <Notes>7</Notes>
  <HiddenSlides>2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Arial</vt:lpstr>
      <vt:lpstr>BioRhyme ExtraBold</vt:lpstr>
      <vt:lpstr>Calibri</vt:lpstr>
      <vt:lpstr>Poppins</vt:lpstr>
      <vt:lpstr>Symbol</vt:lpstr>
      <vt:lpstr>Times New Roman</vt:lpstr>
      <vt:lpstr>Wingdings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Insertion at a specified position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: FUNDMENTALS OF ORGANIZATIONAL BEHAVIOUR</dc:title>
  <dc:creator>Younus Sayyad</dc:creator>
  <cp:lastModifiedBy>Ram Kumar M</cp:lastModifiedBy>
  <cp:revision>103</cp:revision>
  <dcterms:created xsi:type="dcterms:W3CDTF">2020-02-08T09:57:44Z</dcterms:created>
  <dcterms:modified xsi:type="dcterms:W3CDTF">2024-12-16T11:25:47Z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0x010100845058B0D91A7444BDF69F20EF097C18</vt:lpwstr>
  </property>
</Properties>
</file>