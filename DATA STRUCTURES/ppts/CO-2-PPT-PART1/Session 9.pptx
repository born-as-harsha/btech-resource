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8"/>
  </p:notesMasterIdLst>
  <p:sldIdLst>
    <p:sldId id="316" r:id="rId5"/>
    <p:sldId id="300" r:id="rId6"/>
    <p:sldId id="258" r:id="rId7"/>
    <p:sldId id="288" r:id="rId8"/>
    <p:sldId id="290" r:id="rId9"/>
    <p:sldId id="305" r:id="rId10"/>
    <p:sldId id="306" r:id="rId11"/>
    <p:sldId id="310" r:id="rId12"/>
    <p:sldId id="311" r:id="rId13"/>
    <p:sldId id="307" r:id="rId14"/>
    <p:sldId id="308" r:id="rId15"/>
    <p:sldId id="309" r:id="rId16"/>
    <p:sldId id="312" r:id="rId17"/>
    <p:sldId id="313" r:id="rId18"/>
    <p:sldId id="314" r:id="rId19"/>
    <p:sldId id="315" r:id="rId20"/>
    <p:sldId id="317" r:id="rId21"/>
    <p:sldId id="318" r:id="rId22"/>
    <p:sldId id="319" r:id="rId23"/>
    <p:sldId id="320" r:id="rId24"/>
    <p:sldId id="321" r:id="rId25"/>
    <p:sldId id="322" r:id="rId26"/>
    <p:sldId id="323" r:id="rId27"/>
    <p:sldId id="324" r:id="rId28"/>
    <p:sldId id="325" r:id="rId29"/>
    <p:sldId id="326" r:id="rId30"/>
    <p:sldId id="299" r:id="rId31"/>
    <p:sldId id="285" r:id="rId32"/>
    <p:sldId id="287" r:id="rId33"/>
    <p:sldId id="301" r:id="rId34"/>
    <p:sldId id="302" r:id="rId35"/>
    <p:sldId id="303" r:id="rId36"/>
    <p:sldId id="30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850D1-3DE1-5E49-ABFC-00B1F4CAB20B}" v="706" dt="2022-04-26T05:00:35.908"/>
    <p1510:client id="{B8906113-84A5-D6EE-8131-D504648287C4}" v="62" dt="2022-09-08T10:44:06.60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9"/>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17</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edx.org/course/algorithm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30828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Data structures</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code: 24sc1203</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Single linked list</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BES1</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2.1</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83099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Single Linked list</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 Limitations </a:t>
            </a:r>
            <a:r>
              <a:rPr lang="en-US" sz="1600" dirty="0">
                <a:latin typeface="Arial" panose="020B0604020202020204" pitchFamily="34" charset="0"/>
              </a:rPr>
              <a:t>of </a:t>
            </a:r>
            <a:r>
              <a:rPr lang="en-US" sz="1600" b="0" i="0" dirty="0">
                <a:effectLst/>
                <a:latin typeface="Arial" panose="020B0604020202020204" pitchFamily="34" charset="0"/>
              </a:rPr>
              <a:t>Arrays and Advantages of Linked Lists</a:t>
            </a:r>
          </a:p>
          <a:p>
            <a:pPr marL="342900" indent="-342900">
              <a:buAutoNum type="arabicPeriod"/>
            </a:pPr>
            <a:r>
              <a:rPr lang="en-US" sz="1600" b="0" i="0" dirty="0">
                <a:effectLst/>
                <a:latin typeface="Arial" panose="020B0604020202020204" pitchFamily="34" charset="0"/>
              </a:rPr>
              <a:t>Describe Single Linked List</a:t>
            </a:r>
          </a:p>
          <a:p>
            <a:pPr marL="342900" indent="-342900">
              <a:buAutoNum type="arabicPeriod"/>
            </a:pPr>
            <a:r>
              <a:rPr lang="en-US" sz="1600" b="0" i="0" dirty="0">
                <a:effectLst/>
                <a:latin typeface="Arial" panose="020B0604020202020204" pitchFamily="34" charset="0"/>
              </a:rPr>
              <a:t>List out operations on Single Linked List.</a:t>
            </a:r>
          </a:p>
          <a:p>
            <a:pPr marL="342900" indent="-342900">
              <a:buAutoNum type="arabicPeriod"/>
            </a:pPr>
            <a:r>
              <a:rPr lang="en-US" sz="1600" b="0" i="0" dirty="0">
                <a:effectLst/>
                <a:latin typeface="Arial"/>
                <a:cs typeface="Arial"/>
              </a:rPr>
              <a:t>Describe the creation and Insertion cases of Single Linked List</a:t>
            </a:r>
            <a:endParaRPr lang="en-US" sz="1600" dirty="0">
              <a:latin typeface="Arial"/>
              <a:cs typeface="Arial"/>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a:t>
            </a:r>
            <a:r>
              <a:rPr lang="en-US" sz="1600" dirty="0">
                <a:latin typeface="Arial" panose="020B0604020202020204" pitchFamily="34" charset="0"/>
              </a:rPr>
              <a:t>N</a:t>
            </a:r>
            <a:r>
              <a:rPr lang="en-US" sz="1600" b="0" i="0" dirty="0">
                <a:effectLst/>
                <a:latin typeface="Arial" panose="020B0604020202020204" pitchFamily="34" charset="0"/>
              </a:rPr>
              <a:t>ode, Single linked list</a:t>
            </a:r>
          </a:p>
          <a:p>
            <a:pPr marL="342900" indent="-342900">
              <a:buAutoNum type="arabicPeriod"/>
            </a:pPr>
            <a:r>
              <a:rPr lang="en-US" sz="1600" b="0" i="0" dirty="0">
                <a:effectLst/>
                <a:latin typeface="Arial" panose="020B0604020202020204" pitchFamily="34" charset="0"/>
              </a:rPr>
              <a:t>Describe  Representation of Single Linked List and  its operations.  </a:t>
            </a:r>
          </a:p>
          <a:p>
            <a:pPr marL="342900" indent="-342900">
              <a:buAutoNum type="arabicPeriod"/>
            </a:pPr>
            <a:r>
              <a:rPr lang="en-US" sz="1600" dirty="0">
                <a:latin typeface="Arial" panose="020B0604020202020204" pitchFamily="34" charset="0"/>
              </a:rPr>
              <a:t>Summarize Single Linked List </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4"/>
          <p:cNvSpPr/>
          <p:nvPr/>
        </p:nvSpPr>
        <p:spPr>
          <a:xfrm>
            <a:off x="3995225" y="773723"/>
            <a:ext cx="5120640" cy="646331"/>
          </a:xfrm>
          <a:prstGeom prst="rect">
            <a:avLst/>
          </a:prstGeom>
        </p:spPr>
        <p:txBody>
          <a:bodyPr wrap="square">
            <a:spAutoFit/>
          </a:bodyPr>
          <a:lstStyle/>
          <a:p>
            <a:r>
              <a:rPr lang="en-US" sz="2800" dirty="0">
                <a:latin typeface="Times New Roman" pitchFamily="18" charset="0"/>
                <a:cs typeface="Times New Roman" pitchFamily="18" charset="0"/>
              </a:rPr>
              <a:t>     </a:t>
            </a:r>
            <a:r>
              <a:rPr lang="en-US" sz="3600" dirty="0">
                <a:latin typeface="Times New Roman" pitchFamily="18" charset="0"/>
                <a:cs typeface="Times New Roman" pitchFamily="18" charset="0"/>
              </a:rPr>
              <a:t>Limitations of Arrays</a:t>
            </a:r>
          </a:p>
        </p:txBody>
      </p:sp>
      <p:sp>
        <p:nvSpPr>
          <p:cNvPr id="6" name="Rectangle 5"/>
          <p:cNvSpPr/>
          <p:nvPr/>
        </p:nvSpPr>
        <p:spPr>
          <a:xfrm>
            <a:off x="492369" y="1477105"/>
            <a:ext cx="11141613" cy="523220"/>
          </a:xfrm>
          <a:prstGeom prst="rect">
            <a:avLst/>
          </a:prstGeom>
        </p:spPr>
        <p:txBody>
          <a:bodyPr wrap="square">
            <a:spAutoFit/>
          </a:bodyPr>
          <a:lstStyle/>
          <a:p>
            <a:pPr>
              <a:buFont typeface="Arial" pitchFamily="34" charset="0"/>
              <a:buChar char="•"/>
            </a:pPr>
            <a:endParaRPr lang="en-US" sz="2800" dirty="0">
              <a:latin typeface="Times New Roman" pitchFamily="18" charset="0"/>
              <a:cs typeface="Times New Roman" pitchFamily="18" charset="0"/>
            </a:endParaRPr>
          </a:p>
        </p:txBody>
      </p:sp>
      <p:sp>
        <p:nvSpPr>
          <p:cNvPr id="7" name="Rectangle 6"/>
          <p:cNvSpPr/>
          <p:nvPr/>
        </p:nvSpPr>
        <p:spPr>
          <a:xfrm>
            <a:off x="1842868" y="1716257"/>
            <a:ext cx="9129932" cy="3416320"/>
          </a:xfrm>
          <a:prstGeom prst="rect">
            <a:avLst/>
          </a:prstGeom>
        </p:spPr>
        <p:txBody>
          <a:bodyPr wrap="square">
            <a:spAutoFit/>
          </a:bodyPr>
          <a:lstStyle/>
          <a:p>
            <a:pPr>
              <a:buFont typeface="Arial" pitchFamily="34" charset="0"/>
              <a:buChar char="•"/>
            </a:pPr>
            <a:r>
              <a:rPr lang="en-US" sz="2400" dirty="0">
                <a:latin typeface="Times New Roman" pitchFamily="18" charset="0"/>
                <a:cs typeface="Times New Roman" pitchFamily="18" charset="0"/>
              </a:rPr>
              <a:t>The size of array must be known in advance before using it in the program.</a:t>
            </a:r>
          </a:p>
          <a:p>
            <a:endParaRPr lang="en-US" sz="2400" dirty="0">
              <a:latin typeface="Times New Roman" pitchFamily="18" charset="0"/>
              <a:cs typeface="Times New Roman" pitchFamily="18" charset="0"/>
            </a:endParaRPr>
          </a:p>
          <a:p>
            <a:pPr>
              <a:buFont typeface="Arial" pitchFamily="34" charset="0"/>
              <a:buChar char="•"/>
            </a:pPr>
            <a:r>
              <a:rPr lang="en-US" sz="2400" dirty="0">
                <a:latin typeface="Times New Roman" pitchFamily="18" charset="0"/>
                <a:cs typeface="Times New Roman" pitchFamily="18" charset="0"/>
              </a:rPr>
              <a:t>Increasing size of the array is a time taking process. It is almost impossible to expand the size of the array at run time.</a:t>
            </a:r>
          </a:p>
          <a:p>
            <a:endParaRPr lang="en-US" sz="2400" dirty="0">
              <a:latin typeface="Times New Roman" pitchFamily="18" charset="0"/>
              <a:cs typeface="Times New Roman" pitchFamily="18" charset="0"/>
            </a:endParaRPr>
          </a:p>
          <a:p>
            <a:pPr>
              <a:buFont typeface="Arial" pitchFamily="34" charset="0"/>
              <a:buChar char="•"/>
            </a:pPr>
            <a:r>
              <a:rPr lang="en-US" sz="2400" dirty="0">
                <a:latin typeface="Times New Roman" pitchFamily="18" charset="0"/>
                <a:cs typeface="Times New Roman" pitchFamily="18" charset="0"/>
              </a:rPr>
              <a:t>All the elements in the array need to be contiguously stored in the memory. Inserting any element in the array needs shifting of all its predecessors</a:t>
            </a:r>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latin typeface="Times New Roman" pitchFamily="18" charset="0"/>
                <a:cs typeface="Times New Roman" pitchFamily="18" charset="0"/>
              </a:rPr>
              <a:t>Advantages of Linked lists</a:t>
            </a:r>
            <a:endParaRPr lang="en-US" sz="2400" dirty="0">
              <a:ln w="0"/>
              <a:solidFill>
                <a:schemeClr val="bg1"/>
              </a:solidFill>
              <a:effectLst>
                <a:outerShdw blurRad="38100" dist="19050" dir="2700000" algn="tl" rotWithShape="0">
                  <a:schemeClr val="dk1">
                    <a:alpha val="40000"/>
                  </a:schemeClr>
                </a:outerShdw>
              </a:effectLst>
              <a:latin typeface="Times New Roman" pitchFamily="18" charset="0"/>
              <a:cs typeface="Times New Roman" pitchFamily="18"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6" name="Rectangle 5"/>
          <p:cNvSpPr/>
          <p:nvPr/>
        </p:nvSpPr>
        <p:spPr>
          <a:xfrm>
            <a:off x="1716258" y="1139484"/>
            <a:ext cx="7427742" cy="2677656"/>
          </a:xfrm>
          <a:prstGeom prst="rect">
            <a:avLst/>
          </a:prstGeom>
        </p:spPr>
        <p:txBody>
          <a:bodyPr wrap="square">
            <a:spAutoFit/>
          </a:bodyPr>
          <a:lstStyle/>
          <a:p>
            <a:pPr>
              <a:buFont typeface="Arial" pitchFamily="34" charset="0"/>
              <a:buChar char="•"/>
            </a:pPr>
            <a:r>
              <a:rPr lang="en-US" sz="2400" dirty="0">
                <a:latin typeface="Times New Roman" pitchFamily="18" charset="0"/>
                <a:cs typeface="Times New Roman" pitchFamily="18" charset="0"/>
              </a:rPr>
              <a:t>It allocates the memory dynamically. </a:t>
            </a:r>
          </a:p>
          <a:p>
            <a:pPr>
              <a:buFont typeface="Arial" pitchFamily="34" charset="0"/>
              <a:buNone/>
            </a:pPr>
            <a:endParaRPr lang="en-US" sz="2400" dirty="0">
              <a:latin typeface="Times New Roman" pitchFamily="18" charset="0"/>
              <a:cs typeface="Times New Roman" pitchFamily="18" charset="0"/>
            </a:endParaRPr>
          </a:p>
          <a:p>
            <a:pPr>
              <a:buFont typeface="Arial" pitchFamily="34" charset="0"/>
              <a:buChar char="•"/>
            </a:pPr>
            <a:r>
              <a:rPr lang="en-US" sz="2400" dirty="0">
                <a:latin typeface="Times New Roman" pitchFamily="18" charset="0"/>
                <a:cs typeface="Times New Roman" pitchFamily="18" charset="0"/>
              </a:rPr>
              <a:t>All the nodes of linked list are non-contiguously stored in the memory and linked together with the help of pointers.</a:t>
            </a:r>
          </a:p>
          <a:p>
            <a:pPr>
              <a:buFont typeface="Arial" pitchFamily="34" charset="0"/>
              <a:buNone/>
            </a:pPr>
            <a:endParaRPr lang="en-US" sz="2400" dirty="0">
              <a:latin typeface="Times New Roman" pitchFamily="18" charset="0"/>
              <a:cs typeface="Times New Roman" pitchFamily="18" charset="0"/>
            </a:endParaRPr>
          </a:p>
          <a:p>
            <a:pPr>
              <a:buFont typeface="Arial" pitchFamily="34" charset="0"/>
              <a:buChar char="•"/>
            </a:pPr>
            <a:r>
              <a:rPr lang="en-US" sz="2400" dirty="0">
                <a:latin typeface="Times New Roman" pitchFamily="18" charset="0"/>
                <a:cs typeface="Times New Roman" pitchFamily="18" charset="0"/>
              </a:rPr>
              <a:t>Sizing is no longer a problem since we do not need to define its size at the time of declaration.</a:t>
            </a:r>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b="1" dirty="0">
                <a:solidFill>
                  <a:schemeClr val="bg1"/>
                </a:solidFill>
                <a:latin typeface="Times New Roman" pitchFamily="18" charset="0"/>
                <a:cs typeface="Times New Roman" pitchFamily="18" charset="0"/>
              </a:rPr>
              <a:t>Single Linked List</a:t>
            </a:r>
            <a:r>
              <a:rPr lang="en-US" sz="2400" dirty="0">
                <a:solidFill>
                  <a:schemeClr val="bg1"/>
                </a:solidFill>
              </a:rPr>
              <a:t>        </a:t>
            </a:r>
            <a:endParaRPr lang="en-US" sz="24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4"/>
          <p:cNvSpPr/>
          <p:nvPr/>
        </p:nvSpPr>
        <p:spPr>
          <a:xfrm>
            <a:off x="1167618" y="942534"/>
            <a:ext cx="9973994" cy="3841052"/>
          </a:xfrm>
          <a:prstGeom prst="rect">
            <a:avLst/>
          </a:prstGeom>
        </p:spPr>
        <p:txBody>
          <a:bodyPr wrap="square">
            <a:spAutoFit/>
          </a:bodyPr>
          <a:lstStyle/>
          <a:p>
            <a:pPr>
              <a:buFont typeface="Arial" pitchFamily="34" charset="0"/>
              <a:buChar char="•"/>
              <a:defRPr/>
            </a:pPr>
            <a:r>
              <a:rPr lang="en-US" sz="2400" dirty="0">
                <a:latin typeface="Times New Roman" pitchFamily="18" charset="0"/>
                <a:cs typeface="Times New Roman" pitchFamily="18" charset="0"/>
              </a:rPr>
              <a:t>A  single linked list is a ordered set  of elements in which every element has a link to its next element in sequence. singly linked list can be traversed only in one direction.</a:t>
            </a:r>
          </a:p>
          <a:p>
            <a:pPr>
              <a:buFont typeface="Arial" pitchFamily="34" charset="0"/>
              <a:buChar char="•"/>
              <a:defRPr/>
            </a:pPr>
            <a:endParaRPr lang="en-US" sz="2400" dirty="0">
              <a:latin typeface="Times New Roman" pitchFamily="18" charset="0"/>
              <a:cs typeface="Times New Roman" pitchFamily="18" charset="0"/>
            </a:endParaRPr>
          </a:p>
          <a:p>
            <a:pPr>
              <a:buFont typeface="Arial" pitchFamily="34" charset="0"/>
              <a:buChar char="•"/>
              <a:defRPr/>
            </a:pPr>
            <a:r>
              <a:rPr lang="en-US" sz="2400" dirty="0">
                <a:latin typeface="Times New Roman" pitchFamily="18" charset="0"/>
                <a:cs typeface="Times New Roman" pitchFamily="18" charset="0"/>
              </a:rPr>
              <a:t>Each element in a linked list is called a </a:t>
            </a:r>
            <a:r>
              <a:rPr lang="en-US" sz="2400" b="1" dirty="0">
                <a:latin typeface="Times New Roman" pitchFamily="18" charset="0"/>
                <a:cs typeface="Times New Roman" pitchFamily="18" charset="0"/>
              </a:rPr>
              <a:t>node</a:t>
            </a:r>
            <a:r>
              <a:rPr lang="en-US" sz="2400" dirty="0">
                <a:latin typeface="Times New Roman" pitchFamily="18" charset="0"/>
                <a:cs typeface="Times New Roman" pitchFamily="18" charset="0"/>
              </a:rPr>
              <a:t>. A single node contains </a:t>
            </a:r>
            <a:r>
              <a:rPr lang="en-US" sz="2400" i="1" dirty="0">
                <a:latin typeface="Times New Roman" pitchFamily="18" charset="0"/>
                <a:cs typeface="Times New Roman" pitchFamily="18" charset="0"/>
              </a:rPr>
              <a:t>data</a:t>
            </a:r>
            <a:r>
              <a:rPr lang="en-US" sz="2400" dirty="0">
                <a:latin typeface="Times New Roman" pitchFamily="18" charset="0"/>
                <a:cs typeface="Times New Roman" pitchFamily="18" charset="0"/>
              </a:rPr>
              <a:t> and a pointer to the </a:t>
            </a:r>
            <a:r>
              <a:rPr lang="en-US" sz="2400" i="1" dirty="0">
                <a:latin typeface="Times New Roman" pitchFamily="18" charset="0"/>
                <a:cs typeface="Times New Roman" pitchFamily="18" charset="0"/>
              </a:rPr>
              <a:t>next</a:t>
            </a:r>
            <a:r>
              <a:rPr lang="en-US" sz="2400" dirty="0">
                <a:latin typeface="Times New Roman" pitchFamily="18" charset="0"/>
                <a:cs typeface="Times New Roman" pitchFamily="18" charset="0"/>
              </a:rPr>
              <a:t> node which helps in maintaining the structure of the list.</a:t>
            </a:r>
          </a:p>
          <a:p>
            <a:pPr>
              <a:defRPr/>
            </a:pPr>
            <a:r>
              <a:rPr lang="en-US" sz="2400" dirty="0">
                <a:latin typeface="Times New Roman" pitchFamily="18" charset="0"/>
                <a:cs typeface="Times New Roman" pitchFamily="18" charset="0"/>
              </a:rPr>
              <a:t> </a:t>
            </a:r>
          </a:p>
          <a:p>
            <a:pPr>
              <a:buFont typeface="Arial" pitchFamily="34" charset="0"/>
              <a:buChar char="•"/>
              <a:defRPr/>
            </a:pPr>
            <a:endParaRPr lang="en-AU" dirty="0">
              <a:cs typeface="Times New Roman" pitchFamily="18" charset="0"/>
            </a:endParaRPr>
          </a:p>
          <a:p>
            <a:pPr>
              <a:defRPr/>
            </a:pPr>
            <a:endParaRPr lang="en-AU" dirty="0">
              <a:cs typeface="Times New Roman" pitchFamily="18" charset="0"/>
            </a:endParaRPr>
          </a:p>
          <a:p>
            <a:pPr>
              <a:defRPr/>
            </a:pPr>
            <a:endParaRPr lang="en-AU" dirty="0">
              <a:cs typeface="Times New Roman" pitchFamily="18" charset="0"/>
            </a:endParaRPr>
          </a:p>
          <a:p>
            <a:pPr marL="304295" indent="-304295" algn="ctr">
              <a:spcBef>
                <a:spcPct val="20000"/>
              </a:spcBef>
              <a:defRPr/>
            </a:pPr>
            <a:endParaRPr lang="en-US" b="1" dirty="0">
              <a:solidFill>
                <a:srgbClr val="C00000"/>
              </a:solidFill>
              <a:latin typeface="Segoe UI Light" pitchFamily="34" charset="0"/>
            </a:endParaRPr>
          </a:p>
        </p:txBody>
      </p:sp>
      <p:pic>
        <p:nvPicPr>
          <p:cNvPr id="7" name="Picture 4" descr="C:\Users\dell\Desktop\sll.png"/>
          <p:cNvPicPr>
            <a:picLocks noChangeAspect="1" noChangeArrowheads="1"/>
          </p:cNvPicPr>
          <p:nvPr/>
        </p:nvPicPr>
        <p:blipFill>
          <a:blip r:embed="rId3"/>
          <a:srcRect/>
          <a:stretch>
            <a:fillRect/>
          </a:stretch>
        </p:blipFill>
        <p:spPr bwMode="auto">
          <a:xfrm>
            <a:off x="1266092" y="3784208"/>
            <a:ext cx="9101797" cy="2152358"/>
          </a:xfrm>
          <a:prstGeom prst="rect">
            <a:avLst/>
          </a:prstGeom>
          <a:noFill/>
          <a:ln w="9525">
            <a:noFill/>
            <a:miter lim="800000"/>
            <a:headEnd/>
            <a:tailEnd/>
          </a:ln>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Structure of node in SLL(Cont..)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Rectangle 3"/>
          <p:cNvSpPr/>
          <p:nvPr/>
        </p:nvSpPr>
        <p:spPr>
          <a:xfrm>
            <a:off x="2574387" y="1252026"/>
            <a:ext cx="7441809" cy="3046988"/>
          </a:xfrm>
          <a:prstGeom prst="rect">
            <a:avLst/>
          </a:prstGeom>
        </p:spPr>
        <p:txBody>
          <a:bodyPr wrap="square">
            <a:spAutoFit/>
          </a:bodyPr>
          <a:lstStyle/>
          <a:p>
            <a:pPr>
              <a:buFont typeface="Arial" pitchFamily="34" charset="0"/>
              <a:buNone/>
            </a:pPr>
            <a:endParaRPr lang="en-US" sz="2400" dirty="0">
              <a:latin typeface="Times New Roman" pitchFamily="18" charset="0"/>
              <a:cs typeface="Times New Roman" pitchFamily="18" charset="0"/>
            </a:endParaRPr>
          </a:p>
          <a:p>
            <a:pPr>
              <a:buFont typeface="Arial" pitchFamily="34" charse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Struct</a:t>
            </a:r>
            <a:r>
              <a:rPr lang="en-US" sz="2400" dirty="0">
                <a:latin typeface="Times New Roman" pitchFamily="18" charset="0"/>
                <a:cs typeface="Times New Roman" pitchFamily="18" charset="0"/>
              </a:rPr>
              <a:t> linked list</a:t>
            </a:r>
          </a:p>
          <a:p>
            <a:pPr>
              <a:buFont typeface="Arial" pitchFamily="34" charset="0"/>
              <a:buNone/>
            </a:pPr>
            <a:r>
              <a:rPr lang="en-US" sz="2400" dirty="0">
                <a:latin typeface="Times New Roman" pitchFamily="18" charset="0"/>
                <a:cs typeface="Times New Roman" pitchFamily="18" charset="0"/>
              </a:rPr>
              <a:t>    {</a:t>
            </a:r>
          </a:p>
          <a:p>
            <a:pPr>
              <a:buFont typeface="Arial" pitchFamily="34" charse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data;</a:t>
            </a:r>
          </a:p>
          <a:p>
            <a:pPr>
              <a:buFont typeface="Arial" pitchFamily="34" charse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struct</a:t>
            </a:r>
            <a:r>
              <a:rPr lang="en-US" sz="2400" dirty="0">
                <a:latin typeface="Times New Roman" pitchFamily="18" charset="0"/>
                <a:cs typeface="Times New Roman" pitchFamily="18" charset="0"/>
              </a:rPr>
              <a:t> linked list * next;</a:t>
            </a:r>
          </a:p>
          <a:p>
            <a:pPr>
              <a:buFont typeface="Arial" pitchFamily="34" charset="0"/>
              <a:buNone/>
            </a:pPr>
            <a:r>
              <a:rPr lang="en-US" sz="2400" dirty="0">
                <a:latin typeface="Times New Roman" pitchFamily="18" charset="0"/>
                <a:cs typeface="Times New Roman" pitchFamily="18" charset="0"/>
              </a:rPr>
              <a:t>      };</a:t>
            </a:r>
          </a:p>
          <a:p>
            <a:pPr>
              <a:buFont typeface="Arial" pitchFamily="34" charset="0"/>
              <a:buNone/>
            </a:pPr>
            <a:r>
              <a:rPr lang="en-US" sz="2400" dirty="0">
                <a:latin typeface="Times New Roman" pitchFamily="18" charset="0"/>
                <a:cs typeface="Times New Roman" pitchFamily="18" charset="0"/>
              </a:rPr>
              <a:t> </a:t>
            </a: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Operations On Linked List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Rectangle 3"/>
          <p:cNvSpPr/>
          <p:nvPr/>
        </p:nvSpPr>
        <p:spPr>
          <a:xfrm>
            <a:off x="2574387" y="1252026"/>
            <a:ext cx="7441809" cy="461665"/>
          </a:xfrm>
          <a:prstGeom prst="rect">
            <a:avLst/>
          </a:prstGeom>
        </p:spPr>
        <p:txBody>
          <a:bodyPr wrap="square">
            <a:spAutoFit/>
          </a:bodyPr>
          <a:lstStyle/>
          <a:p>
            <a:r>
              <a:rPr lang="en-US" sz="2400" dirty="0">
                <a:latin typeface="Times New Roman" pitchFamily="18" charset="0"/>
                <a:cs typeface="Times New Roman" pitchFamily="18" charset="0"/>
              </a:rPr>
              <a:t> </a:t>
            </a:r>
          </a:p>
        </p:txBody>
      </p:sp>
      <p:sp>
        <p:nvSpPr>
          <p:cNvPr id="5" name="Rectangle 4"/>
          <p:cNvSpPr/>
          <p:nvPr/>
        </p:nvSpPr>
        <p:spPr>
          <a:xfrm>
            <a:off x="1589649" y="984738"/>
            <a:ext cx="7554351" cy="5262979"/>
          </a:xfrm>
          <a:prstGeom prst="rect">
            <a:avLst/>
          </a:prstGeom>
        </p:spPr>
        <p:txBody>
          <a:bodyPr wrap="square">
            <a:spAutoFit/>
          </a:bodyPr>
          <a:lstStyle/>
          <a:p>
            <a:pPr>
              <a:buFont typeface="Arial" pitchFamily="34" charset="0"/>
              <a:buChar char="•"/>
            </a:pPr>
            <a:r>
              <a:rPr lang="en-US" sz="2400" dirty="0" err="1">
                <a:latin typeface="Times New Roman" pitchFamily="18" charset="0"/>
                <a:cs typeface="Times New Roman" pitchFamily="18" charset="0"/>
              </a:rPr>
              <a:t>Creation:This</a:t>
            </a:r>
            <a:r>
              <a:rPr lang="en-US" sz="2400" dirty="0">
                <a:latin typeface="Times New Roman" pitchFamily="18" charset="0"/>
                <a:cs typeface="Times New Roman" pitchFamily="18" charset="0"/>
              </a:rPr>
              <a:t> operation is used to create a linked list</a:t>
            </a:r>
          </a:p>
          <a:p>
            <a:endParaRPr lang="en-US" sz="2400" dirty="0">
              <a:latin typeface="Times New Roman" pitchFamily="18" charset="0"/>
              <a:cs typeface="Times New Roman" pitchFamily="18" charset="0"/>
            </a:endParaRPr>
          </a:p>
          <a:p>
            <a:pPr>
              <a:buFont typeface="Arial" pitchFamily="34" charset="0"/>
              <a:buChar char="•"/>
            </a:pPr>
            <a:r>
              <a:rPr lang="en-US" sz="2400" dirty="0" err="1">
                <a:latin typeface="Times New Roman" pitchFamily="18" charset="0"/>
                <a:cs typeface="Times New Roman" pitchFamily="18" charset="0"/>
              </a:rPr>
              <a:t>Insertion:This</a:t>
            </a:r>
            <a:r>
              <a:rPr lang="en-US" sz="2400" dirty="0">
                <a:latin typeface="Times New Roman" pitchFamily="18" charset="0"/>
                <a:cs typeface="Times New Roman" pitchFamily="18" charset="0"/>
              </a:rPr>
              <a:t> operation is used to insert </a:t>
            </a:r>
            <a:r>
              <a:rPr lang="en-US" sz="2400" dirty="0" err="1">
                <a:latin typeface="Times New Roman" pitchFamily="18" charset="0"/>
                <a:cs typeface="Times New Roman" pitchFamily="18" charset="0"/>
              </a:rPr>
              <a:t>newnode</a:t>
            </a:r>
            <a:r>
              <a:rPr lang="en-US" sz="2400" dirty="0">
                <a:latin typeface="Times New Roman" pitchFamily="18" charset="0"/>
                <a:cs typeface="Times New Roman" pitchFamily="18" charset="0"/>
              </a:rPr>
              <a:t> in linked list</a:t>
            </a:r>
          </a:p>
          <a:p>
            <a:endParaRPr lang="en-US" sz="2400" dirty="0">
              <a:latin typeface="Times New Roman" pitchFamily="18" charset="0"/>
              <a:cs typeface="Times New Roman" pitchFamily="18" charset="0"/>
            </a:endParaRPr>
          </a:p>
          <a:p>
            <a:pPr>
              <a:buFont typeface="Arial" pitchFamily="34" charset="0"/>
              <a:buChar char="•"/>
            </a:pPr>
            <a:r>
              <a:rPr lang="en-US" sz="2400" dirty="0" err="1">
                <a:latin typeface="Times New Roman" pitchFamily="18" charset="0"/>
                <a:cs typeface="Times New Roman" pitchFamily="18" charset="0"/>
              </a:rPr>
              <a:t>Deletion:This</a:t>
            </a:r>
            <a:r>
              <a:rPr lang="en-US" sz="2400" dirty="0">
                <a:latin typeface="Times New Roman" pitchFamily="18" charset="0"/>
                <a:cs typeface="Times New Roman" pitchFamily="18" charset="0"/>
              </a:rPr>
              <a:t> operation is used to delete the nodes from linked list.</a:t>
            </a:r>
          </a:p>
          <a:p>
            <a:endParaRPr lang="en-US" sz="2400" dirty="0">
              <a:latin typeface="Times New Roman" pitchFamily="18" charset="0"/>
              <a:cs typeface="Times New Roman" pitchFamily="18" charset="0"/>
            </a:endParaRPr>
          </a:p>
          <a:p>
            <a:pPr>
              <a:buFont typeface="Arial" pitchFamily="34" charset="0"/>
              <a:buChar char="•"/>
            </a:pPr>
            <a:r>
              <a:rPr lang="en-US" sz="2400" dirty="0" err="1">
                <a:latin typeface="Times New Roman" pitchFamily="18" charset="0"/>
                <a:cs typeface="Times New Roman" pitchFamily="18" charset="0"/>
              </a:rPr>
              <a:t>Display:This</a:t>
            </a:r>
            <a:r>
              <a:rPr lang="en-US" sz="2400" dirty="0">
                <a:latin typeface="Times New Roman" pitchFamily="18" charset="0"/>
                <a:cs typeface="Times New Roman" pitchFamily="18" charset="0"/>
              </a:rPr>
              <a:t> operation is used to traverse the list and print the elements in the linked list. </a:t>
            </a:r>
          </a:p>
          <a:p>
            <a:endParaRPr lang="en-US" sz="2400" dirty="0">
              <a:latin typeface="Times New Roman" pitchFamily="18" charset="0"/>
              <a:cs typeface="Times New Roman" pitchFamily="18" charset="0"/>
            </a:endParaRPr>
          </a:p>
          <a:p>
            <a:pPr>
              <a:buFont typeface="Arial" pitchFamily="34" charset="0"/>
              <a:buChar char="•"/>
            </a:pPr>
            <a:r>
              <a:rPr lang="en-US" sz="2400" dirty="0" err="1">
                <a:latin typeface="Times New Roman" pitchFamily="18" charset="0"/>
                <a:cs typeface="Times New Roman" pitchFamily="18" charset="0"/>
              </a:rPr>
              <a:t>Search:This</a:t>
            </a:r>
            <a:r>
              <a:rPr lang="en-US" sz="2400" dirty="0">
                <a:latin typeface="Times New Roman" pitchFamily="18" charset="0"/>
                <a:cs typeface="Times New Roman" pitchFamily="18" charset="0"/>
              </a:rPr>
              <a:t> operation is used to find a specific node in the linked list.</a:t>
            </a: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itchFamily="18" charset="0"/>
                <a:cs typeface="Times New Roman" pitchFamily="18" charset="0"/>
              </a:rPr>
              <a:t>Creation</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Rectangle 6"/>
          <p:cNvSpPr/>
          <p:nvPr/>
        </p:nvSpPr>
        <p:spPr>
          <a:xfrm>
            <a:off x="2082018" y="717452"/>
            <a:ext cx="8285871" cy="3416320"/>
          </a:xfrm>
          <a:prstGeom prst="rect">
            <a:avLst/>
          </a:prstGeom>
        </p:spPr>
        <p:txBody>
          <a:bodyPr wrap="square">
            <a:spAutoFit/>
          </a:bodyPr>
          <a:lstStyle/>
          <a:p>
            <a:r>
              <a:rPr lang="en-US" sz="2400" b="1" dirty="0">
                <a:latin typeface="Times New Roman" pitchFamily="18" charset="0"/>
                <a:cs typeface="Times New Roman" pitchFamily="18" charset="0"/>
              </a:rPr>
              <a:t> </a:t>
            </a:r>
          </a:p>
          <a:p>
            <a:r>
              <a:rPr lang="en-US" sz="2400" b="1" dirty="0">
                <a:latin typeface="Times New Roman" pitchFamily="18" charset="0"/>
                <a:cs typeface="Times New Roman" pitchFamily="18" charset="0"/>
              </a:rPr>
              <a:t>Functions we use to create a  node in linked list</a:t>
            </a:r>
          </a:p>
          <a:p>
            <a:endParaRPr lang="en-US" sz="2400" b="1" dirty="0">
              <a:latin typeface="Times New Roman" pitchFamily="18" charset="0"/>
              <a:cs typeface="Times New Roman" pitchFamily="18" charset="0"/>
            </a:endParaRPr>
          </a:p>
          <a:p>
            <a:pPr>
              <a:buFont typeface="Arial" pitchFamily="34" charset="0"/>
              <a:buChar char="•"/>
            </a:pPr>
            <a:r>
              <a:rPr lang="en-US" sz="2400" b="1" dirty="0" err="1">
                <a:latin typeface="Times New Roman" pitchFamily="18" charset="0"/>
                <a:cs typeface="Times New Roman" pitchFamily="18" charset="0"/>
              </a:rPr>
              <a:t>malloc</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is used to dynamically allocate a single block of memory in C.</a:t>
            </a:r>
          </a:p>
          <a:p>
            <a:pPr>
              <a:buFont typeface="Arial" pitchFamily="34" charset="0"/>
              <a:buNone/>
            </a:pPr>
            <a:endParaRPr lang="en-US" sz="2400" dirty="0">
              <a:latin typeface="Times New Roman" pitchFamily="18" charset="0"/>
              <a:cs typeface="Times New Roman" pitchFamily="18" charset="0"/>
            </a:endParaRPr>
          </a:p>
          <a:p>
            <a:pPr>
              <a:buFont typeface="Arial" pitchFamily="34" charset="0"/>
              <a:buChar char="•"/>
            </a:pPr>
            <a:r>
              <a:rPr lang="en-US" sz="2400" b="1" dirty="0" err="1">
                <a:latin typeface="Times New Roman" pitchFamily="18" charset="0"/>
                <a:cs typeface="Times New Roman" pitchFamily="18" charset="0"/>
              </a:rPr>
              <a:t>sizeof</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is used to determine size in bytes of an element in C. Here it is used to determine size of each node and sent as a parameter to </a:t>
            </a:r>
            <a:r>
              <a:rPr lang="en-US" sz="2400" dirty="0" err="1">
                <a:latin typeface="Times New Roman" pitchFamily="18" charset="0"/>
                <a:cs typeface="Times New Roman" pitchFamily="18" charset="0"/>
              </a:rPr>
              <a:t>malloc</a:t>
            </a: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Algorithm for  Creating a Linked List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ectangle 4"/>
          <p:cNvSpPr/>
          <p:nvPr/>
        </p:nvSpPr>
        <p:spPr>
          <a:xfrm>
            <a:off x="1589649" y="984738"/>
            <a:ext cx="7554351" cy="461665"/>
          </a:xfrm>
          <a:prstGeom prst="rect">
            <a:avLst/>
          </a:prstGeom>
        </p:spPr>
        <p:txBody>
          <a:bodyPr wrap="square">
            <a:spAutoFit/>
          </a:bodyPr>
          <a:lstStyle/>
          <a:p>
            <a:endParaRPr lang="en-US" sz="2400" dirty="0">
              <a:latin typeface="Times New Roman" pitchFamily="18" charset="0"/>
              <a:cs typeface="Times New Roman" pitchFamily="18" charset="0"/>
            </a:endParaRPr>
          </a:p>
        </p:txBody>
      </p:sp>
      <p:sp>
        <p:nvSpPr>
          <p:cNvPr id="7" name="Rectangle 6"/>
          <p:cNvSpPr/>
          <p:nvPr/>
        </p:nvSpPr>
        <p:spPr>
          <a:xfrm>
            <a:off x="3235569" y="1448973"/>
            <a:ext cx="7132320" cy="369332"/>
          </a:xfrm>
          <a:prstGeom prst="rect">
            <a:avLst/>
          </a:prstGeom>
        </p:spPr>
        <p:txBody>
          <a:bodyPr wrap="square">
            <a:spAutoFit/>
          </a:bodyPr>
          <a:lstStyle/>
          <a:p>
            <a:r>
              <a:rPr lang="en-US" dirty="0">
                <a:latin typeface="Times New Roman" pitchFamily="18" charset="0"/>
                <a:cs typeface="Times New Roman" pitchFamily="18" charset="0"/>
              </a:rPr>
              <a:t>.</a:t>
            </a:r>
          </a:p>
        </p:txBody>
      </p:sp>
      <p:sp>
        <p:nvSpPr>
          <p:cNvPr id="8" name="Rectangle 7"/>
          <p:cNvSpPr/>
          <p:nvPr/>
        </p:nvSpPr>
        <p:spPr>
          <a:xfrm>
            <a:off x="1153551" y="717452"/>
            <a:ext cx="9425354" cy="2554545"/>
          </a:xfrm>
          <a:prstGeom prst="rect">
            <a:avLst/>
          </a:prstGeom>
        </p:spPr>
        <p:txBody>
          <a:bodyPr wrap="square">
            <a:spAutoFit/>
          </a:bodyPr>
          <a:lstStyle/>
          <a:p>
            <a:pPr>
              <a:buFont typeface="Arial" pitchFamily="34" charset="0"/>
              <a:buNone/>
            </a:pPr>
            <a:r>
              <a:rPr lang="en-US" sz="2000" dirty="0">
                <a:latin typeface="Times New Roman" pitchFamily="18" charset="0"/>
                <a:cs typeface="Times New Roman" pitchFamily="18" charset="0"/>
              </a:rPr>
              <a:t>Step1:Declare a pointer  *head.</a:t>
            </a:r>
          </a:p>
          <a:p>
            <a:pPr>
              <a:buFont typeface="Arial" pitchFamily="34" charset="0"/>
              <a:buNone/>
            </a:pPr>
            <a:r>
              <a:rPr lang="en-US" sz="2000" dirty="0">
                <a:latin typeface="Times New Roman" pitchFamily="18" charset="0"/>
                <a:cs typeface="Times New Roman" pitchFamily="18" charset="0"/>
              </a:rPr>
              <a:t>Step2:Declare two node pointers say  *</a:t>
            </a:r>
            <a:r>
              <a:rPr lang="en-US" sz="2000" dirty="0" err="1">
                <a:latin typeface="Times New Roman" pitchFamily="18" charset="0"/>
                <a:cs typeface="Times New Roman" pitchFamily="18" charset="0"/>
              </a:rPr>
              <a:t>newnode</a:t>
            </a:r>
            <a:r>
              <a:rPr lang="en-US" sz="2000" dirty="0">
                <a:latin typeface="Times New Roman" pitchFamily="18" charset="0"/>
                <a:cs typeface="Times New Roman" pitchFamily="18" charset="0"/>
              </a:rPr>
              <a:t>, *temp;</a:t>
            </a:r>
          </a:p>
          <a:p>
            <a:pPr>
              <a:buFont typeface="Arial" pitchFamily="34" charset="0"/>
              <a:buNone/>
            </a:pPr>
            <a:r>
              <a:rPr lang="en-US" sz="2000" dirty="0">
                <a:latin typeface="Times New Roman" pitchFamily="18" charset="0"/>
                <a:cs typeface="Times New Roman" pitchFamily="18" charset="0"/>
              </a:rPr>
              <a:t> step3: create first    node      head = (</a:t>
            </a:r>
            <a:r>
              <a:rPr lang="en-US" sz="2000" dirty="0" err="1">
                <a:latin typeface="Times New Roman" pitchFamily="18" charset="0"/>
                <a:cs typeface="Times New Roman" pitchFamily="18" charset="0"/>
              </a:rPr>
              <a:t>struct</a:t>
            </a:r>
            <a:r>
              <a:rPr lang="en-US" sz="2000" dirty="0">
                <a:latin typeface="Times New Roman" pitchFamily="18" charset="0"/>
                <a:cs typeface="Times New Roman" pitchFamily="18" charset="0"/>
              </a:rPr>
              <a:t> node*)</a:t>
            </a:r>
            <a:r>
              <a:rPr lang="en-US" sz="2000" dirty="0" err="1">
                <a:latin typeface="Times New Roman" pitchFamily="18" charset="0"/>
                <a:cs typeface="Times New Roman" pitchFamily="18" charset="0"/>
              </a:rPr>
              <a:t>malloc</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sizeof</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struct</a:t>
            </a:r>
            <a:r>
              <a:rPr lang="en-US" sz="2000" dirty="0">
                <a:latin typeface="Times New Roman" pitchFamily="18" charset="0"/>
                <a:cs typeface="Times New Roman" pitchFamily="18" charset="0"/>
              </a:rPr>
              <a:t> node));</a:t>
            </a:r>
          </a:p>
          <a:p>
            <a:pPr>
              <a:buFont typeface="Arial" pitchFamily="34" charset="0"/>
              <a:buNone/>
            </a:pPr>
            <a:r>
              <a:rPr lang="en-US" sz="2000" dirty="0">
                <a:latin typeface="Times New Roman" pitchFamily="18" charset="0"/>
                <a:cs typeface="Times New Roman" pitchFamily="18" charset="0"/>
              </a:rPr>
              <a:t>Step4:Input data and assign to head using </a:t>
            </a:r>
          </a:p>
          <a:p>
            <a:pPr>
              <a:buFont typeface="Arial" pitchFamily="34" charset="0"/>
              <a:buNone/>
            </a:pPr>
            <a:r>
              <a:rPr lang="en-US" sz="2000" dirty="0">
                <a:latin typeface="Times New Roman" pitchFamily="18" charset="0"/>
                <a:cs typeface="Times New Roman" pitchFamily="18" charset="0"/>
              </a:rPr>
              <a:t>          head-&gt;data = data;</a:t>
            </a:r>
          </a:p>
          <a:p>
            <a:pPr>
              <a:buFont typeface="Arial" pitchFamily="34" charset="0"/>
              <a:buNone/>
            </a:pPr>
            <a:r>
              <a:rPr lang="en-US" sz="2000" dirty="0">
                <a:latin typeface="Times New Roman" pitchFamily="18" charset="0"/>
                <a:cs typeface="Times New Roman" pitchFamily="18" charset="0"/>
              </a:rPr>
              <a:t>Step5:At first head node points to NULL.  </a:t>
            </a:r>
          </a:p>
          <a:p>
            <a:pPr>
              <a:buFont typeface="Arial" pitchFamily="34" charset="0"/>
              <a:buNone/>
            </a:pPr>
            <a:r>
              <a:rPr lang="en-US" sz="2000" dirty="0">
                <a:latin typeface="Times New Roman" pitchFamily="18" charset="0"/>
                <a:cs typeface="Times New Roman" pitchFamily="18" charset="0"/>
              </a:rPr>
              <a:t>           head-&gt;next = NULL;</a:t>
            </a:r>
          </a:p>
          <a:p>
            <a:pPr>
              <a:buFont typeface="Arial" pitchFamily="34" charset="0"/>
              <a:buNone/>
            </a:pPr>
            <a:r>
              <a:rPr lang="en-US" sz="2000" dirty="0">
                <a:latin typeface="Times New Roman" pitchFamily="18" charset="0"/>
                <a:cs typeface="Times New Roman" pitchFamily="18" charset="0"/>
              </a:rPr>
              <a:t>           temp = head.</a:t>
            </a:r>
          </a:p>
        </p:txBody>
      </p:sp>
      <p:sp>
        <p:nvSpPr>
          <p:cNvPr id="9" name="Rectangle 8"/>
          <p:cNvSpPr/>
          <p:nvPr/>
        </p:nvSpPr>
        <p:spPr>
          <a:xfrm>
            <a:off x="1139482" y="3179298"/>
            <a:ext cx="9214339" cy="2554545"/>
          </a:xfrm>
          <a:prstGeom prst="rect">
            <a:avLst/>
          </a:prstGeom>
        </p:spPr>
        <p:txBody>
          <a:bodyPr wrap="square">
            <a:spAutoFit/>
          </a:bodyPr>
          <a:lstStyle/>
          <a:p>
            <a:r>
              <a:rPr lang="en-US" sz="2000" dirty="0">
                <a:latin typeface="Times New Roman" pitchFamily="18" charset="0"/>
                <a:cs typeface="Times New Roman" pitchFamily="18" charset="0"/>
              </a:rPr>
              <a:t>step6: Allocate memory for   </a:t>
            </a:r>
            <a:r>
              <a:rPr lang="en-US" sz="2000" dirty="0" err="1">
                <a:latin typeface="Times New Roman" pitchFamily="18" charset="0"/>
                <a:cs typeface="Times New Roman" pitchFamily="18" charset="0"/>
              </a:rPr>
              <a:t>newnode</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newNode</a:t>
            </a:r>
            <a:r>
              <a:rPr lang="en-US" sz="2000" dirty="0">
                <a:latin typeface="Times New Roman" pitchFamily="18" charset="0"/>
                <a:cs typeface="Times New Roman" pitchFamily="18" charset="0"/>
              </a:rPr>
              <a:t> = (</a:t>
            </a:r>
            <a:r>
              <a:rPr lang="en-US" sz="2000" dirty="0" err="1">
                <a:latin typeface="Times New Roman" pitchFamily="18" charset="0"/>
                <a:cs typeface="Times New Roman" pitchFamily="18" charset="0"/>
              </a:rPr>
              <a:t>struct</a:t>
            </a:r>
            <a:r>
              <a:rPr lang="en-US" sz="2000" dirty="0">
                <a:latin typeface="Times New Roman" pitchFamily="18" charset="0"/>
                <a:cs typeface="Times New Roman" pitchFamily="18" charset="0"/>
              </a:rPr>
              <a:t> node*)</a:t>
            </a:r>
            <a:r>
              <a:rPr lang="en-US" sz="2000" dirty="0" err="1">
                <a:latin typeface="Times New Roman" pitchFamily="18" charset="0"/>
                <a:cs typeface="Times New Roman" pitchFamily="18" charset="0"/>
              </a:rPr>
              <a:t>malloc</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sizeof</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structnode</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 step7: Read data  for new node.               </a:t>
            </a:r>
          </a:p>
          <a:p>
            <a:pPr>
              <a:buFont typeface="Arial" pitchFamily="34" charset="0"/>
              <a:buNone/>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newNode</a:t>
            </a:r>
            <a:r>
              <a:rPr lang="en-US" sz="2000" dirty="0">
                <a:latin typeface="Times New Roman" pitchFamily="18" charset="0"/>
                <a:cs typeface="Times New Roman" pitchFamily="18" charset="0"/>
              </a:rPr>
              <a:t>-&gt;data = data;</a:t>
            </a:r>
          </a:p>
          <a:p>
            <a:r>
              <a:rPr lang="en-US" sz="2000" dirty="0">
                <a:latin typeface="Times New Roman" pitchFamily="18" charset="0"/>
                <a:cs typeface="Times New Roman" pitchFamily="18" charset="0"/>
              </a:rPr>
              <a:t>Step8: Now link previous node with newly created node      temp-&gt;next = </a:t>
            </a:r>
            <a:r>
              <a:rPr lang="en-US" sz="2000" dirty="0" err="1">
                <a:latin typeface="Times New Roman" pitchFamily="18" charset="0"/>
                <a:cs typeface="Times New Roman" pitchFamily="18" charset="0"/>
              </a:rPr>
              <a:t>newNode</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Step9:  Make current node as previous node using</a:t>
            </a:r>
          </a:p>
          <a:p>
            <a:pPr>
              <a:buFont typeface="Arial" pitchFamily="34" charset="0"/>
              <a:buNone/>
            </a:pPr>
            <a:r>
              <a:rPr lang="en-US" sz="2000" dirty="0">
                <a:latin typeface="Times New Roman" pitchFamily="18" charset="0"/>
                <a:cs typeface="Times New Roman" pitchFamily="18" charset="0"/>
              </a:rPr>
              <a:t>            temp = temp-&gt;next;</a:t>
            </a:r>
          </a:p>
          <a:p>
            <a:r>
              <a:rPr lang="en-US" sz="2000" dirty="0">
                <a:latin typeface="Times New Roman" pitchFamily="18" charset="0"/>
                <a:cs typeface="Times New Roman" pitchFamily="18" charset="0"/>
              </a:rPr>
              <a:t>Repeat the steps 6 to 9</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Insertion in Single Linked List(Cont..)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Rectangle 3"/>
          <p:cNvSpPr/>
          <p:nvPr/>
        </p:nvSpPr>
        <p:spPr>
          <a:xfrm>
            <a:off x="2574387" y="1252026"/>
            <a:ext cx="7441809" cy="1938992"/>
          </a:xfrm>
          <a:prstGeom prst="rect">
            <a:avLst/>
          </a:prstGeom>
        </p:spPr>
        <p:txBody>
          <a:bodyPr wrap="square">
            <a:spAutoFit/>
          </a:bodyPr>
          <a:lstStyle/>
          <a:p>
            <a:pPr>
              <a:buFont typeface="Arial" pitchFamily="34" charset="0"/>
              <a:buNone/>
            </a:pPr>
            <a:r>
              <a:rPr lang="en-US" sz="2400" dirty="0"/>
              <a:t>There are three possible positions where we can enter a new node in a linked list –</a:t>
            </a:r>
          </a:p>
          <a:p>
            <a:pPr>
              <a:buFont typeface="Arial" pitchFamily="34" charset="0"/>
              <a:buChar char="•"/>
            </a:pPr>
            <a:r>
              <a:rPr lang="en-US" sz="2400" dirty="0"/>
              <a:t>Insertion at beginning</a:t>
            </a:r>
          </a:p>
          <a:p>
            <a:pPr>
              <a:buFont typeface="Arial" pitchFamily="34" charset="0"/>
              <a:buChar char="•"/>
            </a:pPr>
            <a:r>
              <a:rPr lang="en-US" sz="2400" dirty="0"/>
              <a:t>Insertion at a specific position</a:t>
            </a:r>
          </a:p>
          <a:p>
            <a:pPr>
              <a:buFont typeface="Arial" pitchFamily="34" charset="0"/>
              <a:buChar char="•"/>
            </a:pPr>
            <a:r>
              <a:rPr lang="en-US" sz="2400" dirty="0"/>
              <a:t>Insertion at end</a:t>
            </a:r>
          </a:p>
        </p:txBody>
      </p:sp>
      <p:sp>
        <p:nvSpPr>
          <p:cNvPr id="5" name="Rectangle 4"/>
          <p:cNvSpPr/>
          <p:nvPr/>
        </p:nvSpPr>
        <p:spPr>
          <a:xfrm>
            <a:off x="1589649" y="984738"/>
            <a:ext cx="7554351" cy="461665"/>
          </a:xfrm>
          <a:prstGeom prst="rect">
            <a:avLst/>
          </a:prstGeom>
        </p:spPr>
        <p:txBody>
          <a:bodyPr wrap="square">
            <a:spAutoFit/>
          </a:bodyPr>
          <a:lstStyle/>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itchFamily="18" charset="0"/>
                <a:cs typeface="Times New Roman" pitchFamily="18" charset="0"/>
              </a:rPr>
              <a:t>Insertion  At Beginning of  Single Linked List(Cont..)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ectangle 4"/>
          <p:cNvSpPr/>
          <p:nvPr/>
        </p:nvSpPr>
        <p:spPr>
          <a:xfrm>
            <a:off x="1589649" y="984738"/>
            <a:ext cx="7554351" cy="461665"/>
          </a:xfrm>
          <a:prstGeom prst="rect">
            <a:avLst/>
          </a:prstGeom>
        </p:spPr>
        <p:txBody>
          <a:bodyPr wrap="square">
            <a:spAutoFit/>
          </a:bodyPr>
          <a:lstStyle/>
          <a:p>
            <a:endParaRPr lang="en-US" sz="2400" dirty="0">
              <a:latin typeface="Times New Roman" pitchFamily="18" charset="0"/>
              <a:cs typeface="Times New Roman" pitchFamily="18" charset="0"/>
            </a:endParaRPr>
          </a:p>
        </p:txBody>
      </p:sp>
      <p:pic>
        <p:nvPicPr>
          <p:cNvPr id="7" name="Picture 7" descr="C:\Users\dell\Desktop\y.png"/>
          <p:cNvPicPr>
            <a:picLocks noGrp="1" noChangeAspect="1" noChangeArrowheads="1"/>
          </p:cNvPicPr>
          <p:nvPr>
            <p:ph idx="1"/>
          </p:nvPr>
        </p:nvPicPr>
        <p:blipFill>
          <a:blip r:embed="rId3"/>
          <a:srcRect/>
          <a:stretch>
            <a:fillRect/>
          </a:stretch>
        </p:blipFill>
        <p:spPr>
          <a:xfrm>
            <a:off x="2034248" y="974138"/>
            <a:ext cx="8426450" cy="1515844"/>
          </a:xfrm>
          <a:noFill/>
        </p:spPr>
      </p:pic>
      <p:pic>
        <p:nvPicPr>
          <p:cNvPr id="8" name="Picture 9" descr="Insertion of node at beginning of singly linked list2"/>
          <p:cNvPicPr>
            <a:picLocks noChangeAspect="1" noChangeArrowheads="1"/>
          </p:cNvPicPr>
          <p:nvPr/>
        </p:nvPicPr>
        <p:blipFill>
          <a:blip r:embed="rId4"/>
          <a:srcRect/>
          <a:stretch>
            <a:fillRect/>
          </a:stretch>
        </p:blipFill>
        <p:spPr bwMode="auto">
          <a:xfrm>
            <a:off x="2221231" y="2693964"/>
            <a:ext cx="8502650" cy="1711325"/>
          </a:xfrm>
          <a:prstGeom prst="rect">
            <a:avLst/>
          </a:prstGeom>
          <a:noFill/>
          <a:ln w="9525">
            <a:noFill/>
            <a:miter lim="800000"/>
            <a:headEnd/>
            <a:tailEnd/>
          </a:ln>
        </p:spPr>
      </p:pic>
      <p:pic>
        <p:nvPicPr>
          <p:cNvPr id="9" name="Picture 11" descr="Insertion of node at beginning of singly linked list3"/>
          <p:cNvPicPr>
            <a:picLocks noChangeAspect="1" noChangeArrowheads="1"/>
          </p:cNvPicPr>
          <p:nvPr/>
        </p:nvPicPr>
        <p:blipFill>
          <a:blip r:embed="rId5"/>
          <a:srcRect/>
          <a:stretch>
            <a:fillRect/>
          </a:stretch>
        </p:blipFill>
        <p:spPr bwMode="auto">
          <a:xfrm>
            <a:off x="2550551" y="4810296"/>
            <a:ext cx="8034338" cy="1752600"/>
          </a:xfrm>
          <a:prstGeom prst="rect">
            <a:avLst/>
          </a:prstGeom>
          <a:noFill/>
          <a:ln w="9525">
            <a:noFill/>
            <a:miter lim="800000"/>
            <a:headEnd/>
            <a:tailEnd/>
          </a:ln>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itchFamily="18" charset="0"/>
                <a:cs typeface="Times New Roman" pitchFamily="18" charset="0"/>
              </a:rPr>
              <a:t>Algorithm to Insert a node  At Beginning of  SLL</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ectangle 4"/>
          <p:cNvSpPr/>
          <p:nvPr/>
        </p:nvSpPr>
        <p:spPr>
          <a:xfrm>
            <a:off x="1589649" y="984738"/>
            <a:ext cx="7554351" cy="461665"/>
          </a:xfrm>
          <a:prstGeom prst="rect">
            <a:avLst/>
          </a:prstGeom>
        </p:spPr>
        <p:txBody>
          <a:bodyPr wrap="square">
            <a:spAutoFit/>
          </a:bodyPr>
          <a:lstStyle/>
          <a:p>
            <a:endParaRPr lang="en-US" sz="2400" dirty="0">
              <a:latin typeface="Times New Roman" pitchFamily="18" charset="0"/>
              <a:cs typeface="Times New Roman" pitchFamily="18" charset="0"/>
            </a:endParaRPr>
          </a:p>
        </p:txBody>
      </p:sp>
      <p:sp>
        <p:nvSpPr>
          <p:cNvPr id="10" name="Content Placeholder 9"/>
          <p:cNvSpPr>
            <a:spLocks noGrp="1"/>
          </p:cNvSpPr>
          <p:nvPr>
            <p:ph idx="1"/>
          </p:nvPr>
        </p:nvSpPr>
        <p:spPr/>
        <p:txBody>
          <a:bodyPr/>
          <a:lstStyle/>
          <a:p>
            <a:r>
              <a:rPr lang="en-US" sz="2400" dirty="0">
                <a:latin typeface="Times New Roman" pitchFamily="18" charset="0"/>
                <a:cs typeface="Times New Roman" pitchFamily="18" charset="0"/>
              </a:rPr>
              <a:t>Step 1 - Create a </a:t>
            </a:r>
            <a:r>
              <a:rPr lang="en-US" sz="2400" dirty="0" err="1">
                <a:latin typeface="Times New Roman" pitchFamily="18" charset="0"/>
                <a:cs typeface="Times New Roman" pitchFamily="18" charset="0"/>
              </a:rPr>
              <a:t>newNode</a:t>
            </a:r>
            <a:r>
              <a:rPr lang="en-US" sz="2400" dirty="0">
                <a:latin typeface="Times New Roman" pitchFamily="18" charset="0"/>
                <a:cs typeface="Times New Roman" pitchFamily="18" charset="0"/>
              </a:rPr>
              <a:t> with given value.</a:t>
            </a:r>
          </a:p>
          <a:p>
            <a:r>
              <a:rPr lang="en-US" sz="2400" dirty="0">
                <a:latin typeface="Times New Roman" pitchFamily="18" charset="0"/>
                <a:cs typeface="Times New Roman" pitchFamily="18" charset="0"/>
              </a:rPr>
              <a:t>Step 2 - Check whether list is Empty (head == NULL)</a:t>
            </a:r>
          </a:p>
          <a:p>
            <a:r>
              <a:rPr lang="en-US" sz="2400" dirty="0">
                <a:latin typeface="Times New Roman" pitchFamily="18" charset="0"/>
                <a:cs typeface="Times New Roman" pitchFamily="18" charset="0"/>
              </a:rPr>
              <a:t>Step 3 - If it is Empty then, set </a:t>
            </a:r>
            <a:r>
              <a:rPr lang="en-US" sz="2400" dirty="0" err="1">
                <a:latin typeface="Times New Roman" pitchFamily="18" charset="0"/>
                <a:cs typeface="Times New Roman" pitchFamily="18" charset="0"/>
              </a:rPr>
              <a:t>newNode→next</a:t>
            </a:r>
            <a:r>
              <a:rPr lang="en-US" sz="2400" dirty="0">
                <a:latin typeface="Times New Roman" pitchFamily="18" charset="0"/>
                <a:cs typeface="Times New Roman" pitchFamily="18" charset="0"/>
              </a:rPr>
              <a:t> = NULL and head = </a:t>
            </a:r>
            <a:r>
              <a:rPr lang="en-US" sz="2400" dirty="0" err="1">
                <a:latin typeface="Times New Roman" pitchFamily="18" charset="0"/>
                <a:cs typeface="Times New Roman" pitchFamily="18" charset="0"/>
              </a:rPr>
              <a:t>newNode</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Step 4 - If it is Not Empty then, set </a:t>
            </a:r>
            <a:r>
              <a:rPr lang="en-US" sz="2400" dirty="0" err="1">
                <a:latin typeface="Times New Roman" pitchFamily="18" charset="0"/>
                <a:cs typeface="Times New Roman" pitchFamily="18" charset="0"/>
              </a:rPr>
              <a:t>newNode→next</a:t>
            </a:r>
            <a:r>
              <a:rPr lang="en-US" sz="2400" dirty="0">
                <a:latin typeface="Times New Roman" pitchFamily="18" charset="0"/>
                <a:cs typeface="Times New Roman" pitchFamily="18" charset="0"/>
              </a:rPr>
              <a:t> = head and head = </a:t>
            </a:r>
            <a:r>
              <a:rPr lang="en-US" sz="2400" dirty="0" err="1">
                <a:latin typeface="Times New Roman" pitchFamily="18" charset="0"/>
                <a:cs typeface="Times New Roman" pitchFamily="18" charset="0"/>
              </a:rPr>
              <a:t>newNode</a:t>
            </a:r>
            <a:endParaRPr lang="en-US" sz="2400" dirty="0"/>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itchFamily="18" charset="0"/>
                <a:cs typeface="Times New Roman" pitchFamily="18" charset="0"/>
              </a:rPr>
              <a:t>Insert a node  At specific position in  SLL</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ectangle 4"/>
          <p:cNvSpPr/>
          <p:nvPr/>
        </p:nvSpPr>
        <p:spPr>
          <a:xfrm>
            <a:off x="1589649" y="984738"/>
            <a:ext cx="7554351" cy="461665"/>
          </a:xfrm>
          <a:prstGeom prst="rect">
            <a:avLst/>
          </a:prstGeom>
        </p:spPr>
        <p:txBody>
          <a:bodyPr wrap="square">
            <a:spAutoFit/>
          </a:bodyPr>
          <a:lstStyle/>
          <a:p>
            <a:endParaRPr lang="en-US" sz="2400" dirty="0">
              <a:latin typeface="Times New Roman" pitchFamily="18" charset="0"/>
              <a:cs typeface="Times New Roman" pitchFamily="18" charset="0"/>
            </a:endParaRPr>
          </a:p>
        </p:txBody>
      </p:sp>
      <p:pic>
        <p:nvPicPr>
          <p:cNvPr id="7" name="Picture 1" descr="C:\Users\dell\Desktop\x.png"/>
          <p:cNvPicPr>
            <a:picLocks noGrp="1" noChangeAspect="1" noChangeArrowheads="1"/>
          </p:cNvPicPr>
          <p:nvPr>
            <p:ph idx="1"/>
          </p:nvPr>
        </p:nvPicPr>
        <p:blipFill>
          <a:blip r:embed="rId3"/>
          <a:srcRect/>
          <a:stretch>
            <a:fillRect/>
          </a:stretch>
        </p:blipFill>
        <p:spPr>
          <a:xfrm>
            <a:off x="1744395" y="929646"/>
            <a:ext cx="8989254" cy="1377456"/>
          </a:xfrm>
          <a:noFill/>
        </p:spPr>
      </p:pic>
      <p:pic>
        <p:nvPicPr>
          <p:cNvPr id="8" name="Picture 2" descr="C:\Users\dell\Desktop\x.png"/>
          <p:cNvPicPr>
            <a:picLocks noChangeAspect="1" noChangeArrowheads="1"/>
          </p:cNvPicPr>
          <p:nvPr/>
        </p:nvPicPr>
        <p:blipFill>
          <a:blip r:embed="rId4"/>
          <a:srcRect/>
          <a:stretch>
            <a:fillRect/>
          </a:stretch>
        </p:blipFill>
        <p:spPr bwMode="auto">
          <a:xfrm>
            <a:off x="1783349" y="2454398"/>
            <a:ext cx="8978436" cy="1671637"/>
          </a:xfrm>
          <a:prstGeom prst="rect">
            <a:avLst/>
          </a:prstGeom>
          <a:noFill/>
          <a:ln w="9525">
            <a:noFill/>
            <a:miter lim="800000"/>
            <a:headEnd/>
            <a:tailEnd/>
          </a:ln>
        </p:spPr>
      </p:pic>
      <p:pic>
        <p:nvPicPr>
          <p:cNvPr id="9" name="Picture 3" descr="C:\Users\dell\Desktop\x.png"/>
          <p:cNvPicPr>
            <a:picLocks noChangeAspect="1" noChangeArrowheads="1"/>
          </p:cNvPicPr>
          <p:nvPr/>
        </p:nvPicPr>
        <p:blipFill>
          <a:blip r:embed="rId5"/>
          <a:srcRect/>
          <a:stretch>
            <a:fillRect/>
          </a:stretch>
        </p:blipFill>
        <p:spPr bwMode="auto">
          <a:xfrm>
            <a:off x="1868585" y="4257578"/>
            <a:ext cx="9090147" cy="1933575"/>
          </a:xfrm>
          <a:prstGeom prst="rect">
            <a:avLst/>
          </a:prstGeom>
          <a:noFill/>
          <a:ln w="9525">
            <a:noFill/>
            <a:miter lim="800000"/>
            <a:headEnd/>
            <a:tailEnd/>
          </a:ln>
        </p:spPr>
      </p:pic>
      <p:sp>
        <p:nvSpPr>
          <p:cNvPr id="10" name="TextBox 9"/>
          <p:cNvSpPr txBox="1"/>
          <p:nvPr/>
        </p:nvSpPr>
        <p:spPr>
          <a:xfrm>
            <a:off x="2321169" y="1913206"/>
            <a:ext cx="998806" cy="369332"/>
          </a:xfrm>
          <a:prstGeom prst="rect">
            <a:avLst/>
          </a:prstGeom>
          <a:noFill/>
        </p:spPr>
        <p:txBody>
          <a:bodyPr wrap="square" rtlCol="0">
            <a:spAutoFit/>
          </a:bodyPr>
          <a:lstStyle/>
          <a:p>
            <a:r>
              <a:rPr lang="en-US" dirty="0"/>
              <a:t>temp</a:t>
            </a:r>
          </a:p>
        </p:txBody>
      </p:sp>
      <p:cxnSp>
        <p:nvCxnSpPr>
          <p:cNvPr id="13" name="Straight Arrow Connector 12"/>
          <p:cNvCxnSpPr/>
          <p:nvPr/>
        </p:nvCxnSpPr>
        <p:spPr>
          <a:xfrm rot="5400000" flipH="1" flipV="1">
            <a:off x="2475914" y="1617785"/>
            <a:ext cx="351692" cy="1547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515729" y="3516923"/>
            <a:ext cx="731520" cy="369332"/>
          </a:xfrm>
          <a:prstGeom prst="rect">
            <a:avLst/>
          </a:prstGeom>
          <a:noFill/>
        </p:spPr>
        <p:txBody>
          <a:bodyPr wrap="square" rtlCol="0">
            <a:spAutoFit/>
          </a:bodyPr>
          <a:lstStyle/>
          <a:p>
            <a:r>
              <a:rPr lang="en-US" dirty="0"/>
              <a:t>temp</a:t>
            </a:r>
          </a:p>
        </p:txBody>
      </p:sp>
      <p:cxnSp>
        <p:nvCxnSpPr>
          <p:cNvPr id="16" name="Straight Arrow Connector 15"/>
          <p:cNvCxnSpPr/>
          <p:nvPr/>
        </p:nvCxnSpPr>
        <p:spPr>
          <a:xfrm rot="5400000" flipH="1" flipV="1">
            <a:off x="4600135" y="3193366"/>
            <a:ext cx="365760" cy="1688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65564" y="5247249"/>
            <a:ext cx="844062" cy="369332"/>
          </a:xfrm>
          <a:prstGeom prst="rect">
            <a:avLst/>
          </a:prstGeom>
          <a:noFill/>
        </p:spPr>
        <p:txBody>
          <a:bodyPr wrap="square" rtlCol="0">
            <a:spAutoFit/>
          </a:bodyPr>
          <a:lstStyle/>
          <a:p>
            <a:r>
              <a:rPr lang="en-US" dirty="0"/>
              <a:t>temp</a:t>
            </a:r>
          </a:p>
        </p:txBody>
      </p:sp>
      <p:cxnSp>
        <p:nvCxnSpPr>
          <p:cNvPr id="19" name="Straight Arrow Connector 18"/>
          <p:cNvCxnSpPr/>
          <p:nvPr/>
        </p:nvCxnSpPr>
        <p:spPr>
          <a:xfrm flipV="1">
            <a:off x="4614203" y="5036234"/>
            <a:ext cx="267286" cy="2391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itchFamily="18" charset="0"/>
                <a:cs typeface="Times New Roman" pitchFamily="18" charset="0"/>
              </a:rPr>
              <a:t> Algorithm to Insert a node  At specific position in  SLL</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ectangle 4"/>
          <p:cNvSpPr/>
          <p:nvPr/>
        </p:nvSpPr>
        <p:spPr>
          <a:xfrm>
            <a:off x="1589649" y="984738"/>
            <a:ext cx="7554351" cy="461665"/>
          </a:xfrm>
          <a:prstGeom prst="rect">
            <a:avLst/>
          </a:prstGeom>
        </p:spPr>
        <p:txBody>
          <a:bodyPr wrap="square">
            <a:spAutoFit/>
          </a:bodyPr>
          <a:lstStyle/>
          <a:p>
            <a:endParaRPr lang="en-US" sz="2400" dirty="0">
              <a:latin typeface="Times New Roman" pitchFamily="18" charset="0"/>
              <a:cs typeface="Times New Roman" pitchFamily="18" charset="0"/>
            </a:endParaRPr>
          </a:p>
        </p:txBody>
      </p:sp>
      <p:sp>
        <p:nvSpPr>
          <p:cNvPr id="11" name="Rectangle 10"/>
          <p:cNvSpPr/>
          <p:nvPr/>
        </p:nvSpPr>
        <p:spPr>
          <a:xfrm>
            <a:off x="1786597" y="970671"/>
            <a:ext cx="9903655" cy="3416320"/>
          </a:xfrm>
          <a:prstGeom prst="rect">
            <a:avLst/>
          </a:prstGeom>
        </p:spPr>
        <p:txBody>
          <a:bodyPr wrap="square">
            <a:spAutoFit/>
          </a:bodyPr>
          <a:lstStyle/>
          <a:p>
            <a:r>
              <a:rPr lang="en-US" sz="2400" dirty="0">
                <a:latin typeface="Times New Roman" pitchFamily="18" charset="0"/>
                <a:cs typeface="Times New Roman" pitchFamily="18" charset="0"/>
              </a:rPr>
              <a:t>Step 1 - Create a </a:t>
            </a:r>
            <a:r>
              <a:rPr lang="en-US" sz="2400" dirty="0" err="1">
                <a:latin typeface="Times New Roman" pitchFamily="18" charset="0"/>
                <a:cs typeface="Times New Roman" pitchFamily="18" charset="0"/>
              </a:rPr>
              <a:t>newNode</a:t>
            </a:r>
            <a:r>
              <a:rPr lang="en-US" sz="2400" dirty="0">
                <a:latin typeface="Times New Roman" pitchFamily="18" charset="0"/>
                <a:cs typeface="Times New Roman" pitchFamily="18" charset="0"/>
              </a:rPr>
              <a:t> with given value.</a:t>
            </a:r>
          </a:p>
          <a:p>
            <a:r>
              <a:rPr lang="en-US" sz="2400" dirty="0">
                <a:latin typeface="Times New Roman" pitchFamily="18" charset="0"/>
                <a:cs typeface="Times New Roman" pitchFamily="18" charset="0"/>
              </a:rPr>
              <a:t>Step 2 - If list is Empty (head == NULL)</a:t>
            </a:r>
          </a:p>
          <a:p>
            <a:r>
              <a:rPr lang="en-US" sz="2400" dirty="0">
                <a:latin typeface="Times New Roman" pitchFamily="18" charset="0"/>
                <a:cs typeface="Times New Roman" pitchFamily="18" charset="0"/>
              </a:rPr>
              <a:t>Step 3 -set </a:t>
            </a:r>
            <a:r>
              <a:rPr lang="en-US" sz="2400" dirty="0" err="1">
                <a:latin typeface="Times New Roman" pitchFamily="18" charset="0"/>
                <a:cs typeface="Times New Roman" pitchFamily="18" charset="0"/>
              </a:rPr>
              <a:t>newNode</a:t>
            </a:r>
            <a:r>
              <a:rPr lang="en-US" sz="2400" dirty="0">
                <a:latin typeface="Times New Roman" pitchFamily="18" charset="0"/>
                <a:cs typeface="Times New Roman" pitchFamily="18" charset="0"/>
              </a:rPr>
              <a:t> → next = NULL and head = </a:t>
            </a:r>
            <a:r>
              <a:rPr lang="en-US" sz="2400" dirty="0" err="1">
                <a:latin typeface="Times New Roman" pitchFamily="18" charset="0"/>
                <a:cs typeface="Times New Roman" pitchFamily="18" charset="0"/>
              </a:rPr>
              <a:t>newNode</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Step 4 - If it is Not Empty then, temp=head.</a:t>
            </a:r>
          </a:p>
          <a:p>
            <a:r>
              <a:rPr lang="en-US" sz="2400" dirty="0">
                <a:latin typeface="Times New Roman" pitchFamily="18" charset="0"/>
                <a:cs typeface="Times New Roman" pitchFamily="18" charset="0"/>
              </a:rPr>
              <a:t>Step 5 - Keep moving the temp to its next node until it reaches to the node after which we want to insert the </a:t>
            </a:r>
            <a:r>
              <a:rPr lang="en-US" sz="2400" dirty="0" err="1">
                <a:latin typeface="Times New Roman" pitchFamily="18" charset="0"/>
                <a:cs typeface="Times New Roman" pitchFamily="18" charset="0"/>
              </a:rPr>
              <a:t>newNode</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Step 6 - Every time check whether temp is reached to last node or not</a:t>
            </a:r>
          </a:p>
          <a:p>
            <a:r>
              <a:rPr lang="en-US" sz="2400" dirty="0">
                <a:latin typeface="Times New Roman" pitchFamily="18" charset="0"/>
                <a:cs typeface="Times New Roman" pitchFamily="18" charset="0"/>
              </a:rPr>
              <a:t>Step 7 -  Set </a:t>
            </a:r>
            <a:r>
              <a:rPr lang="en-US" sz="2400" dirty="0" err="1">
                <a:latin typeface="Times New Roman" pitchFamily="18" charset="0"/>
                <a:cs typeface="Times New Roman" pitchFamily="18" charset="0"/>
              </a:rPr>
              <a:t>newNode</a:t>
            </a:r>
            <a:r>
              <a:rPr lang="en-US" sz="2400" dirty="0">
                <a:latin typeface="Times New Roman" pitchFamily="18" charset="0"/>
                <a:cs typeface="Times New Roman" pitchFamily="18" charset="0"/>
              </a:rPr>
              <a:t> → next = temp → next and </a:t>
            </a:r>
          </a:p>
          <a:p>
            <a:pPr>
              <a:buFont typeface="Arial" pitchFamily="34" charset="0"/>
              <a:buNone/>
            </a:pPr>
            <a:r>
              <a:rPr lang="en-US" sz="2400" dirty="0">
                <a:latin typeface="Times New Roman" pitchFamily="18" charset="0"/>
                <a:cs typeface="Times New Roman" pitchFamily="18" charset="0"/>
              </a:rPr>
              <a:t>                    temp → next = </a:t>
            </a:r>
            <a:r>
              <a:rPr lang="en-US" sz="2400" dirty="0" err="1">
                <a:latin typeface="Times New Roman" pitchFamily="18" charset="0"/>
                <a:cs typeface="Times New Roman" pitchFamily="18" charset="0"/>
              </a:rPr>
              <a:t>newNode</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itchFamily="18" charset="0"/>
                <a:cs typeface="Times New Roman" pitchFamily="18" charset="0"/>
              </a:rPr>
              <a:t>  Insert a node  At End of  SLL</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ectangle 4"/>
          <p:cNvSpPr/>
          <p:nvPr/>
        </p:nvSpPr>
        <p:spPr>
          <a:xfrm>
            <a:off x="1589649" y="984738"/>
            <a:ext cx="7554351" cy="461665"/>
          </a:xfrm>
          <a:prstGeom prst="rect">
            <a:avLst/>
          </a:prstGeom>
        </p:spPr>
        <p:txBody>
          <a:bodyPr wrap="square">
            <a:spAutoFit/>
          </a:bodyPr>
          <a:lstStyle/>
          <a:p>
            <a:endParaRPr lang="en-US" sz="2400" dirty="0">
              <a:latin typeface="Times New Roman" pitchFamily="18" charset="0"/>
              <a:cs typeface="Times New Roman" pitchFamily="18" charset="0"/>
            </a:endParaRPr>
          </a:p>
        </p:txBody>
      </p:sp>
      <p:pic>
        <p:nvPicPr>
          <p:cNvPr id="7" name="Picture 2" descr="C:\Users\dell\Desktop\x.png"/>
          <p:cNvPicPr>
            <a:picLocks noGrp="1" noChangeAspect="1" noChangeArrowheads="1"/>
          </p:cNvPicPr>
          <p:nvPr>
            <p:ph idx="1"/>
          </p:nvPr>
        </p:nvPicPr>
        <p:blipFill>
          <a:blip r:embed="rId3"/>
          <a:srcRect/>
          <a:stretch>
            <a:fillRect/>
          </a:stretch>
        </p:blipFill>
        <p:spPr>
          <a:xfrm>
            <a:off x="704849" y="998806"/>
            <a:ext cx="10141341" cy="1809482"/>
          </a:xfrm>
          <a:noFill/>
        </p:spPr>
      </p:pic>
      <p:pic>
        <p:nvPicPr>
          <p:cNvPr id="8" name="Picture 3" descr="C:\Users\dell\Desktop\x.png"/>
          <p:cNvPicPr>
            <a:picLocks noChangeAspect="1" noChangeArrowheads="1"/>
          </p:cNvPicPr>
          <p:nvPr/>
        </p:nvPicPr>
        <p:blipFill>
          <a:blip r:embed="rId4"/>
          <a:srcRect/>
          <a:stretch>
            <a:fillRect/>
          </a:stretch>
        </p:blipFill>
        <p:spPr bwMode="auto">
          <a:xfrm>
            <a:off x="601164" y="3592513"/>
            <a:ext cx="10118418" cy="1816100"/>
          </a:xfrm>
          <a:prstGeom prst="rect">
            <a:avLst/>
          </a:prstGeom>
          <a:noFill/>
          <a:ln w="9525">
            <a:noFill/>
            <a:miter lim="800000"/>
            <a:headEnd/>
            <a:tailEnd/>
          </a:ln>
        </p:spPr>
      </p:pic>
      <p:sp>
        <p:nvSpPr>
          <p:cNvPr id="9" name="TextBox 8"/>
          <p:cNvSpPr txBox="1"/>
          <p:nvPr/>
        </p:nvSpPr>
        <p:spPr>
          <a:xfrm>
            <a:off x="1617785" y="2377440"/>
            <a:ext cx="1561513" cy="369332"/>
          </a:xfrm>
          <a:prstGeom prst="rect">
            <a:avLst/>
          </a:prstGeom>
          <a:noFill/>
        </p:spPr>
        <p:txBody>
          <a:bodyPr wrap="square" rtlCol="0">
            <a:spAutoFit/>
          </a:bodyPr>
          <a:lstStyle/>
          <a:p>
            <a:r>
              <a:rPr lang="en-US" dirty="0"/>
              <a:t>temp</a:t>
            </a:r>
          </a:p>
        </p:txBody>
      </p:sp>
      <p:cxnSp>
        <p:nvCxnSpPr>
          <p:cNvPr id="11" name="Straight Arrow Connector 10"/>
          <p:cNvCxnSpPr/>
          <p:nvPr/>
        </p:nvCxnSpPr>
        <p:spPr>
          <a:xfrm rot="16200000" flipV="1">
            <a:off x="1800666" y="2011680"/>
            <a:ext cx="478301" cy="562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695028" y="3165231"/>
            <a:ext cx="1041009" cy="369332"/>
          </a:xfrm>
          <a:prstGeom prst="rect">
            <a:avLst/>
          </a:prstGeom>
          <a:noFill/>
        </p:spPr>
        <p:txBody>
          <a:bodyPr wrap="square" rtlCol="0">
            <a:spAutoFit/>
          </a:bodyPr>
          <a:lstStyle/>
          <a:p>
            <a:r>
              <a:rPr lang="en-US" dirty="0"/>
              <a:t>temp</a:t>
            </a:r>
          </a:p>
        </p:txBody>
      </p:sp>
      <p:cxnSp>
        <p:nvCxnSpPr>
          <p:cNvPr id="15" name="Straight Arrow Connector 14"/>
          <p:cNvCxnSpPr/>
          <p:nvPr/>
        </p:nvCxnSpPr>
        <p:spPr>
          <a:xfrm rot="5400000">
            <a:off x="7772401" y="3453619"/>
            <a:ext cx="393895" cy="984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itchFamily="18" charset="0"/>
                <a:cs typeface="Times New Roman" pitchFamily="18" charset="0"/>
              </a:rPr>
              <a:t> </a:t>
            </a:r>
            <a:r>
              <a:rPr lang="en-US" sz="2800" dirty="0">
                <a:latin typeface="Times New Roman" pitchFamily="18" charset="0"/>
                <a:cs typeface="Times New Roman" pitchFamily="18" charset="0"/>
              </a:rPr>
              <a:t>Algorithm</a:t>
            </a:r>
            <a:r>
              <a:rPr lang="en-US" sz="2000" dirty="0">
                <a:latin typeface="Times New Roman" pitchFamily="18" charset="0"/>
                <a:cs typeface="Times New Roman" pitchFamily="18" charset="0"/>
              </a:rPr>
              <a:t> </a:t>
            </a:r>
            <a:r>
              <a:rPr lang="en-US" sz="2400" dirty="0">
                <a:latin typeface="Times New Roman" pitchFamily="18" charset="0"/>
                <a:cs typeface="Times New Roman" pitchFamily="18" charset="0"/>
              </a:rPr>
              <a:t>to Insert a node  at End of SLL</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ectangle 4"/>
          <p:cNvSpPr/>
          <p:nvPr/>
        </p:nvSpPr>
        <p:spPr>
          <a:xfrm>
            <a:off x="1589649" y="984738"/>
            <a:ext cx="7554351" cy="461665"/>
          </a:xfrm>
          <a:prstGeom prst="rect">
            <a:avLst/>
          </a:prstGeom>
        </p:spPr>
        <p:txBody>
          <a:bodyPr wrap="square">
            <a:spAutoFit/>
          </a:bodyPr>
          <a:lstStyle/>
          <a:p>
            <a:endParaRPr lang="en-US" sz="2400" dirty="0">
              <a:latin typeface="Times New Roman" pitchFamily="18" charset="0"/>
              <a:cs typeface="Times New Roman" pitchFamily="18" charset="0"/>
            </a:endParaRPr>
          </a:p>
        </p:txBody>
      </p:sp>
      <p:sp>
        <p:nvSpPr>
          <p:cNvPr id="7" name="Rectangle 6"/>
          <p:cNvSpPr/>
          <p:nvPr/>
        </p:nvSpPr>
        <p:spPr>
          <a:xfrm>
            <a:off x="1322363" y="1378634"/>
            <a:ext cx="8975188" cy="3046988"/>
          </a:xfrm>
          <a:prstGeom prst="rect">
            <a:avLst/>
          </a:prstGeom>
        </p:spPr>
        <p:txBody>
          <a:bodyPr wrap="square">
            <a:spAutoFit/>
          </a:bodyPr>
          <a:lstStyle/>
          <a:p>
            <a:r>
              <a:rPr lang="en-US" sz="2400" dirty="0">
                <a:latin typeface="Times New Roman" pitchFamily="18" charset="0"/>
                <a:cs typeface="Times New Roman" pitchFamily="18" charset="0"/>
              </a:rPr>
              <a:t>Step 1 - Create a </a:t>
            </a:r>
            <a:r>
              <a:rPr lang="en-US" sz="2400" dirty="0" err="1">
                <a:latin typeface="Times New Roman" pitchFamily="18" charset="0"/>
                <a:cs typeface="Times New Roman" pitchFamily="18" charset="0"/>
              </a:rPr>
              <a:t>newnode</a:t>
            </a:r>
            <a:r>
              <a:rPr lang="en-US" sz="2400" dirty="0">
                <a:latin typeface="Times New Roman" pitchFamily="18" charset="0"/>
                <a:cs typeface="Times New Roman" pitchFamily="18" charset="0"/>
              </a:rPr>
              <a:t> </a:t>
            </a:r>
          </a:p>
          <a:p>
            <a:pPr>
              <a:buFont typeface="Arial" pitchFamily="34" charse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newnode</a:t>
            </a:r>
            <a:r>
              <a:rPr lang="en-US" sz="2400" dirty="0">
                <a:latin typeface="Times New Roman" pitchFamily="18" charset="0"/>
                <a:cs typeface="Times New Roman" pitchFamily="18" charset="0"/>
              </a:rPr>
              <a:t> → next = NULL.</a:t>
            </a:r>
          </a:p>
          <a:p>
            <a:r>
              <a:rPr lang="en-US" sz="2400" dirty="0">
                <a:latin typeface="Times New Roman" pitchFamily="18" charset="0"/>
                <a:cs typeface="Times New Roman" pitchFamily="18" charset="0"/>
              </a:rPr>
              <a:t>Step 2 - If list  Empty then(head == NULL).</a:t>
            </a:r>
          </a:p>
          <a:p>
            <a:r>
              <a:rPr lang="en-US" sz="2400" dirty="0">
                <a:latin typeface="Times New Roman" pitchFamily="18" charset="0"/>
                <a:cs typeface="Times New Roman" pitchFamily="18" charset="0"/>
              </a:rPr>
              <a:t>Step 3 -  set head = </a:t>
            </a:r>
            <a:r>
              <a:rPr lang="en-US" sz="2400" dirty="0" err="1">
                <a:latin typeface="Times New Roman" pitchFamily="18" charset="0"/>
                <a:cs typeface="Times New Roman" pitchFamily="18" charset="0"/>
              </a:rPr>
              <a:t>newnode</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Step 4 - If it is Not Empty then, define a node pointer temp = head.</a:t>
            </a:r>
          </a:p>
          <a:p>
            <a:r>
              <a:rPr lang="en-US" sz="2400" dirty="0">
                <a:latin typeface="Times New Roman" pitchFamily="18" charset="0"/>
                <a:cs typeface="Times New Roman" pitchFamily="18" charset="0"/>
              </a:rPr>
              <a:t>Step 5 - Keep moving the temp to its next node until it reaches to the      last node in the list until  ( temp → next  =NULL).</a:t>
            </a:r>
          </a:p>
          <a:p>
            <a:r>
              <a:rPr lang="en-US" sz="2400" dirty="0">
                <a:latin typeface="Times New Roman" pitchFamily="18" charset="0"/>
                <a:cs typeface="Times New Roman" pitchFamily="18" charset="0"/>
              </a:rPr>
              <a:t>Step 6 - Set temp → next = </a:t>
            </a:r>
            <a:r>
              <a:rPr lang="en-US" sz="2400" dirty="0" err="1">
                <a:latin typeface="Times New Roman" pitchFamily="18" charset="0"/>
                <a:cs typeface="Times New Roman" pitchFamily="18" charset="0"/>
              </a:rPr>
              <a:t>newnode</a:t>
            </a: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Deletions in Single Linked List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4"/>
          <p:cNvSpPr/>
          <p:nvPr/>
        </p:nvSpPr>
        <p:spPr>
          <a:xfrm>
            <a:off x="3995225" y="773723"/>
            <a:ext cx="5120640" cy="523220"/>
          </a:xfrm>
          <a:prstGeom prst="rect">
            <a:avLst/>
          </a:prstGeom>
        </p:spPr>
        <p:txBody>
          <a:bodyPr wrap="square">
            <a:spAutoFit/>
          </a:bodyPr>
          <a:lstStyle/>
          <a:p>
            <a:r>
              <a:rPr lang="en-US" sz="2800" dirty="0">
                <a:latin typeface="Times New Roman" pitchFamily="18" charset="0"/>
                <a:cs typeface="Times New Roman" pitchFamily="18" charset="0"/>
              </a:rPr>
              <a:t>     </a:t>
            </a:r>
            <a:endParaRPr lang="en-US" sz="3600" dirty="0">
              <a:latin typeface="Times New Roman" pitchFamily="18" charset="0"/>
              <a:cs typeface="Times New Roman" pitchFamily="18" charset="0"/>
            </a:endParaRPr>
          </a:p>
        </p:txBody>
      </p:sp>
      <p:sp>
        <p:nvSpPr>
          <p:cNvPr id="6" name="Rectangle 5"/>
          <p:cNvSpPr/>
          <p:nvPr/>
        </p:nvSpPr>
        <p:spPr>
          <a:xfrm>
            <a:off x="492369" y="1477105"/>
            <a:ext cx="11141613" cy="523220"/>
          </a:xfrm>
          <a:prstGeom prst="rect">
            <a:avLst/>
          </a:prstGeom>
        </p:spPr>
        <p:txBody>
          <a:bodyPr wrap="square">
            <a:spAutoFit/>
          </a:bodyPr>
          <a:lstStyle/>
          <a:p>
            <a:pPr>
              <a:buFont typeface="Arial" pitchFamily="34" charset="0"/>
              <a:buChar char="•"/>
            </a:pPr>
            <a:endParaRPr lang="en-US" sz="2800" dirty="0">
              <a:latin typeface="Times New Roman" pitchFamily="18" charset="0"/>
              <a:cs typeface="Times New Roman" pitchFamily="18" charset="0"/>
            </a:endParaRPr>
          </a:p>
        </p:txBody>
      </p:sp>
      <p:sp>
        <p:nvSpPr>
          <p:cNvPr id="7" name="Rectangle 6"/>
          <p:cNvSpPr/>
          <p:nvPr/>
        </p:nvSpPr>
        <p:spPr>
          <a:xfrm>
            <a:off x="1842868" y="1716257"/>
            <a:ext cx="9129932" cy="461665"/>
          </a:xfrm>
          <a:prstGeom prst="rect">
            <a:avLst/>
          </a:prstGeom>
        </p:spPr>
        <p:txBody>
          <a:bodyPr wrap="square">
            <a:spAutoFit/>
          </a:bodyPr>
          <a:lstStyle/>
          <a:p>
            <a:pPr>
              <a:buFont typeface="Arial" pitchFamily="34" charset="0"/>
              <a:buChar char="•"/>
            </a:pPr>
            <a:endParaRPr lang="en-US" sz="2400" dirty="0">
              <a:latin typeface="Times New Roman" pitchFamily="18" charset="0"/>
              <a:cs typeface="Times New Roman" pitchFamily="18" charset="0"/>
            </a:endParaRPr>
          </a:p>
        </p:txBody>
      </p:sp>
      <p:sp>
        <p:nvSpPr>
          <p:cNvPr id="8" name="Rectangle 7"/>
          <p:cNvSpPr/>
          <p:nvPr/>
        </p:nvSpPr>
        <p:spPr>
          <a:xfrm>
            <a:off x="3362178" y="1477108"/>
            <a:ext cx="5781822" cy="1938992"/>
          </a:xfrm>
          <a:prstGeom prst="rect">
            <a:avLst/>
          </a:prstGeom>
        </p:spPr>
        <p:txBody>
          <a:bodyPr wrap="square">
            <a:spAutoFit/>
          </a:bodyPr>
          <a:lstStyle/>
          <a:p>
            <a:pPr>
              <a:buFont typeface="Arial" charset="0"/>
              <a:buNone/>
            </a:pPr>
            <a:r>
              <a:rPr lang="en-US" sz="2400" dirty="0">
                <a:latin typeface="Times New Roman" pitchFamily="18" charset="0"/>
                <a:cs typeface="Times New Roman" pitchFamily="18" charset="0"/>
              </a:rPr>
              <a:t>There are three possible cases for deletion in Single Linked List</a:t>
            </a:r>
          </a:p>
          <a:p>
            <a:pPr>
              <a:buFont typeface="Arial" pitchFamily="34" charset="0"/>
              <a:buChar char="•"/>
            </a:pPr>
            <a:r>
              <a:rPr lang="en-US" sz="2400" dirty="0">
                <a:latin typeface="Times New Roman" pitchFamily="18" charset="0"/>
                <a:cs typeface="Times New Roman" pitchFamily="18" charset="0"/>
              </a:rPr>
              <a:t>Deletion at beginning</a:t>
            </a:r>
          </a:p>
          <a:p>
            <a:pPr>
              <a:buFont typeface="Arial" pitchFamily="34" charset="0"/>
              <a:buChar char="•"/>
            </a:pPr>
            <a:r>
              <a:rPr lang="en-US" sz="2400" dirty="0">
                <a:latin typeface="Times New Roman" pitchFamily="18" charset="0"/>
                <a:cs typeface="Times New Roman" pitchFamily="18" charset="0"/>
              </a:rPr>
              <a:t>Deletion of node in nth position</a:t>
            </a:r>
          </a:p>
          <a:p>
            <a:pPr>
              <a:buFont typeface="Arial" pitchFamily="34" charset="0"/>
              <a:buChar char="•"/>
            </a:pPr>
            <a:r>
              <a:rPr lang="en-US" sz="2400" dirty="0">
                <a:latin typeface="Times New Roman" pitchFamily="18" charset="0"/>
                <a:cs typeface="Times New Roman" pitchFamily="18" charset="0"/>
              </a:rPr>
              <a:t>Deletion at end</a:t>
            </a:r>
          </a:p>
        </p:txBody>
      </p:sp>
    </p:spTree>
    <p:extLst>
      <p:ext uri="{BB962C8B-B14F-4D97-AF65-F5344CB8AC3E}">
        <p14:creationId xmlns:p14="http://schemas.microsoft.com/office/powerpoint/2010/main" val="37191411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ln w="0"/>
                <a:solidFill>
                  <a:schemeClr val="bg1"/>
                </a:solidFill>
                <a:effectLst>
                  <a:outerShdw blurRad="38100" dist="19050" dir="2700000" algn="tl" rotWithShape="0">
                    <a:schemeClr val="dk1">
                      <a:alpha val="40000"/>
                    </a:schemeClr>
                  </a:outerShdw>
                </a:effectLst>
                <a:latin typeface="Times New Roman" pitchFamily="18" charset="0"/>
                <a:cs typeface="Times New Roman" pitchFamily="18" charset="0"/>
              </a:rPr>
              <a:t>Deletion from Beginning of the List</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8" name="Picture 2" descr="C:\Users\dell\Desktop\x.png"/>
          <p:cNvPicPr>
            <a:picLocks noGrp="1" noChangeAspect="1" noChangeArrowheads="1"/>
          </p:cNvPicPr>
          <p:nvPr>
            <p:ph idx="1"/>
          </p:nvPr>
        </p:nvPicPr>
        <p:blipFill>
          <a:blip r:embed="rId3"/>
          <a:srcRect/>
          <a:stretch>
            <a:fillRect/>
          </a:stretch>
        </p:blipFill>
        <p:spPr>
          <a:xfrm>
            <a:off x="1659988" y="1252757"/>
            <a:ext cx="8562926" cy="1370013"/>
          </a:xfrm>
          <a:noFill/>
        </p:spPr>
      </p:pic>
      <p:pic>
        <p:nvPicPr>
          <p:cNvPr id="9" name="Picture 3" descr="C:\Users\dell\Desktop\x.png"/>
          <p:cNvPicPr>
            <a:picLocks noChangeAspect="1" noChangeArrowheads="1"/>
          </p:cNvPicPr>
          <p:nvPr/>
        </p:nvPicPr>
        <p:blipFill>
          <a:blip r:embed="rId4"/>
          <a:srcRect/>
          <a:stretch>
            <a:fillRect/>
          </a:stretch>
        </p:blipFill>
        <p:spPr bwMode="auto">
          <a:xfrm>
            <a:off x="1867755" y="2989092"/>
            <a:ext cx="8072437" cy="1433513"/>
          </a:xfrm>
          <a:prstGeom prst="rect">
            <a:avLst/>
          </a:prstGeom>
          <a:noFill/>
          <a:ln w="9525">
            <a:noFill/>
            <a:miter lim="800000"/>
            <a:headEnd/>
            <a:tailEnd/>
          </a:ln>
        </p:spPr>
      </p:pic>
      <p:pic>
        <p:nvPicPr>
          <p:cNvPr id="10" name="Picture 4" descr="C:\Users\dell\Desktop\x.png"/>
          <p:cNvPicPr>
            <a:picLocks noChangeAspect="1" noChangeArrowheads="1"/>
          </p:cNvPicPr>
          <p:nvPr/>
        </p:nvPicPr>
        <p:blipFill>
          <a:blip r:embed="rId5"/>
          <a:srcRect/>
          <a:stretch>
            <a:fillRect/>
          </a:stretch>
        </p:blipFill>
        <p:spPr bwMode="auto">
          <a:xfrm>
            <a:off x="1885069" y="4501662"/>
            <a:ext cx="8145194" cy="1322777"/>
          </a:xfrm>
          <a:prstGeom prst="rect">
            <a:avLst/>
          </a:prstGeom>
          <a:noFill/>
          <a:ln w="9525">
            <a:noFill/>
            <a:miter lim="800000"/>
            <a:headEnd/>
            <a:tailEnd/>
          </a:ln>
        </p:spPr>
      </p:pic>
      <p:sp>
        <p:nvSpPr>
          <p:cNvPr id="13" name="TextBox 12"/>
          <p:cNvSpPr txBox="1"/>
          <p:nvPr/>
        </p:nvSpPr>
        <p:spPr>
          <a:xfrm>
            <a:off x="2293034" y="2616591"/>
            <a:ext cx="886264" cy="369332"/>
          </a:xfrm>
          <a:prstGeom prst="rect">
            <a:avLst/>
          </a:prstGeom>
          <a:noFill/>
        </p:spPr>
        <p:txBody>
          <a:bodyPr wrap="square" rtlCol="0">
            <a:spAutoFit/>
          </a:bodyPr>
          <a:lstStyle/>
          <a:p>
            <a:r>
              <a:rPr lang="en-US" dirty="0"/>
              <a:t>temp</a:t>
            </a:r>
          </a:p>
        </p:txBody>
      </p:sp>
      <p:cxnSp>
        <p:nvCxnSpPr>
          <p:cNvPr id="15" name="Straight Arrow Connector 14"/>
          <p:cNvCxnSpPr>
            <a:stCxn id="13" idx="2"/>
          </p:cNvCxnSpPr>
          <p:nvPr/>
        </p:nvCxnSpPr>
        <p:spPr>
          <a:xfrm rot="16200000" flipH="1">
            <a:off x="2657063" y="3065025"/>
            <a:ext cx="291849" cy="1336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454366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096086" y="70605"/>
            <a:ext cx="7227173"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itchFamily="18" charset="0"/>
                <a:cs typeface="Times New Roman" pitchFamily="18" charset="0"/>
              </a:rPr>
              <a:t>Algorithm  to Delete a node from Beginning of SLL</a:t>
            </a:r>
            <a:r>
              <a:rPr lang="en-US" sz="2400" dirty="0">
                <a:solidFill>
                  <a:schemeClr val="bg1"/>
                </a:solidFill>
              </a:rPr>
              <a:t>        </a:t>
            </a:r>
            <a:endParaRPr lang="en-US" sz="24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0" name="Rectangle 9"/>
          <p:cNvSpPr/>
          <p:nvPr/>
        </p:nvSpPr>
        <p:spPr>
          <a:xfrm>
            <a:off x="1913205" y="1448973"/>
            <a:ext cx="8271803" cy="3046988"/>
          </a:xfrm>
          <a:prstGeom prst="rect">
            <a:avLst/>
          </a:prstGeom>
        </p:spPr>
        <p:txBody>
          <a:bodyPr wrap="square">
            <a:spAutoFit/>
          </a:bodyPr>
          <a:lstStyle/>
          <a:p>
            <a:r>
              <a:rPr lang="en-US" sz="2400" dirty="0">
                <a:latin typeface="Times New Roman" pitchFamily="18" charset="0"/>
                <a:cs typeface="Times New Roman" pitchFamily="18" charset="0"/>
              </a:rPr>
              <a:t>Step 1 - Check whether list is Empty (head == NULL)</a:t>
            </a:r>
          </a:p>
          <a:p>
            <a:r>
              <a:rPr lang="en-US" sz="2400" dirty="0">
                <a:latin typeface="Times New Roman" pitchFamily="18" charset="0"/>
                <a:cs typeface="Times New Roman" pitchFamily="18" charset="0"/>
              </a:rPr>
              <a:t>Step 2 - If it is Empty then, display 'List is Empty!!! </a:t>
            </a:r>
          </a:p>
          <a:p>
            <a:r>
              <a:rPr lang="en-US" sz="2400" dirty="0">
                <a:latin typeface="Times New Roman" pitchFamily="18" charset="0"/>
                <a:cs typeface="Times New Roman" pitchFamily="18" charset="0"/>
              </a:rPr>
              <a:t>Step 3 - Else define a Node pointer 'temp' and initialize with head.</a:t>
            </a:r>
          </a:p>
          <a:p>
            <a:r>
              <a:rPr lang="en-US" sz="2400" dirty="0">
                <a:latin typeface="Times New Roman" pitchFamily="18" charset="0"/>
                <a:cs typeface="Times New Roman" pitchFamily="18" charset="0"/>
              </a:rPr>
              <a:t>Step 4 - If list is having only one node </a:t>
            </a:r>
          </a:p>
          <a:p>
            <a:pPr>
              <a:buFont typeface="Arial" charset="0"/>
              <a:buNone/>
            </a:pPr>
            <a:r>
              <a:rPr lang="en-US" sz="2400" dirty="0">
                <a:latin typeface="Times New Roman" pitchFamily="18" charset="0"/>
                <a:cs typeface="Times New Roman" pitchFamily="18" charset="0"/>
              </a:rPr>
              <a:t>                    (temp → next == NULL)</a:t>
            </a:r>
          </a:p>
          <a:p>
            <a:r>
              <a:rPr lang="en-US" sz="2400" dirty="0">
                <a:latin typeface="Times New Roman" pitchFamily="18" charset="0"/>
                <a:cs typeface="Times New Roman" pitchFamily="18" charset="0"/>
              </a:rPr>
              <a:t>Step 5 - If it is TRUE then set head = NULL and delete temp</a:t>
            </a:r>
          </a:p>
          <a:p>
            <a:r>
              <a:rPr lang="en-US" sz="2400" dirty="0">
                <a:latin typeface="Times New Roman" pitchFamily="18" charset="0"/>
                <a:cs typeface="Times New Roman" pitchFamily="18" charset="0"/>
              </a:rPr>
              <a:t>Step 6 - If it is FALSE then set head = temp → next, and delete temp.</a:t>
            </a:r>
          </a:p>
        </p:txBody>
      </p:sp>
    </p:spTree>
    <p:extLst>
      <p:ext uri="{BB962C8B-B14F-4D97-AF65-F5344CB8AC3E}">
        <p14:creationId xmlns:p14="http://schemas.microsoft.com/office/powerpoint/2010/main" val="5641967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Deleting  a node in specific Position</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Rectangle 3"/>
          <p:cNvSpPr/>
          <p:nvPr/>
        </p:nvSpPr>
        <p:spPr>
          <a:xfrm>
            <a:off x="2574387" y="1252026"/>
            <a:ext cx="7441809" cy="830997"/>
          </a:xfrm>
          <a:prstGeom prst="rect">
            <a:avLst/>
          </a:prstGeom>
        </p:spPr>
        <p:txBody>
          <a:bodyPr wrap="square">
            <a:spAutoFit/>
          </a:bodyPr>
          <a:lstStyle/>
          <a:p>
            <a:pPr>
              <a:buFont typeface="Arial" pitchFamily="34" charset="0"/>
              <a:buNone/>
            </a:pPr>
            <a:endParaRPr lang="en-US" sz="2400" dirty="0">
              <a:latin typeface="Times New Roman" pitchFamily="18" charset="0"/>
              <a:cs typeface="Times New Roman" pitchFamily="18" charset="0"/>
            </a:endParaRPr>
          </a:p>
          <a:p>
            <a:pPr>
              <a:buFont typeface="Arial" pitchFamily="34" charset="0"/>
              <a:buNone/>
            </a:pPr>
            <a:r>
              <a:rPr lang="en-US" sz="2400" dirty="0">
                <a:latin typeface="Times New Roman" pitchFamily="18" charset="0"/>
                <a:cs typeface="Times New Roman" pitchFamily="18" charset="0"/>
              </a:rPr>
              <a:t>    </a:t>
            </a:r>
          </a:p>
        </p:txBody>
      </p:sp>
      <p:pic>
        <p:nvPicPr>
          <p:cNvPr id="5" name="Picture 2" descr="C:\Users\dell\Desktop\x.png"/>
          <p:cNvPicPr>
            <a:picLocks noGrp="1" noChangeAspect="1" noChangeArrowheads="1"/>
          </p:cNvPicPr>
          <p:nvPr>
            <p:ph idx="1"/>
          </p:nvPr>
        </p:nvPicPr>
        <p:blipFill>
          <a:blip r:embed="rId3"/>
          <a:srcRect/>
          <a:stretch>
            <a:fillRect/>
          </a:stretch>
        </p:blipFill>
        <p:spPr>
          <a:xfrm>
            <a:off x="1830765" y="1167618"/>
            <a:ext cx="8621712" cy="1008358"/>
          </a:xfrm>
          <a:noFill/>
        </p:spPr>
      </p:pic>
      <p:pic>
        <p:nvPicPr>
          <p:cNvPr id="7" name="Picture 3" descr="C:\Users\dell\Desktop\x.png"/>
          <p:cNvPicPr>
            <a:picLocks noChangeAspect="1" noChangeArrowheads="1"/>
          </p:cNvPicPr>
          <p:nvPr/>
        </p:nvPicPr>
        <p:blipFill>
          <a:blip r:embed="rId4"/>
          <a:srcRect/>
          <a:stretch>
            <a:fillRect/>
          </a:stretch>
        </p:blipFill>
        <p:spPr bwMode="auto">
          <a:xfrm>
            <a:off x="1819030" y="2617470"/>
            <a:ext cx="8426450" cy="1484313"/>
          </a:xfrm>
          <a:prstGeom prst="rect">
            <a:avLst/>
          </a:prstGeom>
          <a:noFill/>
          <a:ln w="9525">
            <a:noFill/>
            <a:miter lim="800000"/>
            <a:headEnd/>
            <a:tailEnd/>
          </a:ln>
        </p:spPr>
      </p:pic>
      <p:pic>
        <p:nvPicPr>
          <p:cNvPr id="8" name="Picture 5" descr="Deletion of middle node of singly linked list3"/>
          <p:cNvPicPr>
            <a:picLocks noChangeAspect="1" noChangeArrowheads="1"/>
          </p:cNvPicPr>
          <p:nvPr/>
        </p:nvPicPr>
        <p:blipFill>
          <a:blip r:embed="rId5"/>
          <a:srcRect/>
          <a:stretch>
            <a:fillRect/>
          </a:stretch>
        </p:blipFill>
        <p:spPr bwMode="auto">
          <a:xfrm>
            <a:off x="1667573" y="4526948"/>
            <a:ext cx="7851775" cy="1414462"/>
          </a:xfrm>
          <a:prstGeom prst="rect">
            <a:avLst/>
          </a:prstGeom>
          <a:noFill/>
          <a:ln w="9525">
            <a:noFill/>
            <a:miter lim="800000"/>
            <a:headEnd/>
            <a:tailEnd/>
          </a:ln>
        </p:spPr>
      </p:pic>
      <p:sp>
        <p:nvSpPr>
          <p:cNvPr id="9" name="TextBox 8"/>
          <p:cNvSpPr txBox="1"/>
          <p:nvPr/>
        </p:nvSpPr>
        <p:spPr>
          <a:xfrm>
            <a:off x="6513341" y="2152575"/>
            <a:ext cx="1223890" cy="369332"/>
          </a:xfrm>
          <a:prstGeom prst="rect">
            <a:avLst/>
          </a:prstGeom>
          <a:noFill/>
        </p:spPr>
        <p:txBody>
          <a:bodyPr wrap="square" rtlCol="0">
            <a:spAutoFit/>
          </a:bodyPr>
          <a:lstStyle/>
          <a:p>
            <a:r>
              <a:rPr lang="en-US" dirty="0"/>
              <a:t>temp1</a:t>
            </a:r>
          </a:p>
        </p:txBody>
      </p:sp>
      <p:sp>
        <p:nvSpPr>
          <p:cNvPr id="10" name="TextBox 9"/>
          <p:cNvSpPr txBox="1"/>
          <p:nvPr/>
        </p:nvSpPr>
        <p:spPr>
          <a:xfrm>
            <a:off x="4290647" y="2208628"/>
            <a:ext cx="1012874" cy="369332"/>
          </a:xfrm>
          <a:prstGeom prst="rect">
            <a:avLst/>
          </a:prstGeom>
          <a:noFill/>
        </p:spPr>
        <p:txBody>
          <a:bodyPr wrap="square" rtlCol="0">
            <a:spAutoFit/>
          </a:bodyPr>
          <a:lstStyle/>
          <a:p>
            <a:r>
              <a:rPr lang="en-US" dirty="0"/>
              <a:t>    temp2</a:t>
            </a:r>
          </a:p>
        </p:txBody>
      </p:sp>
      <p:cxnSp>
        <p:nvCxnSpPr>
          <p:cNvPr id="13" name="Straight Arrow Connector 12"/>
          <p:cNvCxnSpPr/>
          <p:nvPr/>
        </p:nvCxnSpPr>
        <p:spPr>
          <a:xfrm rot="5400000">
            <a:off x="4768948" y="2560320"/>
            <a:ext cx="295422" cy="2672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a:off x="6639950" y="2560320"/>
            <a:ext cx="407964" cy="1828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061457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22695" y="70605"/>
            <a:ext cx="7329267"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Algorithm to Delete a node in specific position in SLL</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Rectangle 3"/>
          <p:cNvSpPr/>
          <p:nvPr/>
        </p:nvSpPr>
        <p:spPr>
          <a:xfrm>
            <a:off x="2574387" y="1252026"/>
            <a:ext cx="7441809" cy="461665"/>
          </a:xfrm>
          <a:prstGeom prst="rect">
            <a:avLst/>
          </a:prstGeom>
        </p:spPr>
        <p:txBody>
          <a:bodyPr wrap="square">
            <a:spAutoFit/>
          </a:bodyPr>
          <a:lstStyle/>
          <a:p>
            <a:r>
              <a:rPr lang="en-US" sz="2400" dirty="0">
                <a:latin typeface="Times New Roman" pitchFamily="18" charset="0"/>
                <a:cs typeface="Times New Roman" pitchFamily="18" charset="0"/>
              </a:rPr>
              <a:t> </a:t>
            </a:r>
          </a:p>
        </p:txBody>
      </p:sp>
      <p:sp>
        <p:nvSpPr>
          <p:cNvPr id="7" name="Rectangle 6"/>
          <p:cNvSpPr/>
          <p:nvPr/>
        </p:nvSpPr>
        <p:spPr>
          <a:xfrm>
            <a:off x="886265" y="829994"/>
            <a:ext cx="10480429" cy="3170099"/>
          </a:xfrm>
          <a:prstGeom prst="rect">
            <a:avLst/>
          </a:prstGeom>
        </p:spPr>
        <p:txBody>
          <a:bodyPr wrap="square">
            <a:spAutoFit/>
          </a:bodyPr>
          <a:lstStyle/>
          <a:p>
            <a:r>
              <a:rPr lang="en-US" sz="2000" b="1" dirty="0">
                <a:latin typeface="Times New Roman" pitchFamily="18" charset="0"/>
                <a:cs typeface="Times New Roman" pitchFamily="18" charset="0"/>
              </a:rPr>
              <a:t>Step 1 - If</a:t>
            </a:r>
            <a:r>
              <a:rPr lang="en-US" sz="2000" dirty="0">
                <a:latin typeface="Times New Roman" pitchFamily="18" charset="0"/>
                <a:cs typeface="Times New Roman" pitchFamily="18" charset="0"/>
              </a:rPr>
              <a:t> list is </a:t>
            </a:r>
            <a:r>
              <a:rPr lang="en-US" sz="2000" b="1" dirty="0">
                <a:latin typeface="Times New Roman" pitchFamily="18" charset="0"/>
                <a:cs typeface="Times New Roman" pitchFamily="18" charset="0"/>
              </a:rPr>
              <a:t>Empty then</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head</a:t>
            </a:r>
            <a:r>
              <a:rPr lang="en-US" sz="2000" dirty="0">
                <a:latin typeface="Times New Roman" pitchFamily="18" charset="0"/>
                <a:cs typeface="Times New Roman" pitchFamily="18" charset="0"/>
              </a:rPr>
              <a:t> == </a:t>
            </a:r>
            <a:r>
              <a:rPr lang="en-US" sz="2000" b="1" dirty="0">
                <a:latin typeface="Times New Roman" pitchFamily="18" charset="0"/>
                <a:cs typeface="Times New Roman" pitchFamily="18" charset="0"/>
              </a:rPr>
              <a:t>NULL</a:t>
            </a:r>
            <a:r>
              <a:rPr lang="en-US" sz="2000" dirty="0">
                <a:latin typeface="Times New Roman" pitchFamily="18" charset="0"/>
                <a:cs typeface="Times New Roman" pitchFamily="18" charset="0"/>
              </a:rPr>
              <a:t>)</a:t>
            </a:r>
          </a:p>
          <a:p>
            <a:r>
              <a:rPr lang="en-US" sz="2000" b="1" dirty="0">
                <a:latin typeface="Times New Roman" pitchFamily="18" charset="0"/>
                <a:cs typeface="Times New Roman" pitchFamily="18" charset="0"/>
              </a:rPr>
              <a:t>Step 2 - </a:t>
            </a:r>
            <a:r>
              <a:rPr lang="en-US" sz="2000" dirty="0">
                <a:latin typeface="Times New Roman" pitchFamily="18" charset="0"/>
                <a:cs typeface="Times New Roman" pitchFamily="18" charset="0"/>
              </a:rPr>
              <a:t>If it is </a:t>
            </a:r>
            <a:r>
              <a:rPr lang="en-US" sz="2000" b="1" dirty="0">
                <a:latin typeface="Times New Roman" pitchFamily="18" charset="0"/>
                <a:cs typeface="Times New Roman" pitchFamily="18" charset="0"/>
              </a:rPr>
              <a:t>Empty</a:t>
            </a:r>
            <a:r>
              <a:rPr lang="en-US" sz="2000" dirty="0">
                <a:latin typeface="Times New Roman" pitchFamily="18" charset="0"/>
                <a:cs typeface="Times New Roman" pitchFamily="18" charset="0"/>
              </a:rPr>
              <a:t> then, display </a:t>
            </a:r>
            <a:r>
              <a:rPr lang="en-US" sz="2000" b="1" dirty="0">
                <a:latin typeface="Times New Roman" pitchFamily="18" charset="0"/>
                <a:cs typeface="Times New Roman" pitchFamily="18" charset="0"/>
              </a:rPr>
              <a:t>'List is Empty!!! </a:t>
            </a:r>
            <a:endParaRPr lang="en-US" sz="2000" dirty="0">
              <a:latin typeface="Times New Roman" pitchFamily="18" charset="0"/>
              <a:cs typeface="Times New Roman" pitchFamily="18" charset="0"/>
            </a:endParaRPr>
          </a:p>
          <a:p>
            <a:r>
              <a:rPr lang="en-US" sz="2000" b="1" dirty="0">
                <a:latin typeface="Times New Roman" pitchFamily="18" charset="0"/>
                <a:cs typeface="Times New Roman" pitchFamily="18" charset="0"/>
              </a:rPr>
              <a:t>Step 3 –Else </a:t>
            </a:r>
            <a:r>
              <a:rPr lang="en-US" sz="2000" dirty="0">
                <a:latin typeface="Times New Roman" pitchFamily="18" charset="0"/>
                <a:cs typeface="Times New Roman" pitchFamily="18" charset="0"/>
              </a:rPr>
              <a:t>define two Node pointers </a:t>
            </a:r>
            <a:r>
              <a:rPr lang="en-US" sz="2000" b="1" dirty="0">
                <a:latin typeface="Times New Roman" pitchFamily="18" charset="0"/>
                <a:cs typeface="Times New Roman" pitchFamily="18" charset="0"/>
              </a:rPr>
              <a:t>temp1,temp2 and</a:t>
            </a:r>
          </a:p>
          <a:p>
            <a:r>
              <a:rPr lang="en-US" sz="2000" b="1" dirty="0">
                <a:latin typeface="Times New Roman" pitchFamily="18" charset="0"/>
                <a:cs typeface="Times New Roman" pitchFamily="18" charset="0"/>
              </a:rPr>
              <a:t>               temp1=head;</a:t>
            </a:r>
            <a:endParaRPr lang="en-US" sz="2000" dirty="0">
              <a:latin typeface="Times New Roman" pitchFamily="18" charset="0"/>
              <a:cs typeface="Times New Roman" pitchFamily="18" charset="0"/>
            </a:endParaRPr>
          </a:p>
          <a:p>
            <a:r>
              <a:rPr lang="en-US" sz="2000" b="1" dirty="0">
                <a:latin typeface="Times New Roman" pitchFamily="18" charset="0"/>
                <a:cs typeface="Times New Roman" pitchFamily="18" charset="0"/>
              </a:rPr>
              <a:t>Step 4 - </a:t>
            </a:r>
            <a:r>
              <a:rPr lang="en-US" sz="2000" dirty="0">
                <a:latin typeface="Times New Roman" pitchFamily="18" charset="0"/>
                <a:cs typeface="Times New Roman" pitchFamily="18" charset="0"/>
              </a:rPr>
              <a:t>Keep moving the </a:t>
            </a:r>
            <a:r>
              <a:rPr lang="en-US" sz="2000" b="1" dirty="0">
                <a:latin typeface="Times New Roman" pitchFamily="18" charset="0"/>
                <a:cs typeface="Times New Roman" pitchFamily="18" charset="0"/>
              </a:rPr>
              <a:t>temp1</a:t>
            </a:r>
            <a:r>
              <a:rPr lang="en-US" sz="2000" dirty="0">
                <a:latin typeface="Times New Roman" pitchFamily="18" charset="0"/>
                <a:cs typeface="Times New Roman" pitchFamily="18" charset="0"/>
              </a:rPr>
              <a:t> until it reaches to the exact node to be deleted or to the last node. And every time set '</a:t>
            </a:r>
            <a:r>
              <a:rPr lang="en-US" sz="2000" b="1" dirty="0">
                <a:latin typeface="Times New Roman" pitchFamily="18" charset="0"/>
                <a:cs typeface="Times New Roman" pitchFamily="18" charset="0"/>
              </a:rPr>
              <a:t>temp2 = temp1</a:t>
            </a:r>
            <a:r>
              <a:rPr lang="en-US" sz="2000" dirty="0">
                <a:latin typeface="Times New Roman" pitchFamily="18" charset="0"/>
                <a:cs typeface="Times New Roman" pitchFamily="18" charset="0"/>
              </a:rPr>
              <a:t>' before moving the '</a:t>
            </a:r>
            <a:r>
              <a:rPr lang="en-US" sz="2000" b="1" dirty="0">
                <a:latin typeface="Times New Roman" pitchFamily="18" charset="0"/>
                <a:cs typeface="Times New Roman" pitchFamily="18" charset="0"/>
              </a:rPr>
              <a:t>temp1</a:t>
            </a:r>
            <a:r>
              <a:rPr lang="en-US" sz="2000" dirty="0">
                <a:latin typeface="Times New Roman" pitchFamily="18" charset="0"/>
                <a:cs typeface="Times New Roman" pitchFamily="18" charset="0"/>
              </a:rPr>
              <a:t>' to its next node.</a:t>
            </a:r>
          </a:p>
          <a:p>
            <a:r>
              <a:rPr lang="en-US" sz="2000" b="1" dirty="0">
                <a:latin typeface="Times New Roman" pitchFamily="18" charset="0"/>
                <a:cs typeface="Times New Roman" pitchFamily="18" charset="0"/>
              </a:rPr>
              <a:t>Step 5 - </a:t>
            </a:r>
            <a:r>
              <a:rPr lang="en-US" sz="2000" dirty="0">
                <a:latin typeface="Times New Roman" pitchFamily="18" charset="0"/>
                <a:cs typeface="Times New Roman" pitchFamily="18" charset="0"/>
              </a:rPr>
              <a:t>If it is reached to the last node then display” </a:t>
            </a:r>
            <a:r>
              <a:rPr lang="en-US" sz="2000" b="1" dirty="0">
                <a:latin typeface="Times New Roman" pitchFamily="18" charset="0"/>
                <a:cs typeface="Times New Roman" pitchFamily="18" charset="0"/>
              </a:rPr>
              <a:t>Deletion not possible”</a:t>
            </a:r>
            <a:r>
              <a:rPr lang="en-US" sz="2000" dirty="0">
                <a:latin typeface="Times New Roman" pitchFamily="18" charset="0"/>
                <a:cs typeface="Times New Roman" pitchFamily="18" charset="0"/>
              </a:rPr>
              <a:t>. </a:t>
            </a:r>
          </a:p>
          <a:p>
            <a:r>
              <a:rPr lang="en-US" sz="2000" b="1" dirty="0">
                <a:latin typeface="Times New Roman" pitchFamily="18" charset="0"/>
                <a:cs typeface="Times New Roman" pitchFamily="18" charset="0"/>
              </a:rPr>
              <a:t>Step 6 - </a:t>
            </a:r>
            <a:r>
              <a:rPr lang="en-US" sz="2000" dirty="0">
                <a:latin typeface="Times New Roman" pitchFamily="18" charset="0"/>
                <a:cs typeface="Times New Roman" pitchFamily="18" charset="0"/>
              </a:rPr>
              <a:t>If it is reached to the exact node which we want to delete, then check whether list is having only one node or not</a:t>
            </a:r>
          </a:p>
          <a:p>
            <a:endParaRPr lang="en-US" sz="2000" dirty="0">
              <a:latin typeface="Times New Roman" pitchFamily="18" charset="0"/>
              <a:cs typeface="Times New Roman" pitchFamily="18" charset="0"/>
            </a:endParaRPr>
          </a:p>
        </p:txBody>
      </p:sp>
      <p:sp>
        <p:nvSpPr>
          <p:cNvPr id="8" name="Rectangle 7"/>
          <p:cNvSpPr/>
          <p:nvPr/>
        </p:nvSpPr>
        <p:spPr>
          <a:xfrm>
            <a:off x="844061" y="3671667"/>
            <a:ext cx="11347939" cy="2862322"/>
          </a:xfrm>
          <a:prstGeom prst="rect">
            <a:avLst/>
          </a:prstGeom>
        </p:spPr>
        <p:txBody>
          <a:bodyPr wrap="square">
            <a:spAutoFit/>
          </a:bodyPr>
          <a:lstStyle/>
          <a:p>
            <a:r>
              <a:rPr lang="en-US" sz="2000" b="1" dirty="0">
                <a:latin typeface="Times New Roman" pitchFamily="18" charset="0"/>
                <a:cs typeface="Times New Roman" pitchFamily="18" charset="0"/>
              </a:rPr>
              <a:t>Step 7 - </a:t>
            </a:r>
            <a:r>
              <a:rPr lang="en-US" sz="2000" dirty="0">
                <a:latin typeface="Times New Roman" pitchFamily="18" charset="0"/>
                <a:cs typeface="Times New Roman" pitchFamily="18" charset="0"/>
              </a:rPr>
              <a:t>If list has only one node then set </a:t>
            </a:r>
            <a:r>
              <a:rPr lang="en-US" sz="2000" b="1" dirty="0">
                <a:latin typeface="Times New Roman" pitchFamily="18" charset="0"/>
                <a:cs typeface="Times New Roman" pitchFamily="18" charset="0"/>
              </a:rPr>
              <a:t>head</a:t>
            </a:r>
            <a:r>
              <a:rPr lang="en-US" sz="2000" dirty="0">
                <a:latin typeface="Times New Roman" pitchFamily="18" charset="0"/>
                <a:cs typeface="Times New Roman" pitchFamily="18" charset="0"/>
              </a:rPr>
              <a:t> = </a:t>
            </a:r>
            <a:r>
              <a:rPr lang="en-US" sz="2000" b="1" dirty="0">
                <a:latin typeface="Times New Roman" pitchFamily="18" charset="0"/>
                <a:cs typeface="Times New Roman" pitchFamily="18" charset="0"/>
              </a:rPr>
              <a:t>NULL</a:t>
            </a:r>
            <a:r>
              <a:rPr lang="en-US" sz="2000" dirty="0">
                <a:latin typeface="Times New Roman" pitchFamily="18" charset="0"/>
                <a:cs typeface="Times New Roman" pitchFamily="18" charset="0"/>
              </a:rPr>
              <a:t> and delete </a:t>
            </a:r>
            <a:r>
              <a:rPr lang="en-US" sz="2000" b="1" dirty="0">
                <a:latin typeface="Times New Roman" pitchFamily="18" charset="0"/>
                <a:cs typeface="Times New Roman" pitchFamily="18" charset="0"/>
              </a:rPr>
              <a:t>temp1</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free(temp1)</a:t>
            </a:r>
            <a:r>
              <a:rPr lang="en-US" sz="2000" dirty="0">
                <a:latin typeface="Times New Roman" pitchFamily="18" charset="0"/>
                <a:cs typeface="Times New Roman" pitchFamily="18" charset="0"/>
              </a:rPr>
              <a:t>).</a:t>
            </a:r>
          </a:p>
          <a:p>
            <a:r>
              <a:rPr lang="en-US" sz="2000" b="1" dirty="0">
                <a:latin typeface="Times New Roman" pitchFamily="18" charset="0"/>
                <a:cs typeface="Times New Roman" pitchFamily="18" charset="0"/>
              </a:rPr>
              <a:t>Step 8 - </a:t>
            </a:r>
            <a:r>
              <a:rPr lang="en-US" sz="2000" dirty="0">
                <a:latin typeface="Times New Roman" pitchFamily="18" charset="0"/>
                <a:cs typeface="Times New Roman" pitchFamily="18" charset="0"/>
              </a:rPr>
              <a:t>If list contains multiple nodes, then check whether </a:t>
            </a:r>
            <a:r>
              <a:rPr lang="en-US" sz="2000" b="1" dirty="0">
                <a:latin typeface="Times New Roman" pitchFamily="18" charset="0"/>
                <a:cs typeface="Times New Roman" pitchFamily="18" charset="0"/>
              </a:rPr>
              <a:t>temp1</a:t>
            </a:r>
            <a:r>
              <a:rPr lang="en-US" sz="2000" dirty="0">
                <a:latin typeface="Times New Roman" pitchFamily="18" charset="0"/>
                <a:cs typeface="Times New Roman" pitchFamily="18" charset="0"/>
              </a:rPr>
              <a:t> is the first node in the list (</a:t>
            </a:r>
            <a:r>
              <a:rPr lang="en-US" sz="2000" b="1" dirty="0">
                <a:latin typeface="Times New Roman" pitchFamily="18" charset="0"/>
                <a:cs typeface="Times New Roman" pitchFamily="18" charset="0"/>
              </a:rPr>
              <a:t>temp1 ==head) </a:t>
            </a:r>
            <a:endParaRPr lang="en-US" sz="2000" dirty="0">
              <a:latin typeface="Times New Roman" pitchFamily="18" charset="0"/>
              <a:cs typeface="Times New Roman" pitchFamily="18" charset="0"/>
            </a:endParaRPr>
          </a:p>
          <a:p>
            <a:r>
              <a:rPr lang="en-US" sz="2000" b="1" dirty="0">
                <a:latin typeface="Times New Roman" pitchFamily="18" charset="0"/>
                <a:cs typeface="Times New Roman" pitchFamily="18" charset="0"/>
              </a:rPr>
              <a:t>Step 9 - </a:t>
            </a:r>
            <a:r>
              <a:rPr lang="en-US" sz="2000" dirty="0">
                <a:latin typeface="Times New Roman" pitchFamily="18" charset="0"/>
                <a:cs typeface="Times New Roman" pitchFamily="18" charset="0"/>
              </a:rPr>
              <a:t>If </a:t>
            </a:r>
            <a:r>
              <a:rPr lang="en-US" sz="2000" b="1" dirty="0">
                <a:latin typeface="Times New Roman" pitchFamily="18" charset="0"/>
                <a:cs typeface="Times New Roman" pitchFamily="18" charset="0"/>
              </a:rPr>
              <a:t>temp1</a:t>
            </a:r>
            <a:r>
              <a:rPr lang="en-US" sz="2000" dirty="0">
                <a:latin typeface="Times New Roman" pitchFamily="18" charset="0"/>
                <a:cs typeface="Times New Roman" pitchFamily="18" charset="0"/>
              </a:rPr>
              <a:t> is the first node then move the </a:t>
            </a:r>
            <a:r>
              <a:rPr lang="en-US" sz="2000" b="1" dirty="0">
                <a:latin typeface="Times New Roman" pitchFamily="18" charset="0"/>
                <a:cs typeface="Times New Roman" pitchFamily="18" charset="0"/>
              </a:rPr>
              <a:t>head</a:t>
            </a:r>
            <a:r>
              <a:rPr lang="en-US" sz="2000" dirty="0">
                <a:latin typeface="Times New Roman" pitchFamily="18" charset="0"/>
                <a:cs typeface="Times New Roman" pitchFamily="18" charset="0"/>
              </a:rPr>
              <a:t> to the next node (</a:t>
            </a:r>
            <a:r>
              <a:rPr lang="en-US" sz="2000" b="1" dirty="0">
                <a:latin typeface="Times New Roman" pitchFamily="18" charset="0"/>
                <a:cs typeface="Times New Roman" pitchFamily="18" charset="0"/>
              </a:rPr>
              <a:t>head = head → next</a:t>
            </a:r>
            <a:r>
              <a:rPr lang="en-US" sz="2000" dirty="0">
                <a:latin typeface="Times New Roman" pitchFamily="18" charset="0"/>
                <a:cs typeface="Times New Roman" pitchFamily="18" charset="0"/>
              </a:rPr>
              <a:t>) and delete </a:t>
            </a:r>
            <a:r>
              <a:rPr lang="en-US" sz="2000" b="1" dirty="0">
                <a:latin typeface="Times New Roman" pitchFamily="18" charset="0"/>
                <a:cs typeface="Times New Roman" pitchFamily="18" charset="0"/>
              </a:rPr>
              <a:t>temp1</a:t>
            </a:r>
            <a:r>
              <a:rPr lang="en-US" sz="2000" dirty="0">
                <a:latin typeface="Times New Roman" pitchFamily="18" charset="0"/>
                <a:cs typeface="Times New Roman" pitchFamily="18" charset="0"/>
              </a:rPr>
              <a:t>.</a:t>
            </a:r>
          </a:p>
          <a:p>
            <a:r>
              <a:rPr lang="en-US" sz="2000" b="1" dirty="0">
                <a:latin typeface="Times New Roman" pitchFamily="18" charset="0"/>
                <a:cs typeface="Times New Roman" pitchFamily="18" charset="0"/>
              </a:rPr>
              <a:t>Step 10 - </a:t>
            </a:r>
            <a:r>
              <a:rPr lang="en-US" sz="2000" dirty="0">
                <a:latin typeface="Times New Roman" pitchFamily="18" charset="0"/>
                <a:cs typeface="Times New Roman" pitchFamily="18" charset="0"/>
              </a:rPr>
              <a:t>If </a:t>
            </a:r>
            <a:r>
              <a:rPr lang="en-US" sz="2000" b="1" dirty="0">
                <a:latin typeface="Times New Roman" pitchFamily="18" charset="0"/>
                <a:cs typeface="Times New Roman" pitchFamily="18" charset="0"/>
              </a:rPr>
              <a:t>temp1</a:t>
            </a:r>
            <a:r>
              <a:rPr lang="en-US" sz="2000" dirty="0">
                <a:latin typeface="Times New Roman" pitchFamily="18" charset="0"/>
                <a:cs typeface="Times New Roman" pitchFamily="18" charset="0"/>
              </a:rPr>
              <a:t> is not first node then check whether it is last node in the list (</a:t>
            </a:r>
            <a:r>
              <a:rPr lang="en-US" sz="2000" b="1" dirty="0">
                <a:latin typeface="Times New Roman" pitchFamily="18" charset="0"/>
                <a:cs typeface="Times New Roman" pitchFamily="18" charset="0"/>
              </a:rPr>
              <a:t>temp1 → next == NULL</a:t>
            </a:r>
            <a:r>
              <a:rPr lang="en-US" sz="2000" dirty="0">
                <a:latin typeface="Times New Roman" pitchFamily="18" charset="0"/>
                <a:cs typeface="Times New Roman" pitchFamily="18" charset="0"/>
              </a:rPr>
              <a:t>).</a:t>
            </a:r>
          </a:p>
          <a:p>
            <a:r>
              <a:rPr lang="en-US" sz="2000" b="1" dirty="0">
                <a:latin typeface="Times New Roman" pitchFamily="18" charset="0"/>
                <a:cs typeface="Times New Roman" pitchFamily="18" charset="0"/>
              </a:rPr>
              <a:t>Step 11 - </a:t>
            </a:r>
            <a:r>
              <a:rPr lang="en-US" sz="2000" dirty="0">
                <a:latin typeface="Times New Roman" pitchFamily="18" charset="0"/>
                <a:cs typeface="Times New Roman" pitchFamily="18" charset="0"/>
              </a:rPr>
              <a:t>If </a:t>
            </a:r>
            <a:r>
              <a:rPr lang="en-US" sz="2000" b="1" dirty="0">
                <a:latin typeface="Times New Roman" pitchFamily="18" charset="0"/>
                <a:cs typeface="Times New Roman" pitchFamily="18" charset="0"/>
              </a:rPr>
              <a:t>temp1</a:t>
            </a:r>
            <a:r>
              <a:rPr lang="en-US" sz="2000" dirty="0">
                <a:latin typeface="Times New Roman" pitchFamily="18" charset="0"/>
                <a:cs typeface="Times New Roman" pitchFamily="18" charset="0"/>
              </a:rPr>
              <a:t> is last node then  set </a:t>
            </a:r>
            <a:r>
              <a:rPr lang="en-US" sz="2000" b="1" dirty="0">
                <a:latin typeface="Times New Roman" pitchFamily="18" charset="0"/>
                <a:cs typeface="Times New Roman" pitchFamily="18" charset="0"/>
              </a:rPr>
              <a:t>temp2 →next</a:t>
            </a:r>
            <a:r>
              <a:rPr lang="en-US" sz="2000" dirty="0">
                <a:latin typeface="Times New Roman" pitchFamily="18" charset="0"/>
                <a:cs typeface="Times New Roman" pitchFamily="18" charset="0"/>
              </a:rPr>
              <a:t> = </a:t>
            </a:r>
            <a:r>
              <a:rPr lang="en-US" sz="2000" b="1" dirty="0">
                <a:latin typeface="Times New Roman" pitchFamily="18" charset="0"/>
                <a:cs typeface="Times New Roman" pitchFamily="18" charset="0"/>
              </a:rPr>
              <a:t>NULL</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delete </a:t>
            </a:r>
            <a:r>
              <a:rPr lang="en-US" sz="2000" b="1" dirty="0">
                <a:latin typeface="Times New Roman" pitchFamily="18" charset="0"/>
                <a:cs typeface="Times New Roman" pitchFamily="18" charset="0"/>
              </a:rPr>
              <a:t>temp1</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free(temp1)</a:t>
            </a:r>
            <a:r>
              <a:rPr lang="en-US" sz="2000" dirty="0">
                <a:latin typeface="Times New Roman" pitchFamily="18" charset="0"/>
                <a:cs typeface="Times New Roman" pitchFamily="18" charset="0"/>
              </a:rPr>
              <a:t>).</a:t>
            </a:r>
          </a:p>
          <a:p>
            <a:r>
              <a:rPr lang="en-US" sz="2000" b="1" dirty="0">
                <a:latin typeface="Times New Roman" pitchFamily="18" charset="0"/>
                <a:cs typeface="Times New Roman" pitchFamily="18" charset="0"/>
              </a:rPr>
              <a:t>Step 12 - </a:t>
            </a:r>
            <a:r>
              <a:rPr lang="en-US" sz="2000" dirty="0">
                <a:latin typeface="Times New Roman" pitchFamily="18" charset="0"/>
                <a:cs typeface="Times New Roman" pitchFamily="18" charset="0"/>
              </a:rPr>
              <a:t>If </a:t>
            </a:r>
            <a:r>
              <a:rPr lang="en-US" sz="2000" b="1" dirty="0">
                <a:latin typeface="Times New Roman" pitchFamily="18" charset="0"/>
                <a:cs typeface="Times New Roman" pitchFamily="18" charset="0"/>
              </a:rPr>
              <a:t>temp1</a:t>
            </a:r>
            <a:r>
              <a:rPr lang="en-US" sz="2000" dirty="0">
                <a:latin typeface="Times New Roman" pitchFamily="18" charset="0"/>
                <a:cs typeface="Times New Roman" pitchFamily="18" charset="0"/>
              </a:rPr>
              <a:t> is not first node and not last node then set</a:t>
            </a:r>
          </a:p>
          <a:p>
            <a:pPr>
              <a:buFont typeface="Arial" charset="0"/>
              <a:buNone/>
            </a:pP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temp2 → next</a:t>
            </a:r>
            <a:r>
              <a:rPr lang="en-US" sz="2000" dirty="0">
                <a:latin typeface="Times New Roman" pitchFamily="18" charset="0"/>
                <a:cs typeface="Times New Roman" pitchFamily="18" charset="0"/>
              </a:rPr>
              <a:t> = </a:t>
            </a:r>
            <a:r>
              <a:rPr lang="en-US" sz="2000" b="1" dirty="0">
                <a:latin typeface="Times New Roman" pitchFamily="18" charset="0"/>
                <a:cs typeface="Times New Roman" pitchFamily="18" charset="0"/>
              </a:rPr>
              <a:t>temp1 → next</a:t>
            </a:r>
            <a:r>
              <a:rPr lang="en-US" sz="2000" dirty="0">
                <a:latin typeface="Times New Roman" pitchFamily="18" charset="0"/>
                <a:cs typeface="Times New Roman" pitchFamily="18" charset="0"/>
              </a:rPr>
              <a:t> </a:t>
            </a:r>
          </a:p>
          <a:p>
            <a:pPr>
              <a:buFont typeface="Arial" charset="0"/>
              <a:buNone/>
            </a:pPr>
            <a:r>
              <a:rPr lang="en-US" sz="2000" dirty="0">
                <a:latin typeface="Times New Roman" pitchFamily="18" charset="0"/>
                <a:cs typeface="Times New Roman" pitchFamily="18" charset="0"/>
              </a:rPr>
              <a:t>                     delete </a:t>
            </a:r>
            <a:r>
              <a:rPr lang="en-US" sz="2000" b="1" dirty="0">
                <a:latin typeface="Times New Roman" pitchFamily="18" charset="0"/>
                <a:cs typeface="Times New Roman" pitchFamily="18" charset="0"/>
              </a:rPr>
              <a:t>temp1</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free(temp1)</a:t>
            </a:r>
            <a:r>
              <a:rPr lang="en-US" sz="2000" dirty="0">
                <a:latin typeface="Times New Roman" pitchFamily="18" charset="0"/>
                <a:cs typeface="Times New Roman" pitchFamily="18" charset="0"/>
              </a:rPr>
              <a:t>).</a:t>
            </a:r>
          </a:p>
        </p:txBody>
      </p:sp>
    </p:spTree>
    <p:extLst>
      <p:ext uri="{BB962C8B-B14F-4D97-AF65-F5344CB8AC3E}">
        <p14:creationId xmlns:p14="http://schemas.microsoft.com/office/powerpoint/2010/main" val="411809609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22695" y="70605"/>
            <a:ext cx="7329267"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 Delete a node from End  of  SLL</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Rectangle 3"/>
          <p:cNvSpPr/>
          <p:nvPr/>
        </p:nvSpPr>
        <p:spPr>
          <a:xfrm>
            <a:off x="2574387" y="1252026"/>
            <a:ext cx="7441809" cy="461665"/>
          </a:xfrm>
          <a:prstGeom prst="rect">
            <a:avLst/>
          </a:prstGeom>
        </p:spPr>
        <p:txBody>
          <a:bodyPr wrap="square">
            <a:spAutoFit/>
          </a:bodyPr>
          <a:lstStyle/>
          <a:p>
            <a:r>
              <a:rPr lang="en-US" sz="2400" dirty="0">
                <a:latin typeface="Times New Roman" pitchFamily="18" charset="0"/>
                <a:cs typeface="Times New Roman" pitchFamily="18" charset="0"/>
              </a:rPr>
              <a:t> </a:t>
            </a:r>
          </a:p>
        </p:txBody>
      </p:sp>
      <p:pic>
        <p:nvPicPr>
          <p:cNvPr id="9" name="Picture 2" descr="C:\Users\dell\Desktop\x.png"/>
          <p:cNvPicPr>
            <a:picLocks noGrp="1" noChangeAspect="1" noChangeArrowheads="1"/>
          </p:cNvPicPr>
          <p:nvPr>
            <p:ph idx="1"/>
          </p:nvPr>
        </p:nvPicPr>
        <p:blipFill>
          <a:blip r:embed="rId3"/>
          <a:srcRect/>
          <a:stretch>
            <a:fillRect/>
          </a:stretch>
        </p:blipFill>
        <p:spPr>
          <a:xfrm>
            <a:off x="1871003" y="872197"/>
            <a:ext cx="8521871" cy="1189502"/>
          </a:xfrm>
          <a:noFill/>
        </p:spPr>
      </p:pic>
      <p:pic>
        <p:nvPicPr>
          <p:cNvPr id="10" name="Picture 4" descr="Deletion of last node of singly linked list2"/>
          <p:cNvPicPr>
            <a:picLocks noChangeAspect="1" noChangeArrowheads="1"/>
          </p:cNvPicPr>
          <p:nvPr/>
        </p:nvPicPr>
        <p:blipFill>
          <a:blip r:embed="rId4"/>
          <a:srcRect/>
          <a:stretch>
            <a:fillRect/>
          </a:stretch>
        </p:blipFill>
        <p:spPr bwMode="auto">
          <a:xfrm>
            <a:off x="1942075" y="2616982"/>
            <a:ext cx="8399463" cy="1349375"/>
          </a:xfrm>
          <a:prstGeom prst="rect">
            <a:avLst/>
          </a:prstGeom>
          <a:noFill/>
          <a:ln w="9525">
            <a:noFill/>
            <a:miter lim="800000"/>
            <a:headEnd/>
            <a:tailEnd/>
          </a:ln>
        </p:spPr>
      </p:pic>
      <p:pic>
        <p:nvPicPr>
          <p:cNvPr id="11" name="Picture 6" descr="Deletion of last node of singly linked list3"/>
          <p:cNvPicPr>
            <a:picLocks noChangeAspect="1" noChangeArrowheads="1"/>
          </p:cNvPicPr>
          <p:nvPr/>
        </p:nvPicPr>
        <p:blipFill>
          <a:blip r:embed="rId5"/>
          <a:srcRect/>
          <a:stretch>
            <a:fillRect/>
          </a:stretch>
        </p:blipFill>
        <p:spPr bwMode="auto">
          <a:xfrm>
            <a:off x="1996978" y="4692382"/>
            <a:ext cx="7969250" cy="1019175"/>
          </a:xfrm>
          <a:prstGeom prst="rect">
            <a:avLst/>
          </a:prstGeom>
          <a:noFill/>
          <a:ln w="9525">
            <a:noFill/>
            <a:miter lim="800000"/>
            <a:headEnd/>
            <a:tailEnd/>
          </a:ln>
        </p:spPr>
      </p:pic>
      <p:sp>
        <p:nvSpPr>
          <p:cNvPr id="13" name="TextBox 12"/>
          <p:cNvSpPr txBox="1"/>
          <p:nvPr/>
        </p:nvSpPr>
        <p:spPr>
          <a:xfrm>
            <a:off x="6668086" y="2335237"/>
            <a:ext cx="970671" cy="369332"/>
          </a:xfrm>
          <a:prstGeom prst="rect">
            <a:avLst/>
          </a:prstGeom>
          <a:noFill/>
        </p:spPr>
        <p:txBody>
          <a:bodyPr wrap="square" rtlCol="0">
            <a:spAutoFit/>
          </a:bodyPr>
          <a:lstStyle/>
          <a:p>
            <a:r>
              <a:rPr lang="en-US" dirty="0"/>
              <a:t>temp2</a:t>
            </a:r>
          </a:p>
        </p:txBody>
      </p:sp>
      <p:sp>
        <p:nvSpPr>
          <p:cNvPr id="14" name="TextBox 13"/>
          <p:cNvSpPr txBox="1"/>
          <p:nvPr/>
        </p:nvSpPr>
        <p:spPr>
          <a:xfrm>
            <a:off x="8890781" y="2278966"/>
            <a:ext cx="1012873" cy="369332"/>
          </a:xfrm>
          <a:prstGeom prst="rect">
            <a:avLst/>
          </a:prstGeom>
          <a:noFill/>
        </p:spPr>
        <p:txBody>
          <a:bodyPr wrap="square" rtlCol="0">
            <a:spAutoFit/>
          </a:bodyPr>
          <a:lstStyle/>
          <a:p>
            <a:r>
              <a:rPr lang="en-US" dirty="0"/>
              <a:t>temp1</a:t>
            </a:r>
          </a:p>
        </p:txBody>
      </p:sp>
      <p:sp>
        <p:nvSpPr>
          <p:cNvPr id="15" name="TextBox 14"/>
          <p:cNvSpPr txBox="1"/>
          <p:nvPr/>
        </p:nvSpPr>
        <p:spPr>
          <a:xfrm>
            <a:off x="8201465" y="4135902"/>
            <a:ext cx="1026941" cy="369332"/>
          </a:xfrm>
          <a:prstGeom prst="rect">
            <a:avLst/>
          </a:prstGeom>
          <a:noFill/>
        </p:spPr>
        <p:txBody>
          <a:bodyPr wrap="square" rtlCol="0">
            <a:spAutoFit/>
          </a:bodyPr>
          <a:lstStyle/>
          <a:p>
            <a:r>
              <a:rPr lang="en-US" dirty="0"/>
              <a:t>temp2</a:t>
            </a:r>
          </a:p>
        </p:txBody>
      </p:sp>
      <p:cxnSp>
        <p:nvCxnSpPr>
          <p:cNvPr id="17" name="Straight Arrow Connector 16"/>
          <p:cNvCxnSpPr/>
          <p:nvPr/>
        </p:nvCxnSpPr>
        <p:spPr>
          <a:xfrm rot="16200000" flipH="1">
            <a:off x="6801732" y="2806507"/>
            <a:ext cx="365757" cy="140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6200000" flipH="1">
            <a:off x="9136966" y="2722098"/>
            <a:ext cx="351692" cy="1125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5" idx="2"/>
          </p:cNvCxnSpPr>
          <p:nvPr/>
        </p:nvCxnSpPr>
        <p:spPr>
          <a:xfrm rot="5400000">
            <a:off x="8431851" y="4584337"/>
            <a:ext cx="362188" cy="2039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927274" y="2222695"/>
            <a:ext cx="2082018" cy="369332"/>
          </a:xfrm>
          <a:prstGeom prst="rect">
            <a:avLst/>
          </a:prstGeom>
          <a:noFill/>
        </p:spPr>
        <p:txBody>
          <a:bodyPr wrap="square" rtlCol="0">
            <a:spAutoFit/>
          </a:bodyPr>
          <a:lstStyle/>
          <a:p>
            <a:r>
              <a:rPr lang="en-US" dirty="0"/>
              <a:t>temp1       temp2</a:t>
            </a:r>
          </a:p>
        </p:txBody>
      </p:sp>
      <p:cxnSp>
        <p:nvCxnSpPr>
          <p:cNvPr id="25" name="Straight Arrow Connector 24"/>
          <p:cNvCxnSpPr/>
          <p:nvPr/>
        </p:nvCxnSpPr>
        <p:spPr>
          <a:xfrm rot="5400000" flipH="1" flipV="1">
            <a:off x="2187526" y="1920240"/>
            <a:ext cx="464234" cy="1688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16200000" flipV="1">
            <a:off x="3024554" y="1969476"/>
            <a:ext cx="464234" cy="154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931916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itchFamily="18" charset="0"/>
                <a:cs typeface="Times New Roman" pitchFamily="18" charset="0"/>
              </a:rPr>
              <a:t>Algorithm to Delete a node at End of SLL</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ectangle 4"/>
          <p:cNvSpPr/>
          <p:nvPr/>
        </p:nvSpPr>
        <p:spPr>
          <a:xfrm>
            <a:off x="1589649" y="984738"/>
            <a:ext cx="7554351" cy="461665"/>
          </a:xfrm>
          <a:prstGeom prst="rect">
            <a:avLst/>
          </a:prstGeom>
        </p:spPr>
        <p:txBody>
          <a:bodyPr wrap="square">
            <a:spAutoFit/>
          </a:bodyPr>
          <a:lstStyle/>
          <a:p>
            <a:endParaRPr lang="en-US" sz="2400" dirty="0">
              <a:latin typeface="Times New Roman" pitchFamily="18" charset="0"/>
              <a:cs typeface="Times New Roman" pitchFamily="18" charset="0"/>
            </a:endParaRPr>
          </a:p>
        </p:txBody>
      </p:sp>
      <p:sp>
        <p:nvSpPr>
          <p:cNvPr id="7" name="Content Placeholder 6"/>
          <p:cNvSpPr>
            <a:spLocks noGrp="1"/>
          </p:cNvSpPr>
          <p:nvPr>
            <p:ph idx="1"/>
          </p:nvPr>
        </p:nvSpPr>
        <p:spPr>
          <a:xfrm>
            <a:off x="838200" y="942535"/>
            <a:ext cx="10515600" cy="5234428"/>
          </a:xfrm>
        </p:spPr>
        <p:txBody>
          <a:bodyPr/>
          <a:lstStyle/>
          <a:p>
            <a:r>
              <a:rPr lang="en-US" sz="2400" b="1" dirty="0">
                <a:latin typeface="Times New Roman" pitchFamily="18" charset="0"/>
                <a:cs typeface="Times New Roman" pitchFamily="18" charset="0"/>
              </a:rPr>
              <a:t>Step 1 - </a:t>
            </a:r>
            <a:r>
              <a:rPr lang="en-US" sz="2400" dirty="0">
                <a:latin typeface="Times New Roman" pitchFamily="18" charset="0"/>
                <a:cs typeface="Times New Roman" pitchFamily="18" charset="0"/>
              </a:rPr>
              <a:t>Check whether list is </a:t>
            </a:r>
            <a:r>
              <a:rPr lang="en-US" sz="2400" b="1" dirty="0">
                <a:latin typeface="Times New Roman" pitchFamily="18" charset="0"/>
                <a:cs typeface="Times New Roman" pitchFamily="18" charset="0"/>
              </a:rPr>
              <a:t>Empty</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head</a:t>
            </a:r>
            <a:r>
              <a:rPr lang="en-US" sz="2400" dirty="0">
                <a:latin typeface="Times New Roman" pitchFamily="18" charset="0"/>
                <a:cs typeface="Times New Roman" pitchFamily="18" charset="0"/>
              </a:rPr>
              <a:t> == </a:t>
            </a:r>
            <a:r>
              <a:rPr lang="en-US" sz="2400" b="1" dirty="0">
                <a:latin typeface="Times New Roman" pitchFamily="18" charset="0"/>
                <a:cs typeface="Times New Roman" pitchFamily="18" charset="0"/>
              </a:rPr>
              <a:t>NULL</a:t>
            </a:r>
            <a:r>
              <a:rPr lang="en-US" sz="2400" dirty="0">
                <a:latin typeface="Times New Roman" pitchFamily="18" charset="0"/>
                <a:cs typeface="Times New Roman" pitchFamily="18" charset="0"/>
              </a:rPr>
              <a:t>)</a:t>
            </a:r>
          </a:p>
          <a:p>
            <a:r>
              <a:rPr lang="en-US" sz="2400" b="1" dirty="0">
                <a:latin typeface="Times New Roman" pitchFamily="18" charset="0"/>
                <a:cs typeface="Times New Roman" pitchFamily="18" charset="0"/>
              </a:rPr>
              <a:t>Step 2 - </a:t>
            </a:r>
            <a:r>
              <a:rPr lang="en-US" sz="2400" dirty="0">
                <a:latin typeface="Times New Roman" pitchFamily="18" charset="0"/>
                <a:cs typeface="Times New Roman" pitchFamily="18" charset="0"/>
              </a:rPr>
              <a:t>If it is </a:t>
            </a:r>
            <a:r>
              <a:rPr lang="en-US" sz="2400" b="1" dirty="0">
                <a:latin typeface="Times New Roman" pitchFamily="18" charset="0"/>
                <a:cs typeface="Times New Roman" pitchFamily="18" charset="0"/>
              </a:rPr>
              <a:t>Empty</a:t>
            </a:r>
            <a:r>
              <a:rPr lang="en-US" sz="2400" dirty="0">
                <a:latin typeface="Times New Roman" pitchFamily="18" charset="0"/>
                <a:cs typeface="Times New Roman" pitchFamily="18" charset="0"/>
              </a:rPr>
              <a:t> then, display </a:t>
            </a:r>
            <a:r>
              <a:rPr lang="en-US" sz="2400" b="1" dirty="0">
                <a:latin typeface="Times New Roman" pitchFamily="18" charset="0"/>
                <a:cs typeface="Times New Roman" pitchFamily="18" charset="0"/>
              </a:rPr>
              <a:t>'List is Empty!!! </a:t>
            </a: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Step 3 - </a:t>
            </a:r>
            <a:r>
              <a:rPr lang="en-US" sz="2400" dirty="0">
                <a:latin typeface="Times New Roman" pitchFamily="18" charset="0"/>
                <a:cs typeface="Times New Roman" pitchFamily="18" charset="0"/>
              </a:rPr>
              <a:t>If it is </a:t>
            </a:r>
            <a:r>
              <a:rPr lang="en-US" sz="2400" b="1" dirty="0">
                <a:latin typeface="Times New Roman" pitchFamily="18" charset="0"/>
                <a:cs typeface="Times New Roman" pitchFamily="18" charset="0"/>
              </a:rPr>
              <a:t>Not Empty</a:t>
            </a:r>
            <a:r>
              <a:rPr lang="en-US" sz="2400" dirty="0">
                <a:latin typeface="Times New Roman" pitchFamily="18" charset="0"/>
                <a:cs typeface="Times New Roman" pitchFamily="18" charset="0"/>
              </a:rPr>
              <a:t> then, define two Node pointers </a:t>
            </a:r>
            <a:r>
              <a:rPr lang="en-US" sz="2400" b="1" dirty="0">
                <a:latin typeface="Times New Roman" pitchFamily="18" charset="0"/>
                <a:cs typeface="Times New Roman" pitchFamily="18" charset="0"/>
              </a:rPr>
              <a:t>'temp1'</a:t>
            </a:r>
            <a:r>
              <a:rPr lang="en-US" sz="2400" dirty="0">
                <a:latin typeface="Times New Roman" pitchFamily="18" charset="0"/>
                <a:cs typeface="Times New Roman" pitchFamily="18" charset="0"/>
              </a:rPr>
              <a:t> and '</a:t>
            </a:r>
            <a:r>
              <a:rPr lang="en-US" sz="2400" b="1" dirty="0">
                <a:latin typeface="Times New Roman" pitchFamily="18" charset="0"/>
                <a:cs typeface="Times New Roman" pitchFamily="18" charset="0"/>
              </a:rPr>
              <a:t>temp2'</a:t>
            </a:r>
            <a:r>
              <a:rPr lang="en-US" sz="2400" dirty="0">
                <a:latin typeface="Times New Roman" pitchFamily="18" charset="0"/>
                <a:cs typeface="Times New Roman" pitchFamily="18" charset="0"/>
              </a:rPr>
              <a:t> and initialize '</a:t>
            </a:r>
            <a:r>
              <a:rPr lang="en-US" sz="2400" b="1" dirty="0">
                <a:latin typeface="Times New Roman" pitchFamily="18" charset="0"/>
                <a:cs typeface="Times New Roman" pitchFamily="18" charset="0"/>
              </a:rPr>
              <a:t>temp1=</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head</a:t>
            </a:r>
            <a:r>
              <a:rPr lang="en-US" sz="2400" dirty="0">
                <a:latin typeface="Times New Roman" pitchFamily="18" charset="0"/>
                <a:cs typeface="Times New Roman" pitchFamily="18" charset="0"/>
              </a:rPr>
              <a:t>.</a:t>
            </a:r>
          </a:p>
          <a:p>
            <a:r>
              <a:rPr lang="en-US" sz="2400" b="1" dirty="0">
                <a:latin typeface="Times New Roman" pitchFamily="18" charset="0"/>
                <a:cs typeface="Times New Roman" pitchFamily="18" charset="0"/>
              </a:rPr>
              <a:t>Step 4 - </a:t>
            </a:r>
            <a:r>
              <a:rPr lang="en-US" sz="2400" dirty="0">
                <a:latin typeface="Times New Roman" pitchFamily="18" charset="0"/>
                <a:cs typeface="Times New Roman" pitchFamily="18" charset="0"/>
              </a:rPr>
              <a:t>Check whether list has only one Node (</a:t>
            </a:r>
            <a:r>
              <a:rPr lang="en-US" sz="2400" b="1" dirty="0">
                <a:latin typeface="Times New Roman" pitchFamily="18" charset="0"/>
                <a:cs typeface="Times New Roman" pitchFamily="18" charset="0"/>
              </a:rPr>
              <a:t>temp1 → next</a:t>
            </a:r>
            <a:r>
              <a:rPr lang="en-US" sz="2400" dirty="0">
                <a:latin typeface="Times New Roman" pitchFamily="18" charset="0"/>
                <a:cs typeface="Times New Roman" pitchFamily="18" charset="0"/>
              </a:rPr>
              <a:t> == </a:t>
            </a:r>
            <a:r>
              <a:rPr lang="en-US" sz="2400" b="1" dirty="0">
                <a:latin typeface="Times New Roman" pitchFamily="18" charset="0"/>
                <a:cs typeface="Times New Roman" pitchFamily="18" charset="0"/>
              </a:rPr>
              <a:t>NULL</a:t>
            </a:r>
            <a:r>
              <a:rPr lang="en-US" sz="2400" dirty="0">
                <a:latin typeface="Times New Roman" pitchFamily="18" charset="0"/>
                <a:cs typeface="Times New Roman" pitchFamily="18" charset="0"/>
              </a:rPr>
              <a:t>)</a:t>
            </a:r>
          </a:p>
          <a:p>
            <a:r>
              <a:rPr lang="en-US" sz="2400" b="1" dirty="0">
                <a:latin typeface="Times New Roman" pitchFamily="18" charset="0"/>
                <a:cs typeface="Times New Roman" pitchFamily="18" charset="0"/>
              </a:rPr>
              <a:t>Step 5 - </a:t>
            </a:r>
            <a:r>
              <a:rPr lang="en-US" sz="2400" dirty="0">
                <a:latin typeface="Times New Roman" pitchFamily="18" charset="0"/>
                <a:cs typeface="Times New Roman" pitchFamily="18" charset="0"/>
              </a:rPr>
              <a:t>If it is </a:t>
            </a:r>
            <a:r>
              <a:rPr lang="en-US" sz="2400" b="1" dirty="0">
                <a:latin typeface="Times New Roman" pitchFamily="18" charset="0"/>
                <a:cs typeface="Times New Roman" pitchFamily="18" charset="0"/>
              </a:rPr>
              <a:t>TRUE</a:t>
            </a:r>
            <a:r>
              <a:rPr lang="en-US" sz="2400" dirty="0">
                <a:latin typeface="Times New Roman" pitchFamily="18" charset="0"/>
                <a:cs typeface="Times New Roman" pitchFamily="18" charset="0"/>
              </a:rPr>
              <a:t>. Then, set </a:t>
            </a:r>
            <a:r>
              <a:rPr lang="en-US" sz="2400" b="1" dirty="0">
                <a:latin typeface="Times New Roman" pitchFamily="18" charset="0"/>
                <a:cs typeface="Times New Roman" pitchFamily="18" charset="0"/>
              </a:rPr>
              <a:t>head</a:t>
            </a:r>
            <a:r>
              <a:rPr lang="en-US" sz="2400" dirty="0">
                <a:latin typeface="Times New Roman" pitchFamily="18" charset="0"/>
                <a:cs typeface="Times New Roman" pitchFamily="18" charset="0"/>
              </a:rPr>
              <a:t> = </a:t>
            </a:r>
            <a:r>
              <a:rPr lang="en-US" sz="2400" b="1" dirty="0">
                <a:latin typeface="Times New Roman" pitchFamily="18" charset="0"/>
                <a:cs typeface="Times New Roman" pitchFamily="18" charset="0"/>
              </a:rPr>
              <a:t>NULL</a:t>
            </a:r>
            <a:r>
              <a:rPr lang="en-US" sz="2400" dirty="0">
                <a:latin typeface="Times New Roman" pitchFamily="18" charset="0"/>
                <a:cs typeface="Times New Roman" pitchFamily="18" charset="0"/>
              </a:rPr>
              <a:t> and delete </a:t>
            </a:r>
            <a:r>
              <a:rPr lang="en-US" sz="2400" b="1" dirty="0">
                <a:latin typeface="Times New Roman" pitchFamily="18" charset="0"/>
                <a:cs typeface="Times New Roman" pitchFamily="18" charset="0"/>
              </a:rPr>
              <a:t>temp1</a:t>
            </a: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Step 6 - </a:t>
            </a:r>
            <a:r>
              <a:rPr lang="en-US" sz="2400" dirty="0">
                <a:latin typeface="Times New Roman" pitchFamily="18" charset="0"/>
                <a:cs typeface="Times New Roman" pitchFamily="18" charset="0"/>
              </a:rPr>
              <a:t>If it is </a:t>
            </a:r>
            <a:r>
              <a:rPr lang="en-US" sz="2400" b="1" dirty="0">
                <a:latin typeface="Times New Roman" pitchFamily="18" charset="0"/>
                <a:cs typeface="Times New Roman" pitchFamily="18" charset="0"/>
              </a:rPr>
              <a:t>FALSE</a:t>
            </a:r>
            <a:r>
              <a:rPr lang="en-US" sz="2400" dirty="0">
                <a:latin typeface="Times New Roman" pitchFamily="18" charset="0"/>
                <a:cs typeface="Times New Roman" pitchFamily="18" charset="0"/>
              </a:rPr>
              <a:t>. Then, set '</a:t>
            </a:r>
            <a:r>
              <a:rPr lang="en-US" sz="2400" b="1" dirty="0">
                <a:latin typeface="Times New Roman" pitchFamily="18" charset="0"/>
                <a:cs typeface="Times New Roman" pitchFamily="18" charset="0"/>
              </a:rPr>
              <a:t>temp2 = temp1 </a:t>
            </a:r>
            <a:r>
              <a:rPr lang="en-US" sz="2400" dirty="0">
                <a:latin typeface="Times New Roman" pitchFamily="18" charset="0"/>
                <a:cs typeface="Times New Roman" pitchFamily="18" charset="0"/>
              </a:rPr>
              <a:t>' and move </a:t>
            </a:r>
            <a:r>
              <a:rPr lang="en-US" sz="2400" b="1" dirty="0">
                <a:latin typeface="Times New Roman" pitchFamily="18" charset="0"/>
                <a:cs typeface="Times New Roman" pitchFamily="18" charset="0"/>
              </a:rPr>
              <a:t>temp1</a:t>
            </a:r>
            <a:r>
              <a:rPr lang="en-US" sz="2400" dirty="0">
                <a:latin typeface="Times New Roman" pitchFamily="18" charset="0"/>
                <a:cs typeface="Times New Roman" pitchFamily="18" charset="0"/>
              </a:rPr>
              <a:t> to its next node. Repeat the same until it reaches to the last node in the list. (until </a:t>
            </a:r>
            <a:r>
              <a:rPr lang="en-US" sz="2400" b="1" dirty="0">
                <a:latin typeface="Times New Roman" pitchFamily="18" charset="0"/>
                <a:cs typeface="Times New Roman" pitchFamily="18" charset="0"/>
              </a:rPr>
              <a:t>temp1 → next</a:t>
            </a:r>
            <a:r>
              <a:rPr lang="en-US" sz="2400" dirty="0">
                <a:latin typeface="Times New Roman" pitchFamily="18" charset="0"/>
                <a:cs typeface="Times New Roman" pitchFamily="18" charset="0"/>
              </a:rPr>
              <a:t> == </a:t>
            </a:r>
            <a:r>
              <a:rPr lang="en-US" sz="2400" b="1" dirty="0">
                <a:latin typeface="Times New Roman" pitchFamily="18" charset="0"/>
                <a:cs typeface="Times New Roman" pitchFamily="18" charset="0"/>
              </a:rPr>
              <a:t>NULL</a:t>
            </a:r>
            <a:r>
              <a:rPr lang="en-US" sz="2400" dirty="0">
                <a:latin typeface="Times New Roman" pitchFamily="18" charset="0"/>
                <a:cs typeface="Times New Roman" pitchFamily="18" charset="0"/>
              </a:rPr>
              <a:t>)</a:t>
            </a:r>
          </a:p>
          <a:p>
            <a:r>
              <a:rPr lang="en-US" sz="2400" b="1" dirty="0">
                <a:latin typeface="Times New Roman" pitchFamily="18" charset="0"/>
                <a:cs typeface="Times New Roman" pitchFamily="18" charset="0"/>
              </a:rPr>
              <a:t>Step 7 - </a:t>
            </a:r>
            <a:r>
              <a:rPr lang="en-US" sz="2400" dirty="0">
                <a:latin typeface="Times New Roman" pitchFamily="18" charset="0"/>
                <a:cs typeface="Times New Roman" pitchFamily="18" charset="0"/>
              </a:rPr>
              <a:t>Finally, Set </a:t>
            </a:r>
            <a:r>
              <a:rPr lang="en-US" sz="2400" b="1" dirty="0">
                <a:latin typeface="Times New Roman" pitchFamily="18" charset="0"/>
                <a:cs typeface="Times New Roman" pitchFamily="18" charset="0"/>
              </a:rPr>
              <a:t>temp2 → next </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NULL</a:t>
            </a:r>
            <a:r>
              <a:rPr lang="en-US" sz="2400" dirty="0">
                <a:latin typeface="Times New Roman" pitchFamily="18" charset="0"/>
                <a:cs typeface="Times New Roman" pitchFamily="18" charset="0"/>
              </a:rPr>
              <a:t> and delete </a:t>
            </a:r>
            <a:r>
              <a:rPr lang="en-US" sz="2400" b="1" dirty="0">
                <a:latin typeface="Times New Roman" pitchFamily="18" charset="0"/>
                <a:cs typeface="Times New Roman" pitchFamily="18" charset="0"/>
              </a:rPr>
              <a:t>temp1</a:t>
            </a:r>
            <a:r>
              <a:rPr lang="en-US" sz="2400" dirty="0">
                <a:latin typeface="Times New Roman" pitchFamily="18" charset="0"/>
                <a:cs typeface="Times New Roman" pitchFamily="18" charset="0"/>
              </a:rPr>
              <a:t>.</a:t>
            </a:r>
          </a:p>
          <a:p>
            <a:pPr>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4578473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itchFamily="18" charset="0"/>
                <a:cs typeface="Times New Roman" pitchFamily="18" charset="0"/>
              </a:rPr>
              <a:t>Display</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ectangle 4"/>
          <p:cNvSpPr/>
          <p:nvPr/>
        </p:nvSpPr>
        <p:spPr>
          <a:xfrm>
            <a:off x="1589649" y="984738"/>
            <a:ext cx="7554351" cy="461665"/>
          </a:xfrm>
          <a:prstGeom prst="rect">
            <a:avLst/>
          </a:prstGeom>
        </p:spPr>
        <p:txBody>
          <a:bodyPr wrap="square">
            <a:spAutoFit/>
          </a:bodyPr>
          <a:lstStyle/>
          <a:p>
            <a:endParaRPr lang="en-US" sz="2400" dirty="0">
              <a:latin typeface="Times New Roman" pitchFamily="18" charset="0"/>
              <a:cs typeface="Times New Roman" pitchFamily="18" charset="0"/>
            </a:endParaRPr>
          </a:p>
        </p:txBody>
      </p:sp>
      <p:sp>
        <p:nvSpPr>
          <p:cNvPr id="10" name="Rectangle 9"/>
          <p:cNvSpPr/>
          <p:nvPr/>
        </p:nvSpPr>
        <p:spPr>
          <a:xfrm>
            <a:off x="1871003" y="773723"/>
            <a:ext cx="8285871" cy="830997"/>
          </a:xfrm>
          <a:prstGeom prst="rect">
            <a:avLst/>
          </a:prstGeom>
        </p:spPr>
        <p:txBody>
          <a:bodyPr wrap="square">
            <a:spAutoFit/>
          </a:bodyPr>
          <a:lstStyle/>
          <a:p>
            <a:r>
              <a:rPr lang="en-US" sz="2400" dirty="0">
                <a:latin typeface="Times New Roman" pitchFamily="18" charset="0"/>
                <a:cs typeface="Times New Roman" pitchFamily="18" charset="0"/>
              </a:rPr>
              <a:t>Displaying the contents of a linked list is very simple. We keep moving the temp node to the next one and display its contents.</a:t>
            </a:r>
          </a:p>
        </p:txBody>
      </p:sp>
      <p:sp>
        <p:nvSpPr>
          <p:cNvPr id="11" name="Rectangle 10"/>
          <p:cNvSpPr/>
          <p:nvPr/>
        </p:nvSpPr>
        <p:spPr>
          <a:xfrm>
            <a:off x="1519311" y="2447778"/>
            <a:ext cx="9988061" cy="2985433"/>
          </a:xfrm>
          <a:prstGeom prst="rect">
            <a:avLst/>
          </a:prstGeom>
        </p:spPr>
        <p:txBody>
          <a:bodyPr wrap="square">
            <a:spAutoFit/>
          </a:bodyPr>
          <a:lstStyle/>
          <a:p>
            <a:endParaRPr lang="en-US" sz="2000" b="1" dirty="0">
              <a:latin typeface="Times New Roman" pitchFamily="18" charset="0"/>
              <a:cs typeface="Times New Roman" pitchFamily="18" charset="0"/>
            </a:endParaRPr>
          </a:p>
          <a:p>
            <a:pPr algn="ctr"/>
            <a:r>
              <a:rPr lang="en-US" sz="2000" b="1" dirty="0">
                <a:latin typeface="Times New Roman" pitchFamily="18" charset="0"/>
                <a:cs typeface="Times New Roman" pitchFamily="18" charset="0"/>
              </a:rPr>
              <a:t>   </a:t>
            </a:r>
            <a:r>
              <a:rPr lang="en-US" sz="2400" b="1" dirty="0">
                <a:latin typeface="Times New Roman" pitchFamily="18" charset="0"/>
                <a:cs typeface="Times New Roman" pitchFamily="18" charset="0"/>
              </a:rPr>
              <a:t>Algorithm</a:t>
            </a:r>
          </a:p>
          <a:p>
            <a:endParaRPr lang="en-US" sz="2400" b="1" dirty="0">
              <a:latin typeface="Times New Roman" pitchFamily="18" charset="0"/>
              <a:cs typeface="Times New Roman" pitchFamily="18" charset="0"/>
            </a:endParaRPr>
          </a:p>
          <a:p>
            <a:r>
              <a:rPr lang="en-US" sz="2400" dirty="0">
                <a:latin typeface="Times New Roman" pitchFamily="18" charset="0"/>
                <a:cs typeface="Times New Roman" pitchFamily="18" charset="0"/>
              </a:rPr>
              <a:t>Step 1 - Check whether list is Empty (head == NULL)</a:t>
            </a:r>
          </a:p>
          <a:p>
            <a:r>
              <a:rPr lang="en-US" sz="2400" dirty="0">
                <a:latin typeface="Times New Roman" pitchFamily="18" charset="0"/>
                <a:cs typeface="Times New Roman" pitchFamily="18" charset="0"/>
              </a:rPr>
              <a:t>Step 2 - If it is Empty then, display 'List is Empty‘ </a:t>
            </a:r>
          </a:p>
          <a:p>
            <a:r>
              <a:rPr lang="en-US" sz="2400" dirty="0">
                <a:latin typeface="Times New Roman" pitchFamily="18" charset="0"/>
                <a:cs typeface="Times New Roman" pitchFamily="18" charset="0"/>
              </a:rPr>
              <a:t>Step 3 - Else define a Node pointer temp and  temp= head.</a:t>
            </a:r>
          </a:p>
          <a:p>
            <a:r>
              <a:rPr lang="en-US" sz="2400" dirty="0">
                <a:latin typeface="Times New Roman" pitchFamily="18" charset="0"/>
                <a:cs typeface="Times New Roman" pitchFamily="18" charset="0"/>
              </a:rPr>
              <a:t>Step 4 - Keep displaying temp → data until temp reaches to the last node</a:t>
            </a:r>
          </a:p>
          <a:p>
            <a:r>
              <a:rPr lang="en-US" sz="2400" dirty="0">
                <a:latin typeface="Times New Roman" pitchFamily="18" charset="0"/>
                <a:cs typeface="Times New Roman" pitchFamily="18" charset="0"/>
              </a:rPr>
              <a:t>Step 5 - Finally display temp → data .</a:t>
            </a:r>
          </a:p>
        </p:txBody>
      </p:sp>
      <p:pic>
        <p:nvPicPr>
          <p:cNvPr id="14" name="Picture 4" descr="C:\Users\dell\Desktop\sll.png"/>
          <p:cNvPicPr>
            <a:picLocks noChangeAspect="1" noChangeArrowheads="1"/>
          </p:cNvPicPr>
          <p:nvPr/>
        </p:nvPicPr>
        <p:blipFill>
          <a:blip r:embed="rId3"/>
          <a:srcRect/>
          <a:stretch>
            <a:fillRect/>
          </a:stretch>
        </p:blipFill>
        <p:spPr bwMode="auto">
          <a:xfrm>
            <a:off x="1927274" y="1631851"/>
            <a:ext cx="8539090" cy="1266093"/>
          </a:xfrm>
          <a:prstGeom prst="rect">
            <a:avLst/>
          </a:prstGeom>
          <a:noFill/>
          <a:ln w="9525">
            <a:noFill/>
            <a:miter lim="800000"/>
            <a:headEnd/>
            <a:tailEnd/>
          </a:ln>
        </p:spPr>
      </p:pic>
      <p:sp>
        <p:nvSpPr>
          <p:cNvPr id="15" name="TextBox 14"/>
          <p:cNvSpPr txBox="1"/>
          <p:nvPr/>
        </p:nvSpPr>
        <p:spPr>
          <a:xfrm>
            <a:off x="2883877" y="2546252"/>
            <a:ext cx="717452" cy="369332"/>
          </a:xfrm>
          <a:prstGeom prst="rect">
            <a:avLst/>
          </a:prstGeom>
          <a:noFill/>
        </p:spPr>
        <p:txBody>
          <a:bodyPr wrap="square" rtlCol="0">
            <a:spAutoFit/>
          </a:bodyPr>
          <a:lstStyle/>
          <a:p>
            <a:r>
              <a:rPr lang="en-US" dirty="0"/>
              <a:t>temp</a:t>
            </a:r>
          </a:p>
        </p:txBody>
      </p:sp>
      <p:cxnSp>
        <p:nvCxnSpPr>
          <p:cNvPr id="17" name="Straight Arrow Connector 16"/>
          <p:cNvCxnSpPr/>
          <p:nvPr/>
        </p:nvCxnSpPr>
        <p:spPr>
          <a:xfrm rot="16200000" flipV="1">
            <a:off x="2835436" y="2385267"/>
            <a:ext cx="336830" cy="132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8576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itchFamily="18" charset="0"/>
                <a:cs typeface="Times New Roman" pitchFamily="18" charset="0"/>
              </a:rPr>
              <a:t>Searching a Node in SLL</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ectangle 4"/>
          <p:cNvSpPr/>
          <p:nvPr/>
        </p:nvSpPr>
        <p:spPr>
          <a:xfrm>
            <a:off x="1589649" y="984738"/>
            <a:ext cx="7554351" cy="461665"/>
          </a:xfrm>
          <a:prstGeom prst="rect">
            <a:avLst/>
          </a:prstGeom>
        </p:spPr>
        <p:txBody>
          <a:bodyPr wrap="square">
            <a:spAutoFit/>
          </a:bodyPr>
          <a:lstStyle/>
          <a:p>
            <a:endParaRPr lang="en-US" sz="2400" dirty="0">
              <a:latin typeface="Times New Roman" pitchFamily="18" charset="0"/>
              <a:cs typeface="Times New Roman" pitchFamily="18" charset="0"/>
            </a:endParaRPr>
          </a:p>
        </p:txBody>
      </p:sp>
      <p:sp>
        <p:nvSpPr>
          <p:cNvPr id="8" name="Rectangle 7"/>
          <p:cNvSpPr/>
          <p:nvPr/>
        </p:nvSpPr>
        <p:spPr>
          <a:xfrm>
            <a:off x="703385" y="1266091"/>
            <a:ext cx="11488615" cy="1323439"/>
          </a:xfrm>
          <a:prstGeom prst="rect">
            <a:avLst/>
          </a:prstGeom>
        </p:spPr>
        <p:txBody>
          <a:bodyPr wrap="square">
            <a:spAutoFit/>
          </a:bodyPr>
          <a:lstStyle/>
          <a:p>
            <a:r>
              <a:rPr lang="en-US" sz="2000" dirty="0">
                <a:latin typeface="Times New Roman" pitchFamily="18" charset="0"/>
                <a:cs typeface="Times New Roman" pitchFamily="18" charset="0"/>
              </a:rPr>
              <a:t>Searching is performed in order to find the location of a particular element in the list. Searching any element in the list needs traversing through the list and make the comparison of every element of the list with the specified element. If the element is matched with any of the list element then the location of the element is returned from the function.</a:t>
            </a:r>
          </a:p>
        </p:txBody>
      </p:sp>
      <p:pic>
        <p:nvPicPr>
          <p:cNvPr id="1026" name="Picture 2" descr="C:\Users\dell\Desktop\linked-list-search-found.png"/>
          <p:cNvPicPr>
            <a:picLocks noChangeAspect="1" noChangeArrowheads="1"/>
          </p:cNvPicPr>
          <p:nvPr/>
        </p:nvPicPr>
        <p:blipFill>
          <a:blip r:embed="rId3"/>
          <a:srcRect/>
          <a:stretch>
            <a:fillRect/>
          </a:stretch>
        </p:blipFill>
        <p:spPr bwMode="auto">
          <a:xfrm>
            <a:off x="1477109" y="2841674"/>
            <a:ext cx="8989254" cy="3474719"/>
          </a:xfrm>
          <a:prstGeom prst="rect">
            <a:avLst/>
          </a:prstGeom>
          <a:noFill/>
        </p:spPr>
      </p:pic>
      <p:sp>
        <p:nvSpPr>
          <p:cNvPr id="9" name="TextBox 8"/>
          <p:cNvSpPr txBox="1"/>
          <p:nvPr/>
        </p:nvSpPr>
        <p:spPr>
          <a:xfrm>
            <a:off x="7413674" y="5894363"/>
            <a:ext cx="2940147" cy="369332"/>
          </a:xfrm>
          <a:prstGeom prst="rect">
            <a:avLst/>
          </a:prstGeom>
          <a:noFill/>
        </p:spPr>
        <p:txBody>
          <a:bodyPr wrap="square" rtlCol="0">
            <a:spAutoFit/>
          </a:bodyPr>
          <a:lstStyle/>
          <a:p>
            <a:r>
              <a:rPr lang="en-US" dirty="0"/>
              <a:t>Search  element </a:t>
            </a:r>
          </a:p>
        </p:txBody>
      </p:sp>
      <p:sp>
        <p:nvSpPr>
          <p:cNvPr id="10" name="Rectangle 9"/>
          <p:cNvSpPr/>
          <p:nvPr/>
        </p:nvSpPr>
        <p:spPr>
          <a:xfrm>
            <a:off x="7202658" y="5781822"/>
            <a:ext cx="3137096" cy="520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57403" y="5824025"/>
            <a:ext cx="2926080" cy="369332"/>
          </a:xfrm>
          <a:prstGeom prst="rect">
            <a:avLst/>
          </a:prstGeom>
          <a:noFill/>
        </p:spPr>
        <p:txBody>
          <a:bodyPr wrap="square" rtlCol="0">
            <a:spAutoFit/>
          </a:bodyPr>
          <a:lstStyle/>
          <a:p>
            <a:r>
              <a:rPr lang="en-US" dirty="0"/>
              <a:t>Search element =20</a:t>
            </a:r>
          </a:p>
        </p:txBody>
      </p:sp>
    </p:spTree>
    <p:extLst>
      <p:ext uri="{BB962C8B-B14F-4D97-AF65-F5344CB8AC3E}">
        <p14:creationId xmlns:p14="http://schemas.microsoft.com/office/powerpoint/2010/main" val="40566062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itchFamily="18" charset="0"/>
                <a:cs typeface="Times New Roman" pitchFamily="18" charset="0"/>
              </a:rPr>
              <a:t> Algorithm to Search  a Node in SLL</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ectangle 4"/>
          <p:cNvSpPr/>
          <p:nvPr/>
        </p:nvSpPr>
        <p:spPr>
          <a:xfrm>
            <a:off x="1589649" y="984738"/>
            <a:ext cx="7554351" cy="461665"/>
          </a:xfrm>
          <a:prstGeom prst="rect">
            <a:avLst/>
          </a:prstGeom>
        </p:spPr>
        <p:txBody>
          <a:bodyPr wrap="square">
            <a:spAutoFit/>
          </a:bodyPr>
          <a:lstStyle/>
          <a:p>
            <a:endParaRPr lang="en-US" sz="2400" dirty="0">
              <a:latin typeface="Times New Roman" pitchFamily="18" charset="0"/>
              <a:cs typeface="Times New Roman" pitchFamily="18" charset="0"/>
            </a:endParaRPr>
          </a:p>
        </p:txBody>
      </p:sp>
      <p:sp>
        <p:nvSpPr>
          <p:cNvPr id="7" name="Rectangle 6"/>
          <p:cNvSpPr/>
          <p:nvPr/>
        </p:nvSpPr>
        <p:spPr>
          <a:xfrm>
            <a:off x="2124221" y="942535"/>
            <a:ext cx="9017391" cy="3046988"/>
          </a:xfrm>
          <a:prstGeom prst="rect">
            <a:avLst/>
          </a:prstGeom>
        </p:spPr>
        <p:txBody>
          <a:bodyPr wrap="square">
            <a:spAutoFit/>
          </a:bodyPr>
          <a:lstStyle/>
          <a:p>
            <a:pPr fontAlgn="base"/>
            <a:r>
              <a:rPr lang="en-US" sz="2400" dirty="0">
                <a:latin typeface="Times New Roman" pitchFamily="18" charset="0"/>
                <a:cs typeface="Times New Roman" pitchFamily="18" charset="0"/>
              </a:rPr>
              <a:t>Step1:Initialize a node pointer, </a:t>
            </a:r>
            <a:r>
              <a:rPr lang="en-US" sz="2400" b="1" dirty="0">
                <a:latin typeface="Times New Roman" pitchFamily="18" charset="0"/>
                <a:cs typeface="Times New Roman" pitchFamily="18" charset="0"/>
              </a:rPr>
              <a:t>current = head</a:t>
            </a:r>
            <a:r>
              <a:rPr lang="en-US" sz="2400" dirty="0">
                <a:latin typeface="Times New Roman" pitchFamily="18" charset="0"/>
                <a:cs typeface="Times New Roman" pitchFamily="18" charset="0"/>
              </a:rPr>
              <a:t>.</a:t>
            </a:r>
          </a:p>
          <a:p>
            <a:pPr fontAlgn="base"/>
            <a:endParaRPr lang="en-US" sz="2400" dirty="0">
              <a:latin typeface="Times New Roman" pitchFamily="18" charset="0"/>
              <a:cs typeface="Times New Roman" pitchFamily="18" charset="0"/>
            </a:endParaRPr>
          </a:p>
          <a:p>
            <a:pPr fontAlgn="base"/>
            <a:r>
              <a:rPr lang="en-US" sz="2400" dirty="0">
                <a:latin typeface="Times New Roman" pitchFamily="18" charset="0"/>
                <a:cs typeface="Times New Roman" pitchFamily="18" charset="0"/>
              </a:rPr>
              <a:t>Step 2: Do following while current is not NULL</a:t>
            </a:r>
          </a:p>
          <a:p>
            <a:pPr lvl="1" fontAlgn="base">
              <a:buFont typeface="Arial" pitchFamily="34" charset="0"/>
              <a:buChar char="•"/>
            </a:pPr>
            <a:r>
              <a:rPr lang="en-US" sz="2400" dirty="0">
                <a:latin typeface="Times New Roman" pitchFamily="18" charset="0"/>
                <a:cs typeface="Times New Roman" pitchFamily="18" charset="0"/>
              </a:rPr>
              <a:t> If the current value (i.e., </a:t>
            </a:r>
            <a:r>
              <a:rPr lang="en-US" sz="2400" b="1" dirty="0">
                <a:latin typeface="Times New Roman" pitchFamily="18" charset="0"/>
                <a:cs typeface="Times New Roman" pitchFamily="18" charset="0"/>
              </a:rPr>
              <a:t>current-&gt;key</a:t>
            </a:r>
            <a:r>
              <a:rPr lang="en-US" sz="2400" dirty="0">
                <a:latin typeface="Times New Roman" pitchFamily="18" charset="0"/>
                <a:cs typeface="Times New Roman" pitchFamily="18" charset="0"/>
              </a:rPr>
              <a:t>) is equal to the key being searched return true.</a:t>
            </a:r>
          </a:p>
          <a:p>
            <a:pPr lvl="1" fontAlgn="base">
              <a:buFont typeface="Arial" pitchFamily="34" charset="0"/>
              <a:buChar char="•"/>
            </a:pPr>
            <a:r>
              <a:rPr lang="en-US" sz="2400" dirty="0">
                <a:latin typeface="Times New Roman" pitchFamily="18" charset="0"/>
                <a:cs typeface="Times New Roman" pitchFamily="18" charset="0"/>
              </a:rPr>
              <a:t>Otherwise, move to the next node (</a:t>
            </a:r>
            <a:r>
              <a:rPr lang="en-US" sz="2400" b="1" dirty="0">
                <a:latin typeface="Times New Roman" pitchFamily="18" charset="0"/>
                <a:cs typeface="Times New Roman" pitchFamily="18" charset="0"/>
              </a:rPr>
              <a:t>current = current-&gt;next</a:t>
            </a:r>
            <a:r>
              <a:rPr lang="en-US" sz="2400" dirty="0">
                <a:latin typeface="Times New Roman" pitchFamily="18" charset="0"/>
                <a:cs typeface="Times New Roman" pitchFamily="18" charset="0"/>
              </a:rPr>
              <a:t>).</a:t>
            </a:r>
          </a:p>
          <a:p>
            <a:pPr lvl="1" fontAlgn="base"/>
            <a:endParaRPr lang="en-US" sz="2400" dirty="0">
              <a:latin typeface="Times New Roman" pitchFamily="18" charset="0"/>
              <a:cs typeface="Times New Roman" pitchFamily="18" charset="0"/>
            </a:endParaRPr>
          </a:p>
          <a:p>
            <a:pPr fontAlgn="base"/>
            <a:r>
              <a:rPr lang="en-US" sz="2400" dirty="0">
                <a:latin typeface="Times New Roman" pitchFamily="18" charset="0"/>
                <a:cs typeface="Times New Roman" pitchFamily="18" charset="0"/>
              </a:rPr>
              <a:t> step 3:If the key is not found, return false </a:t>
            </a:r>
          </a:p>
        </p:txBody>
      </p:sp>
    </p:spTree>
    <p:extLst>
      <p:ext uri="{BB962C8B-B14F-4D97-AF65-F5344CB8AC3E}">
        <p14:creationId xmlns:p14="http://schemas.microsoft.com/office/powerpoint/2010/main" val="165399539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Few Exercises to Try out</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4"/>
          <p:cNvSpPr/>
          <p:nvPr/>
        </p:nvSpPr>
        <p:spPr>
          <a:xfrm>
            <a:off x="2447777" y="1744395"/>
            <a:ext cx="9017391" cy="5262979"/>
          </a:xfrm>
          <a:prstGeom prst="rect">
            <a:avLst/>
          </a:prstGeom>
        </p:spPr>
        <p:txBody>
          <a:bodyPr wrap="square">
            <a:spAutoFit/>
          </a:bodyPr>
          <a:lstStyle/>
          <a:p>
            <a:pPr marL="457200" indent="-457200">
              <a:buFont typeface="Arial" pitchFamily="34" charset="0"/>
              <a:buChar char="•"/>
              <a:defRPr/>
            </a:pPr>
            <a:endParaRPr lang="en-US" sz="2400" dirty="0">
              <a:latin typeface="Times New Roman" pitchFamily="18" charset="0"/>
              <a:cs typeface="Times New Roman" pitchFamily="18" charset="0"/>
            </a:endParaRPr>
          </a:p>
          <a:p>
            <a:pPr marL="457200" indent="-457200">
              <a:buFont typeface="Arial" pitchFamily="34" charset="0"/>
              <a:buChar char="•"/>
              <a:defRPr/>
            </a:pPr>
            <a:r>
              <a:rPr lang="en-US" sz="2400" dirty="0">
                <a:latin typeface="Times New Roman" pitchFamily="18" charset="0"/>
                <a:cs typeface="Times New Roman" pitchFamily="18" charset="0"/>
              </a:rPr>
              <a:t>Print the elements in the list in Reverse Order</a:t>
            </a:r>
          </a:p>
          <a:p>
            <a:pPr marL="457200" indent="-457200">
              <a:defRPr/>
            </a:pPr>
            <a:endParaRPr lang="en-US" sz="2400" dirty="0">
              <a:latin typeface="Times New Roman" pitchFamily="18" charset="0"/>
              <a:cs typeface="Times New Roman" pitchFamily="18" charset="0"/>
            </a:endParaRPr>
          </a:p>
          <a:p>
            <a:pPr marL="457200" indent="-457200">
              <a:buFont typeface="Arial" pitchFamily="34" charset="0"/>
              <a:buChar char="•"/>
              <a:defRPr/>
            </a:pPr>
            <a:r>
              <a:rPr lang="en-US" sz="2400" dirty="0">
                <a:latin typeface="Times New Roman" pitchFamily="18" charset="0"/>
                <a:cs typeface="Times New Roman" pitchFamily="18" charset="0"/>
              </a:rPr>
              <a:t>Write a function to Concatenate two given list into one big list.</a:t>
            </a:r>
          </a:p>
          <a:p>
            <a:pPr marL="457200" indent="-457200">
              <a:defRPr/>
            </a:pPr>
            <a:endParaRPr lang="en-US" sz="2400" dirty="0">
              <a:latin typeface="Times New Roman" pitchFamily="18" charset="0"/>
              <a:cs typeface="Times New Roman" pitchFamily="18" charset="0"/>
            </a:endParaRPr>
          </a:p>
          <a:p>
            <a:pPr marL="457200" indent="-457200">
              <a:buFont typeface="Arial" pitchFamily="34" charset="0"/>
              <a:buChar char="•"/>
              <a:defRPr/>
            </a:pPr>
            <a:r>
              <a:rPr lang="en-US" sz="2400" dirty="0">
                <a:latin typeface="Times New Roman" pitchFamily="18" charset="0"/>
                <a:cs typeface="Times New Roman" pitchFamily="18" charset="0"/>
              </a:rPr>
              <a:t>Insert an element in a linked list in sorted order</a:t>
            </a:r>
            <a:r>
              <a:rPr lang="en-US" sz="2400" dirty="0"/>
              <a:t>.</a:t>
            </a:r>
          </a:p>
          <a:p>
            <a:pPr marL="457200" indent="-457200">
              <a:buFont typeface="Arial" pitchFamily="34" charset="0"/>
              <a:buChar char="•"/>
              <a:defRPr/>
            </a:pPr>
            <a:r>
              <a:rPr lang="en-US" sz="2400" dirty="0">
                <a:latin typeface="Times New Roman" pitchFamily="18" charset="0"/>
                <a:cs typeface="Times New Roman" pitchFamily="18" charset="0"/>
              </a:rPr>
              <a:t>Write a program in C to create a singly linked list of n nodes and count the number of nodes.</a:t>
            </a:r>
          </a:p>
          <a:p>
            <a:pPr marL="457200" indent="-457200">
              <a:defRPr/>
            </a:pPr>
            <a:endParaRPr lang="en-US" sz="2400" dirty="0">
              <a:latin typeface="Times New Roman" pitchFamily="18" charset="0"/>
              <a:cs typeface="Times New Roman" pitchFamily="18" charset="0"/>
            </a:endParaRPr>
          </a:p>
          <a:p>
            <a:pPr marL="457200" indent="-457200">
              <a:buFont typeface="Arial" pitchFamily="34" charset="0"/>
              <a:buChar char="•"/>
              <a:defRPr/>
            </a:pPr>
            <a:r>
              <a:rPr lang="en-US" sz="2400" dirty="0">
                <a:latin typeface="Times New Roman" pitchFamily="18" charset="0"/>
                <a:cs typeface="Times New Roman" pitchFamily="18" charset="0"/>
              </a:rPr>
              <a:t>Write a C program to delete all nodes in Single Linked List.</a:t>
            </a:r>
          </a:p>
          <a:p>
            <a:pPr>
              <a:defRPr/>
            </a:pPr>
            <a:endParaRPr lang="en-US" sz="2400" dirty="0"/>
          </a:p>
          <a:p>
            <a:pPr marL="457200" indent="-457200">
              <a:defRPr/>
            </a:pPr>
            <a:endParaRPr lang="en-US" sz="2400" dirty="0">
              <a:latin typeface="Times New Roman" pitchFamily="18" charset="0"/>
              <a:cs typeface="Times New Roman" pitchFamily="18" charset="0"/>
            </a:endParaRPr>
          </a:p>
          <a:p>
            <a:pPr marL="457200" indent="-457200">
              <a:defRPr/>
            </a:pPr>
            <a:endParaRPr lang="en-US" sz="2400" dirty="0">
              <a:latin typeface="Times New Roman" pitchFamily="18" charset="0"/>
              <a:cs typeface="Times New Roman" pitchFamily="18" charset="0"/>
            </a:endParaRPr>
          </a:p>
          <a:p>
            <a:pPr marL="457200" indent="-457200">
              <a:buFont typeface="Arial" pitchFamily="34" charset="0"/>
              <a:buChar char="•"/>
              <a:defRPr/>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300146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814126"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 Real Time Examples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6" name="Rectangle 5"/>
          <p:cNvSpPr/>
          <p:nvPr/>
        </p:nvSpPr>
        <p:spPr>
          <a:xfrm>
            <a:off x="2321169" y="1111347"/>
            <a:ext cx="8597202" cy="5632311"/>
          </a:xfrm>
          <a:prstGeom prst="rect">
            <a:avLst/>
          </a:prstGeom>
        </p:spPr>
        <p:txBody>
          <a:bodyPr wrap="square">
            <a:spAutoFit/>
          </a:bodyPr>
          <a:lstStyle/>
          <a:p>
            <a:pPr fontAlgn="base"/>
            <a:r>
              <a:rPr lang="en-US" sz="2400" dirty="0">
                <a:latin typeface="Times New Roman" pitchFamily="18" charset="0"/>
                <a:cs typeface="Times New Roman" pitchFamily="18" charset="0"/>
              </a:rPr>
              <a:t>Some example of single linked list.</a:t>
            </a:r>
          </a:p>
          <a:p>
            <a:pPr fontAlgn="base">
              <a:buFont typeface="Arial" pitchFamily="34" charset="0"/>
              <a:buChar char="•"/>
            </a:pPr>
            <a:r>
              <a:rPr lang="en-US" sz="2400" dirty="0">
                <a:latin typeface="Times New Roman" pitchFamily="18" charset="0"/>
                <a:cs typeface="Times New Roman" pitchFamily="18" charset="0"/>
              </a:rPr>
              <a:t>Undo button of any application like Microsoft Word, Paint, etc: A linked list of states.</a:t>
            </a:r>
          </a:p>
          <a:p>
            <a:pPr fontAlgn="base">
              <a:buFont typeface="Arial" pitchFamily="34" charset="0"/>
              <a:buChar char="•"/>
            </a:pPr>
            <a:r>
              <a:rPr lang="en-US" sz="2400" dirty="0">
                <a:latin typeface="Times New Roman" pitchFamily="18" charset="0"/>
                <a:cs typeface="Times New Roman" pitchFamily="18" charset="0"/>
              </a:rPr>
              <a:t>GPS Navigation: A linked list of map data. Travelling from origin to destination is example of traversing through all nodes. Rerouting by a GPS is an example of Add and Remove operations of map data.</a:t>
            </a:r>
          </a:p>
          <a:p>
            <a:pPr fontAlgn="base"/>
            <a:endParaRPr lang="en-US" sz="2400" dirty="0">
              <a:latin typeface="Times New Roman" pitchFamily="18" charset="0"/>
              <a:cs typeface="Times New Roman" pitchFamily="18" charset="0"/>
            </a:endParaRPr>
          </a:p>
          <a:p>
            <a:pPr fontAlgn="base">
              <a:buFont typeface="Arial" pitchFamily="34" charset="0"/>
              <a:buChar char="•"/>
            </a:pPr>
            <a:r>
              <a:rPr lang="en-US" sz="2400" dirty="0">
                <a:latin typeface="Times New Roman" pitchFamily="18" charset="0"/>
                <a:cs typeface="Times New Roman" pitchFamily="18" charset="0"/>
              </a:rPr>
              <a:t>Strategy for file allocation schemes by Operating System.</a:t>
            </a:r>
          </a:p>
          <a:p>
            <a:pPr fontAlgn="base"/>
            <a:r>
              <a:rPr lang="en-US" sz="2400" dirty="0">
                <a:latin typeface="Times New Roman" pitchFamily="18" charset="0"/>
                <a:cs typeface="Times New Roman" pitchFamily="18" charset="0"/>
              </a:rPr>
              <a:t>Some Real time </a:t>
            </a:r>
            <a:r>
              <a:rPr lang="en-US" sz="2400" dirty="0" err="1">
                <a:latin typeface="Times New Roman" pitchFamily="18" charset="0"/>
                <a:cs typeface="Times New Roman" pitchFamily="18" charset="0"/>
              </a:rPr>
              <a:t>appliations</a:t>
            </a:r>
            <a:r>
              <a:rPr lang="en-US" sz="2400" dirty="0">
                <a:latin typeface="Times New Roman" pitchFamily="18" charset="0"/>
                <a:cs typeface="Times New Roman" pitchFamily="18" charset="0"/>
              </a:rPr>
              <a:t> of single linked list.</a:t>
            </a:r>
          </a:p>
          <a:p>
            <a:pPr fontAlgn="base"/>
            <a:endParaRPr lang="en-US" sz="2400" dirty="0">
              <a:latin typeface="Times New Roman" pitchFamily="18" charset="0"/>
              <a:cs typeface="Times New Roman" pitchFamily="18" charset="0"/>
            </a:endParaRPr>
          </a:p>
          <a:p>
            <a:pPr fontAlgn="base">
              <a:buFont typeface="Arial" pitchFamily="34" charset="0"/>
              <a:buChar char="•"/>
            </a:pPr>
            <a:r>
              <a:rPr lang="en-US" sz="2400" dirty="0">
                <a:latin typeface="Times New Roman" pitchFamily="18" charset="0"/>
                <a:cs typeface="Times New Roman" pitchFamily="18" charset="0"/>
              </a:rPr>
              <a:t>Dynamic memory allocation: We use a linked list of free blocks.</a:t>
            </a:r>
          </a:p>
          <a:p>
            <a:pPr fontAlgn="base"/>
            <a:endParaRPr lang="en-US" sz="2400" dirty="0">
              <a:latin typeface="Times New Roman" pitchFamily="18" charset="0"/>
              <a:cs typeface="Times New Roman" pitchFamily="18" charset="0"/>
            </a:endParaRPr>
          </a:p>
          <a:p>
            <a:pPr fontAlgn="base">
              <a:buFont typeface="Arial" pitchFamily="34" charset="0"/>
              <a:buChar char="•"/>
            </a:pPr>
            <a:r>
              <a:rPr lang="en-US" sz="2400" dirty="0">
                <a:latin typeface="Times New Roman" pitchFamily="18" charset="0"/>
                <a:cs typeface="Times New Roman" pitchFamily="18" charset="0"/>
              </a:rPr>
              <a:t>Maintaining a directory of names</a:t>
            </a:r>
          </a:p>
          <a:p>
            <a:pPr fontAlgn="base"/>
            <a:endParaRPr lang="en-US" sz="2400" dirty="0">
              <a:latin typeface="Times New Roman" pitchFamily="18" charset="0"/>
              <a:cs typeface="Times New Roman" pitchFamily="18" charset="0"/>
            </a:endParaRPr>
          </a:p>
          <a:p>
            <a:pPr fontAlgn="base"/>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26962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4"/>
          <p:cNvSpPr/>
          <p:nvPr/>
        </p:nvSpPr>
        <p:spPr>
          <a:xfrm>
            <a:off x="1336431" y="1124468"/>
            <a:ext cx="9298743" cy="5262979"/>
          </a:xfrm>
          <a:prstGeom prst="rect">
            <a:avLst/>
          </a:prstGeom>
        </p:spPr>
        <p:txBody>
          <a:bodyPr wrap="square">
            <a:spAutoFit/>
          </a:bodyPr>
          <a:lstStyle/>
          <a:p>
            <a:pPr>
              <a:buFont typeface="Arial" pitchFamily="34" charset="0"/>
              <a:buChar char="•"/>
            </a:pPr>
            <a:r>
              <a:rPr lang="en-US" sz="2400" dirty="0">
                <a:latin typeface="Times New Roman" pitchFamily="18" charset="0"/>
                <a:cs typeface="Times New Roman" pitchFamily="18" charset="0"/>
              </a:rPr>
              <a:t>A singly linked list is a type of linked list that is unidirectional, that is, it can be traversed in only one direction from head to the last node.</a:t>
            </a:r>
          </a:p>
          <a:p>
            <a:pPr>
              <a:buFont typeface="Arial" pitchFamily="34" charset="0"/>
              <a:buChar char="•"/>
            </a:pPr>
            <a:endParaRPr lang="en-US" sz="2400" dirty="0">
              <a:latin typeface="Times New Roman" pitchFamily="18" charset="0"/>
              <a:cs typeface="Times New Roman" pitchFamily="18" charset="0"/>
            </a:endParaRPr>
          </a:p>
          <a:p>
            <a:pPr>
              <a:buFont typeface="Arial" pitchFamily="34" charset="0"/>
              <a:buChar char="•"/>
            </a:pPr>
            <a:r>
              <a:rPr lang="en-US" sz="2400" dirty="0">
                <a:latin typeface="Times New Roman" pitchFamily="18" charset="0"/>
                <a:cs typeface="Times New Roman" pitchFamily="18" charset="0"/>
              </a:rPr>
              <a:t>The time complexity for </a:t>
            </a:r>
            <a:r>
              <a:rPr lang="en-US" sz="2400" dirty="0" err="1"/>
              <a:t>For</a:t>
            </a:r>
            <a:r>
              <a:rPr lang="en-US" sz="2400" dirty="0"/>
              <a:t> insertion in the linked list, the time complexity is </a:t>
            </a:r>
            <a:r>
              <a:rPr lang="en-US" sz="2400" b="1" dirty="0"/>
              <a:t>O(1)</a:t>
            </a:r>
            <a:r>
              <a:rPr lang="en-US" sz="2400" dirty="0"/>
              <a:t> if done on the head, </a:t>
            </a:r>
            <a:r>
              <a:rPr lang="en-US" sz="2400" b="1" dirty="0"/>
              <a:t>O(N)</a:t>
            </a:r>
            <a:r>
              <a:rPr lang="en-US" sz="2400" dirty="0"/>
              <a:t> if done at any other location, as we need to reach that location by traversing the linked list.</a:t>
            </a:r>
          </a:p>
          <a:p>
            <a:endParaRPr lang="en-US" sz="2400" dirty="0"/>
          </a:p>
          <a:p>
            <a:pPr>
              <a:buFont typeface="Arial" pitchFamily="34" charset="0"/>
              <a:buChar char="•"/>
            </a:pPr>
            <a:r>
              <a:rPr lang="en-US" sz="2400" dirty="0"/>
              <a:t>For deletion, the time complexity is </a:t>
            </a:r>
            <a:r>
              <a:rPr lang="en-US" sz="2400" b="1" dirty="0"/>
              <a:t>O(1)</a:t>
            </a:r>
            <a:r>
              <a:rPr lang="en-US" sz="2400" dirty="0"/>
              <a:t>, if done on the head, </a:t>
            </a:r>
            <a:r>
              <a:rPr lang="en-US" sz="2400" b="1" dirty="0"/>
              <a:t>O(N)</a:t>
            </a:r>
            <a:r>
              <a:rPr lang="en-US" sz="2400" dirty="0"/>
              <a:t>, if done at any other location, as we need to reach that location by traversing the linked list.</a:t>
            </a:r>
          </a:p>
          <a:p>
            <a:endParaRPr lang="en-US" sz="2400" dirty="0"/>
          </a:p>
          <a:p>
            <a:pPr>
              <a:buFont typeface="Arial" pitchFamily="34" charset="0"/>
              <a:buChar char="•"/>
            </a:pPr>
            <a:r>
              <a:rPr lang="en-US" sz="2400" dirty="0"/>
              <a:t>For searching and accessing any elements, the involved time complexity is </a:t>
            </a:r>
            <a:r>
              <a:rPr lang="en-US" sz="2400" b="1" dirty="0"/>
              <a:t>O(N)</a:t>
            </a:r>
            <a:r>
              <a:rPr lang="en-US" sz="2400" dirty="0"/>
              <a:t>.</a:t>
            </a:r>
          </a:p>
          <a:p>
            <a:pPr>
              <a:buFont typeface="Arial" pitchFamily="34" charset="0"/>
              <a:buChar char="•"/>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953624" y="1079088"/>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2000" dirty="0">
                <a:latin typeface="Times New Roman" pitchFamily="18" charset="0"/>
                <a:cs typeface="Times New Roman" pitchFamily="18" charset="0"/>
              </a:rPr>
              <a:t>A linear collection of data elements where the linear node is given by means of the pointer is called</a:t>
            </a:r>
            <a:endParaRPr sz="2000">
              <a:solidFill>
                <a:schemeClr val="bg1"/>
              </a:solidFill>
              <a:latin typeface="Times New Roman" pitchFamily="18" charset="0"/>
              <a:ea typeface="Calibri"/>
              <a:cs typeface="Times New Roman" pitchFamily="18"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125302" y="1871003"/>
            <a:ext cx="3685849" cy="175273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lnSpc>
                <a:spcPct val="150000"/>
              </a:lnSpc>
            </a:pPr>
            <a:r>
              <a:rPr lang="en-US" sz="1600" dirty="0">
                <a:latin typeface="Arial" panose="020B0604020202020204" pitchFamily="34" charset="0"/>
              </a:rPr>
              <a:t>a)</a:t>
            </a:r>
            <a:r>
              <a:rPr lang="en-US" sz="1600" dirty="0"/>
              <a:t> </a:t>
            </a:r>
            <a:r>
              <a:rPr lang="en-US" dirty="0"/>
              <a:t>Linked list</a:t>
            </a:r>
          </a:p>
          <a:p>
            <a:pPr marL="342900" lvl="0" indent="-342900">
              <a:lnSpc>
                <a:spcPct val="150000"/>
              </a:lnSpc>
            </a:pPr>
            <a:r>
              <a:rPr lang="en-US" dirty="0">
                <a:latin typeface="Arial" panose="020B0604020202020204" pitchFamily="34" charset="0"/>
              </a:rPr>
              <a:t>b)</a:t>
            </a:r>
            <a:r>
              <a:rPr lang="en-US" dirty="0"/>
              <a:t> Node list</a:t>
            </a:r>
          </a:p>
          <a:p>
            <a:pPr marL="342900" lvl="0" indent="-342900">
              <a:lnSpc>
                <a:spcPct val="150000"/>
              </a:lnSpc>
            </a:pPr>
            <a:r>
              <a:rPr lang="en-US" dirty="0">
                <a:latin typeface="Arial" panose="020B0604020202020204" pitchFamily="34" charset="0"/>
              </a:rPr>
              <a:t>c)</a:t>
            </a:r>
            <a:r>
              <a:rPr lang="en-US" dirty="0"/>
              <a:t> Tree</a:t>
            </a:r>
          </a:p>
          <a:p>
            <a:pPr marL="342900" lvl="0" indent="-342900">
              <a:lnSpc>
                <a:spcPct val="150000"/>
              </a:lnSpc>
            </a:pPr>
            <a:r>
              <a:rPr lang="en-US" dirty="0">
                <a:latin typeface="Arial" panose="020B0604020202020204" pitchFamily="34" charset="0"/>
              </a:rPr>
              <a:t>d)</a:t>
            </a:r>
            <a:r>
              <a:rPr lang="en-US" dirty="0"/>
              <a:t> None of these</a:t>
            </a:r>
          </a:p>
          <a:p>
            <a:pPr marL="342900" indent="-342900">
              <a:lnSpc>
                <a:spcPct val="150000"/>
              </a:lnSpc>
            </a:pPr>
            <a:endParaRPr lang="en-US" sz="1600" dirty="0">
              <a:latin typeface="Arial" panose="020B0604020202020204" pitchFamily="34" charset="0"/>
            </a:endParaRP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Font typeface="+mj-lt"/>
              <a:buAutoNum type="arabicPeriod" startAt="2"/>
            </a:pPr>
            <a:r>
              <a:rPr lang="en-US" dirty="0">
                <a:latin typeface="Times New Roman" pitchFamily="18" charset="0"/>
                <a:cs typeface="Times New Roman" pitchFamily="18" charset="0"/>
              </a:rPr>
              <a:t>Which among the following segment of code inserts a new node pointed by X to be inserted at the beginning of the single linked list .The start  pointer points to beginning of the linked list?</a:t>
            </a:r>
          </a:p>
          <a:p>
            <a:pPr marL="342900" marR="0" lvl="0" indent="-342900" rtl="0">
              <a:spcBef>
                <a:spcPts val="0"/>
              </a:spcBef>
              <a:spcAft>
                <a:spcPts val="0"/>
              </a:spcAft>
            </a:pPr>
            <a:endParaRPr sz="160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998807" y="4656406"/>
            <a:ext cx="3474720" cy="1716619"/>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start-&gt;next=</a:t>
            </a:r>
            <a:r>
              <a:rPr lang="en-US" dirty="0" err="1"/>
              <a:t>X;x</a:t>
            </a:r>
            <a:r>
              <a:rPr lang="en-US" dirty="0"/>
              <a:t>=start;</a:t>
            </a:r>
          </a:p>
          <a:p>
            <a:pPr marL="342900" indent="-342900">
              <a:lnSpc>
                <a:spcPct val="150000"/>
              </a:lnSpc>
              <a:buAutoNum type="alphaLcParenBoth"/>
            </a:pPr>
            <a:r>
              <a:rPr lang="en-US" dirty="0"/>
              <a:t>X-&gt;next=</a:t>
            </a:r>
            <a:r>
              <a:rPr lang="en-US" dirty="0" err="1"/>
              <a:t>start;start</a:t>
            </a:r>
            <a:r>
              <a:rPr lang="en-US" dirty="0"/>
              <a:t>=X;</a:t>
            </a:r>
          </a:p>
          <a:p>
            <a:pPr marL="342900" indent="-342900">
              <a:lnSpc>
                <a:spcPct val="150000"/>
              </a:lnSpc>
              <a:buFontTx/>
              <a:buAutoNum type="alphaLcParenBoth"/>
            </a:pPr>
            <a:r>
              <a:rPr lang="en-US" dirty="0"/>
              <a:t>X-&gt;next=start-&gt;</a:t>
            </a:r>
            <a:r>
              <a:rPr lang="en-US" dirty="0" err="1"/>
              <a:t>next;start</a:t>
            </a:r>
            <a:r>
              <a:rPr lang="en-US" dirty="0"/>
              <a:t>=x;</a:t>
            </a:r>
          </a:p>
          <a:p>
            <a:pPr marL="342900" indent="-342900">
              <a:lnSpc>
                <a:spcPct val="150000"/>
              </a:lnSpc>
              <a:buFontTx/>
              <a:buAutoNum type="alphaLcParenBoth"/>
            </a:pPr>
            <a:r>
              <a:rPr lang="en-US" dirty="0"/>
              <a:t>X-&gt;next=</a:t>
            </a:r>
            <a:r>
              <a:rPr lang="en-US" dirty="0" err="1"/>
              <a:t>start;start</a:t>
            </a:r>
            <a:r>
              <a:rPr lang="en-US" dirty="0"/>
              <a:t>=x-&gt;next;</a:t>
            </a:r>
          </a:p>
          <a:p>
            <a:pPr marL="342900" indent="-342900">
              <a:lnSpc>
                <a:spcPct val="150000"/>
              </a:lnSpc>
            </a:pPr>
            <a:r>
              <a:rPr lang="en-US" sz="1600" dirty="0"/>
              <a:t>…</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2934458"/>
          </a:xfrm>
          <a:prstGeom prst="rect">
            <a:avLst/>
          </a:prstGeom>
          <a:noFill/>
        </p:spPr>
        <p:txBody>
          <a:bodyPr wrap="square" rtlCol="0">
            <a:spAutoFit/>
          </a:bodyPr>
          <a:lstStyle/>
          <a:p>
            <a:pPr>
              <a:lnSpc>
                <a:spcPct val="200000"/>
              </a:lnSpc>
            </a:pPr>
            <a:r>
              <a:rPr lang="en-US" b="1" dirty="0"/>
              <a:t>1</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Describe Single Linked List</a:t>
            </a:r>
          </a:p>
          <a:p>
            <a:pPr>
              <a:lnSpc>
                <a:spcPct val="200000"/>
              </a:lnSpc>
            </a:pPr>
            <a:r>
              <a:rPr lang="en-US" sz="2400" dirty="0">
                <a:latin typeface="Times New Roman" pitchFamily="18" charset="0"/>
                <a:cs typeface="Times New Roman" pitchFamily="18" charset="0"/>
              </a:rPr>
              <a:t>2. List out  operations on Single Linked List</a:t>
            </a:r>
          </a:p>
          <a:p>
            <a:pPr marL="342900" indent="-342900">
              <a:lnSpc>
                <a:spcPct val="200000"/>
              </a:lnSpc>
            </a:pPr>
            <a:r>
              <a:rPr lang="en-US" sz="2400" dirty="0">
                <a:latin typeface="Times New Roman" pitchFamily="18" charset="0"/>
                <a:cs typeface="Times New Roman" pitchFamily="18" charset="0"/>
              </a:rPr>
              <a:t>3. Analyze  the time complexities of operations on Single Linked lists</a:t>
            </a:r>
          </a:p>
          <a:p>
            <a:pPr marL="342900" indent="-342900">
              <a:lnSpc>
                <a:spcPct val="200000"/>
              </a:lnSpc>
            </a:pPr>
            <a:r>
              <a:rPr lang="en-US" sz="2400" dirty="0">
                <a:latin typeface="Times New Roman" pitchFamily="18" charset="0"/>
                <a:cs typeface="Times New Roman" pitchFamily="18" charset="0"/>
              </a:rPr>
              <a:t>4. Summarize Single Linked  List </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5081519"/>
          </a:xfrm>
          <a:prstGeom prst="rect">
            <a:avLst/>
          </a:prstGeom>
          <a:noFill/>
        </p:spPr>
        <p:txBody>
          <a:bodyPr wrap="square" rtlCol="0">
            <a:spAutoFit/>
          </a:bodyPr>
          <a:lstStyle/>
          <a:p>
            <a:pPr>
              <a:lnSpc>
                <a:spcPct val="150000"/>
              </a:lnSpc>
            </a:pPr>
            <a:r>
              <a:rPr lang="en-US" sz="2000" b="1" dirty="0">
                <a:latin typeface="Times New Roman" pitchFamily="18" charset="0"/>
                <a:cs typeface="Times New Roman" pitchFamily="18" charset="0"/>
              </a:rPr>
              <a:t>Reference Books:</a:t>
            </a:r>
            <a:endParaRPr lang="en-US" sz="2000" dirty="0">
              <a:latin typeface="Times New Roman" pitchFamily="18" charset="0"/>
              <a:cs typeface="Times New Roman" pitchFamily="18" charset="0"/>
            </a:endParaRPr>
          </a:p>
          <a:p>
            <a:pPr>
              <a:lnSpc>
                <a:spcPct val="150000"/>
              </a:lnSpc>
            </a:pPr>
            <a:r>
              <a:rPr lang="en-US" sz="2000" dirty="0">
                <a:latin typeface="Times New Roman" pitchFamily="18" charset="0"/>
                <a:cs typeface="Times New Roman" pitchFamily="18" charset="0"/>
              </a:rPr>
              <a:t>1.  </a:t>
            </a:r>
            <a:r>
              <a:rPr lang="en-US" sz="2000" dirty="0" err="1">
                <a:latin typeface="Times New Roman" pitchFamily="18" charset="0"/>
                <a:cs typeface="Times New Roman" pitchFamily="18" charset="0"/>
              </a:rPr>
              <a:t>A.v.Aho,J.E.Hopcroft,and</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J.D.Ullman</a:t>
            </a:r>
            <a:r>
              <a:rPr lang="en-US" sz="2000" dirty="0">
                <a:latin typeface="Times New Roman" pitchFamily="18" charset="0"/>
                <a:cs typeface="Times New Roman" pitchFamily="18" charset="0"/>
              </a:rPr>
              <a:t> ,”Data structures And </a:t>
            </a:r>
            <a:r>
              <a:rPr lang="en-US" sz="2000" dirty="0" err="1">
                <a:latin typeface="Times New Roman" pitchFamily="18" charset="0"/>
                <a:cs typeface="Times New Roman" pitchFamily="18" charset="0"/>
              </a:rPr>
              <a:t>Algorithms”,Pearson</a:t>
            </a:r>
            <a:r>
              <a:rPr lang="en-US" sz="2000" dirty="0">
                <a:latin typeface="Times New Roman" pitchFamily="18" charset="0"/>
                <a:cs typeface="Times New Roman" pitchFamily="18" charset="0"/>
              </a:rPr>
              <a:t> Education 1e.</a:t>
            </a:r>
          </a:p>
          <a:p>
            <a:pPr>
              <a:lnSpc>
                <a:spcPct val="150000"/>
              </a:lnSpc>
            </a:pPr>
            <a:r>
              <a:rPr lang="en-US" sz="2000" dirty="0">
                <a:latin typeface="Times New Roman" pitchFamily="18" charset="0"/>
                <a:cs typeface="Times New Roman" pitchFamily="18" charset="0"/>
              </a:rPr>
              <a:t>2. “Fundamentals of Data Structures in </a:t>
            </a:r>
            <a:r>
              <a:rPr lang="en-US" sz="2000" dirty="0" err="1">
                <a:latin typeface="Times New Roman" pitchFamily="18" charset="0"/>
                <a:cs typeface="Times New Roman" pitchFamily="18" charset="0"/>
              </a:rPr>
              <a:t>C”,Horowitz,Sahni,Anderson</a:t>
            </a:r>
            <a:r>
              <a:rPr lang="en-US" sz="2000" dirty="0">
                <a:latin typeface="Times New Roman" pitchFamily="18" charset="0"/>
                <a:cs typeface="Times New Roman" pitchFamily="18" charset="0"/>
              </a:rPr>
              <a:t> Freed 2e-2007</a:t>
            </a:r>
          </a:p>
          <a:p>
            <a:pPr>
              <a:lnSpc>
                <a:spcPct val="150000"/>
              </a:lnSpc>
            </a:pPr>
            <a:r>
              <a:rPr lang="en-US" sz="2000" dirty="0">
                <a:latin typeface="Times New Roman" pitchFamily="18" charset="0"/>
                <a:cs typeface="Times New Roman" pitchFamily="18" charset="0"/>
              </a:rPr>
              <a:t>3.R.F.Gilberg,B.A.Forouzan,”Data Structures” 2e Thomson India Edition-2007</a:t>
            </a:r>
          </a:p>
          <a:p>
            <a:pPr>
              <a:lnSpc>
                <a:spcPct val="150000"/>
              </a:lnSpc>
            </a:pPr>
            <a:endParaRPr lang="en-US" sz="2000" dirty="0">
              <a:latin typeface="Times New Roman" pitchFamily="18" charset="0"/>
              <a:cs typeface="Times New Roman" pitchFamily="18" charset="0"/>
            </a:endParaRPr>
          </a:p>
          <a:p>
            <a:pPr>
              <a:lnSpc>
                <a:spcPct val="150000"/>
              </a:lnSpc>
            </a:pPr>
            <a:r>
              <a:rPr lang="en-US" sz="2000" b="1" dirty="0">
                <a:latin typeface="Times New Roman" pitchFamily="18" charset="0"/>
                <a:cs typeface="Times New Roman" pitchFamily="18" charset="0"/>
              </a:rPr>
              <a:t>Sites and Web links:</a:t>
            </a:r>
          </a:p>
          <a:p>
            <a:pPr>
              <a:lnSpc>
                <a:spcPct val="150000"/>
              </a:lnSpc>
            </a:pPr>
            <a:r>
              <a:rPr lang="en-US" sz="2000" dirty="0">
                <a:latin typeface="Times New Roman" pitchFamily="18" charset="0"/>
                <a:cs typeface="Times New Roman" pitchFamily="18" charset="0"/>
              </a:rPr>
              <a:t>1. https://nptel.ac.in/courses/106102064</a:t>
            </a:r>
          </a:p>
          <a:p>
            <a:pPr>
              <a:lnSpc>
                <a:spcPct val="150000"/>
              </a:lnSpc>
            </a:pPr>
            <a:r>
              <a:rPr lang="en-US" sz="2000" dirty="0">
                <a:latin typeface="Times New Roman" pitchFamily="18" charset="0"/>
                <a:cs typeface="Times New Roman" pitchFamily="18" charset="0"/>
              </a:rPr>
              <a:t>2. </a:t>
            </a:r>
            <a:r>
              <a:rPr lang="en-US" sz="2000" dirty="0">
                <a:latin typeface="Times New Roman" pitchFamily="18" charset="0"/>
                <a:cs typeface="Times New Roman" pitchFamily="18" charset="0"/>
                <a:hlinkClick r:id="rId2"/>
              </a:rPr>
              <a:t>https://www.edx.org/course/algorithms</a:t>
            </a:r>
            <a:r>
              <a:rPr lang="en-US" sz="2000" dirty="0">
                <a:latin typeface="Times New Roman" pitchFamily="18" charset="0"/>
                <a:cs typeface="Times New Roman" pitchFamily="18" charset="0"/>
              </a:rPr>
              <a:t> -and -data-structures-1 </a:t>
            </a:r>
          </a:p>
          <a:p>
            <a:pPr>
              <a:lnSpc>
                <a:spcPct val="150000"/>
              </a:lnSpc>
            </a:pPr>
            <a:r>
              <a:rPr lang="en-US" sz="2000" dirty="0">
                <a:latin typeface="Times New Roman" pitchFamily="18" charset="0"/>
                <a:cs typeface="Times New Roman" pitchFamily="18" charset="0"/>
              </a:rPr>
              <a:t>3. https://www.coursera.org/learn/data-structures?action=enroll</a:t>
            </a:r>
          </a:p>
          <a:p>
            <a:pPr>
              <a:lnSpc>
                <a:spcPct val="150000"/>
              </a:lnSpc>
            </a:pPr>
            <a:endParaRPr lang="en-US" dirty="0"/>
          </a:p>
        </p:txBody>
      </p:sp>
      <p:pic>
        <p:nvPicPr>
          <p:cNvPr id="5"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Course Name</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382</TotalTime>
  <Words>2461</Words>
  <Application>Microsoft Office PowerPoint</Application>
  <PresentationFormat>Widescreen</PresentationFormat>
  <Paragraphs>401</Paragraphs>
  <Slides>33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BioRhyme ExtraBold</vt:lpstr>
      <vt:lpstr>Calibri</vt:lpstr>
      <vt:lpstr>Poppins</vt:lpstr>
      <vt:lpstr>Segoe UI Light</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Vuyyuru lalitha</cp:lastModifiedBy>
  <cp:revision>47</cp:revision>
  <dcterms:created xsi:type="dcterms:W3CDTF">2020-02-08T09:57:44Z</dcterms:created>
  <dcterms:modified xsi:type="dcterms:W3CDTF">2024-12-17T08:00:53Z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