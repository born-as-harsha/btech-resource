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71" r:id="rId5"/>
    <p:sldId id="300" r:id="rId6"/>
    <p:sldId id="258" r:id="rId7"/>
    <p:sldId id="288" r:id="rId8"/>
    <p:sldId id="290" r:id="rId9"/>
    <p:sldId id="306" r:id="rId10"/>
    <p:sldId id="307" r:id="rId11"/>
    <p:sldId id="308" r:id="rId12"/>
    <p:sldId id="309" r:id="rId13"/>
    <p:sldId id="310" r:id="rId14"/>
    <p:sldId id="311" r:id="rId15"/>
    <p:sldId id="305" r:id="rId16"/>
    <p:sldId id="299" r:id="rId17"/>
    <p:sldId id="285" r:id="rId18"/>
    <p:sldId id="287" r:id="rId19"/>
    <p:sldId id="301" r:id="rId20"/>
    <p:sldId id="302" r:id="rId21"/>
    <p:sldId id="303" r:id="rId22"/>
    <p:sldId id="30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58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cstate="print">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cstate="print">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Data structures</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24SC1203</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Shell sort</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a:t>
            </a:r>
            <a:endParaRPr sz="240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cstate="print"/>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43088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a:t>
            </a:r>
            <a:r>
              <a:rPr lang="en-US" sz="1600" dirty="0">
                <a:latin typeface="Poppins"/>
                <a:cs typeface="Poppins"/>
              </a:rPr>
              <a:t> Shell Sort</a:t>
            </a: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a:t>
            </a:r>
          </a:p>
          <a:p>
            <a:pPr marL="342900" indent="-342900">
              <a:buAutoNum type="arabicPeriod"/>
            </a:pPr>
            <a:r>
              <a:rPr lang="en-US" sz="1600" dirty="0">
                <a:latin typeface="Arial" panose="020B0604020202020204" pitchFamily="34" charset="0"/>
              </a:rPr>
              <a:t>Describe  the working of shell sort technique</a:t>
            </a:r>
          </a:p>
          <a:p>
            <a:pPr marL="342900" indent="-342900">
              <a:buAutoNum type="arabicPeriod"/>
            </a:pPr>
            <a:r>
              <a:rPr lang="en-US" sz="1600" dirty="0">
                <a:latin typeface="Arial" panose="020B0604020202020204" pitchFamily="34" charset="0"/>
              </a:rPr>
              <a:t>List out the steps of the shell sort algorithm</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dirty="0">
                <a:latin typeface="Arial" panose="020B0604020202020204" pitchFamily="34" charset="0"/>
              </a:rPr>
              <a:t>Define Shell Sort</a:t>
            </a:r>
          </a:p>
          <a:p>
            <a:pPr marL="342900" indent="-342900">
              <a:buAutoNum type="arabicPeriod"/>
            </a:pPr>
            <a:r>
              <a:rPr lang="en-US" sz="1600" dirty="0">
                <a:latin typeface="Arial" panose="020B0604020202020204" pitchFamily="34" charset="0"/>
              </a:rPr>
              <a:t>Describe an algorithm and time complexity of Shell Sort</a:t>
            </a:r>
          </a:p>
          <a:p>
            <a:pPr marL="342900" indent="-342900">
              <a:buAutoNum type="arabicPeriod"/>
            </a:pPr>
            <a:r>
              <a:rPr lang="en-US" sz="1600" dirty="0">
                <a:latin typeface="Arial" panose="020B0604020202020204" pitchFamily="34" charset="0"/>
              </a:rPr>
              <a:t>Summarize the Shell Sort</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cstate="print"/>
          <a:srcRect/>
          <a:stretch>
            <a:fillRect/>
          </a:stretch>
        </p:blipFill>
        <p:spPr bwMode="auto">
          <a:xfrm>
            <a:off x="0" y="0"/>
            <a:ext cx="1990725" cy="600076"/>
          </a:xfrm>
          <a:prstGeom prst="rect">
            <a:avLst/>
          </a:prstGeom>
          <a:noFill/>
        </p:spPr>
      </p:pic>
      <p:sp>
        <p:nvSpPr>
          <p:cNvPr id="53" name="TextBox 52"/>
          <p:cNvSpPr txBox="1"/>
          <p:nvPr/>
        </p:nvSpPr>
        <p:spPr>
          <a:xfrm>
            <a:off x="626923" y="1532599"/>
            <a:ext cx="10086536" cy="6555641"/>
          </a:xfrm>
          <a:prstGeom prst="rect">
            <a:avLst/>
          </a:prstGeom>
          <a:noFill/>
        </p:spPr>
        <p:txBody>
          <a:bodyPr wrap="square" rtlCol="0">
            <a:spAutoFit/>
          </a:bodyPr>
          <a:lstStyle/>
          <a:p>
            <a:pPr>
              <a:buFont typeface="Arial" pitchFamily="34" charset="0"/>
              <a:buChar char="•"/>
            </a:pPr>
            <a:r>
              <a:rPr lang="en-US" sz="2800" dirty="0"/>
              <a:t> Shell sort is a generalized version of the insertion sort algorithm.</a:t>
            </a:r>
          </a:p>
          <a:p>
            <a:endParaRPr lang="en-US" sz="2800" dirty="0"/>
          </a:p>
          <a:p>
            <a:pPr>
              <a:buFont typeface="Arial" pitchFamily="34" charset="0"/>
              <a:buChar char="•"/>
            </a:pPr>
            <a:r>
              <a:rPr lang="en-US" sz="2800" dirty="0"/>
              <a:t>  Got its name from the inventor by Donald Shell.</a:t>
            </a:r>
          </a:p>
          <a:p>
            <a:endParaRPr lang="en-US" sz="2800" dirty="0"/>
          </a:p>
          <a:p>
            <a:pPr marL="457200" indent="-457200">
              <a:buFont typeface="Arial" panose="020B0604020202020204" pitchFamily="34" charset="0"/>
              <a:buChar char="•"/>
            </a:pPr>
            <a:r>
              <a:rPr lang="en-US" sz="2800" dirty="0"/>
              <a:t>It first sorts elements that are far apart from each other and successively reduces the interval between the elements to be sorted.</a:t>
            </a:r>
          </a:p>
          <a:p>
            <a:endParaRPr lang="en-US" sz="2800" dirty="0"/>
          </a:p>
          <a:p>
            <a:pPr>
              <a:buFont typeface="Arial" pitchFamily="34" charset="0"/>
              <a:buChar char="•"/>
            </a:pPr>
            <a:r>
              <a:rPr lang="en-US" sz="2800" dirty="0"/>
              <a:t> Shell sort is implemented by using “Gap” sequence(N/2,N/4….1)</a:t>
            </a:r>
          </a:p>
          <a:p>
            <a:r>
              <a:rPr lang="en-US" sz="2800" dirty="0"/>
              <a:t>    where Gap is a mathematical formula gap=N/2 and N is number of elements.</a:t>
            </a:r>
          </a:p>
          <a:p>
            <a:endParaRPr lang="en-US" sz="2800" dirty="0"/>
          </a:p>
          <a:p>
            <a:endParaRPr lang="en-US" sz="2800" dirty="0"/>
          </a:p>
          <a:p>
            <a:endParaRPr lang="en-US" sz="2800" dirty="0"/>
          </a:p>
          <a:p>
            <a:endParaRPr lang="en-US" sz="2800" dirty="0"/>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5078313"/>
          </a:xfrm>
          <a:prstGeom prst="rect">
            <a:avLst/>
          </a:prstGeom>
          <a:noFill/>
        </p:spPr>
        <p:txBody>
          <a:bodyPr wrap="square" rtlCol="0">
            <a:spAutoFit/>
          </a:bodyPr>
          <a:lstStyle/>
          <a:p>
            <a:r>
              <a:rPr lang="en-US" sz="3200" dirty="0"/>
              <a:t>Steps Involved in Shell sort-</a:t>
            </a:r>
          </a:p>
          <a:p>
            <a:endParaRPr lang="en-US" sz="2000" dirty="0"/>
          </a:p>
          <a:p>
            <a:r>
              <a:rPr lang="en-IN" sz="2800" b="0" i="0" dirty="0">
                <a:solidFill>
                  <a:srgbClr val="51565E"/>
                </a:solidFill>
                <a:effectLst/>
              </a:rPr>
              <a:t>Step 1: Set the </a:t>
            </a:r>
            <a:r>
              <a:rPr lang="en-IN" sz="2800" dirty="0">
                <a:solidFill>
                  <a:srgbClr val="51565E"/>
                </a:solidFill>
              </a:rPr>
              <a:t>gap value N/2 to j and first index set to </a:t>
            </a:r>
            <a:r>
              <a:rPr lang="en-IN" sz="2800" dirty="0" err="1">
                <a:solidFill>
                  <a:srgbClr val="51565E"/>
                </a:solidFill>
              </a:rPr>
              <a:t>i</a:t>
            </a:r>
            <a:endParaRPr lang="en-IN" sz="2800" b="0" i="0" dirty="0">
              <a:solidFill>
                <a:srgbClr val="51565E"/>
              </a:solidFill>
              <a:effectLst/>
            </a:endParaRPr>
          </a:p>
          <a:p>
            <a:r>
              <a:rPr lang="en-IN" sz="2800" b="0" i="0" dirty="0">
                <a:solidFill>
                  <a:srgbClr val="51565E"/>
                </a:solidFill>
                <a:effectLst/>
              </a:rPr>
              <a:t>Step 2: </a:t>
            </a:r>
            <a:r>
              <a:rPr lang="en-IN" sz="2800" dirty="0">
                <a:solidFill>
                  <a:srgbClr val="51565E"/>
                </a:solidFill>
              </a:rPr>
              <a:t>C</a:t>
            </a:r>
            <a:r>
              <a:rPr lang="en-IN" sz="2800" b="0" i="0" dirty="0">
                <a:solidFill>
                  <a:srgbClr val="51565E"/>
                </a:solidFill>
                <a:effectLst/>
              </a:rPr>
              <a:t>ompare </a:t>
            </a:r>
            <a:r>
              <a:rPr lang="en-IN" sz="2800" b="0" i="0" dirty="0" err="1">
                <a:solidFill>
                  <a:srgbClr val="51565E"/>
                </a:solidFill>
                <a:effectLst/>
              </a:rPr>
              <a:t>i</a:t>
            </a:r>
            <a:r>
              <a:rPr lang="en-IN" sz="2800" b="0" i="0" dirty="0">
                <a:solidFill>
                  <a:srgbClr val="51565E"/>
                </a:solidFill>
                <a:effectLst/>
              </a:rPr>
              <a:t> with j which is at the gap N/2</a:t>
            </a:r>
          </a:p>
          <a:p>
            <a:r>
              <a:rPr lang="en-IN" sz="2800" dirty="0">
                <a:solidFill>
                  <a:srgbClr val="51565E"/>
                </a:solidFill>
              </a:rPr>
              <a:t>Step 3: increment  </a:t>
            </a:r>
            <a:r>
              <a:rPr lang="en-IN" sz="2800" dirty="0" err="1">
                <a:solidFill>
                  <a:srgbClr val="51565E"/>
                </a:solidFill>
              </a:rPr>
              <a:t>i</a:t>
            </a:r>
            <a:r>
              <a:rPr lang="en-IN" sz="2800" dirty="0">
                <a:solidFill>
                  <a:srgbClr val="51565E"/>
                </a:solidFill>
              </a:rPr>
              <a:t> and j values</a:t>
            </a:r>
          </a:p>
          <a:p>
            <a:r>
              <a:rPr lang="en-IN" sz="2800" dirty="0">
                <a:solidFill>
                  <a:srgbClr val="51565E"/>
                </a:solidFill>
              </a:rPr>
              <a:t>Step 4: Repeat step-2 until  j reaches to end of the list up to this </a:t>
            </a:r>
            <a:r>
              <a:rPr lang="en-IN" sz="2800" dirty="0" err="1">
                <a:solidFill>
                  <a:srgbClr val="51565E"/>
                </a:solidFill>
              </a:rPr>
              <a:t>si</a:t>
            </a:r>
            <a:r>
              <a:rPr lang="en-IN" sz="2800" dirty="0">
                <a:solidFill>
                  <a:srgbClr val="51565E"/>
                </a:solidFill>
              </a:rPr>
              <a:t> 	pass-1.</a:t>
            </a:r>
          </a:p>
          <a:p>
            <a:r>
              <a:rPr lang="en-IN" sz="2800" dirty="0">
                <a:solidFill>
                  <a:srgbClr val="51565E"/>
                </a:solidFill>
              </a:rPr>
              <a:t>Step 5: In pass-2 the gap value is gap=gap/2</a:t>
            </a:r>
          </a:p>
          <a:p>
            <a:r>
              <a:rPr lang="en-IN" sz="2800" dirty="0">
                <a:solidFill>
                  <a:srgbClr val="51565E"/>
                </a:solidFill>
              </a:rPr>
              <a:t>Step 6: this procedure will continue until gap reaches to 1</a:t>
            </a:r>
          </a:p>
          <a:p>
            <a:r>
              <a:rPr lang="en-IN" sz="2800" b="0" i="0" dirty="0">
                <a:solidFill>
                  <a:srgbClr val="51565E"/>
                </a:solidFill>
                <a:effectLst/>
              </a:rPr>
              <a:t>Step7: when gap=1 shell sort work as insertion sort</a:t>
            </a:r>
          </a:p>
          <a:p>
            <a:r>
              <a:rPr lang="en-IN" sz="2800" dirty="0">
                <a:solidFill>
                  <a:srgbClr val="51565E"/>
                </a:solidFill>
              </a:rPr>
              <a:t>Step8: </a:t>
            </a:r>
            <a:r>
              <a:rPr lang="en-IN" sz="2800" b="0" i="0" dirty="0">
                <a:solidFill>
                  <a:srgbClr val="51565E"/>
                </a:solidFill>
                <a:effectLst/>
              </a:rPr>
              <a:t>Using insertion sort  the entire list </a:t>
            </a:r>
            <a:r>
              <a:rPr lang="en-IN" sz="2800" dirty="0">
                <a:solidFill>
                  <a:srgbClr val="51565E"/>
                </a:solidFill>
              </a:rPr>
              <a:t>would be in sorting order</a:t>
            </a:r>
            <a:endParaRPr lang="en-US" sz="2000" dirty="0"/>
          </a:p>
          <a:p>
            <a:endParaRPr lang="en-US" sz="2000" dirty="0"/>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52732" y="889667"/>
            <a:ext cx="10086536" cy="892552"/>
          </a:xfrm>
          <a:prstGeom prst="rect">
            <a:avLst/>
          </a:prstGeom>
          <a:noFill/>
        </p:spPr>
        <p:txBody>
          <a:bodyPr wrap="square" rtlCol="0">
            <a:spAutoFit/>
          </a:bodyPr>
          <a:lstStyle/>
          <a:p>
            <a:r>
              <a:rPr lang="en-US" sz="3200" dirty="0"/>
              <a:t>Working of Shell Sort</a:t>
            </a:r>
          </a:p>
          <a:p>
            <a:r>
              <a:rPr lang="en-US" sz="2000" dirty="0"/>
              <a:t>Suppose, we need to sort the following array</a:t>
            </a:r>
          </a:p>
        </p:txBody>
      </p:sp>
      <p:pic>
        <p:nvPicPr>
          <p:cNvPr id="5" name="Picture 2" descr="Shell sort step">
            <a:extLst>
              <a:ext uri="{FF2B5EF4-FFF2-40B4-BE49-F238E27FC236}">
                <a16:creationId xmlns:a16="http://schemas.microsoft.com/office/drawing/2014/main" id="{8D569105-F444-4F44-9E67-C4CFCC7AB8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4330" y="1819074"/>
            <a:ext cx="8583340" cy="147079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D992DB4-E370-1E44-8995-F9A1B3BA0C76}"/>
              </a:ext>
            </a:extLst>
          </p:cNvPr>
          <p:cNvSpPr txBox="1"/>
          <p:nvPr/>
        </p:nvSpPr>
        <p:spPr>
          <a:xfrm>
            <a:off x="995362" y="3856914"/>
            <a:ext cx="9582686" cy="1323439"/>
          </a:xfrm>
          <a:prstGeom prst="rect">
            <a:avLst/>
          </a:prstGeom>
          <a:noFill/>
        </p:spPr>
        <p:txBody>
          <a:bodyPr wrap="square">
            <a:spAutoFit/>
          </a:bodyPr>
          <a:lstStyle/>
          <a:p>
            <a:pPr marL="342900" indent="-342900">
              <a:buFont typeface="Arial" panose="020B0604020202020204" pitchFamily="34" charset="0"/>
              <a:buChar char="•"/>
            </a:pPr>
            <a:r>
              <a:rPr lang="en-US" sz="2000" dirty="0"/>
              <a:t>We are using the shell's original sequence (N/2, N/4, ...1) as intervals in our algorithm.</a:t>
            </a:r>
          </a:p>
          <a:p>
            <a:pPr marL="342900" indent="-342900">
              <a:buFont typeface="Arial" panose="020B0604020202020204" pitchFamily="34" charset="0"/>
              <a:buChar char="•"/>
            </a:pPr>
            <a:r>
              <a:rPr lang="en-US" sz="2000" dirty="0"/>
              <a:t>In the first loop, if the array size is N = 8 then, the elements lying at the interval of N/2 = 4 are compared and swapped if they are not in order.</a:t>
            </a:r>
          </a:p>
          <a:p>
            <a:pPr marL="342900" indent="-342900">
              <a:buFont typeface="Arial" panose="020B0604020202020204" pitchFamily="34" charset="0"/>
              <a:buChar char="•"/>
            </a:pPr>
            <a:r>
              <a:rPr lang="en-US" sz="2000" dirty="0"/>
              <a:t>The 0</a:t>
            </a:r>
            <a:r>
              <a:rPr lang="en-US" sz="2000" baseline="30000" dirty="0"/>
              <a:t>th</a:t>
            </a:r>
            <a:r>
              <a:rPr lang="en-US" sz="2000" dirty="0"/>
              <a:t>  element is compared with the 4</a:t>
            </a:r>
            <a:r>
              <a:rPr lang="en-US" sz="2000" baseline="30000" dirty="0"/>
              <a:t>th</a:t>
            </a:r>
            <a:r>
              <a:rPr lang="en-US" sz="2000" dirty="0"/>
              <a:t>  element.</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1015663"/>
          </a:xfrm>
          <a:prstGeom prst="rect">
            <a:avLst/>
          </a:prstGeom>
          <a:noFill/>
        </p:spPr>
        <p:txBody>
          <a:bodyPr wrap="square" rtlCol="0">
            <a:spAutoFit/>
          </a:bodyPr>
          <a:lstStyle/>
          <a:p>
            <a:r>
              <a:rPr lang="en-US" sz="2000" dirty="0"/>
              <a:t>If the 0</a:t>
            </a:r>
            <a:r>
              <a:rPr lang="en-US" sz="2000" baseline="30000" dirty="0"/>
              <a:t>th</a:t>
            </a:r>
            <a:r>
              <a:rPr lang="en-US" sz="2000" dirty="0"/>
              <a:t>  element is greater than the 4</a:t>
            </a:r>
            <a:r>
              <a:rPr lang="en-US" sz="2000" baseline="30000" dirty="0"/>
              <a:t>th</a:t>
            </a:r>
            <a:r>
              <a:rPr lang="en-US" sz="2000" dirty="0"/>
              <a:t> one then, the 4</a:t>
            </a:r>
            <a:r>
              <a:rPr lang="en-US" sz="2000" baseline="30000" dirty="0"/>
              <a:t>th</a:t>
            </a:r>
            <a:r>
              <a:rPr lang="en-US" sz="2000" dirty="0"/>
              <a:t> element is first stored in temp variable and the 0</a:t>
            </a:r>
            <a:r>
              <a:rPr lang="en-US" sz="2000" baseline="30000" dirty="0"/>
              <a:t>th</a:t>
            </a:r>
            <a:r>
              <a:rPr lang="en-US" sz="2000" dirty="0"/>
              <a:t>  element (</a:t>
            </a:r>
            <a:r>
              <a:rPr lang="en-US" sz="2000" dirty="0" err="1"/>
              <a:t>ie</a:t>
            </a:r>
            <a:r>
              <a:rPr lang="en-US" sz="2000" dirty="0"/>
              <a:t>. greater element) is stored in the 4</a:t>
            </a:r>
            <a:r>
              <a:rPr lang="en-US" sz="2000" baseline="30000" dirty="0"/>
              <a:t>th</a:t>
            </a:r>
            <a:r>
              <a:rPr lang="en-US" sz="2000" dirty="0"/>
              <a:t>  position and the element stored in temp is stored in the 0</a:t>
            </a:r>
            <a:r>
              <a:rPr lang="en-US" sz="2000" baseline="30000" dirty="0"/>
              <a:t>th</a:t>
            </a:r>
            <a:r>
              <a:rPr lang="en-US" sz="2000" dirty="0"/>
              <a:t>  position.</a:t>
            </a:r>
          </a:p>
        </p:txBody>
      </p:sp>
      <p:pic>
        <p:nvPicPr>
          <p:cNvPr id="5" name="Picture 2" descr="Shell Sort step">
            <a:extLst>
              <a:ext uri="{FF2B5EF4-FFF2-40B4-BE49-F238E27FC236}">
                <a16:creationId xmlns:a16="http://schemas.microsoft.com/office/drawing/2014/main" id="{FF5D4BB7-2A6A-8D46-B463-37444828BE0B}"/>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2566385" y="2497281"/>
            <a:ext cx="7059230" cy="322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6578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646331"/>
          </a:xfrm>
          <a:prstGeom prst="rect">
            <a:avLst/>
          </a:prstGeom>
          <a:noFill/>
        </p:spPr>
        <p:txBody>
          <a:bodyPr wrap="square" rtlCol="0">
            <a:spAutoFit/>
          </a:bodyPr>
          <a:lstStyle/>
          <a:p>
            <a:endParaRPr lang="en-US" dirty="0"/>
          </a:p>
          <a:p>
            <a:r>
              <a:rPr lang="en-US" dirty="0"/>
              <a:t>This process goes on for all the remaining elements.</a:t>
            </a:r>
          </a:p>
        </p:txBody>
      </p:sp>
      <p:pic>
        <p:nvPicPr>
          <p:cNvPr id="5" name="Picture 2" descr="Shell Sort steps">
            <a:extLst>
              <a:ext uri="{FF2B5EF4-FFF2-40B4-BE49-F238E27FC236}">
                <a16:creationId xmlns:a16="http://schemas.microsoft.com/office/drawing/2014/main" id="{EF3D9B8B-D971-6448-98B4-28EC54CEE4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7972" y="2103438"/>
            <a:ext cx="6558455" cy="3669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7299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646331"/>
          </a:xfrm>
          <a:prstGeom prst="rect">
            <a:avLst/>
          </a:prstGeom>
          <a:noFill/>
        </p:spPr>
        <p:txBody>
          <a:bodyPr wrap="square" rtlCol="0">
            <a:spAutoFit/>
          </a:bodyPr>
          <a:lstStyle/>
          <a:p>
            <a:r>
              <a:rPr lang="en-US" dirty="0"/>
              <a:t>In the second loop, an interval of N/4 = 8/4 = 2 is taken and again the elements lying at these intervals are sorted</a:t>
            </a:r>
          </a:p>
        </p:txBody>
      </p:sp>
      <p:pic>
        <p:nvPicPr>
          <p:cNvPr id="5" name="Picture 2" descr="Shell Sort step">
            <a:extLst>
              <a:ext uri="{FF2B5EF4-FFF2-40B4-BE49-F238E27FC236}">
                <a16:creationId xmlns:a16="http://schemas.microsoft.com/office/drawing/2014/main" id="{EA264F46-86D2-F54A-BD19-E4AF57D2E5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7503" y="2124176"/>
            <a:ext cx="8019393" cy="24110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0DB76A0-89A6-D847-9B69-0C595D978F00}"/>
              </a:ext>
            </a:extLst>
          </p:cNvPr>
          <p:cNvSpPr txBox="1"/>
          <p:nvPr/>
        </p:nvSpPr>
        <p:spPr>
          <a:xfrm>
            <a:off x="995362" y="4870470"/>
            <a:ext cx="9994691" cy="646331"/>
          </a:xfrm>
          <a:prstGeom prst="rect">
            <a:avLst/>
          </a:prstGeom>
          <a:noFill/>
        </p:spPr>
        <p:txBody>
          <a:bodyPr wrap="square">
            <a:spAutoFit/>
          </a:bodyPr>
          <a:lstStyle/>
          <a:p>
            <a:pPr marL="342900" indent="-342900">
              <a:buFont typeface="Arial" panose="020B0604020202020204" pitchFamily="34" charset="0"/>
              <a:buChar char="•"/>
            </a:pPr>
            <a:r>
              <a:rPr lang="en-US" dirty="0"/>
              <a:t>The elements at 4th and 2nd position are compared. The elements at 2nd and 0th position are also compared. All the elements in the array lying at the current interval are compared.</a:t>
            </a:r>
          </a:p>
        </p:txBody>
      </p:sp>
    </p:spTree>
    <p:extLst>
      <p:ext uri="{BB962C8B-B14F-4D97-AF65-F5344CB8AC3E}">
        <p14:creationId xmlns:p14="http://schemas.microsoft.com/office/powerpoint/2010/main" val="38019144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369332"/>
          </a:xfrm>
          <a:prstGeom prst="rect">
            <a:avLst/>
          </a:prstGeom>
          <a:noFill/>
        </p:spPr>
        <p:txBody>
          <a:bodyPr wrap="square" rtlCol="0">
            <a:spAutoFit/>
          </a:bodyPr>
          <a:lstStyle/>
          <a:p>
            <a:r>
              <a:rPr lang="en-US" dirty="0"/>
              <a:t>The same process goes on for remaining elements</a:t>
            </a:r>
          </a:p>
        </p:txBody>
      </p:sp>
      <p:pic>
        <p:nvPicPr>
          <p:cNvPr id="5" name="Picture 2" descr="Shell Sort step">
            <a:extLst>
              <a:ext uri="{FF2B5EF4-FFF2-40B4-BE49-F238E27FC236}">
                <a16:creationId xmlns:a16="http://schemas.microsoft.com/office/drawing/2014/main" id="{165B76EB-2052-884B-8C62-28D0594F21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0965" y="1621357"/>
            <a:ext cx="6302703" cy="4341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58313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3320622" cy="2308324"/>
          </a:xfrm>
          <a:prstGeom prst="rect">
            <a:avLst/>
          </a:prstGeom>
          <a:noFill/>
        </p:spPr>
        <p:txBody>
          <a:bodyPr wrap="square" rtlCol="0">
            <a:spAutoFit/>
          </a:bodyPr>
          <a:lstStyle/>
          <a:p>
            <a:r>
              <a:rPr lang="en-US" sz="2400" dirty="0"/>
              <a:t>Finally, when the interval is N/8 = 8/8 =1 then the array elements lying at the interval of 1 are sorted. The array is now completely sorted.</a:t>
            </a:r>
          </a:p>
        </p:txBody>
      </p:sp>
      <p:pic>
        <p:nvPicPr>
          <p:cNvPr id="5" name="Picture 2" descr="Shell Sort step">
            <a:extLst>
              <a:ext uri="{FF2B5EF4-FFF2-40B4-BE49-F238E27FC236}">
                <a16:creationId xmlns:a16="http://schemas.microsoft.com/office/drawing/2014/main" id="{EDAAACD4-2BD2-D64F-9C7D-AA72825894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6898" y="780733"/>
            <a:ext cx="4979133" cy="6006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1184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52732" y="1598867"/>
            <a:ext cx="10086536" cy="3939540"/>
          </a:xfrm>
          <a:prstGeom prst="rect">
            <a:avLst/>
          </a:prstGeom>
          <a:noFill/>
        </p:spPr>
        <p:txBody>
          <a:bodyPr wrap="square" rtlCol="0">
            <a:spAutoFit/>
          </a:bodyPr>
          <a:lstStyle/>
          <a:p>
            <a:pPr marL="0" indent="0">
              <a:buNone/>
            </a:pPr>
            <a:r>
              <a:rPr lang="en-IN" sz="1800" dirty="0">
                <a:solidFill>
                  <a:schemeClr val="tx1"/>
                </a:solidFill>
              </a:rPr>
              <a:t>P</a:t>
            </a:r>
            <a:r>
              <a:rPr lang="en-IN" sz="1800" b="0" i="0" dirty="0">
                <a:solidFill>
                  <a:schemeClr val="tx1"/>
                </a:solidFill>
                <a:effectLst/>
              </a:rPr>
              <a:t>rocedure begin: Shell sort</a:t>
            </a:r>
          </a:p>
          <a:p>
            <a:pPr marL="0" indent="0">
              <a:buNone/>
            </a:pPr>
            <a:r>
              <a:rPr lang="en-IN" sz="1800" dirty="0">
                <a:solidFill>
                  <a:schemeClr val="tx1"/>
                </a:solidFill>
                <a:effectLst/>
              </a:rPr>
              <a:t>	Calculate gap size ($gap)</a:t>
            </a:r>
            <a:r>
              <a:rPr lang="en-IN" sz="1800" dirty="0">
                <a:solidFill>
                  <a:schemeClr val="tx1"/>
                </a:solidFill>
              </a:rPr>
              <a:t> </a:t>
            </a:r>
          </a:p>
          <a:p>
            <a:pPr marL="0" indent="0">
              <a:buNone/>
            </a:pPr>
            <a:r>
              <a:rPr lang="en-IN" sz="1800" dirty="0">
                <a:solidFill>
                  <a:schemeClr val="tx1"/>
                </a:solidFill>
                <a:effectLst/>
              </a:rPr>
              <a:t>	WHILE $gap is greater than 0</a:t>
            </a:r>
            <a:r>
              <a:rPr lang="en-IN" sz="1800" dirty="0">
                <a:solidFill>
                  <a:schemeClr val="tx1"/>
                </a:solidFill>
              </a:rPr>
              <a:t> </a:t>
            </a:r>
          </a:p>
          <a:p>
            <a:pPr marL="0" indent="0">
              <a:buNone/>
            </a:pPr>
            <a:r>
              <a:rPr lang="en-IN" sz="1800" dirty="0">
                <a:solidFill>
                  <a:schemeClr val="tx1"/>
                </a:solidFill>
                <a:effectLst/>
              </a:rPr>
              <a:t>		FOR each element of the list, that is $gap apart</a:t>
            </a:r>
            <a:r>
              <a:rPr lang="en-IN" sz="1800" dirty="0">
                <a:solidFill>
                  <a:schemeClr val="tx1"/>
                </a:solidFill>
              </a:rPr>
              <a:t> </a:t>
            </a:r>
          </a:p>
          <a:p>
            <a:pPr marL="0" indent="0">
              <a:buNone/>
            </a:pPr>
            <a:r>
              <a:rPr lang="en-IN" sz="1800" dirty="0">
                <a:solidFill>
                  <a:schemeClr val="tx1"/>
                </a:solidFill>
                <a:effectLst/>
              </a:rPr>
              <a:t>			Extract the current item</a:t>
            </a:r>
            <a:r>
              <a:rPr lang="en-IN" sz="1800" dirty="0">
                <a:solidFill>
                  <a:schemeClr val="tx1"/>
                </a:solidFill>
              </a:rPr>
              <a:t> </a:t>
            </a:r>
          </a:p>
          <a:p>
            <a:pPr marL="0" indent="0">
              <a:buNone/>
            </a:pPr>
            <a:r>
              <a:rPr lang="en-IN" sz="1800" dirty="0">
                <a:solidFill>
                  <a:schemeClr val="tx1"/>
                </a:solidFill>
                <a:effectLst/>
              </a:rPr>
              <a:t>			Locate the position to insert</a:t>
            </a:r>
            <a:r>
              <a:rPr lang="en-IN" sz="1800" dirty="0">
                <a:solidFill>
                  <a:schemeClr val="tx1"/>
                </a:solidFill>
              </a:rPr>
              <a:t> </a:t>
            </a:r>
          </a:p>
          <a:p>
            <a:pPr marL="0" indent="0">
              <a:buNone/>
            </a:pPr>
            <a:r>
              <a:rPr lang="en-IN" sz="1800" dirty="0">
                <a:solidFill>
                  <a:schemeClr val="tx1"/>
                </a:solidFill>
                <a:effectLst/>
              </a:rPr>
              <a:t>			Insert the item to the position</a:t>
            </a:r>
            <a:r>
              <a:rPr lang="en-IN" sz="1800" dirty="0">
                <a:solidFill>
                  <a:schemeClr val="tx1"/>
                </a:solidFill>
              </a:rPr>
              <a:t> </a:t>
            </a:r>
          </a:p>
          <a:p>
            <a:pPr marL="0" indent="0">
              <a:buNone/>
            </a:pPr>
            <a:r>
              <a:rPr lang="en-IN" sz="1800" dirty="0">
                <a:solidFill>
                  <a:schemeClr val="tx1"/>
                </a:solidFill>
                <a:effectLst/>
              </a:rPr>
              <a:t>		END FOR</a:t>
            </a:r>
            <a:r>
              <a:rPr lang="en-IN" sz="1800" dirty="0">
                <a:solidFill>
                  <a:schemeClr val="tx1"/>
                </a:solidFill>
              </a:rPr>
              <a:t> </a:t>
            </a:r>
          </a:p>
          <a:p>
            <a:pPr marL="0" indent="0">
              <a:buNone/>
            </a:pPr>
            <a:r>
              <a:rPr lang="en-IN" sz="1800" dirty="0">
                <a:solidFill>
                  <a:schemeClr val="tx1"/>
                </a:solidFill>
                <a:effectLst/>
              </a:rPr>
              <a:t>		Calculate gap size ($gap)</a:t>
            </a:r>
            <a:r>
              <a:rPr lang="en-IN" sz="1800" dirty="0">
                <a:solidFill>
                  <a:schemeClr val="tx1"/>
                </a:solidFill>
              </a:rPr>
              <a:t> </a:t>
            </a:r>
          </a:p>
          <a:p>
            <a:pPr marL="0" indent="0">
              <a:buNone/>
            </a:pPr>
            <a:r>
              <a:rPr lang="en-IN" sz="1800" dirty="0">
                <a:solidFill>
                  <a:schemeClr val="tx1"/>
                </a:solidFill>
                <a:effectLst/>
              </a:rPr>
              <a:t>	END WHILE</a:t>
            </a:r>
          </a:p>
          <a:p>
            <a:pPr marL="0" indent="0">
              <a:buNone/>
            </a:pPr>
            <a:r>
              <a:rPr lang="en-IN" sz="1800" dirty="0">
                <a:solidFill>
                  <a:schemeClr val="tx1"/>
                </a:solidFill>
              </a:rPr>
              <a:t>End procedure</a:t>
            </a:r>
          </a:p>
          <a:p>
            <a:pPr marL="0" indent="0">
              <a:buNone/>
            </a:pPr>
            <a:endParaRPr lang="en-IN" sz="1800" dirty="0">
              <a:solidFill>
                <a:schemeClr val="tx1"/>
              </a:solidFill>
            </a:endParaRPr>
          </a:p>
          <a:p>
            <a:pPr marL="0" indent="0">
              <a:buNone/>
            </a:pPr>
            <a:endParaRPr lang="en-IN" sz="1800" dirty="0">
              <a:solidFill>
                <a:schemeClr val="tx1"/>
              </a:solidFill>
            </a:endParaRPr>
          </a:p>
          <a:p>
            <a:pPr marL="0" indent="0">
              <a:buNone/>
            </a:pPr>
            <a:r>
              <a:rPr lang="en-IN" sz="1600" i="1" dirty="0">
                <a:solidFill>
                  <a:schemeClr val="tx1"/>
                </a:solidFill>
              </a:rPr>
              <a:t>Note: Initially the $gap is half of length of the array and the $gap size is recalculated by dividing the gap by 2 every time</a:t>
            </a:r>
            <a:endParaRPr lang="en-US" sz="1600" i="1" dirty="0">
              <a:solidFill>
                <a:schemeClr val="tx1"/>
              </a:solidFill>
            </a:endParaRPr>
          </a:p>
        </p:txBody>
      </p:sp>
      <p:sp>
        <p:nvSpPr>
          <p:cNvPr id="7" name="TextBox 6">
            <a:extLst>
              <a:ext uri="{FF2B5EF4-FFF2-40B4-BE49-F238E27FC236}">
                <a16:creationId xmlns:a16="http://schemas.microsoft.com/office/drawing/2014/main" id="{10AA1C48-2CDB-3947-976D-F5D85E6EA2A1}"/>
              </a:ext>
            </a:extLst>
          </p:cNvPr>
          <p:cNvSpPr txBox="1"/>
          <p:nvPr/>
        </p:nvSpPr>
        <p:spPr>
          <a:xfrm>
            <a:off x="767255" y="751521"/>
            <a:ext cx="8376745" cy="461665"/>
          </a:xfrm>
          <a:prstGeom prst="rect">
            <a:avLst/>
          </a:prstGeom>
          <a:noFill/>
        </p:spPr>
        <p:txBody>
          <a:bodyPr wrap="square">
            <a:spAutoFit/>
          </a:bodyPr>
          <a:lstStyle/>
          <a:p>
            <a:r>
              <a:rPr lang="en-US" sz="2400" dirty="0"/>
              <a:t>Shell Sort Algorithm Pseudocode</a:t>
            </a:r>
          </a:p>
        </p:txBody>
      </p:sp>
    </p:spTree>
    <p:extLst>
      <p:ext uri="{BB962C8B-B14F-4D97-AF65-F5344CB8AC3E}">
        <p14:creationId xmlns:p14="http://schemas.microsoft.com/office/powerpoint/2010/main" val="5066446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8A3D6A97-0282-DD4B-918D-EE382034237B}"/>
              </a:ext>
            </a:extLst>
          </p:cNvPr>
          <p:cNvSpPr txBox="1"/>
          <p:nvPr/>
        </p:nvSpPr>
        <p:spPr>
          <a:xfrm>
            <a:off x="756745" y="2405455"/>
            <a:ext cx="8387255" cy="2246769"/>
          </a:xfrm>
          <a:prstGeom prst="rect">
            <a:avLst/>
          </a:prstGeom>
          <a:noFill/>
        </p:spPr>
        <p:txBody>
          <a:bodyPr wrap="square">
            <a:spAutoFit/>
          </a:bodyPr>
          <a:lstStyle/>
          <a:p>
            <a:r>
              <a:rPr lang="en-US" sz="2000" dirty="0">
                <a:solidFill>
                  <a:schemeClr val="tx1"/>
                </a:solidFill>
              </a:rPr>
              <a:t>Complexity in the Best Case: O(n*Log n) </a:t>
            </a:r>
          </a:p>
          <a:p>
            <a:endParaRPr lang="en-US" sz="2000" dirty="0">
              <a:solidFill>
                <a:schemeClr val="tx1"/>
              </a:solidFill>
            </a:endParaRPr>
          </a:p>
          <a:p>
            <a:r>
              <a:rPr lang="en-US" sz="2000" dirty="0">
                <a:solidFill>
                  <a:schemeClr val="tx1"/>
                </a:solidFill>
              </a:rPr>
              <a:t>Complexity in the Average Case: O(n*log n) </a:t>
            </a:r>
          </a:p>
          <a:p>
            <a:endParaRPr lang="en-US" sz="2000" dirty="0">
              <a:solidFill>
                <a:schemeClr val="tx1"/>
              </a:solidFill>
            </a:endParaRPr>
          </a:p>
          <a:p>
            <a:r>
              <a:rPr lang="en-US" sz="2000" dirty="0">
                <a:solidFill>
                  <a:schemeClr val="tx1"/>
                </a:solidFill>
              </a:rPr>
              <a:t>Complexity in the Worst-Case Scenario: O (n2)</a:t>
            </a:r>
          </a:p>
          <a:p>
            <a:pPr marL="0" indent="0">
              <a:buNone/>
            </a:pPr>
            <a:br>
              <a:rPr lang="en-US" sz="2000" dirty="0">
                <a:solidFill>
                  <a:schemeClr val="tx1"/>
                </a:solidFill>
              </a:rPr>
            </a:br>
            <a:endParaRPr lang="en-US" sz="2000" dirty="0">
              <a:solidFill>
                <a:schemeClr val="tx1"/>
              </a:solidFill>
            </a:endParaRPr>
          </a:p>
        </p:txBody>
      </p:sp>
      <p:sp>
        <p:nvSpPr>
          <p:cNvPr id="5" name="TextBox 4">
            <a:extLst>
              <a:ext uri="{FF2B5EF4-FFF2-40B4-BE49-F238E27FC236}">
                <a16:creationId xmlns:a16="http://schemas.microsoft.com/office/drawing/2014/main" id="{2C354995-6AB8-DC44-AC95-BCA579C7CB35}"/>
              </a:ext>
            </a:extLst>
          </p:cNvPr>
          <p:cNvSpPr txBox="1"/>
          <p:nvPr/>
        </p:nvSpPr>
        <p:spPr>
          <a:xfrm>
            <a:off x="756745" y="1190819"/>
            <a:ext cx="5182957" cy="523220"/>
          </a:xfrm>
          <a:prstGeom prst="rect">
            <a:avLst/>
          </a:prstGeom>
          <a:noFill/>
        </p:spPr>
        <p:txBody>
          <a:bodyPr wrap="none" rtlCol="0">
            <a:spAutoFit/>
          </a:bodyPr>
          <a:lstStyle/>
          <a:p>
            <a:r>
              <a:rPr lang="en-US" sz="2800" dirty="0"/>
              <a:t>Complexity of Shell Sort Algorithm</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7" name="TextBox 16"/>
          <p:cNvSpPr txBox="1"/>
          <p:nvPr/>
        </p:nvSpPr>
        <p:spPr>
          <a:xfrm>
            <a:off x="1083212" y="1252025"/>
            <a:ext cx="10086536" cy="3693319"/>
          </a:xfrm>
          <a:prstGeom prst="rect">
            <a:avLst/>
          </a:prstGeom>
          <a:noFill/>
        </p:spPr>
        <p:txBody>
          <a:bodyPr wrap="square" rtlCol="0">
            <a:spAutoFit/>
          </a:bodyPr>
          <a:lstStyle/>
          <a:p>
            <a:endParaRPr lang="en-US" dirty="0"/>
          </a:p>
          <a:p>
            <a:pPr algn="l" fontAlgn="base">
              <a:buFont typeface="Arial" panose="020B0604020202020204" pitchFamily="34" charset="0"/>
              <a:buChar char="•"/>
            </a:pPr>
            <a:r>
              <a:rPr lang="en-IN" sz="2400" dirty="0">
                <a:solidFill>
                  <a:srgbClr val="3C484E"/>
                </a:solidFill>
                <a:latin typeface="inherit"/>
              </a:rPr>
              <a:t>S</a:t>
            </a:r>
            <a:r>
              <a:rPr lang="en-IN" sz="2400" b="0" i="0" dirty="0">
                <a:solidFill>
                  <a:srgbClr val="3C484E"/>
                </a:solidFill>
                <a:effectLst/>
                <a:latin typeface="inherit"/>
              </a:rPr>
              <a:t>ince Shell sort can be implemented using little code and does not use the call stack, some implementations of the </a:t>
            </a:r>
            <a:r>
              <a:rPr lang="en-IN" sz="2400" b="0" i="0" dirty="0" err="1">
                <a:solidFill>
                  <a:srgbClr val="3C484E"/>
                </a:solidFill>
                <a:effectLst/>
                <a:latin typeface="inherit"/>
              </a:rPr>
              <a:t>qsort</a:t>
            </a:r>
            <a:r>
              <a:rPr lang="en-IN" sz="2400" b="0" i="0" dirty="0">
                <a:solidFill>
                  <a:srgbClr val="3C484E"/>
                </a:solidFill>
                <a:effectLst/>
                <a:latin typeface="inherit"/>
              </a:rPr>
              <a:t> function in the C standard library targeted at embedded systems use it instead of quicksort. Shell sort is, for example, used in the </a:t>
            </a:r>
            <a:r>
              <a:rPr lang="en-IN" sz="2400" b="0" i="0" dirty="0" err="1">
                <a:solidFill>
                  <a:srgbClr val="3C484E"/>
                </a:solidFill>
                <a:effectLst/>
                <a:latin typeface="inherit"/>
              </a:rPr>
              <a:t>uClibc</a:t>
            </a:r>
            <a:r>
              <a:rPr lang="en-IN" sz="2400" b="0" i="0" dirty="0">
                <a:solidFill>
                  <a:srgbClr val="3C484E"/>
                </a:solidFill>
                <a:effectLst/>
                <a:latin typeface="inherit"/>
              </a:rPr>
              <a:t> library. For similar reasons, an implementation of Shell sort is present in the Linux kernel.</a:t>
            </a:r>
          </a:p>
          <a:p>
            <a:pPr algn="l" fontAlgn="base">
              <a:buFont typeface="Arial" panose="020B0604020202020204" pitchFamily="34" charset="0"/>
              <a:buChar char="•"/>
            </a:pPr>
            <a:endParaRPr lang="en-IN" sz="2400" b="0" i="0" dirty="0">
              <a:solidFill>
                <a:srgbClr val="3C484E"/>
              </a:solidFill>
              <a:effectLst/>
              <a:latin typeface="inherit"/>
            </a:endParaRPr>
          </a:p>
          <a:p>
            <a:pPr algn="l" fontAlgn="base">
              <a:buFont typeface="Arial" panose="020B0604020202020204" pitchFamily="34" charset="0"/>
              <a:buChar char="•"/>
            </a:pPr>
            <a:r>
              <a:rPr lang="en-IN" sz="2400" b="0" i="0" dirty="0">
                <a:solidFill>
                  <a:srgbClr val="3C484E"/>
                </a:solidFill>
                <a:effectLst/>
                <a:latin typeface="inherit"/>
              </a:rPr>
              <a:t>Shell sort can also serve as a sub-algorithm of introspective sort, to sort short subarrays and to prevent a slowdown when the recursion depth exceeds a given limit. This principle is employed, for instance, in the bzip2 compressor.</a:t>
            </a:r>
          </a:p>
        </p:txBody>
      </p:sp>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2" name="AutoShape 2" descr="Shell Sort working">
            <a:extLst>
              <a:ext uri="{FF2B5EF4-FFF2-40B4-BE49-F238E27FC236}">
                <a16:creationId xmlns:a16="http://schemas.microsoft.com/office/drawing/2014/main" id="{8D71D719-9427-AD4D-8369-7F3E4234020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compare each value from the sub list and interchange">
            <a:extLst>
              <a:ext uri="{FF2B5EF4-FFF2-40B4-BE49-F238E27FC236}">
                <a16:creationId xmlns:a16="http://schemas.microsoft.com/office/drawing/2014/main" id="{6169AE6A-77F7-204C-ACFC-6EC13C90DD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5362" y="1270000"/>
            <a:ext cx="3771418" cy="2159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hell Sort in Data Structure 4">
            <a:extLst>
              <a:ext uri="{FF2B5EF4-FFF2-40B4-BE49-F238E27FC236}">
                <a16:creationId xmlns:a16="http://schemas.microsoft.com/office/drawing/2014/main" id="{5E176615-D1BF-F44F-A149-CEEFF382337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9808" y="1270000"/>
            <a:ext cx="4709936" cy="20066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hell Sort in Data Structure 6">
            <a:extLst>
              <a:ext uri="{FF2B5EF4-FFF2-40B4-BE49-F238E27FC236}">
                <a16:creationId xmlns:a16="http://schemas.microsoft.com/office/drawing/2014/main" id="{AE0AC1F2-148A-934B-8F10-7F9925E28AF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09808" y="4615355"/>
            <a:ext cx="4709936" cy="74067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ell Sort in Data Structure 14">
            <a:extLst>
              <a:ext uri="{FF2B5EF4-FFF2-40B4-BE49-F238E27FC236}">
                <a16:creationId xmlns:a16="http://schemas.microsoft.com/office/drawing/2014/main" id="{6603BECF-E244-3841-8D9A-95FB8D5517B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6103" y="4615355"/>
            <a:ext cx="4709936" cy="726075"/>
          </a:xfrm>
          <a:prstGeom prst="rect">
            <a:avLst/>
          </a:prstGeom>
          <a:noFill/>
          <a:extLst>
            <a:ext uri="{909E8E84-426E-40DD-AFC4-6F175D3DCCD1}">
              <a14:hiddenFill xmlns:a14="http://schemas.microsoft.com/office/drawing/2010/main">
                <a:solidFill>
                  <a:srgbClr val="FFFFFF"/>
                </a:solidFill>
              </a14:hiddenFill>
            </a:ext>
          </a:extLst>
        </p:spPr>
      </p:pic>
      <p:sp>
        <p:nvSpPr>
          <p:cNvPr id="3" name="Right Arrow 2">
            <a:extLst>
              <a:ext uri="{FF2B5EF4-FFF2-40B4-BE49-F238E27FC236}">
                <a16:creationId xmlns:a16="http://schemas.microsoft.com/office/drawing/2014/main" id="{4F68A978-3201-EC44-961A-270127EE8975}"/>
              </a:ext>
            </a:extLst>
          </p:cNvPr>
          <p:cNvSpPr/>
          <p:nvPr/>
        </p:nvSpPr>
        <p:spPr>
          <a:xfrm>
            <a:off x="5209763" y="1445868"/>
            <a:ext cx="651642" cy="3945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396DA3FC-6D36-EE4F-A0AE-5EA30E7CD3A0}"/>
              </a:ext>
            </a:extLst>
          </p:cNvPr>
          <p:cNvSpPr/>
          <p:nvPr/>
        </p:nvSpPr>
        <p:spPr>
          <a:xfrm rot="10800000">
            <a:off x="5444358" y="4781104"/>
            <a:ext cx="651642" cy="3945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68D4DF98-5120-8C4B-9D13-493368666AB6}"/>
              </a:ext>
            </a:extLst>
          </p:cNvPr>
          <p:cNvSpPr/>
          <p:nvPr/>
        </p:nvSpPr>
        <p:spPr>
          <a:xfrm rot="5400000">
            <a:off x="8538955" y="3688255"/>
            <a:ext cx="651642" cy="3945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2308324"/>
          </a:xfrm>
          <a:prstGeom prst="rect">
            <a:avLst/>
          </a:prstGeom>
          <a:noFill/>
        </p:spPr>
        <p:txBody>
          <a:bodyPr wrap="square" rtlCol="0">
            <a:spAutoFit/>
          </a:bodyPr>
          <a:lstStyle/>
          <a:p>
            <a:r>
              <a:rPr lang="en-IN" sz="2400" dirty="0">
                <a:latin typeface="urw-din"/>
              </a:rPr>
              <a:t>Shell Sort </a:t>
            </a:r>
            <a:r>
              <a:rPr lang="en-IN" sz="2400" b="0" i="0" dirty="0">
                <a:effectLst/>
                <a:latin typeface="urw-din"/>
              </a:rPr>
              <a:t>is mainly a variation of Insertion Sort. In insertion sort, we move elements only one position ahead. When an element has to be moved far ahead, many movements are involved. The idea of Shell Sort is to allow the exchange of far items. In Shell sort, we make the array h-sorted for a large value of h. We keep reducing the value of h until it becomes 1. An array is said to be h-sorted if all </a:t>
            </a:r>
            <a:r>
              <a:rPr lang="en-IN" sz="2400" b="0" i="0" dirty="0" err="1">
                <a:effectLst/>
                <a:latin typeface="urw-din"/>
              </a:rPr>
              <a:t>sublists</a:t>
            </a:r>
            <a:r>
              <a:rPr lang="en-IN" sz="2400" b="0" i="0" dirty="0">
                <a:effectLst/>
                <a:latin typeface="urw-din"/>
              </a:rPr>
              <a:t> of every </a:t>
            </a:r>
            <a:r>
              <a:rPr lang="en-IN" sz="2400" b="0" i="0" dirty="0" err="1">
                <a:effectLst/>
                <a:latin typeface="urw-din"/>
              </a:rPr>
              <a:t>h</a:t>
            </a:r>
            <a:r>
              <a:rPr lang="en-IN" sz="2400" b="0" i="0" baseline="30000" dirty="0" err="1">
                <a:effectLst/>
                <a:latin typeface="urw-din"/>
              </a:rPr>
              <a:t>th</a:t>
            </a:r>
            <a:r>
              <a:rPr lang="en-IN" sz="2400" b="0" i="0" dirty="0">
                <a:effectLst/>
                <a:latin typeface="urw-din"/>
              </a:rPr>
              <a:t> element are sorted.</a:t>
            </a:r>
            <a:endParaRPr lang="en-US" sz="2400"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IN" dirty="0">
                <a:solidFill>
                  <a:schemeClr val="bg1"/>
                </a:solidFill>
              </a:rPr>
              <a:t>What is the other name for a shell sort algorithm?</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348211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t>Diminishing increment sort</a:t>
            </a:r>
            <a:endParaRPr lang="en-US" sz="1600" dirty="0">
              <a:latin typeface="Arial" panose="020B0604020202020204" pitchFamily="34" charset="0"/>
            </a:endParaRPr>
          </a:p>
          <a:p>
            <a:pPr marL="342900" indent="-342900">
              <a:lnSpc>
                <a:spcPct val="150000"/>
              </a:lnSpc>
              <a:buAutoNum type="alphaLcParenBoth"/>
            </a:pPr>
            <a:r>
              <a:rPr lang="en-US" sz="1600" dirty="0">
                <a:latin typeface="Arial" panose="020B0604020202020204" pitchFamily="34" charset="0"/>
              </a:rPr>
              <a:t>D</a:t>
            </a:r>
            <a:r>
              <a:rPr lang="en-IN" dirty="0" err="1"/>
              <a:t>iminishing</a:t>
            </a:r>
            <a:r>
              <a:rPr lang="en-IN" dirty="0"/>
              <a:t> decrement sort</a:t>
            </a:r>
            <a:endParaRPr lang="en-US" sz="1600" dirty="0">
              <a:latin typeface="Arial" panose="020B0604020202020204" pitchFamily="34" charset="0"/>
            </a:endParaRPr>
          </a:p>
          <a:p>
            <a:pPr marL="342900" indent="-342900">
              <a:lnSpc>
                <a:spcPct val="150000"/>
              </a:lnSpc>
              <a:buAutoNum type="alphaLcParenBoth"/>
            </a:pPr>
            <a:r>
              <a:rPr lang="en-US" sz="1600" dirty="0">
                <a:latin typeface="Arial" panose="020B0604020202020204" pitchFamily="34" charset="0"/>
              </a:rPr>
              <a:t>Insertion Sort</a:t>
            </a:r>
          </a:p>
          <a:p>
            <a:pPr marL="342900" indent="-342900">
              <a:lnSpc>
                <a:spcPct val="150000"/>
              </a:lnSpc>
              <a:buAutoNum type="alphaLcParenBoth"/>
            </a:pPr>
            <a:r>
              <a:rPr lang="en-US" sz="1600" dirty="0">
                <a:latin typeface="Arial" panose="020B0604020202020204" pitchFamily="34" charset="0"/>
              </a:rPr>
              <a:t>Selection Sort</a:t>
            </a:r>
            <a:endParaRPr lang="en-US" sz="1600"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IN" dirty="0">
                <a:solidFill>
                  <a:schemeClr val="bg1"/>
                </a:solidFill>
              </a:rPr>
              <a:t>The worst case running time of shell sort, using Shell’s increments is?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3499043"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t>O(N)</a:t>
            </a:r>
          </a:p>
          <a:p>
            <a:pPr marL="342900" indent="-342900">
              <a:lnSpc>
                <a:spcPct val="150000"/>
              </a:lnSpc>
              <a:buAutoNum type="alphaLcParenBoth"/>
            </a:pPr>
            <a:r>
              <a:rPr lang="en-IN" dirty="0"/>
              <a:t>O(N log N)</a:t>
            </a:r>
          </a:p>
          <a:p>
            <a:pPr marL="342900" indent="-342900">
              <a:lnSpc>
                <a:spcPct val="150000"/>
              </a:lnSpc>
              <a:buAutoNum type="alphaLcParenBoth"/>
            </a:pPr>
            <a:r>
              <a:rPr lang="en-IN" dirty="0"/>
              <a:t>O(log N)</a:t>
            </a:r>
          </a:p>
          <a:p>
            <a:pPr marL="342900" indent="-342900">
              <a:lnSpc>
                <a:spcPct val="150000"/>
              </a:lnSpc>
              <a:buAutoNum type="alphaLcParenBoth"/>
            </a:pPr>
            <a:r>
              <a:rPr lang="en-IN" dirty="0"/>
              <a:t>O(N</a:t>
            </a:r>
            <a:r>
              <a:rPr lang="en-IN" baseline="30000" dirty="0"/>
              <a:t>2</a:t>
            </a:r>
            <a:r>
              <a:rPr lang="en-IN" dirty="0"/>
              <a:t>)</a:t>
            </a:r>
            <a:endParaRPr lang="en-US" dirty="0"/>
          </a:p>
        </p:txBody>
      </p:sp>
      <p:pic>
        <p:nvPicPr>
          <p:cNvPr id="8"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308324"/>
          </a:xfrm>
          <a:prstGeom prst="rect">
            <a:avLst/>
          </a:prstGeom>
          <a:noFill/>
        </p:spPr>
        <p:txBody>
          <a:bodyPr wrap="square" rtlCol="0">
            <a:spAutoFit/>
          </a:bodyPr>
          <a:lstStyle/>
          <a:p>
            <a:pPr>
              <a:lnSpc>
                <a:spcPct val="200000"/>
              </a:lnSpc>
            </a:pPr>
            <a:r>
              <a:rPr lang="en-US" b="1" dirty="0"/>
              <a:t>1. Describe what is Shell sort</a:t>
            </a:r>
          </a:p>
          <a:p>
            <a:pPr>
              <a:lnSpc>
                <a:spcPct val="200000"/>
              </a:lnSpc>
            </a:pPr>
            <a:r>
              <a:rPr lang="en-US" b="1" dirty="0"/>
              <a:t>2. List out steps involved in Shell sort</a:t>
            </a:r>
          </a:p>
          <a:p>
            <a:pPr marL="342900" indent="-342900">
              <a:lnSpc>
                <a:spcPct val="200000"/>
              </a:lnSpc>
            </a:pPr>
            <a:r>
              <a:rPr lang="en-US" b="1" dirty="0"/>
              <a:t>3. Analyze complexity of Shell sort</a:t>
            </a:r>
          </a:p>
          <a:p>
            <a:pPr marL="342900" indent="-342900">
              <a:lnSpc>
                <a:spcPct val="200000"/>
              </a:lnSpc>
            </a:pPr>
            <a:r>
              <a:rPr lang="en-US" b="1" dirty="0"/>
              <a:t>4. Summarize the working principle of Shell sort</a:t>
            </a:r>
          </a:p>
        </p:txBody>
      </p:sp>
      <p:pic>
        <p:nvPicPr>
          <p:cNvPr id="10"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2819362"/>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 </a:t>
            </a:r>
            <a:r>
              <a:rPr lang="en-IN" b="1" i="0" dirty="0">
                <a:solidFill>
                  <a:srgbClr val="0F1111"/>
                </a:solidFill>
                <a:effectLst/>
                <a:latin typeface="Amazon Ember"/>
              </a:rPr>
              <a:t>Data Structure Through C </a:t>
            </a:r>
            <a:r>
              <a:rPr lang="en-IN" i="0" dirty="0">
                <a:solidFill>
                  <a:srgbClr val="0F1111"/>
                </a:solidFill>
                <a:effectLst/>
                <a:latin typeface="Amazon Ember"/>
              </a:rPr>
              <a:t>by </a:t>
            </a:r>
            <a:r>
              <a:rPr lang="en-IN" i="0" dirty="0" err="1">
                <a:solidFill>
                  <a:srgbClr val="0F1111"/>
                </a:solidFill>
                <a:effectLst/>
                <a:latin typeface="Amazon Ember"/>
              </a:rPr>
              <a:t>Yashavant</a:t>
            </a:r>
            <a:r>
              <a:rPr lang="en-IN" i="0" dirty="0">
                <a:solidFill>
                  <a:srgbClr val="0F1111"/>
                </a:solidFill>
                <a:effectLst/>
                <a:latin typeface="Amazon Ember"/>
              </a:rPr>
              <a:t> P. </a:t>
            </a:r>
            <a:r>
              <a:rPr lang="en-IN" i="0" dirty="0" err="1">
                <a:solidFill>
                  <a:srgbClr val="0F1111"/>
                </a:solidFill>
                <a:effectLst/>
                <a:latin typeface="Amazon Ember"/>
              </a:rPr>
              <a:t>Kanetkar</a:t>
            </a:r>
            <a:endParaRPr lang="en-US" dirty="0"/>
          </a:p>
          <a:p>
            <a:pPr algn="l"/>
            <a:r>
              <a:rPr lang="en-US" dirty="0"/>
              <a:t>2. </a:t>
            </a:r>
            <a:r>
              <a:rPr lang="en-IN" b="1" i="0" dirty="0">
                <a:solidFill>
                  <a:srgbClr val="000000"/>
                </a:solidFill>
                <a:effectLst/>
                <a:latin typeface="Inter"/>
              </a:rPr>
              <a:t>Algorithms in a Nutshell by </a:t>
            </a:r>
            <a:r>
              <a:rPr lang="en-IN" b="0" i="0" dirty="0">
                <a:solidFill>
                  <a:srgbClr val="000000"/>
                </a:solidFill>
                <a:effectLst/>
                <a:latin typeface="Inter"/>
              </a:rPr>
              <a:t>George T. Heineman, Gary </a:t>
            </a:r>
            <a:r>
              <a:rPr lang="en-IN" b="0" i="0" dirty="0" err="1">
                <a:solidFill>
                  <a:srgbClr val="000000"/>
                </a:solidFill>
                <a:effectLst/>
                <a:latin typeface="Inter"/>
              </a:rPr>
              <a:t>Pollice</a:t>
            </a:r>
            <a:r>
              <a:rPr lang="en-IN" b="0" i="0" dirty="0">
                <a:solidFill>
                  <a:srgbClr val="000000"/>
                </a:solidFill>
                <a:effectLst/>
                <a:latin typeface="Inter"/>
              </a:rPr>
              <a:t> and Stanley </a:t>
            </a:r>
            <a:r>
              <a:rPr lang="en-IN" b="0" i="0" dirty="0" err="1">
                <a:solidFill>
                  <a:srgbClr val="000000"/>
                </a:solidFill>
                <a:effectLst/>
                <a:latin typeface="Inter"/>
              </a:rPr>
              <a:t>Selkow</a:t>
            </a:r>
            <a:endParaRPr lang="en-US" dirty="0"/>
          </a:p>
          <a:p>
            <a:pPr>
              <a:lnSpc>
                <a:spcPct val="150000"/>
              </a:lnSpc>
            </a:pPr>
            <a:endParaRPr lang="en-US" dirty="0"/>
          </a:p>
          <a:p>
            <a:pPr>
              <a:lnSpc>
                <a:spcPct val="150000"/>
              </a:lnSpc>
            </a:pPr>
            <a:r>
              <a:rPr lang="en-US" b="1" dirty="0"/>
              <a:t>Sites and Web links:</a:t>
            </a:r>
          </a:p>
          <a:p>
            <a:pPr>
              <a:lnSpc>
                <a:spcPct val="150000"/>
              </a:lnSpc>
            </a:pPr>
            <a:r>
              <a:rPr lang="en-US" dirty="0"/>
              <a:t>1. https://</a:t>
            </a:r>
            <a:r>
              <a:rPr lang="en-US" dirty="0" err="1"/>
              <a:t>www.javatpoint.com</a:t>
            </a:r>
            <a:r>
              <a:rPr lang="en-US" dirty="0"/>
              <a:t>/shell-sort</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Data Structure</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cstate="print"/>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168</TotalTime>
  <Words>1102</Words>
  <Application>Microsoft Office PowerPoint</Application>
  <PresentationFormat>Widescreen</PresentationFormat>
  <Paragraphs>124</Paragraphs>
  <Slides>19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Amazon Ember</vt:lpstr>
      <vt:lpstr>Arial</vt:lpstr>
      <vt:lpstr>BioRhyme ExtraBold</vt:lpstr>
      <vt:lpstr>Calibri</vt:lpstr>
      <vt:lpstr>inherit</vt:lpstr>
      <vt:lpstr>Inter</vt:lpstr>
      <vt:lpstr>Poppins</vt:lpstr>
      <vt:lpstr>urw-din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U Haritha</cp:lastModifiedBy>
  <cp:revision>21</cp:revision>
  <dcterms:created xsi:type="dcterms:W3CDTF">2020-02-08T09:57:44Z</dcterms:created>
  <dcterms:modified xsi:type="dcterms:W3CDTF">2024-12-16T09:22:29Z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