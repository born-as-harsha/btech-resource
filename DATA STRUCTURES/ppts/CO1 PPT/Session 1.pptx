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300" r:id="rId6"/>
    <p:sldId id="288" r:id="rId7"/>
    <p:sldId id="315" r:id="rId8"/>
    <p:sldId id="337" r:id="rId9"/>
    <p:sldId id="339" r:id="rId10"/>
    <p:sldId id="317" r:id="rId11"/>
    <p:sldId id="338" r:id="rId12"/>
    <p:sldId id="309" r:id="rId13"/>
    <p:sldId id="319" r:id="rId14"/>
    <p:sldId id="320" r:id="rId15"/>
    <p:sldId id="325" r:id="rId16"/>
    <p:sldId id="331" r:id="rId17"/>
    <p:sldId id="329" r:id="rId18"/>
    <p:sldId id="327" r:id="rId19"/>
    <p:sldId id="321" r:id="rId20"/>
    <p:sldId id="324" r:id="rId21"/>
    <p:sldId id="333" r:id="rId22"/>
    <p:sldId id="335" r:id="rId23"/>
    <p:sldId id="336" r:id="rId24"/>
    <p:sldId id="303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E24"/>
    <a:srgbClr val="CF2F33"/>
    <a:srgbClr val="E3293B"/>
    <a:srgbClr val="FF9900"/>
    <a:srgbClr val="E84845"/>
    <a:srgbClr val="FAD2D2"/>
    <a:srgbClr val="F89E4C"/>
    <a:srgbClr val="FFF2CC"/>
    <a:srgbClr val="BA2532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707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D0C0-DC8B-1150-311E-4CB84FC0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02D81-8695-545F-E5B3-2A751DF21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599F8-1874-EE14-911F-CEC0ADA16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82347-4206-F9EB-6EE1-76EA95203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529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9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95100" y="2522688"/>
            <a:ext cx="6597243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  <a:endParaRPr lang="en-US" sz="3200" b="1" cap="all" dirty="0">
              <a:ln/>
              <a:solidFill>
                <a:schemeClr val="accent1">
                  <a:lumMod val="75000"/>
                </a:schemeClr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   Course code: </a:t>
            </a:r>
            <a:r>
              <a:rPr lang="en-US" sz="3200" b="1" cap="all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24sc1203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</a:t>
            </a:r>
          </a:p>
          <a:p>
            <a:pPr lvl="2" algn="ctr"/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lvl="2"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Topic: </a:t>
            </a:r>
            <a:r>
              <a:rPr lang="en-US" sz="3200" b="1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Algorithm ANALYSIS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BES-1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7293152" y="5713730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Session-01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404727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95362" y="1203219"/>
            <a:ext cx="10731286" cy="8771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IN" dirty="0"/>
              <a:t>basics of data structures, and algorithmic analysis to evaluate time complexities</a:t>
            </a:r>
            <a:r>
              <a:rPr lang="en-US" sz="1600" b="0" i="0" dirty="0">
                <a:effectLst/>
                <a:latin typeface="Poppins"/>
                <a:cs typeface="Poppins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212970" y="2326168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995362" y="2938317"/>
            <a:ext cx="10731286" cy="141577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dirty="0">
              <a:latin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Understand the concept of Data Structures.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Learn the Mathematical background and Model.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Analyse the algorithm to run time complexity.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165982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62" y="3189003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536001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62" y="5398836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95362" y="5148150"/>
            <a:ext cx="10731286" cy="113877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Evaluate the time complexities of the different Algorithmic solutions for various types of Problems.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Write the notations for</a:t>
            </a:r>
            <a:r>
              <a:rPr lang="en-US" dirty="0"/>
              <a:t> calculating the running time complexity of different algorithms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SESSION INTRODUCTION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94EBD7-EE1C-49EB-B1BE-FC3E696B4121}"/>
              </a:ext>
            </a:extLst>
          </p:cNvPr>
          <p:cNvSpPr txBox="1"/>
          <p:nvPr/>
        </p:nvSpPr>
        <p:spPr>
          <a:xfrm>
            <a:off x="2509024" y="998025"/>
            <a:ext cx="9002257" cy="48923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an Algorithm?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 Structure?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spc="-5" dirty="0">
                <a:solidFill>
                  <a:srgbClr val="00206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What is the complexity of an Algorithm?</a:t>
            </a:r>
          </a:p>
          <a:p>
            <a:pPr marL="342900" marR="196850" indent="-342900" algn="just">
              <a:lnSpc>
                <a:spcPct val="2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3200" spc="-5" dirty="0">
                <a:solidFill>
                  <a:srgbClr val="00206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Example of Time Complexity</a:t>
            </a:r>
          </a:p>
          <a:p>
            <a:pPr marL="342900" marR="196850" indent="-342900" algn="just">
              <a:lnSpc>
                <a:spcPct val="2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3200" spc="-5" dirty="0">
                <a:solidFill>
                  <a:srgbClr val="00206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What are the </a:t>
            </a:r>
            <a:r>
              <a:rPr lang="en-US" sz="3200" spc="-5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Different Notations?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ALGORITHM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24986" y="733423"/>
            <a:ext cx="10515600" cy="5589317"/>
          </a:xfrm>
          <a:solidFill>
            <a:schemeClr val="bg1"/>
          </a:solidFill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finite rules or instructions to be followed in calculations or other problem-solving operations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(or)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procedure for solving a mathematical problem in a finite number of steps that frequently involves recursive operations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683834" y="3646447"/>
            <a:ext cx="9489687" cy="2904135"/>
            <a:chOff x="2387838" y="2039265"/>
            <a:chExt cx="6405959" cy="1975404"/>
          </a:xfrm>
        </p:grpSpPr>
        <p:grpSp>
          <p:nvGrpSpPr>
            <p:cNvPr id="8" name="Group 7"/>
            <p:cNvGrpSpPr/>
            <p:nvPr/>
          </p:nvGrpSpPr>
          <p:grpSpPr>
            <a:xfrm>
              <a:off x="2387838" y="2534922"/>
              <a:ext cx="1310640" cy="599440"/>
              <a:chOff x="2164080" y="2468880"/>
              <a:chExt cx="1310640" cy="599440"/>
            </a:xfrm>
          </p:grpSpPr>
          <p:sp>
            <p:nvSpPr>
              <p:cNvPr id="4" name="Flowchart: Data 3"/>
              <p:cNvSpPr/>
              <p:nvPr/>
            </p:nvSpPr>
            <p:spPr>
              <a:xfrm>
                <a:off x="2164080" y="2468880"/>
                <a:ext cx="1310640" cy="599440"/>
              </a:xfrm>
              <a:prstGeom prst="flowChartInputOutput">
                <a:avLst/>
              </a:prstGeom>
              <a:ln>
                <a:solidFill>
                  <a:srgbClr val="CF2F3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2468880" y="2580640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Input</a:t>
                </a:r>
                <a:endParaRPr lang="en-IN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7483157" y="2560320"/>
              <a:ext cx="1310640" cy="599440"/>
              <a:chOff x="6583679" y="2468880"/>
              <a:chExt cx="1310640" cy="599440"/>
            </a:xfrm>
          </p:grpSpPr>
          <p:sp>
            <p:nvSpPr>
              <p:cNvPr id="10" name="Flowchart: Data 9"/>
              <p:cNvSpPr/>
              <p:nvPr/>
            </p:nvSpPr>
            <p:spPr>
              <a:xfrm>
                <a:off x="6583679" y="2468880"/>
                <a:ext cx="1310640" cy="599440"/>
              </a:xfrm>
              <a:prstGeom prst="flowChartInputOutput">
                <a:avLst/>
              </a:prstGeom>
              <a:ln>
                <a:solidFill>
                  <a:srgbClr val="CF2F3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776720" y="2580640"/>
                <a:ext cx="883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Output</a:t>
                </a:r>
                <a:endParaRPr lang="en-IN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612798" y="2039265"/>
              <a:ext cx="1940560" cy="1594321"/>
              <a:chOff x="4013200" y="2083598"/>
              <a:chExt cx="1940560" cy="1594321"/>
            </a:xfrm>
          </p:grpSpPr>
          <p:sp>
            <p:nvSpPr>
              <p:cNvPr id="7" name="Flowchart: Decision 6"/>
              <p:cNvSpPr/>
              <p:nvPr/>
            </p:nvSpPr>
            <p:spPr>
              <a:xfrm>
                <a:off x="4013200" y="2083598"/>
                <a:ext cx="1940560" cy="1594321"/>
              </a:xfrm>
              <a:prstGeom prst="flowChartDecision">
                <a:avLst/>
              </a:prstGeom>
              <a:ln>
                <a:solidFill>
                  <a:srgbClr val="A81E2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inter-regular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531201" y="2417107"/>
                <a:ext cx="103632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accent2"/>
                    </a:solidFill>
                  </a:rPr>
                  <a:t>Set of rules to obtain the expected output from the given input</a:t>
                </a:r>
                <a:endParaRPr lang="en-IN" sz="1000" dirty="0">
                  <a:solidFill>
                    <a:schemeClr val="accent2"/>
                  </a:solidFill>
                </a:endParaRPr>
              </a:p>
            </p:txBody>
          </p:sp>
        </p:grpSp>
        <p:cxnSp>
          <p:nvCxnSpPr>
            <p:cNvPr id="16" name="Straight Arrow Connector 15"/>
            <p:cNvCxnSpPr>
              <a:stCxn id="4" idx="5"/>
            </p:cNvCxnSpPr>
            <p:nvPr/>
          </p:nvCxnSpPr>
          <p:spPr>
            <a:xfrm flipV="1">
              <a:off x="3567414" y="2833150"/>
              <a:ext cx="1045384" cy="14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6564614" y="2833150"/>
              <a:ext cx="1045384" cy="14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110480" y="3645337"/>
              <a:ext cx="1224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Algorithm</a:t>
              </a:r>
              <a:endParaRPr lang="en-IN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78764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548310" y="31957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DATA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561" y="963136"/>
            <a:ext cx="11088807" cy="44358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 are used to store and organize the data in memory in an efficient </a:t>
            </a:r>
            <a:r>
              <a:rPr lang="en-I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way of arranging data on a computer to be accessed and updated efficiently.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is used not only for organizing the data but also for processing, retrieving, and storing data.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2342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0CF7-B7B2-4CA3-17DA-5D57302D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 descr="KL Deemed to be University Logo">
            <a:extLst>
              <a:ext uri="{FF2B5EF4-FFF2-40B4-BE49-F238E27FC236}">
                <a16:creationId xmlns:a16="http://schemas.microsoft.com/office/drawing/2014/main" id="{67FA12B3-4575-D271-920B-5E67A2D66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F14F799B-E804-1EC5-EA42-59B77418CE20}"/>
              </a:ext>
            </a:extLst>
          </p:cNvPr>
          <p:cNvSpPr/>
          <p:nvPr/>
        </p:nvSpPr>
        <p:spPr>
          <a:xfrm>
            <a:off x="3577806" y="12884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DATA STRUCTURE CLASIFICATION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5FA85C0-C28E-22B9-89E9-4758FF677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90" y="600076"/>
            <a:ext cx="10948278" cy="61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27449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83811" y="409856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COMPLEXITY OF AN ALGORITHM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995362" y="1160494"/>
            <a:ext cx="10521993" cy="52937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algorithms refers to the amount of resources (such as time or memory/Space) required to solve a problem or perform a task. </a:t>
            </a:r>
          </a:p>
          <a:p>
            <a:pPr algn="just"/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measure of complexity is time complexity, which refers to the amount of time an algorithm takes to produce a result as a function of the size of the input. </a:t>
            </a:r>
          </a:p>
          <a:p>
            <a:pPr algn="just"/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Memory/Space complexity refers to the amount of memory used by an algorithm.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 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of input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of computer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the compiler</a:t>
            </a:r>
            <a:endParaRPr lang="en-IN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7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46033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TIME COMPLEXITY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0224" y="1198883"/>
            <a:ext cx="11115536" cy="32932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just" fontAlgn="base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taken by the algorithm to solve the problem. </a:t>
            </a: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measured by calculating the iteration of loops, the number of comparisons etc.</a:t>
            </a: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is a function describing the amount of time an algorithm takes in terms of the amount of input to the algorithm.</a:t>
            </a: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76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Example (Time Complexity)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F0BA5F-9710-9981-5850-1FA411087771}"/>
              </a:ext>
            </a:extLst>
          </p:cNvPr>
          <p:cNvSpPr txBox="1">
            <a:spLocks/>
          </p:cNvSpPr>
          <p:nvPr/>
        </p:nvSpPr>
        <p:spPr bwMode="auto">
          <a:xfrm>
            <a:off x="1097280" y="600076"/>
            <a:ext cx="10294423" cy="58587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Consider the following Algorithm</a:t>
            </a:r>
            <a:r>
              <a:rPr lang="en-US" sz="240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1: Start				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takes 0 time to run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2: Declare and initialize sum and </a:t>
            </a:r>
            <a:r>
              <a:rPr lang="en-US" sz="2400" dirty="0" err="1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takes 1 time to run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3: Read n value			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takes 1 time to run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4: Repeat Step 5 until </a:t>
            </a:r>
            <a:r>
              <a:rPr lang="en-US" sz="2400" dirty="0" err="1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= n	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takes n time to run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5: sum+=</a:t>
            </a:r>
            <a:r>
              <a:rPr lang="en-US" sz="2400" dirty="0" err="1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; 			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takes 1 time to run		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6: print sum			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takes 1 time to run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Step 7: Stop					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takes 0 time to run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Ans</a:t>
            </a: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: Total time complexity = 0+1+1+(n*1)+1+1+0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		      	= n+4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		      	= n (remove constant terms)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Time complexity for the above algorithm is O(n)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29953336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514293" y="17127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Example (Space Complexity)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136" y="1063348"/>
            <a:ext cx="9060024" cy="502249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Suppose consider the following code: </a:t>
            </a:r>
            <a:endParaRPr lang="en-IN" sz="1800" dirty="0"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spc="10" dirty="0" err="1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10" dirty="0"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spc="10" dirty="0" err="1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IN" sz="1800" spc="10" dirty="0" err="1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 y, </a:t>
            </a:r>
            <a:r>
              <a:rPr lang="en-IN" sz="1800" spc="10" dirty="0" err="1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 z) 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spc="10" dirty="0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spc="10" dirty="0" err="1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800" spc="10" dirty="0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 total = x + y + z;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spc="10" dirty="0">
                <a:solidFill>
                  <a:schemeClr val="tx1"/>
                </a:solidFill>
                <a:effectLst/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return total;</a:t>
            </a:r>
            <a:endParaRPr lang="en-IN" sz="1800" dirty="0">
              <a:solidFill>
                <a:schemeClr val="tx1"/>
              </a:solidFill>
              <a:effectLst/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spc="10" dirty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800" dirty="0">
              <a:solidFill>
                <a:schemeClr val="tx1"/>
              </a:solidFill>
              <a:effectLst/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inter-regular"/>
                <a:cs typeface="Times New Roman" panose="02020603050405020304" pitchFamily="18" charset="0"/>
              </a:rPr>
              <a:t>In the above expression, variables total, x, y and z are all integer types, hence they will take up 4 bytes each, so the total memory requirement will be (4(4) + 4) = 20 bytes, this additional 4 bytes is for return value. </a:t>
            </a:r>
            <a:endParaRPr lang="en-IN" sz="1800" dirty="0">
              <a:solidFill>
                <a:schemeClr val="tx1"/>
              </a:solidFill>
              <a:latin typeface="inter-regular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25058471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93973" y="81592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ASYMPTOTIC NOTATIONS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440" y="1359657"/>
            <a:ext cx="9530080" cy="4951372"/>
          </a:xfrm>
        </p:spPr>
        <p:txBody>
          <a:bodyPr>
            <a:normAutofit/>
          </a:bodyPr>
          <a:lstStyle/>
          <a:p>
            <a:pPr marR="709930">
              <a:lnSpc>
                <a:spcPct val="148000"/>
              </a:lnSpc>
              <a:spcBef>
                <a:spcPts val="10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The performance of an algorithm can change with a change in the input size</a:t>
            </a:r>
          </a:p>
          <a:p>
            <a:pPr marR="709930">
              <a:lnSpc>
                <a:spcPct val="148000"/>
              </a:lnSpc>
              <a:spcBef>
                <a:spcPts val="10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Asymptotic Notations can describe an algorithm's run time when the input tends toward a specific or limiting value. </a:t>
            </a:r>
          </a:p>
          <a:p>
            <a:pPr marR="709930">
              <a:lnSpc>
                <a:spcPct val="148000"/>
              </a:lnSpc>
              <a:spcBef>
                <a:spcPts val="10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Asymptotic analysis helps to analyze the algorithm performance change in the order of input size. </a:t>
            </a:r>
          </a:p>
          <a:p>
            <a:pPr marR="709930">
              <a:lnSpc>
                <a:spcPct val="148000"/>
              </a:lnSpc>
              <a:spcBef>
                <a:spcPts val="10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Usually, the analysis of an algorithm used for calculating the</a:t>
            </a:r>
            <a:r>
              <a:rPr lang="en-US" sz="1800" spc="-340" dirty="0">
                <a:latin typeface="inter-regular"/>
                <a:ea typeface="Times New Roman" panose="02020603050405020304" pitchFamily="18" charset="0"/>
              </a:rPr>
              <a:t>  </a:t>
            </a: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running time</a:t>
            </a:r>
            <a:r>
              <a:rPr lang="en-US" sz="1800" spc="-5" dirty="0">
                <a:latin typeface="inter-regular"/>
                <a:ea typeface="Times New Roman" panose="02020603050405020304" pitchFamily="18" charset="0"/>
              </a:rPr>
              <a:t> </a:t>
            </a: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complexity</a:t>
            </a:r>
            <a:r>
              <a:rPr lang="en-US" sz="1800" spc="-25" dirty="0">
                <a:latin typeface="inter-regular"/>
                <a:ea typeface="Times New Roman" panose="02020603050405020304" pitchFamily="18" charset="0"/>
              </a:rPr>
              <a:t> </a:t>
            </a: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of</a:t>
            </a:r>
            <a:r>
              <a:rPr lang="en-US" sz="1800" spc="-5" dirty="0">
                <a:latin typeface="inter-regular"/>
                <a:ea typeface="Times New Roman" panose="02020603050405020304" pitchFamily="18" charset="0"/>
              </a:rPr>
              <a:t> </a:t>
            </a: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an</a:t>
            </a:r>
            <a:r>
              <a:rPr lang="en-US" sz="1800" spc="5" dirty="0">
                <a:latin typeface="inter-regular"/>
                <a:ea typeface="Times New Roman" panose="02020603050405020304" pitchFamily="18" charset="0"/>
              </a:rPr>
              <a:t> </a:t>
            </a: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algorithm is done based on three Asymptotic Notations:</a:t>
            </a:r>
          </a:p>
          <a:p>
            <a:pPr marR="709930" lvl="2">
              <a:lnSpc>
                <a:spcPct val="148000"/>
              </a:lnSpc>
              <a:spcBef>
                <a:spcPts val="1045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Best Case (Omega Notation (Ω))</a:t>
            </a:r>
          </a:p>
          <a:p>
            <a:pPr marR="709930" lvl="2">
              <a:lnSpc>
                <a:spcPct val="148000"/>
              </a:lnSpc>
              <a:spcBef>
                <a:spcPts val="1045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Average Case (Theta Notation (Θ))</a:t>
            </a:r>
          </a:p>
          <a:p>
            <a:pPr marR="709930" lvl="2">
              <a:lnSpc>
                <a:spcPct val="148000"/>
              </a:lnSpc>
              <a:spcBef>
                <a:spcPts val="1045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inter-regular"/>
                <a:ea typeface="Times New Roman" panose="02020603050405020304" pitchFamily="18" charset="0"/>
              </a:rPr>
              <a:t>Worst Case (Big-O Notation(O))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2556020" y="193676"/>
            <a:ext cx="8077199" cy="4064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ALGORITHM ANALYSIS</a:t>
            </a:r>
          </a:p>
        </p:txBody>
      </p:sp>
    </p:spTree>
    <p:extLst>
      <p:ext uri="{BB962C8B-B14F-4D97-AF65-F5344CB8AC3E}">
        <p14:creationId xmlns:p14="http://schemas.microsoft.com/office/powerpoint/2010/main" val="7828537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311093" y="8128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OMEGA NOTATION (</a:t>
            </a:r>
            <a:r>
              <a:rPr lang="el-G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Ω</a:t>
            </a: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791517"/>
            <a:ext cx="10078721" cy="1528275"/>
          </a:xfrm>
        </p:spPr>
        <p:txBody>
          <a:bodyPr>
            <a:normAutofit/>
          </a:bodyPr>
          <a:lstStyle/>
          <a:p>
            <a:pPr marR="70993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</a:rPr>
              <a:t>It is the formal way to represent the lower bound of an algorithm's running time. </a:t>
            </a:r>
          </a:p>
          <a:p>
            <a:pPr marR="70993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</a:rPr>
              <a:t>It measures the best amount of time an algorithm can take to complete or the best-case time complexity.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 txBox="1">
            <a:spLocks/>
          </p:cNvSpPr>
          <p:nvPr/>
        </p:nvSpPr>
        <p:spPr>
          <a:xfrm>
            <a:off x="995362" y="2215516"/>
            <a:ext cx="8689429" cy="317944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inter-regular"/>
              </a:rPr>
              <a:t>Mathematical Representation of Omega notation: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Omega (Ω) notation specifies the asymptotic lower bound for a function f(n). 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For a given function g(n), Ω(g(n)) is denoted by: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inter-regular"/>
              </a:rPr>
              <a:t>Ω (g(n)) = {f(n): there exist positive constants c and n0 such that 0 ≤ c*g(n) ≤ f(n) for all n ≥ n0}. </a:t>
            </a:r>
            <a:endParaRPr lang="en-US" sz="1800" dirty="0">
              <a:latin typeface="inter-regular"/>
            </a:endParaRP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This means that, f(n) = Ω(g(n)), If there are positive constants n0 and c such that, to the right of n0 the f(n) always lies on or above c*g(n).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79" y="3957151"/>
            <a:ext cx="28575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970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latin typeface="Poppins" panose="00000500000000000000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0724" y="3217738"/>
            <a:ext cx="99574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inter-regula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The number of comparisons in this case is 1.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inter-regula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Therefore, the Best Case Time Complexity of Linear Search = 1*(1+1)</a:t>
            </a:r>
          </a:p>
          <a:p>
            <a:pPr lvl="8"/>
            <a:r>
              <a:rPr lang="en-US" dirty="0">
                <a:latin typeface="inter-regular"/>
              </a:rPr>
              <a:t>		              = 2</a:t>
            </a:r>
          </a:p>
          <a:p>
            <a:pPr lvl="8"/>
            <a:r>
              <a:rPr lang="en-US" dirty="0">
                <a:latin typeface="inter-regular"/>
              </a:rPr>
              <a:t>		              = O(1) (consider constant as 1)</a:t>
            </a:r>
          </a:p>
          <a:p>
            <a:pPr lvl="8"/>
            <a:endParaRPr lang="en-US" dirty="0">
              <a:latin typeface="inter-regular"/>
            </a:endParaRPr>
          </a:p>
          <a:p>
            <a:r>
              <a:rPr lang="en-US" dirty="0">
                <a:latin typeface="inter-regular"/>
              </a:rPr>
              <a:t>Example: Let </a:t>
            </a:r>
            <a:r>
              <a:rPr lang="en-US" dirty="0" err="1">
                <a:latin typeface="inter-regular"/>
              </a:rPr>
              <a:t>arr</a:t>
            </a:r>
            <a:r>
              <a:rPr lang="en-US" dirty="0">
                <a:latin typeface="inter-regular"/>
              </a:rPr>
              <a:t>[]={10,20,30,40,50}</a:t>
            </a:r>
          </a:p>
          <a:p>
            <a:r>
              <a:rPr lang="en-US" dirty="0">
                <a:latin typeface="inter-regular"/>
              </a:rPr>
              <a:t>                The search Element is 10</a:t>
            </a:r>
          </a:p>
          <a:p>
            <a:r>
              <a:rPr lang="en-US" dirty="0">
                <a:latin typeface="inter-regular"/>
              </a:rPr>
              <a:t>                The element is found at the starting place hence time complexity is O(1)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6180" y="1994058"/>
            <a:ext cx="78740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for (</a:t>
            </a:r>
            <a:r>
              <a:rPr lang="en-US" dirty="0" err="1">
                <a:latin typeface="inter-regular"/>
              </a:rPr>
              <a:t>int</a:t>
            </a:r>
            <a:r>
              <a:rPr lang="en-US" dirty="0">
                <a:latin typeface="inter-regular"/>
              </a:rPr>
              <a:t>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=0;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&lt;n;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++)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        if (</a:t>
            </a:r>
            <a:r>
              <a:rPr lang="en-US" dirty="0" err="1">
                <a:latin typeface="inter-regular"/>
              </a:rPr>
              <a:t>arr</a:t>
            </a:r>
            <a:r>
              <a:rPr lang="en-US" dirty="0">
                <a:latin typeface="inter-regular"/>
              </a:rPr>
              <a:t>[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] == x)	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            print(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);	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0725" y="89931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The Best Case will take place if: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inter-regula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-regular"/>
              </a:rPr>
              <a:t>The element to be searched is on the first index.</a:t>
            </a:r>
          </a:p>
        </p:txBody>
      </p:sp>
    </p:spTree>
    <p:extLst>
      <p:ext uri="{BB962C8B-B14F-4D97-AF65-F5344CB8AC3E}">
        <p14:creationId xmlns:p14="http://schemas.microsoft.com/office/powerpoint/2010/main" val="16212765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17127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THETA NOTATION (</a:t>
            </a:r>
            <a:r>
              <a:rPr lang="en-US" dirty="0">
                <a:latin typeface="inter-regular"/>
                <a:ea typeface="Times New Roman" panose="02020603050405020304" pitchFamily="18" charset="0"/>
              </a:rPr>
              <a:t>Θ</a:t>
            </a: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362" y="799640"/>
            <a:ext cx="10942317" cy="1435560"/>
          </a:xfrm>
        </p:spPr>
        <p:txBody>
          <a:bodyPr>
            <a:normAutofit/>
          </a:bodyPr>
          <a:lstStyle/>
          <a:p>
            <a:pPr marR="70993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</a:rPr>
              <a:t>Every time, an algorithm does not perform worst or best, in real-world problems, algorithms mainly fluctuate between the worst-case and best-case, and this gives us the average case of the algorithm.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74356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 txBox="1">
            <a:spLocks/>
          </p:cNvSpPr>
          <p:nvPr/>
        </p:nvSpPr>
        <p:spPr>
          <a:xfrm>
            <a:off x="1229360" y="2342777"/>
            <a:ext cx="8036560" cy="35797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inter-regular"/>
              </a:rPr>
              <a:t>Mathematical Representation of Theta notation: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Theta(Θ) notation specifies a bound for a function f(n). For a given function g(n), Θ(g(n)) is denoted by: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inter-regular"/>
              </a:rPr>
              <a:t>Θ (g(n)) = {f(n): there exist positive constants c1, c2 and n0 such that 0 ≤ c1*g(n) ≤ f(n) ≤ c2*g(n) for all n ≥ n0}. 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This means that, f(n) = Θ(g(n)), If there are positive constants n0 and c such that, to the right of n0 the f(n) always lies on or above c1*g(n) and below c2*g(n).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644" y="3373436"/>
            <a:ext cx="3243435" cy="247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912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10595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latin typeface="Poppins" panose="00000500000000000000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792480"/>
            <a:ext cx="11099800" cy="5384483"/>
          </a:xfrm>
        </p:spPr>
        <p:txBody>
          <a:bodyPr/>
          <a:lstStyle/>
          <a:p>
            <a:r>
              <a:rPr lang="en-US" sz="1800" dirty="0">
                <a:latin typeface="inter-regular"/>
              </a:rPr>
              <a:t>In average case: 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	Consider that the element to be searched is present in the middle of the sequence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	</a:t>
            </a:r>
          </a:p>
          <a:p>
            <a:pPr marL="0" indent="0">
              <a:buNone/>
            </a:pPr>
            <a:endParaRPr lang="en-US" sz="1800" dirty="0">
              <a:latin typeface="inter-regular"/>
            </a:endParaRPr>
          </a:p>
          <a:p>
            <a:pPr marL="0" indent="0">
              <a:buNone/>
            </a:pPr>
            <a:endParaRPr lang="en-US" sz="1800" dirty="0">
              <a:latin typeface="inter-regular"/>
            </a:endParaRPr>
          </a:p>
          <a:p>
            <a:pPr marL="0" indent="0">
              <a:buNone/>
            </a:pPr>
            <a:endParaRPr lang="en-US" sz="1800" dirty="0">
              <a:latin typeface="inter-regular"/>
            </a:endParaRP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Therefore,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The time complexity of search = n/2 *(1+1)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			      = n/2*2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			      = n 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			      = O(n)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Example: Let </a:t>
            </a:r>
            <a:r>
              <a:rPr lang="en-US" sz="1800" dirty="0" err="1">
                <a:latin typeface="inter-regular"/>
              </a:rPr>
              <a:t>arr</a:t>
            </a:r>
            <a:r>
              <a:rPr lang="en-US" sz="1800" dirty="0">
                <a:latin typeface="inter-regular"/>
              </a:rPr>
              <a:t>[]={10,20,30,40,50}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                The search Element is 30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                The element is found at the middle, hence time complexity is O(n)</a:t>
            </a:r>
          </a:p>
          <a:p>
            <a:pPr marL="0" indent="0">
              <a:buNone/>
            </a:pPr>
            <a:endParaRPr lang="en-IN" sz="1800" dirty="0">
              <a:latin typeface="inter-regula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51100" y="1521225"/>
            <a:ext cx="78740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for (</a:t>
            </a:r>
            <a:r>
              <a:rPr lang="en-US" dirty="0" err="1">
                <a:latin typeface="inter-regular"/>
              </a:rPr>
              <a:t>int</a:t>
            </a:r>
            <a:r>
              <a:rPr lang="en-US" dirty="0">
                <a:latin typeface="inter-regular"/>
              </a:rPr>
              <a:t>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=0;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&lt;n/2;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++)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n/2 time to run</a:t>
            </a:r>
            <a:endParaRPr lang="en-US" dirty="0">
              <a:latin typeface="inter-regula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        if (</a:t>
            </a:r>
            <a:r>
              <a:rPr lang="en-US" dirty="0" err="1">
                <a:latin typeface="inter-regular"/>
              </a:rPr>
              <a:t>arr</a:t>
            </a:r>
            <a:r>
              <a:rPr lang="en-US" dirty="0">
                <a:latin typeface="inter-regular"/>
              </a:rPr>
              <a:t>[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] == x)	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            print(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);	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324719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6531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BIG-O NOTATION (O)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89" y="600076"/>
            <a:ext cx="11521441" cy="1076324"/>
          </a:xfrm>
        </p:spPr>
        <p:txBody>
          <a:bodyPr>
            <a:normAutofit/>
          </a:bodyPr>
          <a:lstStyle/>
          <a:p>
            <a:pPr marR="709930">
              <a:lnSpc>
                <a:spcPct val="150000"/>
              </a:lnSpc>
              <a:spcBef>
                <a:spcPts val="10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</a:rPr>
              <a:t>Big-O notation represents the upper bound of the running time of an algorithm. Therefore, it gives the worst-case complexity of an algorithm.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 txBox="1">
            <a:spLocks/>
          </p:cNvSpPr>
          <p:nvPr/>
        </p:nvSpPr>
        <p:spPr>
          <a:xfrm>
            <a:off x="832803" y="1700526"/>
            <a:ext cx="7935278" cy="47583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inter-regular"/>
              </a:rPr>
              <a:t>Mathematical Representation of Big-O notation: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Big – O (O) notation specifies the asymptotic upper bound for a function f(n). 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For a given function g(n), O(g(n)) is denoted by: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inter-regular"/>
              </a:rPr>
              <a:t>O (g(n)) = {f(n): there exist positive constants c and n0 such that f(n) ≤ c*g(n) for all n ≥ n0}. 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inter-regular"/>
              </a:rPr>
              <a:t>This means that, f(n) = O(g(n)), If there are positive constants n0 and c such that, to the right of n0 the f(n) always lies on or below c*g(n).</a:t>
            </a:r>
            <a:endParaRPr lang="en-IN" sz="1800" dirty="0">
              <a:latin typeface="inter-regular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3079885"/>
            <a:ext cx="3325671" cy="25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377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35219" y="647450"/>
            <a:ext cx="10515600" cy="34544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</a:rPr>
              <a:t>The worst case will take place if: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inter-regular"/>
              </a:rPr>
              <a:t>The element to be searched is in the last index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inter-regular"/>
              </a:rPr>
              <a:t>The element to be searched is not present in the list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inter-regular"/>
              </a:rPr>
              <a:t>In both cases, the maximum number of comparisons take place in Linear Search which is equal to n comparisons.</a:t>
            </a:r>
          </a:p>
          <a:p>
            <a:pPr lvl="1">
              <a:lnSpc>
                <a:spcPct val="150000"/>
              </a:lnSpc>
            </a:pPr>
            <a:endParaRPr lang="en-US" sz="1800" dirty="0">
              <a:latin typeface="inter-regula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inter-regular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inter-regular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inter-regular"/>
              </a:rPr>
              <a:t>Hence, the Worst Case Time Complexity of Linear Search = n*(1+1)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inter-regular"/>
              </a:rPr>
              <a:t>						          = n*2 (remove constant terms)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inter-regular"/>
              </a:rPr>
              <a:t>						          = 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inter-regular"/>
              </a:rPr>
              <a:t>						          = O(n).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Example: Let </a:t>
            </a:r>
            <a:r>
              <a:rPr lang="en-US" sz="1800" dirty="0" err="1">
                <a:latin typeface="inter-regular"/>
              </a:rPr>
              <a:t>arr</a:t>
            </a:r>
            <a:r>
              <a:rPr lang="en-US" sz="1800" dirty="0">
                <a:latin typeface="inter-regular"/>
              </a:rPr>
              <a:t>[]={10,20,30,40,50}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                The search Element is 50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                The element is found at the last place, hence time complexity is O(n)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inter-regular"/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392372" y="17127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latin typeface="Poppins" panose="00000500000000000000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0980" y="2287670"/>
            <a:ext cx="78740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for (</a:t>
            </a:r>
            <a:r>
              <a:rPr lang="en-US" dirty="0" err="1">
                <a:latin typeface="inter-regular"/>
              </a:rPr>
              <a:t>int</a:t>
            </a:r>
            <a:r>
              <a:rPr lang="en-US" dirty="0">
                <a:latin typeface="inter-regular"/>
              </a:rPr>
              <a:t>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=0;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&lt;n; 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++)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n time to run</a:t>
            </a:r>
            <a:endParaRPr lang="en-US" dirty="0">
              <a:latin typeface="inter-regula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        if (</a:t>
            </a:r>
            <a:r>
              <a:rPr lang="en-US" dirty="0" err="1">
                <a:latin typeface="inter-regular"/>
              </a:rPr>
              <a:t>arr</a:t>
            </a:r>
            <a:r>
              <a:rPr lang="en-US" dirty="0">
                <a:latin typeface="inter-regular"/>
              </a:rPr>
              <a:t>[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] == x)	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inter-regular"/>
              </a:rPr>
              <a:t>            print(</a:t>
            </a:r>
            <a:r>
              <a:rPr lang="en-US" dirty="0" err="1">
                <a:latin typeface="inter-regular"/>
              </a:rPr>
              <a:t>i</a:t>
            </a:r>
            <a:r>
              <a:rPr lang="en-US" dirty="0">
                <a:latin typeface="inter-regular"/>
              </a:rPr>
              <a:t>);			</a:t>
            </a:r>
            <a:r>
              <a:rPr lang="en-US" dirty="0">
                <a:latin typeface="inter-regular"/>
                <a:sym typeface="Wingdings" panose="05000000000000000000" pitchFamily="2" charset="2"/>
              </a:rPr>
              <a:t> takes 1 time to run</a:t>
            </a:r>
            <a:endParaRPr lang="en-US" dirty="0"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331790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561" y="1117641"/>
            <a:ext cx="10109518" cy="4206199"/>
          </a:xfrm>
        </p:spPr>
        <p:txBody>
          <a:bodyPr>
            <a:normAutofit/>
          </a:bodyPr>
          <a:lstStyle/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dirty="0">
                <a:latin typeface="inter-regular"/>
              </a:rPr>
              <a:t>Introduction about the Algorithm and Data Structure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dirty="0">
                <a:latin typeface="inter-regular"/>
              </a:rPr>
              <a:t>Calculation of the Time and Space complexity of an algorithm to find out its efficiency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dirty="0">
                <a:latin typeface="inter-regular"/>
              </a:rPr>
              <a:t>Asymptotic Notations are of three types</a:t>
            </a:r>
          </a:p>
          <a:p>
            <a:pPr marL="857250" marR="709930" lvl="1" indent="-400050">
              <a:lnSpc>
                <a:spcPct val="148000"/>
              </a:lnSpc>
              <a:spcBef>
                <a:spcPts val="1045"/>
              </a:spcBef>
              <a:buFont typeface="+mj-lt"/>
              <a:buAutoNum type="romanUcPeriod"/>
            </a:pPr>
            <a:r>
              <a:rPr lang="en-US" sz="1600" dirty="0">
                <a:latin typeface="inter-regular"/>
              </a:rPr>
              <a:t>Big-O Notation (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O</a:t>
            </a:r>
            <a:r>
              <a:rPr lang="en-US" sz="1600" dirty="0">
                <a:latin typeface="inter-regular"/>
              </a:rPr>
              <a:t>)</a:t>
            </a:r>
          </a:p>
          <a:p>
            <a:pPr marL="857250" marR="709930" lvl="1" indent="-400050">
              <a:lnSpc>
                <a:spcPct val="148000"/>
              </a:lnSpc>
              <a:spcBef>
                <a:spcPts val="1045"/>
              </a:spcBef>
              <a:buFont typeface="+mj-lt"/>
              <a:buAutoNum type="romanUcPeriod"/>
            </a:pPr>
            <a:r>
              <a:rPr lang="en-US" sz="1600" dirty="0">
                <a:latin typeface="inter-regular"/>
              </a:rPr>
              <a:t>Theta Notation (</a:t>
            </a:r>
            <a:r>
              <a:rPr lang="en-US" sz="1600" dirty="0">
                <a:latin typeface="inter-regular"/>
                <a:ea typeface="Times New Roman" panose="02020603050405020304" pitchFamily="18" charset="0"/>
              </a:rPr>
              <a:t>Θ</a:t>
            </a:r>
            <a:r>
              <a:rPr lang="en-US" sz="1600" dirty="0">
                <a:latin typeface="inter-regular"/>
              </a:rPr>
              <a:t>)</a:t>
            </a:r>
          </a:p>
          <a:p>
            <a:pPr marL="857250" marR="709930" lvl="1" indent="-400050">
              <a:lnSpc>
                <a:spcPct val="148000"/>
              </a:lnSpc>
              <a:spcBef>
                <a:spcPts val="1045"/>
              </a:spcBef>
              <a:buFont typeface="+mj-lt"/>
              <a:buAutoNum type="romanUcPeriod"/>
            </a:pPr>
            <a:r>
              <a:rPr lang="en-US" sz="1600" dirty="0">
                <a:latin typeface="inter-regular"/>
              </a:rPr>
              <a:t>Omega Notations (</a:t>
            </a:r>
            <a:r>
              <a:rPr lang="el-G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Ω</a:t>
            </a:r>
            <a:r>
              <a:rPr lang="en-US" sz="1600" dirty="0">
                <a:latin typeface="inter-regular"/>
              </a:rPr>
              <a:t>)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dirty="0">
                <a:latin typeface="inter-regular"/>
              </a:rPr>
              <a:t>Mathematical representations of the above notations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dirty="0">
                <a:latin typeface="inter-regular"/>
              </a:rPr>
              <a:t>Example for each Notation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endParaRPr lang="en-US" sz="2000" b="1" dirty="0">
              <a:latin typeface="inter-regular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27648094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atin typeface="inter-regular"/>
              </a:rPr>
              <a:t>SELF-ASSESSMENT QUESTIONS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85368" y="362069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dirty="0">
                <a:ea typeface="Calibri"/>
                <a:cs typeface="Poppins" panose="00000500000000000000" pitchFamily="2" charset="0"/>
                <a:sym typeface="Calibri"/>
              </a:rPr>
              <a:t>2.Which one of the following asymptotic notation is used to provide lower bound constraint?</a:t>
            </a:r>
            <a:r>
              <a:rPr lang="en-US" sz="2400" dirty="0">
                <a:solidFill>
                  <a:schemeClr val="bg1"/>
                </a:solidFill>
                <a:ea typeface="Calibri"/>
                <a:cs typeface="Poppins" panose="00000500000000000000" pitchFamily="2" charset="0"/>
                <a:sym typeface="Calibri"/>
              </a:rPr>
              <a:t> </a:t>
            </a:r>
            <a:endParaRPr sz="2400" dirty="0">
              <a:solidFill>
                <a:schemeClr val="bg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12294" y="4507347"/>
            <a:ext cx="10155277" cy="177372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a)  X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b)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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dirty="0"/>
              <a:t>c)  </a:t>
            </a:r>
            <a:r>
              <a:rPr lang="en-IN" dirty="0">
                <a:sym typeface="Symbol" panose="05050102010706020507" pitchFamily="18" charset="2"/>
              </a:rPr>
              <a:t>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d) </a:t>
            </a:r>
            <a:r>
              <a:rPr lang="en-IN" dirty="0">
                <a:sym typeface="Symbol" panose="05050102010706020507" pitchFamily="18" charset="2"/>
              </a:rPr>
              <a:t></a:t>
            </a:r>
            <a:br>
              <a:rPr lang="en-IN" dirty="0"/>
            </a:br>
            <a:endParaRPr lang="en-US" dirty="0"/>
          </a:p>
        </p:txBody>
      </p:sp>
      <p:sp>
        <p:nvSpPr>
          <p:cNvPr id="10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782529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1. Identify the two types of efficiencies that are important for computer algorithms? 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1733819"/>
            <a:ext cx="1017220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a) Time efficiency and Higher power efficiency</a:t>
            </a:r>
            <a:br>
              <a:rPr lang="en-IN" dirty="0"/>
            </a:br>
            <a:r>
              <a:rPr lang="en-IN" dirty="0"/>
              <a:t>b) Higher power efficiency and Computational efficiency</a:t>
            </a:r>
            <a:br>
              <a:rPr lang="en-IN" dirty="0"/>
            </a:br>
            <a:r>
              <a:rPr lang="en-IN" dirty="0"/>
              <a:t>c) Computational efficiency and Space efficiency</a:t>
            </a:r>
            <a:br>
              <a:rPr lang="en-IN" dirty="0"/>
            </a:b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d) Space efficiency and Time Efficiency</a:t>
            </a:r>
          </a:p>
        </p:txBody>
      </p:sp>
    </p:spTree>
    <p:extLst>
      <p:ext uri="{BB962C8B-B14F-4D97-AF65-F5344CB8AC3E}">
        <p14:creationId xmlns:p14="http://schemas.microsoft.com/office/powerpoint/2010/main" val="33569562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TERMINAL QUESTIONS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433196"/>
            <a:ext cx="10881359" cy="2976244"/>
          </a:xfrm>
        </p:spPr>
        <p:txBody>
          <a:bodyPr>
            <a:normAutofit/>
          </a:bodyPr>
          <a:lstStyle/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1800" b="1" dirty="0"/>
              <a:t>1. How is time complexity measured?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1800" b="1" dirty="0"/>
              <a:t>2. Which of the following best describes the useful criterion for comparing the efficiency of algorithms?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1800" b="1" dirty="0"/>
              <a:t>3. What does it mean to say that an algorithm X is asymptotically more efficient than Y? 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1800" b="1" dirty="0"/>
              <a:t>4. Describe the various types of Asymptotic Notations with examples?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304120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932" y="628740"/>
            <a:ext cx="11596468" cy="643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/>
              <a:t>A.V.Aho</a:t>
            </a:r>
            <a:r>
              <a:rPr lang="en-US" dirty="0"/>
              <a:t>, J. E. Hopcroft, and J. D. Ullman, “Data Structures And Algorithms”, Pearson Education, First Edition Reprint2003.</a:t>
            </a:r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/>
              <a:t>Horowitz, </a:t>
            </a:r>
            <a:r>
              <a:rPr lang="en-US" dirty="0" err="1"/>
              <a:t>Sahni</a:t>
            </a:r>
            <a:r>
              <a:rPr lang="en-US" dirty="0"/>
              <a:t>, Anderson Freed, “Fundamentals of </a:t>
            </a:r>
            <a:r>
              <a:rPr lang="en-US" dirty="0" err="1"/>
              <a:t>datastructures</a:t>
            </a:r>
            <a:r>
              <a:rPr lang="en-US" dirty="0"/>
              <a:t> in C” , Second Edition-2007.</a:t>
            </a:r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/>
              <a:t>R. F. </a:t>
            </a:r>
            <a:r>
              <a:rPr lang="en-US" dirty="0" err="1"/>
              <a:t>Gilberg</a:t>
            </a:r>
            <a:r>
              <a:rPr lang="en-US" dirty="0"/>
              <a:t>, B. A. </a:t>
            </a:r>
            <a:r>
              <a:rPr lang="en-US" dirty="0" err="1"/>
              <a:t>Forouzan</a:t>
            </a:r>
            <a:r>
              <a:rPr lang="en-US" dirty="0"/>
              <a:t>, “Data Structures”, Second Edition, Thomson India Ed </a:t>
            </a:r>
            <a:r>
              <a:rPr lang="en-US" dirty="0" err="1"/>
              <a:t>ition</a:t>
            </a:r>
            <a:r>
              <a:rPr lang="en-US" dirty="0"/>
              <a:t>, 2005</a:t>
            </a:r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/>
              <a:t>Robert Kruse, C.L. </a:t>
            </a:r>
            <a:r>
              <a:rPr lang="en-US" dirty="0" err="1"/>
              <a:t>Tondo</a:t>
            </a:r>
            <a:r>
              <a:rPr lang="en-US" dirty="0"/>
              <a:t>, Bruce Leung, Shashi </a:t>
            </a:r>
            <a:r>
              <a:rPr lang="en-US" dirty="0" err="1"/>
              <a:t>Mogalla</a:t>
            </a:r>
            <a:r>
              <a:rPr lang="en-US" dirty="0"/>
              <a:t>, “Data Structures &amp; Program Design in C”, FourthEdition-2007.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https://nptel.ac.in/courses/106102064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https://nptel.ac.in/courses/106101060/4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https://www.edx.org/course/algorithms-and-data-structures-1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https://in.udacity.com/course/intro-to-algorithms--cs215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https://www.coursera.org/learn/data-structures?action=enroll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https://www.geeksforgeeks.org/types-of-asymptotic-notations-in-complexity-analysis-of-algorithms/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125a647-8023-46ae-ae6e-85cf36d841bd"/>
    <ds:schemaRef ds:uri="http://purl.org/dc/terms/"/>
    <ds:schemaRef ds:uri="d43ee83c-3e71-4748-8ebc-8eaadf79342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2660</TotalTime>
  <Words>2293</Words>
  <Application>Microsoft Office PowerPoint</Application>
  <PresentationFormat>Widescreen</PresentationFormat>
  <Paragraphs>221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inter-regular</vt:lpstr>
      <vt:lpstr>Poppins</vt:lpstr>
      <vt:lpstr>Symbol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Arumalla Nagaraju</cp:lastModifiedBy>
  <cp:revision>273</cp:revision>
  <dcterms:created xsi:type="dcterms:W3CDTF">2020-02-08T09:57:44Z</dcterms:created>
  <dcterms:modified xsi:type="dcterms:W3CDTF">2024-12-16T06:53:28Z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