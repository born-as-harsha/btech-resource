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0"/>
  </p:notesMasterIdLst>
  <p:sldIdLst>
    <p:sldId id="271" r:id="rId5"/>
    <p:sldId id="300" r:id="rId6"/>
    <p:sldId id="299" r:id="rId7"/>
    <p:sldId id="258" r:id="rId8"/>
    <p:sldId id="288" r:id="rId9"/>
    <p:sldId id="285" r:id="rId10"/>
    <p:sldId id="317" r:id="rId11"/>
    <p:sldId id="333" r:id="rId12"/>
    <p:sldId id="306" r:id="rId13"/>
    <p:sldId id="287" r:id="rId14"/>
    <p:sldId id="308" r:id="rId15"/>
    <p:sldId id="309" r:id="rId16"/>
    <p:sldId id="311" r:id="rId17"/>
    <p:sldId id="307" r:id="rId18"/>
    <p:sldId id="313" r:id="rId19"/>
    <p:sldId id="312" r:id="rId20"/>
    <p:sldId id="314" r:id="rId21"/>
    <p:sldId id="315" r:id="rId22"/>
    <p:sldId id="350" r:id="rId23"/>
    <p:sldId id="316" r:id="rId24"/>
    <p:sldId id="356" r:id="rId25"/>
    <p:sldId id="301" r:id="rId26"/>
    <p:sldId id="302" r:id="rId27"/>
    <p:sldId id="303" r:id="rId28"/>
    <p:sldId id="30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5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9900"/>
    <a:srgbClr val="E84845"/>
    <a:srgbClr val="FAD2D2"/>
    <a:srgbClr val="F89E4C"/>
    <a:srgbClr val="A81E24"/>
    <a:srgbClr val="FFF2CC"/>
    <a:srgbClr val="CF2F33"/>
    <a:srgbClr val="BA2532"/>
    <a:srgbClr val="E3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89"/>
  </p:normalViewPr>
  <p:slideViewPr>
    <p:cSldViewPr snapToGrid="0" showGuide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38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30T22:09:03.311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12/16/2024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/>
          <p:cNvPicPr>
            <a:picLocks noChangeAspect="1"/>
          </p:cNvPicPr>
          <p:nvPr userDrawn="1"/>
        </p:nvPicPr>
        <p:blipFill>
          <a:blip r:embed="rId13">
            <a:alphaModFix amt="5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/>
          <p:cNvPicPr>
            <a:picLocks noChangeAspect="1"/>
          </p:cNvPicPr>
          <p:nvPr userDrawn="1"/>
        </p:nvPicPr>
        <p:blipFill rotWithShape="1">
          <a:blip r:embed="rId14">
            <a:alphaModFix amt="35000"/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21" b="8103"/>
          <a:stretch>
            <a:fillRect/>
          </a:stretch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20548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4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305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 STRUCTURES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24sc1203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solidFill>
                  <a:srgbClr val="C00000"/>
                </a:solidFill>
                <a:cs typeface="Poppins" panose="00000500000000000000" pitchFamily="2" charset="0"/>
              </a:rPr>
              <a:t>Merge sort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19" name="Rectangle: Rounded Corners 18"/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5103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BES-1</a:t>
            </a:r>
          </a:p>
        </p:txBody>
      </p:sp>
      <p:sp>
        <p:nvSpPr>
          <p:cNvPr id="8" name="Google Shape;502;p17"/>
          <p:cNvSpPr/>
          <p:nvPr/>
        </p:nvSpPr>
        <p:spPr>
          <a:xfrm>
            <a:off x="7623168" y="4758078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 panose="020F0502020204030204"/>
                <a:cs typeface="Poppins" panose="00000500000000000000" pitchFamily="2" charset="0"/>
                <a:sym typeface="Calibri" panose="020F0502020204030204"/>
              </a:rPr>
              <a:t>Session - 7</a:t>
            </a:r>
            <a:endParaRPr sz="2400" dirty="0">
              <a:solidFill>
                <a:schemeClr val="lt1"/>
              </a:solidFill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4471670" y="84455"/>
            <a:ext cx="4107815" cy="3905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OF THE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84469"/>
            <a:ext cx="10731286" cy="96032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familiarize students with the basic concept of Merge Sort concept and its time complexity</a:t>
            </a:r>
          </a:p>
          <a:p>
            <a:pPr>
              <a:lnSpc>
                <a:spcPct val="150000"/>
              </a:lnSpc>
            </a:pP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17"/>
          <p:cNvSpPr/>
          <p:nvPr/>
        </p:nvSpPr>
        <p:spPr>
          <a:xfrm>
            <a:off x="4160520" y="1807210"/>
            <a:ext cx="5012055" cy="39052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INSTRUCTIONAL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2197100"/>
            <a:ext cx="8791575" cy="217932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Demonstrate: Merge Sort</a:t>
            </a: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Describe: Merge Sort Algorithm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out the: Application of Merge Sort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 the: time complexity of merge sort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raphic 10" descr="Bullseye outlin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/>
          <p:cNvSpPr/>
          <p:nvPr/>
        </p:nvSpPr>
        <p:spPr>
          <a:xfrm>
            <a:off x="4213225" y="4587875"/>
            <a:ext cx="3870960" cy="41338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752600" y="5000625"/>
            <a:ext cx="8791575" cy="172593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>
              <a:lnSpc>
                <a:spcPct val="200000"/>
              </a:lnSpc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Algorithm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Describe: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complexity of merge sort</a:t>
            </a:r>
            <a:endParaRPr lang="en-US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Summarize: Merge Sort Algorithm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bldLvl="0" animBg="1"/>
      <p:bldP spid="7" grpId="0" bldLvl="0" animBg="1"/>
      <p:bldP spid="9" grpId="0" bldLvl="0" animBg="1"/>
      <p:bldP spid="29" grpId="0" bldLvl="0" animBg="1"/>
      <p:bldP spid="37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Outcomes</a:t>
            </a:r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632460" y="1273810"/>
            <a:ext cx="10537190" cy="47796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633046" y="2374866"/>
            <a:ext cx="11268222" cy="2322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19685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a Sorting Algorithm?</a:t>
            </a:r>
          </a:p>
          <a:p>
            <a:pPr marR="196850" algn="just">
              <a:spcBef>
                <a:spcPts val="100"/>
              </a:spcBef>
              <a:buSzPct val="94000"/>
              <a:tabLst>
                <a:tab pos="217170" algn="l"/>
              </a:tabLst>
            </a:pPr>
            <a:endParaRPr lang="en-US" sz="2000" spc="-5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R="19685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What is Merge Sort?</a:t>
            </a:r>
          </a:p>
          <a:p>
            <a:pPr marR="196850" algn="just">
              <a:spcBef>
                <a:spcPts val="100"/>
              </a:spcBef>
              <a:buSzPct val="94000"/>
              <a:tabLst>
                <a:tab pos="217170" algn="l"/>
              </a:tabLst>
            </a:pPr>
            <a:endParaRPr lang="en-US" sz="2000" spc="-5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R="19685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Merge Sort Approach?</a:t>
            </a:r>
          </a:p>
          <a:p>
            <a:pPr marR="196850" algn="just">
              <a:spcBef>
                <a:spcPts val="100"/>
              </a:spcBef>
              <a:buSzPct val="94000"/>
              <a:tabLst>
                <a:tab pos="217170" algn="l"/>
              </a:tabLst>
            </a:pPr>
            <a:endParaRPr lang="en-US" sz="2000" spc="-5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R="196850" algn="just"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7170" algn="l"/>
              </a:tabLst>
            </a:pPr>
            <a:r>
              <a:rPr lang="en-US" sz="2000" spc="-5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Time Complexity of Merge Sort?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/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SESSION INTRODUCTION </a:t>
            </a:r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2" y="1252025"/>
            <a:ext cx="10086536" cy="983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 is used to rearrange a given array or list of elements in either ascending order or descending order according to comparison operator.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310" y="1252220"/>
            <a:ext cx="38271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r>
              <a:rPr lang="en-US" b="1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b="1" dirty="0"/>
              <a:t>: </a:t>
            </a:r>
            <a:endParaRPr lang="en-IN" b="1" dirty="0"/>
          </a:p>
        </p:txBody>
      </p:sp>
      <p:pic>
        <p:nvPicPr>
          <p:cNvPr id="100" name="Content Placeholder 99"/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6326505" y="3157855"/>
            <a:ext cx="3086100" cy="2778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 Box 7"/>
          <p:cNvSpPr txBox="1"/>
          <p:nvPr/>
        </p:nvSpPr>
        <p:spPr>
          <a:xfrm>
            <a:off x="1159510" y="2617470"/>
            <a:ext cx="14871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2000" b="1"/>
              <a:t>:</a:t>
            </a:r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5"/>
          <a:stretch>
            <a:fillRect/>
          </a:stretch>
        </p:blipFill>
        <p:spPr>
          <a:xfrm>
            <a:off x="1735455" y="3366135"/>
            <a:ext cx="3324860" cy="26219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403803" y="299038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sz="2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</a:t>
            </a:r>
            <a:endParaRPr lang="en-US" sz="2000" dirty="0"/>
          </a:p>
          <a:p>
            <a:pPr algn="ctr"/>
            <a:endParaRPr lang="en-US" sz="200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4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590"/>
            <a:ext cx="1990725" cy="600076"/>
          </a:xfrm>
          <a:prstGeom prst="rect">
            <a:avLst/>
          </a:prstGeom>
          <a:noFill/>
        </p:spPr>
      </p:pic>
      <p:sp>
        <p:nvSpPr>
          <p:cNvPr id="26" name="TextBox 25"/>
          <p:cNvSpPr txBox="1"/>
          <p:nvPr/>
        </p:nvSpPr>
        <p:spPr>
          <a:xfrm>
            <a:off x="1139483" y="984738"/>
            <a:ext cx="1022721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638182" y="604911"/>
            <a:ext cx="9156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048000" y="1997839"/>
            <a:ext cx="8360898" cy="3169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Bubble Sort</a:t>
            </a:r>
          </a:p>
          <a:p>
            <a:pPr>
              <a:buNone/>
            </a:pPr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Approach : Incremental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In-Place Sorting   : Yes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Best Case              : O(n)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Worst Case            : O(n^2)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 Sort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Design Approach : Incremental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In-Place Sorting   : Yes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Best Case              : O(n)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Worst Case            : O(n^2)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782196" y="9398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 Approach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67509" y="1056043"/>
            <a:ext cx="10442916" cy="4325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sort an array A[n1,n2.. . ….nr]: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Divide: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 the n-element sequence to be sorted into two subsequences of n/2 elements each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Conquer: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the subsequences recursively using merge sort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size of the sequences is 1 there is nothing more to do</a:t>
            </a:r>
          </a:p>
          <a:p>
            <a:pPr>
              <a:lnSpc>
                <a:spcPct val="12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or Merge:</a:t>
            </a:r>
          </a:p>
          <a:p>
            <a:pPr lvl="1">
              <a:lnSpc>
                <a:spcPct val="12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the two sorted subsequences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67509" y="1110057"/>
            <a:ext cx="1024127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 sort</a:t>
            </a:r>
            <a:r>
              <a:rPr lang="en-US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defined as a 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</a:t>
            </a:r>
            <a:r>
              <a:rPr lang="en-US" sz="2000" b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that works by dividing an array into smaller subarrays, sorting each subarray, and then merging the sorted subarrays back together to form the final sorted array.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2845" y="365125"/>
            <a:ext cx="8910955" cy="1325880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merge_sort-divide-and-conquer-img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480" y="1017270"/>
            <a:ext cx="6384290" cy="4695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5"/>
          <p:cNvSpPr txBox="1"/>
          <p:nvPr/>
        </p:nvSpPr>
        <p:spPr>
          <a:xfrm>
            <a:off x="1720850" y="603250"/>
            <a:ext cx="50228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Merge sort Example:</a:t>
            </a:r>
          </a:p>
        </p:txBody>
      </p:sp>
      <p:pic>
        <p:nvPicPr>
          <p:cNvPr id="3" name="Content Placeholder 2" descr="merge sort1"/>
          <p:cNvPicPr>
            <a:picLocks noGrp="1" noChangeAspect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2290445" y="1280795"/>
            <a:ext cx="7610475" cy="4890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215761" y="135700"/>
            <a:ext cx="5475773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</a:t>
            </a: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3" name="TextBox 12"/>
          <p:cNvSpPr txBox="1"/>
          <p:nvPr/>
        </p:nvSpPr>
        <p:spPr>
          <a:xfrm>
            <a:off x="1105535" y="781685"/>
            <a:ext cx="10064115" cy="52057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                                                     </a:t>
            </a:r>
          </a:p>
          <a:p>
            <a:r>
              <a:rPr lang="en-US" dirty="0"/>
              <a:t>                                              1             2            3             4             5              6           7             8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3502367" y="1829324"/>
            <a:ext cx="80645" cy="7518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14700" y="2668905"/>
            <a:ext cx="553720" cy="3600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</a:p>
        </p:txBody>
      </p:sp>
      <p:cxnSp>
        <p:nvCxnSpPr>
          <p:cNvPr id="9" name="Straight Connector 8"/>
          <p:cNvCxnSpPr/>
          <p:nvPr/>
        </p:nvCxnSpPr>
        <p:spPr>
          <a:xfrm flipH="1" flipV="1">
            <a:off x="5986668" y="1703950"/>
            <a:ext cx="1270" cy="854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781675" y="2557780"/>
            <a:ext cx="619125" cy="4121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H="1" flipV="1">
            <a:off x="9006179" y="1794830"/>
            <a:ext cx="22225" cy="7632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832850" y="2602230"/>
            <a:ext cx="586105" cy="3683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22362" y="3137095"/>
            <a:ext cx="10367889" cy="16300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Call     ---- 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MergeSort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A,first,last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is an array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               ----   Starting index of an array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                ----   End index of an array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                ----   (first + last)/2	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3215640" y="1377950"/>
          <a:ext cx="6207760" cy="432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5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59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243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  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   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bldLvl="0" animBg="1"/>
      <p:bldP spid="11" grpId="0" bldLvl="0" animBg="1"/>
      <p:bldP spid="16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94940" y="1148715"/>
            <a:ext cx="6315075" cy="4522470"/>
          </a:xfrm>
          <a:prstGeom prst="rect">
            <a:avLst/>
          </a:prstGeom>
        </p:spPr>
      </p:pic>
      <p:sp>
        <p:nvSpPr>
          <p:cNvPr id="4" name="Rounded Rectangle 17"/>
          <p:cNvSpPr/>
          <p:nvPr/>
        </p:nvSpPr>
        <p:spPr>
          <a:xfrm>
            <a:off x="2595521" y="176436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14928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1990725" y="85887"/>
            <a:ext cx="7706092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EXAMPLE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036271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70355" y="1035685"/>
            <a:ext cx="8228965" cy="4740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 of Merging Two Sorted Arrays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674370" y="996315"/>
            <a:ext cx="10515600" cy="53333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                               </a:t>
            </a:r>
            <a:r>
              <a:rPr lang="en-US" dirty="0">
                <a:solidFill>
                  <a:schemeClr val="bg1"/>
                </a:solidFill>
              </a:rPr>
              <a:t>a1    a1                                                                                                      </a:t>
            </a:r>
            <a:r>
              <a:rPr lang="en-US" dirty="0"/>
              <a:t>a2                                                                                                                                                     </a:t>
            </a:r>
          </a:p>
          <a:p>
            <a:r>
              <a:rPr lang="en-US" dirty="0"/>
              <a:t>                                                               a1                                                                                                   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066280" y="3120390"/>
          <a:ext cx="3935730" cy="4921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61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212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9" name="Straight Arrow Connector 8"/>
          <p:cNvCxnSpPr/>
          <p:nvPr/>
        </p:nvCxnSpPr>
        <p:spPr>
          <a:xfrm flipV="1">
            <a:off x="3287383" y="1615874"/>
            <a:ext cx="0" cy="63817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 flipV="1">
            <a:off x="8698463" y="1536549"/>
            <a:ext cx="11430" cy="5010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38805" y="2254250"/>
            <a:ext cx="285750" cy="2082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i</a:t>
            </a:r>
          </a:p>
        </p:txBody>
      </p:sp>
      <p:sp>
        <p:nvSpPr>
          <p:cNvPr id="14" name="TextBox 13"/>
          <p:cNvSpPr txBox="1"/>
          <p:nvPr/>
        </p:nvSpPr>
        <p:spPr>
          <a:xfrm flipH="1">
            <a:off x="8581390" y="2030730"/>
            <a:ext cx="19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</a:p>
        </p:txBody>
      </p:sp>
      <p:cxnSp>
        <p:nvCxnSpPr>
          <p:cNvPr id="15" name="Straight Arrow Connector 14"/>
          <p:cNvCxnSpPr/>
          <p:nvPr/>
        </p:nvCxnSpPr>
        <p:spPr>
          <a:xfrm flipH="1" flipV="1">
            <a:off x="7383183" y="3675767"/>
            <a:ext cx="10160" cy="5937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 flipH="1">
            <a:off x="7218680" y="4270375"/>
            <a:ext cx="1753870" cy="958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22" name="Oval Callout 21"/>
          <p:cNvSpPr/>
          <p:nvPr/>
        </p:nvSpPr>
        <p:spPr>
          <a:xfrm>
            <a:off x="8921931" y="4472521"/>
            <a:ext cx="2795451" cy="1084217"/>
          </a:xfrm>
          <a:prstGeom prst="wedgeEllipse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Now..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Now…Lets merge a1 &amp; a2 as a single array ‘A’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37739" y="2967334"/>
            <a:ext cx="544899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 </a:t>
            </a:r>
            <a:r>
              <a:rPr lang="en-US" sz="2400" b="1" dirty="0"/>
              <a:t>Check whether a1[</a:t>
            </a:r>
            <a:r>
              <a:rPr lang="en-US" sz="2400" b="1" dirty="0" err="1"/>
              <a:t>i</a:t>
            </a:r>
            <a:r>
              <a:rPr lang="en-US" sz="2400" b="1" dirty="0"/>
              <a:t>]&lt;a2[j] or a2[j]&lt;a1[</a:t>
            </a:r>
            <a:r>
              <a:rPr lang="en-US" sz="2400" b="1" dirty="0" err="1"/>
              <a:t>i</a:t>
            </a:r>
            <a:r>
              <a:rPr lang="en-US" sz="2400" b="1" dirty="0"/>
              <a:t>] </a:t>
            </a:r>
          </a:p>
          <a:p>
            <a:pPr algn="just"/>
            <a:endParaRPr lang="en-US" sz="2400" b="1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 If a1[</a:t>
            </a:r>
            <a:r>
              <a:rPr lang="en-US" sz="2400" dirty="0" err="1"/>
              <a:t>i</a:t>
            </a:r>
            <a:r>
              <a:rPr lang="en-US" sz="2400" dirty="0"/>
              <a:t>]&lt;a2[j] then place the value in array and increment </a:t>
            </a:r>
            <a:r>
              <a:rPr lang="en-US" sz="2400" dirty="0" err="1"/>
              <a:t>i</a:t>
            </a:r>
            <a:r>
              <a:rPr lang="en-US" sz="2400" dirty="0"/>
              <a:t> &amp; k</a:t>
            </a:r>
          </a:p>
          <a:p>
            <a:pPr algn="just"/>
            <a:endParaRPr lang="en-US" sz="2400" dirty="0"/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dirty="0"/>
              <a:t> If a2[j]&lt;a1[</a:t>
            </a:r>
            <a:r>
              <a:rPr lang="en-US" sz="2400" dirty="0" err="1"/>
              <a:t>i</a:t>
            </a:r>
            <a:r>
              <a:rPr lang="en-US" sz="2400" dirty="0"/>
              <a:t>] then place the value in array and increment j &amp; k</a:t>
            </a:r>
          </a:p>
        </p:txBody>
      </p:sp>
      <p:graphicFrame>
        <p:nvGraphicFramePr>
          <p:cNvPr id="3" name="Table 2"/>
          <p:cNvGraphicFramePr/>
          <p:nvPr/>
        </p:nvGraphicFramePr>
        <p:xfrm>
          <a:off x="2783840" y="1044575"/>
          <a:ext cx="3914140" cy="55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5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6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8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9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/>
          <p:nvPr/>
        </p:nvGraphicFramePr>
        <p:xfrm>
          <a:off x="8263890" y="1066165"/>
          <a:ext cx="2194560" cy="47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4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7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10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3" grpId="0"/>
      <p:bldP spid="14" grpId="0"/>
      <p:bldP spid="21" grpId="0"/>
      <p:bldP spid="2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Way of Merging Two Sorted Arrays Cont…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5080"/>
            <a:ext cx="1990725" cy="815975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4744085" y="6276340"/>
            <a:ext cx="503555" cy="264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k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2236898" y="1682500"/>
            <a:ext cx="22860" cy="59880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6993733" y="1671412"/>
            <a:ext cx="0" cy="47434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 flipH="1" flipV="1">
            <a:off x="5107480" y="6076118"/>
            <a:ext cx="11430" cy="6826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V="1">
            <a:off x="2939513" y="4790936"/>
            <a:ext cx="0" cy="4654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flipV="1">
            <a:off x="8594053" y="4808107"/>
            <a:ext cx="0" cy="35242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224540" y="2588455"/>
            <a:ext cx="7388664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Here a2[j]&lt;a1[i] so put the value of a2[j] to A[k], increment j and k</a:t>
            </a:r>
          </a:p>
          <a:p>
            <a:endParaRPr lang="en-US" dirty="0"/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642360" y="3136265"/>
          <a:ext cx="3340973" cy="44577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77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2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7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72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2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728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r>
                        <a:rPr lang="en-US" dirty="0"/>
                        <a:t>  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4" name="Straight Arrow Connector 33"/>
          <p:cNvCxnSpPr/>
          <p:nvPr/>
        </p:nvCxnSpPr>
        <p:spPr>
          <a:xfrm rot="16200000" flipV="1">
            <a:off x="3853881" y="3645880"/>
            <a:ext cx="256900" cy="217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 flipH="1">
            <a:off x="3826510" y="3728085"/>
            <a:ext cx="281305" cy="563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54131" y="3516022"/>
            <a:ext cx="436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2546251" y="4262512"/>
          <a:ext cx="2546256" cy="4642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5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6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65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423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   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8593955" y="3869853"/>
            <a:ext cx="11802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a2</a:t>
            </a:r>
          </a:p>
        </p:txBody>
      </p:sp>
      <p:sp>
        <p:nvSpPr>
          <p:cNvPr id="43" name="TextBox 42"/>
          <p:cNvSpPr txBox="1"/>
          <p:nvPr/>
        </p:nvSpPr>
        <p:spPr>
          <a:xfrm flipH="1">
            <a:off x="3446585" y="3924886"/>
            <a:ext cx="534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79090" y="5193030"/>
            <a:ext cx="1228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</a:t>
            </a:r>
            <a:endParaRPr 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8515350" y="5192395"/>
            <a:ext cx="153670" cy="3689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j</a:t>
            </a:r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4197350" y="5587365"/>
          <a:ext cx="4492367" cy="48196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97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22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11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2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11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2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1965"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4</a:t>
                      </a:r>
                      <a:endParaRPr lang="en-US" dirty="0">
                        <a:solidFill>
                          <a:schemeClr val="tx1"/>
                        </a:solidFill>
                        <a:uFillTx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6575425" y="1985010"/>
            <a:ext cx="333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7757795" y="1645285"/>
            <a:ext cx="1779905" cy="4826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r>
              <a:rPr lang="en-US" dirty="0"/>
              <a:t>a2</a:t>
            </a:r>
            <a:endParaRPr lang="en-IN" dirty="0"/>
          </a:p>
        </p:txBody>
      </p:sp>
      <p:sp>
        <p:nvSpPr>
          <p:cNvPr id="15" name="TextBox 14"/>
          <p:cNvSpPr txBox="1"/>
          <p:nvPr/>
        </p:nvSpPr>
        <p:spPr>
          <a:xfrm>
            <a:off x="6575425" y="6094730"/>
            <a:ext cx="410210" cy="66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dirty="0"/>
              <a:t>A</a:t>
            </a:r>
            <a:endParaRPr lang="en-IN" dirty="0"/>
          </a:p>
        </p:txBody>
      </p:sp>
      <p:sp>
        <p:nvSpPr>
          <p:cNvPr id="8" name="Text Box 7"/>
          <p:cNvSpPr txBox="1"/>
          <p:nvPr/>
        </p:nvSpPr>
        <p:spPr>
          <a:xfrm>
            <a:off x="5497195" y="5271135"/>
            <a:ext cx="313690" cy="469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sz="half" idx="1"/>
          </p:nvPr>
        </p:nvGraphicFramePr>
        <p:xfrm>
          <a:off x="1813560" y="1165225"/>
          <a:ext cx="3342640" cy="463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5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uFillTx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15"/>
          <p:cNvGraphicFramePr>
            <a:graphicFrameLocks noGrp="1"/>
          </p:cNvGraphicFramePr>
          <p:nvPr>
            <p:ph sz="half" idx="2"/>
          </p:nvPr>
        </p:nvGraphicFramePr>
        <p:xfrm>
          <a:off x="6642100" y="1132205"/>
          <a:ext cx="2273935" cy="502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20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28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Text Box 21"/>
          <p:cNvSpPr txBox="1"/>
          <p:nvPr/>
        </p:nvSpPr>
        <p:spPr>
          <a:xfrm>
            <a:off x="2141220" y="2199005"/>
            <a:ext cx="737870" cy="773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i</a:t>
            </a:r>
          </a:p>
        </p:txBody>
      </p:sp>
      <p:sp>
        <p:nvSpPr>
          <p:cNvPr id="23" name="Text Box 22"/>
          <p:cNvSpPr txBox="1"/>
          <p:nvPr/>
        </p:nvSpPr>
        <p:spPr>
          <a:xfrm>
            <a:off x="3143250" y="1569720"/>
            <a:ext cx="1134745" cy="5060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000"/>
              <a:t>a1</a:t>
            </a:r>
          </a:p>
        </p:txBody>
      </p:sp>
      <p:sp>
        <p:nvSpPr>
          <p:cNvPr id="27" name="Text Box 26"/>
          <p:cNvSpPr txBox="1"/>
          <p:nvPr/>
        </p:nvSpPr>
        <p:spPr>
          <a:xfrm>
            <a:off x="8515985" y="42138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7680325" y="4215130"/>
          <a:ext cx="1761490" cy="530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1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8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86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uFillTx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5" grpId="0"/>
      <p:bldP spid="37" grpId="0"/>
      <p:bldP spid="42" grpId="0"/>
      <p:bldP spid="43" grpId="0"/>
      <p:bldP spid="45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10599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Cont</a:t>
            </a:r>
            <a:r>
              <a:rPr lang="en-US" sz="2400" dirty="0"/>
              <a:t>….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s 6"/>
          <p:cNvSpPr/>
          <p:nvPr/>
        </p:nvSpPr>
        <p:spPr>
          <a:xfrm>
            <a:off x="9613900" y="5236210"/>
            <a:ext cx="636270" cy="397510"/>
          </a:xfrm>
          <a:prstGeom prst="rect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s 7"/>
          <p:cNvSpPr/>
          <p:nvPr/>
        </p:nvSpPr>
        <p:spPr>
          <a:xfrm>
            <a:off x="7867015" y="3215640"/>
            <a:ext cx="396240" cy="374650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2861310" y="1220470"/>
            <a:ext cx="7915910" cy="4573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435860" y="138430"/>
            <a:ext cx="7510145" cy="56007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Cont</a:t>
            </a:r>
            <a:r>
              <a:rPr lang="en-US" sz="2400" dirty="0">
                <a:sym typeface="+mn-ea"/>
              </a:rPr>
              <a:t>….</a:t>
            </a:r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62820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s 6"/>
          <p:cNvSpPr/>
          <p:nvPr/>
        </p:nvSpPr>
        <p:spPr>
          <a:xfrm>
            <a:off x="7967980" y="3337560"/>
            <a:ext cx="488315" cy="375285"/>
          </a:xfrm>
          <a:prstGeom prst="rect">
            <a:avLst/>
          </a:prstGeom>
          <a:solidFill>
            <a:schemeClr val="bg1"/>
          </a:solidFill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1588135" y="1258570"/>
            <a:ext cx="9580880" cy="47948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1891030" y="84455"/>
            <a:ext cx="8054975" cy="56007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Cont</a:t>
            </a:r>
            <a:r>
              <a:rPr lang="en-US" sz="2400" dirty="0">
                <a:sym typeface="+mn-ea"/>
              </a:rPr>
              <a:t>….</a:t>
            </a:r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Rectangles 5"/>
          <p:cNvSpPr/>
          <p:nvPr/>
        </p:nvSpPr>
        <p:spPr>
          <a:xfrm>
            <a:off x="10036175" y="5241290"/>
            <a:ext cx="487045" cy="3968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s 6"/>
          <p:cNvSpPr/>
          <p:nvPr/>
        </p:nvSpPr>
        <p:spPr>
          <a:xfrm>
            <a:off x="8104505" y="3186430"/>
            <a:ext cx="431165" cy="374650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2465705" y="1469390"/>
            <a:ext cx="8057515" cy="458406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9118600" y="4139565"/>
            <a:ext cx="274320" cy="153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10" name="Picture Placeholder 9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3265805" y="1345565"/>
            <a:ext cx="7175500" cy="3975735"/>
          </a:xfrm>
          <a:prstGeom prst="rect">
            <a:avLst/>
          </a:prstGeom>
        </p:spPr>
      </p:pic>
      <p:sp>
        <p:nvSpPr>
          <p:cNvPr id="13" name="Rectangles 12"/>
          <p:cNvSpPr/>
          <p:nvPr/>
        </p:nvSpPr>
        <p:spPr>
          <a:xfrm>
            <a:off x="8735060" y="3618865"/>
            <a:ext cx="339725" cy="2844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Cont</a:t>
            </a:r>
            <a:r>
              <a:rPr lang="en-US" sz="2400" dirty="0">
                <a:sym typeface="+mn-ea"/>
              </a:rPr>
              <a:t>….</a:t>
            </a:r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Placeholder 5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2830195" y="1269365"/>
            <a:ext cx="7422515" cy="4784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531235" y="84455"/>
            <a:ext cx="6414770" cy="7067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Example Cont</a:t>
            </a:r>
            <a:r>
              <a:rPr lang="en-US" sz="2400" dirty="0">
                <a:sym typeface="+mn-ea"/>
              </a:rPr>
              <a:t>….</a:t>
            </a:r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310" y="1252220"/>
            <a:ext cx="10086340" cy="39846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 Box 5"/>
          <p:cNvSpPr txBox="1"/>
          <p:nvPr/>
        </p:nvSpPr>
        <p:spPr>
          <a:xfrm>
            <a:off x="1293495" y="5539105"/>
            <a:ext cx="9966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                                      </a:t>
            </a: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2"/>
          </p:nvPr>
        </p:nvPicPr>
        <p:blipFill>
          <a:blip r:embed="rId3"/>
          <a:stretch>
            <a:fillRect/>
          </a:stretch>
        </p:blipFill>
        <p:spPr>
          <a:xfrm>
            <a:off x="3127375" y="1549400"/>
            <a:ext cx="6937375" cy="4072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423795" y="84455"/>
            <a:ext cx="7522210" cy="56007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Time Complexity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958465" y="741045"/>
            <a:ext cx="6572250" cy="56908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423795" y="84455"/>
            <a:ext cx="7522210" cy="560070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Time Complexity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Time Complexity of merge sort </a:t>
            </a:r>
            <a:r>
              <a:rPr lang="en-US" b="0" i="0" dirty="0">
                <a:solidFill>
                  <a:srgbClr val="E8EAED"/>
                </a:solidFill>
                <a:effectLst/>
                <a:latin typeface="Google Sans"/>
              </a:rPr>
              <a:t> </a:t>
            </a:r>
            <a:r>
              <a:rPr lang="en-US" dirty="0"/>
              <a:t>is O(n*Log n) in all the 3 cases (worst, average and best) as merge sort always divides the array in two halves and takes linear time to merge two halves.</a:t>
            </a:r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32150" y="819150"/>
            <a:ext cx="5797550" cy="41770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/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What is the best case time complexity of merge sort?</a:t>
            </a:r>
          </a:p>
          <a:p>
            <a:pPr marL="342900" marR="0" lvl="0" indent="-342900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1" name="Rounded Rectangle 17"/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O(n log n)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O(n</a:t>
            </a:r>
            <a:r>
              <a:rPr lang="en-US" sz="1600" baseline="30000" dirty="0"/>
              <a:t>2</a:t>
            </a:r>
            <a:r>
              <a:rPr lang="en-US" sz="1600" dirty="0"/>
              <a:t> log n)</a:t>
            </a:r>
            <a:endParaRPr lang="en-US" sz="1600" dirty="0">
              <a:latin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O(n log 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</p:txBody>
      </p:sp>
      <p:sp>
        <p:nvSpPr>
          <p:cNvPr id="13" name="Google Shape;502;p17"/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2.Merge sort is preferred for arrays over linked lists.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 panose="020F0502020204030204"/>
              <a:cs typeface="Poppins" panose="00000500000000000000" pitchFamily="2" charset="0"/>
              <a:sym typeface="Calibri" panose="020F0502020204030204"/>
            </a:endParaRPr>
          </a:p>
        </p:txBody>
      </p:sp>
      <p:sp>
        <p:nvSpPr>
          <p:cNvPr id="14" name="Rounded Rectangle 17"/>
          <p:cNvSpPr/>
          <p:nvPr/>
        </p:nvSpPr>
        <p:spPr>
          <a:xfrm>
            <a:off x="1133185" y="4727197"/>
            <a:ext cx="2901705" cy="103764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dirty="0"/>
              <a:t>a) true</a:t>
            </a:r>
            <a:br>
              <a:rPr lang="en-IN" dirty="0"/>
            </a:br>
            <a:r>
              <a:rPr lang="en-IN" dirty="0"/>
              <a:t>b) false</a:t>
            </a:r>
            <a:endParaRPr lang="en-US" dirty="0"/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445414" y="471554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Describe Sorting and what are the key steps involved in implementing Merge Sort?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List out the applications of Merge Sort. </a:t>
            </a:r>
          </a:p>
          <a:p>
            <a:pPr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Analyze Time and Space Complexity of Merge Sort.</a:t>
            </a:r>
          </a:p>
          <a:p>
            <a:pPr marL="342900" indent="-342900">
              <a:lnSpc>
                <a:spcPct val="2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Summarize the Merge Sort algorithm with an example.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/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1" y="1167618"/>
            <a:ext cx="10822481" cy="475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Books: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cs typeface="+mn-lt"/>
              </a:rPr>
              <a:t>1. </a:t>
            </a:r>
            <a:r>
              <a:rPr lang="en-US" sz="2000" spc="-150" dirty="0">
                <a:effectLst/>
                <a:ea typeface="Times New Roman" panose="02020603050405020304" pitchFamily="18" charset="0"/>
                <a:cs typeface="+mn-lt"/>
              </a:rPr>
              <a:t>A . V.  </a:t>
            </a:r>
            <a:r>
              <a:rPr lang="en-US" sz="2000" spc="-150" dirty="0" err="1">
                <a:effectLst/>
                <a:ea typeface="Times New Roman" panose="02020603050405020304" pitchFamily="18" charset="0"/>
                <a:cs typeface="+mn-lt"/>
              </a:rPr>
              <a:t>Aho</a:t>
            </a:r>
            <a:r>
              <a:rPr lang="en-US" sz="2000" spc="-150" dirty="0">
                <a:effectLst/>
                <a:ea typeface="Times New Roman" panose="02020603050405020304" pitchFamily="18" charset="0"/>
                <a:cs typeface="+mn-lt"/>
              </a:rPr>
              <a:t> , J. E. Hopcroft, and J. D. Ullman, “Data Structures And Algorithms”, Pearson Education, First Edition Reprint2003.  </a:t>
            </a:r>
            <a:endParaRPr lang="en-IN" sz="2000" spc="-150" dirty="0">
              <a:effectLst/>
              <a:ea typeface="Times New Roman" panose="02020603050405020304" pitchFamily="18" charset="0"/>
              <a:cs typeface="+mn-lt"/>
            </a:endParaRPr>
          </a:p>
          <a:p>
            <a:pPr marL="342900" marR="572770" lvl="0" indent="-342900" algn="just">
              <a:lnSpc>
                <a:spcPts val="1260"/>
              </a:lnSpc>
              <a:spcAft>
                <a:spcPts val="0"/>
              </a:spcAft>
              <a:buSzPts val="1200"/>
              <a:buFont typeface="+mj-lt"/>
              <a:buAutoNum type="arabicPeriod"/>
              <a:tabLst>
                <a:tab pos="1156335" algn="l"/>
              </a:tabLst>
            </a:pPr>
            <a:endParaRPr lang="en-US" sz="2000" spc="-150" dirty="0">
              <a:effectLst/>
              <a:ea typeface="Times New Roman" panose="02020603050405020304" pitchFamily="18" charset="0"/>
              <a:cs typeface="+mn-lt"/>
            </a:endParaRPr>
          </a:p>
          <a:p>
            <a:pPr marR="572770" lvl="0" algn="just">
              <a:lnSpc>
                <a:spcPts val="1260"/>
              </a:lnSpc>
              <a:spcAft>
                <a:spcPts val="0"/>
              </a:spcAft>
              <a:buSzPts val="1200"/>
              <a:tabLst>
                <a:tab pos="1156335" algn="l"/>
              </a:tabLst>
            </a:pPr>
            <a:r>
              <a:rPr lang="en-US" sz="2000" spc="-150" dirty="0">
                <a:effectLst/>
                <a:ea typeface="Times New Roman" panose="02020603050405020304" pitchFamily="18" charset="0"/>
                <a:cs typeface="+mn-lt"/>
              </a:rPr>
              <a:t>2. Horowitz, Sahni , Anderson Freed, “Fundamentals of data structures in C” , Second Edition-2007.</a:t>
            </a:r>
          </a:p>
          <a:p>
            <a:pPr marR="572770" lvl="0" algn="just">
              <a:lnSpc>
                <a:spcPts val="1260"/>
              </a:lnSpc>
              <a:spcAft>
                <a:spcPts val="0"/>
              </a:spcAft>
              <a:buSzPts val="1200"/>
              <a:tabLst>
                <a:tab pos="1156335" algn="l"/>
              </a:tabLst>
            </a:pPr>
            <a:endParaRPr lang="en-IN" sz="2000" spc="-150" dirty="0">
              <a:effectLst/>
              <a:ea typeface="Times New Roman" panose="02020603050405020304" pitchFamily="18" charset="0"/>
              <a:cs typeface="+mn-lt"/>
            </a:endParaRPr>
          </a:p>
          <a:p>
            <a:pPr marR="570865" lvl="0" algn="just">
              <a:lnSpc>
                <a:spcPts val="1260"/>
              </a:lnSpc>
              <a:spcAft>
                <a:spcPts val="0"/>
              </a:spcAft>
              <a:buSzPts val="1200"/>
              <a:tabLst>
                <a:tab pos="1156335" algn="l"/>
              </a:tabLst>
            </a:pPr>
            <a:r>
              <a:rPr lang="en-US" sz="2000" spc="-150" dirty="0">
                <a:effectLst/>
                <a:ea typeface="Times New Roman" panose="02020603050405020304" pitchFamily="18" charset="0"/>
                <a:cs typeface="+mn-lt"/>
              </a:rPr>
              <a:t>3. R. F. Gilberg, B. A. </a:t>
            </a:r>
            <a:r>
              <a:rPr lang="en-US" sz="2000" spc="-150" dirty="0" err="1">
                <a:effectLst/>
                <a:ea typeface="Times New Roman" panose="02020603050405020304" pitchFamily="18" charset="0"/>
                <a:cs typeface="+mn-lt"/>
              </a:rPr>
              <a:t>Forouzan</a:t>
            </a:r>
            <a:r>
              <a:rPr lang="en-US" sz="2000" spc="-150" dirty="0">
                <a:effectLst/>
                <a:ea typeface="Times New Roman" panose="02020603050405020304" pitchFamily="18" charset="0"/>
                <a:cs typeface="+mn-lt"/>
              </a:rPr>
              <a:t>, “Data Structures”, Second Edition, Thomson India Ed </a:t>
            </a:r>
            <a:r>
              <a:rPr lang="en-US" sz="2000" spc="-150" dirty="0" err="1">
                <a:effectLst/>
                <a:ea typeface="Times New Roman" panose="02020603050405020304" pitchFamily="18" charset="0"/>
                <a:cs typeface="+mn-lt"/>
              </a:rPr>
              <a:t>ition</a:t>
            </a:r>
            <a:r>
              <a:rPr lang="en-US" sz="2000" spc="-150" dirty="0">
                <a:effectLst/>
                <a:ea typeface="Times New Roman" panose="02020603050405020304" pitchFamily="18" charset="0"/>
                <a:cs typeface="+mn-lt"/>
              </a:rPr>
              <a:t>, 2005</a:t>
            </a:r>
          </a:p>
          <a:p>
            <a:pPr marR="570865" lvl="0" algn="just">
              <a:lnSpc>
                <a:spcPts val="1260"/>
              </a:lnSpc>
              <a:spcAft>
                <a:spcPts val="0"/>
              </a:spcAft>
              <a:buSzPts val="1200"/>
              <a:tabLst>
                <a:tab pos="1156335" algn="l"/>
              </a:tabLst>
            </a:pPr>
            <a:endParaRPr lang="en-IN" sz="2000" spc="-150" dirty="0">
              <a:effectLst/>
              <a:ea typeface="Times New Roman" panose="02020603050405020304" pitchFamily="18" charset="0"/>
              <a:cs typeface="+mn-lt"/>
            </a:endParaRPr>
          </a:p>
          <a:p>
            <a:pPr marR="573405" lvl="0" algn="just">
              <a:lnSpc>
                <a:spcPts val="1260"/>
              </a:lnSpc>
              <a:spcBef>
                <a:spcPts val="5"/>
              </a:spcBef>
              <a:spcAft>
                <a:spcPts val="0"/>
              </a:spcAft>
              <a:buSzPts val="1200"/>
              <a:tabLst>
                <a:tab pos="1156335" algn="l"/>
              </a:tabLst>
            </a:pPr>
            <a:r>
              <a:rPr lang="en-US" sz="2000" spc="-150" dirty="0">
                <a:effectLst/>
                <a:ea typeface="Times New Roman" panose="02020603050405020304" pitchFamily="18" charset="0"/>
                <a:cs typeface="+mn-lt"/>
              </a:rPr>
              <a:t>4. Robert Kruse, C.L. Tondo, Bruce Leung, Shashi </a:t>
            </a:r>
            <a:r>
              <a:rPr lang="en-US" sz="2000" spc="-150" dirty="0" err="1">
                <a:effectLst/>
                <a:ea typeface="Times New Roman" panose="02020603050405020304" pitchFamily="18" charset="0"/>
                <a:cs typeface="+mn-lt"/>
              </a:rPr>
              <a:t>Mogalla</a:t>
            </a:r>
            <a:r>
              <a:rPr lang="en-US" sz="2000" spc="-150" dirty="0">
                <a:effectLst/>
                <a:ea typeface="Times New Roman" panose="02020603050405020304" pitchFamily="18" charset="0"/>
                <a:cs typeface="+mn-lt"/>
              </a:rPr>
              <a:t>, “Data Structures &amp; Program Design in C”, FourthEdition-2007.</a:t>
            </a:r>
            <a:endParaRPr lang="en-IN" sz="2000" spc="-150" dirty="0">
              <a:effectLst/>
              <a:ea typeface="Times New Roman" panose="02020603050405020304" pitchFamily="18" charset="0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000" b="1" dirty="0"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Sites and Web links: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n-ea"/>
                <a:cs typeface="+mn-ea"/>
              </a:rPr>
              <a:t>1. https://www.w3schools.in/data-structures/sorting-techniques/merge-sort-algorithm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n-ea"/>
                <a:cs typeface="+mn-ea"/>
              </a:rPr>
              <a:t>2. https://www.geeksforgeeks.org/c-program-for-merge-sort/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+mn-ea"/>
                <a:cs typeface="+mn-ea"/>
              </a:rPr>
              <a:t>3. https://www.javatpoint.com/merge-sort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+mn-ea"/>
              <a:cs typeface="+mn-ea"/>
            </a:endParaRPr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64668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BD0A98-E68B-4DAA-8964-2F739D6D4075}">
  <ds:schemaRefs/>
</ds:datastoreItem>
</file>

<file path=customXml/itemProps2.xml><?xml version="1.0" encoding="utf-8"?>
<ds:datastoreItem xmlns:ds="http://schemas.openxmlformats.org/officeDocument/2006/customXml" ds:itemID="{3DA00F5F-5366-4B1C-9406-30DECA796ABB}">
  <ds:schemaRefs/>
</ds:datastoreItem>
</file>

<file path=customXml/itemProps3.xml><?xml version="1.0" encoding="utf-8"?>
<ds:datastoreItem xmlns:ds="http://schemas.openxmlformats.org/officeDocument/2006/customXml" ds:itemID="{C89A6ECA-0C1B-4F00-836D-A696F073E5C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901</Words>
  <Application>Microsoft Office PowerPoint</Application>
  <PresentationFormat>Widescreen</PresentationFormat>
  <Paragraphs>375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BioRhyme ExtraBold</vt:lpstr>
      <vt:lpstr>Calibri</vt:lpstr>
      <vt:lpstr>Google Sans</vt:lpstr>
      <vt:lpstr>Poppins</vt:lpstr>
      <vt:lpstr>Times New Roman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Merge sort: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U Haritha</cp:lastModifiedBy>
  <cp:revision>155</cp:revision>
  <dcterms:created xsi:type="dcterms:W3CDTF">2020-02-08T09:57:00Z</dcterms:created>
  <dcterms:modified xsi:type="dcterms:W3CDTF">2024-12-16T09:29:40Z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  <property fmtid="{D5CDD505-2E9C-101B-9397-08002B2CF9AE}" pid="3" name="ICV">
    <vt:lpwstr>85FD31CBC9EB430589D4EC1401389C74_12</vt:lpwstr>
  </property>
  <property fmtid="{D5CDD505-2E9C-101B-9397-08002B2CF9AE}" pid="4" name="KSOProductBuildVer">
    <vt:lpwstr>1033-12.2.0.19307</vt:lpwstr>
  </property>
</Properties>
</file>