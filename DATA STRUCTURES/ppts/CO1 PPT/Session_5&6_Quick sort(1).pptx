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9"/>
  </p:notesMasterIdLst>
  <p:sldIdLst>
    <p:sldId id="271" r:id="rId5"/>
    <p:sldId id="300" r:id="rId6"/>
    <p:sldId id="258" r:id="rId7"/>
    <p:sldId id="315" r:id="rId8"/>
    <p:sldId id="288" r:id="rId9"/>
    <p:sldId id="290" r:id="rId10"/>
    <p:sldId id="305" r:id="rId11"/>
    <p:sldId id="306" r:id="rId12"/>
    <p:sldId id="311" r:id="rId13"/>
    <p:sldId id="307" r:id="rId14"/>
    <p:sldId id="316" r:id="rId15"/>
    <p:sldId id="317" r:id="rId16"/>
    <p:sldId id="318" r:id="rId17"/>
    <p:sldId id="319" r:id="rId18"/>
    <p:sldId id="320" r:id="rId19"/>
    <p:sldId id="321" r:id="rId20"/>
    <p:sldId id="323" r:id="rId21"/>
    <p:sldId id="299" r:id="rId22"/>
    <p:sldId id="324" r:id="rId23"/>
    <p:sldId id="325" r:id="rId24"/>
    <p:sldId id="301" r:id="rId25"/>
    <p:sldId id="302" r:id="rId26"/>
    <p:sldId id="303" r:id="rId27"/>
    <p:sldId id="30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70" autoAdjust="0"/>
    <p:restoredTop sz="74379" autoAdjust="0"/>
  </p:normalViewPr>
  <p:slideViewPr>
    <p:cSldViewPr snapToGrid="0">
      <p:cViewPr varScale="1">
        <p:scale>
          <a:sx n="47" d="100"/>
          <a:sy n="47" d="100"/>
        </p:scale>
        <p:origin x="1260" y="2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876090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12/20/2024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in.udacity.com/course/intro-to-algorithms--cs215" TargetMode="External"/><Relationship Id="rId2" Type="http://schemas.openxmlformats.org/officeDocument/2006/relationships/hyperlink" Target="https://nptel.ac.in/courses/106102064"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coursera.org/learn/data-structures?action=enroll"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1"/>
            <a:ext cx="12192000" cy="8830995"/>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4031833"/>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24SC1203</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endParaRPr lang="en-US" sz="4000" b="1" dirty="0">
              <a:solidFill>
                <a:srgbClr val="00B0F0"/>
              </a:solidFill>
              <a:effectLst/>
              <a:latin typeface="Times New Roman" pitchFamily="18" charset="0"/>
              <a:cs typeface="Times New Roman" pitchFamily="18" charset="0"/>
            </a:endParaRPr>
          </a:p>
          <a:p>
            <a:pPr marR="0" lvl="0" indent="0" algn="ctr">
              <a:spcBef>
                <a:spcPts val="0"/>
              </a:spcBef>
              <a:spcAft>
                <a:spcPts val="0"/>
              </a:spcAft>
              <a:buNone/>
            </a:pPr>
            <a:r>
              <a:rPr lang="en-US" sz="4000" b="1" dirty="0">
                <a:solidFill>
                  <a:srgbClr val="00B0F0"/>
                </a:solidFill>
                <a:effectLst/>
                <a:latin typeface="Times New Roman" pitchFamily="18" charset="0"/>
                <a:cs typeface="Times New Roman" pitchFamily="18" charset="0"/>
              </a:rPr>
              <a:t>Quick Sort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dirty="0">
                <a:latin typeface="Poppins"/>
                <a:cs typeface="Poppins"/>
              </a:rPr>
              <a:t>Quick sort Analysis Implementation</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a:t>
            </a:r>
            <a:r>
              <a:rPr lang="en-US" sz="1600" dirty="0">
                <a:latin typeface="Arial" panose="020B0604020202020204" pitchFamily="34" charset="0"/>
              </a:rPr>
              <a:t>Divide and Conquer in Quick sort Function</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the </a:t>
            </a:r>
            <a:r>
              <a:rPr lang="en-US" sz="1600" dirty="0">
                <a:latin typeface="Arial" panose="020B0604020202020204" pitchFamily="34" charset="0"/>
              </a:rPr>
              <a:t>Picking a pivot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List out the operations possible on the </a:t>
            </a:r>
            <a:r>
              <a:rPr lang="en-US" sz="1600" dirty="0">
                <a:latin typeface="Arial" panose="020B0604020202020204" pitchFamily="34" charset="0"/>
              </a:rPr>
              <a:t>Partitioning</a:t>
            </a:r>
            <a:r>
              <a:rPr lang="en-US" sz="1600" b="0" i="0" dirty="0">
                <a:effectLst/>
                <a:latin typeface="Arial" panose="020B0604020202020204" pitchFamily="34" charset="0"/>
              </a:rPr>
              <a:t>.</a:t>
            </a:r>
          </a:p>
          <a:p>
            <a:pPr marL="342900" indent="-342900">
              <a:buAutoNum type="arabicPeriod"/>
            </a:pPr>
            <a:r>
              <a:rPr lang="en-US" sz="1600" b="0" i="0" dirty="0">
                <a:effectLst/>
                <a:latin typeface="Arial"/>
                <a:cs typeface="Arial"/>
              </a:rPr>
              <a:t>Describe the </a:t>
            </a:r>
            <a:r>
              <a:rPr lang="en-US" sz="1600" dirty="0">
                <a:latin typeface="Arial"/>
                <a:cs typeface="Arial"/>
              </a:rPr>
              <a:t>Swapping Process</a:t>
            </a:r>
            <a:endParaRPr lang="en-US" sz="1600" b="0" i="0" dirty="0">
              <a:effectLst/>
              <a:latin typeface="Arial"/>
              <a:cs typeface="Arial"/>
            </a:endParaRPr>
          </a:p>
          <a:p>
            <a:pPr marL="342900" indent="-342900">
              <a:buAutoNum type="arabicPeriod"/>
            </a:pPr>
            <a:r>
              <a:rPr lang="en-US" sz="1600" dirty="0">
                <a:latin typeface="Arial"/>
                <a:cs typeface="Arial"/>
              </a:rPr>
              <a:t>List out the advantages and applications of Quick sort</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a:t>
            </a:r>
            <a:r>
              <a:rPr lang="en-US" sz="1600" dirty="0">
                <a:latin typeface="Arial" panose="020B0604020202020204" pitchFamily="34" charset="0"/>
              </a:rPr>
              <a:t>Quick sort</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Describe </a:t>
            </a:r>
            <a:r>
              <a:rPr lang="en-US" sz="1600" dirty="0">
                <a:latin typeface="Arial" panose="020B0604020202020204" pitchFamily="34" charset="0"/>
              </a:rPr>
              <a:t>The Swapping process</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Summarize definition, types and operations of quick sort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Quick Sort </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698231" cy="5139869"/>
          </a:xfrm>
          <a:prstGeom prst="rect">
            <a:avLst/>
          </a:prstGeom>
          <a:noFill/>
        </p:spPr>
        <p:txBody>
          <a:bodyPr wrap="square" rtlCol="0">
            <a:spAutoFit/>
          </a:bodyPr>
          <a:lstStyle/>
          <a:p>
            <a:pPr algn="just">
              <a:buFont typeface="Wingdings" pitchFamily="2" charset="2"/>
              <a:buChar char="Ø"/>
            </a:pPr>
            <a:r>
              <a:rPr lang="en-IN" sz="3200" dirty="0"/>
              <a:t> </a:t>
            </a:r>
            <a:r>
              <a:rPr lang="en-US" sz="2400" b="0" i="0" dirty="0">
                <a:solidFill>
                  <a:srgbClr val="202124"/>
                </a:solidFill>
                <a:effectLst/>
              </a:rPr>
              <a:t>The quicksort algorithm starts by picking a pivot element and then subdivides the array. It then puts the smaller elements on the left side of the pivot and the larger ones on the right side. The partition of arrays continues until each array is left with a single element.</a:t>
            </a:r>
          </a:p>
          <a:p>
            <a:pPr algn="just"/>
            <a:endParaRPr lang="en-IN" sz="2400" dirty="0">
              <a:cs typeface="Times New Roman" pitchFamily="18" charset="0"/>
            </a:endParaRPr>
          </a:p>
          <a:p>
            <a:pPr algn="just">
              <a:buFont typeface="Wingdings" pitchFamily="2" charset="2"/>
              <a:buChar char="Ø"/>
            </a:pPr>
            <a:r>
              <a:rPr lang="en-IN" sz="2400" dirty="0"/>
              <a:t> </a:t>
            </a:r>
            <a:r>
              <a:rPr lang="en-US" sz="2400" b="1" i="0" dirty="0">
                <a:solidFill>
                  <a:srgbClr val="333333"/>
                </a:solidFill>
                <a:effectLst/>
              </a:rPr>
              <a:t>Divide:</a:t>
            </a:r>
            <a:r>
              <a:rPr lang="en-US" sz="2400" b="0" i="0" dirty="0">
                <a:solidFill>
                  <a:srgbClr val="333333"/>
                </a:solidFill>
                <a:effectLst/>
              </a:rPr>
              <a:t> In Divide, first pick a pivot element. After that, partition or rearrange the array into two sub-arrays such that each element in the left sub-array is less than or equal to the pivot element and each element in the right sub-array is larger than the pivot element.</a:t>
            </a:r>
          </a:p>
          <a:p>
            <a:pPr algn="just"/>
            <a:endParaRPr lang="en-US" sz="2400" dirty="0">
              <a:solidFill>
                <a:srgbClr val="333333"/>
              </a:solidFill>
            </a:endParaRPr>
          </a:p>
          <a:p>
            <a:pPr algn="just">
              <a:buFont typeface="Wingdings" pitchFamily="2" charset="2"/>
              <a:buChar char="Ø"/>
            </a:pPr>
            <a:r>
              <a:rPr lang="en-US" sz="2400" dirty="0">
                <a:solidFill>
                  <a:srgbClr val="333333"/>
                </a:solidFill>
              </a:rPr>
              <a:t> </a:t>
            </a:r>
            <a:r>
              <a:rPr lang="en-US" sz="2400" b="0" i="0" dirty="0">
                <a:solidFill>
                  <a:srgbClr val="333333"/>
                </a:solidFill>
                <a:effectLst/>
              </a:rPr>
              <a:t>Conquer : Recursively, sort two subarrays with Quicksort.</a:t>
            </a:r>
          </a:p>
          <a:p>
            <a:pPr algn="just"/>
            <a:endParaRPr lang="en-US" sz="2400" dirty="0">
              <a:solidFill>
                <a:srgbClr val="333333"/>
              </a:solidFill>
            </a:endParaRPr>
          </a:p>
          <a:p>
            <a:pPr algn="just">
              <a:buFont typeface="Wingdings" pitchFamily="2" charset="2"/>
              <a:buChar char="Ø"/>
            </a:pPr>
            <a:r>
              <a:rPr lang="en-US" sz="2400" b="1" i="0" dirty="0">
                <a:solidFill>
                  <a:srgbClr val="333333"/>
                </a:solidFill>
                <a:effectLst/>
                <a:latin typeface="inter-bold"/>
              </a:rPr>
              <a:t>Combine:</a:t>
            </a:r>
            <a:r>
              <a:rPr lang="en-US" sz="2400" b="0" i="0" dirty="0">
                <a:solidFill>
                  <a:srgbClr val="333333"/>
                </a:solidFill>
                <a:effectLst/>
                <a:latin typeface="inter-regular"/>
              </a:rPr>
              <a:t> Combine the already sorted array.</a:t>
            </a:r>
            <a:endParaRPr lang="en-US" sz="2400" b="0" i="0" dirty="0">
              <a:solidFill>
                <a:srgbClr val="333333"/>
              </a:solidFill>
              <a:effectLst/>
            </a:endParaRPr>
          </a:p>
          <a:p>
            <a:pPr algn="just">
              <a:buFont typeface="Wingdings" pitchFamily="2" charset="2"/>
              <a:buChar char="Ø"/>
            </a:pPr>
            <a:endParaRPr lang="en-IN" sz="2400" dirty="0"/>
          </a:p>
          <a:p>
            <a:pPr algn="just"/>
            <a:r>
              <a:rPr lang="en-IN" sz="3200" dirty="0"/>
              <a:t>	</a:t>
            </a:r>
            <a:endParaRPr 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Quick Sort </a:t>
            </a:r>
          </a:p>
          <a:p>
            <a:r>
              <a:rPr lang="en-US" sz="2400" dirty="0"/>
              <a:t>			    INTRODUCTION CONT..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57317" y="1465781"/>
            <a:ext cx="11916696" cy="4031873"/>
          </a:xfrm>
          <a:prstGeom prst="rect">
            <a:avLst/>
          </a:prstGeom>
          <a:noFill/>
        </p:spPr>
        <p:txBody>
          <a:bodyPr wrap="square" rtlCol="0">
            <a:spAutoFit/>
          </a:bodyPr>
          <a:lstStyle/>
          <a:p>
            <a:pPr algn="just">
              <a:buFont typeface="Wingdings" pitchFamily="2" charset="2"/>
              <a:buChar char="Ø"/>
            </a:pPr>
            <a:r>
              <a:rPr lang="en-IN" sz="3200" dirty="0"/>
              <a:t> </a:t>
            </a:r>
            <a:r>
              <a:rPr lang="en-US" sz="2400" b="0" i="0" dirty="0">
                <a:solidFill>
                  <a:srgbClr val="333333"/>
                </a:solidFill>
                <a:effectLst/>
              </a:rPr>
              <a:t>Quicksort picks an element as pivot, and then it partitions the given array around the picked pivot element. In quick sort, a large array is divided into two arrays in which one holds values that are smaller than the specified value (Pivot), and another array holds the values that are greater than the pivot.</a:t>
            </a:r>
          </a:p>
          <a:p>
            <a:pPr algn="just"/>
            <a:endParaRPr lang="en-US" sz="2400" dirty="0">
              <a:solidFill>
                <a:srgbClr val="333333"/>
              </a:solidFill>
            </a:endParaRPr>
          </a:p>
          <a:p>
            <a:pPr algn="just">
              <a:buFont typeface="Wingdings" pitchFamily="2" charset="2"/>
              <a:buChar char="Ø"/>
            </a:pPr>
            <a:r>
              <a:rPr lang="en-US" sz="2400" dirty="0">
                <a:solidFill>
                  <a:srgbClr val="333333"/>
                </a:solidFill>
              </a:rPr>
              <a:t> </a:t>
            </a:r>
            <a:r>
              <a:rPr lang="en-US" sz="2400" b="0" i="0" dirty="0">
                <a:solidFill>
                  <a:srgbClr val="333333"/>
                </a:solidFill>
                <a:effectLst/>
              </a:rPr>
              <a:t>After that, left and right sub-arrays are also partitioned using the same approach. It will continue until the single element remains in the sub-array.</a:t>
            </a:r>
          </a:p>
          <a:p>
            <a:pPr algn="just"/>
            <a:endParaRPr lang="en-US" sz="2400" dirty="0">
              <a:solidFill>
                <a:srgbClr val="333333"/>
              </a:solidFill>
            </a:endParaRPr>
          </a:p>
          <a:p>
            <a:pPr algn="just"/>
            <a:endParaRPr lang="en-IN" sz="2400" dirty="0"/>
          </a:p>
          <a:p>
            <a:pPr algn="just"/>
            <a:r>
              <a:rPr lang="en-IN" sz="3200" dirty="0"/>
              <a:t>	</a:t>
            </a:r>
            <a:endParaRPr lang="en-US" sz="3200"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E6BE17C0-7DAC-CAA1-6B8E-021600EED9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35765" y="4222447"/>
            <a:ext cx="5075360" cy="2339543"/>
          </a:xfrm>
          <a:prstGeom prst="rect">
            <a:avLst/>
          </a:prstGeom>
        </p:spPr>
      </p:pic>
    </p:spTree>
    <p:extLst>
      <p:ext uri="{BB962C8B-B14F-4D97-AF65-F5344CB8AC3E}">
        <p14:creationId xmlns:p14="http://schemas.microsoft.com/office/powerpoint/2010/main" val="3487980527"/>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1" y="300038"/>
            <a:ext cx="7469580"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latin typeface="Times New Roman" pitchFamily="18" charset="0"/>
                <a:cs typeface="Times New Roman" pitchFamily="18" charset="0"/>
              </a:rPr>
              <a:t>Example of Quick sort </a:t>
            </a:r>
            <a:endParaRPr lang="en-US" sz="28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Content Placeholder 2">
            <a:extLst>
              <a:ext uri="{FF2B5EF4-FFF2-40B4-BE49-F238E27FC236}">
                <a16:creationId xmlns:a16="http://schemas.microsoft.com/office/drawing/2014/main" id="{16BC044C-008B-8C73-CE6C-4C8135FC5C08}"/>
              </a:ext>
            </a:extLst>
          </p:cNvPr>
          <p:cNvSpPr>
            <a:spLocks noGrp="1"/>
          </p:cNvSpPr>
          <p:nvPr>
            <p:ph idx="1"/>
          </p:nvPr>
        </p:nvSpPr>
        <p:spPr>
          <a:xfrm>
            <a:off x="609600" y="1170039"/>
            <a:ext cx="10744200" cy="2819720"/>
          </a:xfrm>
        </p:spPr>
        <p:txBody>
          <a:bodyPr/>
          <a:lstStyle/>
          <a:p>
            <a:r>
              <a:rPr lang="en-US" b="0" i="0" dirty="0">
                <a:solidFill>
                  <a:srgbClr val="610B38"/>
                </a:solidFill>
                <a:effectLst/>
                <a:latin typeface="erdana"/>
              </a:rPr>
              <a:t>Working of Quick Sort Algorithm</a:t>
            </a:r>
          </a:p>
          <a:p>
            <a:pPr algn="just"/>
            <a:r>
              <a:rPr lang="en-US" b="0" i="0" dirty="0">
                <a:solidFill>
                  <a:srgbClr val="333333"/>
                </a:solidFill>
                <a:effectLst/>
                <a:latin typeface="inter-regular"/>
              </a:rPr>
              <a:t>Now, let's see the working of the Quicksort Algorithm.</a:t>
            </a:r>
          </a:p>
          <a:p>
            <a:pPr algn="just"/>
            <a:r>
              <a:rPr lang="en-US" b="0" i="0" dirty="0">
                <a:solidFill>
                  <a:srgbClr val="333333"/>
                </a:solidFill>
                <a:effectLst/>
                <a:latin typeface="inter-regular"/>
              </a:rPr>
              <a:t>To understand the working of quick sort, let's take an unsorted array. It will make the concept more clear and understandable.</a:t>
            </a:r>
          </a:p>
          <a:p>
            <a:pPr algn="just"/>
            <a:r>
              <a:rPr lang="en-US" b="0" i="0" dirty="0">
                <a:solidFill>
                  <a:srgbClr val="333333"/>
                </a:solidFill>
                <a:effectLst/>
                <a:latin typeface="inter-regular"/>
              </a:rPr>
              <a:t>Let the elements of array are -</a:t>
            </a:r>
          </a:p>
          <a:p>
            <a:pPr marL="0" indent="0">
              <a:buNone/>
            </a:pPr>
            <a:endParaRPr lang="en-IN" dirty="0"/>
          </a:p>
        </p:txBody>
      </p:sp>
      <p:pic>
        <p:nvPicPr>
          <p:cNvPr id="3076" name="Picture 4" descr="Quick Sort Algorithm">
            <a:extLst>
              <a:ext uri="{FF2B5EF4-FFF2-40B4-BE49-F238E27FC236}">
                <a16:creationId xmlns:a16="http://schemas.microsoft.com/office/drawing/2014/main" id="{FFC115E5-C3F1-7DB8-3DBF-79451825F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848" y="3928307"/>
            <a:ext cx="7855667" cy="1448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Quick sort Example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713BFCE9-D12C-E82E-5845-D5A64F08AA86}"/>
              </a:ext>
            </a:extLst>
          </p:cNvPr>
          <p:cNvSpPr txBox="1"/>
          <p:nvPr/>
        </p:nvSpPr>
        <p:spPr>
          <a:xfrm>
            <a:off x="383459" y="938584"/>
            <a:ext cx="11543070" cy="2308324"/>
          </a:xfrm>
          <a:prstGeom prst="rect">
            <a:avLst/>
          </a:prstGeom>
          <a:noFill/>
        </p:spPr>
        <p:txBody>
          <a:bodyPr wrap="square">
            <a:spAutoFit/>
          </a:bodyPr>
          <a:lstStyle/>
          <a:p>
            <a:pPr algn="just"/>
            <a:r>
              <a:rPr lang="en-US" sz="2400" b="0" i="0" dirty="0">
                <a:solidFill>
                  <a:srgbClr val="333333"/>
                </a:solidFill>
                <a:effectLst/>
              </a:rPr>
              <a:t>In the given array, we consider the leftmost element as pivot. So, in this case, a[left] = 24, a[right] = 27</a:t>
            </a:r>
          </a:p>
          <a:p>
            <a:pPr algn="just"/>
            <a:endParaRPr lang="en-US" sz="2400" dirty="0">
              <a:solidFill>
                <a:srgbClr val="333333"/>
              </a:solidFill>
            </a:endParaRPr>
          </a:p>
          <a:p>
            <a:pPr algn="just"/>
            <a:r>
              <a:rPr lang="en-US" sz="2400" b="0" i="0" dirty="0">
                <a:solidFill>
                  <a:srgbClr val="333333"/>
                </a:solidFill>
                <a:effectLst/>
              </a:rPr>
              <a:t> </a:t>
            </a:r>
          </a:p>
          <a:p>
            <a:pPr algn="just"/>
            <a:r>
              <a:rPr lang="en-US" sz="2400" b="0" i="0" dirty="0">
                <a:solidFill>
                  <a:srgbClr val="333333"/>
                </a:solidFill>
                <a:effectLst/>
              </a:rPr>
              <a:t>and a[pivot] = 24.  Since, pivot is at left, so algorithm starts from right and move towards left.</a:t>
            </a:r>
          </a:p>
        </p:txBody>
      </p:sp>
      <p:pic>
        <p:nvPicPr>
          <p:cNvPr id="4098" name="Picture 2" descr="Quick Sort Algorithm">
            <a:extLst>
              <a:ext uri="{FF2B5EF4-FFF2-40B4-BE49-F238E27FC236}">
                <a16:creationId xmlns:a16="http://schemas.microsoft.com/office/drawing/2014/main" id="{2D56C6B2-22B9-E68E-85D3-3F28E0615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993" y="2789978"/>
            <a:ext cx="5864941" cy="3064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173215"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Quick sort Example</a:t>
            </a:r>
            <a:r>
              <a:rPr lang="en-US" sz="2400" dirty="0"/>
              <a:t>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7CE72443-F5CF-36AB-C439-23620F627A27}"/>
              </a:ext>
            </a:extLst>
          </p:cNvPr>
          <p:cNvSpPr txBox="1"/>
          <p:nvPr/>
        </p:nvSpPr>
        <p:spPr>
          <a:xfrm>
            <a:off x="629265" y="1177779"/>
            <a:ext cx="11297264" cy="1661993"/>
          </a:xfrm>
          <a:prstGeom prst="rect">
            <a:avLst/>
          </a:prstGeom>
          <a:noFill/>
        </p:spPr>
        <p:txBody>
          <a:bodyPr wrap="square">
            <a:spAutoFit/>
          </a:bodyPr>
          <a:lstStyle/>
          <a:p>
            <a:pPr algn="just"/>
            <a:r>
              <a:rPr lang="en-US" sz="2800" b="0" i="0" dirty="0">
                <a:solidFill>
                  <a:srgbClr val="333333"/>
                </a:solidFill>
                <a:effectLst/>
              </a:rPr>
              <a:t>Now, a[pivot] &lt; a[right], so algorithm moves forward one position towards left, i.e. -</a:t>
            </a:r>
          </a:p>
          <a:p>
            <a:pPr algn="just"/>
            <a:endParaRPr lang="en-US" sz="2800" dirty="0">
              <a:solidFill>
                <a:srgbClr val="333333"/>
              </a:solidFill>
            </a:endParaRPr>
          </a:p>
          <a:p>
            <a:pPr algn="just"/>
            <a:r>
              <a:rPr lang="en-US" sz="1800" b="0" i="0" dirty="0">
                <a:solidFill>
                  <a:srgbClr val="333333"/>
                </a:solidFill>
                <a:effectLst/>
              </a:rPr>
              <a:t> </a:t>
            </a:r>
          </a:p>
        </p:txBody>
      </p:sp>
      <p:pic>
        <p:nvPicPr>
          <p:cNvPr id="5124" name="Picture 4" descr="Quick Sort Algorithm">
            <a:extLst>
              <a:ext uri="{FF2B5EF4-FFF2-40B4-BE49-F238E27FC236}">
                <a16:creationId xmlns:a16="http://schemas.microsoft.com/office/drawing/2014/main" id="{6CEC136A-06BE-BEB6-EF0A-58B079747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4949" y="2204559"/>
            <a:ext cx="7381567" cy="385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Quick sort Example                            </a:t>
            </a:r>
            <a:r>
              <a:rPr lang="en-US" sz="2400" dirty="0"/>
              <a:t>(Cont..)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56259" y="1320731"/>
            <a:ext cx="11542815" cy="1877437"/>
          </a:xfrm>
          <a:prstGeom prst="rect">
            <a:avLst/>
          </a:prstGeom>
        </p:spPr>
        <p:txBody>
          <a:bodyPr wrap="square">
            <a:spAutoFit/>
          </a:bodyPr>
          <a:lstStyle/>
          <a:p>
            <a:pPr algn="just"/>
            <a:r>
              <a:rPr lang="en-US" sz="2400" b="0" i="0" dirty="0">
                <a:solidFill>
                  <a:srgbClr val="333333"/>
                </a:solidFill>
                <a:effectLst/>
              </a:rPr>
              <a:t>Now, a[left] = 24, a[right] = 19, and a[pivot] = 24.</a:t>
            </a:r>
          </a:p>
          <a:p>
            <a:pPr algn="just"/>
            <a:r>
              <a:rPr lang="en-US" sz="2400" b="0" i="0" dirty="0">
                <a:solidFill>
                  <a:srgbClr val="333333"/>
                </a:solidFill>
                <a:effectLst/>
              </a:rPr>
              <a:t>Because, a[pivot] &gt; a[right], so, algorithm will swap a[pivot] with a[right], </a:t>
            </a:r>
          </a:p>
          <a:p>
            <a:pPr algn="just"/>
            <a:r>
              <a:rPr lang="en-US" sz="2400" b="0" i="0" dirty="0">
                <a:solidFill>
                  <a:srgbClr val="333333"/>
                </a:solidFill>
                <a:effectLst/>
              </a:rPr>
              <a:t>and pivot moves to right, as -</a:t>
            </a:r>
          </a:p>
          <a:p>
            <a:endParaRPr lang="en-IN" sz="2400" b="1" dirty="0"/>
          </a:p>
          <a:p>
            <a:endParaRPr lang="en-IN" sz="2000" dirty="0"/>
          </a:p>
        </p:txBody>
      </p:sp>
      <p:pic>
        <p:nvPicPr>
          <p:cNvPr id="6146" name="Picture 2" descr="Quick Sort Algorithm">
            <a:extLst>
              <a:ext uri="{FF2B5EF4-FFF2-40B4-BE49-F238E27FC236}">
                <a16:creationId xmlns:a16="http://schemas.microsoft.com/office/drawing/2014/main" id="{FC133847-4783-D06E-02CA-1F19ECE7D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165" y="2871073"/>
            <a:ext cx="5994279" cy="3139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5367F26A-9FA9-A12F-DD86-FB78668FD33E}"/>
              </a:ext>
            </a:extLst>
          </p:cNvPr>
          <p:cNvSpPr txBox="1"/>
          <p:nvPr/>
        </p:nvSpPr>
        <p:spPr>
          <a:xfrm>
            <a:off x="324465" y="825910"/>
            <a:ext cx="11375922" cy="1569660"/>
          </a:xfrm>
          <a:prstGeom prst="rect">
            <a:avLst/>
          </a:prstGeom>
          <a:noFill/>
        </p:spPr>
        <p:txBody>
          <a:bodyPr wrap="square">
            <a:spAutoFit/>
          </a:bodyPr>
          <a:lstStyle/>
          <a:p>
            <a:r>
              <a:rPr lang="en-US" sz="2400" b="0" i="0" dirty="0">
                <a:solidFill>
                  <a:srgbClr val="333333"/>
                </a:solidFill>
                <a:effectLst/>
              </a:rPr>
              <a:t>Now, a[left] = 19, a[right] = 24, and a[pivot] = 24. Since, pivot is at right, so algorithm starts from left and moves to right.</a:t>
            </a:r>
          </a:p>
          <a:p>
            <a:endParaRPr lang="en-US" sz="2400" dirty="0">
              <a:solidFill>
                <a:srgbClr val="333333"/>
              </a:solidFill>
            </a:endParaRPr>
          </a:p>
          <a:p>
            <a:r>
              <a:rPr lang="en-US" sz="2400" b="0" i="0" dirty="0">
                <a:solidFill>
                  <a:srgbClr val="333333"/>
                </a:solidFill>
                <a:effectLst/>
                <a:latin typeface="inter-regular"/>
              </a:rPr>
              <a:t>As a[pivot] &gt; a[left], so algorithm moves one position to right as -</a:t>
            </a:r>
            <a:endParaRPr lang="en-IN" sz="2400" dirty="0"/>
          </a:p>
        </p:txBody>
      </p:sp>
      <p:pic>
        <p:nvPicPr>
          <p:cNvPr id="7170" name="Picture 2" descr="Quick Sort Algorithm">
            <a:extLst>
              <a:ext uri="{FF2B5EF4-FFF2-40B4-BE49-F238E27FC236}">
                <a16:creationId xmlns:a16="http://schemas.microsoft.com/office/drawing/2014/main" id="{95DAC3C1-007D-84FA-ABD4-CA369004B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620" y="2997664"/>
            <a:ext cx="6228121" cy="3262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461665"/>
          </a:xfrm>
          <a:prstGeom prst="rect">
            <a:avLst/>
          </a:prstGeom>
          <a:noFill/>
        </p:spPr>
        <p:txBody>
          <a:bodyPr wrap="square">
            <a:spAutoFit/>
          </a:bodyPr>
          <a:lstStyle/>
          <a:p>
            <a:r>
              <a:rPr lang="en-US" b="0" i="0" dirty="0">
                <a:solidFill>
                  <a:srgbClr val="333333"/>
                </a:solidFill>
                <a:effectLst/>
                <a:latin typeface="inter-regular"/>
              </a:rPr>
              <a:t>Now, a[left] = 9, a[right] = 24, </a:t>
            </a:r>
            <a:r>
              <a:rPr lang="en-US" sz="2400" b="0" i="0" dirty="0">
                <a:solidFill>
                  <a:srgbClr val="333333"/>
                </a:solidFill>
                <a:effectLst/>
              </a:rPr>
              <a:t>and</a:t>
            </a:r>
            <a:r>
              <a:rPr lang="en-US" b="0" i="0" dirty="0">
                <a:solidFill>
                  <a:srgbClr val="333333"/>
                </a:solidFill>
                <a:effectLst/>
                <a:latin typeface="inter-regular"/>
              </a:rPr>
              <a:t> a[pivot] = 24. As a[pivot] &gt; a[left], so algorithm moves one position to right as -</a:t>
            </a:r>
            <a:endParaRPr lang="en-IN" dirty="0"/>
          </a:p>
        </p:txBody>
      </p:sp>
      <p:pic>
        <p:nvPicPr>
          <p:cNvPr id="8194" name="Picture 2" descr="Quick Sort Algorithm">
            <a:extLst>
              <a:ext uri="{FF2B5EF4-FFF2-40B4-BE49-F238E27FC236}">
                <a16:creationId xmlns:a16="http://schemas.microsoft.com/office/drawing/2014/main" id="{4982475B-15B3-5B2B-8747-443E6AD75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2313" y="1453171"/>
            <a:ext cx="5052552" cy="26465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7D408C6-2C90-56A9-75D8-A2FF3914C0EE}"/>
              </a:ext>
            </a:extLst>
          </p:cNvPr>
          <p:cNvSpPr txBox="1"/>
          <p:nvPr/>
        </p:nvSpPr>
        <p:spPr>
          <a:xfrm>
            <a:off x="344129" y="4336026"/>
            <a:ext cx="11749547" cy="830997"/>
          </a:xfrm>
          <a:prstGeom prst="rect">
            <a:avLst/>
          </a:prstGeom>
          <a:noFill/>
        </p:spPr>
        <p:txBody>
          <a:bodyPr wrap="square">
            <a:spAutoFit/>
          </a:bodyPr>
          <a:lstStyle/>
          <a:p>
            <a:r>
              <a:rPr lang="en-US" sz="2400" b="0" i="0" dirty="0">
                <a:solidFill>
                  <a:srgbClr val="333333"/>
                </a:solidFill>
                <a:effectLst/>
              </a:rPr>
              <a:t>Now, a[left] = 29, a[right] = 24, and a[pivot] = 24. As a[pivot] &lt; a[left], so, swap a[pivot] and a[left], now pivot is at left, i.e. -</a:t>
            </a:r>
            <a:endParaRPr lang="en-IN" sz="2400" dirty="0"/>
          </a:p>
        </p:txBody>
      </p:sp>
      <p:pic>
        <p:nvPicPr>
          <p:cNvPr id="8196" name="Picture 4" descr="Quick Sort Algorithm">
            <a:extLst>
              <a:ext uri="{FF2B5EF4-FFF2-40B4-BE49-F238E27FC236}">
                <a16:creationId xmlns:a16="http://schemas.microsoft.com/office/drawing/2014/main" id="{9AE12B92-0EF0-ADB6-8AA1-EE690FE389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0512" y="4789539"/>
            <a:ext cx="4000500" cy="209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89061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200329"/>
          </a:xfrm>
          <a:prstGeom prst="rect">
            <a:avLst/>
          </a:prstGeom>
          <a:noFill/>
        </p:spPr>
        <p:txBody>
          <a:bodyPr wrap="square">
            <a:spAutoFit/>
          </a:bodyPr>
          <a:lstStyle/>
          <a:p>
            <a:r>
              <a:rPr lang="en-US" sz="2400" b="0" i="0" dirty="0">
                <a:solidFill>
                  <a:srgbClr val="333333"/>
                </a:solidFill>
                <a:effectLst/>
              </a:rPr>
              <a:t>Since, pivot is at left, so algorithm starts from right, and move to left. Now, a[left] = 24, a[right] = 29, and a[pivot] = 24. As a[pivot] &lt; a[right], so algorithm moves one position to left, as -</a:t>
            </a:r>
            <a:endParaRPr lang="en-IN" sz="2400" dirty="0"/>
          </a:p>
        </p:txBody>
      </p:sp>
      <p:pic>
        <p:nvPicPr>
          <p:cNvPr id="9218" name="Picture 2" descr="Quick Sort Algorithm">
            <a:extLst>
              <a:ext uri="{FF2B5EF4-FFF2-40B4-BE49-F238E27FC236}">
                <a16:creationId xmlns:a16="http://schemas.microsoft.com/office/drawing/2014/main" id="{D3557546-9C01-F8C4-426C-9623A37C9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3265" y="2381250"/>
            <a:ext cx="7098890" cy="3718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15461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569660"/>
          </a:xfrm>
          <a:prstGeom prst="rect">
            <a:avLst/>
          </a:prstGeom>
          <a:noFill/>
        </p:spPr>
        <p:txBody>
          <a:bodyPr wrap="square">
            <a:spAutoFit/>
          </a:bodyPr>
          <a:lstStyle/>
          <a:p>
            <a:pPr algn="just"/>
            <a:r>
              <a:rPr lang="en-US" sz="2400" b="0" i="0" dirty="0">
                <a:solidFill>
                  <a:srgbClr val="333333"/>
                </a:solidFill>
                <a:effectLst/>
              </a:rPr>
              <a:t>Now, a[pivot] = 24, a[left] = 24, and a[right] = 14. As a[pivot] &gt; a[right], so, swap a[pivot] and a[right], now pivot is at right, i.e. -</a:t>
            </a:r>
          </a:p>
          <a:p>
            <a:br>
              <a:rPr lang="en-US" sz="2400" dirty="0"/>
            </a:br>
            <a:endParaRPr lang="en-IN" sz="2400" dirty="0"/>
          </a:p>
        </p:txBody>
      </p:sp>
      <p:pic>
        <p:nvPicPr>
          <p:cNvPr id="10242" name="Picture 2" descr="Quick Sort Algorithm">
            <a:extLst>
              <a:ext uri="{FF2B5EF4-FFF2-40B4-BE49-F238E27FC236}">
                <a16:creationId xmlns:a16="http://schemas.microsoft.com/office/drawing/2014/main" id="{37BA636B-6A0B-EBC3-B915-06D146BA5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8194" y="1713973"/>
            <a:ext cx="8091948" cy="4238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1277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200329"/>
          </a:xfrm>
          <a:prstGeom prst="rect">
            <a:avLst/>
          </a:prstGeom>
          <a:noFill/>
        </p:spPr>
        <p:txBody>
          <a:bodyPr wrap="square">
            <a:spAutoFit/>
          </a:bodyPr>
          <a:lstStyle/>
          <a:p>
            <a:r>
              <a:rPr lang="en-US" sz="2400" b="0" i="0" dirty="0">
                <a:solidFill>
                  <a:srgbClr val="333333"/>
                </a:solidFill>
                <a:effectLst/>
                <a:latin typeface="inter-regular"/>
              </a:rPr>
              <a:t>Now, a[pivot] = 24, a[left] = 14, and a[right] = 24. Pivot is at right, so the algorithm starts from left and move to right.</a:t>
            </a:r>
            <a:br>
              <a:rPr lang="en-US" sz="2400" dirty="0"/>
            </a:br>
            <a:endParaRPr lang="en-IN" sz="2400" dirty="0"/>
          </a:p>
        </p:txBody>
      </p:sp>
      <p:pic>
        <p:nvPicPr>
          <p:cNvPr id="11266" name="Picture 2" descr="Quick Sort Algorithm">
            <a:extLst>
              <a:ext uri="{FF2B5EF4-FFF2-40B4-BE49-F238E27FC236}">
                <a16:creationId xmlns:a16="http://schemas.microsoft.com/office/drawing/2014/main" id="{89408AF0-DEAA-30A0-763F-BB529DED7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25" y="1649935"/>
            <a:ext cx="6956630" cy="3643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5862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3785652"/>
          </a:xfrm>
          <a:prstGeom prst="rect">
            <a:avLst/>
          </a:prstGeom>
          <a:noFill/>
        </p:spPr>
        <p:txBody>
          <a:bodyPr wrap="square">
            <a:spAutoFit/>
          </a:bodyPr>
          <a:lstStyle/>
          <a:p>
            <a:pPr algn="just"/>
            <a:r>
              <a:rPr lang="en-US" sz="2400" b="0" i="0" dirty="0">
                <a:solidFill>
                  <a:srgbClr val="333333"/>
                </a:solidFill>
                <a:effectLst/>
                <a:latin typeface="inter-regular"/>
              </a:rPr>
              <a:t>Now, a[pivot] = 24, a[left] = 24, and a[right] = 24. So, pivot, left and right are pointing the same element. It represents the termination of procedure.</a:t>
            </a: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Element 24, which is the pivot element is placed at its exact position.</a:t>
            </a:r>
          </a:p>
          <a:p>
            <a:pPr algn="just"/>
            <a:endParaRPr lang="en-US" sz="2400" b="0" i="0" dirty="0">
              <a:solidFill>
                <a:srgbClr val="333333"/>
              </a:solidFill>
              <a:effectLst/>
              <a:latin typeface="inter-regular"/>
            </a:endParaRPr>
          </a:p>
          <a:p>
            <a:pPr algn="just"/>
            <a:r>
              <a:rPr lang="en-US" sz="2400" b="0" i="0" dirty="0">
                <a:solidFill>
                  <a:srgbClr val="333333"/>
                </a:solidFill>
                <a:effectLst/>
                <a:latin typeface="inter-regular"/>
              </a:rPr>
              <a:t>Elements that are right side of element 24 are greater than it, and the elements that are left side of element 24 are smaller than it.</a:t>
            </a:r>
          </a:p>
          <a:p>
            <a:br>
              <a:rPr lang="en-US" sz="2400" dirty="0"/>
            </a:br>
            <a:endParaRPr lang="en-US" sz="2400" b="0" i="0" dirty="0">
              <a:solidFill>
                <a:srgbClr val="333333"/>
              </a:solidFill>
              <a:effectLst/>
              <a:latin typeface="inter-regular"/>
            </a:endParaRPr>
          </a:p>
          <a:p>
            <a:endParaRPr lang="en-IN" sz="2400" dirty="0"/>
          </a:p>
        </p:txBody>
      </p:sp>
      <p:pic>
        <p:nvPicPr>
          <p:cNvPr id="12290" name="Picture 2" descr="Quick Sort Algorithm">
            <a:extLst>
              <a:ext uri="{FF2B5EF4-FFF2-40B4-BE49-F238E27FC236}">
                <a16:creationId xmlns:a16="http://schemas.microsoft.com/office/drawing/2014/main" id="{E4749FB6-30E2-6EB9-F6C3-37EE931DB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79" y="4010743"/>
            <a:ext cx="6886882" cy="2082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2989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4" name="TextBox 3">
            <a:extLst>
              <a:ext uri="{FF2B5EF4-FFF2-40B4-BE49-F238E27FC236}">
                <a16:creationId xmlns:a16="http://schemas.microsoft.com/office/drawing/2014/main" id="{4D057408-1A93-37D0-3DDD-A9E6ABF78C6D}"/>
              </a:ext>
            </a:extLst>
          </p:cNvPr>
          <p:cNvSpPr txBox="1"/>
          <p:nvPr/>
        </p:nvSpPr>
        <p:spPr>
          <a:xfrm>
            <a:off x="673509" y="836356"/>
            <a:ext cx="11090786" cy="1200329"/>
          </a:xfrm>
          <a:prstGeom prst="rect">
            <a:avLst/>
          </a:prstGeom>
          <a:noFill/>
        </p:spPr>
        <p:txBody>
          <a:bodyPr wrap="square">
            <a:spAutoFit/>
          </a:bodyPr>
          <a:lstStyle/>
          <a:p>
            <a:pPr algn="just"/>
            <a:r>
              <a:rPr lang="en-US" sz="2400" b="0" i="0" dirty="0">
                <a:solidFill>
                  <a:srgbClr val="333333"/>
                </a:solidFill>
                <a:effectLst/>
                <a:latin typeface="inter-regular"/>
              </a:rPr>
              <a:t>Now, in a similar manner, quick sort algorithm is separately applied to the left and right sub-arrays. After sorting gets done, the array will be -</a:t>
            </a:r>
          </a:p>
          <a:p>
            <a:endParaRPr lang="en-IN" sz="2400" dirty="0"/>
          </a:p>
        </p:txBody>
      </p:sp>
      <p:pic>
        <p:nvPicPr>
          <p:cNvPr id="13314" name="Picture 2" descr="Quick Sort Algorithm">
            <a:extLst>
              <a:ext uri="{FF2B5EF4-FFF2-40B4-BE49-F238E27FC236}">
                <a16:creationId xmlns:a16="http://schemas.microsoft.com/office/drawing/2014/main" id="{2CEF81CE-B874-2840-2686-D8C717927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879" y="2477729"/>
            <a:ext cx="9545159" cy="1704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4609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Implementation of Quick sort</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TextBox 6">
            <a:extLst>
              <a:ext uri="{FF2B5EF4-FFF2-40B4-BE49-F238E27FC236}">
                <a16:creationId xmlns:a16="http://schemas.microsoft.com/office/drawing/2014/main" id="{67F6E088-BBD8-3906-AC90-71E0E6A0BD76}"/>
              </a:ext>
            </a:extLst>
          </p:cNvPr>
          <p:cNvSpPr txBox="1"/>
          <p:nvPr/>
        </p:nvSpPr>
        <p:spPr>
          <a:xfrm>
            <a:off x="422787" y="954757"/>
            <a:ext cx="5673213" cy="5632311"/>
          </a:xfrm>
          <a:prstGeom prst="rect">
            <a:avLst/>
          </a:prstGeom>
          <a:noFill/>
        </p:spPr>
        <p:txBody>
          <a:bodyPr wrap="square">
            <a:spAutoFit/>
          </a:bodyPr>
          <a:lstStyle/>
          <a:p>
            <a:r>
              <a:rPr lang="en-IN" dirty="0"/>
              <a:t>#include &lt;</a:t>
            </a:r>
            <a:r>
              <a:rPr lang="en-IN" dirty="0" err="1"/>
              <a:t>stdio.h</a:t>
            </a:r>
            <a:r>
              <a:rPr lang="en-IN" dirty="0"/>
              <a:t>&gt;  </a:t>
            </a:r>
          </a:p>
          <a:p>
            <a:r>
              <a:rPr lang="en-IN" dirty="0"/>
              <a:t>/* function that consider last element as pivot,  </a:t>
            </a:r>
          </a:p>
          <a:p>
            <a:r>
              <a:rPr lang="en-IN" dirty="0"/>
              <a:t>place the pivot at its exact position, and place  </a:t>
            </a:r>
          </a:p>
          <a:p>
            <a:r>
              <a:rPr lang="en-IN" dirty="0"/>
              <a:t>smaller elements to left of pivot and greater  </a:t>
            </a:r>
          </a:p>
          <a:p>
            <a:r>
              <a:rPr lang="en-IN" dirty="0"/>
              <a:t>elements to right of pivot.  */  </a:t>
            </a:r>
          </a:p>
          <a:p>
            <a:r>
              <a:rPr lang="en-IN" dirty="0"/>
              <a:t>int partition (int a[], int start, int end)  </a:t>
            </a:r>
          </a:p>
          <a:p>
            <a:r>
              <a:rPr lang="en-IN" dirty="0"/>
              <a:t>{  </a:t>
            </a:r>
          </a:p>
          <a:p>
            <a:r>
              <a:rPr lang="en-IN" dirty="0"/>
              <a:t>    int pivot = a[end]; // pivot element  </a:t>
            </a:r>
          </a:p>
          <a:p>
            <a:r>
              <a:rPr lang="en-IN" dirty="0"/>
              <a:t>    int </a:t>
            </a:r>
            <a:r>
              <a:rPr lang="en-IN" dirty="0" err="1"/>
              <a:t>i</a:t>
            </a:r>
            <a:r>
              <a:rPr lang="en-IN" dirty="0"/>
              <a:t> = (start - 1);  </a:t>
            </a:r>
          </a:p>
          <a:p>
            <a:r>
              <a:rPr lang="en-IN" dirty="0"/>
              <a:t> </a:t>
            </a:r>
            <a:r>
              <a:rPr lang="en-US" dirty="0"/>
              <a:t>for (int j = start; j &lt;= end - 1; </a:t>
            </a:r>
            <a:r>
              <a:rPr lang="en-US" dirty="0" err="1"/>
              <a:t>j++</a:t>
            </a:r>
            <a:r>
              <a:rPr lang="en-US" dirty="0"/>
              <a:t>)  </a:t>
            </a:r>
          </a:p>
          <a:p>
            <a:r>
              <a:rPr lang="en-US" dirty="0"/>
              <a:t>    {  </a:t>
            </a:r>
          </a:p>
          <a:p>
            <a:r>
              <a:rPr lang="en-US" dirty="0"/>
              <a:t>        // If current element is smaller than the pivot  </a:t>
            </a:r>
          </a:p>
          <a:p>
            <a:r>
              <a:rPr lang="en-US" dirty="0"/>
              <a:t>        if (a[j] &lt; pivot)  </a:t>
            </a:r>
          </a:p>
          <a:p>
            <a:r>
              <a:rPr lang="en-US" dirty="0"/>
              <a:t>        {  </a:t>
            </a:r>
          </a:p>
          <a:p>
            <a:r>
              <a:rPr lang="en-US" dirty="0"/>
              <a:t>            </a:t>
            </a:r>
            <a:r>
              <a:rPr lang="en-US" dirty="0" err="1"/>
              <a:t>i</a:t>
            </a:r>
            <a:r>
              <a:rPr lang="en-US" dirty="0"/>
              <a:t>++; // increment index of smaller element  </a:t>
            </a:r>
          </a:p>
          <a:p>
            <a:r>
              <a:rPr lang="en-US" dirty="0"/>
              <a:t>            int t = a[</a:t>
            </a:r>
            <a:r>
              <a:rPr lang="en-US" dirty="0" err="1"/>
              <a:t>i</a:t>
            </a:r>
            <a:r>
              <a:rPr lang="en-US" dirty="0"/>
              <a:t>];  </a:t>
            </a:r>
          </a:p>
          <a:p>
            <a:r>
              <a:rPr lang="en-US" dirty="0"/>
              <a:t>            a[</a:t>
            </a:r>
            <a:r>
              <a:rPr lang="en-US" dirty="0" err="1"/>
              <a:t>i</a:t>
            </a:r>
            <a:r>
              <a:rPr lang="en-US" dirty="0"/>
              <a:t>] = a[j];  </a:t>
            </a:r>
          </a:p>
          <a:p>
            <a:r>
              <a:rPr lang="en-US" dirty="0"/>
              <a:t>            a[j] = t;  </a:t>
            </a:r>
          </a:p>
          <a:p>
            <a:r>
              <a:rPr lang="en-US" dirty="0"/>
              <a:t>        }  </a:t>
            </a:r>
          </a:p>
          <a:p>
            <a:r>
              <a:rPr lang="en-US" dirty="0"/>
              <a:t>    } </a:t>
            </a:r>
            <a:endParaRPr lang="en-IN" dirty="0"/>
          </a:p>
        </p:txBody>
      </p:sp>
      <p:sp>
        <p:nvSpPr>
          <p:cNvPr id="2" name="TextBox 1">
            <a:extLst>
              <a:ext uri="{FF2B5EF4-FFF2-40B4-BE49-F238E27FC236}">
                <a16:creationId xmlns:a16="http://schemas.microsoft.com/office/drawing/2014/main" id="{465B641F-0F19-8596-71C7-B0D4BD3FE2BE}"/>
              </a:ext>
            </a:extLst>
          </p:cNvPr>
          <p:cNvSpPr txBox="1"/>
          <p:nvPr/>
        </p:nvSpPr>
        <p:spPr>
          <a:xfrm>
            <a:off x="5673213" y="1032691"/>
            <a:ext cx="6096000" cy="5078313"/>
          </a:xfrm>
          <a:prstGeom prst="rect">
            <a:avLst/>
          </a:prstGeom>
          <a:noFill/>
        </p:spPr>
        <p:txBody>
          <a:bodyPr wrap="square">
            <a:spAutoFit/>
          </a:bodyPr>
          <a:lstStyle/>
          <a:p>
            <a:r>
              <a:rPr lang="en-IN" dirty="0"/>
              <a:t>int t = a[i+1];  </a:t>
            </a:r>
          </a:p>
          <a:p>
            <a:r>
              <a:rPr lang="en-IN" dirty="0"/>
              <a:t>    a[i+1] = a[end];  </a:t>
            </a:r>
          </a:p>
          <a:p>
            <a:r>
              <a:rPr lang="en-IN" dirty="0"/>
              <a:t>    a[end] = t;  </a:t>
            </a:r>
          </a:p>
          <a:p>
            <a:r>
              <a:rPr lang="en-IN" dirty="0"/>
              <a:t>    return (</a:t>
            </a:r>
            <a:r>
              <a:rPr lang="en-IN" dirty="0" err="1"/>
              <a:t>i</a:t>
            </a:r>
            <a:r>
              <a:rPr lang="en-IN" dirty="0"/>
              <a:t> + 1);  </a:t>
            </a:r>
          </a:p>
          <a:p>
            <a:r>
              <a:rPr lang="en-IN" dirty="0"/>
              <a:t>}  </a:t>
            </a:r>
          </a:p>
          <a:p>
            <a:r>
              <a:rPr lang="en-IN" dirty="0"/>
              <a:t>  </a:t>
            </a:r>
          </a:p>
          <a:p>
            <a:r>
              <a:rPr lang="en-IN" dirty="0"/>
              <a:t>/* function to implement quick sort */  </a:t>
            </a:r>
          </a:p>
          <a:p>
            <a:r>
              <a:rPr lang="en-IN" dirty="0"/>
              <a:t>void quick(int a[], int start, int end) /* a[] = array to be sorted, start = Starting index, end = Ending index */  </a:t>
            </a:r>
          </a:p>
          <a:p>
            <a:r>
              <a:rPr lang="en-IN" dirty="0"/>
              <a:t>{  </a:t>
            </a:r>
          </a:p>
          <a:p>
            <a:r>
              <a:rPr lang="en-IN" dirty="0"/>
              <a:t>    if (start &lt; end)  </a:t>
            </a:r>
          </a:p>
          <a:p>
            <a:r>
              <a:rPr lang="en-IN" dirty="0"/>
              <a:t>    {  </a:t>
            </a:r>
          </a:p>
          <a:p>
            <a:r>
              <a:rPr lang="en-IN" dirty="0"/>
              <a:t>        int p = partition(a, start, end); //p is the partitioning index  </a:t>
            </a:r>
          </a:p>
          <a:p>
            <a:r>
              <a:rPr lang="en-IN" dirty="0"/>
              <a:t>        quick(a, start, p - 1);  </a:t>
            </a:r>
          </a:p>
          <a:p>
            <a:r>
              <a:rPr lang="en-IN" dirty="0"/>
              <a:t>        quick(a, p + 1, end);  </a:t>
            </a:r>
          </a:p>
          <a:p>
            <a:r>
              <a:rPr lang="en-IN" dirty="0"/>
              <a:t>    }  </a:t>
            </a:r>
          </a:p>
          <a:p>
            <a:r>
              <a:rPr lang="en-IN" dirty="0"/>
              <a:t>}  </a:t>
            </a:r>
          </a:p>
          <a:p>
            <a:r>
              <a:rPr lang="en-IN" dirty="0"/>
              <a:t> </a:t>
            </a:r>
          </a:p>
        </p:txBody>
      </p:sp>
    </p:spTree>
    <p:extLst>
      <p:ext uri="{BB962C8B-B14F-4D97-AF65-F5344CB8AC3E}">
        <p14:creationId xmlns:p14="http://schemas.microsoft.com/office/powerpoint/2010/main" val="38267252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740596" y="97909"/>
            <a:ext cx="8100218"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t>Implementation of Quick sort</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192DAAC6-75A8-F92A-4649-9DAC791FEF51}"/>
              </a:ext>
            </a:extLst>
          </p:cNvPr>
          <p:cNvSpPr txBox="1"/>
          <p:nvPr/>
        </p:nvSpPr>
        <p:spPr>
          <a:xfrm>
            <a:off x="255639" y="905182"/>
            <a:ext cx="6479458" cy="5355312"/>
          </a:xfrm>
          <a:prstGeom prst="rect">
            <a:avLst/>
          </a:prstGeom>
          <a:noFill/>
        </p:spPr>
        <p:txBody>
          <a:bodyPr wrap="square">
            <a:spAutoFit/>
          </a:bodyPr>
          <a:lstStyle/>
          <a:p>
            <a:r>
              <a:rPr lang="en-IN" dirty="0"/>
              <a:t>/* function to print an array */  </a:t>
            </a:r>
          </a:p>
          <a:p>
            <a:r>
              <a:rPr lang="en-IN" dirty="0"/>
              <a:t>void </a:t>
            </a:r>
            <a:r>
              <a:rPr lang="en-IN" dirty="0" err="1"/>
              <a:t>printArr</a:t>
            </a:r>
            <a:r>
              <a:rPr lang="en-IN" dirty="0"/>
              <a:t>(int a[], int n)  </a:t>
            </a:r>
          </a:p>
          <a:p>
            <a:r>
              <a:rPr lang="en-IN" dirty="0"/>
              <a:t>{  </a:t>
            </a:r>
          </a:p>
          <a:p>
            <a:r>
              <a:rPr lang="en-IN" dirty="0"/>
              <a:t>    int </a:t>
            </a:r>
            <a:r>
              <a:rPr lang="en-IN" dirty="0" err="1"/>
              <a:t>i</a:t>
            </a:r>
            <a:r>
              <a:rPr lang="en-IN" dirty="0"/>
              <a:t>;  </a:t>
            </a:r>
          </a:p>
          <a:p>
            <a:r>
              <a:rPr lang="en-IN" dirty="0"/>
              <a:t>    for (</a:t>
            </a:r>
            <a:r>
              <a:rPr lang="en-IN" dirty="0" err="1"/>
              <a:t>i</a:t>
            </a:r>
            <a:r>
              <a:rPr lang="en-IN" dirty="0"/>
              <a:t> = 0; </a:t>
            </a:r>
            <a:r>
              <a:rPr lang="en-IN" dirty="0" err="1"/>
              <a:t>i</a:t>
            </a:r>
            <a:r>
              <a:rPr lang="en-IN" dirty="0"/>
              <a:t> &lt; n; </a:t>
            </a:r>
            <a:r>
              <a:rPr lang="en-IN" dirty="0" err="1"/>
              <a:t>i</a:t>
            </a:r>
            <a:r>
              <a:rPr lang="en-IN" dirty="0"/>
              <a:t>++)  </a:t>
            </a:r>
          </a:p>
          <a:p>
            <a:r>
              <a:rPr lang="en-IN" dirty="0"/>
              <a:t>        </a:t>
            </a:r>
            <a:r>
              <a:rPr lang="en-IN" dirty="0" err="1"/>
              <a:t>printf</a:t>
            </a:r>
            <a:r>
              <a:rPr lang="en-IN" dirty="0"/>
              <a:t>("%d ", a[</a:t>
            </a:r>
            <a:r>
              <a:rPr lang="en-IN" dirty="0" err="1"/>
              <a:t>i</a:t>
            </a:r>
            <a:r>
              <a:rPr lang="en-IN" dirty="0"/>
              <a:t>]);  </a:t>
            </a:r>
          </a:p>
          <a:p>
            <a:r>
              <a:rPr lang="en-IN" dirty="0"/>
              <a:t>}  </a:t>
            </a:r>
          </a:p>
          <a:p>
            <a:r>
              <a:rPr lang="en-IN" dirty="0"/>
              <a:t>int main()  </a:t>
            </a:r>
          </a:p>
          <a:p>
            <a:r>
              <a:rPr lang="en-IN" dirty="0"/>
              <a:t>{  </a:t>
            </a:r>
          </a:p>
          <a:p>
            <a:r>
              <a:rPr lang="en-IN" dirty="0"/>
              <a:t>    int a[] = { 24, 9, 29, 14, 19, 27 };  </a:t>
            </a:r>
          </a:p>
          <a:p>
            <a:r>
              <a:rPr lang="en-IN" dirty="0"/>
              <a:t>    int n = </a:t>
            </a:r>
            <a:r>
              <a:rPr lang="en-IN" dirty="0" err="1"/>
              <a:t>sizeof</a:t>
            </a:r>
            <a:r>
              <a:rPr lang="en-IN" dirty="0"/>
              <a:t>(a) / </a:t>
            </a:r>
            <a:r>
              <a:rPr lang="en-IN" dirty="0" err="1"/>
              <a:t>sizeof</a:t>
            </a:r>
            <a:r>
              <a:rPr lang="en-IN" dirty="0"/>
              <a:t>(a[0]);  </a:t>
            </a:r>
          </a:p>
          <a:p>
            <a:r>
              <a:rPr lang="en-IN" dirty="0"/>
              <a:t>    </a:t>
            </a:r>
            <a:r>
              <a:rPr lang="en-IN" dirty="0" err="1"/>
              <a:t>printf</a:t>
            </a:r>
            <a:r>
              <a:rPr lang="en-IN" dirty="0"/>
              <a:t>("Before sorting array elements are - \n");  </a:t>
            </a:r>
          </a:p>
          <a:p>
            <a:r>
              <a:rPr lang="en-IN" dirty="0"/>
              <a:t>    </a:t>
            </a:r>
            <a:r>
              <a:rPr lang="en-IN" dirty="0" err="1"/>
              <a:t>printArr</a:t>
            </a:r>
            <a:r>
              <a:rPr lang="en-IN" dirty="0"/>
              <a:t>(a, n);  </a:t>
            </a:r>
          </a:p>
          <a:p>
            <a:r>
              <a:rPr lang="en-IN" dirty="0"/>
              <a:t>    quick(a, 0, n - 1);  </a:t>
            </a:r>
          </a:p>
          <a:p>
            <a:r>
              <a:rPr lang="en-IN" dirty="0"/>
              <a:t>    </a:t>
            </a:r>
            <a:r>
              <a:rPr lang="en-IN" dirty="0" err="1"/>
              <a:t>printf</a:t>
            </a:r>
            <a:r>
              <a:rPr lang="en-IN" dirty="0"/>
              <a:t>("\</a:t>
            </a:r>
            <a:r>
              <a:rPr lang="en-IN" dirty="0" err="1"/>
              <a:t>nAfter</a:t>
            </a:r>
            <a:r>
              <a:rPr lang="en-IN" dirty="0"/>
              <a:t> sorting array elements are - \n");    </a:t>
            </a:r>
          </a:p>
          <a:p>
            <a:r>
              <a:rPr lang="en-IN" dirty="0"/>
              <a:t>    </a:t>
            </a:r>
            <a:r>
              <a:rPr lang="en-IN" dirty="0" err="1"/>
              <a:t>printArr</a:t>
            </a:r>
            <a:r>
              <a:rPr lang="en-IN" dirty="0"/>
              <a:t>(a, n);  </a:t>
            </a:r>
          </a:p>
          <a:p>
            <a:r>
              <a:rPr lang="en-IN" dirty="0"/>
              <a:t>      </a:t>
            </a:r>
          </a:p>
          <a:p>
            <a:r>
              <a:rPr lang="en-IN" dirty="0"/>
              <a:t>    return 0;  </a:t>
            </a:r>
          </a:p>
          <a:p>
            <a:r>
              <a:rPr lang="en-IN" dirty="0"/>
              <a:t>} </a:t>
            </a:r>
          </a:p>
        </p:txBody>
      </p:sp>
    </p:spTree>
    <p:extLst>
      <p:ext uri="{BB962C8B-B14F-4D97-AF65-F5344CB8AC3E}">
        <p14:creationId xmlns:p14="http://schemas.microsoft.com/office/powerpoint/2010/main" val="3657612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 y="976722"/>
            <a:ext cx="12191999" cy="4832092"/>
          </a:xfrm>
          <a:prstGeom prst="rect">
            <a:avLst/>
          </a:prstGeom>
          <a:noFill/>
        </p:spPr>
        <p:txBody>
          <a:bodyPr wrap="square" rtlCol="0">
            <a:spAutoFit/>
          </a:bodyPr>
          <a:lstStyle/>
          <a:p>
            <a:r>
              <a:rPr lang="en-IN" sz="2400" b="1" dirty="0"/>
              <a:t>Advantages of a Quick sort</a:t>
            </a:r>
            <a:endParaRPr lang="en-IN" sz="2000" b="1" dirty="0"/>
          </a:p>
          <a:p>
            <a:pPr algn="just">
              <a:buFont typeface="Arial" panose="020B0604020202020204" pitchFamily="34" charset="0"/>
              <a:buChar char="•"/>
            </a:pPr>
            <a:r>
              <a:rPr lang="en-US" sz="2000" b="0" i="0" dirty="0">
                <a:solidFill>
                  <a:srgbClr val="000000"/>
                </a:solidFill>
                <a:effectLst/>
              </a:rPr>
              <a:t>Quick sort has a fast average-case time complexity of O(</a:t>
            </a:r>
            <a:r>
              <a:rPr lang="en-US" sz="2000" b="0" i="0" dirty="0" err="1">
                <a:solidFill>
                  <a:srgbClr val="000000"/>
                </a:solidFill>
                <a:effectLst/>
              </a:rPr>
              <a:t>nlogn</a:t>
            </a:r>
            <a:r>
              <a:rPr lang="en-US" sz="2000" b="0" i="0" dirty="0">
                <a:solidFill>
                  <a:srgbClr val="000000"/>
                </a:solidFill>
                <a:effectLst/>
              </a:rPr>
              <a:t>), making it efficient for large datasets.</a:t>
            </a:r>
          </a:p>
          <a:p>
            <a:pPr algn="just">
              <a:buFont typeface="Arial" panose="020B0604020202020204" pitchFamily="34" charset="0"/>
              <a:buChar char="•"/>
            </a:pPr>
            <a:r>
              <a:rPr lang="en-US" sz="2000" b="0" i="0" dirty="0">
                <a:solidFill>
                  <a:srgbClr val="000000"/>
                </a:solidFill>
                <a:effectLst/>
              </a:rPr>
              <a:t>It is a simple and easy-to-implement algorithm that can be implemented in a few lines of code.</a:t>
            </a:r>
          </a:p>
          <a:p>
            <a:pPr algn="just">
              <a:buFont typeface="Arial" panose="020B0604020202020204" pitchFamily="34" charset="0"/>
              <a:buChar char="•"/>
            </a:pPr>
            <a:r>
              <a:rPr lang="en-US" sz="2000" b="0" i="0" dirty="0">
                <a:solidFill>
                  <a:srgbClr val="000000"/>
                </a:solidFill>
                <a:effectLst/>
              </a:rPr>
              <a:t>Quick sort can be easily parallelized, making it suitable for use on multicore and distributed systems.</a:t>
            </a:r>
          </a:p>
          <a:p>
            <a:pPr algn="just">
              <a:buFont typeface="Arial" panose="020B0604020202020204" pitchFamily="34" charset="0"/>
              <a:buChar char="•"/>
            </a:pPr>
            <a:r>
              <a:rPr lang="en-US" sz="2000" b="0" i="0" dirty="0">
                <a:solidFill>
                  <a:srgbClr val="000000"/>
                </a:solidFill>
                <a:effectLst/>
              </a:rPr>
              <a:t>It is an in-place sorting algorithm, which means that it does not require additional memory to store temporary variables or data structures.</a:t>
            </a:r>
          </a:p>
          <a:p>
            <a:pPr algn="just">
              <a:buFont typeface="Arial" panose="020B0604020202020204" pitchFamily="34" charset="0"/>
              <a:buChar char="•"/>
            </a:pPr>
            <a:endParaRPr lang="en-US" sz="2000" dirty="0">
              <a:solidFill>
                <a:srgbClr val="000000"/>
              </a:solidFill>
            </a:endParaRPr>
          </a:p>
          <a:p>
            <a:pPr algn="just"/>
            <a:endParaRPr lang="en-US" sz="2000" b="0" i="0" dirty="0">
              <a:solidFill>
                <a:srgbClr val="000000"/>
              </a:solidFill>
              <a:effectLst/>
            </a:endParaRPr>
          </a:p>
          <a:p>
            <a:r>
              <a:rPr lang="en-IN" sz="2400" b="1" dirty="0"/>
              <a:t>Disadvantages of a Quick sort</a:t>
            </a:r>
          </a:p>
          <a:p>
            <a:pPr algn="just">
              <a:buFont typeface="Arial" panose="020B0604020202020204" pitchFamily="34" charset="0"/>
              <a:buChar char="•"/>
            </a:pPr>
            <a:r>
              <a:rPr lang="en-US" sz="2000" b="0" i="0" dirty="0">
                <a:solidFill>
                  <a:srgbClr val="000000"/>
                </a:solidFill>
                <a:effectLst/>
              </a:rPr>
              <a:t>Quick sort has a worst-case time complexity of O(n^2) if the pivot element is chosen poorly or the data is already sorted.</a:t>
            </a:r>
          </a:p>
          <a:p>
            <a:pPr algn="just">
              <a:buFont typeface="Arial" panose="020B0604020202020204" pitchFamily="34" charset="0"/>
              <a:buChar char="•"/>
            </a:pPr>
            <a:r>
              <a:rPr lang="en-US" sz="2000" b="0" i="0" dirty="0">
                <a:solidFill>
                  <a:srgbClr val="000000"/>
                </a:solidFill>
                <a:effectLst/>
              </a:rPr>
              <a:t>It is not a stable sorting algorithm, which means that it does not guarantee the relative order of equal elements in the sorted array.</a:t>
            </a:r>
          </a:p>
          <a:p>
            <a:pPr algn="just">
              <a:buFont typeface="Arial" panose="020B0604020202020204" pitchFamily="34" charset="0"/>
              <a:buChar char="•"/>
            </a:pPr>
            <a:r>
              <a:rPr lang="en-US" sz="2000" b="0" i="0" dirty="0">
                <a:solidFill>
                  <a:srgbClr val="000000"/>
                </a:solidFill>
                <a:effectLst/>
              </a:rPr>
              <a:t>Quick sort is not suitable for sorting large datasets that do not fit in memory, as it requires multiple passes over the data.</a:t>
            </a:r>
            <a:endParaRPr lang="en-IN" sz="2000" dirty="0"/>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 y="976722"/>
            <a:ext cx="12191999" cy="461665"/>
          </a:xfrm>
          <a:prstGeom prst="rect">
            <a:avLst/>
          </a:prstGeom>
          <a:noFill/>
        </p:spPr>
        <p:txBody>
          <a:bodyPr wrap="square" rtlCol="0">
            <a:spAutoFit/>
          </a:bodyPr>
          <a:lstStyle/>
          <a:p>
            <a:r>
              <a:rPr lang="en-IN" sz="2400" b="1" dirty="0"/>
              <a:t>Applications/Characteristics of quick sort</a:t>
            </a:r>
            <a:endParaRPr lang="en-IN" sz="2000" b="1" dirty="0"/>
          </a:p>
        </p:txBody>
      </p:sp>
      <p:sp>
        <p:nvSpPr>
          <p:cNvPr id="3" name="TextBox 2">
            <a:extLst>
              <a:ext uri="{FF2B5EF4-FFF2-40B4-BE49-F238E27FC236}">
                <a16:creationId xmlns:a16="http://schemas.microsoft.com/office/drawing/2014/main" id="{8D073334-DCBF-DAD6-8D5E-31249FEEC3F7}"/>
              </a:ext>
            </a:extLst>
          </p:cNvPr>
          <p:cNvSpPr txBox="1"/>
          <p:nvPr/>
        </p:nvSpPr>
        <p:spPr>
          <a:xfrm>
            <a:off x="181896" y="1438387"/>
            <a:ext cx="11921613" cy="2677656"/>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000000"/>
                </a:solidFill>
                <a:effectLst/>
              </a:rPr>
              <a:t>Quick sort divides an array into two sections according to a pivot element, usually the last element in the array.</a:t>
            </a:r>
          </a:p>
          <a:p>
            <a:pPr algn="just">
              <a:buFont typeface="Arial" panose="020B0604020202020204" pitchFamily="34" charset="0"/>
              <a:buChar char="•"/>
            </a:pPr>
            <a:r>
              <a:rPr lang="en-US" sz="2400" b="0" i="0" dirty="0">
                <a:solidFill>
                  <a:srgbClr val="000000"/>
                </a:solidFill>
                <a:effectLst/>
              </a:rPr>
              <a:t>All elements smaller than the pivot are put in one partition, and all elements larger than the pivot are placed in the other, dividing the array into two partitions.</a:t>
            </a:r>
          </a:p>
          <a:p>
            <a:pPr algn="just">
              <a:buFont typeface="Arial" panose="020B0604020202020204" pitchFamily="34" charset="0"/>
              <a:buChar char="•"/>
            </a:pPr>
            <a:r>
              <a:rPr lang="en-US" sz="2400" b="0" i="0" dirty="0">
                <a:solidFill>
                  <a:srgbClr val="000000"/>
                </a:solidFill>
                <a:effectLst/>
              </a:rPr>
              <a:t>The algorithm repeats this procedure for each division until the array as a whole is sorted.</a:t>
            </a:r>
          </a:p>
          <a:p>
            <a:pPr algn="just">
              <a:buFont typeface="Arial" panose="020B0604020202020204" pitchFamily="34" charset="0"/>
              <a:buChar char="•"/>
            </a:pPr>
            <a:r>
              <a:rPr lang="en-US" sz="2400" b="0" i="0" dirty="0">
                <a:solidFill>
                  <a:srgbClr val="000000"/>
                </a:solidFill>
                <a:effectLst/>
              </a:rPr>
              <a:t>If the data is already ordered or the pivot element is not carefully chosen, quick sort has a worst-case time complexity of O(n2).</a:t>
            </a:r>
          </a:p>
        </p:txBody>
      </p:sp>
    </p:spTree>
    <p:extLst>
      <p:ext uri="{BB962C8B-B14F-4D97-AF65-F5344CB8AC3E}">
        <p14:creationId xmlns:p14="http://schemas.microsoft.com/office/powerpoint/2010/main" val="31030299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986865"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Time Complexity of Quick sort</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8D073334-DCBF-DAD6-8D5E-31249FEEC3F7}"/>
              </a:ext>
            </a:extLst>
          </p:cNvPr>
          <p:cNvSpPr txBox="1"/>
          <p:nvPr/>
        </p:nvSpPr>
        <p:spPr>
          <a:xfrm>
            <a:off x="270387" y="1025028"/>
            <a:ext cx="11921613" cy="6370975"/>
          </a:xfrm>
          <a:prstGeom prst="rect">
            <a:avLst/>
          </a:prstGeom>
          <a:noFill/>
        </p:spPr>
        <p:txBody>
          <a:bodyPr wrap="square">
            <a:spAutoFit/>
          </a:bodyPr>
          <a:lstStyle/>
          <a:p>
            <a:pPr algn="just">
              <a:buFont typeface="Arial" panose="020B0604020202020204" pitchFamily="34" charset="0"/>
              <a:buChar char="•"/>
            </a:pPr>
            <a:r>
              <a:rPr lang="en-US" sz="2400" b="0" i="0" dirty="0">
                <a:solidFill>
                  <a:srgbClr val="000000"/>
                </a:solidFill>
                <a:effectLst/>
              </a:rPr>
              <a:t>Let us consider the following terminologies:</a:t>
            </a:r>
          </a:p>
          <a:p>
            <a:pPr algn="just">
              <a:buFont typeface="Arial" panose="020B0604020202020204" pitchFamily="34" charset="0"/>
              <a:buChar char="•"/>
            </a:pPr>
            <a:r>
              <a:rPr lang="en-US" sz="2400" b="0" i="0" dirty="0">
                <a:solidFill>
                  <a:srgbClr val="000000"/>
                </a:solidFill>
                <a:effectLst/>
              </a:rPr>
              <a:t>T(K): Time complexity of quicksort of K elements</a:t>
            </a:r>
          </a:p>
          <a:p>
            <a:pPr algn="just">
              <a:buFont typeface="Arial" panose="020B0604020202020204" pitchFamily="34" charset="0"/>
              <a:buChar char="•"/>
            </a:pPr>
            <a:r>
              <a:rPr lang="en-US" sz="2400" b="0" i="0" dirty="0">
                <a:solidFill>
                  <a:srgbClr val="000000"/>
                </a:solidFill>
                <a:effectLst/>
              </a:rPr>
              <a:t>P(K): Time complexity for finding the position of pivot among K elements.</a:t>
            </a:r>
          </a:p>
          <a:p>
            <a:pPr algn="just">
              <a:buFont typeface="Arial" panose="020B0604020202020204" pitchFamily="34" charset="0"/>
              <a:buChar char="•"/>
            </a:pPr>
            <a:r>
              <a:rPr lang="en-US" sz="2400" b="0" i="0" dirty="0">
                <a:solidFill>
                  <a:srgbClr val="000000"/>
                </a:solidFill>
                <a:effectLst/>
              </a:rPr>
              <a:t>Best Case:</a:t>
            </a:r>
          </a:p>
          <a:p>
            <a:pPr algn="just">
              <a:buFont typeface="Arial" panose="020B0604020202020204" pitchFamily="34" charset="0"/>
              <a:buChar char="•"/>
            </a:pPr>
            <a:r>
              <a:rPr lang="en-US" sz="2400" b="0" i="0" dirty="0">
                <a:solidFill>
                  <a:srgbClr val="000000"/>
                </a:solidFill>
                <a:effectLst/>
              </a:rPr>
              <a:t>The best case occurs when we select the pivot as the mean. So here</a:t>
            </a:r>
          </a:p>
          <a:p>
            <a:pPr algn="just"/>
            <a:r>
              <a:rPr lang="en-IN" sz="2400" b="0" i="1" dirty="0">
                <a:solidFill>
                  <a:srgbClr val="273239"/>
                </a:solidFill>
                <a:effectLst/>
                <a:latin typeface="Nunito" pitchFamily="2" charset="0"/>
              </a:rPr>
              <a:t>T(N) = 2 * T(N / 2) + N * constant</a:t>
            </a:r>
          </a:p>
          <a:p>
            <a:pPr algn="just"/>
            <a:r>
              <a:rPr lang="en-IN" sz="2400" b="0" i="1" dirty="0">
                <a:solidFill>
                  <a:srgbClr val="273239"/>
                </a:solidFill>
                <a:effectLst/>
                <a:latin typeface="Nunito" pitchFamily="2" charset="0"/>
              </a:rPr>
              <a:t>Now T(N/2) is also 2*T(N / 4) + N / 2 * constant. So,</a:t>
            </a:r>
          </a:p>
          <a:p>
            <a:pPr algn="just"/>
            <a:r>
              <a:rPr lang="en-IN" sz="2400" b="0" i="1" dirty="0">
                <a:solidFill>
                  <a:srgbClr val="273239"/>
                </a:solidFill>
                <a:effectLst/>
                <a:latin typeface="Nunito" pitchFamily="2" charset="0"/>
              </a:rPr>
              <a:t>T(N) = 2*(2*T(N / 4) + N / 2 * constant) + N * constant</a:t>
            </a:r>
          </a:p>
          <a:p>
            <a:pPr algn="just"/>
            <a:r>
              <a:rPr lang="en-IN" sz="2400" b="0" i="1" dirty="0">
                <a:solidFill>
                  <a:srgbClr val="273239"/>
                </a:solidFill>
                <a:effectLst/>
                <a:latin typeface="Nunito" pitchFamily="2" charset="0"/>
              </a:rPr>
              <a:t>= 4 * T(N / 4) + 2 * constant * N.</a:t>
            </a:r>
          </a:p>
          <a:p>
            <a:pPr algn="just"/>
            <a:r>
              <a:rPr lang="en-IN" sz="2400" b="0" i="1" dirty="0">
                <a:solidFill>
                  <a:srgbClr val="273239"/>
                </a:solidFill>
                <a:effectLst/>
                <a:latin typeface="Nunito" pitchFamily="2" charset="0"/>
              </a:rPr>
              <a:t>So, we can say that</a:t>
            </a:r>
          </a:p>
          <a:p>
            <a:pPr algn="just"/>
            <a:r>
              <a:rPr lang="en-IN" sz="2400" b="0" i="1" dirty="0">
                <a:solidFill>
                  <a:srgbClr val="273239"/>
                </a:solidFill>
                <a:effectLst/>
                <a:latin typeface="Nunito" pitchFamily="2" charset="0"/>
              </a:rPr>
              <a:t>T(N) = 2k * T(N / 2k) + k * constant * N</a:t>
            </a:r>
          </a:p>
          <a:p>
            <a:pPr algn="just"/>
            <a:r>
              <a:rPr lang="en-IN" sz="2400" b="0" i="1" dirty="0">
                <a:solidFill>
                  <a:srgbClr val="273239"/>
                </a:solidFill>
                <a:effectLst/>
                <a:latin typeface="Nunito" pitchFamily="2" charset="0"/>
              </a:rPr>
              <a:t>then, 2k = N</a:t>
            </a:r>
          </a:p>
          <a:p>
            <a:pPr algn="just"/>
            <a:r>
              <a:rPr lang="en-IN" sz="2400" b="0" i="1" dirty="0">
                <a:solidFill>
                  <a:srgbClr val="273239"/>
                </a:solidFill>
                <a:effectLst/>
                <a:latin typeface="Nunito" pitchFamily="2" charset="0"/>
              </a:rPr>
              <a:t>k = log2N</a:t>
            </a:r>
          </a:p>
          <a:p>
            <a:pPr algn="just"/>
            <a:r>
              <a:rPr lang="en-IN" sz="2400" b="0" i="1" dirty="0">
                <a:solidFill>
                  <a:srgbClr val="273239"/>
                </a:solidFill>
                <a:effectLst/>
                <a:latin typeface="Nunito" pitchFamily="2" charset="0"/>
              </a:rPr>
              <a:t>So T(N) = N * T(1) + N * log2N. Therefore, the time complexity is O(N * </a:t>
            </a:r>
            <a:r>
              <a:rPr lang="en-IN" sz="2400" b="0" i="1" dirty="0" err="1">
                <a:solidFill>
                  <a:srgbClr val="273239"/>
                </a:solidFill>
                <a:effectLst/>
                <a:latin typeface="Nunito" pitchFamily="2" charset="0"/>
              </a:rPr>
              <a:t>logN</a:t>
            </a:r>
            <a:r>
              <a:rPr lang="en-IN" sz="2400" b="0" i="1" dirty="0">
                <a:solidFill>
                  <a:srgbClr val="273239"/>
                </a:solidFill>
                <a:effectLst/>
                <a:latin typeface="Nunito" pitchFamily="2" charset="0"/>
              </a:rPr>
              <a:t>).--</a:t>
            </a:r>
            <a:r>
              <a:rPr lang="en-IN" sz="2400" b="0" i="1" dirty="0">
                <a:solidFill>
                  <a:srgbClr val="273239"/>
                </a:solidFill>
                <a:effectLst/>
                <a:latin typeface="Nunito" pitchFamily="2" charset="0"/>
                <a:sym typeface="Wingdings" panose="05000000000000000000" pitchFamily="2" charset="2"/>
              </a:rPr>
              <a:t> eq1</a:t>
            </a:r>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IN" sz="2400" b="0" i="1" dirty="0">
              <a:solidFill>
                <a:srgbClr val="273239"/>
              </a:solidFill>
              <a:effectLst/>
              <a:latin typeface="Nunito" pitchFamily="2" charset="0"/>
            </a:endParaRPr>
          </a:p>
          <a:p>
            <a:pPr algn="just"/>
            <a:endParaRPr lang="en-US" sz="2400" b="0" i="0" dirty="0">
              <a:solidFill>
                <a:srgbClr val="000000"/>
              </a:solidFill>
              <a:effectLst/>
            </a:endParaRPr>
          </a:p>
        </p:txBody>
      </p:sp>
    </p:spTree>
    <p:extLst>
      <p:ext uri="{BB962C8B-B14F-4D97-AF65-F5344CB8AC3E}">
        <p14:creationId xmlns:p14="http://schemas.microsoft.com/office/powerpoint/2010/main" val="91413141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796687"/>
            <a:ext cx="10071060" cy="52098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endParaRPr lang="en-US" sz="2400" dirty="0">
              <a:solidFill>
                <a:srgbClr val="3A3A3A"/>
              </a:solidFill>
            </a:endParaRPr>
          </a:p>
          <a:p>
            <a:pPr marL="342900" lvl="0" indent="-342900">
              <a:buFont typeface="+mj-lt"/>
              <a:buAutoNum type="arabicPeriod"/>
            </a:pPr>
            <a:r>
              <a:rPr lang="en-US" sz="2400" dirty="0">
                <a:solidFill>
                  <a:srgbClr val="3A3A3A"/>
                </a:solidFill>
              </a:rPr>
              <a:t>Which of the following sorting algorithms is the fastest?</a:t>
            </a:r>
            <a:br>
              <a:rPr lang="en-US" sz="2400" dirty="0"/>
            </a:br>
            <a:endParaRPr sz="2400" dirty="0">
              <a:solidFill>
                <a:schemeClr val="bg1"/>
              </a:solidFill>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252970" y="15142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solidFill>
                  <a:schemeClr val="bg1"/>
                </a:solidFill>
                <a:latin typeface="Open Sans" panose="020B0606030504020204" pitchFamily="34" charset="0"/>
              </a:rPr>
              <a:t>a) </a:t>
            </a:r>
            <a:r>
              <a:rPr lang="en-US" dirty="0">
                <a:solidFill>
                  <a:schemeClr val="bg1"/>
                </a:solidFill>
                <a:latin typeface="Times New Roman" panose="02020603050405020304" pitchFamily="18" charset="0"/>
                <a:cs typeface="Times New Roman" panose="02020603050405020304" pitchFamily="18" charset="0"/>
              </a:rPr>
              <a:t>Merge</a:t>
            </a:r>
            <a:r>
              <a:rPr lang="en-US" dirty="0">
                <a:solidFill>
                  <a:schemeClr val="bg1"/>
                </a:solidFill>
                <a:latin typeface="Open Sans" panose="020B0606030504020204" pitchFamily="34" charset="0"/>
              </a:rPr>
              <a:t> sort</a:t>
            </a:r>
            <a:br>
              <a:rPr lang="en-US" dirty="0">
                <a:solidFill>
                  <a:schemeClr val="bg1"/>
                </a:solidFill>
              </a:rPr>
            </a:br>
            <a:r>
              <a:rPr lang="en-US" dirty="0">
                <a:solidFill>
                  <a:schemeClr val="bg1"/>
                </a:solidFill>
                <a:latin typeface="Open Sans" panose="020B0606030504020204" pitchFamily="34" charset="0"/>
              </a:rPr>
              <a:t>b) Quick sort</a:t>
            </a:r>
            <a:br>
              <a:rPr lang="en-US" dirty="0">
                <a:solidFill>
                  <a:schemeClr val="bg1"/>
                </a:solidFill>
              </a:rPr>
            </a:br>
            <a:r>
              <a:rPr lang="en-US" dirty="0">
                <a:solidFill>
                  <a:schemeClr val="bg1"/>
                </a:solidFill>
                <a:latin typeface="Open Sans" panose="020B0606030504020204" pitchFamily="34" charset="0"/>
              </a:rPr>
              <a:t>c) Insertion sort</a:t>
            </a:r>
            <a:br>
              <a:rPr lang="en-US" dirty="0">
                <a:solidFill>
                  <a:schemeClr val="bg1"/>
                </a:solidFill>
              </a:rPr>
            </a:br>
            <a:r>
              <a:rPr lang="en-US" dirty="0">
                <a:solidFill>
                  <a:schemeClr val="bg1"/>
                </a:solidFill>
                <a:latin typeface="Open Sans" panose="020B0606030504020204" pitchFamily="34" charset="0"/>
              </a:rPr>
              <a:t>d) Shell sort</a:t>
            </a:r>
            <a:endParaRPr lang="en-US" dirty="0">
              <a:solidFill>
                <a:schemeClr val="bg1"/>
              </a:solidFill>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endParaRPr lang="en-IN" sz="2400" dirty="0"/>
          </a:p>
          <a:p>
            <a:endParaRPr lang="en-IN" sz="2400" dirty="0"/>
          </a:p>
          <a:p>
            <a:r>
              <a:rPr lang="en-IN" sz="2400" dirty="0"/>
              <a:t>2.</a:t>
            </a:r>
            <a:r>
              <a:rPr lang="en-US" sz="2400" dirty="0">
                <a:solidFill>
                  <a:srgbClr val="3A3A3A"/>
                </a:solidFill>
                <a:latin typeface="Times New Roman" panose="02020603050405020304" pitchFamily="18" charset="0"/>
                <a:cs typeface="Times New Roman" panose="02020603050405020304" pitchFamily="18" charset="0"/>
              </a:rPr>
              <a:t> </a:t>
            </a:r>
            <a:r>
              <a:rPr lang="en-US" sz="2000" dirty="0">
                <a:solidFill>
                  <a:srgbClr val="3A3A3A"/>
                </a:solidFill>
                <a:cs typeface="Times New Roman" panose="02020603050405020304" pitchFamily="18" charset="0"/>
              </a:rPr>
              <a:t>Which of the following methods is the most effective for picking the pivot element?</a:t>
            </a:r>
            <a:br>
              <a:rPr lang="en-US" sz="2000" dirty="0">
                <a:cs typeface="Times New Roman" panose="02020603050405020304" pitchFamily="18" charset="0"/>
              </a:rPr>
            </a:br>
            <a:endParaRPr lang="en-US" sz="2000" dirty="0">
              <a:cs typeface="Times New Roman" panose="02020603050405020304" pitchFamily="18" charset="0"/>
            </a:endParaRPr>
          </a:p>
          <a:p>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Open Sans" panose="020B0606030504020204" pitchFamily="34" charset="0"/>
              </a:rPr>
              <a:t> a) First element</a:t>
            </a:r>
            <a:br>
              <a:rPr lang="en-US" dirty="0">
                <a:solidFill>
                  <a:schemeClr val="bg1"/>
                </a:solidFill>
              </a:rPr>
            </a:br>
            <a:r>
              <a:rPr lang="en-US" dirty="0">
                <a:solidFill>
                  <a:schemeClr val="bg1"/>
                </a:solidFill>
              </a:rPr>
              <a:t> </a:t>
            </a:r>
            <a:r>
              <a:rPr lang="en-US" dirty="0">
                <a:solidFill>
                  <a:schemeClr val="bg1"/>
                </a:solidFill>
                <a:latin typeface="Open Sans" panose="020B0606030504020204" pitchFamily="34" charset="0"/>
              </a:rPr>
              <a:t>b) Last element</a:t>
            </a:r>
          </a:p>
          <a:p>
            <a:r>
              <a:rPr lang="en-US" dirty="0">
                <a:solidFill>
                  <a:schemeClr val="bg1"/>
                </a:solidFill>
                <a:latin typeface="Open Sans" panose="020B0606030504020204" pitchFamily="34" charset="0"/>
              </a:rPr>
              <a:t> c)  Median of three partitioning </a:t>
            </a:r>
          </a:p>
          <a:p>
            <a:r>
              <a:rPr lang="en-US" dirty="0">
                <a:solidFill>
                  <a:schemeClr val="bg1"/>
                </a:solidFill>
                <a:latin typeface="Open Sans" panose="020B0606030504020204" pitchFamily="34" charset="0"/>
              </a:rPr>
              <a:t> d) Random element</a:t>
            </a:r>
            <a:endParaRPr lang="en-IN"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2784737"/>
          </a:xfrm>
          <a:prstGeom prst="rect">
            <a:avLst/>
          </a:prstGeom>
          <a:noFill/>
        </p:spPr>
        <p:txBody>
          <a:bodyPr wrap="square" rtlCol="0">
            <a:spAutoFit/>
          </a:bodyPr>
          <a:lstStyle/>
          <a:p>
            <a:pPr>
              <a:lnSpc>
                <a:spcPct val="200000"/>
              </a:lnSpc>
            </a:pPr>
            <a:r>
              <a:rPr lang="en-US" b="1" dirty="0"/>
              <a:t>1. Describe About Quick sort?</a:t>
            </a:r>
          </a:p>
          <a:p>
            <a:pPr>
              <a:lnSpc>
                <a:spcPct val="200000"/>
              </a:lnSpc>
            </a:pPr>
            <a:r>
              <a:rPr lang="en-US" b="1" dirty="0"/>
              <a:t>2. Implementation of Quick sort ?</a:t>
            </a:r>
          </a:p>
          <a:p>
            <a:pPr>
              <a:lnSpc>
                <a:spcPct val="200000"/>
              </a:lnSpc>
            </a:pPr>
            <a:r>
              <a:rPr lang="en-US" b="1" dirty="0"/>
              <a:t>3. Analyze the time complexity of Quick sort?</a:t>
            </a:r>
          </a:p>
          <a:p>
            <a:pPr>
              <a:lnSpc>
                <a:spcPct val="200000"/>
              </a:lnSpc>
            </a:pPr>
            <a:r>
              <a:rPr lang="en-US" b="1" dirty="0"/>
              <a:t>4. Summarize working principle of quick sort?</a:t>
            </a:r>
          </a:p>
          <a:p>
            <a:pPr>
              <a:lnSpc>
                <a:spcPct val="200000"/>
              </a:lnSpc>
            </a:pPr>
            <a:endParaRPr lang="en-US"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62815"/>
          </a:xfrm>
          <a:prstGeom prst="rect">
            <a:avLst/>
          </a:prstGeom>
          <a:noFill/>
        </p:spPr>
        <p:txBody>
          <a:bodyPr wrap="square" rtlCol="0">
            <a:spAutoFit/>
          </a:bodyPr>
          <a:lstStyle/>
          <a:p>
            <a:pPr>
              <a:lnSpc>
                <a:spcPct val="150000"/>
              </a:lnSpc>
            </a:pPr>
            <a:r>
              <a:rPr lang="en-US" sz="2400" b="1" dirty="0"/>
              <a:t>Reference Books:</a:t>
            </a:r>
            <a:endParaRPr lang="en-US" sz="2400" dirty="0"/>
          </a:p>
          <a:p>
            <a:pPr marL="342900" lvl="1" indent="-342900">
              <a:lnSpc>
                <a:spcPct val="150000"/>
              </a:lnSpc>
              <a:buAutoNum type="arabicPeriod"/>
            </a:pPr>
            <a:r>
              <a:rPr lang="en-US" dirty="0"/>
              <a:t>Mark Allen Weiss, Data Structures and Algorithm Analysis in C, 2010 , Second Edition, </a:t>
            </a:r>
            <a:r>
              <a:rPr lang="en-US" dirty="0" err="1"/>
              <a:t>PearsonEducation</a:t>
            </a:r>
            <a:r>
              <a:rPr lang="en-US" dirty="0"/>
              <a:t>.</a:t>
            </a:r>
            <a:endParaRPr lang="en-IN" sz="2400" dirty="0"/>
          </a:p>
          <a:p>
            <a:pPr marL="342900" lvl="1" indent="-342900">
              <a:lnSpc>
                <a:spcPct val="150000"/>
              </a:lnSpc>
              <a:buAutoNum type="arabicPeriod"/>
            </a:pPr>
            <a:r>
              <a:rPr lang="en-US" dirty="0"/>
              <a:t>2. Ellis Horowitz, Fundamentals of Data Structures in C: Second Edition, 2015</a:t>
            </a:r>
          </a:p>
          <a:p>
            <a:pPr marL="342900" lvl="1" indent="-342900">
              <a:lnSpc>
                <a:spcPct val="150000"/>
              </a:lnSpc>
              <a:buAutoNum type="arabicPeriod"/>
            </a:pPr>
            <a:r>
              <a:rPr lang="en-US" dirty="0" err="1"/>
              <a:t>A.V.Aho</a:t>
            </a:r>
            <a:r>
              <a:rPr lang="en-US" dirty="0"/>
              <a:t>, J. E. </a:t>
            </a:r>
            <a:r>
              <a:rPr lang="en-US" dirty="0" err="1"/>
              <a:t>Hopcroft</a:t>
            </a:r>
            <a:r>
              <a:rPr lang="en-US" dirty="0"/>
              <a:t>, and J. D. Ullman, “Data Structures And Algorithms”, Pearson Education, First Edition Reprint2003.</a:t>
            </a:r>
            <a:endParaRPr lang="en-IN" dirty="0"/>
          </a:p>
          <a:p>
            <a:pPr>
              <a:lnSpc>
                <a:spcPct val="150000"/>
              </a:lnSpc>
            </a:pPr>
            <a:endParaRPr lang="en-US" b="1" dirty="0"/>
          </a:p>
          <a:p>
            <a:pPr>
              <a:lnSpc>
                <a:spcPct val="150000"/>
              </a:lnSpc>
            </a:pPr>
            <a:r>
              <a:rPr lang="en-US" sz="2400" b="1" dirty="0"/>
              <a:t>Sites and Web links:</a:t>
            </a:r>
          </a:p>
          <a:p>
            <a:pPr lvl="0">
              <a:lnSpc>
                <a:spcPct val="150000"/>
              </a:lnSpc>
            </a:pPr>
            <a:r>
              <a:rPr lang="en-US" dirty="0"/>
              <a:t>1. </a:t>
            </a:r>
            <a:r>
              <a:rPr lang="en-US" dirty="0">
                <a:hlinkClick r:id="rId2"/>
              </a:rPr>
              <a:t>https://nptel.ac.in/courses/106102064</a:t>
            </a:r>
            <a:endParaRPr lang="en-IN" dirty="0"/>
          </a:p>
          <a:p>
            <a:pPr lvl="0"/>
            <a:r>
              <a:rPr lang="en-US" dirty="0">
                <a:hlinkClick r:id="rId3"/>
              </a:rPr>
              <a:t>2. https://in.udacity.com/course/intro-to-algorithms--cs215</a:t>
            </a:r>
            <a:endParaRPr lang="en-IN" dirty="0"/>
          </a:p>
          <a:p>
            <a:pPr lvl="0"/>
            <a:r>
              <a:rPr lang="en-US" dirty="0"/>
              <a:t>3. </a:t>
            </a:r>
            <a:r>
              <a:rPr lang="en-US" dirty="0">
                <a:hlinkClick r:id="rId4"/>
              </a:rPr>
              <a:t>https://www.coursera.org/learn/data-structures?action=enroll</a:t>
            </a:r>
            <a:endParaRPr lang="en-US" dirty="0"/>
          </a:p>
          <a:p>
            <a:pPr>
              <a:lnSpc>
                <a:spcPct val="150000"/>
              </a:lnSpc>
            </a:pPr>
            <a:endParaRPr lang="en-US" dirty="0"/>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err="1">
                <a:latin typeface="Poppins" pitchFamily="2" charset="77"/>
                <a:cs typeface="Poppins" pitchFamily="2" charset="77"/>
              </a:rPr>
              <a:t>Sructures</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http://schemas.microsoft.com/office/2006/metadata/contentType"/>
    <ds:schemaRef ds:uri="http://schemas.microsoft.com/office/2006/metadata/properties/metaAttributes"/>
    <ds:schemaRef ds:uri="http://www.w3.org/2000/xmlns/"/>
    <ds:schemaRef ds:uri="http://www.w3.org/2001/XMLSchema"/>
    <ds:schemaRef ds:uri="d43ee83c-3e71-4748-8ebc-8eaadf793425"/>
    <ds:schemaRef ds:uri="0125a647-8023-46ae-ae6e-85cf36d841bd"/>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1795</TotalTime>
  <Words>2148</Words>
  <Application>Microsoft Office PowerPoint</Application>
  <PresentationFormat>Widescreen</PresentationFormat>
  <Paragraphs>204</Paragraphs>
  <Slides>24</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Arial</vt:lpstr>
      <vt:lpstr>BioRhyme ExtraBold</vt:lpstr>
      <vt:lpstr>Calibri</vt:lpstr>
      <vt:lpstr>erdana</vt:lpstr>
      <vt:lpstr>inter-bold</vt:lpstr>
      <vt:lpstr>inter-regular</vt:lpstr>
      <vt:lpstr>Nunito</vt:lpstr>
      <vt:lpstr>Open Sans</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U Haritha</cp:lastModifiedBy>
  <cp:revision>49</cp:revision>
  <dcterms:created xsi:type="dcterms:W3CDTF">2020-02-08T09:57:44Z</dcterms:created>
  <dcterms:modified xsi:type="dcterms:W3CDTF">2024-12-20T10:27:08Z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