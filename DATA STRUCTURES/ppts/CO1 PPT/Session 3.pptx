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71" r:id="rId5"/>
    <p:sldId id="300" r:id="rId6"/>
    <p:sldId id="258" r:id="rId7"/>
    <p:sldId id="309" r:id="rId8"/>
    <p:sldId id="310" r:id="rId9"/>
    <p:sldId id="320" r:id="rId10"/>
    <p:sldId id="321" r:id="rId11"/>
    <p:sldId id="318" r:id="rId12"/>
    <p:sldId id="313" r:id="rId13"/>
    <p:sldId id="314" r:id="rId14"/>
    <p:sldId id="315" r:id="rId15"/>
    <p:sldId id="316" r:id="rId16"/>
    <p:sldId id="317" r:id="rId17"/>
    <p:sldId id="308" r:id="rId18"/>
    <p:sldId id="285" r:id="rId19"/>
    <p:sldId id="287" r:id="rId20"/>
    <p:sldId id="301" r:id="rId21"/>
    <p:sldId id="302" r:id="rId22"/>
    <p:sldId id="303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B850D1-3DE1-5E49-ABFC-00B1F4CAB20B}" v="706" dt="2022-04-26T05:00:35.908"/>
    <p1510:client id="{B8906113-84A5-D6EE-8131-D504648287C4}" v="62" dt="2022-09-08T10:44:06.607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8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8B2F08-D4B2-4C24-8A2D-EC2E3B343C3A}" type="slidenum">
              <a:rPr lang="en-US"/>
              <a:pPr/>
              <a:t>4</a:t>
            </a:fld>
            <a:endParaRPr lang="en-US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05B9C-47A2-4EBF-BBDA-583EF7053521}" type="slidenum">
              <a:rPr lang="en-US"/>
              <a:pPr/>
              <a:t>5</a:t>
            </a:fld>
            <a:endParaRPr lang="en-US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3C6E51-582C-45C6-AB9F-C5A1480539D4}" type="slidenum">
              <a:rPr lang="en-US"/>
              <a:pPr/>
              <a:t>9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9DFFA2-BB03-41E4-820B-C8548AF34243}" type="slidenum">
              <a:rPr lang="en-US"/>
              <a:pPr/>
              <a:t>10</a:t>
            </a:fld>
            <a:endParaRPr lang="en-US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B21150-F5AA-4244-A301-58B14BCE6D5F}" type="slidenum">
              <a:rPr lang="en-US"/>
              <a:pPr/>
              <a:t>11</a:t>
            </a:fld>
            <a:endParaRPr lang="en-US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E9E253-E330-4C0C-A586-C9F945DB1DE7}" type="slidenum">
              <a:rPr lang="en-US"/>
              <a:pPr/>
              <a:t>12</a:t>
            </a:fld>
            <a:endParaRPr lang="en-US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7E9907-48E9-4E98-98ED-C86FEE26BE09}" type="slidenum">
              <a:rPr lang="en-US"/>
              <a:pPr/>
              <a:t>13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6168E76-5CD0-4B12-982A-5F2BD0EC05E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966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24SC1203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INSERTION SORT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- 1</a:t>
            </a:r>
            <a:endParaRPr sz="240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80021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</a:t>
            </a:r>
            <a:r>
              <a:rPr lang="en-US" sz="1600" b="0" i="0">
                <a:effectLst/>
                <a:latin typeface="Poppins"/>
                <a:cs typeface="Poppins"/>
              </a:rPr>
              <a:t>Insertion Sort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Insertion Sort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how the sorting technique work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steps of the sorting algorithm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Insertion Sort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algorithm and complexity of Insertion Sort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Insertion Sort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1" y="1252025"/>
            <a:ext cx="105343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  <a:defRPr/>
            </a:pPr>
            <a:r>
              <a:rPr lang="en-US" sz="2000" b="1" dirty="0"/>
              <a:t>Insertion sort</a:t>
            </a:r>
            <a:r>
              <a:rPr lang="en-US" sz="2000" dirty="0"/>
              <a:t>:</a:t>
            </a:r>
            <a:r>
              <a:rPr lang="en-US" sz="2000" b="1" dirty="0"/>
              <a:t> </a:t>
            </a:r>
            <a:r>
              <a:rPr lang="en-US" sz="2000" dirty="0"/>
              <a:t> It</a:t>
            </a:r>
            <a:r>
              <a:rPr lang="en-US" sz="2000" b="1" dirty="0"/>
              <a:t> </a:t>
            </a:r>
            <a:r>
              <a:rPr lang="en-US" sz="2000" dirty="0"/>
              <a:t>is a simple sorting algorithm that works by iteratively inserting each element of an unsorted list into its correct position in a sorted portion of the list.</a:t>
            </a:r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sz="2000" dirty="0"/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000" dirty="0"/>
              <a:t>More specifically: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sz="2000" dirty="0">
                <a:latin typeface="Times New Roman" panose="02020603050405020304" pitchFamily="18" charset="0"/>
              </a:rPr>
              <a:t>consider the first item to be a sorted </a:t>
            </a:r>
            <a:r>
              <a:rPr lang="en-US" sz="2000" dirty="0" err="1">
                <a:latin typeface="Times New Roman" panose="02020603050405020304" pitchFamily="18" charset="0"/>
              </a:rPr>
              <a:t>sublist</a:t>
            </a:r>
            <a:r>
              <a:rPr lang="en-US" sz="2000" dirty="0">
                <a:latin typeface="Times New Roman" panose="02020603050405020304" pitchFamily="18" charset="0"/>
              </a:rPr>
              <a:t> of length 1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sz="2000" dirty="0">
                <a:latin typeface="Times New Roman" panose="02020603050405020304" pitchFamily="18" charset="0"/>
              </a:rPr>
              <a:t>insert the second item into the sorted </a:t>
            </a:r>
            <a:r>
              <a:rPr lang="en-US" sz="2000" dirty="0" err="1">
                <a:latin typeface="Times New Roman" panose="02020603050405020304" pitchFamily="18" charset="0"/>
              </a:rPr>
              <a:t>sublist</a:t>
            </a:r>
            <a:r>
              <a:rPr lang="en-US" sz="2000" dirty="0">
                <a:latin typeface="Times New Roman" panose="02020603050405020304" pitchFamily="18" charset="0"/>
              </a:rPr>
              <a:t>, shifting the first item if needed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sz="2000" dirty="0">
                <a:latin typeface="Times New Roman" panose="02020603050405020304" pitchFamily="18" charset="0"/>
              </a:rPr>
              <a:t>insert the third item into the sorted </a:t>
            </a:r>
            <a:r>
              <a:rPr lang="en-US" sz="2000" dirty="0" err="1">
                <a:latin typeface="Times New Roman" panose="02020603050405020304" pitchFamily="18" charset="0"/>
              </a:rPr>
              <a:t>sublist</a:t>
            </a:r>
            <a:r>
              <a:rPr lang="en-US" sz="2000" dirty="0">
                <a:latin typeface="Times New Roman" panose="02020603050405020304" pitchFamily="18" charset="0"/>
              </a:rPr>
              <a:t>, shifting the other items as needed</a:t>
            </a:r>
          </a:p>
          <a:p>
            <a:pPr lvl="1" eaLnBrk="1" fontAlgn="auto" hangingPunct="1">
              <a:spcAft>
                <a:spcPts val="0"/>
              </a:spcAft>
              <a:buFont typeface="Arial"/>
              <a:buChar char="–"/>
              <a:defRPr/>
            </a:pPr>
            <a:r>
              <a:rPr lang="en-US" sz="2000" dirty="0">
                <a:latin typeface="Times New Roman" panose="02020603050405020304" pitchFamily="18" charset="0"/>
              </a:rPr>
              <a:t>repeat until all values have been inserted into their proper positions</a:t>
            </a:r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41600" y="365126"/>
            <a:ext cx="8712200" cy="912132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19263"/>
            <a:ext cx="10972800" cy="2620962"/>
          </a:xfrm>
        </p:spPr>
        <p:txBody>
          <a:bodyPr/>
          <a:lstStyle/>
          <a:p>
            <a:r>
              <a:rPr lang="en-US" sz="2600" dirty="0"/>
              <a:t>while some elements unsorted:</a:t>
            </a:r>
          </a:p>
          <a:p>
            <a:pPr lvl="1"/>
            <a:r>
              <a:rPr lang="en-US" sz="2200" dirty="0"/>
              <a:t>Using linear search, find the location in the sorted portion where the 1</a:t>
            </a:r>
            <a:r>
              <a:rPr lang="en-US" sz="2200" baseline="30000" dirty="0"/>
              <a:t>st</a:t>
            </a:r>
            <a:r>
              <a:rPr lang="en-US" sz="2200" dirty="0"/>
              <a:t> element of the unsorted portion should be inserted </a:t>
            </a:r>
          </a:p>
          <a:p>
            <a:pPr lvl="1"/>
            <a:r>
              <a:rPr lang="en-US" sz="2200" dirty="0"/>
              <a:t>Move all the elements after the insertion location up one position to make space for the new element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4751918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13</a:t>
            </a: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6479118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21</a:t>
            </a: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3022600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45</a:t>
            </a: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3598333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79</a:t>
            </a:r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4174067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47</a:t>
            </a:r>
          </a:p>
        </p:txBody>
      </p:sp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7630585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22</a:t>
            </a:r>
          </a:p>
        </p:txBody>
      </p:sp>
      <p:sp>
        <p:nvSpPr>
          <p:cNvPr id="51210" name="Text Box 10"/>
          <p:cNvSpPr txBox="1">
            <a:spLocks noChangeArrowheads="1"/>
          </p:cNvSpPr>
          <p:nvPr/>
        </p:nvSpPr>
        <p:spPr bwMode="auto">
          <a:xfrm>
            <a:off x="1295400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 dirty="0">
                <a:latin typeface="Courier New" pitchFamily="49" charset="0"/>
              </a:rPr>
              <a:t>38</a:t>
            </a:r>
          </a:p>
        </p:txBody>
      </p:sp>
      <p:sp>
        <p:nvSpPr>
          <p:cNvPr id="51211" name="Text Box 11"/>
          <p:cNvSpPr txBox="1">
            <a:spLocks noChangeArrowheads="1"/>
          </p:cNvSpPr>
          <p:nvPr/>
        </p:nvSpPr>
        <p:spPr bwMode="auto">
          <a:xfrm>
            <a:off x="5325533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74</a:t>
            </a:r>
          </a:p>
        </p:txBody>
      </p:sp>
      <p:sp>
        <p:nvSpPr>
          <p:cNvPr id="51212" name="Text Box 12"/>
          <p:cNvSpPr txBox="1">
            <a:spLocks noChangeArrowheads="1"/>
          </p:cNvSpPr>
          <p:nvPr/>
        </p:nvSpPr>
        <p:spPr bwMode="auto">
          <a:xfrm>
            <a:off x="5903385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36</a:t>
            </a:r>
          </a:p>
        </p:txBody>
      </p: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2446867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66</a:t>
            </a: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7054852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94</a:t>
            </a:r>
          </a:p>
        </p:txBody>
      </p:sp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9359900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29</a:t>
            </a:r>
          </a:p>
        </p:txBody>
      </p:sp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8206318" y="4652964"/>
            <a:ext cx="577849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57</a:t>
            </a:r>
          </a:p>
        </p:txBody>
      </p:sp>
      <p:sp>
        <p:nvSpPr>
          <p:cNvPr id="51217" name="Text Box 17"/>
          <p:cNvSpPr txBox="1">
            <a:spLocks noChangeArrowheads="1"/>
          </p:cNvSpPr>
          <p:nvPr/>
        </p:nvSpPr>
        <p:spPr bwMode="auto">
          <a:xfrm>
            <a:off x="9935633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81</a:t>
            </a:r>
          </a:p>
        </p:txBody>
      </p:sp>
      <p:sp>
        <p:nvSpPr>
          <p:cNvPr id="51218" name="Text Box 18"/>
          <p:cNvSpPr txBox="1">
            <a:spLocks noChangeArrowheads="1"/>
          </p:cNvSpPr>
          <p:nvPr/>
        </p:nvSpPr>
        <p:spPr bwMode="auto">
          <a:xfrm>
            <a:off x="1871133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60</a:t>
            </a:r>
          </a:p>
        </p:txBody>
      </p:sp>
      <p:sp>
        <p:nvSpPr>
          <p:cNvPr id="51219" name="Text Box 19"/>
          <p:cNvSpPr txBox="1">
            <a:spLocks noChangeArrowheads="1"/>
          </p:cNvSpPr>
          <p:nvPr/>
        </p:nvSpPr>
        <p:spPr bwMode="auto">
          <a:xfrm>
            <a:off x="8784167" y="4652964"/>
            <a:ext cx="577851" cy="376237"/>
          </a:xfrm>
          <a:prstGeom prst="rect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16</a:t>
            </a:r>
          </a:p>
        </p:txBody>
      </p:sp>
      <p:sp>
        <p:nvSpPr>
          <p:cNvPr id="51220" name="Text Box 20"/>
          <p:cNvSpPr txBox="1">
            <a:spLocks noChangeArrowheads="1"/>
          </p:cNvSpPr>
          <p:nvPr/>
        </p:nvSpPr>
        <p:spPr bwMode="auto">
          <a:xfrm>
            <a:off x="3024718" y="4149725"/>
            <a:ext cx="577849" cy="3762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45</a:t>
            </a:r>
          </a:p>
        </p:txBody>
      </p:sp>
      <p:sp>
        <p:nvSpPr>
          <p:cNvPr id="51221" name="Text Box 21"/>
          <p:cNvSpPr txBox="1">
            <a:spLocks noChangeArrowheads="1"/>
          </p:cNvSpPr>
          <p:nvPr/>
        </p:nvSpPr>
        <p:spPr bwMode="auto">
          <a:xfrm>
            <a:off x="3024718" y="4652964"/>
            <a:ext cx="577849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66</a:t>
            </a:r>
          </a:p>
        </p:txBody>
      </p:sp>
      <p:sp>
        <p:nvSpPr>
          <p:cNvPr id="51222" name="Text Box 22"/>
          <p:cNvSpPr txBox="1">
            <a:spLocks noChangeArrowheads="1"/>
          </p:cNvSpPr>
          <p:nvPr/>
        </p:nvSpPr>
        <p:spPr bwMode="auto">
          <a:xfrm>
            <a:off x="2446867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60</a:t>
            </a:r>
          </a:p>
        </p:txBody>
      </p:sp>
      <p:sp>
        <p:nvSpPr>
          <p:cNvPr id="51223" name="Text Box 23"/>
          <p:cNvSpPr txBox="1">
            <a:spLocks noChangeArrowheads="1"/>
          </p:cNvSpPr>
          <p:nvPr/>
        </p:nvSpPr>
        <p:spPr bwMode="auto">
          <a:xfrm>
            <a:off x="1871133" y="4652964"/>
            <a:ext cx="577851" cy="376237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45</a:t>
            </a:r>
          </a:p>
        </p:txBody>
      </p:sp>
      <p:sp>
        <p:nvSpPr>
          <p:cNvPr id="51224" name="Text Box 24"/>
          <p:cNvSpPr txBox="1">
            <a:spLocks noChangeArrowheads="1"/>
          </p:cNvSpPr>
          <p:nvPr/>
        </p:nvSpPr>
        <p:spPr bwMode="auto">
          <a:xfrm>
            <a:off x="1295401" y="5157788"/>
            <a:ext cx="9218084" cy="3794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>
                <a:latin typeface="Courier New" pitchFamily="49" charset="0"/>
              </a:rPr>
              <a:t>the fourth iteration of this loop is shown here</a:t>
            </a:r>
          </a:p>
        </p:txBody>
      </p:sp>
      <p:pic>
        <p:nvPicPr>
          <p:cNvPr id="2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5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10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10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10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3" grpId="0" animBg="1"/>
      <p:bldP spid="51218" grpId="0" animBg="1"/>
      <p:bldP spid="51220" grpId="0" animBg="1"/>
      <p:bldP spid="51220" grpId="1" animBg="1"/>
      <p:bldP spid="51221" grpId="0" animBg="1"/>
      <p:bldP spid="51222" grpId="0" animBg="1"/>
      <p:bldP spid="51223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01600" y="6003926"/>
            <a:ext cx="1209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"/>
              </a:spcBef>
            </a:pPr>
            <a:r>
              <a:rPr lang="en-US" sz="2000"/>
              <a:t>An insertion sort partitions the array into two regions</a:t>
            </a:r>
            <a:endParaRPr lang="en-US" sz="2400" i="1"/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0" y="5867401"/>
            <a:ext cx="12192000" cy="92075"/>
          </a:xfrm>
          <a:prstGeom prst="rect">
            <a:avLst/>
          </a:prstGeom>
          <a:gradFill rotWithShape="0">
            <a:gsLst>
              <a:gs pos="0">
                <a:srgbClr val="5B74A5">
                  <a:gamma/>
                  <a:shade val="46275"/>
                  <a:invGamma/>
                </a:srgbClr>
              </a:gs>
              <a:gs pos="100000">
                <a:srgbClr val="5B74A5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8734" y="2057400"/>
            <a:ext cx="11294533" cy="2463800"/>
          </a:xfrm>
          <a:prstGeom prst="rect">
            <a:avLst/>
          </a:prstGeom>
          <a:noFill/>
        </p:spPr>
      </p:pic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C Program: Insertion sort algorithm - w3resourc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22514"/>
            <a:ext cx="12192000" cy="6335486"/>
          </a:xfrm>
          <a:prstGeom prst="rect">
            <a:avLst/>
          </a:prstGeom>
          <a:noFill/>
        </p:spPr>
      </p:pic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C Program for Insertion Sort - AlphaCodingSkill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07886"/>
            <a:ext cx="12192000" cy="5450114"/>
          </a:xfrm>
          <a:prstGeom prst="rect">
            <a:avLst/>
          </a:prstGeom>
          <a:noFill/>
        </p:spPr>
      </p:pic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52714" y="757011"/>
            <a:ext cx="10515600" cy="825046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8FA795-8015-D442-AA08-A56B577C945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95400"/>
            <a:ext cx="8229600" cy="5029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charset="2"/>
              <a:buNone/>
              <a:defRPr/>
            </a:pPr>
            <a:r>
              <a:rPr lang="en-IN" sz="2400" b="1"/>
              <a:t>Steps of the algorithm</a:t>
            </a:r>
          </a:p>
          <a:p>
            <a:pPr algn="ctr">
              <a:buFont typeface="Wingdings" charset="2"/>
              <a:buNone/>
              <a:defRPr/>
            </a:pPr>
            <a:endParaRPr lang="en-IN" sz="2400" b="1"/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1</a:t>
            </a:r>
            <a:r>
              <a:rPr lang="en-IN" sz="2400"/>
              <a:t> − If it is the first element, it is already sorted. return 1;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2</a:t>
            </a:r>
            <a:r>
              <a:rPr lang="en-IN" sz="2400"/>
              <a:t> − Pick next element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3</a:t>
            </a:r>
            <a:r>
              <a:rPr lang="en-IN" sz="2400"/>
              <a:t> − Compare with all elements in the sorted sub-list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4</a:t>
            </a:r>
            <a:r>
              <a:rPr lang="en-IN" sz="2400"/>
              <a:t> − Shift all the elements in the sorted sub-list that is greater than the value to be sorted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5</a:t>
            </a:r>
            <a:r>
              <a:rPr lang="en-IN" sz="2400"/>
              <a:t> − Insert the value </a:t>
            </a:r>
          </a:p>
          <a:p>
            <a:pPr>
              <a:buFont typeface="Wingdings" charset="2"/>
              <a:buNone/>
              <a:defRPr/>
            </a:pPr>
            <a:r>
              <a:rPr lang="en-IN" sz="2400" b="1"/>
              <a:t>Step 6</a:t>
            </a:r>
            <a:r>
              <a:rPr lang="en-IN" sz="2400"/>
              <a:t> − Repeat until list is sorted</a:t>
            </a:r>
            <a:endParaRPr lang="en-US" sz="3600" dirty="0">
              <a:latin typeface="Courier New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58522-2997-AF48-9930-97B64EFD3F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4166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rgbClr val="595959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fld id="{7FC3BDD1-FCAC-F843-B03A-F1A33FEC591C}" type="slidenum">
              <a:rPr lang="en-US" altLang="en-US" sz="1200" smtClean="0">
                <a:solidFill>
                  <a:srgbClr val="898989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89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Analysis</a:t>
            </a:r>
          </a:p>
        </p:txBody>
      </p:sp>
      <p:pic>
        <p:nvPicPr>
          <p:cNvPr id="19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687" y="948690"/>
            <a:ext cx="9332684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void </a:t>
            </a:r>
            <a:r>
              <a:rPr lang="en-US" sz="2400" dirty="0" err="1"/>
              <a:t>insertionSort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n)</a:t>
            </a:r>
          </a:p>
          <a:p>
            <a:pPr fontAlgn="base"/>
            <a:r>
              <a:rPr lang="en-US" sz="2400" dirty="0"/>
              <a:t>{</a:t>
            </a:r>
          </a:p>
          <a:p>
            <a:pPr fontAlgn="base"/>
            <a:r>
              <a:rPr lang="en-US" sz="2400" dirty="0"/>
              <a:t>    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, key, j;</a:t>
            </a:r>
          </a:p>
          <a:p>
            <a:pPr fontAlgn="base"/>
            <a:r>
              <a:rPr lang="en-US" sz="2400" dirty="0"/>
              <a:t>    for (</a:t>
            </a:r>
            <a:r>
              <a:rPr lang="en-US" sz="2400" dirty="0" err="1"/>
              <a:t>i</a:t>
            </a:r>
            <a:r>
              <a:rPr lang="en-US" sz="2400" dirty="0"/>
              <a:t> = 1; </a:t>
            </a:r>
            <a:r>
              <a:rPr lang="en-US" sz="2400" dirty="0" err="1"/>
              <a:t>i</a:t>
            </a:r>
            <a:r>
              <a:rPr lang="en-US" sz="2400" dirty="0"/>
              <a:t> &lt; n; </a:t>
            </a:r>
            <a:r>
              <a:rPr lang="en-US" sz="2400" dirty="0" err="1"/>
              <a:t>i</a:t>
            </a:r>
            <a:r>
              <a:rPr lang="en-US" sz="2400" dirty="0"/>
              <a:t>++) </a:t>
            </a:r>
          </a:p>
          <a:p>
            <a:pPr fontAlgn="base"/>
            <a:r>
              <a:rPr lang="en-US" sz="2400" dirty="0"/>
              <a:t>    {</a:t>
            </a:r>
          </a:p>
          <a:p>
            <a:pPr fontAlgn="base"/>
            <a:r>
              <a:rPr lang="en-US" sz="2400" dirty="0"/>
              <a:t>        key = </a:t>
            </a:r>
            <a:r>
              <a:rPr lang="en-US" sz="2400" dirty="0" err="1"/>
              <a:t>arr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];</a:t>
            </a:r>
          </a:p>
          <a:p>
            <a:pPr fontAlgn="base"/>
            <a:r>
              <a:rPr lang="en-US" sz="2400" dirty="0"/>
              <a:t>        j = </a:t>
            </a:r>
            <a:r>
              <a:rPr lang="en-US" sz="2400" dirty="0" err="1"/>
              <a:t>i</a:t>
            </a:r>
            <a:r>
              <a:rPr lang="en-US" sz="2400" dirty="0"/>
              <a:t> - 1;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       while (j &gt;= 0 &amp;&amp; </a:t>
            </a:r>
            <a:r>
              <a:rPr lang="en-US" sz="2400" dirty="0" err="1"/>
              <a:t>arr</a:t>
            </a:r>
            <a:r>
              <a:rPr lang="en-US" sz="2400" dirty="0"/>
              <a:t>[j] &gt; key) </a:t>
            </a:r>
          </a:p>
          <a:p>
            <a:pPr fontAlgn="base"/>
            <a:r>
              <a:rPr lang="en-US" sz="2400" dirty="0"/>
              <a:t>        {</a:t>
            </a:r>
          </a:p>
          <a:p>
            <a:pPr fontAlgn="base"/>
            <a:r>
              <a:rPr lang="en-US" sz="2400" dirty="0"/>
              <a:t>            </a:t>
            </a:r>
            <a:r>
              <a:rPr lang="en-US" sz="2400" dirty="0" err="1"/>
              <a:t>arr</a:t>
            </a:r>
            <a:r>
              <a:rPr lang="en-US" sz="2400" dirty="0"/>
              <a:t>[j + 1] = </a:t>
            </a:r>
            <a:r>
              <a:rPr lang="en-US" sz="2400" dirty="0" err="1"/>
              <a:t>arr</a:t>
            </a:r>
            <a:r>
              <a:rPr lang="en-US" sz="2400" dirty="0"/>
              <a:t>[j];</a:t>
            </a:r>
          </a:p>
          <a:p>
            <a:pPr fontAlgn="base"/>
            <a:r>
              <a:rPr lang="en-US" sz="2400" dirty="0"/>
              <a:t>            j = j - 1;</a:t>
            </a:r>
          </a:p>
          <a:p>
            <a:pPr fontAlgn="base"/>
            <a:r>
              <a:rPr lang="en-US" sz="2400" dirty="0"/>
              <a:t>        }</a:t>
            </a:r>
          </a:p>
          <a:p>
            <a:pPr fontAlgn="base"/>
            <a:r>
              <a:rPr lang="en-US" sz="2400" dirty="0"/>
              <a:t>        </a:t>
            </a:r>
            <a:r>
              <a:rPr lang="en-US" sz="2400" dirty="0" err="1"/>
              <a:t>arr</a:t>
            </a:r>
            <a:r>
              <a:rPr lang="en-US" sz="2400" dirty="0"/>
              <a:t>[j + 1] = key;</a:t>
            </a:r>
          </a:p>
          <a:p>
            <a:pPr fontAlgn="base"/>
            <a:r>
              <a:rPr lang="en-US" sz="2400" dirty="0"/>
              <a:t>    }</a:t>
            </a:r>
          </a:p>
          <a:p>
            <a:pPr fontAlgn="base"/>
            <a:r>
              <a:rPr lang="en-US" sz="2400" dirty="0"/>
              <a:t>}</a:t>
            </a:r>
          </a:p>
          <a:p>
            <a:r>
              <a:rPr lang="en-US" dirty="0"/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1109209"/>
            <a:ext cx="10058400" cy="1295400"/>
          </a:xfrm>
        </p:spPr>
        <p:txBody>
          <a:bodyPr/>
          <a:lstStyle/>
          <a:p>
            <a:r>
              <a:rPr lang="en-US" dirty="0"/>
              <a:t>Insertion Sort: Number of Comparisons</a:t>
            </a:r>
            <a:endParaRPr lang="en-CA" dirty="0"/>
          </a:p>
        </p:txBody>
      </p:sp>
      <p:graphicFrame>
        <p:nvGraphicFramePr>
          <p:cNvPr id="61443" name="Group 3"/>
          <p:cNvGraphicFramePr>
            <a:graphicFrameLocks noGrp="1"/>
          </p:cNvGraphicFramePr>
          <p:nvPr>
            <p:ph type="tbl" idx="1"/>
          </p:nvPr>
        </p:nvGraphicFramePr>
        <p:xfrm>
          <a:off x="1968500" y="1816101"/>
          <a:ext cx="7780867" cy="3975165"/>
        </p:xfrm>
        <a:graphic>
          <a:graphicData uri="http://schemas.openxmlformats.org/drawingml/2006/table">
            <a:tbl>
              <a:tblPr/>
              <a:tblGrid>
                <a:gridCol w="2239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 of Sorted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Elements</a:t>
                      </a:r>
                      <a:endParaRPr kumimoji="0" lang="en-CA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Best case</a:t>
                      </a:r>
                      <a:endParaRPr kumimoji="0" lang="en-CA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Worst case</a:t>
                      </a:r>
                      <a:endParaRPr kumimoji="0" lang="en-CA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n-1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n-1</a:t>
                      </a: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n-1</a:t>
                      </a:r>
                      <a:endParaRPr kumimoji="0" lang="en-CA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n(n-1)/2</a:t>
                      </a:r>
                      <a:endParaRPr kumimoji="0" lang="en-CA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1482" name="Text Box 42"/>
          <p:cNvSpPr txBox="1">
            <a:spLocks noChangeArrowheads="1"/>
          </p:cNvSpPr>
          <p:nvPr/>
        </p:nvSpPr>
        <p:spPr bwMode="auto">
          <a:xfrm>
            <a:off x="791633" y="6208713"/>
            <a:ext cx="59154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Remark: we only count comparisons of elements in the array.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Sort:  Cost Function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19264"/>
            <a:ext cx="10972800" cy="2937214"/>
          </a:xfrm>
          <a:noFill/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sz="2100"/>
              <a:t>1 operation to initialize the outer loop</a:t>
            </a:r>
          </a:p>
          <a:p>
            <a:pPr>
              <a:lnSpc>
                <a:spcPct val="80000"/>
              </a:lnSpc>
            </a:pPr>
            <a:r>
              <a:rPr lang="en-US" sz="2100"/>
              <a:t>The outer loop is evaluated </a:t>
            </a:r>
            <a:r>
              <a:rPr lang="en-US" sz="2100" i="1"/>
              <a:t>n-1</a:t>
            </a:r>
            <a:r>
              <a:rPr lang="en-US" sz="2100"/>
              <a:t> times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5 instructions (including outer loop comparison and increment)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Total cost of the outer loop: 5(n-1)</a:t>
            </a:r>
          </a:p>
          <a:p>
            <a:pPr>
              <a:lnSpc>
                <a:spcPct val="80000"/>
              </a:lnSpc>
            </a:pPr>
            <a:r>
              <a:rPr lang="en-US" sz="2100"/>
              <a:t>How many times the inner loop is evaluated is affected by the state of the array to be sorted</a:t>
            </a:r>
          </a:p>
          <a:p>
            <a:pPr>
              <a:lnSpc>
                <a:spcPct val="80000"/>
              </a:lnSpc>
            </a:pPr>
            <a:r>
              <a:rPr lang="en-US" sz="2100"/>
              <a:t>Best case: the array is already completely sorted so no “shifting” of array elements is required.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We only test the condition of the inner loop once (2 operations = 1 comparison + 1 element comparison), and the body is never executed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Requires 2(n-1) operations.</a:t>
            </a:r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Sort:  Cost Function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19263"/>
            <a:ext cx="10972800" cy="42354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100"/>
              <a:t>Worst case: the array is sorted in reverse order (so each item has to be moved to the front of the array)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In the </a:t>
            </a:r>
            <a:r>
              <a:rPr lang="en-US" sz="1900" i="1"/>
              <a:t>i</a:t>
            </a:r>
            <a:r>
              <a:rPr lang="en-US" sz="1900"/>
              <a:t>-th iteration of the outer loop, the inner loop will perform </a:t>
            </a:r>
            <a:r>
              <a:rPr lang="en-US" sz="1900" i="1"/>
              <a:t>4i+1</a:t>
            </a:r>
            <a:r>
              <a:rPr lang="en-US" sz="1900"/>
              <a:t> operations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Therefore, the total cost of the inner loop will be </a:t>
            </a:r>
            <a:r>
              <a:rPr lang="en-US" sz="1900" i="1"/>
              <a:t>2n(n-1)+n-1</a:t>
            </a:r>
          </a:p>
          <a:p>
            <a:pPr>
              <a:lnSpc>
                <a:spcPct val="80000"/>
              </a:lnSpc>
            </a:pPr>
            <a:r>
              <a:rPr lang="en-US" sz="2100"/>
              <a:t>Time cost: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Best case: </a:t>
            </a:r>
            <a:r>
              <a:rPr lang="en-US" sz="1900" i="1"/>
              <a:t>7(n-1)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Worst case: </a:t>
            </a:r>
            <a:r>
              <a:rPr lang="en-US" sz="1900" i="1"/>
              <a:t>5(n-1)+2n(n-1)+n-1</a:t>
            </a:r>
          </a:p>
          <a:p>
            <a:pPr lvl="1">
              <a:lnSpc>
                <a:spcPct val="80000"/>
              </a:lnSpc>
            </a:pPr>
            <a:endParaRPr lang="en-US" sz="1900"/>
          </a:p>
          <a:p>
            <a:pPr>
              <a:lnSpc>
                <a:spcPct val="80000"/>
              </a:lnSpc>
            </a:pPr>
            <a:r>
              <a:rPr lang="en-US" sz="2100"/>
              <a:t>What about the number of moves?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Best case: </a:t>
            </a:r>
            <a:r>
              <a:rPr lang="en-US" sz="1900" i="1"/>
              <a:t>2(n-1)</a:t>
            </a:r>
            <a:r>
              <a:rPr lang="en-US" sz="1900"/>
              <a:t> moves</a:t>
            </a:r>
          </a:p>
          <a:p>
            <a:pPr lvl="1">
              <a:lnSpc>
                <a:spcPct val="80000"/>
              </a:lnSpc>
            </a:pPr>
            <a:r>
              <a:rPr lang="en-US" sz="1900"/>
              <a:t>Worst case: </a:t>
            </a:r>
            <a:r>
              <a:rPr lang="en-US" sz="1900" i="1"/>
              <a:t>2(n-1)+n(n-1)/2</a:t>
            </a:r>
          </a:p>
          <a:p>
            <a:pPr lvl="1">
              <a:lnSpc>
                <a:spcPct val="80000"/>
              </a:lnSpc>
            </a:pPr>
            <a:endParaRPr lang="en-US" sz="1900"/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 Sort: Average Case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19263"/>
            <a:ext cx="10972800" cy="41640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100"/>
              <a:t>Is it closer to the best case (</a:t>
            </a:r>
            <a:r>
              <a:rPr lang="en-US" sz="2100" i="1"/>
              <a:t>n</a:t>
            </a:r>
            <a:r>
              <a:rPr lang="en-US" sz="2100"/>
              <a:t> comparisons)?</a:t>
            </a:r>
          </a:p>
          <a:p>
            <a:pPr>
              <a:lnSpc>
                <a:spcPct val="90000"/>
              </a:lnSpc>
            </a:pPr>
            <a:r>
              <a:rPr lang="en-US" sz="2100"/>
              <a:t>The worst case (</a:t>
            </a:r>
            <a:r>
              <a:rPr lang="en-US" sz="2100" i="1"/>
              <a:t>n</a:t>
            </a:r>
            <a:r>
              <a:rPr lang="en-US" sz="2100"/>
              <a:t> * (</a:t>
            </a:r>
            <a:r>
              <a:rPr lang="en-US" sz="2100" i="1"/>
              <a:t>n</a:t>
            </a:r>
            <a:r>
              <a:rPr lang="en-US" sz="2100"/>
              <a:t>-1) / 2) comparisons?</a:t>
            </a:r>
          </a:p>
          <a:p>
            <a:pPr>
              <a:lnSpc>
                <a:spcPct val="90000"/>
              </a:lnSpc>
            </a:pPr>
            <a:r>
              <a:rPr lang="en-US" sz="2100"/>
              <a:t>It turns out that when random data is sorted, insertion sort is usually closer to the worst case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Around </a:t>
            </a:r>
            <a:r>
              <a:rPr lang="en-US" sz="1900" i="1"/>
              <a:t>n</a:t>
            </a:r>
            <a:r>
              <a:rPr lang="en-US" sz="1900"/>
              <a:t> * (</a:t>
            </a:r>
            <a:r>
              <a:rPr lang="en-US" sz="1900" i="1"/>
              <a:t>n</a:t>
            </a:r>
            <a:r>
              <a:rPr lang="en-US" sz="1900"/>
              <a:t>-1) / 4 comparisons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Calculating the average number of comparisons more exactly would require us to state assumptions about what the “average” input data set looked like</a:t>
            </a:r>
          </a:p>
          <a:p>
            <a:pPr lvl="1">
              <a:lnSpc>
                <a:spcPct val="90000"/>
              </a:lnSpc>
            </a:pPr>
            <a:r>
              <a:rPr lang="en-US" sz="1900"/>
              <a:t>This would, for example, necessitate discussion of how items were distributed over the array</a:t>
            </a:r>
          </a:p>
          <a:p>
            <a:pPr>
              <a:lnSpc>
                <a:spcPct val="90000"/>
              </a:lnSpc>
            </a:pPr>
            <a:r>
              <a:rPr lang="en-US" sz="2100"/>
              <a:t>Exact calculation of the number of operations required to perform even simple algorithms can be challenging</a:t>
            </a:r>
            <a:br>
              <a:rPr lang="en-US" sz="2100"/>
            </a:br>
            <a:r>
              <a:rPr lang="en-US" sz="2100"/>
              <a:t>(for instance, assume that each initial order of elements has the same probability to occur)</a:t>
            </a:r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DESCRIPTION         (Cont..)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563852-23D0-B547-9B5B-73952D11905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08088"/>
            <a:ext cx="11148646" cy="4918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ea typeface="ＭＳ Ｐゴシック" panose="020B0600070205080204" pitchFamily="34" charset="-128"/>
              </a:rPr>
              <a:t>Best case: array is in sorted ascending order -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O(n)</a:t>
            </a:r>
          </a:p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Average case: each element is about halfway in order -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O(n</a:t>
            </a:r>
            <a:r>
              <a:rPr lang="en-US" altLang="en-US" baseline="30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)</a:t>
            </a:r>
          </a:p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Worst case: reverse-ordered elements in array -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O(n</a:t>
            </a:r>
            <a:r>
              <a:rPr lang="en-US" altLang="en-US" baseline="30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)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5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most suitable example of insertion sort is to sort the cards in hand.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way a player sorts his cards in hand by taking the first one the comparing it with the next is the fundamental form of insertion sort</a:t>
            </a:r>
          </a:p>
        </p:txBody>
      </p:sp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algorithm is one of the simplest algorithm with simple implementation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IN" sz="24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Basically, Insertion sort is efficient for small data values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IN" sz="24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Insertion sort is adaptive in nature, i.e. it is appropriate for data sets which are already partially sorted.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Which of the following algorithm implementations is similar to that of an insertion sort?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Binary Heap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latin typeface="Arial" panose="020B0604020202020204" pitchFamily="34" charset="0"/>
              </a:rPr>
              <a:t>Quick Sort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latin typeface="Arial" panose="020B0604020202020204" pitchFamily="34" charset="0"/>
              </a:rPr>
              <a:t>Merge sort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sz="1600" dirty="0">
                <a:latin typeface="Arial" panose="020B0604020202020204" pitchFamily="34" charset="0"/>
              </a:rPr>
              <a:t>Radix sort.</a:t>
            </a: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What is the complexity of Insertion sort in worst case scenario? 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O(n)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O(</a:t>
            </a:r>
            <a:r>
              <a:rPr lang="en-US" dirty="0" err="1"/>
              <a:t>nlog</a:t>
            </a:r>
            <a:r>
              <a:rPr lang="en-US" dirty="0"/>
              <a:t> n)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O(2n log n)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Describe what is insertion sort.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2. List out the steps involved in insertion sort.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3. Analyze the complexity of insertion sort.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4. Summarize the working principle of insertion sort.</a:t>
            </a:r>
          </a:p>
          <a:p>
            <a:pPr marL="342900" indent="-342900">
              <a:lnSpc>
                <a:spcPct val="200000"/>
              </a:lnSpc>
            </a:pPr>
            <a:r>
              <a:rPr lang="en-IN" b="1" dirty="0"/>
              <a:t>5.H</a:t>
            </a:r>
            <a:r>
              <a:rPr lang="en-US" b="1" dirty="0" err="1"/>
              <a:t>ow</a:t>
            </a:r>
            <a:r>
              <a:rPr lang="en-US" b="1" dirty="0"/>
              <a:t> does the Insertion Sort Algorithm work?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6. What are the time and space complexities of Insertion Sort?</a:t>
            </a:r>
          </a:p>
          <a:p>
            <a:pPr marL="342900" indent="-342900">
              <a:lnSpc>
                <a:spcPct val="200000"/>
              </a:lnSpc>
            </a:pPr>
            <a:r>
              <a:rPr lang="en-IN" b="1" dirty="0"/>
              <a:t>7. </a:t>
            </a:r>
            <a:r>
              <a:rPr lang="en-US" b="1" dirty="0"/>
              <a:t>What are the key differences between Insertion Sort and Selection Sort?</a:t>
            </a:r>
          </a:p>
          <a:p>
            <a:pPr marL="342900" indent="-342900">
              <a:lnSpc>
                <a:spcPct val="200000"/>
              </a:lnSpc>
            </a:pPr>
            <a:endParaRPr lang="en-US" b="1" dirty="0"/>
          </a:p>
          <a:p>
            <a:pPr marL="342900" indent="-342900">
              <a:lnSpc>
                <a:spcPct val="200000"/>
              </a:lnSpc>
            </a:pPr>
            <a:endParaRPr lang="en-US" b="1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23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</a:t>
            </a:r>
            <a:r>
              <a:rPr lang="en-IN" b="1" i="0" dirty="0">
                <a:solidFill>
                  <a:srgbClr val="0F1111"/>
                </a:solidFill>
                <a:effectLst/>
                <a:latin typeface="Amazon Ember"/>
              </a:rPr>
              <a:t>Data Structure Through C </a:t>
            </a:r>
            <a:r>
              <a:rPr lang="en-IN" i="0" dirty="0">
                <a:solidFill>
                  <a:srgbClr val="0F1111"/>
                </a:solidFill>
                <a:effectLst/>
                <a:latin typeface="Amazon Ember"/>
              </a:rPr>
              <a:t>by </a:t>
            </a:r>
            <a:r>
              <a:rPr lang="en-IN" i="0" dirty="0" err="1">
                <a:solidFill>
                  <a:srgbClr val="0F1111"/>
                </a:solidFill>
                <a:effectLst/>
                <a:latin typeface="Amazon Ember"/>
              </a:rPr>
              <a:t>Yashavant</a:t>
            </a:r>
            <a:r>
              <a:rPr lang="en-IN" i="0" dirty="0">
                <a:solidFill>
                  <a:srgbClr val="0F1111"/>
                </a:solidFill>
                <a:effectLst/>
                <a:latin typeface="Amazon Ember"/>
              </a:rPr>
              <a:t> P. </a:t>
            </a:r>
            <a:r>
              <a:rPr lang="en-IN" i="0" dirty="0" err="1">
                <a:solidFill>
                  <a:srgbClr val="0F1111"/>
                </a:solidFill>
                <a:effectLst/>
                <a:latin typeface="Amazon Ember"/>
              </a:rPr>
              <a:t>Kanetkar</a:t>
            </a:r>
            <a:endParaRPr lang="en-US" dirty="0"/>
          </a:p>
          <a:p>
            <a:pPr algn="l"/>
            <a:r>
              <a:rPr lang="en-US" dirty="0"/>
              <a:t>2. </a:t>
            </a:r>
            <a:r>
              <a:rPr lang="en-IN" b="1" i="0" dirty="0">
                <a:solidFill>
                  <a:srgbClr val="000000"/>
                </a:solidFill>
                <a:effectLst/>
                <a:latin typeface="Inter"/>
              </a:rPr>
              <a:t>Algorithms in a Nutshell by </a:t>
            </a:r>
            <a:r>
              <a:rPr lang="en-IN" b="0" i="0" dirty="0">
                <a:solidFill>
                  <a:srgbClr val="000000"/>
                </a:solidFill>
                <a:effectLst/>
                <a:latin typeface="Inter"/>
              </a:rPr>
              <a:t>George T. Heineman, Gary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"/>
              </a:rPr>
              <a:t>Pollice</a:t>
            </a:r>
            <a:r>
              <a:rPr lang="en-IN" b="0" i="0" dirty="0">
                <a:solidFill>
                  <a:srgbClr val="000000"/>
                </a:solidFill>
                <a:effectLst/>
                <a:latin typeface="Inter"/>
              </a:rPr>
              <a:t> and Stanley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"/>
              </a:rPr>
              <a:t>Selkow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/>
              <a:t>1. https://</a:t>
            </a:r>
            <a:r>
              <a:rPr lang="en-US" dirty="0" err="1"/>
              <a:t>www.javatpoint.com</a:t>
            </a:r>
            <a:r>
              <a:rPr lang="en-US" dirty="0"/>
              <a:t>/insertion-sort</a:t>
            </a:r>
          </a:p>
          <a:p>
            <a:pPr>
              <a:lnSpc>
                <a:spcPct val="150000"/>
              </a:lnSpc>
            </a:pPr>
            <a:r>
              <a:rPr lang="en-US" dirty="0"/>
              <a:t>2. 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Insertion_sort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Data Structures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324</TotalTime>
  <Words>1242</Words>
  <Application>Microsoft Office PowerPoint</Application>
  <PresentationFormat>Widescreen</PresentationFormat>
  <Paragraphs>202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ＭＳ Ｐゴシック</vt:lpstr>
      <vt:lpstr>Amazon Ember</vt:lpstr>
      <vt:lpstr>Arial</vt:lpstr>
      <vt:lpstr>BioRhyme ExtraBold</vt:lpstr>
      <vt:lpstr>Calibri</vt:lpstr>
      <vt:lpstr>Courier New</vt:lpstr>
      <vt:lpstr>Inter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Insertion Sort</vt:lpstr>
      <vt:lpstr>PowerPoint Presentation</vt:lpstr>
      <vt:lpstr>PowerPoint Presentation</vt:lpstr>
      <vt:lpstr>Insertion Sort</vt:lpstr>
      <vt:lpstr>PowerPoint Presentation</vt:lpstr>
      <vt:lpstr>Insertion Sort Analysis</vt:lpstr>
      <vt:lpstr>Insertion Sort: Number of Comparisons</vt:lpstr>
      <vt:lpstr>Insertion Sort:  Cost Function</vt:lpstr>
      <vt:lpstr>Insertion Sort:  Cost Function</vt:lpstr>
      <vt:lpstr>Insertion Sort: Average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U Haritha</cp:lastModifiedBy>
  <cp:revision>30</cp:revision>
  <dcterms:created xsi:type="dcterms:W3CDTF">2020-02-08T09:57:44Z</dcterms:created>
  <dcterms:modified xsi:type="dcterms:W3CDTF">2024-12-16T09:16:19Z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