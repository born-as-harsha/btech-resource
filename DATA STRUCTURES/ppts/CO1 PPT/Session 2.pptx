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71" r:id="rId5"/>
    <p:sldId id="300" r:id="rId6"/>
    <p:sldId id="288" r:id="rId7"/>
    <p:sldId id="340" r:id="rId8"/>
    <p:sldId id="342" r:id="rId9"/>
    <p:sldId id="341" r:id="rId10"/>
    <p:sldId id="343" r:id="rId11"/>
    <p:sldId id="315" r:id="rId12"/>
    <p:sldId id="333" r:id="rId13"/>
    <p:sldId id="335" r:id="rId14"/>
    <p:sldId id="336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  <p:transition spd="slow">
    <p:cut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  <p:transition spd="slow">
    <p:cut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  <p:transition spd="slow">
    <p:cut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  <p:transition spd="slow">
    <p:cut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  <p:transition spd="slow">
    <p:cut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  <p:transition spd="slow">
    <p:cut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  <p:transition spd="slow">
    <p:cut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  <p:transition spd="slow">
    <p:cut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  <p:transition spd="slow">
    <p:cut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  <p:transition spd="slow">
    <p:cut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  <p:transition spd="slow">
    <p:cut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cut thruBlk="1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095100" y="2522688"/>
            <a:ext cx="6597243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  <a:endParaRPr lang="en-US" sz="3200" b="1" cap="all" dirty="0">
              <a:ln/>
              <a:solidFill>
                <a:schemeClr val="accent1">
                  <a:lumMod val="75000"/>
                </a:schemeClr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     Course code: </a:t>
            </a:r>
            <a:r>
              <a:rPr lang="en-US" sz="3200" b="1" cap="all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24sc1203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</a:p>
          <a:p>
            <a:pPr lvl="2" algn="ctr"/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lvl="2"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Topic: </a:t>
            </a:r>
            <a:r>
              <a:rPr lang="en-US" sz="3200" b="1" dirty="0">
                <a:ln/>
                <a:solidFill>
                  <a:schemeClr val="accent1">
                    <a:lumMod val="75000"/>
                  </a:schemeClr>
                </a:solidFill>
                <a:cs typeface="Poppins" panose="00000500000000000000" pitchFamily="2" charset="0"/>
                <a:sym typeface="BioRhyme ExtraBold"/>
              </a:rPr>
              <a:t>Time complexity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BES-1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7293152" y="5713730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Session-02</a:t>
            </a:r>
          </a:p>
        </p:txBody>
      </p:sp>
    </p:spTree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404727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03922" y="1157499"/>
            <a:ext cx="10731286" cy="87716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</a:t>
            </a:r>
            <a:r>
              <a:rPr lang="en-IN" sz="1600" b="0" i="0" dirty="0">
                <a:effectLst/>
                <a:latin typeface="Poppins"/>
                <a:cs typeface="Poppins"/>
              </a:rPr>
              <a:t>in evaluating</a:t>
            </a:r>
            <a:r>
              <a:rPr lang="en-IN" dirty="0"/>
              <a:t> time complexities</a:t>
            </a:r>
            <a:r>
              <a:rPr lang="en-US" sz="1600" b="0" i="0" dirty="0">
                <a:effectLst/>
                <a:latin typeface="Poppins"/>
                <a:cs typeface="Poppins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212970" y="2326168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995362" y="2938317"/>
            <a:ext cx="10731286" cy="141577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  <a:endParaRPr lang="en-US" sz="1600" dirty="0">
              <a:latin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Understand the concept of  Various Algorithms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Learn the Mathematical background for deriving time complexity.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Analyse the algorithm to  compute  time complexity.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16598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62" y="318900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536001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62" y="5398836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95362" y="5148150"/>
            <a:ext cx="10731286" cy="113877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Evaluate the time complexities of the different Algorithmic solutions for various types of Problems.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Write the notations for</a:t>
            </a:r>
            <a:r>
              <a:rPr lang="en-US" dirty="0"/>
              <a:t> calculating the running time complexity of different algorithms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SESSION INTRODUCTION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94EBD7-EE1C-49EB-B1BE-FC3E696B4121}"/>
              </a:ext>
            </a:extLst>
          </p:cNvPr>
          <p:cNvSpPr txBox="1"/>
          <p:nvPr/>
        </p:nvSpPr>
        <p:spPr>
          <a:xfrm>
            <a:off x="3290773" y="1097279"/>
            <a:ext cx="8037628" cy="2557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400" spc="-5" dirty="0">
              <a:latin typeface="Times New Roman"/>
              <a:ea typeface="Tahoma"/>
              <a:cs typeface="Times New Roman"/>
            </a:endParaRPr>
          </a:p>
          <a:p>
            <a:pPr marL="342900" marR="196850" indent="-342900" algn="just"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spc="-5" dirty="0">
                <a:latin typeface="Times New Roman"/>
                <a:ea typeface="Tahoma"/>
                <a:cs typeface="Times New Roman"/>
              </a:rPr>
              <a:t> Time Complexity with Asymptotic Notations.</a:t>
            </a:r>
          </a:p>
          <a:p>
            <a:pPr marL="342900" marR="196850" indent="-342900" algn="just"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endParaRPr lang="en-US" sz="2400" spc="-5" dirty="0">
              <a:latin typeface="Times New Roman"/>
              <a:ea typeface="Tahoma"/>
              <a:cs typeface="Times New Roman"/>
            </a:endParaRPr>
          </a:p>
          <a:p>
            <a:pPr marR="196850" algn="just">
              <a:spcBef>
                <a:spcPts val="100"/>
              </a:spcBef>
              <a:buSzPct val="94444"/>
              <a:tabLst>
                <a:tab pos="217170" algn="l"/>
              </a:tabLst>
            </a:pPr>
            <a:endParaRPr lang="en-US" sz="2400" spc="-5" dirty="0">
              <a:latin typeface="Times New Roman"/>
              <a:ea typeface="Tahoma"/>
              <a:cs typeface="Times New Roman"/>
            </a:endParaRPr>
          </a:p>
          <a:p>
            <a:pPr marR="196850" algn="just">
              <a:spcBef>
                <a:spcPts val="100"/>
              </a:spcBef>
              <a:buSzPct val="94444"/>
              <a:tabLst>
                <a:tab pos="217170" algn="l"/>
              </a:tabLst>
            </a:pPr>
            <a:endParaRPr lang="en-US" sz="2400" spc="-5" dirty="0">
              <a:latin typeface="Times New Roman"/>
              <a:ea typeface="Tahoma"/>
              <a:cs typeface="Times New Roman"/>
            </a:endParaRPr>
          </a:p>
          <a:p>
            <a:pPr marL="342900" marR="196850" indent="-342900" algn="just">
              <a:spcBef>
                <a:spcPts val="100"/>
              </a:spcBef>
              <a:buSzPct val="94444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400" spc="-5" dirty="0">
                <a:latin typeface="Times New Roman"/>
                <a:ea typeface="Tahoma"/>
                <a:cs typeface="Times New Roman"/>
              </a:rPr>
              <a:t>Examples of Time Complexity.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68" y="6427786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765609"/>
              </p:ext>
            </p:extLst>
          </p:nvPr>
        </p:nvGraphicFramePr>
        <p:xfrm>
          <a:off x="7315200" y="1895157"/>
          <a:ext cx="4002722" cy="3489009"/>
        </p:xfrm>
        <a:graphic>
          <a:graphicData uri="http://schemas.openxmlformats.org/drawingml/2006/table">
            <a:tbl>
              <a:tblPr/>
              <a:tblGrid>
                <a:gridCol w="2201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CODE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UNIT</a:t>
                      </a:r>
                      <a:endParaRPr lang="en-US" sz="18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9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If (n %2 ==0)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    {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800" kern="1200" baseline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4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   </a:t>
                      </a:r>
                      <a:r>
                        <a:rPr lang="en-US" sz="2000" dirty="0" err="1"/>
                        <a:t>printf</a:t>
                      </a:r>
                      <a:r>
                        <a:rPr lang="en-US" sz="2000" dirty="0"/>
                        <a:t>(“Even”);}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dirty="0">
                          <a:latin typeface="Calibri"/>
                          <a:ea typeface="Calibri"/>
                          <a:cs typeface="Times New Roman"/>
                        </a:rPr>
                        <a:t>          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 else{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  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/>
                        <a:t>   </a:t>
                      </a:r>
                      <a:r>
                        <a:rPr lang="en-US" sz="2400" dirty="0" err="1"/>
                        <a:t>printf</a:t>
                      </a:r>
                      <a:r>
                        <a:rPr lang="en-US" sz="2400" dirty="0"/>
                        <a:t>(“Odd”);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  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latin typeface="Calibri"/>
                          <a:ea typeface="Calibri"/>
                          <a:cs typeface="Times New Roman"/>
                        </a:rPr>
                        <a:t>       }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800" kern="1200" baseline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6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TOTAL COST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    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8320" y="5567680"/>
            <a:ext cx="6888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 coefficient should be considered , others ignored </a:t>
            </a:r>
          </a:p>
          <a:p>
            <a:r>
              <a:rPr lang="en-US" sz="2400" dirty="0"/>
              <a:t> Time complexity  :  O(1) , as it takes constant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849120"/>
            <a:ext cx="3434080" cy="31902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Examples 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Odd or even number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Accessing an element of an array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07840" y="1849120"/>
            <a:ext cx="2844800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u="sng" dirty="0"/>
              <a:t>CODE SNIPPET</a:t>
            </a:r>
            <a:endParaRPr lang="en-US" u="sng" dirty="0"/>
          </a:p>
          <a:p>
            <a:r>
              <a:rPr lang="en-US" dirty="0"/>
              <a:t> </a:t>
            </a:r>
          </a:p>
          <a:p>
            <a:r>
              <a:rPr lang="en-US" sz="2800" dirty="0"/>
              <a:t>If (n %2 ==0)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printf</a:t>
            </a:r>
            <a:r>
              <a:rPr lang="en-US" sz="2800" dirty="0"/>
              <a:t>(“Even”);}</a:t>
            </a:r>
          </a:p>
          <a:p>
            <a:r>
              <a:rPr lang="en-US" sz="2800" dirty="0"/>
              <a:t>  else{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printf</a:t>
            </a:r>
            <a:r>
              <a:rPr lang="en-US" sz="2800" dirty="0"/>
              <a:t>(“Odd”)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2945333" y="51112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TIME COMPLEXITY - EXAMPLES</a:t>
            </a:r>
          </a:p>
        </p:txBody>
      </p:sp>
    </p:spTree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165386"/>
              </p:ext>
            </p:extLst>
          </p:nvPr>
        </p:nvGraphicFramePr>
        <p:xfrm>
          <a:off x="7315200" y="1895157"/>
          <a:ext cx="4002722" cy="2697163"/>
        </p:xfrm>
        <a:graphic>
          <a:graphicData uri="http://schemas.openxmlformats.org/drawingml/2006/table">
            <a:tbl>
              <a:tblPr/>
              <a:tblGrid>
                <a:gridCol w="2201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2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CODE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UNIT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9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for (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i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=0;i&lt;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n;i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++)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Calibri"/>
                          <a:cs typeface="Times New Roman"/>
                        </a:rPr>
                        <a:t>n+1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    {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4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                S=</a:t>
                      </a:r>
                      <a:r>
                        <a:rPr lang="en-US" sz="2000" dirty="0" err="1">
                          <a:latin typeface="Calibri"/>
                          <a:ea typeface="Calibri"/>
                          <a:cs typeface="Times New Roman"/>
                        </a:rPr>
                        <a:t>s+i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;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Calibri"/>
                          <a:cs typeface="Times New Roman"/>
                        </a:rPr>
                        <a:t>n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latin typeface="Calibri"/>
                          <a:ea typeface="Calibri"/>
                          <a:cs typeface="Times New Roman"/>
                        </a:rPr>
                        <a:t>       }</a:t>
                      </a:r>
                      <a:endParaRPr lang="en-US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6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TOTAL COST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2n+1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74240" y="4937760"/>
            <a:ext cx="6238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 coefficient should be considered , others ignored </a:t>
            </a:r>
          </a:p>
          <a:p>
            <a:r>
              <a:rPr lang="en-US" sz="2400" dirty="0"/>
              <a:t>                  Time complexity  :  O(n)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828800"/>
            <a:ext cx="3434080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Examples 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Traversing an Array, Linked List.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Linear search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26560" y="1930400"/>
            <a:ext cx="2844800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u="sng" dirty="0"/>
              <a:t>CODE SNIPPET</a:t>
            </a:r>
            <a:endParaRPr lang="en-US" u="sng" dirty="0"/>
          </a:p>
          <a:p>
            <a:r>
              <a:rPr lang="en-US" dirty="0"/>
              <a:t> </a:t>
            </a:r>
          </a:p>
          <a:p>
            <a:r>
              <a:rPr lang="en-US" sz="2800" dirty="0"/>
              <a:t>for(</a:t>
            </a:r>
            <a:r>
              <a:rPr lang="en-US" sz="2800" dirty="0" err="1"/>
              <a:t>i</a:t>
            </a:r>
            <a:r>
              <a:rPr lang="en-US" sz="2800" dirty="0"/>
              <a:t>=0;i&lt;</a:t>
            </a:r>
            <a:r>
              <a:rPr lang="en-US" sz="2800" dirty="0" err="1"/>
              <a:t>n;i</a:t>
            </a:r>
            <a:r>
              <a:rPr lang="en-US" sz="2800" dirty="0"/>
              <a:t>++)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    s=</a:t>
            </a:r>
            <a:r>
              <a:rPr lang="en-US" sz="2800" dirty="0" err="1"/>
              <a:t>s+I</a:t>
            </a:r>
            <a:r>
              <a:rPr lang="en-US" sz="2800" dirty="0"/>
              <a:t>;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2945333" y="51112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TIME COMPLEXITY - EXAMPLES</a:t>
            </a:r>
          </a:p>
        </p:txBody>
      </p:sp>
    </p:spTree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260349"/>
              </p:ext>
            </p:extLst>
          </p:nvPr>
        </p:nvGraphicFramePr>
        <p:xfrm>
          <a:off x="7721600" y="853440"/>
          <a:ext cx="3860800" cy="4812969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CODE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UNIT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for (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i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=0;i&lt;</a:t>
                      </a:r>
                      <a:r>
                        <a:rPr lang="en-US" sz="2400" dirty="0" err="1">
                          <a:latin typeface="Calibri"/>
                          <a:ea typeface="Calibri"/>
                          <a:cs typeface="Times New Roman"/>
                        </a:rPr>
                        <a:t>n;i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++)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    {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ea typeface="Calibri"/>
                          <a:cs typeface="Times New Roman"/>
                        </a:rPr>
                        <a:t>    for (</a:t>
                      </a:r>
                      <a:r>
                        <a:rPr lang="en-US" sz="2400" dirty="0" err="1">
                          <a:latin typeface="+mn-lt"/>
                          <a:ea typeface="Calibri"/>
                          <a:cs typeface="Times New Roman"/>
                        </a:rPr>
                        <a:t>i</a:t>
                      </a:r>
                      <a:r>
                        <a:rPr lang="en-US" sz="2400" dirty="0">
                          <a:latin typeface="+mn-lt"/>
                          <a:ea typeface="Calibri"/>
                          <a:cs typeface="Times New Roman"/>
                        </a:rPr>
                        <a:t>=0;i&lt;</a:t>
                      </a:r>
                      <a:r>
                        <a:rPr lang="en-US" sz="2400" dirty="0" err="1">
                          <a:latin typeface="+mn-lt"/>
                          <a:ea typeface="Calibri"/>
                          <a:cs typeface="Times New Roman"/>
                        </a:rPr>
                        <a:t>n;i</a:t>
                      </a:r>
                      <a:r>
                        <a:rPr lang="en-US" sz="2400" dirty="0">
                          <a:latin typeface="+mn-lt"/>
                          <a:ea typeface="Calibri"/>
                          <a:cs typeface="Times New Roman"/>
                        </a:rPr>
                        <a:t>++)</a:t>
                      </a:r>
                      <a:endParaRPr lang="en-US" sz="1800" dirty="0">
                        <a:latin typeface="+mn-lt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n(n+1)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     </a:t>
                      </a:r>
                      <a:r>
                        <a:rPr lang="en-US" sz="2400" dirty="0">
                          <a:latin typeface="+mn-lt"/>
                          <a:ea typeface="Calibri"/>
                          <a:cs typeface="Times New Roman"/>
                        </a:rPr>
                        <a:t> {</a:t>
                      </a: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  c[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][j]=a[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][j]+b[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][j];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n*n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latin typeface="Calibri"/>
                          <a:ea typeface="Calibri"/>
                          <a:cs typeface="Times New Roman"/>
                        </a:rPr>
                        <a:t>           </a:t>
                      </a:r>
                      <a:r>
                        <a:rPr lang="en-US" sz="1800" dirty="0">
                          <a:latin typeface="Calibri"/>
                          <a:ea typeface="Calibri"/>
                          <a:cs typeface="Times New Roman"/>
                        </a:rPr>
                        <a:t>}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1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3200" dirty="0">
                          <a:latin typeface="Calibri"/>
                          <a:ea typeface="Calibri"/>
                          <a:cs typeface="Times New Roman"/>
                        </a:rPr>
                        <a:t>}</a:t>
                      </a:r>
                      <a:endParaRPr lang="en-US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0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TOTAL COST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US" sz="1800" kern="1200" baseline="30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+2n+1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48071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High coefficient should be considered , others ignored </a:t>
            </a:r>
          </a:p>
          <a:p>
            <a:r>
              <a:rPr lang="en-US" sz="2400" dirty="0"/>
              <a:t>                  Time complexity  :  O(n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440" y="833120"/>
            <a:ext cx="3088640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Examples 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Traversing an 2D Array.(Matrix Multiplication)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Bubble Sort.</a:t>
            </a:r>
          </a:p>
          <a:p>
            <a:pPr marL="342900" indent="-342900">
              <a:buAutoNum type="arabicPeriod"/>
            </a:pPr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 Insertion sort.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42080" y="853440"/>
            <a:ext cx="3596640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u="sng" dirty="0"/>
              <a:t>CODE SNIPPET</a:t>
            </a:r>
            <a:endParaRPr lang="en-US" u="sng" dirty="0"/>
          </a:p>
          <a:p>
            <a:r>
              <a:rPr lang="en-US" dirty="0"/>
              <a:t> </a:t>
            </a:r>
            <a:endParaRPr lang="en-US" sz="2800" dirty="0"/>
          </a:p>
          <a:p>
            <a:r>
              <a:rPr lang="en-US" sz="2800" dirty="0"/>
              <a:t> for(</a:t>
            </a:r>
            <a:r>
              <a:rPr lang="en-US" sz="2800" dirty="0" err="1"/>
              <a:t>i</a:t>
            </a:r>
            <a:r>
              <a:rPr lang="en-US" sz="2800" dirty="0"/>
              <a:t>=0;i&lt;</a:t>
            </a:r>
            <a:r>
              <a:rPr lang="en-US" sz="2800" dirty="0" err="1"/>
              <a:t>n;i</a:t>
            </a:r>
            <a:r>
              <a:rPr lang="en-US" sz="2800" dirty="0"/>
              <a:t>++)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    for(j=0;j&lt;</a:t>
            </a:r>
            <a:r>
              <a:rPr lang="en-US" sz="2800" dirty="0" err="1"/>
              <a:t>n;j</a:t>
            </a:r>
            <a:r>
              <a:rPr lang="en-US" sz="2800" dirty="0"/>
              <a:t>++)</a:t>
            </a:r>
          </a:p>
          <a:p>
            <a:r>
              <a:rPr lang="en-US" sz="2800" dirty="0"/>
              <a:t>     {</a:t>
            </a:r>
          </a:p>
          <a:p>
            <a:r>
              <a:rPr lang="en-US" sz="2800" dirty="0"/>
              <a:t>       c[</a:t>
            </a:r>
            <a:r>
              <a:rPr lang="en-US" sz="2800" dirty="0" err="1"/>
              <a:t>i</a:t>
            </a:r>
            <a:r>
              <a:rPr lang="en-US" sz="2800" dirty="0"/>
              <a:t>][j]=a[</a:t>
            </a:r>
            <a:r>
              <a:rPr lang="en-US" sz="2800" dirty="0" err="1"/>
              <a:t>i</a:t>
            </a:r>
            <a:r>
              <a:rPr lang="en-US" sz="2800" dirty="0"/>
              <a:t>][j]+b[</a:t>
            </a:r>
            <a:r>
              <a:rPr lang="en-US" sz="2800" dirty="0" err="1"/>
              <a:t>i</a:t>
            </a:r>
            <a:r>
              <a:rPr lang="en-US" sz="2800" dirty="0"/>
              <a:t>][j];</a:t>
            </a:r>
          </a:p>
          <a:p>
            <a:r>
              <a:rPr lang="en-US" sz="2800" dirty="0"/>
              <a:t>     }</a:t>
            </a:r>
          </a:p>
          <a:p>
            <a:r>
              <a:rPr lang="en-US" sz="2800" dirty="0"/>
              <a:t>}</a:t>
            </a:r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006293" y="24696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TIME COMPLEXITY - EXAMPLES</a:t>
            </a:r>
          </a:p>
        </p:txBody>
      </p:sp>
    </p:spTree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86CF-49F8-FC17-02BB-C1DF7EB7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32BE0A-116D-2478-9FFA-C384F2E75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785513"/>
              </p:ext>
            </p:extLst>
          </p:nvPr>
        </p:nvGraphicFramePr>
        <p:xfrm>
          <a:off x="7721600" y="853440"/>
          <a:ext cx="3860800" cy="4581396"/>
        </p:xfrm>
        <a:graphic>
          <a:graphicData uri="http://schemas.openxmlformats.org/drawingml/2006/table">
            <a:tbl>
              <a:tblPr/>
              <a:tblGrid>
                <a:gridCol w="2759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4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CODE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UNIT</a:t>
                      </a:r>
                      <a:endParaRPr lang="en-US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nn-NO" sz="2000" dirty="0"/>
                        <a:t>for (i = 1; i &lt;= n; i=i*2) 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Calibri"/>
                          <a:cs typeface="Times New Roman"/>
                        </a:rPr>
                        <a:t>n/2+1</a:t>
                      </a:r>
                      <a:endParaRPr lang="en-US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r>
                        <a:rPr lang="nn-NO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printf("Hello World \n");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 n/2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log2(n)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nn-NO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(i = n; i &gt;= 0; i=i/2) 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n/2+1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/>
                        <a:t>  {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8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printf("Hello World \n");</a:t>
                      </a:r>
                      <a:endParaRPr lang="en-US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n/2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8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0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TOTAL COST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log2(n)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DA9975-0080-C073-D9CA-C0D98326B915}"/>
              </a:ext>
            </a:extLst>
          </p:cNvPr>
          <p:cNvSpPr txBox="1"/>
          <p:nvPr/>
        </p:nvSpPr>
        <p:spPr>
          <a:xfrm>
            <a:off x="1400116" y="572649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complexity  :  </a:t>
            </a:r>
            <a:r>
              <a:rPr lang="en-IN" sz="2400" dirty="0"/>
              <a:t>O(log2(n))</a:t>
            </a:r>
            <a:r>
              <a:rPr lang="en-US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AD874-889A-3C58-ACAD-19CE2FE38D29}"/>
              </a:ext>
            </a:extLst>
          </p:cNvPr>
          <p:cNvSpPr txBox="1"/>
          <p:nvPr/>
        </p:nvSpPr>
        <p:spPr>
          <a:xfrm>
            <a:off x="243840" y="745288"/>
            <a:ext cx="308864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Examples :</a:t>
            </a:r>
          </a:p>
          <a:p>
            <a:endParaRPr lang="en-US" sz="2800" dirty="0"/>
          </a:p>
          <a:p>
            <a:pPr marL="342900" indent="-342900">
              <a:buAutoNum type="arabicPeriod"/>
            </a:pPr>
            <a:r>
              <a:rPr lang="en-US" sz="2800" dirty="0"/>
              <a:t>Binary search</a:t>
            </a:r>
          </a:p>
          <a:p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AD465-5984-355F-BF85-C0AAEAD26DD4}"/>
              </a:ext>
            </a:extLst>
          </p:cNvPr>
          <p:cNvSpPr txBox="1"/>
          <p:nvPr/>
        </p:nvSpPr>
        <p:spPr>
          <a:xfrm>
            <a:off x="3515360" y="745288"/>
            <a:ext cx="402336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u="sng" dirty="0"/>
              <a:t>CODE SNIPPET</a:t>
            </a:r>
            <a:endParaRPr lang="en-US" u="sng" dirty="0"/>
          </a:p>
          <a:p>
            <a:r>
              <a:rPr lang="en-US" dirty="0"/>
              <a:t> </a:t>
            </a:r>
            <a:endParaRPr lang="en-US" sz="2800" dirty="0"/>
          </a:p>
          <a:p>
            <a:r>
              <a:rPr lang="en-US" sz="2800" dirty="0"/>
              <a:t> </a:t>
            </a:r>
            <a:r>
              <a:rPr lang="nn-NO" sz="2800" dirty="0"/>
              <a:t>for (i = 1; i &lt;= n; i=i*2) </a:t>
            </a:r>
          </a:p>
          <a:p>
            <a:r>
              <a:rPr lang="nn-NO" sz="2800" dirty="0"/>
              <a:t>{printf("Hello World \n");}</a:t>
            </a:r>
            <a:endParaRPr lang="en-US" sz="2800" dirty="0"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04A519E0-497B-3AC6-417D-8281B36C55B9}"/>
              </a:ext>
            </a:extLst>
          </p:cNvPr>
          <p:cNvSpPr/>
          <p:nvPr/>
        </p:nvSpPr>
        <p:spPr>
          <a:xfrm>
            <a:off x="3006293" y="24696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TIME COMPLEXITY -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9F4C9-07C1-5C79-6431-301D401CCDA7}"/>
              </a:ext>
            </a:extLst>
          </p:cNvPr>
          <p:cNvSpPr txBox="1"/>
          <p:nvPr/>
        </p:nvSpPr>
        <p:spPr>
          <a:xfrm>
            <a:off x="3616960" y="2465792"/>
            <a:ext cx="3860800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    </a:t>
            </a:r>
            <a:r>
              <a:rPr lang="en-US" sz="2400" u="sng" dirty="0"/>
              <a:t>CODE SNIPPET</a:t>
            </a:r>
            <a:endParaRPr lang="en-US" u="sng" dirty="0"/>
          </a:p>
          <a:p>
            <a:r>
              <a:rPr lang="en-US" dirty="0"/>
              <a:t> </a:t>
            </a:r>
            <a:endParaRPr lang="en-US" sz="2800" dirty="0"/>
          </a:p>
          <a:p>
            <a:r>
              <a:rPr lang="en-US" sz="2800" dirty="0"/>
              <a:t> </a:t>
            </a:r>
            <a:r>
              <a:rPr lang="nn-NO" sz="2800" dirty="0"/>
              <a:t>for (i = n; i &gt;= 0; i=i/2) </a:t>
            </a:r>
          </a:p>
          <a:p>
            <a:r>
              <a:rPr lang="nn-NO" sz="2800" dirty="0"/>
              <a:t>{</a:t>
            </a:r>
          </a:p>
          <a:p>
            <a:r>
              <a:rPr lang="nn-NO" sz="2800" dirty="0"/>
              <a:t>printf("Hello World \n");</a:t>
            </a:r>
          </a:p>
          <a:p>
            <a:r>
              <a:rPr lang="nn-NO" sz="2800" dirty="0"/>
              <a:t>    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69157800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68" y="6493201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pic>
        <p:nvPicPr>
          <p:cNvPr id="32770" name="Picture 2" descr="https://miro.medium.com/v2/resize:fit:700/1*BKgI_iENpAqfKIbTlVf3UQ.png"/>
          <p:cNvPicPr>
            <a:picLocks noChangeAspect="1" noChangeArrowheads="1"/>
          </p:cNvPicPr>
          <p:nvPr/>
        </p:nvPicPr>
        <p:blipFill>
          <a:blip r:embed="rId4"/>
          <a:srcRect r="848"/>
          <a:stretch>
            <a:fillRect/>
          </a:stretch>
        </p:blipFill>
        <p:spPr bwMode="auto">
          <a:xfrm>
            <a:off x="1463040" y="731520"/>
            <a:ext cx="10180321" cy="5509260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819093" y="34856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COMMON TIME COMPLEXITIES </a:t>
            </a:r>
          </a:p>
        </p:txBody>
      </p:sp>
    </p:spTree>
    <p:extLst>
      <p:ext uri="{BB962C8B-B14F-4D97-AF65-F5344CB8AC3E}">
        <p14:creationId xmlns:p14="http://schemas.microsoft.com/office/powerpoint/2010/main" val="4267876444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321253" y="45139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-regular"/>
                <a:cs typeface="Poppins" panose="00000500000000000000" pitchFamily="2" charset="0"/>
              </a:rPr>
              <a:t>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763" y="1188761"/>
            <a:ext cx="10841038" cy="4206199"/>
          </a:xfrm>
        </p:spPr>
        <p:txBody>
          <a:bodyPr>
            <a:normAutofit/>
          </a:bodyPr>
          <a:lstStyle/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endParaRPr lang="en-US" sz="1800" b="1" dirty="0">
              <a:latin typeface="inter-regular"/>
            </a:endParaRP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3000" dirty="0">
                <a:latin typeface="inter-regular"/>
              </a:rPr>
              <a:t>Time complexities of various well known Algorithms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3000" dirty="0">
                <a:latin typeface="inter-regular"/>
              </a:rPr>
              <a:t>Mathematical computations of well known Algorithms</a:t>
            </a:r>
          </a:p>
          <a:p>
            <a:pPr marL="342900" marR="709930" indent="-342900">
              <a:lnSpc>
                <a:spcPct val="148000"/>
              </a:lnSpc>
              <a:spcBef>
                <a:spcPts val="1045"/>
              </a:spcBef>
              <a:buFont typeface="+mj-lt"/>
              <a:buAutoNum type="arabicPeriod"/>
            </a:pPr>
            <a:r>
              <a:rPr lang="en-US" sz="3000" dirty="0">
                <a:latin typeface="inter-regular"/>
              </a:rPr>
              <a:t>Examples of  Time Complexities.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764809448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latin typeface="inter-regular"/>
              </a:rPr>
              <a:t>SELF-ASSESSMENT 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8208" y="3550920"/>
            <a:ext cx="10172210" cy="962897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/>
              <a:t>2. Which of the following sorting algorithms has the lowest worst-case complexity?</a:t>
            </a:r>
            <a:endParaRPr sz="2400" dirty="0">
              <a:solidFill>
                <a:schemeClr val="bg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966574" y="4583547"/>
            <a:ext cx="10155277" cy="177372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IN" dirty="0"/>
          </a:p>
          <a:p>
            <a:pPr fontAlgn="base"/>
            <a:r>
              <a:rPr lang="en-US" sz="2400" dirty="0">
                <a:solidFill>
                  <a:srgbClr val="FFC000"/>
                </a:solidFill>
              </a:rPr>
              <a:t>Merge Sort</a:t>
            </a:r>
          </a:p>
          <a:p>
            <a:pPr fontAlgn="base"/>
            <a:r>
              <a:rPr lang="en-US" sz="2400" dirty="0"/>
              <a:t>Bubble Sort</a:t>
            </a:r>
          </a:p>
          <a:p>
            <a:pPr fontAlgn="base"/>
            <a:r>
              <a:rPr lang="en-US" sz="2400" dirty="0"/>
              <a:t>Quick Sort</a:t>
            </a:r>
          </a:p>
          <a:p>
            <a:pPr fontAlgn="base"/>
            <a:r>
              <a:rPr lang="en-US" sz="2400" dirty="0"/>
              <a:t>Selection Sort</a:t>
            </a:r>
            <a:r>
              <a:rPr lang="en-IN" dirty="0"/>
              <a:t>d</a:t>
            </a:r>
            <a:br>
              <a:rPr lang="en-IN" dirty="0"/>
            </a:br>
            <a:endParaRPr lang="en-US" dirty="0"/>
          </a:p>
        </p:txBody>
      </p:sp>
      <p:sp>
        <p:nvSpPr>
          <p:cNvPr id="10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995362" y="792480"/>
            <a:ext cx="10172210" cy="102033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IN" sz="2400" dirty="0"/>
              <a:t>1. </a:t>
            </a:r>
            <a:r>
              <a:rPr lang="en-US" sz="2400" dirty="0"/>
              <a:t>O( n</a:t>
            </a:r>
            <a:r>
              <a:rPr lang="en-US" sz="2400" baseline="30000" dirty="0"/>
              <a:t>2 </a:t>
            </a:r>
            <a:r>
              <a:rPr lang="en-US" sz="2400" dirty="0"/>
              <a:t>) is the worst case time complexity, so among the given options it can represent :-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1733819"/>
            <a:ext cx="1017220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O( n )</a:t>
            </a:r>
          </a:p>
          <a:p>
            <a:pPr fontAlgn="base"/>
            <a:r>
              <a:rPr lang="en-US" dirty="0"/>
              <a:t>O( 1 )</a:t>
            </a:r>
          </a:p>
          <a:p>
            <a:pPr fontAlgn="base"/>
            <a:r>
              <a:rPr lang="en-US" dirty="0"/>
              <a:t>O ( </a:t>
            </a:r>
            <a:r>
              <a:rPr lang="en-US" dirty="0" err="1"/>
              <a:t>nlogn</a:t>
            </a:r>
            <a:r>
              <a:rPr lang="en-US" dirty="0"/>
              <a:t> )</a:t>
            </a:r>
          </a:p>
          <a:p>
            <a:pPr fontAlgn="base"/>
            <a:r>
              <a:rPr lang="en-US" b="1" dirty="0">
                <a:solidFill>
                  <a:srgbClr val="FFC000"/>
                </a:solidFill>
              </a:rPr>
              <a:t>All of the above</a:t>
            </a:r>
          </a:p>
          <a:p>
            <a:pPr fontAlgn="base"/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956278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02533" y="856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TERMINAL QUESTIONS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98F8BB-622F-BFA4-C632-67AFA4330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923" y="1148716"/>
            <a:ext cx="9337358" cy="4758332"/>
          </a:xfrm>
        </p:spPr>
        <p:txBody>
          <a:bodyPr>
            <a:normAutofit/>
          </a:bodyPr>
          <a:lstStyle/>
          <a:p>
            <a:pPr marL="514350" marR="709930" indent="-514350">
              <a:lnSpc>
                <a:spcPct val="148000"/>
              </a:lnSpc>
              <a:spcBef>
                <a:spcPts val="1045"/>
              </a:spcBef>
              <a:buAutoNum type="arabicPeriod"/>
            </a:pPr>
            <a:r>
              <a:rPr lang="en-US" sz="2000" b="1" dirty="0"/>
              <a:t>What is the worst ,best and average case time complexities of binary search?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2000" b="1" dirty="0" err="1"/>
              <a:t>Ans</a:t>
            </a:r>
            <a:r>
              <a:rPr lang="en-US" sz="2000" b="1" dirty="0"/>
              <a:t>: Best O(n), Average and Worst O(n</a:t>
            </a:r>
            <a:r>
              <a:rPr lang="en-US" sz="2000" b="1" baseline="30000" dirty="0"/>
              <a:t>2</a:t>
            </a:r>
            <a:r>
              <a:rPr lang="en-US" sz="2000" b="1" dirty="0"/>
              <a:t>)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2000" b="1" dirty="0"/>
              <a:t>2. What is the importance of time complexity?</a:t>
            </a:r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2000" b="1" dirty="0" err="1"/>
              <a:t>Ans:</a:t>
            </a:r>
            <a:r>
              <a:rPr lang="en-US" sz="2000" dirty="0" err="1"/>
              <a:t>The</a:t>
            </a:r>
            <a:r>
              <a:rPr lang="en-US" sz="2000" dirty="0"/>
              <a:t> time complexity of an algorithm </a:t>
            </a:r>
            <a:r>
              <a:rPr lang="en-US" sz="2000" b="1" dirty="0"/>
              <a:t>determines how long it will take to execute it</a:t>
            </a:r>
            <a:r>
              <a:rPr lang="en-US" sz="2000" dirty="0"/>
              <a:t>. The higher the time complexity, the longer it will take for that algorithm to finish running.</a:t>
            </a:r>
            <a:endParaRPr lang="en-US" sz="2000" b="1" dirty="0"/>
          </a:p>
          <a:p>
            <a:pPr marL="0" marR="709930" indent="0">
              <a:lnSpc>
                <a:spcPct val="148000"/>
              </a:lnSpc>
              <a:spcBef>
                <a:spcPts val="1045"/>
              </a:spcBef>
              <a:buNone/>
            </a:pPr>
            <a:r>
              <a:rPr lang="en-US" sz="2000" b="1" dirty="0"/>
              <a:t>3. Describe the various types of time complexities  of Merge sort, quick sort and bubble sort?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30412074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932" y="628740"/>
            <a:ext cx="11596468" cy="643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 err="1"/>
              <a:t>A.V.Aho</a:t>
            </a:r>
            <a:r>
              <a:rPr lang="en-US" dirty="0"/>
              <a:t>, J. E. Hopcroft, and J. D. Ullman, “Data Structures And Algorithms”, Pearson Education, First Edition Reprint2003.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Horowitz, </a:t>
            </a:r>
            <a:r>
              <a:rPr lang="en-US" dirty="0" err="1"/>
              <a:t>Sahni</a:t>
            </a:r>
            <a:r>
              <a:rPr lang="en-US" dirty="0"/>
              <a:t>, Anderson Freed, “Fundamentals of </a:t>
            </a:r>
            <a:r>
              <a:rPr lang="en-US" dirty="0" err="1"/>
              <a:t>datastructures</a:t>
            </a:r>
            <a:r>
              <a:rPr lang="en-US" dirty="0"/>
              <a:t> in C” , Second Edition-2007.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R. F. </a:t>
            </a:r>
            <a:r>
              <a:rPr lang="en-US" dirty="0" err="1"/>
              <a:t>Gilberg</a:t>
            </a:r>
            <a:r>
              <a:rPr lang="en-US" dirty="0"/>
              <a:t>, B. A. </a:t>
            </a:r>
            <a:r>
              <a:rPr lang="en-US" dirty="0" err="1"/>
              <a:t>Forouzan</a:t>
            </a:r>
            <a:r>
              <a:rPr lang="en-US" dirty="0"/>
              <a:t>, “Data Structures”, Second Edition, Thomson India Ed </a:t>
            </a:r>
            <a:r>
              <a:rPr lang="en-US" dirty="0" err="1"/>
              <a:t>ition</a:t>
            </a:r>
            <a:r>
              <a:rPr lang="en-US" dirty="0"/>
              <a:t>, 2005</a:t>
            </a:r>
          </a:p>
          <a:p>
            <a:pPr marL="702945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dirty="0"/>
              <a:t>Robert Kruse, C.L. </a:t>
            </a:r>
            <a:r>
              <a:rPr lang="en-US" dirty="0" err="1"/>
              <a:t>Tondo</a:t>
            </a:r>
            <a:r>
              <a:rPr lang="en-US" dirty="0"/>
              <a:t>, Bruce Leung, Shashi </a:t>
            </a:r>
            <a:r>
              <a:rPr lang="en-US" dirty="0" err="1"/>
              <a:t>Mogalla</a:t>
            </a:r>
            <a:r>
              <a:rPr lang="en-US" dirty="0"/>
              <a:t>, “Data Structures &amp; Program Design in C”, FourthEdition-2007.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https://nptel.ac.in/courses/106102064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https://nptel.ac.in/courses/106101060/4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https://www.edx.org/course/algorithms-and-data-structures-1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https://in.udacity.com/course/intro-to-algorithms--cs215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https://www.coursera.org/learn/data-structures?action=enroll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https://www.geeksforgeeks.org/types-of-asymptotic-notations-in-complexity-analysis-of-algorithms/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59A143E-7875-43E7-97E0-3557B907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868" y="6458858"/>
            <a:ext cx="11797211" cy="399142"/>
          </a:xfrm>
        </p:spPr>
        <p:txBody>
          <a:bodyPr/>
          <a:lstStyle/>
          <a:p>
            <a:pPr algn="l">
              <a:defRPr/>
            </a:pP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KLEF                                           			DS           				      BES-1</a:t>
            </a: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 thruBlk="1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125a647-8023-46ae-ae6e-85cf36d841bd"/>
    <ds:schemaRef ds:uri="http://purl.org/dc/terms/"/>
    <ds:schemaRef ds:uri="d43ee83c-3e71-4748-8ebc-8eaadf79342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2726</TotalTime>
  <Words>1068</Words>
  <Application>Microsoft Office PowerPoint</Application>
  <PresentationFormat>Widescreen</PresentationFormat>
  <Paragraphs>198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inter-regular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U Haritha</cp:lastModifiedBy>
  <cp:revision>188</cp:revision>
  <dcterms:created xsi:type="dcterms:W3CDTF">2020-02-08T09:57:44Z</dcterms:created>
  <dcterms:modified xsi:type="dcterms:W3CDTF">2024-12-20T10:25:52Z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