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notesMasterIdLst>
    <p:notesMasterId r:id="rId25"/>
  </p:notesMasterIdLst>
  <p:sldIdLst>
    <p:sldId id="1510" r:id="rId2"/>
    <p:sldId id="1511" r:id="rId3"/>
    <p:sldId id="1527" r:id="rId4"/>
    <p:sldId id="1528" r:id="rId5"/>
    <p:sldId id="1529" r:id="rId6"/>
    <p:sldId id="1530" r:id="rId7"/>
    <p:sldId id="1492" r:id="rId8"/>
    <p:sldId id="1522" r:id="rId9"/>
    <p:sldId id="1523" r:id="rId10"/>
    <p:sldId id="1524" r:id="rId11"/>
    <p:sldId id="1525" r:id="rId12"/>
    <p:sldId id="1512" r:id="rId13"/>
    <p:sldId id="1515" r:id="rId14"/>
    <p:sldId id="1531" r:id="rId15"/>
    <p:sldId id="1532" r:id="rId16"/>
    <p:sldId id="1534" r:id="rId17"/>
    <p:sldId id="1533" r:id="rId18"/>
    <p:sldId id="1535" r:id="rId19"/>
    <p:sldId id="1516" r:id="rId20"/>
    <p:sldId id="1517" r:id="rId21"/>
    <p:sldId id="1518" r:id="rId22"/>
    <p:sldId id="1519" r:id="rId23"/>
    <p:sldId id="1521" r:id="rId2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002" autoAdjust="0"/>
    <p:restoredTop sz="94660"/>
  </p:normalViewPr>
  <p:slideViewPr>
    <p:cSldViewPr snapToGrid="0">
      <p:cViewPr varScale="1">
        <p:scale>
          <a:sx n="69" d="100"/>
          <a:sy n="69" d="100"/>
        </p:scale>
        <p:origin x="600" y="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B9CD915-8767-40F7-954D-3F7E107AA614}" type="datetimeFigureOut">
              <a:rPr lang="en-IN" smtClean="0"/>
              <a:t>28-08-2025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A230EC6-6A26-4929-9AE9-1C183424E88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5474390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29433A4-5A55-6691-5F71-F0A048B77F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5" name="Rectangle 7">
            <a:extLst>
              <a:ext uri="{FF2B5EF4-FFF2-40B4-BE49-F238E27FC236}">
                <a16:creationId xmlns:a16="http://schemas.microsoft.com/office/drawing/2014/main" id="{7C2767E3-4783-AA7C-B756-6B5B2B68EF34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1863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1863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1863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1863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1863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1863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1863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1863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1863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7A57F28C-BD0A-4012-B9DC-1028D3739D41}" type="slidenum">
              <a:rPr lang="en-US" altLang="en-US" sz="1200">
                <a:latin typeface="Times New Roman" panose="02020603050405020304" pitchFamily="18" charset="0"/>
              </a:rPr>
              <a:pPr/>
              <a:t>23</a:t>
            </a:fld>
            <a:endParaRPr lang="en-US" altLang="en-US" sz="1200">
              <a:latin typeface="Times New Roman" panose="02020603050405020304" pitchFamily="18" charset="0"/>
            </a:endParaRPr>
          </a:p>
        </p:txBody>
      </p:sp>
      <p:sp>
        <p:nvSpPr>
          <p:cNvPr id="31746" name="Rectangle 2">
            <a:extLst>
              <a:ext uri="{FF2B5EF4-FFF2-40B4-BE49-F238E27FC236}">
                <a16:creationId xmlns:a16="http://schemas.microsoft.com/office/drawing/2014/main" id="{C3AA0E4D-0AA5-E376-3088-F90B34FCEB62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1747" name="Rectangle 3">
            <a:extLst>
              <a:ext uri="{FF2B5EF4-FFF2-40B4-BE49-F238E27FC236}">
                <a16:creationId xmlns:a16="http://schemas.microsoft.com/office/drawing/2014/main" id="{CE486E1B-FC0D-BF90-A1DB-444AEBB9FAC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60206697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microsoft.com/office/2007/relationships/hdphoto" Target="../media/hdphoto1.wdp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414549" y="2467219"/>
            <a:ext cx="9144000" cy="861061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8A3636-4462-45DC-BB00-FF6375F9F6C0}" type="datetimeFigureOut">
              <a:rPr lang="en-IN" smtClean="0"/>
              <a:t>28-08-2025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8F3EC4-EDD9-42C1-AC18-D944FC4FABDD}" type="slidenum">
              <a:rPr lang="en-IN" smtClean="0"/>
              <a:t>‹#›</a:t>
            </a:fld>
            <a:endParaRPr lang="en-IN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39BCC9CA-706E-F867-7CF3-1000A86A13A7}"/>
              </a:ext>
            </a:extLst>
          </p:cNvPr>
          <p:cNvSpPr/>
          <p:nvPr userDrawn="1"/>
        </p:nvSpPr>
        <p:spPr>
          <a:xfrm>
            <a:off x="399011" y="83127"/>
            <a:ext cx="1521229" cy="54032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pic>
        <p:nvPicPr>
          <p:cNvPr id="9" name="Picture 2" descr="KL University - Wikipedia">
            <a:extLst>
              <a:ext uri="{FF2B5EF4-FFF2-40B4-BE49-F238E27FC236}">
                <a16:creationId xmlns:a16="http://schemas.microsoft.com/office/drawing/2014/main" id="{653AD577-CAC5-E64D-E54F-DE967A4D2EF0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7694" y="155501"/>
            <a:ext cx="2030905" cy="82271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D0D3047D-5670-B0CC-FFB6-2EF171968FD5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aturation sat="40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" y="6119091"/>
            <a:ext cx="12192000" cy="738909"/>
          </a:xfrm>
          <a:prstGeom prst="rect">
            <a:avLst/>
          </a:prstGeom>
          <a:ln>
            <a:solidFill>
              <a:schemeClr val="accent1">
                <a:lumMod val="75000"/>
              </a:schemeClr>
            </a:solidFill>
          </a:ln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56625601-FD2C-DAA2-5BCD-584DB10F78A5}"/>
              </a:ext>
            </a:extLst>
          </p:cNvPr>
          <p:cNvSpPr/>
          <p:nvPr userDrawn="1"/>
        </p:nvSpPr>
        <p:spPr>
          <a:xfrm>
            <a:off x="2429916" y="305250"/>
            <a:ext cx="7701042" cy="52322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sz="28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ARTIFICILA INTELLIGENCE  MACHINE LEARNING</a:t>
            </a:r>
          </a:p>
        </p:txBody>
      </p:sp>
    </p:spTree>
    <p:extLst>
      <p:ext uri="{BB962C8B-B14F-4D97-AF65-F5344CB8AC3E}">
        <p14:creationId xmlns:p14="http://schemas.microsoft.com/office/powerpoint/2010/main" val="276848265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 algn="ctr">
              <a:defRPr sz="4000" b="1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8A3636-4462-45DC-BB00-FF6375F9F6C0}" type="datetimeFigureOut">
              <a:rPr lang="en-IN" smtClean="0"/>
              <a:t>28-08-2025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8F3EC4-EDD9-42C1-AC18-D944FC4FABDD}" type="slidenum">
              <a:rPr lang="en-IN" smtClean="0"/>
              <a:t>‹#›</a:t>
            </a:fld>
            <a:endParaRPr lang="en-IN"/>
          </a:p>
        </p:txBody>
      </p:sp>
      <p:pic>
        <p:nvPicPr>
          <p:cNvPr id="7" name="Picture 2" descr="KL University - Wikipedia">
            <a:extLst>
              <a:ext uri="{FF2B5EF4-FFF2-40B4-BE49-F238E27FC236}">
                <a16:creationId xmlns:a16="http://schemas.microsoft.com/office/drawing/2014/main" id="{ECDB660B-5DB9-CACA-071E-B3BAF0A3BC55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7694" y="155501"/>
            <a:ext cx="2030905" cy="82271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88334685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8A3636-4462-45DC-BB00-FF6375F9F6C0}" type="datetimeFigureOut">
              <a:rPr lang="en-IN" smtClean="0"/>
              <a:t>28-08-2025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8F3EC4-EDD9-42C1-AC18-D944FC4FABD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2666445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8A3636-4462-45DC-BB00-FF6375F9F6C0}" type="datetimeFigureOut">
              <a:rPr lang="en-IN" smtClean="0"/>
              <a:t>28-08-2025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8F3EC4-EDD9-42C1-AC18-D944FC4FABD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1655816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8A3636-4462-45DC-BB00-FF6375F9F6C0}" type="datetimeFigureOut">
              <a:rPr lang="en-IN" smtClean="0"/>
              <a:t>28-08-2025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8F3EC4-EDD9-42C1-AC18-D944FC4FABD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4412860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8A3636-4462-45DC-BB00-FF6375F9F6C0}" type="datetimeFigureOut">
              <a:rPr lang="en-IN" smtClean="0"/>
              <a:t>28-08-2025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8F3EC4-EDD9-42C1-AC18-D944FC4FABD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7701173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8A3636-4462-45DC-BB00-FF6375F9F6C0}" type="datetimeFigureOut">
              <a:rPr lang="en-IN" smtClean="0"/>
              <a:t>28-08-2025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8F3EC4-EDD9-42C1-AC18-D944FC4FABD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301697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8A3636-4462-45DC-BB00-FF6375F9F6C0}" type="datetimeFigureOut">
              <a:rPr lang="en-IN" smtClean="0"/>
              <a:t>28-08-2025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8F3EC4-EDD9-42C1-AC18-D944FC4FABD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8836040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8A3636-4462-45DC-BB00-FF6375F9F6C0}" type="datetimeFigureOut">
              <a:rPr lang="en-IN" smtClean="0"/>
              <a:t>28-08-2025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8F3EC4-EDD9-42C1-AC18-D944FC4FABD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3533101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8A3636-4462-45DC-BB00-FF6375F9F6C0}" type="datetimeFigureOut">
              <a:rPr lang="en-IN" smtClean="0"/>
              <a:t>28-08-2025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8F3EC4-EDD9-42C1-AC18-D944FC4FABD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9855601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8A3636-4462-45DC-BB00-FF6375F9F6C0}" type="datetimeFigureOut">
              <a:rPr lang="en-IN" smtClean="0"/>
              <a:t>28-08-2025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8F3EC4-EDD9-42C1-AC18-D944FC4FABD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2369716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38A3636-4462-45DC-BB00-FF6375F9F6C0}" type="datetimeFigureOut">
              <a:rPr lang="en-IN" smtClean="0"/>
              <a:t>28-08-2025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18F3EC4-EDD9-42C1-AC18-D944FC4FABD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5301478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7D781AE-9EC6-BCCD-1043-91161DB43217}"/>
              </a:ext>
            </a:extLst>
          </p:cNvPr>
          <p:cNvSpPr txBox="1">
            <a:spLocks noGrp="1"/>
          </p:cNvSpPr>
          <p:nvPr>
            <p:ph idx="1"/>
          </p:nvPr>
        </p:nvSpPr>
        <p:spPr>
          <a:xfrm>
            <a:off x="838200" y="1253331"/>
            <a:ext cx="10515600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ctr">
              <a:buNone/>
            </a:pPr>
            <a:r>
              <a:rPr kumimoji="0" lang="en-US" sz="4000" b="1" i="0" u="none" strike="noStrike" kern="1200" cap="all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Gill Sans MT"/>
                <a:ea typeface="+mj-ea"/>
                <a:cs typeface="+mj-cs"/>
              </a:rPr>
              <a:t>ARTIFICIAL INTELLIGENCE </a:t>
            </a:r>
            <a:br>
              <a:rPr kumimoji="0" lang="en-US" sz="4000" b="1" i="0" u="none" strike="noStrike" kern="1200" cap="all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Gill Sans MT"/>
                <a:ea typeface="+mj-ea"/>
                <a:cs typeface="+mj-cs"/>
              </a:rPr>
            </a:br>
            <a:r>
              <a:rPr kumimoji="0" lang="en-US" sz="4000" b="1" i="0" u="none" strike="noStrike" kern="1200" cap="all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Gill Sans MT"/>
                <a:ea typeface="+mj-ea"/>
                <a:cs typeface="+mj-cs"/>
              </a:rPr>
              <a:t>&amp; </a:t>
            </a:r>
            <a:br>
              <a:rPr kumimoji="0" lang="en-US" sz="4000" b="1" i="0" u="none" strike="noStrike" kern="1200" cap="all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Gill Sans MT"/>
                <a:ea typeface="+mj-ea"/>
                <a:cs typeface="+mj-cs"/>
              </a:rPr>
            </a:br>
            <a:r>
              <a:rPr kumimoji="0" lang="en-US" sz="4000" b="1" i="0" u="none" strike="noStrike" kern="1200" cap="all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Gill Sans MT"/>
                <a:ea typeface="+mj-ea"/>
                <a:cs typeface="+mj-cs"/>
              </a:rPr>
              <a:t>MACHINE LEARNING</a:t>
            </a:r>
            <a:endParaRPr lang="en-IN" sz="4000" dirty="0">
              <a:solidFill>
                <a:srgbClr val="C00000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1781DF2-773C-02ED-CE3E-0D1422B88926}"/>
              </a:ext>
            </a:extLst>
          </p:cNvPr>
          <p:cNvSpPr txBox="1"/>
          <p:nvPr/>
        </p:nvSpPr>
        <p:spPr>
          <a:xfrm>
            <a:off x="1267097" y="3566772"/>
            <a:ext cx="9657806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kumimoji="0" lang="en-US" sz="3000" b="1" i="0" u="none" strike="noStrike" kern="1200" cap="all" spc="0" normalizeH="0" baseline="0" noProof="0" dirty="0">
                <a:ln>
                  <a:noFill/>
                </a:ln>
                <a:effectLst/>
                <a:uLnTx/>
                <a:uFillTx/>
                <a:latin typeface="Gill Sans MT"/>
                <a:ea typeface="+mj-ea"/>
                <a:cs typeface="+mj-cs"/>
              </a:rPr>
              <a:t>SESSION NO :</a:t>
            </a:r>
            <a:r>
              <a:rPr lang="en-US" sz="3000" b="1" cap="all" dirty="0">
                <a:latin typeface="Gill Sans MT"/>
                <a:ea typeface="+mj-ea"/>
                <a:cs typeface="+mj-cs"/>
              </a:rPr>
              <a:t>14</a:t>
            </a:r>
          </a:p>
          <a:p>
            <a:pPr algn="ctr"/>
            <a:r>
              <a:rPr lang="en-IN" sz="3000" dirty="0"/>
              <a:t>Derivatives, gradient descent.</a:t>
            </a:r>
          </a:p>
        </p:txBody>
      </p:sp>
    </p:spTree>
    <p:extLst>
      <p:ext uri="{BB962C8B-B14F-4D97-AF65-F5344CB8AC3E}">
        <p14:creationId xmlns:p14="http://schemas.microsoft.com/office/powerpoint/2010/main" val="10806344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CDFC83-07DA-E96A-B392-54AD99F5C8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AutoShape 4" descr="Lightbox">
            <a:extLst>
              <a:ext uri="{FF2B5EF4-FFF2-40B4-BE49-F238E27FC236}">
                <a16:creationId xmlns:a16="http://schemas.microsoft.com/office/drawing/2014/main" id="{27B6FBE4-E45A-35D5-A8A9-E6817E5F9285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3453384" y="2039112"/>
            <a:ext cx="4684776" cy="46847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6FD891A-FA16-D43F-B8EE-64BE0EAD26BF}"/>
              </a:ext>
            </a:extLst>
          </p:cNvPr>
          <p:cNvSpPr txBox="1"/>
          <p:nvPr/>
        </p:nvSpPr>
        <p:spPr>
          <a:xfrm>
            <a:off x="3674691" y="265194"/>
            <a:ext cx="4463469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2800" b="1" i="0" dirty="0">
                <a:solidFill>
                  <a:srgbClr val="C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Definition of a Derivative</a:t>
            </a:r>
          </a:p>
          <a:p>
            <a:pPr algn="ctr"/>
            <a:endParaRPr lang="en-IN" sz="2800" b="1" i="0" dirty="0">
              <a:solidFill>
                <a:srgbClr val="C00000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7E1CBA8-32F2-E644-12A6-D7BD0A572D5F}"/>
              </a:ext>
            </a:extLst>
          </p:cNvPr>
          <p:cNvSpPr txBox="1"/>
          <p:nvPr/>
        </p:nvSpPr>
        <p:spPr>
          <a:xfrm>
            <a:off x="835914" y="1219301"/>
            <a:ext cx="10520172" cy="41070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 algn="just" rtl="0" fontAlgn="base">
              <a:lnSpc>
                <a:spcPct val="150000"/>
              </a:lnSpc>
              <a:spcAft>
                <a:spcPts val="750"/>
              </a:spcAft>
              <a:buFont typeface="Arial" panose="020B0604020202020204" pitchFamily="34" charset="0"/>
              <a:buChar char="•"/>
            </a:pPr>
            <a:r>
              <a:rPr lang="en-US" sz="2400" b="0" i="0" dirty="0">
                <a:effectLst/>
                <a:latin typeface="Arial" panose="020B0604020202020204" pitchFamily="34" charset="0"/>
              </a:rPr>
              <a:t>In </a:t>
            </a:r>
            <a:r>
              <a:rPr lang="en-US" sz="2400" b="0" i="0" u="none" strike="noStrike" dirty="0">
                <a:effectLst/>
                <a:latin typeface="Arial" panose="020B0604020202020204" pitchFamily="34" charset="0"/>
              </a:rPr>
              <a:t>mathematics</a:t>
            </a:r>
            <a:r>
              <a:rPr lang="en-US" sz="2400" b="0" i="0" dirty="0">
                <a:effectLst/>
                <a:latin typeface="Arial" panose="020B0604020202020204" pitchFamily="34" charset="0"/>
              </a:rPr>
              <a:t>, the </a:t>
            </a:r>
            <a:r>
              <a:rPr lang="en-US" sz="2400" b="1" i="0" dirty="0">
                <a:effectLst/>
                <a:latin typeface="Arial" panose="020B0604020202020204" pitchFamily="34" charset="0"/>
              </a:rPr>
              <a:t>derivative</a:t>
            </a:r>
            <a:r>
              <a:rPr lang="en-US" sz="2400" b="0" i="0" dirty="0">
                <a:effectLst/>
                <a:latin typeface="Arial" panose="020B0604020202020204" pitchFamily="34" charset="0"/>
              </a:rPr>
              <a:t> is a fundamental tool that quantifies the sensitivity to change of a </a:t>
            </a:r>
            <a:r>
              <a:rPr lang="en-US" sz="2400" b="0" i="0" u="none" strike="noStrike" dirty="0">
                <a:effectLst/>
                <a:latin typeface="Arial" panose="020B0604020202020204" pitchFamily="34" charset="0"/>
              </a:rPr>
              <a:t>function</a:t>
            </a:r>
            <a:r>
              <a:rPr lang="en-US" sz="2400" b="0" i="0" dirty="0">
                <a:effectLst/>
                <a:latin typeface="Arial" panose="020B0604020202020204" pitchFamily="34" charset="0"/>
              </a:rPr>
              <a:t>'s output with respect to its input.</a:t>
            </a:r>
          </a:p>
          <a:p>
            <a:pPr marL="342900" indent="-342900" algn="just" rtl="0" fontAlgn="base">
              <a:lnSpc>
                <a:spcPct val="150000"/>
              </a:lnSpc>
              <a:spcAft>
                <a:spcPts val="750"/>
              </a:spcAft>
              <a:buFont typeface="Arial" panose="020B0604020202020204" pitchFamily="34" charset="0"/>
              <a:buChar char="•"/>
            </a:pPr>
            <a:r>
              <a:rPr lang="en-US" sz="2400" b="0" i="0" dirty="0">
                <a:effectLst/>
                <a:latin typeface="Arial" panose="020B0604020202020204" pitchFamily="34" charset="0"/>
              </a:rPr>
              <a:t> The derivative of a function of a single variable at a chosen input value, when it exists, is the </a:t>
            </a:r>
            <a:r>
              <a:rPr lang="en-US" sz="2400" b="0" i="0" u="none" strike="noStrike" dirty="0">
                <a:effectLst/>
                <a:latin typeface="Arial" panose="020B0604020202020204" pitchFamily="34" charset="0"/>
              </a:rPr>
              <a:t>slope</a:t>
            </a:r>
            <a:r>
              <a:rPr lang="en-US" sz="2400" b="0" i="0" dirty="0">
                <a:effectLst/>
                <a:latin typeface="Arial" panose="020B0604020202020204" pitchFamily="34" charset="0"/>
              </a:rPr>
              <a:t> of the </a:t>
            </a:r>
            <a:r>
              <a:rPr lang="en-US" sz="2400" b="0" i="0" u="none" strike="noStrike" dirty="0">
                <a:effectLst/>
                <a:latin typeface="Arial" panose="020B0604020202020204" pitchFamily="34" charset="0"/>
              </a:rPr>
              <a:t>tangent line</a:t>
            </a:r>
            <a:r>
              <a:rPr lang="en-US" sz="2400" b="0" i="0" dirty="0">
                <a:effectLst/>
                <a:latin typeface="Arial" panose="020B0604020202020204" pitchFamily="34" charset="0"/>
              </a:rPr>
              <a:t> to the </a:t>
            </a:r>
            <a:r>
              <a:rPr lang="en-US" sz="2400" b="0" i="0" u="none" strike="noStrike" dirty="0">
                <a:effectLst/>
                <a:latin typeface="Arial" panose="020B0604020202020204" pitchFamily="34" charset="0"/>
              </a:rPr>
              <a:t>graph of the function</a:t>
            </a:r>
            <a:r>
              <a:rPr lang="en-US" sz="2400" b="0" i="0" dirty="0">
                <a:effectLst/>
                <a:latin typeface="Arial" panose="020B0604020202020204" pitchFamily="34" charset="0"/>
              </a:rPr>
              <a:t> at that point. </a:t>
            </a:r>
          </a:p>
          <a:p>
            <a:pPr marL="342900" indent="-342900" algn="just" rtl="0" fontAlgn="base">
              <a:lnSpc>
                <a:spcPct val="150000"/>
              </a:lnSpc>
              <a:spcAft>
                <a:spcPts val="750"/>
              </a:spcAft>
              <a:buFont typeface="Arial" panose="020B0604020202020204" pitchFamily="34" charset="0"/>
              <a:buChar char="•"/>
            </a:pPr>
            <a:r>
              <a:rPr lang="en-US" sz="2400" b="0" i="0" dirty="0">
                <a:effectLst/>
                <a:latin typeface="Arial" panose="020B0604020202020204" pitchFamily="34" charset="0"/>
              </a:rPr>
              <a:t>The tangent line is the best </a:t>
            </a:r>
            <a:r>
              <a:rPr lang="en-US" sz="2400" b="0" i="0" u="none" strike="noStrike" dirty="0">
                <a:effectLst/>
                <a:latin typeface="Arial" panose="020B0604020202020204" pitchFamily="34" charset="0"/>
              </a:rPr>
              <a:t>linear approximation</a:t>
            </a:r>
            <a:r>
              <a:rPr lang="en-US" sz="2400" b="0" i="0" dirty="0">
                <a:effectLst/>
                <a:latin typeface="Arial" panose="020B0604020202020204" pitchFamily="34" charset="0"/>
              </a:rPr>
              <a:t> of the function near that input value. </a:t>
            </a:r>
          </a:p>
        </p:txBody>
      </p:sp>
    </p:spTree>
    <p:extLst>
      <p:ext uri="{BB962C8B-B14F-4D97-AF65-F5344CB8AC3E}">
        <p14:creationId xmlns:p14="http://schemas.microsoft.com/office/powerpoint/2010/main" val="264034477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91967DD-B6FD-F92F-8BC5-61C2E835AE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AutoShape 4" descr="Lightbox">
            <a:extLst>
              <a:ext uri="{FF2B5EF4-FFF2-40B4-BE49-F238E27FC236}">
                <a16:creationId xmlns:a16="http://schemas.microsoft.com/office/drawing/2014/main" id="{494B644E-4796-B089-A1C1-C8572752903E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3453384" y="2039112"/>
            <a:ext cx="4684776" cy="46847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1C2D84C-6DCE-5F38-4138-B8ECCF4FD031}"/>
              </a:ext>
            </a:extLst>
          </p:cNvPr>
          <p:cNvSpPr txBox="1"/>
          <p:nvPr/>
        </p:nvSpPr>
        <p:spPr>
          <a:xfrm>
            <a:off x="3674691" y="265194"/>
            <a:ext cx="4463469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2800" b="1" i="0" dirty="0">
                <a:solidFill>
                  <a:srgbClr val="C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Definition of a Derivative</a:t>
            </a:r>
          </a:p>
          <a:p>
            <a:pPr algn="ctr"/>
            <a:endParaRPr lang="en-IN" sz="2800" b="1" i="0" dirty="0">
              <a:solidFill>
                <a:srgbClr val="C00000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4F6D7A4E-BC51-FC1D-F2A6-BE1F0C0E9CE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63875" y="1777502"/>
            <a:ext cx="9064249" cy="392712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A84DD1CE-CF21-8B10-03C5-30A601E13122}"/>
              </a:ext>
            </a:extLst>
          </p:cNvPr>
          <p:cNvSpPr txBox="1"/>
          <p:nvPr/>
        </p:nvSpPr>
        <p:spPr>
          <a:xfrm>
            <a:off x="2273245" y="957691"/>
            <a:ext cx="191165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Example :</a:t>
            </a:r>
            <a:endParaRPr lang="en-IN" sz="2800" dirty="0"/>
          </a:p>
        </p:txBody>
      </p:sp>
    </p:spTree>
    <p:extLst>
      <p:ext uri="{BB962C8B-B14F-4D97-AF65-F5344CB8AC3E}">
        <p14:creationId xmlns:p14="http://schemas.microsoft.com/office/powerpoint/2010/main" val="391116965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8FBFB3-1386-050E-C454-4609326AB5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AutoShape 4" descr="Lightbox">
            <a:extLst>
              <a:ext uri="{FF2B5EF4-FFF2-40B4-BE49-F238E27FC236}">
                <a16:creationId xmlns:a16="http://schemas.microsoft.com/office/drawing/2014/main" id="{41FDFE17-5AEE-C235-88CD-CA2040F6E0C2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3453384" y="2039112"/>
            <a:ext cx="4684776" cy="46847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3777737-23AA-04BD-0F06-5114FD0E4EE4}"/>
              </a:ext>
            </a:extLst>
          </p:cNvPr>
          <p:cNvSpPr txBox="1"/>
          <p:nvPr/>
        </p:nvSpPr>
        <p:spPr>
          <a:xfrm>
            <a:off x="3674691" y="265194"/>
            <a:ext cx="4463469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2800" b="1" i="0" dirty="0">
                <a:solidFill>
                  <a:srgbClr val="C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Definition of a Derivative</a:t>
            </a:r>
          </a:p>
          <a:p>
            <a:pPr algn="ctr"/>
            <a:endParaRPr lang="en-IN" sz="2800" b="1" i="0" dirty="0">
              <a:solidFill>
                <a:srgbClr val="C00000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06F13D9-B642-5537-B416-AAA1C8180FBB}"/>
              </a:ext>
            </a:extLst>
          </p:cNvPr>
          <p:cNvSpPr txBox="1"/>
          <p:nvPr/>
        </p:nvSpPr>
        <p:spPr>
          <a:xfrm>
            <a:off x="1673336" y="973151"/>
            <a:ext cx="178004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Example :</a:t>
            </a:r>
            <a:endParaRPr lang="en-IN" sz="28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469110F-2BB8-A8F0-9173-60F36E24CCF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4949" y="1496371"/>
            <a:ext cx="8559933" cy="44231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6963890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0B60F0F-094B-F64F-44E7-1B69B28782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AutoShape 4" descr="Lightbox">
            <a:extLst>
              <a:ext uri="{FF2B5EF4-FFF2-40B4-BE49-F238E27FC236}">
                <a16:creationId xmlns:a16="http://schemas.microsoft.com/office/drawing/2014/main" id="{E7206B88-2B81-0B87-2E50-29525E2D9C1D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3453384" y="2039112"/>
            <a:ext cx="4684776" cy="46847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E8218CD-AAF5-78B2-F653-A7A0F409259A}"/>
              </a:ext>
            </a:extLst>
          </p:cNvPr>
          <p:cNvSpPr txBox="1"/>
          <p:nvPr/>
        </p:nvSpPr>
        <p:spPr>
          <a:xfrm>
            <a:off x="3674691" y="265194"/>
            <a:ext cx="4463469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2800" b="1" i="0" dirty="0">
                <a:solidFill>
                  <a:srgbClr val="C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Definition of a Derivative</a:t>
            </a:r>
          </a:p>
          <a:p>
            <a:pPr algn="ctr"/>
            <a:endParaRPr lang="en-IN" sz="2800" b="1" i="0" dirty="0">
              <a:solidFill>
                <a:srgbClr val="C00000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49E8A95-3A0E-9225-7201-BBCA843E2019}"/>
              </a:ext>
            </a:extLst>
          </p:cNvPr>
          <p:cNvSpPr txBox="1"/>
          <p:nvPr/>
        </p:nvSpPr>
        <p:spPr>
          <a:xfrm>
            <a:off x="1673336" y="973151"/>
            <a:ext cx="178004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Example :</a:t>
            </a:r>
            <a:endParaRPr lang="en-IN" sz="2800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F3423AFC-D80B-D817-EA78-2DA08B9CF2AB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3356" b="22654"/>
          <a:stretch>
            <a:fillRect/>
          </a:stretch>
        </p:blipFill>
        <p:spPr>
          <a:xfrm>
            <a:off x="1802674" y="1762043"/>
            <a:ext cx="9410757" cy="36721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4738673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D61115-EE96-9904-6F95-8E367BCACA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AutoShape 4" descr="Lightbox">
            <a:extLst>
              <a:ext uri="{FF2B5EF4-FFF2-40B4-BE49-F238E27FC236}">
                <a16:creationId xmlns:a16="http://schemas.microsoft.com/office/drawing/2014/main" id="{67067DAA-1102-CFA4-54CA-9A93E3BDF135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3453384" y="2039112"/>
            <a:ext cx="4684776" cy="46847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22B85EE-7C8F-843E-1B9B-7E9CFFF69B3A}"/>
              </a:ext>
            </a:extLst>
          </p:cNvPr>
          <p:cNvSpPr txBox="1"/>
          <p:nvPr/>
        </p:nvSpPr>
        <p:spPr>
          <a:xfrm>
            <a:off x="3674691" y="265194"/>
            <a:ext cx="4463469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2800" b="1" i="0" dirty="0">
                <a:solidFill>
                  <a:srgbClr val="C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Definition of a Derivative</a:t>
            </a:r>
          </a:p>
          <a:p>
            <a:pPr algn="ctr"/>
            <a:endParaRPr lang="en-IN" sz="2800" b="1" i="0" dirty="0">
              <a:solidFill>
                <a:srgbClr val="C00000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FB128B5-3A8B-9A4B-E923-1712D40C6390}"/>
              </a:ext>
            </a:extLst>
          </p:cNvPr>
          <p:cNvSpPr txBox="1"/>
          <p:nvPr/>
        </p:nvSpPr>
        <p:spPr>
          <a:xfrm>
            <a:off x="1673335" y="973151"/>
            <a:ext cx="397348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600" dirty="0"/>
              <a:t>Partial Derivatives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ECE0FB2-FBBC-44E2-9A03-7C7F9B122C8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89746" y="1717388"/>
            <a:ext cx="6914147" cy="47624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6413883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C744034-F074-8745-5FEE-31A1F71A74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AutoShape 4" descr="Lightbox">
            <a:extLst>
              <a:ext uri="{FF2B5EF4-FFF2-40B4-BE49-F238E27FC236}">
                <a16:creationId xmlns:a16="http://schemas.microsoft.com/office/drawing/2014/main" id="{BD9459E8-47F5-BDAE-5A07-22F933218010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3453384" y="2039112"/>
            <a:ext cx="4684776" cy="46847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1967E36-743A-12D3-B2AF-C69923EC4EF5}"/>
              </a:ext>
            </a:extLst>
          </p:cNvPr>
          <p:cNvSpPr txBox="1"/>
          <p:nvPr/>
        </p:nvSpPr>
        <p:spPr>
          <a:xfrm>
            <a:off x="535686" y="265194"/>
            <a:ext cx="10520172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2800" b="1" i="0" dirty="0">
                <a:solidFill>
                  <a:srgbClr val="C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Rules of a Derivative</a:t>
            </a:r>
          </a:p>
          <a:p>
            <a:pPr algn="ctr"/>
            <a:endParaRPr lang="en-IN" sz="2800" b="1" i="0" dirty="0">
              <a:solidFill>
                <a:srgbClr val="C00000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D33AFBA3-BC0D-39C8-EDFF-2E2A3DD3268B}"/>
                  </a:ext>
                </a:extLst>
              </p:cNvPr>
              <p:cNvSpPr txBox="1"/>
              <p:nvPr/>
            </p:nvSpPr>
            <p:spPr>
              <a:xfrm>
                <a:off x="1199927" y="1410929"/>
                <a:ext cx="10520172" cy="464466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0" indent="0">
                  <a:lnSpc>
                    <a:spcPct val="150000"/>
                  </a:lnSpc>
                  <a:buNone/>
                </a:pPr>
                <a:r>
                  <a:rPr lang="en-IN" sz="2600" dirty="0">
                    <a:latin typeface="Arial" panose="020B0604020202020204" pitchFamily="34" charset="0"/>
                    <a:cs typeface="Arial" panose="020B0604020202020204" pitchFamily="34" charset="0"/>
                  </a:rPr>
                  <a:t>Some basic rules of taking derivatives</a:t>
                </a:r>
              </a:p>
              <a:p>
                <a:pPr>
                  <a:lnSpc>
                    <a:spcPct val="150000"/>
                  </a:lnSpc>
                  <a:buFont typeface="Wingdings" panose="05000000000000000000" pitchFamily="2" charset="2"/>
                  <a:buChar char="§"/>
                </a:pPr>
                <a:r>
                  <a:rPr lang="en-IN" sz="2600" b="1" dirty="0">
                    <a:latin typeface="Arial" panose="020B0604020202020204" pitchFamily="34" charset="0"/>
                    <a:cs typeface="Arial" panose="020B0604020202020204" pitchFamily="34" charset="0"/>
                  </a:rPr>
                  <a:t>Sum Rule</a:t>
                </a:r>
                <a:r>
                  <a:rPr lang="en-IN" sz="2600" dirty="0">
                    <a:latin typeface="Arial" panose="020B0604020202020204" pitchFamily="34" charset="0"/>
                    <a:cs typeface="Arial" panose="020B0604020202020204" pitchFamily="34" charset="0"/>
                  </a:rPr>
                  <a:t>: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IN" sz="26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IN" sz="26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IN" sz="2600" i="1">
                                <a:latin typeface="Cambria Math" panose="02040503050406030204" pitchFamily="18" charset="0"/>
                              </a:rPr>
                              <m:t>𝑓</m:t>
                            </m:r>
                            <m:d>
                              <m:dPr>
                                <m:ctrlPr>
                                  <a:rPr lang="en-IN" sz="2600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IN" sz="2600" i="1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</m:d>
                            <m:r>
                              <a:rPr lang="en-IN" sz="2600" i="1"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600" i="1">
                                <a:latin typeface="Cambria Math" panose="02040503050406030204" pitchFamily="18" charset="0"/>
                              </a:rPr>
                              <m:t>𝑔</m:t>
                            </m:r>
                            <m:d>
                              <m:dPr>
                                <m:ctrlPr>
                                  <a:rPr lang="en-IN" sz="2600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IN" sz="2600" i="1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</m:d>
                          </m:e>
                        </m:d>
                      </m:e>
                      <m:sup>
                        <m:r>
                          <a:rPr lang="en-IN" sz="2600" i="1"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a:rPr lang="en-IN" sz="2600" i="1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IN" sz="26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IN" sz="2600" i="1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a:rPr lang="en-IN" sz="2600" i="1"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d>
                      <m:dPr>
                        <m:ctrlPr>
                          <a:rPr lang="en-IN" sz="26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6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IN" sz="2600" i="1">
                        <a:latin typeface="Cambria Math" panose="02040503050406030204" pitchFamily="18" charset="0"/>
                      </a:rPr>
                      <m:t>+</m:t>
                    </m:r>
                    <m:sSup>
                      <m:sSupPr>
                        <m:ctrlPr>
                          <a:rPr lang="en-IN" sz="26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IN" sz="2600" i="1">
                            <a:latin typeface="Cambria Math" panose="02040503050406030204" pitchFamily="18" charset="0"/>
                          </a:rPr>
                          <m:t>𝑔</m:t>
                        </m:r>
                      </m:e>
                      <m:sup>
                        <m:r>
                          <a:rPr lang="en-IN" sz="2600" i="1"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d>
                      <m:dPr>
                        <m:ctrlPr>
                          <a:rPr lang="en-IN" sz="26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6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</m:oMath>
                </a14:m>
                <a:endParaRPr lang="en-IN" sz="26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>
                  <a:lnSpc>
                    <a:spcPct val="150000"/>
                  </a:lnSpc>
                  <a:buFont typeface="Wingdings" panose="05000000000000000000" pitchFamily="2" charset="2"/>
                  <a:buChar char="§"/>
                </a:pPr>
                <a:r>
                  <a:rPr lang="en-IN" sz="2600" b="1" dirty="0">
                    <a:latin typeface="Arial" panose="020B0604020202020204" pitchFamily="34" charset="0"/>
                    <a:cs typeface="Arial" panose="020B0604020202020204" pitchFamily="34" charset="0"/>
                  </a:rPr>
                  <a:t>Scaling Rule</a:t>
                </a:r>
                <a:r>
                  <a:rPr lang="en-IN" sz="2600" dirty="0">
                    <a:latin typeface="Arial" panose="020B0604020202020204" pitchFamily="34" charset="0"/>
                    <a:cs typeface="Arial" panose="020B0604020202020204" pitchFamily="34" charset="0"/>
                  </a:rPr>
                  <a:t>: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IN" sz="26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IN" sz="26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IN" sz="2600" i="1">
                                <a:latin typeface="Cambria Math" panose="02040503050406030204" pitchFamily="18" charset="0"/>
                              </a:rPr>
                              <m:t>𝑎</m:t>
                            </m:r>
                            <m:r>
                              <a:rPr lang="en-IN" sz="2600" i="1">
                                <a:latin typeface="Cambria Math" panose="02040503050406030204" pitchFamily="18" charset="0"/>
                              </a:rPr>
                              <m:t>⋅</m:t>
                            </m:r>
                            <m:r>
                              <a:rPr lang="en-IN" sz="2600" i="1">
                                <a:latin typeface="Cambria Math" panose="02040503050406030204" pitchFamily="18" charset="0"/>
                              </a:rPr>
                              <m:t>𝑓</m:t>
                            </m:r>
                            <m:d>
                              <m:dPr>
                                <m:ctrlPr>
                                  <a:rPr lang="en-IN" sz="2600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IN" sz="2600" i="1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</m:d>
                          </m:e>
                        </m:d>
                      </m:e>
                      <m:sup>
                        <m:r>
                          <a:rPr lang="en-IN" sz="2600" i="1"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a:rPr lang="en-IN" sz="2600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600" i="1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IN" sz="2600" i="1">
                        <a:latin typeface="Cambria Math" panose="02040503050406030204" pitchFamily="18" charset="0"/>
                      </a:rPr>
                      <m:t>⋅</m:t>
                    </m:r>
                    <m:sSup>
                      <m:sSupPr>
                        <m:ctrlPr>
                          <a:rPr lang="en-IN" sz="26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IN" sz="2600" i="1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a:rPr lang="en-IN" sz="2600" i="1"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d>
                      <m:dPr>
                        <m:ctrlPr>
                          <a:rPr lang="en-IN" sz="26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6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</m:oMath>
                </a14:m>
                <a:r>
                  <a:rPr lang="en-IN" sz="2600" dirty="0">
                    <a:latin typeface="Arial" panose="020B0604020202020204" pitchFamily="34" charset="0"/>
                    <a:cs typeface="Arial" panose="020B0604020202020204" pitchFamily="34" charset="0"/>
                  </a:rPr>
                  <a:t> if </a:t>
                </a:r>
                <a14:m>
                  <m:oMath xmlns:m="http://schemas.openxmlformats.org/officeDocument/2006/math">
                    <m:r>
                      <a:rPr lang="en-IN" sz="2600" i="1"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lang="en-IN" sz="2600" dirty="0">
                    <a:latin typeface="Arial" panose="020B0604020202020204" pitchFamily="34" charset="0"/>
                    <a:cs typeface="Arial" panose="020B0604020202020204" pitchFamily="34" charset="0"/>
                  </a:rPr>
                  <a:t> is not a function of </a:t>
                </a:r>
                <a14:m>
                  <m:oMath xmlns:m="http://schemas.openxmlformats.org/officeDocument/2006/math">
                    <m:r>
                      <a:rPr lang="en-IN" sz="2600" i="1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endParaRPr lang="en-IN" sz="26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>
                  <a:lnSpc>
                    <a:spcPct val="150000"/>
                  </a:lnSpc>
                  <a:buFont typeface="Wingdings" panose="05000000000000000000" pitchFamily="2" charset="2"/>
                  <a:buChar char="§"/>
                </a:pPr>
                <a:r>
                  <a:rPr lang="en-IN" sz="2600" b="1" dirty="0">
                    <a:latin typeface="Arial" panose="020B0604020202020204" pitchFamily="34" charset="0"/>
                    <a:cs typeface="Arial" panose="020B0604020202020204" pitchFamily="34" charset="0"/>
                  </a:rPr>
                  <a:t>Product Rule</a:t>
                </a:r>
                <a:r>
                  <a:rPr lang="en-IN" sz="2600" dirty="0">
                    <a:latin typeface="Arial" panose="020B0604020202020204" pitchFamily="34" charset="0"/>
                    <a:cs typeface="Arial" panose="020B0604020202020204" pitchFamily="34" charset="0"/>
                  </a:rPr>
                  <a:t>: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IN" sz="26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IN" sz="26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IN" sz="2600" i="1">
                                <a:latin typeface="Cambria Math" panose="02040503050406030204" pitchFamily="18" charset="0"/>
                              </a:rPr>
                              <m:t>𝑓</m:t>
                            </m:r>
                            <m:d>
                              <m:dPr>
                                <m:ctrlPr>
                                  <a:rPr lang="en-IN" sz="2600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IN" sz="2600" i="1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</m:d>
                            <m:r>
                              <a:rPr lang="en-IN" sz="2600" i="1">
                                <a:latin typeface="Cambria Math" panose="02040503050406030204" pitchFamily="18" charset="0"/>
                              </a:rPr>
                              <m:t>⋅</m:t>
                            </m:r>
                            <m:r>
                              <a:rPr lang="en-IN" sz="2600" i="1">
                                <a:latin typeface="Cambria Math" panose="02040503050406030204" pitchFamily="18" charset="0"/>
                              </a:rPr>
                              <m:t>𝑔</m:t>
                            </m:r>
                            <m:d>
                              <m:dPr>
                                <m:ctrlPr>
                                  <a:rPr lang="en-IN" sz="2600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IN" sz="2600" i="1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</m:d>
                          </m:e>
                        </m:d>
                      </m:e>
                      <m:sup>
                        <m:r>
                          <a:rPr lang="en-IN" sz="2600" i="1"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a:rPr lang="en-IN" sz="2600" i="1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IN" sz="26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IN" sz="2600" i="1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a:rPr lang="en-IN" sz="2600" i="1"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d>
                      <m:dPr>
                        <m:ctrlPr>
                          <a:rPr lang="en-IN" sz="26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6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IN" sz="2600" i="1">
                        <a:latin typeface="Cambria Math" panose="02040503050406030204" pitchFamily="18" charset="0"/>
                      </a:rPr>
                      <m:t>⋅</m:t>
                    </m:r>
                    <m:r>
                      <a:rPr lang="en-IN" sz="2600" i="1">
                        <a:latin typeface="Cambria Math" panose="02040503050406030204" pitchFamily="18" charset="0"/>
                      </a:rPr>
                      <m:t>𝑔</m:t>
                    </m:r>
                    <m:d>
                      <m:dPr>
                        <m:ctrlPr>
                          <a:rPr lang="en-IN" sz="26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6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IN" sz="2600" i="1">
                        <a:latin typeface="Cambria Math" panose="02040503050406030204" pitchFamily="18" charset="0"/>
                      </a:rPr>
                      <m:t>+</m:t>
                    </m:r>
                    <m:sSup>
                      <m:sSupPr>
                        <m:ctrlPr>
                          <a:rPr lang="en-IN" sz="26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IN" sz="2600" i="1">
                            <a:latin typeface="Cambria Math" panose="02040503050406030204" pitchFamily="18" charset="0"/>
                          </a:rPr>
                          <m:t>𝑔</m:t>
                        </m:r>
                      </m:e>
                      <m:sup>
                        <m:r>
                          <a:rPr lang="en-IN" sz="2600" i="1"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d>
                      <m:dPr>
                        <m:ctrlPr>
                          <a:rPr lang="en-IN" sz="26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6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IN" sz="2600" i="1">
                        <a:latin typeface="Cambria Math" panose="02040503050406030204" pitchFamily="18" charset="0"/>
                      </a:rPr>
                      <m:t>⋅</m:t>
                    </m:r>
                    <m:r>
                      <a:rPr lang="en-IN" sz="2600" i="1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IN" sz="26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6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</m:oMath>
                </a14:m>
                <a:endParaRPr lang="en-IN" sz="26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>
                  <a:lnSpc>
                    <a:spcPct val="150000"/>
                  </a:lnSpc>
                  <a:buFont typeface="Wingdings" panose="05000000000000000000" pitchFamily="2" charset="2"/>
                  <a:buChar char="§"/>
                </a:pPr>
                <a:r>
                  <a:rPr lang="en-IN" sz="2600" b="1" dirty="0">
                    <a:latin typeface="Arial" panose="020B0604020202020204" pitchFamily="34" charset="0"/>
                    <a:cs typeface="Arial" panose="020B0604020202020204" pitchFamily="34" charset="0"/>
                  </a:rPr>
                  <a:t>Quotient Rule</a:t>
                </a:r>
                <a:r>
                  <a:rPr lang="en-IN" sz="2600" dirty="0">
                    <a:latin typeface="Arial" panose="020B0604020202020204" pitchFamily="34" charset="0"/>
                    <a:cs typeface="Arial" panose="020B0604020202020204" pitchFamily="34" charset="0"/>
                  </a:rPr>
                  <a:t>: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IN" sz="26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600" i="1">
                            <a:latin typeface="Cambria Math" panose="02040503050406030204" pitchFamily="18" charset="0"/>
                          </a:rPr>
                          <m:t>𝑓</m:t>
                        </m:r>
                        <m:d>
                          <m:dPr>
                            <m:ctrlPr>
                              <a:rPr lang="en-IN" sz="26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IN" sz="2600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d>
                        <m:r>
                          <a:rPr lang="en-IN" sz="2600" i="1"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600" i="1">
                            <a:latin typeface="Cambria Math" panose="02040503050406030204" pitchFamily="18" charset="0"/>
                          </a:rPr>
                          <m:t>𝑔</m:t>
                        </m:r>
                        <m:d>
                          <m:dPr>
                            <m:ctrlPr>
                              <a:rPr lang="en-IN" sz="26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IN" sz="2600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d>
                      </m:e>
                    </m:d>
                    <m:r>
                      <a:rPr lang="en-IN" sz="2600" i="1">
                        <a:latin typeface="Cambria Math" panose="02040503050406030204" pitchFamily="18" charset="0"/>
                      </a:rPr>
                      <m:t>′</m:t>
                    </m:r>
                    <m:r>
                      <a:rPr lang="en-IN" sz="260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en-IN" sz="26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IN" sz="26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IN" sz="2600" i="1">
                                <a:latin typeface="Cambria Math" panose="02040503050406030204" pitchFamily="18" charset="0"/>
                              </a:rPr>
                              <m:t>𝑓</m:t>
                            </m:r>
                          </m:e>
                          <m:sup>
                            <m:r>
                              <a:rPr lang="en-IN" sz="2600" i="1"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p>
                        <m:d>
                          <m:dPr>
                            <m:ctrlPr>
                              <a:rPr lang="en-IN" sz="26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IN" sz="2600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d>
                        <m:r>
                          <a:rPr lang="en-IN" sz="2600" i="1">
                            <a:latin typeface="Cambria Math" panose="02040503050406030204" pitchFamily="18" charset="0"/>
                          </a:rPr>
                          <m:t>⋅</m:t>
                        </m:r>
                        <m:r>
                          <a:rPr lang="en-IN" sz="2600" i="1">
                            <a:latin typeface="Cambria Math" panose="02040503050406030204" pitchFamily="18" charset="0"/>
                          </a:rPr>
                          <m:t>𝑔</m:t>
                        </m:r>
                        <m:d>
                          <m:dPr>
                            <m:ctrlPr>
                              <a:rPr lang="en-IN" sz="26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IN" sz="2600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d>
                        <m:r>
                          <a:rPr lang="en-IN" sz="2600" i="1">
                            <a:latin typeface="Cambria Math" panose="02040503050406030204" pitchFamily="18" charset="0"/>
                          </a:rPr>
                          <m:t>−</m:t>
                        </m:r>
                        <m:sSup>
                          <m:sSupPr>
                            <m:ctrlPr>
                              <a:rPr lang="en-IN" sz="26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IN" sz="2600" i="1">
                                <a:latin typeface="Cambria Math" panose="02040503050406030204" pitchFamily="18" charset="0"/>
                              </a:rPr>
                              <m:t>𝑔</m:t>
                            </m:r>
                          </m:e>
                          <m:sup>
                            <m:r>
                              <a:rPr lang="en-IN" sz="2600" i="1"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p>
                        <m:d>
                          <m:dPr>
                            <m:ctrlPr>
                              <a:rPr lang="en-IN" sz="26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IN" sz="2600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d>
                        <m:r>
                          <a:rPr lang="en-IN" sz="2600" i="1">
                            <a:latin typeface="Cambria Math" panose="02040503050406030204" pitchFamily="18" charset="0"/>
                          </a:rPr>
                          <m:t>𝑓</m:t>
                        </m:r>
                        <m:d>
                          <m:dPr>
                            <m:ctrlPr>
                              <a:rPr lang="en-IN" sz="26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IN" sz="2600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d>
                      </m:e>
                    </m:d>
                    <m:r>
                      <a:rPr lang="en-IN" sz="2600" i="1">
                        <a:latin typeface="Cambria Math" panose="02040503050406030204" pitchFamily="18" charset="0"/>
                      </a:rPr>
                      <m:t>/</m:t>
                    </m:r>
                    <m:sSup>
                      <m:sSupPr>
                        <m:ctrlPr>
                          <a:rPr lang="en-IN" sz="26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IN" sz="26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IN" sz="2600" i="1">
                                <a:latin typeface="Cambria Math" panose="02040503050406030204" pitchFamily="18" charset="0"/>
                              </a:rPr>
                              <m:t>𝑔</m:t>
                            </m:r>
                            <m:d>
                              <m:dPr>
                                <m:ctrlPr>
                                  <a:rPr lang="en-IN" sz="2600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IN" sz="2600" i="1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</m:d>
                          </m:e>
                        </m:d>
                      </m:e>
                      <m:sup>
                        <m:r>
                          <a:rPr lang="en-IN" sz="2600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endParaRPr lang="en-IN" sz="26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>
                  <a:lnSpc>
                    <a:spcPct val="150000"/>
                  </a:lnSpc>
                  <a:buFont typeface="Wingdings" panose="05000000000000000000" pitchFamily="2" charset="2"/>
                  <a:buChar char="§"/>
                </a:pPr>
                <a:r>
                  <a:rPr lang="en-IN" sz="2600" b="1" dirty="0">
                    <a:latin typeface="Arial" panose="020B0604020202020204" pitchFamily="34" charset="0"/>
                    <a:cs typeface="Arial" panose="020B0604020202020204" pitchFamily="34" charset="0"/>
                  </a:rPr>
                  <a:t>Chain Rule</a:t>
                </a:r>
                <a:r>
                  <a:rPr lang="en-IN" sz="2600" dirty="0">
                    <a:latin typeface="Arial" panose="020B0604020202020204" pitchFamily="34" charset="0"/>
                    <a:cs typeface="Arial" panose="020B0604020202020204" pitchFamily="34" charset="0"/>
                  </a:rPr>
                  <a:t>: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IN" sz="26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IN" sz="26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IN" sz="2600" i="1">
                                <a:latin typeface="Cambria Math" panose="02040503050406030204" pitchFamily="18" charset="0"/>
                              </a:rPr>
                              <m:t>𝑓</m:t>
                            </m:r>
                            <m:d>
                              <m:dPr>
                                <m:ctrlPr>
                                  <a:rPr lang="en-IN" sz="2600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IN" sz="2600" i="1">
                                    <a:latin typeface="Cambria Math" panose="02040503050406030204" pitchFamily="18" charset="0"/>
                                  </a:rPr>
                                  <m:t>𝑔</m:t>
                                </m:r>
                                <m:d>
                                  <m:dPr>
                                    <m:ctrlPr>
                                      <a:rPr lang="en-IN" sz="2600" i="1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IN" sz="2600" i="1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</m:d>
                              </m:e>
                            </m:d>
                          </m:e>
                        </m:d>
                      </m:e>
                      <m:sup>
                        <m:r>
                          <a:rPr lang="en-IN" sz="2600" i="1"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a:rPr lang="en-IN" sz="2600" i="1">
                        <a:latin typeface="Cambria Math" panose="02040503050406030204" pitchFamily="18" charset="0"/>
                      </a:rPr>
                      <m:t>≝</m:t>
                    </m:r>
                    <m:sSup>
                      <m:sSupPr>
                        <m:ctrlPr>
                          <a:rPr lang="en-IN" sz="26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IN" sz="26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IN" sz="2600" i="1">
                                <a:latin typeface="Cambria Math" panose="02040503050406030204" pitchFamily="18" charset="0"/>
                              </a:rPr>
                              <m:t>𝑓</m:t>
                            </m:r>
                            <m:r>
                              <a:rPr lang="en-IN" sz="2600" i="1">
                                <a:latin typeface="Cambria Math" panose="02040503050406030204" pitchFamily="18" charset="0"/>
                              </a:rPr>
                              <m:t>∘</m:t>
                            </m:r>
                            <m:r>
                              <a:rPr lang="en-IN" sz="2600" i="1">
                                <a:latin typeface="Cambria Math" panose="02040503050406030204" pitchFamily="18" charset="0"/>
                              </a:rPr>
                              <m:t>𝑔</m:t>
                            </m:r>
                          </m:e>
                        </m:d>
                      </m:e>
                      <m:sup>
                        <m:r>
                          <a:rPr lang="en-IN" sz="2600" i="1"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d>
                      <m:dPr>
                        <m:ctrlPr>
                          <a:rPr lang="en-IN" sz="26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6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IN" sz="2600" i="1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IN" sz="26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IN" sz="2600" i="1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a:rPr lang="en-IN" sz="2600" i="1"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d>
                      <m:dPr>
                        <m:ctrlPr>
                          <a:rPr lang="en-IN" sz="26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600" i="1">
                            <a:latin typeface="Cambria Math" panose="02040503050406030204" pitchFamily="18" charset="0"/>
                          </a:rPr>
                          <m:t>𝑔</m:t>
                        </m:r>
                        <m:d>
                          <m:dPr>
                            <m:ctrlPr>
                              <a:rPr lang="en-IN" sz="26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IN" sz="2600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d>
                      </m:e>
                    </m:d>
                    <m:r>
                      <a:rPr lang="en-IN" sz="2600" i="1">
                        <a:latin typeface="Cambria Math" panose="02040503050406030204" pitchFamily="18" charset="0"/>
                      </a:rPr>
                      <m:t>⋅</m:t>
                    </m:r>
                    <m:sSup>
                      <m:sSupPr>
                        <m:ctrlPr>
                          <a:rPr lang="en-IN" sz="26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IN" sz="2600" i="1">
                            <a:latin typeface="Cambria Math" panose="02040503050406030204" pitchFamily="18" charset="0"/>
                          </a:rPr>
                          <m:t>𝑔</m:t>
                        </m:r>
                      </m:e>
                      <m:sup>
                        <m:r>
                          <a:rPr lang="en-IN" sz="2600" i="1"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d>
                      <m:dPr>
                        <m:ctrlPr>
                          <a:rPr lang="en-IN" sz="26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6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</m:oMath>
                </a14:m>
                <a:endParaRPr lang="en-IN" sz="26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D33AFBA3-BC0D-39C8-EDFF-2E2A3DD3268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99927" y="1410929"/>
                <a:ext cx="10520172" cy="4644669"/>
              </a:xfrm>
              <a:prstGeom prst="rect">
                <a:avLst/>
              </a:prstGeom>
              <a:blipFill>
                <a:blip r:embed="rId2"/>
                <a:stretch>
                  <a:fillRect l="-1043" b="-131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11521850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E73B10-6933-2748-ACAC-D4D62DCE09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700279"/>
            <a:ext cx="10515600" cy="771906"/>
          </a:xfrm>
        </p:spPr>
        <p:txBody>
          <a:bodyPr>
            <a:normAutofit/>
          </a:bodyPr>
          <a:lstStyle/>
          <a:p>
            <a:r>
              <a:rPr lang="en-IN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Optimization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226DDCF-D09D-CC05-6C23-BC4824C15E8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97606"/>
            <a:ext cx="10677144" cy="4460115"/>
          </a:xfrm>
        </p:spPr>
        <p:txBody>
          <a:bodyPr>
            <a:normAutofit/>
          </a:bodyPr>
          <a:lstStyle/>
          <a:p>
            <a:pPr algn="just"/>
            <a:r>
              <a:rPr lang="en-US" dirty="0"/>
              <a:t>In the context of machine learning, </a:t>
            </a:r>
            <a:r>
              <a:rPr lang="en-US" b="1" dirty="0"/>
              <a:t>optimization</a:t>
            </a:r>
            <a:r>
              <a:rPr lang="en-US" dirty="0"/>
              <a:t> refers to the process of adjusting the parameters of a model to minimize (or maximize) some objective function.</a:t>
            </a:r>
          </a:p>
          <a:p>
            <a:pPr algn="just"/>
            <a:r>
              <a:rPr lang="en-US" dirty="0"/>
              <a:t>There are various optimization algorithms used in machine learning to find the optimal set of parameters. </a:t>
            </a:r>
          </a:p>
          <a:p>
            <a:pPr algn="just"/>
            <a:r>
              <a:rPr lang="en-US" dirty="0"/>
              <a:t>These algorithms are responsible for updating the model parameters iteratively during the training process. </a:t>
            </a:r>
          </a:p>
        </p:txBody>
      </p:sp>
    </p:spTree>
    <p:extLst>
      <p:ext uri="{BB962C8B-B14F-4D97-AF65-F5344CB8AC3E}">
        <p14:creationId xmlns:p14="http://schemas.microsoft.com/office/powerpoint/2010/main" val="10753191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FA68DD4D-3878-BE87-2040-60CEC0FB7CB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401824" y="768096"/>
            <a:ext cx="8284463" cy="53218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5501041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9AE2AE-061A-5BA2-B0E3-051D277C12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Optimization…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335FD54-18FC-E5C5-38BC-33DAA344407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42416" y="1624457"/>
            <a:ext cx="9963912" cy="4127119"/>
          </a:xfrm>
        </p:spPr>
        <p:txBody>
          <a:bodyPr>
            <a:normAutofit/>
          </a:bodyPr>
          <a:lstStyle/>
          <a:p>
            <a:pPr algn="just"/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“Optimization is the heart of Machine Learning.”</a:t>
            </a:r>
          </a:p>
          <a:p>
            <a:pPr algn="just"/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 machine learning, optimization is the process of finding the best set of model parameters that minimize a loss function or maximize an objective function. </a:t>
            </a:r>
          </a:p>
          <a:p>
            <a:pPr algn="just"/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Essentially, it's about making a machine learning model as accurate as possible by adjusting its weights and bias based on the training data. </a:t>
            </a:r>
          </a:p>
          <a:p>
            <a:pPr algn="just"/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Optimization algorithms in machine learning are mathematical techniques used to adjust a model's parameters to minimize errors and improve accuracy. These algorithms help models learn from data by finding the best possible solution through iterative updates.</a:t>
            </a: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89567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7F53388-ED63-76C8-501E-DAF7B92959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212283-64CE-7E1D-D392-B7660AF91C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>
                <a:solidFill>
                  <a:srgbClr val="C00000"/>
                </a:solidFill>
              </a:rPr>
              <a:t>Optimization Algorithms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78E1572-9622-6948-C98E-C0B1A4BCD48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97025"/>
            <a:ext cx="10515600" cy="4351338"/>
          </a:xfrm>
        </p:spPr>
        <p:txBody>
          <a:bodyPr/>
          <a:lstStyle/>
          <a:p>
            <a:pPr algn="l">
              <a:lnSpc>
                <a:spcPts val="1650"/>
              </a:lnSpc>
              <a:spcBef>
                <a:spcPts val="75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2800" b="1" i="0" dirty="0">
              <a:solidFill>
                <a:srgbClr val="001D35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>
              <a:lnSpc>
                <a:spcPts val="1650"/>
              </a:lnSpc>
              <a:spcBef>
                <a:spcPts val="75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b="1" i="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Simplex Method:</a:t>
            </a:r>
            <a:endParaRPr lang="en-US" sz="2000" b="0" i="0" dirty="0"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 algn="l" fontAlgn="ctr">
              <a:lnSpc>
                <a:spcPts val="1650"/>
              </a:lnSpc>
              <a:spcBef>
                <a:spcPts val="750"/>
              </a:spcBef>
              <a:spcAft>
                <a:spcPts val="600"/>
              </a:spcAft>
              <a:buNone/>
            </a:pPr>
            <a:r>
              <a:rPr lang="en-US" sz="2000" b="0" i="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   A widely used algorithm for solving linear programming problems</a:t>
            </a:r>
          </a:p>
          <a:p>
            <a:pPr marL="0" indent="0" fontAlgn="ctr">
              <a:lnSpc>
                <a:spcPts val="1650"/>
              </a:lnSpc>
              <a:spcBef>
                <a:spcPts val="750"/>
              </a:spcBef>
              <a:spcAft>
                <a:spcPts val="600"/>
              </a:spcAft>
              <a:buNone/>
            </a:pPr>
            <a:r>
              <a:rPr lang="en-IN" sz="2000" dirty="0">
                <a:latin typeface="Arial" panose="020B0604020202020204" pitchFamily="34" charset="0"/>
                <a:cs typeface="Arial" panose="020B0604020202020204" pitchFamily="34" charset="0"/>
              </a:rPr>
              <a:t>   </a:t>
            </a:r>
          </a:p>
          <a:p>
            <a:pPr marL="0" indent="0" fontAlgn="ctr">
              <a:lnSpc>
                <a:spcPts val="1650"/>
              </a:lnSpc>
              <a:spcBef>
                <a:spcPts val="750"/>
              </a:spcBef>
              <a:spcAft>
                <a:spcPts val="600"/>
              </a:spcAft>
              <a:buNone/>
            </a:pPr>
            <a:r>
              <a:rPr lang="en-IN" sz="2000" dirty="0">
                <a:latin typeface="Arial" panose="020B0604020202020204" pitchFamily="34" charset="0"/>
                <a:cs typeface="Arial" panose="020B0604020202020204" pitchFamily="34" charset="0"/>
              </a:rPr>
              <a:t>   Example: Minimize transport cost.</a:t>
            </a:r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 algn="l" fontAlgn="ctr">
              <a:lnSpc>
                <a:spcPts val="1650"/>
              </a:lnSpc>
              <a:spcBef>
                <a:spcPts val="750"/>
              </a:spcBef>
              <a:spcAft>
                <a:spcPts val="600"/>
              </a:spcAft>
              <a:buNone/>
            </a:pPr>
            <a:endParaRPr lang="en-US" sz="2000" b="0" i="0" dirty="0"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 algn="l" fontAlgn="ctr">
              <a:lnSpc>
                <a:spcPts val="1650"/>
              </a:lnSpc>
              <a:spcBef>
                <a:spcPts val="750"/>
              </a:spcBef>
              <a:spcAft>
                <a:spcPts val="600"/>
              </a:spcAft>
              <a:buNone/>
            </a:pPr>
            <a:endParaRPr lang="en-US" sz="2000" b="0" i="0" dirty="0"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l">
              <a:lnSpc>
                <a:spcPts val="1650"/>
              </a:lnSpc>
              <a:spcBef>
                <a:spcPts val="750"/>
              </a:spcBef>
              <a:spcAft>
                <a:spcPts val="1500"/>
              </a:spcAft>
              <a:buFont typeface="Arial" panose="020B0604020202020204" pitchFamily="34" charset="0"/>
              <a:buChar char="•"/>
            </a:pPr>
            <a:r>
              <a:rPr lang="en-US" sz="2000" b="1" i="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Gradient Descent:</a:t>
            </a:r>
          </a:p>
          <a:p>
            <a:pPr marL="0" indent="0">
              <a:lnSpc>
                <a:spcPts val="1650"/>
              </a:lnSpc>
              <a:spcBef>
                <a:spcPts val="750"/>
              </a:spcBef>
              <a:spcAft>
                <a:spcPts val="1500"/>
              </a:spcAft>
              <a:buNone/>
            </a:pPr>
            <a:r>
              <a:rPr lang="en-IN" sz="2000" dirty="0">
                <a:latin typeface="Arial" panose="020B0604020202020204" pitchFamily="34" charset="0"/>
                <a:cs typeface="Arial" panose="020B0604020202020204" pitchFamily="34" charset="0"/>
              </a:rPr>
              <a:t>   Iteratively finds minimum error</a:t>
            </a:r>
            <a:endParaRPr lang="en-US" sz="2000" b="1" i="0" dirty="0"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lnSpc>
                <a:spcPts val="1650"/>
              </a:lnSpc>
              <a:spcBef>
                <a:spcPts val="750"/>
              </a:spcBef>
              <a:spcAft>
                <a:spcPts val="1500"/>
              </a:spcAft>
              <a:buNone/>
            </a:pPr>
            <a:r>
              <a:rPr lang="en-IN" sz="2000" dirty="0">
                <a:latin typeface="Arial" panose="020B0604020202020204" pitchFamily="34" charset="0"/>
                <a:cs typeface="Arial" panose="020B0604020202020204" pitchFamily="34" charset="0"/>
              </a:rPr>
              <a:t>   Finds minima of functions by moving step-by-step downhill</a:t>
            </a:r>
            <a:endParaRPr lang="en-US" sz="2000" b="0" i="0" dirty="0"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57016843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C3312D7-092B-1666-C2C4-ECB2F67E5C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AutoShape 4" descr="Lightbox">
            <a:extLst>
              <a:ext uri="{FF2B5EF4-FFF2-40B4-BE49-F238E27FC236}">
                <a16:creationId xmlns:a16="http://schemas.microsoft.com/office/drawing/2014/main" id="{0ABC0501-C4A7-752D-2617-D0B5D43C1271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3453384" y="2039112"/>
            <a:ext cx="4684776" cy="46847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7DE8C71-6E65-E34D-F940-5CBDD373AF76}"/>
              </a:ext>
            </a:extLst>
          </p:cNvPr>
          <p:cNvSpPr txBox="1"/>
          <p:nvPr/>
        </p:nvSpPr>
        <p:spPr>
          <a:xfrm>
            <a:off x="1178052" y="910599"/>
            <a:ext cx="10520172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3200" b="1" i="0" dirty="0">
                <a:solidFill>
                  <a:srgbClr val="C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Gradient descent 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B1F0EF8-B9CC-325D-D4D0-6429811D5702}"/>
              </a:ext>
            </a:extLst>
          </p:cNvPr>
          <p:cNvSpPr txBox="1"/>
          <p:nvPr/>
        </p:nvSpPr>
        <p:spPr>
          <a:xfrm>
            <a:off x="855218" y="1801544"/>
            <a:ext cx="5829046" cy="33542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 rtl="0" fontAlgn="base">
              <a:lnSpc>
                <a:spcPct val="150000"/>
              </a:lnSpc>
              <a:spcAft>
                <a:spcPts val="750"/>
              </a:spcAft>
            </a:pPr>
            <a:r>
              <a:rPr lang="en-US" sz="2400" b="0" i="0" dirty="0">
                <a:solidFill>
                  <a:srgbClr val="161616"/>
                </a:solidFill>
                <a:effectLst/>
                <a:latin typeface="IBM Plex Sans" panose="020F0502020204030204" pitchFamily="34" charset="0"/>
              </a:rPr>
              <a:t>Gradient descent is an optimization algorithm which is commonly-used to train </a:t>
            </a:r>
            <a:r>
              <a:rPr lang="en-US" sz="2400" b="0" i="0" u="none" strike="noStrike" dirty="0">
                <a:effectLst/>
                <a:latin typeface="IBM Plex Sans" panose="020F0502020204030204" pitchFamily="34" charset="0"/>
              </a:rPr>
              <a:t>machine learning</a:t>
            </a:r>
            <a:r>
              <a:rPr lang="en-US" sz="2400" b="0" i="0" dirty="0">
                <a:effectLst/>
                <a:latin typeface="IBM Plex Sans" panose="020F0502020204030204" pitchFamily="34" charset="0"/>
              </a:rPr>
              <a:t> models and </a:t>
            </a:r>
            <a:r>
              <a:rPr lang="en-US" sz="2400" b="0" i="0" u="none" strike="noStrike" dirty="0">
                <a:effectLst/>
                <a:latin typeface="IBM Plex Sans" panose="020F0502020204030204" pitchFamily="34" charset="0"/>
              </a:rPr>
              <a:t>neural networks</a:t>
            </a:r>
            <a:r>
              <a:rPr lang="en-US" sz="2400" b="0" i="0" dirty="0">
                <a:effectLst/>
                <a:latin typeface="IBM Plex Sans" panose="020F0502020204030204" pitchFamily="34" charset="0"/>
              </a:rPr>
              <a:t>. It trains machine learning models </a:t>
            </a:r>
            <a:r>
              <a:rPr lang="en-US" sz="2400" b="0" i="0" dirty="0">
                <a:solidFill>
                  <a:srgbClr val="161616"/>
                </a:solidFill>
                <a:effectLst/>
                <a:latin typeface="IBM Plex Sans" panose="020F0502020204030204" pitchFamily="34" charset="0"/>
              </a:rPr>
              <a:t>by minimizing errors between predicted and actual results.</a:t>
            </a:r>
            <a:endParaRPr lang="en-US" sz="2400" b="0" i="0" dirty="0">
              <a:effectLst/>
              <a:latin typeface="Arial" panose="020B0604020202020204" pitchFamily="34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17E27F61-1438-1A58-7132-9F3B5B9EC8F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66559" y="1801543"/>
            <a:ext cx="4546427" cy="35716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1868546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23200B-313A-3C6D-D008-67EDD8E9E5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858A85-D5E2-50DE-76BC-1AD3393E21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20496" y="718566"/>
            <a:ext cx="10515600" cy="1107059"/>
          </a:xfrm>
        </p:spPr>
        <p:txBody>
          <a:bodyPr>
            <a:normAutofit fontScale="90000"/>
          </a:bodyPr>
          <a:lstStyle/>
          <a:p>
            <a:r>
              <a:rPr lang="en-US" sz="3600" b="1" i="0" dirty="0">
                <a:solidFill>
                  <a:srgbClr val="C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Why Necessary for Machine Learning</a:t>
            </a:r>
            <a:br>
              <a:rPr lang="en-US" b="1" i="0" dirty="0">
                <a:solidFill>
                  <a:srgbClr val="292929"/>
                </a:solidFill>
                <a:effectLst/>
                <a:latin typeface="Open Sans" panose="020B0606030504020204" pitchFamily="34" charset="0"/>
              </a:rPr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02B5560-44CC-07C2-9728-05282AB8C7E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34036"/>
            <a:ext cx="10515600" cy="2781209"/>
          </a:xfrm>
        </p:spPr>
        <p:txBody>
          <a:bodyPr>
            <a:normAutofit/>
          </a:bodyPr>
          <a:lstStyle/>
          <a:p>
            <a:pPr algn="just" rtl="0"/>
            <a:r>
              <a:rPr lang="en-US" b="0" i="0" dirty="0">
                <a:solidFill>
                  <a:srgbClr val="292929"/>
                </a:solidFill>
                <a:effectLst/>
                <a:latin typeface="Open Sans" panose="020B0606030504020204" pitchFamily="34" charset="0"/>
              </a:rPr>
              <a:t>Gradient descent is necessary for optimizing and fine-tuning the parameters of a machine learning model. </a:t>
            </a:r>
          </a:p>
          <a:p>
            <a:pPr algn="just" rtl="0"/>
            <a:r>
              <a:rPr lang="en-US" b="0" i="0" dirty="0">
                <a:solidFill>
                  <a:srgbClr val="292929"/>
                </a:solidFill>
                <a:effectLst/>
                <a:latin typeface="Open Sans" panose="020B0606030504020204" pitchFamily="34" charset="0"/>
              </a:rPr>
              <a:t>Gradient descent aims to minimize a model's </a:t>
            </a:r>
            <a:r>
              <a:rPr lang="en-US" i="0" dirty="0">
                <a:solidFill>
                  <a:srgbClr val="292929"/>
                </a:solidFill>
                <a:effectLst/>
                <a:latin typeface="Open Sans" panose="020B0606030504020204" pitchFamily="34" charset="0"/>
              </a:rPr>
              <a:t>cost or </a:t>
            </a:r>
            <a:r>
              <a:rPr lang="en-US" i="0" u="none" strike="noStrike" dirty="0">
                <a:effectLst/>
                <a:latin typeface="Open Sans" panose="020B0606030504020204" pitchFamily="34" charset="0"/>
              </a:rPr>
              <a:t>loss function.</a:t>
            </a:r>
            <a:endParaRPr lang="en-US" i="0" dirty="0">
              <a:effectLst/>
              <a:latin typeface="Open Sans" panose="020B0606030504020204" pitchFamily="34" charset="0"/>
            </a:endParaRPr>
          </a:p>
          <a:p>
            <a:pPr algn="just" rtl="0"/>
            <a:r>
              <a:rPr lang="en-US" b="0" i="0" dirty="0">
                <a:solidFill>
                  <a:srgbClr val="292929"/>
                </a:solidFill>
                <a:effectLst/>
                <a:latin typeface="Open Sans" panose="020B0606030504020204" pitchFamily="34" charset="0"/>
              </a:rPr>
              <a:t>By reducing the cost function, the model becomes better at making predictions and can generalize better to new data. 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32042255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866D15-89AA-A478-0B38-95771C057D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AutoShape 4" descr="Lightbox">
            <a:extLst>
              <a:ext uri="{FF2B5EF4-FFF2-40B4-BE49-F238E27FC236}">
                <a16:creationId xmlns:a16="http://schemas.microsoft.com/office/drawing/2014/main" id="{8866C34E-437C-801A-5846-F421CD8FC2FD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3453384" y="2039112"/>
            <a:ext cx="4684776" cy="46847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D731739-D7F1-4809-AA3D-CCF13E4FBC31}"/>
              </a:ext>
            </a:extLst>
          </p:cNvPr>
          <p:cNvSpPr txBox="1"/>
          <p:nvPr/>
        </p:nvSpPr>
        <p:spPr>
          <a:xfrm>
            <a:off x="1204178" y="325824"/>
            <a:ext cx="10520172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3200" b="1" i="0" dirty="0">
                <a:solidFill>
                  <a:srgbClr val="C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Gradient descent 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A719DDB-D3F8-F58E-D43D-BACCA789B1F0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3382"/>
          <a:stretch>
            <a:fillRect/>
          </a:stretch>
        </p:blipFill>
        <p:spPr>
          <a:xfrm>
            <a:off x="2290354" y="1255876"/>
            <a:ext cx="8130026" cy="39425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9452990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5534FB-BE86-B892-6263-E5E5924A85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AutoShape 4" descr="Lightbox">
            <a:extLst>
              <a:ext uri="{FF2B5EF4-FFF2-40B4-BE49-F238E27FC236}">
                <a16:creationId xmlns:a16="http://schemas.microsoft.com/office/drawing/2014/main" id="{4DEDAA48-9FF4-5AD6-6DDB-306A13915FE8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3453384" y="2039112"/>
            <a:ext cx="4684776" cy="46847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2A17CFF-3451-BCE1-B3D5-31D76B8ECECE}"/>
              </a:ext>
            </a:extLst>
          </p:cNvPr>
          <p:cNvSpPr txBox="1"/>
          <p:nvPr/>
        </p:nvSpPr>
        <p:spPr>
          <a:xfrm>
            <a:off x="1033673" y="268914"/>
            <a:ext cx="10520172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3600" dirty="0"/>
              <a:t>Gradient Descent Example</a:t>
            </a:r>
            <a:endParaRPr lang="en-IN" sz="3600" b="1" i="0" dirty="0">
              <a:solidFill>
                <a:srgbClr val="C00000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89352A29-DA81-B2B8-2B62-0E400E70BED0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3652" b="15605"/>
          <a:stretch>
            <a:fillRect/>
          </a:stretch>
        </p:blipFill>
        <p:spPr>
          <a:xfrm>
            <a:off x="2455817" y="1115133"/>
            <a:ext cx="8429971" cy="52054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0304767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FB4C56-D9AB-2EE7-AEF9-FED6B22198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AutoShape 4" descr="Lightbox">
            <a:extLst>
              <a:ext uri="{FF2B5EF4-FFF2-40B4-BE49-F238E27FC236}">
                <a16:creationId xmlns:a16="http://schemas.microsoft.com/office/drawing/2014/main" id="{32A31DDB-D174-2109-B042-3C557E4D2825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3453384" y="2039112"/>
            <a:ext cx="4684776" cy="46847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327882C-5027-6F06-E8DE-112428613FDF}"/>
              </a:ext>
            </a:extLst>
          </p:cNvPr>
          <p:cNvSpPr txBox="1"/>
          <p:nvPr/>
        </p:nvSpPr>
        <p:spPr>
          <a:xfrm>
            <a:off x="1033673" y="268914"/>
            <a:ext cx="10520172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3600" dirty="0"/>
              <a:t>Gradient Descent Example</a:t>
            </a:r>
            <a:endParaRPr lang="en-IN" sz="3600" b="1" i="0" dirty="0">
              <a:solidFill>
                <a:srgbClr val="C00000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7ADF786-A025-6B8F-4EC2-49035DE99E0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94862" y="1135983"/>
            <a:ext cx="8376749" cy="54128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7053829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0DC5DB73-BF73-B1A5-337E-78219758385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0823" y="1088571"/>
            <a:ext cx="10023566" cy="41278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091157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66443B15-9416-8AD3-D381-52120EF06A0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1298" y="1672927"/>
            <a:ext cx="11002911" cy="29722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0719447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531AF3-CC01-BC41-0F1B-D1674A16F1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20496" y="584581"/>
            <a:ext cx="10515600" cy="1856867"/>
          </a:xfrm>
        </p:spPr>
        <p:txBody>
          <a:bodyPr/>
          <a:lstStyle/>
          <a:p>
            <a:r>
              <a:rPr lang="en-IN" b="1" i="0" dirty="0">
                <a:solidFill>
                  <a:srgbClr val="C00000"/>
                </a:solidFill>
                <a:effectLst/>
                <a:latin typeface="Nunito" pitchFamily="2" charset="0"/>
              </a:rPr>
              <a:t>Different Variants of Gradient Descent</a:t>
            </a:r>
            <a:br>
              <a:rPr lang="en-IN" b="1" i="0" dirty="0">
                <a:solidFill>
                  <a:srgbClr val="C00000"/>
                </a:solidFill>
                <a:effectLst/>
                <a:latin typeface="Nunito" pitchFamily="2" charset="0"/>
              </a:rPr>
            </a:br>
            <a:endParaRPr lang="en-IN" dirty="0">
              <a:solidFill>
                <a:srgbClr val="C00000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8320F4E-615A-31BB-A77B-90F2A82670C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706881"/>
            <a:ext cx="10515600" cy="2586445"/>
          </a:xfrm>
        </p:spPr>
        <p:txBody>
          <a:bodyPr/>
          <a:lstStyle/>
          <a:p>
            <a:r>
              <a:rPr lang="en-US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There are several variants of gradient descent that differ in the way the step size or learning rate is chosen and the way the updates are made.</a:t>
            </a:r>
          </a:p>
          <a:p>
            <a:r>
              <a:rPr lang="en-IN" sz="2400" b="1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Batch Gradient Descent</a:t>
            </a:r>
          </a:p>
          <a:p>
            <a:r>
              <a:rPr lang="en-IN" sz="2400" b="1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Stochastic Gradient Descent (SGD)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2400" b="1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Mini-batch Gradient Descent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10845934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4F4FEBE-5286-CFAA-A2A3-D58CFC3A6F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038327-2495-AE4B-E7B7-1946DFBCAD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fontAlgn="base"/>
            <a:r>
              <a:rPr lang="en-US" b="1" i="0" dirty="0">
                <a:solidFill>
                  <a:srgbClr val="FFFFFF"/>
                </a:solidFill>
                <a:effectLst/>
                <a:latin typeface="Source Sans 3"/>
              </a:rPr>
              <a:t> </a:t>
            </a:r>
            <a:endParaRPr lang="en-US" b="1" i="0" dirty="0">
              <a:solidFill>
                <a:srgbClr val="C00000"/>
              </a:solidFill>
              <a:effectLst/>
              <a:latin typeface="Source Sans 3"/>
            </a:endParaRPr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51998F45-0F90-80BC-5BB5-22B6EEC4E694}"/>
              </a:ext>
            </a:extLst>
          </p:cNvPr>
          <p:cNvSpPr txBox="1">
            <a:spLocks noGrp="1" noChangeArrowheads="1"/>
          </p:cNvSpPr>
          <p:nvPr>
            <p:ph idx="1"/>
          </p:nvPr>
        </p:nvSpPr>
        <p:spPr>
          <a:xfrm>
            <a:off x="838200" y="1405001"/>
            <a:ext cx="10515600" cy="4351338"/>
          </a:xfrm>
          <a:prstGeom prst="rect">
            <a:avLst/>
          </a:prstGeom>
          <a:noFill/>
        </p:spPr>
        <p:txBody>
          <a:bodyPr vert="horz" lIns="92075" tIns="46038" rIns="92075" bIns="46038" rtlCol="0" anchor="t">
            <a:no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Clr>
                <a:schemeClr val="accent1"/>
              </a:buClr>
              <a:buSzTx/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Tx/>
              <a:buFont typeface="Arial" panose="020B0604020202020204" pitchFamily="34" charset="0"/>
              <a:buChar char="•"/>
              <a:defRPr sz="1800" kern="1200" cap="none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Tx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Tx/>
              <a:buFont typeface="Arial" panose="020B0604020202020204" pitchFamily="34" charset="0"/>
              <a:buChar char="•"/>
              <a:defRPr sz="1400" kern="1200" cap="none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Tx/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Tx/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Tx/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Tx/>
              <a:buFont typeface="Arial" panose="020B0604020202020204" pitchFamily="34" charset="0"/>
              <a:buChar char="•"/>
              <a:defRPr sz="1200" kern="1200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Tx/>
              <a:buFont typeface="Arial" panose="020B0604020202020204" pitchFamily="34" charset="0"/>
              <a:buChar char="•"/>
              <a:defRPr sz="1200" kern="1200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9pPr>
          </a:lstStyle>
          <a:p>
            <a:endParaRPr lang="en-IN" sz="1800" dirty="0">
              <a:latin typeface="Tw Cen MT" panose="020B0602020104020603" pitchFamily="34" charset="0"/>
            </a:endParaRPr>
          </a:p>
          <a:p>
            <a:pPr eaLnBrk="1" hangingPunct="1"/>
            <a:r>
              <a:rPr lang="en-US" b="0" i="0" dirty="0">
                <a:solidFill>
                  <a:srgbClr val="161616"/>
                </a:solidFill>
                <a:effectLst/>
                <a:latin typeface="IBM Plex Sans" panose="020B0503050203000203" pitchFamily="34" charset="0"/>
              </a:rPr>
              <a:t>Batch gradient descent sums the error for each point in a training set, updating the model only after all training examples have been evaluated. This process referred to as a training epoch.</a:t>
            </a:r>
          </a:p>
          <a:p>
            <a:pPr eaLnBrk="1" hangingPunct="1"/>
            <a:r>
              <a:rPr lang="en-US" b="0" i="0" dirty="0">
                <a:solidFill>
                  <a:srgbClr val="161616"/>
                </a:solidFill>
                <a:effectLst/>
                <a:latin typeface="IBM Plex Sans" panose="020B0503050203000203" pitchFamily="34" charset="0"/>
              </a:rPr>
              <a:t>While this batching provides computation efficiency, it can still have a long processing time for large training datasets as it still needs to store all of the data into memory. </a:t>
            </a:r>
            <a:endParaRPr lang="en-GB" altLang="en-US" sz="2000" dirty="0">
              <a:ea typeface="ＭＳ Ｐゴシック" panose="020B0600070205080204" pitchFamily="34" charset="-128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5289E12-8739-B073-745A-8C73D4E3CF51}"/>
              </a:ext>
            </a:extLst>
          </p:cNvPr>
          <p:cNvSpPr txBox="1"/>
          <p:nvPr/>
        </p:nvSpPr>
        <p:spPr>
          <a:xfrm>
            <a:off x="566929" y="5212857"/>
            <a:ext cx="935164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GB" altLang="en-US" sz="1800" dirty="0"/>
              <a:t>         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8A1B721-AE3C-AA02-E676-EFE0B39678C1}"/>
              </a:ext>
            </a:extLst>
          </p:cNvPr>
          <p:cNvSpPr txBox="1"/>
          <p:nvPr/>
        </p:nvSpPr>
        <p:spPr>
          <a:xfrm>
            <a:off x="3961638" y="843240"/>
            <a:ext cx="6112764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fontAlgn="base"/>
            <a:r>
              <a:rPr lang="en-IN" sz="2800" b="1" i="0" dirty="0">
                <a:solidFill>
                  <a:srgbClr val="C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Batch gradient descent</a:t>
            </a:r>
          </a:p>
        </p:txBody>
      </p:sp>
    </p:spTree>
    <p:extLst>
      <p:ext uri="{BB962C8B-B14F-4D97-AF65-F5344CB8AC3E}">
        <p14:creationId xmlns:p14="http://schemas.microsoft.com/office/powerpoint/2010/main" val="193002668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2AD46E-B300-884F-D74B-27E9F118E9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DA6109-5DE4-AE67-9635-6556580A61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fontAlgn="base"/>
            <a:r>
              <a:rPr lang="en-IN" i="0" dirty="0">
                <a:solidFill>
                  <a:srgbClr val="C00000"/>
                </a:solidFill>
                <a:effectLst/>
                <a:latin typeface="IBM Plex Sans" panose="020B0503050203000203" pitchFamily="34" charset="0"/>
              </a:rPr>
              <a:t>Stochastic gradient descent</a:t>
            </a:r>
            <a:br>
              <a:rPr lang="en-IN" i="0" dirty="0">
                <a:solidFill>
                  <a:srgbClr val="C00000"/>
                </a:solidFill>
                <a:effectLst/>
                <a:latin typeface="IBM Plex Sans" panose="020B0503050203000203" pitchFamily="34" charset="0"/>
              </a:rPr>
            </a:br>
            <a:endParaRPr lang="en-US" i="0" dirty="0">
              <a:solidFill>
                <a:srgbClr val="C00000"/>
              </a:solidFill>
              <a:effectLst/>
              <a:latin typeface="Source Sans 3"/>
            </a:endParaRPr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A076C3C3-27BB-B298-4545-B1C524F0AEFF}"/>
              </a:ext>
            </a:extLst>
          </p:cNvPr>
          <p:cNvSpPr txBox="1">
            <a:spLocks noGrp="1" noChangeArrowheads="1"/>
          </p:cNvSpPr>
          <p:nvPr>
            <p:ph idx="1"/>
          </p:nvPr>
        </p:nvSpPr>
        <p:spPr>
          <a:xfrm>
            <a:off x="649224" y="1405001"/>
            <a:ext cx="10515600" cy="853567"/>
          </a:xfrm>
          <a:prstGeom prst="rect">
            <a:avLst/>
          </a:prstGeom>
          <a:noFill/>
        </p:spPr>
        <p:txBody>
          <a:bodyPr vert="horz" lIns="92075" tIns="46038" rIns="92075" bIns="46038" numCol="2" rtlCol="0" anchor="t">
            <a:no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Clr>
                <a:schemeClr val="accent1"/>
              </a:buClr>
              <a:buSzTx/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Tx/>
              <a:buFont typeface="Arial" panose="020B0604020202020204" pitchFamily="34" charset="0"/>
              <a:buChar char="•"/>
              <a:defRPr sz="1800" kern="1200" cap="none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Tx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Tx/>
              <a:buFont typeface="Arial" panose="020B0604020202020204" pitchFamily="34" charset="0"/>
              <a:buChar char="•"/>
              <a:defRPr sz="1400" kern="1200" cap="none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Tx/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Tx/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Tx/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Tx/>
              <a:buFont typeface="Arial" panose="020B0604020202020204" pitchFamily="34" charset="0"/>
              <a:buChar char="•"/>
              <a:defRPr sz="1200" kern="1200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Tx/>
              <a:buFont typeface="Arial" panose="020B0604020202020204" pitchFamily="34" charset="0"/>
              <a:buChar char="•"/>
              <a:defRPr sz="1200" kern="1200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9pPr>
          </a:lstStyle>
          <a:p>
            <a:pPr algn="just"/>
            <a:r>
              <a:rPr lang="en-US" sz="2000" b="0" i="0" dirty="0">
                <a:solidFill>
                  <a:srgbClr val="161616"/>
                </a:solidFill>
                <a:effectLst/>
                <a:latin typeface="IBM Plex Sans" panose="020B0503050203000203" pitchFamily="34" charset="0"/>
              </a:rPr>
              <a:t>Stochastic gradient descent (SGD) runs a training epoch for each example within  the dataset and it updates each training example's parameters one at a time. </a:t>
            </a:r>
            <a:endParaRPr lang="en-IN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7496904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FE11A8-D146-3FCA-78D4-6002F550BC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AutoShape 4" descr="Lightbox">
            <a:extLst>
              <a:ext uri="{FF2B5EF4-FFF2-40B4-BE49-F238E27FC236}">
                <a16:creationId xmlns:a16="http://schemas.microsoft.com/office/drawing/2014/main" id="{F78322E0-9DD4-5F8D-F603-7C0028BAAF12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3453384" y="2039112"/>
            <a:ext cx="4684776" cy="46847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518AABD-913C-E048-8582-EF1DD2C6733B}"/>
              </a:ext>
            </a:extLst>
          </p:cNvPr>
          <p:cNvSpPr txBox="1"/>
          <p:nvPr/>
        </p:nvSpPr>
        <p:spPr>
          <a:xfrm>
            <a:off x="3120390" y="885182"/>
            <a:ext cx="6112764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fontAlgn="base"/>
            <a:r>
              <a:rPr lang="en-IN" sz="2800" b="0" i="0" dirty="0">
                <a:solidFill>
                  <a:srgbClr val="C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Mini-batch gradient descent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8C407E7-DF48-E0A6-0D3A-7E32FFE278AA}"/>
              </a:ext>
            </a:extLst>
          </p:cNvPr>
          <p:cNvSpPr txBox="1"/>
          <p:nvPr/>
        </p:nvSpPr>
        <p:spPr>
          <a:xfrm>
            <a:off x="859536" y="2422482"/>
            <a:ext cx="10689336" cy="30469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0" i="0" dirty="0">
                <a:solidFill>
                  <a:srgbClr val="161616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Mini-batch gradient descent combines concepts from both batch gradient descent and stochastic gradient descent. </a:t>
            </a:r>
          </a:p>
          <a:p>
            <a:endParaRPr lang="en-US" sz="2400" dirty="0">
              <a:solidFill>
                <a:srgbClr val="161616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2400" b="0" i="0" dirty="0">
                <a:solidFill>
                  <a:srgbClr val="161616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It splits the training dataset into small batch sizes and performs updates on each of those batches. </a:t>
            </a:r>
          </a:p>
          <a:p>
            <a:endParaRPr lang="en-US" sz="2400" b="0" i="0" dirty="0">
              <a:solidFill>
                <a:srgbClr val="161616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2400" b="0" i="0" dirty="0">
                <a:solidFill>
                  <a:srgbClr val="161616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This approach strikes a balance between the computational efficiency of batch gradient descent and the speed of stochastic gradient descent.</a:t>
            </a:r>
            <a:endParaRPr lang="en-IN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9154119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4E80A4-484E-55B5-78C4-C5B48DD043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1" name="Slide Number Placeholder 5">
            <a:extLst>
              <a:ext uri="{FF2B5EF4-FFF2-40B4-BE49-F238E27FC236}">
                <a16:creationId xmlns:a16="http://schemas.microsoft.com/office/drawing/2014/main" id="{2313AB5F-1A57-34C9-5680-7EC997E89C2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B920B82A-039A-4A5F-861B-DBFF30FC9E1E}" type="slidenum">
              <a:rPr lang="en-US" altLang="en-US" sz="1200"/>
              <a:pPr/>
              <a:t>23</a:t>
            </a:fld>
            <a:endParaRPr lang="en-US" altLang="en-US" sz="1200"/>
          </a:p>
        </p:txBody>
      </p:sp>
      <p:sp>
        <p:nvSpPr>
          <p:cNvPr id="30723" name="Rectangle 3">
            <a:extLst>
              <a:ext uri="{FF2B5EF4-FFF2-40B4-BE49-F238E27FC236}">
                <a16:creationId xmlns:a16="http://schemas.microsoft.com/office/drawing/2014/main" id="{6439403A-74BF-6FE4-8EF6-4976506BCB9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838200" y="1376590"/>
            <a:ext cx="9945189" cy="2646136"/>
          </a:xfrm>
        </p:spPr>
        <p:txBody>
          <a:bodyPr>
            <a:noAutofit/>
          </a:bodyPr>
          <a:lstStyle/>
          <a:p>
            <a:pPr marL="0" indent="0" algn="ctr" eaLnBrk="1" hangingPunct="1">
              <a:lnSpc>
                <a:spcPct val="150000"/>
              </a:lnSpc>
              <a:buNone/>
            </a:pPr>
            <a:r>
              <a:rPr lang="en-IN" sz="4000" dirty="0">
                <a:latin typeface="Arial" panose="020B0604020202020204" pitchFamily="34" charset="0"/>
                <a:cs typeface="Arial" panose="020B0604020202020204" pitchFamily="34" charset="0"/>
              </a:rPr>
              <a:t>Thank</a:t>
            </a:r>
            <a:r>
              <a:rPr lang="en-IN" sz="4000" spc="-13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IN" sz="4000" spc="-540" dirty="0">
                <a:latin typeface="Arial" panose="020B0604020202020204" pitchFamily="34" charset="0"/>
                <a:cs typeface="Arial" panose="020B0604020202020204" pitchFamily="34" charset="0"/>
              </a:rPr>
              <a:t>Y</a:t>
            </a:r>
            <a:r>
              <a:rPr lang="en-IN" sz="4000" spc="15" dirty="0">
                <a:latin typeface="Arial" panose="020B0604020202020204" pitchFamily="34" charset="0"/>
                <a:cs typeface="Arial" panose="020B0604020202020204" pitchFamily="34" charset="0"/>
              </a:rPr>
              <a:t>ou</a:t>
            </a:r>
            <a:endParaRPr lang="en-US" altLang="en-US" sz="4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5175490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Custom 1">
      <a:dk1>
        <a:sysClr val="windowText" lastClr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2358</TotalTime>
  <Words>707</Words>
  <Application>Microsoft Office PowerPoint</Application>
  <PresentationFormat>Widescreen</PresentationFormat>
  <Paragraphs>73</Paragraphs>
  <Slides>23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13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37" baseType="lpstr">
      <vt:lpstr>ＭＳ Ｐゴシック</vt:lpstr>
      <vt:lpstr>Arial</vt:lpstr>
      <vt:lpstr>Calibri</vt:lpstr>
      <vt:lpstr>Calibri Light</vt:lpstr>
      <vt:lpstr>Cambria Math</vt:lpstr>
      <vt:lpstr>Gill Sans MT</vt:lpstr>
      <vt:lpstr>IBM Plex Sans</vt:lpstr>
      <vt:lpstr>Nunito</vt:lpstr>
      <vt:lpstr>Open Sans</vt:lpstr>
      <vt:lpstr>Source Sans 3</vt:lpstr>
      <vt:lpstr>Times New Roman</vt:lpstr>
      <vt:lpstr>Tw Cen MT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Optimization</vt:lpstr>
      <vt:lpstr>PowerPoint Presentation</vt:lpstr>
      <vt:lpstr>Optimization…</vt:lpstr>
      <vt:lpstr>Optimization Algorithms</vt:lpstr>
      <vt:lpstr>PowerPoint Presentation</vt:lpstr>
      <vt:lpstr>Why Necessary for Machine Learning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Different Variants of Gradient Descent </vt:lpstr>
      <vt:lpstr> </vt:lpstr>
      <vt:lpstr>Stochastic gradient descent 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 Manika Prasuna</dc:creator>
  <cp:lastModifiedBy>P Manika Prasuna</cp:lastModifiedBy>
  <cp:revision>57</cp:revision>
  <dcterms:created xsi:type="dcterms:W3CDTF">2025-05-12T05:57:37Z</dcterms:created>
  <dcterms:modified xsi:type="dcterms:W3CDTF">2025-08-28T06:43:54Z</dcterms:modified>
</cp:coreProperties>
</file>