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2"/>
  </p:notesMasterIdLst>
  <p:handoutMasterIdLst>
    <p:handoutMasterId r:id="rId23"/>
  </p:handoutMasterIdLst>
  <p:sldIdLst>
    <p:sldId id="256" r:id="rId2"/>
    <p:sldId id="286" r:id="rId3"/>
    <p:sldId id="295" r:id="rId4"/>
    <p:sldId id="1137" r:id="rId5"/>
    <p:sldId id="296" r:id="rId6"/>
    <p:sldId id="1125" r:id="rId7"/>
    <p:sldId id="1014" r:id="rId8"/>
    <p:sldId id="1126" r:id="rId9"/>
    <p:sldId id="1127" r:id="rId10"/>
    <p:sldId id="1128" r:id="rId11"/>
    <p:sldId id="1129" r:id="rId12"/>
    <p:sldId id="1130" r:id="rId13"/>
    <p:sldId id="1131" r:id="rId14"/>
    <p:sldId id="1134" r:id="rId15"/>
    <p:sldId id="1132" r:id="rId16"/>
    <p:sldId id="1133" r:id="rId17"/>
    <p:sldId id="1135" r:id="rId18"/>
    <p:sldId id="289" r:id="rId19"/>
    <p:sldId id="1139" r:id="rId20"/>
    <p:sldId id="271"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69" d="100"/>
          <a:sy n="69" d="100"/>
        </p:scale>
        <p:origin x="524" y="44"/>
      </p:cViewPr>
      <p:guideLst/>
    </p:cSldViewPr>
  </p:slideViewPr>
  <p:notesTextViewPr>
    <p:cViewPr>
      <p:scale>
        <a:sx n="1" d="1"/>
        <a:sy n="1" d="1"/>
      </p:scale>
      <p:origin x="0" y="0"/>
    </p:cViewPr>
  </p:notesTextViewPr>
  <p:notesViewPr>
    <p:cSldViewPr snapToGrid="0">
      <p:cViewPr varScale="1">
        <p:scale>
          <a:sx n="58" d="100"/>
          <a:sy n="58" d="100"/>
        </p:scale>
        <p:origin x="2544" y="6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C644F58-5B20-E869-E77C-C0F8B126D4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2860BF67-7A8A-CC30-946D-343E6F7B7F7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BD3ACDD-0F07-4DA2-90FB-487D20C54100}" type="datetimeFigureOut">
              <a:rPr lang="en-IN" smtClean="0"/>
              <a:t>28-08-2025</a:t>
            </a:fld>
            <a:endParaRPr lang="en-IN"/>
          </a:p>
        </p:txBody>
      </p:sp>
      <p:sp>
        <p:nvSpPr>
          <p:cNvPr id="4" name="Footer Placeholder 3">
            <a:extLst>
              <a:ext uri="{FF2B5EF4-FFF2-40B4-BE49-F238E27FC236}">
                <a16:creationId xmlns:a16="http://schemas.microsoft.com/office/drawing/2014/main" id="{8328392D-4986-B627-D445-87FF7EC797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374455C3-9724-ECC3-A882-4DB8FAE0109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09FF142-8412-46FD-A27C-3EB6E62B083A}" type="slidenum">
              <a:rPr lang="en-IN" smtClean="0"/>
              <a:t>‹#›</a:t>
            </a:fld>
            <a:endParaRPr lang="en-IN"/>
          </a:p>
        </p:txBody>
      </p:sp>
    </p:spTree>
    <p:extLst>
      <p:ext uri="{BB962C8B-B14F-4D97-AF65-F5344CB8AC3E}">
        <p14:creationId xmlns:p14="http://schemas.microsoft.com/office/powerpoint/2010/main" val="22663594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6C30D7-9224-4B97-9E82-8CDBF687CA76}" type="datetimeFigureOut">
              <a:rPr lang="en-IN" smtClean="0"/>
              <a:t>28-08-2025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B08B-E445-45F2-ACFB-8FC9CD790997}" type="slidenum">
              <a:rPr lang="en-IN" smtClean="0"/>
              <a:t>‹#›</a:t>
            </a:fld>
            <a:endParaRPr lang="en-IN"/>
          </a:p>
        </p:txBody>
      </p:sp>
    </p:spTree>
    <p:extLst>
      <p:ext uri="{BB962C8B-B14F-4D97-AF65-F5344CB8AC3E}">
        <p14:creationId xmlns:p14="http://schemas.microsoft.com/office/powerpoint/2010/main" val="2241525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75B64746-946D-0A08-AD0F-D8F6057E16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B13D5947-6724-4D30-B3B5-8A0DFB3FCBC8}"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
        <p:nvSpPr>
          <p:cNvPr id="98307" name="Rectangle 2">
            <a:extLst>
              <a:ext uri="{FF2B5EF4-FFF2-40B4-BE49-F238E27FC236}">
                <a16:creationId xmlns:a16="http://schemas.microsoft.com/office/drawing/2014/main" id="{6FCBF612-6A2A-9404-B500-0443B18078DE}"/>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13439CFD-D7F0-9433-B2D7-295AA75937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 : the expected information needed to classify a given sample</a:t>
            </a:r>
          </a:p>
          <a:p>
            <a:r>
              <a:rPr lang="en-US" altLang="en-US"/>
              <a:t>E (entropy) : expected information based on the partitioning into subsets by A</a:t>
            </a:r>
          </a:p>
          <a:p>
            <a:r>
              <a:rPr lang="en-US" altLang="en-US"/>
              <a:t>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99C037E4-FE22-CC18-66EB-506048A5857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0F165B76-B64C-44B4-ACAD-0FF2D9B38C97}" type="slidenum">
              <a:rPr lang="en-US" altLang="en-US">
                <a:latin typeface="Times New Roman" panose="02020603050405020304" pitchFamily="18" charset="0"/>
              </a:rPr>
              <a:pPr/>
              <a:t>7</a:t>
            </a:fld>
            <a:endParaRPr lang="en-US" altLang="en-US">
              <a:latin typeface="Times New Roman" panose="02020603050405020304" pitchFamily="18" charset="0"/>
            </a:endParaRPr>
          </a:p>
        </p:txBody>
      </p:sp>
      <p:sp>
        <p:nvSpPr>
          <p:cNvPr id="99331" name="Rectangle 2">
            <a:extLst>
              <a:ext uri="{FF2B5EF4-FFF2-40B4-BE49-F238E27FC236}">
                <a16:creationId xmlns:a16="http://schemas.microsoft.com/office/drawing/2014/main" id="{70E68629-8115-812F-956D-8199391B7F3A}"/>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50127C28-2F08-5AC2-0F87-B13CE84E54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38A3636-4462-45DC-BB00-FF6375F9F6C0}"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2768482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8A3636-4462-45DC-BB00-FF6375F9F6C0}"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3883346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8A3636-4462-45DC-BB00-FF6375F9F6C0}"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526664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38A3636-4462-45DC-BB00-FF6375F9F6C0}" type="datetimeFigureOut">
              <a:rPr lang="en-IN" smtClean="0"/>
              <a:t>28-08-2025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1916558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8A3636-4462-45DC-BB00-FF6375F9F6C0}" type="datetimeFigureOut">
              <a:rPr lang="en-IN" smtClean="0"/>
              <a:t>28-08-2025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1544128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8A3636-4462-45DC-BB00-FF6375F9F6C0}" type="datetimeFigureOut">
              <a:rPr lang="en-IN" smtClean="0"/>
              <a:t>28-08-2025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1577011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8A3636-4462-45DC-BB00-FF6375F9F6C0}" type="datetimeFigureOut">
              <a:rPr lang="en-IN" smtClean="0"/>
              <a:t>28-08-2025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373016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8A3636-4462-45DC-BB00-FF6375F9F6C0}" type="datetimeFigureOut">
              <a:rPr lang="en-IN" smtClean="0"/>
              <a:t>28-08-2025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2688360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8A3636-4462-45DC-BB00-FF6375F9F6C0}" type="datetimeFigureOut">
              <a:rPr lang="en-IN" smtClean="0"/>
              <a:t>28-08-2025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1435331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8A3636-4462-45DC-BB00-FF6375F9F6C0}"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3098556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8A3636-4462-45DC-BB00-FF6375F9F6C0}"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1023697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8A3636-4462-45DC-BB00-FF6375F9F6C0}" type="datetimeFigureOut">
              <a:rPr lang="en-IN" smtClean="0"/>
              <a:t>28-08-2025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8F3EC4-EDD9-42C1-AC18-D944FC4FABDD}" type="slidenum">
              <a:rPr lang="en-IN" smtClean="0"/>
              <a:t>‹#›</a:t>
            </a:fld>
            <a:endParaRPr lang="en-IN"/>
          </a:p>
        </p:txBody>
      </p:sp>
    </p:spTree>
    <p:extLst>
      <p:ext uri="{BB962C8B-B14F-4D97-AF65-F5344CB8AC3E}">
        <p14:creationId xmlns:p14="http://schemas.microsoft.com/office/powerpoint/2010/main" val="30530147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wmf"/></Relationships>
</file>

<file path=ppt/slides/_rels/slide7.xml.rels><?xml version="1.0" encoding="UTF-8" standalone="yes"?>
<Relationships xmlns="http://schemas.openxmlformats.org/package/2006/relationships"><Relationship Id="rId8" Type="http://schemas.openxmlformats.org/officeDocument/2006/relationships/image" Target="../media/image8.wmf"/><Relationship Id="rId13" Type="http://schemas.openxmlformats.org/officeDocument/2006/relationships/oleObject" Target="../embeddings/oleObject9.bin"/><Relationship Id="rId3" Type="http://schemas.openxmlformats.org/officeDocument/2006/relationships/oleObject" Target="../embeddings/oleObject4.bin"/><Relationship Id="rId7" Type="http://schemas.openxmlformats.org/officeDocument/2006/relationships/oleObject" Target="../embeddings/oleObject6.bin"/><Relationship Id="rId12" Type="http://schemas.openxmlformats.org/officeDocument/2006/relationships/image" Target="../media/image10.emf"/><Relationship Id="rId2" Type="http://schemas.openxmlformats.org/officeDocument/2006/relationships/notesSlide" Target="../notesSlides/notesSlide2.xml"/><Relationship Id="rId16" Type="http://schemas.openxmlformats.org/officeDocument/2006/relationships/image" Target="../media/image12.wmf"/><Relationship Id="rId1" Type="http://schemas.openxmlformats.org/officeDocument/2006/relationships/slideLayout" Target="../slideLayouts/slideLayout4.xml"/><Relationship Id="rId6" Type="http://schemas.openxmlformats.org/officeDocument/2006/relationships/image" Target="../media/image7.wmf"/><Relationship Id="rId11" Type="http://schemas.openxmlformats.org/officeDocument/2006/relationships/oleObject" Target="../embeddings/oleObject8.bin"/><Relationship Id="rId5" Type="http://schemas.openxmlformats.org/officeDocument/2006/relationships/oleObject" Target="../embeddings/oleObject5.bin"/><Relationship Id="rId15" Type="http://schemas.openxmlformats.org/officeDocument/2006/relationships/oleObject" Target="../embeddings/oleObject10.bin"/><Relationship Id="rId10" Type="http://schemas.openxmlformats.org/officeDocument/2006/relationships/image" Target="../media/image9.wmf"/><Relationship Id="rId4" Type="http://schemas.openxmlformats.org/officeDocument/2006/relationships/image" Target="../media/image6.emf"/><Relationship Id="rId9" Type="http://schemas.openxmlformats.org/officeDocument/2006/relationships/oleObject" Target="../embeddings/oleObject7.bin"/><Relationship Id="rId14" Type="http://schemas.openxmlformats.org/officeDocument/2006/relationships/image" Target="../media/image11.wmf"/></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C7BC2855-62DF-7C68-2680-6F1BDACC9B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E3F2F65-8282-9C7E-CEBC-B3FCF09DF9DC}"/>
              </a:ext>
            </a:extLst>
          </p:cNvPr>
          <p:cNvSpPr txBox="1"/>
          <p:nvPr/>
        </p:nvSpPr>
        <p:spPr>
          <a:xfrm>
            <a:off x="1267097" y="1288145"/>
            <a:ext cx="9657806" cy="1938992"/>
          </a:xfrm>
          <a:prstGeom prst="rect">
            <a:avLst/>
          </a:prstGeom>
          <a:noFill/>
        </p:spPr>
        <p:txBody>
          <a:bodyPr wrap="square">
            <a:spAutoFit/>
          </a:bodyPr>
          <a:lstStyle/>
          <a:p>
            <a:pPr algn="ctr"/>
            <a: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t>ARTIFICIAL INTELLIGENCE </a:t>
            </a:r>
            <a:b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br>
            <a: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t>&amp; </a:t>
            </a:r>
            <a:b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br>
            <a: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t>MACHINE LEARNING</a:t>
            </a:r>
            <a:endParaRPr lang="en-IN" sz="4000" dirty="0">
              <a:solidFill>
                <a:schemeClr val="accent2">
                  <a:lumMod val="50000"/>
                </a:schemeClr>
              </a:solidFill>
            </a:endParaRPr>
          </a:p>
        </p:txBody>
      </p:sp>
      <p:sp>
        <p:nvSpPr>
          <p:cNvPr id="2" name="TextBox 1">
            <a:extLst>
              <a:ext uri="{FF2B5EF4-FFF2-40B4-BE49-F238E27FC236}">
                <a16:creationId xmlns:a16="http://schemas.microsoft.com/office/drawing/2014/main" id="{12010671-249C-340E-19B5-2BA72FEB1F0C}"/>
              </a:ext>
            </a:extLst>
          </p:cNvPr>
          <p:cNvSpPr txBox="1"/>
          <p:nvPr/>
        </p:nvSpPr>
        <p:spPr>
          <a:xfrm>
            <a:off x="971550" y="3566771"/>
            <a:ext cx="10473197" cy="2000548"/>
          </a:xfrm>
          <a:prstGeom prst="rect">
            <a:avLst/>
          </a:prstGeom>
          <a:noFill/>
        </p:spPr>
        <p:txBody>
          <a:bodyPr wrap="square">
            <a:spAutoFit/>
          </a:bodyPr>
          <a:lstStyle/>
          <a:p>
            <a:pPr algn="ctr"/>
            <a:r>
              <a:rPr kumimoji="0" lang="en-US" sz="3000" b="1" i="0" u="none" strike="noStrike" kern="1200" cap="all" spc="0" normalizeH="0" baseline="0" noProof="0" dirty="0">
                <a:ln>
                  <a:noFill/>
                </a:ln>
                <a:effectLst/>
                <a:uLnTx/>
                <a:uFillTx/>
                <a:latin typeface="Gill Sans MT"/>
                <a:ea typeface="+mj-ea"/>
                <a:cs typeface="+mj-cs"/>
              </a:rPr>
              <a:t>SESSION NO : </a:t>
            </a:r>
            <a:r>
              <a:rPr lang="en-US" sz="3000" b="1" cap="all" dirty="0">
                <a:latin typeface="Gill Sans MT"/>
                <a:ea typeface="+mj-ea"/>
                <a:cs typeface="+mj-cs"/>
              </a:rPr>
              <a:t>20</a:t>
            </a:r>
          </a:p>
          <a:p>
            <a:pPr algn="ctr"/>
            <a:endParaRPr lang="en-US" sz="3000" b="1" cap="all" dirty="0">
              <a:latin typeface="Gill Sans MT"/>
              <a:ea typeface="+mj-ea"/>
              <a:cs typeface="+mj-cs"/>
            </a:endParaRPr>
          </a:p>
          <a:p>
            <a:pPr algn="ctr"/>
            <a:r>
              <a:rPr lang="en-US" sz="3200" b="1" dirty="0"/>
              <a:t>Feature selection methods (mutual information, information gain, Fisher score).</a:t>
            </a:r>
            <a:endParaRPr lang="en-IN" sz="3000" dirty="0"/>
          </a:p>
        </p:txBody>
      </p:sp>
    </p:spTree>
    <p:extLst>
      <p:ext uri="{BB962C8B-B14F-4D97-AF65-F5344CB8AC3E}">
        <p14:creationId xmlns:p14="http://schemas.microsoft.com/office/powerpoint/2010/main" val="3988170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8529C-554C-CF0C-CC93-1342DAA63CE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5BB056-9C1C-D28B-4E03-784F69D9E980}"/>
              </a:ext>
            </a:extLst>
          </p:cNvPr>
          <p:cNvSpPr>
            <a:spLocks noGrp="1"/>
          </p:cNvSpPr>
          <p:nvPr>
            <p:ph idx="1"/>
          </p:nvPr>
        </p:nvSpPr>
        <p:spPr>
          <a:xfrm>
            <a:off x="597081" y="1105989"/>
            <a:ext cx="10997838" cy="4833256"/>
          </a:xfrm>
        </p:spPr>
        <p:txBody>
          <a:bodyPr>
            <a:normAutofit/>
          </a:bodyPr>
          <a:lstStyle/>
          <a:p>
            <a:pPr algn="just" fontAlgn="base">
              <a:lnSpc>
                <a:spcPct val="150000"/>
              </a:lnSpc>
            </a:pPr>
            <a:r>
              <a:rPr lang="en-US" dirty="0"/>
              <a:t>In data science many times we encounter vast of features present in a dataset. </a:t>
            </a:r>
          </a:p>
          <a:p>
            <a:pPr algn="just" fontAlgn="base">
              <a:lnSpc>
                <a:spcPct val="150000"/>
              </a:lnSpc>
            </a:pPr>
            <a:r>
              <a:rPr lang="en-US" dirty="0"/>
              <a:t>But it is not necessary all features contribute equally in prediction that's where feature selection comes. </a:t>
            </a:r>
          </a:p>
          <a:p>
            <a:pPr algn="just" fontAlgn="base">
              <a:lnSpc>
                <a:spcPct val="150000"/>
              </a:lnSpc>
            </a:pPr>
            <a:r>
              <a:rPr lang="en-US" dirty="0"/>
              <a:t>It involves selecting a subset of relevant features from the original feature set to reduce the feature space while improving the model’s performance by reducing computational power. </a:t>
            </a:r>
          </a:p>
        </p:txBody>
      </p:sp>
      <p:pic>
        <p:nvPicPr>
          <p:cNvPr id="4" name="Picture 2" descr="KL University - Wikipedia">
            <a:extLst>
              <a:ext uri="{FF2B5EF4-FFF2-40B4-BE49-F238E27FC236}">
                <a16:creationId xmlns:a16="http://schemas.microsoft.com/office/drawing/2014/main" id="{8748671D-3F1B-2997-438D-742786D558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37F05A7-9F1E-29C8-C931-0119A98850BA}"/>
              </a:ext>
            </a:extLst>
          </p:cNvPr>
          <p:cNvSpPr txBox="1"/>
          <p:nvPr/>
        </p:nvSpPr>
        <p:spPr>
          <a:xfrm>
            <a:off x="3069486" y="419349"/>
            <a:ext cx="6477000" cy="584775"/>
          </a:xfrm>
          <a:prstGeom prst="rect">
            <a:avLst/>
          </a:prstGeom>
          <a:noFill/>
        </p:spPr>
        <p:txBody>
          <a:bodyPr wrap="square">
            <a:spAutoFit/>
          </a:bodyPr>
          <a:lstStyle/>
          <a:p>
            <a:r>
              <a:rPr lang="en-US" sz="3200" b="1" dirty="0"/>
              <a:t>Feature Selection Methods</a:t>
            </a:r>
          </a:p>
        </p:txBody>
      </p:sp>
    </p:spTree>
    <p:extLst>
      <p:ext uri="{BB962C8B-B14F-4D97-AF65-F5344CB8AC3E}">
        <p14:creationId xmlns:p14="http://schemas.microsoft.com/office/powerpoint/2010/main" val="3307011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3C46A-EA56-9F6F-E2F5-862E9CBD3F3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1B2D5A-A94E-11F3-D307-7D856FE9CC87}"/>
              </a:ext>
            </a:extLst>
          </p:cNvPr>
          <p:cNvSpPr>
            <a:spLocks noGrp="1"/>
          </p:cNvSpPr>
          <p:nvPr>
            <p:ph idx="1"/>
          </p:nvPr>
        </p:nvSpPr>
        <p:spPr>
          <a:xfrm>
            <a:off x="597081" y="711736"/>
            <a:ext cx="10997838" cy="4833256"/>
          </a:xfrm>
        </p:spPr>
        <p:txBody>
          <a:bodyPr>
            <a:normAutofit/>
          </a:bodyPr>
          <a:lstStyle/>
          <a:p>
            <a:pPr algn="just" fontAlgn="base">
              <a:lnSpc>
                <a:spcPct val="150000"/>
              </a:lnSpc>
            </a:pPr>
            <a:r>
              <a:rPr lang="en-US" sz="2400" b="1" dirty="0"/>
              <a:t>1. Filter Methods</a:t>
            </a:r>
          </a:p>
          <a:p>
            <a:pPr algn="just" fontAlgn="base">
              <a:lnSpc>
                <a:spcPct val="150000"/>
              </a:lnSpc>
            </a:pPr>
            <a:r>
              <a:rPr lang="en-US" sz="2400" dirty="0"/>
              <a:t>Filter methods evaluate each feature independently with target variable. </a:t>
            </a:r>
          </a:p>
          <a:p>
            <a:pPr algn="just" fontAlgn="base">
              <a:lnSpc>
                <a:spcPct val="150000"/>
              </a:lnSpc>
            </a:pPr>
            <a:r>
              <a:rPr lang="en-US" sz="2400" dirty="0"/>
              <a:t>Feature with high correlation with target variable are selected as it means this feature has some relation and can help us in making predictions. </a:t>
            </a:r>
          </a:p>
          <a:p>
            <a:pPr algn="just" fontAlgn="base">
              <a:lnSpc>
                <a:spcPct val="150000"/>
              </a:lnSpc>
            </a:pPr>
            <a:r>
              <a:rPr lang="en-US" sz="2400" dirty="0"/>
              <a:t>These methods are used in the preprocessing phase to remove irrelevant or redundant features based on statistical tests (correlation) or other criteria.</a:t>
            </a:r>
          </a:p>
        </p:txBody>
      </p:sp>
      <p:pic>
        <p:nvPicPr>
          <p:cNvPr id="4" name="Picture 2" descr="KL University - Wikipedia">
            <a:extLst>
              <a:ext uri="{FF2B5EF4-FFF2-40B4-BE49-F238E27FC236}">
                <a16:creationId xmlns:a16="http://schemas.microsoft.com/office/drawing/2014/main" id="{60808572-0C69-C50B-4270-3408ACEDB1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E78A6EC-140D-A7EB-ADCA-2045CD12974E}"/>
              </a:ext>
            </a:extLst>
          </p:cNvPr>
          <p:cNvSpPr txBox="1"/>
          <p:nvPr/>
        </p:nvSpPr>
        <p:spPr>
          <a:xfrm>
            <a:off x="2581806" y="126961"/>
            <a:ext cx="6477000" cy="584775"/>
          </a:xfrm>
          <a:prstGeom prst="rect">
            <a:avLst/>
          </a:prstGeom>
          <a:noFill/>
        </p:spPr>
        <p:txBody>
          <a:bodyPr wrap="square">
            <a:spAutoFit/>
          </a:bodyPr>
          <a:lstStyle/>
          <a:p>
            <a:r>
              <a:rPr lang="en-US" sz="3200" b="1" dirty="0"/>
              <a:t>Feature Selection Methods</a:t>
            </a:r>
          </a:p>
        </p:txBody>
      </p:sp>
    </p:spTree>
    <p:extLst>
      <p:ext uri="{BB962C8B-B14F-4D97-AF65-F5344CB8AC3E}">
        <p14:creationId xmlns:p14="http://schemas.microsoft.com/office/powerpoint/2010/main" val="875360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752FF-D833-5C98-1404-CF561F6EA8CC}"/>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CDE75586-0CB0-026D-7426-036F616DC8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CE6F64F-76FB-8CBC-5DB5-A26CAC5840A8}"/>
              </a:ext>
            </a:extLst>
          </p:cNvPr>
          <p:cNvSpPr txBox="1"/>
          <p:nvPr/>
        </p:nvSpPr>
        <p:spPr>
          <a:xfrm>
            <a:off x="2581806" y="126961"/>
            <a:ext cx="6477000" cy="584775"/>
          </a:xfrm>
          <a:prstGeom prst="rect">
            <a:avLst/>
          </a:prstGeom>
          <a:noFill/>
        </p:spPr>
        <p:txBody>
          <a:bodyPr wrap="square">
            <a:spAutoFit/>
          </a:bodyPr>
          <a:lstStyle/>
          <a:p>
            <a:r>
              <a:rPr lang="en-US" sz="3200" b="1" dirty="0"/>
              <a:t>Filter Methods</a:t>
            </a:r>
          </a:p>
        </p:txBody>
      </p:sp>
      <p:pic>
        <p:nvPicPr>
          <p:cNvPr id="6" name="Picture 5">
            <a:extLst>
              <a:ext uri="{FF2B5EF4-FFF2-40B4-BE49-F238E27FC236}">
                <a16:creationId xmlns:a16="http://schemas.microsoft.com/office/drawing/2014/main" id="{7526B27D-8324-D95D-2676-D7EB103DCEB7}"/>
              </a:ext>
            </a:extLst>
          </p:cNvPr>
          <p:cNvPicPr>
            <a:picLocks noChangeAspect="1"/>
          </p:cNvPicPr>
          <p:nvPr/>
        </p:nvPicPr>
        <p:blipFill>
          <a:blip r:embed="rId3"/>
          <a:stretch>
            <a:fillRect/>
          </a:stretch>
        </p:blipFill>
        <p:spPr>
          <a:xfrm>
            <a:off x="2057406" y="1404410"/>
            <a:ext cx="7525800" cy="4421624"/>
          </a:xfrm>
          <a:prstGeom prst="rect">
            <a:avLst/>
          </a:prstGeom>
        </p:spPr>
      </p:pic>
    </p:spTree>
    <p:extLst>
      <p:ext uri="{BB962C8B-B14F-4D97-AF65-F5344CB8AC3E}">
        <p14:creationId xmlns:p14="http://schemas.microsoft.com/office/powerpoint/2010/main" val="24289328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9B5E2-5F32-5831-1A08-361C4B1B4B8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5943A2-D211-2452-F28F-8D01B582B056}"/>
              </a:ext>
            </a:extLst>
          </p:cNvPr>
          <p:cNvSpPr>
            <a:spLocks noGrp="1"/>
          </p:cNvSpPr>
          <p:nvPr>
            <p:ph idx="1"/>
          </p:nvPr>
        </p:nvSpPr>
        <p:spPr>
          <a:xfrm>
            <a:off x="2277835" y="1312817"/>
            <a:ext cx="5951765" cy="4232365"/>
          </a:xfrm>
        </p:spPr>
        <p:txBody>
          <a:bodyPr>
            <a:normAutofit/>
          </a:bodyPr>
          <a:lstStyle/>
          <a:p>
            <a:pPr marL="0" indent="0" fontAlgn="base">
              <a:buNone/>
            </a:pPr>
            <a:r>
              <a:rPr lang="en-US" dirty="0"/>
              <a:t>Some techniques used are:  </a:t>
            </a:r>
          </a:p>
          <a:p>
            <a:pPr fontAlgn="base"/>
            <a:r>
              <a:rPr lang="en-US" b="1" dirty="0"/>
              <a:t>Information Gain</a:t>
            </a:r>
          </a:p>
          <a:p>
            <a:pPr fontAlgn="base"/>
            <a:r>
              <a:rPr lang="en-US" b="1" dirty="0"/>
              <a:t>Chi-square test</a:t>
            </a:r>
          </a:p>
          <a:p>
            <a:pPr fontAlgn="base"/>
            <a:r>
              <a:rPr lang="en-US" b="1" dirty="0"/>
              <a:t>Fisher’s Score</a:t>
            </a:r>
            <a:endParaRPr lang="en-US" dirty="0"/>
          </a:p>
          <a:p>
            <a:pPr fontAlgn="base"/>
            <a:r>
              <a:rPr lang="en-US" b="1" dirty="0"/>
              <a:t>Pearson’s Correlation Coefficient</a:t>
            </a:r>
            <a:endParaRPr lang="en-US" dirty="0"/>
          </a:p>
          <a:p>
            <a:pPr fontAlgn="base"/>
            <a:r>
              <a:rPr lang="en-US" b="1" dirty="0"/>
              <a:t>Variance Threshold</a:t>
            </a:r>
            <a:endParaRPr lang="en-US" dirty="0"/>
          </a:p>
          <a:p>
            <a:pPr fontAlgn="base"/>
            <a:r>
              <a:rPr lang="en-US" b="1" dirty="0"/>
              <a:t>Mean Absolute Difference:</a:t>
            </a:r>
            <a:r>
              <a:rPr lang="en-US" dirty="0"/>
              <a:t> </a:t>
            </a:r>
          </a:p>
          <a:p>
            <a:pPr fontAlgn="base"/>
            <a:r>
              <a:rPr lang="en-US" b="1" dirty="0"/>
              <a:t>Dispersion ratio</a:t>
            </a:r>
            <a:endParaRPr lang="en-US" dirty="0"/>
          </a:p>
        </p:txBody>
      </p:sp>
      <p:pic>
        <p:nvPicPr>
          <p:cNvPr id="4" name="Picture 2" descr="KL University - Wikipedia">
            <a:extLst>
              <a:ext uri="{FF2B5EF4-FFF2-40B4-BE49-F238E27FC236}">
                <a16:creationId xmlns:a16="http://schemas.microsoft.com/office/drawing/2014/main" id="{81CD32AD-D3EC-CAB7-EF88-E70176E4DE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3E371B5-9CDD-7F2F-2CB2-C77B6A3706FE}"/>
              </a:ext>
            </a:extLst>
          </p:cNvPr>
          <p:cNvSpPr txBox="1"/>
          <p:nvPr/>
        </p:nvSpPr>
        <p:spPr>
          <a:xfrm>
            <a:off x="2581806" y="126961"/>
            <a:ext cx="6477000" cy="584775"/>
          </a:xfrm>
          <a:prstGeom prst="rect">
            <a:avLst/>
          </a:prstGeom>
          <a:noFill/>
        </p:spPr>
        <p:txBody>
          <a:bodyPr wrap="square">
            <a:spAutoFit/>
          </a:bodyPr>
          <a:lstStyle/>
          <a:p>
            <a:r>
              <a:rPr lang="en-US" sz="3200" b="1" dirty="0"/>
              <a:t>Feature Selection Methods</a:t>
            </a:r>
          </a:p>
        </p:txBody>
      </p:sp>
    </p:spTree>
    <p:extLst>
      <p:ext uri="{BB962C8B-B14F-4D97-AF65-F5344CB8AC3E}">
        <p14:creationId xmlns:p14="http://schemas.microsoft.com/office/powerpoint/2010/main" val="2292086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a:extLst>
              <a:ext uri="{FF2B5EF4-FFF2-40B4-BE49-F238E27FC236}">
                <a16:creationId xmlns:a16="http://schemas.microsoft.com/office/drawing/2014/main" id="{16FA251F-E0DF-EE39-27D1-1AE7F9A552D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609DA4B0-CEC3-4AE4-879C-0C609E08E341}" type="slidenum">
              <a:rPr lang="en-US" altLang="en-US"/>
              <a:pPr eaLnBrk="1" hangingPunct="1"/>
              <a:t>6</a:t>
            </a:fld>
            <a:endParaRPr lang="en-US" altLang="en-US"/>
          </a:p>
        </p:txBody>
      </p:sp>
      <p:sp>
        <p:nvSpPr>
          <p:cNvPr id="15363" name="Rectangle 2">
            <a:extLst>
              <a:ext uri="{FF2B5EF4-FFF2-40B4-BE49-F238E27FC236}">
                <a16:creationId xmlns:a16="http://schemas.microsoft.com/office/drawing/2014/main" id="{08BDF966-5FA9-CF52-6507-DD7FEA65D7A7}"/>
              </a:ext>
            </a:extLst>
          </p:cNvPr>
          <p:cNvSpPr>
            <a:spLocks noChangeArrowheads="1"/>
          </p:cNvSpPr>
          <p:nvPr/>
        </p:nvSpPr>
        <p:spPr bwMode="auto">
          <a:xfrm>
            <a:off x="1905000" y="76200"/>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sz="3600" b="1" dirty="0">
                <a:solidFill>
                  <a:schemeClr val="tx2"/>
                </a:solidFill>
                <a:latin typeface="Berlin Sans FB Demi" panose="020E0802020502020306" pitchFamily="34" charset="0"/>
              </a:rPr>
              <a:t>Attribute Selection Measure: Information Gain </a:t>
            </a:r>
          </a:p>
        </p:txBody>
      </p:sp>
      <p:sp>
        <p:nvSpPr>
          <p:cNvPr id="15364" name="Rectangle 3">
            <a:extLst>
              <a:ext uri="{FF2B5EF4-FFF2-40B4-BE49-F238E27FC236}">
                <a16:creationId xmlns:a16="http://schemas.microsoft.com/office/drawing/2014/main" id="{9BF38204-C2F1-91E5-3BD5-8B068FFF95EA}"/>
              </a:ext>
            </a:extLst>
          </p:cNvPr>
          <p:cNvSpPr>
            <a:spLocks noChangeArrowheads="1"/>
          </p:cNvSpPr>
          <p:nvPr/>
        </p:nvSpPr>
        <p:spPr bwMode="auto">
          <a:xfrm>
            <a:off x="1828800" y="1524000"/>
            <a:ext cx="84582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lnSpc>
                <a:spcPct val="110000"/>
              </a:lnSpc>
              <a:spcBef>
                <a:spcPct val="20000"/>
              </a:spcBef>
              <a:buClr>
                <a:schemeClr val="folHlink"/>
              </a:buClr>
              <a:buSzPct val="60000"/>
              <a:buFont typeface="Wingdings" panose="05000000000000000000" pitchFamily="2" charset="2"/>
              <a:buChar char="n"/>
            </a:pPr>
            <a:r>
              <a:rPr lang="en-US" altLang="en-US" sz="2400" dirty="0">
                <a:latin typeface="Calibri" panose="020F0502020204030204" pitchFamily="34" charset="0"/>
              </a:rPr>
              <a:t>Select the attribute with the highest information gain</a:t>
            </a:r>
          </a:p>
          <a:p>
            <a:pPr eaLnBrk="1" hangingPunct="1">
              <a:lnSpc>
                <a:spcPct val="110000"/>
              </a:lnSpc>
              <a:spcBef>
                <a:spcPct val="20000"/>
              </a:spcBef>
              <a:buClr>
                <a:schemeClr val="folHlink"/>
              </a:buClr>
              <a:buSzPct val="60000"/>
              <a:buFont typeface="Wingdings" panose="05000000000000000000" pitchFamily="2" charset="2"/>
              <a:buChar char="n"/>
            </a:pPr>
            <a:r>
              <a:rPr lang="en-US" altLang="en-US" sz="2400" dirty="0">
                <a:latin typeface="Calibri" panose="020F0502020204030204" pitchFamily="34" charset="0"/>
              </a:rPr>
              <a:t>Let </a:t>
            </a:r>
            <a:r>
              <a:rPr lang="en-US" altLang="en-US" sz="2400" i="1" dirty="0">
                <a:latin typeface="Calibri" panose="020F0502020204030204" pitchFamily="34" charset="0"/>
              </a:rPr>
              <a:t>p</a:t>
            </a:r>
            <a:r>
              <a:rPr lang="en-US" altLang="en-US" sz="2400" i="1" baseline="-25000" dirty="0">
                <a:latin typeface="Calibri" panose="020F0502020204030204" pitchFamily="34" charset="0"/>
              </a:rPr>
              <a:t>i</a:t>
            </a:r>
            <a:r>
              <a:rPr lang="en-US" altLang="en-US" sz="2400" dirty="0">
                <a:latin typeface="Calibri" panose="020F0502020204030204" pitchFamily="34" charset="0"/>
              </a:rPr>
              <a:t> be the probability that an arbitrary tuple in D belongs to class C</a:t>
            </a:r>
            <a:r>
              <a:rPr lang="en-US" altLang="en-US" sz="2400" baseline="-25000" dirty="0">
                <a:latin typeface="Calibri" panose="020F0502020204030204" pitchFamily="34" charset="0"/>
              </a:rPr>
              <a:t>i</a:t>
            </a:r>
            <a:r>
              <a:rPr lang="en-US" altLang="en-US" sz="2400" dirty="0">
                <a:latin typeface="Calibri" panose="020F0502020204030204" pitchFamily="34" charset="0"/>
              </a:rPr>
              <a:t>, estimated by |C</a:t>
            </a:r>
            <a:r>
              <a:rPr lang="en-US" altLang="en-US" sz="2400" i="1" baseline="-25000" dirty="0">
                <a:latin typeface="Calibri" panose="020F0502020204030204" pitchFamily="34" charset="0"/>
              </a:rPr>
              <a:t>i</a:t>
            </a:r>
            <a:r>
              <a:rPr lang="en-US" altLang="en-US" sz="2400" baseline="-25000" dirty="0">
                <a:latin typeface="Calibri" panose="020F0502020204030204" pitchFamily="34" charset="0"/>
              </a:rPr>
              <a:t>, D</a:t>
            </a:r>
            <a:r>
              <a:rPr lang="en-US" altLang="en-US" sz="2400" dirty="0">
                <a:latin typeface="Calibri" panose="020F0502020204030204" pitchFamily="34" charset="0"/>
              </a:rPr>
              <a:t>|/|D|</a:t>
            </a:r>
          </a:p>
          <a:p>
            <a:pPr eaLnBrk="1" hangingPunct="1">
              <a:lnSpc>
                <a:spcPct val="110000"/>
              </a:lnSpc>
              <a:spcBef>
                <a:spcPct val="20000"/>
              </a:spcBef>
              <a:buClr>
                <a:schemeClr val="folHlink"/>
              </a:buClr>
              <a:buSzPct val="60000"/>
              <a:buFont typeface="Wingdings" panose="05000000000000000000" pitchFamily="2" charset="2"/>
              <a:buChar char="n"/>
            </a:pPr>
            <a:r>
              <a:rPr lang="en-US" altLang="en-US" sz="2400" dirty="0">
                <a:solidFill>
                  <a:schemeClr val="hlink"/>
                </a:solidFill>
                <a:latin typeface="Calibri" panose="020F0502020204030204" pitchFamily="34" charset="0"/>
              </a:rPr>
              <a:t>Expected information</a:t>
            </a:r>
            <a:r>
              <a:rPr lang="en-US" altLang="en-US" sz="2400" dirty="0">
                <a:latin typeface="Calibri" panose="020F0502020204030204" pitchFamily="34" charset="0"/>
              </a:rPr>
              <a:t> (entropy) needed to classify a tuple in D:</a:t>
            </a:r>
          </a:p>
          <a:p>
            <a:pPr eaLnBrk="1" hangingPunct="1">
              <a:lnSpc>
                <a:spcPct val="110000"/>
              </a:lnSpc>
              <a:spcBef>
                <a:spcPct val="20000"/>
              </a:spcBef>
              <a:buClr>
                <a:schemeClr val="folHlink"/>
              </a:buClr>
              <a:buSzPct val="60000"/>
              <a:buFont typeface="Wingdings" panose="05000000000000000000" pitchFamily="2" charset="2"/>
              <a:buChar char="n"/>
            </a:pPr>
            <a:endParaRPr lang="en-US" altLang="en-US" sz="2400" dirty="0">
              <a:latin typeface="Calibri" panose="020F0502020204030204" pitchFamily="34" charset="0"/>
            </a:endParaRPr>
          </a:p>
          <a:p>
            <a:pPr eaLnBrk="1" hangingPunct="1">
              <a:lnSpc>
                <a:spcPct val="110000"/>
              </a:lnSpc>
              <a:spcBef>
                <a:spcPct val="20000"/>
              </a:spcBef>
              <a:buClr>
                <a:schemeClr val="folHlink"/>
              </a:buClr>
              <a:buSzPct val="60000"/>
              <a:buFont typeface="Wingdings" panose="05000000000000000000" pitchFamily="2" charset="2"/>
              <a:buChar char="n"/>
            </a:pPr>
            <a:r>
              <a:rPr lang="en-US" altLang="en-US" sz="2400" dirty="0">
                <a:solidFill>
                  <a:schemeClr val="hlink"/>
                </a:solidFill>
                <a:latin typeface="Calibri" panose="020F0502020204030204" pitchFamily="34" charset="0"/>
              </a:rPr>
              <a:t>Information</a:t>
            </a:r>
            <a:r>
              <a:rPr lang="en-US" altLang="en-US" sz="2400" dirty="0">
                <a:latin typeface="Calibri" panose="020F0502020204030204" pitchFamily="34" charset="0"/>
              </a:rPr>
              <a:t> needed (after using A to split D into v partitions) to classify D:</a:t>
            </a:r>
          </a:p>
          <a:p>
            <a:pPr eaLnBrk="1" hangingPunct="1">
              <a:lnSpc>
                <a:spcPct val="110000"/>
              </a:lnSpc>
              <a:spcBef>
                <a:spcPct val="20000"/>
              </a:spcBef>
              <a:buClr>
                <a:schemeClr val="folHlink"/>
              </a:buClr>
              <a:buSzPct val="60000"/>
              <a:buFont typeface="Wingdings" panose="05000000000000000000" pitchFamily="2" charset="2"/>
              <a:buChar char="n"/>
            </a:pPr>
            <a:endParaRPr lang="en-US" altLang="en-US" sz="2400" dirty="0">
              <a:latin typeface="Calibri" panose="020F0502020204030204" pitchFamily="34" charset="0"/>
            </a:endParaRPr>
          </a:p>
          <a:p>
            <a:pPr eaLnBrk="1" hangingPunct="1">
              <a:lnSpc>
                <a:spcPct val="110000"/>
              </a:lnSpc>
              <a:spcBef>
                <a:spcPct val="20000"/>
              </a:spcBef>
              <a:buClr>
                <a:schemeClr val="folHlink"/>
              </a:buClr>
              <a:buSzPct val="60000"/>
              <a:buFont typeface="Wingdings" panose="05000000000000000000" pitchFamily="2" charset="2"/>
              <a:buChar char="n"/>
            </a:pPr>
            <a:r>
              <a:rPr lang="en-US" altLang="en-US" sz="2400" dirty="0">
                <a:solidFill>
                  <a:schemeClr val="hlink"/>
                </a:solidFill>
                <a:latin typeface="Calibri" panose="020F0502020204030204" pitchFamily="34" charset="0"/>
              </a:rPr>
              <a:t>Information gained</a:t>
            </a:r>
            <a:r>
              <a:rPr lang="en-US" altLang="en-US" sz="2400" dirty="0">
                <a:latin typeface="Calibri" panose="020F0502020204030204" pitchFamily="34" charset="0"/>
              </a:rPr>
              <a:t> by branching on attribute A</a:t>
            </a:r>
          </a:p>
          <a:p>
            <a:pPr eaLnBrk="1" hangingPunct="1">
              <a:lnSpc>
                <a:spcPct val="110000"/>
              </a:lnSpc>
              <a:spcBef>
                <a:spcPct val="20000"/>
              </a:spcBef>
              <a:buClr>
                <a:schemeClr val="folHlink"/>
              </a:buClr>
              <a:buSzPct val="60000"/>
              <a:buFont typeface="Wingdings" panose="05000000000000000000" pitchFamily="2" charset="2"/>
              <a:buChar char="n"/>
            </a:pPr>
            <a:endParaRPr lang="en-US" altLang="en-US" sz="2400" dirty="0">
              <a:latin typeface="Calibri" panose="020F0502020204030204" pitchFamily="34" charset="0"/>
            </a:endParaRPr>
          </a:p>
        </p:txBody>
      </p:sp>
      <p:graphicFrame>
        <p:nvGraphicFramePr>
          <p:cNvPr id="15365" name="Object 4">
            <a:extLst>
              <a:ext uri="{FF2B5EF4-FFF2-40B4-BE49-F238E27FC236}">
                <a16:creationId xmlns:a16="http://schemas.microsoft.com/office/drawing/2014/main" id="{270093BB-9C61-6782-6077-FE5272CFD225}"/>
              </a:ext>
            </a:extLst>
          </p:cNvPr>
          <p:cNvGraphicFramePr>
            <a:graphicFrameLocks noChangeAspect="1"/>
          </p:cNvGraphicFramePr>
          <p:nvPr/>
        </p:nvGraphicFramePr>
        <p:xfrm>
          <a:off x="6054726" y="3200400"/>
          <a:ext cx="3317875" cy="850900"/>
        </p:xfrm>
        <a:graphic>
          <a:graphicData uri="http://schemas.openxmlformats.org/presentationml/2006/ole">
            <mc:AlternateContent xmlns:mc="http://schemas.openxmlformats.org/markup-compatibility/2006">
              <mc:Choice xmlns:v="urn:schemas-microsoft-com:vml" Requires="v">
                <p:oleObj name="Equation" r:id="rId3" imgW="1612900" imgH="431800" progId="Equation.3">
                  <p:embed/>
                </p:oleObj>
              </mc:Choice>
              <mc:Fallback>
                <p:oleObj name="Equation" r:id="rId3" imgW="1612900" imgH="431800" progId="Equation.3">
                  <p:embed/>
                  <p:pic>
                    <p:nvPicPr>
                      <p:cNvPr id="15365" name="Object 4">
                        <a:extLst>
                          <a:ext uri="{FF2B5EF4-FFF2-40B4-BE49-F238E27FC236}">
                            <a16:creationId xmlns:a16="http://schemas.microsoft.com/office/drawing/2014/main" id="{270093BB-9C61-6782-6077-FE5272CFD2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54726" y="3200400"/>
                        <a:ext cx="3317875"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6" name="Object 5">
            <a:extLst>
              <a:ext uri="{FF2B5EF4-FFF2-40B4-BE49-F238E27FC236}">
                <a16:creationId xmlns:a16="http://schemas.microsoft.com/office/drawing/2014/main" id="{585005EB-1522-900D-D5CE-5985AF0E554E}"/>
              </a:ext>
            </a:extLst>
          </p:cNvPr>
          <p:cNvGraphicFramePr>
            <a:graphicFrameLocks noChangeAspect="1"/>
          </p:cNvGraphicFramePr>
          <p:nvPr/>
        </p:nvGraphicFramePr>
        <p:xfrm>
          <a:off x="5943600" y="4343401"/>
          <a:ext cx="4495800" cy="949325"/>
        </p:xfrm>
        <a:graphic>
          <a:graphicData uri="http://schemas.openxmlformats.org/presentationml/2006/ole">
            <mc:AlternateContent xmlns:mc="http://schemas.openxmlformats.org/markup-compatibility/2006">
              <mc:Choice xmlns:v="urn:schemas-microsoft-com:vml" Requires="v">
                <p:oleObj name="Equation" r:id="rId5" imgW="1892300" imgH="457200" progId="Equation.3">
                  <p:embed/>
                </p:oleObj>
              </mc:Choice>
              <mc:Fallback>
                <p:oleObj name="Equation" r:id="rId5" imgW="1892300" imgH="457200" progId="Equation.3">
                  <p:embed/>
                  <p:pic>
                    <p:nvPicPr>
                      <p:cNvPr id="15366" name="Object 5">
                        <a:extLst>
                          <a:ext uri="{FF2B5EF4-FFF2-40B4-BE49-F238E27FC236}">
                            <a16:creationId xmlns:a16="http://schemas.microsoft.com/office/drawing/2014/main" id="{585005EB-1522-900D-D5CE-5985AF0E554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3600" y="4343401"/>
                        <a:ext cx="4495800" cy="949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7" name="Object 6">
            <a:extLst>
              <a:ext uri="{FF2B5EF4-FFF2-40B4-BE49-F238E27FC236}">
                <a16:creationId xmlns:a16="http://schemas.microsoft.com/office/drawing/2014/main" id="{2B289488-E8E4-C123-F8CA-86D19982E4AA}"/>
              </a:ext>
            </a:extLst>
          </p:cNvPr>
          <p:cNvGraphicFramePr>
            <a:graphicFrameLocks noChangeAspect="1"/>
          </p:cNvGraphicFramePr>
          <p:nvPr/>
        </p:nvGraphicFramePr>
        <p:xfrm>
          <a:off x="5392738" y="5822951"/>
          <a:ext cx="4589462" cy="536575"/>
        </p:xfrm>
        <a:graphic>
          <a:graphicData uri="http://schemas.openxmlformats.org/presentationml/2006/ole">
            <mc:AlternateContent xmlns:mc="http://schemas.openxmlformats.org/markup-compatibility/2006">
              <mc:Choice xmlns:v="urn:schemas-microsoft-com:vml" Requires="v">
                <p:oleObj name="Equation" r:id="rId7" imgW="1790700" imgH="215900" progId="Equation.3">
                  <p:embed/>
                </p:oleObj>
              </mc:Choice>
              <mc:Fallback>
                <p:oleObj name="Equation" r:id="rId7" imgW="1790700" imgH="215900" progId="Equation.3">
                  <p:embed/>
                  <p:pic>
                    <p:nvPicPr>
                      <p:cNvPr id="15367" name="Object 6">
                        <a:extLst>
                          <a:ext uri="{FF2B5EF4-FFF2-40B4-BE49-F238E27FC236}">
                            <a16:creationId xmlns:a16="http://schemas.microsoft.com/office/drawing/2014/main" id="{2B289488-E8E4-C123-F8CA-86D19982E4A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92738" y="5822951"/>
                        <a:ext cx="4589462"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6">
            <a:extLst>
              <a:ext uri="{FF2B5EF4-FFF2-40B4-BE49-F238E27FC236}">
                <a16:creationId xmlns:a16="http://schemas.microsoft.com/office/drawing/2014/main" id="{718CA298-C928-20C9-F645-5ADF82BC406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616E7004-7D91-4A04-8ECF-7EF2EF606650}" type="slidenum">
              <a:rPr lang="en-US" altLang="en-US"/>
              <a:pPr eaLnBrk="1" hangingPunct="1"/>
              <a:t>7</a:t>
            </a:fld>
            <a:endParaRPr lang="en-US" altLang="en-US"/>
          </a:p>
        </p:txBody>
      </p:sp>
      <p:sp>
        <p:nvSpPr>
          <p:cNvPr id="16387" name="Rectangle 2">
            <a:extLst>
              <a:ext uri="{FF2B5EF4-FFF2-40B4-BE49-F238E27FC236}">
                <a16:creationId xmlns:a16="http://schemas.microsoft.com/office/drawing/2014/main" id="{47C4E2D2-11D3-B278-18E3-EB395C4B6BD9}"/>
              </a:ext>
            </a:extLst>
          </p:cNvPr>
          <p:cNvSpPr>
            <a:spLocks noGrp="1" noChangeArrowheads="1"/>
          </p:cNvSpPr>
          <p:nvPr>
            <p:ph type="title"/>
          </p:nvPr>
        </p:nvSpPr>
        <p:spPr>
          <a:xfrm>
            <a:off x="1676400" y="304800"/>
            <a:ext cx="8763000" cy="609600"/>
          </a:xfrm>
        </p:spPr>
        <p:txBody>
          <a:bodyPr>
            <a:normAutofit fontScale="90000"/>
          </a:bodyPr>
          <a:lstStyle/>
          <a:p>
            <a:pPr eaLnBrk="1" hangingPunct="1"/>
            <a:r>
              <a:rPr lang="en-US" altLang="en-US"/>
              <a:t>Attribute Selection: Information Gain</a:t>
            </a:r>
          </a:p>
        </p:txBody>
      </p:sp>
      <p:sp>
        <p:nvSpPr>
          <p:cNvPr id="16388" name="Rectangle 3">
            <a:extLst>
              <a:ext uri="{FF2B5EF4-FFF2-40B4-BE49-F238E27FC236}">
                <a16:creationId xmlns:a16="http://schemas.microsoft.com/office/drawing/2014/main" id="{BB464F4D-6D3F-A23B-035B-DCFA2334D372}"/>
              </a:ext>
            </a:extLst>
          </p:cNvPr>
          <p:cNvSpPr>
            <a:spLocks noGrp="1" noChangeArrowheads="1"/>
          </p:cNvSpPr>
          <p:nvPr>
            <p:ph type="body" sz="half" idx="1"/>
          </p:nvPr>
        </p:nvSpPr>
        <p:spPr>
          <a:xfrm>
            <a:off x="1809750" y="1066800"/>
            <a:ext cx="4152900" cy="1600200"/>
          </a:xfrm>
        </p:spPr>
        <p:txBody>
          <a:bodyPr/>
          <a:lstStyle/>
          <a:p>
            <a:pPr eaLnBrk="1" hangingPunct="1">
              <a:lnSpc>
                <a:spcPct val="80000"/>
              </a:lnSpc>
              <a:spcBef>
                <a:spcPct val="30000"/>
              </a:spcBef>
              <a:buSzPct val="80000"/>
              <a:buFont typeface="Marlett" pitchFamily="2" charset="2"/>
              <a:buChar char="g"/>
            </a:pPr>
            <a:r>
              <a:rPr lang="en-US" altLang="en-US" sz="2000" dirty="0">
                <a:solidFill>
                  <a:srgbClr val="121328"/>
                </a:solidFill>
              </a:rPr>
              <a:t>Class P: </a:t>
            </a:r>
            <a:r>
              <a:rPr lang="en-US" altLang="en-US" sz="2000" dirty="0" err="1">
                <a:solidFill>
                  <a:srgbClr val="121328"/>
                </a:solidFill>
              </a:rPr>
              <a:t>buys_computer</a:t>
            </a:r>
            <a:r>
              <a:rPr lang="en-US" altLang="en-US" sz="2000" dirty="0">
                <a:solidFill>
                  <a:srgbClr val="121328"/>
                </a:solidFill>
              </a:rPr>
              <a:t> = “yes”</a:t>
            </a:r>
          </a:p>
          <a:p>
            <a:pPr eaLnBrk="1" hangingPunct="1">
              <a:lnSpc>
                <a:spcPct val="80000"/>
              </a:lnSpc>
              <a:spcBef>
                <a:spcPct val="30000"/>
              </a:spcBef>
              <a:buSzPct val="80000"/>
              <a:buFont typeface="Marlett" pitchFamily="2" charset="2"/>
              <a:buChar char="g"/>
            </a:pPr>
            <a:r>
              <a:rPr lang="en-US" altLang="en-US" sz="2000" dirty="0">
                <a:solidFill>
                  <a:srgbClr val="121328"/>
                </a:solidFill>
              </a:rPr>
              <a:t>Class N: </a:t>
            </a:r>
            <a:r>
              <a:rPr lang="en-US" altLang="en-US" sz="2000" dirty="0" err="1">
                <a:solidFill>
                  <a:srgbClr val="121328"/>
                </a:solidFill>
              </a:rPr>
              <a:t>buys_computer</a:t>
            </a:r>
            <a:r>
              <a:rPr lang="en-US" altLang="en-US" sz="2000" dirty="0">
                <a:solidFill>
                  <a:srgbClr val="121328"/>
                </a:solidFill>
              </a:rPr>
              <a:t> = “no”</a:t>
            </a:r>
            <a:endParaRPr lang="en-US" altLang="en-US" sz="2000" dirty="0"/>
          </a:p>
        </p:txBody>
      </p:sp>
      <p:sp>
        <p:nvSpPr>
          <p:cNvPr id="16389" name="Rectangle 4">
            <a:extLst>
              <a:ext uri="{FF2B5EF4-FFF2-40B4-BE49-F238E27FC236}">
                <a16:creationId xmlns:a16="http://schemas.microsoft.com/office/drawing/2014/main" id="{B31B88D6-6DD2-DEFC-0BAC-61EAE612FD0A}"/>
              </a:ext>
            </a:extLst>
          </p:cNvPr>
          <p:cNvSpPr>
            <a:spLocks noGrp="1" noChangeArrowheads="1"/>
          </p:cNvSpPr>
          <p:nvPr>
            <p:ph type="body" sz="half" idx="2"/>
          </p:nvPr>
        </p:nvSpPr>
        <p:spPr>
          <a:xfrm>
            <a:off x="6248399" y="2743200"/>
            <a:ext cx="5630091" cy="2209800"/>
          </a:xfrm>
        </p:spPr>
        <p:txBody>
          <a:bodyPr>
            <a:normAutofit/>
          </a:bodyPr>
          <a:lstStyle/>
          <a:p>
            <a:pPr eaLnBrk="1" hangingPunct="1">
              <a:lnSpc>
                <a:spcPct val="130000"/>
              </a:lnSpc>
              <a:buFont typeface="Wingdings" panose="05000000000000000000" pitchFamily="2" charset="2"/>
              <a:buNone/>
            </a:pPr>
            <a:r>
              <a:rPr lang="en-US" altLang="en-US" sz="2000" dirty="0">
                <a:solidFill>
                  <a:srgbClr val="121328"/>
                </a:solidFill>
              </a:rPr>
              <a:t>              means “age &lt;=30” has 5 out of 14 samples, with 2 </a:t>
            </a:r>
            <a:r>
              <a:rPr lang="en-US" altLang="en-US" sz="2000" dirty="0" err="1">
                <a:solidFill>
                  <a:srgbClr val="121328"/>
                </a:solidFill>
              </a:rPr>
              <a:t>yes’es</a:t>
            </a:r>
            <a:r>
              <a:rPr lang="en-US" altLang="en-US" sz="2000" dirty="0">
                <a:solidFill>
                  <a:srgbClr val="121328"/>
                </a:solidFill>
              </a:rPr>
              <a:t>  and 3 no’s.   Hence</a:t>
            </a:r>
            <a:endParaRPr lang="en-US" altLang="en-US" sz="2000" dirty="0"/>
          </a:p>
          <a:p>
            <a:pPr eaLnBrk="1" hangingPunct="1">
              <a:lnSpc>
                <a:spcPct val="90000"/>
              </a:lnSpc>
              <a:buClr>
                <a:schemeClr val="accent1"/>
              </a:buClr>
              <a:buFont typeface="Wingdings 2" panose="05020102010507070707" pitchFamily="18" charset="2"/>
              <a:buNone/>
            </a:pPr>
            <a:endParaRPr lang="en-US" altLang="en-US" sz="2000" dirty="0"/>
          </a:p>
          <a:p>
            <a:pPr eaLnBrk="1" hangingPunct="1">
              <a:lnSpc>
                <a:spcPct val="90000"/>
              </a:lnSpc>
              <a:buClr>
                <a:schemeClr val="accent1"/>
              </a:buClr>
              <a:buFont typeface="Wingdings 2" panose="05020102010507070707" pitchFamily="18" charset="2"/>
              <a:buNone/>
            </a:pPr>
            <a:endParaRPr lang="en-US" altLang="en-US" sz="2000" dirty="0">
              <a:solidFill>
                <a:srgbClr val="121328"/>
              </a:solidFill>
            </a:endParaRPr>
          </a:p>
          <a:p>
            <a:pPr eaLnBrk="1" hangingPunct="1">
              <a:lnSpc>
                <a:spcPct val="90000"/>
              </a:lnSpc>
              <a:buClr>
                <a:schemeClr val="accent1"/>
              </a:buClr>
              <a:buFont typeface="Wingdings 2" panose="05020102010507070707" pitchFamily="18" charset="2"/>
              <a:buNone/>
            </a:pPr>
            <a:r>
              <a:rPr lang="en-US" altLang="en-US" sz="2000" dirty="0">
                <a:solidFill>
                  <a:srgbClr val="121328"/>
                </a:solidFill>
              </a:rPr>
              <a:t>Similarly,</a:t>
            </a:r>
          </a:p>
        </p:txBody>
      </p:sp>
      <p:graphicFrame>
        <p:nvGraphicFramePr>
          <p:cNvPr id="16390" name="Object 5">
            <a:extLst>
              <a:ext uri="{FF2B5EF4-FFF2-40B4-BE49-F238E27FC236}">
                <a16:creationId xmlns:a16="http://schemas.microsoft.com/office/drawing/2014/main" id="{205449D5-FAE6-83E3-6130-7B58D3704B20}"/>
              </a:ext>
            </a:extLst>
          </p:cNvPr>
          <p:cNvGraphicFramePr>
            <a:graphicFrameLocks noChangeAspect="1"/>
          </p:cNvGraphicFramePr>
          <p:nvPr/>
        </p:nvGraphicFramePr>
        <p:xfrm>
          <a:off x="2286000" y="2590801"/>
          <a:ext cx="3354388" cy="1439863"/>
        </p:xfrm>
        <a:graphic>
          <a:graphicData uri="http://schemas.openxmlformats.org/presentationml/2006/ole">
            <mc:AlternateContent xmlns:mc="http://schemas.openxmlformats.org/markup-compatibility/2006">
              <mc:Choice xmlns:v="urn:schemas-microsoft-com:vml" Requires="v">
                <p:oleObj name="Worksheet" r:id="rId3" imgW="3352800" imgH="1438250" progId="Excel.Sheet.8">
                  <p:embed/>
                </p:oleObj>
              </mc:Choice>
              <mc:Fallback>
                <p:oleObj name="Worksheet" r:id="rId3" imgW="3352800" imgH="1438250" progId="Excel.Sheet.8">
                  <p:embed/>
                  <p:pic>
                    <p:nvPicPr>
                      <p:cNvPr id="16390" name="Object 5">
                        <a:extLst>
                          <a:ext uri="{FF2B5EF4-FFF2-40B4-BE49-F238E27FC236}">
                            <a16:creationId xmlns:a16="http://schemas.microsoft.com/office/drawing/2014/main" id="{205449D5-FAE6-83E3-6130-7B58D3704B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2590801"/>
                        <a:ext cx="3354388" cy="1439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1" name="Object 6">
            <a:extLst>
              <a:ext uri="{FF2B5EF4-FFF2-40B4-BE49-F238E27FC236}">
                <a16:creationId xmlns:a16="http://schemas.microsoft.com/office/drawing/2014/main" id="{79F35CCD-F37D-D048-F0D2-FD0DC895F3EB}"/>
              </a:ext>
            </a:extLst>
          </p:cNvPr>
          <p:cNvGraphicFramePr>
            <a:graphicFrameLocks noChangeAspect="1"/>
          </p:cNvGraphicFramePr>
          <p:nvPr/>
        </p:nvGraphicFramePr>
        <p:xfrm>
          <a:off x="6400800" y="1295400"/>
          <a:ext cx="3754438" cy="1371600"/>
        </p:xfrm>
        <a:graphic>
          <a:graphicData uri="http://schemas.openxmlformats.org/presentationml/2006/ole">
            <mc:AlternateContent xmlns:mc="http://schemas.openxmlformats.org/markup-compatibility/2006">
              <mc:Choice xmlns:v="urn:schemas-microsoft-com:vml" Requires="v">
                <p:oleObj name="Equation" r:id="rId5" imgW="2044700" imgH="812800" progId="Equation.3">
                  <p:embed/>
                </p:oleObj>
              </mc:Choice>
              <mc:Fallback>
                <p:oleObj name="Equation" r:id="rId5" imgW="2044700" imgH="812800" progId="Equation.3">
                  <p:embed/>
                  <p:pic>
                    <p:nvPicPr>
                      <p:cNvPr id="16391" name="Object 6">
                        <a:extLst>
                          <a:ext uri="{FF2B5EF4-FFF2-40B4-BE49-F238E27FC236}">
                            <a16:creationId xmlns:a16="http://schemas.microsoft.com/office/drawing/2014/main" id="{79F35CCD-F37D-D048-F0D2-FD0DC895F3E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00800" y="1295400"/>
                        <a:ext cx="3754438" cy="137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2" name="Object 7">
            <a:extLst>
              <a:ext uri="{FF2B5EF4-FFF2-40B4-BE49-F238E27FC236}">
                <a16:creationId xmlns:a16="http://schemas.microsoft.com/office/drawing/2014/main" id="{C97BD6CA-A398-4310-D53A-63F929F45CCD}"/>
              </a:ext>
            </a:extLst>
          </p:cNvPr>
          <p:cNvGraphicFramePr>
            <a:graphicFrameLocks noChangeAspect="1"/>
          </p:cNvGraphicFramePr>
          <p:nvPr/>
        </p:nvGraphicFramePr>
        <p:xfrm>
          <a:off x="6553200" y="5257800"/>
          <a:ext cx="3594100" cy="1193800"/>
        </p:xfrm>
        <a:graphic>
          <a:graphicData uri="http://schemas.openxmlformats.org/presentationml/2006/ole">
            <mc:AlternateContent xmlns:mc="http://schemas.openxmlformats.org/markup-compatibility/2006">
              <mc:Choice xmlns:v="urn:schemas-microsoft-com:vml" Requires="v">
                <p:oleObj name="Equation" r:id="rId7" imgW="3594100" imgH="1193800" progId="Equation.3">
                  <p:embed/>
                </p:oleObj>
              </mc:Choice>
              <mc:Fallback>
                <p:oleObj name="Equation" r:id="rId7" imgW="3594100" imgH="1193800" progId="Equation.3">
                  <p:embed/>
                  <p:pic>
                    <p:nvPicPr>
                      <p:cNvPr id="16392" name="Object 7">
                        <a:extLst>
                          <a:ext uri="{FF2B5EF4-FFF2-40B4-BE49-F238E27FC236}">
                            <a16:creationId xmlns:a16="http://schemas.microsoft.com/office/drawing/2014/main" id="{C97BD6CA-A398-4310-D53A-63F929F45CC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53200" y="5257800"/>
                        <a:ext cx="3594100" cy="1193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3" name="Object 8">
            <a:extLst>
              <a:ext uri="{FF2B5EF4-FFF2-40B4-BE49-F238E27FC236}">
                <a16:creationId xmlns:a16="http://schemas.microsoft.com/office/drawing/2014/main" id="{1D561C39-A2ED-D03A-3AC6-ABB9D8CAE863}"/>
              </a:ext>
            </a:extLst>
          </p:cNvPr>
          <p:cNvGraphicFramePr>
            <a:graphicFrameLocks noChangeAspect="1"/>
          </p:cNvGraphicFramePr>
          <p:nvPr/>
        </p:nvGraphicFramePr>
        <p:xfrm>
          <a:off x="6248401" y="4114800"/>
          <a:ext cx="4271963" cy="388938"/>
        </p:xfrm>
        <a:graphic>
          <a:graphicData uri="http://schemas.openxmlformats.org/presentationml/2006/ole">
            <mc:AlternateContent xmlns:mc="http://schemas.openxmlformats.org/markup-compatibility/2006">
              <mc:Choice xmlns:v="urn:schemas-microsoft-com:vml" Requires="v">
                <p:oleObj name="Equation" r:id="rId9" imgW="2552700" imgH="241300" progId="Equation.3">
                  <p:embed/>
                </p:oleObj>
              </mc:Choice>
              <mc:Fallback>
                <p:oleObj name="Equation" r:id="rId9" imgW="2552700" imgH="241300" progId="Equation.3">
                  <p:embed/>
                  <p:pic>
                    <p:nvPicPr>
                      <p:cNvPr id="16393" name="Object 8">
                        <a:extLst>
                          <a:ext uri="{FF2B5EF4-FFF2-40B4-BE49-F238E27FC236}">
                            <a16:creationId xmlns:a16="http://schemas.microsoft.com/office/drawing/2014/main" id="{1D561C39-A2ED-D03A-3AC6-ABB9D8CAE86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48401" y="4114800"/>
                        <a:ext cx="4271963" cy="388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4" name="Object 9">
            <a:extLst>
              <a:ext uri="{FF2B5EF4-FFF2-40B4-BE49-F238E27FC236}">
                <a16:creationId xmlns:a16="http://schemas.microsoft.com/office/drawing/2014/main" id="{DA0F920C-53E4-B9D3-DE80-3FC5221CECF4}"/>
              </a:ext>
            </a:extLst>
          </p:cNvPr>
          <p:cNvGraphicFramePr>
            <a:graphicFrameLocks/>
          </p:cNvGraphicFramePr>
          <p:nvPr/>
        </p:nvGraphicFramePr>
        <p:xfrm>
          <a:off x="1676400" y="4114800"/>
          <a:ext cx="4419600" cy="2667000"/>
        </p:xfrm>
        <a:graphic>
          <a:graphicData uri="http://schemas.openxmlformats.org/presentationml/2006/ole">
            <mc:AlternateContent xmlns:mc="http://schemas.openxmlformats.org/markup-compatibility/2006">
              <mc:Choice xmlns:v="urn:schemas-microsoft-com:vml" Requires="v">
                <p:oleObj name="Worksheet" r:id="rId11" imgW="6115431" imgH="4458208" progId="Excel.Sheet.8">
                  <p:embed/>
                </p:oleObj>
              </mc:Choice>
              <mc:Fallback>
                <p:oleObj name="Worksheet" r:id="rId11" imgW="6115431" imgH="4458208" progId="Excel.Sheet.8">
                  <p:embed/>
                  <p:pic>
                    <p:nvPicPr>
                      <p:cNvPr id="16394" name="Object 9">
                        <a:extLst>
                          <a:ext uri="{FF2B5EF4-FFF2-40B4-BE49-F238E27FC236}">
                            <a16:creationId xmlns:a16="http://schemas.microsoft.com/office/drawing/2014/main" id="{DA0F920C-53E4-B9D3-DE80-3FC5221CECF4}"/>
                          </a:ext>
                        </a:extLst>
                      </p:cNvPr>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76400" y="4114800"/>
                        <a:ext cx="44196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5" name="Object 10">
            <a:extLst>
              <a:ext uri="{FF2B5EF4-FFF2-40B4-BE49-F238E27FC236}">
                <a16:creationId xmlns:a16="http://schemas.microsoft.com/office/drawing/2014/main" id="{39F33F37-2C7D-A954-FCF1-AB35E0FE25A7}"/>
              </a:ext>
            </a:extLst>
          </p:cNvPr>
          <p:cNvGraphicFramePr>
            <a:graphicFrameLocks noChangeAspect="1"/>
          </p:cNvGraphicFramePr>
          <p:nvPr/>
        </p:nvGraphicFramePr>
        <p:xfrm>
          <a:off x="6019800" y="2743200"/>
          <a:ext cx="1073150" cy="665163"/>
        </p:xfrm>
        <a:graphic>
          <a:graphicData uri="http://schemas.openxmlformats.org/presentationml/2006/ole">
            <mc:AlternateContent xmlns:mc="http://schemas.openxmlformats.org/markup-compatibility/2006">
              <mc:Choice xmlns:v="urn:schemas-microsoft-com:vml" Requires="v">
                <p:oleObj name="Equation" r:id="rId13" imgW="583947" imgH="393529" progId="Equation.3">
                  <p:embed/>
                </p:oleObj>
              </mc:Choice>
              <mc:Fallback>
                <p:oleObj name="Equation" r:id="rId13" imgW="583947" imgH="393529" progId="Equation.3">
                  <p:embed/>
                  <p:pic>
                    <p:nvPicPr>
                      <p:cNvPr id="16395" name="Object 10">
                        <a:extLst>
                          <a:ext uri="{FF2B5EF4-FFF2-40B4-BE49-F238E27FC236}">
                            <a16:creationId xmlns:a16="http://schemas.microsoft.com/office/drawing/2014/main" id="{39F33F37-2C7D-A954-FCF1-AB35E0FE25A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19800" y="2743200"/>
                        <a:ext cx="1073150" cy="665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6" name="Object 11">
            <a:extLst>
              <a:ext uri="{FF2B5EF4-FFF2-40B4-BE49-F238E27FC236}">
                <a16:creationId xmlns:a16="http://schemas.microsoft.com/office/drawing/2014/main" id="{DE818B06-79B3-99CF-E9B0-B4FA8973C903}"/>
              </a:ext>
            </a:extLst>
          </p:cNvPr>
          <p:cNvGraphicFramePr>
            <a:graphicFrameLocks noChangeAspect="1"/>
          </p:cNvGraphicFramePr>
          <p:nvPr>
            <p:extLst>
              <p:ext uri="{D42A27DB-BD31-4B8C-83A1-F6EECF244321}">
                <p14:modId xmlns:p14="http://schemas.microsoft.com/office/powerpoint/2010/main" val="3417041821"/>
              </p:ext>
            </p:extLst>
          </p:nvPr>
        </p:nvGraphicFramePr>
        <p:xfrm>
          <a:off x="1295400" y="1957388"/>
          <a:ext cx="4800600" cy="523875"/>
        </p:xfrm>
        <a:graphic>
          <a:graphicData uri="http://schemas.openxmlformats.org/presentationml/2006/ole">
            <mc:AlternateContent xmlns:mc="http://schemas.openxmlformats.org/markup-compatibility/2006">
              <mc:Choice xmlns:v="urn:schemas-microsoft-com:vml" Requires="v">
                <p:oleObj name="Equation" r:id="rId15" imgW="3314700" imgH="393700" progId="Equation.3">
                  <p:embed/>
                </p:oleObj>
              </mc:Choice>
              <mc:Fallback>
                <p:oleObj name="Equation" r:id="rId15" imgW="3314700" imgH="393700" progId="Equation.3">
                  <p:embed/>
                  <p:pic>
                    <p:nvPicPr>
                      <p:cNvPr id="16396" name="Object 11">
                        <a:extLst>
                          <a:ext uri="{FF2B5EF4-FFF2-40B4-BE49-F238E27FC236}">
                            <a16:creationId xmlns:a16="http://schemas.microsoft.com/office/drawing/2014/main" id="{DE818B06-79B3-99CF-E9B0-B4FA8973C903}"/>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95400" y="1957388"/>
                        <a:ext cx="4800600"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A23AE-BD65-4489-8F06-54AB79F8A9D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9787E6-5066-DAB4-B2CF-A19905E6FE1E}"/>
              </a:ext>
            </a:extLst>
          </p:cNvPr>
          <p:cNvSpPr>
            <a:spLocks noGrp="1"/>
          </p:cNvSpPr>
          <p:nvPr>
            <p:ph idx="1"/>
          </p:nvPr>
        </p:nvSpPr>
        <p:spPr>
          <a:xfrm>
            <a:off x="597081" y="711736"/>
            <a:ext cx="10997838" cy="5784858"/>
          </a:xfrm>
        </p:spPr>
        <p:txBody>
          <a:bodyPr>
            <a:normAutofit/>
          </a:bodyPr>
          <a:lstStyle/>
          <a:p>
            <a:pPr algn="just" fontAlgn="base">
              <a:lnSpc>
                <a:spcPct val="150000"/>
              </a:lnSpc>
            </a:pPr>
            <a:r>
              <a:rPr lang="en-US" dirty="0"/>
              <a:t>The Fisher Score is a simple used to select important features for classification tasks. It works by comparing how much a feature varies between different classes versus how much it varies within the same class. Features that show big differences between classes, but are consistent within each class, are considered useful for classification.</a:t>
            </a:r>
            <a:endParaRPr lang="en-US" sz="2400" dirty="0"/>
          </a:p>
        </p:txBody>
      </p:sp>
      <p:pic>
        <p:nvPicPr>
          <p:cNvPr id="4" name="Picture 2" descr="KL University - Wikipedia">
            <a:extLst>
              <a:ext uri="{FF2B5EF4-FFF2-40B4-BE49-F238E27FC236}">
                <a16:creationId xmlns:a16="http://schemas.microsoft.com/office/drawing/2014/main" id="{880269D6-B65D-FDE0-E886-FA27DE75E6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8C14619-0536-FB47-EA0C-A8B40EA8634F}"/>
              </a:ext>
            </a:extLst>
          </p:cNvPr>
          <p:cNvSpPr txBox="1"/>
          <p:nvPr/>
        </p:nvSpPr>
        <p:spPr>
          <a:xfrm>
            <a:off x="4210309" y="58593"/>
            <a:ext cx="2669463" cy="584775"/>
          </a:xfrm>
          <a:prstGeom prst="rect">
            <a:avLst/>
          </a:prstGeom>
          <a:noFill/>
        </p:spPr>
        <p:txBody>
          <a:bodyPr wrap="square">
            <a:spAutoFit/>
          </a:bodyPr>
          <a:lstStyle/>
          <a:p>
            <a:r>
              <a:rPr lang="en-US" sz="3200" b="1" dirty="0"/>
              <a:t>Fisher Score</a:t>
            </a:r>
          </a:p>
        </p:txBody>
      </p:sp>
      <p:pic>
        <p:nvPicPr>
          <p:cNvPr id="10" name="Picture 9">
            <a:extLst>
              <a:ext uri="{FF2B5EF4-FFF2-40B4-BE49-F238E27FC236}">
                <a16:creationId xmlns:a16="http://schemas.microsoft.com/office/drawing/2014/main" id="{A98BBE5E-59A3-EAD3-2D9F-EAC998AA70CF}"/>
              </a:ext>
            </a:extLst>
          </p:cNvPr>
          <p:cNvPicPr>
            <a:picLocks noChangeAspect="1"/>
          </p:cNvPicPr>
          <p:nvPr/>
        </p:nvPicPr>
        <p:blipFill>
          <a:blip r:embed="rId3"/>
          <a:stretch>
            <a:fillRect/>
          </a:stretch>
        </p:blipFill>
        <p:spPr>
          <a:xfrm>
            <a:off x="2773908" y="4441806"/>
            <a:ext cx="6487430" cy="1562318"/>
          </a:xfrm>
          <a:prstGeom prst="rect">
            <a:avLst/>
          </a:prstGeom>
        </p:spPr>
      </p:pic>
    </p:spTree>
    <p:extLst>
      <p:ext uri="{BB962C8B-B14F-4D97-AF65-F5344CB8AC3E}">
        <p14:creationId xmlns:p14="http://schemas.microsoft.com/office/powerpoint/2010/main" val="3842476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7E1F6-D237-83F6-5CC6-32700E7E4B4D}"/>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EE013A91-8C5C-564D-29AD-B8BAA62318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D9E3A764-8980-E12E-C767-B442944A18F0}"/>
              </a:ext>
            </a:extLst>
          </p:cNvPr>
          <p:cNvGraphicFramePr>
            <a:graphicFrameLocks noGrp="1"/>
          </p:cNvGraphicFramePr>
          <p:nvPr>
            <p:extLst>
              <p:ext uri="{D42A27DB-BD31-4B8C-83A1-F6EECF244321}">
                <p14:modId xmlns:p14="http://schemas.microsoft.com/office/powerpoint/2010/main" val="3567420058"/>
              </p:ext>
            </p:extLst>
          </p:nvPr>
        </p:nvGraphicFramePr>
        <p:xfrm>
          <a:off x="562611" y="1036569"/>
          <a:ext cx="4483100" cy="4702383"/>
        </p:xfrm>
        <a:graphic>
          <a:graphicData uri="http://schemas.openxmlformats.org/drawingml/2006/table">
            <a:tbl>
              <a:tblPr/>
              <a:tblGrid>
                <a:gridCol w="1016000">
                  <a:extLst>
                    <a:ext uri="{9D8B030D-6E8A-4147-A177-3AD203B41FA5}">
                      <a16:colId xmlns:a16="http://schemas.microsoft.com/office/drawing/2014/main" val="1958767738"/>
                    </a:ext>
                  </a:extLst>
                </a:gridCol>
                <a:gridCol w="1371600">
                  <a:extLst>
                    <a:ext uri="{9D8B030D-6E8A-4147-A177-3AD203B41FA5}">
                      <a16:colId xmlns:a16="http://schemas.microsoft.com/office/drawing/2014/main" val="1569259097"/>
                    </a:ext>
                  </a:extLst>
                </a:gridCol>
                <a:gridCol w="1371600">
                  <a:extLst>
                    <a:ext uri="{9D8B030D-6E8A-4147-A177-3AD203B41FA5}">
                      <a16:colId xmlns:a16="http://schemas.microsoft.com/office/drawing/2014/main" val="2947885026"/>
                    </a:ext>
                  </a:extLst>
                </a:gridCol>
                <a:gridCol w="723900">
                  <a:extLst>
                    <a:ext uri="{9D8B030D-6E8A-4147-A177-3AD203B41FA5}">
                      <a16:colId xmlns:a16="http://schemas.microsoft.com/office/drawing/2014/main" val="652638214"/>
                    </a:ext>
                  </a:extLst>
                </a:gridCol>
              </a:tblGrid>
              <a:tr h="522487">
                <a:tc>
                  <a:txBody>
                    <a:bodyPr/>
                    <a:lstStyle/>
                    <a:p>
                      <a:pPr algn="ctr" fontAlgn="b">
                        <a:buNone/>
                      </a:pPr>
                      <a:r>
                        <a:rPr lang="en-IN" sz="2400" b="1" i="0" u="none" strike="noStrike">
                          <a:solidFill>
                            <a:srgbClr val="000000"/>
                          </a:solidFill>
                          <a:effectLst/>
                          <a:latin typeface="Calibri" panose="020F0502020204030204" pitchFamily="34" charset="0"/>
                        </a:rPr>
                        <a:t>Sample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Feature_1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Feature_2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Class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9816279"/>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73191683"/>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10959143"/>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1049069"/>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5258541"/>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dirty="0">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09603156"/>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dirty="0">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9295162"/>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73008323"/>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dirty="0">
                          <a:solidFill>
                            <a:srgbClr val="000000"/>
                          </a:solidFill>
                          <a:effectLst/>
                          <a:latin typeface="Calibri" panose="020F0502020204030204" pitchFamily="34" charset="0"/>
                        </a:rPr>
                        <a:t>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53611123"/>
                  </a:ext>
                </a:extLst>
              </a:tr>
            </a:tbl>
          </a:graphicData>
        </a:graphic>
      </p:graphicFrame>
      <p:pic>
        <p:nvPicPr>
          <p:cNvPr id="9" name="Picture 8">
            <a:extLst>
              <a:ext uri="{FF2B5EF4-FFF2-40B4-BE49-F238E27FC236}">
                <a16:creationId xmlns:a16="http://schemas.microsoft.com/office/drawing/2014/main" id="{4E8F08BD-F0FB-D13A-48CC-0A2CE6957C71}"/>
              </a:ext>
            </a:extLst>
          </p:cNvPr>
          <p:cNvPicPr>
            <a:picLocks noChangeAspect="1"/>
          </p:cNvPicPr>
          <p:nvPr/>
        </p:nvPicPr>
        <p:blipFill>
          <a:blip r:embed="rId3"/>
          <a:stretch>
            <a:fillRect/>
          </a:stretch>
        </p:blipFill>
        <p:spPr>
          <a:xfrm>
            <a:off x="5208245" y="1115751"/>
            <a:ext cx="6818291" cy="4401164"/>
          </a:xfrm>
          <a:prstGeom prst="rect">
            <a:avLst/>
          </a:prstGeom>
        </p:spPr>
      </p:pic>
      <p:sp>
        <p:nvSpPr>
          <p:cNvPr id="11" name="TextBox 10">
            <a:extLst>
              <a:ext uri="{FF2B5EF4-FFF2-40B4-BE49-F238E27FC236}">
                <a16:creationId xmlns:a16="http://schemas.microsoft.com/office/drawing/2014/main" id="{D8FA242A-F5BE-DE15-8A31-18F9D8C7AF31}"/>
              </a:ext>
            </a:extLst>
          </p:cNvPr>
          <p:cNvSpPr txBox="1"/>
          <p:nvPr/>
        </p:nvSpPr>
        <p:spPr>
          <a:xfrm>
            <a:off x="5378891" y="654086"/>
            <a:ext cx="6477000" cy="461665"/>
          </a:xfrm>
          <a:prstGeom prst="rect">
            <a:avLst/>
          </a:prstGeom>
          <a:noFill/>
        </p:spPr>
        <p:txBody>
          <a:bodyPr wrap="square">
            <a:spAutoFit/>
          </a:bodyPr>
          <a:lstStyle/>
          <a:p>
            <a:r>
              <a:rPr lang="en-US" sz="2400" b="1" dirty="0"/>
              <a:t>Feature 1</a:t>
            </a:r>
          </a:p>
        </p:txBody>
      </p:sp>
      <p:pic>
        <p:nvPicPr>
          <p:cNvPr id="13" name="Picture 12">
            <a:extLst>
              <a:ext uri="{FF2B5EF4-FFF2-40B4-BE49-F238E27FC236}">
                <a16:creationId xmlns:a16="http://schemas.microsoft.com/office/drawing/2014/main" id="{F7CFF3BB-A0F3-A463-430C-B28982A712B8}"/>
              </a:ext>
            </a:extLst>
          </p:cNvPr>
          <p:cNvPicPr>
            <a:picLocks noChangeAspect="1"/>
          </p:cNvPicPr>
          <p:nvPr/>
        </p:nvPicPr>
        <p:blipFill>
          <a:blip r:embed="rId4"/>
          <a:stretch>
            <a:fillRect/>
          </a:stretch>
        </p:blipFill>
        <p:spPr>
          <a:xfrm>
            <a:off x="5558999" y="5699018"/>
            <a:ext cx="4801270" cy="1009791"/>
          </a:xfrm>
          <a:prstGeom prst="rect">
            <a:avLst/>
          </a:prstGeom>
        </p:spPr>
      </p:pic>
      <p:sp>
        <p:nvSpPr>
          <p:cNvPr id="14" name="TextBox 13">
            <a:extLst>
              <a:ext uri="{FF2B5EF4-FFF2-40B4-BE49-F238E27FC236}">
                <a16:creationId xmlns:a16="http://schemas.microsoft.com/office/drawing/2014/main" id="{45CD4ECC-A413-231B-4B9B-A15F488CECF4}"/>
              </a:ext>
            </a:extLst>
          </p:cNvPr>
          <p:cNvSpPr txBox="1"/>
          <p:nvPr/>
        </p:nvSpPr>
        <p:spPr>
          <a:xfrm>
            <a:off x="4210309" y="58593"/>
            <a:ext cx="2669463" cy="584775"/>
          </a:xfrm>
          <a:prstGeom prst="rect">
            <a:avLst/>
          </a:prstGeom>
          <a:noFill/>
        </p:spPr>
        <p:txBody>
          <a:bodyPr wrap="square">
            <a:spAutoFit/>
          </a:bodyPr>
          <a:lstStyle/>
          <a:p>
            <a:r>
              <a:rPr lang="en-US" sz="3200" b="1" dirty="0"/>
              <a:t>Fisher Score</a:t>
            </a:r>
          </a:p>
        </p:txBody>
      </p:sp>
    </p:spTree>
    <p:extLst>
      <p:ext uri="{BB962C8B-B14F-4D97-AF65-F5344CB8AC3E}">
        <p14:creationId xmlns:p14="http://schemas.microsoft.com/office/powerpoint/2010/main" val="1994792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68979-579D-6FE3-905E-1B24A6E4A22A}"/>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672C5C45-EB2B-7D46-55E7-1F32A22AC8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12708601-755B-74D2-7E59-3FD007E338A8}"/>
              </a:ext>
            </a:extLst>
          </p:cNvPr>
          <p:cNvGraphicFramePr>
            <a:graphicFrameLocks noGrp="1"/>
          </p:cNvGraphicFramePr>
          <p:nvPr/>
        </p:nvGraphicFramePr>
        <p:xfrm>
          <a:off x="562611" y="1036569"/>
          <a:ext cx="4483100" cy="4702383"/>
        </p:xfrm>
        <a:graphic>
          <a:graphicData uri="http://schemas.openxmlformats.org/drawingml/2006/table">
            <a:tbl>
              <a:tblPr/>
              <a:tblGrid>
                <a:gridCol w="1016000">
                  <a:extLst>
                    <a:ext uri="{9D8B030D-6E8A-4147-A177-3AD203B41FA5}">
                      <a16:colId xmlns:a16="http://schemas.microsoft.com/office/drawing/2014/main" val="1958767738"/>
                    </a:ext>
                  </a:extLst>
                </a:gridCol>
                <a:gridCol w="1371600">
                  <a:extLst>
                    <a:ext uri="{9D8B030D-6E8A-4147-A177-3AD203B41FA5}">
                      <a16:colId xmlns:a16="http://schemas.microsoft.com/office/drawing/2014/main" val="1569259097"/>
                    </a:ext>
                  </a:extLst>
                </a:gridCol>
                <a:gridCol w="1371600">
                  <a:extLst>
                    <a:ext uri="{9D8B030D-6E8A-4147-A177-3AD203B41FA5}">
                      <a16:colId xmlns:a16="http://schemas.microsoft.com/office/drawing/2014/main" val="2947885026"/>
                    </a:ext>
                  </a:extLst>
                </a:gridCol>
                <a:gridCol w="723900">
                  <a:extLst>
                    <a:ext uri="{9D8B030D-6E8A-4147-A177-3AD203B41FA5}">
                      <a16:colId xmlns:a16="http://schemas.microsoft.com/office/drawing/2014/main" val="652638214"/>
                    </a:ext>
                  </a:extLst>
                </a:gridCol>
              </a:tblGrid>
              <a:tr h="522487">
                <a:tc>
                  <a:txBody>
                    <a:bodyPr/>
                    <a:lstStyle/>
                    <a:p>
                      <a:pPr algn="ctr" fontAlgn="b">
                        <a:buNone/>
                      </a:pPr>
                      <a:r>
                        <a:rPr lang="en-IN" sz="2400" b="1" i="0" u="none" strike="noStrike">
                          <a:solidFill>
                            <a:srgbClr val="000000"/>
                          </a:solidFill>
                          <a:effectLst/>
                          <a:latin typeface="Calibri" panose="020F0502020204030204" pitchFamily="34" charset="0"/>
                        </a:rPr>
                        <a:t>Sample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Feature_1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Feature_2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Class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9816279"/>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73191683"/>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10959143"/>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1049069"/>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5258541"/>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dirty="0">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09603156"/>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dirty="0">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9295162"/>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73008323"/>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dirty="0">
                          <a:solidFill>
                            <a:srgbClr val="000000"/>
                          </a:solidFill>
                          <a:effectLst/>
                          <a:latin typeface="Calibri" panose="020F0502020204030204" pitchFamily="34" charset="0"/>
                        </a:rPr>
                        <a:t>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53611123"/>
                  </a:ext>
                </a:extLst>
              </a:tr>
            </a:tbl>
          </a:graphicData>
        </a:graphic>
      </p:graphicFrame>
      <p:sp>
        <p:nvSpPr>
          <p:cNvPr id="11" name="TextBox 10">
            <a:extLst>
              <a:ext uri="{FF2B5EF4-FFF2-40B4-BE49-F238E27FC236}">
                <a16:creationId xmlns:a16="http://schemas.microsoft.com/office/drawing/2014/main" id="{1C369701-6807-710B-CA3E-81DC76439BA7}"/>
              </a:ext>
            </a:extLst>
          </p:cNvPr>
          <p:cNvSpPr txBox="1"/>
          <p:nvPr/>
        </p:nvSpPr>
        <p:spPr>
          <a:xfrm>
            <a:off x="5378891" y="654086"/>
            <a:ext cx="6477000" cy="461665"/>
          </a:xfrm>
          <a:prstGeom prst="rect">
            <a:avLst/>
          </a:prstGeom>
          <a:noFill/>
        </p:spPr>
        <p:txBody>
          <a:bodyPr wrap="square">
            <a:spAutoFit/>
          </a:bodyPr>
          <a:lstStyle/>
          <a:p>
            <a:r>
              <a:rPr lang="en-US" sz="2400" b="1" dirty="0"/>
              <a:t>Feature 2</a:t>
            </a:r>
          </a:p>
        </p:txBody>
      </p:sp>
      <p:pic>
        <p:nvPicPr>
          <p:cNvPr id="3" name="Picture 2">
            <a:extLst>
              <a:ext uri="{FF2B5EF4-FFF2-40B4-BE49-F238E27FC236}">
                <a16:creationId xmlns:a16="http://schemas.microsoft.com/office/drawing/2014/main" id="{EB131ECA-D3E9-94AD-6734-395817F55F7B}"/>
              </a:ext>
            </a:extLst>
          </p:cNvPr>
          <p:cNvPicPr>
            <a:picLocks noChangeAspect="1"/>
          </p:cNvPicPr>
          <p:nvPr/>
        </p:nvPicPr>
        <p:blipFill>
          <a:blip r:embed="rId3"/>
          <a:stretch>
            <a:fillRect/>
          </a:stretch>
        </p:blipFill>
        <p:spPr>
          <a:xfrm>
            <a:off x="5194418" y="1164486"/>
            <a:ext cx="6594256" cy="4034532"/>
          </a:xfrm>
          <a:prstGeom prst="rect">
            <a:avLst/>
          </a:prstGeom>
        </p:spPr>
      </p:pic>
      <p:pic>
        <p:nvPicPr>
          <p:cNvPr id="8" name="Picture 7">
            <a:extLst>
              <a:ext uri="{FF2B5EF4-FFF2-40B4-BE49-F238E27FC236}">
                <a16:creationId xmlns:a16="http://schemas.microsoft.com/office/drawing/2014/main" id="{8F98653B-53AD-2225-6E87-405FF2687B98}"/>
              </a:ext>
            </a:extLst>
          </p:cNvPr>
          <p:cNvPicPr>
            <a:picLocks noChangeAspect="1"/>
          </p:cNvPicPr>
          <p:nvPr/>
        </p:nvPicPr>
        <p:blipFill>
          <a:blip r:embed="rId4"/>
          <a:stretch>
            <a:fillRect/>
          </a:stretch>
        </p:blipFill>
        <p:spPr>
          <a:xfrm>
            <a:off x="5131764" y="5410810"/>
            <a:ext cx="6335009" cy="1000265"/>
          </a:xfrm>
          <a:prstGeom prst="rect">
            <a:avLst/>
          </a:prstGeom>
        </p:spPr>
      </p:pic>
      <p:sp>
        <p:nvSpPr>
          <p:cNvPr id="10" name="TextBox 9">
            <a:extLst>
              <a:ext uri="{FF2B5EF4-FFF2-40B4-BE49-F238E27FC236}">
                <a16:creationId xmlns:a16="http://schemas.microsoft.com/office/drawing/2014/main" id="{E8EE1FFA-253B-923F-48EC-C8EF978BC854}"/>
              </a:ext>
            </a:extLst>
          </p:cNvPr>
          <p:cNvSpPr txBox="1"/>
          <p:nvPr/>
        </p:nvSpPr>
        <p:spPr>
          <a:xfrm>
            <a:off x="4210309" y="58593"/>
            <a:ext cx="2669463" cy="584775"/>
          </a:xfrm>
          <a:prstGeom prst="rect">
            <a:avLst/>
          </a:prstGeom>
          <a:noFill/>
        </p:spPr>
        <p:txBody>
          <a:bodyPr wrap="square">
            <a:spAutoFit/>
          </a:bodyPr>
          <a:lstStyle/>
          <a:p>
            <a:r>
              <a:rPr lang="en-US" sz="3200" b="1" dirty="0"/>
              <a:t>Fisher Score</a:t>
            </a:r>
          </a:p>
        </p:txBody>
      </p:sp>
    </p:spTree>
    <p:extLst>
      <p:ext uri="{BB962C8B-B14F-4D97-AF65-F5344CB8AC3E}">
        <p14:creationId xmlns:p14="http://schemas.microsoft.com/office/powerpoint/2010/main" val="1670419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E2DA9-82DC-E9F9-1EE2-DCD1B5AC3E69}"/>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DCD18204-A1A7-D64D-BF17-97E2C238E1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AA5EC350-EC19-4F3C-9C60-A213B71667AC}"/>
              </a:ext>
            </a:extLst>
          </p:cNvPr>
          <p:cNvPicPr>
            <a:picLocks noChangeAspect="1"/>
          </p:cNvPicPr>
          <p:nvPr/>
        </p:nvPicPr>
        <p:blipFill>
          <a:blip r:embed="rId3"/>
          <a:stretch>
            <a:fillRect/>
          </a:stretch>
        </p:blipFill>
        <p:spPr>
          <a:xfrm>
            <a:off x="1590615" y="1256248"/>
            <a:ext cx="8459381" cy="1419423"/>
          </a:xfrm>
          <a:prstGeom prst="rect">
            <a:avLst/>
          </a:prstGeom>
        </p:spPr>
      </p:pic>
      <p:sp>
        <p:nvSpPr>
          <p:cNvPr id="12" name="TextBox 11">
            <a:extLst>
              <a:ext uri="{FF2B5EF4-FFF2-40B4-BE49-F238E27FC236}">
                <a16:creationId xmlns:a16="http://schemas.microsoft.com/office/drawing/2014/main" id="{FCDA437B-BE96-F0FB-E0F4-9CB5A185C6EB}"/>
              </a:ext>
            </a:extLst>
          </p:cNvPr>
          <p:cNvSpPr txBox="1"/>
          <p:nvPr/>
        </p:nvSpPr>
        <p:spPr>
          <a:xfrm>
            <a:off x="4210309" y="58593"/>
            <a:ext cx="2669463" cy="584775"/>
          </a:xfrm>
          <a:prstGeom prst="rect">
            <a:avLst/>
          </a:prstGeom>
          <a:noFill/>
        </p:spPr>
        <p:txBody>
          <a:bodyPr wrap="square">
            <a:spAutoFit/>
          </a:bodyPr>
          <a:lstStyle/>
          <a:p>
            <a:r>
              <a:rPr lang="en-US" sz="3200" b="1" dirty="0"/>
              <a:t>Fisher Score</a:t>
            </a:r>
          </a:p>
        </p:txBody>
      </p:sp>
    </p:spTree>
    <p:extLst>
      <p:ext uri="{BB962C8B-B14F-4D97-AF65-F5344CB8AC3E}">
        <p14:creationId xmlns:p14="http://schemas.microsoft.com/office/powerpoint/2010/main" val="3787752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4D024-6CA1-58BC-3F5A-45A4BFEE8100}"/>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36282C15-3A8E-1F9E-73F2-32B3342A86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62061145-14AB-A65F-B6AB-81EAEA5B7E7B}"/>
              </a:ext>
            </a:extLst>
          </p:cNvPr>
          <p:cNvPicPr>
            <a:picLocks noChangeAspect="1"/>
          </p:cNvPicPr>
          <p:nvPr/>
        </p:nvPicPr>
        <p:blipFill>
          <a:blip r:embed="rId3"/>
          <a:stretch>
            <a:fillRect/>
          </a:stretch>
        </p:blipFill>
        <p:spPr>
          <a:xfrm>
            <a:off x="2038353" y="1684003"/>
            <a:ext cx="7563906" cy="4134427"/>
          </a:xfrm>
          <a:prstGeom prst="rect">
            <a:avLst/>
          </a:prstGeom>
        </p:spPr>
      </p:pic>
      <p:sp>
        <p:nvSpPr>
          <p:cNvPr id="2" name="TextBox 1">
            <a:extLst>
              <a:ext uri="{FF2B5EF4-FFF2-40B4-BE49-F238E27FC236}">
                <a16:creationId xmlns:a16="http://schemas.microsoft.com/office/drawing/2014/main" id="{19F3430A-C082-3FA8-42BA-54CC01477968}"/>
              </a:ext>
            </a:extLst>
          </p:cNvPr>
          <p:cNvSpPr txBox="1"/>
          <p:nvPr/>
        </p:nvSpPr>
        <p:spPr>
          <a:xfrm>
            <a:off x="2038353" y="905482"/>
            <a:ext cx="3144079" cy="584775"/>
          </a:xfrm>
          <a:prstGeom prst="rect">
            <a:avLst/>
          </a:prstGeom>
          <a:noFill/>
        </p:spPr>
        <p:txBody>
          <a:bodyPr wrap="square">
            <a:spAutoFit/>
          </a:bodyPr>
          <a:lstStyle/>
          <a:p>
            <a:r>
              <a:rPr lang="en-US" sz="3200" b="1" dirty="0"/>
              <a:t>For multi classes</a:t>
            </a:r>
          </a:p>
        </p:txBody>
      </p:sp>
      <p:sp>
        <p:nvSpPr>
          <p:cNvPr id="3" name="TextBox 2">
            <a:extLst>
              <a:ext uri="{FF2B5EF4-FFF2-40B4-BE49-F238E27FC236}">
                <a16:creationId xmlns:a16="http://schemas.microsoft.com/office/drawing/2014/main" id="{1B45D610-E96B-F3DE-54DA-E43A6294D851}"/>
              </a:ext>
            </a:extLst>
          </p:cNvPr>
          <p:cNvSpPr txBox="1"/>
          <p:nvPr/>
        </p:nvSpPr>
        <p:spPr>
          <a:xfrm>
            <a:off x="4210309" y="58593"/>
            <a:ext cx="2669463" cy="584775"/>
          </a:xfrm>
          <a:prstGeom prst="rect">
            <a:avLst/>
          </a:prstGeom>
          <a:noFill/>
        </p:spPr>
        <p:txBody>
          <a:bodyPr wrap="square">
            <a:spAutoFit/>
          </a:bodyPr>
          <a:lstStyle/>
          <a:p>
            <a:r>
              <a:rPr lang="en-US" sz="3200" b="1" dirty="0"/>
              <a:t>Fisher Score</a:t>
            </a:r>
          </a:p>
        </p:txBody>
      </p:sp>
    </p:spTree>
    <p:extLst>
      <p:ext uri="{BB962C8B-B14F-4D97-AF65-F5344CB8AC3E}">
        <p14:creationId xmlns:p14="http://schemas.microsoft.com/office/powerpoint/2010/main" val="1616047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D0BAF-F6D7-CB3F-C6E5-726CFEEAE07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B4E8EF-C545-1B21-459B-5B80CD1773F5}"/>
              </a:ext>
            </a:extLst>
          </p:cNvPr>
          <p:cNvSpPr>
            <a:spLocks noGrp="1"/>
          </p:cNvSpPr>
          <p:nvPr>
            <p:ph idx="1"/>
          </p:nvPr>
        </p:nvSpPr>
        <p:spPr>
          <a:xfrm>
            <a:off x="414201" y="778373"/>
            <a:ext cx="10997838" cy="5585482"/>
          </a:xfrm>
        </p:spPr>
        <p:txBody>
          <a:bodyPr>
            <a:normAutofit/>
          </a:bodyPr>
          <a:lstStyle/>
          <a:p>
            <a:pPr algn="just" fontAlgn="base">
              <a:lnSpc>
                <a:spcPct val="150000"/>
              </a:lnSpc>
            </a:pPr>
            <a:r>
              <a:rPr lang="en-US" dirty="0"/>
              <a:t>Mutual information(MI)between two random variables is a non-negative </a:t>
            </a:r>
            <a:r>
              <a:rPr lang="en-US" dirty="0" err="1"/>
              <a:t>value,which</a:t>
            </a:r>
            <a:r>
              <a:rPr lang="en-US" dirty="0"/>
              <a:t> measures the dependency between the variables .It is equal to zero if and only if two random variables are independent ,and higher values mean higher dependency</a:t>
            </a:r>
          </a:p>
          <a:p>
            <a:pPr algn="just" fontAlgn="base">
              <a:lnSpc>
                <a:spcPct val="150000"/>
              </a:lnSpc>
            </a:pPr>
            <a:r>
              <a:rPr lang="en-US" dirty="0"/>
              <a:t>In short, it is the amount of information one variable gives about the other.</a:t>
            </a:r>
          </a:p>
          <a:p>
            <a:pPr algn="just" fontAlgn="base">
              <a:lnSpc>
                <a:spcPct val="150000"/>
              </a:lnSpc>
            </a:pPr>
            <a:endParaRPr lang="en-US" dirty="0"/>
          </a:p>
        </p:txBody>
      </p:sp>
      <p:pic>
        <p:nvPicPr>
          <p:cNvPr id="4" name="Picture 2" descr="KL University - Wikipedia">
            <a:extLst>
              <a:ext uri="{FF2B5EF4-FFF2-40B4-BE49-F238E27FC236}">
                <a16:creationId xmlns:a16="http://schemas.microsoft.com/office/drawing/2014/main" id="{1DFDF961-1C86-6ACC-49BE-AAA7DC8841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0F93149-4813-E557-9669-740B3EF659E2}"/>
              </a:ext>
            </a:extLst>
          </p:cNvPr>
          <p:cNvSpPr txBox="1"/>
          <p:nvPr/>
        </p:nvSpPr>
        <p:spPr>
          <a:xfrm>
            <a:off x="3670378" y="126962"/>
            <a:ext cx="3653531" cy="584775"/>
          </a:xfrm>
          <a:prstGeom prst="rect">
            <a:avLst/>
          </a:prstGeom>
          <a:noFill/>
        </p:spPr>
        <p:txBody>
          <a:bodyPr wrap="square">
            <a:spAutoFit/>
          </a:bodyPr>
          <a:lstStyle/>
          <a:p>
            <a:r>
              <a:rPr lang="en-US" sz="3200" b="1" dirty="0"/>
              <a:t>Mutual Information</a:t>
            </a:r>
          </a:p>
        </p:txBody>
      </p:sp>
      <p:sp>
        <p:nvSpPr>
          <p:cNvPr id="2" name="Rectangle 1">
            <a:extLst>
              <a:ext uri="{FF2B5EF4-FFF2-40B4-BE49-F238E27FC236}">
                <a16:creationId xmlns:a16="http://schemas.microsoft.com/office/drawing/2014/main" id="{13DDCA72-5468-E3D4-10EF-361501D9B0E2}"/>
              </a:ext>
            </a:extLst>
          </p:cNvPr>
          <p:cNvSpPr>
            <a:spLocks noChangeArrowheads="1"/>
          </p:cNvSpPr>
          <p:nvPr/>
        </p:nvSpPr>
        <p:spPr bwMode="auto">
          <a:xfrm>
            <a:off x="0" y="-22875"/>
            <a:ext cx="65" cy="50295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72964" rIns="0" bIns="-49197"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DCE8474E-F677-D7F6-A9DA-D255DF13E75A}"/>
              </a:ext>
            </a:extLst>
          </p:cNvPr>
          <p:cNvPicPr>
            <a:picLocks noChangeAspect="1"/>
          </p:cNvPicPr>
          <p:nvPr/>
        </p:nvPicPr>
        <p:blipFill>
          <a:blip r:embed="rId3"/>
          <a:stretch>
            <a:fillRect/>
          </a:stretch>
        </p:blipFill>
        <p:spPr>
          <a:xfrm>
            <a:off x="2931105" y="4869783"/>
            <a:ext cx="6163535" cy="1209844"/>
          </a:xfrm>
          <a:prstGeom prst="rect">
            <a:avLst/>
          </a:prstGeom>
        </p:spPr>
      </p:pic>
    </p:spTree>
    <p:extLst>
      <p:ext uri="{BB962C8B-B14F-4D97-AF65-F5344CB8AC3E}">
        <p14:creationId xmlns:p14="http://schemas.microsoft.com/office/powerpoint/2010/main" val="14363144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08921-4BB5-90FB-0B0B-8EC40C149C68}"/>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39ACD672-FC57-5B64-0A3D-E805B6F2C7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DFE08A8-E3AF-3280-52E2-0663E7196B17}"/>
              </a:ext>
            </a:extLst>
          </p:cNvPr>
          <p:cNvSpPr txBox="1"/>
          <p:nvPr/>
        </p:nvSpPr>
        <p:spPr>
          <a:xfrm>
            <a:off x="3670378" y="126962"/>
            <a:ext cx="3653531" cy="584775"/>
          </a:xfrm>
          <a:prstGeom prst="rect">
            <a:avLst/>
          </a:prstGeom>
          <a:noFill/>
        </p:spPr>
        <p:txBody>
          <a:bodyPr wrap="square">
            <a:spAutoFit/>
          </a:bodyPr>
          <a:lstStyle/>
          <a:p>
            <a:r>
              <a:rPr lang="en-US" sz="3200" b="1" dirty="0"/>
              <a:t>Mutual Information</a:t>
            </a:r>
          </a:p>
        </p:txBody>
      </p:sp>
      <p:sp>
        <p:nvSpPr>
          <p:cNvPr id="2" name="Rectangle 1">
            <a:extLst>
              <a:ext uri="{FF2B5EF4-FFF2-40B4-BE49-F238E27FC236}">
                <a16:creationId xmlns:a16="http://schemas.microsoft.com/office/drawing/2014/main" id="{508D356D-7B1D-5A9B-3E20-C3469DA23BF0}"/>
              </a:ext>
            </a:extLst>
          </p:cNvPr>
          <p:cNvSpPr>
            <a:spLocks noChangeArrowheads="1"/>
          </p:cNvSpPr>
          <p:nvPr/>
        </p:nvSpPr>
        <p:spPr bwMode="auto">
          <a:xfrm>
            <a:off x="0" y="-22875"/>
            <a:ext cx="65" cy="50295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72964" rIns="0" bIns="-49197"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9" name="Table 8">
            <a:extLst>
              <a:ext uri="{FF2B5EF4-FFF2-40B4-BE49-F238E27FC236}">
                <a16:creationId xmlns:a16="http://schemas.microsoft.com/office/drawing/2014/main" id="{419A0C60-4C3B-0D99-E01C-1F75A947DE78}"/>
              </a:ext>
            </a:extLst>
          </p:cNvPr>
          <p:cNvGraphicFramePr>
            <a:graphicFrameLocks noGrp="1"/>
          </p:cNvGraphicFramePr>
          <p:nvPr>
            <p:extLst>
              <p:ext uri="{D42A27DB-BD31-4B8C-83A1-F6EECF244321}">
                <p14:modId xmlns:p14="http://schemas.microsoft.com/office/powerpoint/2010/main" val="4062488503"/>
              </p:ext>
            </p:extLst>
          </p:nvPr>
        </p:nvGraphicFramePr>
        <p:xfrm>
          <a:off x="609897" y="1822510"/>
          <a:ext cx="2971800" cy="3348990"/>
        </p:xfrm>
        <a:graphic>
          <a:graphicData uri="http://schemas.openxmlformats.org/drawingml/2006/table">
            <a:tbl>
              <a:tblPr/>
              <a:tblGrid>
                <a:gridCol w="609600">
                  <a:extLst>
                    <a:ext uri="{9D8B030D-6E8A-4147-A177-3AD203B41FA5}">
                      <a16:colId xmlns:a16="http://schemas.microsoft.com/office/drawing/2014/main" val="1325374638"/>
                    </a:ext>
                  </a:extLst>
                </a:gridCol>
                <a:gridCol w="952500">
                  <a:extLst>
                    <a:ext uri="{9D8B030D-6E8A-4147-A177-3AD203B41FA5}">
                      <a16:colId xmlns:a16="http://schemas.microsoft.com/office/drawing/2014/main" val="4286189373"/>
                    </a:ext>
                  </a:extLst>
                </a:gridCol>
                <a:gridCol w="800100">
                  <a:extLst>
                    <a:ext uri="{9D8B030D-6E8A-4147-A177-3AD203B41FA5}">
                      <a16:colId xmlns:a16="http://schemas.microsoft.com/office/drawing/2014/main" val="129410694"/>
                    </a:ext>
                  </a:extLst>
                </a:gridCol>
                <a:gridCol w="609600">
                  <a:extLst>
                    <a:ext uri="{9D8B030D-6E8A-4147-A177-3AD203B41FA5}">
                      <a16:colId xmlns:a16="http://schemas.microsoft.com/office/drawing/2014/main" val="3308572698"/>
                    </a:ext>
                  </a:extLst>
                </a:gridCol>
              </a:tblGrid>
              <a:tr h="298450">
                <a:tc>
                  <a:txBody>
                    <a:bodyPr/>
                    <a:lstStyle/>
                    <a:p>
                      <a:pPr algn="r" fontAlgn="ctr">
                        <a:buNone/>
                      </a:pPr>
                      <a:r>
                        <a:rPr lang="en-IN" sz="2400" b="1" i="0" u="none" strike="noStrike">
                          <a:solidFill>
                            <a:srgbClr val="000000"/>
                          </a:solidFill>
                          <a:effectLst/>
                          <a:latin typeface="Calibri" panose="020F0502020204030204" pitchFamily="34" charset="0"/>
                        </a:rPr>
                        <a:t>ID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400" b="1" i="0" u="none" strike="noStrike">
                          <a:solidFill>
                            <a:srgbClr val="000000"/>
                          </a:solidFill>
                          <a:effectLst/>
                          <a:latin typeface="Calibri" panose="020F0502020204030204" pitchFamily="34" charset="0"/>
                        </a:rPr>
                        <a:t>F1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400" b="1" i="0" u="none" strike="noStrike">
                          <a:solidFill>
                            <a:srgbClr val="000000"/>
                          </a:solidFill>
                          <a:effectLst/>
                          <a:latin typeface="Calibri" panose="020F0502020204030204" pitchFamily="34" charset="0"/>
                        </a:rPr>
                        <a:t>F2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400" b="1" i="0" u="none" strike="noStrike">
                          <a:solidFill>
                            <a:srgbClr val="000000"/>
                          </a:solidFill>
                          <a:effectLst/>
                          <a:latin typeface="Calibri" panose="020F0502020204030204" pitchFamily="34" charset="0"/>
                        </a:rPr>
                        <a:t>YY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80396623"/>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90018961"/>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6958352"/>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8968048"/>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3363808"/>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dirty="0">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9793570"/>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83821408"/>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dirty="0">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dirty="0">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54582893"/>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dirty="0">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50215284"/>
                  </a:ext>
                </a:extLst>
              </a:tr>
            </a:tbl>
          </a:graphicData>
        </a:graphic>
      </p:graphicFrame>
      <p:pic>
        <p:nvPicPr>
          <p:cNvPr id="11" name="Picture 10">
            <a:extLst>
              <a:ext uri="{FF2B5EF4-FFF2-40B4-BE49-F238E27FC236}">
                <a16:creationId xmlns:a16="http://schemas.microsoft.com/office/drawing/2014/main" id="{77720680-76ED-B9ED-6490-E67CA44F7150}"/>
              </a:ext>
            </a:extLst>
          </p:cNvPr>
          <p:cNvPicPr>
            <a:picLocks noChangeAspect="1"/>
          </p:cNvPicPr>
          <p:nvPr/>
        </p:nvPicPr>
        <p:blipFill>
          <a:blip r:embed="rId3"/>
          <a:stretch>
            <a:fillRect/>
          </a:stretch>
        </p:blipFill>
        <p:spPr>
          <a:xfrm>
            <a:off x="3670378" y="2482629"/>
            <a:ext cx="8230359" cy="2117080"/>
          </a:xfrm>
          <a:prstGeom prst="rect">
            <a:avLst/>
          </a:prstGeom>
        </p:spPr>
      </p:pic>
    </p:spTree>
    <p:extLst>
      <p:ext uri="{BB962C8B-B14F-4D97-AF65-F5344CB8AC3E}">
        <p14:creationId xmlns:p14="http://schemas.microsoft.com/office/powerpoint/2010/main" val="1397120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F68A3-1356-12DA-536C-322314385A38}"/>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BD623C4C-FB6E-DBE7-8EA2-BA5EC2142C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3A50F1C-92C5-B448-0F4F-12C72D797B80}"/>
              </a:ext>
            </a:extLst>
          </p:cNvPr>
          <p:cNvSpPr txBox="1"/>
          <p:nvPr/>
        </p:nvSpPr>
        <p:spPr>
          <a:xfrm>
            <a:off x="3670378" y="126962"/>
            <a:ext cx="3653531" cy="584775"/>
          </a:xfrm>
          <a:prstGeom prst="rect">
            <a:avLst/>
          </a:prstGeom>
          <a:noFill/>
        </p:spPr>
        <p:txBody>
          <a:bodyPr wrap="square">
            <a:spAutoFit/>
          </a:bodyPr>
          <a:lstStyle/>
          <a:p>
            <a:r>
              <a:rPr lang="en-US" sz="3200" b="1" dirty="0"/>
              <a:t>Mutual Information</a:t>
            </a:r>
          </a:p>
        </p:txBody>
      </p:sp>
      <p:sp>
        <p:nvSpPr>
          <p:cNvPr id="2" name="Rectangle 1">
            <a:extLst>
              <a:ext uri="{FF2B5EF4-FFF2-40B4-BE49-F238E27FC236}">
                <a16:creationId xmlns:a16="http://schemas.microsoft.com/office/drawing/2014/main" id="{89A0417B-DBA8-8EB0-31DA-2258E800800B}"/>
              </a:ext>
            </a:extLst>
          </p:cNvPr>
          <p:cNvSpPr>
            <a:spLocks noChangeArrowheads="1"/>
          </p:cNvSpPr>
          <p:nvPr/>
        </p:nvSpPr>
        <p:spPr bwMode="auto">
          <a:xfrm>
            <a:off x="0" y="-22875"/>
            <a:ext cx="65" cy="50295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72964" rIns="0" bIns="-49197"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9" name="Table 8">
            <a:extLst>
              <a:ext uri="{FF2B5EF4-FFF2-40B4-BE49-F238E27FC236}">
                <a16:creationId xmlns:a16="http://schemas.microsoft.com/office/drawing/2014/main" id="{CA34A4EB-7A2C-8BC4-60EC-C9E5F6DA3712}"/>
              </a:ext>
            </a:extLst>
          </p:cNvPr>
          <p:cNvGraphicFramePr>
            <a:graphicFrameLocks noGrp="1"/>
          </p:cNvGraphicFramePr>
          <p:nvPr>
            <p:extLst>
              <p:ext uri="{D42A27DB-BD31-4B8C-83A1-F6EECF244321}">
                <p14:modId xmlns:p14="http://schemas.microsoft.com/office/powerpoint/2010/main" val="2459886594"/>
              </p:ext>
            </p:extLst>
          </p:nvPr>
        </p:nvGraphicFramePr>
        <p:xfrm>
          <a:off x="286624" y="1055891"/>
          <a:ext cx="2971800" cy="3348990"/>
        </p:xfrm>
        <a:graphic>
          <a:graphicData uri="http://schemas.openxmlformats.org/drawingml/2006/table">
            <a:tbl>
              <a:tblPr/>
              <a:tblGrid>
                <a:gridCol w="609600">
                  <a:extLst>
                    <a:ext uri="{9D8B030D-6E8A-4147-A177-3AD203B41FA5}">
                      <a16:colId xmlns:a16="http://schemas.microsoft.com/office/drawing/2014/main" val="1325374638"/>
                    </a:ext>
                  </a:extLst>
                </a:gridCol>
                <a:gridCol w="952500">
                  <a:extLst>
                    <a:ext uri="{9D8B030D-6E8A-4147-A177-3AD203B41FA5}">
                      <a16:colId xmlns:a16="http://schemas.microsoft.com/office/drawing/2014/main" val="4286189373"/>
                    </a:ext>
                  </a:extLst>
                </a:gridCol>
                <a:gridCol w="800100">
                  <a:extLst>
                    <a:ext uri="{9D8B030D-6E8A-4147-A177-3AD203B41FA5}">
                      <a16:colId xmlns:a16="http://schemas.microsoft.com/office/drawing/2014/main" val="129410694"/>
                    </a:ext>
                  </a:extLst>
                </a:gridCol>
                <a:gridCol w="609600">
                  <a:extLst>
                    <a:ext uri="{9D8B030D-6E8A-4147-A177-3AD203B41FA5}">
                      <a16:colId xmlns:a16="http://schemas.microsoft.com/office/drawing/2014/main" val="3308572698"/>
                    </a:ext>
                  </a:extLst>
                </a:gridCol>
              </a:tblGrid>
              <a:tr h="298450">
                <a:tc>
                  <a:txBody>
                    <a:bodyPr/>
                    <a:lstStyle/>
                    <a:p>
                      <a:pPr algn="r" fontAlgn="ctr">
                        <a:buNone/>
                      </a:pPr>
                      <a:r>
                        <a:rPr lang="en-IN" sz="2400" b="1" i="0" u="none" strike="noStrike">
                          <a:solidFill>
                            <a:srgbClr val="000000"/>
                          </a:solidFill>
                          <a:effectLst/>
                          <a:latin typeface="Calibri" panose="020F0502020204030204" pitchFamily="34" charset="0"/>
                        </a:rPr>
                        <a:t>ID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400" b="1" i="0" u="none" strike="noStrike">
                          <a:solidFill>
                            <a:srgbClr val="000000"/>
                          </a:solidFill>
                          <a:effectLst/>
                          <a:latin typeface="Calibri" panose="020F0502020204030204" pitchFamily="34" charset="0"/>
                        </a:rPr>
                        <a:t>F1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400" b="1" i="0" u="none" strike="noStrike">
                          <a:solidFill>
                            <a:srgbClr val="000000"/>
                          </a:solidFill>
                          <a:effectLst/>
                          <a:latin typeface="Calibri" panose="020F0502020204030204" pitchFamily="34" charset="0"/>
                        </a:rPr>
                        <a:t>F2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400" b="1" i="0" u="none" strike="noStrike">
                          <a:solidFill>
                            <a:srgbClr val="000000"/>
                          </a:solidFill>
                          <a:effectLst/>
                          <a:latin typeface="Calibri" panose="020F0502020204030204" pitchFamily="34" charset="0"/>
                        </a:rPr>
                        <a:t>YY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80396623"/>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90018961"/>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6958352"/>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8968048"/>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3363808"/>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9793570"/>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83821408"/>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dirty="0">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dirty="0">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54582893"/>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dirty="0">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50215284"/>
                  </a:ext>
                </a:extLst>
              </a:tr>
            </a:tbl>
          </a:graphicData>
        </a:graphic>
      </p:graphicFrame>
      <p:pic>
        <p:nvPicPr>
          <p:cNvPr id="11" name="Picture 10">
            <a:extLst>
              <a:ext uri="{FF2B5EF4-FFF2-40B4-BE49-F238E27FC236}">
                <a16:creationId xmlns:a16="http://schemas.microsoft.com/office/drawing/2014/main" id="{DA8E16F6-7EEF-4566-E12D-943FC59FC05C}"/>
              </a:ext>
            </a:extLst>
          </p:cNvPr>
          <p:cNvPicPr>
            <a:picLocks noChangeAspect="1"/>
          </p:cNvPicPr>
          <p:nvPr/>
        </p:nvPicPr>
        <p:blipFill>
          <a:blip r:embed="rId3"/>
          <a:stretch>
            <a:fillRect/>
          </a:stretch>
        </p:blipFill>
        <p:spPr>
          <a:xfrm>
            <a:off x="286624" y="5112617"/>
            <a:ext cx="9632439" cy="1419423"/>
          </a:xfrm>
          <a:prstGeom prst="rect">
            <a:avLst/>
          </a:prstGeom>
        </p:spPr>
      </p:pic>
      <p:sp>
        <p:nvSpPr>
          <p:cNvPr id="13" name="TextBox 12">
            <a:extLst>
              <a:ext uri="{FF2B5EF4-FFF2-40B4-BE49-F238E27FC236}">
                <a16:creationId xmlns:a16="http://schemas.microsoft.com/office/drawing/2014/main" id="{4C09303E-712E-92DF-29B1-B663108AC533}"/>
              </a:ext>
            </a:extLst>
          </p:cNvPr>
          <p:cNvSpPr txBox="1"/>
          <p:nvPr/>
        </p:nvSpPr>
        <p:spPr>
          <a:xfrm>
            <a:off x="3670378" y="871225"/>
            <a:ext cx="6096000" cy="461665"/>
          </a:xfrm>
          <a:prstGeom prst="rect">
            <a:avLst/>
          </a:prstGeom>
          <a:noFill/>
        </p:spPr>
        <p:txBody>
          <a:bodyPr wrap="square">
            <a:spAutoFit/>
          </a:bodyPr>
          <a:lstStyle/>
          <a:p>
            <a:r>
              <a:rPr lang="en-US" sz="2400" dirty="0"/>
              <a:t>MI of X1 with YY</a:t>
            </a:r>
            <a:endParaRPr lang="en-IN" sz="2400" dirty="0"/>
          </a:p>
        </p:txBody>
      </p:sp>
      <p:pic>
        <p:nvPicPr>
          <p:cNvPr id="15" name="Picture 14">
            <a:extLst>
              <a:ext uri="{FF2B5EF4-FFF2-40B4-BE49-F238E27FC236}">
                <a16:creationId xmlns:a16="http://schemas.microsoft.com/office/drawing/2014/main" id="{402D08C5-8137-F19F-37BC-87EFD0CCC0BB}"/>
              </a:ext>
            </a:extLst>
          </p:cNvPr>
          <p:cNvPicPr>
            <a:picLocks noChangeAspect="1"/>
          </p:cNvPicPr>
          <p:nvPr/>
        </p:nvPicPr>
        <p:blipFill>
          <a:blip r:embed="rId4"/>
          <a:stretch>
            <a:fillRect/>
          </a:stretch>
        </p:blipFill>
        <p:spPr>
          <a:xfrm>
            <a:off x="3763546" y="1492378"/>
            <a:ext cx="7932065" cy="3620239"/>
          </a:xfrm>
          <a:prstGeom prst="rect">
            <a:avLst/>
          </a:prstGeom>
        </p:spPr>
      </p:pic>
    </p:spTree>
    <p:extLst>
      <p:ext uri="{BB962C8B-B14F-4D97-AF65-F5344CB8AC3E}">
        <p14:creationId xmlns:p14="http://schemas.microsoft.com/office/powerpoint/2010/main" val="33745705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CACF7-1930-D87A-09BC-8F5CB13715D4}"/>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82C117E2-3FB3-D595-4EB8-9528DC9090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51643DF-2E56-FDE1-EC25-5CDF0F07AB81}"/>
              </a:ext>
            </a:extLst>
          </p:cNvPr>
          <p:cNvSpPr txBox="1"/>
          <p:nvPr/>
        </p:nvSpPr>
        <p:spPr>
          <a:xfrm>
            <a:off x="3670378" y="126962"/>
            <a:ext cx="3653531" cy="584775"/>
          </a:xfrm>
          <a:prstGeom prst="rect">
            <a:avLst/>
          </a:prstGeom>
          <a:noFill/>
        </p:spPr>
        <p:txBody>
          <a:bodyPr wrap="square">
            <a:spAutoFit/>
          </a:bodyPr>
          <a:lstStyle/>
          <a:p>
            <a:r>
              <a:rPr lang="en-US" sz="3200" b="1" dirty="0"/>
              <a:t>Mutual Information</a:t>
            </a:r>
          </a:p>
        </p:txBody>
      </p:sp>
      <p:sp>
        <p:nvSpPr>
          <p:cNvPr id="2" name="Rectangle 1">
            <a:extLst>
              <a:ext uri="{FF2B5EF4-FFF2-40B4-BE49-F238E27FC236}">
                <a16:creationId xmlns:a16="http://schemas.microsoft.com/office/drawing/2014/main" id="{7BAC76E5-79F0-734F-A4C6-4029C06D7C63}"/>
              </a:ext>
            </a:extLst>
          </p:cNvPr>
          <p:cNvSpPr>
            <a:spLocks noChangeArrowheads="1"/>
          </p:cNvSpPr>
          <p:nvPr/>
        </p:nvSpPr>
        <p:spPr bwMode="auto">
          <a:xfrm>
            <a:off x="0" y="-22875"/>
            <a:ext cx="65" cy="50295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72964" rIns="0" bIns="-49197"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9" name="Table 8">
            <a:extLst>
              <a:ext uri="{FF2B5EF4-FFF2-40B4-BE49-F238E27FC236}">
                <a16:creationId xmlns:a16="http://schemas.microsoft.com/office/drawing/2014/main" id="{A87B8F98-6D0F-436D-708D-2534681FB436}"/>
              </a:ext>
            </a:extLst>
          </p:cNvPr>
          <p:cNvGraphicFramePr>
            <a:graphicFrameLocks noGrp="1"/>
          </p:cNvGraphicFramePr>
          <p:nvPr/>
        </p:nvGraphicFramePr>
        <p:xfrm>
          <a:off x="286624" y="1055891"/>
          <a:ext cx="2971800" cy="3348990"/>
        </p:xfrm>
        <a:graphic>
          <a:graphicData uri="http://schemas.openxmlformats.org/drawingml/2006/table">
            <a:tbl>
              <a:tblPr/>
              <a:tblGrid>
                <a:gridCol w="609600">
                  <a:extLst>
                    <a:ext uri="{9D8B030D-6E8A-4147-A177-3AD203B41FA5}">
                      <a16:colId xmlns:a16="http://schemas.microsoft.com/office/drawing/2014/main" val="1325374638"/>
                    </a:ext>
                  </a:extLst>
                </a:gridCol>
                <a:gridCol w="952500">
                  <a:extLst>
                    <a:ext uri="{9D8B030D-6E8A-4147-A177-3AD203B41FA5}">
                      <a16:colId xmlns:a16="http://schemas.microsoft.com/office/drawing/2014/main" val="4286189373"/>
                    </a:ext>
                  </a:extLst>
                </a:gridCol>
                <a:gridCol w="800100">
                  <a:extLst>
                    <a:ext uri="{9D8B030D-6E8A-4147-A177-3AD203B41FA5}">
                      <a16:colId xmlns:a16="http://schemas.microsoft.com/office/drawing/2014/main" val="129410694"/>
                    </a:ext>
                  </a:extLst>
                </a:gridCol>
                <a:gridCol w="609600">
                  <a:extLst>
                    <a:ext uri="{9D8B030D-6E8A-4147-A177-3AD203B41FA5}">
                      <a16:colId xmlns:a16="http://schemas.microsoft.com/office/drawing/2014/main" val="3308572698"/>
                    </a:ext>
                  </a:extLst>
                </a:gridCol>
              </a:tblGrid>
              <a:tr h="298450">
                <a:tc>
                  <a:txBody>
                    <a:bodyPr/>
                    <a:lstStyle/>
                    <a:p>
                      <a:pPr algn="r" fontAlgn="ctr">
                        <a:buNone/>
                      </a:pPr>
                      <a:r>
                        <a:rPr lang="en-IN" sz="2400" b="1" i="0" u="none" strike="noStrike">
                          <a:solidFill>
                            <a:srgbClr val="000000"/>
                          </a:solidFill>
                          <a:effectLst/>
                          <a:latin typeface="Calibri" panose="020F0502020204030204" pitchFamily="34" charset="0"/>
                        </a:rPr>
                        <a:t>ID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400" b="1" i="0" u="none" strike="noStrike">
                          <a:solidFill>
                            <a:srgbClr val="000000"/>
                          </a:solidFill>
                          <a:effectLst/>
                          <a:latin typeface="Calibri" panose="020F0502020204030204" pitchFamily="34" charset="0"/>
                        </a:rPr>
                        <a:t>F1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400" b="1" i="0" u="none" strike="noStrike">
                          <a:solidFill>
                            <a:srgbClr val="000000"/>
                          </a:solidFill>
                          <a:effectLst/>
                          <a:latin typeface="Calibri" panose="020F0502020204030204" pitchFamily="34" charset="0"/>
                        </a:rPr>
                        <a:t>F2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400" b="1" i="0" u="none" strike="noStrike">
                          <a:solidFill>
                            <a:srgbClr val="000000"/>
                          </a:solidFill>
                          <a:effectLst/>
                          <a:latin typeface="Calibri" panose="020F0502020204030204" pitchFamily="34" charset="0"/>
                        </a:rPr>
                        <a:t>YY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80396623"/>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90018961"/>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6958352"/>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8968048"/>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3363808"/>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9793570"/>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83821408"/>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dirty="0">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dirty="0">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54582893"/>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dirty="0">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50215284"/>
                  </a:ext>
                </a:extLst>
              </a:tr>
            </a:tbl>
          </a:graphicData>
        </a:graphic>
      </p:graphicFrame>
      <p:pic>
        <p:nvPicPr>
          <p:cNvPr id="11" name="Picture 10">
            <a:extLst>
              <a:ext uri="{FF2B5EF4-FFF2-40B4-BE49-F238E27FC236}">
                <a16:creationId xmlns:a16="http://schemas.microsoft.com/office/drawing/2014/main" id="{54227211-DA18-3146-6109-69777C564344}"/>
              </a:ext>
            </a:extLst>
          </p:cNvPr>
          <p:cNvPicPr>
            <a:picLocks noChangeAspect="1"/>
          </p:cNvPicPr>
          <p:nvPr/>
        </p:nvPicPr>
        <p:blipFill>
          <a:blip r:embed="rId3"/>
          <a:stretch>
            <a:fillRect/>
          </a:stretch>
        </p:blipFill>
        <p:spPr>
          <a:xfrm>
            <a:off x="286624" y="5112617"/>
            <a:ext cx="9632439" cy="1419423"/>
          </a:xfrm>
          <a:prstGeom prst="rect">
            <a:avLst/>
          </a:prstGeom>
        </p:spPr>
      </p:pic>
      <p:sp>
        <p:nvSpPr>
          <p:cNvPr id="13" name="TextBox 12">
            <a:extLst>
              <a:ext uri="{FF2B5EF4-FFF2-40B4-BE49-F238E27FC236}">
                <a16:creationId xmlns:a16="http://schemas.microsoft.com/office/drawing/2014/main" id="{46666571-5688-7E65-E8A3-8A4C072D55E4}"/>
              </a:ext>
            </a:extLst>
          </p:cNvPr>
          <p:cNvSpPr txBox="1"/>
          <p:nvPr/>
        </p:nvSpPr>
        <p:spPr>
          <a:xfrm>
            <a:off x="3670378" y="871225"/>
            <a:ext cx="6096000" cy="461665"/>
          </a:xfrm>
          <a:prstGeom prst="rect">
            <a:avLst/>
          </a:prstGeom>
          <a:noFill/>
        </p:spPr>
        <p:txBody>
          <a:bodyPr wrap="square">
            <a:spAutoFit/>
          </a:bodyPr>
          <a:lstStyle/>
          <a:p>
            <a:r>
              <a:rPr lang="en-US" sz="2400" dirty="0"/>
              <a:t>MI of X1 with YY</a:t>
            </a:r>
            <a:endParaRPr lang="en-IN" sz="2400" dirty="0"/>
          </a:p>
        </p:txBody>
      </p:sp>
      <p:pic>
        <p:nvPicPr>
          <p:cNvPr id="5" name="Picture 4">
            <a:extLst>
              <a:ext uri="{FF2B5EF4-FFF2-40B4-BE49-F238E27FC236}">
                <a16:creationId xmlns:a16="http://schemas.microsoft.com/office/drawing/2014/main" id="{CFDCCF74-5FA3-E27C-B72E-E9C0E3B3A0BA}"/>
              </a:ext>
            </a:extLst>
          </p:cNvPr>
          <p:cNvPicPr>
            <a:picLocks noChangeAspect="1"/>
          </p:cNvPicPr>
          <p:nvPr/>
        </p:nvPicPr>
        <p:blipFill>
          <a:blip r:embed="rId4"/>
          <a:stretch>
            <a:fillRect/>
          </a:stretch>
        </p:blipFill>
        <p:spPr>
          <a:xfrm>
            <a:off x="3398562" y="1566881"/>
            <a:ext cx="8723770" cy="2924583"/>
          </a:xfrm>
          <a:prstGeom prst="rect">
            <a:avLst/>
          </a:prstGeom>
        </p:spPr>
      </p:pic>
    </p:spTree>
    <p:extLst>
      <p:ext uri="{BB962C8B-B14F-4D97-AF65-F5344CB8AC3E}">
        <p14:creationId xmlns:p14="http://schemas.microsoft.com/office/powerpoint/2010/main" val="27639460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35845-8C8D-EA9C-86AF-C686BAA4E7BD}"/>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B43F1707-BF44-6F76-1D71-51DBC03FD4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7045004-8D54-9410-E960-0F8D71E81B79}"/>
              </a:ext>
            </a:extLst>
          </p:cNvPr>
          <p:cNvSpPr txBox="1"/>
          <p:nvPr/>
        </p:nvSpPr>
        <p:spPr>
          <a:xfrm>
            <a:off x="3670378" y="126962"/>
            <a:ext cx="3653531" cy="584775"/>
          </a:xfrm>
          <a:prstGeom prst="rect">
            <a:avLst/>
          </a:prstGeom>
          <a:noFill/>
        </p:spPr>
        <p:txBody>
          <a:bodyPr wrap="square">
            <a:spAutoFit/>
          </a:bodyPr>
          <a:lstStyle/>
          <a:p>
            <a:r>
              <a:rPr lang="en-US" sz="3200" b="1" dirty="0"/>
              <a:t>Mutual Information</a:t>
            </a:r>
          </a:p>
        </p:txBody>
      </p:sp>
      <p:sp>
        <p:nvSpPr>
          <p:cNvPr id="2" name="Rectangle 1">
            <a:extLst>
              <a:ext uri="{FF2B5EF4-FFF2-40B4-BE49-F238E27FC236}">
                <a16:creationId xmlns:a16="http://schemas.microsoft.com/office/drawing/2014/main" id="{CDBA9DAC-2057-2047-E073-5EEEDA330335}"/>
              </a:ext>
            </a:extLst>
          </p:cNvPr>
          <p:cNvSpPr>
            <a:spLocks noChangeArrowheads="1"/>
          </p:cNvSpPr>
          <p:nvPr/>
        </p:nvSpPr>
        <p:spPr bwMode="auto">
          <a:xfrm>
            <a:off x="0" y="-22875"/>
            <a:ext cx="65" cy="50295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72964" rIns="0" bIns="-49197"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9" name="Table 8">
            <a:extLst>
              <a:ext uri="{FF2B5EF4-FFF2-40B4-BE49-F238E27FC236}">
                <a16:creationId xmlns:a16="http://schemas.microsoft.com/office/drawing/2014/main" id="{BDC38455-C8D9-A0C7-CE99-6256B311CCBB}"/>
              </a:ext>
            </a:extLst>
          </p:cNvPr>
          <p:cNvGraphicFramePr>
            <a:graphicFrameLocks noGrp="1"/>
          </p:cNvGraphicFramePr>
          <p:nvPr/>
        </p:nvGraphicFramePr>
        <p:xfrm>
          <a:off x="286624" y="1055891"/>
          <a:ext cx="2971800" cy="3348990"/>
        </p:xfrm>
        <a:graphic>
          <a:graphicData uri="http://schemas.openxmlformats.org/drawingml/2006/table">
            <a:tbl>
              <a:tblPr/>
              <a:tblGrid>
                <a:gridCol w="609600">
                  <a:extLst>
                    <a:ext uri="{9D8B030D-6E8A-4147-A177-3AD203B41FA5}">
                      <a16:colId xmlns:a16="http://schemas.microsoft.com/office/drawing/2014/main" val="1325374638"/>
                    </a:ext>
                  </a:extLst>
                </a:gridCol>
                <a:gridCol w="952500">
                  <a:extLst>
                    <a:ext uri="{9D8B030D-6E8A-4147-A177-3AD203B41FA5}">
                      <a16:colId xmlns:a16="http://schemas.microsoft.com/office/drawing/2014/main" val="4286189373"/>
                    </a:ext>
                  </a:extLst>
                </a:gridCol>
                <a:gridCol w="800100">
                  <a:extLst>
                    <a:ext uri="{9D8B030D-6E8A-4147-A177-3AD203B41FA5}">
                      <a16:colId xmlns:a16="http://schemas.microsoft.com/office/drawing/2014/main" val="129410694"/>
                    </a:ext>
                  </a:extLst>
                </a:gridCol>
                <a:gridCol w="609600">
                  <a:extLst>
                    <a:ext uri="{9D8B030D-6E8A-4147-A177-3AD203B41FA5}">
                      <a16:colId xmlns:a16="http://schemas.microsoft.com/office/drawing/2014/main" val="3308572698"/>
                    </a:ext>
                  </a:extLst>
                </a:gridCol>
              </a:tblGrid>
              <a:tr h="298450">
                <a:tc>
                  <a:txBody>
                    <a:bodyPr/>
                    <a:lstStyle/>
                    <a:p>
                      <a:pPr algn="r" fontAlgn="ctr">
                        <a:buNone/>
                      </a:pPr>
                      <a:r>
                        <a:rPr lang="en-IN" sz="2400" b="1" i="0" u="none" strike="noStrike">
                          <a:solidFill>
                            <a:srgbClr val="000000"/>
                          </a:solidFill>
                          <a:effectLst/>
                          <a:latin typeface="Calibri" panose="020F0502020204030204" pitchFamily="34" charset="0"/>
                        </a:rPr>
                        <a:t>ID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400" b="1" i="0" u="none" strike="noStrike">
                          <a:solidFill>
                            <a:srgbClr val="000000"/>
                          </a:solidFill>
                          <a:effectLst/>
                          <a:latin typeface="Calibri" panose="020F0502020204030204" pitchFamily="34" charset="0"/>
                        </a:rPr>
                        <a:t>F1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400" b="1" i="0" u="none" strike="noStrike">
                          <a:solidFill>
                            <a:srgbClr val="000000"/>
                          </a:solidFill>
                          <a:effectLst/>
                          <a:latin typeface="Calibri" panose="020F0502020204030204" pitchFamily="34" charset="0"/>
                        </a:rPr>
                        <a:t>F2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400" b="1" i="0" u="none" strike="noStrike">
                          <a:solidFill>
                            <a:srgbClr val="000000"/>
                          </a:solidFill>
                          <a:effectLst/>
                          <a:latin typeface="Calibri" panose="020F0502020204030204" pitchFamily="34" charset="0"/>
                        </a:rPr>
                        <a:t>YY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80396623"/>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90018961"/>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6958352"/>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8968048"/>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3363808"/>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9793570"/>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83821408"/>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dirty="0">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dirty="0">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54582893"/>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dirty="0">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50215284"/>
                  </a:ext>
                </a:extLst>
              </a:tr>
            </a:tbl>
          </a:graphicData>
        </a:graphic>
      </p:graphicFrame>
      <p:sp>
        <p:nvSpPr>
          <p:cNvPr id="13" name="TextBox 12">
            <a:extLst>
              <a:ext uri="{FF2B5EF4-FFF2-40B4-BE49-F238E27FC236}">
                <a16:creationId xmlns:a16="http://schemas.microsoft.com/office/drawing/2014/main" id="{036CB510-3882-79AD-D3F6-3661C932AF66}"/>
              </a:ext>
            </a:extLst>
          </p:cNvPr>
          <p:cNvSpPr txBox="1"/>
          <p:nvPr/>
        </p:nvSpPr>
        <p:spPr>
          <a:xfrm>
            <a:off x="3670378" y="871225"/>
            <a:ext cx="6096000" cy="461665"/>
          </a:xfrm>
          <a:prstGeom prst="rect">
            <a:avLst/>
          </a:prstGeom>
          <a:noFill/>
        </p:spPr>
        <p:txBody>
          <a:bodyPr wrap="square">
            <a:spAutoFit/>
          </a:bodyPr>
          <a:lstStyle/>
          <a:p>
            <a:r>
              <a:rPr lang="en-US" sz="2400" dirty="0"/>
              <a:t>MI of X2 with YY</a:t>
            </a:r>
            <a:endParaRPr lang="en-IN" sz="2400" dirty="0"/>
          </a:p>
        </p:txBody>
      </p:sp>
      <p:pic>
        <p:nvPicPr>
          <p:cNvPr id="6" name="Picture 5">
            <a:extLst>
              <a:ext uri="{FF2B5EF4-FFF2-40B4-BE49-F238E27FC236}">
                <a16:creationId xmlns:a16="http://schemas.microsoft.com/office/drawing/2014/main" id="{38558BE6-DE17-CBA4-B696-32374446A2B5}"/>
              </a:ext>
            </a:extLst>
          </p:cNvPr>
          <p:cNvPicPr>
            <a:picLocks noChangeAspect="1"/>
          </p:cNvPicPr>
          <p:nvPr/>
        </p:nvPicPr>
        <p:blipFill>
          <a:blip r:embed="rId3"/>
          <a:stretch>
            <a:fillRect/>
          </a:stretch>
        </p:blipFill>
        <p:spPr>
          <a:xfrm>
            <a:off x="3569876" y="1419473"/>
            <a:ext cx="7986398" cy="2800741"/>
          </a:xfrm>
          <a:prstGeom prst="rect">
            <a:avLst/>
          </a:prstGeom>
        </p:spPr>
      </p:pic>
      <p:pic>
        <p:nvPicPr>
          <p:cNvPr id="10" name="Picture 9">
            <a:extLst>
              <a:ext uri="{FF2B5EF4-FFF2-40B4-BE49-F238E27FC236}">
                <a16:creationId xmlns:a16="http://schemas.microsoft.com/office/drawing/2014/main" id="{EC870B0E-80C6-3A03-6C14-31297E648B11}"/>
              </a:ext>
            </a:extLst>
          </p:cNvPr>
          <p:cNvPicPr>
            <a:picLocks noChangeAspect="1"/>
          </p:cNvPicPr>
          <p:nvPr/>
        </p:nvPicPr>
        <p:blipFill>
          <a:blip r:embed="rId4"/>
          <a:stretch>
            <a:fillRect/>
          </a:stretch>
        </p:blipFill>
        <p:spPr>
          <a:xfrm>
            <a:off x="478704" y="4491464"/>
            <a:ext cx="7716327" cy="1924319"/>
          </a:xfrm>
          <a:prstGeom prst="rect">
            <a:avLst/>
          </a:prstGeom>
        </p:spPr>
      </p:pic>
    </p:spTree>
    <p:extLst>
      <p:ext uri="{BB962C8B-B14F-4D97-AF65-F5344CB8AC3E}">
        <p14:creationId xmlns:p14="http://schemas.microsoft.com/office/powerpoint/2010/main" val="34973236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8529C-554C-CF0C-CC93-1342DAA63CE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5BB056-9C1C-D28B-4E03-784F69D9E980}"/>
              </a:ext>
            </a:extLst>
          </p:cNvPr>
          <p:cNvSpPr>
            <a:spLocks noGrp="1"/>
          </p:cNvSpPr>
          <p:nvPr>
            <p:ph idx="1"/>
          </p:nvPr>
        </p:nvSpPr>
        <p:spPr>
          <a:xfrm>
            <a:off x="615043" y="1003952"/>
            <a:ext cx="11506200" cy="5147541"/>
          </a:xfrm>
        </p:spPr>
        <p:txBody>
          <a:bodyPr>
            <a:normAutofit/>
          </a:bodyPr>
          <a:lstStyle/>
          <a:p>
            <a:pPr>
              <a:lnSpc>
                <a:spcPct val="150000"/>
              </a:lnSpc>
            </a:pPr>
            <a:r>
              <a:rPr lang="en-US" sz="2400" dirty="0"/>
              <a:t>Wrapper methods are also referred as greedy algorithms that train algorithm. They use different combination of features and compute relation between these subset features and target variable and based on conclusion addition and removal of features are done.</a:t>
            </a:r>
          </a:p>
        </p:txBody>
      </p:sp>
      <p:pic>
        <p:nvPicPr>
          <p:cNvPr id="4" name="Picture 2" descr="KL University - Wikipedia">
            <a:extLst>
              <a:ext uri="{FF2B5EF4-FFF2-40B4-BE49-F238E27FC236}">
                <a16:creationId xmlns:a16="http://schemas.microsoft.com/office/drawing/2014/main" id="{8748671D-3F1B-2997-438D-742786D558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37F05A7-9F1E-29C8-C931-0119A98850BA}"/>
              </a:ext>
            </a:extLst>
          </p:cNvPr>
          <p:cNvSpPr txBox="1"/>
          <p:nvPr/>
        </p:nvSpPr>
        <p:spPr>
          <a:xfrm>
            <a:off x="2747269" y="136469"/>
            <a:ext cx="3453234" cy="754694"/>
          </a:xfrm>
          <a:prstGeom prst="rect">
            <a:avLst/>
          </a:prstGeom>
          <a:noFill/>
        </p:spPr>
        <p:txBody>
          <a:bodyPr wrap="square">
            <a:spAutoFit/>
          </a:bodyPr>
          <a:lstStyle/>
          <a:p>
            <a:pPr>
              <a:lnSpc>
                <a:spcPct val="150000"/>
              </a:lnSpc>
            </a:pPr>
            <a:r>
              <a:rPr lang="en-US" sz="3200" dirty="0"/>
              <a:t>Wrapper methods</a:t>
            </a:r>
          </a:p>
        </p:txBody>
      </p:sp>
      <p:pic>
        <p:nvPicPr>
          <p:cNvPr id="8" name="Picture 7">
            <a:extLst>
              <a:ext uri="{FF2B5EF4-FFF2-40B4-BE49-F238E27FC236}">
                <a16:creationId xmlns:a16="http://schemas.microsoft.com/office/drawing/2014/main" id="{9FA9A4EC-7141-CC47-918D-D5FBA8F1C975}"/>
              </a:ext>
            </a:extLst>
          </p:cNvPr>
          <p:cNvPicPr>
            <a:picLocks noChangeAspect="1"/>
          </p:cNvPicPr>
          <p:nvPr/>
        </p:nvPicPr>
        <p:blipFill>
          <a:blip r:embed="rId3"/>
          <a:stretch>
            <a:fillRect/>
          </a:stretch>
        </p:blipFill>
        <p:spPr>
          <a:xfrm>
            <a:off x="2266129" y="2835362"/>
            <a:ext cx="7868748" cy="3677163"/>
          </a:xfrm>
          <a:prstGeom prst="rect">
            <a:avLst/>
          </a:prstGeom>
        </p:spPr>
      </p:pic>
    </p:spTree>
    <p:extLst>
      <p:ext uri="{BB962C8B-B14F-4D97-AF65-F5344CB8AC3E}">
        <p14:creationId xmlns:p14="http://schemas.microsoft.com/office/powerpoint/2010/main" val="20057491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18DA3-04F7-7011-F631-0EE3DA65A2E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003CB0-ABFA-4623-ACB7-302649DC0252}"/>
              </a:ext>
            </a:extLst>
          </p:cNvPr>
          <p:cNvSpPr>
            <a:spLocks noGrp="1"/>
          </p:cNvSpPr>
          <p:nvPr>
            <p:ph idx="1"/>
          </p:nvPr>
        </p:nvSpPr>
        <p:spPr>
          <a:xfrm>
            <a:off x="615043" y="1003952"/>
            <a:ext cx="11506200" cy="5147541"/>
          </a:xfrm>
        </p:spPr>
        <p:txBody>
          <a:bodyPr>
            <a:normAutofit/>
          </a:bodyPr>
          <a:lstStyle/>
          <a:p>
            <a:pPr fontAlgn="base"/>
            <a:r>
              <a:rPr lang="en-US" b="1" dirty="0"/>
              <a:t>Forward selection</a:t>
            </a:r>
            <a:endParaRPr lang="en-US" dirty="0"/>
          </a:p>
          <a:p>
            <a:pPr fontAlgn="base"/>
            <a:r>
              <a:rPr lang="en-US" b="1" dirty="0"/>
              <a:t>Backward elimination</a:t>
            </a:r>
          </a:p>
          <a:p>
            <a:pPr fontAlgn="base"/>
            <a:r>
              <a:rPr lang="en-US" b="1" dirty="0"/>
              <a:t>Recursive elimination</a:t>
            </a:r>
            <a:endParaRPr lang="en-US" sz="2400" dirty="0"/>
          </a:p>
        </p:txBody>
      </p:sp>
      <p:pic>
        <p:nvPicPr>
          <p:cNvPr id="4" name="Picture 2" descr="KL University - Wikipedia">
            <a:extLst>
              <a:ext uri="{FF2B5EF4-FFF2-40B4-BE49-F238E27FC236}">
                <a16:creationId xmlns:a16="http://schemas.microsoft.com/office/drawing/2014/main" id="{70DC1121-6E64-BC2A-C75E-B980BE71C4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DA5877F-C5C5-6FB5-ADBB-892751D48B70}"/>
              </a:ext>
            </a:extLst>
          </p:cNvPr>
          <p:cNvSpPr txBox="1"/>
          <p:nvPr/>
        </p:nvSpPr>
        <p:spPr>
          <a:xfrm>
            <a:off x="2747269" y="136469"/>
            <a:ext cx="3453234" cy="754694"/>
          </a:xfrm>
          <a:prstGeom prst="rect">
            <a:avLst/>
          </a:prstGeom>
          <a:noFill/>
        </p:spPr>
        <p:txBody>
          <a:bodyPr wrap="square">
            <a:spAutoFit/>
          </a:bodyPr>
          <a:lstStyle/>
          <a:p>
            <a:pPr>
              <a:lnSpc>
                <a:spcPct val="150000"/>
              </a:lnSpc>
            </a:pPr>
            <a:r>
              <a:rPr lang="en-US" sz="3200" dirty="0"/>
              <a:t>Wrapper methods</a:t>
            </a:r>
          </a:p>
        </p:txBody>
      </p:sp>
      <p:pic>
        <p:nvPicPr>
          <p:cNvPr id="5" name="Picture 4">
            <a:extLst>
              <a:ext uri="{FF2B5EF4-FFF2-40B4-BE49-F238E27FC236}">
                <a16:creationId xmlns:a16="http://schemas.microsoft.com/office/drawing/2014/main" id="{6EFDF6B0-E6CF-6C2A-C776-CA0ABC64C176}"/>
              </a:ext>
            </a:extLst>
          </p:cNvPr>
          <p:cNvPicPr>
            <a:picLocks noChangeAspect="1"/>
          </p:cNvPicPr>
          <p:nvPr/>
        </p:nvPicPr>
        <p:blipFill>
          <a:blip r:embed="rId3"/>
          <a:stretch>
            <a:fillRect/>
          </a:stretch>
        </p:blipFill>
        <p:spPr>
          <a:xfrm>
            <a:off x="269052" y="2579975"/>
            <a:ext cx="5296639" cy="3343742"/>
          </a:xfrm>
          <a:prstGeom prst="rect">
            <a:avLst/>
          </a:prstGeom>
        </p:spPr>
      </p:pic>
      <p:pic>
        <p:nvPicPr>
          <p:cNvPr id="8194" name="Picture 2" descr="RFE Steps | Recursive Feature Elimination">
            <a:extLst>
              <a:ext uri="{FF2B5EF4-FFF2-40B4-BE49-F238E27FC236}">
                <a16:creationId xmlns:a16="http://schemas.microsoft.com/office/drawing/2014/main" id="{99CAD508-FA76-634C-A0C1-59D3FA9BEC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00503" y="2995747"/>
            <a:ext cx="5125750" cy="30033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98294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2" descr="KL Deemed to be University Logo"/>
          <p:cNvPicPr>
            <a:picLocks noChangeAspect="1" noChangeArrowheads="1"/>
          </p:cNvPicPr>
          <p:nvPr/>
        </p:nvPicPr>
        <p:blipFill>
          <a:blip r:embed="rId2"/>
          <a:stretch>
            <a:fillRect/>
          </a:stretch>
        </p:blipFill>
        <p:spPr bwMode="auto">
          <a:xfrm>
            <a:off x="149860" y="89473"/>
            <a:ext cx="2704052" cy="815095"/>
          </a:xfrm>
          <a:prstGeom prst="rect">
            <a:avLst/>
          </a:prstGeom>
          <a:noFill/>
        </p:spPr>
      </p:pic>
      <p:sp>
        <p:nvSpPr>
          <p:cNvPr id="4" name="Content Placeholder 3">
            <a:extLst>
              <a:ext uri="{FF2B5EF4-FFF2-40B4-BE49-F238E27FC236}">
                <a16:creationId xmlns:a16="http://schemas.microsoft.com/office/drawing/2014/main" id="{E792BE84-3448-2348-B352-CD5BC083E5FD}"/>
              </a:ext>
            </a:extLst>
          </p:cNvPr>
          <p:cNvSpPr>
            <a:spLocks noGrp="1"/>
          </p:cNvSpPr>
          <p:nvPr>
            <p:ph idx="4294967295"/>
          </p:nvPr>
        </p:nvSpPr>
        <p:spPr>
          <a:xfrm>
            <a:off x="670560" y="995681"/>
            <a:ext cx="10708640" cy="510667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ormAutofit/>
          </a:bodyPr>
          <a:lstStyle/>
          <a:p>
            <a:pPr marL="0" indent="0" algn="ctr">
              <a:buNone/>
            </a:pPr>
            <a:endParaRPr lang="en-US" sz="2000" dirty="0">
              <a:solidFill>
                <a:schemeClr val="tx1"/>
              </a:solidFill>
            </a:endParaRPr>
          </a:p>
          <a:p>
            <a:pPr marL="0" indent="0" algn="ctr">
              <a:buNone/>
            </a:pPr>
            <a:endParaRPr lang="en-US" sz="2000" dirty="0">
              <a:solidFill>
                <a:schemeClr val="tx1"/>
              </a:solidFill>
            </a:endParaRPr>
          </a:p>
          <a:p>
            <a:pPr marL="0" indent="0" algn="ctr">
              <a:buNone/>
            </a:pPr>
            <a:endParaRPr lang="en-US" sz="2000" dirty="0">
              <a:solidFill>
                <a:schemeClr val="tx1"/>
              </a:solidFill>
            </a:endParaRPr>
          </a:p>
          <a:p>
            <a:pPr marL="0" indent="0" algn="ctr">
              <a:buNone/>
            </a:pPr>
            <a:endParaRPr lang="en-US" sz="2000" dirty="0">
              <a:solidFill>
                <a:schemeClr val="tx1"/>
              </a:solidFill>
              <a:highlight>
                <a:srgbClr val="FFFF00"/>
              </a:highlight>
            </a:endParaRPr>
          </a:p>
          <a:p>
            <a:pPr marL="0" indent="0" algn="ctr">
              <a:buNone/>
            </a:pPr>
            <a:r>
              <a:rPr lang="en-US" sz="8000" dirty="0">
                <a:solidFill>
                  <a:schemeClr val="tx1"/>
                </a:solidFill>
              </a:rPr>
              <a:t>THANK YOU</a:t>
            </a:r>
            <a:endParaRPr lang="en-US" sz="8000" b="1" dirty="0">
              <a:solidFill>
                <a:schemeClr val="tx1"/>
              </a:solidFill>
            </a:endParaRPr>
          </a:p>
          <a:p>
            <a:pPr marL="0" indent="0">
              <a:buNone/>
            </a:pPr>
            <a:endParaRPr lang="en-US" sz="2000" dirty="0">
              <a:solidFill>
                <a:schemeClr val="tx1"/>
              </a:solidFill>
            </a:endParaRPr>
          </a:p>
          <a:p>
            <a:endParaRPr lang="en-US" sz="2000" dirty="0">
              <a:solidFill>
                <a:schemeClr val="tx1"/>
              </a:solidFill>
            </a:endParaRPr>
          </a:p>
        </p:txBody>
      </p:sp>
      <p:pic>
        <p:nvPicPr>
          <p:cNvPr id="3" name="Picture 2">
            <a:extLst>
              <a:ext uri="{FF2B5EF4-FFF2-40B4-BE49-F238E27FC236}">
                <a16:creationId xmlns:a16="http://schemas.microsoft.com/office/drawing/2014/main" id="{FB1CD03D-A828-D475-3BE0-87C569C9C925}"/>
              </a:ext>
            </a:extLst>
          </p:cNvPr>
          <p:cNvPicPr>
            <a:picLocks noChangeAspect="1"/>
          </p:cNvPicPr>
          <p:nvPr/>
        </p:nvPicPr>
        <p:blipFill>
          <a:blip r:embed="rId3">
            <a:extLst>
              <a:ext uri="{BEBA8EAE-BF5A-486C-A8C5-ECC9F3942E4B}">
                <a14:imgProps xmlns:a14="http://schemas.microsoft.com/office/drawing/2010/main">
                  <a14:imgLayer r:embed="rId4">
                    <a14:imgEffect>
                      <a14:saturation sat="400000"/>
                    </a14:imgEffect>
                  </a14:imgLayer>
                </a14:imgProps>
              </a:ext>
            </a:extLst>
          </a:blip>
          <a:stretch>
            <a:fillRect/>
          </a:stretch>
        </p:blipFill>
        <p:spPr>
          <a:xfrm>
            <a:off x="0" y="6316900"/>
            <a:ext cx="12192001" cy="531091"/>
          </a:xfrm>
          <a:prstGeom prst="rect">
            <a:avLst/>
          </a:prstGeom>
          <a:ln>
            <a:solidFill>
              <a:schemeClr val="accent1">
                <a:lumMod val="75000"/>
              </a:schemeClr>
            </a:solidFill>
          </a:ln>
        </p:spPr>
      </p:pic>
    </p:spTree>
    <p:extLst>
      <p:ext uri="{BB962C8B-B14F-4D97-AF65-F5344CB8AC3E}">
        <p14:creationId xmlns:p14="http://schemas.microsoft.com/office/powerpoint/2010/main" val="176342452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1008</TotalTime>
  <Words>772</Words>
  <Application>Microsoft Office PowerPoint</Application>
  <PresentationFormat>Widescreen</PresentationFormat>
  <Paragraphs>291</Paragraphs>
  <Slides>20</Slides>
  <Notes>2</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20</vt:i4>
      </vt:variant>
    </vt:vector>
  </HeadingPairs>
  <TitlesOfParts>
    <vt:vector size="32" baseType="lpstr">
      <vt:lpstr>Arial</vt:lpstr>
      <vt:lpstr>Berlin Sans FB Demi</vt:lpstr>
      <vt:lpstr>Calibri</vt:lpstr>
      <vt:lpstr>Calibri Light</vt:lpstr>
      <vt:lpstr>Gill Sans MT</vt:lpstr>
      <vt:lpstr>Marlett</vt:lpstr>
      <vt:lpstr>Times New Roman</vt:lpstr>
      <vt:lpstr>Wingdings</vt:lpstr>
      <vt:lpstr>Wingdings 2</vt:lpstr>
      <vt:lpstr>Office Theme</vt:lpstr>
      <vt:lpstr>Equation</vt:lpstr>
      <vt:lpstr>Worksheet</vt:lpstr>
      <vt:lpstr>PowerPoint Presentation</vt:lpstr>
      <vt:lpstr>PowerPoint Presentation</vt:lpstr>
      <vt:lpstr>PowerPoint Presentation</vt:lpstr>
      <vt:lpstr>PowerPoint Presentation</vt:lpstr>
      <vt:lpstr>PowerPoint Presentation</vt:lpstr>
      <vt:lpstr>PowerPoint Presentation</vt:lpstr>
      <vt:lpstr>Attribute Selection: Information Gain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 Manika Prasuna</dc:creator>
  <cp:lastModifiedBy>P Manika Prasuna</cp:lastModifiedBy>
  <cp:revision>207</cp:revision>
  <dcterms:created xsi:type="dcterms:W3CDTF">2025-05-12T05:57:37Z</dcterms:created>
  <dcterms:modified xsi:type="dcterms:W3CDTF">2025-08-28T06:53:33Z</dcterms:modified>
</cp:coreProperties>
</file>