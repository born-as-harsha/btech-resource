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Default Extension="svg" ContentType="image/svg+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2"/>
  </p:notesMasterIdLst>
  <p:handoutMasterIdLst>
    <p:handoutMasterId r:id="rId43"/>
  </p:handoutMasterIdLst>
  <p:sldIdLst>
    <p:sldId id="256" r:id="rId2"/>
    <p:sldId id="272" r:id="rId3"/>
    <p:sldId id="280" r:id="rId4"/>
    <p:sldId id="324" r:id="rId5"/>
    <p:sldId id="387" r:id="rId6"/>
    <p:sldId id="332" r:id="rId7"/>
    <p:sldId id="342" r:id="rId8"/>
    <p:sldId id="344" r:id="rId9"/>
    <p:sldId id="345" r:id="rId10"/>
    <p:sldId id="346" r:id="rId11"/>
    <p:sldId id="364" r:id="rId12"/>
    <p:sldId id="365" r:id="rId13"/>
    <p:sldId id="366" r:id="rId14"/>
    <p:sldId id="367" r:id="rId15"/>
    <p:sldId id="368" r:id="rId16"/>
    <p:sldId id="369" r:id="rId17"/>
    <p:sldId id="352" r:id="rId18"/>
    <p:sldId id="370" r:id="rId19"/>
    <p:sldId id="354" r:id="rId20"/>
    <p:sldId id="388" r:id="rId21"/>
    <p:sldId id="389" r:id="rId22"/>
    <p:sldId id="390" r:id="rId23"/>
    <p:sldId id="391" r:id="rId24"/>
    <p:sldId id="392" r:id="rId25"/>
    <p:sldId id="393" r:id="rId26"/>
    <p:sldId id="394" r:id="rId27"/>
    <p:sldId id="395" r:id="rId28"/>
    <p:sldId id="396" r:id="rId29"/>
    <p:sldId id="397" r:id="rId30"/>
    <p:sldId id="398" r:id="rId31"/>
    <p:sldId id="399" r:id="rId32"/>
    <p:sldId id="400" r:id="rId33"/>
    <p:sldId id="401" r:id="rId34"/>
    <p:sldId id="402" r:id="rId35"/>
    <p:sldId id="403" r:id="rId36"/>
    <p:sldId id="404" r:id="rId37"/>
    <p:sldId id="300" r:id="rId38"/>
    <p:sldId id="284" r:id="rId39"/>
    <p:sldId id="323" r:id="rId40"/>
    <p:sldId id="286"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inimized">
    <p:restoredLeft sz="0" autoAdjust="0"/>
    <p:restoredTop sz="94773" autoAdjust="0"/>
  </p:normalViewPr>
  <p:slideViewPr>
    <p:cSldViewPr snapToGrid="0">
      <p:cViewPr varScale="1">
        <p:scale>
          <a:sx n="69" d="100"/>
          <a:sy n="69" d="100"/>
        </p:scale>
        <p:origin x="-1194" y="-102"/>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75D750-AD1D-4C03-A026-1768137CC901}" type="datetimeFigureOut">
              <a:rPr lang="en-IN" smtClean="0"/>
              <a:pPr/>
              <a:t>05-10-2025</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44566E6-FD90-4AE7-9488-620D46A968BE}" type="slidenum">
              <a:rPr lang="en-IN" smtClean="0"/>
              <a:pPr/>
              <a:t>‹#›</a:t>
            </a:fld>
            <a:endParaRPr lang="en-IN"/>
          </a:p>
        </p:txBody>
      </p:sp>
    </p:spTree>
    <p:extLst>
      <p:ext uri="{BB962C8B-B14F-4D97-AF65-F5344CB8AC3E}">
        <p14:creationId xmlns="" xmlns:p14="http://schemas.microsoft.com/office/powerpoint/2010/main" val="1"/>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26BB4A-8EA9-40D4-95BF-21E04B247614}" type="datetimeFigureOut">
              <a:rPr lang="en-IN" smtClean="0"/>
              <a:pPr/>
              <a:t>05-10-2025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3BDDA1-7BB7-447A-97DE-AE5425C8F2AD}" type="slidenum">
              <a:rPr lang="en-IN" smtClean="0"/>
              <a:pPr/>
              <a:t>‹#›</a:t>
            </a:fld>
            <a:endParaRPr lang="en-IN"/>
          </a:p>
        </p:txBody>
      </p:sp>
    </p:spTree>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p:nvPr>
        </p:nvSpPr>
        <p:spPr/>
        <p:txBody>
          <a:bodyPr/>
          <a:lstStyle/>
          <a:p>
            <a:r>
              <a:rPr lang="en-IN"/>
              <a:t>Course Title, Topic Name</a:t>
            </a:r>
          </a:p>
        </p:txBody>
      </p:sp>
      <p:sp>
        <p:nvSpPr>
          <p:cNvPr id="5" name="Footer Placeholder 4"/>
          <p:cNvSpPr>
            <a:spLocks noGrp="1"/>
          </p:cNvSpPr>
          <p:nvPr>
            <p:ph type="ftr" sz="quarter" idx="4"/>
          </p:nvPr>
        </p:nvSpPr>
        <p:spPr/>
        <p:txBody>
          <a:bodyPr/>
          <a:lstStyle/>
          <a:p>
            <a:r>
              <a:rPr lang="en-US"/>
              <a:t>College of Engineering, KONERU LAKSHMAIAH EDUCATION FOUNDATION</a:t>
            </a:r>
            <a:endParaRPr lang="en-IN"/>
          </a:p>
        </p:txBody>
      </p:sp>
      <p:sp>
        <p:nvSpPr>
          <p:cNvPr id="6" name="Slide Number Placeholder 5"/>
          <p:cNvSpPr>
            <a:spLocks noGrp="1"/>
          </p:cNvSpPr>
          <p:nvPr>
            <p:ph type="sldNum" sz="quarter" idx="5"/>
          </p:nvPr>
        </p:nvSpPr>
        <p:spPr/>
        <p:txBody>
          <a:bodyPr/>
          <a:lstStyle/>
          <a:p>
            <a:fld id="{823BDDA1-7BB7-447A-97DE-AE5425C8F2AD}" type="slidenum">
              <a:rPr lang="en-IN" smtClean="0"/>
              <a:pPr/>
              <a:t>1</a:t>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7232732-0EAA-40DA-B6D5-3FC007231A27}" type="slidenum">
              <a:rPr lang="en-IN" altLang="en-US" smtClean="0"/>
              <a:pPr/>
              <a:t>39</a:t>
            </a:fld>
            <a:endParaRPr lang="en-I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a:xfrm>
            <a:off x="1437664" y="798973"/>
            <a:ext cx="811019" cy="503578"/>
          </a:xfrm>
        </p:spPr>
        <p:txBody>
          <a:bodyPr/>
          <a:lstStyle/>
          <a:p>
            <a:fld id="{CBABCCC1-BF11-4F37-963E-1BCD5B23FD72}" type="slidenum">
              <a:rPr lang="en-IN" smtClean="0"/>
              <a:pPr/>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&lt;COURSE TITLE&gt;, &lt;TOPIC NAME&gt;</a:t>
            </a:r>
            <a:endParaRPr lang="en-IN" dirty="0"/>
          </a:p>
        </p:txBody>
      </p:sp>
      <p:sp>
        <p:nvSpPr>
          <p:cNvPr id="9" name="Slide Number Placeholder 8"/>
          <p:cNvSpPr>
            <a:spLocks noGrp="1"/>
          </p:cNvSpPr>
          <p:nvPr>
            <p:ph type="sldNum" sz="quarter" idx="12"/>
          </p:nvPr>
        </p:nvSpPr>
        <p:spPr/>
        <p:txBody>
          <a:bodyPr/>
          <a:lstStyle/>
          <a:p>
            <a:fld id="{CBABCCC1-BF11-4F37-963E-1BCD5B23FD72}" type="slidenum">
              <a:rPr lang="en-IN" smtClean="0"/>
              <a:pPr/>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&lt;COURSE TITLE&gt;, &lt;TOPIC NAME&gt;</a:t>
            </a:r>
            <a:endParaRPr lang="en-IN" dirty="0"/>
          </a:p>
        </p:txBody>
      </p:sp>
      <p:sp>
        <p:nvSpPr>
          <p:cNvPr id="5" name="Slide Number Placeholder 4"/>
          <p:cNvSpPr>
            <a:spLocks noGrp="1"/>
          </p:cNvSpPr>
          <p:nvPr>
            <p:ph type="sldNum" sz="quarter" idx="12"/>
          </p:nvPr>
        </p:nvSpPr>
        <p:spPr/>
        <p:txBody>
          <a:bodyPr/>
          <a:lstStyle/>
          <a:p>
            <a:fld id="{CBABCCC1-BF11-4F37-963E-1BCD5B23FD72}" type="slidenum">
              <a:rPr lang="en-IN" smtClean="0"/>
              <a:pPr/>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&lt;COURSE TITLE&gt;, &lt;TOPIC NAME&gt;</a:t>
            </a: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US"/>
              <a:t>&lt;COURSE TITLE&gt;, &lt;TOPIC NAME&gt;</a:t>
            </a:r>
            <a:endParaRPr lang="en-IN" dirty="0"/>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fld id="{CBABCCC1-BF11-4F37-963E-1BCD5B23FD72}" type="slidenum">
              <a:rPr lang="en-IN" smtClean="0"/>
              <a:pPr/>
              <a:t>‹#›</a:t>
            </a:fld>
            <a:endParaRPr lang="en-IN"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p:cNvPicPr>
            <a:picLocks noChangeAspect="1"/>
          </p:cNvPicPr>
          <p:nvPr userDrawn="1"/>
        </p:nvPicPr>
        <p:blipFill>
          <a:blip r:embed="rId13" cstate="print">
            <a:extLst>
              <a:ext uri="{28A0092B-C50C-407E-A947-70E740481C1C}">
                <a14:useLocalDpi xmlns="" xmlns:a14="http://schemas.microsoft.com/office/drawing/2010/main" val="0"/>
              </a:ext>
            </a:extLst>
          </a:blip>
          <a:stretch>
            <a:fillRect/>
          </a:stretch>
        </p:blipFill>
        <p:spPr>
          <a:xfrm>
            <a:off x="77444" y="32699"/>
            <a:ext cx="1218935" cy="500985"/>
          </a:xfrm>
          <a:prstGeom prst="rect">
            <a:avLst/>
          </a:prstGeom>
        </p:spPr>
      </p:pic>
      <p:pic>
        <p:nvPicPr>
          <p:cNvPr id="12" name="Picture 11"/>
          <p:cNvPicPr>
            <a:picLocks noChangeAspect="1"/>
          </p:cNvPicPr>
          <p:nvPr userDrawn="1"/>
        </p:nvPicPr>
        <p:blipFill rotWithShape="1">
          <a:blip r:embed="rId14" cstate="print">
            <a:extLst>
              <a:ext uri="{28A0092B-C50C-407E-A947-70E740481C1C}">
                <a14:useLocalDpi xmlns="" xmlns:a14="http://schemas.microsoft.com/office/drawing/2010/main" val="0"/>
              </a:ext>
            </a:extLst>
          </a:blip>
          <a:srcRect l="4360" t="18054" b="50110"/>
          <a:stretch>
            <a:fillRect/>
          </a:stretch>
        </p:blipFill>
        <p:spPr>
          <a:xfrm>
            <a:off x="1451579" y="6373097"/>
            <a:ext cx="2912198" cy="351077"/>
          </a:xfrm>
          <a:prstGeom prst="rect">
            <a:avLst/>
          </a:prstGeom>
        </p:spPr>
      </p:pic>
      <p:pic>
        <p:nvPicPr>
          <p:cNvPr id="14" name="Picture 13" descr="Text&#10;&#10;Description automatically generated with medium confidence"/>
          <p:cNvPicPr>
            <a:picLocks noChangeAspect="1"/>
          </p:cNvPicPr>
          <p:nvPr userDrawn="1"/>
        </p:nvPicPr>
        <p:blipFill rotWithShape="1">
          <a:blip r:embed="rId15" cstate="print">
            <a:extLst>
              <a:ext uri="{28A0092B-C50C-407E-A947-70E740481C1C}">
                <a14:useLocalDpi xmlns="" xmlns:a14="http://schemas.microsoft.com/office/drawing/2010/main" val="0"/>
              </a:ext>
            </a:extLst>
          </a:blip>
          <a:srcRect t="53957" r="20929" b="13232"/>
          <a:stretch>
            <a:fillRect/>
          </a:stretch>
        </p:blipFill>
        <p:spPr>
          <a:xfrm>
            <a:off x="8825503" y="6373097"/>
            <a:ext cx="2229351" cy="335027"/>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8.sv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hyperlink" Target="https://www.geeksforgeeks.org/machine-learning/unsupervised-learning/"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geeksforgeeks.org/machine-learning/ml-k-medoids-clustering-with-example/" TargetMode="External"/><Relationship Id="rId2" Type="http://schemas.openxmlformats.org/officeDocument/2006/relationships/hyperlink" Target="https://www.geeksforgeeks.org/machine-learning/k-means-clustering-introduction/"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geeksforgeeks.org/machine-learning/ml-optics-clustering-explanation/" TargetMode="External"/><Relationship Id="rId2" Type="http://schemas.openxmlformats.org/officeDocument/2006/relationships/hyperlink" Target="https://www.geeksforgeeks.org/machine-learning/dbscan-clustering-in-ml-density-based-clustering/"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geeksforgeeks.org/artificial-intelligence/divisive-clustering/" TargetMode="External"/><Relationship Id="rId2" Type="http://schemas.openxmlformats.org/officeDocument/2006/relationships/hyperlink" Target="https://www.geeksforgeeks.org/machine-learning/agglomerative-methods-in-machine-learning/" TargetMode="External"/><Relationship Id="rId1" Type="http://schemas.openxmlformats.org/officeDocument/2006/relationships/slideLayout" Target="../slideLayouts/slideLayout2.xml"/><Relationship Id="rId4" Type="http://schemas.openxmlformats.org/officeDocument/2006/relationships/hyperlink" Target="https://www.geeksforgeeks.org/machine-learning/gaussian-mixture-model/" TargetMode="External"/></Relationships>
</file>

<file path=ppt/slides/_rels/slide11.xml.rels><?xml version="1.0" encoding="UTF-8" standalone="yes"?>
<Relationships xmlns="http://schemas.openxmlformats.org/package/2006/relationships"><Relationship Id="rId2" Type="http://schemas.openxmlformats.org/officeDocument/2006/relationships/hyperlink" Target="https://www.geeksforgeeks.org/machine-learning/ml-fuzzy-clustering/"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www.geeksforgeeks.org/maths/euclidean-distance/"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hyperlink" Target="https://scikit-learn.org/stable/modules/clustering.html" TargetMode="External"/><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hyperlink" Target="https://towardsdatascience.com/"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Google Shape;464;p16"/>
          <p:cNvPicPr preferRelativeResize="0"/>
          <p:nvPr/>
        </p:nvPicPr>
        <p:blipFill>
          <a:blip r:embed="rId3" cstate="print">
            <a:extLst>
              <a:ext uri="{28A0092B-C50C-407E-A947-70E740481C1C}">
                <a14:useLocalDpi xmlns="" xmlns:a14="http://schemas.microsoft.com/office/drawing/2010/main" val="0"/>
              </a:ext>
            </a:extLst>
          </a:blip>
          <a:stretch>
            <a:fillRect/>
          </a:stretch>
        </p:blipFill>
        <p:spPr>
          <a:xfrm>
            <a:off x="23449" y="234462"/>
            <a:ext cx="4829908" cy="5838093"/>
          </a:xfrm>
          <a:prstGeom prst="rect">
            <a:avLst/>
          </a:prstGeom>
          <a:noFill/>
          <a:ln>
            <a:noFill/>
          </a:ln>
        </p:spPr>
      </p:pic>
      <p:sp>
        <p:nvSpPr>
          <p:cNvPr id="15" name="Google Shape;476;p16"/>
          <p:cNvSpPr txBox="1"/>
          <p:nvPr/>
        </p:nvSpPr>
        <p:spPr>
          <a:xfrm>
            <a:off x="5249334" y="1323812"/>
            <a:ext cx="6791558" cy="1815841"/>
          </a:xfrm>
          <a:prstGeom prst="rect">
            <a:avLst/>
          </a:prstGeom>
          <a:noFill/>
          <a:ln>
            <a:noFill/>
          </a:ln>
        </p:spPr>
        <p:txBody>
          <a:bodyPr spcFirstLastPara="1" wrap="square" lIns="91425" tIns="45700" rIns="91425" bIns="45700" anchor="t" anchorCtr="0">
            <a:spAutoFit/>
          </a:bodyPr>
          <a:lstStyle/>
          <a:p>
            <a:pPr algn="ctr"/>
            <a:r>
              <a:rPr lang="en-US" sz="2400" b="1" cap="all" dirty="0" smtClean="0">
                <a:solidFill>
                  <a:srgbClr val="C00000"/>
                </a:solidFill>
                <a:cs typeface="Poppins" panose="00000500000000000000" pitchFamily="2" charset="0"/>
                <a:sym typeface="BioRhyme ExtraBold"/>
              </a:rPr>
              <a:t>Course:  AI &amp; ML</a:t>
            </a:r>
            <a:endParaRPr lang="en-US" sz="2400" b="1" cap="all" dirty="0">
              <a:solidFill>
                <a:srgbClr val="C00000"/>
              </a:solidFill>
              <a:cs typeface="Poppins" panose="00000500000000000000" pitchFamily="2" charset="0"/>
              <a:sym typeface="BioRhyme ExtraBold"/>
            </a:endParaRPr>
          </a:p>
          <a:p>
            <a:pPr marR="0" lvl="0" indent="0" algn="ctr">
              <a:spcBef>
                <a:spcPts val="0"/>
              </a:spcBef>
              <a:spcAft>
                <a:spcPts val="0"/>
              </a:spcAft>
              <a:buNone/>
            </a:pPr>
            <a:r>
              <a:rPr lang="en-US" sz="2400" b="1" cap="all" dirty="0" smtClean="0">
                <a:solidFill>
                  <a:srgbClr val="C00000"/>
                </a:solidFill>
                <a:cs typeface="Poppins"/>
                <a:sym typeface="BioRhyme ExtraBold"/>
              </a:rPr>
              <a:t>Course code: 24AD2001A</a:t>
            </a:r>
            <a:endParaRPr lang="en-US" sz="2400" b="1" cap="all" dirty="0">
              <a:solidFill>
                <a:srgbClr val="C00000"/>
              </a:solidFill>
              <a:cs typeface="Poppins"/>
              <a:sym typeface="BioRhyme ExtraBold"/>
            </a:endParaRPr>
          </a:p>
          <a:p>
            <a:pPr marR="0" lvl="0" indent="0" algn="ctr">
              <a:spcBef>
                <a:spcPts val="0"/>
              </a:spcBef>
              <a:spcAft>
                <a:spcPts val="0"/>
              </a:spcAft>
              <a:buNone/>
            </a:pPr>
            <a:endParaRPr lang="en-US" sz="2000" b="1" dirty="0">
              <a:solidFill>
                <a:srgbClr val="C00000"/>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rgbClr val="C00000"/>
                </a:solidFill>
                <a:ea typeface="BioRhyme ExtraBold"/>
                <a:cs typeface="Poppins" panose="00000500000000000000" pitchFamily="2" charset="0"/>
                <a:sym typeface="BioRhyme ExtraBold"/>
              </a:rPr>
              <a:t>Topic: </a:t>
            </a:r>
          </a:p>
          <a:p>
            <a:pPr fontAlgn="base"/>
            <a:r>
              <a:rPr lang="en-IN" sz="2400" b="1" dirty="0" smtClean="0"/>
              <a:t>Clustering:</a:t>
            </a:r>
            <a:r>
              <a:rPr lang="en-IN" sz="2400" dirty="0" smtClean="0"/>
              <a:t> K-means, C-means.</a:t>
            </a:r>
            <a:endParaRPr lang="en-US" sz="2400" dirty="0"/>
          </a:p>
        </p:txBody>
      </p:sp>
      <p:sp>
        <p:nvSpPr>
          <p:cNvPr id="16" name="Google Shape;475;p16"/>
          <p:cNvSpPr txBox="1"/>
          <p:nvPr/>
        </p:nvSpPr>
        <p:spPr>
          <a:xfrm>
            <a:off x="6468032" y="221119"/>
            <a:ext cx="4595447" cy="707846"/>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C00000"/>
                </a:solidFill>
                <a:cs typeface="Poppins"/>
              </a:rPr>
              <a:t>Department </a:t>
            </a:r>
            <a:r>
              <a:rPr lang="en-US" sz="4000" dirty="0" smtClean="0">
                <a:solidFill>
                  <a:srgbClr val="C00000"/>
                </a:solidFill>
                <a:cs typeface="Poppins"/>
              </a:rPr>
              <a:t>of CSE</a:t>
            </a:r>
            <a:endParaRPr lang="en-US" sz="4000" dirty="0">
              <a:solidFill>
                <a:srgbClr val="C00000"/>
              </a:solidFill>
              <a:cs typeface="Poppins"/>
            </a:endParaRPr>
          </a:p>
        </p:txBody>
      </p:sp>
      <p:sp>
        <p:nvSpPr>
          <p:cNvPr id="17" name="Google Shape;502;p17"/>
          <p:cNvSpPr/>
          <p:nvPr/>
        </p:nvSpPr>
        <p:spPr>
          <a:xfrm>
            <a:off x="7892797" y="4137052"/>
            <a:ext cx="232972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panose="020F0502020204030204"/>
                <a:cs typeface="Poppins" panose="00000500000000000000" pitchFamily="2" charset="0"/>
                <a:sym typeface="Calibri" panose="020F0502020204030204"/>
              </a:rPr>
              <a:t>Session </a:t>
            </a:r>
            <a:r>
              <a:rPr lang="en-US" sz="2400" dirty="0" smtClean="0">
                <a:solidFill>
                  <a:schemeClr val="lt1"/>
                </a:solidFill>
                <a:ea typeface="Calibri" panose="020F0502020204030204"/>
                <a:cs typeface="Poppins" panose="00000500000000000000" pitchFamily="2" charset="0"/>
                <a:sym typeface="Calibri" panose="020F0502020204030204"/>
              </a:rPr>
              <a:t>– 30</a:t>
            </a:r>
            <a:endParaRPr sz="2400" dirty="0">
              <a:solidFill>
                <a:schemeClr val="lt1"/>
              </a:solidFill>
              <a:ea typeface="Calibri" panose="020F0502020204030204"/>
              <a:cs typeface="Poppins" panose="00000500000000000000" pitchFamily="2" charset="0"/>
              <a:sym typeface="Calibri" panose="020F05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pPr/>
              <a:t>2</a:t>
            </a:fld>
            <a:endParaRPr lang="en-IN"/>
          </a:p>
        </p:txBody>
      </p:sp>
      <p:sp>
        <p:nvSpPr>
          <p:cNvPr id="5" name="Rounded Rectangle 17"/>
          <p:cNvSpPr/>
          <p:nvPr/>
        </p:nvSpPr>
        <p:spPr>
          <a:xfrm>
            <a:off x="4521685" y="262546"/>
            <a:ext cx="3148630" cy="359216"/>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6" name="TextBox 5"/>
          <p:cNvSpPr txBox="1"/>
          <p:nvPr/>
        </p:nvSpPr>
        <p:spPr>
          <a:xfrm>
            <a:off x="1172306" y="766185"/>
            <a:ext cx="10731286" cy="1156535"/>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dirty="0" smtClean="0"/>
              <a:t>The aim of this session is to introduce the concepts, algorithms, and applications of clustering, with a focus on K-means (hard clustering) and Fuzzy C-means (soft clustering), enabling learners to understand the working principles, mathematical formulations, implementation, and evaluation of these methods for real-world data analysis and pattern discovery.</a:t>
            </a:r>
            <a:endParaRPr lang="en-US" sz="1600" dirty="0">
              <a:latin typeface="Poppins"/>
              <a:cs typeface="Poppins"/>
            </a:endParaRPr>
          </a:p>
        </p:txBody>
      </p:sp>
      <p:pic>
        <p:nvPicPr>
          <p:cNvPr id="7" name="Graphic 6" descr="Bullseye outline"/>
          <p:cNvPicPr>
            <a:picLocks noChangeAspect="1"/>
          </p:cNvPicPr>
          <p:nvPr/>
        </p:nvPicPr>
        <p:blipFill>
          <a:blip r:embed="rId2" cstate="print">
            <a:extLst>
              <a:ext uri="{28A0092B-C50C-407E-A947-70E740481C1C}">
                <a14:useLocalDpi xmlns="" xmlns:a14="http://schemas.microsoft.com/office/drawing/2010/main" val="0"/>
              </a:ext>
              <a:ext uri="{96DAC541-7B7A-43D3-8B79-37D633B846F1}">
                <asvg:svgBlip xmlns="" xmlns:asvg="http://schemas.microsoft.com/office/drawing/2016/SVG/main" r:embed="rId3"/>
              </a:ext>
            </a:extLst>
          </a:blip>
          <a:stretch>
            <a:fillRect/>
          </a:stretch>
        </p:blipFill>
        <p:spPr>
          <a:xfrm>
            <a:off x="211014" y="519474"/>
            <a:ext cx="914400" cy="914400"/>
          </a:xfrm>
          <a:prstGeom prst="rect">
            <a:avLst/>
          </a:prstGeom>
        </p:spPr>
      </p:pic>
      <p:sp>
        <p:nvSpPr>
          <p:cNvPr id="8" name="Rounded Rectangle 17"/>
          <p:cNvSpPr/>
          <p:nvPr/>
        </p:nvSpPr>
        <p:spPr>
          <a:xfrm>
            <a:off x="4386208" y="2030999"/>
            <a:ext cx="4303481" cy="426784"/>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p:cNvSpPr txBox="1"/>
          <p:nvPr/>
        </p:nvSpPr>
        <p:spPr>
          <a:xfrm>
            <a:off x="1172306" y="2708776"/>
            <a:ext cx="10731286" cy="1077218"/>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a:t>
            </a:r>
          </a:p>
          <a:p>
            <a:r>
              <a:rPr lang="en-US" sz="1600" dirty="0" smtClean="0"/>
              <a:t>1. Define clustering and differentiate it from supervised learning methods.</a:t>
            </a:r>
          </a:p>
          <a:p>
            <a:r>
              <a:rPr lang="en-US" sz="1600" dirty="0" smtClean="0"/>
              <a:t>2.Explain the working principles and steps of the K-means algorithm.</a:t>
            </a:r>
            <a:endParaRPr lang="en-US" sz="1600" dirty="0"/>
          </a:p>
        </p:txBody>
      </p:sp>
      <p:pic>
        <p:nvPicPr>
          <p:cNvPr id="10" name="Graphic 9" descr="Presentation with checklist outline"/>
          <p:cNvPicPr>
            <a:picLocks noChangeAspect="1"/>
          </p:cNvPicPr>
          <p:nvPr/>
        </p:nvPicPr>
        <p:blipFill>
          <a:blip r:embed="rId4" cstate="print">
            <a:extLst>
              <a:ext uri="{28A0092B-C50C-407E-A947-70E740481C1C}">
                <a14:useLocalDpi xmlns="" xmlns:a14="http://schemas.microsoft.com/office/drawing/2010/main" val="0"/>
              </a:ext>
              <a:ext uri="{96DAC541-7B7A-43D3-8B79-37D633B846F1}">
                <asvg:svgBlip xmlns="" xmlns:asvg="http://schemas.microsoft.com/office/drawing/2016/SVG/main" r:embed="rId5"/>
              </a:ext>
            </a:extLst>
          </a:blip>
          <a:stretch>
            <a:fillRect/>
          </a:stretch>
        </p:blipFill>
        <p:spPr>
          <a:xfrm>
            <a:off x="211014" y="3068004"/>
            <a:ext cx="914400" cy="914400"/>
          </a:xfrm>
          <a:prstGeom prst="rect">
            <a:avLst/>
          </a:prstGeom>
        </p:spPr>
      </p:pic>
      <p:sp>
        <p:nvSpPr>
          <p:cNvPr id="11" name="Rounded Rectangle 17"/>
          <p:cNvSpPr/>
          <p:nvPr/>
        </p:nvSpPr>
        <p:spPr>
          <a:xfrm>
            <a:off x="4470877" y="4595445"/>
            <a:ext cx="3870831" cy="269631"/>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12" name="Graphic 11" descr="Idea outline"/>
          <p:cNvPicPr>
            <a:picLocks noChangeAspect="1"/>
          </p:cNvPicPr>
          <p:nvPr/>
        </p:nvPicPr>
        <p:blipFill>
          <a:blip r:embed="rId6" cstate="print">
            <a:extLst>
              <a:ext uri="{28A0092B-C50C-407E-A947-70E740481C1C}">
                <a14:useLocalDpi xmlns="" xmlns:a14="http://schemas.microsoft.com/office/drawing/2010/main" val="0"/>
              </a:ext>
              <a:ext uri="{96DAC541-7B7A-43D3-8B79-37D633B846F1}">
                <asvg:svgBlip xmlns="" xmlns:asvg="http://schemas.microsoft.com/office/drawing/2016/SVG/main" r:embed="rId7"/>
              </a:ext>
            </a:extLst>
          </a:blip>
          <a:stretch>
            <a:fillRect/>
          </a:stretch>
        </p:blipFill>
        <p:spPr>
          <a:xfrm>
            <a:off x="211014" y="5009147"/>
            <a:ext cx="914400" cy="914400"/>
          </a:xfrm>
          <a:prstGeom prst="rect">
            <a:avLst/>
          </a:prstGeom>
        </p:spPr>
      </p:pic>
      <p:sp>
        <p:nvSpPr>
          <p:cNvPr id="13" name="TextBox 12"/>
          <p:cNvSpPr txBox="1"/>
          <p:nvPr/>
        </p:nvSpPr>
        <p:spPr>
          <a:xfrm>
            <a:off x="1172306" y="5134708"/>
            <a:ext cx="10731286" cy="1077218"/>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panose="020B0604020202020204"/>
                <a:cs typeface="Arial" panose="020B0604020202020204"/>
              </a:rPr>
              <a:t>At the end of this </a:t>
            </a:r>
            <a:r>
              <a:rPr lang="en-US" sz="1600" dirty="0">
                <a:latin typeface="Arial" panose="020B0604020202020204"/>
                <a:cs typeface="Arial" panose="020B0604020202020204"/>
              </a:rPr>
              <a:t>session</a:t>
            </a:r>
            <a:r>
              <a:rPr lang="en-US" sz="1600" b="0" i="0" dirty="0">
                <a:effectLst/>
                <a:latin typeface="Arial" panose="020B0604020202020204"/>
                <a:cs typeface="Arial" panose="020B0604020202020204"/>
              </a:rPr>
              <a:t>, you should be able to:</a:t>
            </a:r>
          </a:p>
          <a:p>
            <a:r>
              <a:rPr lang="en-US" sz="1600" dirty="0" smtClean="0"/>
              <a:t>1Define and explain the concept of clustering and distinguish between hard and soft clustering approaches.</a:t>
            </a:r>
          </a:p>
          <a:p>
            <a:r>
              <a:rPr lang="en-US" sz="1600" dirty="0" smtClean="0"/>
              <a:t>2. Illustrate the working process of the K-means algorithm with examples.</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par>
                                <p:cTn id="39" presetID="10" presetClass="entr" presetSubtype="0" fill="hold" nodeType="with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1" grpId="0" animBg="1"/>
      <p:bldP spid="1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581891" y="171886"/>
            <a:ext cx="9820638" cy="714806"/>
          </a:xfrm>
        </p:spPr>
        <p:txBody>
          <a:bodyPr/>
          <a:lstStyle/>
          <a:p>
            <a:pPr algn="ctr"/>
            <a:r>
              <a:rPr lang="en-US" sz="3600" b="1" dirty="0">
                <a:solidFill>
                  <a:srgbClr val="C00000"/>
                </a:solidFill>
              </a:rPr>
              <a:t>Objectives</a:t>
            </a:r>
            <a:endParaRPr lang="en-US" sz="3600" dirty="0">
              <a:solidFill>
                <a:srgbClr val="C00000"/>
              </a:solidFill>
            </a:endParaRPr>
          </a:p>
        </p:txBody>
      </p:sp>
      <p:sp>
        <p:nvSpPr>
          <p:cNvPr id="3" name="Date Placeholder 2"/>
          <p:cNvSpPr>
            <a:spLocks noGrp="1"/>
          </p:cNvSpPr>
          <p:nvPr>
            <p:ph type="dt" sz="half" idx="10"/>
          </p:nvPr>
        </p:nvSpPr>
        <p:spPr/>
        <p:txBody>
          <a:bodyPr/>
          <a:lstStyle/>
          <a:p>
            <a:fld id="{9FE2D161-B892-479D-A003-8FCF4A49FB71}" type="datetime1">
              <a:rPr lang="en-US" smtClean="0"/>
              <a:pPr/>
              <a:t>10/5/2025</a:t>
            </a:fld>
            <a:endParaRPr lang="en-US" dirty="0"/>
          </a:p>
        </p:txBody>
      </p:sp>
      <p:sp>
        <p:nvSpPr>
          <p:cNvPr id="4" name="Footer Placeholder 3"/>
          <p:cNvSpPr>
            <a:spLocks noGrp="1"/>
          </p:cNvSpPr>
          <p:nvPr>
            <p:ph type="ftr" sz="quarter" idx="11"/>
          </p:nvPr>
        </p:nvSpPr>
        <p:spPr>
          <a:xfrm>
            <a:off x="4038600" y="6356350"/>
            <a:ext cx="4114800" cy="365125"/>
          </a:xfrm>
          <a:prstGeom prst="rect">
            <a:avLst/>
          </a:prstGeom>
        </p:spPr>
        <p:txBody>
          <a:bodyPr vert="horz" lIns="91440" tIns="45720" rIns="91440" bIns="45720" rtlCol="0" anchor="ctr"/>
          <a:lstStyle>
            <a:defPPr>
              <a:defRPr lang="en-US"/>
            </a:defPPr>
            <a:lvl1pPr algn="ctr" rtl="0" eaLnBrk="1" fontAlgn="auto" hangingPunct="1">
              <a:spcBef>
                <a:spcPts val="0"/>
              </a:spcBef>
              <a:spcAft>
                <a:spcPts val="0"/>
              </a:spcAft>
              <a:defRPr sz="1200" kern="1200" smtClean="0">
                <a:solidFill>
                  <a:schemeClr val="tx1">
                    <a:tint val="75000"/>
                  </a:schemeClr>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r>
              <a:rPr lang="en-US"/>
              <a:t>Deep learning</a:t>
            </a:r>
          </a:p>
        </p:txBody>
      </p:sp>
      <p:sp>
        <p:nvSpPr>
          <p:cNvPr id="5" name="Slide Number Placeholder 4"/>
          <p:cNvSpPr>
            <a:spLocks noGrp="1"/>
          </p:cNvSpPr>
          <p:nvPr>
            <p:ph type="sldNum" sz="quarter" idx="12"/>
          </p:nvPr>
        </p:nvSpPr>
        <p:spPr/>
        <p:txBody>
          <a:bodyPr/>
          <a:lstStyle/>
          <a:p>
            <a:fld id="{943DE3D9-547B-48C8-AECD-0F5196EAB393}" type="slidenum">
              <a:rPr lang="en-US" smtClean="0"/>
              <a:pPr/>
              <a:t>3</a:t>
            </a:fld>
            <a:endParaRPr lang="en-US"/>
          </a:p>
        </p:txBody>
      </p:sp>
      <p:sp>
        <p:nvSpPr>
          <p:cNvPr id="6" name="Rectangle 5"/>
          <p:cNvSpPr/>
          <p:nvPr/>
        </p:nvSpPr>
        <p:spPr>
          <a:xfrm>
            <a:off x="1477107" y="1148863"/>
            <a:ext cx="9530861" cy="3170099"/>
          </a:xfrm>
          <a:prstGeom prst="rect">
            <a:avLst/>
          </a:prstGeom>
        </p:spPr>
        <p:txBody>
          <a:bodyPr wrap="square">
            <a:spAutoFit/>
          </a:bodyPr>
          <a:lstStyle/>
          <a:p>
            <a:r>
              <a:rPr lang="en-US" sz="2000" dirty="0" smtClean="0"/>
              <a:t>1. To introduce the concept of clustering as an unsupervised learning technique.</a:t>
            </a:r>
          </a:p>
          <a:p>
            <a:endParaRPr lang="en-US" sz="2000" dirty="0" smtClean="0"/>
          </a:p>
          <a:p>
            <a:r>
              <a:rPr lang="en-US" sz="2000" dirty="0" smtClean="0"/>
              <a:t>2. To explain the step-by-step procedure of the K-means algorithm.</a:t>
            </a:r>
          </a:p>
          <a:p>
            <a:endParaRPr lang="en-US" sz="2000" dirty="0" smtClean="0"/>
          </a:p>
          <a:p>
            <a:r>
              <a:rPr lang="en-US" sz="2000" dirty="0" smtClean="0"/>
              <a:t>3. To describe the principles and working of Fuzzy C-means clustering.</a:t>
            </a:r>
          </a:p>
          <a:p>
            <a:endParaRPr lang="en-US" sz="2000" dirty="0" smtClean="0"/>
          </a:p>
          <a:p>
            <a:r>
              <a:rPr lang="en-US" sz="2000" dirty="0" smtClean="0"/>
              <a:t>4.To highlight the differences between hard clustering (K-means) and soft clustering (Fuzzy C-means).</a:t>
            </a:r>
          </a:p>
          <a:p>
            <a:r>
              <a:rPr lang="en-US" sz="2000" dirty="0" smtClean="0"/>
              <a:t>.</a:t>
            </a:r>
          </a:p>
          <a:p>
            <a:endParaRPr lang="en-US" sz="20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fontAlgn="base"/>
            <a:r>
              <a:rPr lang="en-IN" b="1" dirty="0" smtClean="0"/>
              <a:t>Clustering</a:t>
            </a:r>
            <a:endParaRPr lang="en-US" dirty="0"/>
          </a:p>
        </p:txBody>
      </p:sp>
      <p:sp>
        <p:nvSpPr>
          <p:cNvPr id="3" name="Content Placeholder 2"/>
          <p:cNvSpPr>
            <a:spLocks noGrp="1"/>
          </p:cNvSpPr>
          <p:nvPr>
            <p:ph idx="1"/>
          </p:nvPr>
        </p:nvSpPr>
        <p:spPr>
          <a:xfrm>
            <a:off x="1451579" y="2015732"/>
            <a:ext cx="9603275" cy="4080268"/>
          </a:xfrm>
        </p:spPr>
        <p:txBody>
          <a:bodyPr>
            <a:normAutofit fontScale="92500" lnSpcReduction="20000"/>
          </a:bodyPr>
          <a:lstStyle/>
          <a:p>
            <a:pPr algn="just"/>
            <a:r>
              <a:rPr lang="en-US" dirty="0" smtClean="0"/>
              <a:t>Clustering is an</a:t>
            </a:r>
            <a:r>
              <a:rPr lang="en-US" dirty="0" smtClean="0">
                <a:hlinkClick r:id="rId2"/>
              </a:rPr>
              <a:t> unsupervised machine learning</a:t>
            </a:r>
            <a:r>
              <a:rPr lang="en-US" dirty="0" smtClean="0"/>
              <a:t> technique that groups similar data points together into clusters based on their characteristics, without using any labeled data. The objective is to ensure that data points within the same cluster are more similar to each other than to those in different clusters, enabling the discovery of natural groupings and hidden patterns in complex datasets.</a:t>
            </a:r>
          </a:p>
          <a:p>
            <a:pPr algn="just"/>
            <a:r>
              <a:rPr lang="en-US" b="1" dirty="0" smtClean="0"/>
              <a:t>Goal</a:t>
            </a:r>
            <a:r>
              <a:rPr lang="en-US" dirty="0" smtClean="0"/>
              <a:t>: Discover the natural grouping or structure in unlabeled data without predefined categories.</a:t>
            </a:r>
          </a:p>
          <a:p>
            <a:pPr algn="just"/>
            <a:r>
              <a:rPr lang="en-US" b="1" dirty="0" smtClean="0"/>
              <a:t>How</a:t>
            </a:r>
            <a:r>
              <a:rPr lang="en-US" dirty="0" smtClean="0"/>
              <a:t>: Data points are assigned to clusters based on similarity or distance measures.</a:t>
            </a:r>
          </a:p>
          <a:p>
            <a:pPr algn="just"/>
            <a:r>
              <a:rPr lang="en-US" b="1" dirty="0" smtClean="0"/>
              <a:t>Similarity Measures</a:t>
            </a:r>
            <a:r>
              <a:rPr lang="en-US" dirty="0" smtClean="0"/>
              <a:t>: Can include Euclidean distance, cosine similarity or other metrics depending on data type and clustering method.</a:t>
            </a:r>
          </a:p>
          <a:p>
            <a:pPr algn="just"/>
            <a:r>
              <a:rPr lang="en-US" b="1" dirty="0" smtClean="0"/>
              <a:t>Output</a:t>
            </a:r>
            <a:r>
              <a:rPr lang="en-US" dirty="0" smtClean="0"/>
              <a:t>: Each group is assigned a cluster ID, representing shared characteristics within the cluster.</a:t>
            </a:r>
          </a:p>
          <a:p>
            <a:pPr algn="just">
              <a:buNone/>
            </a:pPr>
            <a:endParaRPr lang="en-US" dirty="0" smtClean="0"/>
          </a:p>
        </p:txBody>
      </p:sp>
      <p:sp>
        <p:nvSpPr>
          <p:cNvPr id="4" name="Slide Number Placeholder 3"/>
          <p:cNvSpPr>
            <a:spLocks noGrp="1"/>
          </p:cNvSpPr>
          <p:nvPr>
            <p:ph type="sldNum" sz="quarter" idx="12"/>
          </p:nvPr>
        </p:nvSpPr>
        <p:spPr/>
        <p:txBody>
          <a:bodyPr/>
          <a:lstStyle/>
          <a:p>
            <a:fld id="{CBABCCC1-BF11-4F37-963E-1BCD5B23FD72}" type="slidenum">
              <a:rPr lang="en-IN" smtClean="0"/>
              <a:pPr/>
              <a:t>4</a:t>
            </a:fld>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CONTD..</a:t>
            </a:r>
            <a:endParaRPr lang="en-US" b="1"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5</a:t>
            </a:fld>
            <a:endParaRPr lang="en-IN"/>
          </a:p>
        </p:txBody>
      </p:sp>
      <p:pic>
        <p:nvPicPr>
          <p:cNvPr id="1026" name="Picture 2"/>
          <p:cNvPicPr>
            <a:picLocks noGrp="1" noChangeAspect="1" noChangeArrowheads="1"/>
          </p:cNvPicPr>
          <p:nvPr>
            <p:ph idx="1"/>
          </p:nvPr>
        </p:nvPicPr>
        <p:blipFill>
          <a:blip r:embed="rId2" cstate="print"/>
          <a:srcRect/>
          <a:stretch>
            <a:fillRect/>
          </a:stretch>
        </p:blipFill>
        <p:spPr bwMode="auto">
          <a:xfrm>
            <a:off x="1371600" y="1759527"/>
            <a:ext cx="9712037" cy="4437207"/>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CONTD..</a:t>
            </a:r>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6</a:t>
            </a:fld>
            <a:endParaRPr lang="en-IN"/>
          </a:p>
        </p:txBody>
      </p:sp>
      <p:sp>
        <p:nvSpPr>
          <p:cNvPr id="5" name="Content Placeholder 4"/>
          <p:cNvSpPr>
            <a:spLocks noGrp="1"/>
          </p:cNvSpPr>
          <p:nvPr>
            <p:ph idx="1"/>
          </p:nvPr>
        </p:nvSpPr>
        <p:spPr>
          <a:xfrm>
            <a:off x="1451579" y="1731818"/>
            <a:ext cx="9603275" cy="4461164"/>
          </a:xfrm>
        </p:spPr>
        <p:txBody>
          <a:bodyPr>
            <a:normAutofit/>
          </a:bodyPr>
          <a:lstStyle/>
          <a:p>
            <a:pPr algn="just">
              <a:buNone/>
            </a:pPr>
            <a:r>
              <a:rPr lang="en-US" dirty="0" smtClean="0"/>
              <a:t>    For example, if we have customer purchase data, clustering can group customers with similar shopping habits. These clusters can then be used for targeted marketing, personalized recommendations or customer segmentation.</a:t>
            </a:r>
          </a:p>
          <a:p>
            <a:pPr algn="just">
              <a:buNone/>
            </a:pPr>
            <a:r>
              <a:rPr lang="en-US" b="1" dirty="0" smtClean="0"/>
              <a:t>Types of Clustering</a:t>
            </a:r>
          </a:p>
          <a:p>
            <a:pPr algn="just">
              <a:buNone/>
            </a:pPr>
            <a:r>
              <a:rPr lang="en-US" b="1" dirty="0" smtClean="0"/>
              <a:t>1. Hard Clustering</a:t>
            </a:r>
            <a:r>
              <a:rPr lang="en-US" dirty="0" smtClean="0"/>
              <a:t>: In hard clustering, each data point strictly belongs to exactly one cluster, no overlap is allowed. This approach assigns a clear membership, making it easier to interpret and use for definitive segmentation tasks.</a:t>
            </a:r>
          </a:p>
          <a:p>
            <a:pPr algn="just">
              <a:buNone/>
            </a:pPr>
            <a:r>
              <a:rPr lang="en-US" b="1" dirty="0" smtClean="0"/>
              <a:t>Example</a:t>
            </a:r>
            <a:r>
              <a:rPr lang="en-US" dirty="0" smtClean="0"/>
              <a:t>: If clustering customer data into 2 segments, each customer belongs fully to either Cluster 1 or Cluster 2 without partial memberships.</a:t>
            </a:r>
          </a:p>
          <a:p>
            <a:pPr algn="just">
              <a:buNone/>
            </a:pPr>
            <a:r>
              <a:rPr lang="en-US" b="1" dirty="0" smtClean="0"/>
              <a:t>Use cases</a:t>
            </a:r>
            <a:r>
              <a:rPr lang="en-US" dirty="0" smtClean="0"/>
              <a:t>: Market segmentation, customer grouping, document clustering.</a:t>
            </a:r>
          </a:p>
          <a:p>
            <a:pPr algn="just"/>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smtClean="0"/>
              <a:t>CONTD..</a:t>
            </a:r>
            <a:br>
              <a:rPr lang="en-US" sz="2800" b="1" dirty="0" smtClean="0"/>
            </a:br>
            <a:endParaRPr lang="en-US" sz="2800" b="1" dirty="0"/>
          </a:p>
        </p:txBody>
      </p:sp>
      <p:sp>
        <p:nvSpPr>
          <p:cNvPr id="3" name="Content Placeholder 2"/>
          <p:cNvSpPr>
            <a:spLocks noGrp="1"/>
          </p:cNvSpPr>
          <p:nvPr>
            <p:ph idx="1"/>
          </p:nvPr>
        </p:nvSpPr>
        <p:spPr>
          <a:xfrm>
            <a:off x="1451579" y="2015732"/>
            <a:ext cx="9603275" cy="821253"/>
          </a:xfrm>
        </p:spPr>
        <p:txBody>
          <a:bodyPr>
            <a:normAutofit/>
          </a:bodyPr>
          <a:lstStyle/>
          <a:p>
            <a:pPr algn="just"/>
            <a:endParaRPr lang="en-US" dirty="0" smtClean="0"/>
          </a:p>
          <a:p>
            <a:pPr algn="just"/>
            <a:endParaRPr lang="en-US" dirty="0" smtClean="0"/>
          </a:p>
        </p:txBody>
      </p:sp>
      <p:sp>
        <p:nvSpPr>
          <p:cNvPr id="4" name="Slide Number Placeholder 3"/>
          <p:cNvSpPr>
            <a:spLocks noGrp="1"/>
          </p:cNvSpPr>
          <p:nvPr>
            <p:ph type="sldNum" sz="quarter" idx="12"/>
          </p:nvPr>
        </p:nvSpPr>
        <p:spPr/>
        <p:txBody>
          <a:bodyPr/>
          <a:lstStyle/>
          <a:p>
            <a:fld id="{CBABCCC1-BF11-4F37-963E-1BCD5B23FD72}" type="slidenum">
              <a:rPr lang="en-IN" smtClean="0"/>
              <a:pPr/>
              <a:t>7</a:t>
            </a:fld>
            <a:endParaRPr lang="en-IN"/>
          </a:p>
        </p:txBody>
      </p:sp>
      <p:sp>
        <p:nvSpPr>
          <p:cNvPr id="8" name="TextBox 7"/>
          <p:cNvSpPr txBox="1"/>
          <p:nvPr/>
        </p:nvSpPr>
        <p:spPr>
          <a:xfrm>
            <a:off x="1218136" y="1794699"/>
            <a:ext cx="10034952" cy="4093428"/>
          </a:xfrm>
          <a:prstGeom prst="rect">
            <a:avLst/>
          </a:prstGeom>
          <a:noFill/>
        </p:spPr>
        <p:txBody>
          <a:bodyPr wrap="square" rtlCol="0">
            <a:spAutoFit/>
          </a:bodyPr>
          <a:lstStyle/>
          <a:p>
            <a:pPr algn="just"/>
            <a:r>
              <a:rPr lang="en-US" sz="2000" b="1" dirty="0" smtClean="0"/>
              <a:t>2. Soft Clustering</a:t>
            </a:r>
            <a:r>
              <a:rPr lang="en-US" sz="2000" dirty="0" smtClean="0"/>
              <a:t>: Soft clustering assigns each data point a probability or degree of membership to multiple clusters simultaneously, allowing data points to partially belong to several groups.</a:t>
            </a:r>
          </a:p>
          <a:p>
            <a:pPr algn="just"/>
            <a:r>
              <a:rPr lang="en-US" sz="2000" b="1" dirty="0" smtClean="0"/>
              <a:t>Example</a:t>
            </a:r>
            <a:r>
              <a:rPr lang="en-US" sz="2000" dirty="0" smtClean="0"/>
              <a:t>: A data point may have a 70% membership in Cluster 1 and 30% in Cluster 2, reflecting uncertainty or overlap in group characteristics.</a:t>
            </a:r>
          </a:p>
          <a:p>
            <a:pPr algn="just"/>
            <a:r>
              <a:rPr lang="en-US" sz="2000" b="1" dirty="0" smtClean="0"/>
              <a:t>Use cases</a:t>
            </a:r>
            <a:r>
              <a:rPr lang="en-US" sz="2000" dirty="0" smtClean="0"/>
              <a:t>: Situations with overlapping class boundaries, fuzzy categories like customer personas or medical diagnosis.</a:t>
            </a:r>
          </a:p>
          <a:p>
            <a:pPr algn="just"/>
            <a:endParaRPr lang="en-US" sz="2000" b="1" dirty="0" smtClean="0"/>
          </a:p>
          <a:p>
            <a:pPr algn="just"/>
            <a:r>
              <a:rPr lang="en-US" sz="2000" b="1" dirty="0" smtClean="0">
                <a:solidFill>
                  <a:srgbClr val="FF0000"/>
                </a:solidFill>
              </a:rPr>
              <a:t>Types of Clustering Methods: </a:t>
            </a:r>
            <a:r>
              <a:rPr lang="en-US" sz="2000" dirty="0" smtClean="0"/>
              <a:t>Clustering methods can be classified on the basis of how they for clusters,</a:t>
            </a:r>
          </a:p>
          <a:p>
            <a:pPr algn="just"/>
            <a:r>
              <a:rPr lang="en-US" sz="2000" b="1" dirty="0" smtClean="0"/>
              <a:t>1. </a:t>
            </a:r>
            <a:r>
              <a:rPr lang="en-US" sz="2000" b="1" dirty="0" err="1" smtClean="0"/>
              <a:t>Centroid</a:t>
            </a:r>
            <a:r>
              <a:rPr lang="en-US" sz="2000" b="1" dirty="0" smtClean="0"/>
              <a:t>-based Clustering (Partitioning Methods)</a:t>
            </a:r>
          </a:p>
          <a:p>
            <a:pPr algn="just"/>
            <a:r>
              <a:rPr lang="en-US" sz="2000" dirty="0" err="1" smtClean="0"/>
              <a:t>Centroid</a:t>
            </a:r>
            <a:r>
              <a:rPr lang="en-US" sz="2000" dirty="0" smtClean="0"/>
              <a:t>-based clustering organizes data points around central prototypes called </a:t>
            </a:r>
            <a:r>
              <a:rPr lang="en-US" sz="2000" dirty="0" err="1" smtClean="0"/>
              <a:t>centroids</a:t>
            </a:r>
            <a:r>
              <a:rPr lang="en-US" sz="2000" dirty="0" smtClean="0"/>
              <a:t>, where each cluster is represented by the mean (or </a:t>
            </a:r>
            <a:r>
              <a:rPr lang="en-US" sz="2000" dirty="0" err="1" smtClean="0"/>
              <a:t>medoid</a:t>
            </a:r>
            <a:r>
              <a:rPr lang="en-US" sz="2000" dirty="0" smtClean="0"/>
              <a:t>) of its members. </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CONTD..</a:t>
            </a:r>
            <a:endParaRPr lang="en-US" b="1" dirty="0"/>
          </a:p>
        </p:txBody>
      </p:sp>
      <p:sp>
        <p:nvSpPr>
          <p:cNvPr id="3" name="Content Placeholder 2"/>
          <p:cNvSpPr>
            <a:spLocks noGrp="1"/>
          </p:cNvSpPr>
          <p:nvPr>
            <p:ph idx="1"/>
          </p:nvPr>
        </p:nvSpPr>
        <p:spPr>
          <a:xfrm>
            <a:off x="1451579" y="1745673"/>
            <a:ext cx="9603275" cy="4385496"/>
          </a:xfrm>
        </p:spPr>
        <p:txBody>
          <a:bodyPr>
            <a:normAutofit fontScale="85000" lnSpcReduction="10000"/>
          </a:bodyPr>
          <a:lstStyle/>
          <a:p>
            <a:pPr algn="just">
              <a:buNone/>
            </a:pPr>
            <a:r>
              <a:rPr lang="en-US" dirty="0" smtClean="0"/>
              <a:t>    </a:t>
            </a:r>
            <a:r>
              <a:rPr lang="en-US" sz="2100" dirty="0" smtClean="0"/>
              <a:t>The number of clusters is specified in advance and the algorithm allocates points to the nearest </a:t>
            </a:r>
            <a:r>
              <a:rPr lang="en-US" sz="2100" dirty="0" err="1" smtClean="0"/>
              <a:t>centroid</a:t>
            </a:r>
            <a:r>
              <a:rPr lang="en-US" sz="2100" dirty="0" smtClean="0"/>
              <a:t>, making this technique efficient for spherical and similarly sized clusters but sensitive to outliers and initialization.</a:t>
            </a:r>
          </a:p>
          <a:p>
            <a:pPr algn="just">
              <a:buNone/>
            </a:pPr>
            <a:r>
              <a:rPr lang="en-US" sz="2100" b="1" dirty="0" smtClean="0"/>
              <a:t>   Algorithms</a:t>
            </a:r>
            <a:r>
              <a:rPr lang="en-US" sz="2100" dirty="0" smtClean="0"/>
              <a:t>:</a:t>
            </a:r>
          </a:p>
          <a:p>
            <a:pPr algn="just"/>
            <a:r>
              <a:rPr lang="en-US" sz="2100" dirty="0" smtClean="0">
                <a:hlinkClick r:id="rId2"/>
              </a:rPr>
              <a:t>K-means</a:t>
            </a:r>
            <a:r>
              <a:rPr lang="en-US" sz="2100" dirty="0" smtClean="0"/>
              <a:t>: Iteratively assigns points to nearest </a:t>
            </a:r>
            <a:r>
              <a:rPr lang="en-US" sz="2100" dirty="0" err="1" smtClean="0"/>
              <a:t>centroid</a:t>
            </a:r>
            <a:r>
              <a:rPr lang="en-US" sz="2100" dirty="0" smtClean="0"/>
              <a:t> and recalculates </a:t>
            </a:r>
            <a:r>
              <a:rPr lang="en-US" sz="2100" dirty="0" err="1" smtClean="0"/>
              <a:t>centroids</a:t>
            </a:r>
            <a:r>
              <a:rPr lang="en-US" sz="2100" dirty="0" smtClean="0"/>
              <a:t> to minimize intra-cluster variance.</a:t>
            </a:r>
          </a:p>
          <a:p>
            <a:pPr algn="just"/>
            <a:r>
              <a:rPr lang="en-US" sz="2100" dirty="0" smtClean="0">
                <a:hlinkClick r:id="rId3"/>
              </a:rPr>
              <a:t>K-</a:t>
            </a:r>
            <a:r>
              <a:rPr lang="en-US" sz="2100" dirty="0" err="1" smtClean="0">
                <a:hlinkClick r:id="rId3"/>
              </a:rPr>
              <a:t>medoids</a:t>
            </a:r>
            <a:r>
              <a:rPr lang="en-US" sz="2100" dirty="0" smtClean="0"/>
              <a:t>: Similar to K-means but uses actual data points (</a:t>
            </a:r>
            <a:r>
              <a:rPr lang="en-US" sz="2100" dirty="0" err="1" smtClean="0"/>
              <a:t>medoids</a:t>
            </a:r>
            <a:r>
              <a:rPr lang="en-US" sz="2100" dirty="0" smtClean="0"/>
              <a:t>) as centers, robust to outliers.</a:t>
            </a:r>
          </a:p>
          <a:p>
            <a:pPr algn="just"/>
            <a:r>
              <a:rPr lang="en-US" sz="2100" b="1" dirty="0" smtClean="0"/>
              <a:t>2. Density-based Clustering (Model-based Methods)</a:t>
            </a:r>
          </a:p>
          <a:p>
            <a:pPr algn="just"/>
            <a:r>
              <a:rPr lang="en-US" sz="2100" dirty="0" smtClean="0"/>
              <a:t>Density-based clustering defines clusters as contiguous regions of high data density separated by areas of lower density. This approach can identify clusters of arbitrary shapes, handles noise well and does not require predefining the number of clusters, though its effectiveness depends on chosen density parameters.</a:t>
            </a:r>
          </a:p>
          <a:p>
            <a:endParaRPr lang="en-US" b="1" dirty="0">
              <a:solidFill>
                <a:srgbClr val="FF0000"/>
              </a:solidFill>
            </a:endParaRPr>
          </a:p>
        </p:txBody>
      </p:sp>
      <p:sp>
        <p:nvSpPr>
          <p:cNvPr id="4" name="Slide Number Placeholder 3"/>
          <p:cNvSpPr>
            <a:spLocks noGrp="1"/>
          </p:cNvSpPr>
          <p:nvPr>
            <p:ph type="sldNum" sz="quarter" idx="12"/>
          </p:nvPr>
        </p:nvSpPr>
        <p:spPr/>
        <p:txBody>
          <a:bodyPr/>
          <a:lstStyle/>
          <a:p>
            <a:fld id="{CBABCCC1-BF11-4F37-963E-1BCD5B23FD72}" type="slidenum">
              <a:rPr lang="en-IN" smtClean="0"/>
              <a:pPr/>
              <a:t>8</a:t>
            </a:fld>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687288"/>
            <a:ext cx="9603275" cy="1049235"/>
          </a:xfrm>
        </p:spPr>
        <p:txBody>
          <a:bodyPr/>
          <a:lstStyle/>
          <a:p>
            <a:r>
              <a:rPr lang="en-US" b="1" dirty="0" smtClean="0"/>
              <a:t>CONTD..</a:t>
            </a:r>
            <a:endParaRPr lang="en-US" b="1"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9</a:t>
            </a:fld>
            <a:endParaRPr lang="en-IN"/>
          </a:p>
        </p:txBody>
      </p:sp>
      <p:sp>
        <p:nvSpPr>
          <p:cNvPr id="7" name="Content Placeholder 6"/>
          <p:cNvSpPr>
            <a:spLocks noGrp="1"/>
          </p:cNvSpPr>
          <p:nvPr>
            <p:ph idx="1"/>
          </p:nvPr>
        </p:nvSpPr>
        <p:spPr>
          <a:xfrm>
            <a:off x="1451579" y="1793632"/>
            <a:ext cx="9603275" cy="4349260"/>
          </a:xfrm>
        </p:spPr>
        <p:txBody>
          <a:bodyPr>
            <a:normAutofit/>
          </a:bodyPr>
          <a:lstStyle/>
          <a:p>
            <a:pPr algn="just"/>
            <a:r>
              <a:rPr lang="en-US" b="1" dirty="0" smtClean="0"/>
              <a:t>2. Density-based Clustering (Model-based Methods)</a:t>
            </a:r>
          </a:p>
          <a:p>
            <a:pPr algn="just"/>
            <a:r>
              <a:rPr lang="en-US" dirty="0" smtClean="0"/>
              <a:t>Density-based clustering defines clusters as contiguous regions of high data density separated by areas of lower density. This approach can identify clusters of arbitrary shapes, handles noise well and does not require predefining the number of clusters, though its effectiveness depends on chosen density parameters.</a:t>
            </a:r>
          </a:p>
          <a:p>
            <a:pPr algn="just"/>
            <a:r>
              <a:rPr lang="en-US" b="1" dirty="0" smtClean="0"/>
              <a:t>Algorithms</a:t>
            </a:r>
            <a:r>
              <a:rPr lang="en-US" dirty="0" smtClean="0"/>
              <a:t>:</a:t>
            </a:r>
          </a:p>
          <a:p>
            <a:pPr algn="just"/>
            <a:r>
              <a:rPr lang="en-US" dirty="0" smtClean="0">
                <a:hlinkClick r:id="rId2"/>
              </a:rPr>
              <a:t>DBSCAN</a:t>
            </a:r>
            <a:r>
              <a:rPr lang="en-US" dirty="0" smtClean="0"/>
              <a:t> (Density-Based Spatial Clustering of Applications with Noise): Groups points with sufficient neighbors; labels sparse points as noise.</a:t>
            </a:r>
          </a:p>
          <a:p>
            <a:pPr algn="just"/>
            <a:r>
              <a:rPr lang="en-US" dirty="0" smtClean="0">
                <a:hlinkClick r:id="rId3"/>
              </a:rPr>
              <a:t>OPTICS </a:t>
            </a:r>
            <a:r>
              <a:rPr lang="en-US" dirty="0" smtClean="0"/>
              <a:t>(Ordering Points To Identify Clustering Structure): Extends DBSCAN to handle varying densities.</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CONTD..</a:t>
            </a:r>
            <a:endParaRPr lang="en-US" b="1"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10</a:t>
            </a:fld>
            <a:endParaRPr lang="en-IN"/>
          </a:p>
        </p:txBody>
      </p:sp>
      <p:sp>
        <p:nvSpPr>
          <p:cNvPr id="6" name="TextBox 5"/>
          <p:cNvSpPr txBox="1"/>
          <p:nvPr/>
        </p:nvSpPr>
        <p:spPr>
          <a:xfrm>
            <a:off x="1335505" y="1817078"/>
            <a:ext cx="9757611" cy="6740307"/>
          </a:xfrm>
          <a:prstGeom prst="rect">
            <a:avLst/>
          </a:prstGeom>
          <a:noFill/>
        </p:spPr>
        <p:txBody>
          <a:bodyPr wrap="square" rtlCol="0">
            <a:spAutoFit/>
          </a:bodyPr>
          <a:lstStyle/>
          <a:p>
            <a:pPr algn="just"/>
            <a:r>
              <a:rPr lang="en-US" b="1" dirty="0" smtClean="0"/>
              <a:t>3. Connectivity-based Clustering (Hierarchical Clustering)</a:t>
            </a:r>
          </a:p>
          <a:p>
            <a:pPr algn="just"/>
            <a:r>
              <a:rPr lang="en-US" dirty="0" smtClean="0"/>
              <a:t>Connectivity-based (or hierarchical) clustering builds nested groupings of data by evaluating how data points are connected to their neighbors. It creates a </a:t>
            </a:r>
            <a:r>
              <a:rPr lang="en-US" dirty="0" err="1" smtClean="0"/>
              <a:t>dendrogram</a:t>
            </a:r>
            <a:r>
              <a:rPr lang="en-US" dirty="0" smtClean="0"/>
              <a:t>—a tree-like structure—that reflects relationships at various granularity levels and does not require specifying cluster numbers in advance, but can be computationally intensive.</a:t>
            </a:r>
          </a:p>
          <a:p>
            <a:pPr algn="just"/>
            <a:r>
              <a:rPr lang="en-US" b="1" dirty="0" smtClean="0"/>
              <a:t>Approaches</a:t>
            </a:r>
            <a:r>
              <a:rPr lang="en-US" dirty="0" smtClean="0"/>
              <a:t>:</a:t>
            </a:r>
          </a:p>
          <a:p>
            <a:pPr algn="just"/>
            <a:r>
              <a:rPr lang="en-US" dirty="0" smtClean="0">
                <a:hlinkClick r:id="rId2"/>
              </a:rPr>
              <a:t>Agglomerative </a:t>
            </a:r>
            <a:r>
              <a:rPr lang="en-US" dirty="0" smtClean="0"/>
              <a:t>(Bottom-up): Start with each point as a cluster; iteratively merge closest clusters.</a:t>
            </a:r>
          </a:p>
          <a:p>
            <a:pPr algn="just"/>
            <a:r>
              <a:rPr lang="en-US" dirty="0" smtClean="0">
                <a:hlinkClick r:id="rId3"/>
              </a:rPr>
              <a:t>Divisive </a:t>
            </a:r>
            <a:r>
              <a:rPr lang="en-US" dirty="0" smtClean="0"/>
              <a:t>(Top-down): Start with one cluster; iteratively split into smaller clusters.</a:t>
            </a:r>
          </a:p>
          <a:p>
            <a:pPr algn="just"/>
            <a:r>
              <a:rPr lang="en-US" b="1" dirty="0" smtClean="0"/>
              <a:t>4. Distribution-based Clustering</a:t>
            </a:r>
          </a:p>
          <a:p>
            <a:pPr algn="just"/>
            <a:r>
              <a:rPr lang="en-US" dirty="0" smtClean="0"/>
              <a:t>Distribution-based clustering assumes data is generated from a mixture of probability distributions, such as Gaussian distributions and assigns points to clusters based on statistical likelihood. This method supports clusters with flexible shapes and overlaps, but usually requires specifying the number of distributions.</a:t>
            </a:r>
          </a:p>
          <a:p>
            <a:pPr algn="just"/>
            <a:r>
              <a:rPr lang="en-US" b="1" dirty="0" smtClean="0"/>
              <a:t>Algorithm</a:t>
            </a:r>
            <a:r>
              <a:rPr lang="en-US" dirty="0" smtClean="0"/>
              <a:t>:</a:t>
            </a:r>
          </a:p>
          <a:p>
            <a:pPr algn="just"/>
            <a:r>
              <a:rPr lang="en-US" dirty="0" smtClean="0">
                <a:hlinkClick r:id="rId4"/>
              </a:rPr>
              <a:t>Gaussian Mixture Model (GMM)</a:t>
            </a:r>
            <a:r>
              <a:rPr lang="en-US" dirty="0" smtClean="0"/>
              <a:t>: Fits data as a weighted mixture of Gaussian distributions; assigns data points based on likelihood.</a:t>
            </a:r>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CONTD..</a:t>
            </a:r>
            <a:endParaRPr lang="en-US" dirty="0"/>
          </a:p>
        </p:txBody>
      </p:sp>
      <p:sp>
        <p:nvSpPr>
          <p:cNvPr id="3" name="Content Placeholder 2"/>
          <p:cNvSpPr>
            <a:spLocks noGrp="1"/>
          </p:cNvSpPr>
          <p:nvPr>
            <p:ph idx="1"/>
          </p:nvPr>
        </p:nvSpPr>
        <p:spPr>
          <a:xfrm>
            <a:off x="1451579" y="1814945"/>
            <a:ext cx="9603275" cy="4316224"/>
          </a:xfrm>
        </p:spPr>
        <p:txBody>
          <a:bodyPr>
            <a:normAutofit/>
          </a:bodyPr>
          <a:lstStyle/>
          <a:p>
            <a:r>
              <a:rPr lang="en-US" sz="2800" b="1" dirty="0" smtClean="0"/>
              <a:t>5. </a:t>
            </a:r>
            <a:r>
              <a:rPr lang="en-US" sz="2200" b="1" dirty="0" smtClean="0"/>
              <a:t>Fuzzy Clustering</a:t>
            </a:r>
          </a:p>
          <a:p>
            <a:r>
              <a:rPr lang="en-US" sz="2200" dirty="0" smtClean="0"/>
              <a:t>Fuzzy clustering extends traditional methods by allowing each data point to belong to multiple clusters with varying degrees of membership. This approach captures ambiguity and soft boundaries in data and is particularly useful when the clusters overlap or boundaries are not clear-cut.</a:t>
            </a:r>
          </a:p>
          <a:p>
            <a:r>
              <a:rPr lang="en-US" sz="2200" b="1" dirty="0" smtClean="0"/>
              <a:t>Algorithm</a:t>
            </a:r>
            <a:r>
              <a:rPr lang="en-US" sz="2200" dirty="0" smtClean="0"/>
              <a:t>:</a:t>
            </a:r>
          </a:p>
          <a:p>
            <a:r>
              <a:rPr lang="en-US" sz="2200" dirty="0" smtClean="0">
                <a:hlinkClick r:id="rId2"/>
              </a:rPr>
              <a:t>Fuzzy C-Means</a:t>
            </a:r>
            <a:r>
              <a:rPr lang="en-US" sz="2200" dirty="0" smtClean="0"/>
              <a:t>: Similar to K-means but with fuzzy memberships updated iteratively.</a:t>
            </a:r>
            <a:endParaRPr lang="en-US" sz="2200"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11</a:t>
            </a:fld>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b="1" dirty="0" smtClean="0"/>
              <a:t>        K means Clustering</a:t>
            </a:r>
            <a:endParaRPr lang="en-US" b="1" dirty="0"/>
          </a:p>
        </p:txBody>
      </p:sp>
      <p:sp>
        <p:nvSpPr>
          <p:cNvPr id="3" name="Content Placeholder 2"/>
          <p:cNvSpPr>
            <a:spLocks noGrp="1"/>
          </p:cNvSpPr>
          <p:nvPr>
            <p:ph idx="1"/>
          </p:nvPr>
        </p:nvSpPr>
        <p:spPr>
          <a:xfrm>
            <a:off x="1451579" y="1852247"/>
            <a:ext cx="9603275" cy="4337538"/>
          </a:xfrm>
        </p:spPr>
        <p:txBody>
          <a:bodyPr>
            <a:noAutofit/>
          </a:bodyPr>
          <a:lstStyle/>
          <a:p>
            <a:pPr algn="just"/>
            <a:r>
              <a:rPr lang="en-US" dirty="0" smtClean="0"/>
              <a:t>K-Means Clustering is an unsupervised machine learning algorithm that helps group data points into clusters based on their inherent similarity. Unlike supervised learning, where we train models using labeled data, K-Means is used when we have data that is not labeled and the goal is to uncover hidden patterns or structures. For example, an online store can use K-Means to segment customers into groups like "Budget Shoppers," "Frequent Buyers," and "Big Spenders" based on their purchase history.</a:t>
            </a:r>
          </a:p>
          <a:p>
            <a:pPr algn="just"/>
            <a:r>
              <a:rPr lang="en-US" b="1" dirty="0" smtClean="0"/>
              <a:t>Working of K-Means Clustering</a:t>
            </a:r>
          </a:p>
          <a:p>
            <a:pPr algn="just"/>
            <a:r>
              <a:rPr lang="en-US" dirty="0" smtClean="0"/>
              <a:t>Suppose we are given a data set of items with certain features and values for these features like a vector. The task is to categorize those items into groups. To achieve this we will use the K-means algorithm. "k" represents the number of groups or clusters we want to classify our items into.</a:t>
            </a:r>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12</a:t>
            </a:fld>
            <a:endParaRPr lang="en-I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CONTD…</a:t>
            </a:r>
            <a:endParaRPr lang="en-US" b="1"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13</a:t>
            </a:fld>
            <a:endParaRPr lang="en-IN"/>
          </a:p>
        </p:txBody>
      </p:sp>
      <p:sp>
        <p:nvSpPr>
          <p:cNvPr id="5" name="Content Placeholder 4"/>
          <p:cNvSpPr>
            <a:spLocks noGrp="1"/>
          </p:cNvSpPr>
          <p:nvPr>
            <p:ph idx="1"/>
          </p:nvPr>
        </p:nvSpPr>
        <p:spPr>
          <a:xfrm>
            <a:off x="1451579" y="1759527"/>
            <a:ext cx="9603275" cy="4391891"/>
          </a:xfrm>
        </p:spPr>
        <p:txBody>
          <a:bodyPr>
            <a:normAutofit/>
          </a:bodyPr>
          <a:lstStyle/>
          <a:p>
            <a:endParaRPr lang="en-US" dirty="0" smtClean="0"/>
          </a:p>
          <a:p>
            <a:pPr>
              <a:buNone/>
            </a:pPr>
            <a:r>
              <a:rPr lang="en-US" dirty="0" smtClean="0"/>
              <a:t>.</a:t>
            </a:r>
          </a:p>
          <a:p>
            <a:pPr>
              <a:buNone/>
            </a:pPr>
            <a:endParaRPr lang="en-US" dirty="0" smtClean="0"/>
          </a:p>
          <a:p>
            <a:pPr>
              <a:buNone/>
            </a:pPr>
            <a:endParaRPr lang="en-US" dirty="0" smtClean="0"/>
          </a:p>
          <a:p>
            <a:pPr>
              <a:buNone/>
            </a:pPr>
            <a:endParaRPr lang="en-US" dirty="0" smtClean="0"/>
          </a:p>
          <a:p>
            <a:pPr>
              <a:buNone/>
            </a:pP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1330036" y="1981199"/>
            <a:ext cx="9642764" cy="4184073"/>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CONTD..</a:t>
            </a:r>
            <a:endParaRPr lang="en-US" b="1"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14</a:t>
            </a:fld>
            <a:endParaRPr lang="en-IN"/>
          </a:p>
        </p:txBody>
      </p:sp>
      <p:pic>
        <p:nvPicPr>
          <p:cNvPr id="3074" name="Picture 2"/>
          <p:cNvPicPr>
            <a:picLocks noGrp="1" noChangeAspect="1" noChangeArrowheads="1"/>
          </p:cNvPicPr>
          <p:nvPr>
            <p:ph idx="1"/>
          </p:nvPr>
        </p:nvPicPr>
        <p:blipFill>
          <a:blip r:embed="rId2" cstate="print"/>
          <a:srcRect/>
          <a:stretch>
            <a:fillRect/>
          </a:stretch>
        </p:blipFill>
        <p:spPr bwMode="auto">
          <a:xfrm>
            <a:off x="1427018" y="1870365"/>
            <a:ext cx="9642763" cy="4239490"/>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CONTD..</a:t>
            </a:r>
            <a:endParaRPr lang="en-US" b="1"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15</a:t>
            </a:fld>
            <a:endParaRPr lang="en-IN"/>
          </a:p>
        </p:txBody>
      </p:sp>
      <p:sp>
        <p:nvSpPr>
          <p:cNvPr id="5" name="Content Placeholder 4"/>
          <p:cNvSpPr>
            <a:spLocks noGrp="1"/>
          </p:cNvSpPr>
          <p:nvPr>
            <p:ph idx="1"/>
          </p:nvPr>
        </p:nvSpPr>
        <p:spPr/>
        <p:txBody>
          <a:bodyPr/>
          <a:lstStyle/>
          <a:p>
            <a:endParaRPr lang="en-US"/>
          </a:p>
        </p:txBody>
      </p:sp>
      <p:pic>
        <p:nvPicPr>
          <p:cNvPr id="4098" name="Picture 2"/>
          <p:cNvPicPr>
            <a:picLocks noChangeAspect="1" noChangeArrowheads="1"/>
          </p:cNvPicPr>
          <p:nvPr/>
        </p:nvPicPr>
        <p:blipFill>
          <a:blip r:embed="rId2" cstate="print"/>
          <a:srcRect/>
          <a:stretch>
            <a:fillRect/>
          </a:stretch>
        </p:blipFill>
        <p:spPr bwMode="auto">
          <a:xfrm>
            <a:off x="1496290" y="1898073"/>
            <a:ext cx="9587345" cy="4156363"/>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16</a:t>
            </a:fld>
            <a:endParaRPr lang="en-IN"/>
          </a:p>
        </p:txBody>
      </p:sp>
      <p:pic>
        <p:nvPicPr>
          <p:cNvPr id="5122" name="Picture 2"/>
          <p:cNvPicPr>
            <a:picLocks noGrp="1" noChangeAspect="1" noChangeArrowheads="1"/>
          </p:cNvPicPr>
          <p:nvPr>
            <p:ph idx="1"/>
          </p:nvPr>
        </p:nvPicPr>
        <p:blipFill>
          <a:blip r:embed="rId2" cstate="print"/>
          <a:srcRect/>
          <a:stretch>
            <a:fillRect/>
          </a:stretch>
        </p:blipFill>
        <p:spPr bwMode="auto">
          <a:xfrm>
            <a:off x="1510145" y="1884218"/>
            <a:ext cx="9559637" cy="4211782"/>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WORKING of K-Means</a:t>
            </a:r>
            <a:endParaRPr lang="en-US" b="1" dirty="0" smtClean="0"/>
          </a:p>
        </p:txBody>
      </p:sp>
      <p:sp>
        <p:nvSpPr>
          <p:cNvPr id="3" name="Content Placeholder 2"/>
          <p:cNvSpPr>
            <a:spLocks noGrp="1"/>
          </p:cNvSpPr>
          <p:nvPr>
            <p:ph idx="1"/>
          </p:nvPr>
        </p:nvSpPr>
        <p:spPr>
          <a:xfrm>
            <a:off x="1451579" y="1870364"/>
            <a:ext cx="9603275" cy="4307698"/>
          </a:xfrm>
        </p:spPr>
        <p:txBody>
          <a:bodyPr>
            <a:normAutofit fontScale="92500" lnSpcReduction="20000"/>
          </a:bodyPr>
          <a:lstStyle/>
          <a:p>
            <a:pPr algn="just"/>
            <a:r>
              <a:rPr lang="en-US" dirty="0" smtClean="0"/>
              <a:t> </a:t>
            </a:r>
            <a:r>
              <a:rPr lang="en-US" sz="2200" dirty="0" smtClean="0"/>
              <a:t>The algorithm will categorize the items into "</a:t>
            </a:r>
            <a:r>
              <a:rPr lang="en-US" sz="2200" dirty="0" err="1" smtClean="0"/>
              <a:t>kk</a:t>
            </a:r>
            <a:r>
              <a:rPr lang="en-US" sz="2200" dirty="0" smtClean="0"/>
              <a:t>" groups or clusters of similarity. To calculate that similarity we will use the </a:t>
            </a:r>
            <a:r>
              <a:rPr lang="en-US" sz="2200" dirty="0" smtClean="0">
                <a:hlinkClick r:id="rId2"/>
              </a:rPr>
              <a:t>Euclidean distance</a:t>
            </a:r>
            <a:r>
              <a:rPr lang="en-US" sz="2200" dirty="0" smtClean="0"/>
              <a:t> as a measurement. The algorithm works as follows:  </a:t>
            </a:r>
          </a:p>
          <a:p>
            <a:pPr algn="just"/>
            <a:r>
              <a:rPr lang="en-US" sz="2200" b="1" dirty="0" smtClean="0"/>
              <a:t>Initialization:</a:t>
            </a:r>
            <a:r>
              <a:rPr lang="en-US" sz="2200" dirty="0" smtClean="0"/>
              <a:t> We begin by randomly selecting k cluster </a:t>
            </a:r>
            <a:r>
              <a:rPr lang="en-US" sz="2200" dirty="0" err="1" smtClean="0"/>
              <a:t>centroids</a:t>
            </a:r>
            <a:r>
              <a:rPr lang="en-US" sz="2200" dirty="0" smtClean="0"/>
              <a:t>.</a:t>
            </a:r>
          </a:p>
          <a:p>
            <a:pPr algn="just"/>
            <a:r>
              <a:rPr lang="en-US" sz="2200" b="1" dirty="0" smtClean="0"/>
              <a:t>Assignment Step:</a:t>
            </a:r>
            <a:r>
              <a:rPr lang="en-US" sz="2200" dirty="0" smtClean="0"/>
              <a:t> Each data point is assigned to the nearest </a:t>
            </a:r>
            <a:r>
              <a:rPr lang="en-US" sz="2200" dirty="0" err="1" smtClean="0"/>
              <a:t>centroid</a:t>
            </a:r>
            <a:r>
              <a:rPr lang="en-US" sz="2200" dirty="0" smtClean="0"/>
              <a:t>, forming clusters.</a:t>
            </a:r>
          </a:p>
          <a:p>
            <a:pPr algn="just"/>
            <a:r>
              <a:rPr lang="en-US" sz="2200" b="1" dirty="0" smtClean="0"/>
              <a:t>Update Step:</a:t>
            </a:r>
            <a:r>
              <a:rPr lang="en-US" sz="2200" dirty="0" smtClean="0"/>
              <a:t> After the assignment, we recalculate the </a:t>
            </a:r>
            <a:r>
              <a:rPr lang="en-US" sz="2200" dirty="0" err="1" smtClean="0"/>
              <a:t>centroid</a:t>
            </a:r>
            <a:r>
              <a:rPr lang="en-US" sz="2200" dirty="0" smtClean="0"/>
              <a:t> of each cluster by averaging the points within it.</a:t>
            </a:r>
          </a:p>
          <a:p>
            <a:pPr algn="just"/>
            <a:r>
              <a:rPr lang="en-US" sz="2200" b="1" dirty="0" smtClean="0"/>
              <a:t>Repeat: </a:t>
            </a:r>
            <a:r>
              <a:rPr lang="en-US" sz="2200" dirty="0" smtClean="0"/>
              <a:t>This process repeats until the </a:t>
            </a:r>
            <a:r>
              <a:rPr lang="en-US" sz="2200" dirty="0" err="1" smtClean="0"/>
              <a:t>centroids</a:t>
            </a:r>
            <a:r>
              <a:rPr lang="en-US" sz="2200" dirty="0" smtClean="0"/>
              <a:t> no longer change or the maximum number of iterations is reached.</a:t>
            </a:r>
          </a:p>
          <a:p>
            <a:pPr algn="just"/>
            <a:r>
              <a:rPr lang="en-US" sz="2200" dirty="0" smtClean="0"/>
              <a:t>The goal is to partition the dataset into </a:t>
            </a:r>
            <a:r>
              <a:rPr lang="en-US" sz="2200" dirty="0" err="1" smtClean="0"/>
              <a:t>kk</a:t>
            </a:r>
            <a:r>
              <a:rPr lang="en-US" sz="2200" dirty="0" smtClean="0"/>
              <a:t> clusters such that data points within each cluster are more similar to each other than to those in other clusters.</a:t>
            </a:r>
            <a:endParaRPr lang="en-US" sz="2200"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17</a:t>
            </a:fld>
            <a:endParaRPr lang="en-I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APPLICATIONS</a:t>
            </a:r>
            <a:endParaRPr lang="en-US" b="1" dirty="0"/>
          </a:p>
        </p:txBody>
      </p:sp>
      <p:sp>
        <p:nvSpPr>
          <p:cNvPr id="3" name="Content Placeholder 2"/>
          <p:cNvSpPr>
            <a:spLocks noGrp="1"/>
          </p:cNvSpPr>
          <p:nvPr>
            <p:ph idx="1"/>
          </p:nvPr>
        </p:nvSpPr>
        <p:spPr>
          <a:xfrm>
            <a:off x="1451579" y="1870364"/>
            <a:ext cx="9603275" cy="4322618"/>
          </a:xfrm>
        </p:spPr>
        <p:txBody>
          <a:bodyPr>
            <a:normAutofit fontScale="77500" lnSpcReduction="20000"/>
          </a:bodyPr>
          <a:lstStyle/>
          <a:p>
            <a:pPr algn="just"/>
            <a:r>
              <a:rPr lang="en-US" dirty="0" smtClean="0"/>
              <a:t>K-Means is popular in a wide variety of applications due to its simplicity, efficiency and effectiveness. Here’s why it is widely used:</a:t>
            </a:r>
          </a:p>
          <a:p>
            <a:pPr algn="just"/>
            <a:r>
              <a:rPr lang="en-US" b="1" dirty="0" smtClean="0"/>
              <a:t>Data Segmentation: </a:t>
            </a:r>
            <a:r>
              <a:rPr lang="en-US" dirty="0" smtClean="0"/>
              <a:t>One of the most common uses of K-Means is segmenting data into distinct groups. For example, businesses use K-Means to group customers based on behavior, such as purchasing patterns or website interaction.</a:t>
            </a:r>
          </a:p>
          <a:p>
            <a:pPr algn="just"/>
            <a:r>
              <a:rPr lang="en-US" b="1" dirty="0" smtClean="0"/>
              <a:t>Image Compression</a:t>
            </a:r>
            <a:r>
              <a:rPr lang="en-US" dirty="0" smtClean="0"/>
              <a:t>: K-Means can be used to reduce the complexity of images by grouping similar pixels into clusters, effectively compressing the image. This is useful for image storage and processing.</a:t>
            </a:r>
          </a:p>
          <a:p>
            <a:pPr algn="just"/>
            <a:r>
              <a:rPr lang="en-US" b="1" dirty="0" smtClean="0"/>
              <a:t>Anomaly Detection:</a:t>
            </a:r>
            <a:r>
              <a:rPr lang="en-US" dirty="0" smtClean="0"/>
              <a:t> K-Means can be applied to detect anomalies or outliers by identifying data points that do not belong to any of the clusters.</a:t>
            </a:r>
          </a:p>
          <a:p>
            <a:pPr algn="just"/>
            <a:r>
              <a:rPr lang="en-US" b="1" dirty="0" smtClean="0"/>
              <a:t>Document Clustering:</a:t>
            </a:r>
            <a:r>
              <a:rPr lang="en-US" dirty="0" smtClean="0"/>
              <a:t> In natural language processing (NLP), K-Means is used to group similar documents or articles together. It’s often used in applications like recommendation systems or news categorization.</a:t>
            </a:r>
          </a:p>
          <a:p>
            <a:pPr algn="just"/>
            <a:r>
              <a:rPr lang="en-US" b="1" dirty="0" smtClean="0"/>
              <a:t>Organizing Large Datasets:</a:t>
            </a:r>
            <a:r>
              <a:rPr lang="en-US" dirty="0" smtClean="0"/>
              <a:t> When dealing with large datasets, K-Means can help in organizing the data into smaller, more manageable chunks based on similarities, improving the efficiency of data analysis.</a:t>
            </a:r>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18</a:t>
            </a:fld>
            <a:endParaRPr lang="en-I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fontAlgn="base"/>
            <a:r>
              <a:rPr lang="en-US" b="1" dirty="0" smtClean="0"/>
              <a:t/>
            </a:r>
            <a:br>
              <a:rPr lang="en-US" b="1" dirty="0" smtClean="0"/>
            </a:br>
            <a:r>
              <a:rPr lang="en-US" dirty="0" smtClean="0"/>
              <a:t>CONTD..</a:t>
            </a:r>
            <a:endParaRPr lang="en-US" b="1"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19</a:t>
            </a:fld>
            <a:endParaRPr lang="en-IN"/>
          </a:p>
        </p:txBody>
      </p:sp>
      <p:pic>
        <p:nvPicPr>
          <p:cNvPr id="6146" name="Picture 2"/>
          <p:cNvPicPr>
            <a:picLocks noGrp="1" noChangeAspect="1" noChangeArrowheads="1"/>
          </p:cNvPicPr>
          <p:nvPr>
            <p:ph idx="1"/>
          </p:nvPr>
        </p:nvPicPr>
        <p:blipFill>
          <a:blip r:embed="rId2" cstate="print"/>
          <a:srcRect/>
          <a:stretch>
            <a:fillRect/>
          </a:stretch>
        </p:blipFill>
        <p:spPr bwMode="auto">
          <a:xfrm>
            <a:off x="1302759" y="2036329"/>
            <a:ext cx="4820950" cy="4031961"/>
          </a:xfrm>
          <a:prstGeom prst="rect">
            <a:avLst/>
          </a:prstGeom>
          <a:noFill/>
          <a:ln w="9525">
            <a:noFill/>
            <a:miter lim="800000"/>
            <a:headEnd/>
            <a:tailEnd/>
          </a:ln>
        </p:spPr>
      </p:pic>
      <p:pic>
        <p:nvPicPr>
          <p:cNvPr id="6147" name="Picture 3"/>
          <p:cNvPicPr>
            <a:picLocks noChangeAspect="1" noChangeArrowheads="1"/>
          </p:cNvPicPr>
          <p:nvPr/>
        </p:nvPicPr>
        <p:blipFill>
          <a:blip r:embed="rId3" cstate="print"/>
          <a:srcRect/>
          <a:stretch>
            <a:fillRect/>
          </a:stretch>
        </p:blipFill>
        <p:spPr bwMode="auto">
          <a:xfrm>
            <a:off x="6373092" y="2050472"/>
            <a:ext cx="5175972" cy="4045528"/>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a:t>
            </a:r>
            <a:endParaRPr lang="en-US" dirty="0"/>
          </a:p>
        </p:txBody>
      </p:sp>
      <p:sp>
        <p:nvSpPr>
          <p:cNvPr id="3" name="Content Placeholder 2"/>
          <p:cNvSpPr>
            <a:spLocks noGrp="1"/>
          </p:cNvSpPr>
          <p:nvPr>
            <p:ph idx="1"/>
          </p:nvPr>
        </p:nvSpPr>
        <p:spPr>
          <a:xfrm>
            <a:off x="1451579" y="2015732"/>
            <a:ext cx="9603275" cy="4094123"/>
          </a:xfrm>
        </p:spPr>
        <p:txBody>
          <a:bodyPr/>
          <a:lstStyle/>
          <a:p>
            <a:r>
              <a:rPr lang="en-US" dirty="0" smtClean="0"/>
              <a:t>For the given data, compute two clusters using K-means algorithm for  clustering where initial cluster centers are (1.0, 1.0) and (5.0, 7.0). Execute for two iterations.</a:t>
            </a:r>
          </a:p>
        </p:txBody>
      </p:sp>
      <p:sp>
        <p:nvSpPr>
          <p:cNvPr id="4" name="Slide Number Placeholder 3"/>
          <p:cNvSpPr>
            <a:spLocks noGrp="1"/>
          </p:cNvSpPr>
          <p:nvPr>
            <p:ph type="sldNum" sz="quarter" idx="12"/>
          </p:nvPr>
        </p:nvSpPr>
        <p:spPr/>
        <p:txBody>
          <a:bodyPr/>
          <a:lstStyle/>
          <a:p>
            <a:fld id="{CBABCCC1-BF11-4F37-963E-1BCD5B23FD72}" type="slidenum">
              <a:rPr lang="en-IN" smtClean="0"/>
              <a:pPr/>
              <a:t>20</a:t>
            </a:fld>
            <a:endParaRPr lang="en-IN"/>
          </a:p>
        </p:txBody>
      </p:sp>
      <p:pic>
        <p:nvPicPr>
          <p:cNvPr id="7171" name="Picture 3"/>
          <p:cNvPicPr>
            <a:picLocks noChangeAspect="1" noChangeArrowheads="1"/>
          </p:cNvPicPr>
          <p:nvPr/>
        </p:nvPicPr>
        <p:blipFill>
          <a:blip r:embed="rId2" cstate="print"/>
          <a:srcRect/>
          <a:stretch>
            <a:fillRect/>
          </a:stretch>
        </p:blipFill>
        <p:spPr bwMode="auto">
          <a:xfrm>
            <a:off x="2410691" y="2964007"/>
            <a:ext cx="6927273" cy="3118138"/>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3" name="Content Placeholder 2"/>
          <p:cNvSpPr>
            <a:spLocks noGrp="1"/>
          </p:cNvSpPr>
          <p:nvPr>
            <p:ph idx="1"/>
          </p:nvPr>
        </p:nvSpPr>
        <p:spPr>
          <a:xfrm>
            <a:off x="1246909" y="3810000"/>
            <a:ext cx="9807945" cy="983673"/>
          </a:xfrm>
        </p:spPr>
        <p:txBody>
          <a:bodyPr/>
          <a:lstStyle/>
          <a:p>
            <a:r>
              <a:rPr lang="en-US" dirty="0" smtClean="0"/>
              <a:t>Initialization: Number of clusters (K) = 2, </a:t>
            </a:r>
            <a:r>
              <a:rPr lang="en-US" dirty="0" err="1" smtClean="0"/>
              <a:t>centroid</a:t>
            </a:r>
            <a:r>
              <a:rPr lang="en-US" dirty="0" smtClean="0"/>
              <a:t> for cluster1 (C1)= (1.0, 1.0) and </a:t>
            </a:r>
            <a:r>
              <a:rPr lang="en-US" dirty="0" err="1" smtClean="0"/>
              <a:t>centroid</a:t>
            </a:r>
            <a:r>
              <a:rPr lang="en-US" dirty="0" smtClean="0"/>
              <a:t> for cluster2 (C2) = (5.0, 7.0). We use Euclidean distance to find closest point to </a:t>
            </a:r>
            <a:r>
              <a:rPr lang="en-US" dirty="0" err="1" smtClean="0"/>
              <a:t>centroids</a:t>
            </a:r>
            <a:r>
              <a:rPr lang="en-US" dirty="0" smtClean="0"/>
              <a:t>.</a:t>
            </a:r>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21</a:t>
            </a:fld>
            <a:endParaRPr lang="en-IN"/>
          </a:p>
        </p:txBody>
      </p:sp>
      <p:pic>
        <p:nvPicPr>
          <p:cNvPr id="8194" name="Picture 2"/>
          <p:cNvPicPr>
            <a:picLocks noChangeAspect="1" noChangeArrowheads="1"/>
          </p:cNvPicPr>
          <p:nvPr/>
        </p:nvPicPr>
        <p:blipFill>
          <a:blip r:embed="rId2" cstate="print"/>
          <a:srcRect/>
          <a:stretch>
            <a:fillRect/>
          </a:stretch>
        </p:blipFill>
        <p:spPr bwMode="auto">
          <a:xfrm>
            <a:off x="1274618" y="1893311"/>
            <a:ext cx="9836727" cy="1930544"/>
          </a:xfrm>
          <a:prstGeom prst="rect">
            <a:avLst/>
          </a:prstGeom>
          <a:noFill/>
          <a:ln w="9525">
            <a:noFill/>
            <a:miter lim="800000"/>
            <a:headEnd/>
            <a:tailEnd/>
          </a:ln>
        </p:spPr>
      </p:pic>
      <p:pic>
        <p:nvPicPr>
          <p:cNvPr id="8195" name="Picture 3"/>
          <p:cNvPicPr>
            <a:picLocks noChangeAspect="1" noChangeArrowheads="1"/>
          </p:cNvPicPr>
          <p:nvPr/>
        </p:nvPicPr>
        <p:blipFill>
          <a:blip r:embed="rId3" cstate="print"/>
          <a:srcRect/>
          <a:stretch>
            <a:fillRect/>
          </a:stretch>
        </p:blipFill>
        <p:spPr bwMode="auto">
          <a:xfrm>
            <a:off x="1551708" y="4516582"/>
            <a:ext cx="9324109" cy="1801091"/>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3" name="Content Placeholder 2"/>
          <p:cNvSpPr>
            <a:spLocks noGrp="1"/>
          </p:cNvSpPr>
          <p:nvPr>
            <p:ph idx="1"/>
          </p:nvPr>
        </p:nvSpPr>
        <p:spPr>
          <a:xfrm>
            <a:off x="1451579" y="1856509"/>
            <a:ext cx="9603275" cy="4239491"/>
          </a:xfrm>
        </p:spPr>
        <p:txBody>
          <a:bodyPr>
            <a:normAutofit lnSpcReduction="10000"/>
          </a:bodyPr>
          <a:lstStyle/>
          <a:p>
            <a:r>
              <a:rPr lang="en-US" dirty="0" smtClean="0"/>
              <a:t>Thus, we obtain two clusters containing:</a:t>
            </a:r>
          </a:p>
          <a:p>
            <a:r>
              <a:rPr lang="en-US" dirty="0" smtClean="0"/>
              <a:t>Cluster1 {R1, R2, R3} and Cluster2 {R4, R5, R6, R7}.</a:t>
            </a:r>
          </a:p>
          <a:p>
            <a:r>
              <a:rPr lang="en-US" dirty="0" smtClean="0"/>
              <a:t>Their new </a:t>
            </a:r>
            <a:r>
              <a:rPr lang="en-US" dirty="0" err="1" smtClean="0"/>
              <a:t>centroids</a:t>
            </a:r>
            <a:r>
              <a:rPr lang="en-US" dirty="0" smtClean="0"/>
              <a:t> are:</a:t>
            </a:r>
          </a:p>
          <a:p>
            <a:r>
              <a:rPr lang="en-US" dirty="0" smtClean="0"/>
              <a:t>C1 = (1.0+1.5+3.0)/3, (1.0+2.0+4.0)/3</a:t>
            </a:r>
          </a:p>
          <a:p>
            <a:r>
              <a:rPr lang="en-US" dirty="0" smtClean="0"/>
              <a:t>= 5.5/3, 7.0/3</a:t>
            </a:r>
          </a:p>
          <a:p>
            <a:r>
              <a:rPr lang="en-US" dirty="0" smtClean="0"/>
              <a:t>= 1.83, 2.33</a:t>
            </a:r>
          </a:p>
          <a:p>
            <a:r>
              <a:rPr lang="en-US" dirty="0" smtClean="0"/>
              <a:t>C2 = (5.0+3.5+4.5+3.5)/4, (7+5+5+4.5)/4</a:t>
            </a:r>
          </a:p>
          <a:p>
            <a:r>
              <a:rPr lang="en-US" dirty="0" smtClean="0"/>
              <a:t>= 16.5/4, 21.5/4</a:t>
            </a:r>
          </a:p>
          <a:p>
            <a:r>
              <a:rPr lang="en-US" dirty="0" smtClean="0"/>
              <a:t>= 4.12, 5.37</a:t>
            </a:r>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22</a:t>
            </a:fld>
            <a:endParaRPr lang="en-IN"/>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23</a:t>
            </a:fld>
            <a:endParaRPr lang="en-IN"/>
          </a:p>
        </p:txBody>
      </p:sp>
      <p:pic>
        <p:nvPicPr>
          <p:cNvPr id="9218" name="Picture 2"/>
          <p:cNvPicPr>
            <a:picLocks noGrp="1" noChangeAspect="1" noChangeArrowheads="1"/>
          </p:cNvPicPr>
          <p:nvPr>
            <p:ph idx="1"/>
          </p:nvPr>
        </p:nvPicPr>
        <p:blipFill>
          <a:blip r:embed="rId2" cstate="print"/>
          <a:srcRect/>
          <a:stretch>
            <a:fillRect/>
          </a:stretch>
        </p:blipFill>
        <p:spPr bwMode="auto">
          <a:xfrm>
            <a:off x="1440873" y="2016125"/>
            <a:ext cx="9712036" cy="4065588"/>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C-means clustering</a:t>
            </a:r>
            <a:endParaRPr lang="en-US" dirty="0"/>
          </a:p>
        </p:txBody>
      </p:sp>
      <p:sp>
        <p:nvSpPr>
          <p:cNvPr id="3" name="Content Placeholder 2"/>
          <p:cNvSpPr>
            <a:spLocks noGrp="1"/>
          </p:cNvSpPr>
          <p:nvPr>
            <p:ph idx="1"/>
          </p:nvPr>
        </p:nvSpPr>
        <p:spPr>
          <a:xfrm>
            <a:off x="1451579" y="2015732"/>
            <a:ext cx="9603275" cy="4024850"/>
          </a:xfrm>
        </p:spPr>
        <p:txBody>
          <a:bodyPr/>
          <a:lstStyle/>
          <a:p>
            <a:pPr algn="just"/>
            <a:r>
              <a:rPr lang="en-US" dirty="0" smtClean="0"/>
              <a:t>C-means clustering, or fuzzy c-means clustering, is a soft clustering technique in machine learning in which each data point is separated into different clusters and then assigned a probability score for being in that cluster. Fuzzy c-means clustering often gives better results for overlapped data sets compared to k-means clustering.</a:t>
            </a:r>
          </a:p>
          <a:p>
            <a:pPr algn="just"/>
            <a:r>
              <a:rPr lang="en-US" dirty="0" smtClean="0"/>
              <a:t>Fuzzy clustering is a type of clustering algorithm where each data point can belong to more than one cluster with varying degrees of membership. Unlike traditional clustering (hard clustering), where a point belongs to exactly one cluster, fuzzy clustering assigns a membership value between 0 and 1 for each point's participation in each cluster. This allows more flexible grouping, especially when clusters overlap or data points are ambiguous.</a:t>
            </a:r>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24</a:t>
            </a:fld>
            <a:endParaRPr lang="en-IN"/>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3" name="Content Placeholder 2"/>
          <p:cNvSpPr>
            <a:spLocks noGrp="1"/>
          </p:cNvSpPr>
          <p:nvPr>
            <p:ph idx="1"/>
          </p:nvPr>
        </p:nvSpPr>
        <p:spPr>
          <a:xfrm>
            <a:off x="1451579" y="1856509"/>
            <a:ext cx="9603275" cy="4281055"/>
          </a:xfrm>
        </p:spPr>
        <p:txBody>
          <a:bodyPr>
            <a:normAutofit lnSpcReduction="10000"/>
          </a:bodyPr>
          <a:lstStyle/>
          <a:p>
            <a:pPr algn="just"/>
            <a:r>
              <a:rPr lang="en-US" dirty="0" smtClean="0"/>
              <a:t>Fuzzy c-means clustering is a soft clustering approach, where each data point is assigned a likelihood or probability score belonging to that cluster. The step-wise approach of the fuzzy c-means clustering algorithm is:  </a:t>
            </a:r>
          </a:p>
          <a:p>
            <a:pPr algn="just">
              <a:buNone/>
            </a:pPr>
            <a:r>
              <a:rPr lang="en-US" dirty="0" smtClean="0"/>
              <a:t>    Fix the value of c (number of clusters), and select a value of m</a:t>
            </a:r>
            <a:r>
              <a:rPr lang="en-US" b="1" dirty="0" smtClean="0"/>
              <a:t> </a:t>
            </a:r>
            <a:r>
              <a:rPr lang="en-US" dirty="0" smtClean="0"/>
              <a:t>(generally 1.25&lt;m&lt;2), and initialize partition matrix U.</a:t>
            </a:r>
          </a:p>
          <a:p>
            <a:r>
              <a:rPr lang="en-US" b="1" dirty="0" smtClean="0"/>
              <a:t>C-Means  Advantages:</a:t>
            </a:r>
            <a:br>
              <a:rPr lang="en-US" b="1" dirty="0" smtClean="0"/>
            </a:br>
            <a:r>
              <a:rPr lang="en-US" dirty="0" smtClean="0"/>
              <a:t>Fuzzy c-means clustering can be considered a better algorithm compared to the k-means algorithm. Unlike the k-means algorithm, where the data points exclusively belong to one cluster, data points in the fuzzy c-means algorithm can belong to more than one cluster with a likelihood. As a result, fuzzy c-means clustering gives comparatively better results for overlapped data sets.</a:t>
            </a:r>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25</a:t>
            </a:fld>
            <a:endParaRPr lang="en-IN"/>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CONTd.</a:t>
            </a:r>
            <a:r>
              <a:rPr lang="en-US" dirty="0" smtClean="0"/>
              <a:t>.</a:t>
            </a:r>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26</a:t>
            </a:fld>
            <a:endParaRPr lang="en-IN"/>
          </a:p>
        </p:txBody>
      </p:sp>
      <p:pic>
        <p:nvPicPr>
          <p:cNvPr id="10243" name="Picture 3"/>
          <p:cNvPicPr>
            <a:picLocks noGrp="1" noChangeAspect="1" noChangeArrowheads="1"/>
          </p:cNvPicPr>
          <p:nvPr>
            <p:ph idx="1"/>
          </p:nvPr>
        </p:nvPicPr>
        <p:blipFill>
          <a:blip r:embed="rId2" cstate="print"/>
          <a:srcRect/>
          <a:stretch>
            <a:fillRect/>
          </a:stretch>
        </p:blipFill>
        <p:spPr bwMode="auto">
          <a:xfrm>
            <a:off x="1385456" y="443344"/>
            <a:ext cx="9933708" cy="5652655"/>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Working of Fuzzy Clustering</a:t>
            </a:r>
            <a:br>
              <a:rPr lang="en-US" b="1" dirty="0" smtClean="0"/>
            </a:br>
            <a:endParaRPr lang="en-US" dirty="0"/>
          </a:p>
        </p:txBody>
      </p:sp>
      <p:sp>
        <p:nvSpPr>
          <p:cNvPr id="3" name="Content Placeholder 2"/>
          <p:cNvSpPr>
            <a:spLocks noGrp="1"/>
          </p:cNvSpPr>
          <p:nvPr>
            <p:ph idx="1"/>
          </p:nvPr>
        </p:nvSpPr>
        <p:spPr>
          <a:xfrm>
            <a:off x="1451579" y="1717964"/>
            <a:ext cx="9603275" cy="4433454"/>
          </a:xfrm>
        </p:spPr>
        <p:txBody>
          <a:bodyPr>
            <a:normAutofit/>
          </a:bodyPr>
          <a:lstStyle/>
          <a:p>
            <a:pPr algn="just"/>
            <a:r>
              <a:rPr lang="en-US" dirty="0" smtClean="0"/>
              <a:t>Fuzzy clustering follows an iterative optimization process where data points are assigned membership values instead of hard cluster labels. Here’s a step-by-step breakdown of how it works:</a:t>
            </a:r>
          </a:p>
          <a:p>
            <a:pPr algn="just"/>
            <a:r>
              <a:rPr lang="en-US" b="1" dirty="0" smtClean="0"/>
              <a:t>Step 1: Initialize Membership Values Randomly:</a:t>
            </a:r>
            <a:r>
              <a:rPr lang="en-US" dirty="0" smtClean="0"/>
              <a:t> Each data point is assigned initial membership degrees for all clusters. These values represent the likelihood of the point belonging to each cluster. Unlike hard clustering, a point can partially belong to multiple clusters simultaneously.</a:t>
            </a:r>
          </a:p>
          <a:p>
            <a:pPr algn="just"/>
            <a:r>
              <a:rPr lang="en-US" dirty="0" smtClean="0"/>
              <a:t>For example, for 2 clusters and 4 data points, an initial membership matrix (γ) might look like:</a:t>
            </a:r>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27</a:t>
            </a:fld>
            <a:endParaRPr lang="en-IN"/>
          </a:p>
        </p:txBody>
      </p:sp>
      <p:pic>
        <p:nvPicPr>
          <p:cNvPr id="11266" name="Picture 2"/>
          <p:cNvPicPr>
            <a:picLocks noChangeAspect="1" noChangeArrowheads="1"/>
          </p:cNvPicPr>
          <p:nvPr/>
        </p:nvPicPr>
        <p:blipFill>
          <a:blip r:embed="rId2" cstate="print"/>
          <a:srcRect/>
          <a:stretch>
            <a:fillRect/>
          </a:stretch>
        </p:blipFill>
        <p:spPr bwMode="auto">
          <a:xfrm>
            <a:off x="4646035" y="4911004"/>
            <a:ext cx="3500438" cy="1198852"/>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3" name="Content Placeholder 2"/>
          <p:cNvSpPr>
            <a:spLocks noGrp="1"/>
          </p:cNvSpPr>
          <p:nvPr>
            <p:ph idx="1"/>
          </p:nvPr>
        </p:nvSpPr>
        <p:spPr/>
        <p:txBody>
          <a:bodyPr/>
          <a:lstStyle/>
          <a:p>
            <a:pPr algn="just"/>
            <a:r>
              <a:rPr lang="en-US" b="1" dirty="0" smtClean="0"/>
              <a:t>Step 2: Compute Cluster </a:t>
            </a:r>
            <a:r>
              <a:rPr lang="en-US" b="1" dirty="0" err="1" smtClean="0"/>
              <a:t>Centroids</a:t>
            </a:r>
            <a:r>
              <a:rPr lang="en-US" b="1" dirty="0" smtClean="0"/>
              <a:t>:</a:t>
            </a:r>
            <a:r>
              <a:rPr lang="en-US" dirty="0" smtClean="0"/>
              <a:t> Cluster </a:t>
            </a:r>
            <a:r>
              <a:rPr lang="en-US" dirty="0" err="1" smtClean="0"/>
              <a:t>centroids</a:t>
            </a:r>
            <a:r>
              <a:rPr lang="en-US" dirty="0" smtClean="0"/>
              <a:t> are calculated as the weighted average of all data points, where weights are the membership values raised to the fuzziness parameter m. Points with higher membership influence </a:t>
            </a:r>
            <a:r>
              <a:rPr lang="en-US" dirty="0" err="1" smtClean="0"/>
              <a:t>centroids</a:t>
            </a:r>
            <a:r>
              <a:rPr lang="en-US" dirty="0" smtClean="0"/>
              <a:t> more.</a:t>
            </a:r>
          </a:p>
          <a:p>
            <a:pPr algn="just"/>
            <a:r>
              <a:rPr lang="en-US" dirty="0" smtClean="0"/>
              <a:t>The </a:t>
            </a:r>
            <a:r>
              <a:rPr lang="en-US" dirty="0" err="1" smtClean="0"/>
              <a:t>centroid</a:t>
            </a:r>
            <a:r>
              <a:rPr lang="en-US" dirty="0" smtClean="0"/>
              <a:t> coordinate </a:t>
            </a:r>
            <a:r>
              <a:rPr lang="en-US" dirty="0" err="1" smtClean="0"/>
              <a:t>vij</a:t>
            </a:r>
            <a:r>
              <a:rPr lang="en-US" dirty="0" smtClean="0"/>
              <a:t>​ for cluster ii and feature j is:</a:t>
            </a:r>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28</a:t>
            </a:fld>
            <a:endParaRPr lang="en-IN"/>
          </a:p>
        </p:txBody>
      </p:sp>
      <p:pic>
        <p:nvPicPr>
          <p:cNvPr id="12290" name="Picture 2"/>
          <p:cNvPicPr>
            <a:picLocks noChangeAspect="1" noChangeArrowheads="1"/>
          </p:cNvPicPr>
          <p:nvPr/>
        </p:nvPicPr>
        <p:blipFill>
          <a:blip r:embed="rId2" cstate="print"/>
          <a:srcRect/>
          <a:stretch>
            <a:fillRect/>
          </a:stretch>
        </p:blipFill>
        <p:spPr bwMode="auto">
          <a:xfrm>
            <a:off x="2023198" y="3879706"/>
            <a:ext cx="7176220" cy="1620549"/>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29</a:t>
            </a:fld>
            <a:endParaRPr lang="en-IN"/>
          </a:p>
        </p:txBody>
      </p:sp>
      <p:pic>
        <p:nvPicPr>
          <p:cNvPr id="13315" name="Picture 3"/>
          <p:cNvPicPr>
            <a:picLocks noChangeAspect="1" noChangeArrowheads="1"/>
          </p:cNvPicPr>
          <p:nvPr/>
        </p:nvPicPr>
        <p:blipFill>
          <a:blip r:embed="rId2" cstate="print"/>
          <a:srcRect/>
          <a:stretch>
            <a:fillRect/>
          </a:stretch>
        </p:blipFill>
        <p:spPr bwMode="auto">
          <a:xfrm>
            <a:off x="1413164" y="1814945"/>
            <a:ext cx="9767454" cy="4322619"/>
          </a:xfrm>
          <a:prstGeom prst="rect">
            <a:avLst/>
          </a:prstGeom>
          <a:noFill/>
          <a:ln w="9525">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12"/>
          </p:nvPr>
        </p:nvSpPr>
        <p:spPr/>
        <p:txBody>
          <a:bodyPr/>
          <a:lstStyle/>
          <a:p>
            <a:fld id="{CBABCCC1-BF11-4F37-963E-1BCD5B23FD72}" type="slidenum">
              <a:rPr lang="en-IN" smtClean="0"/>
              <a:pPr/>
              <a:t>30</a:t>
            </a:fld>
            <a:endParaRPr lang="en-IN"/>
          </a:p>
        </p:txBody>
      </p:sp>
      <p:pic>
        <p:nvPicPr>
          <p:cNvPr id="1025" name="Picture 1"/>
          <p:cNvPicPr>
            <a:picLocks noGrp="1" noChangeAspect="1" noChangeArrowheads="1"/>
          </p:cNvPicPr>
          <p:nvPr>
            <p:ph idx="1"/>
          </p:nvPr>
        </p:nvPicPr>
        <p:blipFill>
          <a:blip r:embed="rId2" cstate="print"/>
          <a:srcRect/>
          <a:stretch>
            <a:fillRect/>
          </a:stretch>
        </p:blipFill>
        <p:spPr bwMode="auto">
          <a:xfrm>
            <a:off x="1385456" y="207818"/>
            <a:ext cx="9892144" cy="5860473"/>
          </a:xfrm>
          <a:prstGeom prst="rect">
            <a:avLst/>
          </a:prstGeom>
          <a:noFill/>
          <a:ln w="9525">
            <a:noFill/>
            <a:miter lim="800000"/>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12"/>
          </p:nvPr>
        </p:nvSpPr>
        <p:spPr/>
        <p:txBody>
          <a:bodyPr/>
          <a:lstStyle/>
          <a:p>
            <a:fld id="{CBABCCC1-BF11-4F37-963E-1BCD5B23FD72}" type="slidenum">
              <a:rPr lang="en-IN" smtClean="0"/>
              <a:pPr/>
              <a:t>31</a:t>
            </a:fld>
            <a:endParaRPr lang="en-IN"/>
          </a:p>
        </p:txBody>
      </p:sp>
      <p:pic>
        <p:nvPicPr>
          <p:cNvPr id="52226" name="Picture 2"/>
          <p:cNvPicPr>
            <a:picLocks noGrp="1" noChangeAspect="1" noChangeArrowheads="1"/>
          </p:cNvPicPr>
          <p:nvPr>
            <p:ph idx="1"/>
          </p:nvPr>
        </p:nvPicPr>
        <p:blipFill>
          <a:blip r:embed="rId2" cstate="print"/>
          <a:srcRect/>
          <a:stretch>
            <a:fillRect/>
          </a:stretch>
        </p:blipFill>
        <p:spPr bwMode="auto">
          <a:xfrm>
            <a:off x="1468582" y="277091"/>
            <a:ext cx="9822873" cy="5902036"/>
          </a:xfrm>
          <a:prstGeom prst="rect">
            <a:avLst/>
          </a:prstGeom>
          <a:noFill/>
          <a:ln w="9525">
            <a:noFill/>
            <a:miter lim="800000"/>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12"/>
          </p:nvPr>
        </p:nvSpPr>
        <p:spPr/>
        <p:txBody>
          <a:bodyPr/>
          <a:lstStyle/>
          <a:p>
            <a:fld id="{CBABCCC1-BF11-4F37-963E-1BCD5B23FD72}" type="slidenum">
              <a:rPr lang="en-IN" smtClean="0"/>
              <a:pPr/>
              <a:t>32</a:t>
            </a:fld>
            <a:endParaRPr lang="en-IN"/>
          </a:p>
        </p:txBody>
      </p:sp>
      <p:pic>
        <p:nvPicPr>
          <p:cNvPr id="53250" name="Picture 2"/>
          <p:cNvPicPr>
            <a:picLocks noGrp="1" noChangeAspect="1" noChangeArrowheads="1"/>
          </p:cNvPicPr>
          <p:nvPr>
            <p:ph idx="1"/>
          </p:nvPr>
        </p:nvPicPr>
        <p:blipFill>
          <a:blip r:embed="rId2" cstate="print"/>
          <a:srcRect/>
          <a:stretch>
            <a:fillRect/>
          </a:stretch>
        </p:blipFill>
        <p:spPr bwMode="auto">
          <a:xfrm>
            <a:off x="1427018" y="235527"/>
            <a:ext cx="9698182" cy="5624945"/>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12"/>
          </p:nvPr>
        </p:nvSpPr>
        <p:spPr/>
        <p:txBody>
          <a:bodyPr/>
          <a:lstStyle/>
          <a:p>
            <a:fld id="{CBABCCC1-BF11-4F37-963E-1BCD5B23FD72}" type="slidenum">
              <a:rPr lang="en-IN" smtClean="0"/>
              <a:pPr/>
              <a:t>33</a:t>
            </a:fld>
            <a:endParaRPr lang="en-IN"/>
          </a:p>
        </p:txBody>
      </p:sp>
      <p:pic>
        <p:nvPicPr>
          <p:cNvPr id="54274" name="Picture 2"/>
          <p:cNvPicPr>
            <a:picLocks noGrp="1" noChangeAspect="1" noChangeArrowheads="1"/>
          </p:cNvPicPr>
          <p:nvPr>
            <p:ph idx="1"/>
          </p:nvPr>
        </p:nvPicPr>
        <p:blipFill>
          <a:blip r:embed="rId2" cstate="print"/>
          <a:srcRect/>
          <a:stretch>
            <a:fillRect/>
          </a:stretch>
        </p:blipFill>
        <p:spPr bwMode="auto">
          <a:xfrm>
            <a:off x="1496291" y="443345"/>
            <a:ext cx="10155381" cy="5430982"/>
          </a:xfrm>
          <a:prstGeom prst="rect">
            <a:avLst/>
          </a:prstGeom>
          <a:noFill/>
          <a:ln w="9525">
            <a:noFill/>
            <a:miter lim="800000"/>
            <a:headEnd/>
            <a:tailEnd/>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12"/>
          </p:nvPr>
        </p:nvSpPr>
        <p:spPr/>
        <p:txBody>
          <a:bodyPr/>
          <a:lstStyle/>
          <a:p>
            <a:fld id="{CBABCCC1-BF11-4F37-963E-1BCD5B23FD72}" type="slidenum">
              <a:rPr lang="en-IN" smtClean="0"/>
              <a:pPr/>
              <a:t>34</a:t>
            </a:fld>
            <a:endParaRPr lang="en-IN"/>
          </a:p>
        </p:txBody>
      </p:sp>
      <p:pic>
        <p:nvPicPr>
          <p:cNvPr id="55298" name="Picture 2"/>
          <p:cNvPicPr>
            <a:picLocks noGrp="1" noChangeAspect="1" noChangeArrowheads="1"/>
          </p:cNvPicPr>
          <p:nvPr>
            <p:ph idx="1"/>
          </p:nvPr>
        </p:nvPicPr>
        <p:blipFill>
          <a:blip r:embed="rId2" cstate="print"/>
          <a:srcRect/>
          <a:stretch>
            <a:fillRect/>
          </a:stretch>
        </p:blipFill>
        <p:spPr bwMode="auto">
          <a:xfrm>
            <a:off x="1454727" y="304800"/>
            <a:ext cx="9836728" cy="5583382"/>
          </a:xfrm>
          <a:prstGeom prst="rect">
            <a:avLst/>
          </a:prstGeom>
          <a:noFill/>
          <a:ln w="9525">
            <a:noFill/>
            <a:miter lim="800000"/>
            <a:headEnd/>
            <a:tailEnd/>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12"/>
          </p:nvPr>
        </p:nvSpPr>
        <p:spPr/>
        <p:txBody>
          <a:bodyPr/>
          <a:lstStyle/>
          <a:p>
            <a:fld id="{CBABCCC1-BF11-4F37-963E-1BCD5B23FD72}" type="slidenum">
              <a:rPr lang="en-IN" smtClean="0"/>
              <a:pPr/>
              <a:t>35</a:t>
            </a:fld>
            <a:endParaRPr lang="en-IN"/>
          </a:p>
        </p:txBody>
      </p:sp>
      <p:pic>
        <p:nvPicPr>
          <p:cNvPr id="56322" name="Picture 2"/>
          <p:cNvPicPr>
            <a:picLocks noGrp="1" noChangeAspect="1" noChangeArrowheads="1"/>
          </p:cNvPicPr>
          <p:nvPr>
            <p:ph idx="1"/>
          </p:nvPr>
        </p:nvPicPr>
        <p:blipFill>
          <a:blip r:embed="rId2" cstate="print"/>
          <a:srcRect/>
          <a:stretch>
            <a:fillRect/>
          </a:stretch>
        </p:blipFill>
        <p:spPr bwMode="auto">
          <a:xfrm>
            <a:off x="1427019" y="429490"/>
            <a:ext cx="9822872" cy="5624945"/>
          </a:xfrm>
          <a:prstGeom prst="rect">
            <a:avLst/>
          </a:prstGeom>
          <a:noFill/>
          <a:ln w="9525">
            <a:noFill/>
            <a:miter lim="800000"/>
            <a:headEnd/>
            <a:tailEnd/>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12"/>
          </p:nvPr>
        </p:nvSpPr>
        <p:spPr/>
        <p:txBody>
          <a:bodyPr/>
          <a:lstStyle/>
          <a:p>
            <a:fld id="{CBABCCC1-BF11-4F37-963E-1BCD5B23FD72}" type="slidenum">
              <a:rPr lang="en-IN" smtClean="0"/>
              <a:pPr/>
              <a:t>36</a:t>
            </a:fld>
            <a:endParaRPr lang="en-IN"/>
          </a:p>
        </p:txBody>
      </p:sp>
      <p:pic>
        <p:nvPicPr>
          <p:cNvPr id="57346" name="Picture 2"/>
          <p:cNvPicPr>
            <a:picLocks noGrp="1" noChangeAspect="1" noChangeArrowheads="1"/>
          </p:cNvPicPr>
          <p:nvPr>
            <p:ph idx="1"/>
          </p:nvPr>
        </p:nvPicPr>
        <p:blipFill>
          <a:blip r:embed="rId2" cstate="print"/>
          <a:srcRect/>
          <a:stretch>
            <a:fillRect/>
          </a:stretch>
        </p:blipFill>
        <p:spPr bwMode="auto">
          <a:xfrm>
            <a:off x="1413164" y="387927"/>
            <a:ext cx="9919854" cy="5583382"/>
          </a:xfrm>
          <a:prstGeom prst="rect">
            <a:avLst/>
          </a:prstGeom>
          <a:noFill/>
          <a:ln w="9525">
            <a:noFill/>
            <a:miter lim="800000"/>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pPr/>
              <a:t>37</a:t>
            </a:fld>
            <a:endParaRPr lang="en-IN" dirty="0"/>
          </a:p>
        </p:txBody>
      </p:sp>
      <p:sp>
        <p:nvSpPr>
          <p:cNvPr id="5" name="Rounded Rectangle 17"/>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latin typeface="Poppins" panose="00000500000000000000" pitchFamily="2" charset="0"/>
                <a:cs typeface="Poppins" panose="00000500000000000000" pitchFamily="2" charset="0"/>
              </a:rPr>
              <a:t>Self-Assessment Questions</a:t>
            </a:r>
            <a:endParaRPr lang="en-US" sz="2000" dirty="0">
              <a:solidFill>
                <a:schemeClr val="bg1"/>
              </a:solidFill>
              <a:latin typeface="Poppins" panose="00000500000000000000" pitchFamily="2" charset="0"/>
              <a:cs typeface="Poppins" panose="00000500000000000000" pitchFamily="2" charset="0"/>
            </a:endParaRPr>
          </a:p>
        </p:txBody>
      </p:sp>
      <p:sp>
        <p:nvSpPr>
          <p:cNvPr id="6" name="Google Shape;502;p17"/>
          <p:cNvSpPr/>
          <p:nvPr/>
        </p:nvSpPr>
        <p:spPr>
          <a:xfrm>
            <a:off x="1009895" y="109315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fontAlgn="base"/>
            <a:r>
              <a:rPr lang="en-US" sz="2000" dirty="0" smtClean="0"/>
              <a:t>1. </a:t>
            </a:r>
            <a:r>
              <a:rPr lang="en-IN" sz="2000" b="1" dirty="0" smtClean="0"/>
              <a:t>Clustering:</a:t>
            </a:r>
            <a:r>
              <a:rPr lang="en-IN" sz="2000" dirty="0" smtClean="0"/>
              <a:t> K-means, C-means, </a:t>
            </a:r>
            <a:endParaRPr lang="en-US" sz="2000" dirty="0"/>
          </a:p>
        </p:txBody>
      </p:sp>
      <p:sp>
        <p:nvSpPr>
          <p:cNvPr id="7" name="Rounded Rectangle 17"/>
          <p:cNvSpPr/>
          <p:nvPr/>
        </p:nvSpPr>
        <p:spPr>
          <a:xfrm>
            <a:off x="1230922" y="1925151"/>
            <a:ext cx="6998677"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R"/>
            </a:pPr>
            <a:r>
              <a:rPr lang="en-US" sz="1600" dirty="0" smtClean="0"/>
              <a:t>Number of dimensions in the dataset</a:t>
            </a:r>
          </a:p>
          <a:p>
            <a:pPr marL="342900" indent="-342900">
              <a:lnSpc>
                <a:spcPct val="150000"/>
              </a:lnSpc>
              <a:buAutoNum type="alphaLcParenR"/>
            </a:pPr>
            <a:r>
              <a:rPr lang="en-US" sz="1600" dirty="0" smtClean="0"/>
              <a:t>Number of nearest neighbors</a:t>
            </a:r>
          </a:p>
          <a:p>
            <a:pPr marL="342900" indent="-342900">
              <a:lnSpc>
                <a:spcPct val="150000"/>
              </a:lnSpc>
              <a:buAutoNum type="alphaLcParenR"/>
            </a:pPr>
            <a:r>
              <a:rPr lang="en-US" sz="1600" dirty="0" smtClean="0">
                <a:solidFill>
                  <a:srgbClr val="00B050"/>
                </a:solidFill>
              </a:rPr>
              <a:t>Number of clusters</a:t>
            </a:r>
          </a:p>
          <a:p>
            <a:pPr marL="342900" indent="-342900">
              <a:lnSpc>
                <a:spcPct val="150000"/>
              </a:lnSpc>
              <a:buAutoNum type="alphaLcParenR"/>
            </a:pPr>
            <a:r>
              <a:rPr lang="en-US" sz="1600" dirty="0" smtClean="0"/>
              <a:t>Number of iterations</a:t>
            </a:r>
            <a:endParaRPr lang="en-US" sz="1600" b="1" i="0" dirty="0">
              <a:solidFill>
                <a:srgbClr val="00B050"/>
              </a:solidFill>
              <a:effectLst/>
              <a:latin typeface="var(--body-font-family)"/>
            </a:endParaRPr>
          </a:p>
        </p:txBody>
      </p:sp>
      <p:sp>
        <p:nvSpPr>
          <p:cNvPr id="8" name="Google Shape;502;p17"/>
          <p:cNvSpPr/>
          <p:nvPr/>
        </p:nvSpPr>
        <p:spPr>
          <a:xfrm>
            <a:off x="1009895" y="3667943"/>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startAt="2"/>
            </a:pPr>
            <a:r>
              <a:rPr lang="en-US" sz="2000" dirty="0" smtClean="0"/>
              <a:t>What is the main difference between K-means and Fuzzy C-means?</a:t>
            </a:r>
            <a:endParaRPr lang="en-US" sz="20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endParaRPr>
          </a:p>
        </p:txBody>
      </p:sp>
      <p:sp>
        <p:nvSpPr>
          <p:cNvPr id="10" name="Rounded Rectangle 17"/>
          <p:cNvSpPr/>
          <p:nvPr/>
        </p:nvSpPr>
        <p:spPr>
          <a:xfrm>
            <a:off x="1232634" y="4455249"/>
            <a:ext cx="7246348"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UcParenR"/>
            </a:pPr>
            <a:r>
              <a:rPr lang="en-US" sz="1600" dirty="0" smtClean="0"/>
              <a:t>K-means assigns soft membership, while Fuzzy C-means assigns hard membership</a:t>
            </a:r>
          </a:p>
          <a:p>
            <a:pPr marL="342900" indent="-342900">
              <a:lnSpc>
                <a:spcPct val="150000"/>
              </a:lnSpc>
              <a:buAutoNum type="alphaUcParenR"/>
            </a:pPr>
            <a:r>
              <a:rPr lang="en-US" sz="1600" dirty="0" smtClean="0">
                <a:solidFill>
                  <a:srgbClr val="00B050"/>
                </a:solidFill>
              </a:rPr>
              <a:t>K-means assigns hard membership, while Fuzzy C-means assigns soft membership</a:t>
            </a:r>
          </a:p>
          <a:p>
            <a:pPr marL="342900" indent="-342900">
              <a:lnSpc>
                <a:spcPct val="150000"/>
              </a:lnSpc>
              <a:buAutoNum type="alphaUcParenR"/>
            </a:pPr>
            <a:r>
              <a:rPr lang="en-US" sz="1600" dirty="0" smtClean="0"/>
              <a:t>Both assign hard membership         d)</a:t>
            </a:r>
            <a:r>
              <a:rPr lang="en-US" sz="1600" b="0" i="0" dirty="0" smtClean="0">
                <a:solidFill>
                  <a:schemeClr val="bg1"/>
                </a:solidFill>
                <a:effectLst/>
                <a:latin typeface="var(--body-font-family)"/>
              </a:rPr>
              <a:t>None</a:t>
            </a:r>
            <a:endParaRPr lang="en-US" sz="1600" b="0" i="0" dirty="0">
              <a:solidFill>
                <a:schemeClr val="bg1"/>
              </a:solidFill>
              <a:effectLst/>
              <a:latin typeface="var(--body-font-family)"/>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 name="Rounded Rectangle 17"/>
          <p:cNvSpPr/>
          <p:nvPr/>
        </p:nvSpPr>
        <p:spPr>
          <a:xfrm>
            <a:off x="3348000" y="576720"/>
            <a:ext cx="5470920" cy="600480"/>
          </a:xfrm>
          <a:prstGeom prst="roundRect">
            <a:avLst>
              <a:gd name="adj" fmla="val 16667"/>
            </a:avLst>
          </a:prstGeom>
          <a:solidFill>
            <a:srgbClr val="BA2532"/>
          </a:solidFill>
          <a:ln>
            <a:noFill/>
          </a:ln>
          <a:effectLst>
            <a:outerShdw blurRad="50760" dist="37674"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buNone/>
            </a:pPr>
            <a:r>
              <a:rPr lang="en-US" sz="3200" b="0" strike="noStrike" spc="-1">
                <a:solidFill>
                  <a:srgbClr val="FFFFFF"/>
                </a:solidFill>
                <a:latin typeface="Calibri" panose="020F0502020204030204"/>
                <a:ea typeface="DejaVu Sans"/>
              </a:rPr>
              <a:t>TERMINAL QUESTIONS</a:t>
            </a:r>
            <a:endParaRPr lang="en-IN" sz="3200" b="0" strike="noStrike" spc="-1">
              <a:latin typeface="Arial" panose="020B0604020202020204"/>
            </a:endParaRPr>
          </a:p>
        </p:txBody>
      </p:sp>
      <p:sp>
        <p:nvSpPr>
          <p:cNvPr id="282" name="TextBox 8"/>
          <p:cNvSpPr/>
          <p:nvPr/>
        </p:nvSpPr>
        <p:spPr>
          <a:xfrm>
            <a:off x="1537920" y="2211120"/>
            <a:ext cx="9573480" cy="224531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r>
              <a:rPr lang="en-US" sz="2000" dirty="0" smtClean="0"/>
              <a:t>1. Define clustering and distinguish it from classification.</a:t>
            </a:r>
          </a:p>
          <a:p>
            <a:endParaRPr lang="en-US" sz="2000" dirty="0" smtClean="0"/>
          </a:p>
          <a:p>
            <a:r>
              <a:rPr lang="en-US" sz="2000" dirty="0" smtClean="0"/>
              <a:t>2. What is the role of the parameter </a:t>
            </a:r>
            <a:r>
              <a:rPr lang="en-US" sz="2000" b="1" dirty="0" smtClean="0"/>
              <a:t>K</a:t>
            </a:r>
            <a:r>
              <a:rPr lang="en-US" sz="2000" dirty="0" smtClean="0"/>
              <a:t> in K-means clustering?</a:t>
            </a:r>
          </a:p>
          <a:p>
            <a:endParaRPr lang="en-US" sz="2000" dirty="0" smtClean="0"/>
          </a:p>
          <a:p>
            <a:r>
              <a:rPr lang="en-US" sz="2000" dirty="0" smtClean="0"/>
              <a:t>3. Mention one major limitation of K-means clustering.</a:t>
            </a:r>
          </a:p>
          <a:p>
            <a:pPr>
              <a:lnSpc>
                <a:spcPct val="200000"/>
              </a:lnSpc>
              <a:buNone/>
            </a:pPr>
            <a:endParaRPr lang="en-IN" sz="2000" b="0" strike="noStrike" spc="-1" dirty="0">
              <a:latin typeface="Arial" panose="020B0604020202020204"/>
            </a:endParaRPr>
          </a:p>
        </p:txBody>
      </p:sp>
    </p:spTree>
  </p:cSld>
  <p:clrMapOvr>
    <a:masterClrMapping/>
  </p:clrMapOvr>
  <mc:AlternateContent xmlns:mc="http://schemas.openxmlformats.org/markup-compatibility/2006">
    <mc:Choice xmlns="" xmlns:p14="http://schemas.microsoft.com/office/powerpoint/2010/main" Requires="p14">
      <p:transition spd="slow" p14:dur="125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1"/>
                                        </p:tgtEl>
                                        <p:attrNameLst>
                                          <p:attrName>style.visibility</p:attrName>
                                        </p:attrNameLst>
                                      </p:cBhvr>
                                      <p:to>
                                        <p:strVal val="visible"/>
                                      </p:to>
                                    </p:set>
                                    <p:animEffect transition="in" filter="fade">
                                      <p:cBhvr additive="repl">
                                        <p:cTn id="7" dur="500"/>
                                        <p:tgtEl>
                                          <p:spTgt spid="2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4038600" y="6356350"/>
            <a:ext cx="4114800" cy="365125"/>
          </a:xfrm>
          <a:prstGeom prst="rect">
            <a:avLst/>
          </a:prstGeom>
        </p:spPr>
        <p:txBody>
          <a:bodyPr vert="horz" lIns="91440" tIns="45720" rIns="91440" bIns="45720" rtlCol="0" anchor="ctr"/>
          <a:lstStyle>
            <a:defPPr>
              <a:defRPr lang="en-IN"/>
            </a:defPPr>
            <a:lvl1pPr algn="ctr" rtl="0" eaLnBrk="1" fontAlgn="auto" hangingPunct="1">
              <a:spcBef>
                <a:spcPts val="0"/>
              </a:spcBef>
              <a:spcAft>
                <a:spcPts val="0"/>
              </a:spcAft>
              <a:defRPr sz="1200" kern="1200">
                <a:solidFill>
                  <a:schemeClr val="tx1">
                    <a:tint val="75000"/>
                  </a:schemeClr>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r>
              <a:rPr lang="en-US"/>
              <a:t>Deep learning</a:t>
            </a:r>
          </a:p>
        </p:txBody>
      </p:sp>
      <p:sp>
        <p:nvSpPr>
          <p:cNvPr id="5" name="Slide Number Placeholder 4"/>
          <p:cNvSpPr>
            <a:spLocks noGrp="1"/>
          </p:cNvSpPr>
          <p:nvPr>
            <p:ph type="sldNum" sz="quarter" idx="12"/>
          </p:nvPr>
        </p:nvSpPr>
        <p:spPr/>
        <p:txBody>
          <a:bodyPr/>
          <a:lstStyle/>
          <a:p>
            <a:fld id="{943DE3D9-547B-48C8-AECD-0F5196EAB393}" type="slidenum">
              <a:rPr lang="en-US" smtClean="0"/>
              <a:pPr/>
              <a:t>39</a:t>
            </a:fld>
            <a:endParaRPr lang="en-US"/>
          </a:p>
        </p:txBody>
      </p:sp>
      <p:sp>
        <p:nvSpPr>
          <p:cNvPr id="12" name="Text Placeholder 11"/>
          <p:cNvSpPr>
            <a:spLocks noGrp="1"/>
          </p:cNvSpPr>
          <p:nvPr>
            <p:ph idx="4294967295"/>
          </p:nvPr>
        </p:nvSpPr>
        <p:spPr>
          <a:xfrm>
            <a:off x="0" y="1825625"/>
            <a:ext cx="12192000" cy="4351338"/>
          </a:xfrm>
        </p:spPr>
        <p:txBody>
          <a:bodyPr/>
          <a:lstStyle/>
          <a:p>
            <a:pPr>
              <a:buFont typeface="Arial" panose="020B0604020202020204" pitchFamily="34" charset="0"/>
              <a:buChar char="•"/>
            </a:pPr>
            <a:endParaRPr lang="en-US" dirty="0">
              <a:solidFill>
                <a:schemeClr val="tx1"/>
              </a:solidFill>
            </a:endParaRPr>
          </a:p>
          <a:p>
            <a:pPr>
              <a:buFont typeface="Arial" panose="020B0604020202020204" pitchFamily="34" charset="0"/>
              <a:buChar char="•"/>
            </a:pPr>
            <a:endParaRPr lang="en-US" dirty="0">
              <a:solidFill>
                <a:schemeClr val="tx1"/>
              </a:solidFill>
            </a:endParaRPr>
          </a:p>
          <a:p>
            <a:r>
              <a:rPr lang="en-US" dirty="0" smtClean="0"/>
              <a:t> </a:t>
            </a:r>
            <a:endParaRPr lang="en-US" dirty="0"/>
          </a:p>
        </p:txBody>
      </p:sp>
      <p:sp>
        <p:nvSpPr>
          <p:cNvPr id="2" name="Rounded Rectangle 17"/>
          <p:cNvSpPr/>
          <p:nvPr/>
        </p:nvSpPr>
        <p:spPr>
          <a:xfrm>
            <a:off x="1574799" y="694337"/>
            <a:ext cx="8503265" cy="58826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1120876" y="1915318"/>
            <a:ext cx="10707329" cy="4939814"/>
          </a:xfrm>
          <a:prstGeom prst="rect">
            <a:avLst/>
          </a:prstGeom>
          <a:noFill/>
        </p:spPr>
        <p:txBody>
          <a:bodyPr wrap="square" rtlCol="0">
            <a:spAutoFit/>
          </a:bodyPr>
          <a:lstStyle/>
          <a:p>
            <a:pPr>
              <a:lnSpc>
                <a:spcPct val="150000"/>
              </a:lnSpc>
            </a:pPr>
            <a:r>
              <a:rPr lang="en-US" b="1" dirty="0"/>
              <a:t> Books:</a:t>
            </a:r>
          </a:p>
          <a:p>
            <a:r>
              <a:rPr lang="en-US" b="1" dirty="0" smtClean="0"/>
              <a:t>1ain, A. K., &amp; </a:t>
            </a:r>
            <a:r>
              <a:rPr lang="en-US" b="1" dirty="0" err="1" smtClean="0"/>
              <a:t>Dubes</a:t>
            </a:r>
            <a:r>
              <a:rPr lang="en-US" b="1" dirty="0" smtClean="0"/>
              <a:t>, R. C. (1988). </a:t>
            </a:r>
            <a:r>
              <a:rPr lang="en-US" i="1" dirty="0" smtClean="0"/>
              <a:t>Algorithms for Clustering Data. </a:t>
            </a:r>
            <a:r>
              <a:rPr lang="en-US" dirty="0" smtClean="0"/>
              <a:t>Prentice Hall.</a:t>
            </a:r>
            <a:br>
              <a:rPr lang="en-US" dirty="0" smtClean="0"/>
            </a:br>
            <a:r>
              <a:rPr lang="en-US" dirty="0" smtClean="0"/>
              <a:t>A foundational book focusing entirely on clustering methods.</a:t>
            </a:r>
          </a:p>
          <a:p>
            <a:r>
              <a:rPr lang="en-US" b="1" dirty="0" smtClean="0"/>
              <a:t>2. Han, J., </a:t>
            </a:r>
            <a:r>
              <a:rPr lang="en-US" b="1" dirty="0" err="1" smtClean="0"/>
              <a:t>Kamber</a:t>
            </a:r>
            <a:r>
              <a:rPr lang="en-US" b="1" dirty="0" smtClean="0"/>
              <a:t>, M., &amp; Pei, J. (2011). </a:t>
            </a:r>
            <a:r>
              <a:rPr lang="en-US" i="1" dirty="0" smtClean="0"/>
              <a:t>Data Mining: Concepts and Techniques</a:t>
            </a:r>
            <a:r>
              <a:rPr lang="en-US" dirty="0" smtClean="0"/>
              <a:t> (3rd Edition). Morgan Kaufmann.</a:t>
            </a:r>
          </a:p>
          <a:p>
            <a:endParaRPr lang="en-US" b="1" dirty="0" smtClean="0"/>
          </a:p>
          <a:p>
            <a:r>
              <a:rPr lang="en-US" b="1" dirty="0" smtClean="0"/>
              <a:t>Web </a:t>
            </a:r>
            <a:r>
              <a:rPr lang="en-US" b="1" dirty="0"/>
              <a:t>references:</a:t>
            </a:r>
          </a:p>
          <a:p>
            <a:r>
              <a:rPr lang="en-US" dirty="0" err="1" smtClean="0"/>
              <a:t>Scikit</a:t>
            </a:r>
            <a:r>
              <a:rPr lang="en-US" dirty="0" smtClean="0"/>
              <a:t>-learn Documentation</a:t>
            </a:r>
          </a:p>
          <a:p>
            <a:r>
              <a:rPr lang="en-US" dirty="0" smtClean="0"/>
              <a:t/>
            </a:r>
            <a:br>
              <a:rPr lang="en-US" dirty="0" smtClean="0"/>
            </a:br>
            <a:r>
              <a:rPr lang="en-US" dirty="0" smtClean="0"/>
              <a:t> </a:t>
            </a:r>
            <a:r>
              <a:rPr lang="en-US" dirty="0" smtClean="0">
                <a:hlinkClick r:id="rId3"/>
              </a:rPr>
              <a:t>https://scikit-learn.org/stable/modules/clustering.html</a:t>
            </a:r>
            <a:endParaRPr lang="en-US" dirty="0" smtClean="0"/>
          </a:p>
          <a:p>
            <a:endParaRPr lang="en-US" dirty="0" smtClean="0"/>
          </a:p>
          <a:p>
            <a:r>
              <a:rPr lang="en-US" dirty="0" smtClean="0"/>
              <a:t>Towards Data Science (Medium)</a:t>
            </a:r>
            <a:br>
              <a:rPr lang="en-US" dirty="0" smtClean="0"/>
            </a:br>
            <a:r>
              <a:rPr lang="en-US" dirty="0" smtClean="0"/>
              <a:t> </a:t>
            </a:r>
            <a:r>
              <a:rPr lang="en-US" dirty="0" smtClean="0">
                <a:hlinkClick r:id="rId4"/>
              </a:rPr>
              <a:t>https://towardsdatascience.com/</a:t>
            </a:r>
            <a:endParaRPr lang="en-US" dirty="0" smtClean="0"/>
          </a:p>
          <a:p>
            <a:endParaRPr lang="en-US" dirty="0" smtClean="0"/>
          </a:p>
          <a:p>
            <a:endParaRPr lang="en-US" dirty="0" smtClean="0"/>
          </a:p>
          <a:p>
            <a:endParaRPr lang="en-US" dirty="0" smtClean="0"/>
          </a:p>
          <a:p>
            <a:endParaRPr lang="en-US" dirty="0" smtClean="0"/>
          </a:p>
          <a:p>
            <a:pPr marL="342900" indent="-342900">
              <a:buAutoNum type="arabicPeriod"/>
            </a:pPr>
            <a:endParaRPr lang="en-US" dirty="0">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pPr/>
              <a:t>40</a:t>
            </a:fld>
            <a:endParaRPr lang="en-IN"/>
          </a:p>
        </p:txBody>
      </p:sp>
      <p:sp>
        <p:nvSpPr>
          <p:cNvPr id="9" name="Rounded Rectangle 3"/>
          <p:cNvSpPr/>
          <p:nvPr/>
        </p:nvSpPr>
        <p:spPr>
          <a:xfrm>
            <a:off x="2541453" y="2477826"/>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a:t>
            </a:r>
            <a:r>
              <a:rPr lang="en-US" sz="2400" b="1" dirty="0" smtClean="0">
                <a:latin typeface="Poppins" pitchFamily="2" charset="77"/>
                <a:cs typeface="Poppins" pitchFamily="2" charset="77"/>
              </a:rPr>
              <a:t>– AI &amp;ML</a:t>
            </a:r>
            <a:endParaRPr lang="en-US" sz="2400" b="1" dirty="0">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CoE PPT Template</Template>
  <TotalTime>2991</TotalTime>
  <Words>1642</Words>
  <Application>Microsoft Office PowerPoint</Application>
  <PresentationFormat>Custom</PresentationFormat>
  <Paragraphs>223</Paragraphs>
  <Slides>40</Slides>
  <Notes>2</Notes>
  <HiddenSlides>0</HiddenSlides>
  <MMClips>0</MMClips>
  <ScaleCrop>false</ScaleCrop>
  <HeadingPairs>
    <vt:vector size="4" baseType="variant">
      <vt:variant>
        <vt:lpstr>Theme</vt:lpstr>
      </vt:variant>
      <vt:variant>
        <vt:i4>1</vt:i4>
      </vt:variant>
      <vt:variant>
        <vt:lpstr>Slide Titles</vt:lpstr>
      </vt:variant>
      <vt:variant>
        <vt:i4>40</vt:i4>
      </vt:variant>
    </vt:vector>
  </HeadingPairs>
  <TitlesOfParts>
    <vt:vector size="41" baseType="lpstr">
      <vt:lpstr>Gallery</vt:lpstr>
      <vt:lpstr>Slide 1</vt:lpstr>
      <vt:lpstr>Slide 2</vt:lpstr>
      <vt:lpstr>Objectives</vt:lpstr>
      <vt:lpstr>Clustering</vt:lpstr>
      <vt:lpstr>CONTD..</vt:lpstr>
      <vt:lpstr>CONTD..</vt:lpstr>
      <vt:lpstr>CONTD.. </vt:lpstr>
      <vt:lpstr>CONTD..</vt:lpstr>
      <vt:lpstr>CONTD..</vt:lpstr>
      <vt:lpstr>CONTD..</vt:lpstr>
      <vt:lpstr>CONTD..</vt:lpstr>
      <vt:lpstr>        K means Clustering</vt:lpstr>
      <vt:lpstr>CONTD…</vt:lpstr>
      <vt:lpstr>CONTD..</vt:lpstr>
      <vt:lpstr>CONTD..</vt:lpstr>
      <vt:lpstr>CONTD..</vt:lpstr>
      <vt:lpstr>WORKING of K-Means</vt:lpstr>
      <vt:lpstr>APPLICATIONS</vt:lpstr>
      <vt:lpstr> CONTD..</vt:lpstr>
      <vt:lpstr>PROBLEM</vt:lpstr>
      <vt:lpstr>CONTD..</vt:lpstr>
      <vt:lpstr>CONTD..</vt:lpstr>
      <vt:lpstr>CONTD..</vt:lpstr>
      <vt:lpstr>       C-means clustering</vt:lpstr>
      <vt:lpstr>CONTD..</vt:lpstr>
      <vt:lpstr>CONTd..</vt:lpstr>
      <vt:lpstr>Working of Fuzzy Clustering </vt:lpstr>
      <vt:lpstr>CONTD..</vt:lpstr>
      <vt:lpstr>CONTD..</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Narendra Babu T</dc:creator>
  <cp:lastModifiedBy>ADMIN</cp:lastModifiedBy>
  <cp:revision>100</cp:revision>
  <dcterms:created xsi:type="dcterms:W3CDTF">2023-05-06T03:47:00Z</dcterms:created>
  <dcterms:modified xsi:type="dcterms:W3CDTF">2025-10-05T14:59:51Z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6E6046E1B8564DE48E72D44BA630FF3F_13</vt:lpwstr>
  </property>
  <property fmtid="{D5CDD505-2E9C-101B-9397-08002B2CF9AE}" pid="3" name="KSOProductBuildVer">
    <vt:lpwstr>1033-12.2.0.17119</vt:lpwstr>
  </property>
</Properties>
</file>