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handoutMasterIdLst>
    <p:handoutMasterId r:id="rId22"/>
  </p:handoutMasterIdLst>
  <p:sldIdLst>
    <p:sldId id="256" r:id="rId2"/>
    <p:sldId id="272" r:id="rId3"/>
    <p:sldId id="280" r:id="rId4"/>
    <p:sldId id="324" r:id="rId5"/>
    <p:sldId id="395" r:id="rId6"/>
    <p:sldId id="396" r:id="rId7"/>
    <p:sldId id="397" r:id="rId8"/>
    <p:sldId id="398" r:id="rId9"/>
    <p:sldId id="388" r:id="rId10"/>
    <p:sldId id="389" r:id="rId11"/>
    <p:sldId id="390" r:id="rId12"/>
    <p:sldId id="391" r:id="rId13"/>
    <p:sldId id="392" r:id="rId14"/>
    <p:sldId id="393" r:id="rId15"/>
    <p:sldId id="387" r:id="rId16"/>
    <p:sldId id="300" r:id="rId17"/>
    <p:sldId id="284" r:id="rId18"/>
    <p:sldId id="323" r:id="rId19"/>
    <p:sldId id="28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0" autoAdjust="0"/>
    <p:restoredTop sz="94773" autoAdjust="0"/>
  </p:normalViewPr>
  <p:slideViewPr>
    <p:cSldViewPr snapToGrid="0">
      <p:cViewPr varScale="1">
        <p:scale>
          <a:sx n="69" d="100"/>
          <a:sy n="69" d="100"/>
        </p:scale>
        <p:origin x="-1242"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21-09-2025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21-09-2025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Course Title, Topic Name</a:t>
            </a:r>
          </a:p>
        </p:txBody>
      </p:sp>
      <p:sp>
        <p:nvSpPr>
          <p:cNvPr id="5" name="Footer Placeholder 4"/>
          <p:cNvSpPr>
            <a:spLocks noGrp="1"/>
          </p:cNvSpPr>
          <p:nvPr>
            <p:ph type="ftr" sz="quarter" idx="4"/>
          </p:nvPr>
        </p:nvSpPr>
        <p:spPr/>
        <p:txBody>
          <a:bodyPr/>
          <a:lstStyle/>
          <a:p>
            <a:r>
              <a:rPr lang="en-US"/>
              <a:t>College of Engineering, KONERU LAKSHMAIAH EDUCATION FOUNDATION</a:t>
            </a:r>
            <a:endParaRPr lang="en-IN"/>
          </a:p>
        </p:txBody>
      </p:sp>
      <p:sp>
        <p:nvSpPr>
          <p:cNvPr id="6" name="Slide Number Placeholder 5"/>
          <p:cNvSpPr>
            <a:spLocks noGrp="1"/>
          </p:cNvSpPr>
          <p:nvPr>
            <p:ph type="sldNum" sz="quarter" idx="5"/>
          </p:nvPr>
        </p:nvSpPr>
        <p:spPr/>
        <p:txBody>
          <a:bodyPr/>
          <a:lstStyle/>
          <a:p>
            <a:fld id="{823BDDA1-7BB7-447A-97DE-AE5425C8F2AD}" type="slidenum">
              <a:rPr lang="en-IN" smtClean="0"/>
              <a:pPr/>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7232732-0EAA-40DA-B6D5-3FC007231A27}" type="slidenum">
              <a:rPr lang="en-IN" altLang="en-US" smtClean="0"/>
              <a:pPr/>
              <a:t>18</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maths/method-of-moment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builtin.com/data-science/covariance-vs-correlatio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scikit-learn.org/stable/modules/mixture.html"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hyperlink" Target="https://www.youtube.com/watch?v=3xS23yUe6vI"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oogle Shape;464;p16"/>
          <p:cNvPicPr preferRelativeResize="0"/>
          <p:nvPr/>
        </p:nvPicPr>
        <p:blipFill>
          <a:blip r:embed="rId3" cstate="print">
            <a:extLst>
              <a:ext uri="{28A0092B-C50C-407E-A947-70E740481C1C}">
                <a14:useLocalDpi xmlns="" xmlns:a14="http://schemas.microsoft.com/office/drawing/2010/main" val="0"/>
              </a:ext>
            </a:extLst>
          </a:blip>
          <a:stretch>
            <a:fillRect/>
          </a:stretch>
        </p:blipFill>
        <p:spPr>
          <a:xfrm>
            <a:off x="23449" y="234462"/>
            <a:ext cx="4829908" cy="5838093"/>
          </a:xfrm>
          <a:prstGeom prst="rect">
            <a:avLst/>
          </a:prstGeom>
          <a:noFill/>
          <a:ln>
            <a:noFill/>
          </a:ln>
        </p:spPr>
      </p:pic>
      <p:sp>
        <p:nvSpPr>
          <p:cNvPr id="15" name="Google Shape;476;p16"/>
          <p:cNvSpPr txBox="1"/>
          <p:nvPr/>
        </p:nvSpPr>
        <p:spPr>
          <a:xfrm>
            <a:off x="5249334" y="1323812"/>
            <a:ext cx="6791558" cy="1815841"/>
          </a:xfrm>
          <a:prstGeom prst="rect">
            <a:avLst/>
          </a:prstGeom>
          <a:noFill/>
          <a:ln>
            <a:noFill/>
          </a:ln>
        </p:spPr>
        <p:txBody>
          <a:bodyPr spcFirstLastPara="1" wrap="square" lIns="91425" tIns="45700" rIns="91425" bIns="45700" anchor="t" anchorCtr="0">
            <a:spAutoFit/>
          </a:bodyPr>
          <a:lstStyle/>
          <a:p>
            <a:pPr algn="ctr"/>
            <a:r>
              <a:rPr lang="en-US" sz="2400" b="1" cap="all" dirty="0" smtClean="0">
                <a:solidFill>
                  <a:srgbClr val="C00000"/>
                </a:solidFill>
                <a:cs typeface="Poppins" panose="00000500000000000000" pitchFamily="2" charset="0"/>
                <a:sym typeface="BioRhyme ExtraBold"/>
              </a:rPr>
              <a:t>Course:  AI &amp; ML</a:t>
            </a:r>
            <a:endParaRPr lang="en-US" sz="24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2400" b="1" cap="all" dirty="0" smtClean="0">
                <a:solidFill>
                  <a:srgbClr val="C00000"/>
                </a:solidFill>
                <a:cs typeface="Poppins"/>
                <a:sym typeface="BioRhyme ExtraBold"/>
              </a:rPr>
              <a:t>Course code: 24AD2001A</a:t>
            </a:r>
            <a:endParaRPr lang="en-US" sz="2400" b="1" cap="all" dirty="0">
              <a:solidFill>
                <a:srgbClr val="C00000"/>
              </a:solidFill>
              <a:cs typeface="Poppins"/>
              <a:sym typeface="BioRhyme ExtraBold"/>
            </a:endParaRPr>
          </a:p>
          <a:p>
            <a:pPr marR="0" lvl="0" indent="0" algn="ctr">
              <a:spcBef>
                <a:spcPts val="0"/>
              </a:spcBef>
              <a:spcAft>
                <a:spcPts val="0"/>
              </a:spcAft>
              <a:buNone/>
            </a:pPr>
            <a:endParaRPr lang="en-US" sz="2000" b="1" dirty="0">
              <a:solidFill>
                <a:srgbClr val="C00000"/>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rgbClr val="C00000"/>
                </a:solidFill>
                <a:ea typeface="BioRhyme ExtraBold"/>
                <a:cs typeface="Poppins" panose="00000500000000000000" pitchFamily="2" charset="0"/>
                <a:sym typeface="BioRhyme ExtraBold"/>
              </a:rPr>
              <a:t>Topic: </a:t>
            </a:r>
          </a:p>
          <a:p>
            <a:r>
              <a:rPr lang="en-US" sz="2400" b="1" dirty="0" smtClean="0"/>
              <a:t>Generalized Method of Moments (GMM)</a:t>
            </a:r>
            <a:endParaRPr lang="en-US" sz="2400" b="1" dirty="0"/>
          </a:p>
        </p:txBody>
      </p:sp>
      <p:sp>
        <p:nvSpPr>
          <p:cNvPr id="16" name="Google Shape;475;p16"/>
          <p:cNvSpPr txBox="1"/>
          <p:nvPr/>
        </p:nvSpPr>
        <p:spPr>
          <a:xfrm>
            <a:off x="6468032" y="221119"/>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a:rPr>
              <a:t>Department </a:t>
            </a:r>
            <a:r>
              <a:rPr lang="en-US" sz="4000" dirty="0" smtClean="0">
                <a:solidFill>
                  <a:srgbClr val="C00000"/>
                </a:solidFill>
                <a:cs typeface="Poppins"/>
              </a:rPr>
              <a:t>of CSE</a:t>
            </a:r>
            <a:endParaRPr lang="en-US" sz="4000" dirty="0">
              <a:solidFill>
                <a:srgbClr val="C00000"/>
              </a:solidFill>
              <a:cs typeface="Poppins"/>
            </a:endParaRPr>
          </a:p>
        </p:txBody>
      </p:sp>
      <p:sp>
        <p:nvSpPr>
          <p:cNvPr id="17" name="Google Shape;502;p17"/>
          <p:cNvSpPr/>
          <p:nvPr/>
        </p:nvSpPr>
        <p:spPr>
          <a:xfrm>
            <a:off x="7892797" y="4137052"/>
            <a:ext cx="232972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a:t>
            </a:r>
            <a:r>
              <a:rPr lang="en-US" sz="2400" dirty="0" smtClean="0">
                <a:solidFill>
                  <a:schemeClr val="lt1"/>
                </a:solidFill>
                <a:ea typeface="Calibri" panose="020F0502020204030204"/>
                <a:cs typeface="Poppins" panose="00000500000000000000" pitchFamily="2" charset="0"/>
                <a:sym typeface="Calibri" panose="020F0502020204030204"/>
              </a:rPr>
              <a:t>– </a:t>
            </a:r>
            <a:r>
              <a:rPr lang="en-US" sz="2400" dirty="0" smtClean="0">
                <a:solidFill>
                  <a:schemeClr val="lt1"/>
                </a:solidFill>
                <a:ea typeface="Calibri" panose="020F0502020204030204"/>
                <a:cs typeface="Poppins" panose="00000500000000000000" pitchFamily="2" charset="0"/>
                <a:sym typeface="Calibri" panose="020F0502020204030204"/>
              </a:rPr>
              <a:t>31</a:t>
            </a:r>
            <a:endParaRPr sz="2400" dirty="0">
              <a:solidFill>
                <a:schemeClr val="lt1"/>
              </a:solidFill>
              <a:ea typeface="Calibri" panose="020F0502020204030204"/>
              <a:cs typeface="Poppins" panose="00000500000000000000" pitchFamily="2" charset="0"/>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a:p>
        </p:txBody>
      </p:sp>
      <p:sp>
        <p:nvSpPr>
          <p:cNvPr id="5" name="Rounded Rectangle 17"/>
          <p:cNvSpPr/>
          <p:nvPr/>
        </p:nvSpPr>
        <p:spPr>
          <a:xfrm>
            <a:off x="4521685" y="262546"/>
            <a:ext cx="3148630" cy="35921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6" name="TextBox 5"/>
          <p:cNvSpPr txBox="1"/>
          <p:nvPr/>
        </p:nvSpPr>
        <p:spPr>
          <a:xfrm>
            <a:off x="1172306" y="766185"/>
            <a:ext cx="10731286" cy="115653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dirty="0" smtClean="0"/>
              <a:t>The aim of this session is to introduce learners to Gaussian Processes as a probabilistic, non-parametric modeling approach for regression and classification, with emphasis on understanding kernels, uncertainty quantification, model calibration, and confidence estimation for reliable decision-making in machine learning applications.</a:t>
            </a:r>
            <a:endParaRPr lang="en-US" sz="1600" dirty="0">
              <a:latin typeface="Poppins"/>
              <a:cs typeface="Poppins"/>
            </a:endParaRPr>
          </a:p>
        </p:txBody>
      </p:sp>
      <p:pic>
        <p:nvPicPr>
          <p:cNvPr id="7" name="Graphic 6" descr="Bullseye outline"/>
          <p:cNvPicPr>
            <a:picLocks noChangeAspect="1"/>
          </p:cNvPicPr>
          <p:nvPr/>
        </p:nvPicPr>
        <p:blipFill>
          <a:blip r:embed="rId2" cstate="print">
            <a:extLst>
              <a:ext uri="{28A0092B-C50C-407E-A947-70E740481C1C}">
                <a14:useLocalDpi xmlns="" xmlns:a14="http://schemas.microsoft.com/office/drawing/2010/main" val="0"/>
              </a:ext>
              <a:ext uri="{96DAC541-7B7A-43D3-8B79-37D633B846F1}">
                <asvg:svgBlip xmlns="" xmlns:asvg="http://schemas.microsoft.com/office/drawing/2016/SVG/main" r:embed="rId3"/>
              </a:ext>
            </a:extLst>
          </a:blip>
          <a:stretch>
            <a:fillRect/>
          </a:stretch>
        </p:blipFill>
        <p:spPr>
          <a:xfrm>
            <a:off x="211014" y="519474"/>
            <a:ext cx="914400" cy="914400"/>
          </a:xfrm>
          <a:prstGeom prst="rect">
            <a:avLst/>
          </a:prstGeom>
        </p:spPr>
      </p:pic>
      <p:sp>
        <p:nvSpPr>
          <p:cNvPr id="8" name="Rounded Rectangle 17"/>
          <p:cNvSpPr/>
          <p:nvPr/>
        </p:nvSpPr>
        <p:spPr>
          <a:xfrm>
            <a:off x="4386208" y="2030999"/>
            <a:ext cx="4303481" cy="42678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p:cNvSpPr txBox="1"/>
          <p:nvPr/>
        </p:nvSpPr>
        <p:spPr>
          <a:xfrm>
            <a:off x="1172306" y="2708776"/>
            <a:ext cx="10731286"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r>
              <a:rPr lang="en-US" sz="1600" dirty="0" smtClean="0"/>
              <a:t>1. </a:t>
            </a:r>
            <a:r>
              <a:rPr lang="en-US" sz="1600" dirty="0" smtClean="0"/>
              <a:t>Understand the concepts and mathematical foundations of hard and probabilistic clustering.</a:t>
            </a:r>
          </a:p>
          <a:p>
            <a:r>
              <a:rPr lang="en-US" sz="1600" dirty="0" smtClean="0"/>
              <a:t>2. Learn </a:t>
            </a:r>
            <a:r>
              <a:rPr lang="en-US" sz="1600" dirty="0" smtClean="0"/>
              <a:t>how to partition data into clusters using C-means and GMM.</a:t>
            </a:r>
            <a:endParaRPr lang="en-US" sz="1600" dirty="0"/>
          </a:p>
        </p:txBody>
      </p:sp>
      <p:pic>
        <p:nvPicPr>
          <p:cNvPr id="10" name="Graphic 9" descr="Presentation with checklist outline"/>
          <p:cNvPicPr>
            <a:picLocks noChangeAspect="1"/>
          </p:cNvPicPr>
          <p:nvPr/>
        </p:nvPicPr>
        <p:blipFill>
          <a:blip r:embed="rId4" cstate="print">
            <a:extLst>
              <a:ext uri="{28A0092B-C50C-407E-A947-70E740481C1C}">
                <a14:useLocalDpi xmlns="" xmlns:a14="http://schemas.microsoft.com/office/drawing/2010/main" val="0"/>
              </a:ext>
              <a:ext uri="{96DAC541-7B7A-43D3-8B79-37D633B846F1}">
                <asvg:svgBlip xmlns="" xmlns:asvg="http://schemas.microsoft.com/office/drawing/2016/SVG/main" r:embed="rId5"/>
              </a:ext>
            </a:extLst>
          </a:blip>
          <a:stretch>
            <a:fillRect/>
          </a:stretch>
        </p:blipFill>
        <p:spPr>
          <a:xfrm>
            <a:off x="211014" y="3068004"/>
            <a:ext cx="914400" cy="914400"/>
          </a:xfrm>
          <a:prstGeom prst="rect">
            <a:avLst/>
          </a:prstGeom>
        </p:spPr>
      </p:pic>
      <p:sp>
        <p:nvSpPr>
          <p:cNvPr id="11" name="Rounded Rectangle 17"/>
          <p:cNvSpPr/>
          <p:nvPr/>
        </p:nvSpPr>
        <p:spPr>
          <a:xfrm>
            <a:off x="4470877" y="4595445"/>
            <a:ext cx="3870831" cy="26963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12" name="Graphic 11" descr="Idea outline"/>
          <p:cNvPicPr>
            <a:picLocks noChangeAspect="1"/>
          </p:cNvPicPr>
          <p:nvPr/>
        </p:nvPicPr>
        <p:blipFill>
          <a:blip r:embed="rId6" cstate="print">
            <a:extLst>
              <a:ext uri="{28A0092B-C50C-407E-A947-70E740481C1C}">
                <a14:useLocalDpi xmlns="" xmlns:a14="http://schemas.microsoft.com/office/drawing/2010/main" val="0"/>
              </a:ext>
              <a:ext uri="{96DAC541-7B7A-43D3-8B79-37D633B846F1}">
                <asvg:svgBlip xmlns="" xmlns:asvg="http://schemas.microsoft.com/office/drawing/2016/SVG/main" r:embed="rId7"/>
              </a:ext>
            </a:extLst>
          </a:blip>
          <a:stretch>
            <a:fillRect/>
          </a:stretch>
        </p:blipFill>
        <p:spPr>
          <a:xfrm>
            <a:off x="211014" y="5009147"/>
            <a:ext cx="914400" cy="914400"/>
          </a:xfrm>
          <a:prstGeom prst="rect">
            <a:avLst/>
          </a:prstGeom>
        </p:spPr>
      </p:pic>
      <p:sp>
        <p:nvSpPr>
          <p:cNvPr id="13" name="TextBox 12"/>
          <p:cNvSpPr txBox="1"/>
          <p:nvPr/>
        </p:nvSpPr>
        <p:spPr>
          <a:xfrm>
            <a:off x="1172306" y="5134708"/>
            <a:ext cx="10731286"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p>
          <a:p>
            <a:r>
              <a:rPr lang="en-US" sz="1600" dirty="0" smtClean="0"/>
              <a:t>1. </a:t>
            </a:r>
            <a:r>
              <a:rPr lang="en-US" sz="1600" dirty="0" smtClean="0"/>
              <a:t>Understand the concept of clustering and distinguish between hard (C-means/k-means) and probabilistic clustering (GMM).</a:t>
            </a:r>
          </a:p>
          <a:p>
            <a:r>
              <a:rPr lang="en-US" sz="1600" dirty="0" smtClean="0"/>
              <a:t>2. Explain </a:t>
            </a:r>
            <a:r>
              <a:rPr lang="en-US" sz="1600" dirty="0" smtClean="0"/>
              <a:t>the mathematical formulation of C-means and GMM, including the objective functions and EM algorithm steps.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581891" y="171886"/>
            <a:ext cx="9820638" cy="714806"/>
          </a:xfrm>
        </p:spPr>
        <p:txBody>
          <a:bodyPr/>
          <a:lstStyle/>
          <a:p>
            <a:pPr algn="ctr"/>
            <a:r>
              <a:rPr lang="en-US" sz="3600" b="1" dirty="0">
                <a:solidFill>
                  <a:srgbClr val="C00000"/>
                </a:solidFill>
              </a:rPr>
              <a:t>Objectives</a:t>
            </a:r>
            <a:endParaRPr lang="en-US" sz="3600" dirty="0">
              <a:solidFill>
                <a:srgbClr val="C00000"/>
              </a:solidFill>
            </a:endParaRPr>
          </a:p>
        </p:txBody>
      </p:sp>
      <p:sp>
        <p:nvSpPr>
          <p:cNvPr id="3" name="Date Placeholder 2"/>
          <p:cNvSpPr>
            <a:spLocks noGrp="1"/>
          </p:cNvSpPr>
          <p:nvPr>
            <p:ph type="dt" sz="half" idx="10"/>
          </p:nvPr>
        </p:nvSpPr>
        <p:spPr/>
        <p:txBody>
          <a:bodyPr/>
          <a:lstStyle/>
          <a:p>
            <a:fld id="{9FE2D161-B892-479D-A003-8FCF4A49FB71}" type="datetime1">
              <a:rPr lang="en-US" smtClean="0"/>
              <a:pPr/>
              <a:t>9/21/2025</a:t>
            </a:fld>
            <a:endParaRPr lang="en-US" dirty="0"/>
          </a:p>
        </p:txBody>
      </p:sp>
      <p:sp>
        <p:nvSpPr>
          <p:cNvPr id="4" name="Footer Placeholder 3"/>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r>
              <a:rPr lang="en-US"/>
              <a:t>Deep learning</a:t>
            </a:r>
          </a:p>
        </p:txBody>
      </p:sp>
      <p:sp>
        <p:nvSpPr>
          <p:cNvPr id="5" name="Slide Number Placeholder 4"/>
          <p:cNvSpPr>
            <a:spLocks noGrp="1"/>
          </p:cNvSpPr>
          <p:nvPr>
            <p:ph type="sldNum" sz="quarter" idx="12"/>
          </p:nvPr>
        </p:nvSpPr>
        <p:spPr/>
        <p:txBody>
          <a:bodyPr/>
          <a:lstStyle/>
          <a:p>
            <a:fld id="{943DE3D9-547B-48C8-AECD-0F5196EAB393}" type="slidenum">
              <a:rPr lang="en-US" smtClean="0"/>
              <a:pPr/>
              <a:t>3</a:t>
            </a:fld>
            <a:endParaRPr lang="en-US"/>
          </a:p>
        </p:txBody>
      </p:sp>
      <p:sp>
        <p:nvSpPr>
          <p:cNvPr id="6" name="Rectangle 5"/>
          <p:cNvSpPr/>
          <p:nvPr/>
        </p:nvSpPr>
        <p:spPr>
          <a:xfrm>
            <a:off x="1477107" y="1148863"/>
            <a:ext cx="9530861" cy="2554545"/>
          </a:xfrm>
          <a:prstGeom prst="rect">
            <a:avLst/>
          </a:prstGeom>
        </p:spPr>
        <p:txBody>
          <a:bodyPr wrap="square">
            <a:spAutoFit/>
          </a:bodyPr>
          <a:lstStyle/>
          <a:p>
            <a:r>
              <a:rPr lang="en-US" sz="2000" dirty="0" smtClean="0"/>
              <a:t>1. Define </a:t>
            </a:r>
            <a:r>
              <a:rPr lang="en-US" sz="2000" dirty="0" smtClean="0"/>
              <a:t>clustering and its types, including hard (C-means/k-means) and soft (GMM) clustering.</a:t>
            </a:r>
          </a:p>
          <a:p>
            <a:endParaRPr lang="en-US" sz="2000" dirty="0" smtClean="0"/>
          </a:p>
          <a:p>
            <a:r>
              <a:rPr lang="en-US" sz="2000" dirty="0" smtClean="0"/>
              <a:t>2. Describe </a:t>
            </a:r>
            <a:r>
              <a:rPr lang="en-US" sz="2000" dirty="0" smtClean="0"/>
              <a:t>the mathematical foundation of C-means clustering and Gaussian Mixture Models.</a:t>
            </a:r>
          </a:p>
          <a:p>
            <a:endParaRPr lang="en-US" sz="2000" dirty="0" smtClean="0"/>
          </a:p>
          <a:p>
            <a:r>
              <a:rPr lang="en-US" sz="2000" dirty="0" smtClean="0"/>
              <a:t>3.Explain </a:t>
            </a:r>
            <a:r>
              <a:rPr lang="en-US" sz="2000" dirty="0" smtClean="0"/>
              <a:t>the Expectation-Maximization (EM) algorithm for parameter estimation in GMM.</a:t>
            </a:r>
          </a:p>
          <a:p>
            <a:endParaRPr lang="en-US" sz="20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Generalized Method of Moments (GMM)</a:t>
            </a:r>
            <a:endParaRPr lang="en-US" b="1" dirty="0"/>
          </a:p>
        </p:txBody>
      </p:sp>
      <p:sp>
        <p:nvSpPr>
          <p:cNvPr id="3" name="Content Placeholder 2"/>
          <p:cNvSpPr>
            <a:spLocks noGrp="1"/>
          </p:cNvSpPr>
          <p:nvPr>
            <p:ph idx="1"/>
          </p:nvPr>
        </p:nvSpPr>
        <p:spPr>
          <a:xfrm>
            <a:off x="1451579" y="2015732"/>
            <a:ext cx="9603275" cy="4080268"/>
          </a:xfrm>
        </p:spPr>
        <p:txBody>
          <a:bodyPr>
            <a:normAutofit/>
          </a:bodyPr>
          <a:lstStyle/>
          <a:p>
            <a:pPr algn="just"/>
            <a:r>
              <a:rPr lang="en-US" dirty="0" smtClean="0"/>
              <a:t>The Generalized Method of Moments (GMM) is a method used to estimate the parameters such as slope or intercept in models when traditional methods do not work well. It is useful when the data does not follow the usual assumptions, when there are issues with the data or when the independent variable is related to the error term. It is an extension of the </a:t>
            </a:r>
            <a:r>
              <a:rPr lang="en-US" dirty="0" smtClean="0">
                <a:hlinkClick r:id="rId2"/>
              </a:rPr>
              <a:t>Method of Moments</a:t>
            </a:r>
            <a:r>
              <a:rPr lang="en-US" dirty="0" smtClean="0"/>
              <a:t> (MM</a:t>
            </a:r>
            <a:r>
              <a:rPr lang="en-US" dirty="0" smtClean="0"/>
              <a:t>).</a:t>
            </a:r>
          </a:p>
          <a:p>
            <a:pPr algn="just"/>
            <a:r>
              <a:rPr lang="en-US" dirty="0" smtClean="0"/>
              <a:t>A Gaussian mixture model is a soft clustering technique used in unsupervised learning to determine the probability that a given data point belongs to a cluster. It’s composed of several Gaussians, each identified by </a:t>
            </a:r>
            <a:r>
              <a:rPr lang="en-US" i="1" dirty="0" smtClean="0"/>
              <a:t>k</a:t>
            </a:r>
            <a:r>
              <a:rPr lang="en-US" dirty="0" smtClean="0"/>
              <a:t> ∈ {1,…, </a:t>
            </a:r>
            <a:r>
              <a:rPr lang="en-US" i="1" dirty="0" smtClean="0"/>
              <a:t>K</a:t>
            </a:r>
            <a:r>
              <a:rPr lang="en-US" dirty="0" smtClean="0"/>
              <a:t>}, where </a:t>
            </a:r>
            <a:r>
              <a:rPr lang="en-US" i="1" dirty="0" smtClean="0"/>
              <a:t>K</a:t>
            </a:r>
            <a:r>
              <a:rPr lang="en-US" dirty="0" smtClean="0"/>
              <a:t> is the number of clusters in a data set.</a:t>
            </a:r>
          </a:p>
          <a:p>
            <a:endParaRPr lang="en-US" dirty="0" smtClean="0"/>
          </a:p>
          <a:p>
            <a:pPr algn="just">
              <a:buNone/>
            </a:pPr>
            <a:endParaRPr lang="en-US" dirty="0" smtClean="0"/>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a Gaussian Mixture Model?</a:t>
            </a:r>
            <a:br>
              <a:rPr lang="en-US" b="1" dirty="0" smtClean="0"/>
            </a:br>
            <a:endParaRPr lang="en-US" dirty="0"/>
          </a:p>
        </p:txBody>
      </p:sp>
      <p:sp>
        <p:nvSpPr>
          <p:cNvPr id="3" name="Content Placeholder 2"/>
          <p:cNvSpPr>
            <a:spLocks noGrp="1"/>
          </p:cNvSpPr>
          <p:nvPr>
            <p:ph idx="1"/>
          </p:nvPr>
        </p:nvSpPr>
        <p:spPr>
          <a:xfrm>
            <a:off x="1451579" y="2015732"/>
            <a:ext cx="9603275" cy="4052559"/>
          </a:xfrm>
        </p:spPr>
        <p:txBody>
          <a:bodyPr>
            <a:normAutofit/>
          </a:bodyPr>
          <a:lstStyle/>
          <a:p>
            <a:pPr algn="just">
              <a:buNone/>
            </a:pPr>
            <a:r>
              <a:rPr lang="en-US" dirty="0" smtClean="0"/>
              <a:t>   A </a:t>
            </a:r>
            <a:r>
              <a:rPr lang="en-US" dirty="0" smtClean="0"/>
              <a:t>Gaussian mixture is a function that is composed of several Gaussians, each identified by </a:t>
            </a:r>
            <a:r>
              <a:rPr lang="en-US" i="1" dirty="0" smtClean="0"/>
              <a:t>k</a:t>
            </a:r>
            <a:r>
              <a:rPr lang="en-US" dirty="0" smtClean="0"/>
              <a:t> ∈ {1,…, </a:t>
            </a:r>
            <a:r>
              <a:rPr lang="en-US" i="1" dirty="0" smtClean="0"/>
              <a:t>K</a:t>
            </a:r>
            <a:r>
              <a:rPr lang="en-US" dirty="0" smtClean="0"/>
              <a:t>}, where </a:t>
            </a:r>
            <a:r>
              <a:rPr lang="en-US" i="1" dirty="0" smtClean="0"/>
              <a:t>K</a:t>
            </a:r>
            <a:r>
              <a:rPr lang="en-US" dirty="0" smtClean="0"/>
              <a:t> is the number of clusters of our data set. Each Gaussian </a:t>
            </a:r>
            <a:r>
              <a:rPr lang="en-US" i="1" dirty="0" smtClean="0"/>
              <a:t>k</a:t>
            </a:r>
            <a:r>
              <a:rPr lang="en-US" dirty="0" smtClean="0"/>
              <a:t> in the mixture is comprised of the following parameters:</a:t>
            </a:r>
          </a:p>
          <a:p>
            <a:pPr algn="just"/>
            <a:r>
              <a:rPr lang="en-US" dirty="0" smtClean="0"/>
              <a:t>A mean μ that defines its center.</a:t>
            </a:r>
          </a:p>
          <a:p>
            <a:pPr algn="just"/>
            <a:r>
              <a:rPr lang="en-US" dirty="0" smtClean="0"/>
              <a:t>A </a:t>
            </a:r>
            <a:r>
              <a:rPr lang="en-US" dirty="0" smtClean="0">
                <a:hlinkClick r:id="rId2"/>
              </a:rPr>
              <a:t>covariance</a:t>
            </a:r>
            <a:r>
              <a:rPr lang="en-US" dirty="0" smtClean="0"/>
              <a:t> Σ that defines its width. This would be equivalent to the dimensions of an ellipsoid in a multivariate scenario.</a:t>
            </a:r>
          </a:p>
          <a:p>
            <a:pPr algn="just"/>
            <a:r>
              <a:rPr lang="en-US" dirty="0" smtClean="0"/>
              <a:t>A mixing probability π that defines how big or small the Gaussian function will be.</a:t>
            </a:r>
          </a:p>
          <a:p>
            <a:pPr algn="just"/>
            <a:r>
              <a:rPr lang="en-US" dirty="0" smtClean="0"/>
              <a:t>Let’s illustrate these parameters graphically:</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pic>
        <p:nvPicPr>
          <p:cNvPr id="6147" name="Picture 3"/>
          <p:cNvPicPr>
            <a:picLocks noGrp="1" noChangeAspect="1" noChangeArrowheads="1"/>
          </p:cNvPicPr>
          <p:nvPr>
            <p:ph idx="1"/>
          </p:nvPr>
        </p:nvPicPr>
        <p:blipFill>
          <a:blip r:embed="rId2" cstate="print"/>
          <a:srcRect/>
          <a:stretch>
            <a:fillRect/>
          </a:stretch>
        </p:blipFill>
        <p:spPr bwMode="auto">
          <a:xfrm>
            <a:off x="1385455" y="1898073"/>
            <a:ext cx="9656618" cy="4128654"/>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7</a:t>
            </a:fld>
            <a:endParaRPr lang="en-IN"/>
          </a:p>
        </p:txBody>
      </p:sp>
      <p:pic>
        <p:nvPicPr>
          <p:cNvPr id="7170" name="Picture 2"/>
          <p:cNvPicPr>
            <a:picLocks noGrp="1" noChangeAspect="1" noChangeArrowheads="1"/>
          </p:cNvPicPr>
          <p:nvPr>
            <p:ph idx="1"/>
          </p:nvPr>
        </p:nvPicPr>
        <p:blipFill>
          <a:blip r:embed="rId2" cstate="print"/>
          <a:srcRect/>
          <a:stretch>
            <a:fillRect/>
          </a:stretch>
        </p:blipFill>
        <p:spPr bwMode="auto">
          <a:xfrm>
            <a:off x="1510145" y="1856509"/>
            <a:ext cx="9573491" cy="4142509"/>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smtClean="0"/>
              <a:t>If we differentiate this equation with respect to the mean and covariance and then equate it to zero, then we will be able to find the optimal values for these parameters, and the solutions will correspond to the maximum likelihood estimation (MLE) for this setting.</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Key Terms in GMM</a:t>
            </a:r>
          </a:p>
        </p:txBody>
      </p:sp>
      <p:sp>
        <p:nvSpPr>
          <p:cNvPr id="4" name="Slide Number Placeholder 3"/>
          <p:cNvSpPr>
            <a:spLocks noGrp="1"/>
          </p:cNvSpPr>
          <p:nvPr>
            <p:ph type="sldNum" sz="quarter" idx="12"/>
          </p:nvPr>
        </p:nvSpPr>
        <p:spPr/>
        <p:txBody>
          <a:bodyPr/>
          <a:lstStyle/>
          <a:p>
            <a:fld id="{CBABCCC1-BF11-4F37-963E-1BCD5B23FD72}" type="slidenum">
              <a:rPr lang="en-IN" smtClean="0"/>
              <a:pPr/>
              <a:t>9</a:t>
            </a:fld>
            <a:endParaRPr lang="en-IN"/>
          </a:p>
        </p:txBody>
      </p:sp>
      <p:pic>
        <p:nvPicPr>
          <p:cNvPr id="1026" name="Picture 2"/>
          <p:cNvPicPr>
            <a:picLocks noGrp="1" noChangeAspect="1" noChangeArrowheads="1"/>
          </p:cNvPicPr>
          <p:nvPr>
            <p:ph idx="1"/>
          </p:nvPr>
        </p:nvPicPr>
        <p:blipFill>
          <a:blip r:embed="rId2" cstate="print"/>
          <a:srcRect/>
          <a:stretch>
            <a:fillRect/>
          </a:stretch>
        </p:blipFill>
        <p:spPr bwMode="auto">
          <a:xfrm>
            <a:off x="1416194" y="3244202"/>
            <a:ext cx="9778279" cy="2907216"/>
          </a:xfrm>
          <a:prstGeom prst="rect">
            <a:avLst/>
          </a:prstGeom>
          <a:noFill/>
          <a:ln w="9525">
            <a:noFill/>
            <a:miter lim="800000"/>
            <a:headEnd/>
            <a:tailEnd/>
          </a:ln>
        </p:spPr>
      </p:pic>
      <p:sp>
        <p:nvSpPr>
          <p:cNvPr id="6" name="TextBox 5"/>
          <p:cNvSpPr txBox="1"/>
          <p:nvPr/>
        </p:nvSpPr>
        <p:spPr>
          <a:xfrm>
            <a:off x="1343891" y="2202873"/>
            <a:ext cx="10487891" cy="923330"/>
          </a:xfrm>
          <a:prstGeom prst="rect">
            <a:avLst/>
          </a:prstGeom>
          <a:noFill/>
        </p:spPr>
        <p:txBody>
          <a:bodyPr wrap="square" rtlCol="0">
            <a:spAutoFit/>
          </a:bodyPr>
          <a:lstStyle/>
          <a:p>
            <a:pPr marL="342900" indent="-342900">
              <a:buAutoNum type="arabicPeriod"/>
            </a:pPr>
            <a:r>
              <a:rPr lang="en-US" b="1" dirty="0" smtClean="0"/>
              <a:t>Moment </a:t>
            </a:r>
            <a:r>
              <a:rPr lang="en-US" b="1" dirty="0" smtClean="0"/>
              <a:t>Conditions: </a:t>
            </a:r>
            <a:r>
              <a:rPr lang="en-US" dirty="0" smtClean="0"/>
              <a:t>Moment conditions are rules that describe the relationships between the </a:t>
            </a:r>
            <a:r>
              <a:rPr lang="en-US" dirty="0" smtClean="0"/>
              <a:t>variables</a:t>
            </a:r>
          </a:p>
          <a:p>
            <a:pPr marL="342900" indent="-342900"/>
            <a:r>
              <a:rPr lang="en-US" dirty="0" smtClean="0"/>
              <a:t> </a:t>
            </a:r>
            <a:r>
              <a:rPr lang="en-US" dirty="0" smtClean="0"/>
              <a:t>in the model. For example, in a simple linear regression model:</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10</a:t>
            </a:fld>
            <a:endParaRPr lang="en-IN"/>
          </a:p>
        </p:txBody>
      </p:sp>
      <p:pic>
        <p:nvPicPr>
          <p:cNvPr id="2050" name="Picture 2"/>
          <p:cNvPicPr>
            <a:picLocks noGrp="1" noChangeAspect="1" noChangeArrowheads="1"/>
          </p:cNvPicPr>
          <p:nvPr>
            <p:ph idx="1"/>
          </p:nvPr>
        </p:nvPicPr>
        <p:blipFill>
          <a:blip r:embed="rId2" cstate="print"/>
          <a:srcRect/>
          <a:stretch>
            <a:fillRect/>
          </a:stretch>
        </p:blipFill>
        <p:spPr bwMode="auto">
          <a:xfrm>
            <a:off x="1454727" y="1925783"/>
            <a:ext cx="9587346" cy="4184072"/>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CONTd.</a:t>
            </a:r>
            <a:r>
              <a:rPr lang="en-US" dirty="0" smtClean="0"/>
              <a:t>.</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pic>
        <p:nvPicPr>
          <p:cNvPr id="3074" name="Picture 2"/>
          <p:cNvPicPr>
            <a:picLocks noGrp="1" noChangeAspect="1" noChangeArrowheads="1"/>
          </p:cNvPicPr>
          <p:nvPr>
            <p:ph idx="1"/>
          </p:nvPr>
        </p:nvPicPr>
        <p:blipFill>
          <a:blip r:embed="rId2" cstate="print"/>
          <a:srcRect/>
          <a:stretch>
            <a:fillRect/>
          </a:stretch>
        </p:blipFill>
        <p:spPr bwMode="auto">
          <a:xfrm>
            <a:off x="1454727" y="1870364"/>
            <a:ext cx="9753600" cy="4170218"/>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12</a:t>
            </a:fld>
            <a:endParaRPr lang="en-IN"/>
          </a:p>
        </p:txBody>
      </p:sp>
      <p:pic>
        <p:nvPicPr>
          <p:cNvPr id="4098" name="Picture 2"/>
          <p:cNvPicPr>
            <a:picLocks noGrp="1" noChangeAspect="1" noChangeArrowheads="1"/>
          </p:cNvPicPr>
          <p:nvPr>
            <p:ph idx="1"/>
          </p:nvPr>
        </p:nvPicPr>
        <p:blipFill>
          <a:blip r:embed="rId2" cstate="print"/>
          <a:srcRect/>
          <a:stretch>
            <a:fillRect/>
          </a:stretch>
        </p:blipFill>
        <p:spPr bwMode="auto">
          <a:xfrm>
            <a:off x="1427018" y="1898073"/>
            <a:ext cx="9642763" cy="4184072"/>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13</a:t>
            </a:fld>
            <a:endParaRPr lang="en-IN"/>
          </a:p>
        </p:txBody>
      </p:sp>
      <p:pic>
        <p:nvPicPr>
          <p:cNvPr id="5122" name="Picture 2"/>
          <p:cNvPicPr>
            <a:picLocks noGrp="1" noChangeAspect="1" noChangeArrowheads="1"/>
          </p:cNvPicPr>
          <p:nvPr>
            <p:ph idx="1"/>
          </p:nvPr>
        </p:nvPicPr>
        <p:blipFill>
          <a:blip r:embed="rId2" cstate="print"/>
          <a:srcRect/>
          <a:stretch>
            <a:fillRect/>
          </a:stretch>
        </p:blipFill>
        <p:spPr bwMode="auto">
          <a:xfrm>
            <a:off x="1440874" y="2016124"/>
            <a:ext cx="9642762" cy="4135293"/>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Applications of Generalized Method of Moments</a:t>
            </a:r>
            <a:endParaRPr lang="en-US" b="1" dirty="0"/>
          </a:p>
        </p:txBody>
      </p:sp>
      <p:sp>
        <p:nvSpPr>
          <p:cNvPr id="3" name="Content Placeholder 2"/>
          <p:cNvSpPr>
            <a:spLocks noGrp="1"/>
          </p:cNvSpPr>
          <p:nvPr>
            <p:ph idx="1"/>
          </p:nvPr>
        </p:nvSpPr>
        <p:spPr>
          <a:xfrm>
            <a:off x="1451579" y="1842655"/>
            <a:ext cx="9923003" cy="4239490"/>
          </a:xfrm>
        </p:spPr>
        <p:txBody>
          <a:bodyPr>
            <a:normAutofit fontScale="62500" lnSpcReduction="20000"/>
          </a:bodyPr>
          <a:lstStyle/>
          <a:p>
            <a:pPr algn="just"/>
            <a:r>
              <a:rPr lang="en-US" sz="3400" b="1" dirty="0" smtClean="0"/>
              <a:t>Econometrics &amp; Macroeconomics</a:t>
            </a:r>
            <a:r>
              <a:rPr lang="en-US" sz="3400" dirty="0" smtClean="0"/>
              <a:t>: GMM is used to estimate parameters in economic models with mutual dependence, such as growth and asset pricing models.</a:t>
            </a:r>
          </a:p>
          <a:p>
            <a:pPr algn="just"/>
            <a:r>
              <a:rPr lang="en-US" sz="3400" b="1" dirty="0" smtClean="0"/>
              <a:t>Structural Equation Modeling</a:t>
            </a:r>
            <a:r>
              <a:rPr lang="en-US" sz="3400" dirty="0" smtClean="0"/>
              <a:t>: It estimates relationships in models with measurement errors and causal inference.</a:t>
            </a:r>
          </a:p>
          <a:p>
            <a:pPr algn="just"/>
            <a:r>
              <a:rPr lang="en-US" sz="3400" b="1" dirty="0" smtClean="0"/>
              <a:t>Model Testing</a:t>
            </a:r>
            <a:r>
              <a:rPr lang="en-US" sz="3400" dirty="0" smtClean="0"/>
              <a:t>: It provides tools like the Hansen J-test for testing the validity of instruments.</a:t>
            </a:r>
          </a:p>
          <a:p>
            <a:pPr algn="just"/>
            <a:r>
              <a:rPr lang="en-US" sz="3400" b="1" dirty="0" smtClean="0"/>
              <a:t>Time Series Analysis</a:t>
            </a:r>
            <a:r>
              <a:rPr lang="en-US" sz="3400" dirty="0" smtClean="0"/>
              <a:t>: It is applied in volatility and autoregressive models to handle autocorrelation.</a:t>
            </a:r>
          </a:p>
          <a:p>
            <a:pPr algn="just"/>
            <a:r>
              <a:rPr lang="en-US" sz="3400" b="1" dirty="0" smtClean="0"/>
              <a:t>Panel Data Models</a:t>
            </a:r>
            <a:r>
              <a:rPr lang="en-US" sz="3400" dirty="0" smtClean="0"/>
              <a:t>: It is used in fixed and random effects models to deal with unobserved heterogeneity.</a:t>
            </a:r>
          </a:p>
          <a:p>
            <a:pPr algn="just"/>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Advantages of GMM</a:t>
            </a:r>
            <a:endParaRPr lang="en-US" b="1" dirty="0"/>
          </a:p>
        </p:txBody>
      </p:sp>
      <p:sp>
        <p:nvSpPr>
          <p:cNvPr id="3" name="Content Placeholder 2"/>
          <p:cNvSpPr>
            <a:spLocks noGrp="1"/>
          </p:cNvSpPr>
          <p:nvPr>
            <p:ph idx="1"/>
          </p:nvPr>
        </p:nvSpPr>
        <p:spPr>
          <a:xfrm>
            <a:off x="1451579" y="1814946"/>
            <a:ext cx="9603275" cy="4308764"/>
          </a:xfrm>
        </p:spPr>
        <p:txBody>
          <a:bodyPr>
            <a:normAutofit fontScale="25000" lnSpcReduction="20000"/>
          </a:bodyPr>
          <a:lstStyle/>
          <a:p>
            <a:pPr algn="just"/>
            <a:r>
              <a:rPr lang="en-US" sz="7200" dirty="0" smtClean="0"/>
              <a:t>It </a:t>
            </a:r>
            <a:r>
              <a:rPr lang="en-US" sz="7200" dirty="0" smtClean="0"/>
              <a:t>doesn’t require strong assumptions about the data</a:t>
            </a:r>
            <a:r>
              <a:rPr lang="en-US" sz="7200" dirty="0" smtClean="0"/>
              <a:t>. It </a:t>
            </a:r>
            <a:r>
              <a:rPr lang="en-US" sz="7200" dirty="0" smtClean="0"/>
              <a:t>can handle models where there are more moment conditions than parameters (over-identified models</a:t>
            </a:r>
            <a:r>
              <a:rPr lang="en-US" sz="7200" dirty="0" smtClean="0"/>
              <a:t>). It </a:t>
            </a:r>
            <a:r>
              <a:rPr lang="en-US" sz="7200" dirty="0" smtClean="0"/>
              <a:t>works for both linear and nonlinear models</a:t>
            </a:r>
            <a:r>
              <a:rPr lang="en-US" sz="7200" dirty="0" smtClean="0"/>
              <a:t>. It’s </a:t>
            </a:r>
            <a:r>
              <a:rPr lang="en-US" sz="7200" dirty="0" smtClean="0"/>
              <a:t>widely used in economics, finance and social sciences for models like regression, instrumental variables and panel data</a:t>
            </a:r>
            <a:r>
              <a:rPr lang="en-US" sz="7200" dirty="0" smtClean="0"/>
              <a:t>.</a:t>
            </a:r>
            <a:endParaRPr lang="en-US" sz="6400" b="1" dirty="0" smtClean="0"/>
          </a:p>
          <a:p>
            <a:pPr algn="just">
              <a:buNone/>
            </a:pPr>
            <a:r>
              <a:rPr lang="en-US" sz="7200" b="1" dirty="0" smtClean="0"/>
              <a:t>Limitations </a:t>
            </a:r>
            <a:r>
              <a:rPr lang="en-US" sz="7200" b="1" dirty="0" smtClean="0"/>
              <a:t>of GMM</a:t>
            </a:r>
          </a:p>
          <a:p>
            <a:pPr algn="just"/>
            <a:r>
              <a:rPr lang="en-US" sz="7200" b="1" dirty="0" smtClean="0"/>
              <a:t>Requires Valid Instruments</a:t>
            </a:r>
            <a:r>
              <a:rPr lang="en-US" sz="7200" dirty="0" smtClean="0"/>
              <a:t>: The method depends on finding valid instruments as invalid or weak instruments can lead to biased estimates.</a:t>
            </a:r>
          </a:p>
          <a:p>
            <a:pPr algn="just"/>
            <a:r>
              <a:rPr lang="en-US" sz="7200" b="1" dirty="0" smtClean="0"/>
              <a:t>Sensitive to Model Specification</a:t>
            </a:r>
            <a:r>
              <a:rPr lang="en-US" sz="7200" dirty="0" smtClean="0"/>
              <a:t>: Incorrectly specified moment conditions can result in biased or inconsistent estimates.</a:t>
            </a:r>
          </a:p>
          <a:p>
            <a:pPr algn="just"/>
            <a:r>
              <a:rPr lang="en-US" sz="7200" b="1" dirty="0" smtClean="0"/>
              <a:t>Weighting Matrix Sensitivity</a:t>
            </a:r>
            <a:r>
              <a:rPr lang="en-US" sz="7200" dirty="0" smtClean="0"/>
              <a:t>: The efficiency of estimates depends on the correct choice of the weighting matrix, which can be difficult to determine.</a:t>
            </a:r>
          </a:p>
          <a:p>
            <a:pPr algn="just"/>
            <a:r>
              <a:rPr lang="en-US" sz="7200" b="1" dirty="0" smtClean="0"/>
              <a:t>Limited for Nonlinear Models</a:t>
            </a:r>
            <a:r>
              <a:rPr lang="en-US" sz="7200" dirty="0" smtClean="0"/>
              <a:t>: GMM becomes less efficient and harder to apply in complex nonlinear models.</a:t>
            </a:r>
          </a:p>
          <a:p>
            <a:pPr>
              <a:buNone/>
            </a:pP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16</a:t>
            </a:fld>
            <a:endParaRPr lang="en-IN"/>
          </a:p>
        </p:txBody>
      </p:sp>
      <p:sp>
        <p:nvSpPr>
          <p:cNvPr id="5"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Poppins" panose="00000500000000000000" pitchFamily="2" charset="0"/>
                <a:cs typeface="Poppins" panose="00000500000000000000" pitchFamily="2" charset="0"/>
              </a:rPr>
              <a:t>Self-Assessment Questions</a:t>
            </a:r>
            <a:endParaRPr lang="en-US" sz="2000" dirty="0">
              <a:solidFill>
                <a:schemeClr val="bg1"/>
              </a:solidFill>
              <a:latin typeface="Poppins" panose="00000500000000000000" pitchFamily="2" charset="0"/>
              <a:cs typeface="Poppins" panose="00000500000000000000" pitchFamily="2" charset="0"/>
            </a:endParaRPr>
          </a:p>
        </p:txBody>
      </p:sp>
      <p:sp>
        <p:nvSpPr>
          <p:cNvPr id="6"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r>
              <a:rPr lang="en-US" sz="2000" dirty="0" smtClean="0"/>
              <a:t>1. </a:t>
            </a:r>
            <a:r>
              <a:rPr lang="en-US" sz="2000" dirty="0" smtClean="0"/>
              <a:t>What does a Gaussian Mixture Model (GMM) assume about the data?</a:t>
            </a:r>
            <a:endParaRPr sz="20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7" name="Rounded Rectangle 17"/>
          <p:cNvSpPr/>
          <p:nvPr/>
        </p:nvSpPr>
        <p:spPr>
          <a:xfrm>
            <a:off x="1230922" y="1925151"/>
            <a:ext cx="6998677"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R"/>
            </a:pPr>
            <a:r>
              <a:rPr lang="en-US" sz="1600" dirty="0" smtClean="0"/>
              <a:t>All data comes from a single Gaussian </a:t>
            </a:r>
            <a:r>
              <a:rPr lang="en-US" sz="1600" dirty="0" smtClean="0"/>
              <a:t>distribution</a:t>
            </a:r>
          </a:p>
          <a:p>
            <a:pPr marL="342900" indent="-342900">
              <a:lnSpc>
                <a:spcPct val="150000"/>
              </a:lnSpc>
              <a:buAutoNum type="alphaLcParenR"/>
            </a:pPr>
            <a:r>
              <a:rPr lang="en-US" sz="1600" dirty="0" smtClean="0">
                <a:solidFill>
                  <a:srgbClr val="00B050"/>
                </a:solidFill>
              </a:rPr>
              <a:t>Data is generated from a mixture of several Gaussian </a:t>
            </a:r>
            <a:r>
              <a:rPr lang="en-US" sz="1600" dirty="0" smtClean="0">
                <a:solidFill>
                  <a:srgbClr val="00B050"/>
                </a:solidFill>
              </a:rPr>
              <a:t>distributions</a:t>
            </a:r>
          </a:p>
          <a:p>
            <a:pPr marL="342900" indent="-342900">
              <a:lnSpc>
                <a:spcPct val="150000"/>
              </a:lnSpc>
              <a:buAutoNum type="alphaLcParenR"/>
            </a:pPr>
            <a:r>
              <a:rPr lang="en-US" sz="1600" dirty="0" smtClean="0"/>
              <a:t>Data is uniformly </a:t>
            </a:r>
            <a:r>
              <a:rPr lang="en-US" sz="1600" dirty="0" smtClean="0"/>
              <a:t>distributed</a:t>
            </a:r>
          </a:p>
          <a:p>
            <a:pPr marL="342900" indent="-342900">
              <a:lnSpc>
                <a:spcPct val="150000"/>
              </a:lnSpc>
              <a:buAutoNum type="alphaLcParenR"/>
            </a:pPr>
            <a:r>
              <a:rPr lang="en-US" sz="1600" dirty="0" smtClean="0"/>
              <a:t>Data points are independent of each other</a:t>
            </a:r>
            <a:endParaRPr lang="en-US" sz="1600" b="1" i="0" dirty="0">
              <a:solidFill>
                <a:srgbClr val="00B050"/>
              </a:solidFill>
              <a:effectLst/>
              <a:latin typeface="var(--body-font-family)"/>
            </a:endParaRPr>
          </a:p>
        </p:txBody>
      </p:sp>
      <p:sp>
        <p:nvSpPr>
          <p:cNvPr id="8" name="Google Shape;502;p17"/>
          <p:cNvSpPr/>
          <p:nvPr/>
        </p:nvSpPr>
        <p:spPr>
          <a:xfrm>
            <a:off x="1009895" y="36679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2000" dirty="0" smtClean="0"/>
              <a:t>In a GMM, each Gaussian component is characterized by:</a:t>
            </a:r>
            <a:endParaRPr lang="en-US" sz="20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0" name="Rounded Rectangle 17"/>
          <p:cNvSpPr/>
          <p:nvPr/>
        </p:nvSpPr>
        <p:spPr>
          <a:xfrm>
            <a:off x="1232634" y="4455249"/>
            <a:ext cx="6265977"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UcParenR"/>
            </a:pPr>
            <a:r>
              <a:rPr lang="en-US" sz="1600" dirty="0" smtClean="0"/>
              <a:t>Mean </a:t>
            </a:r>
            <a:r>
              <a:rPr lang="en-US" sz="1600" dirty="0" smtClean="0"/>
              <a:t>only</a:t>
            </a:r>
          </a:p>
          <a:p>
            <a:pPr marL="342900" indent="-342900">
              <a:lnSpc>
                <a:spcPct val="150000"/>
              </a:lnSpc>
              <a:buAutoNum type="alphaUcParenR"/>
            </a:pPr>
            <a:r>
              <a:rPr lang="en-US" sz="1600" dirty="0" smtClean="0"/>
              <a:t>Covariance </a:t>
            </a:r>
            <a:r>
              <a:rPr lang="en-US" sz="1600" dirty="0" smtClean="0"/>
              <a:t>only</a:t>
            </a:r>
          </a:p>
          <a:p>
            <a:pPr marL="342900" indent="-342900">
              <a:lnSpc>
                <a:spcPct val="150000"/>
              </a:lnSpc>
              <a:buAutoNum type="alphaUcParenR"/>
            </a:pPr>
            <a:r>
              <a:rPr lang="en-US" sz="1600" dirty="0" smtClean="0">
                <a:solidFill>
                  <a:srgbClr val="00B050"/>
                </a:solidFill>
              </a:rPr>
              <a:t>Mean and </a:t>
            </a:r>
            <a:r>
              <a:rPr lang="en-US" sz="1600" dirty="0" smtClean="0">
                <a:solidFill>
                  <a:srgbClr val="00B050"/>
                </a:solidFill>
              </a:rPr>
              <a:t>covariance</a:t>
            </a:r>
          </a:p>
          <a:p>
            <a:pPr marL="342900" indent="-342900">
              <a:lnSpc>
                <a:spcPct val="150000"/>
              </a:lnSpc>
              <a:buAutoNum type="alphaUcParenR"/>
            </a:pPr>
            <a:r>
              <a:rPr lang="en-US" sz="1600" dirty="0" smtClean="0"/>
              <a:t>Standard deviation only</a:t>
            </a:r>
            <a:endParaRPr lang="en-US" sz="1600" b="0" i="0" dirty="0">
              <a:solidFill>
                <a:srgbClr val="00B050"/>
              </a:solidFill>
              <a:effectLst/>
              <a:latin typeface="var(--body-font-family)"/>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Rounded Rectangle 17"/>
          <p:cNvSpPr/>
          <p:nvPr/>
        </p:nvSpPr>
        <p:spPr>
          <a:xfrm>
            <a:off x="3348000" y="576720"/>
            <a:ext cx="5470920" cy="600480"/>
          </a:xfrm>
          <a:prstGeom prst="roundRect">
            <a:avLst>
              <a:gd name="adj" fmla="val 16667"/>
            </a:avLst>
          </a:prstGeom>
          <a:solidFill>
            <a:srgbClr val="BA2532"/>
          </a:solidFill>
          <a:ln>
            <a:noFill/>
          </a:ln>
          <a:effectLst>
            <a:outerShdw blurRad="50760" dist="37674"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US" sz="3200" b="0" strike="noStrike" spc="-1">
                <a:solidFill>
                  <a:srgbClr val="FFFFFF"/>
                </a:solidFill>
                <a:latin typeface="Calibri" panose="020F0502020204030204"/>
                <a:ea typeface="DejaVu Sans"/>
              </a:rPr>
              <a:t>TERMINAL QUESTIONS</a:t>
            </a:r>
            <a:endParaRPr lang="en-IN" sz="3200" b="0" strike="noStrike" spc="-1">
              <a:latin typeface="Arial" panose="020B0604020202020204"/>
            </a:endParaRPr>
          </a:p>
        </p:txBody>
      </p:sp>
      <p:sp>
        <p:nvSpPr>
          <p:cNvPr id="282" name="TextBox 8"/>
          <p:cNvSpPr/>
          <p:nvPr/>
        </p:nvSpPr>
        <p:spPr>
          <a:xfrm>
            <a:off x="1537920" y="2211120"/>
            <a:ext cx="9573480" cy="193753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2000" dirty="0" smtClean="0"/>
              <a:t>1.Explain </a:t>
            </a:r>
            <a:r>
              <a:rPr lang="en-US" sz="2000" dirty="0" smtClean="0"/>
              <a:t>in your own words what a Gaussian Mixture Model (GMM) is and how it differs from k-means clustering.</a:t>
            </a:r>
          </a:p>
          <a:p>
            <a:endParaRPr lang="en-US" sz="2000" dirty="0" smtClean="0"/>
          </a:p>
          <a:p>
            <a:r>
              <a:rPr lang="en-US" sz="2000" dirty="0" smtClean="0"/>
              <a:t>2.What </a:t>
            </a:r>
            <a:r>
              <a:rPr lang="en-US" sz="2000" dirty="0" smtClean="0"/>
              <a:t>assumptions does GMM make about the distribution of the data?</a:t>
            </a:r>
          </a:p>
          <a:p>
            <a:endParaRPr lang="en-US" sz="2000" dirty="0" smtClean="0"/>
          </a:p>
          <a:p>
            <a:r>
              <a:rPr lang="en-US" sz="2000" dirty="0" smtClean="0"/>
              <a:t>3.How </a:t>
            </a:r>
            <a:r>
              <a:rPr lang="en-US" sz="2000" dirty="0" smtClean="0"/>
              <a:t>does soft clustering in GMM provide more information than hard clustering?</a:t>
            </a:r>
            <a:endParaRPr lang="en-US" sz="2000" dirty="0"/>
          </a:p>
        </p:txBody>
      </p:sp>
    </p:spTree>
  </p:cSld>
  <p:clrMapOvr>
    <a:masterClrMapping/>
  </p:clrMapOvr>
  <mc:AlternateContent xmlns:mc="http://schemas.openxmlformats.org/markup-compatibility/2006">
    <mc:Choice xmlns="" xmlns:p14="http://schemas.microsoft.com/office/powerpoint/2010/main" Requires="p14">
      <p:transition spd="slow" p14:dur="125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1"/>
                                        </p:tgtEl>
                                        <p:attrNameLst>
                                          <p:attrName>style.visibility</p:attrName>
                                        </p:attrNameLst>
                                      </p:cBhvr>
                                      <p:to>
                                        <p:strVal val="visible"/>
                                      </p:to>
                                    </p:set>
                                    <p:animEffect transition="in" filter="fade">
                                      <p:cBhvr additive="repl">
                                        <p:cTn id="7" dur="500"/>
                                        <p:tgtEl>
                                          <p:spTgt spid="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IN"/>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r>
              <a:rPr lang="en-US"/>
              <a:t>Deep learning</a:t>
            </a:r>
          </a:p>
        </p:txBody>
      </p:sp>
      <p:sp>
        <p:nvSpPr>
          <p:cNvPr id="5" name="Slide Number Placeholder 4"/>
          <p:cNvSpPr>
            <a:spLocks noGrp="1"/>
          </p:cNvSpPr>
          <p:nvPr>
            <p:ph type="sldNum" sz="quarter" idx="12"/>
          </p:nvPr>
        </p:nvSpPr>
        <p:spPr/>
        <p:txBody>
          <a:bodyPr/>
          <a:lstStyle/>
          <a:p>
            <a:fld id="{943DE3D9-547B-48C8-AECD-0F5196EAB393}" type="slidenum">
              <a:rPr lang="en-US" smtClean="0"/>
              <a:pPr/>
              <a:t>18</a:t>
            </a:fld>
            <a:endParaRPr lang="en-US"/>
          </a:p>
        </p:txBody>
      </p:sp>
      <p:sp>
        <p:nvSpPr>
          <p:cNvPr id="12" name="Text Placeholder 11"/>
          <p:cNvSpPr>
            <a:spLocks noGrp="1"/>
          </p:cNvSpPr>
          <p:nvPr>
            <p:ph idx="4294967295"/>
          </p:nvPr>
        </p:nvSpPr>
        <p:spPr>
          <a:xfrm>
            <a:off x="0" y="1825625"/>
            <a:ext cx="10515600" cy="4351338"/>
          </a:xfrm>
        </p:spPr>
        <p:txBody>
          <a:bodyPr/>
          <a:lstStyle/>
          <a:p>
            <a:pPr>
              <a:buFont typeface="Arial" panose="020B0604020202020204" pitchFamily="34" charset="0"/>
              <a:buChar char="•"/>
            </a:pPr>
            <a:endParaRPr lang="en-US" dirty="0">
              <a:solidFill>
                <a:schemeClr val="tx1"/>
              </a:solidFill>
            </a:endParaRPr>
          </a:p>
          <a:p>
            <a:pPr>
              <a:buFont typeface="Arial" panose="020B0604020202020204" pitchFamily="34" charset="0"/>
              <a:buChar char="•"/>
            </a:pPr>
            <a:endParaRPr lang="en-US" dirty="0">
              <a:solidFill>
                <a:schemeClr val="tx1"/>
              </a:solidFill>
            </a:endParaRPr>
          </a:p>
          <a:p>
            <a:endParaRPr lang="en-US" dirty="0"/>
          </a:p>
        </p:txBody>
      </p:sp>
      <p:sp>
        <p:nvSpPr>
          <p:cNvPr id="2" name="Rounded Rectangle 17"/>
          <p:cNvSpPr/>
          <p:nvPr/>
        </p:nvSpPr>
        <p:spPr>
          <a:xfrm>
            <a:off x="1574799" y="694337"/>
            <a:ext cx="8503265" cy="58826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1120876" y="1915318"/>
            <a:ext cx="10707329" cy="4939814"/>
          </a:xfrm>
          <a:prstGeom prst="rect">
            <a:avLst/>
          </a:prstGeom>
          <a:noFill/>
        </p:spPr>
        <p:txBody>
          <a:bodyPr wrap="square" rtlCol="0">
            <a:spAutoFit/>
          </a:bodyPr>
          <a:lstStyle/>
          <a:p>
            <a:pPr>
              <a:lnSpc>
                <a:spcPct val="150000"/>
              </a:lnSpc>
            </a:pPr>
            <a:r>
              <a:rPr lang="en-US" b="1" dirty="0"/>
              <a:t> Books:</a:t>
            </a:r>
          </a:p>
          <a:p>
            <a:r>
              <a:rPr lang="en-US" b="1" dirty="0" smtClean="0"/>
              <a:t>1. </a:t>
            </a:r>
            <a:r>
              <a:rPr lang="en-US" b="1" dirty="0" smtClean="0"/>
              <a:t>Christopher M. Bishop</a:t>
            </a:r>
            <a:r>
              <a:rPr lang="en-US" dirty="0" smtClean="0"/>
              <a:t>, </a:t>
            </a:r>
            <a:r>
              <a:rPr lang="en-US" i="1" dirty="0" smtClean="0"/>
              <a:t>Pattern Recognition and Machine Learning</a:t>
            </a:r>
            <a:r>
              <a:rPr lang="en-US" dirty="0" smtClean="0"/>
              <a:t>, Springer, 2006</a:t>
            </a:r>
            <a:endParaRPr lang="en-US" dirty="0" smtClean="0"/>
          </a:p>
          <a:p>
            <a:r>
              <a:rPr lang="en-US" b="1" dirty="0" smtClean="0"/>
              <a:t>2. </a:t>
            </a:r>
            <a:r>
              <a:rPr lang="en-US" b="1" dirty="0" smtClean="0"/>
              <a:t>Kevin P. Murphy</a:t>
            </a:r>
            <a:r>
              <a:rPr lang="en-US" dirty="0" smtClean="0"/>
              <a:t>, </a:t>
            </a:r>
            <a:r>
              <a:rPr lang="en-US" i="1" dirty="0" smtClean="0"/>
              <a:t>Machine Learning: A Probabilistic Perspective</a:t>
            </a:r>
            <a:r>
              <a:rPr lang="en-US" dirty="0" smtClean="0"/>
              <a:t>, MIT Press, </a:t>
            </a:r>
            <a:r>
              <a:rPr lang="en-US" dirty="0" smtClean="0"/>
              <a:t>2012</a:t>
            </a:r>
          </a:p>
          <a:p>
            <a:endParaRPr lang="en-US" b="1" dirty="0" smtClean="0"/>
          </a:p>
          <a:p>
            <a:r>
              <a:rPr lang="en-US" b="1" dirty="0" smtClean="0"/>
              <a:t>Web </a:t>
            </a:r>
            <a:r>
              <a:rPr lang="en-US" b="1" dirty="0"/>
              <a:t>references:</a:t>
            </a:r>
          </a:p>
          <a:p>
            <a:r>
              <a:rPr lang="en-US" dirty="0" err="1" smtClean="0"/>
              <a:t>Scikit</a:t>
            </a:r>
            <a:r>
              <a:rPr lang="en-US" dirty="0" smtClean="0"/>
              <a:t>-learn GMM </a:t>
            </a:r>
            <a:r>
              <a:rPr lang="en-US" dirty="0" smtClean="0"/>
              <a:t>documentation</a:t>
            </a:r>
          </a:p>
          <a:p>
            <a:r>
              <a:rPr lang="en-US" dirty="0" smtClean="0"/>
              <a:t> </a:t>
            </a:r>
            <a:r>
              <a:rPr lang="en-US" dirty="0" smtClean="0">
                <a:hlinkClick r:id="rId3"/>
              </a:rPr>
              <a:t>https://</a:t>
            </a:r>
            <a:r>
              <a:rPr lang="en-US" dirty="0" smtClean="0">
                <a:hlinkClick r:id="rId3"/>
              </a:rPr>
              <a:t>scikit-learn.org/stable/modules/mixture.html</a:t>
            </a:r>
            <a:endParaRPr lang="en-US" dirty="0" smtClean="0"/>
          </a:p>
          <a:p>
            <a:endParaRPr lang="en-US" dirty="0" smtClean="0"/>
          </a:p>
          <a:p>
            <a:endParaRPr lang="en-US" dirty="0" smtClean="0"/>
          </a:p>
          <a:p>
            <a:r>
              <a:rPr lang="en-US" dirty="0" err="1" smtClean="0"/>
              <a:t>StatQuest</a:t>
            </a:r>
            <a:r>
              <a:rPr lang="en-US" dirty="0" smtClean="0"/>
              <a:t>: Gaussian Mixture Models (YouTube)</a:t>
            </a:r>
            <a:r>
              <a:rPr lang="en-US" dirty="0" smtClean="0"/>
              <a:t/>
            </a:r>
            <a:br>
              <a:rPr lang="en-US" dirty="0" smtClean="0"/>
            </a:br>
            <a:r>
              <a:rPr lang="en-US" dirty="0" smtClean="0"/>
              <a:t> </a:t>
            </a:r>
            <a:r>
              <a:rPr lang="en-US" dirty="0" smtClean="0">
                <a:hlinkClick r:id="rId4"/>
              </a:rPr>
              <a:t>https://</a:t>
            </a:r>
            <a:r>
              <a:rPr lang="en-US" dirty="0" smtClean="0">
                <a:hlinkClick r:id="rId4"/>
              </a:rPr>
              <a:t>www.youtube.com/watch?v=3xS23yUe6vI</a:t>
            </a:r>
            <a:endParaRPr lang="en-US" dirty="0" smtClean="0"/>
          </a:p>
          <a:p>
            <a:endParaRPr lang="en-US" dirty="0" smtClean="0"/>
          </a:p>
          <a:p>
            <a:endParaRPr lang="en-US" dirty="0" smtClean="0"/>
          </a:p>
          <a:p>
            <a:endParaRPr lang="en-US" dirty="0" smtClean="0"/>
          </a:p>
          <a:p>
            <a:endParaRPr lang="en-US" dirty="0" smtClean="0"/>
          </a:p>
          <a:p>
            <a:endParaRPr lang="en-US" dirty="0" smtClean="0"/>
          </a:p>
          <a:p>
            <a:pPr marL="342900" indent="-342900">
              <a:buAutoNum type="arabicPeriod"/>
            </a:pPr>
            <a:endParaRPr lang="en-US" dirty="0">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pPr/>
              <a:t>19</a:t>
            </a:fld>
            <a:endParaRPr lang="en-IN"/>
          </a:p>
        </p:txBody>
      </p:sp>
      <p:sp>
        <p:nvSpPr>
          <p:cNvPr id="9" name="Rounded Rectangle 3"/>
          <p:cNvSpPr/>
          <p:nvPr/>
        </p:nvSpPr>
        <p:spPr>
          <a:xfrm>
            <a:off x="2541453" y="247782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400" b="1" dirty="0" smtClean="0">
                <a:latin typeface="Poppins" pitchFamily="2" charset="77"/>
                <a:cs typeface="Poppins" pitchFamily="2" charset="77"/>
              </a:rPr>
              <a:t>– AI &amp;ML</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2019</TotalTime>
  <Words>1022</Words>
  <Application>Microsoft Office PowerPoint</Application>
  <PresentationFormat>Custom</PresentationFormat>
  <Paragraphs>120</Paragraphs>
  <Slides>19</Slides>
  <Notes>2</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Gallery</vt:lpstr>
      <vt:lpstr>Slide 1</vt:lpstr>
      <vt:lpstr>Slide 2</vt:lpstr>
      <vt:lpstr>Objectives</vt:lpstr>
      <vt:lpstr>Generalized Method of Moments (GMM)</vt:lpstr>
      <vt:lpstr>What Is a Gaussian Mixture Model? </vt:lpstr>
      <vt:lpstr>CONTD..</vt:lpstr>
      <vt:lpstr>CONTd..</vt:lpstr>
      <vt:lpstr>CONTD..</vt:lpstr>
      <vt:lpstr>Key Terms in GMM</vt:lpstr>
      <vt:lpstr>CONTD..</vt:lpstr>
      <vt:lpstr>CONTd..</vt:lpstr>
      <vt:lpstr>CONTD..</vt:lpstr>
      <vt:lpstr>CONTD..</vt:lpstr>
      <vt:lpstr>Applications of Generalized Method of Moments</vt:lpstr>
      <vt:lpstr>Advantages of GMM</vt:lpstr>
      <vt:lpstr>Slide 16</vt:lpstr>
      <vt:lpstr>Slide 17</vt:lpstr>
      <vt:lpstr>Slide 18</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Babu T</dc:creator>
  <cp:lastModifiedBy>ADMIN</cp:lastModifiedBy>
  <cp:revision>98</cp:revision>
  <dcterms:created xsi:type="dcterms:W3CDTF">2023-05-06T03:47:00Z</dcterms:created>
  <dcterms:modified xsi:type="dcterms:W3CDTF">2025-09-21T12:43:32Z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6E6046E1B8564DE48E72D44BA630FF3F_13</vt:lpwstr>
  </property>
  <property fmtid="{D5CDD505-2E9C-101B-9397-08002B2CF9AE}" pid="3" name="KSOProductBuildVer">
    <vt:lpwstr>1033-12.2.0.17119</vt:lpwstr>
  </property>
</Properties>
</file>