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60" r:id="rId1"/>
  </p:sldMasterIdLst>
  <p:notesMasterIdLst>
    <p:notesMasterId r:id="rId14"/>
  </p:notesMasterIdLst>
  <p:handoutMasterIdLst>
    <p:handoutMasterId r:id="rId15"/>
  </p:handoutMasterIdLst>
  <p:sldIdLst>
    <p:sldId id="256" r:id="rId2"/>
    <p:sldId id="324" r:id="rId3"/>
    <p:sldId id="428" r:id="rId4"/>
    <p:sldId id="395" r:id="rId5"/>
    <p:sldId id="423" r:id="rId6"/>
    <p:sldId id="396" r:id="rId7"/>
    <p:sldId id="424" r:id="rId8"/>
    <p:sldId id="425" r:id="rId9"/>
    <p:sldId id="426" r:id="rId10"/>
    <p:sldId id="397" r:id="rId11"/>
    <p:sldId id="398" r:id="rId12"/>
    <p:sldId id="28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0" autoAdjust="0"/>
    <p:restoredTop sz="94773" autoAdjust="0"/>
  </p:normalViewPr>
  <p:slideViewPr>
    <p:cSldViewPr snapToGrid="0">
      <p:cViewPr>
        <p:scale>
          <a:sx n="67" d="100"/>
          <a:sy n="67" d="100"/>
        </p:scale>
        <p:origin x="1000"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16-10-2025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16-10-2025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Course Title, Topic Name</a:t>
            </a:r>
          </a:p>
        </p:txBody>
      </p:sp>
      <p:sp>
        <p:nvSpPr>
          <p:cNvPr id="5" name="Footer Placeholder 4"/>
          <p:cNvSpPr>
            <a:spLocks noGrp="1"/>
          </p:cNvSpPr>
          <p:nvPr>
            <p:ph type="ftr" sz="quarter" idx="4"/>
          </p:nvPr>
        </p:nvSpPr>
        <p:spPr/>
        <p:txBody>
          <a:bodyPr/>
          <a:lstStyle/>
          <a:p>
            <a:r>
              <a:rPr lang="en-US"/>
              <a:t>College of Engineering, KONERU LAKSHMAIAH EDUCATION FOUNDATION</a:t>
            </a:r>
            <a:endParaRPr lang="en-IN"/>
          </a:p>
        </p:txBody>
      </p:sp>
      <p:sp>
        <p:nvSpPr>
          <p:cNvPr id="6" name="Slide Number Placeholder 5"/>
          <p:cNvSpPr>
            <a:spLocks noGrp="1"/>
          </p:cNvSpPr>
          <p:nvPr>
            <p:ph type="sldNum" sz="quarter" idx="5"/>
          </p:nvPr>
        </p:nvSpPr>
        <p:spPr/>
        <p:txBody>
          <a:bodyPr/>
          <a:lstStyle/>
          <a:p>
            <a:fld id="{823BDDA1-7BB7-447A-97DE-AE5425C8F2AD}" type="slidenum">
              <a:rPr lang="en-IN" smtClean="0"/>
              <a:pPr/>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AF6DF-9205-8B94-59E0-6F88ACBDD1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E68E1C0-6F5B-792A-3F0E-0F69F9EAAA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80D6DB-B9D0-5403-0624-DD6AFF861E10}"/>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F0CF1375-63F2-B093-5CCB-BACF542E3B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DAF907-8EDF-D196-1AC6-06F4ED64D1E5}"/>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2119801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6F859-1B18-70DF-F0B5-FE37D2941F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54088E-1F5D-81F8-4F6B-8CA1DF501D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80572A-9D56-2C94-F952-D276EF0BEE37}"/>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B52F73FE-894F-C3CC-9C3F-8572DFEE87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9E1FF2-2BA5-1F55-D66F-3874AFD3C06B}"/>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4196602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90E0A-307C-E443-991B-B3B7702ECE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580864C-733E-B499-CB10-FE94C00533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E55F96-0F28-EC46-DF14-4B3351973EED}"/>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F4A7C2A5-6913-71CF-6326-2EDF825017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A5637C-14FC-E718-D2BA-B2E965F43A49}"/>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2870687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35362-45F8-0777-41DA-33653FD0AE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167C2F-4218-C889-DB64-F18E30ACCD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14194AA-11E2-EC15-C19D-C87BDB95C9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BF44D4-C2C5-6408-2169-2185873EF280}"/>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27F91D20-D955-FD25-3BBA-8DFFA1DD02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4B9B68-2C3F-78DD-AD9B-9676C19AAA1C}"/>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416840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F234B-EA81-018A-8207-3448FF912F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92E09D-3EF5-3577-184E-FD80B86DFE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0E929A-18FC-F9F8-4FB9-F1F2946D81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BCFBB45-E27B-7C09-86BC-2026681081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6E5CAD-DAA7-689E-4D57-9713F7F086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2341BFE-F8AD-7D0C-09F0-F42521EB5534}"/>
              </a:ext>
            </a:extLst>
          </p:cNvPr>
          <p:cNvSpPr>
            <a:spLocks noGrp="1"/>
          </p:cNvSpPr>
          <p:nvPr>
            <p:ph type="dt" sz="half" idx="10"/>
          </p:nvPr>
        </p:nvSpPr>
        <p:spPr/>
        <p:txBody>
          <a:bodyPr/>
          <a:lstStyle/>
          <a:p>
            <a:r>
              <a:rPr lang="en-US"/>
              <a:t>&lt;COURSE TITLE&gt;, &lt;TOPIC NAME&gt;</a:t>
            </a:r>
            <a:endParaRPr lang="en-IN" dirty="0"/>
          </a:p>
        </p:txBody>
      </p:sp>
      <p:sp>
        <p:nvSpPr>
          <p:cNvPr id="8" name="Footer Placeholder 7">
            <a:extLst>
              <a:ext uri="{FF2B5EF4-FFF2-40B4-BE49-F238E27FC236}">
                <a16:creationId xmlns:a16="http://schemas.microsoft.com/office/drawing/2014/main" id="{194E2E5A-2EAB-9EF4-D2E4-8F2E932B5BB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E6A0DFA-8F69-913E-14A8-57FFECF49D46}"/>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932952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8C8ED-3BC1-DE2E-B73B-00C6E3C1FC9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633F8F9-2ACB-F18C-EC50-9A40DE691714}"/>
              </a:ext>
            </a:extLst>
          </p:cNvPr>
          <p:cNvSpPr>
            <a:spLocks noGrp="1"/>
          </p:cNvSpPr>
          <p:nvPr>
            <p:ph type="dt" sz="half" idx="10"/>
          </p:nvPr>
        </p:nvSpPr>
        <p:spPr/>
        <p:txBody>
          <a:bodyPr/>
          <a:lstStyle/>
          <a:p>
            <a:r>
              <a:rPr lang="en-US"/>
              <a:t>&lt;COURSE TITLE&gt;, &lt;TOPIC NAME&gt;</a:t>
            </a:r>
            <a:endParaRPr lang="en-IN" dirty="0"/>
          </a:p>
        </p:txBody>
      </p:sp>
      <p:sp>
        <p:nvSpPr>
          <p:cNvPr id="4" name="Footer Placeholder 3">
            <a:extLst>
              <a:ext uri="{FF2B5EF4-FFF2-40B4-BE49-F238E27FC236}">
                <a16:creationId xmlns:a16="http://schemas.microsoft.com/office/drawing/2014/main" id="{FD453120-800F-7B1E-7BCD-EED5A366808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1336D21-E29A-5827-2820-8306CE321CAE}"/>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641437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988063-FE5C-33FE-6E0D-A11D5E0D17F3}"/>
              </a:ext>
            </a:extLst>
          </p:cNvPr>
          <p:cNvSpPr>
            <a:spLocks noGrp="1"/>
          </p:cNvSpPr>
          <p:nvPr>
            <p:ph type="dt" sz="half" idx="10"/>
          </p:nvPr>
        </p:nvSpPr>
        <p:spPr/>
        <p:txBody>
          <a:bodyPr/>
          <a:lstStyle/>
          <a:p>
            <a:r>
              <a:rPr lang="en-US"/>
              <a:t>&lt;COURSE TITLE&gt;, &lt;TOPIC NAME&gt;</a:t>
            </a:r>
            <a:endParaRPr lang="en-IN" dirty="0"/>
          </a:p>
        </p:txBody>
      </p:sp>
      <p:sp>
        <p:nvSpPr>
          <p:cNvPr id="3" name="Footer Placeholder 2">
            <a:extLst>
              <a:ext uri="{FF2B5EF4-FFF2-40B4-BE49-F238E27FC236}">
                <a16:creationId xmlns:a16="http://schemas.microsoft.com/office/drawing/2014/main" id="{EE0693F6-9C96-2D34-2647-E10A3FFC085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E56B892-05AA-55E2-6FA6-4D6ABBE10461}"/>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286081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DE68E-184F-89A9-6424-B898BDD104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100B3EB-4440-D36B-752B-4C4F3AA1B6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A02503-06A2-FA86-4DFE-F6D86E0A27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C2D5F6-D40B-53A4-E345-BC0600588BCE}"/>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A65FDB5C-9001-73A7-FF3C-F2B61E2B92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9176EA-D373-2C08-0A2A-64BA8F6E8E00}"/>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930417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A2758-FF35-2E10-BA70-0FF0A6D500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0EC2538-1A84-B2A6-C4AC-D2CCE109C4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6D4249-A449-2CC4-0B67-8F7AF4AC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B0EEE4-9E18-4645-E96E-55A325584763}"/>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B3841CDE-B85A-B36A-69B5-BA39C6CE9F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F5414D-D48D-338C-8ED3-83AB98403EA0}"/>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582338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4A3F5-14B4-A4F8-CD95-E37DC5AA928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1F3543-7089-12C2-8C34-C145359C8D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E28E6D-7A7F-8DA0-CBA1-37C2E69EF5D0}"/>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CCA00F75-0C6B-450F-75BA-516FAEE8FD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A9A51B-D3E4-182E-0C8C-B4A2D31F2D0D}"/>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2847993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91EBE6-EF5A-D916-F285-1B65C940B7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4932DD1-F691-25F2-D7CA-DB90218830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51B399-BA8F-A514-61B4-8BFFB25AE80D}"/>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4E678621-4C77-74A1-1C46-A224250F7F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98C894-942F-5671-D718-633EF1BABBB5}"/>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142957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486457-6CA8-D2A5-7193-EBF682A07F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C95710-5D05-79E5-AE77-F09C7BB9B6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5BD9C2-04AB-34A0-8278-8DD84C4D73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9A0B2212-9D10-FD96-A4AA-1DF8B28399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43E1F02-F8DC-165C-9C59-F28A1414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ABCCC1-BF11-4F37-963E-1BCD5B23FD72}" type="slidenum">
              <a:rPr lang="en-IN" smtClean="0"/>
              <a:pPr/>
              <a:t>‹#›</a:t>
            </a:fld>
            <a:endParaRPr lang="en-IN" dirty="0"/>
          </a:p>
        </p:txBody>
      </p:sp>
      <p:pic>
        <p:nvPicPr>
          <p:cNvPr id="7" name="Picture 6" descr="Icon&#10;&#10;Description automatically generated with medium confidence">
            <a:extLst>
              <a:ext uri="{FF2B5EF4-FFF2-40B4-BE49-F238E27FC236}">
                <a16:creationId xmlns:a16="http://schemas.microsoft.com/office/drawing/2014/main" id="{45766012-5A86-70EE-1CAE-6E363FC3B03B}"/>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8" name="Picture 7">
            <a:extLst>
              <a:ext uri="{FF2B5EF4-FFF2-40B4-BE49-F238E27FC236}">
                <a16:creationId xmlns:a16="http://schemas.microsoft.com/office/drawing/2014/main" id="{8CF8FFBC-1651-2D61-3149-A3D212FD1DF6}"/>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393BBE17-BD2A-C110-E11F-2A30DE6F5CE5}"/>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extLst>
      <p:ext uri="{BB962C8B-B14F-4D97-AF65-F5344CB8AC3E}">
        <p14:creationId xmlns:p14="http://schemas.microsoft.com/office/powerpoint/2010/main" val="31960294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jmlr.org/papers/volume9/vandermaaten08a/vandermaaten08a.pdf"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geeksforgeeks.org/machine-learning/ml-t-distributed-stochastic-neighbor-embedding-t-sne-algorith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machine-learning/ml-stochastic-gradient-descent-sgd/" TargetMode="External"/><Relationship Id="rId2" Type="http://schemas.openxmlformats.org/officeDocument/2006/relationships/hyperlink" Target="https://www.geeksforgeeks.org/machine-learning/what-is-cross-entropy-loss-functio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oogle.com/search?q=manifold&amp;sca_esv=89e7bcb64ef3cfc7&amp;sxsrf=AE3TifPh6fuwrE1n_MnMAqW_MrxphX9LsA:1759515908774&amp;ei=BBXgaIOBL9Od4-EP-vCZkA4&amp;ved=2ahUKEwjpmMmK14iQAxUUzTgGHTUNKlcQgK4QegYIAQgAEAc&amp;uact=5&amp;oq=manifold+learning&amp;gs_lp=Egxnd3Mtd2l6LXNlcnAiEW1hbmlmb2xkIGxlYXJuaW5nMgYQABgHGB4yChAAGIAEGEMYigUyBhAAGAcYHjIFEAAYgAQyBhAAGAcYHjIGEAAYBxgeMgYQABgHGB4yBhAAGAcYHjIGEAAYBxgeMgYQABgHGB5IzRJQ3wVYjAxwAXgBkAEAmAGAAaABiAmqAQM1Lja4AQPIAQD4AQGYAgOgAqACwgIKEAAYsAMY1gQYR8ICBhAAGAgYHsICBRAAGO8FwgIIEAAYgAQYogSYAwCIBgGQBgiSBwMxLjKgB5Y3sgcDMC4yuAeTAsIHBTItMS4yyAcc&amp;sclient=gws-wiz-serp" TargetMode="External"/><Relationship Id="rId2" Type="http://schemas.openxmlformats.org/officeDocument/2006/relationships/hyperlink" Target="https://www.google.com/search?q=non-linear+dimensionality+reduction&amp;sca_esv=89e7bcb64ef3cfc7&amp;sxsrf=AE3TifPh6fuwrE1n_MnMAqW_MrxphX9LsA:1759515908774&amp;ei=BBXgaIOBL9Od4-EP-vCZkA4&amp;ved=2ahUKEwjpmMmK14iQAxUUzTgGHTUNKlcQgK4QegYIAQgAEAY&amp;uact=5&amp;oq=manifold+learning&amp;gs_lp=Egxnd3Mtd2l6LXNlcnAiEW1hbmlmb2xkIGxlYXJuaW5nMgYQABgHGB4yChAAGIAEGEMYigUyBhAAGAcYHjIFEAAYgAQyBhAAGAcYHjIGEAAYBxgeMgYQABgHGB4yBhAAGAcYHjIGEAAYBxgeMgYQABgHGB5IzRJQ3wVYjAxwAXgBkAEAmAGAAaABiAmqAQM1Lja4AQPIAQD4AQGYAgOgAqACwgIKEAAYsAMY1gQYR8ICBhAAGAgYHsICBRAAGO8FwgIIEAAYgAQYogSYAwCIBgGQBgiSBwMxLjKgB5Y3sgcDMC4yuAeTAsIHBTItMS4yyAcc&amp;sclient=gws-wiz-serp" TargetMode="External"/><Relationship Id="rId1" Type="http://schemas.openxmlformats.org/officeDocument/2006/relationships/slideLayout" Target="../slideLayouts/slideLayout2.xml"/><Relationship Id="rId6" Type="http://schemas.openxmlformats.org/officeDocument/2006/relationships/hyperlink" Target="https://www.google.com/search?q=t-SNE&amp;sca_esv=89e7bcb64ef3cfc7&amp;sxsrf=AE3TifPh6fuwrE1n_MnMAqW_MrxphX9LsA:1759515908774&amp;ei=BBXgaIOBL9Od4-EP-vCZkA4&amp;ved=2ahUKEwjpmMmK14iQAxUUzTgGHTUNKlcQgK4QegYIAQgAEAo&amp;uact=5&amp;oq=manifold+learning&amp;gs_lp=Egxnd3Mtd2l6LXNlcnAiEW1hbmlmb2xkIGxlYXJuaW5nMgYQABgHGB4yChAAGIAEGEMYigUyBhAAGAcYHjIFEAAYgAQyBhAAGAcYHjIGEAAYBxgeMgYQABgHGB4yBhAAGAcYHjIGEAAYBxgeMgYQABgHGB5IzRJQ3wVYjAxwAXgBkAEAmAGAAaABiAmqAQM1Lja4AQPIAQD4AQGYAgOgAqACwgIKEAAYsAMY1gQYR8ICBhAAGAgYHsICBRAAGO8FwgIIEAAYgAQYogSYAwCIBgGQBgiSBwMxLjKgB5Y3sgcDMC4yuAeTAsIHBTItMS4yyAcc&amp;sclient=gws-wiz-serp" TargetMode="External"/><Relationship Id="rId5" Type="http://schemas.openxmlformats.org/officeDocument/2006/relationships/hyperlink" Target="https://www.google.com/search?q=LLE&amp;sca_esv=89e7bcb64ef3cfc7&amp;sxsrf=AE3TifPh6fuwrE1n_MnMAqW_MrxphX9LsA:1759515908774&amp;ei=BBXgaIOBL9Od4-EP-vCZkA4&amp;ved=2ahUKEwjpmMmK14iQAxUUzTgGHTUNKlcQgK4QegYIAQgAEAk&amp;uact=5&amp;oq=manifold+learning&amp;gs_lp=Egxnd3Mtd2l6LXNlcnAiEW1hbmlmb2xkIGxlYXJuaW5nMgYQABgHGB4yChAAGIAEGEMYigUyBhAAGAcYHjIFEAAYgAQyBhAAGAcYHjIGEAAYBxgeMgYQABgHGB4yBhAAGAcYHjIGEAAYBxgeMgYQABgHGB5IzRJQ3wVYjAxwAXgBkAEAmAGAAaABiAmqAQM1Lja4AQPIAQD4AQGYAgOgAqACwgIKEAAYsAMY1gQYR8ICBhAAGAgYHsICBRAAGO8FwgIIEAAYgAQYogSYAwCIBgGQBgiSBwMxLjKgB5Y3sgcDMC4yuAeTAsIHBTItMS4yyAcc&amp;sclient=gws-wiz-serp" TargetMode="External"/><Relationship Id="rId4" Type="http://schemas.openxmlformats.org/officeDocument/2006/relationships/hyperlink" Target="https://www.google.com/search?q=Isomap&amp;sca_esv=89e7bcb64ef3cfc7&amp;sxsrf=AE3TifPh6fuwrE1n_MnMAqW_MrxphX9LsA:1759515908774&amp;ei=BBXgaIOBL9Od4-EP-vCZkA4&amp;ved=2ahUKEwjpmMmK14iQAxUUzTgGHTUNKlcQgK4QegYIAQgAEAg&amp;uact=5&amp;oq=manifold+learning&amp;gs_lp=Egxnd3Mtd2l6LXNlcnAiEW1hbmlmb2xkIGxlYXJuaW5nMgYQABgHGB4yChAAGIAEGEMYigUyBhAAGAcYHjIFEAAYgAQyBhAAGAcYHjIGEAAYBxgeMgYQABgHGB4yBhAAGAcYHjIGEAAYBxgeMgYQABgHGB5IzRJQ3wVYjAxwAXgBkAEAmAGAAaABiAmqAQM1Lja4AQPIAQD4AQGYAgOgAqACwgIKEAAYsAMY1gQYR8ICBhAAGAgYHsICBRAAGO8FwgIIEAAYgAQYogSYAwCIBgGQBgiSBwMxLjKgB5Y3sgcDMC4yuAeTAsIHBTItMS4yyAcc&amp;sclient=gws-wiz-ser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machine-learning/ml-t-distributed-stochastic-neighbor-embedding-t-sne-algorithm/" TargetMode="External"/><Relationship Id="rId2" Type="http://schemas.openxmlformats.org/officeDocument/2006/relationships/hyperlink" Target="https://www.geeksforgeeks.org/machine-learning/learning-model-building-scikit-learn-python-machine-learning-library/"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machine-learning/locally-linear-embedding-in-machine-learning/" TargetMode="External"/><Relationship Id="rId2" Type="http://schemas.openxmlformats.org/officeDocument/2006/relationships/hyperlink" Target="https://www.geeksforgeeks.org/machine-learning/isomap-a-non-linear-dimensionality-reduction-techniqu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machine-learning/multidimensional-scaling-mds-using-scikit-lear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oogle Shape;464;p16"/>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23449" y="234462"/>
            <a:ext cx="4829908" cy="5838093"/>
          </a:xfrm>
          <a:prstGeom prst="rect">
            <a:avLst/>
          </a:prstGeom>
          <a:noFill/>
          <a:ln>
            <a:noFill/>
          </a:ln>
        </p:spPr>
      </p:pic>
      <p:sp>
        <p:nvSpPr>
          <p:cNvPr id="15" name="Google Shape;476;p16"/>
          <p:cNvSpPr txBox="1"/>
          <p:nvPr/>
        </p:nvSpPr>
        <p:spPr>
          <a:xfrm>
            <a:off x="5249334" y="1323812"/>
            <a:ext cx="6791558" cy="1815841"/>
          </a:xfrm>
          <a:prstGeom prst="rect">
            <a:avLst/>
          </a:prstGeom>
          <a:noFill/>
          <a:ln>
            <a:noFill/>
          </a:ln>
        </p:spPr>
        <p:txBody>
          <a:bodyPr spcFirstLastPara="1" wrap="square" lIns="91425" tIns="45700" rIns="91425" bIns="45700" anchor="t" anchorCtr="0">
            <a:spAutoFit/>
          </a:bodyPr>
          <a:lstStyle/>
          <a:p>
            <a:pPr algn="ctr"/>
            <a:r>
              <a:rPr lang="en-US" sz="2400" b="1" cap="all" dirty="0">
                <a:solidFill>
                  <a:srgbClr val="C00000"/>
                </a:solidFill>
                <a:cs typeface="Poppins" panose="00000500000000000000" pitchFamily="2" charset="0"/>
                <a:sym typeface="BioRhyme ExtraBold"/>
              </a:rPr>
              <a:t>Course:  AI &amp; ML</a:t>
            </a:r>
          </a:p>
          <a:p>
            <a:pPr marR="0" lvl="0" indent="0" algn="ctr">
              <a:spcBef>
                <a:spcPts val="0"/>
              </a:spcBef>
              <a:spcAft>
                <a:spcPts val="0"/>
              </a:spcAft>
              <a:buNone/>
            </a:pPr>
            <a:r>
              <a:rPr lang="en-US" sz="2400" b="1" cap="all" dirty="0">
                <a:solidFill>
                  <a:srgbClr val="C00000"/>
                </a:solidFill>
                <a:cs typeface="Poppins"/>
                <a:sym typeface="BioRhyme ExtraBold"/>
              </a:rPr>
              <a:t>Course code: 24AD2001A</a:t>
            </a:r>
          </a:p>
          <a:p>
            <a:pPr marR="0" lvl="0" indent="0" algn="ctr">
              <a:spcBef>
                <a:spcPts val="0"/>
              </a:spcBef>
              <a:spcAft>
                <a:spcPts val="0"/>
              </a:spcAft>
              <a:buNone/>
            </a:pPr>
            <a:endParaRPr lang="en-US" sz="2000" b="1" dirty="0">
              <a:solidFill>
                <a:srgbClr val="C00000"/>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rgbClr val="C00000"/>
                </a:solidFill>
                <a:ea typeface="BioRhyme ExtraBold"/>
                <a:cs typeface="Poppins" panose="00000500000000000000" pitchFamily="2" charset="0"/>
                <a:sym typeface="BioRhyme ExtraBold"/>
              </a:rPr>
              <a:t>Topic: </a:t>
            </a:r>
          </a:p>
          <a:p>
            <a:r>
              <a:rPr lang="en-US" sz="2400" dirty="0"/>
              <a:t>t-SNE, UMAP, manifold learning</a:t>
            </a:r>
            <a:endParaRPr lang="en-US" sz="2400" b="1" dirty="0"/>
          </a:p>
        </p:txBody>
      </p:sp>
      <p:sp>
        <p:nvSpPr>
          <p:cNvPr id="16" name="Google Shape;475;p16"/>
          <p:cNvSpPr txBox="1"/>
          <p:nvPr/>
        </p:nvSpPr>
        <p:spPr>
          <a:xfrm>
            <a:off x="6468032" y="221119"/>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a:rPr>
              <a:t>Department of CSE</a:t>
            </a:r>
          </a:p>
        </p:txBody>
      </p:sp>
      <p:sp>
        <p:nvSpPr>
          <p:cNvPr id="17" name="Google Shape;502;p17"/>
          <p:cNvSpPr/>
          <p:nvPr/>
        </p:nvSpPr>
        <p:spPr>
          <a:xfrm>
            <a:off x="7892797" y="4137052"/>
            <a:ext cx="232972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 34</a:t>
            </a:r>
            <a:endParaRPr sz="2400" dirty="0">
              <a:solidFill>
                <a:schemeClr val="lt1"/>
              </a:solidFill>
              <a:ea typeface="Calibri" panose="020F0502020204030204"/>
              <a:cs typeface="Poppins" panose="00000500000000000000" pitchFamily="2" charset="0"/>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t-SNE</a:t>
            </a:r>
          </a:p>
        </p:txBody>
      </p:sp>
      <p:sp>
        <p:nvSpPr>
          <p:cNvPr id="3" name="Content Placeholder 2"/>
          <p:cNvSpPr>
            <a:spLocks noGrp="1"/>
          </p:cNvSpPr>
          <p:nvPr>
            <p:ph idx="1"/>
          </p:nvPr>
        </p:nvSpPr>
        <p:spPr>
          <a:xfrm>
            <a:off x="1451579" y="2015732"/>
            <a:ext cx="9603275" cy="4080268"/>
          </a:xfrm>
        </p:spPr>
        <p:txBody>
          <a:bodyPr>
            <a:normAutofit fontScale="92500" lnSpcReduction="10000"/>
          </a:bodyPr>
          <a:lstStyle/>
          <a:p>
            <a:pPr algn="just"/>
            <a:r>
              <a:rPr lang="en-US" dirty="0"/>
              <a:t>t-SNE (t-distributed Stochastic Neighbor Embedding) is an unsupervised non-linear dimensionality reduction technique for data exploration and visualizing high-dimensional data. Non-linear dimensionality reduction means that the algorithm allows us to separate data that cannot be separated by a straight line.</a:t>
            </a:r>
          </a:p>
          <a:p>
            <a:pPr algn="just"/>
            <a:r>
              <a:rPr lang="en-US" b="1" dirty="0"/>
              <a:t>t-SNE</a:t>
            </a:r>
            <a:r>
              <a:rPr lang="en-US" dirty="0"/>
              <a:t> (pronounced </a:t>
            </a:r>
            <a:r>
              <a:rPr lang="en-US" dirty="0" err="1"/>
              <a:t>tiz</a:t>
            </a:r>
            <a:r>
              <a:rPr lang="en-US" dirty="0"/>
              <a:t>-knee), which stands for </a:t>
            </a:r>
            <a:r>
              <a:rPr lang="en-US" b="1" dirty="0"/>
              <a:t>t-distributed Stochastic Neighbor Embedding</a:t>
            </a:r>
            <a:r>
              <a:rPr lang="en-US" dirty="0"/>
              <a:t> was proposed much more recently by Laurens van </a:t>
            </a:r>
            <a:r>
              <a:rPr lang="en-US" dirty="0" err="1"/>
              <a:t>der</a:t>
            </a:r>
            <a:r>
              <a:rPr lang="en-US" dirty="0"/>
              <a:t> </a:t>
            </a:r>
            <a:r>
              <a:rPr lang="en-US" dirty="0" err="1"/>
              <a:t>Maaten</a:t>
            </a:r>
            <a:r>
              <a:rPr lang="en-US" dirty="0"/>
              <a:t> and Geoffrey Hinton in their </a:t>
            </a:r>
            <a:r>
              <a:rPr lang="en-US" dirty="0">
                <a:hlinkClick r:id="rId2"/>
              </a:rPr>
              <a:t>2008 paper</a:t>
            </a:r>
            <a:r>
              <a:rPr lang="en-US" dirty="0"/>
              <a:t>. This works in a similar way to PCA but has some key differences:</a:t>
            </a:r>
          </a:p>
          <a:p>
            <a:pPr algn="just"/>
            <a:r>
              <a:rPr lang="en-US" dirty="0"/>
              <a:t>Firstly, this is a </a:t>
            </a:r>
            <a:r>
              <a:rPr lang="en-US" b="1" dirty="0"/>
              <a:t>stochastic method</a:t>
            </a:r>
            <a:r>
              <a:rPr lang="en-US" dirty="0"/>
              <a:t>. So if you run multiple t-SNE plots on the same dataset it can look different.</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p:txBody>
          <a:bodyPr/>
          <a:lstStyle/>
          <a:p>
            <a:pPr algn="just"/>
            <a:r>
              <a:rPr lang="en-US" dirty="0"/>
              <a:t>Another difference is that this is an </a:t>
            </a:r>
            <a:r>
              <a:rPr lang="en-US" b="1" dirty="0"/>
              <a:t>iterative method</a:t>
            </a:r>
            <a:r>
              <a:rPr lang="en-US" dirty="0"/>
              <a:t>. It works by repeatedly moving </a:t>
            </a:r>
            <a:r>
              <a:rPr lang="en-US" dirty="0" err="1"/>
              <a:t>datapoints</a:t>
            </a:r>
            <a:r>
              <a:rPr lang="en-US" dirty="0"/>
              <a:t> closer or further away from each other depending on how 'similar' they are. </a:t>
            </a:r>
          </a:p>
          <a:p>
            <a:pPr algn="just"/>
            <a:r>
              <a:rPr lang="en-US" dirty="0"/>
              <a:t>The new representation is </a:t>
            </a:r>
            <a:r>
              <a:rPr lang="en-US" b="1" dirty="0"/>
              <a:t>non-linear</a:t>
            </a:r>
            <a:r>
              <a:rPr lang="en-US" dirty="0"/>
              <a:t>. This makes it harder to interpret but it can be very effective at '</a:t>
            </a:r>
            <a:r>
              <a:rPr lang="en-US" dirty="0" err="1"/>
              <a:t>unravelling</a:t>
            </a:r>
            <a:r>
              <a:rPr lang="en-US" dirty="0"/>
              <a:t>' highly non-linear data.</a:t>
            </a:r>
          </a:p>
          <a:p>
            <a:pPr algn="just"/>
            <a:r>
              <a:rPr lang="en-US" dirty="0"/>
              <a:t>The main downside to t-SNE is that is </a:t>
            </a:r>
            <a:r>
              <a:rPr lang="en-US" b="1" dirty="0"/>
              <a:t>very slow</a:t>
            </a:r>
            <a:r>
              <a:rPr lang="en-US" dirty="0"/>
              <a:t> compared to the other dimensionality techniques. This is because it makes calculations on a pair-wise basis, which does not scale well with large datasets.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it works</a:t>
            </a:r>
          </a:p>
        </p:txBody>
      </p:sp>
      <p:sp>
        <p:nvSpPr>
          <p:cNvPr id="6" name="Content Placeholder 5"/>
          <p:cNvSpPr>
            <a:spLocks noGrp="1"/>
          </p:cNvSpPr>
          <p:nvPr>
            <p:ph idx="1"/>
          </p:nvPr>
        </p:nvSpPr>
        <p:spPr>
          <a:xfrm>
            <a:off x="1403954" y="1348982"/>
            <a:ext cx="9603275" cy="4010995"/>
          </a:xfrm>
        </p:spPr>
        <p:txBody>
          <a:bodyPr>
            <a:noAutofit/>
          </a:bodyPr>
          <a:lstStyle/>
          <a:p>
            <a:pPr algn="just"/>
            <a:r>
              <a:rPr lang="en-US" sz="2000" dirty="0"/>
              <a:t>The t-SNE algorithm finds the similarity measure between pairs of instances in higher and lower dimensional space. After that, it tries to optimize two similarity measures. It does all of that in three steps. </a:t>
            </a:r>
          </a:p>
          <a:p>
            <a:pPr algn="just"/>
            <a:r>
              <a:rPr lang="en-US" sz="2000" dirty="0"/>
              <a:t>t-SNE models a point being selected as a neighbor of another point in both higher and lower dimensions. It starts by calculating a </a:t>
            </a:r>
            <a:r>
              <a:rPr lang="en-US" sz="2000" dirty="0" err="1"/>
              <a:t>pairwise</a:t>
            </a:r>
            <a:r>
              <a:rPr lang="en-US" sz="2000" dirty="0"/>
              <a:t> similarity between all data points in the high-dimensional space using a Gaussian kernel. The points far apart have a lower probability of being picked than the points close together. </a:t>
            </a:r>
          </a:p>
          <a:p>
            <a:pPr algn="just"/>
            <a:r>
              <a:rPr lang="en-US" sz="2000" dirty="0"/>
              <a:t>The algorithm then tries to map higher-dimensional data points onto lower-dimensional space while preserving the </a:t>
            </a:r>
            <a:r>
              <a:rPr lang="en-US" sz="2000" dirty="0" err="1"/>
              <a:t>pairwise</a:t>
            </a:r>
            <a:r>
              <a:rPr lang="en-US" sz="2000" dirty="0"/>
              <a:t> similarities. </a:t>
            </a:r>
          </a:p>
          <a:p>
            <a:pPr algn="just"/>
            <a:r>
              <a:rPr lang="en-US" sz="2000" dirty="0"/>
              <a:t>It is achieved by minimizing the divergence between the original high-dimensional and lower-dimensional probability distribution. The algorithm uses gradient descent to minimize the divergence. The lower-dimensional embedding is optimized to a stable state.</a:t>
            </a:r>
          </a:p>
          <a:p>
            <a:pPr algn="just">
              <a:buNone/>
            </a:pPr>
            <a:r>
              <a:rPr lang="en-US" sz="2000" dirty="0"/>
              <a:t>    The optimization process allows the creation of clusters and sub-clusters of similar data points in the lower-dimensional space, which are visualized to understand the structure and relationships in the higher-dimensional data. </a:t>
            </a:r>
          </a:p>
          <a:p>
            <a:endParaRPr lang="en-US" sz="20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UMAP</a:t>
            </a:r>
          </a:p>
        </p:txBody>
      </p:sp>
      <p:sp>
        <p:nvSpPr>
          <p:cNvPr id="3" name="Content Placeholder 2"/>
          <p:cNvSpPr>
            <a:spLocks noGrp="1"/>
          </p:cNvSpPr>
          <p:nvPr>
            <p:ph idx="1"/>
          </p:nvPr>
        </p:nvSpPr>
        <p:spPr>
          <a:xfrm>
            <a:off x="1451579" y="1870364"/>
            <a:ext cx="9603275" cy="4211781"/>
          </a:xfrm>
        </p:spPr>
        <p:txBody>
          <a:bodyPr>
            <a:normAutofit fontScale="92500" lnSpcReduction="10000"/>
          </a:bodyPr>
          <a:lstStyle/>
          <a:p>
            <a:pPr algn="just"/>
            <a:r>
              <a:rPr lang="en-US" dirty="0"/>
              <a:t>UMAP is a manifold learning technique that aims to reduce the dimensionality of data while preserving its topological structure. It is particularly useful for visualizing high-dimensional datasets in a low-dimensional space, typically two or three dimensions. UMAP is often compared to </a:t>
            </a:r>
            <a:r>
              <a:rPr lang="en-US" dirty="0">
                <a:hlinkClick r:id="rId2"/>
              </a:rPr>
              <a:t>t-SNE</a:t>
            </a:r>
            <a:r>
              <a:rPr lang="en-US" dirty="0"/>
              <a:t> (t-distributed Stochastic Neighbor Embedding) due to its similar application in data visualization, but it offers several advantages, including better preservation of global data structure and faster computation times.</a:t>
            </a:r>
          </a:p>
          <a:p>
            <a:pPr algn="just">
              <a:buNone/>
            </a:pPr>
            <a:r>
              <a:rPr lang="en-US" b="1" dirty="0">
                <a:solidFill>
                  <a:srgbClr val="FF0000"/>
                </a:solidFill>
              </a:rPr>
              <a:t>The UMAP Algorithm</a:t>
            </a:r>
          </a:p>
          <a:p>
            <a:pPr algn="just"/>
            <a:r>
              <a:rPr lang="en-US" dirty="0"/>
              <a:t>The UMAP algorithm can be broken down into two main phases: constructing a fuzzy topological representation and optimizing the low-dimensional embedding.</a:t>
            </a:r>
          </a:p>
          <a:p>
            <a:endParaRPr lang="en-US" dirty="0"/>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3361" y="776810"/>
            <a:ext cx="9603275" cy="1049235"/>
          </a:xfrm>
        </p:spPr>
        <p:txBody>
          <a:bodyPr/>
          <a:lstStyle/>
          <a:p>
            <a:r>
              <a:rPr lang="en-US" dirty="0"/>
              <a:t>CONTD..</a:t>
            </a:r>
          </a:p>
        </p:txBody>
      </p:sp>
      <p:sp>
        <p:nvSpPr>
          <p:cNvPr id="6" name="Content Placeholder 5"/>
          <p:cNvSpPr>
            <a:spLocks noGrp="1"/>
          </p:cNvSpPr>
          <p:nvPr>
            <p:ph idx="1"/>
          </p:nvPr>
        </p:nvSpPr>
        <p:spPr>
          <a:xfrm>
            <a:off x="1451579" y="1731818"/>
            <a:ext cx="9603275" cy="4585855"/>
          </a:xfrm>
        </p:spPr>
        <p:txBody>
          <a:bodyPr>
            <a:normAutofit fontScale="77500" lnSpcReduction="20000"/>
          </a:bodyPr>
          <a:lstStyle/>
          <a:p>
            <a:pPr algn="just">
              <a:buNone/>
            </a:pPr>
            <a:r>
              <a:rPr lang="en-US" b="1" dirty="0"/>
              <a:t>1. Constructing the Fuzzy Topological Representation</a:t>
            </a:r>
          </a:p>
          <a:p>
            <a:pPr algn="just"/>
            <a:r>
              <a:rPr lang="en-US" b="1" dirty="0"/>
              <a:t>Nearest Neighbor Search</a:t>
            </a:r>
            <a:r>
              <a:rPr lang="en-US" dirty="0"/>
              <a:t>: UMAP begins by finding the nearest neighbors for each data point. This is typically done using approximate nearest neighbor algorithms to speed up the process.</a:t>
            </a:r>
          </a:p>
          <a:p>
            <a:pPr algn="just"/>
            <a:r>
              <a:rPr lang="en-US" b="1" dirty="0"/>
              <a:t>Fuzzy </a:t>
            </a:r>
            <a:r>
              <a:rPr lang="en-US" b="1" dirty="0" err="1"/>
              <a:t>Simplicial</a:t>
            </a:r>
            <a:r>
              <a:rPr lang="en-US" b="1" dirty="0"/>
              <a:t> Set</a:t>
            </a:r>
            <a:r>
              <a:rPr lang="en-US" dirty="0"/>
              <a:t>: A fuzzy </a:t>
            </a:r>
            <a:r>
              <a:rPr lang="en-US" dirty="0" err="1"/>
              <a:t>simplicial</a:t>
            </a:r>
            <a:r>
              <a:rPr lang="en-US" dirty="0"/>
              <a:t> set is constructed from the nearest neighbors. This set captures the local connectivity of the data points.</a:t>
            </a:r>
          </a:p>
          <a:p>
            <a:pPr algn="just"/>
            <a:r>
              <a:rPr lang="en-US" b="1" dirty="0"/>
              <a:t>Fuzzy Membership Strengths</a:t>
            </a:r>
            <a:r>
              <a:rPr lang="en-US" dirty="0"/>
              <a:t>: Membership strengths are assigned to the edges of the </a:t>
            </a:r>
            <a:r>
              <a:rPr lang="en-US" dirty="0" err="1"/>
              <a:t>simplicial</a:t>
            </a:r>
            <a:r>
              <a:rPr lang="en-US" dirty="0"/>
              <a:t> set, representing the probability that two points are connected.</a:t>
            </a:r>
          </a:p>
          <a:p>
            <a:pPr algn="just">
              <a:buNone/>
            </a:pPr>
            <a:r>
              <a:rPr lang="en-US" b="1" dirty="0"/>
              <a:t>2. Optimizing the Low-Dimensional Embedding</a:t>
            </a:r>
          </a:p>
          <a:p>
            <a:pPr algn="just"/>
            <a:r>
              <a:rPr lang="en-US" b="1" dirty="0">
                <a:hlinkClick r:id="rId2"/>
              </a:rPr>
              <a:t>Cross-Entropy Optimization</a:t>
            </a:r>
            <a:r>
              <a:rPr lang="en-US" dirty="0"/>
              <a:t>: The low-dimensional embedding is optimized to minimize the cross-entropy between the fuzzy </a:t>
            </a:r>
            <a:r>
              <a:rPr lang="en-US" dirty="0" err="1"/>
              <a:t>simplicial</a:t>
            </a:r>
            <a:r>
              <a:rPr lang="en-US" dirty="0"/>
              <a:t> set in the high-dimensional space and the low-dimensional space.</a:t>
            </a:r>
          </a:p>
          <a:p>
            <a:pPr algn="just"/>
            <a:r>
              <a:rPr lang="en-US" b="1" dirty="0">
                <a:hlinkClick r:id="rId3"/>
              </a:rPr>
              <a:t>Stochastic Gradient Descent</a:t>
            </a:r>
            <a:r>
              <a:rPr lang="en-US" dirty="0">
                <a:hlinkClick r:id="rId3"/>
              </a:rPr>
              <a:t>: </a:t>
            </a:r>
            <a:r>
              <a:rPr lang="en-US" dirty="0"/>
              <a:t>UMAP uses stochastic gradient descent to perform the optimization. This involves iteratively adjusting the positions of the points in the low-dimensional space to better match the fuzzy topological structure.</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51579" y="2216726"/>
            <a:ext cx="9603275" cy="3249619"/>
          </a:xfrm>
        </p:spPr>
        <p:txBody>
          <a:bodyPr>
            <a:normAutofit/>
          </a:bodyPr>
          <a:lstStyle/>
          <a:p>
            <a:pPr algn="just">
              <a:buNone/>
            </a:pPr>
            <a:r>
              <a:rPr lang="en-US" dirty="0"/>
              <a:t>Manifold learning is a machine learning technique for </a:t>
            </a:r>
            <a:r>
              <a:rPr lang="en-US" dirty="0">
                <a:hlinkClick r:id="rId2"/>
              </a:rPr>
              <a:t>non-linear dimensionality reduction</a:t>
            </a:r>
            <a:r>
              <a:rPr lang="en-US" dirty="0"/>
              <a:t>, which assumes that high-dimensional data can be represented as lying on a lower-dimensional, non-linear surface (a </a:t>
            </a:r>
            <a:r>
              <a:rPr lang="en-US" dirty="0">
                <a:hlinkClick r:id="rId3"/>
              </a:rPr>
              <a:t>manifold</a:t>
            </a:r>
            <a:r>
              <a:rPr lang="en-US" dirty="0"/>
              <a:t>). Its goal is to discover this underlying structure to simplify data, reveal hidden relationships, and facilitate visualization, often through methods like </a:t>
            </a:r>
            <a:r>
              <a:rPr lang="en-US" dirty="0" err="1">
                <a:hlinkClick r:id="rId4"/>
              </a:rPr>
              <a:t>Isomap</a:t>
            </a:r>
            <a:r>
              <a:rPr lang="en-US" dirty="0"/>
              <a:t>, </a:t>
            </a:r>
            <a:r>
              <a:rPr lang="en-US" dirty="0">
                <a:hlinkClick r:id="rId5"/>
              </a:rPr>
              <a:t>LLE</a:t>
            </a:r>
            <a:r>
              <a:rPr lang="en-US" dirty="0"/>
              <a:t>, and </a:t>
            </a:r>
            <a:r>
              <a:rPr lang="en-US" dirty="0">
                <a:hlinkClick r:id="rId6"/>
              </a:rPr>
              <a:t>t-SNE</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7</a:t>
            </a:fld>
            <a:endParaRPr lang="en-IN"/>
          </a:p>
        </p:txBody>
      </p:sp>
      <p:sp>
        <p:nvSpPr>
          <p:cNvPr id="5" name="TextBox 4"/>
          <p:cNvSpPr txBox="1"/>
          <p:nvPr/>
        </p:nvSpPr>
        <p:spPr>
          <a:xfrm>
            <a:off x="1551710" y="983673"/>
            <a:ext cx="8839200" cy="646331"/>
          </a:xfrm>
          <a:prstGeom prst="rect">
            <a:avLst/>
          </a:prstGeom>
          <a:noFill/>
        </p:spPr>
        <p:txBody>
          <a:bodyPr wrap="square" rtlCol="0">
            <a:spAutoFit/>
          </a:bodyPr>
          <a:lstStyle/>
          <a:p>
            <a:r>
              <a:rPr lang="en-US" sz="3600" b="1" dirty="0"/>
              <a:t>Manifold learning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it Works</a:t>
            </a:r>
            <a:endParaRPr lang="en-US" dirty="0"/>
          </a:p>
        </p:txBody>
      </p:sp>
      <p:sp>
        <p:nvSpPr>
          <p:cNvPr id="3" name="Content Placeholder 2"/>
          <p:cNvSpPr>
            <a:spLocks noGrp="1"/>
          </p:cNvSpPr>
          <p:nvPr>
            <p:ph idx="1"/>
          </p:nvPr>
        </p:nvSpPr>
        <p:spPr>
          <a:xfrm>
            <a:off x="1451579" y="1842654"/>
            <a:ext cx="9603275" cy="4391891"/>
          </a:xfrm>
        </p:spPr>
        <p:txBody>
          <a:bodyPr>
            <a:normAutofit fontScale="92500"/>
          </a:bodyPr>
          <a:lstStyle/>
          <a:p>
            <a:pPr algn="just"/>
            <a:r>
              <a:rPr lang="en-US" b="1" dirty="0"/>
              <a:t>Local Neighborhoods:</a:t>
            </a:r>
            <a:r>
              <a:rPr lang="en-US" dirty="0"/>
              <a:t> Manifold learning algorithms typically focus on preserving local properties of the data, meaning that points close together in the high-dimensional space are also mapped to be close together in the lower-dimensional representation.</a:t>
            </a:r>
          </a:p>
          <a:p>
            <a:pPr algn="just"/>
            <a:r>
              <a:rPr lang="en-US" b="1" dirty="0"/>
              <a:t>Non-Linearity:</a:t>
            </a:r>
            <a:r>
              <a:rPr lang="en-US" dirty="0"/>
              <a:t> Unlike linear methods like Principal Component Analysis (PCA), manifold learning techniques are sensitive to curved, non-linear patterns, making them suitable for complex data shapes.</a:t>
            </a:r>
          </a:p>
          <a:p>
            <a:pPr algn="just"/>
            <a:r>
              <a:rPr lang="en-US" b="1" dirty="0"/>
              <a:t>Dimensionality Reduction:</a:t>
            </a:r>
            <a:r>
              <a:rPr lang="en-US" dirty="0"/>
              <a:t> The result is a lower-dimensional embedding of the data, which helps in visualization and can be used for further analysis, as it removes noise and retains essential information</a:t>
            </a:r>
          </a:p>
        </p:txBody>
      </p:sp>
      <p:sp>
        <p:nvSpPr>
          <p:cNvPr id="4" name="Slide Number Placeholder 3"/>
          <p:cNvSpPr>
            <a:spLocks noGrp="1"/>
          </p:cNvSpPr>
          <p:nvPr>
            <p:ph type="sldNum" sz="quarter" idx="12"/>
          </p:nvPr>
        </p:nvSpPr>
        <p:spPr/>
        <p:txBody>
          <a:bodyPr/>
          <a:lstStyle/>
          <a:p>
            <a:fld id="{CBABCCC1-BF11-4F37-963E-1BCD5B23FD72}" type="slidenum">
              <a:rPr lang="en-IN" smtClean="0"/>
              <a:pPr/>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3143" y="790664"/>
            <a:ext cx="9603275" cy="1049235"/>
          </a:xfrm>
        </p:spPr>
        <p:txBody>
          <a:bodyPr/>
          <a:lstStyle/>
          <a:p>
            <a:r>
              <a:rPr lang="en-US" b="1" dirty="0"/>
              <a:t>Manifold Learning Methods</a:t>
            </a:r>
          </a:p>
        </p:txBody>
      </p:sp>
      <p:sp>
        <p:nvSpPr>
          <p:cNvPr id="3" name="Content Placeholder 2"/>
          <p:cNvSpPr>
            <a:spLocks noGrp="1"/>
          </p:cNvSpPr>
          <p:nvPr>
            <p:ph idx="1"/>
          </p:nvPr>
        </p:nvSpPr>
        <p:spPr>
          <a:xfrm>
            <a:off x="1451579" y="2015732"/>
            <a:ext cx="9603275" cy="3941723"/>
          </a:xfrm>
        </p:spPr>
        <p:txBody>
          <a:bodyPr>
            <a:normAutofit fontScale="62500" lnSpcReduction="20000"/>
          </a:bodyPr>
          <a:lstStyle/>
          <a:p>
            <a:pPr algn="just"/>
            <a:r>
              <a:rPr lang="en-US" dirty="0" err="1">
                <a:hlinkClick r:id="rId2"/>
              </a:rPr>
              <a:t>Scikit</a:t>
            </a:r>
            <a:r>
              <a:rPr lang="en-US" dirty="0">
                <a:hlinkClick r:id="rId2"/>
              </a:rPr>
              <a:t>-learn</a:t>
            </a:r>
            <a:r>
              <a:rPr lang="en-US" dirty="0"/>
              <a:t> provides several manifold learning algorithms. We will use </a:t>
            </a:r>
            <a:r>
              <a:rPr lang="en-US" b="1" dirty="0"/>
              <a:t>digits dataset</a:t>
            </a:r>
            <a:r>
              <a:rPr lang="en-US" dirty="0"/>
              <a:t> from </a:t>
            </a:r>
            <a:r>
              <a:rPr lang="en-US" dirty="0" err="1"/>
              <a:t>Scikit</a:t>
            </a:r>
            <a:r>
              <a:rPr lang="en-US" dirty="0"/>
              <a:t>-learn which has images of numbers from 0 to 9. Each image is 8×8 pixels giving 64 values leading to many features in data. It consists of various steps:</a:t>
            </a:r>
          </a:p>
          <a:p>
            <a:pPr algn="just"/>
            <a:r>
              <a:rPr lang="en-US" dirty="0"/>
              <a:t>Importing required libraries and loading digit images dataset.</a:t>
            </a:r>
          </a:p>
          <a:p>
            <a:pPr algn="just"/>
            <a:r>
              <a:rPr lang="en-US" dirty="0"/>
              <a:t>Choosing a manifold learning algorithm.</a:t>
            </a:r>
          </a:p>
          <a:p>
            <a:pPr algn="just"/>
            <a:r>
              <a:rPr lang="en-US" dirty="0"/>
              <a:t>Fit the algorithm to the dataset.</a:t>
            </a:r>
          </a:p>
          <a:p>
            <a:pPr algn="just"/>
            <a:r>
              <a:rPr lang="en-US" dirty="0"/>
              <a:t>Convert the dataset to a lower-dimensional space.</a:t>
            </a:r>
          </a:p>
          <a:p>
            <a:pPr algn="just"/>
            <a:r>
              <a:rPr lang="en-US" dirty="0"/>
              <a:t>Visualizing the converted data.</a:t>
            </a:r>
          </a:p>
          <a:p>
            <a:pPr algn="just"/>
            <a:r>
              <a:rPr lang="en-US" b="1" dirty="0"/>
              <a:t>1. t-SNE (t-distributed Stochastic Neighbor Embedding)</a:t>
            </a:r>
          </a:p>
          <a:p>
            <a:pPr algn="just"/>
            <a:r>
              <a:rPr lang="en-US" dirty="0">
                <a:hlinkClick r:id="rId3"/>
              </a:rPr>
              <a:t>t-SNE</a:t>
            </a:r>
            <a:r>
              <a:rPr lang="en-US" dirty="0"/>
              <a:t> is an effective method for visualizing high dimensional data by reducing it to 2D or 3D representations. It is based on the concept of probability distributions and tries to minimize the divergence between the </a:t>
            </a:r>
            <a:r>
              <a:rPr lang="en-US" dirty="0" err="1"/>
              <a:t>pairwise</a:t>
            </a:r>
            <a:r>
              <a:rPr lang="en-US" dirty="0"/>
              <a:t> similarities of data points in high-dimensional space and the similarities in low-dimensional space. This results in a 2D or 3D visualization of the data that retains its inherent structure.</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5" name="Content Placeholder 4"/>
          <p:cNvSpPr>
            <a:spLocks noGrp="1"/>
          </p:cNvSpPr>
          <p:nvPr>
            <p:ph idx="1"/>
          </p:nvPr>
        </p:nvSpPr>
        <p:spPr>
          <a:xfrm>
            <a:off x="1506997" y="1946460"/>
            <a:ext cx="9603275" cy="4066413"/>
          </a:xfrm>
        </p:spPr>
        <p:txBody>
          <a:bodyPr>
            <a:normAutofit lnSpcReduction="10000"/>
          </a:bodyPr>
          <a:lstStyle/>
          <a:p>
            <a:pPr algn="just"/>
            <a:r>
              <a:rPr lang="en-US" b="1" dirty="0"/>
              <a:t>2. </a:t>
            </a:r>
            <a:r>
              <a:rPr lang="en-US" b="1" dirty="0" err="1"/>
              <a:t>Isomap</a:t>
            </a:r>
            <a:r>
              <a:rPr lang="en-US" b="1" dirty="0"/>
              <a:t> (Isometric Mapping)</a:t>
            </a:r>
          </a:p>
          <a:p>
            <a:pPr algn="just"/>
            <a:r>
              <a:rPr lang="en-US" dirty="0" err="1">
                <a:hlinkClick r:id="rId2"/>
              </a:rPr>
              <a:t>Isomap</a:t>
            </a:r>
            <a:r>
              <a:rPr lang="en-US" dirty="0">
                <a:hlinkClick r:id="rId2"/>
              </a:rPr>
              <a:t> </a:t>
            </a:r>
            <a:r>
              <a:rPr lang="en-US" dirty="0"/>
              <a:t>is a dimensionality reduction approach based on the idea of geodesic distance. While mapping data points from a higher-dimensional space to a lower-dimensional space. It attempts to retain the geodesic distance between them.</a:t>
            </a:r>
          </a:p>
          <a:p>
            <a:pPr algn="just"/>
            <a:r>
              <a:rPr lang="en-US" b="1" dirty="0"/>
              <a:t>3. LLE (Locally Linear Embedding)</a:t>
            </a:r>
          </a:p>
          <a:p>
            <a:pPr algn="just"/>
            <a:r>
              <a:rPr lang="en-US" dirty="0">
                <a:hlinkClick r:id="rId3"/>
              </a:rPr>
              <a:t>Locally Linear Embedding (LLE)</a:t>
            </a:r>
            <a:r>
              <a:rPr lang="en-US" dirty="0"/>
              <a:t> is a dimensionality reduction method that seeks to preserve the local structure of the data. It works by attempting to map each point to a lower-dimensional space while maintaining its local neighborhood relationships.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10</a:t>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endParaRPr lang="en-US" b="1" dirty="0"/>
          </a:p>
        </p:txBody>
      </p:sp>
      <p:sp>
        <p:nvSpPr>
          <p:cNvPr id="3" name="Content Placeholder 2"/>
          <p:cNvSpPr>
            <a:spLocks noGrp="1"/>
          </p:cNvSpPr>
          <p:nvPr>
            <p:ph idx="1"/>
          </p:nvPr>
        </p:nvSpPr>
        <p:spPr>
          <a:xfrm>
            <a:off x="1451579" y="2015732"/>
            <a:ext cx="9603275" cy="4204959"/>
          </a:xfrm>
        </p:spPr>
        <p:txBody>
          <a:bodyPr>
            <a:noAutofit/>
          </a:bodyPr>
          <a:lstStyle/>
          <a:p>
            <a:r>
              <a:rPr lang="en-US" sz="1800" b="1" dirty="0"/>
              <a:t>4. MDS (Multi-Dimensional Scaling)</a:t>
            </a:r>
          </a:p>
          <a:p>
            <a:pPr algn="just"/>
            <a:r>
              <a:rPr lang="en-US" sz="1800" dirty="0">
                <a:hlinkClick r:id="rId2"/>
              </a:rPr>
              <a:t>Multi-Dimensional Scaling (MDS</a:t>
            </a:r>
            <a:r>
              <a:rPr lang="en-US" sz="1800" dirty="0"/>
              <a:t>) is a dimensionality reduction method that attempts to preserve </a:t>
            </a:r>
            <a:r>
              <a:rPr lang="en-US" sz="1800" dirty="0" err="1"/>
              <a:t>pairwise</a:t>
            </a:r>
            <a:r>
              <a:rPr lang="en-US" sz="1800" dirty="0"/>
              <a:t> distances between points while projecting them into a lower-dimensional space. It is particularly useful when you want to retain the </a:t>
            </a:r>
            <a:r>
              <a:rPr lang="en-US" sz="1800" dirty="0" err="1"/>
              <a:t>pairwise</a:t>
            </a:r>
            <a:r>
              <a:rPr lang="en-US" sz="1800" dirty="0"/>
              <a:t> relationships between data points.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12</a:t>
            </a:fld>
            <a:endParaRPr lang="en-IN"/>
          </a:p>
        </p:txBody>
      </p:sp>
      <p:sp>
        <p:nvSpPr>
          <p:cNvPr id="9" name="Rounded Rectangle 3"/>
          <p:cNvSpPr/>
          <p:nvPr/>
        </p:nvSpPr>
        <p:spPr>
          <a:xfrm>
            <a:off x="2541453" y="247782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AI &amp;ML</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2237</TotalTime>
  <Words>1184</Words>
  <Application>Microsoft Office PowerPoint</Application>
  <PresentationFormat>Widescreen</PresentationFormat>
  <Paragraphs>77</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BioRhyme ExtraBold</vt:lpstr>
      <vt:lpstr>Calibri</vt:lpstr>
      <vt:lpstr>Calibri Light</vt:lpstr>
      <vt:lpstr>Poppins</vt:lpstr>
      <vt:lpstr>Office Theme</vt:lpstr>
      <vt:lpstr>PowerPoint Presentation</vt:lpstr>
      <vt:lpstr>t-SNE</vt:lpstr>
      <vt:lpstr>CONTD..</vt:lpstr>
      <vt:lpstr>How it works</vt:lpstr>
      <vt:lpstr>UMAP</vt:lpstr>
      <vt:lpstr>CONTD..</vt:lpstr>
      <vt:lpstr>PowerPoint Presentation</vt:lpstr>
      <vt:lpstr>How it Works</vt:lpstr>
      <vt:lpstr>Manifold Learning Methods</vt:lpstr>
      <vt:lpstr>CONTD..</vt:lpstr>
      <vt:lpstr>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 Babu T</dc:creator>
  <cp:lastModifiedBy>P Manika Prasuna</cp:lastModifiedBy>
  <cp:revision>104</cp:revision>
  <dcterms:created xsi:type="dcterms:W3CDTF">2023-05-06T03:47:00Z</dcterms:created>
  <dcterms:modified xsi:type="dcterms:W3CDTF">2025-10-16T16:24:21Z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6E6046E1B8564DE48E72D44BA630FF3F_13</vt:lpwstr>
  </property>
  <property fmtid="{D5CDD505-2E9C-101B-9397-08002B2CF9AE}" pid="3" name="KSOProductBuildVer">
    <vt:lpwstr>1033-12.2.0.17119</vt:lpwstr>
  </property>
</Properties>
</file>