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5"/>
  </p:notesMasterIdLst>
  <p:handoutMasterIdLst>
    <p:handoutMasterId r:id="rId26"/>
  </p:handoutMasterIdLst>
  <p:sldIdLst>
    <p:sldId id="256" r:id="rId2"/>
    <p:sldId id="432" r:id="rId3"/>
    <p:sldId id="433" r:id="rId4"/>
    <p:sldId id="324" r:id="rId5"/>
    <p:sldId id="395" r:id="rId6"/>
    <p:sldId id="423" r:id="rId7"/>
    <p:sldId id="396" r:id="rId8"/>
    <p:sldId id="424" r:id="rId9"/>
    <p:sldId id="425" r:id="rId10"/>
    <p:sldId id="434" r:id="rId11"/>
    <p:sldId id="426" r:id="rId12"/>
    <p:sldId id="438" r:id="rId13"/>
    <p:sldId id="439" r:id="rId14"/>
    <p:sldId id="397" r:id="rId15"/>
    <p:sldId id="398" r:id="rId16"/>
    <p:sldId id="388" r:id="rId17"/>
    <p:sldId id="389" r:id="rId18"/>
    <p:sldId id="427" r:id="rId19"/>
    <p:sldId id="436" r:id="rId20"/>
    <p:sldId id="428" r:id="rId21"/>
    <p:sldId id="429" r:id="rId22"/>
    <p:sldId id="430" r:id="rId23"/>
    <p:sldId id="286"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35" autoAdjust="0"/>
    <p:restoredTop sz="94773" autoAdjust="0"/>
  </p:normalViewPr>
  <p:slideViewPr>
    <p:cSldViewPr snapToGrid="0">
      <p:cViewPr varScale="1">
        <p:scale>
          <a:sx n="78" d="100"/>
          <a:sy n="78" d="100"/>
        </p:scale>
        <p:origin x="77"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09-11-2025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09-11-2025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a:t>Course Title, Topic Name</a:t>
            </a:r>
          </a:p>
        </p:txBody>
      </p:sp>
      <p:sp>
        <p:nvSpPr>
          <p:cNvPr id="5" name="Footer Placeholder 4"/>
          <p:cNvSpPr>
            <a:spLocks noGrp="1"/>
          </p:cNvSpPr>
          <p:nvPr>
            <p:ph type="ftr" sz="quarter" idx="4"/>
          </p:nvPr>
        </p:nvSpPr>
        <p:spPr/>
        <p:txBody>
          <a:bodyPr/>
          <a:lstStyle/>
          <a:p>
            <a:r>
              <a:rPr lang="en-US"/>
              <a:t>College of Engineering, KONERU LAKSHMAIAH EDUCATION FOUNDATION</a:t>
            </a:r>
            <a:endParaRPr lang="en-IN"/>
          </a:p>
        </p:txBody>
      </p:sp>
      <p:sp>
        <p:nvSpPr>
          <p:cNvPr id="6" name="Slide Number Placeholder 5"/>
          <p:cNvSpPr>
            <a:spLocks noGrp="1"/>
          </p:cNvSpPr>
          <p:nvPr>
            <p:ph type="sldNum" sz="quarter" idx="5"/>
          </p:nvPr>
        </p:nvSpPr>
        <p:spPr/>
        <p:txBody>
          <a:bodyPr/>
          <a:lstStyle/>
          <a:p>
            <a:fld id="{823BDDA1-7BB7-447A-97DE-AE5425C8F2AD}" type="slidenum">
              <a:rPr lang="en-IN" smtClean="0"/>
              <a:pPr/>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google.com/search?q=Global+Explainability&amp;sca_esv=fe1d53302ad225f0&amp;sxsrf=AE3TifOoYAeN_qp36eFxlX1luZOoah5rug:1760263944339&amp;ei=CH_raKq8FNSC4-EP9pD2sQU&amp;ved=2ahUKEwixyIG6tp6QAxWZ7zgGHUhCKjgQgK4QegQIBRAB&amp;uact=5&amp;oq=Explainability+in+ml&amp;gs_lp=Egxnd3Mtd2l6LXNlcnAaAhgCIhRFeHBsYWluYWJpbGl0eSBpbiBtbDILEAAYgAQYkQIYigUyBRAAGIAEMgYQABgWGB4yBhAAGBYYHjILEAAYgAQYhgMYigUyCxAAGIAEGIYDGIoFMgsQABiABBiGAxiKBTIIEAAYgAQYogQyCBAAGKIEGIkFMggQABiABBiiBEjzJ1DzBVifJHABeAGQAQCYAcQBoAG0EaoBBDEuMTi4AQPIAQD4AQGYAg6gAuEOwgIHECMYsAMYJ8ICChAAGLADGNYEGEfCAgQQIxgnwgIFEAAY7wXCAgUQLhiABMICCBAAGIAEGIsDwgINEAAYgAQYFBiHAhiLA8ICCRAAGBYYiwMYHpgDAIgGAZAGCZIHBjEuMTIuMaAHpaQBsgcGMC4xMi4xuAfRDsIHBTMtNS45yAedAg&amp;sclient=gws-wiz-serp&amp;mstk=AUtExfCc7ADxyL561Mnk6jQsSDke2EseV3mqw64VlBqr-xYzmarttWCZ1n6jwPU4QvF4XVs67A9BJk2YmObt2jskIFeurMSIk4y0hxoFfhEeaLw_M-PE95_FNFX9uhZEdDYC1FzNq74_0TcatHZRuXSKrQRUym5v7M7DjgKWX2q2njccaV_-m5FDrlLuWezRxj7iQpycfTqpBhdnfLcNYt5ePAy4lymLzL_RGwXqlJOEaXR_0L6_V9JTQtGsqo6wR243X95H12tVH4bNJZVBDSrYJGKP&amp;csui=3" TargetMode="External"/><Relationship Id="rId2" Type="http://schemas.openxmlformats.org/officeDocument/2006/relationships/hyperlink" Target="https://www.google.com/search?q=Local+Explainability&amp;sca_esv=fe1d53302ad225f0&amp;sxsrf=AE3TifOoYAeN_qp36eFxlX1luZOoah5rug:1760263944339&amp;ei=CH_raKq8FNSC4-EP9pD2sQU&amp;ved=2ahUKEwixyIG6tp6QAxWZ7zgGHUhCKjgQgK4QegQIBRAD&amp;uact=5&amp;oq=Explainability+in+ml&amp;gs_lp=Egxnd3Mtd2l6LXNlcnAaAhgCIhRFeHBsYWluYWJpbGl0eSBpbiBtbDILEAAYgAQYkQIYigUyBRAAGIAEMgYQABgWGB4yBhAAGBYYHjILEAAYgAQYhgMYigUyCxAAGIAEGIYDGIoFMgsQABiABBiGAxiKBTIIEAAYgAQYogQyCBAAGKIEGIkFMggQABiABBiiBEjzJ1DzBVifJHABeAGQAQCYAcQBoAG0EaoBBDEuMTi4AQPIAQD4AQGYAg6gAuEOwgIHECMYsAMYJ8ICChAAGLADGNYEGEfCAgQQIxgnwgIFEAAY7wXCAgUQLhiABMICCBAAGIAEGIsDwgINEAAYgAQYFBiHAhiLA8ICCRAAGBYYiwMYHpgDAIgGAZAGCZIHBjEuMTIuMaAHpaQBsgcGMC4xMi4xuAfRDsIHBTMtNS45yAedAg&amp;sclient=gws-wiz-serp&amp;mstk=AUtExfCc7ADxyL561Mnk6jQsSDke2EseV3mqw64VlBqr-xYzmarttWCZ1n6jwPU4QvF4XVs67A9BJk2YmObt2jskIFeurMSIk4y0hxoFfhEeaLw_M-PE95_FNFX9uhZEdDYC1FzNq74_0TcatHZRuXSKrQRUym5v7M7DjgKWX2q2njccaV_-m5FDrlLuWezRxj7iQpycfTqpBhdnfLcNYt5ePAy4lymLzL_RGwXqlJOEaXR_0L6_V9JTQtGsqo6wR243X95H12tVH4bNJZVBDSrYJGKP&amp;csui=3"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en.wikipedia.org/wiki/Inductive_bias?utm_source=chatgpt.com"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oogle Shape;464;p16"/>
          <p:cNvPicPr preferRelativeResize="0"/>
          <p:nvPr/>
        </p:nvPicPr>
        <p:blipFill>
          <a:blip r:embed="rId3" cstate="print">
            <a:extLst>
              <a:ext uri="{28A0092B-C50C-407E-A947-70E740481C1C}">
                <a14:useLocalDpi xmlns:a14="http://schemas.microsoft.com/office/drawing/2010/main" val="0"/>
              </a:ext>
            </a:extLst>
          </a:blip>
          <a:stretch>
            <a:fillRect/>
          </a:stretch>
        </p:blipFill>
        <p:spPr>
          <a:xfrm>
            <a:off x="23449" y="234462"/>
            <a:ext cx="4829908" cy="5838093"/>
          </a:xfrm>
          <a:prstGeom prst="rect">
            <a:avLst/>
          </a:prstGeom>
          <a:noFill/>
          <a:ln>
            <a:noFill/>
          </a:ln>
        </p:spPr>
      </p:pic>
      <p:sp>
        <p:nvSpPr>
          <p:cNvPr id="15" name="Google Shape;476;p16"/>
          <p:cNvSpPr txBox="1"/>
          <p:nvPr/>
        </p:nvSpPr>
        <p:spPr>
          <a:xfrm>
            <a:off x="5249334" y="1323812"/>
            <a:ext cx="6791558" cy="2185173"/>
          </a:xfrm>
          <a:prstGeom prst="rect">
            <a:avLst/>
          </a:prstGeom>
          <a:noFill/>
          <a:ln>
            <a:noFill/>
          </a:ln>
        </p:spPr>
        <p:txBody>
          <a:bodyPr spcFirstLastPara="1" wrap="square" lIns="91425" tIns="45700" rIns="91425" bIns="45700" anchor="t" anchorCtr="0">
            <a:spAutoFit/>
          </a:bodyPr>
          <a:lstStyle/>
          <a:p>
            <a:pPr algn="ctr"/>
            <a:r>
              <a:rPr lang="en-US" sz="2400" b="1" cap="all" dirty="0">
                <a:solidFill>
                  <a:srgbClr val="C00000"/>
                </a:solidFill>
                <a:cs typeface="Poppins" panose="00000500000000000000" pitchFamily="2" charset="0"/>
                <a:sym typeface="BioRhyme ExtraBold"/>
              </a:rPr>
              <a:t>Course:  AI &amp; ML</a:t>
            </a:r>
          </a:p>
          <a:p>
            <a:pPr marR="0" lvl="0" indent="0" algn="ctr">
              <a:spcBef>
                <a:spcPts val="0"/>
              </a:spcBef>
              <a:spcAft>
                <a:spcPts val="0"/>
              </a:spcAft>
              <a:buNone/>
            </a:pPr>
            <a:r>
              <a:rPr lang="en-US" sz="2400" b="1" cap="all" dirty="0">
                <a:solidFill>
                  <a:srgbClr val="C00000"/>
                </a:solidFill>
                <a:cs typeface="Poppins"/>
                <a:sym typeface="BioRhyme ExtraBold"/>
              </a:rPr>
              <a:t>Course code: 24AD2001A</a:t>
            </a:r>
          </a:p>
          <a:p>
            <a:pPr marR="0" lvl="0" indent="0" algn="ctr">
              <a:spcBef>
                <a:spcPts val="0"/>
              </a:spcBef>
              <a:spcAft>
                <a:spcPts val="0"/>
              </a:spcAft>
              <a:buNone/>
            </a:pPr>
            <a:endParaRPr lang="en-US" sz="2000" b="1" dirty="0">
              <a:solidFill>
                <a:srgbClr val="C00000"/>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rgbClr val="C00000"/>
                </a:solidFill>
                <a:ea typeface="BioRhyme ExtraBold"/>
                <a:cs typeface="Poppins" panose="00000500000000000000" pitchFamily="2" charset="0"/>
                <a:sym typeface="BioRhyme ExtraBold"/>
              </a:rPr>
              <a:t>Topic: </a:t>
            </a:r>
          </a:p>
          <a:p>
            <a:pPr fontAlgn="base"/>
            <a:r>
              <a:rPr lang="en-IN" sz="2400" b="1" dirty="0"/>
              <a:t>Ethics, Fairness, </a:t>
            </a:r>
            <a:r>
              <a:rPr lang="en-IN" sz="2400" b="1" dirty="0" err="1"/>
              <a:t>Explainability</a:t>
            </a:r>
            <a:r>
              <a:rPr lang="en-IN" sz="2400" b="1" dirty="0"/>
              <a:t>:</a:t>
            </a:r>
            <a:r>
              <a:rPr lang="en-IN" sz="2400" dirty="0"/>
              <a:t> Bias sources, mitigation. </a:t>
            </a:r>
            <a:endParaRPr lang="en-US" sz="2400" dirty="0"/>
          </a:p>
        </p:txBody>
      </p:sp>
      <p:sp>
        <p:nvSpPr>
          <p:cNvPr id="16" name="Google Shape;475;p16"/>
          <p:cNvSpPr txBox="1"/>
          <p:nvPr/>
        </p:nvSpPr>
        <p:spPr>
          <a:xfrm>
            <a:off x="6468032" y="221119"/>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a:rPr>
              <a:t>Department of CSE</a:t>
            </a:r>
          </a:p>
        </p:txBody>
      </p:sp>
      <p:sp>
        <p:nvSpPr>
          <p:cNvPr id="17" name="Google Shape;502;p17"/>
          <p:cNvSpPr/>
          <p:nvPr/>
        </p:nvSpPr>
        <p:spPr>
          <a:xfrm>
            <a:off x="7892797" y="4137052"/>
            <a:ext cx="232972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Session – 38</a:t>
            </a:r>
            <a:endParaRPr sz="2400" dirty="0">
              <a:solidFill>
                <a:schemeClr val="lt1"/>
              </a:solidFill>
              <a:ea typeface="Calibri" panose="020F0502020204030204"/>
              <a:cs typeface="Poppins" panose="00000500000000000000" pitchFamily="2" charset="0"/>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Ethics in Machine Learning</a:t>
            </a:r>
            <a:br>
              <a:rPr lang="en-US" b="1" dirty="0"/>
            </a:br>
            <a:endParaRPr lang="en-US" dirty="0"/>
          </a:p>
        </p:txBody>
      </p:sp>
      <p:sp>
        <p:nvSpPr>
          <p:cNvPr id="3" name="Content Placeholder 2"/>
          <p:cNvSpPr>
            <a:spLocks noGrp="1"/>
          </p:cNvSpPr>
          <p:nvPr>
            <p:ph idx="1"/>
          </p:nvPr>
        </p:nvSpPr>
        <p:spPr>
          <a:xfrm>
            <a:off x="1451579" y="2015732"/>
            <a:ext cx="9603275" cy="4149541"/>
          </a:xfrm>
        </p:spPr>
        <p:txBody>
          <a:bodyPr>
            <a:normAutofit lnSpcReduction="10000"/>
          </a:bodyPr>
          <a:lstStyle/>
          <a:p>
            <a:pPr algn="just"/>
            <a:r>
              <a:rPr lang="en-US" dirty="0"/>
              <a:t>Machine learning ethics is a multidisciplinary field that draws upon philosophy, computer science, and social sciences to address the ethical challenges posed by the increasing use of machine learning algorithms. It explores the ethical implications of algorithmic decision-making and seeks to ensure that these systems are developed and used in ways that are fair, transparent, and respectful of individual rights.</a:t>
            </a:r>
          </a:p>
          <a:p>
            <a:pPr algn="just"/>
            <a:r>
              <a:rPr lang="en-US" dirty="0"/>
              <a:t>Machine learning algorithms are increasingly used in various domains, including healthcare, finance, criminal justice, and education. These algorithms have the power to make decisions that, without human judgment, can have significant consequences for individuals and communities. Therefore, it is crucial to consider the ethical dimensions of machine learning to prevent potential harm and ensure that the data created by these systems are used responsibly.</a:t>
            </a:r>
          </a:p>
        </p:txBody>
      </p:sp>
      <p:sp>
        <p:nvSpPr>
          <p:cNvPr id="4" name="Slide Number Placeholder 3"/>
          <p:cNvSpPr>
            <a:spLocks noGrp="1"/>
          </p:cNvSpPr>
          <p:nvPr>
            <p:ph type="sldNum" sz="quarter" idx="12"/>
          </p:nvPr>
        </p:nvSpPr>
        <p:spPr/>
        <p:txBody>
          <a:bodyPr/>
          <a:lstStyle/>
          <a:p>
            <a:fld id="{CBABCCC1-BF11-4F37-963E-1BCD5B23FD72}" type="slidenum">
              <a:rPr lang="en-IN" smtClean="0"/>
              <a:pPr/>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Key Principles of Machine Learning Ethics</a:t>
            </a:r>
            <a:br>
              <a:rPr lang="en-US" b="1" dirty="0"/>
            </a:b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a:t>
            </a:fld>
            <a:endParaRPr lang="en-IN"/>
          </a:p>
        </p:txBody>
      </p:sp>
      <p:pic>
        <p:nvPicPr>
          <p:cNvPr id="1026" name="Picture 2"/>
          <p:cNvPicPr>
            <a:picLocks noGrp="1" noChangeAspect="1" noChangeArrowheads="1"/>
          </p:cNvPicPr>
          <p:nvPr>
            <p:ph idx="1"/>
          </p:nvPr>
        </p:nvPicPr>
        <p:blipFill>
          <a:blip r:embed="rId2" cstate="print"/>
          <a:srcRect/>
          <a:stretch>
            <a:fillRect/>
          </a:stretch>
        </p:blipFill>
        <p:spPr bwMode="auto">
          <a:xfrm>
            <a:off x="1523999" y="1842655"/>
            <a:ext cx="9518073" cy="4073236"/>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dirty="0"/>
              <a:t>Ethics in ML</a:t>
            </a:r>
          </a:p>
        </p:txBody>
      </p:sp>
      <p:sp>
        <p:nvSpPr>
          <p:cNvPr id="3" name="Content Placeholder 2"/>
          <p:cNvSpPr>
            <a:spLocks noGrp="1"/>
          </p:cNvSpPr>
          <p:nvPr>
            <p:ph idx="1"/>
          </p:nvPr>
        </p:nvSpPr>
        <p:spPr>
          <a:xfrm>
            <a:off x="1451579" y="2015732"/>
            <a:ext cx="9603275" cy="4080268"/>
          </a:xfrm>
          <a:ln>
            <a:solidFill>
              <a:schemeClr val="tx1"/>
            </a:solidFill>
          </a:ln>
        </p:spPr>
        <p:txBody>
          <a:bodyPr>
            <a:normAutofit/>
          </a:bodyPr>
          <a:lstStyle/>
          <a:p>
            <a:pPr algn="just"/>
            <a:r>
              <a:rPr lang="en-US" b="1" dirty="0"/>
              <a:t>Societal impact</a:t>
            </a:r>
            <a:r>
              <a:rPr lang="en-US" dirty="0"/>
              <a:t>: ML projects should aim to benefit society and avoid harm, bias, or misuse.</a:t>
            </a:r>
          </a:p>
          <a:p>
            <a:pPr algn="just"/>
            <a:r>
              <a:rPr lang="en-US" b="1" dirty="0"/>
              <a:t>Privacy</a:t>
            </a:r>
            <a:r>
              <a:rPr lang="en-US" dirty="0"/>
              <a:t>: This includes protecting personal data, adhering to regulations, and ensuring secure data handling.</a:t>
            </a:r>
          </a:p>
          <a:p>
            <a:pPr algn="just"/>
            <a:r>
              <a:rPr lang="en-US" b="1" dirty="0"/>
              <a:t>Transparency</a:t>
            </a:r>
            <a:r>
              <a:rPr lang="en-US" dirty="0"/>
              <a:t>: Model functionality and decision-making processes should be understandable and documented.</a:t>
            </a:r>
          </a:p>
          <a:p>
            <a:pPr algn="just"/>
            <a:r>
              <a:rPr lang="en-US" b="1" dirty="0"/>
              <a:t>Safety and reliability</a:t>
            </a:r>
            <a:r>
              <a:rPr lang="en-US" dirty="0"/>
              <a:t>: Models should be designed to operate securely and reliably. </a:t>
            </a:r>
          </a:p>
        </p:txBody>
      </p:sp>
      <p:sp>
        <p:nvSpPr>
          <p:cNvPr id="4" name="Slide Number Placeholder 3"/>
          <p:cNvSpPr>
            <a:spLocks noGrp="1"/>
          </p:cNvSpPr>
          <p:nvPr>
            <p:ph type="sldNum" sz="quarter" idx="12"/>
          </p:nvPr>
        </p:nvSpPr>
        <p:spPr/>
        <p:txBody>
          <a:bodyPr/>
          <a:lstStyle/>
          <a:p>
            <a:fld id="{CBABCCC1-BF11-4F37-963E-1BCD5B23FD72}" type="slidenum">
              <a:rPr lang="en-IN"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Fairness:</a:t>
            </a:r>
          </a:p>
        </p:txBody>
      </p:sp>
      <p:sp>
        <p:nvSpPr>
          <p:cNvPr id="4" name="Slide Number Placeholder 3"/>
          <p:cNvSpPr>
            <a:spLocks noGrp="1"/>
          </p:cNvSpPr>
          <p:nvPr>
            <p:ph type="sldNum" sz="quarter" idx="12"/>
          </p:nvPr>
        </p:nvSpPr>
        <p:spPr/>
        <p:txBody>
          <a:bodyPr/>
          <a:lstStyle/>
          <a:p>
            <a:fld id="{CBABCCC1-BF11-4F37-963E-1BCD5B23FD72}" type="slidenum">
              <a:rPr lang="en-IN" smtClean="0"/>
              <a:pPr/>
              <a:t>5</a:t>
            </a:fld>
            <a:endParaRPr lang="en-IN"/>
          </a:p>
        </p:txBody>
      </p:sp>
      <p:sp>
        <p:nvSpPr>
          <p:cNvPr id="6" name="Content Placeholder 5"/>
          <p:cNvSpPr>
            <a:spLocks noGrp="1"/>
          </p:cNvSpPr>
          <p:nvPr>
            <p:ph idx="1"/>
          </p:nvPr>
        </p:nvSpPr>
        <p:spPr>
          <a:xfrm>
            <a:off x="1451579" y="1787236"/>
            <a:ext cx="9603275" cy="4239491"/>
          </a:xfrm>
        </p:spPr>
        <p:txBody>
          <a:bodyPr>
            <a:normAutofit/>
          </a:bodyPr>
          <a:lstStyle/>
          <a:p>
            <a:r>
              <a:rPr lang="en-US" dirty="0"/>
              <a:t>Ensuring that machine learning algorithms do not discriminate against individuals or groups based on characteristics such as race, gender, or age. Fairness is a critical principle in machine learning ethics as it seeks to eliminate biases and promote equal treatment.</a:t>
            </a:r>
          </a:p>
          <a:p>
            <a:r>
              <a:rPr lang="en-US" dirty="0"/>
              <a:t>For example, in the context of hiring algorithms, fairness means that the algorithm should not favor any particular group or discriminate against certain individuals based on protected characteristics. It requires careful consideration of the training data, evaluation metrics, and potential biases that may be present in the algorithm.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CONTD..</a:t>
            </a:r>
          </a:p>
        </p:txBody>
      </p:sp>
      <p:sp>
        <p:nvSpPr>
          <p:cNvPr id="3" name="Content Placeholder 2"/>
          <p:cNvSpPr>
            <a:spLocks noGrp="1"/>
          </p:cNvSpPr>
          <p:nvPr>
            <p:ph idx="1"/>
          </p:nvPr>
        </p:nvSpPr>
        <p:spPr>
          <a:xfrm>
            <a:off x="1451579" y="1870364"/>
            <a:ext cx="9603275" cy="4267200"/>
          </a:xfrm>
        </p:spPr>
        <p:txBody>
          <a:bodyPr>
            <a:normAutofit/>
          </a:bodyPr>
          <a:lstStyle/>
          <a:p>
            <a:pPr algn="just"/>
            <a:r>
              <a:rPr lang="en-US" b="1" dirty="0"/>
              <a:t>Definition</a:t>
            </a:r>
            <a:r>
              <a:rPr lang="en-US" dirty="0"/>
              <a:t>: Fairness in ML means that models do not unfairly disadvantage any individual or group based on protected characteristics like gender, race, or age.</a:t>
            </a:r>
          </a:p>
          <a:p>
            <a:pPr algn="just"/>
            <a:r>
              <a:rPr lang="en-US" b="1" dirty="0"/>
              <a:t>Bias mitigation</a:t>
            </a:r>
            <a:r>
              <a:rPr lang="en-US" dirty="0"/>
              <a:t>: It requires addressing biases that may be present in training data, as well as in the algorithm itself.</a:t>
            </a:r>
          </a:p>
          <a:p>
            <a:pPr algn="just"/>
            <a:r>
              <a:rPr lang="en-US" b="1" dirty="0"/>
              <a:t>Examples</a:t>
            </a:r>
            <a:r>
              <a:rPr lang="en-US" dirty="0"/>
              <a:t>: In hiring or lending, a fair algorithm should not favor one group over another based on characteristics unrelated to their qualifications.</a:t>
            </a:r>
          </a:p>
          <a:p>
            <a:pPr algn="just"/>
            <a:r>
              <a:rPr lang="en-US" b="1" dirty="0"/>
              <a:t>Metrics</a:t>
            </a:r>
            <a:r>
              <a:rPr lang="en-US" dirty="0"/>
              <a:t>: Fairness can be evaluated using quantitative metrics like equality of opportunity, predictive equality, or calibration.</a:t>
            </a:r>
          </a:p>
          <a:p>
            <a:pPr algn="just"/>
            <a:r>
              <a:rPr lang="en-US" b="1" dirty="0"/>
              <a:t>Challenges</a:t>
            </a:r>
            <a:r>
              <a:rPr lang="en-US" dirty="0"/>
              <a:t>: Defining and achieving fairness is complex and can be controversial, as the reasons for unfairness extend beyond just technical aspects of data and algorithms.</a:t>
            </a:r>
          </a:p>
        </p:txBody>
      </p:sp>
      <p:sp>
        <p:nvSpPr>
          <p:cNvPr id="4" name="Slide Number Placeholder 3"/>
          <p:cNvSpPr>
            <a:spLocks noGrp="1"/>
          </p:cNvSpPr>
          <p:nvPr>
            <p:ph type="sldNum" sz="quarter" idx="12"/>
          </p:nvPr>
        </p:nvSpPr>
        <p:spPr/>
        <p:txBody>
          <a:bodyPr/>
          <a:lstStyle/>
          <a:p>
            <a:fld id="{CBABCCC1-BF11-4F37-963E-1BCD5B23FD72}" type="slidenum">
              <a:rPr lang="en-IN" smtClean="0"/>
              <a:pPr/>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Explainability</a:t>
            </a:r>
            <a:r>
              <a:rPr lang="en-US" b="1" dirty="0"/>
              <a:t>:</a:t>
            </a:r>
            <a:r>
              <a:rPr lang="en-US" dirty="0"/>
              <a:t> Bias sources</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7</a:t>
            </a:fld>
            <a:endParaRPr lang="en-IN"/>
          </a:p>
        </p:txBody>
      </p:sp>
      <p:sp>
        <p:nvSpPr>
          <p:cNvPr id="6" name="Content Placeholder 5"/>
          <p:cNvSpPr>
            <a:spLocks noGrp="1"/>
          </p:cNvSpPr>
          <p:nvPr>
            <p:ph idx="1"/>
          </p:nvPr>
        </p:nvSpPr>
        <p:spPr>
          <a:xfrm>
            <a:off x="1451579" y="1731818"/>
            <a:ext cx="9603275" cy="4585855"/>
          </a:xfrm>
        </p:spPr>
        <p:txBody>
          <a:bodyPr>
            <a:normAutofit fontScale="25000" lnSpcReduction="20000"/>
          </a:bodyPr>
          <a:lstStyle/>
          <a:p>
            <a:pPr algn="just">
              <a:buNone/>
            </a:pPr>
            <a:r>
              <a:rPr lang="en-US" sz="6200" dirty="0"/>
              <a:t>  </a:t>
            </a:r>
            <a:r>
              <a:rPr lang="en-US" sz="7200" dirty="0" err="1"/>
              <a:t>Explainability</a:t>
            </a:r>
            <a:r>
              <a:rPr lang="en-US" sz="7200" dirty="0"/>
              <a:t> in machine learning is the process of explaining to a human why and how a machine learning model made a decision. Model </a:t>
            </a:r>
            <a:r>
              <a:rPr lang="en-US" sz="7200" dirty="0" err="1"/>
              <a:t>explainability</a:t>
            </a:r>
            <a:r>
              <a:rPr lang="en-US" sz="7200" dirty="0"/>
              <a:t> means the algorithm and its decision or output can be understood by a human. It is the process of analyzing machine learning model decisions and results to understand the reasoning behind the system’s decision. This is an important concept with ‘black box’ machine learning models, which develop and learn directly from the data without human supervision or guidance.  </a:t>
            </a:r>
            <a:endParaRPr lang="en-US" sz="5600" dirty="0"/>
          </a:p>
          <a:p>
            <a:r>
              <a:rPr lang="en-US" sz="7200" dirty="0"/>
              <a:t>Machine learning models are increasingly replacing traditional software or processes in a range of settings. The ability to explain a decision is a vital part of any business or organization. The hands-off nature of machine learning model development and evolution means it’s difficult to clearly explain a model’s decision making. This lack of clarity means a model may be misunderstood or mistrusted in the wider organization. In turn, the effectiveness of the model to improve the organization will be impacted. </a:t>
            </a:r>
          </a:p>
          <a:p>
            <a:r>
              <a:rPr lang="en-US" sz="7200" dirty="0"/>
              <a:t>Model </a:t>
            </a:r>
            <a:r>
              <a:rPr lang="en-US" sz="7200" dirty="0" err="1"/>
              <a:t>explainability</a:t>
            </a:r>
            <a:r>
              <a:rPr lang="en-US" sz="7200" dirty="0"/>
              <a:t> is vital in environments that are regulated or audited. In many business settings, decisions can and will be challenged by external parties. For example, machine learning in banking may automate the screening of loan or mortgage applicants. The reason why a loan applicant was rejected is important internally and externally, as financial decisions are often scrutinized. </a:t>
            </a:r>
          </a:p>
          <a:p>
            <a:pPr algn="just">
              <a:buNone/>
            </a:pPr>
            <a:endParaRPr lang="en-US" sz="5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51579" y="928256"/>
            <a:ext cx="9603275" cy="5209308"/>
          </a:xfrm>
        </p:spPr>
        <p:txBody>
          <a:bodyPr>
            <a:normAutofit/>
          </a:bodyPr>
          <a:lstStyle/>
          <a:p>
            <a:pPr>
              <a:buNone/>
            </a:pPr>
            <a:r>
              <a:rPr lang="en-US" sz="2400" b="1" dirty="0"/>
              <a:t>Types of model </a:t>
            </a:r>
            <a:r>
              <a:rPr lang="en-US" sz="2400" b="1" dirty="0" err="1"/>
              <a:t>explainability</a:t>
            </a:r>
            <a:r>
              <a:rPr lang="en-US" sz="2400" b="1" dirty="0"/>
              <a:t> </a:t>
            </a:r>
          </a:p>
          <a:p>
            <a:endParaRPr lang="en-US" b="1" dirty="0"/>
          </a:p>
          <a:p>
            <a:r>
              <a:rPr lang="en-US" dirty="0"/>
              <a:t>machine learning </a:t>
            </a:r>
            <a:r>
              <a:rPr lang="en-US" dirty="0" err="1"/>
              <a:t>explainability</a:t>
            </a:r>
            <a:r>
              <a:rPr lang="en-US" dirty="0"/>
              <a:t> tools are classified between three main areas: </a:t>
            </a:r>
          </a:p>
          <a:p>
            <a:r>
              <a:rPr lang="en-US" dirty="0"/>
              <a:t>Local model </a:t>
            </a:r>
            <a:r>
              <a:rPr lang="en-US" dirty="0" err="1"/>
              <a:t>explainability</a:t>
            </a:r>
            <a:r>
              <a:rPr lang="en-US" dirty="0"/>
              <a:t> </a:t>
            </a:r>
          </a:p>
          <a:p>
            <a:r>
              <a:rPr lang="en-US" dirty="0"/>
              <a:t>Cohort model </a:t>
            </a:r>
            <a:r>
              <a:rPr lang="en-US" dirty="0" err="1"/>
              <a:t>explainability</a:t>
            </a:r>
            <a:r>
              <a:rPr lang="en-US" dirty="0"/>
              <a:t> </a:t>
            </a:r>
          </a:p>
          <a:p>
            <a:r>
              <a:rPr lang="en-US" dirty="0"/>
              <a:t>Global model </a:t>
            </a:r>
            <a:r>
              <a:rPr lang="en-US" dirty="0" err="1"/>
              <a:t>explainability</a:t>
            </a:r>
            <a:r>
              <a:rPr lang="en-US" dirty="0"/>
              <a:t> </a:t>
            </a:r>
          </a:p>
          <a:p>
            <a:r>
              <a:rPr lang="en-US" b="1" dirty="0">
                <a:hlinkClick r:id="rId2"/>
              </a:rPr>
              <a:t>Local </a:t>
            </a:r>
            <a:r>
              <a:rPr lang="en-US" b="1" dirty="0" err="1">
                <a:hlinkClick r:id="rId2"/>
              </a:rPr>
              <a:t>Explainability</a:t>
            </a:r>
            <a:r>
              <a:rPr lang="en-US" b="1" dirty="0"/>
              <a:t>:</a:t>
            </a:r>
            <a:r>
              <a:rPr lang="en-US" dirty="0"/>
              <a:t> Explains why a model made a specific prediction for a single data point. For example, why was a particular loan application approved or denied?</a:t>
            </a:r>
          </a:p>
          <a:p>
            <a:r>
              <a:rPr lang="en-US" b="1" dirty="0">
                <a:hlinkClick r:id="rId3"/>
              </a:rPr>
              <a:t>Global </a:t>
            </a:r>
            <a:r>
              <a:rPr lang="en-US" b="1" dirty="0" err="1">
                <a:hlinkClick r:id="rId3"/>
              </a:rPr>
              <a:t>Explainability</a:t>
            </a:r>
            <a:r>
              <a:rPr lang="en-US" b="1" dirty="0"/>
              <a:t>:</a:t>
            </a:r>
            <a:r>
              <a:rPr lang="en-US" dirty="0"/>
              <a:t> Focuses on understanding the model's behavior as a whole. It looks at the overall contribution of different features to the model's predictions.</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CONTD..</a:t>
            </a:r>
          </a:p>
        </p:txBody>
      </p:sp>
      <p:sp>
        <p:nvSpPr>
          <p:cNvPr id="3" name="Content Placeholder 2"/>
          <p:cNvSpPr>
            <a:spLocks noGrp="1"/>
          </p:cNvSpPr>
          <p:nvPr>
            <p:ph idx="1"/>
          </p:nvPr>
        </p:nvSpPr>
        <p:spPr>
          <a:xfrm>
            <a:off x="1451579" y="1842654"/>
            <a:ext cx="9603275" cy="4405746"/>
          </a:xfrm>
        </p:spPr>
        <p:txBody>
          <a:bodyPr>
            <a:normAutofit/>
          </a:bodyPr>
          <a:lstStyle/>
          <a:p>
            <a:r>
              <a:rPr lang="en-US" dirty="0">
                <a:solidFill>
                  <a:srgbClr val="FF0000"/>
                </a:solidFill>
              </a:rPr>
              <a:t>Cohort model </a:t>
            </a:r>
            <a:r>
              <a:rPr lang="en-US" dirty="0" err="1">
                <a:solidFill>
                  <a:srgbClr val="FF0000"/>
                </a:solidFill>
              </a:rPr>
              <a:t>explainability</a:t>
            </a:r>
            <a:r>
              <a:rPr lang="en-US" dirty="0">
                <a:solidFill>
                  <a:srgbClr val="FF0000"/>
                </a:solidFill>
              </a:rPr>
              <a:t>:</a:t>
            </a:r>
            <a:r>
              <a:rPr lang="en-US" dirty="0"/>
              <a:t> It  is  a type of Explainable AI (XAI) that focuses on explaining the behavior of a machine learning (ML) model on specific subgroups, or "cohorts," of data. Instead of explaining individual predictions (local </a:t>
            </a:r>
            <a:r>
              <a:rPr lang="en-US" dirty="0" err="1"/>
              <a:t>explainability</a:t>
            </a:r>
            <a:r>
              <a:rPr lang="en-US" dirty="0"/>
              <a:t>) or the model's overall logic (global </a:t>
            </a:r>
            <a:r>
              <a:rPr lang="en-US" dirty="0" err="1"/>
              <a:t>explainability</a:t>
            </a:r>
            <a:r>
              <a:rPr lang="en-US" dirty="0"/>
              <a:t>), this approach provides context-specific insights that balance detail with conciseness.</a:t>
            </a:r>
          </a:p>
        </p:txBody>
      </p:sp>
      <p:sp>
        <p:nvSpPr>
          <p:cNvPr id="4" name="Slide Number Placeholder 3"/>
          <p:cNvSpPr>
            <a:spLocks noGrp="1"/>
          </p:cNvSpPr>
          <p:nvPr>
            <p:ph type="sldNum" sz="quarter" idx="12"/>
          </p:nvPr>
        </p:nvSpPr>
        <p:spPr/>
        <p:txBody>
          <a:bodyPr/>
          <a:lstStyle/>
          <a:p>
            <a:fld id="{CBABCCC1-BF11-4F37-963E-1BCD5B23FD72}" type="slidenum">
              <a:rPr lang="en-IN" smtClean="0"/>
              <a:pPr/>
              <a:t>9</a:t>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Trade-off: Performance </a:t>
            </a:r>
            <a:r>
              <a:rPr lang="en-US" dirty="0" err="1"/>
              <a:t>vs</a:t>
            </a:r>
            <a:r>
              <a:rPr lang="en-US" dirty="0"/>
              <a:t> </a:t>
            </a:r>
            <a:r>
              <a:rPr lang="en-US" dirty="0" err="1"/>
              <a:t>Explainability</a:t>
            </a:r>
            <a:endParaRPr lang="en-US" dirty="0"/>
          </a:p>
        </p:txBody>
      </p:sp>
      <p:sp>
        <p:nvSpPr>
          <p:cNvPr id="3" name="Content Placeholder 2"/>
          <p:cNvSpPr>
            <a:spLocks noGrp="1"/>
          </p:cNvSpPr>
          <p:nvPr>
            <p:ph idx="1"/>
          </p:nvPr>
        </p:nvSpPr>
        <p:spPr>
          <a:xfrm>
            <a:off x="1451579" y="2015732"/>
            <a:ext cx="9603275" cy="4066413"/>
          </a:xfrm>
        </p:spPr>
        <p:txBody>
          <a:bodyPr>
            <a:normAutofit/>
          </a:bodyPr>
          <a:lstStyle/>
          <a:p>
            <a:r>
              <a:rPr lang="en-US" dirty="0"/>
              <a:t>Often, more complex models (e.g. deep networks, ensembles) have higher performance but lower interpretability. </a:t>
            </a:r>
          </a:p>
          <a:p>
            <a:r>
              <a:rPr lang="en-US" dirty="0"/>
              <a:t>Simpler models (linear, decision trees) easier to explain but might underperform</a:t>
            </a:r>
          </a:p>
          <a:p>
            <a:r>
              <a:rPr lang="en-US" dirty="0"/>
              <a:t>Need to balance: “as simple as possible but as complex as needed”</a:t>
            </a:r>
          </a:p>
          <a:p>
            <a:pPr>
              <a:buNone/>
            </a:pPr>
            <a:r>
              <a:rPr lang="en-US" b="1" dirty="0"/>
              <a:t>Overview of Bias in ML:</a:t>
            </a:r>
          </a:p>
          <a:p>
            <a:r>
              <a:rPr lang="en-US" dirty="0"/>
              <a:t>systematic errors or unfairness in predictions, affecting specific groups.</a:t>
            </a:r>
          </a:p>
          <a:p>
            <a:r>
              <a:rPr lang="en-US" dirty="0"/>
              <a:t>Bias can enter at multiple stages of ML pipeline: data, modeling, deployment</a:t>
            </a:r>
          </a:p>
          <a:p>
            <a:r>
              <a:rPr lang="en-US" dirty="0"/>
              <a:t>Classifications: data bias, algorithmic bias, human/user bias</a:t>
            </a:r>
          </a:p>
          <a:p>
            <a:endParaRPr lang="en-US" dirty="0"/>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10</a:t>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Bias sources</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11</a:t>
            </a:fld>
            <a:endParaRPr lang="en-IN"/>
          </a:p>
        </p:txBody>
      </p:sp>
      <p:sp>
        <p:nvSpPr>
          <p:cNvPr id="5" name="Content Placeholder 4"/>
          <p:cNvSpPr>
            <a:spLocks noGrp="1"/>
          </p:cNvSpPr>
          <p:nvPr>
            <p:ph idx="1"/>
          </p:nvPr>
        </p:nvSpPr>
        <p:spPr>
          <a:xfrm>
            <a:off x="1451579" y="2015732"/>
            <a:ext cx="9603275" cy="4121832"/>
          </a:xfrm>
        </p:spPr>
        <p:txBody>
          <a:bodyPr>
            <a:normAutofit/>
          </a:bodyPr>
          <a:lstStyle/>
          <a:p>
            <a:pPr algn="just"/>
            <a:r>
              <a:rPr lang="en-US" dirty="0"/>
              <a:t>Bias in machine learning (ML) models arises from multiple sources throughout the development lifecycle, from data collection to deployment</a:t>
            </a:r>
          </a:p>
          <a:p>
            <a:pPr algn="just"/>
            <a:r>
              <a:rPr lang="en-US" dirty="0"/>
              <a:t>These systematic errors lead to unfair, inaccurate, or discriminatory outcomes and often reflect and reinforce existing human and societal biases. </a:t>
            </a:r>
            <a:r>
              <a:rPr lang="en-US" dirty="0" err="1"/>
              <a:t>Explainability</a:t>
            </a:r>
            <a:r>
              <a:rPr lang="en-US" dirty="0"/>
              <a:t> is a field of AI that helps identify and mitigate these biases by making the model's decision-making process transparent. </a:t>
            </a:r>
          </a:p>
          <a:p>
            <a:pPr algn="just"/>
            <a:r>
              <a:rPr lang="en-US" dirty="0"/>
              <a:t>For example, having prior domain knowledge (i.e., bias) helps in devising legitimate constraints that determine which solution space to explore and which to prune. Bias (or prior knowledge in statistical terms) may be used in ML to model actual knowledge of data, intended use of learned generalizations and even knowledge about training data.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Bias in data and Ml</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12</a:t>
            </a:fld>
            <a:endParaRPr lang="en-IN"/>
          </a:p>
        </p:txBody>
      </p:sp>
      <p:pic>
        <p:nvPicPr>
          <p:cNvPr id="39938" name="Picture 2"/>
          <p:cNvPicPr>
            <a:picLocks noGrp="1" noChangeAspect="1" noChangeArrowheads="1"/>
          </p:cNvPicPr>
          <p:nvPr>
            <p:ph idx="1"/>
          </p:nvPr>
        </p:nvPicPr>
        <p:blipFill>
          <a:blip r:embed="rId2" cstate="print"/>
          <a:srcRect/>
          <a:stretch>
            <a:fillRect/>
          </a:stretch>
        </p:blipFill>
        <p:spPr bwMode="auto">
          <a:xfrm>
            <a:off x="1343891" y="1399310"/>
            <a:ext cx="9850581" cy="4752108"/>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Bias types</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13</a:t>
            </a:fld>
            <a:endParaRPr lang="en-IN"/>
          </a:p>
        </p:txBody>
      </p:sp>
      <p:pic>
        <p:nvPicPr>
          <p:cNvPr id="40962" name="Picture 2"/>
          <p:cNvPicPr>
            <a:picLocks noGrp="1" noChangeAspect="1" noChangeArrowheads="1"/>
          </p:cNvPicPr>
          <p:nvPr>
            <p:ph idx="1"/>
          </p:nvPr>
        </p:nvPicPr>
        <p:blipFill>
          <a:blip r:embed="rId2" cstate="print"/>
          <a:srcRect/>
          <a:stretch>
            <a:fillRect/>
          </a:stretch>
        </p:blipFill>
        <p:spPr bwMode="auto">
          <a:xfrm>
            <a:off x="1510146" y="1856509"/>
            <a:ext cx="9712036" cy="4378036"/>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&gt;Data-Level Bias Sources</a:t>
            </a:r>
            <a:br>
              <a:rPr lang="en-US" dirty="0">
                <a:solidFill>
                  <a:srgbClr val="FF0000"/>
                </a:solidFill>
              </a:rPr>
            </a:br>
            <a:endParaRPr lang="en-US" b="1" dirty="0">
              <a:solidFill>
                <a:srgbClr val="FF0000"/>
              </a:solidFill>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pPr/>
              <a:t>14</a:t>
            </a:fld>
            <a:endParaRPr lang="en-IN"/>
          </a:p>
        </p:txBody>
      </p:sp>
      <p:pic>
        <p:nvPicPr>
          <p:cNvPr id="2050" name="Picture 2"/>
          <p:cNvPicPr>
            <a:picLocks noGrp="1" noChangeAspect="1" noChangeArrowheads="1"/>
          </p:cNvPicPr>
          <p:nvPr>
            <p:ph idx="1"/>
          </p:nvPr>
        </p:nvPicPr>
        <p:blipFill>
          <a:blip r:embed="rId2" cstate="print"/>
          <a:srcRect/>
          <a:stretch>
            <a:fillRect/>
          </a:stretch>
        </p:blipFill>
        <p:spPr bwMode="auto">
          <a:xfrm>
            <a:off x="1440873" y="1898073"/>
            <a:ext cx="9587345" cy="4281054"/>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&gt;Modeling / Algorithm-Level Bias</a:t>
            </a:r>
            <a:endParaRPr lang="en-US" b="1" dirty="0">
              <a:solidFill>
                <a:srgbClr val="FF0000"/>
              </a:solidFill>
            </a:endParaRPr>
          </a:p>
        </p:txBody>
      </p:sp>
      <p:sp>
        <p:nvSpPr>
          <p:cNvPr id="3" name="Content Placeholder 2"/>
          <p:cNvSpPr>
            <a:spLocks noGrp="1"/>
          </p:cNvSpPr>
          <p:nvPr>
            <p:ph idx="1"/>
          </p:nvPr>
        </p:nvSpPr>
        <p:spPr>
          <a:xfrm>
            <a:off x="1451579" y="2015732"/>
            <a:ext cx="9603275" cy="4204959"/>
          </a:xfrm>
        </p:spPr>
        <p:txBody>
          <a:bodyPr>
            <a:noAutofit/>
          </a:bodyPr>
          <a:lstStyle/>
          <a:p>
            <a:r>
              <a:rPr lang="en-US" sz="1800" b="1" dirty="0"/>
              <a:t>Inductive bias</a:t>
            </a:r>
            <a:r>
              <a:rPr lang="en-US" sz="1800" dirty="0"/>
              <a:t>: the assumptions built into the algorithm (e.g. linear models assume linear relationships) </a:t>
            </a:r>
            <a:r>
              <a:rPr lang="en-US" sz="1800" dirty="0">
                <a:hlinkClick r:id="rId2"/>
              </a:rPr>
              <a:t>Wikipedia</a:t>
            </a:r>
            <a:endParaRPr lang="en-US" sz="1800" dirty="0"/>
          </a:p>
          <a:p>
            <a:r>
              <a:rPr lang="en-US" sz="1800" b="1" dirty="0"/>
              <a:t>Regularization bias</a:t>
            </a:r>
            <a:r>
              <a:rPr lang="en-US" sz="1800" dirty="0"/>
              <a:t>: penalizing complexity might favor certain groups</a:t>
            </a:r>
          </a:p>
          <a:p>
            <a:r>
              <a:rPr lang="en-US" sz="1800" b="1" dirty="0"/>
              <a:t>Feature selection bias</a:t>
            </a:r>
            <a:r>
              <a:rPr lang="en-US" sz="1800" dirty="0"/>
              <a:t>: choosing features that favor or disadvantage groups</a:t>
            </a:r>
          </a:p>
          <a:p>
            <a:r>
              <a:rPr lang="en-US" sz="1800" b="1" dirty="0"/>
              <a:t>Algorithmic </a:t>
            </a:r>
            <a:r>
              <a:rPr lang="en-US" sz="1800" b="1" dirty="0" err="1"/>
              <a:t>mis</a:t>
            </a:r>
            <a:r>
              <a:rPr lang="en-US" sz="1800" b="1" dirty="0"/>
              <a:t>-specification</a:t>
            </a:r>
            <a:r>
              <a:rPr lang="en-US" sz="1800" dirty="0"/>
              <a:t>: wrong objective or loss that skews toward particular groups</a:t>
            </a:r>
          </a:p>
          <a:p>
            <a:r>
              <a:rPr lang="en-US" sz="1800" b="1" dirty="0"/>
              <a:t>Confirmation / </a:t>
            </a:r>
            <a:r>
              <a:rPr lang="en-US" sz="1800" b="1" dirty="0" err="1"/>
              <a:t>overfitting</a:t>
            </a:r>
            <a:r>
              <a:rPr lang="en-US" sz="1800" b="1" dirty="0"/>
              <a:t> bias</a:t>
            </a:r>
            <a:r>
              <a:rPr lang="en-US" sz="1800" dirty="0"/>
              <a:t>: model fits training data too closely including biased patterns</a:t>
            </a:r>
          </a:p>
          <a:p>
            <a:endParaRPr lang="en-US" sz="1800" b="1" dirty="0"/>
          </a:p>
          <a:p>
            <a:endParaRPr lang="en-US" sz="18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15</a:t>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3143" y="735247"/>
            <a:ext cx="9603275" cy="1049235"/>
          </a:xfrm>
        </p:spPr>
        <p:txBody>
          <a:bodyPr/>
          <a:lstStyle/>
          <a:p>
            <a:r>
              <a:rPr lang="en-US" dirty="0">
                <a:solidFill>
                  <a:srgbClr val="FF0000"/>
                </a:solidFill>
              </a:rPr>
              <a:t>&gt;Evaluation &amp; Deployment Bias</a:t>
            </a:r>
            <a:endParaRPr lang="en-US" b="1" dirty="0">
              <a:solidFill>
                <a:srgbClr val="FF0000"/>
              </a:solidFill>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pPr/>
              <a:t>16</a:t>
            </a:fld>
            <a:endParaRPr lang="en-IN"/>
          </a:p>
        </p:txBody>
      </p:sp>
      <p:sp>
        <p:nvSpPr>
          <p:cNvPr id="6" name="TextBox 5"/>
          <p:cNvSpPr txBox="1"/>
          <p:nvPr/>
        </p:nvSpPr>
        <p:spPr>
          <a:xfrm>
            <a:off x="1593273" y="1870364"/>
            <a:ext cx="9764340" cy="4524315"/>
          </a:xfrm>
          <a:prstGeom prst="rect">
            <a:avLst/>
          </a:prstGeom>
          <a:noFill/>
        </p:spPr>
        <p:txBody>
          <a:bodyPr wrap="square" rtlCol="0">
            <a:spAutoFit/>
          </a:bodyPr>
          <a:lstStyle/>
          <a:p>
            <a:r>
              <a:rPr lang="en-US" b="1" dirty="0"/>
              <a:t>Evaluation bias</a:t>
            </a:r>
            <a:r>
              <a:rPr lang="en-US" dirty="0"/>
              <a:t>: test dataset not representative; metric misalignment across groups</a:t>
            </a:r>
          </a:p>
          <a:p>
            <a:endParaRPr lang="en-US" dirty="0"/>
          </a:p>
          <a:p>
            <a:r>
              <a:rPr lang="en-US" b="1" dirty="0"/>
              <a:t>Feedback loop / Deployment bias</a:t>
            </a:r>
            <a:r>
              <a:rPr lang="en-US" dirty="0"/>
              <a:t>: model decisions change future data distribution, reinforcing bias</a:t>
            </a:r>
          </a:p>
          <a:p>
            <a:endParaRPr lang="en-US" dirty="0"/>
          </a:p>
          <a:p>
            <a:r>
              <a:rPr lang="en-US" b="1" dirty="0"/>
              <a:t>Context shift / selection bias</a:t>
            </a:r>
            <a:r>
              <a:rPr lang="en-US" dirty="0"/>
              <a:t>: real-world environment differs from training setting</a:t>
            </a:r>
          </a:p>
          <a:p>
            <a:endParaRPr lang="en-US" dirty="0"/>
          </a:p>
          <a:p>
            <a:r>
              <a:rPr lang="en-US" b="1" dirty="0"/>
              <a:t>User bias / Interaction bias</a:t>
            </a:r>
            <a:r>
              <a:rPr lang="en-US" dirty="0"/>
              <a:t>: users interact in biased ways, influencing model adaptation</a:t>
            </a:r>
          </a:p>
          <a:p>
            <a:endParaRPr lang="en-US" sz="3200" dirty="0"/>
          </a:p>
          <a:p>
            <a:r>
              <a:rPr lang="en-US" sz="3200" dirty="0"/>
              <a:t>Bias Lifecycle Across ML Pipeline</a:t>
            </a:r>
          </a:p>
          <a:p>
            <a:r>
              <a:rPr lang="en-US" sz="2000" dirty="0"/>
              <a:t>Phases: </a:t>
            </a:r>
            <a:r>
              <a:rPr lang="en-US" sz="2000" b="1" dirty="0"/>
              <a:t>Problem conception → Data collection → Preprocessing → Model training → Evaluation → Deployment → Monitoring</a:t>
            </a:r>
            <a:endParaRPr lang="en-US" sz="2000" dirty="0"/>
          </a:p>
          <a:p>
            <a:r>
              <a:rPr lang="en-US" sz="2000" dirty="0"/>
              <a:t>At each phase, specific biases can occur </a:t>
            </a:r>
          </a:p>
          <a:p>
            <a:r>
              <a:rPr lang="en-US" sz="2000" dirty="0"/>
              <a:t>Importance of continuous auditing and mitigation</a:t>
            </a:r>
            <a:endParaRPr lang="en-US"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a:t>
            </a:r>
            <a:r>
              <a:rPr lang="en-US" dirty="0" err="1"/>
              <a:t>Explainability</a:t>
            </a:r>
            <a:r>
              <a:rPr lang="en-US" dirty="0"/>
              <a:t> Helps Detect Bias</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17</a:t>
            </a:fld>
            <a:endParaRPr lang="en-IN"/>
          </a:p>
        </p:txBody>
      </p:sp>
      <p:sp>
        <p:nvSpPr>
          <p:cNvPr id="5" name="Content Placeholder 4"/>
          <p:cNvSpPr>
            <a:spLocks noGrp="1"/>
          </p:cNvSpPr>
          <p:nvPr>
            <p:ph idx="1"/>
          </p:nvPr>
        </p:nvSpPr>
        <p:spPr>
          <a:xfrm>
            <a:off x="1011383" y="1814945"/>
            <a:ext cx="10377054" cy="4322619"/>
          </a:xfrm>
        </p:spPr>
        <p:txBody>
          <a:bodyPr>
            <a:normAutofit/>
          </a:bodyPr>
          <a:lstStyle/>
          <a:p>
            <a:endParaRPr lang="en-US" dirty="0"/>
          </a:p>
          <a:p>
            <a:endParaRPr lang="en-US" dirty="0"/>
          </a:p>
        </p:txBody>
      </p:sp>
      <p:sp>
        <p:nvSpPr>
          <p:cNvPr id="8" name="TextBox 7"/>
          <p:cNvSpPr txBox="1"/>
          <p:nvPr/>
        </p:nvSpPr>
        <p:spPr>
          <a:xfrm>
            <a:off x="1717964" y="1801091"/>
            <a:ext cx="9573491" cy="4801314"/>
          </a:xfrm>
          <a:prstGeom prst="rect">
            <a:avLst/>
          </a:prstGeom>
          <a:noFill/>
        </p:spPr>
        <p:txBody>
          <a:bodyPr wrap="square" rtlCol="0">
            <a:spAutoFit/>
          </a:bodyPr>
          <a:lstStyle/>
          <a:p>
            <a:r>
              <a:rPr lang="en-US" dirty="0"/>
              <a:t>By providing transparency, it reveals which features the model uses heavily</a:t>
            </a:r>
          </a:p>
          <a:p>
            <a:endParaRPr lang="en-US" dirty="0"/>
          </a:p>
          <a:p>
            <a:r>
              <a:rPr lang="en-US" dirty="0"/>
              <a:t>Local explanations can show how different groups are treated</a:t>
            </a:r>
          </a:p>
          <a:p>
            <a:endParaRPr lang="en-US" dirty="0"/>
          </a:p>
          <a:p>
            <a:r>
              <a:rPr lang="en-US" dirty="0"/>
              <a:t>Enables fairness debugging: comparing explanations across subgroups</a:t>
            </a:r>
          </a:p>
          <a:p>
            <a:endParaRPr lang="en-US" dirty="0"/>
          </a:p>
          <a:p>
            <a:r>
              <a:rPr lang="en-US" dirty="0"/>
              <a:t>Helps stakeholders (users, regulators) understand and question model behavior</a:t>
            </a:r>
          </a:p>
          <a:p>
            <a:r>
              <a:rPr lang="en-US" b="1" dirty="0"/>
              <a:t>Example: Loan Approval System</a:t>
            </a:r>
          </a:p>
          <a:p>
            <a:pPr algn="just"/>
            <a:r>
              <a:rPr lang="en-US" dirty="0"/>
              <a:t>Suppose model uses features like income, credit history, zip code (which correlates with race)</a:t>
            </a:r>
          </a:p>
          <a:p>
            <a:pPr algn="just"/>
            <a:endParaRPr lang="en-US" dirty="0"/>
          </a:p>
          <a:p>
            <a:pPr algn="just"/>
            <a:r>
              <a:rPr lang="en-US" dirty="0" err="1"/>
              <a:t>Explainability</a:t>
            </a:r>
            <a:r>
              <a:rPr lang="en-US" dirty="0"/>
              <a:t> methods (SHAP, LIME) reveal that zip code heavily influences decisions</a:t>
            </a:r>
          </a:p>
          <a:p>
            <a:pPr algn="just"/>
            <a:endParaRPr lang="en-US" dirty="0"/>
          </a:p>
          <a:p>
            <a:pPr algn="just"/>
            <a:r>
              <a:rPr lang="en-US" dirty="0"/>
              <a:t>That can hint at bias: model leveraging proxy for sensitive attribute</a:t>
            </a:r>
          </a:p>
          <a:p>
            <a:pPr algn="just"/>
            <a:endParaRPr lang="en-US" dirty="0"/>
          </a:p>
          <a:p>
            <a:pPr algn="just"/>
            <a:r>
              <a:rPr lang="en-US" dirty="0"/>
              <a:t>Use the insight to mitigate: remove or adjust feature, retrain, re-explain</a:t>
            </a:r>
          </a:p>
          <a:p>
            <a:endParaRPr lang="en-US" dirty="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Bias Mitigation in Machine Learning</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18</a:t>
            </a:fld>
            <a:endParaRPr lang="en-IN"/>
          </a:p>
        </p:txBody>
      </p:sp>
      <p:sp>
        <p:nvSpPr>
          <p:cNvPr id="5" name="Content Placeholder 4"/>
          <p:cNvSpPr>
            <a:spLocks noGrp="1"/>
          </p:cNvSpPr>
          <p:nvPr>
            <p:ph idx="1"/>
          </p:nvPr>
        </p:nvSpPr>
        <p:spPr>
          <a:xfrm>
            <a:off x="1451579" y="2015732"/>
            <a:ext cx="9603275" cy="4385068"/>
          </a:xfrm>
        </p:spPr>
        <p:txBody>
          <a:bodyPr>
            <a:normAutofit lnSpcReduction="10000"/>
          </a:bodyPr>
          <a:lstStyle/>
          <a:p>
            <a:pPr>
              <a:buNone/>
            </a:pPr>
            <a:r>
              <a:rPr lang="en-US" dirty="0">
                <a:solidFill>
                  <a:srgbClr val="FF0000"/>
                </a:solidFill>
              </a:rPr>
              <a:t>Why Mitigate Bias?</a:t>
            </a:r>
          </a:p>
          <a:p>
            <a:r>
              <a:rPr lang="en-US" dirty="0"/>
              <a:t>Biased models can lead to unfair / discriminatory decisions</a:t>
            </a:r>
          </a:p>
          <a:p>
            <a:r>
              <a:rPr lang="en-US" dirty="0"/>
              <a:t>Legal, ethical, reputational risks</a:t>
            </a:r>
          </a:p>
          <a:p>
            <a:r>
              <a:rPr lang="en-US" dirty="0"/>
              <a:t>Helps build trust, accountability, transparency</a:t>
            </a:r>
          </a:p>
          <a:p>
            <a:r>
              <a:rPr lang="en-US" dirty="0" err="1"/>
              <a:t>Explainability</a:t>
            </a:r>
            <a:r>
              <a:rPr lang="en-US" dirty="0"/>
              <a:t> + mitigation go hand in hand</a:t>
            </a:r>
          </a:p>
          <a:p>
            <a:pPr>
              <a:buNone/>
            </a:pPr>
            <a:r>
              <a:rPr lang="en-US" dirty="0">
                <a:solidFill>
                  <a:srgbClr val="FF0000"/>
                </a:solidFill>
              </a:rPr>
              <a:t>Bias Mitigation: Where in the ML Pipeline?</a:t>
            </a:r>
          </a:p>
          <a:p>
            <a:r>
              <a:rPr lang="en-US" b="1" dirty="0"/>
              <a:t>Pre-processing</a:t>
            </a:r>
            <a:r>
              <a:rPr lang="en-US" dirty="0"/>
              <a:t>: before training</a:t>
            </a:r>
          </a:p>
          <a:p>
            <a:r>
              <a:rPr lang="en-US" b="1" dirty="0"/>
              <a:t>In-processing</a:t>
            </a:r>
            <a:r>
              <a:rPr lang="en-US" dirty="0"/>
              <a:t>: during training / algorithm</a:t>
            </a:r>
          </a:p>
          <a:p>
            <a:r>
              <a:rPr lang="en-US" b="1" dirty="0"/>
              <a:t>Post-processing</a:t>
            </a:r>
            <a:r>
              <a:rPr lang="en-US" dirty="0"/>
              <a:t>: after model prediction</a:t>
            </a:r>
          </a:p>
          <a:p>
            <a:pPr>
              <a:buNone/>
            </a:pPr>
            <a:endParaRPr lang="en-US"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CBABCCC1-BF11-4F37-963E-1BCD5B23FD72}" type="slidenum">
              <a:rPr lang="en-IN" smtClean="0"/>
              <a:pPr/>
              <a:t>19</a:t>
            </a:fld>
            <a:endParaRPr lang="en-IN"/>
          </a:p>
        </p:txBody>
      </p:sp>
      <p:pic>
        <p:nvPicPr>
          <p:cNvPr id="37890" name="Picture 2"/>
          <p:cNvPicPr>
            <a:picLocks noGrp="1" noChangeAspect="1" noChangeArrowheads="1"/>
          </p:cNvPicPr>
          <p:nvPr>
            <p:ph idx="1"/>
          </p:nvPr>
        </p:nvPicPr>
        <p:blipFill>
          <a:blip r:embed="rId2" cstate="print"/>
          <a:srcRect/>
          <a:stretch>
            <a:fillRect/>
          </a:stretch>
        </p:blipFill>
        <p:spPr bwMode="auto">
          <a:xfrm>
            <a:off x="1343891" y="665018"/>
            <a:ext cx="5306291" cy="5486400"/>
          </a:xfrm>
          <a:prstGeom prst="rect">
            <a:avLst/>
          </a:prstGeom>
          <a:noFill/>
          <a:ln w="9525">
            <a:noFill/>
            <a:miter lim="800000"/>
            <a:headEnd/>
            <a:tailEnd/>
          </a:ln>
        </p:spPr>
      </p:pic>
      <p:pic>
        <p:nvPicPr>
          <p:cNvPr id="38914" name="Picture 2"/>
          <p:cNvPicPr>
            <a:picLocks noChangeAspect="1" noChangeArrowheads="1"/>
          </p:cNvPicPr>
          <p:nvPr/>
        </p:nvPicPr>
        <p:blipFill>
          <a:blip r:embed="rId3" cstate="print"/>
          <a:srcRect/>
          <a:stretch>
            <a:fillRect/>
          </a:stretch>
        </p:blipFill>
        <p:spPr bwMode="auto">
          <a:xfrm>
            <a:off x="6705600" y="706582"/>
            <a:ext cx="4613563" cy="5417127"/>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Pre-Processing Mitigation Techniques</a:t>
            </a:r>
          </a:p>
        </p:txBody>
      </p:sp>
      <p:sp>
        <p:nvSpPr>
          <p:cNvPr id="3" name="Content Placeholder 2"/>
          <p:cNvSpPr>
            <a:spLocks noGrp="1"/>
          </p:cNvSpPr>
          <p:nvPr>
            <p:ph idx="1"/>
          </p:nvPr>
        </p:nvSpPr>
        <p:spPr>
          <a:xfrm>
            <a:off x="1451579" y="1801092"/>
            <a:ext cx="9603275" cy="3665254"/>
          </a:xfrm>
        </p:spPr>
        <p:txBody>
          <a:bodyPr/>
          <a:lstStyle/>
          <a:p>
            <a:r>
              <a:rPr lang="en-US" b="1" dirty="0"/>
              <a:t>Reweighting / re-sampling</a:t>
            </a:r>
            <a:r>
              <a:rPr lang="en-US" dirty="0"/>
              <a:t>: adjust weights or oversample underrepresented groups</a:t>
            </a:r>
          </a:p>
          <a:p>
            <a:r>
              <a:rPr lang="en-US" b="1" dirty="0"/>
              <a:t>Data transformation / repair</a:t>
            </a:r>
            <a:r>
              <a:rPr lang="en-US" dirty="0"/>
              <a:t>: change feature values to reduce correlation with sensitive attributes</a:t>
            </a:r>
          </a:p>
          <a:p>
            <a:r>
              <a:rPr lang="en-US" b="1" dirty="0"/>
              <a:t>Learning fair representations</a:t>
            </a:r>
            <a:r>
              <a:rPr lang="en-US" dirty="0"/>
              <a:t>: learn latent features that obfuscate sensitive attributes</a:t>
            </a:r>
          </a:p>
          <a:p>
            <a:r>
              <a:rPr lang="en-US" b="1" dirty="0"/>
              <a:t>Suppressing / removing sensitive attributes / proxies</a:t>
            </a:r>
            <a:endParaRPr lang="en-US" dirty="0"/>
          </a:p>
          <a:p>
            <a:r>
              <a:rPr lang="en-US" b="1" dirty="0"/>
              <a:t>Label correction / “massaging”</a:t>
            </a:r>
            <a:r>
              <a:rPr lang="en-US" dirty="0"/>
              <a:t>: flipping labels in biased regions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20</a:t>
            </a:fld>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In-Processing Mitigation Techniques</a:t>
            </a:r>
          </a:p>
        </p:txBody>
      </p:sp>
      <p:sp>
        <p:nvSpPr>
          <p:cNvPr id="4" name="Slide Number Placeholder 3"/>
          <p:cNvSpPr>
            <a:spLocks noGrp="1"/>
          </p:cNvSpPr>
          <p:nvPr>
            <p:ph type="sldNum" sz="quarter" idx="12"/>
          </p:nvPr>
        </p:nvSpPr>
        <p:spPr/>
        <p:txBody>
          <a:bodyPr/>
          <a:lstStyle/>
          <a:p>
            <a:fld id="{CBABCCC1-BF11-4F37-963E-1BCD5B23FD72}" type="slidenum">
              <a:rPr lang="en-IN" smtClean="0"/>
              <a:pPr/>
              <a:t>21</a:t>
            </a:fld>
            <a:endParaRPr lang="en-IN"/>
          </a:p>
        </p:txBody>
      </p:sp>
      <p:sp>
        <p:nvSpPr>
          <p:cNvPr id="5" name="Content Placeholder 4"/>
          <p:cNvSpPr>
            <a:spLocks noGrp="1"/>
          </p:cNvSpPr>
          <p:nvPr>
            <p:ph idx="1"/>
          </p:nvPr>
        </p:nvSpPr>
        <p:spPr/>
        <p:txBody>
          <a:bodyPr/>
          <a:lstStyle/>
          <a:p>
            <a:r>
              <a:rPr lang="en-US" b="1" dirty="0"/>
              <a:t>Fairness-aware learning / constraints</a:t>
            </a:r>
            <a:r>
              <a:rPr lang="en-US" dirty="0"/>
              <a:t>: include fairness terms in loss function</a:t>
            </a:r>
          </a:p>
          <a:p>
            <a:r>
              <a:rPr lang="en-US" b="1" dirty="0"/>
              <a:t>Adversarial </a:t>
            </a:r>
            <a:r>
              <a:rPr lang="en-US" b="1" dirty="0" err="1"/>
              <a:t>debiasing</a:t>
            </a:r>
            <a:r>
              <a:rPr lang="en-US" dirty="0"/>
              <a:t>: train with an adversary that tries to predict sensitive attribute — penalize if it can succeed</a:t>
            </a:r>
          </a:p>
          <a:p>
            <a:r>
              <a:rPr lang="en-US" b="1" dirty="0"/>
              <a:t>Prejudice regularization / discrimination-aware regularization</a:t>
            </a:r>
            <a:endParaRPr lang="en-US" dirty="0"/>
          </a:p>
          <a:p>
            <a:r>
              <a:rPr lang="en-US" b="1" dirty="0"/>
              <a:t>Group-specific models or parameterization</a:t>
            </a:r>
            <a:r>
              <a:rPr lang="en-US" dirty="0"/>
              <a:t>: separate models or constraints per group</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Post-Processing Mitigation Techniques</a:t>
            </a:r>
          </a:p>
        </p:txBody>
      </p:sp>
      <p:sp>
        <p:nvSpPr>
          <p:cNvPr id="3" name="Content Placeholder 2"/>
          <p:cNvSpPr>
            <a:spLocks noGrp="1"/>
          </p:cNvSpPr>
          <p:nvPr>
            <p:ph idx="1"/>
          </p:nvPr>
        </p:nvSpPr>
        <p:spPr>
          <a:xfrm>
            <a:off x="1451579" y="2015732"/>
            <a:ext cx="9603275" cy="4149541"/>
          </a:xfrm>
        </p:spPr>
        <p:txBody>
          <a:bodyPr>
            <a:normAutofit fontScale="92500" lnSpcReduction="20000"/>
          </a:bodyPr>
          <a:lstStyle/>
          <a:p>
            <a:r>
              <a:rPr lang="en-US" b="1" dirty="0"/>
              <a:t>Threshold adjustment</a:t>
            </a:r>
            <a:r>
              <a:rPr lang="en-US" dirty="0"/>
              <a:t> per group to equalize metrics (e.g. equal opportunity)</a:t>
            </a:r>
          </a:p>
          <a:p>
            <a:r>
              <a:rPr lang="en-US" b="1" dirty="0"/>
              <a:t>Calibration / calibrated equalized odds</a:t>
            </a:r>
            <a:endParaRPr lang="en-US" dirty="0"/>
          </a:p>
          <a:p>
            <a:r>
              <a:rPr lang="en-US" b="1" dirty="0"/>
              <a:t>Reject option classification</a:t>
            </a:r>
            <a:r>
              <a:rPr lang="en-US" dirty="0"/>
              <a:t>: for uncertain samples, favor disadvantaged group</a:t>
            </a:r>
          </a:p>
          <a:p>
            <a:r>
              <a:rPr lang="en-US" b="1" dirty="0"/>
              <a:t>Output transformation / relabeling</a:t>
            </a:r>
            <a:r>
              <a:rPr lang="en-US" dirty="0"/>
              <a:t>: change predictions to satisfy fairness constraints</a:t>
            </a:r>
          </a:p>
          <a:p>
            <a:pPr>
              <a:buNone/>
            </a:pPr>
            <a:r>
              <a:rPr lang="en-US" b="1" dirty="0">
                <a:solidFill>
                  <a:srgbClr val="FF0000"/>
                </a:solidFill>
              </a:rPr>
              <a:t>Example Scenario – Loan Approval</a:t>
            </a:r>
          </a:p>
          <a:p>
            <a:r>
              <a:rPr lang="en-US" dirty="0"/>
              <a:t>Suppose a model uses features: income, credit history, zip code (proxy for race)</a:t>
            </a:r>
          </a:p>
          <a:p>
            <a:r>
              <a:rPr lang="en-US" dirty="0"/>
              <a:t>Pre-processing: oversample minority group, remove zip code, reweight samples</a:t>
            </a:r>
          </a:p>
          <a:p>
            <a:r>
              <a:rPr lang="en-US" dirty="0"/>
              <a:t>In-processing: train with fairness constraint (e.g. equalized odds)</a:t>
            </a:r>
          </a:p>
          <a:p>
            <a:r>
              <a:rPr lang="en-US" dirty="0"/>
              <a:t>Post-processing: adjust decision thresholds for different groups</a:t>
            </a:r>
          </a:p>
          <a:p>
            <a:r>
              <a:rPr lang="en-US" dirty="0"/>
              <a:t>Use </a:t>
            </a:r>
            <a:r>
              <a:rPr lang="en-US" dirty="0" err="1"/>
              <a:t>explainability</a:t>
            </a:r>
            <a:r>
              <a:rPr lang="en-US" dirty="0"/>
              <a:t> (e.g. SHAP) to detect if biased features remain</a:t>
            </a:r>
          </a:p>
          <a:p>
            <a:endParaRPr lang="en-US" dirty="0"/>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22</a:t>
            </a:fld>
            <a:endParaRPr lang="en-I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23</a:t>
            </a:fld>
            <a:endParaRPr lang="en-IN"/>
          </a:p>
        </p:txBody>
      </p:sp>
      <p:sp>
        <p:nvSpPr>
          <p:cNvPr id="9" name="Rounded Rectangle 3"/>
          <p:cNvSpPr/>
          <p:nvPr/>
        </p:nvSpPr>
        <p:spPr>
          <a:xfrm>
            <a:off x="2541453" y="247782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AI &amp;ML</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 dockstate="right" visibility="0" width="438"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CD7EFB2D-5245-47B2-82E1-7C50FF4A79BF}">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F9099C97-A197-4F5C-94A8-9A22190CB5E3}">
  <we:reference id="wa104380526" version="1.2.0.0" store="en-US" storeType="OMEX"/>
  <we:alternateReferences>
    <we:reference id="wa104380526" version="1.2.0.0" store="wa10438052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CoE PPT Template</Template>
  <TotalTime>2301</TotalTime>
  <Words>1718</Words>
  <Application>Microsoft Office PowerPoint</Application>
  <PresentationFormat>Widescreen</PresentationFormat>
  <Paragraphs>153</Paragraphs>
  <Slides>23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BioRhyme ExtraBold</vt:lpstr>
      <vt:lpstr>Calibri</vt:lpstr>
      <vt:lpstr>Gill Sans MT</vt:lpstr>
      <vt:lpstr>Poppins</vt:lpstr>
      <vt:lpstr>Gallery</vt:lpstr>
      <vt:lpstr>PowerPoint Presentation</vt:lpstr>
      <vt:lpstr>Ethics in Machine Learning </vt:lpstr>
      <vt:lpstr>Key Principles of Machine Learning Ethics </vt:lpstr>
      <vt:lpstr>Ethics in ML</vt:lpstr>
      <vt:lpstr>Fairness:</vt:lpstr>
      <vt:lpstr>CONTD..</vt:lpstr>
      <vt:lpstr>Explainability: Bias sources</vt:lpstr>
      <vt:lpstr>PowerPoint Presentation</vt:lpstr>
      <vt:lpstr>CONTD..</vt:lpstr>
      <vt:lpstr>Trade-off: Performance vs Explainability</vt:lpstr>
      <vt:lpstr> Bias sources</vt:lpstr>
      <vt:lpstr>Bias in data and Ml</vt:lpstr>
      <vt:lpstr>Bias types</vt:lpstr>
      <vt:lpstr>&gt;Data-Level Bias Sources </vt:lpstr>
      <vt:lpstr>&gt;Modeling / Algorithm-Level Bias</vt:lpstr>
      <vt:lpstr>&gt;Evaluation &amp; Deployment Bias</vt:lpstr>
      <vt:lpstr>How Explainability Helps Detect Bias</vt:lpstr>
      <vt:lpstr>Bias Mitigation in Machine Learning</vt:lpstr>
      <vt:lpstr>PowerPoint Presentation</vt:lpstr>
      <vt:lpstr>Pre-Processing Mitigation Techniques</vt:lpstr>
      <vt:lpstr>In-Processing Mitigation Techniques</vt:lpstr>
      <vt:lpstr>Post-Processing Mitigation Techniques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Narendra Babu T</dc:creator>
  <cp:lastModifiedBy>Harsha Abhi</cp:lastModifiedBy>
  <cp:revision>105</cp:revision>
  <dcterms:created xsi:type="dcterms:W3CDTF">2023-05-06T03:47:00Z</dcterms:created>
  <dcterms:modified xsi:type="dcterms:W3CDTF">2025-11-09T18:04:49Z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6E6046E1B8564DE48E72D44BA630FF3F_13</vt:lpwstr>
  </property>
  <property fmtid="{D5CDD505-2E9C-101B-9397-08002B2CF9AE}" pid="3" name="KSOProductBuildVer">
    <vt:lpwstr>1033-12.2.0.17119</vt:lpwstr>
  </property>
</Properties>
</file>