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324" r:id="rId3"/>
    <p:sldId id="395" r:id="rId4"/>
    <p:sldId id="423" r:id="rId5"/>
    <p:sldId id="396" r:id="rId6"/>
    <p:sldId id="424" r:id="rId7"/>
    <p:sldId id="425" r:id="rId8"/>
    <p:sldId id="426" r:id="rId9"/>
    <p:sldId id="397" r:id="rId10"/>
    <p:sldId id="398" r:id="rId11"/>
    <p:sldId id="388" r:id="rId12"/>
    <p:sldId id="389" r:id="rId13"/>
    <p:sldId id="427" r:id="rId14"/>
    <p:sldId id="428" r:id="rId15"/>
    <p:sldId id="429" r:id="rId16"/>
    <p:sldId id="430" r:id="rId17"/>
    <p:sldId id="431" r:id="rId18"/>
    <p:sldId id="28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12-10-2025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xmlns=""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xmlns=""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machine-learning/machine-learning-models/" TargetMode="External"/><Relationship Id="rId2" Type="http://schemas.openxmlformats.org/officeDocument/2006/relationships/hyperlink" Target="https://www.geeksforgeeks.org/machine-learning/ml-machine-learn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data-analysis/what-is-data-clean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pypi.org/project/pycaret-ts-alpha" TargetMode="External"/><Relationship Id="rId3" Type="http://schemas.openxmlformats.org/officeDocument/2006/relationships/hyperlink" Target="https://pycaret.readthedocs.io/en/latest/api/regression.html" TargetMode="External"/><Relationship Id="rId7" Type="http://schemas.openxmlformats.org/officeDocument/2006/relationships/hyperlink" Target="https://pycaret.readthedocs.io/en/latest/api/arules.html" TargetMode="External"/><Relationship Id="rId2" Type="http://schemas.openxmlformats.org/officeDocument/2006/relationships/hyperlink" Target="https://pycaret.readthedocs.io/en/latest/api/classification.html" TargetMode="External"/><Relationship Id="rId1" Type="http://schemas.openxmlformats.org/officeDocument/2006/relationships/slideLayout" Target="../slideLayouts/slideLayout2.xml"/><Relationship Id="rId6" Type="http://schemas.openxmlformats.org/officeDocument/2006/relationships/hyperlink" Target="https://pycaret.readthedocs.io/en/latest/api/nlp.html" TargetMode="External"/><Relationship Id="rId5" Type="http://schemas.openxmlformats.org/officeDocument/2006/relationships/hyperlink" Target="https://pycaret.readthedocs.io/en/latest/api/anomaly.html" TargetMode="External"/><Relationship Id="rId4" Type="http://schemas.openxmlformats.org/officeDocument/2006/relationships/hyperlink" Target="https://pycaret.readthedocs.io/en/latest/api/clustering.html" TargetMode="Externa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xmlns=""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2185173"/>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b="1" dirty="0" smtClean="0"/>
              <a:t>Automated ML:</a:t>
            </a:r>
            <a:r>
              <a:rPr lang="en-IN" sz="2400" dirty="0" smtClean="0"/>
              <a:t> Pipeline automation (</a:t>
            </a:r>
            <a:r>
              <a:rPr lang="en-IN" sz="2400" dirty="0" err="1" smtClean="0"/>
              <a:t>sklearn</a:t>
            </a:r>
            <a:r>
              <a:rPr lang="en-IN" sz="2400" dirty="0" smtClean="0"/>
              <a:t>, </a:t>
            </a:r>
            <a:r>
              <a:rPr lang="en-IN" sz="2400" dirty="0" err="1" smtClean="0"/>
              <a:t>PyCaret</a:t>
            </a:r>
            <a:r>
              <a:rPr lang="en-IN" sz="2400" dirty="0" smtClean="0"/>
              <a:t>), experiment tracking (</a:t>
            </a:r>
            <a:r>
              <a:rPr lang="en-IN" sz="2400" dirty="0" err="1" smtClean="0"/>
              <a:t>MLflow</a:t>
            </a:r>
            <a:r>
              <a:rPr lang="en-IN" sz="2400" dirty="0" smtClean="0"/>
              <a:t>).</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37</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b="1" dirty="0" smtClean="0"/>
              <a:t>Automated ML:</a:t>
            </a:r>
            <a:r>
              <a:rPr lang="en-IN" dirty="0" smtClean="0"/>
              <a:t> Pipeline automation (</a:t>
            </a:r>
            <a:r>
              <a:rPr lang="en-IN" dirty="0" err="1" smtClean="0"/>
              <a:t>sklearn</a:t>
            </a:r>
            <a:r>
              <a:rPr lang="en-IN" dirty="0" smtClean="0"/>
              <a:t>, </a:t>
            </a:r>
            <a:r>
              <a:rPr lang="en-IN" dirty="0" err="1" smtClean="0"/>
              <a:t>PyCaret</a:t>
            </a:r>
            <a:r>
              <a:rPr lang="en-IN" dirty="0" smtClean="0"/>
              <a:t>)</a:t>
            </a:r>
            <a:endParaRPr lang="en-US" dirty="0"/>
          </a:p>
        </p:txBody>
      </p:sp>
      <p:sp>
        <p:nvSpPr>
          <p:cNvPr id="3" name="Content Placeholder 2"/>
          <p:cNvSpPr>
            <a:spLocks noGrp="1"/>
          </p:cNvSpPr>
          <p:nvPr>
            <p:ph idx="1"/>
          </p:nvPr>
        </p:nvSpPr>
        <p:spPr>
          <a:xfrm>
            <a:off x="1451579" y="2015732"/>
            <a:ext cx="9603275" cy="4080268"/>
          </a:xfrm>
          <a:ln>
            <a:solidFill>
              <a:schemeClr val="tx1"/>
            </a:solidFill>
          </a:ln>
        </p:spPr>
        <p:txBody>
          <a:bodyPr>
            <a:normAutofit/>
          </a:bodyPr>
          <a:lstStyle/>
          <a:p>
            <a:pPr algn="just"/>
            <a:r>
              <a:rPr lang="en-US" dirty="0" smtClean="0"/>
              <a:t>A </a:t>
            </a:r>
            <a:r>
              <a:rPr lang="en-US" b="1" dirty="0" smtClean="0">
                <a:hlinkClick r:id="rId2"/>
              </a:rPr>
              <a:t>Machine Learning</a:t>
            </a:r>
            <a:r>
              <a:rPr lang="en-US" b="1" dirty="0" smtClean="0"/>
              <a:t> Pipeline </a:t>
            </a:r>
            <a:r>
              <a:rPr lang="en-US" dirty="0" smtClean="0"/>
              <a:t>is a systematic workflow designed to automate the process of </a:t>
            </a:r>
            <a:r>
              <a:rPr lang="en-US" b="1" dirty="0" smtClean="0"/>
              <a:t>building, training, and deploying of</a:t>
            </a:r>
            <a:r>
              <a:rPr lang="en-US" b="1" dirty="0" smtClean="0">
                <a:hlinkClick r:id="rId3"/>
              </a:rPr>
              <a:t> ML models</a:t>
            </a:r>
            <a:r>
              <a:rPr lang="en-US" dirty="0" smtClean="0"/>
              <a:t>. It includes several steps, such as</a:t>
            </a:r>
            <a:r>
              <a:rPr lang="en-US" b="1" dirty="0" smtClean="0"/>
              <a:t> data collection, preprocessing, feature engineering, model training, evaluation and deployment. </a:t>
            </a:r>
            <a:endParaRPr lang="en-US" dirty="0" smtClean="0"/>
          </a:p>
          <a:p>
            <a:pPr algn="just"/>
            <a:r>
              <a:rPr lang="en-US" dirty="0" smtClean="0"/>
              <a:t>Rather than managing each step individually, pipelines help simplify and standardize the workflow, making machine learning development</a:t>
            </a:r>
            <a:r>
              <a:rPr lang="en-US" b="1" dirty="0" smtClean="0"/>
              <a:t> faster, more efficient and scalable</a:t>
            </a:r>
            <a:r>
              <a:rPr lang="en-US" dirty="0" smtClean="0"/>
              <a:t>. They also enhance data management by enabling the extraction, transformation, and loading of data from various sources.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Benefits of Machine Learning pipeline</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
        <p:nvSpPr>
          <p:cNvPr id="6" name="Content Placeholder 5"/>
          <p:cNvSpPr>
            <a:spLocks noGrp="1"/>
          </p:cNvSpPr>
          <p:nvPr>
            <p:ph idx="1"/>
          </p:nvPr>
        </p:nvSpPr>
        <p:spPr>
          <a:xfrm>
            <a:off x="1451579" y="1787236"/>
            <a:ext cx="9603275" cy="4239491"/>
          </a:xfrm>
        </p:spPr>
        <p:txBody>
          <a:bodyPr>
            <a:normAutofit fontScale="77500" lnSpcReduction="20000"/>
          </a:bodyPr>
          <a:lstStyle/>
          <a:p>
            <a:pPr algn="just"/>
            <a:r>
              <a:rPr lang="en-US" dirty="0" smtClean="0"/>
              <a:t>A </a:t>
            </a:r>
            <a:r>
              <a:rPr lang="en-US" b="1" dirty="0" smtClean="0"/>
              <a:t>Machine Learning Pipeline</a:t>
            </a:r>
            <a:r>
              <a:rPr lang="en-US" dirty="0" smtClean="0"/>
              <a:t> offers several advantages by automating and streamlining the process of developing, training and deploying machine learning models. Here are the key benefits:</a:t>
            </a:r>
          </a:p>
          <a:p>
            <a:pPr algn="just"/>
            <a:r>
              <a:rPr lang="en-US" dirty="0" smtClean="0"/>
              <a:t>1. </a:t>
            </a:r>
            <a:r>
              <a:rPr lang="en-US" b="1" dirty="0" smtClean="0"/>
              <a:t>Automation and Efficiency:</a:t>
            </a:r>
            <a:r>
              <a:rPr lang="en-US" dirty="0" smtClean="0"/>
              <a:t> It automates the repetitive tasks such as </a:t>
            </a:r>
            <a:r>
              <a:rPr lang="en-US" b="1" dirty="0" smtClean="0">
                <a:hlinkClick r:id="rId2"/>
              </a:rPr>
              <a:t>data cleaning</a:t>
            </a:r>
            <a:r>
              <a:rPr lang="en-US" b="1" dirty="0" smtClean="0"/>
              <a:t>, model training and testing</a:t>
            </a:r>
            <a:r>
              <a:rPr lang="en-US" dirty="0" smtClean="0"/>
              <a:t>. It saves time and speeds up the development process and allows data scientists to focus on more strategic task.</a:t>
            </a:r>
          </a:p>
          <a:p>
            <a:pPr algn="just"/>
            <a:r>
              <a:rPr lang="en-US" dirty="0" smtClean="0"/>
              <a:t>2. </a:t>
            </a:r>
            <a:r>
              <a:rPr lang="en-US" b="1" dirty="0" smtClean="0"/>
              <a:t>Faster Model Deployment:</a:t>
            </a:r>
            <a:r>
              <a:rPr lang="en-US" dirty="0" smtClean="0"/>
              <a:t> It helps in quickly moving a trained model into real-world use. It is useful for AI applications like </a:t>
            </a:r>
            <a:r>
              <a:rPr lang="en-US" b="1" dirty="0" smtClean="0"/>
              <a:t>stock trading, fraud detection and healthcare.</a:t>
            </a:r>
            <a:endParaRPr lang="en-US" dirty="0" smtClean="0"/>
          </a:p>
          <a:p>
            <a:pPr algn="just"/>
            <a:r>
              <a:rPr lang="en-US" dirty="0" smtClean="0"/>
              <a:t>3</a:t>
            </a:r>
            <a:r>
              <a:rPr lang="en-US" b="1" dirty="0" smtClean="0"/>
              <a:t>. Improve Accuracy &amp; Consistency:</a:t>
            </a:r>
            <a:r>
              <a:rPr lang="en-US" dirty="0" smtClean="0"/>
              <a:t> It ensures that data is processed the same way every time reducing human error and making predictions more reliable.</a:t>
            </a:r>
          </a:p>
          <a:p>
            <a:pPr algn="just"/>
            <a:r>
              <a:rPr lang="en-US" dirty="0" smtClean="0"/>
              <a:t>4. </a:t>
            </a:r>
            <a:r>
              <a:rPr lang="en-US" b="1" dirty="0" smtClean="0"/>
              <a:t>Handles Large Data easily:</a:t>
            </a:r>
            <a:r>
              <a:rPr lang="en-US" dirty="0" smtClean="0"/>
              <a:t> </a:t>
            </a:r>
            <a:r>
              <a:rPr lang="en-US" b="1" dirty="0" smtClean="0"/>
              <a:t>ML pipeline </a:t>
            </a:r>
            <a:r>
              <a:rPr lang="en-US" dirty="0" smtClean="0"/>
              <a:t>works efficiently with big datasets and can run on powerful cloud platforms for better performance.</a:t>
            </a:r>
          </a:p>
          <a:p>
            <a:pPr algn="just"/>
            <a:r>
              <a:rPr lang="en-US" dirty="0" smtClean="0"/>
              <a:t>5. </a:t>
            </a:r>
            <a:r>
              <a:rPr lang="en-US" b="1" dirty="0" smtClean="0"/>
              <a:t>Cost-Effective:</a:t>
            </a:r>
            <a:r>
              <a:rPr lang="en-US" dirty="0" smtClean="0"/>
              <a:t> </a:t>
            </a:r>
            <a:r>
              <a:rPr lang="en-US" b="1" dirty="0" smtClean="0"/>
              <a:t>Machine Learning Pipeline</a:t>
            </a:r>
            <a:r>
              <a:rPr lang="en-US" dirty="0" smtClean="0"/>
              <a:t> saves time and money by automating tasks that would normally require manual work. This means fewer mistakes and less work for extra workers, making the process more efficient and cost-effective.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Pipelines for Automating Machine Learning Workflows</a:t>
            </a:r>
            <a:endParaRPr lang="en-US" b="1" dirty="0"/>
          </a:p>
        </p:txBody>
      </p:sp>
      <p:sp>
        <p:nvSpPr>
          <p:cNvPr id="3" name="Content Placeholder 2"/>
          <p:cNvSpPr>
            <a:spLocks noGrp="1"/>
          </p:cNvSpPr>
          <p:nvPr>
            <p:ph idx="1"/>
          </p:nvPr>
        </p:nvSpPr>
        <p:spPr>
          <a:xfrm>
            <a:off x="1451579" y="1870364"/>
            <a:ext cx="9603275" cy="4267200"/>
          </a:xfrm>
        </p:spPr>
        <p:txBody>
          <a:bodyPr>
            <a:normAutofit/>
          </a:bodyPr>
          <a:lstStyle/>
          <a:p>
            <a:pPr algn="just"/>
            <a:r>
              <a:rPr lang="en-US" dirty="0" smtClean="0"/>
              <a:t>There are standard workflows in applied machine learning. Standard because they overcome common problems like data leakage in your test harness.</a:t>
            </a:r>
          </a:p>
          <a:p>
            <a:pPr algn="just"/>
            <a:r>
              <a:rPr lang="en-US" dirty="0" smtClean="0"/>
              <a:t>Python </a:t>
            </a:r>
            <a:r>
              <a:rPr lang="en-US" dirty="0" err="1" smtClean="0"/>
              <a:t>scikit</a:t>
            </a:r>
            <a:r>
              <a:rPr lang="en-US" dirty="0" smtClean="0"/>
              <a:t>-learn provides a Pipeline utility to help automate machine learning workflows.</a:t>
            </a:r>
          </a:p>
          <a:p>
            <a:pPr algn="just"/>
            <a:r>
              <a:rPr lang="en-US" dirty="0" smtClean="0"/>
              <a:t>Pipelines work by allowing for a linear sequence of data transforms to be chained together culminating in a modeling process that can be evaluated.</a:t>
            </a:r>
          </a:p>
          <a:p>
            <a:pPr algn="just"/>
            <a:r>
              <a:rPr lang="en-US" dirty="0" smtClean="0"/>
              <a:t>The goal is to ensure that all of the steps in the pipeline are constrained to the data available for the evaluation, such as the training dataset or each fold of the cross validation procedure.</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Usecase</a:t>
            </a:r>
            <a:r>
              <a:rPr lang="en-US" b="1" dirty="0" smtClean="0"/>
              <a:t> 1: Pipeline 1: Data Preparation and Modeling</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
        <p:nvSpPr>
          <p:cNvPr id="6" name="Content Placeholder 5"/>
          <p:cNvSpPr>
            <a:spLocks noGrp="1"/>
          </p:cNvSpPr>
          <p:nvPr>
            <p:ph idx="1"/>
          </p:nvPr>
        </p:nvSpPr>
        <p:spPr>
          <a:xfrm>
            <a:off x="1451579" y="1731818"/>
            <a:ext cx="9603275" cy="4585855"/>
          </a:xfrm>
        </p:spPr>
        <p:txBody>
          <a:bodyPr>
            <a:normAutofit fontScale="25000" lnSpcReduction="20000"/>
          </a:bodyPr>
          <a:lstStyle/>
          <a:p>
            <a:endParaRPr lang="en-US" sz="2600" dirty="0" smtClean="0"/>
          </a:p>
          <a:p>
            <a:pPr algn="just"/>
            <a:r>
              <a:rPr lang="en-US" sz="7200" dirty="0" smtClean="0"/>
              <a:t>An easy trap to fall into in applied machine learning is leaking data from your training dataset to your test dataset.</a:t>
            </a:r>
          </a:p>
          <a:p>
            <a:pPr algn="just"/>
            <a:r>
              <a:rPr lang="en-US" sz="7200" dirty="0" smtClean="0"/>
              <a:t>To avoid this trap you need a robust test harness with strong separation of training and testing. This includes data preparation.</a:t>
            </a:r>
          </a:p>
          <a:p>
            <a:pPr algn="just"/>
            <a:r>
              <a:rPr lang="en-US" sz="7200" dirty="0" smtClean="0"/>
              <a:t>Data preparation is one easy way to leak knowledge of the whole training dataset to the algorithm. For example, preparing your data using normalization or standardization on the entire training dataset before learning would not be a valid test because the training dataset would have been influenced by the scale of the data in the test set.</a:t>
            </a:r>
          </a:p>
          <a:p>
            <a:pPr algn="just"/>
            <a:r>
              <a:rPr lang="en-US" sz="7200" dirty="0" smtClean="0"/>
              <a:t>Pipelines help you prevent data leakage in your test harness by ensuring that data preparation like standardization is constrained to each fold of your cross validation procedure.</a:t>
            </a:r>
          </a:p>
          <a:p>
            <a:pPr algn="just"/>
            <a:r>
              <a:rPr lang="en-US" sz="7200" dirty="0" smtClean="0"/>
              <a:t>The example below demonstrates this important data preparation and model evaluation workflow. The pipeline is defined with two steps:</a:t>
            </a:r>
          </a:p>
          <a:p>
            <a:pPr algn="just"/>
            <a:r>
              <a:rPr lang="en-US" sz="7200" dirty="0" smtClean="0"/>
              <a:t>Standardize the data. Learn a Linear </a:t>
            </a:r>
            <a:r>
              <a:rPr lang="en-US" sz="7200" dirty="0" err="1" smtClean="0"/>
              <a:t>Discriminant</a:t>
            </a:r>
            <a:r>
              <a:rPr lang="en-US" sz="7200" dirty="0" smtClean="0"/>
              <a:t> Analysis model.  The pipeline is then evaluated using 10-fold cross validation.</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928256"/>
            <a:ext cx="9603275" cy="5209308"/>
          </a:xfrm>
        </p:spPr>
        <p:txBody>
          <a:bodyPr>
            <a:normAutofit/>
          </a:bodyPr>
          <a:lstStyle/>
          <a:p>
            <a:pPr>
              <a:buNone/>
            </a:pPr>
            <a:r>
              <a:rPr lang="en-US" sz="2400" b="1" dirty="0" smtClean="0"/>
              <a:t>CONTD.. </a:t>
            </a:r>
          </a:p>
          <a:p>
            <a:endParaRPr lang="en-US" b="1" dirty="0" smtClean="0"/>
          </a:p>
          <a:p>
            <a:endParaRPr lang="en-US" b="1"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pic>
        <p:nvPicPr>
          <p:cNvPr id="1026" name="Picture 2"/>
          <p:cNvPicPr>
            <a:picLocks noChangeAspect="1" noChangeArrowheads="1"/>
          </p:cNvPicPr>
          <p:nvPr/>
        </p:nvPicPr>
        <p:blipFill>
          <a:blip r:embed="rId2" cstate="print"/>
          <a:srcRect/>
          <a:stretch>
            <a:fillRect/>
          </a:stretch>
        </p:blipFill>
        <p:spPr bwMode="auto">
          <a:xfrm>
            <a:off x="1357745" y="1565564"/>
            <a:ext cx="9753600" cy="4017818"/>
          </a:xfrm>
          <a:prstGeom prst="rect">
            <a:avLst/>
          </a:prstGeom>
          <a:noFill/>
          <a:ln w="9525">
            <a:noFill/>
            <a:miter lim="800000"/>
            <a:headEnd/>
            <a:tailEnd/>
          </a:ln>
        </p:spPr>
      </p:pic>
      <p:sp>
        <p:nvSpPr>
          <p:cNvPr id="5" name="TextBox 4"/>
          <p:cNvSpPr txBox="1"/>
          <p:nvPr/>
        </p:nvSpPr>
        <p:spPr>
          <a:xfrm>
            <a:off x="1579418" y="5624945"/>
            <a:ext cx="7844263" cy="923330"/>
          </a:xfrm>
          <a:prstGeom prst="rect">
            <a:avLst/>
          </a:prstGeom>
          <a:noFill/>
        </p:spPr>
        <p:txBody>
          <a:bodyPr wrap="none" rtlCol="0">
            <a:spAutoFit/>
          </a:bodyPr>
          <a:lstStyle/>
          <a:p>
            <a:r>
              <a:rPr lang="en-US" dirty="0" smtClean="0"/>
              <a:t>Running the example provides a summary of accuracy of the setup on the dataset.</a:t>
            </a:r>
          </a:p>
          <a:p>
            <a:r>
              <a:rPr lang="en-US" dirty="0" smtClean="0"/>
              <a:t>0.773462064252</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PyCaret</a:t>
            </a:r>
            <a:endParaRPr lang="en-US" b="1" dirty="0"/>
          </a:p>
        </p:txBody>
      </p:sp>
      <p:sp>
        <p:nvSpPr>
          <p:cNvPr id="3" name="Content Placeholder 2"/>
          <p:cNvSpPr>
            <a:spLocks noGrp="1"/>
          </p:cNvSpPr>
          <p:nvPr>
            <p:ph idx="1"/>
          </p:nvPr>
        </p:nvSpPr>
        <p:spPr>
          <a:xfrm>
            <a:off x="1451579" y="1842654"/>
            <a:ext cx="9603275" cy="4405746"/>
          </a:xfrm>
        </p:spPr>
        <p:txBody>
          <a:bodyPr>
            <a:normAutofit/>
          </a:bodyPr>
          <a:lstStyle/>
          <a:p>
            <a:pPr algn="just"/>
            <a:r>
              <a:rPr lang="en-US" dirty="0" err="1" smtClean="0"/>
              <a:t>PyCaret</a:t>
            </a:r>
            <a:r>
              <a:rPr lang="en-US" dirty="0" smtClean="0"/>
              <a:t> is an open-source, low-code machine learning library in Python that automates machine learning workflows. It is an end-to-end machine learning and model management tool that exponentially speeds up the experiment cycle and makes you more productive.</a:t>
            </a:r>
          </a:p>
          <a:p>
            <a:pPr algn="just"/>
            <a:r>
              <a:rPr lang="en-US" dirty="0" smtClean="0"/>
              <a:t>Compared with the other open-source machine learning libraries, </a:t>
            </a:r>
            <a:r>
              <a:rPr lang="en-US" dirty="0" err="1" smtClean="0"/>
              <a:t>PyCaret</a:t>
            </a:r>
            <a:r>
              <a:rPr lang="en-US" dirty="0" smtClean="0"/>
              <a:t> is an alternate low-code library that can replace hundreds of lines of code with a few lines only. This makes experiments exponentially faster and more efficient. </a:t>
            </a:r>
            <a:r>
              <a:rPr lang="en-US" dirty="0" err="1" smtClean="0"/>
              <a:t>PyCaret</a:t>
            </a:r>
            <a:r>
              <a:rPr lang="en-US" dirty="0" smtClean="0"/>
              <a:t> is essentially a Python wrapper around several machine learning libraries and frameworks such as </a:t>
            </a:r>
            <a:r>
              <a:rPr lang="en-US" dirty="0" err="1" smtClean="0"/>
              <a:t>scikit</a:t>
            </a:r>
            <a:r>
              <a:rPr lang="en-US" dirty="0" smtClean="0"/>
              <a:t>-learn, </a:t>
            </a:r>
            <a:r>
              <a:rPr lang="en-US" dirty="0" err="1" smtClean="0"/>
              <a:t>XGBoost</a:t>
            </a:r>
            <a:r>
              <a:rPr lang="en-US" dirty="0" smtClean="0"/>
              <a:t>, </a:t>
            </a:r>
            <a:r>
              <a:rPr lang="en-US" dirty="0" err="1" smtClean="0"/>
              <a:t>LightGBM</a:t>
            </a:r>
            <a:r>
              <a:rPr lang="en-US" dirty="0" smtClean="0"/>
              <a:t>, </a:t>
            </a:r>
            <a:r>
              <a:rPr lang="en-US" dirty="0" err="1" smtClean="0"/>
              <a:t>CatBoost</a:t>
            </a:r>
            <a:r>
              <a:rPr lang="en-US" dirty="0" smtClean="0"/>
              <a:t>, </a:t>
            </a:r>
            <a:r>
              <a:rPr lang="en-US" dirty="0" err="1" smtClean="0"/>
              <a:t>spaCy</a:t>
            </a:r>
            <a:r>
              <a:rPr lang="en-US" dirty="0" smtClean="0"/>
              <a:t>, </a:t>
            </a:r>
            <a:r>
              <a:rPr lang="en-US" dirty="0" err="1" smtClean="0"/>
              <a:t>Optuna</a:t>
            </a:r>
            <a:r>
              <a:rPr lang="en-US" dirty="0" smtClean="0"/>
              <a:t>, </a:t>
            </a:r>
            <a:r>
              <a:rPr lang="en-US" dirty="0" err="1" smtClean="0"/>
              <a:t>Hyperopt</a:t>
            </a:r>
            <a:r>
              <a:rPr lang="en-US" dirty="0" smtClean="0"/>
              <a:t>, Ray, and a few more.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
        <p:nvSpPr>
          <p:cNvPr id="5" name="Content Placeholder 4"/>
          <p:cNvSpPr>
            <a:spLocks noGrp="1"/>
          </p:cNvSpPr>
          <p:nvPr>
            <p:ph idx="1"/>
          </p:nvPr>
        </p:nvSpPr>
        <p:spPr/>
        <p:txBody>
          <a:bodyPr>
            <a:normAutofit lnSpcReduction="10000"/>
          </a:bodyPr>
          <a:lstStyle/>
          <a:p>
            <a:pPr algn="just"/>
            <a:r>
              <a:rPr lang="en-US" dirty="0" err="1" smtClean="0"/>
              <a:t>PyCaret</a:t>
            </a:r>
            <a:r>
              <a:rPr lang="en-US" dirty="0" smtClean="0"/>
              <a:t> is simple and easy to use. All the operations performed in </a:t>
            </a:r>
            <a:r>
              <a:rPr lang="en-US" dirty="0" err="1" smtClean="0"/>
              <a:t>PyCaret</a:t>
            </a:r>
            <a:r>
              <a:rPr lang="en-US" dirty="0" smtClean="0"/>
              <a:t> are sequentially stored in a pipeline that is fully orchestrated for deployment. Whether it’s imputing missing values, transforming categorical data, feature engineering, or even </a:t>
            </a:r>
            <a:r>
              <a:rPr lang="en-US" dirty="0" err="1" smtClean="0"/>
              <a:t>hyperparameter</a:t>
            </a:r>
            <a:r>
              <a:rPr lang="en-US" dirty="0" smtClean="0"/>
              <a:t> tuning, </a:t>
            </a:r>
            <a:r>
              <a:rPr lang="en-US" dirty="0" err="1" smtClean="0"/>
              <a:t>PyCaret</a:t>
            </a:r>
            <a:r>
              <a:rPr lang="en-US" dirty="0" smtClean="0"/>
              <a:t> automates all of it. </a:t>
            </a:r>
          </a:p>
          <a:p>
            <a:pPr algn="just"/>
            <a:r>
              <a:rPr lang="en-US" b="1" dirty="0" smtClean="0"/>
              <a:t>How to Install </a:t>
            </a:r>
            <a:r>
              <a:rPr lang="en-US" b="1" dirty="0" err="1" smtClean="0"/>
              <a:t>PyCaret</a:t>
            </a:r>
            <a:r>
              <a:rPr lang="en-US" b="1" dirty="0" smtClean="0"/>
              <a:t>:</a:t>
            </a:r>
          </a:p>
          <a:p>
            <a:pPr algn="just">
              <a:buNone/>
            </a:pPr>
            <a:r>
              <a:rPr lang="en-US" b="1" dirty="0" smtClean="0"/>
              <a:t>    pip install </a:t>
            </a:r>
            <a:r>
              <a:rPr lang="en-US" b="1" dirty="0" err="1" smtClean="0"/>
              <a:t>pycaret</a:t>
            </a:r>
            <a:endParaRPr lang="en-US" b="1" dirty="0" smtClean="0"/>
          </a:p>
          <a:p>
            <a:pPr algn="just"/>
            <a:r>
              <a:rPr lang="en-US" b="1" dirty="0" smtClean="0"/>
              <a:t>Check </a:t>
            </a:r>
            <a:r>
              <a:rPr lang="en-US" b="1" dirty="0" err="1" smtClean="0"/>
              <a:t>PyCaret</a:t>
            </a:r>
            <a:r>
              <a:rPr lang="en-US" b="1" dirty="0" smtClean="0"/>
              <a:t> Version</a:t>
            </a:r>
          </a:p>
          <a:p>
            <a:pPr algn="just">
              <a:buNone/>
            </a:pPr>
            <a:r>
              <a:rPr lang="en-US" b="1" dirty="0" smtClean="0"/>
              <a:t>    print(</a:t>
            </a:r>
            <a:r>
              <a:rPr lang="en-US" b="1" dirty="0" err="1" smtClean="0"/>
              <a:t>pycaret.__version</a:t>
            </a:r>
            <a:r>
              <a:rPr lang="en-US" b="1" dirty="0" smtClean="0"/>
              <a:t>__)</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Modules in </a:t>
            </a:r>
            <a:r>
              <a:rPr lang="en-US" b="1" dirty="0" err="1" smtClean="0"/>
              <a:t>PyCaret</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
        <p:nvSpPr>
          <p:cNvPr id="5" name="Content Placeholder 4"/>
          <p:cNvSpPr>
            <a:spLocks noGrp="1"/>
          </p:cNvSpPr>
          <p:nvPr>
            <p:ph idx="1"/>
          </p:nvPr>
        </p:nvSpPr>
        <p:spPr>
          <a:xfrm>
            <a:off x="1396161" y="1904896"/>
            <a:ext cx="9603275" cy="4066413"/>
          </a:xfrm>
        </p:spPr>
        <p:txBody>
          <a:bodyPr/>
          <a:lstStyle/>
          <a:p>
            <a:pPr algn="just">
              <a:buNone/>
            </a:pPr>
            <a:r>
              <a:rPr lang="en-US" sz="2400" dirty="0" err="1" smtClean="0"/>
              <a:t>PyCaret’s</a:t>
            </a:r>
            <a:r>
              <a:rPr lang="en-US" sz="2400" dirty="0" smtClean="0"/>
              <a:t> API is arranged in modules. Each module supports a type of supervised learning (</a:t>
            </a:r>
            <a:r>
              <a:rPr lang="en-US" sz="2400" dirty="0" smtClean="0">
                <a:hlinkClick r:id="rId2"/>
              </a:rPr>
              <a:t>classification</a:t>
            </a:r>
            <a:r>
              <a:rPr lang="en-US" sz="2400" dirty="0" smtClean="0"/>
              <a:t> and </a:t>
            </a:r>
            <a:r>
              <a:rPr lang="en-US" sz="2400" dirty="0" smtClean="0">
                <a:hlinkClick r:id="rId3"/>
              </a:rPr>
              <a:t>regression</a:t>
            </a:r>
            <a:r>
              <a:rPr lang="en-US" sz="2400" dirty="0" smtClean="0"/>
              <a:t>) or unsupervised learning (</a:t>
            </a:r>
            <a:r>
              <a:rPr lang="en-US" sz="2400" dirty="0" smtClean="0">
                <a:hlinkClick r:id="rId4"/>
              </a:rPr>
              <a:t>clustering</a:t>
            </a:r>
            <a:r>
              <a:rPr lang="en-US" sz="2400" dirty="0" smtClean="0"/>
              <a:t>, </a:t>
            </a:r>
            <a:r>
              <a:rPr lang="en-US" sz="2400" dirty="0" smtClean="0">
                <a:hlinkClick r:id="rId5"/>
              </a:rPr>
              <a:t>anomaly detection</a:t>
            </a:r>
            <a:r>
              <a:rPr lang="en-US" sz="2400" dirty="0" smtClean="0"/>
              <a:t>, </a:t>
            </a:r>
            <a:r>
              <a:rPr lang="en-US" sz="2400" dirty="0" err="1" smtClean="0">
                <a:hlinkClick r:id="rId6"/>
              </a:rPr>
              <a:t>nlp</a:t>
            </a:r>
            <a:r>
              <a:rPr lang="en-US" sz="2400" dirty="0" smtClean="0"/>
              <a:t>, </a:t>
            </a:r>
            <a:r>
              <a:rPr lang="en-US" sz="2400" dirty="0" smtClean="0">
                <a:hlinkClick r:id="rId7"/>
              </a:rPr>
              <a:t>association rules mining</a:t>
            </a:r>
            <a:r>
              <a:rPr lang="en-US" sz="2400" dirty="0" smtClean="0"/>
              <a:t>). A new module for time series forecasting was released recently under beta as a separate </a:t>
            </a:r>
            <a:r>
              <a:rPr lang="en-US" sz="2400" dirty="0" smtClean="0">
                <a:hlinkClick r:id="rId8"/>
              </a:rPr>
              <a:t>pip package</a:t>
            </a:r>
            <a:r>
              <a:rPr lang="en-US" sz="2400" dirty="0" smtClean="0"/>
              <a:t>.</a:t>
            </a:r>
            <a:endParaRPr lang="en-US" dirty="0" smtClean="0"/>
          </a:p>
        </p:txBody>
      </p:sp>
      <p:pic>
        <p:nvPicPr>
          <p:cNvPr id="3" name="Picture 2"/>
          <p:cNvPicPr>
            <a:picLocks noChangeAspect="1" noChangeArrowheads="1"/>
          </p:cNvPicPr>
          <p:nvPr/>
        </p:nvPicPr>
        <p:blipFill>
          <a:blip r:embed="rId9" cstate="print"/>
          <a:srcRect/>
          <a:stretch>
            <a:fillRect/>
          </a:stretch>
        </p:blipFill>
        <p:spPr bwMode="auto">
          <a:xfrm>
            <a:off x="1759527" y="4156364"/>
            <a:ext cx="9102437" cy="2039649"/>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Modules in </a:t>
            </a:r>
            <a:r>
              <a:rPr lang="en-US" b="1" dirty="0" err="1" smtClean="0"/>
              <a:t>PyCaret</a:t>
            </a:r>
            <a:endParaRPr lang="en-US" b="1" dirty="0"/>
          </a:p>
        </p:txBody>
      </p:sp>
      <p:sp>
        <p:nvSpPr>
          <p:cNvPr id="3" name="Content Placeholder 2"/>
          <p:cNvSpPr>
            <a:spLocks noGrp="1"/>
          </p:cNvSpPr>
          <p:nvPr>
            <p:ph idx="1"/>
          </p:nvPr>
        </p:nvSpPr>
        <p:spPr>
          <a:xfrm>
            <a:off x="1451579" y="2015732"/>
            <a:ext cx="9603275" cy="4204959"/>
          </a:xfrm>
        </p:spPr>
        <p:txBody>
          <a:bodyPr>
            <a:noAutofit/>
          </a:bodyPr>
          <a:lstStyle/>
          <a:p>
            <a:pPr algn="just"/>
            <a:r>
              <a:rPr lang="en-US" sz="1800" dirty="0" smtClean="0"/>
              <a:t>1. </a:t>
            </a:r>
            <a:r>
              <a:rPr lang="en-US" sz="1800" b="1" dirty="0" smtClean="0"/>
              <a:t>Classification: </a:t>
            </a:r>
            <a:r>
              <a:rPr lang="en-US" sz="1800" dirty="0" smtClean="0"/>
              <a:t>This script uses </a:t>
            </a:r>
            <a:r>
              <a:rPr lang="en-US" sz="1800" dirty="0" err="1" smtClean="0"/>
              <a:t>PyCaret’s</a:t>
            </a:r>
            <a:r>
              <a:rPr lang="en-US" sz="1800" dirty="0" smtClean="0"/>
              <a:t> Classification module to automate the machine learning process on the Iris dataset. It initializes the setup with setup() compares different classification models to pick the best one with </a:t>
            </a:r>
            <a:r>
              <a:rPr lang="en-US" sz="1800" dirty="0" err="1" smtClean="0"/>
              <a:t>compare_models</a:t>
            </a:r>
            <a:r>
              <a:rPr lang="en-US" sz="1800" dirty="0" smtClean="0"/>
              <a:t>() then specifically creates (</a:t>
            </a:r>
            <a:r>
              <a:rPr lang="en-US" sz="1800" dirty="0" err="1" smtClean="0"/>
              <a:t>create_model</a:t>
            </a:r>
            <a:r>
              <a:rPr lang="en-US" sz="1800" dirty="0" smtClean="0"/>
              <a:t>()) and tunes (</a:t>
            </a:r>
            <a:r>
              <a:rPr lang="en-US" sz="1800" dirty="0" err="1" smtClean="0"/>
              <a:t>tune_model</a:t>
            </a:r>
            <a:r>
              <a:rPr lang="en-US" sz="1800" dirty="0" smtClean="0"/>
              <a:t>()) a Decision Tree classifier.</a:t>
            </a:r>
          </a:p>
          <a:p>
            <a:pPr algn="just"/>
            <a:r>
              <a:rPr lang="en-US" sz="1800" dirty="0" smtClean="0"/>
              <a:t>It visualizes the model’s performance with a confusion matrix (</a:t>
            </a:r>
            <a:r>
              <a:rPr lang="en-US" sz="1800" dirty="0" err="1" smtClean="0"/>
              <a:t>plot_model</a:t>
            </a:r>
            <a:r>
              <a:rPr lang="en-US" sz="1800" dirty="0" smtClean="0"/>
              <a:t>()) makes predictions on the data (</a:t>
            </a:r>
            <a:r>
              <a:rPr lang="en-US" sz="1800" dirty="0" err="1" smtClean="0"/>
              <a:t>predict_model</a:t>
            </a:r>
            <a:r>
              <a:rPr lang="en-US" sz="1800" dirty="0" smtClean="0"/>
              <a:t>()) and finally saves the trained and tuned model to disk (</a:t>
            </a:r>
            <a:r>
              <a:rPr lang="en-US" sz="1800" dirty="0" err="1" smtClean="0"/>
              <a:t>save_model</a:t>
            </a:r>
            <a:r>
              <a:rPr lang="en-US" sz="1800" dirty="0" smtClean="0"/>
              <a:t>()) for later reuse.</a:t>
            </a:r>
          </a:p>
          <a:p>
            <a:endParaRPr lang="en-US" sz="1800" b="1" dirty="0" smtClean="0"/>
          </a:p>
          <a:p>
            <a:endParaRPr lang="en-US" sz="1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pic>
        <p:nvPicPr>
          <p:cNvPr id="5" name="Picture 2"/>
          <p:cNvPicPr>
            <a:picLocks noChangeAspect="1" noChangeArrowheads="1"/>
          </p:cNvPicPr>
          <p:nvPr/>
        </p:nvPicPr>
        <p:blipFill>
          <a:blip r:embed="rId2" cstate="print"/>
          <a:srcRect/>
          <a:stretch>
            <a:fillRect/>
          </a:stretch>
        </p:blipFill>
        <p:spPr bwMode="auto">
          <a:xfrm>
            <a:off x="2881745" y="4197927"/>
            <a:ext cx="8312728" cy="211974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35247"/>
            <a:ext cx="9603275" cy="1049235"/>
          </a:xfrm>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pic>
        <p:nvPicPr>
          <p:cNvPr id="3" name="Picture 2"/>
          <p:cNvPicPr>
            <a:picLocks noChangeAspect="1" noChangeArrowheads="1"/>
          </p:cNvPicPr>
          <p:nvPr/>
        </p:nvPicPr>
        <p:blipFill>
          <a:blip r:embed="rId2" cstate="print"/>
          <a:srcRect/>
          <a:stretch>
            <a:fillRect/>
          </a:stretch>
        </p:blipFill>
        <p:spPr bwMode="auto">
          <a:xfrm>
            <a:off x="1413165" y="1842655"/>
            <a:ext cx="9739744" cy="42672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
        <p:nvSpPr>
          <p:cNvPr id="5" name="Content Placeholder 4"/>
          <p:cNvSpPr>
            <a:spLocks noGrp="1"/>
          </p:cNvSpPr>
          <p:nvPr>
            <p:ph idx="1"/>
          </p:nvPr>
        </p:nvSpPr>
        <p:spPr>
          <a:xfrm>
            <a:off x="1011383" y="1814945"/>
            <a:ext cx="10377054" cy="4322619"/>
          </a:xfrm>
        </p:spPr>
        <p:txBody>
          <a:bodyPr>
            <a:normAutofit/>
          </a:bodyPr>
          <a:lstStyle/>
          <a:p>
            <a:endParaRPr lang="en-US" dirty="0" smtClean="0"/>
          </a:p>
          <a:p>
            <a:endParaRPr lang="en-US" dirty="0"/>
          </a:p>
        </p:txBody>
      </p:sp>
      <p:sp>
        <p:nvSpPr>
          <p:cNvPr id="6" name="Rectangle 5"/>
          <p:cNvSpPr/>
          <p:nvPr/>
        </p:nvSpPr>
        <p:spPr>
          <a:xfrm>
            <a:off x="1385455" y="1859340"/>
            <a:ext cx="9559636" cy="2308324"/>
          </a:xfrm>
          <a:prstGeom prst="rect">
            <a:avLst/>
          </a:prstGeom>
        </p:spPr>
        <p:txBody>
          <a:bodyPr wrap="square">
            <a:spAutoFit/>
          </a:bodyPr>
          <a:lstStyle/>
          <a:p>
            <a:r>
              <a:rPr lang="en-US" b="1" dirty="0" smtClean="0"/>
              <a:t>2.  Regression</a:t>
            </a:r>
          </a:p>
          <a:p>
            <a:pPr algn="just"/>
            <a:r>
              <a:rPr lang="en-US" dirty="0" smtClean="0"/>
              <a:t>This script uses </a:t>
            </a:r>
            <a:r>
              <a:rPr lang="en-US" dirty="0" err="1" smtClean="0"/>
              <a:t>PyCaret’s</a:t>
            </a:r>
            <a:r>
              <a:rPr lang="en-US" dirty="0" smtClean="0"/>
              <a:t> regression module to build a machine learning model on the Boston housing dataset.</a:t>
            </a:r>
          </a:p>
          <a:p>
            <a:pPr algn="just"/>
            <a:r>
              <a:rPr lang="en-US" dirty="0" smtClean="0"/>
              <a:t>It sets up the workflow with setup() compares multiple regression models to select the best one with </a:t>
            </a:r>
            <a:r>
              <a:rPr lang="en-US" dirty="0" err="1" smtClean="0"/>
              <a:t>compare_models</a:t>
            </a:r>
            <a:r>
              <a:rPr lang="en-US" dirty="0" smtClean="0"/>
              <a:t>() then creates (</a:t>
            </a:r>
            <a:r>
              <a:rPr lang="en-US" dirty="0" err="1" smtClean="0"/>
              <a:t>create_model</a:t>
            </a:r>
            <a:r>
              <a:rPr lang="en-US" dirty="0" smtClean="0"/>
              <a:t>()) and tunes (</a:t>
            </a:r>
            <a:r>
              <a:rPr lang="en-US" dirty="0" err="1" smtClean="0"/>
              <a:t>tune_model</a:t>
            </a:r>
            <a:r>
              <a:rPr lang="en-US" dirty="0" smtClean="0"/>
              <a:t>()) a Random Forest </a:t>
            </a:r>
            <a:r>
              <a:rPr lang="en-US" dirty="0" err="1" smtClean="0"/>
              <a:t>Regressor</a:t>
            </a:r>
            <a:r>
              <a:rPr lang="en-US" dirty="0" smtClean="0"/>
              <a:t>.</a:t>
            </a:r>
          </a:p>
          <a:p>
            <a:pPr algn="just"/>
            <a:r>
              <a:rPr lang="en-US" dirty="0" smtClean="0"/>
              <a:t>It visualizes model performance with a residuals plot (</a:t>
            </a:r>
            <a:r>
              <a:rPr lang="en-US" dirty="0" err="1" smtClean="0"/>
              <a:t>plot_model</a:t>
            </a:r>
            <a:r>
              <a:rPr lang="en-US" dirty="0" smtClean="0"/>
              <a:t>()), makes predictions on the data (</a:t>
            </a:r>
            <a:r>
              <a:rPr lang="en-US" dirty="0" err="1" smtClean="0"/>
              <a:t>predict_model</a:t>
            </a:r>
            <a:r>
              <a:rPr lang="en-US" dirty="0" smtClean="0"/>
              <a:t>()) and saves the tuned model to disk (</a:t>
            </a:r>
            <a:r>
              <a:rPr lang="en-US" dirty="0" err="1" smtClean="0"/>
              <a:t>save_model</a:t>
            </a:r>
            <a:r>
              <a:rPr lang="en-US" dirty="0" smtClean="0"/>
              <a:t>()) for future use.</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593272" y="4149435"/>
            <a:ext cx="8575964" cy="2015837"/>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6146" name="Picture 2"/>
          <p:cNvPicPr>
            <a:picLocks noGrp="1" noChangeAspect="1" noChangeArrowheads="1"/>
          </p:cNvPicPr>
          <p:nvPr>
            <p:ph idx="1"/>
          </p:nvPr>
        </p:nvPicPr>
        <p:blipFill>
          <a:blip r:embed="rId2" cstate="print"/>
          <a:srcRect/>
          <a:stretch>
            <a:fillRect/>
          </a:stretch>
        </p:blipFill>
        <p:spPr bwMode="auto">
          <a:xfrm>
            <a:off x="1607127" y="1870364"/>
            <a:ext cx="9504218" cy="4239491"/>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a:xfrm>
            <a:off x="1451579" y="1801092"/>
            <a:ext cx="9603275" cy="3665254"/>
          </a:xfrm>
        </p:spPr>
        <p:txBody>
          <a:bodyPr/>
          <a:lstStyle/>
          <a:p>
            <a:pPr>
              <a:buNone/>
            </a:pPr>
            <a:r>
              <a:rPr lang="en-US" b="1" dirty="0" smtClean="0"/>
              <a:t>3. Clustering</a:t>
            </a:r>
          </a:p>
          <a:p>
            <a:r>
              <a:rPr lang="en-US" dirty="0" smtClean="0"/>
              <a:t>This script uses </a:t>
            </a:r>
            <a:r>
              <a:rPr lang="en-US" dirty="0" err="1" smtClean="0"/>
              <a:t>PyCaret’s</a:t>
            </a:r>
            <a:r>
              <a:rPr lang="en-US" dirty="0" smtClean="0"/>
              <a:t> clustering module to perform unsupervised learning on the Mall Customers dataset. It initializes the clustering setup with setup(), creates a </a:t>
            </a:r>
            <a:r>
              <a:rPr lang="en-US" dirty="0" err="1" smtClean="0"/>
              <a:t>KMeans</a:t>
            </a:r>
            <a:r>
              <a:rPr lang="en-US" dirty="0" smtClean="0"/>
              <a:t> clustering model with </a:t>
            </a:r>
            <a:r>
              <a:rPr lang="en-US" dirty="0" err="1" smtClean="0"/>
              <a:t>create_model</a:t>
            </a:r>
            <a:r>
              <a:rPr lang="en-US" dirty="0" smtClean="0"/>
              <a:t>(), visualizes the optimal number of clusters using an elbow plot (</a:t>
            </a:r>
            <a:r>
              <a:rPr lang="en-US" dirty="0" err="1" smtClean="0"/>
              <a:t>plot_model</a:t>
            </a:r>
            <a:r>
              <a:rPr lang="en-US" dirty="0" smtClean="0"/>
              <a:t>()), assigns cluster labels to the original data (</a:t>
            </a:r>
            <a:r>
              <a:rPr lang="en-US" dirty="0" err="1" smtClean="0"/>
              <a:t>assign_model</a:t>
            </a:r>
            <a:r>
              <a:rPr lang="en-US" dirty="0" smtClean="0"/>
              <a:t>()) and saves the trained </a:t>
            </a:r>
            <a:r>
              <a:rPr lang="en-US" dirty="0" err="1" smtClean="0"/>
              <a:t>KMeans</a:t>
            </a:r>
            <a:r>
              <a:rPr lang="en-US" dirty="0" smtClean="0"/>
              <a:t> model to disk (</a:t>
            </a:r>
            <a:r>
              <a:rPr lang="en-US" dirty="0" err="1" smtClean="0"/>
              <a:t>save_model</a:t>
            </a:r>
            <a:r>
              <a:rPr lang="en-US" dirty="0" smtClean="0"/>
              <a:t>()) for future use.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pic>
        <p:nvPicPr>
          <p:cNvPr id="7170" name="Picture 2"/>
          <p:cNvPicPr>
            <a:picLocks noChangeAspect="1" noChangeArrowheads="1"/>
          </p:cNvPicPr>
          <p:nvPr/>
        </p:nvPicPr>
        <p:blipFill>
          <a:blip r:embed="rId2" cstate="print"/>
          <a:srcRect/>
          <a:stretch>
            <a:fillRect/>
          </a:stretch>
        </p:blipFill>
        <p:spPr bwMode="auto">
          <a:xfrm>
            <a:off x="1823604" y="4227368"/>
            <a:ext cx="8179377" cy="182706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pic>
        <p:nvPicPr>
          <p:cNvPr id="8194" name="Picture 2"/>
          <p:cNvPicPr>
            <a:picLocks noGrp="1" noChangeAspect="1" noChangeArrowheads="1"/>
          </p:cNvPicPr>
          <p:nvPr>
            <p:ph idx="1"/>
          </p:nvPr>
        </p:nvPicPr>
        <p:blipFill>
          <a:blip r:embed="rId2" cstate="print"/>
          <a:srcRect/>
          <a:stretch>
            <a:fillRect/>
          </a:stretch>
        </p:blipFill>
        <p:spPr bwMode="auto">
          <a:xfrm>
            <a:off x="1482436" y="1870364"/>
            <a:ext cx="9684327" cy="422563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4.  Anomaly detection</a:t>
            </a:r>
          </a:p>
          <a:p>
            <a:pPr algn="just"/>
            <a:r>
              <a:rPr lang="en-US" dirty="0" smtClean="0"/>
              <a:t>This script uses </a:t>
            </a:r>
            <a:r>
              <a:rPr lang="en-US" dirty="0" err="1" smtClean="0"/>
              <a:t>PyCaret’s</a:t>
            </a:r>
            <a:r>
              <a:rPr lang="en-US" dirty="0" smtClean="0"/>
              <a:t> anomaly detection module to detect outliers in the credit dataset. It initializes the setup with setup(), creates an Isolation Forest model (</a:t>
            </a:r>
            <a:r>
              <a:rPr lang="en-US" dirty="0" err="1" smtClean="0"/>
              <a:t>create_model</a:t>
            </a:r>
            <a:r>
              <a:rPr lang="en-US" dirty="0" smtClean="0"/>
              <a:t>('</a:t>
            </a:r>
            <a:r>
              <a:rPr lang="en-US" dirty="0" err="1" smtClean="0"/>
              <a:t>iforest</a:t>
            </a:r>
            <a:r>
              <a:rPr lang="en-US" dirty="0" smtClean="0"/>
              <a:t>')), assigns anomaly labels to the data (</a:t>
            </a:r>
            <a:r>
              <a:rPr lang="en-US" dirty="0" err="1" smtClean="0"/>
              <a:t>assign_model</a:t>
            </a:r>
            <a:r>
              <a:rPr lang="en-US" dirty="0" smtClean="0"/>
              <a:t>()) and saves the trained model (</a:t>
            </a:r>
            <a:r>
              <a:rPr lang="en-US" dirty="0" err="1" smtClean="0"/>
              <a:t>save_model</a:t>
            </a:r>
            <a:r>
              <a:rPr lang="en-US" dirty="0" smtClean="0"/>
              <a:t>()) so it can be reused later for detecting anomalies.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pic>
        <p:nvPicPr>
          <p:cNvPr id="9218" name="Picture 2"/>
          <p:cNvPicPr>
            <a:picLocks noChangeAspect="1" noChangeArrowheads="1"/>
          </p:cNvPicPr>
          <p:nvPr/>
        </p:nvPicPr>
        <p:blipFill>
          <a:blip r:embed="rId2" cstate="print"/>
          <a:srcRect/>
          <a:stretch>
            <a:fillRect/>
          </a:stretch>
        </p:blipFill>
        <p:spPr bwMode="auto">
          <a:xfrm>
            <a:off x="1773380" y="4132984"/>
            <a:ext cx="8243455" cy="207385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pic>
        <p:nvPicPr>
          <p:cNvPr id="10242" name="Picture 2"/>
          <p:cNvPicPr>
            <a:picLocks noGrp="1" noChangeAspect="1" noChangeArrowheads="1"/>
          </p:cNvPicPr>
          <p:nvPr>
            <p:ph idx="1"/>
          </p:nvPr>
        </p:nvPicPr>
        <p:blipFill>
          <a:blip r:embed="rId2" cstate="print"/>
          <a:srcRect/>
          <a:stretch>
            <a:fillRect/>
          </a:stretch>
        </p:blipFill>
        <p:spPr bwMode="auto">
          <a:xfrm>
            <a:off x="1454727" y="1828799"/>
            <a:ext cx="9642764" cy="428105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2237</TotalTime>
  <Words>1255</Words>
  <Application>Microsoft Office PowerPoint</Application>
  <PresentationFormat>Custom</PresentationFormat>
  <Paragraphs>89</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Gallery</vt:lpstr>
      <vt:lpstr>Slide 1</vt:lpstr>
      <vt:lpstr>Automated ML: Pipeline automation (sklearn, PyCaret)</vt:lpstr>
      <vt:lpstr>Benefits of Machine Learning pipeline</vt:lpstr>
      <vt:lpstr>Pipelines for Automating Machine Learning Workflows</vt:lpstr>
      <vt:lpstr>Usecase 1: Pipeline 1: Data Preparation and Modeling</vt:lpstr>
      <vt:lpstr>Slide 6</vt:lpstr>
      <vt:lpstr>PyCaret</vt:lpstr>
      <vt:lpstr>CONTD..</vt:lpstr>
      <vt:lpstr>Modules in PyCaret</vt:lpstr>
      <vt:lpstr>Modules in PyCaret</vt:lpstr>
      <vt:lpstr>CONTD..</vt:lpstr>
      <vt:lpstr>CONTD..</vt:lpstr>
      <vt:lpstr>CONTD..</vt:lpstr>
      <vt:lpstr>CONTd..</vt:lpstr>
      <vt:lpstr>CONTd..</vt:lpstr>
      <vt:lpstr>CONTd..</vt:lpstr>
      <vt:lpstr>CONTd..</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103</cp:revision>
  <dcterms:created xsi:type="dcterms:W3CDTF">2023-05-06T03:47:00Z</dcterms:created>
  <dcterms:modified xsi:type="dcterms:W3CDTF">2025-10-12T11:05:20Z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