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60" r:id="rId1"/>
  </p:sldMasterIdLst>
  <p:notesMasterIdLst>
    <p:notesMasterId r:id="rId70"/>
  </p:notesMasterIdLst>
  <p:handoutMasterIdLst>
    <p:handoutMasterId r:id="rId71"/>
  </p:handoutMasterIdLst>
  <p:sldIdLst>
    <p:sldId id="256" r:id="rId2"/>
    <p:sldId id="324" r:id="rId3"/>
    <p:sldId id="457" r:id="rId4"/>
    <p:sldId id="395" r:id="rId5"/>
    <p:sldId id="423" r:id="rId6"/>
    <p:sldId id="462" r:id="rId7"/>
    <p:sldId id="396" r:id="rId8"/>
    <p:sldId id="424" r:id="rId9"/>
    <p:sldId id="458" r:id="rId10"/>
    <p:sldId id="463" r:id="rId11"/>
    <p:sldId id="425" r:id="rId12"/>
    <p:sldId id="426" r:id="rId13"/>
    <p:sldId id="434" r:id="rId14"/>
    <p:sldId id="435" r:id="rId15"/>
    <p:sldId id="436" r:id="rId16"/>
    <p:sldId id="437" r:id="rId17"/>
    <p:sldId id="398" r:id="rId18"/>
    <p:sldId id="388" r:id="rId19"/>
    <p:sldId id="389" r:id="rId20"/>
    <p:sldId id="400" r:id="rId21"/>
    <p:sldId id="459" r:id="rId22"/>
    <p:sldId id="399" r:id="rId23"/>
    <p:sldId id="460" r:id="rId24"/>
    <p:sldId id="433" r:id="rId25"/>
    <p:sldId id="461" r:id="rId26"/>
    <p:sldId id="464" r:id="rId27"/>
    <p:sldId id="465" r:id="rId28"/>
    <p:sldId id="466" r:id="rId29"/>
    <p:sldId id="467" r:id="rId30"/>
    <p:sldId id="390" r:id="rId31"/>
    <p:sldId id="428" r:id="rId32"/>
    <p:sldId id="391" r:id="rId33"/>
    <p:sldId id="401" r:id="rId34"/>
    <p:sldId id="387" r:id="rId35"/>
    <p:sldId id="431" r:id="rId36"/>
    <p:sldId id="432" r:id="rId37"/>
    <p:sldId id="438" r:id="rId38"/>
    <p:sldId id="439" r:id="rId39"/>
    <p:sldId id="440" r:id="rId40"/>
    <p:sldId id="441" r:id="rId41"/>
    <p:sldId id="442" r:id="rId42"/>
    <p:sldId id="443" r:id="rId43"/>
    <p:sldId id="445" r:id="rId44"/>
    <p:sldId id="446" r:id="rId45"/>
    <p:sldId id="447" r:id="rId46"/>
    <p:sldId id="404" r:id="rId47"/>
    <p:sldId id="405" r:id="rId48"/>
    <p:sldId id="468" r:id="rId49"/>
    <p:sldId id="406" r:id="rId50"/>
    <p:sldId id="407" r:id="rId51"/>
    <p:sldId id="469" r:id="rId52"/>
    <p:sldId id="408" r:id="rId53"/>
    <p:sldId id="448" r:id="rId54"/>
    <p:sldId id="470" r:id="rId55"/>
    <p:sldId id="471" r:id="rId56"/>
    <p:sldId id="444" r:id="rId57"/>
    <p:sldId id="472" r:id="rId58"/>
    <p:sldId id="473" r:id="rId59"/>
    <p:sldId id="474" r:id="rId60"/>
    <p:sldId id="475" r:id="rId61"/>
    <p:sldId id="449" r:id="rId62"/>
    <p:sldId id="450" r:id="rId63"/>
    <p:sldId id="451" r:id="rId64"/>
    <p:sldId id="452" r:id="rId65"/>
    <p:sldId id="453" r:id="rId66"/>
    <p:sldId id="454" r:id="rId67"/>
    <p:sldId id="455" r:id="rId68"/>
    <p:sldId id="286"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43" autoAdjust="0"/>
    <p:restoredTop sz="94773" autoAdjust="0"/>
  </p:normalViewPr>
  <p:slideViewPr>
    <p:cSldViewPr snapToGrid="0">
      <p:cViewPr varScale="1">
        <p:scale>
          <a:sx n="75" d="100"/>
          <a:sy n="75" d="100"/>
        </p:scale>
        <p:origin x="82" y="12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09-11-2025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09-11-2025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r>
              <a:rPr lang="en-IN"/>
              <a:t>Course Title, Topic Name</a:t>
            </a:r>
          </a:p>
        </p:txBody>
      </p:sp>
      <p:sp>
        <p:nvSpPr>
          <p:cNvPr id="5" name="Footer Placeholder 4"/>
          <p:cNvSpPr>
            <a:spLocks noGrp="1"/>
          </p:cNvSpPr>
          <p:nvPr>
            <p:ph type="ftr" sz="quarter" idx="4"/>
          </p:nvPr>
        </p:nvSpPr>
        <p:spPr/>
        <p:txBody>
          <a:bodyPr/>
          <a:lstStyle/>
          <a:p>
            <a:r>
              <a:rPr lang="en-US"/>
              <a:t>College of Engineering, KONERU LAKSHMAIAH EDUCATION FOUNDATION</a:t>
            </a:r>
            <a:endParaRPr lang="en-IN"/>
          </a:p>
        </p:txBody>
      </p:sp>
      <p:sp>
        <p:nvSpPr>
          <p:cNvPr id="6" name="Slide Number Placeholder 5"/>
          <p:cNvSpPr>
            <a:spLocks noGrp="1"/>
          </p:cNvSpPr>
          <p:nvPr>
            <p:ph type="sldNum" sz="quarter" idx="5"/>
          </p:nvPr>
        </p:nvSpPr>
        <p:spPr/>
        <p:txBody>
          <a:bodyPr/>
          <a:lstStyle/>
          <a:p>
            <a:fld id="{823BDDA1-7BB7-447A-97DE-AE5425C8F2AD}" type="slidenum">
              <a:rPr lang="en-IN" smtClean="0"/>
              <a:pPr/>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97D1A-FFE3-AA6F-F076-0CA262D0D8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8F99E11-20F2-0624-8526-551822A104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46A8733-0C6F-881C-A4BA-51F045E5DF20}"/>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7F17E263-0B13-0E04-100C-0B9D021A6C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C9281B-7FF5-6BF7-8EE6-E62601D7F5AC}"/>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465867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D06BB-393F-E976-9812-CEC6731DC4E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94D7944-2A65-899E-02A4-18BED3B63E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08545991-4FBD-4D9C-42D7-224F2AACD5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812DD5-A817-AC5C-AFA9-39C2D2A7E207}"/>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019312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6373D-1A02-F33A-4CD0-4A87A222DB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7A35F31-CB62-B166-8A71-37448CEAB2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611AB6-61E1-6DFE-8C78-C3EAE570D656}"/>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92EB1411-5382-DCF6-BD2B-ED6BC60725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D5A8BB-E3DD-29D8-5117-D18FF2967030}"/>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4209672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C9045-64DE-15F0-7AE9-A81CDF58794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CC89A0A-BBEF-C176-D815-97A94FEF76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DBE51C3-24EF-C014-9A5F-D8FD51AB12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0A0E193-CDDE-8B04-E358-1A8BD811C240}"/>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ACA38871-A592-48A0-95D9-3A333C9C5B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3CCE4A-822D-71A6-C41C-229C5288FFBF}"/>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2419062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F45E7-5ED1-FE30-9718-146B53042A1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EE8FA0-0012-0F2D-361E-247113BA06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EE6F9B-B31B-F171-014C-7FDE5AD972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CE58805-5C34-0294-401E-C3514A39F8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0E6BD2-FED8-425D-74F6-538FDA7916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7DFA56B-EA2E-64CE-4CB2-2D344D524052}"/>
              </a:ext>
            </a:extLst>
          </p:cNvPr>
          <p:cNvSpPr>
            <a:spLocks noGrp="1"/>
          </p:cNvSpPr>
          <p:nvPr>
            <p:ph type="dt" sz="half" idx="10"/>
          </p:nvPr>
        </p:nvSpPr>
        <p:spPr/>
        <p:txBody>
          <a:bodyPr/>
          <a:lstStyle/>
          <a:p>
            <a:r>
              <a:rPr lang="en-US"/>
              <a:t>&lt;COURSE TITLE&gt;, &lt;TOPIC NAME&gt;</a:t>
            </a:r>
            <a:endParaRPr lang="en-IN" dirty="0"/>
          </a:p>
        </p:txBody>
      </p:sp>
      <p:sp>
        <p:nvSpPr>
          <p:cNvPr id="8" name="Footer Placeholder 7">
            <a:extLst>
              <a:ext uri="{FF2B5EF4-FFF2-40B4-BE49-F238E27FC236}">
                <a16:creationId xmlns:a16="http://schemas.microsoft.com/office/drawing/2014/main" id="{C2F0799C-5AB1-95E5-576E-73BFC66BAFC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04CA051-AE3B-EC36-1E66-82423A34D69D}"/>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1212043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DAC4A-F168-FF01-5298-850257EB433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230041E-9A63-A238-9248-4E10A64ED09C}"/>
              </a:ext>
            </a:extLst>
          </p:cNvPr>
          <p:cNvSpPr>
            <a:spLocks noGrp="1"/>
          </p:cNvSpPr>
          <p:nvPr>
            <p:ph type="dt" sz="half" idx="10"/>
          </p:nvPr>
        </p:nvSpPr>
        <p:spPr/>
        <p:txBody>
          <a:bodyPr/>
          <a:lstStyle/>
          <a:p>
            <a:r>
              <a:rPr lang="en-US"/>
              <a:t>&lt;COURSE TITLE&gt;, &lt;TOPIC NAME&gt;</a:t>
            </a:r>
            <a:endParaRPr lang="en-IN" dirty="0"/>
          </a:p>
        </p:txBody>
      </p:sp>
      <p:sp>
        <p:nvSpPr>
          <p:cNvPr id="4" name="Footer Placeholder 3">
            <a:extLst>
              <a:ext uri="{FF2B5EF4-FFF2-40B4-BE49-F238E27FC236}">
                <a16:creationId xmlns:a16="http://schemas.microsoft.com/office/drawing/2014/main" id="{60B7EB7C-B8D7-396E-160F-906035FCD3E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D5D7299-BA22-A38E-DD4D-ED6F23DD29EE}"/>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441838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467E49-9176-282E-0DD8-F08C4C94F03B}"/>
              </a:ext>
            </a:extLst>
          </p:cNvPr>
          <p:cNvSpPr>
            <a:spLocks noGrp="1"/>
          </p:cNvSpPr>
          <p:nvPr>
            <p:ph type="dt" sz="half" idx="10"/>
          </p:nvPr>
        </p:nvSpPr>
        <p:spPr/>
        <p:txBody>
          <a:bodyPr/>
          <a:lstStyle/>
          <a:p>
            <a:r>
              <a:rPr lang="en-US"/>
              <a:t>&lt;COURSE TITLE&gt;, &lt;TOPIC NAME&gt;</a:t>
            </a:r>
            <a:endParaRPr lang="en-IN" dirty="0"/>
          </a:p>
        </p:txBody>
      </p:sp>
      <p:sp>
        <p:nvSpPr>
          <p:cNvPr id="3" name="Footer Placeholder 2">
            <a:extLst>
              <a:ext uri="{FF2B5EF4-FFF2-40B4-BE49-F238E27FC236}">
                <a16:creationId xmlns:a16="http://schemas.microsoft.com/office/drawing/2014/main" id="{3DDCC4D0-860A-EB0C-BDE4-67A96C01D72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F61E148-D62D-8F98-B673-EE12CF3C94BE}"/>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236142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E42A8-A05E-240B-58D3-4C3A0553DF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AF0D18B-828C-BE83-E5B1-B0DCE9FF5C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DD77C53-C02E-464D-511A-155F9905B4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90CACF-A7FC-764F-B750-4CD5F19ED866}"/>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1F6ADB0B-56F7-EAD5-8F57-431864D8DA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0511067-E50E-F221-0B3F-4328CAB74385}"/>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143914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6448E-7D22-96FF-7CB3-C44F56F08A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5A3A232-BBED-C8FC-5D1E-2F02634585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DFCEEE-B7FB-969F-0615-C62DC8C3C5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1C169F-3F1F-D634-040F-B11B7A1130F0}"/>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96166214-ABEB-8C37-38B3-E9B78B3A57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414C88A-4EC8-A87B-5A2A-5161BC711C59}"/>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4191077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E9CAB-8B24-877E-27CA-85CAE2AFC0D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86020C9-C855-BFB6-9514-6A2C697B2E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A9BBD6-3383-4AC3-C473-112B043BA057}"/>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46117288-101E-AB81-8F16-0348B95514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E67632-0EB0-90BE-36FC-4CC6C27E66F8}"/>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1899545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49C5A6-DC6B-9FCF-3091-1161D7A2176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81E06A8-791E-64B1-619E-B114B35EF1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3EDA42-542B-A803-9A69-70B5AB0DBF60}"/>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E0F4AE53-6D7F-F135-214C-BCA3F20740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2262B6-3E97-5327-3D33-55D2594F20B2}"/>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1160006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FDB8A3-81F3-C8BC-58DA-B901EBE600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B88E1EF-A788-A681-DF9C-7D22E61452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996DA2-78C1-5AC5-093F-28F1D36EB6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A59CB615-7F7D-A3C7-0B65-3DDEC0C37C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4C756AD-6BC8-10AC-FEE8-2FA76E8D5C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ABCCC1-BF11-4F37-963E-1BCD5B23FD72}" type="slidenum">
              <a:rPr lang="en-IN" smtClean="0"/>
              <a:pPr/>
              <a:t>‹#›</a:t>
            </a:fld>
            <a:endParaRPr lang="en-IN" dirty="0"/>
          </a:p>
        </p:txBody>
      </p:sp>
      <p:pic>
        <p:nvPicPr>
          <p:cNvPr id="7" name="Picture 6" descr="Icon&#10;&#10;Description automatically generated with medium confidence">
            <a:extLst>
              <a:ext uri="{FF2B5EF4-FFF2-40B4-BE49-F238E27FC236}">
                <a16:creationId xmlns:a16="http://schemas.microsoft.com/office/drawing/2014/main" id="{8F729A07-B767-F3EB-7250-61460FC64FD4}"/>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spTree>
    <p:extLst>
      <p:ext uri="{BB962C8B-B14F-4D97-AF65-F5344CB8AC3E}">
        <p14:creationId xmlns:p14="http://schemas.microsoft.com/office/powerpoint/2010/main" val="21241452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google.com/search?q=Dunn+Index&amp;sca_esv=89e7bcb64ef3cfc7&amp;sxsrf=AE3TifNpM6Ng6FkmIps7bYcqHotps3CTng:1759428527340&amp;ei=r7_eaPDEFILI1e8Px4GbkAQ&amp;ved=2ahUKEwjT36PCkoaQAxURrlYBHdG5Oe4QgK4QegQIBBAG&amp;uact=5&amp;oq=cluster+validity+metrics&amp;gs_lp=Egxnd3Mtd2l6LXNlcnAiGGNsdXN0ZXIgdmFsaWRpdHkgbWV0cmljczIGEAAYFhgeMgsQABiABBiGAxiKBTILEAAYgAQYhgMYigUyCBAAGIAEGKIEMggQABiABBiiBDIIEAAYgAQYogQyCBAAGIAEGKIESMI4UJ4IWPo1cAN4AZABAJgBhwKgAc4KqgEFMC4xLjW4AQPIAQD4AQL4AQGYAgagArUGwgIKEAAYsAMY1gQYR8ICBRAhGKABmAMAiAYBkAYIkgcFMy4wLjOgB_sYsgcDMi0zuAeTBsIHBzItMS40LjHIB0U&amp;sclient=gws-wiz-serp&amp;mstk=AUtExfDBnzo09qcT9Jj9K_hW4Zh1ByxHXFfIHkxf7OKGjIEbwhwTI2TJ61RvpKoUn6k3rbfvy68Pqn3YGUq_h7uZbTOO2XMgmTFw5FhV1X84-7RiBZBEYEd5vYf_XKtYzIFcAKWYIZQKAxOBgb_B44x_3c2THjq4cV3ijn_zFny4mARN24Q&amp;csui=3" TargetMode="External"/><Relationship Id="rId2" Type="http://schemas.openxmlformats.org/officeDocument/2006/relationships/hyperlink" Target="https://www.google.com/search?q=Silhouette+Score&amp;sca_esv=89e7bcb64ef3cfc7&amp;sxsrf=AE3TifNpM6Ng6FkmIps7bYcqHotps3CTng:1759428527340&amp;ei=r7_eaPDEFILI1e8Px4GbkAQ&amp;ved=2ahUKEwjT36PCkoaQAxURrlYBHdG5Oe4QgK4QegQIBBAE&amp;uact=5&amp;oq=cluster+validity+metrics&amp;gs_lp=Egxnd3Mtd2l6LXNlcnAiGGNsdXN0ZXIgdmFsaWRpdHkgbWV0cmljczIGEAAYFhgeMgsQABiABBiGAxiKBTILEAAYgAQYhgMYigUyCBAAGIAEGKIEMggQABiABBiiBDIIEAAYgAQYogQyCBAAGIAEGKIESMI4UJ4IWPo1cAN4AZABAJgBhwKgAc4KqgEFMC4xLjW4AQPIAQD4AQL4AQGYAgagArUGwgIKEAAYsAMY1gQYR8ICBRAhGKABmAMAiAYBkAYIkgcFMy4wLjOgB_sYsgcDMi0zuAeTBsIHBzItMS40LjHIB0U&amp;sclient=gws-wiz-serp&amp;mstk=AUtExfDBnzo09qcT9Jj9K_hW4Zh1ByxHXFfIHkxf7OKGjIEbwhwTI2TJ61RvpKoUn6k3rbfvy68Pqn3YGUq_h7uZbTOO2XMgmTFw5FhV1X84-7RiBZBEYEd5vYf_XKtYzIFcAKWYIZQKAxOBgb_B44x_3c2THjq4cV3ijn_zFny4mARN24Q&amp;csui=3" TargetMode="External"/><Relationship Id="rId1" Type="http://schemas.openxmlformats.org/officeDocument/2006/relationships/slideLayout" Target="../slideLayouts/slideLayout2.xml"/><Relationship Id="rId5" Type="http://schemas.openxmlformats.org/officeDocument/2006/relationships/hyperlink" Target="https://www.google.com/search?q=Within-Cluster+Sum+of+Squares&amp;sca_esv=89e7bcb64ef3cfc7&amp;sxsrf=AE3TifNpM6Ng6FkmIps7bYcqHotps3CTng:1759428527340&amp;ei=r7_eaPDEFILI1e8Px4GbkAQ&amp;ved=2ahUKEwjT36PCkoaQAxURrlYBHdG5Oe4QgK4QegQIBBAK&amp;uact=5&amp;oq=cluster+validity+metrics&amp;gs_lp=Egxnd3Mtd2l6LXNlcnAiGGNsdXN0ZXIgdmFsaWRpdHkgbWV0cmljczIGEAAYFhgeMgsQABiABBiGAxiKBTILEAAYgAQYhgMYigUyCBAAGIAEGKIEMggQABiABBiiBDIIEAAYgAQYogQyCBAAGIAEGKIESMI4UJ4IWPo1cAN4AZABAJgBhwKgAc4KqgEFMC4xLjW4AQPIAQD4AQL4AQGYAgagArUGwgIKEAAYsAMY1gQYR8ICBRAhGKABmAMAiAYBkAYIkgcFMy4wLjOgB_sYsgcDMi0zuAeTBsIHBzItMS40LjHIB0U&amp;sclient=gws-wiz-serp&amp;mstk=AUtExfDBnzo09qcT9Jj9K_hW4Zh1ByxHXFfIHkxf7OKGjIEbwhwTI2TJ61RvpKoUn6k3rbfvy68Pqn3YGUq_h7uZbTOO2XMgmTFw5FhV1X84-7RiBZBEYEd5vYf_XKtYzIFcAKWYIZQKAxOBgb_B44x_3c2THjq4cV3ijn_zFny4mARN24Q&amp;csui=3" TargetMode="External"/><Relationship Id="rId4" Type="http://schemas.openxmlformats.org/officeDocument/2006/relationships/hyperlink" Target="https://www.google.com/search?q=Connectivity&amp;sca_esv=89e7bcb64ef3cfc7&amp;sxsrf=AE3TifNpM6Ng6FkmIps7bYcqHotps3CTng:1759428527340&amp;ei=r7_eaPDEFILI1e8Px4GbkAQ&amp;ved=2ahUKEwjT36PCkoaQAxURrlYBHdG5Oe4QgK4QegQIBBAI&amp;uact=5&amp;oq=cluster+validity+metrics&amp;gs_lp=Egxnd3Mtd2l6LXNlcnAiGGNsdXN0ZXIgdmFsaWRpdHkgbWV0cmljczIGEAAYFhgeMgsQABiABBiGAxiKBTILEAAYgAQYhgMYigUyCBAAGIAEGKIEMggQABiABBiiBDIIEAAYgAQYogQyCBAAGIAEGKIESMI4UJ4IWPo1cAN4AZABAJgBhwKgAc4KqgEFMC4xLjW4AQPIAQD4AQL4AQGYAgagArUGwgIKEAAYsAMY1gQYR8ICBRAhGKABmAMAiAYBkAYIkgcFMy4wLjOgB_sYsgcDMi0zuAeTBsIHBzItMS40LjHIB0U&amp;sclient=gws-wiz-serp&amp;mstk=AUtExfDBnzo09qcT9Jj9K_hW4Zh1ByxHXFfIHkxf7OKGjIEbwhwTI2TJ61RvpKoUn6k3rbfvy68Pqn3YGUq_h7uZbTOO2XMgmTFw5FhV1X84-7RiBZBEYEd5vYf_XKtYzIFcAKWYIZQKAxOBgb_B44x_3c2THjq4cV3ijn_zFny4mARN24Q&amp;csui=3"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google.com/search?q=Precision&amp;sca_esv=89e7bcb64ef3cfc7&amp;sxsrf=AE3TifNpM6Ng6FkmIps7bYcqHotps3CTng:1759428527340&amp;ei=r7_eaPDEFILI1e8Px4GbkAQ&amp;ved=2ahUKEwjT36PCkoaQAxURrlYBHdG5Oe4QgK4QegQIBBAS&amp;uact=5&amp;oq=cluster+validity+metrics&amp;gs_lp=Egxnd3Mtd2l6LXNlcnAiGGNsdXN0ZXIgdmFsaWRpdHkgbWV0cmljczIGEAAYFhgeMgsQABiABBiGAxiKBTILEAAYgAQYhgMYigUyCBAAGIAEGKIEMggQABiABBiiBDIIEAAYgAQYogQyCBAAGIAEGKIESMI4UJ4IWPo1cAN4AZABAJgBhwKgAc4KqgEFMC4xLjW4AQPIAQD4AQL4AQGYAgagArUGwgIKEAAYsAMY1gQYR8ICBRAhGKABmAMAiAYBkAYIkgcFMy4wLjOgB_sYsgcDMi0zuAeTBsIHBzItMS40LjHIB0U&amp;sclient=gws-wiz-serp&amp;mstk=AUtExfDBnzo09qcT9Jj9K_hW4Zh1ByxHXFfIHkxf7OKGjIEbwhwTI2TJ61RvpKoUn6k3rbfvy68Pqn3YGUq_h7uZbTOO2XMgmTFw5FhV1X84-7RiBZBEYEd5vYf_XKtYzIFcAKWYIZQKAxOBgb_B44x_3c2THjq4cV3ijn_zFny4mARN24Q&amp;csui=3" TargetMode="External"/><Relationship Id="rId2" Type="http://schemas.openxmlformats.org/officeDocument/2006/relationships/hyperlink" Target="https://www.google.com/search?q=Purity&amp;sca_esv=89e7bcb64ef3cfc7&amp;sxsrf=AE3TifNpM6Ng6FkmIps7bYcqHotps3CTng:1759428527340&amp;ei=r7_eaPDEFILI1e8Px4GbkAQ&amp;ved=2ahUKEwjT36PCkoaQAxURrlYBHdG5Oe4QgK4QegQIBBAQ&amp;uact=5&amp;oq=cluster+validity+metrics&amp;gs_lp=Egxnd3Mtd2l6LXNlcnAiGGNsdXN0ZXIgdmFsaWRpdHkgbWV0cmljczIGEAAYFhgeMgsQABiABBiGAxiKBTILEAAYgAQYhgMYigUyCBAAGIAEGKIEMggQABiABBiiBDIIEAAYgAQYogQyCBAAGIAEGKIESMI4UJ4IWPo1cAN4AZABAJgBhwKgAc4KqgEFMC4xLjW4AQPIAQD4AQL4AQGYAgagArUGwgIKEAAYsAMY1gQYR8ICBRAhGKABmAMAiAYBkAYIkgcFMy4wLjOgB_sYsgcDMi0zuAeTBsIHBzItMS40LjHIB0U&amp;sclient=gws-wiz-serp&amp;mstk=AUtExfDBnzo09qcT9Jj9K_hW4Zh1ByxHXFfIHkxf7OKGjIEbwhwTI2TJ61RvpKoUn6k3rbfvy68Pqn3YGUq_h7uZbTOO2XMgmTFw5FhV1X84-7RiBZBEYEd5vYf_XKtYzIFcAKWYIZQKAxOBgb_B44x_3c2THjq4cV3ijn_zFny4mARN24Q&amp;csui=3" TargetMode="External"/><Relationship Id="rId1" Type="http://schemas.openxmlformats.org/officeDocument/2006/relationships/slideLayout" Target="../slideLayouts/slideLayout2.xml"/><Relationship Id="rId6" Type="http://schemas.openxmlformats.org/officeDocument/2006/relationships/hyperlink" Target="https://www.google.com/search?q=Normalized+Mutual+Information&amp;sca_esv=89e7bcb64ef3cfc7&amp;sxsrf=AE3TifNpM6Ng6FkmIps7bYcqHotps3CTng:1759428527340&amp;ei=r7_eaPDEFILI1e8Px4GbkAQ&amp;ved=2ahUKEwjT36PCkoaQAxURrlYBHdG5Oe4QgK4QegQIBBAX&amp;uact=5&amp;oq=cluster+validity+metrics&amp;gs_lp=Egxnd3Mtd2l6LXNlcnAiGGNsdXN0ZXIgdmFsaWRpdHkgbWV0cmljczIGEAAYFhgeMgsQABiABBiGAxiKBTILEAAYgAQYhgMYigUyCBAAGIAEGKIEMggQABiABBiiBDIIEAAYgAQYogQyCBAAGIAEGKIESMI4UJ4IWPo1cAN4AZABAJgBhwKgAc4KqgEFMC4xLjW4AQPIAQD4AQL4AQGYAgagArUGwgIKEAAYsAMY1gQYR8ICBRAhGKABmAMAiAYBkAYIkgcFMy4wLjOgB_sYsgcDMi0zuAeTBsIHBzItMS40LjHIB0U&amp;sclient=gws-wiz-serp&amp;mstk=AUtExfDBnzo09qcT9Jj9K_hW4Zh1ByxHXFfIHkxf7OKGjIEbwhwTI2TJ61RvpKoUn6k3rbfvy68Pqn3YGUq_h7uZbTOO2XMgmTFw5FhV1X84-7RiBZBEYEd5vYf_XKtYzIFcAKWYIZQKAxOBgb_B44x_3c2THjq4cV3ijn_zFny4mARN24Q&amp;csui=3" TargetMode="External"/><Relationship Id="rId5" Type="http://schemas.openxmlformats.org/officeDocument/2006/relationships/hyperlink" Target="https://www.google.com/search?q=Adjusted+Rand+Index&amp;sca_esv=89e7bcb64ef3cfc7&amp;sxsrf=AE3TifNpM6Ng6FkmIps7bYcqHotps3CTng:1759428527340&amp;ei=r7_eaPDEFILI1e8Px4GbkAQ&amp;ved=2ahUKEwjT36PCkoaQAxURrlYBHdG5Oe4QgK4QegQIBBAV&amp;uact=5&amp;oq=cluster+validity+metrics&amp;gs_lp=Egxnd3Mtd2l6LXNlcnAiGGNsdXN0ZXIgdmFsaWRpdHkgbWV0cmljczIGEAAYFhgeMgsQABiABBiGAxiKBTILEAAYgAQYhgMYigUyCBAAGIAEGKIEMggQABiABBiiBDIIEAAYgAQYogQyCBAAGIAEGKIESMI4UJ4IWPo1cAN4AZABAJgBhwKgAc4KqgEFMC4xLjW4AQPIAQD4AQL4AQGYAgagArUGwgIKEAAYsAMY1gQYR8ICBRAhGKABmAMAiAYBkAYIkgcFMy4wLjOgB_sYsgcDMi0zuAeTBsIHBzItMS40LjHIB0U&amp;sclient=gws-wiz-serp&amp;mstk=AUtExfDBnzo09qcT9Jj9K_hW4Zh1ByxHXFfIHkxf7OKGjIEbwhwTI2TJ61RvpKoUn6k3rbfvy68Pqn3YGUq_h7uZbTOO2XMgmTFw5FhV1X84-7RiBZBEYEd5vYf_XKtYzIFcAKWYIZQKAxOBgb_B44x_3c2THjq4cV3ijn_zFny4mARN24Q&amp;csui=3" TargetMode="External"/><Relationship Id="rId4" Type="http://schemas.openxmlformats.org/officeDocument/2006/relationships/hyperlink" Target="https://www.google.com/search?q=Recall&amp;sca_esv=89e7bcb64ef3cfc7&amp;sxsrf=AE3TifNpM6Ng6FkmIps7bYcqHotps3CTng:1759428527340&amp;ei=r7_eaPDEFILI1e8Px4GbkAQ&amp;ved=2ahUKEwjT36PCkoaQAxURrlYBHdG5Oe4QgK4QegQIBBAT&amp;uact=5&amp;oq=cluster+validity+metrics&amp;gs_lp=Egxnd3Mtd2l6LXNlcnAiGGNsdXN0ZXIgdmFsaWRpdHkgbWV0cmljczIGEAAYFhgeMgsQABiABBiGAxiKBTILEAAYgAQYhgMYigUyCBAAGIAEGKIEMggQABiABBiiBDIIEAAYgAQYogQyCBAAGIAEGKIESMI4UJ4IWPo1cAN4AZABAJgBhwKgAc4KqgEFMC4xLjW4AQPIAQD4AQL4AQGYAgagArUGwgIKEAAYsAMY1gQYR8ICBRAhGKABmAMAiAYBkAYIkgcFMy4wLjOgB_sYsgcDMi0zuAeTBsIHBzItMS40LjHIB0U&amp;sclient=gws-wiz-serp&amp;mstk=AUtExfDBnzo09qcT9Jj9K_hW4Zh1ByxHXFfIHkxf7OKGjIEbwhwTI2TJ61RvpKoUn6k3rbfvy68Pqn3YGUq_h7uZbTOO2XMgmTFw5FhV1X84-7RiBZBEYEd5vYf_XKtYzIFcAKWYIZQKAxOBgb_B44x_3c2THjq4cV3ijn_zFny4mARN24Q&amp;csui=3"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builtin.com/data-science/what-is-a-data-set" TargetMode="External"/><Relationship Id="rId2" Type="http://schemas.openxmlformats.org/officeDocument/2006/relationships/hyperlink" Target="https://www.geeksforgeeks.org/machine-learning/dimensionality-reduction/"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builtin.com/data-science/mahalanobis-distance"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byjus.com/maths/diagonalization/"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builtin.com/data-science/basic-linear-algebra-deep-learning"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builtin.com/machine-learning/siamese-network"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stats.stackexchange.com/questions/22569/pca-and-proportion-of-variance-explained" TargetMode="External"/><Relationship Id="rId2" Type="http://schemas.openxmlformats.org/officeDocument/2006/relationships/hyperlink" Target="https://medium.com/@dareyadewumi650/understanding-the-role-of-eigenvectors-and-eigenvalues-in-pca-dimensionality-reduction-10186dad0c5c"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Google Shape;464;p16"/>
          <p:cNvPicPr preferRelativeResize="0"/>
          <p:nvPr/>
        </p:nvPicPr>
        <p:blipFill>
          <a:blip r:embed="rId3" cstate="print">
            <a:extLst>
              <a:ext uri="{28A0092B-C50C-407E-A947-70E740481C1C}">
                <a14:useLocalDpi xmlns:a14="http://schemas.microsoft.com/office/drawing/2010/main" val="0"/>
              </a:ext>
            </a:extLst>
          </a:blip>
          <a:stretch>
            <a:fillRect/>
          </a:stretch>
        </p:blipFill>
        <p:spPr>
          <a:xfrm>
            <a:off x="23449" y="234462"/>
            <a:ext cx="4829908" cy="5838093"/>
          </a:xfrm>
          <a:prstGeom prst="rect">
            <a:avLst/>
          </a:prstGeom>
          <a:noFill/>
          <a:ln>
            <a:noFill/>
          </a:ln>
        </p:spPr>
      </p:pic>
      <p:sp>
        <p:nvSpPr>
          <p:cNvPr id="15" name="Google Shape;476;p16"/>
          <p:cNvSpPr txBox="1"/>
          <p:nvPr/>
        </p:nvSpPr>
        <p:spPr>
          <a:xfrm>
            <a:off x="5249334" y="1323812"/>
            <a:ext cx="6791558" cy="2185173"/>
          </a:xfrm>
          <a:prstGeom prst="rect">
            <a:avLst/>
          </a:prstGeom>
          <a:noFill/>
          <a:ln>
            <a:noFill/>
          </a:ln>
        </p:spPr>
        <p:txBody>
          <a:bodyPr spcFirstLastPara="1" wrap="square" lIns="91425" tIns="45700" rIns="91425" bIns="45700" anchor="t" anchorCtr="0">
            <a:spAutoFit/>
          </a:bodyPr>
          <a:lstStyle/>
          <a:p>
            <a:pPr algn="ctr"/>
            <a:r>
              <a:rPr lang="en-US" sz="2400" b="1" cap="all" dirty="0">
                <a:solidFill>
                  <a:srgbClr val="C00000"/>
                </a:solidFill>
                <a:cs typeface="Poppins" panose="00000500000000000000" pitchFamily="2" charset="0"/>
                <a:sym typeface="BioRhyme ExtraBold"/>
              </a:rPr>
              <a:t>Course:  AI &amp; ML</a:t>
            </a:r>
          </a:p>
          <a:p>
            <a:pPr marR="0" lvl="0" indent="0" algn="ctr">
              <a:spcBef>
                <a:spcPts val="0"/>
              </a:spcBef>
              <a:spcAft>
                <a:spcPts val="0"/>
              </a:spcAft>
              <a:buNone/>
            </a:pPr>
            <a:r>
              <a:rPr lang="en-US" sz="2400" b="1" cap="all" dirty="0">
                <a:solidFill>
                  <a:srgbClr val="C00000"/>
                </a:solidFill>
                <a:cs typeface="Poppins"/>
                <a:sym typeface="BioRhyme ExtraBold"/>
              </a:rPr>
              <a:t>Course code: 24AD2001A</a:t>
            </a:r>
          </a:p>
          <a:p>
            <a:pPr marR="0" lvl="0" indent="0" algn="ctr">
              <a:spcBef>
                <a:spcPts val="0"/>
              </a:spcBef>
              <a:spcAft>
                <a:spcPts val="0"/>
              </a:spcAft>
              <a:buNone/>
            </a:pPr>
            <a:endParaRPr lang="en-US" sz="2000" b="1" dirty="0">
              <a:solidFill>
                <a:srgbClr val="C00000"/>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rgbClr val="C00000"/>
                </a:solidFill>
                <a:ea typeface="BioRhyme ExtraBold"/>
                <a:cs typeface="Poppins" panose="00000500000000000000" pitchFamily="2" charset="0"/>
                <a:sym typeface="BioRhyme ExtraBold"/>
              </a:rPr>
              <a:t>Topic: </a:t>
            </a:r>
          </a:p>
          <a:p>
            <a:r>
              <a:rPr lang="en-US" sz="2400" dirty="0"/>
              <a:t>cluster validity metrics, D</a:t>
            </a:r>
            <a:r>
              <a:rPr lang="en-US" sz="2400" b="1" dirty="0"/>
              <a:t>imensionality Reduction:</a:t>
            </a:r>
            <a:r>
              <a:rPr lang="en-US" sz="2400" dirty="0"/>
              <a:t> PCA, LDA</a:t>
            </a:r>
            <a:endParaRPr lang="en-US" sz="2400" b="1" dirty="0"/>
          </a:p>
        </p:txBody>
      </p:sp>
      <p:sp>
        <p:nvSpPr>
          <p:cNvPr id="16" name="Google Shape;475;p16"/>
          <p:cNvSpPr txBox="1"/>
          <p:nvPr/>
        </p:nvSpPr>
        <p:spPr>
          <a:xfrm>
            <a:off x="6468032" y="221119"/>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a:rPr>
              <a:t>Department of CSE</a:t>
            </a:r>
          </a:p>
        </p:txBody>
      </p:sp>
      <p:sp>
        <p:nvSpPr>
          <p:cNvPr id="17" name="Google Shape;502;p17"/>
          <p:cNvSpPr/>
          <p:nvPr/>
        </p:nvSpPr>
        <p:spPr>
          <a:xfrm>
            <a:off x="7892797" y="4137052"/>
            <a:ext cx="232972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panose="020F0502020204030204"/>
                <a:cs typeface="Poppins" panose="00000500000000000000" pitchFamily="2" charset="0"/>
                <a:sym typeface="Calibri" panose="020F0502020204030204"/>
              </a:rPr>
              <a:t>Session – 33</a:t>
            </a:r>
            <a:endParaRPr sz="2400" dirty="0">
              <a:solidFill>
                <a:schemeClr val="lt1"/>
              </a:solidFill>
              <a:ea typeface="Calibri" panose="020F0502020204030204"/>
              <a:cs typeface="Poppins" panose="00000500000000000000" pitchFamily="2" charset="0"/>
              <a:sym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IN" dirty="0"/>
              <a:t>    cluster validity metrics</a:t>
            </a:r>
            <a:endParaRPr lang="en-US" dirty="0"/>
          </a:p>
        </p:txBody>
      </p:sp>
      <p:sp>
        <p:nvSpPr>
          <p:cNvPr id="3" name="Content Placeholder 2"/>
          <p:cNvSpPr>
            <a:spLocks noGrp="1"/>
          </p:cNvSpPr>
          <p:nvPr>
            <p:ph idx="1"/>
          </p:nvPr>
        </p:nvSpPr>
        <p:spPr>
          <a:xfrm>
            <a:off x="1451579" y="2015732"/>
            <a:ext cx="9603275" cy="4080268"/>
          </a:xfrm>
        </p:spPr>
        <p:txBody>
          <a:bodyPr>
            <a:normAutofit/>
          </a:bodyPr>
          <a:lstStyle/>
          <a:p>
            <a:r>
              <a:rPr lang="en-US" dirty="0"/>
              <a:t>Cluster validity metrics quantitatively evaluate the quality and coherence of clusters, using internal measures (like Silhouette Score, Dunn Index) that rely on cluster characteristics, or external measures (like Purity, Adjusted Rand Index) that compare clusters to known ground-truth labels. These metrics help determine the optimal number of clusters, assess algorithm performance, and compare different clustering methods by measuring cluster compactness and separation. </a:t>
            </a:r>
          </a:p>
          <a:p>
            <a:pPr algn="just">
              <a:buNone/>
            </a:pP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Use Cluster Validity Metrics?</a:t>
            </a:r>
          </a:p>
        </p:txBody>
      </p:sp>
      <p:sp>
        <p:nvSpPr>
          <p:cNvPr id="5" name="Content Placeholder 4"/>
          <p:cNvSpPr>
            <a:spLocks noGrp="1"/>
          </p:cNvSpPr>
          <p:nvPr>
            <p:ph idx="1"/>
          </p:nvPr>
        </p:nvSpPr>
        <p:spPr>
          <a:xfrm>
            <a:off x="1506997" y="1946460"/>
            <a:ext cx="9603275" cy="4066413"/>
          </a:xfrm>
        </p:spPr>
        <p:txBody>
          <a:bodyPr>
            <a:normAutofit lnSpcReduction="10000"/>
          </a:bodyPr>
          <a:lstStyle/>
          <a:p>
            <a:pPr algn="just"/>
            <a:r>
              <a:rPr lang="en-US" dirty="0"/>
              <a:t>Evaluate Cluster Quality: To determine if the clusters formed are meaningful, coherent, and useful. </a:t>
            </a:r>
          </a:p>
          <a:p>
            <a:pPr algn="just"/>
            <a:r>
              <a:rPr lang="en-US" dirty="0"/>
              <a:t>Determine the Optimal Number of Clusters: To select the most appropriate number of clusters for a given dataset. </a:t>
            </a:r>
          </a:p>
          <a:p>
            <a:pPr algn="just"/>
            <a:r>
              <a:rPr lang="en-US" dirty="0"/>
              <a:t>Compare Clustering Algorithms: To compare the performance of different clustering algorithms or different configurations (</a:t>
            </a:r>
            <a:r>
              <a:rPr lang="en-US" dirty="0" err="1"/>
              <a:t>hyperparameters</a:t>
            </a:r>
            <a:r>
              <a:rPr lang="en-US" dirty="0"/>
              <a:t>). </a:t>
            </a:r>
          </a:p>
          <a:p>
            <a:pPr algn="just"/>
            <a:r>
              <a:rPr lang="en-US" dirty="0"/>
              <a:t>Validate Results: To ensure that the patterns identified by the algorithm are not due to random chance but represent actual structures in the data</a:t>
            </a:r>
          </a:p>
        </p:txBody>
      </p:sp>
      <p:sp>
        <p:nvSpPr>
          <p:cNvPr id="4" name="Slide Number Placeholder 3"/>
          <p:cNvSpPr>
            <a:spLocks noGrp="1"/>
          </p:cNvSpPr>
          <p:nvPr>
            <p:ph type="sldNum" sz="quarter" idx="12"/>
          </p:nvPr>
        </p:nvSpPr>
        <p:spPr/>
        <p:txBody>
          <a:bodyPr/>
          <a:lstStyle/>
          <a:p>
            <a:fld id="{CBABCCC1-BF11-4F37-963E-1BCD5B23FD72}" type="slidenum">
              <a:rPr lang="en-IN" smtClean="0"/>
              <a:pPr/>
              <a:t>3</a:t>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Categories of Cluster Validity Metrics</a:t>
            </a:r>
          </a:p>
        </p:txBody>
      </p:sp>
      <p:sp>
        <p:nvSpPr>
          <p:cNvPr id="6" name="Content Placeholder 5"/>
          <p:cNvSpPr>
            <a:spLocks noGrp="1"/>
          </p:cNvSpPr>
          <p:nvPr>
            <p:ph idx="1"/>
          </p:nvPr>
        </p:nvSpPr>
        <p:spPr>
          <a:xfrm>
            <a:off x="1451579" y="2015732"/>
            <a:ext cx="9603275" cy="4010995"/>
          </a:xfrm>
        </p:spPr>
        <p:txBody>
          <a:bodyPr>
            <a:normAutofit fontScale="77500" lnSpcReduction="20000"/>
          </a:bodyPr>
          <a:lstStyle/>
          <a:p>
            <a:pPr algn="just"/>
            <a:r>
              <a:rPr lang="en-US" dirty="0"/>
              <a:t>Cluster validity metrics are broadly divided into two main categories: </a:t>
            </a:r>
          </a:p>
          <a:p>
            <a:pPr algn="just"/>
            <a:r>
              <a:rPr lang="en-US" dirty="0"/>
              <a:t>Internal Metrics (Intrinsic Evaluation): These metrics assess cluster quality based on the inherent properties of the data and cluster assignments, without requiring any external information or ground truth labels. </a:t>
            </a:r>
          </a:p>
          <a:p>
            <a:pPr algn="just"/>
            <a:r>
              <a:rPr lang="en-US" dirty="0"/>
              <a:t> </a:t>
            </a:r>
            <a:r>
              <a:rPr lang="en-US" b="1" dirty="0"/>
              <a:t>Purpose</a:t>
            </a:r>
            <a:r>
              <a:rPr lang="en-US" dirty="0"/>
              <a:t>: To measure the </a:t>
            </a:r>
            <a:r>
              <a:rPr lang="en-US" b="1" dirty="0"/>
              <a:t>cohesion</a:t>
            </a:r>
            <a:r>
              <a:rPr lang="en-US" dirty="0"/>
              <a:t> (how similar data points within a cluster are) and </a:t>
            </a:r>
            <a:r>
              <a:rPr lang="en-US" b="1" dirty="0"/>
              <a:t>separation</a:t>
            </a:r>
            <a:r>
              <a:rPr lang="en-US" dirty="0"/>
              <a:t> (how different clusters are from each other).</a:t>
            </a:r>
          </a:p>
          <a:p>
            <a:pPr algn="just"/>
            <a:r>
              <a:rPr lang="en-US" b="1" dirty="0"/>
              <a:t>Examples</a:t>
            </a:r>
            <a:r>
              <a:rPr lang="en-US" dirty="0"/>
              <a:t>:</a:t>
            </a:r>
          </a:p>
          <a:p>
            <a:pPr lvl="1" algn="just"/>
            <a:r>
              <a:rPr lang="en-US" b="1" dirty="0">
                <a:hlinkClick r:id="rId2"/>
              </a:rPr>
              <a:t>Silhouette Score</a:t>
            </a:r>
            <a:r>
              <a:rPr lang="en-US" dirty="0"/>
              <a:t>: Measures how similar an object is to its own cluster compared to other clusters.</a:t>
            </a:r>
          </a:p>
          <a:p>
            <a:pPr lvl="1" algn="just"/>
            <a:r>
              <a:rPr lang="en-US" b="1" dirty="0">
                <a:hlinkClick r:id="rId3"/>
              </a:rPr>
              <a:t>Dunn Index</a:t>
            </a:r>
            <a:r>
              <a:rPr lang="en-US" dirty="0"/>
              <a:t>: Compares the distances between clusters to find the minimum inter-cluster distance and the maximum intra-cluster distance.</a:t>
            </a:r>
          </a:p>
          <a:p>
            <a:pPr lvl="1" algn="just"/>
            <a:r>
              <a:rPr lang="en-US" b="1" dirty="0">
                <a:hlinkClick r:id="rId4"/>
              </a:rPr>
              <a:t>Connectivity</a:t>
            </a:r>
            <a:r>
              <a:rPr lang="en-US" dirty="0"/>
              <a:t>: Assesses how well data points are placed in clusters as their nearest neighbors.</a:t>
            </a:r>
          </a:p>
          <a:p>
            <a:pPr lvl="1" algn="just"/>
            <a:r>
              <a:rPr lang="en-US" b="1" dirty="0">
                <a:hlinkClick r:id="rId5"/>
              </a:rPr>
              <a:t>Within-Cluster Sum of Squares</a:t>
            </a:r>
            <a:r>
              <a:rPr lang="en-US" b="1" dirty="0"/>
              <a:t> (WCSS)</a:t>
            </a:r>
            <a:r>
              <a:rPr lang="en-US" dirty="0"/>
              <a:t>: Measures the total variance within each cluster; lower values indicate better clusters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1100" y="1009650"/>
            <a:ext cx="9716537" cy="5529262"/>
          </a:xfrm>
        </p:spPr>
        <p:txBody>
          <a:bodyPr>
            <a:normAutofit/>
          </a:bodyPr>
          <a:lstStyle/>
          <a:p>
            <a:pPr algn="just">
              <a:buNone/>
            </a:pPr>
            <a:r>
              <a:rPr lang="en-US" dirty="0"/>
              <a:t>Let us take a look at </a:t>
            </a:r>
            <a:r>
              <a:rPr lang="en-US" b="1" dirty="0"/>
              <a:t>Silhouette Score</a:t>
            </a:r>
            <a:r>
              <a:rPr lang="en-US" dirty="0"/>
              <a:t> clustering metrics:</a:t>
            </a:r>
          </a:p>
          <a:p>
            <a:pPr algn="just"/>
            <a:r>
              <a:rPr lang="en-US" b="1" dirty="0"/>
              <a:t>1. Silhouette Score</a:t>
            </a:r>
          </a:p>
          <a:p>
            <a:pPr algn="just"/>
            <a:r>
              <a:rPr lang="en-US" dirty="0"/>
              <a:t>The </a:t>
            </a:r>
            <a:r>
              <a:rPr lang="en-US" b="1" dirty="0"/>
              <a:t>Silhouette Score</a:t>
            </a:r>
            <a:r>
              <a:rPr lang="en-US" dirty="0"/>
              <a:t> is a way to measure how good the clusters are in a dataset. It helps us understand how well the data points have been grouped. The score ranges from -1 to 1.</a:t>
            </a:r>
          </a:p>
          <a:p>
            <a:pPr algn="just"/>
            <a:r>
              <a:rPr lang="en-US" dirty="0"/>
              <a:t>A score close to 1 means a point fits really well in its group (cluster) and is far from other groups.</a:t>
            </a:r>
          </a:p>
          <a:p>
            <a:pPr algn="just"/>
            <a:r>
              <a:rPr lang="en-US" dirty="0"/>
              <a:t>A score close to 0 means the point is on the border between two clusters.</a:t>
            </a:r>
          </a:p>
          <a:p>
            <a:pPr algn="just"/>
            <a:r>
              <a:rPr lang="en-US" dirty="0"/>
              <a:t>A score close to -1 means the point might be in the wrong cluster.</a:t>
            </a:r>
          </a:p>
          <a:p>
            <a:pPr algn="just"/>
            <a:r>
              <a:rPr lang="en-US" b="1" dirty="0"/>
              <a:t>Silhouette Score (S) for a data point </a:t>
            </a:r>
            <a:r>
              <a:rPr lang="en-US" b="1" dirty="0" err="1"/>
              <a:t>i</a:t>
            </a:r>
            <a:r>
              <a:rPr lang="en-US" b="1" dirty="0"/>
              <a:t> is calculated as:</a:t>
            </a:r>
            <a:endParaRPr lang="en-US" dirty="0"/>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3D413-B1E5-FF92-F6FB-743AB3BDF57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734C06A-F8CA-811F-7910-C0A5343454AA}"/>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C2340FE6-8AB9-3BEF-5C4C-26B59FD9F9C1}"/>
              </a:ext>
            </a:extLst>
          </p:cNvPr>
          <p:cNvSpPr>
            <a:spLocks noGrp="1"/>
          </p:cNvSpPr>
          <p:nvPr>
            <p:ph type="sldNum" sz="quarter" idx="12"/>
          </p:nvPr>
        </p:nvSpPr>
        <p:spPr/>
        <p:txBody>
          <a:bodyPr/>
          <a:lstStyle/>
          <a:p>
            <a:fld id="{CBABCCC1-BF11-4F37-963E-1BCD5B23FD72}" type="slidenum">
              <a:rPr lang="en-IN" smtClean="0"/>
              <a:pPr/>
              <a:t>6</a:t>
            </a:fld>
            <a:endParaRPr lang="en-IN"/>
          </a:p>
        </p:txBody>
      </p:sp>
      <p:pic>
        <p:nvPicPr>
          <p:cNvPr id="1026" name="Picture 2"/>
          <p:cNvPicPr>
            <a:picLocks noChangeAspect="1" noChangeArrowheads="1"/>
          </p:cNvPicPr>
          <p:nvPr/>
        </p:nvPicPr>
        <p:blipFill>
          <a:blip r:embed="rId2" cstate="print"/>
          <a:srcRect/>
          <a:stretch>
            <a:fillRect/>
          </a:stretch>
        </p:blipFill>
        <p:spPr bwMode="auto">
          <a:xfrm>
            <a:off x="1607127" y="923925"/>
            <a:ext cx="10214264" cy="4429125"/>
          </a:xfrm>
          <a:prstGeom prst="rect">
            <a:avLst/>
          </a:prstGeom>
          <a:noFill/>
          <a:ln w="9525">
            <a:noFill/>
            <a:miter lim="800000"/>
            <a:headEnd/>
            <a:tailEnd/>
          </a:ln>
        </p:spPr>
      </p:pic>
    </p:spTree>
    <p:extLst>
      <p:ext uri="{BB962C8B-B14F-4D97-AF65-F5344CB8AC3E}">
        <p14:creationId xmlns:p14="http://schemas.microsoft.com/office/powerpoint/2010/main" val="2165526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Metrics (Extrinsic Evaluation):</a:t>
            </a:r>
          </a:p>
        </p:txBody>
      </p:sp>
      <p:sp>
        <p:nvSpPr>
          <p:cNvPr id="6" name="Content Placeholder 5"/>
          <p:cNvSpPr>
            <a:spLocks noGrp="1"/>
          </p:cNvSpPr>
          <p:nvPr>
            <p:ph idx="1"/>
          </p:nvPr>
        </p:nvSpPr>
        <p:spPr>
          <a:xfrm>
            <a:off x="1451579" y="1731818"/>
            <a:ext cx="9603275" cy="4585855"/>
          </a:xfrm>
        </p:spPr>
        <p:txBody>
          <a:bodyPr>
            <a:normAutofit fontScale="92500" lnSpcReduction="10000"/>
          </a:bodyPr>
          <a:lstStyle/>
          <a:p>
            <a:pPr algn="just">
              <a:buNone/>
            </a:pPr>
            <a:r>
              <a:rPr lang="en-US" dirty="0"/>
              <a:t>   These metrics use pre-defined ground truth labels to compare the clustering results with a known correct structure.</a:t>
            </a:r>
          </a:p>
          <a:p>
            <a:pPr algn="just">
              <a:buNone/>
            </a:pPr>
            <a:r>
              <a:rPr lang="en-US" b="1" dirty="0"/>
              <a:t>   Purpose</a:t>
            </a:r>
            <a:r>
              <a:rPr lang="en-US" dirty="0"/>
              <a:t>: To evaluate how well the identified clusters align with the actual classes in the data.</a:t>
            </a:r>
          </a:p>
          <a:p>
            <a:pPr algn="just"/>
            <a:r>
              <a:rPr lang="en-US" b="1" dirty="0"/>
              <a:t>Examples</a:t>
            </a:r>
            <a:r>
              <a:rPr lang="en-US" dirty="0"/>
              <a:t>:</a:t>
            </a:r>
          </a:p>
          <a:p>
            <a:pPr lvl="1" algn="just"/>
            <a:r>
              <a:rPr lang="en-US" b="1" dirty="0">
                <a:hlinkClick r:id="rId2"/>
              </a:rPr>
              <a:t>Purity</a:t>
            </a:r>
            <a:r>
              <a:rPr lang="en-US" dirty="0"/>
              <a:t>: Measures the extent to which clusters contain data points from a single class.</a:t>
            </a:r>
          </a:p>
          <a:p>
            <a:pPr lvl="1" algn="just"/>
            <a:r>
              <a:rPr lang="en-US" b="1" dirty="0">
                <a:hlinkClick r:id="rId3"/>
              </a:rPr>
              <a:t>Precision</a:t>
            </a:r>
            <a:r>
              <a:rPr lang="en-US" b="1" dirty="0"/>
              <a:t> &amp; </a:t>
            </a:r>
            <a:r>
              <a:rPr lang="en-US" b="1" dirty="0">
                <a:hlinkClick r:id="rId4"/>
              </a:rPr>
              <a:t>Recall</a:t>
            </a:r>
            <a:r>
              <a:rPr lang="en-US" dirty="0"/>
              <a:t>: Assess the accuracy of cluster assignments by measuring the proportion of correctly predicted instances.</a:t>
            </a:r>
          </a:p>
          <a:p>
            <a:pPr lvl="1" algn="just"/>
            <a:r>
              <a:rPr lang="en-US" b="1" dirty="0">
                <a:hlinkClick r:id="rId5"/>
              </a:rPr>
              <a:t>Adjusted Rand Index</a:t>
            </a:r>
            <a:r>
              <a:rPr lang="en-US" dirty="0"/>
              <a:t>: A common metric that measures the similarity between two data </a:t>
            </a:r>
            <a:r>
              <a:rPr lang="en-US" dirty="0" err="1"/>
              <a:t>clusterings</a:t>
            </a:r>
            <a:r>
              <a:rPr lang="en-US" dirty="0"/>
              <a:t>, accounting for chance.</a:t>
            </a:r>
          </a:p>
          <a:p>
            <a:pPr lvl="1" algn="just"/>
            <a:r>
              <a:rPr lang="en-US" b="1" dirty="0">
                <a:hlinkClick r:id="rId6"/>
              </a:rPr>
              <a:t>Normalized Mutual Information</a:t>
            </a:r>
            <a:r>
              <a:rPr lang="en-US" dirty="0"/>
              <a:t>: Measures the mutual information between two </a:t>
            </a:r>
            <a:r>
              <a:rPr lang="en-US" dirty="0" err="1"/>
              <a:t>clusterings</a:t>
            </a:r>
            <a:r>
              <a:rPr lang="en-US" dirty="0"/>
              <a:t>, normalized by the entropy of each clustering</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7</a:t>
            </a:fld>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51579" y="371476"/>
            <a:ext cx="10435621" cy="5761758"/>
          </a:xfrm>
        </p:spPr>
        <p:txBody>
          <a:bodyPr>
            <a:normAutofit/>
          </a:bodyPr>
          <a:lstStyle/>
          <a:p>
            <a:pPr>
              <a:buNone/>
            </a:pPr>
            <a:r>
              <a:rPr lang="en-US" b="1" dirty="0">
                <a:solidFill>
                  <a:srgbClr val="FF0000"/>
                </a:solidFill>
              </a:rPr>
              <a:t>EX:  Adjusted Rand Index (ARI) METRIC EVALUATION</a:t>
            </a:r>
          </a:p>
          <a:p>
            <a:r>
              <a:rPr lang="en-US" dirty="0"/>
              <a:t>The </a:t>
            </a:r>
            <a:r>
              <a:rPr lang="en-US" b="1" dirty="0"/>
              <a:t>Adjusted Rand Index (ARI) </a:t>
            </a:r>
            <a:r>
              <a:rPr lang="en-US" dirty="0"/>
              <a:t>helps us measure how accurate a clustering result is by comparing it to the true labels (ground truth).</a:t>
            </a:r>
          </a:p>
          <a:p>
            <a:r>
              <a:rPr lang="en-US" dirty="0"/>
              <a:t>It checks how well the pairs of points are grouped:</a:t>
            </a:r>
          </a:p>
          <a:p>
            <a:r>
              <a:rPr lang="en-US" dirty="0"/>
              <a:t>Are the same pairs together in both the real and predicted clusters?</a:t>
            </a:r>
          </a:p>
          <a:p>
            <a:r>
              <a:rPr lang="en-US" dirty="0"/>
              <a:t>Are different pairs also kept apart correctly?</a:t>
            </a:r>
          </a:p>
          <a:p>
            <a:r>
              <a:rPr lang="en-US" dirty="0"/>
              <a:t>The score ranges from -1 to 1:</a:t>
            </a:r>
          </a:p>
          <a:p>
            <a:r>
              <a:rPr lang="en-US" dirty="0"/>
              <a:t>1 means perfect match - the clustering is exactly right.</a:t>
            </a:r>
          </a:p>
          <a:p>
            <a:r>
              <a:rPr lang="en-US" dirty="0"/>
              <a:t>0 means random guess - no better than chance.</a:t>
            </a:r>
          </a:p>
          <a:p>
            <a:r>
              <a:rPr lang="en-US" dirty="0"/>
              <a:t>Below 0 means worse than random - very poor clustering.</a:t>
            </a:r>
          </a:p>
          <a:p>
            <a:r>
              <a:rPr lang="en-US" b="1" dirty="0"/>
              <a:t>Adjusted Rand Index (ARI) is calculated as:</a:t>
            </a:r>
            <a:endParaRPr lang="en-US" dirty="0"/>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8</a:t>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4191C-BDB8-1C79-5CA8-B3774EA97209}"/>
              </a:ext>
            </a:extLst>
          </p:cNvPr>
          <p:cNvSpPr>
            <a:spLocks noGrp="1"/>
          </p:cNvSpPr>
          <p:nvPr>
            <p:ph type="title"/>
          </p:nvPr>
        </p:nvSpPr>
        <p:spPr/>
        <p:txBody>
          <a:bodyPr/>
          <a:lstStyle/>
          <a:p>
            <a:endParaRPr lang="en-IN"/>
          </a:p>
        </p:txBody>
      </p:sp>
      <p:sp>
        <p:nvSpPr>
          <p:cNvPr id="4" name="Slide Number Placeholder 3">
            <a:extLst>
              <a:ext uri="{FF2B5EF4-FFF2-40B4-BE49-F238E27FC236}">
                <a16:creationId xmlns:a16="http://schemas.microsoft.com/office/drawing/2014/main" id="{51E2088C-2FCB-27CD-5F9E-C681B96CA3F7}"/>
              </a:ext>
            </a:extLst>
          </p:cNvPr>
          <p:cNvSpPr>
            <a:spLocks noGrp="1"/>
          </p:cNvSpPr>
          <p:nvPr>
            <p:ph type="sldNum" sz="quarter" idx="12"/>
          </p:nvPr>
        </p:nvSpPr>
        <p:spPr/>
        <p:txBody>
          <a:bodyPr/>
          <a:lstStyle/>
          <a:p>
            <a:fld id="{CBABCCC1-BF11-4F37-963E-1BCD5B23FD72}" type="slidenum">
              <a:rPr lang="en-IN" smtClean="0"/>
              <a:pPr/>
              <a:t>9</a:t>
            </a:fld>
            <a:endParaRPr lang="en-IN"/>
          </a:p>
        </p:txBody>
      </p:sp>
      <p:pic>
        <p:nvPicPr>
          <p:cNvPr id="2051" name="Picture 3"/>
          <p:cNvPicPr>
            <a:picLocks noGrp="1" noChangeAspect="1" noChangeArrowheads="1"/>
          </p:cNvPicPr>
          <p:nvPr>
            <p:ph idx="1"/>
          </p:nvPr>
        </p:nvPicPr>
        <p:blipFill>
          <a:blip r:embed="rId2" cstate="print"/>
          <a:srcRect/>
          <a:stretch>
            <a:fillRect/>
          </a:stretch>
        </p:blipFill>
        <p:spPr bwMode="auto">
          <a:xfrm>
            <a:off x="1562100" y="881834"/>
            <a:ext cx="9620250" cy="5839641"/>
          </a:xfrm>
          <a:prstGeom prst="rect">
            <a:avLst/>
          </a:prstGeom>
          <a:noFill/>
          <a:ln w="9525">
            <a:noFill/>
            <a:miter lim="800000"/>
            <a:headEnd/>
            <a:tailEnd/>
          </a:ln>
        </p:spPr>
      </p:pic>
    </p:spTree>
    <p:extLst>
      <p:ext uri="{BB962C8B-B14F-4D97-AF65-F5344CB8AC3E}">
        <p14:creationId xmlns:p14="http://schemas.microsoft.com/office/powerpoint/2010/main" val="3858140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BE7B4-556A-C4AA-F40E-A99FE29E043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8604977-52CA-D432-6EC0-BB6B7483477D}"/>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20752E40-118A-0E1C-06A9-99E122FC44A7}"/>
              </a:ext>
            </a:extLst>
          </p:cNvPr>
          <p:cNvSpPr>
            <a:spLocks noGrp="1"/>
          </p:cNvSpPr>
          <p:nvPr>
            <p:ph type="sldNum" sz="quarter" idx="12"/>
          </p:nvPr>
        </p:nvSpPr>
        <p:spPr/>
        <p:txBody>
          <a:bodyPr/>
          <a:lstStyle/>
          <a:p>
            <a:fld id="{CBABCCC1-BF11-4F37-963E-1BCD5B23FD72}" type="slidenum">
              <a:rPr lang="en-IN" smtClean="0"/>
              <a:pPr/>
              <a:t>10</a:t>
            </a:fld>
            <a:endParaRPr lang="en-IN"/>
          </a:p>
        </p:txBody>
      </p:sp>
      <p:pic>
        <p:nvPicPr>
          <p:cNvPr id="6" name="Picture 5">
            <a:extLst>
              <a:ext uri="{FF2B5EF4-FFF2-40B4-BE49-F238E27FC236}">
                <a16:creationId xmlns:a16="http://schemas.microsoft.com/office/drawing/2014/main" id="{CCB46C50-DD23-0EAD-AE2B-68CA5E6C460E}"/>
              </a:ext>
            </a:extLst>
          </p:cNvPr>
          <p:cNvPicPr>
            <a:picLocks noChangeAspect="1"/>
          </p:cNvPicPr>
          <p:nvPr/>
        </p:nvPicPr>
        <p:blipFill>
          <a:blip r:embed="rId2"/>
          <a:stretch>
            <a:fillRect/>
          </a:stretch>
        </p:blipFill>
        <p:spPr>
          <a:xfrm>
            <a:off x="404018" y="513943"/>
            <a:ext cx="11383964" cy="5830114"/>
          </a:xfrm>
          <a:prstGeom prst="rect">
            <a:avLst/>
          </a:prstGeom>
        </p:spPr>
      </p:pic>
    </p:spTree>
    <p:extLst>
      <p:ext uri="{BB962C8B-B14F-4D97-AF65-F5344CB8AC3E}">
        <p14:creationId xmlns:p14="http://schemas.microsoft.com/office/powerpoint/2010/main" val="910095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Mutual Information (MI)</a:t>
            </a:r>
            <a:br>
              <a:rPr lang="en-US" b="1" dirty="0"/>
            </a:br>
            <a:endParaRPr lang="en-US" dirty="0"/>
          </a:p>
        </p:txBody>
      </p:sp>
      <p:sp>
        <p:nvSpPr>
          <p:cNvPr id="3" name="Content Placeholder 2"/>
          <p:cNvSpPr>
            <a:spLocks noGrp="1"/>
          </p:cNvSpPr>
          <p:nvPr>
            <p:ph idx="1"/>
          </p:nvPr>
        </p:nvSpPr>
        <p:spPr>
          <a:xfrm>
            <a:off x="1451579" y="1842654"/>
            <a:ext cx="9603275" cy="3214255"/>
          </a:xfrm>
        </p:spPr>
        <p:txBody>
          <a:bodyPr>
            <a:normAutofit lnSpcReduction="10000"/>
          </a:bodyPr>
          <a:lstStyle/>
          <a:p>
            <a:pPr algn="just"/>
            <a:r>
              <a:rPr lang="en-US" b="1" dirty="0"/>
              <a:t>Mutual Information</a:t>
            </a:r>
            <a:r>
              <a:rPr lang="en-US" dirty="0"/>
              <a:t> measures how much two variables are related or connected. In clustering, it </a:t>
            </a:r>
            <a:r>
              <a:rPr lang="en-US" b="1" dirty="0"/>
              <a:t>compares how much the true cluster labels match with the predicted labels</a:t>
            </a:r>
            <a:r>
              <a:rPr lang="en-US" dirty="0"/>
              <a:t>. It shows how much knowing about one variable helps us predict the other. The more agreement there is, the higher the score.</a:t>
            </a:r>
          </a:p>
          <a:p>
            <a:pPr algn="just"/>
            <a:r>
              <a:rPr lang="en-US" dirty="0"/>
              <a:t>Higher values mean better agreement between the clusters.</a:t>
            </a:r>
          </a:p>
          <a:p>
            <a:pPr algn="just"/>
            <a:r>
              <a:rPr lang="en-US" dirty="0"/>
              <a:t>Zero means no agreement at all. </a:t>
            </a:r>
            <a:r>
              <a:rPr lang="en-US" b="1" dirty="0"/>
              <a:t>MI between true labels Y and predicted labels Z is calculated as:</a:t>
            </a:r>
            <a:endParaRPr lang="en-US" dirty="0"/>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11</a:t>
            </a:fld>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12</a:t>
            </a:fld>
            <a:endParaRPr lang="en-IN"/>
          </a:p>
        </p:txBody>
      </p:sp>
      <p:pic>
        <p:nvPicPr>
          <p:cNvPr id="4098" name="Picture 2"/>
          <p:cNvPicPr>
            <a:picLocks noChangeAspect="1" noChangeArrowheads="1"/>
          </p:cNvPicPr>
          <p:nvPr/>
        </p:nvPicPr>
        <p:blipFill>
          <a:blip r:embed="rId2" cstate="print"/>
          <a:srcRect/>
          <a:stretch>
            <a:fillRect/>
          </a:stretch>
        </p:blipFill>
        <p:spPr bwMode="auto">
          <a:xfrm>
            <a:off x="1108365" y="1966913"/>
            <a:ext cx="10335490" cy="4087523"/>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Dimensionality Reduction</a:t>
            </a:r>
            <a:br>
              <a:rPr lang="en-US" b="1" dirty="0"/>
            </a:br>
            <a:endParaRPr lang="en-US" dirty="0"/>
          </a:p>
        </p:txBody>
      </p:sp>
      <p:sp>
        <p:nvSpPr>
          <p:cNvPr id="3" name="Content Placeholder 2"/>
          <p:cNvSpPr>
            <a:spLocks noGrp="1"/>
          </p:cNvSpPr>
          <p:nvPr>
            <p:ph idx="1"/>
          </p:nvPr>
        </p:nvSpPr>
        <p:spPr>
          <a:xfrm>
            <a:off x="1451579" y="2015732"/>
            <a:ext cx="9603275" cy="4204959"/>
          </a:xfrm>
        </p:spPr>
        <p:txBody>
          <a:bodyPr>
            <a:normAutofit fontScale="77500" lnSpcReduction="20000"/>
          </a:bodyPr>
          <a:lstStyle/>
          <a:p>
            <a:pPr algn="just">
              <a:buNone/>
            </a:pPr>
            <a:r>
              <a:rPr lang="en-US" dirty="0"/>
              <a:t>   When working with machine learning models, datasets with too many features can cause issues like slow computation and </a:t>
            </a:r>
            <a:r>
              <a:rPr lang="en-US" dirty="0" err="1"/>
              <a:t>overfitting</a:t>
            </a:r>
            <a:r>
              <a:rPr lang="en-US" dirty="0"/>
              <a:t>. Dimensionality reduction helps to reduce the number of features while retaining key information. It converts high-dimensional data into a lower-dimensional space while preserving important details. Dimensionality reduction technique can be defined as, "It is a way of converting the higher dimensions dataset into lesser dimensions dataset ensuring that it provides similar information.“</a:t>
            </a:r>
          </a:p>
          <a:p>
            <a:pPr algn="just"/>
            <a:r>
              <a:rPr lang="en-US" dirty="0"/>
              <a:t>By reducing the dimensions of the features, the space required to store the dataset also gets reduced.</a:t>
            </a:r>
          </a:p>
          <a:p>
            <a:pPr algn="just">
              <a:buNone/>
            </a:pPr>
            <a:r>
              <a:rPr lang="en-US" dirty="0"/>
              <a:t>• Less Computation training time is required for reduced dimensions of features.</a:t>
            </a:r>
          </a:p>
          <a:p>
            <a:pPr algn="just">
              <a:buNone/>
            </a:pPr>
            <a:r>
              <a:rPr lang="en-US" dirty="0"/>
              <a:t>• Reduced dimensions of features of the dataset help in visualizing the data quickly.</a:t>
            </a:r>
          </a:p>
          <a:p>
            <a:pPr algn="just">
              <a:buNone/>
            </a:pPr>
            <a:r>
              <a:rPr lang="en-US" dirty="0"/>
              <a:t>• It removes the redundant features (if present).</a:t>
            </a:r>
          </a:p>
        </p:txBody>
      </p:sp>
      <p:sp>
        <p:nvSpPr>
          <p:cNvPr id="4" name="Slide Number Placeholder 3"/>
          <p:cNvSpPr>
            <a:spLocks noGrp="1"/>
          </p:cNvSpPr>
          <p:nvPr>
            <p:ph type="sldNum" sz="quarter" idx="12"/>
          </p:nvPr>
        </p:nvSpPr>
        <p:spPr/>
        <p:txBody>
          <a:bodyPr/>
          <a:lstStyle/>
          <a:p>
            <a:fld id="{CBABCCC1-BF11-4F37-963E-1BCD5B23FD72}" type="slidenum">
              <a:rPr lang="en-IN" smtClean="0"/>
              <a:pPr/>
              <a:t>13</a:t>
            </a:fld>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ways of Dimensionality Reduction</a:t>
            </a:r>
          </a:p>
        </p:txBody>
      </p:sp>
      <p:sp>
        <p:nvSpPr>
          <p:cNvPr id="3" name="Content Placeholder 2"/>
          <p:cNvSpPr>
            <a:spLocks noGrp="1"/>
          </p:cNvSpPr>
          <p:nvPr>
            <p:ph idx="1"/>
          </p:nvPr>
        </p:nvSpPr>
        <p:spPr>
          <a:xfrm>
            <a:off x="1451579" y="2015732"/>
            <a:ext cx="9603275" cy="4052559"/>
          </a:xfrm>
        </p:spPr>
        <p:txBody>
          <a:bodyPr/>
          <a:lstStyle/>
          <a:p>
            <a:r>
              <a:rPr lang="en-US" dirty="0"/>
              <a:t>1. Feature Selection</a:t>
            </a:r>
          </a:p>
          <a:p>
            <a:r>
              <a:rPr lang="en-US" dirty="0"/>
              <a:t> 2. Feature Extraction</a:t>
            </a:r>
          </a:p>
          <a:p>
            <a:pPr algn="just">
              <a:buNone/>
            </a:pPr>
            <a:r>
              <a:rPr lang="en-US" dirty="0"/>
              <a:t>   1. </a:t>
            </a:r>
            <a:r>
              <a:rPr lang="en-US" dirty="0">
                <a:solidFill>
                  <a:srgbClr val="FF0000"/>
                </a:solidFill>
              </a:rPr>
              <a:t>Feature Selection</a:t>
            </a:r>
            <a:r>
              <a:rPr lang="en-US" dirty="0"/>
              <a:t>: Feature selection is the process of selecting the subset of the relevant features and leaving out the irrelevant features present in a dataset to build a model of high accuracy. In other words, it is a way of selecting the optimal features from the input dataset.</a:t>
            </a:r>
          </a:p>
        </p:txBody>
      </p:sp>
      <p:sp>
        <p:nvSpPr>
          <p:cNvPr id="4" name="Slide Number Placeholder 3"/>
          <p:cNvSpPr>
            <a:spLocks noGrp="1"/>
          </p:cNvSpPr>
          <p:nvPr>
            <p:ph type="sldNum" sz="quarter" idx="12"/>
          </p:nvPr>
        </p:nvSpPr>
        <p:spPr/>
        <p:txBody>
          <a:bodyPr/>
          <a:lstStyle/>
          <a:p>
            <a:fld id="{CBABCCC1-BF11-4F37-963E-1BCD5B23FD72}" type="slidenum">
              <a:rPr lang="en-IN" smtClean="0"/>
              <a:pPr/>
              <a:t>14</a:t>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Selection – 3 Methods</a:t>
            </a:r>
            <a:br>
              <a:rPr lang="en-US" dirty="0"/>
            </a:br>
            <a:endParaRPr lang="en-US" dirty="0"/>
          </a:p>
        </p:txBody>
      </p:sp>
      <p:sp>
        <p:nvSpPr>
          <p:cNvPr id="3" name="Content Placeholder 2"/>
          <p:cNvSpPr>
            <a:spLocks noGrp="1"/>
          </p:cNvSpPr>
          <p:nvPr>
            <p:ph idx="1"/>
          </p:nvPr>
        </p:nvSpPr>
        <p:spPr>
          <a:xfrm>
            <a:off x="1451579" y="1856509"/>
            <a:ext cx="9603275" cy="4294909"/>
          </a:xfrm>
        </p:spPr>
        <p:txBody>
          <a:bodyPr>
            <a:normAutofit fontScale="62500" lnSpcReduction="20000"/>
          </a:bodyPr>
          <a:lstStyle/>
          <a:p>
            <a:pPr>
              <a:buNone/>
            </a:pPr>
            <a:r>
              <a:rPr lang="en-US" sz="2200" dirty="0">
                <a:solidFill>
                  <a:srgbClr val="FF0000"/>
                </a:solidFill>
              </a:rPr>
              <a:t>• 1.Filter Method</a:t>
            </a:r>
          </a:p>
          <a:p>
            <a:r>
              <a:rPr lang="en-US" dirty="0"/>
              <a:t>• Correlation</a:t>
            </a:r>
          </a:p>
          <a:p>
            <a:r>
              <a:rPr lang="en-US" dirty="0"/>
              <a:t>• Chi-Square Test</a:t>
            </a:r>
          </a:p>
          <a:p>
            <a:r>
              <a:rPr lang="en-US" dirty="0"/>
              <a:t>• ANOVA</a:t>
            </a:r>
          </a:p>
          <a:p>
            <a:r>
              <a:rPr lang="en-US" dirty="0"/>
              <a:t>• Information Gain, etc.</a:t>
            </a:r>
          </a:p>
          <a:p>
            <a:pPr>
              <a:buNone/>
            </a:pPr>
            <a:r>
              <a:rPr lang="en-US" sz="2200" dirty="0">
                <a:solidFill>
                  <a:srgbClr val="FF0000"/>
                </a:solidFill>
              </a:rPr>
              <a:t>• 2.Wrapper Method</a:t>
            </a:r>
          </a:p>
          <a:p>
            <a:r>
              <a:rPr lang="en-US" dirty="0"/>
              <a:t>• Forward Selection</a:t>
            </a:r>
          </a:p>
          <a:p>
            <a:r>
              <a:rPr lang="en-US" dirty="0"/>
              <a:t>• Backward Selection</a:t>
            </a:r>
          </a:p>
          <a:p>
            <a:r>
              <a:rPr lang="en-US" dirty="0"/>
              <a:t>• Bi-directional Elimination</a:t>
            </a:r>
          </a:p>
          <a:p>
            <a:pPr>
              <a:buNone/>
            </a:pPr>
            <a:r>
              <a:rPr lang="en-US" dirty="0"/>
              <a:t> • </a:t>
            </a:r>
            <a:r>
              <a:rPr lang="en-US" sz="2200" dirty="0">
                <a:solidFill>
                  <a:srgbClr val="FF0000"/>
                </a:solidFill>
              </a:rPr>
              <a:t>3.Embedded Method</a:t>
            </a:r>
            <a:endParaRPr lang="en-US" dirty="0">
              <a:solidFill>
                <a:srgbClr val="FF0000"/>
              </a:solidFill>
            </a:endParaRPr>
          </a:p>
          <a:p>
            <a:r>
              <a:rPr lang="en-US" dirty="0"/>
              <a:t>• LASSO</a:t>
            </a:r>
          </a:p>
          <a:p>
            <a:r>
              <a:rPr lang="en-US" dirty="0"/>
              <a:t>• Elastic Net</a:t>
            </a:r>
          </a:p>
          <a:p>
            <a:r>
              <a:rPr lang="en-US" dirty="0"/>
              <a:t>• Ridge Regression, etc.</a:t>
            </a:r>
          </a:p>
        </p:txBody>
      </p:sp>
      <p:sp>
        <p:nvSpPr>
          <p:cNvPr id="4" name="Slide Number Placeholder 3"/>
          <p:cNvSpPr>
            <a:spLocks noGrp="1"/>
          </p:cNvSpPr>
          <p:nvPr>
            <p:ph type="sldNum" sz="quarter" idx="12"/>
          </p:nvPr>
        </p:nvSpPr>
        <p:spPr/>
        <p:txBody>
          <a:bodyPr/>
          <a:lstStyle/>
          <a:p>
            <a:fld id="{CBABCCC1-BF11-4F37-963E-1BCD5B23FD72}" type="slidenum">
              <a:rPr lang="en-IN" smtClean="0"/>
              <a:pPr/>
              <a:t>15</a:t>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Content Placeholder 2"/>
          <p:cNvSpPr>
            <a:spLocks noGrp="1"/>
          </p:cNvSpPr>
          <p:nvPr>
            <p:ph idx="1"/>
          </p:nvPr>
        </p:nvSpPr>
        <p:spPr>
          <a:xfrm>
            <a:off x="1451579" y="2015732"/>
            <a:ext cx="9603275" cy="4052559"/>
          </a:xfrm>
        </p:spPr>
        <p:txBody>
          <a:bodyPr>
            <a:normAutofit fontScale="92500" lnSpcReduction="20000"/>
          </a:bodyPr>
          <a:lstStyle/>
          <a:p>
            <a:pPr algn="just">
              <a:buNone/>
            </a:pPr>
            <a:r>
              <a:rPr lang="en-US" dirty="0"/>
              <a:t>2. </a:t>
            </a:r>
            <a:r>
              <a:rPr lang="en-US" dirty="0">
                <a:solidFill>
                  <a:srgbClr val="FF0000"/>
                </a:solidFill>
              </a:rPr>
              <a:t>Feature Extraction</a:t>
            </a:r>
            <a:r>
              <a:rPr lang="en-US" dirty="0"/>
              <a:t>: Feature extraction is the process of transforming the space </a:t>
            </a:r>
            <a:r>
              <a:rPr lang="en-US" dirty="0" err="1"/>
              <a:t>ontaining</a:t>
            </a:r>
            <a:r>
              <a:rPr lang="en-US" dirty="0"/>
              <a:t> many dimensions into space with fewer dimensions.</a:t>
            </a:r>
          </a:p>
          <a:p>
            <a:pPr algn="just">
              <a:buNone/>
            </a:pPr>
            <a:r>
              <a:rPr lang="en-US" dirty="0"/>
              <a:t>• This approach is useful when we want to keep the whole information but use fewer resources while processing the information</a:t>
            </a:r>
          </a:p>
          <a:p>
            <a:pPr algn="just">
              <a:buNone/>
            </a:pPr>
            <a:r>
              <a:rPr lang="en-US" dirty="0"/>
              <a:t>Some common feature extraction techniques are:</a:t>
            </a:r>
          </a:p>
          <a:p>
            <a:pPr algn="just">
              <a:buNone/>
            </a:pPr>
            <a:r>
              <a:rPr lang="en-US" dirty="0"/>
              <a:t>1.Principal Component Analysis (PCA)</a:t>
            </a:r>
          </a:p>
          <a:p>
            <a:pPr algn="just">
              <a:buNone/>
            </a:pPr>
            <a:r>
              <a:rPr lang="en-US" dirty="0"/>
              <a:t>2.Linear </a:t>
            </a:r>
            <a:r>
              <a:rPr lang="en-US" dirty="0" err="1"/>
              <a:t>Discriminant</a:t>
            </a:r>
            <a:r>
              <a:rPr lang="en-US" dirty="0"/>
              <a:t> Analysis (LDA)</a:t>
            </a:r>
          </a:p>
          <a:p>
            <a:pPr algn="just">
              <a:buNone/>
            </a:pPr>
            <a:r>
              <a:rPr lang="en-US" dirty="0"/>
              <a:t>3.Kernel PCA</a:t>
            </a:r>
          </a:p>
          <a:p>
            <a:pPr algn="just">
              <a:buNone/>
            </a:pPr>
            <a:r>
              <a:rPr lang="en-US" dirty="0"/>
              <a:t>4.Quadratic </a:t>
            </a:r>
            <a:r>
              <a:rPr lang="en-US" dirty="0" err="1"/>
              <a:t>Discriminant</a:t>
            </a:r>
            <a:r>
              <a:rPr lang="en-US" dirty="0"/>
              <a:t> Analysis (QDA)etc.</a:t>
            </a:r>
          </a:p>
        </p:txBody>
      </p:sp>
      <p:sp>
        <p:nvSpPr>
          <p:cNvPr id="4" name="Slide Number Placeholder 3"/>
          <p:cNvSpPr>
            <a:spLocks noGrp="1"/>
          </p:cNvSpPr>
          <p:nvPr>
            <p:ph type="sldNum" sz="quarter" idx="12"/>
          </p:nvPr>
        </p:nvSpPr>
        <p:spPr/>
        <p:txBody>
          <a:bodyPr/>
          <a:lstStyle/>
          <a:p>
            <a:fld id="{CBABCCC1-BF11-4F37-963E-1BCD5B23FD72}" type="slidenum">
              <a:rPr lang="en-IN" smtClean="0"/>
              <a:pPr/>
              <a:t>16</a:t>
            </a:fld>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
            </a:r>
            <a:r>
              <a:rPr lang="en-US" b="1" dirty="0"/>
              <a:t>imensionality Reduction:</a:t>
            </a:r>
            <a:r>
              <a:rPr lang="en-US" dirty="0"/>
              <a:t> PCA</a:t>
            </a:r>
            <a:endParaRPr lang="en-US" b="1" dirty="0"/>
          </a:p>
        </p:txBody>
      </p:sp>
      <p:sp>
        <p:nvSpPr>
          <p:cNvPr id="3" name="Content Placeholder 2"/>
          <p:cNvSpPr>
            <a:spLocks noGrp="1"/>
          </p:cNvSpPr>
          <p:nvPr>
            <p:ph idx="1"/>
          </p:nvPr>
        </p:nvSpPr>
        <p:spPr>
          <a:xfrm>
            <a:off x="1451579" y="2015732"/>
            <a:ext cx="9603275" cy="4204959"/>
          </a:xfrm>
        </p:spPr>
        <p:txBody>
          <a:bodyPr>
            <a:noAutofit/>
          </a:bodyPr>
          <a:lstStyle/>
          <a:p>
            <a:pPr algn="just"/>
            <a:r>
              <a:rPr lang="en-US" sz="1800" b="1" dirty="0"/>
              <a:t>PCA (Principal Component Analysis)</a:t>
            </a:r>
            <a:r>
              <a:rPr lang="en-US" sz="1800" dirty="0"/>
              <a:t> is a</a:t>
            </a:r>
            <a:r>
              <a:rPr lang="en-US" sz="1800" dirty="0">
                <a:hlinkClick r:id="rId2"/>
              </a:rPr>
              <a:t> </a:t>
            </a:r>
            <a:r>
              <a:rPr lang="en-US" sz="1800" b="1" dirty="0">
                <a:hlinkClick r:id="rId2"/>
              </a:rPr>
              <a:t>dimensionality reduction</a:t>
            </a:r>
            <a:r>
              <a:rPr lang="en-US" sz="1800" dirty="0">
                <a:hlinkClick r:id="rId2"/>
              </a:rPr>
              <a:t> </a:t>
            </a:r>
            <a:r>
              <a:rPr lang="en-US" sz="1800" dirty="0"/>
              <a:t>technique used in data analysis and machine learning. </a:t>
            </a:r>
            <a:r>
              <a:rPr lang="en-US" sz="1800" b="1" dirty="0"/>
              <a:t>It helps you to reduce the number of features in a dataset while keeping the most important information.</a:t>
            </a:r>
            <a:r>
              <a:rPr lang="en-US" sz="1800" dirty="0"/>
              <a:t> It changes your original features into new features these new features don’t overlap with each other and the first few keep most of the important differences found in the original data.</a:t>
            </a:r>
          </a:p>
          <a:p>
            <a:pPr algn="just"/>
            <a:r>
              <a:rPr lang="en-US" sz="1800" dirty="0"/>
              <a:t>PCA is commonly used for data preprocessing for use with machine learning algorithms. It helps to remove redundancy, improve computational efficiency and make data easier to visualize and analyze especially when dealing with high-dimensional data</a:t>
            </a:r>
            <a:r>
              <a:rPr lang="en-US" sz="1600" dirty="0"/>
              <a:t>. </a:t>
            </a:r>
          </a:p>
          <a:p>
            <a:pPr algn="just"/>
            <a:r>
              <a:rPr lang="en-US" sz="1800" dirty="0"/>
              <a:t>It transforms a </a:t>
            </a:r>
            <a:r>
              <a:rPr lang="en-US" sz="1800" dirty="0">
                <a:hlinkClick r:id="rId3"/>
              </a:rPr>
              <a:t>data set</a:t>
            </a:r>
            <a:r>
              <a:rPr lang="en-US" sz="1800" dirty="0"/>
              <a:t> into a set of orthogonal components — called principal components — which capture the maximum variance in the data. PCA simplifies complex data sets while preserving their most important structures.</a:t>
            </a:r>
          </a:p>
        </p:txBody>
      </p:sp>
      <p:sp>
        <p:nvSpPr>
          <p:cNvPr id="4" name="Slide Number Placeholder 3"/>
          <p:cNvSpPr>
            <a:spLocks noGrp="1"/>
          </p:cNvSpPr>
          <p:nvPr>
            <p:ph type="sldNum" sz="quarter" idx="12"/>
          </p:nvPr>
        </p:nvSpPr>
        <p:spPr/>
        <p:txBody>
          <a:bodyPr/>
          <a:lstStyle/>
          <a:p>
            <a:fld id="{CBABCCC1-BF11-4F37-963E-1BCD5B23FD72}" type="slidenum">
              <a:rPr lang="en-IN" smtClean="0"/>
              <a:pPr/>
              <a:t>17</a:t>
            </a:fld>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3143" y="735247"/>
            <a:ext cx="9603275" cy="1049235"/>
          </a:xfrm>
        </p:spPr>
        <p:txBody>
          <a:bodyPr/>
          <a:lstStyle/>
          <a:p>
            <a:r>
              <a:rPr lang="en-US" b="1" dirty="0"/>
              <a:t>What Are Principal Components?</a:t>
            </a:r>
          </a:p>
        </p:txBody>
      </p:sp>
      <p:sp>
        <p:nvSpPr>
          <p:cNvPr id="4" name="Slide Number Placeholder 3"/>
          <p:cNvSpPr>
            <a:spLocks noGrp="1"/>
          </p:cNvSpPr>
          <p:nvPr>
            <p:ph type="sldNum" sz="quarter" idx="12"/>
          </p:nvPr>
        </p:nvSpPr>
        <p:spPr/>
        <p:txBody>
          <a:bodyPr/>
          <a:lstStyle/>
          <a:p>
            <a:fld id="{CBABCCC1-BF11-4F37-963E-1BCD5B23FD72}" type="slidenum">
              <a:rPr lang="en-IN" smtClean="0"/>
              <a:pPr/>
              <a:t>18</a:t>
            </a:fld>
            <a:endParaRPr lang="en-IN"/>
          </a:p>
        </p:txBody>
      </p:sp>
      <p:sp>
        <p:nvSpPr>
          <p:cNvPr id="6" name="TextBox 5"/>
          <p:cNvSpPr txBox="1"/>
          <p:nvPr/>
        </p:nvSpPr>
        <p:spPr>
          <a:xfrm>
            <a:off x="1343891" y="1814945"/>
            <a:ext cx="10487891" cy="5170646"/>
          </a:xfrm>
          <a:prstGeom prst="rect">
            <a:avLst/>
          </a:prstGeom>
          <a:noFill/>
        </p:spPr>
        <p:txBody>
          <a:bodyPr wrap="square" rtlCol="0">
            <a:spAutoFit/>
          </a:bodyPr>
          <a:lstStyle/>
          <a:p>
            <a:pPr algn="just"/>
            <a:r>
              <a:rPr lang="en-US" sz="2400" dirty="0"/>
              <a:t>Principal components are new variables that are constructed as linear combinations or mixtures of the initial variables. These combinations are done in such a way that the new variables (i.e., principal components) are uncorrelated and most of the information within the initial variables is squeezed or compressed into the first components. So, the idea is 10-dimensional data gives you 10 principal components, but PCA tries to put maximum possible information in the first component, then maximum remaining information in the second and so on, until having something like shown in the screen plot below.</a:t>
            </a:r>
          </a:p>
          <a:p>
            <a:pPr algn="just"/>
            <a:r>
              <a:rPr lang="en-US" sz="2400" dirty="0"/>
              <a:t>principal components represent the directions of the data that explain a maximal amount of variance, that is to say, the lines that capture most information of the data. The relationship between variance and information here, is that, the larger the variance carried by a line, the larger the dispersion of the data points along it, and the larger the dispersion along a line, the more information it has.</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CONTD..</a:t>
            </a:r>
          </a:p>
        </p:txBody>
      </p:sp>
      <p:sp>
        <p:nvSpPr>
          <p:cNvPr id="5" name="Content Placeholder 4"/>
          <p:cNvSpPr>
            <a:spLocks noGrp="1"/>
          </p:cNvSpPr>
          <p:nvPr>
            <p:ph idx="1"/>
          </p:nvPr>
        </p:nvSpPr>
        <p:spPr>
          <a:xfrm>
            <a:off x="1011383" y="1814945"/>
            <a:ext cx="10377054" cy="4322619"/>
          </a:xfrm>
        </p:spPr>
        <p:txBody>
          <a:bodyPr>
            <a:normAutofit/>
          </a:bodyPr>
          <a:lstStyle/>
          <a:p>
            <a:endParaRPr lang="en-US" dirty="0"/>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19</a:t>
            </a:fld>
            <a:endParaRPr lang="en-IN"/>
          </a:p>
        </p:txBody>
      </p:sp>
      <p:pic>
        <p:nvPicPr>
          <p:cNvPr id="5122" name="Picture 2"/>
          <p:cNvPicPr>
            <a:picLocks noChangeAspect="1" noChangeArrowheads="1"/>
          </p:cNvPicPr>
          <p:nvPr/>
        </p:nvPicPr>
        <p:blipFill>
          <a:blip r:embed="rId2" cstate="print"/>
          <a:srcRect/>
          <a:stretch>
            <a:fillRect/>
          </a:stretch>
        </p:blipFill>
        <p:spPr bwMode="auto">
          <a:xfrm>
            <a:off x="1440873" y="1904999"/>
            <a:ext cx="9698182" cy="4218709"/>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5875" y="0"/>
            <a:ext cx="10382250" cy="809625"/>
          </a:xfrm>
        </p:spPr>
        <p:txBody>
          <a:bodyPr>
            <a:normAutofit fontScale="90000"/>
          </a:bodyPr>
          <a:lstStyle/>
          <a:p>
            <a:r>
              <a:rPr lang="en-US" b="1" dirty="0"/>
              <a:t>How Principal Component Analysis Works: 5 Steps</a:t>
            </a:r>
          </a:p>
        </p:txBody>
      </p:sp>
      <p:sp>
        <p:nvSpPr>
          <p:cNvPr id="3" name="Content Placeholder 2"/>
          <p:cNvSpPr>
            <a:spLocks noGrp="1"/>
          </p:cNvSpPr>
          <p:nvPr>
            <p:ph idx="1"/>
          </p:nvPr>
        </p:nvSpPr>
        <p:spPr>
          <a:xfrm>
            <a:off x="523874" y="1022638"/>
            <a:ext cx="11306175" cy="5035262"/>
          </a:xfrm>
        </p:spPr>
        <p:txBody>
          <a:bodyPr>
            <a:normAutofit fontScale="77500" lnSpcReduction="20000"/>
          </a:bodyPr>
          <a:lstStyle/>
          <a:p>
            <a:pPr algn="just">
              <a:lnSpc>
                <a:spcPct val="170000"/>
              </a:lnSpc>
            </a:pPr>
            <a:r>
              <a:rPr lang="en-US" dirty="0"/>
              <a:t>The aim of this step is to standardize the range of the continuous initial variables so that each one of them contributes equally to the analysis.</a:t>
            </a:r>
          </a:p>
          <a:p>
            <a:pPr algn="just">
              <a:lnSpc>
                <a:spcPct val="170000"/>
              </a:lnSpc>
            </a:pPr>
            <a:r>
              <a:rPr lang="en-US" dirty="0"/>
              <a:t>More specifically, the reason why it is critical to perform standardization prior to PCA, if there are large differences between the ranges of initial variables, those variables with larger ranges will dominate over those with small ranges (for example, a variable that ranges between 0 and 100 will dominate over a variable that ranges between 0 and 1), which will lead to biased results. So, transforming the data to comparable scales can prevent this problem.</a:t>
            </a:r>
          </a:p>
          <a:p>
            <a:pPr algn="just">
              <a:lnSpc>
                <a:spcPct val="170000"/>
              </a:lnSpc>
            </a:pPr>
            <a:r>
              <a:rPr lang="en-US" dirty="0"/>
              <a:t>Mathematically, this can be done by subtracting the mean and dividing by the standard deviation for each value of each variable.</a:t>
            </a:r>
          </a:p>
        </p:txBody>
      </p:sp>
      <p:sp>
        <p:nvSpPr>
          <p:cNvPr id="4" name="Slide Number Placeholder 3"/>
          <p:cNvSpPr>
            <a:spLocks noGrp="1"/>
          </p:cNvSpPr>
          <p:nvPr>
            <p:ph type="sldNum" sz="quarter" idx="12"/>
          </p:nvPr>
        </p:nvSpPr>
        <p:spPr/>
        <p:txBody>
          <a:bodyPr/>
          <a:lstStyle/>
          <a:p>
            <a:fld id="{CBABCCC1-BF11-4F37-963E-1BCD5B23FD72}" type="slidenum">
              <a:rPr lang="en-IN" smtClean="0"/>
              <a:pPr/>
              <a:t>20</a:t>
            </a:fld>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B3DD4-1487-E787-AC99-CC916AF7FE7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1F419F4-E780-BB65-D995-394F9062D465}"/>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10395F09-9BCB-646B-D420-A6A0C6B54977}"/>
              </a:ext>
            </a:extLst>
          </p:cNvPr>
          <p:cNvSpPr>
            <a:spLocks noGrp="1"/>
          </p:cNvSpPr>
          <p:nvPr>
            <p:ph type="sldNum" sz="quarter" idx="12"/>
          </p:nvPr>
        </p:nvSpPr>
        <p:spPr/>
        <p:txBody>
          <a:bodyPr/>
          <a:lstStyle/>
          <a:p>
            <a:fld id="{CBABCCC1-BF11-4F37-963E-1BCD5B23FD72}" type="slidenum">
              <a:rPr lang="en-IN" smtClean="0"/>
              <a:pPr/>
              <a:t>21</a:t>
            </a:fld>
            <a:endParaRPr lang="en-IN"/>
          </a:p>
        </p:txBody>
      </p:sp>
      <p:pic>
        <p:nvPicPr>
          <p:cNvPr id="6146" name="Picture 2"/>
          <p:cNvPicPr>
            <a:picLocks noChangeAspect="1" noChangeArrowheads="1"/>
          </p:cNvPicPr>
          <p:nvPr/>
        </p:nvPicPr>
        <p:blipFill>
          <a:blip r:embed="rId2" cstate="print"/>
          <a:srcRect/>
          <a:stretch>
            <a:fillRect/>
          </a:stretch>
        </p:blipFill>
        <p:spPr bwMode="auto">
          <a:xfrm>
            <a:off x="533400" y="1825625"/>
            <a:ext cx="10677525" cy="3384549"/>
          </a:xfrm>
          <a:prstGeom prst="rect">
            <a:avLst/>
          </a:prstGeom>
          <a:noFill/>
          <a:ln w="9525">
            <a:noFill/>
            <a:miter lim="800000"/>
            <a:headEnd/>
            <a:tailEnd/>
          </a:ln>
        </p:spPr>
      </p:pic>
    </p:spTree>
    <p:extLst>
      <p:ext uri="{BB962C8B-B14F-4D97-AF65-F5344CB8AC3E}">
        <p14:creationId xmlns:p14="http://schemas.microsoft.com/office/powerpoint/2010/main" val="30950850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CONTD..</a:t>
            </a:r>
            <a:endParaRPr lang="en-US" dirty="0"/>
          </a:p>
        </p:txBody>
      </p:sp>
      <p:sp>
        <p:nvSpPr>
          <p:cNvPr id="3" name="Content Placeholder 2"/>
          <p:cNvSpPr>
            <a:spLocks noGrp="1"/>
          </p:cNvSpPr>
          <p:nvPr>
            <p:ph idx="1"/>
          </p:nvPr>
        </p:nvSpPr>
        <p:spPr>
          <a:xfrm>
            <a:off x="1451579" y="1773382"/>
            <a:ext cx="9603275" cy="4364182"/>
          </a:xfrm>
        </p:spPr>
        <p:txBody>
          <a:bodyPr>
            <a:normAutofit/>
          </a:bodyPr>
          <a:lstStyle/>
          <a:p>
            <a:r>
              <a:rPr lang="en-US" b="1" dirty="0"/>
              <a:t>Step 2: Covariance Matrix Computation</a:t>
            </a:r>
          </a:p>
          <a:p>
            <a:pPr algn="just"/>
            <a:r>
              <a:rPr lang="en-US" dirty="0"/>
              <a:t>The aim of this step is to understand how the variables of the input data set are varying from the mean with respect to each other. Because sometimes, variables are highly correlated in such a way that they contain redundant information. So, in order to identify these correlations, we compute the </a:t>
            </a:r>
            <a:r>
              <a:rPr lang="en-US" dirty="0">
                <a:hlinkClick r:id="rId2"/>
              </a:rPr>
              <a:t>covariance matrix</a:t>
            </a:r>
            <a:r>
              <a:rPr lang="en-US" dirty="0"/>
              <a:t>.</a:t>
            </a:r>
          </a:p>
          <a:p>
            <a:r>
              <a:rPr lang="en-US" dirty="0"/>
              <a:t>Please note that the covariance matrix contains -</a:t>
            </a:r>
            <a:br>
              <a:rPr lang="en-US" dirty="0"/>
            </a:br>
            <a:r>
              <a:rPr lang="en-US" dirty="0"/>
              <a:t>1. variance of dimensions as the main diagonal elements</a:t>
            </a:r>
            <a:br>
              <a:rPr lang="en-US" dirty="0"/>
            </a:br>
            <a:r>
              <a:rPr lang="en-US" dirty="0"/>
              <a:t>2. covariance of dimensions as the off-diagonal elements</a:t>
            </a:r>
          </a:p>
        </p:txBody>
      </p:sp>
      <p:sp>
        <p:nvSpPr>
          <p:cNvPr id="4" name="Slide Number Placeholder 3"/>
          <p:cNvSpPr>
            <a:spLocks noGrp="1"/>
          </p:cNvSpPr>
          <p:nvPr>
            <p:ph type="sldNum" sz="quarter" idx="12"/>
          </p:nvPr>
        </p:nvSpPr>
        <p:spPr/>
        <p:txBody>
          <a:bodyPr/>
          <a:lstStyle/>
          <a:p>
            <a:fld id="{CBABCCC1-BF11-4F37-963E-1BCD5B23FD72}" type="slidenum">
              <a:rPr lang="en-IN" smtClean="0"/>
              <a:pPr/>
              <a:t>22</a:t>
            </a:fld>
            <a:endParaRPr lang="en-I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CF303-E079-A775-1E8B-C7E302FC846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05F46E4-1C2C-A721-D3B3-801CC8F6641A}"/>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03A768E4-581C-41F7-F5AE-FA6C84BE55E8}"/>
              </a:ext>
            </a:extLst>
          </p:cNvPr>
          <p:cNvSpPr>
            <a:spLocks noGrp="1"/>
          </p:cNvSpPr>
          <p:nvPr>
            <p:ph type="sldNum" sz="quarter" idx="12"/>
          </p:nvPr>
        </p:nvSpPr>
        <p:spPr/>
        <p:txBody>
          <a:bodyPr/>
          <a:lstStyle/>
          <a:p>
            <a:fld id="{CBABCCC1-BF11-4F37-963E-1BCD5B23FD72}" type="slidenum">
              <a:rPr lang="en-IN" smtClean="0"/>
              <a:pPr/>
              <a:t>23</a:t>
            </a:fld>
            <a:endParaRPr lang="en-IN"/>
          </a:p>
        </p:txBody>
      </p:sp>
      <p:pic>
        <p:nvPicPr>
          <p:cNvPr id="7170" name="Picture 2"/>
          <p:cNvPicPr>
            <a:picLocks noChangeAspect="1" noChangeArrowheads="1"/>
          </p:cNvPicPr>
          <p:nvPr/>
        </p:nvPicPr>
        <p:blipFill>
          <a:blip r:embed="rId2" cstate="print"/>
          <a:srcRect/>
          <a:stretch>
            <a:fillRect/>
          </a:stretch>
        </p:blipFill>
        <p:spPr bwMode="auto">
          <a:xfrm>
            <a:off x="1857375" y="2495118"/>
            <a:ext cx="9039225" cy="2629332"/>
          </a:xfrm>
          <a:prstGeom prst="rect">
            <a:avLst/>
          </a:prstGeom>
          <a:noFill/>
          <a:ln w="9525">
            <a:noFill/>
            <a:miter lim="800000"/>
            <a:headEnd/>
            <a:tailEnd/>
          </a:ln>
        </p:spPr>
      </p:pic>
    </p:spTree>
    <p:extLst>
      <p:ext uri="{BB962C8B-B14F-4D97-AF65-F5344CB8AC3E}">
        <p14:creationId xmlns:p14="http://schemas.microsoft.com/office/powerpoint/2010/main" val="17250467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Content Placeholder 2"/>
          <p:cNvSpPr>
            <a:spLocks noGrp="1"/>
          </p:cNvSpPr>
          <p:nvPr>
            <p:ph idx="1"/>
          </p:nvPr>
        </p:nvSpPr>
        <p:spPr>
          <a:xfrm>
            <a:off x="1451579" y="1828800"/>
            <a:ext cx="9603275" cy="4253345"/>
          </a:xfrm>
        </p:spPr>
        <p:txBody>
          <a:bodyPr>
            <a:normAutofit fontScale="92500" lnSpcReduction="10000"/>
          </a:bodyPr>
          <a:lstStyle/>
          <a:p>
            <a:pPr algn="just"/>
            <a:r>
              <a:rPr lang="en-US" dirty="0"/>
              <a:t>Variance serves as a metric for the variability, essentially quantifying the extent to which the dataset is dispersed. In mathematical terms, it represents the average squared deviation from the mean score. The formula employed to calculate variance, denoted as </a:t>
            </a:r>
            <a:r>
              <a:rPr lang="en-US" dirty="0" err="1"/>
              <a:t>var</a:t>
            </a:r>
            <a:r>
              <a:rPr lang="en-US" dirty="0"/>
              <a:t>(x), is expressed as follows.</a:t>
            </a:r>
          </a:p>
          <a:p>
            <a:pPr algn="just"/>
            <a:r>
              <a:rPr lang="en-US" dirty="0"/>
              <a:t>Covariance quantifies the degree to which corresponding elements in two sets of ordered data exhibit similar directional movement. In this context, xi represents the value of x in the </a:t>
            </a:r>
            <a:r>
              <a:rPr lang="en-US" dirty="0" err="1"/>
              <a:t>ith</a:t>
            </a:r>
            <a:r>
              <a:rPr lang="en-US" dirty="0"/>
              <a:t> dimension, while the x bar and y bar denote their respective mean values. Now, let’s explore this concept in matrix format. If we have a matrix X with dimensions m*n, containing n data points each with m dimensions, the covariance matrix can be computed as follows: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24</a:t>
            </a:fld>
            <a:endParaRPr lang="en-I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9609-2E0D-5B48-218D-F0D307FC118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5BB0C3D-E81D-910B-5864-2E30074B6268}"/>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DDAD5132-FD12-7C11-E7A6-19248473B39A}"/>
              </a:ext>
            </a:extLst>
          </p:cNvPr>
          <p:cNvSpPr>
            <a:spLocks noGrp="1"/>
          </p:cNvSpPr>
          <p:nvPr>
            <p:ph type="sldNum" sz="quarter" idx="12"/>
          </p:nvPr>
        </p:nvSpPr>
        <p:spPr/>
        <p:txBody>
          <a:bodyPr/>
          <a:lstStyle/>
          <a:p>
            <a:fld id="{CBABCCC1-BF11-4F37-963E-1BCD5B23FD72}" type="slidenum">
              <a:rPr lang="en-IN" smtClean="0"/>
              <a:pPr/>
              <a:t>25</a:t>
            </a:fld>
            <a:endParaRPr lang="en-IN"/>
          </a:p>
        </p:txBody>
      </p:sp>
      <p:pic>
        <p:nvPicPr>
          <p:cNvPr id="11266" name="Picture 2"/>
          <p:cNvPicPr>
            <a:picLocks noChangeAspect="1" noChangeArrowheads="1"/>
          </p:cNvPicPr>
          <p:nvPr/>
        </p:nvPicPr>
        <p:blipFill>
          <a:blip r:embed="rId2" cstate="print"/>
          <a:srcRect/>
          <a:stretch>
            <a:fillRect/>
          </a:stretch>
        </p:blipFill>
        <p:spPr bwMode="auto">
          <a:xfrm>
            <a:off x="1876425" y="365125"/>
            <a:ext cx="8572500" cy="2701925"/>
          </a:xfrm>
          <a:prstGeom prst="rect">
            <a:avLst/>
          </a:prstGeom>
          <a:noFill/>
          <a:ln w="9525">
            <a:noFill/>
            <a:miter lim="800000"/>
            <a:headEnd/>
            <a:tailEnd/>
          </a:ln>
        </p:spPr>
      </p:pic>
      <p:pic>
        <p:nvPicPr>
          <p:cNvPr id="11267" name="Picture 3"/>
          <p:cNvPicPr>
            <a:picLocks noChangeAspect="1" noChangeArrowheads="1"/>
          </p:cNvPicPr>
          <p:nvPr/>
        </p:nvPicPr>
        <p:blipFill>
          <a:blip r:embed="rId3" cstate="print"/>
          <a:srcRect/>
          <a:stretch>
            <a:fillRect/>
          </a:stretch>
        </p:blipFill>
        <p:spPr bwMode="auto">
          <a:xfrm>
            <a:off x="1828800" y="3570288"/>
            <a:ext cx="8667750" cy="2325688"/>
          </a:xfrm>
          <a:prstGeom prst="rect">
            <a:avLst/>
          </a:prstGeom>
          <a:noFill/>
          <a:ln w="9525">
            <a:noFill/>
            <a:miter lim="800000"/>
            <a:headEnd/>
            <a:tailEnd/>
          </a:ln>
        </p:spPr>
      </p:pic>
    </p:spTree>
    <p:extLst>
      <p:ext uri="{BB962C8B-B14F-4D97-AF65-F5344CB8AC3E}">
        <p14:creationId xmlns:p14="http://schemas.microsoft.com/office/powerpoint/2010/main" val="36964434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2DABE-4941-EF40-1969-3C80BE70240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C712373-49D3-E472-3E96-5C1567C7B8B4}"/>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7B32F27E-9693-D84B-CA43-9B245AD95BF8}"/>
              </a:ext>
            </a:extLst>
          </p:cNvPr>
          <p:cNvSpPr>
            <a:spLocks noGrp="1"/>
          </p:cNvSpPr>
          <p:nvPr>
            <p:ph type="sldNum" sz="quarter" idx="12"/>
          </p:nvPr>
        </p:nvSpPr>
        <p:spPr/>
        <p:txBody>
          <a:bodyPr/>
          <a:lstStyle/>
          <a:p>
            <a:fld id="{CBABCCC1-BF11-4F37-963E-1BCD5B23FD72}" type="slidenum">
              <a:rPr lang="en-IN" smtClean="0"/>
              <a:pPr/>
              <a:t>26</a:t>
            </a:fld>
            <a:endParaRPr lang="en-IN"/>
          </a:p>
        </p:txBody>
      </p:sp>
      <p:pic>
        <p:nvPicPr>
          <p:cNvPr id="6" name="Picture 5">
            <a:extLst>
              <a:ext uri="{FF2B5EF4-FFF2-40B4-BE49-F238E27FC236}">
                <a16:creationId xmlns:a16="http://schemas.microsoft.com/office/drawing/2014/main" id="{E94D9820-F27D-C168-9859-4574DDE93064}"/>
              </a:ext>
            </a:extLst>
          </p:cNvPr>
          <p:cNvPicPr>
            <a:picLocks noChangeAspect="1"/>
          </p:cNvPicPr>
          <p:nvPr/>
        </p:nvPicPr>
        <p:blipFill>
          <a:blip r:embed="rId2"/>
          <a:stretch>
            <a:fillRect/>
          </a:stretch>
        </p:blipFill>
        <p:spPr>
          <a:xfrm>
            <a:off x="0" y="672547"/>
            <a:ext cx="12192000" cy="5512905"/>
          </a:xfrm>
          <a:prstGeom prst="rect">
            <a:avLst/>
          </a:prstGeom>
        </p:spPr>
      </p:pic>
    </p:spTree>
    <p:extLst>
      <p:ext uri="{BB962C8B-B14F-4D97-AF65-F5344CB8AC3E}">
        <p14:creationId xmlns:p14="http://schemas.microsoft.com/office/powerpoint/2010/main" val="41980038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20FEF-8849-E7A8-8293-D9A89CC002B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4285DC6-5769-3EA4-7650-A76B0C200D9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39F89DF1-53CD-E9CD-D63D-C5B70BEDCBCB}"/>
              </a:ext>
            </a:extLst>
          </p:cNvPr>
          <p:cNvSpPr>
            <a:spLocks noGrp="1"/>
          </p:cNvSpPr>
          <p:nvPr>
            <p:ph type="sldNum" sz="quarter" idx="12"/>
          </p:nvPr>
        </p:nvSpPr>
        <p:spPr/>
        <p:txBody>
          <a:bodyPr/>
          <a:lstStyle/>
          <a:p>
            <a:fld id="{CBABCCC1-BF11-4F37-963E-1BCD5B23FD72}" type="slidenum">
              <a:rPr lang="en-IN" smtClean="0"/>
              <a:pPr/>
              <a:t>27</a:t>
            </a:fld>
            <a:endParaRPr lang="en-IN"/>
          </a:p>
        </p:txBody>
      </p:sp>
      <p:pic>
        <p:nvPicPr>
          <p:cNvPr id="6" name="Picture 5">
            <a:extLst>
              <a:ext uri="{FF2B5EF4-FFF2-40B4-BE49-F238E27FC236}">
                <a16:creationId xmlns:a16="http://schemas.microsoft.com/office/drawing/2014/main" id="{EDF29623-09F5-24FE-67D1-3D35372F7993}"/>
              </a:ext>
            </a:extLst>
          </p:cNvPr>
          <p:cNvPicPr>
            <a:picLocks noChangeAspect="1"/>
          </p:cNvPicPr>
          <p:nvPr/>
        </p:nvPicPr>
        <p:blipFill>
          <a:blip r:embed="rId2"/>
          <a:stretch>
            <a:fillRect/>
          </a:stretch>
        </p:blipFill>
        <p:spPr>
          <a:xfrm>
            <a:off x="242070" y="437732"/>
            <a:ext cx="11707859" cy="5982535"/>
          </a:xfrm>
          <a:prstGeom prst="rect">
            <a:avLst/>
          </a:prstGeom>
        </p:spPr>
      </p:pic>
    </p:spTree>
    <p:extLst>
      <p:ext uri="{BB962C8B-B14F-4D97-AF65-F5344CB8AC3E}">
        <p14:creationId xmlns:p14="http://schemas.microsoft.com/office/powerpoint/2010/main" val="16401517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B6970-2449-43AA-6EE6-615664EB9DE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8738E7B-0F67-3B5B-FC08-36460BE2D67B}"/>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DB5F842F-103E-1D07-A5F1-7AA70566DE84}"/>
              </a:ext>
            </a:extLst>
          </p:cNvPr>
          <p:cNvSpPr>
            <a:spLocks noGrp="1"/>
          </p:cNvSpPr>
          <p:nvPr>
            <p:ph type="sldNum" sz="quarter" idx="12"/>
          </p:nvPr>
        </p:nvSpPr>
        <p:spPr/>
        <p:txBody>
          <a:bodyPr/>
          <a:lstStyle/>
          <a:p>
            <a:fld id="{CBABCCC1-BF11-4F37-963E-1BCD5B23FD72}" type="slidenum">
              <a:rPr lang="en-IN" smtClean="0"/>
              <a:pPr/>
              <a:t>28</a:t>
            </a:fld>
            <a:endParaRPr lang="en-IN"/>
          </a:p>
        </p:txBody>
      </p:sp>
      <p:pic>
        <p:nvPicPr>
          <p:cNvPr id="6" name="Picture 5">
            <a:extLst>
              <a:ext uri="{FF2B5EF4-FFF2-40B4-BE49-F238E27FC236}">
                <a16:creationId xmlns:a16="http://schemas.microsoft.com/office/drawing/2014/main" id="{CD9FFDD6-09D5-7095-922E-A8B4A3539F19}"/>
              </a:ext>
            </a:extLst>
          </p:cNvPr>
          <p:cNvPicPr>
            <a:picLocks noChangeAspect="1"/>
          </p:cNvPicPr>
          <p:nvPr/>
        </p:nvPicPr>
        <p:blipFill>
          <a:blip r:embed="rId2"/>
          <a:stretch>
            <a:fillRect/>
          </a:stretch>
        </p:blipFill>
        <p:spPr>
          <a:xfrm>
            <a:off x="227724" y="0"/>
            <a:ext cx="11736551" cy="6858000"/>
          </a:xfrm>
          <a:prstGeom prst="rect">
            <a:avLst/>
          </a:prstGeom>
        </p:spPr>
      </p:pic>
    </p:spTree>
    <p:extLst>
      <p:ext uri="{BB962C8B-B14F-4D97-AF65-F5344CB8AC3E}">
        <p14:creationId xmlns:p14="http://schemas.microsoft.com/office/powerpoint/2010/main" val="25335305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97C8B-92E3-617A-B462-D48F3189948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3D2EEC0-1BA5-A817-011E-DB4DDFF70041}"/>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E7CFC502-2D79-7494-A8DD-AFF004D67176}"/>
              </a:ext>
            </a:extLst>
          </p:cNvPr>
          <p:cNvSpPr>
            <a:spLocks noGrp="1"/>
          </p:cNvSpPr>
          <p:nvPr>
            <p:ph type="sldNum" sz="quarter" idx="12"/>
          </p:nvPr>
        </p:nvSpPr>
        <p:spPr/>
        <p:txBody>
          <a:bodyPr/>
          <a:lstStyle/>
          <a:p>
            <a:fld id="{CBABCCC1-BF11-4F37-963E-1BCD5B23FD72}" type="slidenum">
              <a:rPr lang="en-IN" smtClean="0"/>
              <a:pPr/>
              <a:t>29</a:t>
            </a:fld>
            <a:endParaRPr lang="en-IN"/>
          </a:p>
        </p:txBody>
      </p:sp>
      <p:pic>
        <p:nvPicPr>
          <p:cNvPr id="6" name="Picture 5">
            <a:extLst>
              <a:ext uri="{FF2B5EF4-FFF2-40B4-BE49-F238E27FC236}">
                <a16:creationId xmlns:a16="http://schemas.microsoft.com/office/drawing/2014/main" id="{BF5504EB-5005-E606-1340-1C0D9FE31979}"/>
              </a:ext>
            </a:extLst>
          </p:cNvPr>
          <p:cNvPicPr>
            <a:picLocks noChangeAspect="1"/>
          </p:cNvPicPr>
          <p:nvPr/>
        </p:nvPicPr>
        <p:blipFill>
          <a:blip r:embed="rId2"/>
          <a:stretch>
            <a:fillRect/>
          </a:stretch>
        </p:blipFill>
        <p:spPr>
          <a:xfrm>
            <a:off x="1381124" y="2131142"/>
            <a:ext cx="9525001" cy="2595716"/>
          </a:xfrm>
          <a:prstGeom prst="rect">
            <a:avLst/>
          </a:prstGeom>
        </p:spPr>
      </p:pic>
    </p:spTree>
    <p:extLst>
      <p:ext uri="{BB962C8B-B14F-4D97-AF65-F5344CB8AC3E}">
        <p14:creationId xmlns:p14="http://schemas.microsoft.com/office/powerpoint/2010/main" val="30266632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95325" y="831705"/>
            <a:ext cx="10953749" cy="5707207"/>
          </a:xfrm>
        </p:spPr>
        <p:txBody>
          <a:bodyPr>
            <a:normAutofit fontScale="92500" lnSpcReduction="10000"/>
          </a:bodyPr>
          <a:lstStyle/>
          <a:p>
            <a:pPr algn="just"/>
            <a:r>
              <a:rPr lang="en-US" dirty="0"/>
              <a:t>Since the covariance of a variable with itself is its variance (</a:t>
            </a:r>
            <a:r>
              <a:rPr lang="en-US" dirty="0" err="1"/>
              <a:t>Cov</a:t>
            </a:r>
            <a:r>
              <a:rPr lang="en-US" dirty="0"/>
              <a:t>(</a:t>
            </a:r>
            <a:r>
              <a:rPr lang="en-US" dirty="0" err="1"/>
              <a:t>a,a</a:t>
            </a:r>
            <a:r>
              <a:rPr lang="en-US" dirty="0"/>
              <a:t>)=</a:t>
            </a:r>
            <a:r>
              <a:rPr lang="en-US" dirty="0" err="1"/>
              <a:t>Var</a:t>
            </a:r>
            <a:r>
              <a:rPr lang="en-US" dirty="0"/>
              <a:t>(a)), in the main diagonal (Top left to bottom right) we actually have the variances of each initial variable. And since the covariance is commutative (</a:t>
            </a:r>
            <a:r>
              <a:rPr lang="en-US" dirty="0" err="1"/>
              <a:t>Cov</a:t>
            </a:r>
            <a:r>
              <a:rPr lang="en-US" dirty="0"/>
              <a:t>(</a:t>
            </a:r>
            <a:r>
              <a:rPr lang="en-US" dirty="0" err="1"/>
              <a:t>a,b</a:t>
            </a:r>
            <a:r>
              <a:rPr lang="en-US" dirty="0"/>
              <a:t>)=</a:t>
            </a:r>
            <a:r>
              <a:rPr lang="en-US" dirty="0" err="1"/>
              <a:t>Cov</a:t>
            </a:r>
            <a:r>
              <a:rPr lang="en-US" dirty="0"/>
              <a:t>(</a:t>
            </a:r>
            <a:r>
              <a:rPr lang="en-US" dirty="0" err="1"/>
              <a:t>b,a</a:t>
            </a:r>
            <a:r>
              <a:rPr lang="en-US" dirty="0"/>
              <a:t>)), the entries of the covariance matrix are symmetric with respect to the main diagonal, which means that the upper and the lower triangular portions are equal.</a:t>
            </a:r>
          </a:p>
          <a:p>
            <a:pPr algn="just"/>
            <a:r>
              <a:rPr lang="en-US" dirty="0"/>
              <a:t>What do the </a:t>
            </a:r>
            <a:r>
              <a:rPr lang="en-US" dirty="0" err="1"/>
              <a:t>covariances</a:t>
            </a:r>
            <a:r>
              <a:rPr lang="en-US" dirty="0"/>
              <a:t> that we have as entries of the matrix tell us about the correlations between the variables?</a:t>
            </a:r>
          </a:p>
          <a:p>
            <a:pPr algn="just"/>
            <a:r>
              <a:rPr lang="en-US" dirty="0"/>
              <a:t>It’s actually the sign of the covariance that matters:</a:t>
            </a:r>
          </a:p>
          <a:p>
            <a:pPr algn="just"/>
            <a:r>
              <a:rPr lang="en-US" dirty="0"/>
              <a:t>If positive then: the two variables increase or decrease together (correlated)</a:t>
            </a:r>
          </a:p>
          <a:p>
            <a:pPr algn="just"/>
            <a:r>
              <a:rPr lang="en-US" dirty="0"/>
              <a:t>If negative then: one increases when the other decreases (Inversely correlated)</a:t>
            </a:r>
          </a:p>
          <a:p>
            <a:pPr algn="just"/>
            <a:r>
              <a:rPr lang="en-US" dirty="0"/>
              <a:t>Now that we know that the covariance matrix is not more than a table that summarizes the correlations between all the possible pairs of variables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30</a:t>
            </a:fld>
            <a:endParaRPr lang="en-I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Content Placeholder 2"/>
          <p:cNvSpPr>
            <a:spLocks noGrp="1"/>
          </p:cNvSpPr>
          <p:nvPr>
            <p:ph idx="1"/>
          </p:nvPr>
        </p:nvSpPr>
        <p:spPr/>
        <p:txBody>
          <a:bodyPr/>
          <a:lstStyle/>
          <a:p>
            <a:r>
              <a:rPr lang="en-US" dirty="0"/>
              <a:t>covariance matrix exhibits the following characteristics:</a:t>
            </a:r>
            <a:br>
              <a:rPr lang="en-US" dirty="0"/>
            </a:br>
            <a:r>
              <a:rPr lang="en-US" dirty="0"/>
              <a:t>1. Significant values as the main diagonal elements.</a:t>
            </a:r>
            <a:br>
              <a:rPr lang="en-US" dirty="0"/>
            </a:br>
            <a:r>
              <a:rPr lang="en-US" dirty="0"/>
              <a:t>2. Zero values as the off-diagonal elements.</a:t>
            </a:r>
            <a:br>
              <a:rPr lang="en-US" dirty="0"/>
            </a:br>
            <a:endParaRPr lang="en-US" dirty="0"/>
          </a:p>
          <a:p>
            <a:pPr algn="just"/>
            <a:r>
              <a:rPr lang="en-US" dirty="0"/>
              <a:t>Hence, the original data points must be transformed to achieve a covariance matrix resembling a diagonal matrix. This process of transforming a matrix into a diagonal matrix is referred to as </a:t>
            </a:r>
            <a:r>
              <a:rPr lang="en-US" i="1" dirty="0" err="1">
                <a:hlinkClick r:id="rId2"/>
              </a:rPr>
              <a:t>diagonalization</a:t>
            </a:r>
            <a:r>
              <a:rPr lang="en-US" dirty="0"/>
              <a:t>, and it constitutes the primary motivation behind Principal Component Analysis (PCA).</a:t>
            </a:r>
          </a:p>
        </p:txBody>
      </p:sp>
      <p:sp>
        <p:nvSpPr>
          <p:cNvPr id="4" name="Slide Number Placeholder 3"/>
          <p:cNvSpPr>
            <a:spLocks noGrp="1"/>
          </p:cNvSpPr>
          <p:nvPr>
            <p:ph type="sldNum" sz="quarter" idx="12"/>
          </p:nvPr>
        </p:nvSpPr>
        <p:spPr/>
        <p:txBody>
          <a:bodyPr/>
          <a:lstStyle/>
          <a:p>
            <a:fld id="{CBABCCC1-BF11-4F37-963E-1BCD5B23FD72}" type="slidenum">
              <a:rPr lang="en-IN" smtClean="0"/>
              <a:pPr/>
              <a:t>31</a:t>
            </a:fld>
            <a:endParaRPr lang="en-I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294362" y="136525"/>
            <a:ext cx="9603275" cy="6464300"/>
          </a:xfrm>
        </p:spPr>
        <p:txBody>
          <a:bodyPr>
            <a:normAutofit fontScale="92500" lnSpcReduction="20000"/>
          </a:bodyPr>
          <a:lstStyle/>
          <a:p>
            <a:r>
              <a:rPr lang="en-US" b="1" dirty="0"/>
              <a:t>Step 3: Eigen Decomposition and Identifying Principal Components</a:t>
            </a:r>
          </a:p>
          <a:p>
            <a:pPr algn="just"/>
            <a:r>
              <a:rPr lang="en-US" dirty="0"/>
              <a:t>Eigenvectors and </a:t>
            </a:r>
            <a:r>
              <a:rPr lang="en-US" dirty="0" err="1"/>
              <a:t>eigenvalues</a:t>
            </a:r>
            <a:r>
              <a:rPr lang="en-US" dirty="0"/>
              <a:t> are the </a:t>
            </a:r>
            <a:r>
              <a:rPr lang="en-US" dirty="0">
                <a:hlinkClick r:id="rId2"/>
              </a:rPr>
              <a:t>linear algebra</a:t>
            </a:r>
            <a:r>
              <a:rPr lang="en-US" dirty="0"/>
              <a:t> concepts that we need to compute from the covariance matrix in order to determine the </a:t>
            </a:r>
            <a:r>
              <a:rPr lang="en-US" i="1" dirty="0"/>
              <a:t>principal components</a:t>
            </a:r>
            <a:r>
              <a:rPr lang="en-US" dirty="0"/>
              <a:t> of the data. </a:t>
            </a:r>
          </a:p>
          <a:p>
            <a:pPr algn="just"/>
            <a:r>
              <a:rPr lang="en-US" dirty="0"/>
              <a:t>What you first need to know about eigenvectors and </a:t>
            </a:r>
            <a:r>
              <a:rPr lang="en-US" dirty="0" err="1"/>
              <a:t>eigenvalues</a:t>
            </a:r>
            <a:r>
              <a:rPr lang="en-US" dirty="0"/>
              <a:t> is that they always come in pairs, so that every eigenvector has an </a:t>
            </a:r>
            <a:r>
              <a:rPr lang="en-US" dirty="0" err="1"/>
              <a:t>eigenvalue</a:t>
            </a:r>
            <a:r>
              <a:rPr lang="en-US" dirty="0"/>
              <a:t>. Also, their number is equal to the number of dimensions of the data. For example, for a 3-dimensional data set, there are 3 variables, therefore there are 3 eigenvectors with 3 corresponding </a:t>
            </a:r>
            <a:r>
              <a:rPr lang="en-US" dirty="0" err="1"/>
              <a:t>eigenvalues</a:t>
            </a:r>
            <a:r>
              <a:rPr lang="en-US" dirty="0"/>
              <a:t>.</a:t>
            </a:r>
          </a:p>
          <a:p>
            <a:pPr algn="just"/>
            <a:r>
              <a:rPr lang="en-US" dirty="0"/>
              <a:t>It is eigenvectors and </a:t>
            </a:r>
            <a:r>
              <a:rPr lang="en-US" dirty="0" err="1"/>
              <a:t>eigenvalues</a:t>
            </a:r>
            <a:r>
              <a:rPr lang="en-US" dirty="0"/>
              <a:t> who are behind all the magic of principal components because the eigenvectors of the Covariance matrix are actually </a:t>
            </a:r>
            <a:r>
              <a:rPr lang="en-US" i="1" dirty="0"/>
              <a:t>the</a:t>
            </a:r>
            <a:r>
              <a:rPr lang="en-US" b="1" i="1" dirty="0"/>
              <a:t> </a:t>
            </a:r>
            <a:r>
              <a:rPr lang="en-US" i="1" dirty="0"/>
              <a:t>directions of the axes where there is the most variance </a:t>
            </a:r>
            <a:r>
              <a:rPr lang="en-US" dirty="0"/>
              <a:t>(most information) and that we call Principal Components. And </a:t>
            </a:r>
            <a:r>
              <a:rPr lang="en-US" dirty="0" err="1"/>
              <a:t>eigenvalues</a:t>
            </a:r>
            <a:r>
              <a:rPr lang="en-US" dirty="0"/>
              <a:t> are simply the coefficients attached to eigenvectors, which give the </a:t>
            </a:r>
            <a:r>
              <a:rPr lang="en-US" i="1" dirty="0"/>
              <a:t>amount of variance carried in each Principal Component</a:t>
            </a:r>
            <a:r>
              <a:rPr lang="en-US" dirty="0"/>
              <a:t>.</a:t>
            </a:r>
          </a:p>
          <a:p>
            <a:pPr algn="just"/>
            <a:r>
              <a:rPr lang="en-US" dirty="0"/>
              <a:t>By ranking your eigenvectors in order of their </a:t>
            </a:r>
            <a:r>
              <a:rPr lang="en-US" dirty="0" err="1"/>
              <a:t>eigenvalues</a:t>
            </a:r>
            <a:r>
              <a:rPr lang="en-US" dirty="0"/>
              <a:t>, highest to lowest, you get the principal components in order of significance.</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32</a:t>
            </a:fld>
            <a:endParaRPr lang="en-I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5" name="Content Placeholder 4"/>
          <p:cNvSpPr>
            <a:spLocks noGrp="1"/>
          </p:cNvSpPr>
          <p:nvPr>
            <p:ph idx="1"/>
          </p:nvPr>
        </p:nvSpPr>
        <p:spPr>
          <a:xfrm>
            <a:off x="1451579" y="1828800"/>
            <a:ext cx="9603275" cy="4225636"/>
          </a:xfrm>
        </p:spPr>
        <p:txBody>
          <a:bodyPr>
            <a:normAutofit fontScale="92500" lnSpcReduction="20000"/>
          </a:bodyPr>
          <a:lstStyle/>
          <a:p>
            <a:r>
              <a:rPr lang="en-US" b="1" dirty="0"/>
              <a:t>Step 4: Feature Selection and Creating a Feature Vector</a:t>
            </a:r>
          </a:p>
          <a:p>
            <a:pPr algn="just"/>
            <a:r>
              <a:rPr lang="en-US" dirty="0"/>
              <a:t>As we saw in the previous step, computing the eigenvectors and ordering them by their </a:t>
            </a:r>
            <a:r>
              <a:rPr lang="en-US" dirty="0" err="1"/>
              <a:t>eigenvalues</a:t>
            </a:r>
            <a:r>
              <a:rPr lang="en-US" dirty="0"/>
              <a:t> in descending order, allow us to find the principal components in order of significance. In this step, what we do is, to choose whether to keep all these components or discard those of lesser significance (of low </a:t>
            </a:r>
            <a:r>
              <a:rPr lang="en-US" dirty="0" err="1"/>
              <a:t>eigenvalues</a:t>
            </a:r>
            <a:r>
              <a:rPr lang="en-US" dirty="0"/>
              <a:t>), and form with the remaining ones a matrix of vectors that we call </a:t>
            </a:r>
            <a:r>
              <a:rPr lang="en-US" i="1" dirty="0"/>
              <a:t>Feature vector</a:t>
            </a:r>
            <a:r>
              <a:rPr lang="en-US" dirty="0"/>
              <a:t>.</a:t>
            </a:r>
          </a:p>
          <a:p>
            <a:pPr algn="just"/>
            <a:r>
              <a:rPr lang="en-US" dirty="0"/>
              <a:t>So, the </a:t>
            </a:r>
            <a:r>
              <a:rPr lang="en-US" dirty="0">
                <a:hlinkClick r:id="rId2"/>
              </a:rPr>
              <a:t>feature vector</a:t>
            </a:r>
            <a:r>
              <a:rPr lang="en-US" dirty="0"/>
              <a:t> is simply a matrix that has as columns the eigenvectors of the components that we decide to keep. This makes it the first step towards dimensionality reduction, because if we choose to keep only </a:t>
            </a:r>
            <a:r>
              <a:rPr lang="en-US" b="1" i="1" dirty="0"/>
              <a:t>p</a:t>
            </a:r>
            <a:r>
              <a:rPr lang="en-US" dirty="0"/>
              <a:t> eigenvectors (components) out of </a:t>
            </a:r>
            <a:r>
              <a:rPr lang="en-US" b="1" i="1" dirty="0"/>
              <a:t>n</a:t>
            </a:r>
            <a:r>
              <a:rPr lang="en-US" dirty="0"/>
              <a:t>, the final data set will have only </a:t>
            </a:r>
            <a:r>
              <a:rPr lang="en-US" b="1" i="1" dirty="0"/>
              <a:t>p</a:t>
            </a:r>
            <a:r>
              <a:rPr lang="en-US" dirty="0"/>
              <a:t> dimensions.</a:t>
            </a:r>
          </a:p>
          <a:p>
            <a:pPr algn="just"/>
            <a:endParaRPr lang="en-US" dirty="0"/>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33</a:t>
            </a:fld>
            <a:endParaRPr lang="en-I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CONTD..</a:t>
            </a:r>
          </a:p>
        </p:txBody>
      </p:sp>
      <p:sp>
        <p:nvSpPr>
          <p:cNvPr id="3" name="Content Placeholder 2"/>
          <p:cNvSpPr>
            <a:spLocks noGrp="1"/>
          </p:cNvSpPr>
          <p:nvPr>
            <p:ph idx="1"/>
          </p:nvPr>
        </p:nvSpPr>
        <p:spPr>
          <a:xfrm>
            <a:off x="1451579" y="1814946"/>
            <a:ext cx="9603275" cy="4308764"/>
          </a:xfrm>
        </p:spPr>
        <p:txBody>
          <a:bodyPr>
            <a:normAutofit/>
          </a:bodyPr>
          <a:lstStyle/>
          <a:p>
            <a:r>
              <a:rPr lang="en-US" sz="1800" b="1" dirty="0"/>
              <a:t>Step 5: Data Projection</a:t>
            </a:r>
          </a:p>
          <a:p>
            <a:pPr algn="just"/>
            <a:r>
              <a:rPr lang="en-US" sz="1800" dirty="0"/>
              <a:t>In the previous steps, apart from standardization, you do not make any changes on the data, you just select the principal components and form the feature vector, but the input data set remains always in terms of the original axes (i.e., in terms of the initial variables).</a:t>
            </a:r>
          </a:p>
          <a:p>
            <a:pPr algn="just"/>
            <a:r>
              <a:rPr lang="en-US" sz="1800" dirty="0"/>
              <a:t>In this step, which is the last one, the aim is to use the feature vector formed using the eigenvectors of the covariance matrix, to reorient the data from the original axes to the ones represented by the principal components (hence the name Principal Components Analysis). This can be done by multiplying the transpose of the original data set by the transpose of the feature vector.</a:t>
            </a:r>
          </a:p>
        </p:txBody>
      </p:sp>
      <p:sp>
        <p:nvSpPr>
          <p:cNvPr id="4" name="Slide Number Placeholder 3"/>
          <p:cNvSpPr>
            <a:spLocks noGrp="1"/>
          </p:cNvSpPr>
          <p:nvPr>
            <p:ph type="sldNum" sz="quarter" idx="12"/>
          </p:nvPr>
        </p:nvSpPr>
        <p:spPr/>
        <p:txBody>
          <a:bodyPr/>
          <a:lstStyle/>
          <a:p>
            <a:fld id="{CBABCCC1-BF11-4F37-963E-1BCD5B23FD72}" type="slidenum">
              <a:rPr lang="en-IN" smtClean="0"/>
              <a:pPr/>
              <a:t>34</a:t>
            </a:fld>
            <a:endParaRPr lang="en-IN"/>
          </a:p>
        </p:txBody>
      </p:sp>
      <p:pic>
        <p:nvPicPr>
          <p:cNvPr id="10242" name="Picture 2"/>
          <p:cNvPicPr>
            <a:picLocks noChangeAspect="1" noChangeArrowheads="1"/>
          </p:cNvPicPr>
          <p:nvPr/>
        </p:nvPicPr>
        <p:blipFill>
          <a:blip r:embed="rId2" cstate="print"/>
          <a:srcRect/>
          <a:stretch>
            <a:fillRect/>
          </a:stretch>
        </p:blipFill>
        <p:spPr bwMode="auto">
          <a:xfrm>
            <a:off x="2840182" y="4914468"/>
            <a:ext cx="7800109" cy="1250805"/>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Here’s how PCA works:</a:t>
            </a:r>
            <a:endParaRPr lang="en-US" dirty="0"/>
          </a:p>
        </p:txBody>
      </p:sp>
      <p:sp>
        <p:nvSpPr>
          <p:cNvPr id="3" name="Content Placeholder 2"/>
          <p:cNvSpPr>
            <a:spLocks noGrp="1"/>
          </p:cNvSpPr>
          <p:nvPr>
            <p:ph idx="1"/>
          </p:nvPr>
        </p:nvSpPr>
        <p:spPr>
          <a:xfrm>
            <a:off x="1451579" y="1856509"/>
            <a:ext cx="9603275" cy="4641273"/>
          </a:xfrm>
        </p:spPr>
        <p:txBody>
          <a:bodyPr>
            <a:normAutofit fontScale="92500" lnSpcReduction="20000"/>
          </a:bodyPr>
          <a:lstStyle/>
          <a:p>
            <a:r>
              <a:rPr lang="en-US" dirty="0"/>
              <a:t>1. Standardization</a:t>
            </a:r>
          </a:p>
          <a:p>
            <a:pPr algn="just"/>
            <a:r>
              <a:rPr lang="en-US" dirty="0"/>
              <a:t>Standardize the data when features are measured in diverse units. This entails subtracting the mean and dividing by the standard deviation for each feature. Failure to standardize data with features of varying scales can result in misleading components.</a:t>
            </a:r>
          </a:p>
          <a:p>
            <a:pPr algn="just"/>
            <a:r>
              <a:rPr lang="en-US" dirty="0"/>
              <a:t>2. Compute the Covariance Matrix</a:t>
            </a:r>
          </a:p>
          <a:p>
            <a:pPr algn="just">
              <a:buNone/>
            </a:pPr>
            <a:r>
              <a:rPr lang="en-US" dirty="0"/>
              <a:t>       Calculate the covariance matrix as discussed earlier</a:t>
            </a:r>
          </a:p>
          <a:p>
            <a:pPr algn="just"/>
            <a:r>
              <a:rPr lang="en-US" dirty="0"/>
              <a:t>3. Calculate Eigenvectors and </a:t>
            </a:r>
            <a:r>
              <a:rPr lang="en-US" dirty="0" err="1"/>
              <a:t>Eigenvalues</a:t>
            </a:r>
            <a:endParaRPr lang="en-US" dirty="0"/>
          </a:p>
          <a:p>
            <a:pPr algn="just">
              <a:buNone/>
            </a:pPr>
            <a:r>
              <a:rPr lang="en-US" dirty="0"/>
              <a:t>    Determine the eigenvectors and </a:t>
            </a:r>
            <a:r>
              <a:rPr lang="en-US" dirty="0" err="1"/>
              <a:t>eigenvalues</a:t>
            </a:r>
            <a:r>
              <a:rPr lang="en-US" dirty="0"/>
              <a:t> of the covariance matrix.</a:t>
            </a:r>
          </a:p>
          <a:p>
            <a:pPr algn="just"/>
            <a:r>
              <a:rPr lang="en-US" dirty="0"/>
              <a:t>Eigenvectors represent the directions (principal components), and </a:t>
            </a:r>
            <a:r>
              <a:rPr lang="en-US" dirty="0" err="1"/>
              <a:t>eigenvalues</a:t>
            </a:r>
            <a:r>
              <a:rPr lang="en-US" dirty="0"/>
              <a:t> represent the magnitude of variance in those directions.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35</a:t>
            </a:fld>
            <a:endParaRPr lang="en-I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Content Placeholder 2"/>
          <p:cNvSpPr>
            <a:spLocks noGrp="1"/>
          </p:cNvSpPr>
          <p:nvPr>
            <p:ph idx="1"/>
          </p:nvPr>
        </p:nvSpPr>
        <p:spPr>
          <a:xfrm>
            <a:off x="1451579" y="1759528"/>
            <a:ext cx="9603275" cy="4364182"/>
          </a:xfrm>
        </p:spPr>
        <p:txBody>
          <a:bodyPr>
            <a:normAutofit fontScale="70000" lnSpcReduction="20000"/>
          </a:bodyPr>
          <a:lstStyle/>
          <a:p>
            <a:r>
              <a:rPr lang="en-US" dirty="0"/>
              <a:t>4. Sort </a:t>
            </a:r>
            <a:r>
              <a:rPr lang="en-US" dirty="0" err="1"/>
              <a:t>Eigenvalues</a:t>
            </a:r>
            <a:endParaRPr lang="en-US" dirty="0"/>
          </a:p>
          <a:p>
            <a:pPr algn="just">
              <a:buNone/>
            </a:pPr>
            <a:r>
              <a:rPr lang="en-US" dirty="0"/>
              <a:t>   Sort the </a:t>
            </a:r>
            <a:r>
              <a:rPr lang="en-US" dirty="0" err="1"/>
              <a:t>eigenvalues</a:t>
            </a:r>
            <a:r>
              <a:rPr lang="en-US" dirty="0"/>
              <a:t> in descending order. The eigenvectors corresponding to the highest </a:t>
            </a:r>
            <a:r>
              <a:rPr lang="en-US" dirty="0" err="1"/>
              <a:t>eigenvalues</a:t>
            </a:r>
            <a:r>
              <a:rPr lang="en-US" dirty="0"/>
              <a:t> are the principal components that capture the most variance in the data. To understand why, please refer to </a:t>
            </a:r>
            <a:r>
              <a:rPr lang="en-US" dirty="0">
                <a:hlinkClick r:id="rId2"/>
              </a:rPr>
              <a:t>this blog</a:t>
            </a:r>
            <a:r>
              <a:rPr lang="en-US" dirty="0"/>
              <a:t>.</a:t>
            </a:r>
          </a:p>
          <a:p>
            <a:pPr algn="just"/>
            <a:r>
              <a:rPr lang="en-US" dirty="0"/>
              <a:t>5. Select Principal Components</a:t>
            </a:r>
          </a:p>
          <a:p>
            <a:pPr algn="just">
              <a:buNone/>
            </a:pPr>
            <a:r>
              <a:rPr lang="en-US" dirty="0"/>
              <a:t>   Choose the top k eigenvectors (principal components) based on the explained variance needed. Typically, you aim to retain a significant portion of the total variance, like 85%. How explained variance is calculated can be found </a:t>
            </a:r>
            <a:r>
              <a:rPr lang="en-US" dirty="0">
                <a:hlinkClick r:id="rId3"/>
              </a:rPr>
              <a:t>here</a:t>
            </a:r>
            <a:r>
              <a:rPr lang="en-US" dirty="0"/>
              <a:t>.</a:t>
            </a:r>
          </a:p>
          <a:p>
            <a:r>
              <a:rPr lang="en-US" dirty="0"/>
              <a:t>6. Transform the Data</a:t>
            </a:r>
          </a:p>
          <a:p>
            <a:pPr>
              <a:buNone/>
            </a:pPr>
            <a:r>
              <a:rPr lang="en-US" dirty="0"/>
              <a:t>    Now, we can transform the original data using the eigenvectors:</a:t>
            </a:r>
          </a:p>
          <a:p>
            <a:r>
              <a:rPr lang="en-US" i="1" dirty="0"/>
              <a:t>So, if we have m dimensional original n data points then</a:t>
            </a:r>
            <a:br>
              <a:rPr lang="en-US" i="1" dirty="0"/>
            </a:br>
            <a:r>
              <a:rPr lang="en-US" i="1" dirty="0"/>
              <a:t>X : m*n</a:t>
            </a:r>
            <a:br>
              <a:rPr lang="en-US" i="1" dirty="0"/>
            </a:br>
            <a:r>
              <a:rPr lang="en-US" i="1" dirty="0"/>
              <a:t>P : k*m</a:t>
            </a:r>
            <a:br>
              <a:rPr lang="en-US" i="1" dirty="0"/>
            </a:br>
            <a:r>
              <a:rPr lang="en-US" i="1" dirty="0"/>
              <a:t>Y = PX : (k*m)(m*n) = (k*n)</a:t>
            </a:r>
            <a:br>
              <a:rPr lang="en-US" i="1" dirty="0"/>
            </a:br>
            <a:r>
              <a:rPr lang="en-US" i="1" dirty="0"/>
              <a:t>Hence, our new transformed matrix has n data points having k dimensions.</a:t>
            </a:r>
            <a:endParaRPr lang="en-US" dirty="0"/>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36</a:t>
            </a:fld>
            <a:endParaRPr lang="en-I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dirty="0"/>
              <a:t>Given the data in Table, reduce the dimension from 2 to 1 using the Principal Component Analysis (PCA) algorithm</a:t>
            </a:r>
            <a:r>
              <a:rPr lang="en-US" dirty="0"/>
              <a:t>.</a:t>
            </a:r>
          </a:p>
        </p:txBody>
      </p:sp>
      <p:pic>
        <p:nvPicPr>
          <p:cNvPr id="1026" name="Picture 2"/>
          <p:cNvPicPr>
            <a:picLocks noGrp="1" noChangeAspect="1" noChangeArrowheads="1"/>
          </p:cNvPicPr>
          <p:nvPr>
            <p:ph idx="1"/>
          </p:nvPr>
        </p:nvPicPr>
        <p:blipFill>
          <a:blip r:embed="rId2" cstate="print"/>
          <a:stretch>
            <a:fillRect/>
          </a:stretch>
        </p:blipFill>
        <p:spPr bwMode="auto">
          <a:xfrm>
            <a:off x="2921726" y="1825625"/>
            <a:ext cx="6348548" cy="4351338"/>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37</a:t>
            </a:fld>
            <a:endParaRPr lang="en-I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1" name="Picture 3"/>
          <p:cNvPicPr>
            <a:picLocks noGrp="1" noChangeAspect="1" noChangeArrowheads="1"/>
          </p:cNvPicPr>
          <p:nvPr>
            <p:ph idx="1"/>
          </p:nvPr>
        </p:nvPicPr>
        <p:blipFill>
          <a:blip r:embed="rId2" cstate="print"/>
          <a:srcRect/>
          <a:stretch>
            <a:fillRect/>
          </a:stretch>
        </p:blipFill>
        <p:spPr bwMode="auto">
          <a:xfrm>
            <a:off x="1302326" y="207818"/>
            <a:ext cx="9933709" cy="5832764"/>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38</a:t>
            </a:fld>
            <a:endParaRPr lang="en-I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cstate="print"/>
          <a:srcRect/>
          <a:stretch>
            <a:fillRect/>
          </a:stretch>
        </p:blipFill>
        <p:spPr bwMode="auto">
          <a:xfrm>
            <a:off x="1330036" y="193964"/>
            <a:ext cx="9892146" cy="59436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39</a:t>
            </a:fld>
            <a:endParaRPr lang="en-I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6" name="Content Placeholder 5"/>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CBABCCC1-BF11-4F37-963E-1BCD5B23FD72}" type="slidenum">
              <a:rPr lang="en-IN" smtClean="0"/>
              <a:pPr/>
              <a:t>40</a:t>
            </a:fld>
            <a:endParaRPr lang="en-IN"/>
          </a:p>
        </p:txBody>
      </p:sp>
      <p:pic>
        <p:nvPicPr>
          <p:cNvPr id="4099" name="Picture 3"/>
          <p:cNvPicPr>
            <a:picLocks noChangeAspect="1" noChangeArrowheads="1"/>
          </p:cNvPicPr>
          <p:nvPr/>
        </p:nvPicPr>
        <p:blipFill>
          <a:blip r:embed="rId2" cstate="print"/>
          <a:srcRect/>
          <a:stretch>
            <a:fillRect/>
          </a:stretch>
        </p:blipFill>
        <p:spPr bwMode="auto">
          <a:xfrm>
            <a:off x="1343891" y="346365"/>
            <a:ext cx="10058399" cy="5973474"/>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Grp="1" noChangeAspect="1" noChangeArrowheads="1"/>
          </p:cNvPicPr>
          <p:nvPr>
            <p:ph idx="1"/>
          </p:nvPr>
        </p:nvPicPr>
        <p:blipFill>
          <a:blip r:embed="rId2" cstate="print"/>
          <a:srcRect/>
          <a:stretch>
            <a:fillRect/>
          </a:stretch>
        </p:blipFill>
        <p:spPr bwMode="auto">
          <a:xfrm>
            <a:off x="1316182" y="304800"/>
            <a:ext cx="9989127" cy="5708073"/>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41</a:t>
            </a:fld>
            <a:endParaRPr lang="en-I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7" name="Picture 3"/>
          <p:cNvPicPr>
            <a:picLocks noGrp="1" noChangeAspect="1" noChangeArrowheads="1"/>
          </p:cNvPicPr>
          <p:nvPr>
            <p:ph idx="1"/>
          </p:nvPr>
        </p:nvPicPr>
        <p:blipFill>
          <a:blip r:embed="rId2" cstate="print"/>
          <a:srcRect/>
          <a:stretch>
            <a:fillRect/>
          </a:stretch>
        </p:blipFill>
        <p:spPr bwMode="auto">
          <a:xfrm>
            <a:off x="1427018" y="221672"/>
            <a:ext cx="10127673" cy="5832763"/>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42</a:t>
            </a:fld>
            <a:endParaRPr lang="en-I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170" name="Picture 2"/>
          <p:cNvPicPr>
            <a:picLocks noGrp="1" noChangeAspect="1" noChangeArrowheads="1"/>
          </p:cNvPicPr>
          <p:nvPr>
            <p:ph idx="1"/>
          </p:nvPr>
        </p:nvPicPr>
        <p:blipFill>
          <a:blip r:embed="rId2" cstate="print"/>
          <a:srcRect/>
          <a:stretch>
            <a:fillRect/>
          </a:stretch>
        </p:blipFill>
        <p:spPr bwMode="auto">
          <a:xfrm>
            <a:off x="1440873" y="0"/>
            <a:ext cx="9850582" cy="6054436"/>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43</a:t>
            </a:fld>
            <a:endParaRPr lang="en-I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p:cNvPicPr>
            <a:picLocks noGrp="1" noChangeAspect="1" noChangeArrowheads="1"/>
          </p:cNvPicPr>
          <p:nvPr>
            <p:ph idx="1"/>
          </p:nvPr>
        </p:nvPicPr>
        <p:blipFill>
          <a:blip r:embed="rId2" cstate="print"/>
          <a:srcRect/>
          <a:stretch>
            <a:fillRect/>
          </a:stretch>
        </p:blipFill>
        <p:spPr bwMode="auto">
          <a:xfrm>
            <a:off x="1385455" y="207818"/>
            <a:ext cx="10072253" cy="5721927"/>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44</a:t>
            </a:fld>
            <a:endParaRPr lang="en-I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218" name="Picture 2"/>
          <p:cNvPicPr>
            <a:picLocks noGrp="1" noChangeAspect="1" noChangeArrowheads="1"/>
          </p:cNvPicPr>
          <p:nvPr>
            <p:ph idx="1"/>
          </p:nvPr>
        </p:nvPicPr>
        <p:blipFill>
          <a:blip r:embed="rId2" cstate="print"/>
          <a:srcRect/>
          <a:stretch>
            <a:fillRect/>
          </a:stretch>
        </p:blipFill>
        <p:spPr bwMode="auto">
          <a:xfrm>
            <a:off x="1371601" y="235526"/>
            <a:ext cx="9961418" cy="5818909"/>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45</a:t>
            </a:fld>
            <a:endParaRPr lang="en-I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Linear </a:t>
            </a:r>
            <a:r>
              <a:rPr lang="en-US" b="1" dirty="0" err="1"/>
              <a:t>Discriminant</a:t>
            </a:r>
            <a:r>
              <a:rPr lang="en-US" b="1" dirty="0"/>
              <a:t> Analysis</a:t>
            </a:r>
          </a:p>
        </p:txBody>
      </p:sp>
      <p:sp>
        <p:nvSpPr>
          <p:cNvPr id="5" name="Content Placeholder 4"/>
          <p:cNvSpPr>
            <a:spLocks noGrp="1"/>
          </p:cNvSpPr>
          <p:nvPr>
            <p:ph idx="1"/>
          </p:nvPr>
        </p:nvSpPr>
        <p:spPr>
          <a:xfrm>
            <a:off x="1451579" y="1856509"/>
            <a:ext cx="9603275" cy="4211781"/>
          </a:xfrm>
        </p:spPr>
        <p:txBody>
          <a:bodyPr>
            <a:normAutofit fontScale="92500" lnSpcReduction="10000"/>
          </a:bodyPr>
          <a:lstStyle/>
          <a:p>
            <a:pPr algn="just"/>
            <a:r>
              <a:rPr lang="en-US" dirty="0"/>
              <a:t>Linear </a:t>
            </a:r>
            <a:r>
              <a:rPr lang="en-US" dirty="0" err="1"/>
              <a:t>Discriminant</a:t>
            </a:r>
            <a:r>
              <a:rPr lang="en-US" dirty="0"/>
              <a:t> Analysis (LDA) also known as Normal </a:t>
            </a:r>
            <a:r>
              <a:rPr lang="en-US" dirty="0" err="1"/>
              <a:t>Discriminant</a:t>
            </a:r>
            <a:r>
              <a:rPr lang="en-US" dirty="0"/>
              <a:t> Analysis is supervised classification problem that helps separate two or more classes by converting higher-dimensional data space into a lower-dimensional space. It is used to identify a linear combination of features that best separates classes within a dataset.</a:t>
            </a:r>
          </a:p>
          <a:p>
            <a:pPr algn="just"/>
            <a:r>
              <a:rPr lang="en-US" dirty="0"/>
              <a:t>For example we have two classes that need to be separated efficiently. Each class may have multiple features and using a single feature to classify them may result in overlapping. To solve this LDA is used as it uses multiple features to improve classification accuracy. LDA works by some assumptions and we are required to understand them so that we have a better understanding of its working.</a:t>
            </a:r>
          </a:p>
        </p:txBody>
      </p:sp>
      <p:sp>
        <p:nvSpPr>
          <p:cNvPr id="4" name="Slide Number Placeholder 3"/>
          <p:cNvSpPr>
            <a:spLocks noGrp="1"/>
          </p:cNvSpPr>
          <p:nvPr>
            <p:ph type="sldNum" sz="quarter" idx="12"/>
          </p:nvPr>
        </p:nvSpPr>
        <p:spPr/>
        <p:txBody>
          <a:bodyPr/>
          <a:lstStyle/>
          <a:p>
            <a:fld id="{CBABCCC1-BF11-4F37-963E-1BCD5B23FD72}" type="slidenum">
              <a:rPr lang="en-IN" smtClean="0"/>
              <a:pPr/>
              <a:t>46</a:t>
            </a:fld>
            <a:endParaRPr lang="en-I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Content Placeholder 2"/>
          <p:cNvSpPr>
            <a:spLocks noGrp="1"/>
          </p:cNvSpPr>
          <p:nvPr>
            <p:ph idx="1"/>
          </p:nvPr>
        </p:nvSpPr>
        <p:spPr>
          <a:xfrm>
            <a:off x="1389612" y="1428749"/>
            <a:ext cx="9603275" cy="6105525"/>
          </a:xfrm>
        </p:spPr>
        <p:txBody>
          <a:bodyPr>
            <a:normAutofit/>
          </a:bodyPr>
          <a:lstStyle/>
          <a:p>
            <a:r>
              <a:rPr lang="en-US" dirty="0"/>
              <a:t>Unlike PCA, which optimizes for variance regardless of class labels, LDA aims to find a linear combination of features that separates different classes. It projects data onto a lower-dimensional space using class labels to accomplish this.</a:t>
            </a:r>
          </a:p>
          <a:p>
            <a:r>
              <a:rPr lang="en-US" dirty="0"/>
              <a:t>This method is highly efficient in scenarios where the division between categories of data is to be accentuated.</a:t>
            </a:r>
          </a:p>
        </p:txBody>
      </p:sp>
      <p:sp>
        <p:nvSpPr>
          <p:cNvPr id="4" name="Slide Number Placeholder 3"/>
          <p:cNvSpPr>
            <a:spLocks noGrp="1"/>
          </p:cNvSpPr>
          <p:nvPr>
            <p:ph type="sldNum" sz="quarter" idx="12"/>
          </p:nvPr>
        </p:nvSpPr>
        <p:spPr/>
        <p:txBody>
          <a:bodyPr/>
          <a:lstStyle/>
          <a:p>
            <a:fld id="{CBABCCC1-BF11-4F37-963E-1BCD5B23FD72}" type="slidenum">
              <a:rPr lang="en-IN" smtClean="0"/>
              <a:pPr/>
              <a:t>47</a:t>
            </a:fld>
            <a:endParaRPr lang="en-I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A466B-390E-3FAD-1DF1-55BE1AC704A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8B59BB4-F59E-2644-9568-801E9EFA006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63FDFD09-2B0D-FDB7-BD76-802D80C35B9D}"/>
              </a:ext>
            </a:extLst>
          </p:cNvPr>
          <p:cNvSpPr>
            <a:spLocks noGrp="1"/>
          </p:cNvSpPr>
          <p:nvPr>
            <p:ph type="sldNum" sz="quarter" idx="12"/>
          </p:nvPr>
        </p:nvSpPr>
        <p:spPr/>
        <p:txBody>
          <a:bodyPr/>
          <a:lstStyle/>
          <a:p>
            <a:fld id="{CBABCCC1-BF11-4F37-963E-1BCD5B23FD72}" type="slidenum">
              <a:rPr lang="en-IN" smtClean="0"/>
              <a:pPr/>
              <a:t>48</a:t>
            </a:fld>
            <a:endParaRPr lang="en-IN"/>
          </a:p>
        </p:txBody>
      </p:sp>
      <p:pic>
        <p:nvPicPr>
          <p:cNvPr id="12290" name="Picture 2"/>
          <p:cNvPicPr>
            <a:picLocks noChangeAspect="1" noChangeArrowheads="1"/>
          </p:cNvPicPr>
          <p:nvPr/>
        </p:nvPicPr>
        <p:blipFill>
          <a:blip r:embed="rId2" cstate="print"/>
          <a:srcRect/>
          <a:stretch>
            <a:fillRect/>
          </a:stretch>
        </p:blipFill>
        <p:spPr bwMode="auto">
          <a:xfrm>
            <a:off x="581024" y="485775"/>
            <a:ext cx="10696575" cy="5772149"/>
          </a:xfrm>
          <a:prstGeom prst="rect">
            <a:avLst/>
          </a:prstGeom>
          <a:noFill/>
          <a:ln w="9525">
            <a:noFill/>
            <a:miter lim="800000"/>
            <a:headEnd/>
            <a:tailEnd/>
          </a:ln>
        </p:spPr>
      </p:pic>
    </p:spTree>
    <p:extLst>
      <p:ext uri="{BB962C8B-B14F-4D97-AF65-F5344CB8AC3E}">
        <p14:creationId xmlns:p14="http://schemas.microsoft.com/office/powerpoint/2010/main" val="21611624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to Use LDA</a:t>
            </a:r>
          </a:p>
        </p:txBody>
      </p:sp>
      <p:sp>
        <p:nvSpPr>
          <p:cNvPr id="3" name="Content Placeholder 2"/>
          <p:cNvSpPr>
            <a:spLocks noGrp="1"/>
          </p:cNvSpPr>
          <p:nvPr>
            <p:ph idx="1"/>
          </p:nvPr>
        </p:nvSpPr>
        <p:spPr>
          <a:xfrm>
            <a:off x="1451579" y="1814945"/>
            <a:ext cx="9603275" cy="4322619"/>
          </a:xfrm>
        </p:spPr>
        <p:txBody>
          <a:bodyPr>
            <a:normAutofit fontScale="85000" lnSpcReduction="20000"/>
          </a:bodyPr>
          <a:lstStyle/>
          <a:p>
            <a:pPr>
              <a:buNone/>
            </a:pPr>
            <a:r>
              <a:rPr lang="en-US" dirty="0"/>
              <a:t>Using LDA for dimensionality reduction involves the following steps:</a:t>
            </a:r>
          </a:p>
          <a:p>
            <a:pPr algn="just"/>
            <a:r>
              <a:rPr lang="en-US" dirty="0"/>
              <a:t>1. Data Preprocessing: Prepare your dataset, ensuring it’s clean, and feature scaling may be required.</a:t>
            </a:r>
          </a:p>
          <a:p>
            <a:pPr algn="just"/>
            <a:r>
              <a:rPr lang="en-US" dirty="0"/>
              <a:t>2. Compute Class Means and Scatter Matrices: Calculate the mean vectors and scatter matrices for each class in the dataset.</a:t>
            </a:r>
          </a:p>
          <a:p>
            <a:pPr algn="just"/>
            <a:r>
              <a:rPr lang="en-US" dirty="0"/>
              <a:t>3. Compute Eigenvectors and </a:t>
            </a:r>
            <a:r>
              <a:rPr lang="en-US" dirty="0" err="1"/>
              <a:t>Eigenvalues</a:t>
            </a:r>
            <a:r>
              <a:rPr lang="en-US" dirty="0"/>
              <a:t>: Find the eigenvectors and </a:t>
            </a:r>
            <a:r>
              <a:rPr lang="en-US" dirty="0" err="1"/>
              <a:t>eigenvalues</a:t>
            </a:r>
            <a:r>
              <a:rPr lang="en-US" dirty="0"/>
              <a:t> of the generalized </a:t>
            </a:r>
            <a:r>
              <a:rPr lang="en-US" dirty="0" err="1"/>
              <a:t>eigenvalue</a:t>
            </a:r>
            <a:r>
              <a:rPr lang="en-US" dirty="0"/>
              <a:t> problem formed using the scatter matrices.</a:t>
            </a:r>
          </a:p>
          <a:p>
            <a:pPr algn="just"/>
            <a:r>
              <a:rPr lang="en-US" dirty="0"/>
              <a:t>4. Sort </a:t>
            </a:r>
            <a:r>
              <a:rPr lang="en-US" dirty="0" err="1"/>
              <a:t>Eigenvalues</a:t>
            </a:r>
            <a:r>
              <a:rPr lang="en-US" dirty="0"/>
              <a:t>: Sort the </a:t>
            </a:r>
            <a:r>
              <a:rPr lang="en-US" dirty="0" err="1"/>
              <a:t>eigenvalues</a:t>
            </a:r>
            <a:r>
              <a:rPr lang="en-US" dirty="0"/>
              <a:t> in descending order and select the top k eigenvectors corresponding to the k largest </a:t>
            </a:r>
            <a:r>
              <a:rPr lang="en-US" dirty="0" err="1"/>
              <a:t>eigenvalues</a:t>
            </a:r>
            <a:r>
              <a:rPr lang="en-US" dirty="0"/>
              <a:t> to form a transformation matrix.</a:t>
            </a:r>
          </a:p>
          <a:p>
            <a:pPr algn="just"/>
            <a:r>
              <a:rPr lang="en-US" dirty="0"/>
              <a:t>5. Project Data: Project your data onto the new k-dimensional subspace formed by the transformation matrix.</a:t>
            </a:r>
          </a:p>
        </p:txBody>
      </p:sp>
      <p:sp>
        <p:nvSpPr>
          <p:cNvPr id="4" name="Slide Number Placeholder 3"/>
          <p:cNvSpPr>
            <a:spLocks noGrp="1"/>
          </p:cNvSpPr>
          <p:nvPr>
            <p:ph type="sldNum" sz="quarter" idx="12"/>
          </p:nvPr>
        </p:nvSpPr>
        <p:spPr/>
        <p:txBody>
          <a:bodyPr/>
          <a:lstStyle/>
          <a:p>
            <a:fld id="{CBABCCC1-BF11-4F37-963E-1BCD5B23FD72}" type="slidenum">
              <a:rPr lang="en-IN" smtClean="0"/>
              <a:pPr/>
              <a:t>49</a:t>
            </a:fld>
            <a:endParaRPr lang="en-I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Content Placeholder 2"/>
          <p:cNvSpPr>
            <a:spLocks noGrp="1"/>
          </p:cNvSpPr>
          <p:nvPr>
            <p:ph idx="1"/>
          </p:nvPr>
        </p:nvSpPr>
        <p:spPr>
          <a:xfrm>
            <a:off x="1451579" y="1842656"/>
            <a:ext cx="9603275" cy="4267200"/>
          </a:xfrm>
        </p:spPr>
        <p:txBody>
          <a:bodyPr>
            <a:normAutofit fontScale="85000" lnSpcReduction="20000"/>
          </a:bodyPr>
          <a:lstStyle/>
          <a:p>
            <a:pPr algn="just"/>
            <a:r>
              <a:rPr lang="en-US" dirty="0"/>
              <a:t>LDA works by finding directions in the feature space that best separate the classes. It does this by maximizing the difference between the class means while minimizing the spread within each class.</a:t>
            </a:r>
          </a:p>
          <a:p>
            <a:pPr algn="just"/>
            <a:r>
              <a:rPr lang="en-US" dirty="0"/>
              <a:t>Let’s assume we have two classes with d-dimensional samples such as x1,x2,...</a:t>
            </a:r>
            <a:r>
              <a:rPr lang="en-US" dirty="0" err="1"/>
              <a:t>xn</a:t>
            </a:r>
            <a:r>
              <a:rPr lang="en-US" dirty="0"/>
              <a:t> where:</a:t>
            </a:r>
          </a:p>
          <a:p>
            <a:pPr algn="just"/>
            <a:r>
              <a:rPr lang="en-US" dirty="0"/>
              <a:t>n1​ samples belong to class c1</a:t>
            </a:r>
          </a:p>
          <a:p>
            <a:pPr algn="just"/>
            <a:r>
              <a:rPr lang="en-US" dirty="0"/>
              <a:t>n2​​ samples belong to class c2.</a:t>
            </a:r>
          </a:p>
          <a:p>
            <a:pPr algn="just"/>
            <a:r>
              <a:rPr lang="en-US" dirty="0"/>
              <a:t>If xi represents a data point its projection onto the line represented by the unit vector v is </a:t>
            </a:r>
          </a:p>
          <a:p>
            <a:pPr algn="just"/>
            <a:r>
              <a:rPr lang="en-US" dirty="0"/>
              <a:t>         Let the means of class c1​ and class c2 before projection be μ1μ1​​ and μ2μ2​ respectively. After projection the new means are</a:t>
            </a:r>
          </a:p>
          <a:p>
            <a:pPr algn="just"/>
            <a:r>
              <a:rPr lang="en-US" dirty="0"/>
              <a:t>Our aim to normalize the difference                   to maximize the class separation. The scatter for samples of class c1​​ is calculated as: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50</a:t>
            </a:fld>
            <a:endParaRPr lang="en-IN"/>
          </a:p>
        </p:txBody>
      </p:sp>
      <p:pic>
        <p:nvPicPr>
          <p:cNvPr id="13314" name="Picture 2"/>
          <p:cNvPicPr>
            <a:picLocks noChangeAspect="1" noChangeArrowheads="1"/>
          </p:cNvPicPr>
          <p:nvPr/>
        </p:nvPicPr>
        <p:blipFill>
          <a:blip r:embed="rId2" cstate="print"/>
          <a:srcRect/>
          <a:stretch>
            <a:fillRect/>
          </a:stretch>
        </p:blipFill>
        <p:spPr bwMode="auto">
          <a:xfrm>
            <a:off x="5323177" y="4952134"/>
            <a:ext cx="3405187" cy="361950"/>
          </a:xfrm>
          <a:prstGeom prst="rect">
            <a:avLst/>
          </a:prstGeom>
          <a:noFill/>
          <a:ln w="9525">
            <a:noFill/>
            <a:miter lim="800000"/>
            <a:headEnd/>
            <a:tailEnd/>
          </a:ln>
        </p:spPr>
      </p:pic>
      <p:pic>
        <p:nvPicPr>
          <p:cNvPr id="13315" name="Picture 3"/>
          <p:cNvPicPr>
            <a:picLocks noChangeAspect="1" noChangeArrowheads="1"/>
          </p:cNvPicPr>
          <p:nvPr/>
        </p:nvPicPr>
        <p:blipFill>
          <a:blip r:embed="rId3" cstate="print"/>
          <a:srcRect/>
          <a:stretch>
            <a:fillRect/>
          </a:stretch>
        </p:blipFill>
        <p:spPr bwMode="auto">
          <a:xfrm>
            <a:off x="5430981" y="5361709"/>
            <a:ext cx="1052945" cy="273626"/>
          </a:xfrm>
          <a:prstGeom prst="rect">
            <a:avLst/>
          </a:prstGeom>
          <a:noFill/>
          <a:ln w="9525">
            <a:noFill/>
            <a:miter lim="800000"/>
            <a:headEnd/>
            <a:tailEnd/>
          </a:ln>
        </p:spPr>
      </p:pic>
      <p:pic>
        <p:nvPicPr>
          <p:cNvPr id="13317" name="Picture 5"/>
          <p:cNvPicPr>
            <a:picLocks noChangeAspect="1" noChangeArrowheads="1"/>
          </p:cNvPicPr>
          <p:nvPr/>
        </p:nvPicPr>
        <p:blipFill>
          <a:blip r:embed="rId4" cstate="print"/>
          <a:srcRect/>
          <a:stretch>
            <a:fillRect/>
          </a:stretch>
        </p:blipFill>
        <p:spPr bwMode="auto">
          <a:xfrm>
            <a:off x="1856079" y="4443949"/>
            <a:ext cx="429921" cy="356220"/>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5ED10-6589-6D9C-7A1B-8EDA10CDA29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BAAC277-96D1-C606-8D0C-F75E27EAF3ED}"/>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AA7E605C-C66B-2387-1965-BB5E6D4318E5}"/>
              </a:ext>
            </a:extLst>
          </p:cNvPr>
          <p:cNvSpPr>
            <a:spLocks noGrp="1"/>
          </p:cNvSpPr>
          <p:nvPr>
            <p:ph type="sldNum" sz="quarter" idx="12"/>
          </p:nvPr>
        </p:nvSpPr>
        <p:spPr/>
        <p:txBody>
          <a:bodyPr/>
          <a:lstStyle/>
          <a:p>
            <a:fld id="{CBABCCC1-BF11-4F37-963E-1BCD5B23FD72}" type="slidenum">
              <a:rPr lang="en-IN" smtClean="0"/>
              <a:pPr/>
              <a:t>51</a:t>
            </a:fld>
            <a:endParaRPr lang="en-IN"/>
          </a:p>
        </p:txBody>
      </p:sp>
      <p:pic>
        <p:nvPicPr>
          <p:cNvPr id="6" name="Picture 5">
            <a:extLst>
              <a:ext uri="{FF2B5EF4-FFF2-40B4-BE49-F238E27FC236}">
                <a16:creationId xmlns:a16="http://schemas.microsoft.com/office/drawing/2014/main" id="{4BCC42FF-311C-8551-AF26-1EA5A248B099}"/>
              </a:ext>
            </a:extLst>
          </p:cNvPr>
          <p:cNvPicPr>
            <a:picLocks noChangeAspect="1"/>
          </p:cNvPicPr>
          <p:nvPr/>
        </p:nvPicPr>
        <p:blipFill>
          <a:blip r:embed="rId2"/>
          <a:stretch>
            <a:fillRect/>
          </a:stretch>
        </p:blipFill>
        <p:spPr>
          <a:xfrm>
            <a:off x="251597" y="85258"/>
            <a:ext cx="11688806" cy="6687483"/>
          </a:xfrm>
          <a:prstGeom prst="rect">
            <a:avLst/>
          </a:prstGeom>
        </p:spPr>
      </p:pic>
    </p:spTree>
    <p:extLst>
      <p:ext uri="{BB962C8B-B14F-4D97-AF65-F5344CB8AC3E}">
        <p14:creationId xmlns:p14="http://schemas.microsoft.com/office/powerpoint/2010/main" val="35269470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pic>
        <p:nvPicPr>
          <p:cNvPr id="14338" name="Picture 2"/>
          <p:cNvPicPr>
            <a:picLocks noGrp="1" noChangeAspect="1" noChangeArrowheads="1"/>
          </p:cNvPicPr>
          <p:nvPr>
            <p:ph idx="1"/>
          </p:nvPr>
        </p:nvPicPr>
        <p:blipFill>
          <a:blip r:embed="rId2" cstate="print"/>
          <a:stretch>
            <a:fillRect/>
          </a:stretch>
        </p:blipFill>
        <p:spPr bwMode="auto">
          <a:xfrm>
            <a:off x="1152526" y="733425"/>
            <a:ext cx="9115424" cy="640003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52</a:t>
            </a:fld>
            <a:endParaRPr lang="en-IN"/>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42" name="Picture 2"/>
          <p:cNvPicPr>
            <a:picLocks noGrp="1" noChangeAspect="1" noChangeArrowheads="1"/>
          </p:cNvPicPr>
          <p:nvPr>
            <p:ph idx="1"/>
          </p:nvPr>
        </p:nvPicPr>
        <p:blipFill>
          <a:blip r:embed="rId2" cstate="print"/>
          <a:srcRect/>
          <a:stretch>
            <a:fillRect/>
          </a:stretch>
        </p:blipFill>
        <p:spPr bwMode="auto">
          <a:xfrm>
            <a:off x="1413164" y="193964"/>
            <a:ext cx="9850581" cy="5805054"/>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53</a:t>
            </a:fld>
            <a:endParaRPr lang="en-IN"/>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9FD03-AE6B-EE82-DBBA-8BC2C91F091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F4456AD-7251-ABFF-BEDB-7771FC5AB010}"/>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86454031-9375-6F77-A1C9-78CB48E6A1A8}"/>
              </a:ext>
            </a:extLst>
          </p:cNvPr>
          <p:cNvSpPr>
            <a:spLocks noGrp="1"/>
          </p:cNvSpPr>
          <p:nvPr>
            <p:ph type="sldNum" sz="quarter" idx="12"/>
          </p:nvPr>
        </p:nvSpPr>
        <p:spPr/>
        <p:txBody>
          <a:bodyPr/>
          <a:lstStyle/>
          <a:p>
            <a:fld id="{CBABCCC1-BF11-4F37-963E-1BCD5B23FD72}" type="slidenum">
              <a:rPr lang="en-IN" smtClean="0"/>
              <a:pPr/>
              <a:t>54</a:t>
            </a:fld>
            <a:endParaRPr lang="en-IN"/>
          </a:p>
        </p:txBody>
      </p:sp>
      <p:pic>
        <p:nvPicPr>
          <p:cNvPr id="6" name="Picture 5">
            <a:extLst>
              <a:ext uri="{FF2B5EF4-FFF2-40B4-BE49-F238E27FC236}">
                <a16:creationId xmlns:a16="http://schemas.microsoft.com/office/drawing/2014/main" id="{3AE0422F-A898-E71E-70EA-31A2813A5228}"/>
              </a:ext>
            </a:extLst>
          </p:cNvPr>
          <p:cNvPicPr>
            <a:picLocks noChangeAspect="1"/>
          </p:cNvPicPr>
          <p:nvPr/>
        </p:nvPicPr>
        <p:blipFill>
          <a:blip r:embed="rId2"/>
          <a:stretch>
            <a:fillRect/>
          </a:stretch>
        </p:blipFill>
        <p:spPr>
          <a:xfrm>
            <a:off x="1118493" y="228600"/>
            <a:ext cx="9955014" cy="6127750"/>
          </a:xfrm>
          <a:prstGeom prst="rect">
            <a:avLst/>
          </a:prstGeom>
        </p:spPr>
      </p:pic>
    </p:spTree>
    <p:extLst>
      <p:ext uri="{BB962C8B-B14F-4D97-AF65-F5344CB8AC3E}">
        <p14:creationId xmlns:p14="http://schemas.microsoft.com/office/powerpoint/2010/main" val="31577803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DD6A3-B2E2-5B2E-F8C7-E7EFEA1D175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F88F2E1-3B28-E670-A612-537AADD4BA00}"/>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B8A535F7-1299-BD00-1F69-5662EAA5F131}"/>
              </a:ext>
            </a:extLst>
          </p:cNvPr>
          <p:cNvSpPr>
            <a:spLocks noGrp="1"/>
          </p:cNvSpPr>
          <p:nvPr>
            <p:ph type="sldNum" sz="quarter" idx="12"/>
          </p:nvPr>
        </p:nvSpPr>
        <p:spPr/>
        <p:txBody>
          <a:bodyPr/>
          <a:lstStyle/>
          <a:p>
            <a:fld id="{CBABCCC1-BF11-4F37-963E-1BCD5B23FD72}" type="slidenum">
              <a:rPr lang="en-IN" smtClean="0"/>
              <a:pPr/>
              <a:t>55</a:t>
            </a:fld>
            <a:endParaRPr lang="en-IN"/>
          </a:p>
        </p:txBody>
      </p:sp>
      <p:pic>
        <p:nvPicPr>
          <p:cNvPr id="6" name="Picture 5">
            <a:extLst>
              <a:ext uri="{FF2B5EF4-FFF2-40B4-BE49-F238E27FC236}">
                <a16:creationId xmlns:a16="http://schemas.microsoft.com/office/drawing/2014/main" id="{7DC0349E-2218-A586-878D-00A469826B89}"/>
              </a:ext>
            </a:extLst>
          </p:cNvPr>
          <p:cNvPicPr>
            <a:picLocks noChangeAspect="1"/>
          </p:cNvPicPr>
          <p:nvPr/>
        </p:nvPicPr>
        <p:blipFill>
          <a:blip r:embed="rId2"/>
          <a:stretch>
            <a:fillRect/>
          </a:stretch>
        </p:blipFill>
        <p:spPr>
          <a:xfrm>
            <a:off x="2156863" y="2514472"/>
            <a:ext cx="7878274" cy="1829055"/>
          </a:xfrm>
          <a:prstGeom prst="rect">
            <a:avLst/>
          </a:prstGeom>
        </p:spPr>
      </p:pic>
    </p:spTree>
    <p:extLst>
      <p:ext uri="{BB962C8B-B14F-4D97-AF65-F5344CB8AC3E}">
        <p14:creationId xmlns:p14="http://schemas.microsoft.com/office/powerpoint/2010/main" val="21170720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05AA2-44B9-1EE3-C91B-ACD3BFBB9B5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5F03A65-EEF9-4433-DBB9-D5A2FC2B7A26}"/>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F80E90C0-0D69-7F7E-949F-F947426E02D9}"/>
              </a:ext>
            </a:extLst>
          </p:cNvPr>
          <p:cNvSpPr>
            <a:spLocks noGrp="1"/>
          </p:cNvSpPr>
          <p:nvPr>
            <p:ph type="sldNum" sz="quarter" idx="12"/>
          </p:nvPr>
        </p:nvSpPr>
        <p:spPr/>
        <p:txBody>
          <a:bodyPr/>
          <a:lstStyle/>
          <a:p>
            <a:fld id="{CBABCCC1-BF11-4F37-963E-1BCD5B23FD72}" type="slidenum">
              <a:rPr lang="en-IN" smtClean="0"/>
              <a:pPr/>
              <a:t>56</a:t>
            </a:fld>
            <a:endParaRPr lang="en-IN"/>
          </a:p>
        </p:txBody>
      </p:sp>
      <p:pic>
        <p:nvPicPr>
          <p:cNvPr id="6" name="Picture 5">
            <a:extLst>
              <a:ext uri="{FF2B5EF4-FFF2-40B4-BE49-F238E27FC236}">
                <a16:creationId xmlns:a16="http://schemas.microsoft.com/office/drawing/2014/main" id="{0C02EC27-2CAC-061B-A2C2-1E9C96D012B5}"/>
              </a:ext>
            </a:extLst>
          </p:cNvPr>
          <p:cNvPicPr>
            <a:picLocks noChangeAspect="1"/>
          </p:cNvPicPr>
          <p:nvPr/>
        </p:nvPicPr>
        <p:blipFill>
          <a:blip r:embed="rId2"/>
          <a:stretch>
            <a:fillRect/>
          </a:stretch>
        </p:blipFill>
        <p:spPr>
          <a:xfrm>
            <a:off x="2022975" y="0"/>
            <a:ext cx="8146050" cy="6858000"/>
          </a:xfrm>
          <a:prstGeom prst="rect">
            <a:avLst/>
          </a:prstGeom>
        </p:spPr>
      </p:pic>
    </p:spTree>
    <p:extLst>
      <p:ext uri="{BB962C8B-B14F-4D97-AF65-F5344CB8AC3E}">
        <p14:creationId xmlns:p14="http://schemas.microsoft.com/office/powerpoint/2010/main" val="26957486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C3D3C-1FA5-C674-3B69-0249488EF59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2F23E9D-2F7E-F539-1722-7FE335F00A0D}"/>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4803C8B-8895-7348-D3C4-BE7A2095B205}"/>
              </a:ext>
            </a:extLst>
          </p:cNvPr>
          <p:cNvSpPr>
            <a:spLocks noGrp="1"/>
          </p:cNvSpPr>
          <p:nvPr>
            <p:ph type="sldNum" sz="quarter" idx="12"/>
          </p:nvPr>
        </p:nvSpPr>
        <p:spPr/>
        <p:txBody>
          <a:bodyPr/>
          <a:lstStyle/>
          <a:p>
            <a:fld id="{CBABCCC1-BF11-4F37-963E-1BCD5B23FD72}" type="slidenum">
              <a:rPr lang="en-IN" smtClean="0"/>
              <a:pPr/>
              <a:t>57</a:t>
            </a:fld>
            <a:endParaRPr lang="en-IN"/>
          </a:p>
        </p:txBody>
      </p:sp>
      <p:pic>
        <p:nvPicPr>
          <p:cNvPr id="6" name="Picture 5">
            <a:extLst>
              <a:ext uri="{FF2B5EF4-FFF2-40B4-BE49-F238E27FC236}">
                <a16:creationId xmlns:a16="http://schemas.microsoft.com/office/drawing/2014/main" id="{DF0A27A1-2618-D429-D9D7-80817EE15198}"/>
              </a:ext>
            </a:extLst>
          </p:cNvPr>
          <p:cNvPicPr>
            <a:picLocks noChangeAspect="1"/>
          </p:cNvPicPr>
          <p:nvPr/>
        </p:nvPicPr>
        <p:blipFill>
          <a:blip r:embed="rId2"/>
          <a:stretch>
            <a:fillRect/>
          </a:stretch>
        </p:blipFill>
        <p:spPr>
          <a:xfrm>
            <a:off x="1270937" y="681037"/>
            <a:ext cx="9650125" cy="5675314"/>
          </a:xfrm>
          <a:prstGeom prst="rect">
            <a:avLst/>
          </a:prstGeom>
        </p:spPr>
      </p:pic>
    </p:spTree>
    <p:extLst>
      <p:ext uri="{BB962C8B-B14F-4D97-AF65-F5344CB8AC3E}">
        <p14:creationId xmlns:p14="http://schemas.microsoft.com/office/powerpoint/2010/main" val="42304073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90FDD-7C9D-BD5D-8775-FF0F66F5EE7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97D9C5F-56EA-29F8-C309-529F310C0B6D}"/>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446958DE-6CC8-535C-2E65-EB9F0896874C}"/>
              </a:ext>
            </a:extLst>
          </p:cNvPr>
          <p:cNvSpPr>
            <a:spLocks noGrp="1"/>
          </p:cNvSpPr>
          <p:nvPr>
            <p:ph type="sldNum" sz="quarter" idx="12"/>
          </p:nvPr>
        </p:nvSpPr>
        <p:spPr/>
        <p:txBody>
          <a:bodyPr/>
          <a:lstStyle/>
          <a:p>
            <a:fld id="{CBABCCC1-BF11-4F37-963E-1BCD5B23FD72}" type="slidenum">
              <a:rPr lang="en-IN" smtClean="0"/>
              <a:pPr/>
              <a:t>58</a:t>
            </a:fld>
            <a:endParaRPr lang="en-IN"/>
          </a:p>
        </p:txBody>
      </p:sp>
      <p:pic>
        <p:nvPicPr>
          <p:cNvPr id="6" name="Picture 5">
            <a:extLst>
              <a:ext uri="{FF2B5EF4-FFF2-40B4-BE49-F238E27FC236}">
                <a16:creationId xmlns:a16="http://schemas.microsoft.com/office/drawing/2014/main" id="{0DD08636-05FF-CB0F-7040-A05DD23F093A}"/>
              </a:ext>
            </a:extLst>
          </p:cNvPr>
          <p:cNvPicPr>
            <a:picLocks noChangeAspect="1"/>
          </p:cNvPicPr>
          <p:nvPr/>
        </p:nvPicPr>
        <p:blipFill>
          <a:blip r:embed="rId2"/>
          <a:stretch>
            <a:fillRect/>
          </a:stretch>
        </p:blipFill>
        <p:spPr>
          <a:xfrm>
            <a:off x="1615502" y="365124"/>
            <a:ext cx="8960995" cy="5811839"/>
          </a:xfrm>
          <a:prstGeom prst="rect">
            <a:avLst/>
          </a:prstGeom>
        </p:spPr>
      </p:pic>
    </p:spTree>
    <p:extLst>
      <p:ext uri="{BB962C8B-B14F-4D97-AF65-F5344CB8AC3E}">
        <p14:creationId xmlns:p14="http://schemas.microsoft.com/office/powerpoint/2010/main" val="23249008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A1004-0F5D-AEF1-6431-830D075B811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F19D465-149C-D1B7-97C0-9ED07397D582}"/>
              </a:ext>
            </a:extLst>
          </p:cNvPr>
          <p:cNvSpPr>
            <a:spLocks noGrp="1"/>
          </p:cNvSpPr>
          <p:nvPr>
            <p:ph idx="1"/>
          </p:nvPr>
        </p:nvSpPr>
        <p:spPr>
          <a:xfrm>
            <a:off x="1561146" y="1825625"/>
            <a:ext cx="9069705" cy="4351338"/>
          </a:xfrm>
        </p:spPr>
        <p:txBody>
          <a:bodyPr/>
          <a:lstStyle/>
          <a:p>
            <a:endParaRPr lang="en-IN"/>
          </a:p>
        </p:txBody>
      </p:sp>
      <p:sp>
        <p:nvSpPr>
          <p:cNvPr id="4" name="Slide Number Placeholder 3">
            <a:extLst>
              <a:ext uri="{FF2B5EF4-FFF2-40B4-BE49-F238E27FC236}">
                <a16:creationId xmlns:a16="http://schemas.microsoft.com/office/drawing/2014/main" id="{8BA1A77D-CC13-E14D-9734-11406B6AE649}"/>
              </a:ext>
            </a:extLst>
          </p:cNvPr>
          <p:cNvSpPr>
            <a:spLocks noGrp="1"/>
          </p:cNvSpPr>
          <p:nvPr>
            <p:ph type="sldNum" sz="quarter" idx="12"/>
          </p:nvPr>
        </p:nvSpPr>
        <p:spPr/>
        <p:txBody>
          <a:bodyPr/>
          <a:lstStyle/>
          <a:p>
            <a:fld id="{CBABCCC1-BF11-4F37-963E-1BCD5B23FD72}" type="slidenum">
              <a:rPr lang="en-IN" smtClean="0"/>
              <a:pPr/>
              <a:t>59</a:t>
            </a:fld>
            <a:endParaRPr lang="en-IN"/>
          </a:p>
        </p:txBody>
      </p:sp>
      <p:pic>
        <p:nvPicPr>
          <p:cNvPr id="6" name="Picture 5">
            <a:extLst>
              <a:ext uri="{FF2B5EF4-FFF2-40B4-BE49-F238E27FC236}">
                <a16:creationId xmlns:a16="http://schemas.microsoft.com/office/drawing/2014/main" id="{FA7CB900-551D-0716-0FFF-8162812BF150}"/>
              </a:ext>
            </a:extLst>
          </p:cNvPr>
          <p:cNvPicPr>
            <a:picLocks noChangeAspect="1"/>
          </p:cNvPicPr>
          <p:nvPr/>
        </p:nvPicPr>
        <p:blipFill>
          <a:blip r:embed="rId2"/>
          <a:stretch>
            <a:fillRect/>
          </a:stretch>
        </p:blipFill>
        <p:spPr>
          <a:xfrm>
            <a:off x="838200" y="1425222"/>
            <a:ext cx="10515600" cy="4007555"/>
          </a:xfrm>
          <a:prstGeom prst="rect">
            <a:avLst/>
          </a:prstGeom>
        </p:spPr>
      </p:pic>
    </p:spTree>
    <p:extLst>
      <p:ext uri="{BB962C8B-B14F-4D97-AF65-F5344CB8AC3E}">
        <p14:creationId xmlns:p14="http://schemas.microsoft.com/office/powerpoint/2010/main" val="16498567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C6CD7-2454-FB48-B218-8201FD94C3C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376BC6A-79D2-4DC7-4A02-6ACB9C4AD496}"/>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2783D9C4-3581-FE27-00AF-2F4F46183DD9}"/>
              </a:ext>
            </a:extLst>
          </p:cNvPr>
          <p:cNvSpPr>
            <a:spLocks noGrp="1"/>
          </p:cNvSpPr>
          <p:nvPr>
            <p:ph type="sldNum" sz="quarter" idx="12"/>
          </p:nvPr>
        </p:nvSpPr>
        <p:spPr/>
        <p:txBody>
          <a:bodyPr/>
          <a:lstStyle/>
          <a:p>
            <a:fld id="{CBABCCC1-BF11-4F37-963E-1BCD5B23FD72}" type="slidenum">
              <a:rPr lang="en-IN" smtClean="0"/>
              <a:pPr/>
              <a:t>60</a:t>
            </a:fld>
            <a:endParaRPr lang="en-IN"/>
          </a:p>
        </p:txBody>
      </p:sp>
      <p:pic>
        <p:nvPicPr>
          <p:cNvPr id="6" name="Picture 5">
            <a:extLst>
              <a:ext uri="{FF2B5EF4-FFF2-40B4-BE49-F238E27FC236}">
                <a16:creationId xmlns:a16="http://schemas.microsoft.com/office/drawing/2014/main" id="{E08E1D61-8354-B11C-1E4C-501A49A75C6D}"/>
              </a:ext>
            </a:extLst>
          </p:cNvPr>
          <p:cNvPicPr>
            <a:picLocks noChangeAspect="1"/>
          </p:cNvPicPr>
          <p:nvPr/>
        </p:nvPicPr>
        <p:blipFill>
          <a:blip r:embed="rId2"/>
          <a:stretch>
            <a:fillRect/>
          </a:stretch>
        </p:blipFill>
        <p:spPr>
          <a:xfrm>
            <a:off x="0" y="1291625"/>
            <a:ext cx="12192000" cy="4274749"/>
          </a:xfrm>
          <a:prstGeom prst="rect">
            <a:avLst/>
          </a:prstGeom>
        </p:spPr>
      </p:pic>
    </p:spTree>
    <p:extLst>
      <p:ext uri="{BB962C8B-B14F-4D97-AF65-F5344CB8AC3E}">
        <p14:creationId xmlns:p14="http://schemas.microsoft.com/office/powerpoint/2010/main" val="1297103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1266" name="Picture 2"/>
          <p:cNvPicPr>
            <a:picLocks noGrp="1" noChangeAspect="1" noChangeArrowheads="1"/>
          </p:cNvPicPr>
          <p:nvPr>
            <p:ph idx="1"/>
          </p:nvPr>
        </p:nvPicPr>
        <p:blipFill>
          <a:blip r:embed="rId2" cstate="print"/>
          <a:srcRect/>
          <a:stretch>
            <a:fillRect/>
          </a:stretch>
        </p:blipFill>
        <p:spPr bwMode="auto">
          <a:xfrm>
            <a:off x="1330036" y="221673"/>
            <a:ext cx="10002982" cy="57912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61</a:t>
            </a:fld>
            <a:endParaRPr lang="en-IN"/>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2290" name="Picture 2"/>
          <p:cNvPicPr>
            <a:picLocks noGrp="1" noChangeAspect="1" noChangeArrowheads="1"/>
          </p:cNvPicPr>
          <p:nvPr>
            <p:ph idx="1"/>
          </p:nvPr>
        </p:nvPicPr>
        <p:blipFill>
          <a:blip r:embed="rId2" cstate="print"/>
          <a:srcRect/>
          <a:stretch>
            <a:fillRect/>
          </a:stretch>
        </p:blipFill>
        <p:spPr bwMode="auto">
          <a:xfrm>
            <a:off x="1427018" y="360218"/>
            <a:ext cx="9878291" cy="5763491"/>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62</a:t>
            </a:fld>
            <a:endParaRPr lang="en-IN"/>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3314" name="Picture 2"/>
          <p:cNvPicPr>
            <a:picLocks noGrp="1" noChangeAspect="1" noChangeArrowheads="1"/>
          </p:cNvPicPr>
          <p:nvPr>
            <p:ph idx="1"/>
          </p:nvPr>
        </p:nvPicPr>
        <p:blipFill>
          <a:blip r:embed="rId2" cstate="print"/>
          <a:srcRect/>
          <a:stretch>
            <a:fillRect/>
          </a:stretch>
        </p:blipFill>
        <p:spPr bwMode="auto">
          <a:xfrm>
            <a:off x="1468582" y="263236"/>
            <a:ext cx="9822873" cy="57912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63</a:t>
            </a:fld>
            <a:endParaRPr lang="en-IN"/>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4338" name="Picture 2"/>
          <p:cNvPicPr>
            <a:picLocks noGrp="1" noChangeAspect="1" noChangeArrowheads="1"/>
          </p:cNvPicPr>
          <p:nvPr>
            <p:ph idx="1"/>
          </p:nvPr>
        </p:nvPicPr>
        <p:blipFill>
          <a:blip r:embed="rId2" cstate="print"/>
          <a:srcRect/>
          <a:stretch>
            <a:fillRect/>
          </a:stretch>
        </p:blipFill>
        <p:spPr bwMode="auto">
          <a:xfrm>
            <a:off x="1440873" y="180108"/>
            <a:ext cx="9850582" cy="5915891"/>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64</a:t>
            </a:fld>
            <a:endParaRPr lang="en-IN"/>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5362" name="Picture 2"/>
          <p:cNvPicPr>
            <a:picLocks noGrp="1" noChangeAspect="1" noChangeArrowheads="1"/>
          </p:cNvPicPr>
          <p:nvPr>
            <p:ph idx="1"/>
          </p:nvPr>
        </p:nvPicPr>
        <p:blipFill>
          <a:blip r:embed="rId2" cstate="print"/>
          <a:srcRect/>
          <a:stretch>
            <a:fillRect/>
          </a:stretch>
        </p:blipFill>
        <p:spPr bwMode="auto">
          <a:xfrm>
            <a:off x="1440873" y="318655"/>
            <a:ext cx="10016836" cy="5749636"/>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65</a:t>
            </a:fld>
            <a:endParaRPr lang="en-IN"/>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6386" name="Picture 2"/>
          <p:cNvPicPr>
            <a:picLocks noGrp="1" noChangeAspect="1" noChangeArrowheads="1"/>
          </p:cNvPicPr>
          <p:nvPr>
            <p:ph idx="1"/>
          </p:nvPr>
        </p:nvPicPr>
        <p:blipFill>
          <a:blip r:embed="rId2" cstate="print"/>
          <a:srcRect/>
          <a:stretch>
            <a:fillRect/>
          </a:stretch>
        </p:blipFill>
        <p:spPr bwMode="auto">
          <a:xfrm>
            <a:off x="1413164" y="249382"/>
            <a:ext cx="10141527" cy="57912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66</a:t>
            </a:fld>
            <a:endParaRPr lang="en-IN"/>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7410" name="Picture 2"/>
          <p:cNvPicPr>
            <a:picLocks noGrp="1" noChangeAspect="1" noChangeArrowheads="1"/>
          </p:cNvPicPr>
          <p:nvPr>
            <p:ph idx="1"/>
          </p:nvPr>
        </p:nvPicPr>
        <p:blipFill>
          <a:blip r:embed="rId2" cstate="print"/>
          <a:srcRect/>
          <a:stretch>
            <a:fillRect/>
          </a:stretch>
        </p:blipFill>
        <p:spPr bwMode="auto">
          <a:xfrm>
            <a:off x="1413164" y="221673"/>
            <a:ext cx="9850581" cy="5846618"/>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67</a:t>
            </a:fld>
            <a:endParaRPr lang="en-IN"/>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68</a:t>
            </a:fld>
            <a:endParaRPr lang="en-IN"/>
          </a:p>
        </p:txBody>
      </p:sp>
      <p:sp>
        <p:nvSpPr>
          <p:cNvPr id="9" name="Rounded Rectangle 3"/>
          <p:cNvSpPr/>
          <p:nvPr/>
        </p:nvSpPr>
        <p:spPr>
          <a:xfrm>
            <a:off x="2541453" y="247782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AI &amp;ML</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05AAD38-12D8-4D59-9249-DB97B10A7233}">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3989</TotalTime>
  <Words>3429</Words>
  <Application>Microsoft Office PowerPoint</Application>
  <PresentationFormat>Widescreen</PresentationFormat>
  <Paragraphs>242</Paragraphs>
  <Slides>68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68</vt:i4>
      </vt:variant>
    </vt:vector>
  </HeadingPairs>
  <TitlesOfParts>
    <vt:vector size="74" baseType="lpstr">
      <vt:lpstr>Arial</vt:lpstr>
      <vt:lpstr>BioRhyme ExtraBold</vt:lpstr>
      <vt:lpstr>Calibri</vt:lpstr>
      <vt:lpstr>Calibri Light</vt:lpstr>
      <vt:lpstr>Poppins</vt:lpstr>
      <vt:lpstr>Office Theme</vt:lpstr>
      <vt:lpstr>PowerPoint Presentation</vt:lpstr>
      <vt:lpstr>    cluster validity metrics</vt:lpstr>
      <vt:lpstr>Why Use Cluster Validity Metrics?</vt:lpstr>
      <vt:lpstr>Categories of Cluster Validity Metrics</vt:lpstr>
      <vt:lpstr>PowerPoint Presentation</vt:lpstr>
      <vt:lpstr>PowerPoint Presentation</vt:lpstr>
      <vt:lpstr>External Metrics (Extrinsic Evaluation):</vt:lpstr>
      <vt:lpstr>PowerPoint Presentation</vt:lpstr>
      <vt:lpstr>PowerPoint Presentation</vt:lpstr>
      <vt:lpstr>PowerPoint Presentation</vt:lpstr>
      <vt:lpstr>Mutual Information (MI) </vt:lpstr>
      <vt:lpstr>CONTD..</vt:lpstr>
      <vt:lpstr>Dimensionality Reduction </vt:lpstr>
      <vt:lpstr>Two ways of Dimensionality Reduction</vt:lpstr>
      <vt:lpstr>Feature Selection – 3 Methods </vt:lpstr>
      <vt:lpstr>CONTD..</vt:lpstr>
      <vt:lpstr>Dimensionality Reduction: PCA</vt:lpstr>
      <vt:lpstr>What Are Principal Components?</vt:lpstr>
      <vt:lpstr>CONTD..</vt:lpstr>
      <vt:lpstr>How Principal Component Analysis Works: 5 Steps</vt:lpstr>
      <vt:lpstr>PowerPoint Presentation</vt:lpstr>
      <vt:lpstr>CONTD..</vt:lpstr>
      <vt:lpstr>PowerPoint Presentation</vt:lpstr>
      <vt:lpstr>CONTD..</vt:lpstr>
      <vt:lpstr>PowerPoint Presentation</vt:lpstr>
      <vt:lpstr>PowerPoint Presentation</vt:lpstr>
      <vt:lpstr>PowerPoint Presentation</vt:lpstr>
      <vt:lpstr>PowerPoint Presentation</vt:lpstr>
      <vt:lpstr>PowerPoint Presentation</vt:lpstr>
      <vt:lpstr>PowerPoint Presentation</vt:lpstr>
      <vt:lpstr>CONTD..</vt:lpstr>
      <vt:lpstr>PowerPoint Presentation</vt:lpstr>
      <vt:lpstr>CONTD..</vt:lpstr>
      <vt:lpstr>CONTD..</vt:lpstr>
      <vt:lpstr>Here’s how PCA works:</vt:lpstr>
      <vt:lpstr>CONTD..</vt:lpstr>
      <vt:lpstr>Given the data in Table, reduce the dimension from 2 to 1 using the Principal Component Analysis (PCA)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Linear Discriminant Analysis</vt:lpstr>
      <vt:lpstr>CONTD..</vt:lpstr>
      <vt:lpstr>PowerPoint Presentation</vt:lpstr>
      <vt:lpstr>How to Use LDA</vt:lpstr>
      <vt:lpstr>CONTD..</vt:lpstr>
      <vt:lpstr>PowerPoint Presentation</vt:lpstr>
      <vt:lpstr>CONTD..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Narendra Babu T</dc:creator>
  <cp:lastModifiedBy>Harsha Abhi</cp:lastModifiedBy>
  <cp:revision>108</cp:revision>
  <dcterms:created xsi:type="dcterms:W3CDTF">2023-05-06T03:47:00Z</dcterms:created>
  <dcterms:modified xsi:type="dcterms:W3CDTF">2025-11-09T17:48:34Z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6E6046E1B8564DE48E72D44BA630FF3F_13</vt:lpwstr>
  </property>
  <property fmtid="{D5CDD505-2E9C-101B-9397-08002B2CF9AE}" pid="3" name="KSOProductBuildVer">
    <vt:lpwstr>1033-12.2.0.17119</vt:lpwstr>
  </property>
</Properties>
</file>