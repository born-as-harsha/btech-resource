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Default Extension="svg" ContentType="image/svg+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9"/>
  </p:notesMasterIdLst>
  <p:handoutMasterIdLst>
    <p:handoutMasterId r:id="rId20"/>
  </p:handoutMasterIdLst>
  <p:sldIdLst>
    <p:sldId id="256" r:id="rId2"/>
    <p:sldId id="272" r:id="rId3"/>
    <p:sldId id="280" r:id="rId4"/>
    <p:sldId id="388" r:id="rId5"/>
    <p:sldId id="394" r:id="rId6"/>
    <p:sldId id="389" r:id="rId7"/>
    <p:sldId id="392" r:id="rId8"/>
    <p:sldId id="387" r:id="rId9"/>
    <p:sldId id="332" r:id="rId10"/>
    <p:sldId id="342" r:id="rId11"/>
    <p:sldId id="344" r:id="rId12"/>
    <p:sldId id="345" r:id="rId13"/>
    <p:sldId id="346" r:id="rId14"/>
    <p:sldId id="300" r:id="rId15"/>
    <p:sldId id="284" r:id="rId16"/>
    <p:sldId id="323" r:id="rId17"/>
    <p:sldId id="286"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p:restoredLeft sz="0" autoAdjust="0"/>
    <p:restoredTop sz="94773" autoAdjust="0"/>
  </p:normalViewPr>
  <p:slideViewPr>
    <p:cSldViewPr snapToGrid="0">
      <p:cViewPr varScale="1">
        <p:scale>
          <a:sx n="69" d="100"/>
          <a:sy n="69" d="100"/>
        </p:scale>
        <p:origin x="-1242" y="-10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pPr/>
              <a:t>14-09-2025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pPr/>
              <a:t>‹#›</a:t>
            </a:fld>
            <a:endParaRPr lang="en-IN"/>
          </a:p>
        </p:txBody>
      </p:sp>
    </p:spTree>
    <p:extLst>
      <p:ext uri="{BB962C8B-B14F-4D97-AF65-F5344CB8AC3E}">
        <p14:creationId xmlns="" xmlns:p14="http://schemas.microsoft.com/office/powerpoint/2010/main" val="1"/>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pPr/>
              <a:t>14-09-2025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pPr/>
              <a:t>‹#›</a:t>
            </a:fld>
            <a:endParaRPr lang="en-IN"/>
          </a:p>
        </p:txBody>
      </p:sp>
    </p:spTree>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r>
              <a:rPr lang="en-IN"/>
              <a:t>Course Title, Topic Name</a:t>
            </a:r>
          </a:p>
        </p:txBody>
      </p:sp>
      <p:sp>
        <p:nvSpPr>
          <p:cNvPr id="5" name="Footer Placeholder 4"/>
          <p:cNvSpPr>
            <a:spLocks noGrp="1"/>
          </p:cNvSpPr>
          <p:nvPr>
            <p:ph type="ftr" sz="quarter" idx="4"/>
          </p:nvPr>
        </p:nvSpPr>
        <p:spPr/>
        <p:txBody>
          <a:bodyPr/>
          <a:lstStyle/>
          <a:p>
            <a:r>
              <a:rPr lang="en-US"/>
              <a:t>College of Engineering, KONERU LAKSHMAIAH EDUCATION FOUNDATION</a:t>
            </a:r>
            <a:endParaRPr lang="en-IN"/>
          </a:p>
        </p:txBody>
      </p:sp>
      <p:sp>
        <p:nvSpPr>
          <p:cNvPr id="6" name="Slide Number Placeholder 5"/>
          <p:cNvSpPr>
            <a:spLocks noGrp="1"/>
          </p:cNvSpPr>
          <p:nvPr>
            <p:ph type="sldNum" sz="quarter" idx="5"/>
          </p:nvPr>
        </p:nvSpPr>
        <p:spPr/>
        <p:txBody>
          <a:bodyPr/>
          <a:lstStyle/>
          <a:p>
            <a:fld id="{823BDDA1-7BB7-447A-97DE-AE5425C8F2AD}" type="slidenum">
              <a:rPr lang="en-IN" smtClean="0"/>
              <a:pPr/>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7232732-0EAA-40DA-B6D5-3FC007231A27}" type="slidenum">
              <a:rPr lang="en-IN" altLang="en-US" smtClean="0"/>
              <a:pPr/>
              <a:t>16</a:t>
            </a:fld>
            <a:endParaRPr lang="en-I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pPr/>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pPr/>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pPr/>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p:cNvPicPr>
            <a:picLocks noChangeAspect="1"/>
          </p:cNvPicPr>
          <p:nvPr userDrawn="1"/>
        </p:nvPicPr>
        <p:blipFill>
          <a:blip r:embed="rId13" cstate="print">
            <a:extLst>
              <a:ext uri="{28A0092B-C50C-407E-A947-70E740481C1C}">
                <a14:useLocalDpi xmlns="" xmlns:a14="http://schemas.microsoft.com/office/drawing/2010/main" val="0"/>
              </a:ext>
            </a:extLst>
          </a:blip>
          <a:stretch>
            <a:fillRect/>
          </a:stretch>
        </p:blipFill>
        <p:spPr>
          <a:xfrm>
            <a:off x="77444" y="32699"/>
            <a:ext cx="1218935" cy="500985"/>
          </a:xfrm>
          <a:prstGeom prst="rect">
            <a:avLst/>
          </a:prstGeom>
        </p:spPr>
      </p:pic>
      <p:pic>
        <p:nvPicPr>
          <p:cNvPr id="12" name="Picture 11"/>
          <p:cNvPicPr>
            <a:picLocks noChangeAspect="1"/>
          </p:cNvPicPr>
          <p:nvPr userDrawn="1"/>
        </p:nvPicPr>
        <p:blipFill rotWithShape="1">
          <a:blip r:embed="rId14" cstate="print">
            <a:extLst>
              <a:ext uri="{28A0092B-C50C-407E-A947-70E740481C1C}">
                <a14:useLocalDpi xmlns="" xmlns:a14="http://schemas.microsoft.com/office/drawing/2010/main" val="0"/>
              </a:ext>
            </a:extLst>
          </a:blip>
          <a:srcRect l="4360" t="18054" b="50110"/>
          <a:stretch>
            <a:fillRect/>
          </a:stretch>
        </p:blipFill>
        <p:spPr>
          <a:xfrm>
            <a:off x="1451579" y="6373097"/>
            <a:ext cx="2912198" cy="351077"/>
          </a:xfrm>
          <a:prstGeom prst="rect">
            <a:avLst/>
          </a:prstGeom>
        </p:spPr>
      </p:pic>
      <p:pic>
        <p:nvPicPr>
          <p:cNvPr id="14" name="Picture 13" descr="Text&#10;&#10;Description automatically generated with medium confidence"/>
          <p:cNvPicPr>
            <a:picLocks noChangeAspect="1"/>
          </p:cNvPicPr>
          <p:nvPr userDrawn="1"/>
        </p:nvPicPr>
        <p:blipFill rotWithShape="1">
          <a:blip r:embed="rId15" cstate="print">
            <a:extLst>
              <a:ext uri="{28A0092B-C50C-407E-A947-70E740481C1C}">
                <a14:useLocalDpi xmlns="" xmlns:a14="http://schemas.microsoft.com/office/drawing/2010/main" val="0"/>
              </a:ext>
            </a:extLst>
          </a:blip>
          <a:srcRect t="53957" r="20929" b="13232"/>
          <a:stretch>
            <a:fillRect/>
          </a:stretch>
        </p:blipFill>
        <p:spPr>
          <a:xfrm>
            <a:off x="8825503" y="6373097"/>
            <a:ext cx="2229351" cy="33502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8.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geeksforgeeks.org/machine-learning/naive-bayes-classifier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www.analyticsvidhya.com/blog/2017/09/naive-bayes-explained/" TargetMode="External"/><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hyperlink" Target="https://scikit-learn.org/stable/modules/naive_bayes.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Google Shape;464;p16"/>
          <p:cNvPicPr preferRelativeResize="0"/>
          <p:nvPr/>
        </p:nvPicPr>
        <p:blipFill>
          <a:blip r:embed="rId3" cstate="print">
            <a:extLst>
              <a:ext uri="{28A0092B-C50C-407E-A947-70E740481C1C}">
                <a14:useLocalDpi xmlns="" xmlns:a14="http://schemas.microsoft.com/office/drawing/2010/main" val="0"/>
              </a:ext>
            </a:extLst>
          </a:blip>
          <a:stretch>
            <a:fillRect/>
          </a:stretch>
        </p:blipFill>
        <p:spPr>
          <a:xfrm>
            <a:off x="23449" y="234462"/>
            <a:ext cx="4829908" cy="5838093"/>
          </a:xfrm>
          <a:prstGeom prst="rect">
            <a:avLst/>
          </a:prstGeom>
          <a:noFill/>
          <a:ln>
            <a:noFill/>
          </a:ln>
        </p:spPr>
      </p:pic>
      <p:sp>
        <p:nvSpPr>
          <p:cNvPr id="15" name="Google Shape;476;p16"/>
          <p:cNvSpPr txBox="1"/>
          <p:nvPr/>
        </p:nvSpPr>
        <p:spPr>
          <a:xfrm>
            <a:off x="5249334" y="1323812"/>
            <a:ext cx="6791558" cy="1815841"/>
          </a:xfrm>
          <a:prstGeom prst="rect">
            <a:avLst/>
          </a:prstGeom>
          <a:noFill/>
          <a:ln>
            <a:noFill/>
          </a:ln>
        </p:spPr>
        <p:txBody>
          <a:bodyPr spcFirstLastPara="1" wrap="square" lIns="91425" tIns="45700" rIns="91425" bIns="45700" anchor="t" anchorCtr="0">
            <a:spAutoFit/>
          </a:bodyPr>
          <a:lstStyle/>
          <a:p>
            <a:pPr algn="ctr"/>
            <a:r>
              <a:rPr lang="en-US" sz="2400" b="1" cap="all" dirty="0" smtClean="0">
                <a:solidFill>
                  <a:srgbClr val="C00000"/>
                </a:solidFill>
                <a:cs typeface="Poppins" panose="00000500000000000000" pitchFamily="2" charset="0"/>
                <a:sym typeface="BioRhyme ExtraBold"/>
              </a:rPr>
              <a:t>Course:  AI &amp; ML</a:t>
            </a:r>
            <a:endParaRPr lang="en-US" sz="2400" b="1" cap="all" dirty="0">
              <a:solidFill>
                <a:srgbClr val="C00000"/>
              </a:solidFill>
              <a:cs typeface="Poppins" panose="00000500000000000000" pitchFamily="2" charset="0"/>
              <a:sym typeface="BioRhyme ExtraBold"/>
            </a:endParaRPr>
          </a:p>
          <a:p>
            <a:pPr marR="0" lvl="0" indent="0" algn="ctr">
              <a:spcBef>
                <a:spcPts val="0"/>
              </a:spcBef>
              <a:spcAft>
                <a:spcPts val="0"/>
              </a:spcAft>
              <a:buNone/>
            </a:pPr>
            <a:r>
              <a:rPr lang="en-US" sz="2400" b="1" cap="all" dirty="0" smtClean="0">
                <a:solidFill>
                  <a:srgbClr val="C00000"/>
                </a:solidFill>
                <a:cs typeface="Poppins"/>
                <a:sym typeface="BioRhyme ExtraBold"/>
              </a:rPr>
              <a:t>Course code: 24AD2001A</a:t>
            </a:r>
            <a:endParaRPr lang="en-US" sz="2400" b="1" cap="all" dirty="0">
              <a:solidFill>
                <a:srgbClr val="C00000"/>
              </a:solidFill>
              <a:cs typeface="Poppins"/>
              <a:sym typeface="BioRhyme ExtraBold"/>
            </a:endParaRPr>
          </a:p>
          <a:p>
            <a:pPr marR="0" lvl="0" indent="0" algn="ctr">
              <a:spcBef>
                <a:spcPts val="0"/>
              </a:spcBef>
              <a:spcAft>
                <a:spcPts val="0"/>
              </a:spcAft>
              <a:buNone/>
            </a:pPr>
            <a:endParaRPr lang="en-US" sz="2000" b="1" dirty="0">
              <a:solidFill>
                <a:srgbClr val="C00000"/>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rgbClr val="C00000"/>
                </a:solidFill>
                <a:ea typeface="BioRhyme ExtraBold"/>
                <a:cs typeface="Poppins" panose="00000500000000000000" pitchFamily="2" charset="0"/>
                <a:sym typeface="BioRhyme ExtraBold"/>
              </a:rPr>
              <a:t>Topic: </a:t>
            </a:r>
          </a:p>
          <a:p>
            <a:pPr fontAlgn="base"/>
            <a:r>
              <a:rPr lang="en-IN" sz="2400" b="1" dirty="0" smtClean="0"/>
              <a:t>Probabilistic Models:</a:t>
            </a:r>
            <a:r>
              <a:rPr lang="en-IN" sz="2400" dirty="0" smtClean="0"/>
              <a:t> Gaussian Naive </a:t>
            </a:r>
            <a:r>
              <a:rPr lang="en-IN" sz="2400" dirty="0" err="1" smtClean="0"/>
              <a:t>Bayes</a:t>
            </a:r>
            <a:endParaRPr lang="en-US" sz="2400" dirty="0"/>
          </a:p>
        </p:txBody>
      </p:sp>
      <p:sp>
        <p:nvSpPr>
          <p:cNvPr id="16" name="Google Shape;475;p16"/>
          <p:cNvSpPr txBox="1"/>
          <p:nvPr/>
        </p:nvSpPr>
        <p:spPr>
          <a:xfrm>
            <a:off x="6468032" y="221119"/>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a:rPr>
              <a:t>Department </a:t>
            </a:r>
            <a:r>
              <a:rPr lang="en-US" sz="4000" dirty="0" smtClean="0">
                <a:solidFill>
                  <a:srgbClr val="C00000"/>
                </a:solidFill>
                <a:cs typeface="Poppins"/>
              </a:rPr>
              <a:t>of CSE</a:t>
            </a:r>
            <a:endParaRPr lang="en-US" sz="4000" dirty="0">
              <a:solidFill>
                <a:srgbClr val="C00000"/>
              </a:solidFill>
              <a:cs typeface="Poppins"/>
            </a:endParaRPr>
          </a:p>
        </p:txBody>
      </p:sp>
      <p:sp>
        <p:nvSpPr>
          <p:cNvPr id="17" name="Google Shape;502;p17"/>
          <p:cNvSpPr/>
          <p:nvPr/>
        </p:nvSpPr>
        <p:spPr>
          <a:xfrm>
            <a:off x="7892797" y="4137052"/>
            <a:ext cx="232972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panose="020F0502020204030204"/>
                <a:cs typeface="Poppins" panose="00000500000000000000" pitchFamily="2" charset="0"/>
                <a:sym typeface="Calibri" panose="020F0502020204030204"/>
              </a:rPr>
              <a:t>Session </a:t>
            </a:r>
            <a:r>
              <a:rPr lang="en-US" sz="2400" dirty="0" smtClean="0">
                <a:solidFill>
                  <a:schemeClr val="lt1"/>
                </a:solidFill>
                <a:ea typeface="Calibri" panose="020F0502020204030204"/>
                <a:cs typeface="Poppins" panose="00000500000000000000" pitchFamily="2" charset="0"/>
                <a:sym typeface="Calibri" panose="020F0502020204030204"/>
              </a:rPr>
              <a:t>– </a:t>
            </a:r>
            <a:r>
              <a:rPr lang="en-US" sz="2400" dirty="0" smtClean="0">
                <a:solidFill>
                  <a:schemeClr val="lt1"/>
                </a:solidFill>
                <a:ea typeface="Calibri" panose="020F0502020204030204"/>
                <a:cs typeface="Poppins" panose="00000500000000000000" pitchFamily="2" charset="0"/>
                <a:sym typeface="Calibri" panose="020F0502020204030204"/>
              </a:rPr>
              <a:t>27</a:t>
            </a:r>
            <a:endParaRPr sz="2400" dirty="0">
              <a:solidFill>
                <a:schemeClr val="lt1"/>
              </a:solidFill>
              <a:ea typeface="Calibri" panose="020F0502020204030204"/>
              <a:cs typeface="Poppins" panose="00000500000000000000" pitchFamily="2" charset="0"/>
              <a:sym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pPr/>
              <a:t>2</a:t>
            </a:fld>
            <a:endParaRPr lang="en-IN"/>
          </a:p>
        </p:txBody>
      </p:sp>
      <p:sp>
        <p:nvSpPr>
          <p:cNvPr id="5" name="Rounded Rectangle 17"/>
          <p:cNvSpPr/>
          <p:nvPr/>
        </p:nvSpPr>
        <p:spPr>
          <a:xfrm>
            <a:off x="4521685" y="262546"/>
            <a:ext cx="3148630" cy="35921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6" name="TextBox 5"/>
          <p:cNvSpPr txBox="1"/>
          <p:nvPr/>
        </p:nvSpPr>
        <p:spPr>
          <a:xfrm>
            <a:off x="1172306" y="766185"/>
            <a:ext cx="10731286" cy="1156470"/>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dirty="0" smtClean="0"/>
              <a:t>The aim of this session is to introduce the fundamentals of </a:t>
            </a:r>
            <a:r>
              <a:rPr lang="en-US" sz="1600" b="1" dirty="0" smtClean="0"/>
              <a:t>probabilistic modeling</a:t>
            </a:r>
            <a:r>
              <a:rPr lang="en-US" sz="1600" dirty="0" smtClean="0"/>
              <a:t> with a focus on the </a:t>
            </a:r>
            <a:r>
              <a:rPr lang="en-US" sz="1600" b="1" dirty="0" smtClean="0"/>
              <a:t>Gaussian Naive </a:t>
            </a:r>
            <a:r>
              <a:rPr lang="en-US" sz="1600" b="1" dirty="0" err="1" smtClean="0"/>
              <a:t>Bayes</a:t>
            </a:r>
            <a:r>
              <a:rPr lang="en-US" sz="1600" b="1" dirty="0" smtClean="0"/>
              <a:t> classifier</a:t>
            </a:r>
            <a:r>
              <a:rPr lang="en-US" sz="1600" dirty="0" smtClean="0"/>
              <a:t>, enabling learners to understand its underlying assumptions, mathematical formulation, and practical applications in classification tasks involving continuous data.</a:t>
            </a:r>
            <a:endParaRPr lang="en-US" sz="1600" dirty="0">
              <a:latin typeface="Poppins"/>
              <a:cs typeface="Poppins"/>
            </a:endParaRPr>
          </a:p>
        </p:txBody>
      </p:sp>
      <p:pic>
        <p:nvPicPr>
          <p:cNvPr id="7" name="Graphic 6" descr="Bullseye outline"/>
          <p:cNvPicPr>
            <a:picLocks noChangeAspect="1"/>
          </p:cNvPicPr>
          <p:nvPr/>
        </p:nvPicPr>
        <p:blipFill>
          <a:blip r:embed="rId2" cstate="print">
            <a:extLst>
              <a:ext uri="{28A0092B-C50C-407E-A947-70E740481C1C}">
                <a14:useLocalDpi xmlns="" xmlns:a14="http://schemas.microsoft.com/office/drawing/2010/main" val="0"/>
              </a:ext>
              <a:ext uri="{96DAC541-7B7A-43D3-8B79-37D633B846F1}">
                <asvg:svgBlip xmlns="" xmlns:asvg="http://schemas.microsoft.com/office/drawing/2016/SVG/main" r:embed="rId3"/>
              </a:ext>
            </a:extLst>
          </a:blip>
          <a:stretch>
            <a:fillRect/>
          </a:stretch>
        </p:blipFill>
        <p:spPr>
          <a:xfrm>
            <a:off x="211014" y="519474"/>
            <a:ext cx="914400" cy="914400"/>
          </a:xfrm>
          <a:prstGeom prst="rect">
            <a:avLst/>
          </a:prstGeom>
        </p:spPr>
      </p:pic>
      <p:sp>
        <p:nvSpPr>
          <p:cNvPr id="8" name="Rounded Rectangle 17"/>
          <p:cNvSpPr/>
          <p:nvPr/>
        </p:nvSpPr>
        <p:spPr>
          <a:xfrm>
            <a:off x="4386208" y="2030999"/>
            <a:ext cx="4303481" cy="426784"/>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p:cNvSpPr txBox="1"/>
          <p:nvPr/>
        </p:nvSpPr>
        <p:spPr>
          <a:xfrm>
            <a:off x="1172306" y="2708776"/>
            <a:ext cx="10731286" cy="1354217"/>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r>
              <a:rPr lang="en-US" sz="1600" b="1" dirty="0" smtClean="0"/>
              <a:t>1</a:t>
            </a:r>
            <a:r>
              <a:rPr lang="en-US" sz="1600" dirty="0" smtClean="0"/>
              <a:t>. </a:t>
            </a:r>
            <a:r>
              <a:rPr lang="en-US" sz="1600" dirty="0" smtClean="0"/>
              <a:t>Explain </a:t>
            </a:r>
            <a:r>
              <a:rPr lang="en-US" sz="1600" dirty="0" smtClean="0"/>
              <a:t>the concept of probabilistic classification and </a:t>
            </a:r>
            <a:r>
              <a:rPr lang="en-US" sz="1600" dirty="0" err="1" smtClean="0"/>
              <a:t>Bayes</a:t>
            </a:r>
            <a:r>
              <a:rPr lang="en-US" sz="1600" dirty="0" smtClean="0"/>
              <a:t>’ theorem.</a:t>
            </a:r>
          </a:p>
          <a:p>
            <a:r>
              <a:rPr lang="en-US" sz="1600" dirty="0" smtClean="0"/>
              <a:t>2. Describe </a:t>
            </a:r>
            <a:r>
              <a:rPr lang="en-US" sz="1600" dirty="0" smtClean="0"/>
              <a:t>the Naive </a:t>
            </a:r>
            <a:r>
              <a:rPr lang="en-US" sz="1600" dirty="0" err="1" smtClean="0"/>
              <a:t>Bayes</a:t>
            </a:r>
            <a:r>
              <a:rPr lang="en-US" sz="1600" dirty="0" smtClean="0"/>
              <a:t> assumption of conditional independence between features.</a:t>
            </a:r>
          </a:p>
          <a:p>
            <a:r>
              <a:rPr lang="en-US" sz="1600" dirty="0" smtClean="0"/>
              <a:t>3. Differentiate </a:t>
            </a:r>
            <a:r>
              <a:rPr lang="en-US" sz="1600" dirty="0" smtClean="0"/>
              <a:t>between Gaussian, Multinomial, and Bernoulli Naive </a:t>
            </a:r>
            <a:r>
              <a:rPr lang="en-US" sz="1600" dirty="0" err="1" smtClean="0"/>
              <a:t>Bayes</a:t>
            </a:r>
            <a:r>
              <a:rPr lang="en-US" sz="1600" dirty="0" smtClean="0"/>
              <a:t> models.</a:t>
            </a:r>
            <a:endParaRPr lang="en-US" sz="1600" dirty="0"/>
          </a:p>
        </p:txBody>
      </p:sp>
      <p:pic>
        <p:nvPicPr>
          <p:cNvPr id="10" name="Graphic 9" descr="Presentation with checklist outline"/>
          <p:cNvPicPr>
            <a:picLocks noChangeAspect="1"/>
          </p:cNvPicPr>
          <p:nvPr/>
        </p:nvPicPr>
        <p:blipFill>
          <a:blip r:embed="rId4" cstate="print">
            <a:extLst>
              <a:ext uri="{28A0092B-C50C-407E-A947-70E740481C1C}">
                <a14:useLocalDpi xmlns="" xmlns:a14="http://schemas.microsoft.com/office/drawing/2010/main" val="0"/>
              </a:ext>
              <a:ext uri="{96DAC541-7B7A-43D3-8B79-37D633B846F1}">
                <asvg:svgBlip xmlns="" xmlns:asvg="http://schemas.microsoft.com/office/drawing/2016/SVG/main" r:embed="rId5"/>
              </a:ext>
            </a:extLst>
          </a:blip>
          <a:stretch>
            <a:fillRect/>
          </a:stretch>
        </p:blipFill>
        <p:spPr>
          <a:xfrm>
            <a:off x="211014" y="3068004"/>
            <a:ext cx="914400" cy="914400"/>
          </a:xfrm>
          <a:prstGeom prst="rect">
            <a:avLst/>
          </a:prstGeom>
        </p:spPr>
      </p:pic>
      <p:sp>
        <p:nvSpPr>
          <p:cNvPr id="11" name="Rounded Rectangle 17"/>
          <p:cNvSpPr/>
          <p:nvPr/>
        </p:nvSpPr>
        <p:spPr>
          <a:xfrm>
            <a:off x="4470877" y="4595445"/>
            <a:ext cx="3870831" cy="26963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12" name="Graphic 11" descr="Idea outline"/>
          <p:cNvPicPr>
            <a:picLocks noChangeAspect="1"/>
          </p:cNvPicPr>
          <p:nvPr/>
        </p:nvPicPr>
        <p:blipFill>
          <a:blip r:embed="rId6" cstate="print">
            <a:extLst>
              <a:ext uri="{28A0092B-C50C-407E-A947-70E740481C1C}">
                <a14:useLocalDpi xmlns="" xmlns:a14="http://schemas.microsoft.com/office/drawing/2010/main" val="0"/>
              </a:ext>
              <a:ext uri="{96DAC541-7B7A-43D3-8B79-37D633B846F1}">
                <asvg:svgBlip xmlns="" xmlns:asvg="http://schemas.microsoft.com/office/drawing/2016/SVG/main" r:embed="rId7"/>
              </a:ext>
            </a:extLst>
          </a:blip>
          <a:stretch>
            <a:fillRect/>
          </a:stretch>
        </p:blipFill>
        <p:spPr>
          <a:xfrm>
            <a:off x="211014" y="5009147"/>
            <a:ext cx="914400" cy="914400"/>
          </a:xfrm>
          <a:prstGeom prst="rect">
            <a:avLst/>
          </a:prstGeom>
        </p:spPr>
      </p:pic>
      <p:sp>
        <p:nvSpPr>
          <p:cNvPr id="13" name="TextBox 12"/>
          <p:cNvSpPr txBox="1"/>
          <p:nvPr/>
        </p:nvSpPr>
        <p:spPr>
          <a:xfrm>
            <a:off x="1172306" y="5134708"/>
            <a:ext cx="10731286"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panose="020B0604020202020204"/>
                <a:cs typeface="Arial" panose="020B0604020202020204"/>
              </a:rPr>
              <a:t>At the end of this </a:t>
            </a:r>
            <a:r>
              <a:rPr lang="en-US" sz="1600" dirty="0">
                <a:latin typeface="Arial" panose="020B0604020202020204"/>
                <a:cs typeface="Arial" panose="020B0604020202020204"/>
              </a:rPr>
              <a:t>session</a:t>
            </a:r>
            <a:r>
              <a:rPr lang="en-US" sz="1600" b="0" i="0" dirty="0">
                <a:effectLst/>
                <a:latin typeface="Arial" panose="020B0604020202020204"/>
                <a:cs typeface="Arial" panose="020B0604020202020204"/>
              </a:rPr>
              <a:t>, you should be able to:</a:t>
            </a:r>
          </a:p>
          <a:p>
            <a:r>
              <a:rPr lang="en-US" sz="1600" dirty="0" smtClean="0"/>
              <a:t>1</a:t>
            </a:r>
            <a:r>
              <a:rPr lang="en-US" sz="1600" dirty="0" smtClean="0"/>
              <a:t>Define the principles of probabilistic classification and </a:t>
            </a:r>
            <a:r>
              <a:rPr lang="en-US" sz="1600" dirty="0" err="1" smtClean="0"/>
              <a:t>Bayes</a:t>
            </a:r>
            <a:r>
              <a:rPr lang="en-US" sz="1600" dirty="0" smtClean="0"/>
              <a:t>’ theorem.</a:t>
            </a:r>
          </a:p>
          <a:p>
            <a:r>
              <a:rPr lang="en-US" sz="1600" dirty="0" smtClean="0"/>
              <a:t>2. Interpret </a:t>
            </a:r>
            <a:r>
              <a:rPr lang="en-US" sz="1600" dirty="0" smtClean="0"/>
              <a:t>the independence assumption in Naive </a:t>
            </a:r>
            <a:r>
              <a:rPr lang="en-US" sz="1600" dirty="0" err="1" smtClean="0"/>
              <a:t>Bayes</a:t>
            </a:r>
            <a:r>
              <a:rPr lang="en-US" sz="1600" dirty="0" smtClean="0"/>
              <a:t> and its impact on model performance.</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1" grpId="0" animBg="1"/>
      <p:bldP spid="1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581891" y="171886"/>
            <a:ext cx="9820638" cy="714806"/>
          </a:xfrm>
        </p:spPr>
        <p:txBody>
          <a:bodyPr/>
          <a:lstStyle/>
          <a:p>
            <a:pPr algn="ctr"/>
            <a:r>
              <a:rPr lang="en-US" sz="3600" b="1" dirty="0">
                <a:solidFill>
                  <a:srgbClr val="C00000"/>
                </a:solidFill>
              </a:rPr>
              <a:t>Objectives</a:t>
            </a:r>
            <a:endParaRPr lang="en-US" sz="3600" dirty="0">
              <a:solidFill>
                <a:srgbClr val="C00000"/>
              </a:solidFill>
            </a:endParaRPr>
          </a:p>
        </p:txBody>
      </p:sp>
      <p:sp>
        <p:nvSpPr>
          <p:cNvPr id="3" name="Date Placeholder 2"/>
          <p:cNvSpPr>
            <a:spLocks noGrp="1"/>
          </p:cNvSpPr>
          <p:nvPr>
            <p:ph type="dt" sz="half" idx="10"/>
          </p:nvPr>
        </p:nvSpPr>
        <p:spPr/>
        <p:txBody>
          <a:bodyPr/>
          <a:lstStyle/>
          <a:p>
            <a:fld id="{9FE2D161-B892-479D-A003-8FCF4A49FB71}" type="datetime1">
              <a:rPr lang="en-US" smtClean="0"/>
              <a:pPr/>
              <a:t>9/14/2025</a:t>
            </a:fld>
            <a:endParaRPr lang="en-US" dirty="0"/>
          </a:p>
        </p:txBody>
      </p:sp>
      <p:sp>
        <p:nvSpPr>
          <p:cNvPr id="4" name="Footer Placeholder 3"/>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defPPr>
              <a:defRPr lang="en-US"/>
            </a:defPPr>
            <a:lvl1pPr algn="ct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r>
              <a:rPr lang="en-US"/>
              <a:t>Deep learning</a:t>
            </a:r>
          </a:p>
        </p:txBody>
      </p:sp>
      <p:sp>
        <p:nvSpPr>
          <p:cNvPr id="5" name="Slide Number Placeholder 4"/>
          <p:cNvSpPr>
            <a:spLocks noGrp="1"/>
          </p:cNvSpPr>
          <p:nvPr>
            <p:ph type="sldNum" sz="quarter" idx="12"/>
          </p:nvPr>
        </p:nvSpPr>
        <p:spPr/>
        <p:txBody>
          <a:bodyPr/>
          <a:lstStyle/>
          <a:p>
            <a:fld id="{943DE3D9-547B-48C8-AECD-0F5196EAB393}" type="slidenum">
              <a:rPr lang="en-US" smtClean="0"/>
              <a:pPr/>
              <a:t>3</a:t>
            </a:fld>
            <a:endParaRPr lang="en-US"/>
          </a:p>
        </p:txBody>
      </p:sp>
      <p:sp>
        <p:nvSpPr>
          <p:cNvPr id="6" name="Rectangle 5"/>
          <p:cNvSpPr/>
          <p:nvPr/>
        </p:nvSpPr>
        <p:spPr>
          <a:xfrm>
            <a:off x="1477107" y="1148863"/>
            <a:ext cx="9530861" cy="1938992"/>
          </a:xfrm>
          <a:prstGeom prst="rect">
            <a:avLst/>
          </a:prstGeom>
        </p:spPr>
        <p:txBody>
          <a:bodyPr wrap="square">
            <a:spAutoFit/>
          </a:bodyPr>
          <a:lstStyle/>
          <a:p>
            <a:r>
              <a:rPr lang="en-US" sz="2000" dirty="0" smtClean="0"/>
              <a:t>1. To </a:t>
            </a:r>
            <a:r>
              <a:rPr lang="en-US" sz="2000" dirty="0" smtClean="0"/>
              <a:t>introduce the concept of </a:t>
            </a:r>
            <a:r>
              <a:rPr lang="en-US" sz="2000" b="1" dirty="0" smtClean="0"/>
              <a:t>probabilistic modeling</a:t>
            </a:r>
            <a:r>
              <a:rPr lang="en-US" sz="2000" dirty="0" smtClean="0"/>
              <a:t> in machine learning.</a:t>
            </a:r>
          </a:p>
          <a:p>
            <a:endParaRPr lang="en-US" sz="2000" dirty="0" smtClean="0"/>
          </a:p>
          <a:p>
            <a:r>
              <a:rPr lang="en-US" sz="2000" dirty="0" smtClean="0"/>
              <a:t>2. To </a:t>
            </a:r>
            <a:r>
              <a:rPr lang="en-US" sz="2000" dirty="0" smtClean="0"/>
              <a:t>understand the application of </a:t>
            </a:r>
            <a:r>
              <a:rPr lang="en-US" sz="2000" b="1" dirty="0" err="1" smtClean="0"/>
              <a:t>Bayes</a:t>
            </a:r>
            <a:r>
              <a:rPr lang="en-US" sz="2000" b="1" dirty="0" smtClean="0"/>
              <a:t>’ theorem</a:t>
            </a:r>
            <a:r>
              <a:rPr lang="en-US" sz="2000" dirty="0" smtClean="0"/>
              <a:t> in classification problems.</a:t>
            </a:r>
          </a:p>
          <a:p>
            <a:endParaRPr lang="en-US" sz="2000" dirty="0" smtClean="0"/>
          </a:p>
          <a:p>
            <a:r>
              <a:rPr lang="en-US" sz="2000" dirty="0" smtClean="0"/>
              <a:t>3. To </a:t>
            </a:r>
            <a:r>
              <a:rPr lang="en-US" sz="2000" dirty="0" smtClean="0"/>
              <a:t>explain the </a:t>
            </a:r>
            <a:r>
              <a:rPr lang="en-US" sz="2000" b="1" dirty="0" smtClean="0"/>
              <a:t>Naive </a:t>
            </a:r>
            <a:r>
              <a:rPr lang="en-US" sz="2000" b="1" dirty="0" err="1" smtClean="0"/>
              <a:t>Bayes</a:t>
            </a:r>
            <a:r>
              <a:rPr lang="en-US" sz="2000" b="1" dirty="0" smtClean="0"/>
              <a:t> assumption</a:t>
            </a:r>
            <a:r>
              <a:rPr lang="en-US" sz="2000" dirty="0" smtClean="0"/>
              <a:t> of conditional independence of features.</a:t>
            </a:r>
          </a:p>
          <a:p>
            <a:endParaRPr lang="en-US" sz="20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Naïve </a:t>
            </a:r>
            <a:r>
              <a:rPr lang="en-US" dirty="0" err="1" smtClean="0"/>
              <a:t>Bayes</a:t>
            </a:r>
            <a:endParaRPr lang="en-US" dirty="0"/>
          </a:p>
        </p:txBody>
      </p:sp>
      <p:sp>
        <p:nvSpPr>
          <p:cNvPr id="3" name="Content Placeholder 2"/>
          <p:cNvSpPr>
            <a:spLocks noGrp="1"/>
          </p:cNvSpPr>
          <p:nvPr>
            <p:ph idx="1"/>
          </p:nvPr>
        </p:nvSpPr>
        <p:spPr>
          <a:xfrm>
            <a:off x="1451579" y="1842655"/>
            <a:ext cx="9603275" cy="4253345"/>
          </a:xfrm>
        </p:spPr>
        <p:txBody>
          <a:bodyPr>
            <a:normAutofit fontScale="85000" lnSpcReduction="10000"/>
          </a:bodyPr>
          <a:lstStyle/>
          <a:p>
            <a:pPr algn="just"/>
            <a:r>
              <a:rPr lang="en-US" dirty="0" smtClean="0"/>
              <a:t>Naïve </a:t>
            </a:r>
            <a:r>
              <a:rPr lang="en-US" dirty="0" err="1" smtClean="0"/>
              <a:t>Bayes</a:t>
            </a:r>
            <a:r>
              <a:rPr lang="en-US" dirty="0" smtClean="0"/>
              <a:t> is a probabilistic algorithm that is based on the concept of conditional probability. We know it not only for its simplicity but also for its speed</a:t>
            </a:r>
            <a:r>
              <a:rPr lang="en-US" dirty="0" smtClean="0"/>
              <a:t>. We </a:t>
            </a:r>
            <a:r>
              <a:rPr lang="en-US" dirty="0" smtClean="0"/>
              <a:t>also defined it as an algorithm is a simple and fast machine learning algorithm that is often favored in cases of real-time predictions.</a:t>
            </a:r>
          </a:p>
          <a:p>
            <a:pPr algn="just">
              <a:buNone/>
            </a:pPr>
            <a:r>
              <a:rPr lang="en-US" b="1" dirty="0" smtClean="0"/>
              <a:t>What is probability?</a:t>
            </a:r>
            <a:endParaRPr lang="en-US" dirty="0" smtClean="0"/>
          </a:p>
          <a:p>
            <a:pPr algn="just"/>
            <a:r>
              <a:rPr lang="en-US" dirty="0" smtClean="0"/>
              <a:t>It refers to the possibilities or likelihood of an event occurring as a probability.</a:t>
            </a:r>
          </a:p>
          <a:p>
            <a:pPr algn="just"/>
            <a:r>
              <a:rPr lang="en-US" dirty="0" smtClean="0"/>
              <a:t>P(A/B) is the conditional probability of A given B, or the likelihood of event A if event B has already occurred. Because we already know that B has happened when we experiment, the number of alternative outcomes for the event has been limited. As a result, given that B has already occurred, the unconditional probability has now changed to a conditional probability</a:t>
            </a:r>
            <a:r>
              <a:rPr lang="en-US" dirty="0" smtClean="0"/>
              <a:t>. We </a:t>
            </a:r>
            <a:r>
              <a:rPr lang="en-US" dirty="0" smtClean="0"/>
              <a:t>define the conditional probability as:</a:t>
            </a:r>
          </a:p>
          <a:p>
            <a:pPr algn="just"/>
            <a:r>
              <a:rPr lang="en-US" dirty="0" smtClean="0"/>
              <a:t>𝑃(𝐴/𝐵) = 𝑃(𝐴 ∩ 𝐵) 𝑃(𝐵)</a:t>
            </a:r>
          </a:p>
          <a:p>
            <a:pPr algn="just"/>
            <a:r>
              <a:rPr lang="en-US" dirty="0" smtClean="0"/>
              <a:t>Where 𝑃(𝐴 ∩ 𝐵) represents the joint probability, i.e. probability, of both events happening together.</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Naïve </a:t>
            </a:r>
            <a:r>
              <a:rPr lang="en-US" b="1" dirty="0" err="1" smtClean="0"/>
              <a:t>Bayes</a:t>
            </a:r>
            <a:r>
              <a:rPr lang="en-US" b="1" dirty="0" smtClean="0"/>
              <a:t> CLASSIFIER</a:t>
            </a:r>
            <a:r>
              <a:rPr lang="en-US" dirty="0" smtClean="0"/>
              <a:t/>
            </a:r>
            <a:br>
              <a:rPr lang="en-US" dirty="0" smtClean="0"/>
            </a:b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5</a:t>
            </a:fld>
            <a:endParaRPr lang="en-IN"/>
          </a:p>
        </p:txBody>
      </p:sp>
      <p:pic>
        <p:nvPicPr>
          <p:cNvPr id="7170" name="Picture 2"/>
          <p:cNvPicPr>
            <a:picLocks noChangeAspect="1" noChangeArrowheads="1"/>
          </p:cNvPicPr>
          <p:nvPr/>
        </p:nvPicPr>
        <p:blipFill>
          <a:blip r:embed="rId2" cstate="print"/>
          <a:srcRect/>
          <a:stretch>
            <a:fillRect/>
          </a:stretch>
        </p:blipFill>
        <p:spPr bwMode="auto">
          <a:xfrm>
            <a:off x="1413164" y="1898072"/>
            <a:ext cx="9656617" cy="4156363"/>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Types of Naïve </a:t>
            </a:r>
            <a:r>
              <a:rPr lang="en-US" b="1" dirty="0" err="1" smtClean="0"/>
              <a:t>Bayes</a:t>
            </a:r>
            <a:r>
              <a:rPr lang="en-US" dirty="0" smtClean="0"/>
              <a:t/>
            </a:r>
            <a:br>
              <a:rPr lang="en-US" dirty="0" smtClean="0"/>
            </a:br>
            <a:endParaRPr lang="en-US" dirty="0"/>
          </a:p>
        </p:txBody>
      </p:sp>
      <p:sp>
        <p:nvSpPr>
          <p:cNvPr id="3" name="Content Placeholder 2"/>
          <p:cNvSpPr>
            <a:spLocks noGrp="1"/>
          </p:cNvSpPr>
          <p:nvPr>
            <p:ph idx="1"/>
          </p:nvPr>
        </p:nvSpPr>
        <p:spPr>
          <a:xfrm>
            <a:off x="1451579" y="1842656"/>
            <a:ext cx="9603275" cy="4378036"/>
          </a:xfrm>
        </p:spPr>
        <p:txBody>
          <a:bodyPr>
            <a:normAutofit/>
          </a:bodyPr>
          <a:lstStyle/>
          <a:p>
            <a:pPr>
              <a:buNone/>
            </a:pPr>
            <a:r>
              <a:rPr lang="en-US" dirty="0" smtClean="0"/>
              <a:t>There are three main types of Naïve </a:t>
            </a:r>
            <a:r>
              <a:rPr lang="en-US" dirty="0" err="1" smtClean="0"/>
              <a:t>Bayes</a:t>
            </a:r>
            <a:r>
              <a:rPr lang="en-US" dirty="0" smtClean="0"/>
              <a:t> which are listed below:</a:t>
            </a:r>
          </a:p>
          <a:p>
            <a:r>
              <a:rPr lang="en-US" dirty="0" smtClean="0"/>
              <a:t>1. Gaussian Naïve </a:t>
            </a:r>
            <a:r>
              <a:rPr lang="en-US" dirty="0" err="1" smtClean="0"/>
              <a:t>Bayes</a:t>
            </a:r>
            <a:endParaRPr lang="en-US" dirty="0" smtClean="0"/>
          </a:p>
          <a:p>
            <a:r>
              <a:rPr lang="en-US" dirty="0" smtClean="0"/>
              <a:t>2. Multinomial Naïve </a:t>
            </a:r>
            <a:r>
              <a:rPr lang="en-US" dirty="0" err="1" smtClean="0"/>
              <a:t>Bayes</a:t>
            </a:r>
            <a:endParaRPr lang="en-US" dirty="0" smtClean="0"/>
          </a:p>
          <a:p>
            <a:r>
              <a:rPr lang="en-US" dirty="0" smtClean="0"/>
              <a:t>3. Bernoulli Naïve </a:t>
            </a:r>
            <a:r>
              <a:rPr lang="en-US" dirty="0" err="1" smtClean="0"/>
              <a:t>Bayes</a:t>
            </a:r>
            <a:endParaRPr lang="en-US" dirty="0" smtClean="0"/>
          </a:p>
          <a:p>
            <a:pPr>
              <a:buNone/>
            </a:pPr>
            <a:r>
              <a:rPr lang="en-US" b="1" dirty="0" smtClean="0"/>
              <a:t>Gaussian Naïve </a:t>
            </a:r>
            <a:r>
              <a:rPr lang="en-US" b="1" dirty="0" err="1" smtClean="0"/>
              <a:t>Bayes</a:t>
            </a:r>
            <a:r>
              <a:rPr lang="en-US" b="1" dirty="0" smtClean="0"/>
              <a:t> algorithm</a:t>
            </a:r>
            <a:endParaRPr lang="en-US" dirty="0" smtClean="0"/>
          </a:p>
          <a:p>
            <a:pPr algn="just">
              <a:buNone/>
            </a:pPr>
            <a:r>
              <a:rPr lang="en-US" dirty="0" smtClean="0"/>
              <a:t>   In </a:t>
            </a:r>
            <a:r>
              <a:rPr lang="en-US" dirty="0" smtClean="0"/>
              <a:t>Gaussian Naïve </a:t>
            </a:r>
            <a:r>
              <a:rPr lang="en-US" dirty="0" err="1" smtClean="0"/>
              <a:t>Bayes</a:t>
            </a:r>
            <a:r>
              <a:rPr lang="en-US" dirty="0" smtClean="0"/>
              <a:t>, the assumption is made that the continuous numerical attributes are distributed normally. The attribute is first segmented based on the output class, and then the variance and mean of the attribute are calculated for each class.</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6</a:t>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8452" y="846082"/>
            <a:ext cx="9603275" cy="1049235"/>
          </a:xfrm>
        </p:spPr>
        <p:txBody>
          <a:bodyPr>
            <a:normAutofit/>
          </a:bodyPr>
          <a:lstStyle/>
          <a:p>
            <a:pPr fontAlgn="base"/>
            <a:r>
              <a:rPr lang="en-IN" dirty="0" smtClean="0"/>
              <a:t> </a:t>
            </a:r>
            <a:r>
              <a:rPr lang="en-IN" dirty="0" smtClean="0"/>
              <a:t>Gaussian Naive </a:t>
            </a:r>
            <a:r>
              <a:rPr lang="en-IN" dirty="0" err="1" smtClean="0"/>
              <a:t>Bayes</a:t>
            </a:r>
            <a:endParaRPr lang="en-US" dirty="0"/>
          </a:p>
        </p:txBody>
      </p:sp>
      <p:sp>
        <p:nvSpPr>
          <p:cNvPr id="3" name="Content Placeholder 2"/>
          <p:cNvSpPr>
            <a:spLocks noGrp="1"/>
          </p:cNvSpPr>
          <p:nvPr>
            <p:ph idx="1"/>
          </p:nvPr>
        </p:nvSpPr>
        <p:spPr>
          <a:xfrm>
            <a:off x="1451579" y="2015732"/>
            <a:ext cx="9603275" cy="4080268"/>
          </a:xfrm>
        </p:spPr>
        <p:txBody>
          <a:bodyPr>
            <a:normAutofit/>
          </a:bodyPr>
          <a:lstStyle/>
          <a:p>
            <a:pPr algn="just">
              <a:buNone/>
            </a:pPr>
            <a:r>
              <a:rPr lang="en-US" dirty="0" smtClean="0"/>
              <a:t>   </a:t>
            </a:r>
            <a:r>
              <a:rPr lang="en-US" dirty="0" smtClean="0"/>
              <a:t>Gaussian Naive </a:t>
            </a:r>
            <a:r>
              <a:rPr lang="en-US" dirty="0" err="1" smtClean="0"/>
              <a:t>Bayes</a:t>
            </a:r>
            <a:r>
              <a:rPr lang="en-US" dirty="0" smtClean="0"/>
              <a:t> is a type of Naive </a:t>
            </a:r>
            <a:r>
              <a:rPr lang="en-US" dirty="0" err="1" smtClean="0"/>
              <a:t>Bayes</a:t>
            </a:r>
            <a:r>
              <a:rPr lang="en-US" dirty="0" smtClean="0"/>
              <a:t> method working on continuous attributes and the data features that follows Gaussian distribution throughout the dataset. This “naive” assumption simplifies calculations and makes the model fast and efficient. Gaussian Naive </a:t>
            </a:r>
            <a:r>
              <a:rPr lang="en-US" dirty="0" err="1" smtClean="0"/>
              <a:t>Bayes</a:t>
            </a:r>
            <a:r>
              <a:rPr lang="en-US" dirty="0" smtClean="0"/>
              <a:t> is widely used because it performs well even with small datasets and is easy to implement and interpret</a:t>
            </a:r>
            <a:r>
              <a:rPr lang="en-US" dirty="0" smtClean="0"/>
              <a:t>.</a:t>
            </a:r>
          </a:p>
          <a:p>
            <a:pPr algn="just">
              <a:buNone/>
            </a:pPr>
            <a:r>
              <a:rPr lang="en-US" dirty="0" smtClean="0"/>
              <a:t>Gaussian </a:t>
            </a:r>
            <a:r>
              <a:rPr lang="en-US" dirty="0" smtClean="0">
                <a:hlinkClick r:id="rId2"/>
              </a:rPr>
              <a:t>Naive </a:t>
            </a:r>
            <a:r>
              <a:rPr lang="en-US" dirty="0" err="1" smtClean="0">
                <a:hlinkClick r:id="rId2"/>
              </a:rPr>
              <a:t>Bayes</a:t>
            </a:r>
            <a:r>
              <a:rPr lang="en-US" dirty="0" smtClean="0"/>
              <a:t> assumes that the likelihood (P(</a:t>
            </a:r>
            <a:r>
              <a:rPr lang="en-US" dirty="0" err="1" smtClean="0"/>
              <a:t>xi∣yxi</a:t>
            </a:r>
            <a:r>
              <a:rPr lang="en-US" dirty="0" smtClean="0"/>
              <a:t>​∣y)) follows the Gaussian Distribution for each </a:t>
            </a:r>
            <a:r>
              <a:rPr lang="en-US" dirty="0" err="1" smtClean="0"/>
              <a:t>xixi</a:t>
            </a:r>
            <a:r>
              <a:rPr lang="en-US" dirty="0" smtClean="0"/>
              <a:t>​ within </a:t>
            </a:r>
            <a:r>
              <a:rPr lang="en-US" dirty="0" err="1" smtClean="0"/>
              <a:t>ykyk</a:t>
            </a:r>
            <a:r>
              <a:rPr lang="en-US" dirty="0" smtClean="0"/>
              <a:t>​. Therefore,</a:t>
            </a:r>
          </a:p>
          <a:p>
            <a:pPr algn="just">
              <a:buNone/>
            </a:pPr>
            <a:endParaRPr lang="en-US" dirty="0" smtClean="0"/>
          </a:p>
        </p:txBody>
      </p:sp>
      <p:sp>
        <p:nvSpPr>
          <p:cNvPr id="4" name="Slide Number Placeholder 3"/>
          <p:cNvSpPr>
            <a:spLocks noGrp="1"/>
          </p:cNvSpPr>
          <p:nvPr>
            <p:ph type="sldNum" sz="quarter" idx="12"/>
          </p:nvPr>
        </p:nvSpPr>
        <p:spPr/>
        <p:txBody>
          <a:bodyPr/>
          <a:lstStyle/>
          <a:p>
            <a:fld id="{CBABCCC1-BF11-4F37-963E-1BCD5B23FD72}" type="slidenum">
              <a:rPr lang="en-IN" smtClean="0"/>
              <a:pPr/>
              <a:t>7</a:t>
            </a:fld>
            <a:endParaRPr lang="en-IN"/>
          </a:p>
        </p:txBody>
      </p:sp>
      <p:pic>
        <p:nvPicPr>
          <p:cNvPr id="2050" name="Picture 2"/>
          <p:cNvPicPr>
            <a:picLocks noChangeAspect="1" noChangeArrowheads="1"/>
          </p:cNvPicPr>
          <p:nvPr/>
        </p:nvPicPr>
        <p:blipFill>
          <a:blip r:embed="rId3" cstate="print"/>
          <a:srcRect/>
          <a:stretch>
            <a:fillRect/>
          </a:stretch>
        </p:blipFill>
        <p:spPr bwMode="auto">
          <a:xfrm>
            <a:off x="1864301" y="5011450"/>
            <a:ext cx="4910571" cy="1029132"/>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a:xfrm>
            <a:off x="1451579" y="2015732"/>
            <a:ext cx="9603275" cy="4107977"/>
          </a:xfrm>
        </p:spPr>
        <p:txBody>
          <a:bodyPr>
            <a:normAutofit/>
          </a:bodyPr>
          <a:lstStyle/>
          <a:p>
            <a:pPr>
              <a:buNone/>
            </a:pPr>
            <a:r>
              <a:rPr lang="en-US" dirty="0" smtClean="0"/>
              <a:t>  Where</a:t>
            </a:r>
            <a:r>
              <a:rPr lang="en-US" dirty="0" smtClean="0"/>
              <a:t>:</a:t>
            </a:r>
          </a:p>
          <a:p>
            <a:r>
              <a:rPr lang="en-US" dirty="0" smtClean="0"/>
              <a:t>Xi is </a:t>
            </a:r>
            <a:r>
              <a:rPr lang="en-US" dirty="0" smtClean="0"/>
              <a:t>the feature value,</a:t>
            </a:r>
          </a:p>
          <a:p>
            <a:r>
              <a:rPr lang="en-US" dirty="0" smtClean="0"/>
              <a:t>μ </a:t>
            </a:r>
            <a:r>
              <a:rPr lang="en-US" dirty="0" smtClean="0"/>
              <a:t>is the mean of the feature values for a given class </a:t>
            </a:r>
            <a:r>
              <a:rPr lang="en-US" sz="3200" dirty="0" err="1" smtClean="0"/>
              <a:t>y</a:t>
            </a:r>
            <a:r>
              <a:rPr lang="en-US" dirty="0" err="1" smtClean="0"/>
              <a:t>k</a:t>
            </a:r>
            <a:r>
              <a:rPr lang="en-US" dirty="0" smtClean="0"/>
              <a:t>​</a:t>
            </a:r>
            <a:r>
              <a:rPr lang="en-US" dirty="0" smtClean="0"/>
              <a:t>,</a:t>
            </a:r>
          </a:p>
          <a:p>
            <a:r>
              <a:rPr lang="en-US" dirty="0" smtClean="0"/>
              <a:t>σ </a:t>
            </a:r>
            <a:r>
              <a:rPr lang="en-US" dirty="0" smtClean="0"/>
              <a:t>is the standard deviation of the feature values for that class,</a:t>
            </a:r>
          </a:p>
          <a:p>
            <a:r>
              <a:rPr lang="en-US" dirty="0" smtClean="0"/>
              <a:t>π </a:t>
            </a:r>
            <a:r>
              <a:rPr lang="en-US" dirty="0" smtClean="0"/>
              <a:t>is a constant (approximately 3.14159),</a:t>
            </a:r>
          </a:p>
          <a:p>
            <a:r>
              <a:rPr lang="en-US" dirty="0" smtClean="0"/>
              <a:t>e </a:t>
            </a:r>
            <a:r>
              <a:rPr lang="en-US" dirty="0" smtClean="0"/>
              <a:t>is the base of the natural logarithm.</a:t>
            </a:r>
          </a:p>
          <a:p>
            <a:pPr>
              <a:buNone/>
            </a:pPr>
            <a:r>
              <a:rPr lang="en-US" dirty="0" smtClean="0"/>
              <a:t>    To </a:t>
            </a:r>
            <a:r>
              <a:rPr lang="en-US" dirty="0" smtClean="0"/>
              <a:t>classify each new data point x the algorithm finds out the maximum value of the posterior probability of each class and assigns the data point to that class.</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8</a:t>
            </a:fld>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CONTD..</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9</a:t>
            </a:fld>
            <a:endParaRPr lang="en-IN"/>
          </a:p>
        </p:txBody>
      </p:sp>
      <p:pic>
        <p:nvPicPr>
          <p:cNvPr id="1026" name="Picture 2"/>
          <p:cNvPicPr>
            <a:picLocks noGrp="1" noChangeAspect="1" noChangeArrowheads="1"/>
          </p:cNvPicPr>
          <p:nvPr>
            <p:ph idx="1"/>
          </p:nvPr>
        </p:nvPicPr>
        <p:blipFill>
          <a:blip r:embed="rId2" cstate="print"/>
          <a:srcRect/>
          <a:stretch>
            <a:fillRect/>
          </a:stretch>
        </p:blipFill>
        <p:spPr bwMode="auto">
          <a:xfrm>
            <a:off x="1551709" y="1856509"/>
            <a:ext cx="9545782" cy="4281055"/>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t>Why Gaussian Naive </a:t>
            </a:r>
            <a:r>
              <a:rPr lang="en-US" sz="2800" b="1" dirty="0" err="1" smtClean="0"/>
              <a:t>Bayes</a:t>
            </a:r>
            <a:r>
              <a:rPr lang="en-US" sz="2800" b="1" dirty="0" smtClean="0"/>
              <a:t> Works Well for Continuous Data?</a:t>
            </a:r>
            <a:endParaRPr lang="en-US" sz="2800" b="1" dirty="0"/>
          </a:p>
        </p:txBody>
      </p:sp>
      <p:sp>
        <p:nvSpPr>
          <p:cNvPr id="3" name="Content Placeholder 2"/>
          <p:cNvSpPr>
            <a:spLocks noGrp="1"/>
          </p:cNvSpPr>
          <p:nvPr>
            <p:ph idx="1"/>
          </p:nvPr>
        </p:nvSpPr>
        <p:spPr>
          <a:xfrm>
            <a:off x="1451579" y="2015732"/>
            <a:ext cx="9603275" cy="821253"/>
          </a:xfrm>
        </p:spPr>
        <p:txBody>
          <a:bodyPr>
            <a:normAutofit/>
          </a:bodyPr>
          <a:lstStyle/>
          <a:p>
            <a:pPr algn="just"/>
            <a:endParaRPr lang="en-US" dirty="0" smtClean="0"/>
          </a:p>
          <a:p>
            <a:pPr algn="just"/>
            <a:endParaRPr lang="en-US" dirty="0" smtClean="0"/>
          </a:p>
        </p:txBody>
      </p:sp>
      <p:sp>
        <p:nvSpPr>
          <p:cNvPr id="4" name="Slide Number Placeholder 3"/>
          <p:cNvSpPr>
            <a:spLocks noGrp="1"/>
          </p:cNvSpPr>
          <p:nvPr>
            <p:ph type="sldNum" sz="quarter" idx="12"/>
          </p:nvPr>
        </p:nvSpPr>
        <p:spPr/>
        <p:txBody>
          <a:bodyPr/>
          <a:lstStyle/>
          <a:p>
            <a:fld id="{CBABCCC1-BF11-4F37-963E-1BCD5B23FD72}" type="slidenum">
              <a:rPr lang="en-IN" smtClean="0"/>
              <a:pPr/>
              <a:t>10</a:t>
            </a:fld>
            <a:endParaRPr lang="en-IN"/>
          </a:p>
        </p:txBody>
      </p:sp>
      <p:sp>
        <p:nvSpPr>
          <p:cNvPr id="8" name="TextBox 7"/>
          <p:cNvSpPr txBox="1"/>
          <p:nvPr/>
        </p:nvSpPr>
        <p:spPr>
          <a:xfrm>
            <a:off x="1301263" y="1863971"/>
            <a:ext cx="10034952" cy="4093428"/>
          </a:xfrm>
          <a:prstGeom prst="rect">
            <a:avLst/>
          </a:prstGeom>
          <a:noFill/>
        </p:spPr>
        <p:txBody>
          <a:bodyPr wrap="square" rtlCol="0">
            <a:spAutoFit/>
          </a:bodyPr>
          <a:lstStyle/>
          <a:p>
            <a:pPr algn="just"/>
            <a:r>
              <a:rPr lang="en-US" sz="2000" dirty="0" smtClean="0"/>
              <a:t>Gaussian Naive </a:t>
            </a:r>
            <a:r>
              <a:rPr lang="en-US" sz="2000" dirty="0" err="1" smtClean="0"/>
              <a:t>Bayes</a:t>
            </a:r>
            <a:r>
              <a:rPr lang="en-US" sz="2000" dirty="0" smtClean="0"/>
              <a:t> is effective for continuous data because it assumes each feature follows a Gaussian (normal) distribution. When this assumption holds true the algorithm performs well. For example in tasks like spam detection, medical diagnosis or predicting house prices where features such as age, income or height fit a normal distribution there Gaussian Naive </a:t>
            </a:r>
            <a:r>
              <a:rPr lang="en-US" sz="2000" dirty="0" err="1" smtClean="0"/>
              <a:t>Bayes</a:t>
            </a:r>
            <a:r>
              <a:rPr lang="en-US" sz="2000" dirty="0" smtClean="0"/>
              <a:t> can make accurate predictions</a:t>
            </a:r>
            <a:r>
              <a:rPr lang="en-US" sz="2000" dirty="0" smtClean="0"/>
              <a:t>.</a:t>
            </a:r>
          </a:p>
          <a:p>
            <a:r>
              <a:rPr lang="en-US" sz="2000" b="1" dirty="0" smtClean="0"/>
              <a:t>Practical Example</a:t>
            </a:r>
          </a:p>
          <a:p>
            <a:r>
              <a:rPr lang="en-US" sz="2000" dirty="0" smtClean="0"/>
              <a:t>To understand how Gaussian Naive </a:t>
            </a:r>
            <a:r>
              <a:rPr lang="en-US" sz="2000" dirty="0" err="1" smtClean="0"/>
              <a:t>Bayes</a:t>
            </a:r>
            <a:r>
              <a:rPr lang="en-US" sz="2000" dirty="0" smtClean="0"/>
              <a:t> works here's a simple binary classification problem using one feature: petal length</a:t>
            </a:r>
            <a:r>
              <a:rPr lang="en-US" sz="2000" dirty="0" smtClean="0"/>
              <a:t>.</a:t>
            </a:r>
          </a:p>
          <a:p>
            <a:pPr algn="just"/>
            <a:endParaRPr lang="en-US" sz="2000" dirty="0" smtClean="0"/>
          </a:p>
          <a:p>
            <a:pPr algn="just"/>
            <a:endParaRPr lang="en-US" sz="2000" dirty="0" smtClean="0"/>
          </a:p>
          <a:p>
            <a:pPr algn="just"/>
            <a:endParaRPr lang="en-US" sz="2000" dirty="0" smtClean="0"/>
          </a:p>
          <a:p>
            <a:pPr algn="just"/>
            <a:endParaRPr lang="en-US" sz="2000" dirty="0" smtClean="0"/>
          </a:p>
          <a:p>
            <a:pPr algn="just"/>
            <a:endParaRPr lang="en-US" sz="2000" dirty="0"/>
          </a:p>
        </p:txBody>
      </p:sp>
      <p:pic>
        <p:nvPicPr>
          <p:cNvPr id="3074" name="Picture 2"/>
          <p:cNvPicPr>
            <a:picLocks noChangeAspect="1" noChangeArrowheads="1"/>
          </p:cNvPicPr>
          <p:nvPr/>
        </p:nvPicPr>
        <p:blipFill>
          <a:blip r:embed="rId2" cstate="print"/>
          <a:srcRect/>
          <a:stretch>
            <a:fillRect/>
          </a:stretch>
        </p:blipFill>
        <p:spPr bwMode="auto">
          <a:xfrm>
            <a:off x="6428077" y="4087091"/>
            <a:ext cx="2424978" cy="2770909"/>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CONTD..</a:t>
            </a:r>
            <a:endParaRPr lang="en-US" b="1"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11</a:t>
            </a:fld>
            <a:endParaRPr lang="en-IN"/>
          </a:p>
        </p:txBody>
      </p:sp>
      <p:pic>
        <p:nvPicPr>
          <p:cNvPr id="4098" name="Picture 2"/>
          <p:cNvPicPr>
            <a:picLocks noGrp="1" noChangeAspect="1" noChangeArrowheads="1"/>
          </p:cNvPicPr>
          <p:nvPr>
            <p:ph idx="1"/>
          </p:nvPr>
        </p:nvPicPr>
        <p:blipFill>
          <a:blip r:embed="rId2" cstate="print"/>
          <a:srcRect/>
          <a:stretch>
            <a:fillRect/>
          </a:stretch>
        </p:blipFill>
        <p:spPr bwMode="auto">
          <a:xfrm>
            <a:off x="1371600" y="1898073"/>
            <a:ext cx="9545782" cy="4211782"/>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687288"/>
            <a:ext cx="9603275" cy="1049235"/>
          </a:xfrm>
        </p:spPr>
        <p:txBody>
          <a:bodyPr/>
          <a:lstStyle/>
          <a:p>
            <a:r>
              <a:rPr lang="en-US" b="1" dirty="0" smtClean="0"/>
              <a:t>Contd..</a:t>
            </a:r>
            <a:endParaRPr lang="en-US" b="1"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12</a:t>
            </a:fld>
            <a:endParaRPr lang="en-IN"/>
          </a:p>
        </p:txBody>
      </p:sp>
      <p:pic>
        <p:nvPicPr>
          <p:cNvPr id="5122" name="Picture 2"/>
          <p:cNvPicPr>
            <a:picLocks noGrp="1" noChangeAspect="1" noChangeArrowheads="1"/>
          </p:cNvPicPr>
          <p:nvPr>
            <p:ph idx="1"/>
          </p:nvPr>
        </p:nvPicPr>
        <p:blipFill>
          <a:blip r:embed="rId2" cstate="print"/>
          <a:srcRect/>
          <a:stretch>
            <a:fillRect/>
          </a:stretch>
        </p:blipFill>
        <p:spPr bwMode="auto">
          <a:xfrm>
            <a:off x="1579418" y="1939636"/>
            <a:ext cx="9337963" cy="3934691"/>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CONTD..</a:t>
            </a:r>
            <a:r>
              <a:rPr lang="en-US" dirty="0" smtClean="0"/>
              <a:t/>
            </a:r>
            <a:br>
              <a:rPr lang="en-US" dirty="0" smtClean="0"/>
            </a:br>
            <a:endParaRPr lang="en-US" b="1"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13</a:t>
            </a:fld>
            <a:endParaRPr lang="en-IN"/>
          </a:p>
        </p:txBody>
      </p:sp>
      <p:pic>
        <p:nvPicPr>
          <p:cNvPr id="6146" name="Picture 2"/>
          <p:cNvPicPr>
            <a:picLocks noChangeAspect="1" noChangeArrowheads="1"/>
          </p:cNvPicPr>
          <p:nvPr/>
        </p:nvPicPr>
        <p:blipFill>
          <a:blip r:embed="rId2" cstate="print"/>
          <a:srcRect/>
          <a:stretch>
            <a:fillRect/>
          </a:stretch>
        </p:blipFill>
        <p:spPr bwMode="auto">
          <a:xfrm>
            <a:off x="1607127" y="1911926"/>
            <a:ext cx="9448800" cy="4184073"/>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pPr/>
              <a:t>14</a:t>
            </a:fld>
            <a:endParaRPr lang="en-IN"/>
          </a:p>
        </p:txBody>
      </p:sp>
      <p:sp>
        <p:nvSpPr>
          <p:cNvPr id="5" name="Rounded Rectangle 17"/>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Poppins" panose="00000500000000000000" pitchFamily="2" charset="0"/>
                <a:cs typeface="Poppins" panose="00000500000000000000" pitchFamily="2" charset="0"/>
              </a:rPr>
              <a:t>Self-Assessment Questions</a:t>
            </a:r>
            <a:endParaRPr lang="en-US" sz="2000" dirty="0">
              <a:solidFill>
                <a:schemeClr val="bg1"/>
              </a:solidFill>
              <a:latin typeface="Poppins" panose="00000500000000000000" pitchFamily="2" charset="0"/>
              <a:cs typeface="Poppins" panose="00000500000000000000" pitchFamily="2" charset="0"/>
            </a:endParaRPr>
          </a:p>
        </p:txBody>
      </p:sp>
      <p:sp>
        <p:nvSpPr>
          <p:cNvPr id="6" name="Google Shape;502;p17"/>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r>
              <a:rPr lang="en-US" sz="2000" dirty="0" smtClean="0"/>
              <a:t>1. </a:t>
            </a:r>
            <a:r>
              <a:rPr lang="en-US" sz="2000" dirty="0" smtClean="0"/>
              <a:t>The “Naive” assumption in Naive </a:t>
            </a:r>
            <a:r>
              <a:rPr lang="en-US" sz="2000" dirty="0" err="1" smtClean="0"/>
              <a:t>Bayes</a:t>
            </a:r>
            <a:r>
              <a:rPr lang="en-US" sz="2000" dirty="0" smtClean="0"/>
              <a:t> refers to:</a:t>
            </a:r>
            <a:endParaRPr sz="20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7" name="Rounded Rectangle 17"/>
          <p:cNvSpPr/>
          <p:nvPr/>
        </p:nvSpPr>
        <p:spPr>
          <a:xfrm>
            <a:off x="1230922" y="1925151"/>
            <a:ext cx="6998677"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R"/>
            </a:pPr>
            <a:r>
              <a:rPr lang="en-US" sz="1600" dirty="0" smtClean="0"/>
              <a:t>Features are </a:t>
            </a:r>
            <a:r>
              <a:rPr lang="en-US" sz="1600" dirty="0" smtClean="0"/>
              <a:t>dependent</a:t>
            </a:r>
          </a:p>
          <a:p>
            <a:pPr marL="342900" indent="-342900">
              <a:lnSpc>
                <a:spcPct val="150000"/>
              </a:lnSpc>
              <a:buAutoNum type="alphaLcParenR"/>
            </a:pPr>
            <a:r>
              <a:rPr lang="en-US" sz="1600" dirty="0" smtClean="0">
                <a:solidFill>
                  <a:srgbClr val="00B050"/>
                </a:solidFill>
              </a:rPr>
              <a:t>Features are independent given the </a:t>
            </a:r>
            <a:r>
              <a:rPr lang="en-US" sz="1600" dirty="0" smtClean="0">
                <a:solidFill>
                  <a:srgbClr val="00B050"/>
                </a:solidFill>
              </a:rPr>
              <a:t>class</a:t>
            </a:r>
          </a:p>
          <a:p>
            <a:pPr marL="342900" indent="-342900">
              <a:lnSpc>
                <a:spcPct val="150000"/>
              </a:lnSpc>
              <a:buAutoNum type="alphaLcParenR"/>
            </a:pPr>
            <a:r>
              <a:rPr lang="en-US" sz="1600" dirty="0" smtClean="0"/>
              <a:t>Features are normally </a:t>
            </a:r>
            <a:r>
              <a:rPr lang="en-US" sz="1600" dirty="0" smtClean="0"/>
              <a:t>distributed</a:t>
            </a:r>
          </a:p>
          <a:p>
            <a:pPr marL="342900" indent="-342900">
              <a:lnSpc>
                <a:spcPct val="150000"/>
              </a:lnSpc>
              <a:buAutoNum type="alphaLcParenR"/>
            </a:pPr>
            <a:r>
              <a:rPr lang="en-US" sz="1600" dirty="0" smtClean="0"/>
              <a:t>Classes have equal prior probability</a:t>
            </a:r>
            <a:endParaRPr lang="en-US" sz="1600" b="1" i="0" dirty="0">
              <a:solidFill>
                <a:srgbClr val="00B050"/>
              </a:solidFill>
              <a:effectLst/>
              <a:latin typeface="var(--body-font-family)"/>
            </a:endParaRPr>
          </a:p>
        </p:txBody>
      </p:sp>
      <p:sp>
        <p:nvSpPr>
          <p:cNvPr id="8" name="Google Shape;502;p17"/>
          <p:cNvSpPr/>
          <p:nvPr/>
        </p:nvSpPr>
        <p:spPr>
          <a:xfrm>
            <a:off x="1009895" y="36679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startAt="2"/>
            </a:pPr>
            <a:r>
              <a:rPr lang="en-US" sz="2000" dirty="0" smtClean="0"/>
              <a:t>Gaussian Naive </a:t>
            </a:r>
            <a:r>
              <a:rPr lang="en-US" sz="2000" dirty="0" err="1" smtClean="0"/>
              <a:t>Bayes</a:t>
            </a:r>
            <a:r>
              <a:rPr lang="en-US" sz="2000" dirty="0" smtClean="0"/>
              <a:t> is often used as a:</a:t>
            </a:r>
            <a:endParaRPr lang="en-US" sz="20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0" name="Rounded Rectangle 17"/>
          <p:cNvSpPr/>
          <p:nvPr/>
        </p:nvSpPr>
        <p:spPr>
          <a:xfrm>
            <a:off x="1232634" y="4455249"/>
            <a:ext cx="6265977"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UcParenR"/>
            </a:pPr>
            <a:r>
              <a:rPr lang="en-US" sz="1600" dirty="0" smtClean="0"/>
              <a:t>Deep learning </a:t>
            </a:r>
            <a:r>
              <a:rPr lang="en-US" sz="1600" dirty="0" smtClean="0"/>
              <a:t>replacement</a:t>
            </a:r>
          </a:p>
          <a:p>
            <a:pPr marL="342900" indent="-342900">
              <a:lnSpc>
                <a:spcPct val="150000"/>
              </a:lnSpc>
              <a:buAutoNum type="alphaUcParenR"/>
            </a:pPr>
            <a:r>
              <a:rPr lang="en-US" sz="1600" dirty="0" smtClean="0">
                <a:solidFill>
                  <a:srgbClr val="00B050"/>
                </a:solidFill>
              </a:rPr>
              <a:t> </a:t>
            </a:r>
            <a:r>
              <a:rPr lang="en-US" sz="1600" dirty="0" smtClean="0">
                <a:solidFill>
                  <a:srgbClr val="00B050"/>
                </a:solidFill>
              </a:rPr>
              <a:t>Baseline classifier</a:t>
            </a:r>
            <a:endParaRPr lang="en-US" sz="1600" dirty="0" smtClean="0">
              <a:solidFill>
                <a:srgbClr val="00B050"/>
              </a:solidFill>
            </a:endParaRPr>
          </a:p>
          <a:p>
            <a:pPr marL="342900" indent="-342900">
              <a:lnSpc>
                <a:spcPct val="150000"/>
              </a:lnSpc>
              <a:buAutoNum type="alphaUcParenR"/>
            </a:pPr>
            <a:r>
              <a:rPr lang="en-US" sz="1600" dirty="0" smtClean="0"/>
              <a:t>Feature scaling </a:t>
            </a:r>
            <a:r>
              <a:rPr lang="en-US" sz="1600" dirty="0" smtClean="0"/>
              <a:t>method</a:t>
            </a:r>
          </a:p>
          <a:p>
            <a:pPr marL="342900" indent="-342900">
              <a:lnSpc>
                <a:spcPct val="150000"/>
              </a:lnSpc>
              <a:buAutoNum type="alphaUcParenR"/>
            </a:pPr>
            <a:r>
              <a:rPr lang="en-US" sz="1600" dirty="0" smtClean="0"/>
              <a:t>Clustering algorithm</a:t>
            </a:r>
            <a:endParaRPr lang="en-US" sz="1600" b="0" i="0" dirty="0">
              <a:solidFill>
                <a:srgbClr val="00B050"/>
              </a:solidFill>
              <a:effectLst/>
              <a:latin typeface="var(--body-font-family)"/>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Rounded Rectangle 17"/>
          <p:cNvSpPr/>
          <p:nvPr/>
        </p:nvSpPr>
        <p:spPr>
          <a:xfrm>
            <a:off x="3348000" y="576720"/>
            <a:ext cx="5470920" cy="600480"/>
          </a:xfrm>
          <a:prstGeom prst="roundRect">
            <a:avLst>
              <a:gd name="adj" fmla="val 16667"/>
            </a:avLst>
          </a:prstGeom>
          <a:solidFill>
            <a:srgbClr val="BA2532"/>
          </a:solidFill>
          <a:ln>
            <a:noFill/>
          </a:ln>
          <a:effectLst>
            <a:outerShdw blurRad="50760" dist="37674"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buNone/>
            </a:pPr>
            <a:r>
              <a:rPr lang="en-US" sz="3200" b="0" strike="noStrike" spc="-1">
                <a:solidFill>
                  <a:srgbClr val="FFFFFF"/>
                </a:solidFill>
                <a:latin typeface="Calibri" panose="020F0502020204030204"/>
                <a:ea typeface="DejaVu Sans"/>
              </a:rPr>
              <a:t>TERMINAL QUESTIONS</a:t>
            </a:r>
            <a:endParaRPr lang="en-IN" sz="3200" b="0" strike="noStrike" spc="-1">
              <a:latin typeface="Arial" panose="020B0604020202020204"/>
            </a:endParaRPr>
          </a:p>
        </p:txBody>
      </p:sp>
      <p:sp>
        <p:nvSpPr>
          <p:cNvPr id="282" name="TextBox 8"/>
          <p:cNvSpPr/>
          <p:nvPr/>
        </p:nvSpPr>
        <p:spPr>
          <a:xfrm>
            <a:off x="1537920" y="2211120"/>
            <a:ext cx="9573480" cy="255309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r>
              <a:rPr lang="en-US" sz="2000" dirty="0" smtClean="0"/>
              <a:t>1.What </a:t>
            </a:r>
            <a:r>
              <a:rPr lang="en-US" sz="2000" dirty="0" smtClean="0"/>
              <a:t>is the main assumption made in Naive </a:t>
            </a:r>
            <a:r>
              <a:rPr lang="en-US" sz="2000" dirty="0" err="1" smtClean="0"/>
              <a:t>Bayes</a:t>
            </a:r>
            <a:r>
              <a:rPr lang="en-US" sz="2000" dirty="0" smtClean="0"/>
              <a:t> classifiers</a:t>
            </a:r>
            <a:r>
              <a:rPr lang="en-US" sz="2000" dirty="0" smtClean="0"/>
              <a:t>?</a:t>
            </a:r>
          </a:p>
          <a:p>
            <a:endParaRPr lang="en-US" sz="2000" dirty="0" smtClean="0"/>
          </a:p>
          <a:p>
            <a:r>
              <a:rPr lang="en-US" sz="2000" dirty="0" smtClean="0"/>
              <a:t>2. How </a:t>
            </a:r>
            <a:r>
              <a:rPr lang="en-US" sz="2000" dirty="0" smtClean="0"/>
              <a:t>does Gaussian Naive </a:t>
            </a:r>
            <a:r>
              <a:rPr lang="en-US" sz="2000" dirty="0" err="1" smtClean="0"/>
              <a:t>Bayes</a:t>
            </a:r>
            <a:r>
              <a:rPr lang="en-US" sz="2000" dirty="0" smtClean="0"/>
              <a:t> differ from Multinomial Naive </a:t>
            </a:r>
            <a:r>
              <a:rPr lang="en-US" sz="2000" dirty="0" err="1" smtClean="0"/>
              <a:t>Bayes</a:t>
            </a:r>
            <a:r>
              <a:rPr lang="en-US" sz="2000" dirty="0" smtClean="0"/>
              <a:t>?</a:t>
            </a:r>
          </a:p>
          <a:p>
            <a:endParaRPr lang="en-US" sz="2000" dirty="0" smtClean="0"/>
          </a:p>
          <a:p>
            <a:r>
              <a:rPr lang="en-US" sz="2000" dirty="0" smtClean="0"/>
              <a:t>3.Why </a:t>
            </a:r>
            <a:r>
              <a:rPr lang="en-US" sz="2000" dirty="0" smtClean="0"/>
              <a:t>do we use the Gaussian distribution in Gaussian Naive </a:t>
            </a:r>
            <a:r>
              <a:rPr lang="en-US" sz="2000" dirty="0" err="1" smtClean="0"/>
              <a:t>Bayes</a:t>
            </a:r>
            <a:r>
              <a:rPr lang="en-US" sz="2000" dirty="0" smtClean="0"/>
              <a:t>?</a:t>
            </a:r>
          </a:p>
          <a:p>
            <a:pPr marL="342900" indent="-342900">
              <a:buAutoNum type="arabicPeriod"/>
            </a:pPr>
            <a:endParaRPr lang="en-US" sz="2000" dirty="0">
              <a:solidFill>
                <a:schemeClr val="tx1"/>
              </a:solidFill>
            </a:endParaRPr>
          </a:p>
          <a:p>
            <a:pPr>
              <a:lnSpc>
                <a:spcPct val="200000"/>
              </a:lnSpc>
              <a:buNone/>
            </a:pPr>
            <a:endParaRPr lang="en-IN" sz="2000" b="0" strike="noStrike" spc="-1" dirty="0">
              <a:latin typeface="Arial" panose="020B0604020202020204"/>
            </a:endParaRPr>
          </a:p>
        </p:txBody>
      </p:sp>
    </p:spTree>
  </p:cSld>
  <p:clrMapOvr>
    <a:masterClrMapping/>
  </p:clrMapOvr>
  <mc:AlternateContent xmlns:mc="http://schemas.openxmlformats.org/markup-compatibility/2006">
    <mc:Choice xmlns="" xmlns:p14="http://schemas.microsoft.com/office/powerpoint/2010/main" Requires="p14">
      <p:transition spd="slow" p14:dur="125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1"/>
                                        </p:tgtEl>
                                        <p:attrNameLst>
                                          <p:attrName>style.visibility</p:attrName>
                                        </p:attrNameLst>
                                      </p:cBhvr>
                                      <p:to>
                                        <p:strVal val="visible"/>
                                      </p:to>
                                    </p:set>
                                    <p:animEffect transition="in" filter="fade">
                                      <p:cBhvr additive="repl">
                                        <p:cTn id="7" dur="500"/>
                                        <p:tgtEl>
                                          <p:spTgt spid="2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defPPr>
              <a:defRPr lang="en-IN"/>
            </a:defPPr>
            <a:lvl1pPr algn="ctr"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r>
              <a:rPr lang="en-US"/>
              <a:t>Deep learning</a:t>
            </a:r>
          </a:p>
        </p:txBody>
      </p:sp>
      <p:sp>
        <p:nvSpPr>
          <p:cNvPr id="5" name="Slide Number Placeholder 4"/>
          <p:cNvSpPr>
            <a:spLocks noGrp="1"/>
          </p:cNvSpPr>
          <p:nvPr>
            <p:ph type="sldNum" sz="quarter" idx="12"/>
          </p:nvPr>
        </p:nvSpPr>
        <p:spPr/>
        <p:txBody>
          <a:bodyPr/>
          <a:lstStyle/>
          <a:p>
            <a:fld id="{943DE3D9-547B-48C8-AECD-0F5196EAB393}" type="slidenum">
              <a:rPr lang="en-US" smtClean="0"/>
              <a:pPr/>
              <a:t>16</a:t>
            </a:fld>
            <a:endParaRPr lang="en-US"/>
          </a:p>
        </p:txBody>
      </p:sp>
      <p:sp>
        <p:nvSpPr>
          <p:cNvPr id="12" name="Text Placeholder 11"/>
          <p:cNvSpPr>
            <a:spLocks noGrp="1"/>
          </p:cNvSpPr>
          <p:nvPr>
            <p:ph idx="4294967295"/>
          </p:nvPr>
        </p:nvSpPr>
        <p:spPr>
          <a:xfrm>
            <a:off x="0" y="1825625"/>
            <a:ext cx="10515600" cy="4351338"/>
          </a:xfrm>
        </p:spPr>
        <p:txBody>
          <a:bodyPr/>
          <a:lstStyle/>
          <a:p>
            <a:pPr>
              <a:buFont typeface="Arial" panose="020B0604020202020204" pitchFamily="34" charset="0"/>
              <a:buChar char="•"/>
            </a:pPr>
            <a:endParaRPr lang="en-US" dirty="0">
              <a:solidFill>
                <a:schemeClr val="tx1"/>
              </a:solidFill>
            </a:endParaRPr>
          </a:p>
          <a:p>
            <a:pPr>
              <a:buFont typeface="Arial" panose="020B0604020202020204" pitchFamily="34" charset="0"/>
              <a:buChar char="•"/>
            </a:pPr>
            <a:endParaRPr lang="en-US" dirty="0">
              <a:solidFill>
                <a:schemeClr val="tx1"/>
              </a:solidFill>
            </a:endParaRPr>
          </a:p>
          <a:p>
            <a:endParaRPr lang="en-US" dirty="0"/>
          </a:p>
        </p:txBody>
      </p:sp>
      <p:sp>
        <p:nvSpPr>
          <p:cNvPr id="2" name="Rounded Rectangle 17"/>
          <p:cNvSpPr/>
          <p:nvPr/>
        </p:nvSpPr>
        <p:spPr>
          <a:xfrm>
            <a:off x="1574799" y="694337"/>
            <a:ext cx="8503265" cy="58826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1120876" y="1915318"/>
            <a:ext cx="10707329" cy="5216813"/>
          </a:xfrm>
          <a:prstGeom prst="rect">
            <a:avLst/>
          </a:prstGeom>
          <a:noFill/>
        </p:spPr>
        <p:txBody>
          <a:bodyPr wrap="square" rtlCol="0">
            <a:spAutoFit/>
          </a:bodyPr>
          <a:lstStyle/>
          <a:p>
            <a:pPr>
              <a:lnSpc>
                <a:spcPct val="150000"/>
              </a:lnSpc>
            </a:pPr>
            <a:r>
              <a:rPr lang="en-US" b="1" dirty="0"/>
              <a:t> Books:</a:t>
            </a:r>
          </a:p>
          <a:p>
            <a:r>
              <a:rPr lang="en-US" b="1" dirty="0" smtClean="0"/>
              <a:t>1. </a:t>
            </a:r>
            <a:r>
              <a:rPr lang="en-US" b="1" dirty="0" smtClean="0"/>
              <a:t>Machine Learning: A Probabilistic Perspective</a:t>
            </a:r>
            <a:r>
              <a:rPr lang="en-US" dirty="0" smtClean="0"/>
              <a:t> – Kevin P. Murphy</a:t>
            </a:r>
          </a:p>
          <a:p>
            <a:r>
              <a:rPr lang="en-US" dirty="0" smtClean="0"/>
              <a:t>Excellent for understanding probabilistic foundations and Naive </a:t>
            </a:r>
            <a:r>
              <a:rPr lang="en-US" dirty="0" err="1" smtClean="0"/>
              <a:t>Bayes</a:t>
            </a:r>
            <a:r>
              <a:rPr lang="en-US" dirty="0" smtClean="0"/>
              <a:t> in depth.</a:t>
            </a:r>
          </a:p>
          <a:p>
            <a:r>
              <a:rPr lang="en-US" b="1" dirty="0" smtClean="0"/>
              <a:t>2. Artificial </a:t>
            </a:r>
            <a:r>
              <a:rPr lang="en-US" b="1" dirty="0" smtClean="0"/>
              <a:t>Intelligence: A Modern Approach</a:t>
            </a:r>
            <a:r>
              <a:rPr lang="en-US" dirty="0" smtClean="0"/>
              <a:t> – Stuart Russell &amp; Peter </a:t>
            </a:r>
            <a:r>
              <a:rPr lang="en-US" dirty="0" err="1" smtClean="0"/>
              <a:t>Norvig</a:t>
            </a:r>
            <a:endParaRPr lang="en-US" dirty="0" smtClean="0"/>
          </a:p>
          <a:p>
            <a:r>
              <a:rPr lang="en-US" dirty="0" smtClean="0"/>
              <a:t>Classic AI textbook, includes probabilistic reasoning and Naive </a:t>
            </a:r>
            <a:r>
              <a:rPr lang="en-US" dirty="0" err="1" smtClean="0"/>
              <a:t>Bayes</a:t>
            </a:r>
            <a:r>
              <a:rPr lang="en-US" dirty="0" smtClean="0"/>
              <a:t> as part of machine learning.</a:t>
            </a:r>
          </a:p>
          <a:p>
            <a:endParaRPr lang="en-US" b="1" dirty="0" smtClean="0"/>
          </a:p>
          <a:p>
            <a:r>
              <a:rPr lang="en-US" b="1" dirty="0" smtClean="0"/>
              <a:t>Web </a:t>
            </a:r>
            <a:r>
              <a:rPr lang="en-US" b="1" dirty="0"/>
              <a:t>references:</a:t>
            </a:r>
          </a:p>
          <a:p>
            <a:r>
              <a:rPr lang="en-US" dirty="0" smtClean="0"/>
              <a:t>Analytics </a:t>
            </a:r>
            <a:r>
              <a:rPr lang="en-US" dirty="0" err="1" smtClean="0"/>
              <a:t>Vidhya</a:t>
            </a:r>
            <a:r>
              <a:rPr lang="en-US" dirty="0" smtClean="0"/>
              <a:t> – Naive </a:t>
            </a:r>
            <a:r>
              <a:rPr lang="en-US" dirty="0" err="1" smtClean="0"/>
              <a:t>Bayes</a:t>
            </a:r>
            <a:r>
              <a:rPr lang="en-US" dirty="0" smtClean="0"/>
              <a:t> Classifier</a:t>
            </a:r>
            <a:r>
              <a:rPr lang="en-US" dirty="0" smtClean="0"/>
              <a:t/>
            </a:r>
            <a:br>
              <a:rPr lang="en-US" dirty="0" smtClean="0"/>
            </a:br>
            <a:r>
              <a:rPr lang="en-US" dirty="0" smtClean="0"/>
              <a:t> </a:t>
            </a:r>
            <a:r>
              <a:rPr lang="en-US" dirty="0" smtClean="0">
                <a:hlinkClick r:id="rId3"/>
              </a:rPr>
              <a:t>https://www.analyticsvidhya.com/blog/2017/09/naive-bayes-explained</a:t>
            </a:r>
            <a:r>
              <a:rPr lang="en-US" dirty="0" smtClean="0">
                <a:hlinkClick r:id="rId3"/>
              </a:rPr>
              <a:t>/</a:t>
            </a:r>
            <a:endParaRPr lang="en-US" dirty="0" smtClean="0"/>
          </a:p>
          <a:p>
            <a:endParaRPr lang="en-US" dirty="0" smtClean="0"/>
          </a:p>
          <a:p>
            <a:endParaRPr lang="en-US" dirty="0" smtClean="0"/>
          </a:p>
          <a:p>
            <a:r>
              <a:rPr lang="en-US" dirty="0" err="1" smtClean="0"/>
              <a:t>Scikit</a:t>
            </a:r>
            <a:r>
              <a:rPr lang="en-US" dirty="0" smtClean="0"/>
              <a:t>-learn Documentation – Gaussian Naive </a:t>
            </a:r>
            <a:r>
              <a:rPr lang="en-US" dirty="0" err="1" smtClean="0"/>
              <a:t>Bayes</a:t>
            </a:r>
            <a:r>
              <a:rPr lang="en-US" dirty="0" smtClean="0"/>
              <a:t/>
            </a:r>
            <a:br>
              <a:rPr lang="en-US" dirty="0" smtClean="0"/>
            </a:br>
            <a:r>
              <a:rPr lang="en-US" dirty="0" smtClean="0">
                <a:hlinkClick r:id="rId4"/>
              </a:rPr>
              <a:t>https://</a:t>
            </a:r>
            <a:r>
              <a:rPr lang="en-US" dirty="0" smtClean="0">
                <a:hlinkClick r:id="rId4"/>
              </a:rPr>
              <a:t>scikit-learn.org/stable/modules/naive_bayes.html</a:t>
            </a:r>
            <a:endParaRPr lang="en-US" dirty="0" smtClean="0"/>
          </a:p>
          <a:p>
            <a:endParaRPr lang="en-US" dirty="0" smtClean="0"/>
          </a:p>
          <a:p>
            <a:endParaRPr lang="en-US" dirty="0" smtClean="0"/>
          </a:p>
          <a:p>
            <a:endParaRPr lang="en-US" dirty="0" smtClean="0"/>
          </a:p>
          <a:p>
            <a:endParaRPr lang="en-US" dirty="0" smtClean="0"/>
          </a:p>
          <a:p>
            <a:pPr marL="342900" indent="-342900">
              <a:buAutoNum type="arabicPeriod"/>
            </a:pPr>
            <a:endParaRPr lang="en-US" dirty="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pPr/>
              <a:t>17</a:t>
            </a:fld>
            <a:endParaRPr lang="en-IN"/>
          </a:p>
        </p:txBody>
      </p:sp>
      <p:sp>
        <p:nvSpPr>
          <p:cNvPr id="9" name="Rounded Rectangle 3"/>
          <p:cNvSpPr/>
          <p:nvPr/>
        </p:nvSpPr>
        <p:spPr>
          <a:xfrm>
            <a:off x="2541453" y="2477826"/>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a:t>
            </a:r>
            <a:r>
              <a:rPr lang="en-US" sz="2400" b="1" dirty="0" smtClean="0">
                <a:latin typeface="Poppins" pitchFamily="2" charset="77"/>
                <a:cs typeface="Poppins" pitchFamily="2" charset="77"/>
              </a:rPr>
              <a:t>– AI &amp;ML</a:t>
            </a:r>
            <a:endParaRPr lang="en-US" sz="24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CoE PPT Template</Template>
  <TotalTime>1974</TotalTime>
  <Words>975</Words>
  <Application>Microsoft Office PowerPoint</Application>
  <PresentationFormat>Custom</PresentationFormat>
  <Paragraphs>123</Paragraphs>
  <Slides>17</Slides>
  <Notes>2</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Gallery</vt:lpstr>
      <vt:lpstr>Slide 1</vt:lpstr>
      <vt:lpstr>Slide 2</vt:lpstr>
      <vt:lpstr>Objectives</vt:lpstr>
      <vt:lpstr>Naïve Bayes</vt:lpstr>
      <vt:lpstr>Naïve Bayes CLASSIFIER </vt:lpstr>
      <vt:lpstr>Types of Naïve Bayes </vt:lpstr>
      <vt:lpstr> Gaussian Naive Bayes</vt:lpstr>
      <vt:lpstr>CONTD..</vt:lpstr>
      <vt:lpstr>CONTD..</vt:lpstr>
      <vt:lpstr>Why Gaussian Naive Bayes Works Well for Continuous Data?</vt:lpstr>
      <vt:lpstr>CONTD..</vt:lpstr>
      <vt:lpstr>Contd..</vt:lpstr>
      <vt:lpstr>CONTD.. </vt:lpstr>
      <vt:lpstr>Slide 14</vt:lpstr>
      <vt:lpstr>Slide 15</vt:lpstr>
      <vt:lpstr>Slide 16</vt:lpstr>
      <vt:lpstr>Slide 17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Narendra Babu T</dc:creator>
  <cp:lastModifiedBy>ADMIN</cp:lastModifiedBy>
  <cp:revision>97</cp:revision>
  <dcterms:created xsi:type="dcterms:W3CDTF">2023-05-06T03:47:00Z</dcterms:created>
  <dcterms:modified xsi:type="dcterms:W3CDTF">2025-09-14T10:45:40Z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6E6046E1B8564DE48E72D44BA630FF3F_13</vt:lpwstr>
  </property>
  <property fmtid="{D5CDD505-2E9C-101B-9397-08002B2CF9AE}" pid="3" name="KSOProductBuildVer">
    <vt:lpwstr>1033-12.2.0.17119</vt:lpwstr>
  </property>
</Properties>
</file>