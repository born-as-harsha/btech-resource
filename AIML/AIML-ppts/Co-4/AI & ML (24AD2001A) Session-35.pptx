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324" r:id="rId3"/>
    <p:sldId id="395" r:id="rId4"/>
    <p:sldId id="423" r:id="rId5"/>
    <p:sldId id="396" r:id="rId6"/>
    <p:sldId id="424" r:id="rId7"/>
    <p:sldId id="425" r:id="rId8"/>
    <p:sldId id="426" r:id="rId9"/>
    <p:sldId id="397" r:id="rId10"/>
    <p:sldId id="398" r:id="rId11"/>
    <p:sldId id="388" r:id="rId12"/>
    <p:sldId id="389" r:id="rId13"/>
    <p:sldId id="28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773" autoAdjust="0"/>
  </p:normalViewPr>
  <p:slideViewPr>
    <p:cSldViewPr snapToGrid="0">
      <p:cViewPr varScale="1">
        <p:scale>
          <a:sx n="69" d="100"/>
          <a:sy n="69" d="100"/>
        </p:scale>
        <p:origin x="-124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12-10-2025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machine-learning/machine-learning-for-anomaly-detection/" TargetMode="External"/><Relationship Id="rId2" Type="http://schemas.openxmlformats.org/officeDocument/2006/relationships/hyperlink" Target="https://www.geeksforgeeks.org/dbms/anomalies-in-relational-mode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machine-learning/what-is-isolation-fores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machine-learning/k-nearest-neighbour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r>
              <a:rPr lang="en-US" sz="2400" b="1" dirty="0" smtClean="0"/>
              <a:t>Anomaly Detection:</a:t>
            </a:r>
            <a:r>
              <a:rPr lang="en-US" sz="2400" dirty="0" smtClean="0"/>
              <a:t> Isolation forests, LOF.</a:t>
            </a:r>
            <a:endParaRPr lang="en-US" sz="2400" b="1"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35</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smtClean="0"/>
              <a:t>Anomaly Detection:</a:t>
            </a:r>
            <a:r>
              <a:rPr lang="en-US" dirty="0" smtClean="0"/>
              <a:t> Isolation forests</a:t>
            </a:r>
            <a:endParaRPr lang="en-US" dirty="0"/>
          </a:p>
        </p:txBody>
      </p:sp>
      <p:sp>
        <p:nvSpPr>
          <p:cNvPr id="3" name="Content Placeholder 2"/>
          <p:cNvSpPr>
            <a:spLocks noGrp="1"/>
          </p:cNvSpPr>
          <p:nvPr>
            <p:ph idx="1"/>
          </p:nvPr>
        </p:nvSpPr>
        <p:spPr>
          <a:xfrm>
            <a:off x="1451579" y="2015732"/>
            <a:ext cx="9603275" cy="4080268"/>
          </a:xfrm>
          <a:ln>
            <a:solidFill>
              <a:schemeClr val="tx1"/>
            </a:solidFill>
          </a:ln>
        </p:spPr>
        <p:txBody>
          <a:bodyPr>
            <a:normAutofit fontScale="92500" lnSpcReduction="10000"/>
          </a:bodyPr>
          <a:lstStyle/>
          <a:p>
            <a:pPr algn="just">
              <a:buNone/>
            </a:pPr>
            <a:r>
              <a:rPr lang="en-US" dirty="0" smtClean="0">
                <a:hlinkClick r:id="rId2"/>
              </a:rPr>
              <a:t>Anomalies</a:t>
            </a:r>
            <a:r>
              <a:rPr lang="en-US" dirty="0" smtClean="0"/>
              <a:t>, also known as outliers, are data points that deviate significantly from the expected behavior or norm within a dataset. They are crucial to identify because they can signal potential problems, fraudulent activities, or interesting discoveries. </a:t>
            </a:r>
            <a:r>
              <a:rPr lang="en-US" dirty="0" smtClean="0">
                <a:hlinkClick r:id="rId3"/>
              </a:rPr>
              <a:t>Anomaly detection</a:t>
            </a:r>
            <a:r>
              <a:rPr lang="en-US" dirty="0" smtClean="0"/>
              <a:t> plays a vital role in various fields, including data analysis, machine learning, and network security.</a:t>
            </a:r>
          </a:p>
          <a:p>
            <a:pPr algn="just"/>
            <a:r>
              <a:rPr lang="en-US" b="1" dirty="0" smtClean="0"/>
              <a:t>Types of Anomalies</a:t>
            </a:r>
          </a:p>
          <a:p>
            <a:pPr algn="just">
              <a:buNone/>
            </a:pPr>
            <a:r>
              <a:rPr lang="en-US" dirty="0" smtClean="0"/>
              <a:t>There are essentially three types of anomalies: point anomalies, contextual anomalies, and collective anomalies.</a:t>
            </a:r>
          </a:p>
          <a:p>
            <a:pPr algn="just"/>
            <a:r>
              <a:rPr lang="en-US" b="1" dirty="0" smtClean="0"/>
              <a:t>Point Anomalies (Global Anomalies):</a:t>
            </a:r>
            <a:r>
              <a:rPr lang="en-US" dirty="0" smtClean="0"/>
              <a:t> These are the most basic type, representing individual data points that are statistically unusual compared to the rest of the data. For instance, a credit card transaction with an exceptionally high amount might be flagged as a point anomaly.</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
        <p:nvSpPr>
          <p:cNvPr id="6" name="Content Placeholder 5"/>
          <p:cNvSpPr>
            <a:spLocks noGrp="1"/>
          </p:cNvSpPr>
          <p:nvPr>
            <p:ph idx="1"/>
          </p:nvPr>
        </p:nvSpPr>
        <p:spPr>
          <a:xfrm>
            <a:off x="1451579" y="2015732"/>
            <a:ext cx="9603275" cy="4010995"/>
          </a:xfrm>
        </p:spPr>
        <p:txBody>
          <a:bodyPr>
            <a:normAutofit/>
          </a:bodyPr>
          <a:lstStyle/>
          <a:p>
            <a:pPr algn="just"/>
            <a:r>
              <a:rPr lang="en-US" b="1" dirty="0" smtClean="0"/>
              <a:t>Contextual Anomalies (Conditional Anomalies):</a:t>
            </a:r>
            <a:r>
              <a:rPr lang="en-US" dirty="0" smtClean="0"/>
              <a:t> These anomalies depend on the specific context or environment surrounding them. They often occur in time-series data, where patterns can change over time. An example is a sudden spike in temperature during winter within weather data.</a:t>
            </a:r>
          </a:p>
          <a:p>
            <a:pPr algn="just"/>
            <a:r>
              <a:rPr lang="en-US" b="1" dirty="0" smtClean="0"/>
              <a:t>Collective Anomalies:</a:t>
            </a:r>
            <a:r>
              <a:rPr lang="en-US" dirty="0" smtClean="0"/>
              <a:t> These involve groups of related data points exhibiting abnormal behavior collectively, even if individually they might seem normal. They disrupt the overall data distribution. Identifying collective anomalies often requires complex pattern-based algorithms, and they are commonly found in dynamic environments like network traffic data.</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Isolation Forests for Anomaly Detection</a:t>
            </a:r>
            <a:endParaRPr lang="en-US" b="1" dirty="0"/>
          </a:p>
        </p:txBody>
      </p:sp>
      <p:sp>
        <p:nvSpPr>
          <p:cNvPr id="3" name="Content Placeholder 2"/>
          <p:cNvSpPr>
            <a:spLocks noGrp="1"/>
          </p:cNvSpPr>
          <p:nvPr>
            <p:ph idx="1"/>
          </p:nvPr>
        </p:nvSpPr>
        <p:spPr>
          <a:xfrm>
            <a:off x="1451579" y="1870364"/>
            <a:ext cx="9603275" cy="4267200"/>
          </a:xfrm>
        </p:spPr>
        <p:txBody>
          <a:bodyPr>
            <a:normAutofit fontScale="55000" lnSpcReduction="20000"/>
          </a:bodyPr>
          <a:lstStyle/>
          <a:p>
            <a:pPr algn="just"/>
            <a:r>
              <a:rPr lang="en-US" sz="3200" dirty="0" smtClean="0">
                <a:hlinkClick r:id="rId2"/>
              </a:rPr>
              <a:t>Isolation Forest</a:t>
            </a:r>
            <a:r>
              <a:rPr lang="en-US" sz="3200" dirty="0" smtClean="0"/>
              <a:t> is an unsupervised anomaly detection algorithm particularly effective for high-dimensional data. It operates under the principle that anomalies are rare and distinct, making them easier to isolate from the rest of the data. Unlike other methods that profile normal data, Isolation Forests focus on isolating anomalies. At its core, the Isolation Forest algorithm, it banks on the fundamental concept that anomalies, they deviate significantly, thereby making them easier to identify.</a:t>
            </a:r>
          </a:p>
          <a:p>
            <a:pPr algn="just"/>
            <a:r>
              <a:rPr lang="en-US" sz="3200" dirty="0" smtClean="0"/>
              <a:t>Isolation Forests excel at anomaly detection by leveraging a unique approach: isolating anomalies instead of profiling normal data points. The workings of isolation forests are defined below:</a:t>
            </a:r>
          </a:p>
          <a:p>
            <a:pPr algn="just"/>
            <a:r>
              <a:rPr lang="en-US" sz="3200" b="1" dirty="0" smtClean="0"/>
              <a:t>Building Isolation Trees: </a:t>
            </a:r>
            <a:r>
              <a:rPr lang="en-US" sz="3200" dirty="0" smtClean="0"/>
              <a:t>The algorithm starts by creating a set of isolation trees, typically hundreds or even thousands of them. These trees are similar to traditional decision trees, but with a key difference: they are not built to classify data points into specific categories. Instead, isolation trees aim to isolate individual data points by repeatedly splitting the data based on randomly chosen features and split values.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
        <p:nvSpPr>
          <p:cNvPr id="6" name="Content Placeholder 5"/>
          <p:cNvSpPr>
            <a:spLocks noGrp="1"/>
          </p:cNvSpPr>
          <p:nvPr>
            <p:ph idx="1"/>
          </p:nvPr>
        </p:nvSpPr>
        <p:spPr>
          <a:xfrm>
            <a:off x="1451579" y="1731818"/>
            <a:ext cx="9603275" cy="4585855"/>
          </a:xfrm>
        </p:spPr>
        <p:txBody>
          <a:bodyPr>
            <a:normAutofit fontScale="85000" lnSpcReduction="10000"/>
          </a:bodyPr>
          <a:lstStyle/>
          <a:p>
            <a:pPr algn="just"/>
            <a:r>
              <a:rPr lang="en-US" b="1" dirty="0" smtClean="0"/>
              <a:t>Splitting on Random Features:</a:t>
            </a:r>
            <a:r>
              <a:rPr lang="en-US" dirty="0" smtClean="0"/>
              <a:t> Isolation trees introduce randomness at each node of the tree, a random feature from the dataset is selected. Then, a random split value is chosen within the range of that particular feature's values. This randomness helps ensure that anomalies, which tend to be distinct from the majority of data points, are not hidden within specific branches of the tree.</a:t>
            </a:r>
          </a:p>
          <a:p>
            <a:pPr algn="just"/>
            <a:r>
              <a:rPr lang="en-US" b="1" dirty="0" smtClean="0"/>
              <a:t>Isolating Data Points:</a:t>
            </a:r>
            <a:r>
              <a:rPr lang="en-US" dirty="0" smtClean="0"/>
              <a:t> The data points are then directed down the branches of the isolation tree based on their feature </a:t>
            </a:r>
            <a:r>
              <a:rPr lang="en-US" dirty="0" err="1" smtClean="0"/>
              <a:t>values.If</a:t>
            </a:r>
            <a:r>
              <a:rPr lang="en-US" dirty="0" smtClean="0"/>
              <a:t> a data point's value for the chosen feature falls below the split value, it goes to the left branch. Otherwise, it goes to the right branch. This process continues recursively until the data point reaches a leaf node, which simply represents the isolated data point.</a:t>
            </a:r>
          </a:p>
          <a:p>
            <a:pPr algn="just"/>
            <a:r>
              <a:rPr lang="en-US" b="1" dirty="0" smtClean="0"/>
              <a:t>Anomaly Score: </a:t>
            </a:r>
            <a:r>
              <a:rPr lang="en-US" dirty="0" smtClean="0"/>
              <a:t>The key concept behind Isolation Forests lies in the </a:t>
            </a:r>
            <a:r>
              <a:rPr lang="en-US" b="1" dirty="0" smtClean="0"/>
              <a:t>path length</a:t>
            </a:r>
            <a:r>
              <a:rPr lang="en-US" dirty="0" smtClean="0"/>
              <a:t> of a data point through an isolation </a:t>
            </a:r>
            <a:r>
              <a:rPr lang="en-US" dirty="0" err="1" smtClean="0"/>
              <a:t>tree.Anomalies</a:t>
            </a:r>
            <a:r>
              <a:rPr lang="en-US" dirty="0" smtClean="0"/>
              <a:t>, by virtue of being different from the majority, tend to be easier to isolate. They require fewer random splits to reach a leaf node because they are likely to fall outside the typical range of values for the chosen features. Conversely, normal data points, which share more similarities with each other, might require more splits on their path down the tree before they are isolated.</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928256"/>
            <a:ext cx="9603275" cy="5209308"/>
          </a:xfrm>
        </p:spPr>
        <p:txBody>
          <a:bodyPr>
            <a:normAutofit lnSpcReduction="10000"/>
          </a:bodyPr>
          <a:lstStyle/>
          <a:p>
            <a:pPr>
              <a:buNone/>
            </a:pPr>
            <a:r>
              <a:rPr lang="en-US" sz="2400" b="1" dirty="0" smtClean="0"/>
              <a:t>CONTD.. </a:t>
            </a:r>
          </a:p>
          <a:p>
            <a:endParaRPr lang="en-US" b="1" dirty="0" smtClean="0"/>
          </a:p>
          <a:p>
            <a:r>
              <a:rPr lang="en-US" b="1" dirty="0" smtClean="0"/>
              <a:t>Anomaly Score Calculation:</a:t>
            </a:r>
            <a:r>
              <a:rPr lang="en-US" dirty="0" smtClean="0"/>
              <a:t> Each data point is evaluated through all the isolation trees in the </a:t>
            </a:r>
            <a:r>
              <a:rPr lang="en-US" dirty="0" err="1" smtClean="0"/>
              <a:t>forest.For</a:t>
            </a:r>
            <a:r>
              <a:rPr lang="en-US" dirty="0" smtClean="0"/>
              <a:t> each tree, the path length (number of splits) required to isolate the data point is recorded.</a:t>
            </a:r>
          </a:p>
          <a:p>
            <a:pPr>
              <a:buNone/>
            </a:pPr>
            <a:r>
              <a:rPr lang="en-US" dirty="0" smtClean="0"/>
              <a:t>    An anomaly score is then calculated for each data point by averaging the path lengths across all the isolation trees in the forest.</a:t>
            </a:r>
          </a:p>
          <a:p>
            <a:r>
              <a:rPr lang="en-US" b="1" dirty="0" smtClean="0"/>
              <a:t>Identifying Anomalies:</a:t>
            </a:r>
            <a:r>
              <a:rPr lang="en-US" dirty="0" smtClean="0"/>
              <a:t> Data points with shorter average path lengths are considered more likely to be anomalies. This is because they were easier to isolate, suggesting they deviate significantly from the bulk of the data. A threshold is set to define the anomaly score that separates normal data points from anomalies. This threshold can be determined based on domain knowledge, experimentation, or established statistical principles.</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Local Outlier Factor(LOF)</a:t>
            </a:r>
            <a:endParaRPr lang="en-US" b="1" dirty="0"/>
          </a:p>
        </p:txBody>
      </p:sp>
      <p:sp>
        <p:nvSpPr>
          <p:cNvPr id="3" name="Content Placeholder 2"/>
          <p:cNvSpPr>
            <a:spLocks noGrp="1"/>
          </p:cNvSpPr>
          <p:nvPr>
            <p:ph idx="1"/>
          </p:nvPr>
        </p:nvSpPr>
        <p:spPr>
          <a:xfrm>
            <a:off x="1451579" y="1842654"/>
            <a:ext cx="9603275" cy="4405746"/>
          </a:xfrm>
        </p:spPr>
        <p:txBody>
          <a:bodyPr>
            <a:normAutofit fontScale="92500" lnSpcReduction="20000"/>
          </a:bodyPr>
          <a:lstStyle/>
          <a:p>
            <a:r>
              <a:rPr lang="en-US" dirty="0" smtClean="0"/>
              <a:t>Local outlier factor (LOF) is an algorithm used for Unsupervised outlier detection. It produces an anomaly score for outliers in the data set. It does this by measuring the local density deviation of a given data point with respect to the data points near it. </a:t>
            </a:r>
          </a:p>
          <a:p>
            <a:pPr>
              <a:buNone/>
            </a:pPr>
            <a:r>
              <a:rPr lang="en-US" sz="2600" b="1" dirty="0" smtClean="0"/>
              <a:t>Working of LOF</a:t>
            </a:r>
          </a:p>
          <a:p>
            <a:r>
              <a:rPr lang="en-US" dirty="0" smtClean="0"/>
              <a:t>Local density is calculated by estimating distances between data points that are </a:t>
            </a:r>
            <a:r>
              <a:rPr lang="en-US" dirty="0" err="1" smtClean="0"/>
              <a:t>neighbours</a:t>
            </a:r>
            <a:r>
              <a:rPr lang="en-US" dirty="0" smtClean="0"/>
              <a:t> </a:t>
            </a:r>
            <a:r>
              <a:rPr lang="en-US" dirty="0" err="1" smtClean="0"/>
              <a:t>i.e</a:t>
            </a:r>
            <a:r>
              <a:rPr lang="en-US" dirty="0" smtClean="0"/>
              <a:t> </a:t>
            </a:r>
            <a:r>
              <a:rPr lang="en-US" dirty="0" smtClean="0">
                <a:hlinkClick r:id="rId2"/>
              </a:rPr>
              <a:t>k-nearest neighbors</a:t>
            </a:r>
            <a:r>
              <a:rPr lang="en-US" dirty="0" smtClean="0"/>
              <a:t>. For each data point, local density can be calculated by comparing these we can check which data points have similar densities and which have a lesser density than its neighbors. The ones with the lesser densities are considered as the outliers. </a:t>
            </a:r>
          </a:p>
          <a:p>
            <a:pPr>
              <a:buNone/>
            </a:pPr>
            <a:r>
              <a:rPr lang="en-US" sz="2600" b="1" dirty="0" smtClean="0"/>
              <a:t>1. k-Distance and k-Nearest </a:t>
            </a:r>
            <a:r>
              <a:rPr lang="en-US" sz="2600" b="1" dirty="0" err="1" smtClean="0"/>
              <a:t>Neighbours</a:t>
            </a:r>
            <a:endParaRPr lang="en-US" sz="2600" b="1" dirty="0" smtClean="0"/>
          </a:p>
          <a:p>
            <a:r>
              <a:rPr lang="en-US" dirty="0" smtClean="0"/>
              <a:t>k-distance refers to the distance between a point and its k-</a:t>
            </a:r>
            <a:r>
              <a:rPr lang="en-US" dirty="0" err="1" smtClean="0"/>
              <a:t>th</a:t>
            </a:r>
            <a:r>
              <a:rPr lang="en-US" dirty="0" smtClean="0"/>
              <a:t> nearest </a:t>
            </a:r>
            <a:r>
              <a:rPr lang="en-US" dirty="0" err="1" smtClean="0"/>
              <a:t>neighbour</a:t>
            </a:r>
            <a:r>
              <a:rPr lang="en-US" dirty="0" smtClean="0"/>
              <a:t>. It helps define the local </a:t>
            </a:r>
            <a:r>
              <a:rPr lang="en-US" dirty="0" err="1" smtClean="0"/>
              <a:t>neighbourhood</a:t>
            </a:r>
            <a:r>
              <a:rPr lang="en-US" dirty="0" smtClean="0"/>
              <a:t> of a point by finding the closest k data points. Here is an image that represents the k-distances of various </a:t>
            </a:r>
            <a:r>
              <a:rPr lang="en-US" dirty="0" err="1" smtClean="0"/>
              <a:t>neighbours</a:t>
            </a:r>
            <a:r>
              <a:rPr lang="en-US" dirty="0" smtClean="0"/>
              <a:t> in the cluster of a point:</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1884218" y="1856509"/>
            <a:ext cx="8991600" cy="4211781"/>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
        <p:nvSpPr>
          <p:cNvPr id="5" name="Content Placeholder 4"/>
          <p:cNvSpPr>
            <a:spLocks noGrp="1"/>
          </p:cNvSpPr>
          <p:nvPr>
            <p:ph idx="1"/>
          </p:nvPr>
        </p:nvSpPr>
        <p:spPr>
          <a:xfrm>
            <a:off x="1506997" y="1946460"/>
            <a:ext cx="9603275" cy="4066413"/>
          </a:xfrm>
        </p:spPr>
        <p:txBody>
          <a:bodyPr/>
          <a:lstStyle/>
          <a:p>
            <a:pPr>
              <a:buNone/>
            </a:pPr>
            <a:r>
              <a:rPr lang="en-US" sz="2400" b="1" dirty="0" smtClean="0"/>
              <a:t>2. </a:t>
            </a:r>
            <a:r>
              <a:rPr lang="en-US" sz="2400" b="1" dirty="0" err="1" smtClean="0"/>
              <a:t>Reachability</a:t>
            </a:r>
            <a:r>
              <a:rPr lang="en-US" sz="2400" b="1" dirty="0" smtClean="0"/>
              <a:t> Distance</a:t>
            </a:r>
          </a:p>
          <a:p>
            <a:r>
              <a:rPr lang="en-US" dirty="0" smtClean="0"/>
              <a:t>This distance is then used to calculate the </a:t>
            </a:r>
            <a:r>
              <a:rPr lang="en-US" dirty="0" err="1" smtClean="0"/>
              <a:t>reachability</a:t>
            </a:r>
            <a:r>
              <a:rPr lang="en-US" dirty="0" smtClean="0"/>
              <a:t> distance. It is defined as the maximum of the distance between two points and the k-distance of that point. Refer to the following equation where B is the point in the center and A is a point near to it.</a:t>
            </a:r>
          </a:p>
          <a:p>
            <a:endParaRPr lang="en-US" dirty="0" smtClean="0"/>
          </a:p>
          <a:p>
            <a:r>
              <a:rPr lang="en-US" dirty="0" smtClean="0"/>
              <a:t>Here is an image which represents </a:t>
            </a:r>
            <a:r>
              <a:rPr lang="en-US" dirty="0" err="1" smtClean="0"/>
              <a:t>reachability</a:t>
            </a:r>
            <a:r>
              <a:rPr lang="en-US" dirty="0" smtClean="0"/>
              <a:t> distance of a point to various neighbors: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702070" y="3672320"/>
            <a:ext cx="6123275" cy="553316"/>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6518131" y="4572000"/>
            <a:ext cx="2314575" cy="2023197"/>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b="1" dirty="0"/>
          </a:p>
        </p:txBody>
      </p:sp>
      <p:sp>
        <p:nvSpPr>
          <p:cNvPr id="3" name="Content Placeholder 2"/>
          <p:cNvSpPr>
            <a:spLocks noGrp="1"/>
          </p:cNvSpPr>
          <p:nvPr>
            <p:ph idx="1"/>
          </p:nvPr>
        </p:nvSpPr>
        <p:spPr>
          <a:xfrm>
            <a:off x="1451579" y="2015732"/>
            <a:ext cx="9603275" cy="4204959"/>
          </a:xfrm>
        </p:spPr>
        <p:txBody>
          <a:bodyPr>
            <a:noAutofit/>
          </a:bodyPr>
          <a:lstStyle/>
          <a:p>
            <a:r>
              <a:rPr lang="en-US" sz="1800" dirty="0" smtClean="0"/>
              <a:t>As seen in the image above, for points inside the circle the k-distance is considered and for points outside the cluster, the distance between points is considered. Now, </a:t>
            </a:r>
            <a:r>
              <a:rPr lang="en-US" sz="1800" dirty="0" err="1" smtClean="0"/>
              <a:t>reachability</a:t>
            </a:r>
            <a:r>
              <a:rPr lang="en-US" sz="1800" dirty="0" smtClean="0"/>
              <a:t> distances to all of the k-nearest </a:t>
            </a:r>
            <a:r>
              <a:rPr lang="en-US" sz="1800" dirty="0" err="1" smtClean="0"/>
              <a:t>neighbours</a:t>
            </a:r>
            <a:r>
              <a:rPr lang="en-US" sz="1800" dirty="0" smtClean="0"/>
              <a:t> of a point are calculated to determine the Local </a:t>
            </a:r>
            <a:r>
              <a:rPr lang="en-US" sz="1800" dirty="0" err="1" smtClean="0"/>
              <a:t>Reachability</a:t>
            </a:r>
            <a:r>
              <a:rPr lang="en-US" sz="1800" dirty="0" smtClean="0"/>
              <a:t> Density (LRD) of that point. </a:t>
            </a:r>
          </a:p>
          <a:p>
            <a:pPr>
              <a:buNone/>
            </a:pPr>
            <a:r>
              <a:rPr lang="en-US" sz="2400" b="1" dirty="0" smtClean="0"/>
              <a:t>3. Local </a:t>
            </a:r>
            <a:r>
              <a:rPr lang="en-US" sz="2400" b="1" dirty="0" err="1" smtClean="0"/>
              <a:t>Reachability</a:t>
            </a:r>
            <a:r>
              <a:rPr lang="en-US" sz="2400" b="1" dirty="0" smtClean="0"/>
              <a:t> Density (LRD) </a:t>
            </a:r>
          </a:p>
          <a:p>
            <a:r>
              <a:rPr lang="en-US" sz="1800" dirty="0" smtClean="0"/>
              <a:t>The local </a:t>
            </a:r>
            <a:r>
              <a:rPr lang="en-US" sz="1800" dirty="0" err="1" smtClean="0"/>
              <a:t>reachability</a:t>
            </a:r>
            <a:r>
              <a:rPr lang="en-US" sz="1800" dirty="0" smtClean="0"/>
              <a:t> density is a measure of the density of k-nearest points around a point. It is calculated by taking the inverse of the sum of all of the </a:t>
            </a:r>
            <a:r>
              <a:rPr lang="en-US" sz="1800" dirty="0" err="1" smtClean="0"/>
              <a:t>reachability</a:t>
            </a:r>
            <a:r>
              <a:rPr lang="en-US" sz="1800" dirty="0" smtClean="0"/>
              <a:t> distances from the k-nearest neighboring points. The closer the points are, the distance is lesser and the density is more.</a:t>
            </a:r>
            <a:endParaRPr lang="en-US" sz="1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pic>
        <p:nvPicPr>
          <p:cNvPr id="3074" name="Picture 2"/>
          <p:cNvPicPr>
            <a:picLocks noChangeAspect="1" noChangeArrowheads="1"/>
          </p:cNvPicPr>
          <p:nvPr/>
        </p:nvPicPr>
        <p:blipFill>
          <a:blip r:embed="rId2" cstate="print"/>
          <a:srcRect/>
          <a:stretch>
            <a:fillRect/>
          </a:stretch>
        </p:blipFill>
        <p:spPr bwMode="auto">
          <a:xfrm>
            <a:off x="2327997" y="4987636"/>
            <a:ext cx="6788294" cy="1177637"/>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143" y="735247"/>
            <a:ext cx="9603275" cy="1049235"/>
          </a:xfrm>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
        <p:nvSpPr>
          <p:cNvPr id="6" name="TextBox 5"/>
          <p:cNvSpPr txBox="1"/>
          <p:nvPr/>
        </p:nvSpPr>
        <p:spPr>
          <a:xfrm>
            <a:off x="1343891" y="1814946"/>
            <a:ext cx="10487891" cy="1077218"/>
          </a:xfrm>
          <a:prstGeom prst="rect">
            <a:avLst/>
          </a:prstGeom>
          <a:noFill/>
        </p:spPr>
        <p:txBody>
          <a:bodyPr wrap="square" rtlCol="0">
            <a:spAutoFit/>
          </a:bodyPr>
          <a:lstStyle/>
          <a:p>
            <a:r>
              <a:rPr lang="en-US" sz="2400" b="1" dirty="0" smtClean="0"/>
              <a:t>4. Local Outlier Factor (LOF) </a:t>
            </a:r>
          </a:p>
          <a:p>
            <a:pPr algn="just"/>
            <a:r>
              <a:rPr lang="en-US" sz="2000" dirty="0" smtClean="0"/>
              <a:t>The calculation of Local outlier factor (LOF) is done by taking the ratio of the average of the LRDs of k-number of neighbors of a point and the LRD of that point. Here is the equation for LOF:</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2230582" y="2770909"/>
            <a:ext cx="4827443" cy="862879"/>
          </a:xfrm>
          <a:prstGeom prst="rect">
            <a:avLst/>
          </a:prstGeom>
          <a:noFill/>
          <a:ln w="9525">
            <a:noFill/>
            <a:miter lim="800000"/>
            <a:headEnd/>
            <a:tailEnd/>
          </a:ln>
        </p:spPr>
      </p:pic>
      <p:sp>
        <p:nvSpPr>
          <p:cNvPr id="8" name="TextBox 7"/>
          <p:cNvSpPr txBox="1"/>
          <p:nvPr/>
        </p:nvSpPr>
        <p:spPr>
          <a:xfrm>
            <a:off x="1343891" y="3588327"/>
            <a:ext cx="10266218" cy="2862322"/>
          </a:xfrm>
          <a:prstGeom prst="rect">
            <a:avLst/>
          </a:prstGeom>
          <a:noFill/>
        </p:spPr>
        <p:txBody>
          <a:bodyPr wrap="square" rtlCol="0">
            <a:spAutoFit/>
          </a:bodyPr>
          <a:lstStyle/>
          <a:p>
            <a:pPr algn="just"/>
            <a:r>
              <a:rPr lang="en-US" dirty="0" smtClean="0"/>
              <a:t>So, if the density of the neighbors and the points are almost equal we can say they are quite similar; if the density  of the neighbors is lesser than the density of the point we can say the point is an </a:t>
            </a:r>
            <a:r>
              <a:rPr lang="en-US" dirty="0" err="1" smtClean="0"/>
              <a:t>inlier</a:t>
            </a:r>
            <a:r>
              <a:rPr lang="en-US" dirty="0" smtClean="0"/>
              <a:t> i.e. inside the cluster,  and if the density of the neighbors is more than the density of the point we can say that the point is an outlier.  </a:t>
            </a:r>
          </a:p>
          <a:p>
            <a:pPr algn="just"/>
            <a:r>
              <a:rPr lang="en-US" dirty="0" smtClean="0"/>
              <a:t>Refer to the following illustration:</a:t>
            </a:r>
          </a:p>
          <a:p>
            <a:pPr algn="just"/>
            <a:r>
              <a:rPr lang="en-US" dirty="0" smtClean="0"/>
              <a:t>LOF ~ 1:  Similar data point </a:t>
            </a:r>
          </a:p>
          <a:p>
            <a:pPr algn="just"/>
            <a:r>
              <a:rPr lang="en-US" dirty="0" smtClean="0"/>
              <a:t>LOF &lt; 1: Similar data point which is inside the density cluster</a:t>
            </a:r>
          </a:p>
          <a:p>
            <a:pPr algn="just"/>
            <a:r>
              <a:rPr lang="en-US" dirty="0" smtClean="0"/>
              <a:t>LOF &gt; 1: Outlier</a:t>
            </a:r>
          </a:p>
          <a:p>
            <a:pPr algn="just"/>
            <a:r>
              <a:rPr lang="en-US" dirty="0" smtClean="0"/>
              <a:t>Here is an image of the plot of LOF on a data set: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
        <p:nvSpPr>
          <p:cNvPr id="5" name="Content Placeholder 4"/>
          <p:cNvSpPr>
            <a:spLocks noGrp="1"/>
          </p:cNvSpPr>
          <p:nvPr>
            <p:ph idx="1"/>
          </p:nvPr>
        </p:nvSpPr>
        <p:spPr>
          <a:xfrm>
            <a:off x="1011383" y="1814945"/>
            <a:ext cx="10377054" cy="4322619"/>
          </a:xfrm>
        </p:spPr>
        <p:txBody>
          <a:bodyPr>
            <a:normAutofit/>
          </a:bodyPr>
          <a:lstStyle/>
          <a:p>
            <a:endParaRPr lang="en-US" dirty="0" smtClean="0"/>
          </a:p>
          <a:p>
            <a:endParaRPr lang="en-US" dirty="0"/>
          </a:p>
        </p:txBody>
      </p:sp>
      <p:pic>
        <p:nvPicPr>
          <p:cNvPr id="3" name="Picture 2"/>
          <p:cNvPicPr>
            <a:picLocks noChangeAspect="1" noChangeArrowheads="1"/>
          </p:cNvPicPr>
          <p:nvPr/>
        </p:nvPicPr>
        <p:blipFill>
          <a:blip r:embed="rId2" cstate="print"/>
          <a:srcRect/>
          <a:stretch>
            <a:fillRect/>
          </a:stretch>
        </p:blipFill>
        <p:spPr bwMode="auto">
          <a:xfrm>
            <a:off x="1523999" y="1911927"/>
            <a:ext cx="9573491" cy="41148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2189</TotalTime>
  <Words>1291</Words>
  <Application>Microsoft Office PowerPoint</Application>
  <PresentationFormat>Custom</PresentationFormat>
  <Paragraphs>76</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Gallery</vt:lpstr>
      <vt:lpstr>Slide 1</vt:lpstr>
      <vt:lpstr>Anomaly Detection: Isolation forests</vt:lpstr>
      <vt:lpstr>CONTD..</vt:lpstr>
      <vt:lpstr>Isolation Forests for Anomaly Detection</vt:lpstr>
      <vt:lpstr>CONTD..</vt:lpstr>
      <vt:lpstr>Slide 6</vt:lpstr>
      <vt:lpstr>Local Outlier Factor(LOF)</vt:lpstr>
      <vt:lpstr>CONTD..</vt:lpstr>
      <vt:lpstr>CONTD..</vt:lpstr>
      <vt:lpstr>CONTD..</vt:lpstr>
      <vt:lpstr>CONTD..</vt:lpstr>
      <vt:lpstr>CONTD..</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103</cp:revision>
  <dcterms:created xsi:type="dcterms:W3CDTF">2023-05-06T03:47:00Z</dcterms:created>
  <dcterms:modified xsi:type="dcterms:W3CDTF">2025-10-12T11:00:00Z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