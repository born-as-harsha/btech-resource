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256" r:id="rId2"/>
    <p:sldId id="272" r:id="rId3"/>
    <p:sldId id="280" r:id="rId4"/>
    <p:sldId id="324" r:id="rId5"/>
    <p:sldId id="387" r:id="rId6"/>
    <p:sldId id="332" r:id="rId7"/>
    <p:sldId id="342" r:id="rId8"/>
    <p:sldId id="344" r:id="rId9"/>
    <p:sldId id="345" r:id="rId10"/>
    <p:sldId id="346" r:id="rId11"/>
    <p:sldId id="364" r:id="rId12"/>
    <p:sldId id="365" r:id="rId13"/>
    <p:sldId id="366" r:id="rId14"/>
    <p:sldId id="367" r:id="rId15"/>
    <p:sldId id="368" r:id="rId16"/>
    <p:sldId id="369" r:id="rId17"/>
    <p:sldId id="352" r:id="rId18"/>
    <p:sldId id="370" r:id="rId19"/>
    <p:sldId id="354" r:id="rId20"/>
    <p:sldId id="300" r:id="rId21"/>
    <p:sldId id="284" r:id="rId22"/>
    <p:sldId id="323" r:id="rId23"/>
    <p:sldId id="28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773" autoAdjust="0"/>
  </p:normalViewPr>
  <p:slideViewPr>
    <p:cSldViewPr snapToGrid="0">
      <p:cViewPr varScale="1">
        <p:scale>
          <a:sx n="69" d="100"/>
          <a:sy n="69" d="100"/>
        </p:scale>
        <p:origin x="-1194"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15-09-2025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15-09-2025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232732-0EAA-40DA-B6D5-3FC007231A27}" type="slidenum">
              <a:rPr lang="en-IN" altLang="en-US" smtClean="0"/>
              <a:pPr/>
              <a:t>22</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xmlns=""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xmlns=""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xmlns=""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machine-learning/prior-and-posterior-gaussian-process-for-different-kernels-in-scikit-learn/" TargetMode="External"/><Relationship Id="rId2" Type="http://schemas.openxmlformats.org/officeDocument/2006/relationships/hyperlink" Target="https://www.geeksforgeeks.org/machine-learning/probabilistic-predictions-with-gaussian-process-classification-gpc-in-scikit-lear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machine-learning/probabilistic-predictions-with-gaussian-process-classification-gpc-in-scikit-learn/" TargetMode="External"/><Relationship Id="rId2" Type="http://schemas.openxmlformats.org/officeDocument/2006/relationships/hyperlink" Target="https://www.geeksforgeeks.org/python/python-numpy-cov-func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machine-learning/prior-and-posterior-gaussian-process-for-different-kernels-in-scikit-learn/" TargetMode="External"/><Relationship Id="rId2" Type="http://schemas.openxmlformats.org/officeDocument/2006/relationships/hyperlink" Target="https://www.geeksforgeeks.org/machine-learning/radial-basis-function-kernel-machine-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machine-learning/prior-and-posterior-gaussian-process-for-different-kernels-in-scikit-lear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python/visualizing-the-bivariate-gaussian-distribution-in-pyth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python/statistics-with-python/" TargetMode="External"/><Relationship Id="rId2" Type="http://schemas.openxmlformats.org/officeDocument/2006/relationships/hyperlink" Target="https://www.geeksforgeeks.org/machine-learning/machine-learning/" TargetMode="External"/><Relationship Id="rId1" Type="http://schemas.openxmlformats.org/officeDocument/2006/relationships/slideLayout" Target="../slideLayouts/slideLayout2.xml"/><Relationship Id="rId4" Type="http://schemas.openxmlformats.org/officeDocument/2006/relationships/hyperlink" Target="https://www.geeksforgeeks.org/machine-learning/probabilistic-predictions-with-gaussian-process-classification-gpc-in-scikit-lear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numpy/python-numpy-cov-function/" TargetMode="External"/><Relationship Id="rId2" Type="http://schemas.openxmlformats.org/officeDocument/2006/relationships/hyperlink" Target="https://www.geeksforgeeks.org/python/python-statistics-mean-funct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machine-learning/prior-and-posterior-gaussian-process-for-different-kernels-in-scikit-lear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www.gaussianprocess.org/gpml/"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machinelearningmastery.com/gaussian-processes-for-machine-learni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a14="http://schemas.microsoft.com/office/drawing/2010/main" xmlns=""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2185173"/>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pPr fontAlgn="base"/>
            <a:r>
              <a:rPr lang="en-IN" sz="2400" dirty="0" smtClean="0"/>
              <a:t>Gaussian Processes (regression/classification), calibration and confidence.</a:t>
            </a:r>
            <a:endParaRPr lang="en-US" sz="2400"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a:t>
            </a:r>
            <a:r>
              <a:rPr lang="en-US" sz="2400" dirty="0" smtClean="0">
                <a:solidFill>
                  <a:schemeClr val="lt1"/>
                </a:solidFill>
                <a:ea typeface="Calibri" panose="020F0502020204030204"/>
                <a:cs typeface="Poppins" panose="00000500000000000000" pitchFamily="2" charset="0"/>
                <a:sym typeface="Calibri" panose="020F0502020204030204"/>
              </a:rPr>
              <a:t>28</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
        <p:nvSpPr>
          <p:cNvPr id="5" name="Rounded Rectangle 17"/>
          <p:cNvSpPr/>
          <p:nvPr/>
        </p:nvSpPr>
        <p:spPr>
          <a:xfrm>
            <a:off x="4521685" y="262546"/>
            <a:ext cx="3148630" cy="35921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6" name="TextBox 5"/>
          <p:cNvSpPr txBox="1"/>
          <p:nvPr/>
        </p:nvSpPr>
        <p:spPr>
          <a:xfrm>
            <a:off x="1172306" y="766185"/>
            <a:ext cx="10731286" cy="115653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smtClean="0"/>
              <a:t>The aim of this session is to introduce learners to Gaussian Processes as a probabilistic, non-parametric modeling approach for regression and classification, with emphasis on understanding kernels, uncertainty quantification, model calibration, and confidence estimation for reliable decision-making in machine learning applications.</a:t>
            </a:r>
            <a:endParaRPr lang="en-US" sz="1600" dirty="0">
              <a:latin typeface="Poppins"/>
              <a:cs typeface="Poppins"/>
            </a:endParaRPr>
          </a:p>
        </p:txBody>
      </p:sp>
      <p:pic>
        <p:nvPicPr>
          <p:cNvPr id="7" name="Graphic 6" descr="Bullseye outline"/>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211014" y="519474"/>
            <a:ext cx="914400" cy="914400"/>
          </a:xfrm>
          <a:prstGeom prst="rect">
            <a:avLst/>
          </a:prstGeom>
        </p:spPr>
      </p:pic>
      <p:sp>
        <p:nvSpPr>
          <p:cNvPr id="8" name="Rounded Rectangle 17"/>
          <p:cNvSpPr/>
          <p:nvPr/>
        </p:nvSpPr>
        <p:spPr>
          <a:xfrm>
            <a:off x="4386208" y="2030999"/>
            <a:ext cx="4303481" cy="4267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172306" y="2708776"/>
            <a:ext cx="10731286"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r>
              <a:rPr lang="en-US" sz="1600" b="1" dirty="0" smtClean="0"/>
              <a:t>1</a:t>
            </a:r>
            <a:r>
              <a:rPr lang="en-US" sz="1600" dirty="0" smtClean="0"/>
              <a:t>. Explain the need for handling missing values and describe various imputation techniques such as measures of central tendency (mean, median, mode) and KNN imputation.</a:t>
            </a:r>
          </a:p>
          <a:p>
            <a:r>
              <a:rPr lang="en-US" sz="1600" dirty="0" smtClean="0"/>
              <a:t>2. Illustrate the importance of scaling and demonstrate methods like standardization, normalization, and robust scaling.</a:t>
            </a:r>
          </a:p>
          <a:p>
            <a:r>
              <a:rPr lang="en-US" sz="1600" dirty="0" smtClean="0"/>
              <a:t>3. Differentiate between various encoding techniques, including one-hot encoding, label encoding, and advanced embeddings for text and images.</a:t>
            </a:r>
            <a:endParaRPr lang="en-US" sz="1600" dirty="0"/>
          </a:p>
        </p:txBody>
      </p:sp>
      <p:pic>
        <p:nvPicPr>
          <p:cNvPr id="10" name="Graphic 9" descr="Presentation with checklist outline"/>
          <p:cNvPicPr>
            <a:picLocks noChangeAspect="1"/>
          </p:cNvPicPr>
          <p:nvPr/>
        </p:nvPicPr>
        <p:blipFill>
          <a:blip r:embed="rId4" cstate="print">
            <a:extLst>
              <a:ext uri="{28A0092B-C50C-407E-A947-70E740481C1C}">
                <a14:useLocalDpi xmlns:a14="http://schemas.microsoft.com/office/drawing/2010/main" xmlns="" val="0"/>
              </a:ext>
              <a:ext uri="{96DAC541-7B7A-43D3-8B79-37D633B846F1}">
                <asvg:svgBlip xmlns:asvg="http://schemas.microsoft.com/office/drawing/2016/SVG/main" xmlns="" r:embed="rId5"/>
              </a:ext>
            </a:extLst>
          </a:blip>
          <a:stretch>
            <a:fillRect/>
          </a:stretch>
        </p:blipFill>
        <p:spPr>
          <a:xfrm>
            <a:off x="211014" y="3068004"/>
            <a:ext cx="914400" cy="914400"/>
          </a:xfrm>
          <a:prstGeom prst="rect">
            <a:avLst/>
          </a:prstGeom>
        </p:spPr>
      </p:pic>
      <p:sp>
        <p:nvSpPr>
          <p:cNvPr id="11" name="Rounded Rectangle 17"/>
          <p:cNvSpPr/>
          <p:nvPr/>
        </p:nvSpPr>
        <p:spPr>
          <a:xfrm>
            <a:off x="4470877" y="4595445"/>
            <a:ext cx="3870831" cy="2696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12" name="Graphic 11" descr="Idea outline"/>
          <p:cNvPicPr>
            <a:picLocks noChangeAspect="1"/>
          </p:cNvPicPr>
          <p:nvPr/>
        </p:nvPicPr>
        <p:blipFill>
          <a:blip r:embed="rId6" cstate="print">
            <a:extLst>
              <a:ext uri="{28A0092B-C50C-407E-A947-70E740481C1C}">
                <a14:useLocalDpi xmlns:a14="http://schemas.microsoft.com/office/drawing/2010/main" xmlns="" val="0"/>
              </a:ext>
              <a:ext uri="{96DAC541-7B7A-43D3-8B79-37D633B846F1}">
                <asvg:svgBlip xmlns:asvg="http://schemas.microsoft.com/office/drawing/2016/SVG/main" xmlns="" r:embed="rId7"/>
              </a:ext>
            </a:extLst>
          </a:blip>
          <a:stretch>
            <a:fillRect/>
          </a:stretch>
        </p:blipFill>
        <p:spPr>
          <a:xfrm>
            <a:off x="211014" y="5009147"/>
            <a:ext cx="914400" cy="914400"/>
          </a:xfrm>
          <a:prstGeom prst="rect">
            <a:avLst/>
          </a:prstGeom>
        </p:spPr>
      </p:pic>
      <p:sp>
        <p:nvSpPr>
          <p:cNvPr id="13" name="TextBox 12"/>
          <p:cNvSpPr txBox="1"/>
          <p:nvPr/>
        </p:nvSpPr>
        <p:spPr>
          <a:xfrm>
            <a:off x="1172306" y="5134708"/>
            <a:ext cx="10731286"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r>
              <a:rPr lang="en-US" sz="1600" dirty="0" smtClean="0"/>
              <a:t>1. Identify different types of variables (categorical, ordinal, numerical) and select suitable preprocessing techniques.</a:t>
            </a:r>
          </a:p>
          <a:p>
            <a:r>
              <a:rPr lang="en-US" sz="1600" dirty="0" smtClean="0"/>
              <a:t>2. Apply imputation methods such as mean/median/mode replacement and KNN imputation to handle missing values in datasets.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581891" y="171886"/>
            <a:ext cx="9820638" cy="714806"/>
          </a:xfrm>
        </p:spPr>
        <p:txBody>
          <a:bodyPr/>
          <a:lstStyle/>
          <a:p>
            <a:pPr algn="ctr"/>
            <a:r>
              <a:rPr lang="en-US" sz="3600" b="1" dirty="0">
                <a:solidFill>
                  <a:srgbClr val="C00000"/>
                </a:solidFill>
              </a:rPr>
              <a:t>Objectives</a:t>
            </a:r>
            <a:endParaRPr lang="en-US" sz="3600" dirty="0">
              <a:solidFill>
                <a:srgbClr val="C00000"/>
              </a:solidFill>
            </a:endParaRPr>
          </a:p>
        </p:txBody>
      </p:sp>
      <p:sp>
        <p:nvSpPr>
          <p:cNvPr id="3" name="Date Placeholder 2"/>
          <p:cNvSpPr>
            <a:spLocks noGrp="1"/>
          </p:cNvSpPr>
          <p:nvPr>
            <p:ph type="dt" sz="half" idx="10"/>
          </p:nvPr>
        </p:nvSpPr>
        <p:spPr/>
        <p:txBody>
          <a:bodyPr/>
          <a:lstStyle/>
          <a:p>
            <a:fld id="{9FE2D161-B892-479D-A003-8FCF4A49FB71}" type="datetime1">
              <a:rPr lang="en-US" smtClean="0"/>
              <a:pPr/>
              <a:t>9/15/2025</a:t>
            </a:fld>
            <a:endParaRPr lang="en-US" dirty="0"/>
          </a:p>
        </p:txBody>
      </p:sp>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3</a:t>
            </a:fld>
            <a:endParaRPr lang="en-US"/>
          </a:p>
        </p:txBody>
      </p:sp>
      <p:sp>
        <p:nvSpPr>
          <p:cNvPr id="6" name="Rectangle 5"/>
          <p:cNvSpPr/>
          <p:nvPr/>
        </p:nvSpPr>
        <p:spPr>
          <a:xfrm>
            <a:off x="1477107" y="1148863"/>
            <a:ext cx="9530861" cy="2554545"/>
          </a:xfrm>
          <a:prstGeom prst="rect">
            <a:avLst/>
          </a:prstGeom>
        </p:spPr>
        <p:txBody>
          <a:bodyPr wrap="square">
            <a:spAutoFit/>
          </a:bodyPr>
          <a:lstStyle/>
          <a:p>
            <a:pPr marL="457200" indent="-457200">
              <a:buAutoNum type="arabicPeriod"/>
            </a:pPr>
            <a:r>
              <a:rPr lang="en-US" sz="2000" dirty="0" smtClean="0"/>
              <a:t>To introduce the importance of data preprocessing in improving the quality and usability of datasets.</a:t>
            </a:r>
          </a:p>
          <a:p>
            <a:pPr marL="457200" indent="-457200">
              <a:buAutoNum type="arabicPeriod"/>
            </a:pPr>
            <a:endParaRPr lang="en-US" sz="2000" dirty="0" smtClean="0"/>
          </a:p>
          <a:p>
            <a:r>
              <a:rPr lang="en-US" sz="2000" dirty="0" smtClean="0"/>
              <a:t>2.  To understand different imputation techniques for handling missing values effectively.</a:t>
            </a:r>
          </a:p>
          <a:p>
            <a:endParaRPr lang="en-US" sz="2000" dirty="0" smtClean="0"/>
          </a:p>
          <a:p>
            <a:r>
              <a:rPr lang="en-US" sz="2000" dirty="0" smtClean="0"/>
              <a:t>3.  To explore various data scaling methods and their significance in machine learning algorithms.</a:t>
            </a:r>
          </a:p>
          <a:p>
            <a:endParaRPr lang="en-US"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IN" dirty="0" smtClean="0"/>
              <a:t>Gaussian Processes</a:t>
            </a:r>
            <a:endParaRPr lang="en-US" dirty="0"/>
          </a:p>
        </p:txBody>
      </p:sp>
      <p:sp>
        <p:nvSpPr>
          <p:cNvPr id="3" name="Content Placeholder 2"/>
          <p:cNvSpPr>
            <a:spLocks noGrp="1"/>
          </p:cNvSpPr>
          <p:nvPr>
            <p:ph idx="1"/>
          </p:nvPr>
        </p:nvSpPr>
        <p:spPr>
          <a:xfrm>
            <a:off x="1451579" y="2015732"/>
            <a:ext cx="9603275" cy="4080268"/>
          </a:xfrm>
        </p:spPr>
        <p:txBody>
          <a:bodyPr>
            <a:normAutofit/>
          </a:bodyPr>
          <a:lstStyle/>
          <a:p>
            <a:pPr algn="just"/>
            <a:r>
              <a:rPr lang="en-US" dirty="0" smtClean="0"/>
              <a:t>   </a:t>
            </a:r>
            <a:r>
              <a:rPr lang="en-US" dirty="0" smtClean="0"/>
              <a:t>A potent machine learning approach that may be used for both regression and classification problems is Gaussian process classification or GPC. It is predicated on the notion of using a probabilistic model that depicts a distribution across functions, known as a Gaussian process. Using this distribution, one may forecast a function's output given a collection of input data.</a:t>
            </a:r>
          </a:p>
          <a:p>
            <a:pPr algn="just"/>
            <a:r>
              <a:rPr lang="en-US" dirty="0" smtClean="0"/>
              <a:t>GPC may be used in the classification context to forecast a new data point's class label based on its attributes. This is accomplished by </a:t>
            </a:r>
            <a:r>
              <a:rPr lang="en-US" dirty="0" err="1" smtClean="0"/>
              <a:t>modelling</a:t>
            </a:r>
            <a:r>
              <a:rPr lang="en-US" dirty="0" smtClean="0"/>
              <a:t> the likelihood of each class label for the data point using the Gaussian process. Next, it is predicted that the class label with the greatest probability is the actual class label.</a:t>
            </a:r>
          </a:p>
          <a:p>
            <a:pPr algn="just">
              <a:buNone/>
            </a:pPr>
            <a:endParaRPr lang="en-US"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Gaussian Process Classification</a:t>
            </a:r>
            <a:endParaRPr lang="en-US" b="1" dirty="0"/>
          </a:p>
        </p:txBody>
      </p:sp>
      <p:sp>
        <p:nvSpPr>
          <p:cNvPr id="3" name="Content Placeholder 2"/>
          <p:cNvSpPr>
            <a:spLocks noGrp="1"/>
          </p:cNvSpPr>
          <p:nvPr>
            <p:ph idx="1"/>
          </p:nvPr>
        </p:nvSpPr>
        <p:spPr>
          <a:xfrm>
            <a:off x="1451579" y="1814946"/>
            <a:ext cx="9603275" cy="4308764"/>
          </a:xfrm>
        </p:spPr>
        <p:txBody>
          <a:bodyPr>
            <a:normAutofit fontScale="92500" lnSpcReduction="10000"/>
          </a:bodyPr>
          <a:lstStyle/>
          <a:p>
            <a:pPr algn="just"/>
            <a:r>
              <a:rPr lang="en-US" dirty="0" smtClean="0"/>
              <a:t>  </a:t>
            </a:r>
            <a:r>
              <a:rPr lang="en-US" dirty="0" smtClean="0"/>
              <a:t>A</a:t>
            </a:r>
            <a:r>
              <a:rPr lang="en-US" dirty="0" smtClean="0">
                <a:hlinkClick r:id="rId2"/>
              </a:rPr>
              <a:t> Gaussian Process </a:t>
            </a:r>
            <a:r>
              <a:rPr lang="en-US" dirty="0" smtClean="0"/>
              <a:t>Extension for Classification Problems is called GPC. To enable a probabilistic approach to class label prediction in classification tasks, GPC models the probability distribution over possible functions. Using GPC is helpful when dealing with issues involving imbalanced datasets or complex decision boundaries. Not only does it offer forecasts, but it also measures the degree of uncertainty surrounding them. Understanding the confidence or reliability of the model's output is particularly important in applications. GPC is a flexible tool in machine learning classification tasks because it can apply past knowledge and adjust to various kinds of data.</a:t>
            </a:r>
          </a:p>
          <a:p>
            <a:pPr algn="just"/>
            <a:r>
              <a:rPr lang="en-US" dirty="0" smtClean="0"/>
              <a:t>A </a:t>
            </a:r>
            <a:r>
              <a:rPr lang="en-US" dirty="0" smtClean="0">
                <a:hlinkClick r:id="rId3"/>
              </a:rPr>
              <a:t>Gaussian process (GP)</a:t>
            </a:r>
            <a:r>
              <a:rPr lang="en-US" dirty="0" smtClean="0"/>
              <a:t> is a kind of stochastic process that has a multivariate normal distribution for each finite collection of its random variables. This indicates that the random variables have a normal distribution for every linear combination of them. Applications for GPs are many and include statistics, machine learning, and Bayesian inference.</a:t>
            </a:r>
          </a:p>
          <a:p>
            <a:pPr>
              <a:buNone/>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
        <p:nvSpPr>
          <p:cNvPr id="5" name="Content Placeholder 4"/>
          <p:cNvSpPr>
            <a:spLocks noGrp="1"/>
          </p:cNvSpPr>
          <p:nvPr>
            <p:ph idx="1"/>
          </p:nvPr>
        </p:nvSpPr>
        <p:spPr>
          <a:xfrm>
            <a:off x="1451579" y="2015732"/>
            <a:ext cx="9603275" cy="4177250"/>
          </a:xfrm>
        </p:spPr>
        <p:txBody>
          <a:bodyPr/>
          <a:lstStyle/>
          <a:p>
            <a:pPr algn="just"/>
            <a:r>
              <a:rPr lang="en-US" b="1" dirty="0" smtClean="0"/>
              <a:t>Mean function: </a:t>
            </a:r>
            <a:r>
              <a:rPr lang="en-US" dirty="0" smtClean="0"/>
              <a:t>The anticipated value of the GP at any given input is represented by the mean function.</a:t>
            </a:r>
          </a:p>
          <a:p>
            <a:pPr algn="just"/>
            <a:r>
              <a:rPr lang="en-US" b="1" dirty="0" smtClean="0"/>
              <a:t>Covariance function: </a:t>
            </a:r>
            <a:r>
              <a:rPr lang="en-US" dirty="0" smtClean="0"/>
              <a:t>This function calculates how similar two inputs are to one another. It establishes the degree to which the GP at one input is dependent upon the GP at another.</a:t>
            </a:r>
          </a:p>
          <a:p>
            <a:pPr algn="just"/>
            <a:r>
              <a:rPr lang="en-US" b="1" dirty="0" err="1" smtClean="0"/>
              <a:t>Hyperparameters</a:t>
            </a:r>
            <a:r>
              <a:rPr lang="en-US" b="1" dirty="0" smtClean="0"/>
              <a:t>:</a:t>
            </a:r>
            <a:r>
              <a:rPr lang="en-US" dirty="0" smtClean="0"/>
              <a:t> The </a:t>
            </a:r>
            <a:r>
              <a:rPr lang="en-US" dirty="0" smtClean="0">
                <a:hlinkClick r:id="rId2"/>
              </a:rPr>
              <a:t>covariance function's</a:t>
            </a:r>
            <a:r>
              <a:rPr lang="en-US" dirty="0" smtClean="0"/>
              <a:t> shape is controlled by these parameters. Usually, a method known as marginal likelihood maximization is used to adjust them.</a:t>
            </a:r>
          </a:p>
          <a:p>
            <a:pPr algn="just"/>
            <a:r>
              <a:rPr lang="en-US" b="1" dirty="0" smtClean="0"/>
              <a:t>Marginal likelihood: </a:t>
            </a:r>
            <a:r>
              <a:rPr lang="en-US" dirty="0" smtClean="0"/>
              <a:t>A GP model's fit to a particular set of data is measured by the </a:t>
            </a:r>
            <a:r>
              <a:rPr lang="en-US" dirty="0" smtClean="0">
                <a:hlinkClick r:id="rId3"/>
              </a:rPr>
              <a:t>marginal likelihood</a:t>
            </a:r>
            <a:r>
              <a:rPr lang="en-US" dirty="0" smtClean="0"/>
              <a:t>. It is used to determine the optimal </a:t>
            </a:r>
            <a:r>
              <a:rPr lang="en-US" dirty="0" err="1" smtClean="0"/>
              <a:t>hyperparameters</a:t>
            </a:r>
            <a:r>
              <a:rPr lang="en-US" dirty="0" smtClean="0"/>
              <a:t> and assess the performance of various models.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smtClean="0"/>
              <a:t>Concepts of Gaussian Process Classification</a:t>
            </a:r>
            <a:br>
              <a:rPr lang="en-US" sz="2800" b="1" dirty="0" smtClean="0"/>
            </a:br>
            <a:endParaRPr lang="en-US" sz="2800" b="1" dirty="0"/>
          </a:p>
        </p:txBody>
      </p:sp>
      <p:sp>
        <p:nvSpPr>
          <p:cNvPr id="3" name="Content Placeholder 2"/>
          <p:cNvSpPr>
            <a:spLocks noGrp="1"/>
          </p:cNvSpPr>
          <p:nvPr>
            <p:ph idx="1"/>
          </p:nvPr>
        </p:nvSpPr>
        <p:spPr>
          <a:xfrm>
            <a:off x="1451579" y="2015732"/>
            <a:ext cx="9603275" cy="821253"/>
          </a:xfrm>
        </p:spPr>
        <p:txBody>
          <a:bodyPr>
            <a:normAutofit/>
          </a:bodyPr>
          <a:lstStyle/>
          <a:p>
            <a:pPr algn="just"/>
            <a:endParaRPr lang="en-US" dirty="0" smtClean="0"/>
          </a:p>
          <a:p>
            <a:pPr algn="just"/>
            <a:endParaRPr lang="en-US"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
        <p:nvSpPr>
          <p:cNvPr id="8" name="TextBox 7"/>
          <p:cNvSpPr txBox="1"/>
          <p:nvPr/>
        </p:nvSpPr>
        <p:spPr>
          <a:xfrm>
            <a:off x="1301263" y="1863972"/>
            <a:ext cx="10034952" cy="4093428"/>
          </a:xfrm>
          <a:prstGeom prst="rect">
            <a:avLst/>
          </a:prstGeom>
          <a:noFill/>
        </p:spPr>
        <p:txBody>
          <a:bodyPr wrap="square" rtlCol="0">
            <a:spAutoFit/>
          </a:bodyPr>
          <a:lstStyle/>
          <a:p>
            <a:pPr algn="just"/>
            <a:r>
              <a:rPr lang="en-US" sz="2000" b="1" dirty="0" smtClean="0"/>
              <a:t>Kernel functions</a:t>
            </a:r>
            <a:r>
              <a:rPr lang="en-US" sz="2000" dirty="0" smtClean="0"/>
              <a:t>: A </a:t>
            </a:r>
            <a:r>
              <a:rPr lang="en-US" sz="2000" dirty="0" smtClean="0">
                <a:hlinkClick r:id="rId2"/>
              </a:rPr>
              <a:t>kernel function</a:t>
            </a:r>
            <a:r>
              <a:rPr lang="en-US" sz="2000" dirty="0" smtClean="0"/>
              <a:t>, often referred to as a covariance function, is an essential element that establishes the form of the GP's prior and posterior distributions in the setting of Gaussian processes (GPs). It is vital for capturing the underlying correlations between input characteristics and goal values since it basically assesses how similar two data points are to each other.</a:t>
            </a:r>
          </a:p>
          <a:p>
            <a:pPr algn="just"/>
            <a:r>
              <a:rPr lang="en-US" sz="2000" b="1" dirty="0" smtClean="0"/>
              <a:t>Posterior Distribution</a:t>
            </a:r>
            <a:r>
              <a:rPr lang="en-US" sz="2000" dirty="0" smtClean="0"/>
              <a:t>: Our updated belief about the underlying function following data observation is represented by the </a:t>
            </a:r>
            <a:r>
              <a:rPr lang="en-US" sz="2000" dirty="0" smtClean="0">
                <a:hlinkClick r:id="rId3"/>
              </a:rPr>
              <a:t>posterior distribution </a:t>
            </a:r>
            <a:r>
              <a:rPr lang="en-US" sz="2000" dirty="0" smtClean="0"/>
              <a:t>in the Gaussian Process (GP). With the combination of the likelihood of observed data and the prior, which represents initial beliefs, a probability distribution over functions is produced. By offering a more accurate estimate of the true underlying function based on the evidence at hand, the posterior captures the process of reducing uncertainty. Through the incorporation of observed data into the modeling process, it facilitates well-informed decision making</a:t>
            </a:r>
            <a:r>
              <a:rPr lang="en-US" sz="2000" dirty="0" smtClean="0"/>
              <a:t>.</a:t>
            </a:r>
            <a:endParaRPr lang="en-US" sz="2000" dirty="0" smtClean="0"/>
          </a:p>
          <a:p>
            <a:pPr algn="just"/>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CONTD..</a:t>
            </a:r>
            <a:endParaRPr lang="en-US" b="1" dirty="0"/>
          </a:p>
        </p:txBody>
      </p:sp>
      <p:sp>
        <p:nvSpPr>
          <p:cNvPr id="3" name="Content Placeholder 2"/>
          <p:cNvSpPr>
            <a:spLocks noGrp="1"/>
          </p:cNvSpPr>
          <p:nvPr>
            <p:ph idx="1"/>
          </p:nvPr>
        </p:nvSpPr>
        <p:spPr>
          <a:xfrm>
            <a:off x="1451579" y="2015733"/>
            <a:ext cx="9603275" cy="4115436"/>
          </a:xfrm>
        </p:spPr>
        <p:txBody>
          <a:bodyPr>
            <a:normAutofit/>
          </a:bodyPr>
          <a:lstStyle/>
          <a:p>
            <a:pPr algn="just"/>
            <a:r>
              <a:rPr lang="en-US" b="1" dirty="0" smtClean="0"/>
              <a:t>Prior Distribution:</a:t>
            </a:r>
            <a:r>
              <a:rPr lang="en-US" dirty="0" smtClean="0"/>
              <a:t> The</a:t>
            </a:r>
            <a:r>
              <a:rPr lang="en-US" dirty="0" smtClean="0">
                <a:hlinkClick r:id="rId2"/>
              </a:rPr>
              <a:t> prior distribution</a:t>
            </a:r>
            <a:r>
              <a:rPr lang="en-US" dirty="0" smtClean="0"/>
              <a:t> in Gaussian Process (GP) describes our presumptions about the underlying function before any data are observed. It defines the potential functions that might be used to characterize the underlying process, acting as a versatile and expressive model. Prior to taking into account actual data, our expectations and presumptions were reflected in the prior selection. Because of its rich prior, the GP is an effective tool for modeling complex and uncertain systems in statistics and machine learning. It can capture a wide range of function behaviors.</a:t>
            </a:r>
          </a:p>
          <a:p>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687288"/>
            <a:ext cx="9603275" cy="1049235"/>
          </a:xfrm>
        </p:spPr>
        <p:txBody>
          <a:bodyPr/>
          <a:lstStyle/>
          <a:p>
            <a:r>
              <a:rPr lang="en-US" b="1" dirty="0" smtClean="0"/>
              <a:t>Gaussian Process Regression (GPR)</a:t>
            </a:r>
            <a:br>
              <a:rPr lang="en-US" b="1" dirty="0" smtClean="0"/>
            </a:b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
        <p:nvSpPr>
          <p:cNvPr id="7" name="Content Placeholder 6"/>
          <p:cNvSpPr>
            <a:spLocks noGrp="1"/>
          </p:cNvSpPr>
          <p:nvPr>
            <p:ph idx="1"/>
          </p:nvPr>
        </p:nvSpPr>
        <p:spPr>
          <a:xfrm>
            <a:off x="1451579" y="1793632"/>
            <a:ext cx="9603275" cy="4349260"/>
          </a:xfrm>
        </p:spPr>
        <p:txBody>
          <a:bodyPr>
            <a:normAutofit/>
          </a:bodyPr>
          <a:lstStyle/>
          <a:p>
            <a:pPr algn="just"/>
            <a:r>
              <a:rPr lang="en-US" dirty="0" smtClean="0"/>
              <a:t>Regression and probabilistic classification issues can be resolved using the Gaussian process (GP), a supervised learning technique. Since each Gaussian process can be thought of as an infinite-dimensional generalization of multivariate </a:t>
            </a:r>
            <a:r>
              <a:rPr lang="en-US" dirty="0" smtClean="0">
                <a:hlinkClick r:id="rId2"/>
              </a:rPr>
              <a:t>Gaussian distributions</a:t>
            </a:r>
            <a:r>
              <a:rPr lang="en-US" dirty="0" smtClean="0"/>
              <a:t>, the term "Gaussian" appears in the name. We will discuss Gaussian processes for regression in this post, which is also referred to as Gaussian process regression (GPR). Numerous real-world issues in the fields of materials science, chemistry, physics, and biology have been resolved with the use of GPR.</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Gaussian Process Regression (GPR) </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
        <p:nvSpPr>
          <p:cNvPr id="6" name="TextBox 5"/>
          <p:cNvSpPr txBox="1"/>
          <p:nvPr/>
        </p:nvSpPr>
        <p:spPr>
          <a:xfrm>
            <a:off x="1335505" y="1817078"/>
            <a:ext cx="9757611" cy="4247317"/>
          </a:xfrm>
          <a:prstGeom prst="rect">
            <a:avLst/>
          </a:prstGeom>
          <a:noFill/>
        </p:spPr>
        <p:txBody>
          <a:bodyPr wrap="square" rtlCol="0">
            <a:spAutoFit/>
          </a:bodyPr>
          <a:lstStyle/>
          <a:p>
            <a:pPr algn="just"/>
            <a:r>
              <a:rPr lang="en-US" dirty="0" smtClean="0"/>
              <a:t>Gaussian Process Regression (GPR) is a powerful and flexible non-parametric regression technique used in </a:t>
            </a:r>
            <a:r>
              <a:rPr lang="en-US" dirty="0" smtClean="0">
                <a:hlinkClick r:id="rId2"/>
              </a:rPr>
              <a:t>machine learning</a:t>
            </a:r>
            <a:r>
              <a:rPr lang="en-US" dirty="0" smtClean="0"/>
              <a:t> and </a:t>
            </a:r>
            <a:r>
              <a:rPr lang="en-US" dirty="0" smtClean="0">
                <a:hlinkClick r:id="rId3"/>
              </a:rPr>
              <a:t>statistics</a:t>
            </a:r>
            <a:r>
              <a:rPr lang="en-US" dirty="0" smtClean="0"/>
              <a:t>. It is particularly useful when dealing with problems involving continuous data, where the relationship between input variables and output is not explicitly known or can be complex. GPR is a Bayesian approach that can model certainty in predictions, making it a valuable tool for various applications, including optimization, time series forecasting, and more. GPR is based on the concept of a Gaussian process, which is a collection of random variables, any finite number of which have a joint Gaussian distribution. A Gaussian process can be thought of as a distribution of functions</a:t>
            </a:r>
            <a:r>
              <a:rPr lang="en-US" dirty="0" smtClean="0"/>
              <a:t>.</a:t>
            </a:r>
            <a:endParaRPr lang="en-US" dirty="0" smtClean="0"/>
          </a:p>
          <a:p>
            <a:pPr algn="just"/>
            <a:r>
              <a:rPr lang="en-US" b="1" dirty="0" smtClean="0"/>
              <a:t>Key Concepts of Gaussian Process Regression (GPR) </a:t>
            </a:r>
          </a:p>
          <a:p>
            <a:pPr algn="just"/>
            <a:r>
              <a:rPr lang="en-US" b="1" dirty="0" err="1" smtClean="0"/>
              <a:t>Gaussain</a:t>
            </a:r>
            <a:r>
              <a:rPr lang="en-US" b="1" dirty="0" smtClean="0"/>
              <a:t> Process</a:t>
            </a:r>
          </a:p>
          <a:p>
            <a:pPr algn="just"/>
            <a:r>
              <a:rPr lang="en-US" dirty="0" smtClean="0"/>
              <a:t>A non-parametric, probabilistic model called a </a:t>
            </a:r>
            <a:r>
              <a:rPr lang="en-US" dirty="0" smtClean="0">
                <a:hlinkClick r:id="rId4"/>
              </a:rPr>
              <a:t>Gaussian Process</a:t>
            </a:r>
            <a:r>
              <a:rPr lang="en-US" dirty="0" smtClean="0"/>
              <a:t> (GP) is utilized in statistics and machine learning for regression, classification, and uncertainty quantification. It depicts a group of random variables, each of which has a joint Gaussian distribution and can have a finite number. GPs are a versatile and effective technique for modeling intricate relationships in data and producing forecasts with related uncertainty</a:t>
            </a:r>
            <a:r>
              <a:rPr lang="en-US" dirty="0" smtClean="0"/>
              <a: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Characteristics of Gaussian Processes</a:t>
            </a:r>
            <a:r>
              <a:rPr lang="en-US" dirty="0" smtClean="0"/>
              <a:t>:</a:t>
            </a:r>
            <a:endParaRPr lang="en-US" dirty="0"/>
          </a:p>
        </p:txBody>
      </p:sp>
      <p:sp>
        <p:nvSpPr>
          <p:cNvPr id="3" name="Content Placeholder 2"/>
          <p:cNvSpPr>
            <a:spLocks noGrp="1"/>
          </p:cNvSpPr>
          <p:nvPr>
            <p:ph idx="1"/>
          </p:nvPr>
        </p:nvSpPr>
        <p:spPr>
          <a:xfrm>
            <a:off x="1451579" y="1814945"/>
            <a:ext cx="9603275" cy="4316224"/>
          </a:xfrm>
        </p:spPr>
        <p:txBody>
          <a:bodyPr>
            <a:normAutofit fontScale="92500" lnSpcReduction="20000"/>
          </a:bodyPr>
          <a:lstStyle/>
          <a:p>
            <a:r>
              <a:rPr lang="en-US" sz="2600" b="1" dirty="0" smtClean="0"/>
              <a:t>Non-Parametric Nature</a:t>
            </a:r>
            <a:r>
              <a:rPr lang="en-US" sz="2600" dirty="0" smtClean="0"/>
              <a:t>: GPs can adjust to the complexity of the data because they do not rely on a set number of model parameters</a:t>
            </a:r>
          </a:p>
          <a:p>
            <a:r>
              <a:rPr lang="en-US" sz="2600" b="1" dirty="0" smtClean="0"/>
              <a:t>Probabilistic Predictions</a:t>
            </a:r>
            <a:r>
              <a:rPr lang="en-US" sz="2600" dirty="0" smtClean="0"/>
              <a:t>: Predictions from GPs can be quantified because they deliver predictions as probability distributions.</a:t>
            </a:r>
          </a:p>
          <a:p>
            <a:r>
              <a:rPr lang="en-US" sz="2600" b="1" dirty="0" smtClean="0"/>
              <a:t>Interpolation and Smoothing</a:t>
            </a:r>
            <a:r>
              <a:rPr lang="en-US" sz="2600" dirty="0" smtClean="0"/>
              <a:t>: GPs are useful for noisy or irregularly sampled data because they are good at smoothing noisy data and interpolating between data points.</a:t>
            </a:r>
          </a:p>
          <a:p>
            <a:r>
              <a:rPr lang="en-US" sz="2600" b="1" dirty="0" smtClean="0"/>
              <a:t>Marginalization of </a:t>
            </a:r>
            <a:r>
              <a:rPr lang="en-US" sz="2600" b="1" dirty="0" err="1" smtClean="0"/>
              <a:t>Hyperparameters</a:t>
            </a:r>
            <a:r>
              <a:rPr lang="en-US" sz="2600" dirty="0" smtClean="0"/>
              <a:t>: By eliminating the requirement for explicit </a:t>
            </a:r>
            <a:r>
              <a:rPr lang="en-US" sz="2600" dirty="0" err="1" smtClean="0"/>
              <a:t>hyperparameter</a:t>
            </a:r>
            <a:r>
              <a:rPr lang="en-US" sz="2600" dirty="0" smtClean="0"/>
              <a:t> tweaking, they marginalize over </a:t>
            </a:r>
            <a:r>
              <a:rPr lang="en-US" sz="2600" dirty="0" err="1" smtClean="0"/>
              <a:t>hyperparameters</a:t>
            </a:r>
            <a:r>
              <a:rPr lang="en-US" sz="2600" dirty="0" smtClean="0"/>
              <a:t>, making the model simpler</a:t>
            </a:r>
            <a:r>
              <a:rPr lang="en-US" sz="2600" dirty="0" smtClean="0"/>
              <a:t>.</a:t>
            </a:r>
            <a:endParaRPr lang="en-US" sz="2600"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fontAlgn="base"/>
            <a:r>
              <a:rPr lang="en-US" dirty="0" smtClean="0"/>
              <a:t>CONTD..</a:t>
            </a:r>
            <a:endParaRPr lang="en-US" dirty="0"/>
          </a:p>
        </p:txBody>
      </p:sp>
      <p:sp>
        <p:nvSpPr>
          <p:cNvPr id="3" name="Content Placeholder 2"/>
          <p:cNvSpPr>
            <a:spLocks noGrp="1"/>
          </p:cNvSpPr>
          <p:nvPr>
            <p:ph idx="1"/>
          </p:nvPr>
        </p:nvSpPr>
        <p:spPr>
          <a:xfrm>
            <a:off x="1451579" y="1852247"/>
            <a:ext cx="9603275" cy="4337538"/>
          </a:xfrm>
        </p:spPr>
        <p:txBody>
          <a:bodyPr>
            <a:normAutofit fontScale="85000" lnSpcReduction="20000"/>
          </a:bodyPr>
          <a:lstStyle/>
          <a:p>
            <a:pPr algn="just"/>
            <a:r>
              <a:rPr lang="en-US" sz="1800" b="1" dirty="0" smtClean="0"/>
              <a:t>Mean Function: </a:t>
            </a:r>
            <a:r>
              <a:rPr lang="en-US" dirty="0" smtClean="0"/>
              <a:t>The predicted value of the function being modeled at each input point is represented by the </a:t>
            </a:r>
            <a:r>
              <a:rPr lang="en-US" dirty="0" smtClean="0">
                <a:hlinkClick r:id="rId2"/>
              </a:rPr>
              <a:t>mean function</a:t>
            </a:r>
            <a:r>
              <a:rPr lang="en-US" dirty="0" smtClean="0"/>
              <a:t> in Gaussian Processes (GPs). It functions as a foundational presumption regarding the underlying data structure. The mean function is frequently set to zero by default not necessarily and can be modified based on data properties or domain expertise. By influencing the central tendency of forecasts, it aids general practitioners in identifying patterns or trends in the data. GPs provide probabilistic predictions that contain uncertainty as well as point estimates by including the mean </a:t>
            </a:r>
            <a:r>
              <a:rPr lang="en-US" dirty="0" smtClean="0"/>
              <a:t>function.</a:t>
            </a:r>
          </a:p>
          <a:p>
            <a:r>
              <a:rPr lang="en-US" b="1" dirty="0" smtClean="0"/>
              <a:t>Covariance (Kernel) Function</a:t>
            </a:r>
          </a:p>
          <a:p>
            <a:pPr algn="just"/>
            <a:r>
              <a:rPr lang="en-US" dirty="0" smtClean="0"/>
              <a:t>The </a:t>
            </a:r>
            <a:r>
              <a:rPr lang="en-US" dirty="0" smtClean="0">
                <a:hlinkClick r:id="rId3"/>
              </a:rPr>
              <a:t>covariance function</a:t>
            </a:r>
            <a:r>
              <a:rPr lang="en-US" dirty="0" smtClean="0"/>
              <a:t>, also referred to as the kernel function, measures how similar the input data points are to one another in Gaussian Processes (GPs). It is essential in characterizing the behavior of the GP model, affecting the selection of functions from the previous distribution. The covariance function measures </a:t>
            </a:r>
            <a:r>
              <a:rPr lang="en-US" dirty="0" err="1" smtClean="0"/>
              <a:t>pairwise</a:t>
            </a:r>
            <a:r>
              <a:rPr lang="en-US" dirty="0" smtClean="0"/>
              <a:t> similarities to ascertain the correlation between function values. GPs can adjust to a broad range of data patterns, from smooth trends to complex structures, because different kernel functions capture different kinds of correlations. The model's performance can be greatly impacted by the kernel selection.</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sp>
        <p:nvSpPr>
          <p:cNvPr id="5" name="Content Placeholder 4"/>
          <p:cNvSpPr>
            <a:spLocks noGrp="1"/>
          </p:cNvSpPr>
          <p:nvPr>
            <p:ph idx="1"/>
          </p:nvPr>
        </p:nvSpPr>
        <p:spPr>
          <a:xfrm>
            <a:off x="1451579" y="1759527"/>
            <a:ext cx="9603275" cy="4391891"/>
          </a:xfrm>
        </p:spPr>
        <p:txBody>
          <a:bodyPr>
            <a:normAutofit fontScale="77500" lnSpcReduction="20000"/>
          </a:bodyPr>
          <a:lstStyle/>
          <a:p>
            <a:r>
              <a:rPr lang="en-US" b="1" dirty="0" smtClean="0"/>
              <a:t>Prior Distributions</a:t>
            </a:r>
          </a:p>
          <a:p>
            <a:r>
              <a:rPr lang="en-US" dirty="0" smtClean="0"/>
              <a:t>The </a:t>
            </a:r>
            <a:r>
              <a:rPr lang="en-US" dirty="0" smtClean="0">
                <a:hlinkClick r:id="rId2"/>
              </a:rPr>
              <a:t>prior distribution</a:t>
            </a:r>
            <a:r>
              <a:rPr lang="en-US" dirty="0" smtClean="0"/>
              <a:t>, in Gaussian Processes (GPs), is our understanding of functions prior to the observation of any data. Usually, it is described by a covariance (kernel) function and a mean function. Whereas the covariance function describes the similarity or correlation between function values at various input points, the mean function encodes our previous expectations. This is used beforehand by GPs to create a distribution over functions. In GPs, priors can be selected to represent data uncertainty, integrate domain knowledge, or indicate smoothness</a:t>
            </a:r>
            <a:r>
              <a:rPr lang="en-US" dirty="0" smtClean="0"/>
              <a:t>.</a:t>
            </a:r>
          </a:p>
          <a:p>
            <a:r>
              <a:rPr lang="en-US" b="1" dirty="0" smtClean="0"/>
              <a:t>Posterior Distributions</a:t>
            </a:r>
          </a:p>
          <a:p>
            <a:pPr algn="just"/>
            <a:r>
              <a:rPr lang="en-US" dirty="0" smtClean="0"/>
              <a:t>Gaussian Processes' </a:t>
            </a:r>
            <a:r>
              <a:rPr lang="en-US" dirty="0" smtClean="0">
                <a:hlinkClick r:id="rId2"/>
              </a:rPr>
              <a:t>posterior distribution</a:t>
            </a:r>
            <a:r>
              <a:rPr lang="en-US" dirty="0" smtClean="0"/>
              <a:t> shows our revised assumptions about functions following data observation. It puts together the likelihood of the data given the function and the previous distribution. The posterior in GP regression offers a distribution over functions that most closely match the observed data. By allowing for probabilistic predictions and the quantification of uncertainty, the posterior distribution reflects the trade-off between the prior beliefs stored in the prior distribution and the information supplied by the data.</a:t>
            </a:r>
          </a:p>
          <a:p>
            <a:endParaRPr lang="en-US" dirty="0" smtClean="0"/>
          </a:p>
          <a:p>
            <a:pPr>
              <a:buNone/>
            </a:pPr>
            <a:r>
              <a:rPr lang="en-US" dirty="0" smtClean="0"/>
              <a:t>.</a:t>
            </a:r>
          </a:p>
          <a:p>
            <a:pPr>
              <a:buNone/>
            </a:pPr>
            <a:endParaRPr lang="en-US" dirty="0" smtClean="0"/>
          </a:p>
          <a:p>
            <a:pPr>
              <a:buNone/>
            </a:pPr>
            <a:endParaRPr lang="en-US" dirty="0" smtClean="0"/>
          </a:p>
          <a:p>
            <a:pPr>
              <a:buNone/>
            </a:pPr>
            <a:endParaRPr lang="en-US" dirty="0" smtClean="0"/>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Mathematical Concept of Gaussian Process Regression (GPR)</a:t>
            </a:r>
            <a:endParaRPr lang="en-US" b="1" dirty="0"/>
          </a:p>
        </p:txBody>
      </p:sp>
      <p:sp>
        <p:nvSpPr>
          <p:cNvPr id="3" name="Content Placeholder 2"/>
          <p:cNvSpPr>
            <a:spLocks noGrp="1"/>
          </p:cNvSpPr>
          <p:nvPr>
            <p:ph idx="1"/>
          </p:nvPr>
        </p:nvSpPr>
        <p:spPr>
          <a:xfrm>
            <a:off x="1451579" y="1934308"/>
            <a:ext cx="9603275" cy="4220307"/>
          </a:xfrm>
        </p:spPr>
        <p:txBody>
          <a:bodyPr>
            <a:normAutofit fontScale="92500" lnSpcReduction="10000"/>
          </a:bodyPr>
          <a:lstStyle/>
          <a:p>
            <a:r>
              <a:rPr lang="en-US" dirty="0" smtClean="0"/>
              <a:t>For regression tasks, a non-parametric, probabilistic machine learning model called Gaussian Process (GP) regression is employed. When modeling intricate and ambiguous interactions between input and output variables, it's a potent tool. A multivariate Gaussian distribution is assumed to produce the data points in GP regression, and the objective is to infer this distribution.</a:t>
            </a:r>
          </a:p>
          <a:p>
            <a:r>
              <a:rPr lang="en-US" dirty="0" smtClean="0"/>
              <a:t>The GP regression model has the following mathematical expression. Let's assume x</a:t>
            </a:r>
            <a:r>
              <a:rPr lang="en-US" baseline="-25000" dirty="0" smtClean="0"/>
              <a:t>1</a:t>
            </a:r>
            <a:r>
              <a:rPr lang="en-US" dirty="0" smtClean="0"/>
              <a:t> , x</a:t>
            </a:r>
            <a:r>
              <a:rPr lang="en-US" baseline="-25000" dirty="0" smtClean="0"/>
              <a:t>2 </a:t>
            </a:r>
            <a:r>
              <a:rPr lang="en-US" dirty="0" smtClean="0"/>
              <a:t>,.....,</a:t>
            </a:r>
            <a:r>
              <a:rPr lang="en-US" dirty="0" err="1" smtClean="0"/>
              <a:t>x</a:t>
            </a:r>
            <a:r>
              <a:rPr lang="en-US" baseline="-25000" dirty="0" err="1" smtClean="0"/>
              <a:t>n</a:t>
            </a:r>
            <a:r>
              <a:rPr lang="en-US" baseline="-25000" dirty="0" smtClean="0"/>
              <a:t> </a:t>
            </a:r>
            <a:r>
              <a:rPr lang="en-US" dirty="0" smtClean="0"/>
              <a:t>are the input data points , where x belong to real numbers(-2,-1,0,1...), (x</a:t>
            </a:r>
            <a:r>
              <a:rPr lang="en-US" baseline="-25000" dirty="0" smtClean="0"/>
              <a:t>i </a:t>
            </a:r>
            <a:r>
              <a:rPr lang="en-US" dirty="0" smtClean="0"/>
              <a:t>ϵϵ R)</a:t>
            </a:r>
          </a:p>
          <a:p>
            <a:r>
              <a:rPr lang="en-US" dirty="0" smtClean="0"/>
              <a:t>Let's assume y</a:t>
            </a:r>
            <a:r>
              <a:rPr lang="en-US" baseline="-25000" dirty="0" smtClean="0"/>
              <a:t>1 </a:t>
            </a:r>
            <a:r>
              <a:rPr lang="en-US" dirty="0" smtClean="0"/>
              <a:t>, y</a:t>
            </a:r>
            <a:r>
              <a:rPr lang="en-US" baseline="-25000" dirty="0" smtClean="0"/>
              <a:t>2 ,</a:t>
            </a:r>
            <a:r>
              <a:rPr lang="en-US" dirty="0" smtClean="0"/>
              <a:t>......., </a:t>
            </a:r>
            <a:r>
              <a:rPr lang="en-US" dirty="0" err="1" smtClean="0"/>
              <a:t>y</a:t>
            </a:r>
            <a:r>
              <a:rPr lang="en-US" baseline="-25000" dirty="0" err="1" smtClean="0"/>
              <a:t>n</a:t>
            </a:r>
            <a:r>
              <a:rPr lang="en-US" baseline="-25000" dirty="0" smtClean="0"/>
              <a:t> </a:t>
            </a:r>
            <a:r>
              <a:rPr lang="en-US" dirty="0" smtClean="0"/>
              <a:t>are the output values, where </a:t>
            </a:r>
            <a:r>
              <a:rPr lang="en-US" dirty="0" err="1" smtClean="0"/>
              <a:t>y</a:t>
            </a:r>
            <a:r>
              <a:rPr lang="en-US" baseline="-25000" dirty="0" err="1" smtClean="0"/>
              <a:t>i</a:t>
            </a:r>
            <a:r>
              <a:rPr lang="en-US" baseline="-25000" dirty="0" smtClean="0"/>
              <a:t> </a:t>
            </a:r>
            <a:r>
              <a:rPr lang="en-US" dirty="0" smtClean="0"/>
              <a:t>belongs to real number (</a:t>
            </a:r>
            <a:r>
              <a:rPr lang="en-US" dirty="0" err="1" smtClean="0"/>
              <a:t>y</a:t>
            </a:r>
            <a:r>
              <a:rPr lang="en-US" baseline="-25000" dirty="0" err="1" smtClean="0"/>
              <a:t>i</a:t>
            </a:r>
            <a:r>
              <a:rPr lang="en-US" baseline="-25000" dirty="0" smtClean="0"/>
              <a:t> </a:t>
            </a:r>
            <a:r>
              <a:rPr lang="en-US" dirty="0" smtClean="0"/>
              <a:t>ϵϵ R)</a:t>
            </a:r>
          </a:p>
          <a:p>
            <a:r>
              <a:rPr lang="en-US" dirty="0" smtClean="0"/>
              <a:t>The GP regression model makes the assumption that a Gaussian process with a mean function (</a:t>
            </a:r>
            <a:r>
              <a:rPr lang="en-US" dirty="0" err="1" smtClean="0"/>
              <a:t>μμ</a:t>
            </a:r>
            <a:r>
              <a:rPr lang="en-US" dirty="0" smtClean="0"/>
              <a:t>) and covariance function (k) provides the function f that connects the inputs to the outputs.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pic>
        <p:nvPicPr>
          <p:cNvPr id="1026" name="Picture 2"/>
          <p:cNvPicPr>
            <a:picLocks noGrp="1" noChangeAspect="1" noChangeArrowheads="1"/>
          </p:cNvPicPr>
          <p:nvPr>
            <p:ph idx="1"/>
          </p:nvPr>
        </p:nvPicPr>
        <p:blipFill>
          <a:blip r:embed="rId2" cstate="print"/>
          <a:srcRect/>
          <a:stretch>
            <a:fillRect/>
          </a:stretch>
        </p:blipFill>
        <p:spPr bwMode="auto">
          <a:xfrm>
            <a:off x="1632239" y="1884218"/>
            <a:ext cx="9409834" cy="425334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pic>
        <p:nvPicPr>
          <p:cNvPr id="2050" name="Picture 2"/>
          <p:cNvPicPr>
            <a:picLocks noGrp="1" noChangeAspect="1" noChangeArrowheads="1"/>
          </p:cNvPicPr>
          <p:nvPr>
            <p:ph idx="1"/>
          </p:nvPr>
        </p:nvPicPr>
        <p:blipFill>
          <a:blip r:embed="rId2" cstate="print"/>
          <a:srcRect/>
          <a:stretch>
            <a:fillRect/>
          </a:stretch>
        </p:blipFill>
        <p:spPr bwMode="auto">
          <a:xfrm>
            <a:off x="1440873" y="1856509"/>
            <a:ext cx="9545781" cy="4215679"/>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calibration and confidence.</a:t>
            </a:r>
            <a:r>
              <a:rPr lang="en-US" b="1" dirty="0" smtClean="0"/>
              <a:t/>
            </a:r>
            <a:br>
              <a:rPr lang="en-US" b="1" dirty="0" smtClean="0"/>
            </a:br>
            <a:endParaRPr lang="en-US" b="1" dirty="0" smtClean="0"/>
          </a:p>
        </p:txBody>
      </p:sp>
      <p:sp>
        <p:nvSpPr>
          <p:cNvPr id="3" name="Content Placeholder 2"/>
          <p:cNvSpPr>
            <a:spLocks noGrp="1"/>
          </p:cNvSpPr>
          <p:nvPr>
            <p:ph idx="1"/>
          </p:nvPr>
        </p:nvSpPr>
        <p:spPr>
          <a:xfrm>
            <a:off x="1451579" y="1870364"/>
            <a:ext cx="9603275" cy="4307698"/>
          </a:xfrm>
        </p:spPr>
        <p:txBody>
          <a:bodyPr>
            <a:normAutofit/>
          </a:bodyPr>
          <a:lstStyle/>
          <a:p>
            <a:pPr algn="just">
              <a:buNone/>
            </a:pPr>
            <a:r>
              <a:rPr lang="en-US" dirty="0" smtClean="0"/>
              <a:t>    </a:t>
            </a:r>
            <a:r>
              <a:rPr lang="en-US" dirty="0" smtClean="0"/>
              <a:t>Calibration and confidence refer to a model's ability to accurately represent the true likelihood of its predictions being correct. A well-calibrated model's confidence scores align with its actual performance, meaning a 70% confidence score implies a 70% accuracy rate over many predictions. This is crucial in high-stakes applications, such as medical diagnosis or self-driving cars, because it allows users to trust the model's output and identify potentially problematic predictions that should be reviewed or discarded, ultimately improving safety and </a:t>
            </a:r>
            <a:r>
              <a:rPr lang="en-US" dirty="0" smtClean="0"/>
              <a:t>reliability.</a:t>
            </a:r>
          </a:p>
          <a:p>
            <a:pPr algn="just">
              <a:buNone/>
            </a:pPr>
            <a:r>
              <a:rPr lang="en-US" b="1" dirty="0" smtClean="0"/>
              <a:t>What is Calibration</a:t>
            </a:r>
            <a:r>
              <a:rPr lang="en-US" b="1" dirty="0" smtClean="0"/>
              <a:t>?</a:t>
            </a:r>
          </a:p>
          <a:p>
            <a:pPr algn="just">
              <a:buNone/>
            </a:pPr>
            <a:r>
              <a:rPr lang="en-US" dirty="0" smtClean="0"/>
              <a:t>Matching Probability to Reality: Calibration ensures that the probability a model assigns to </a:t>
            </a:r>
            <a:r>
              <a:rPr lang="en-US" dirty="0" smtClean="0"/>
              <a:t>a prediction </a:t>
            </a:r>
            <a:r>
              <a:rPr lang="en-US" dirty="0" smtClean="0"/>
              <a:t>accurately reflects the real-world chance of that prediction being </a:t>
            </a:r>
            <a:r>
              <a:rPr lang="en-US" dirty="0" smtClean="0"/>
              <a:t>correct.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3" name="Content Placeholder 2"/>
          <p:cNvSpPr>
            <a:spLocks noGrp="1"/>
          </p:cNvSpPr>
          <p:nvPr>
            <p:ph idx="1"/>
          </p:nvPr>
        </p:nvSpPr>
        <p:spPr>
          <a:xfrm>
            <a:off x="1451579" y="2015732"/>
            <a:ext cx="9603275" cy="4177250"/>
          </a:xfrm>
        </p:spPr>
        <p:txBody>
          <a:bodyPr>
            <a:normAutofit/>
          </a:bodyPr>
          <a:lstStyle/>
          <a:p>
            <a:r>
              <a:rPr lang="en-US" dirty="0" smtClean="0"/>
              <a:t>Trust in Confidence: For a model to be calibrated, its confidence scores should have a real-world meaning based on actual data, not just training data. Example: If a neural network predicts an image is a cat with 80% confidence, a well-calibrated model would be correct about 80% of the time for similar predictions. </a:t>
            </a:r>
          </a:p>
          <a:p>
            <a:r>
              <a:rPr lang="en-US" b="1" dirty="0" smtClean="0"/>
              <a:t>Why is Calibration Important?</a:t>
            </a:r>
            <a:endParaRPr lang="en-US" dirty="0" smtClean="0"/>
          </a:p>
          <a:p>
            <a:r>
              <a:rPr lang="en-US" dirty="0" smtClean="0"/>
              <a:t>Safety and Reliability: In critical systems like autonomous vehicles or healthcare, accurate confidence scores are vital for avoiding severe errors. </a:t>
            </a:r>
          </a:p>
          <a:p>
            <a:r>
              <a:rPr lang="en-US" dirty="0" smtClean="0"/>
              <a:t>Identifying Weak Predictions: Calibration allows for the detection and handling of low-quality predictions by associating them with low confidence levels</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smtClean="0"/>
              <a:t/>
            </a:r>
            <a:br>
              <a:rPr lang="en-US" b="1" dirty="0" smtClean="0"/>
            </a:br>
            <a:r>
              <a:rPr lang="en-US"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sp>
        <p:nvSpPr>
          <p:cNvPr id="8" name="Content Placeholder 7"/>
          <p:cNvSpPr>
            <a:spLocks noGrp="1"/>
          </p:cNvSpPr>
          <p:nvPr>
            <p:ph idx="1"/>
          </p:nvPr>
        </p:nvSpPr>
        <p:spPr>
          <a:xfrm>
            <a:off x="1451579" y="1852246"/>
            <a:ext cx="9603275" cy="4340735"/>
          </a:xfrm>
        </p:spPr>
        <p:txBody>
          <a:bodyPr>
            <a:normAutofit/>
          </a:bodyPr>
          <a:lstStyle/>
          <a:p>
            <a:r>
              <a:rPr lang="en-US" dirty="0" smtClean="0"/>
              <a:t>User Trust: Trusted predictions require well-calibrated confidence scores, which build user trust in the model's output. </a:t>
            </a:r>
          </a:p>
          <a:p>
            <a:r>
              <a:rPr lang="en-US" b="1" dirty="0" smtClean="0"/>
              <a:t>How Does It Work in Practice?</a:t>
            </a:r>
            <a:endParaRPr lang="en-US" dirty="0" smtClean="0"/>
          </a:p>
          <a:p>
            <a:r>
              <a:rPr lang="en-US" dirty="0" smtClean="0"/>
              <a:t>Monitoring Uncertainty: A drop in confidence from a well-calibrated model can act as a signal to trigger safety mechanisms or prompt human review, such as in a self-driving car recognizing a stop sign. </a:t>
            </a:r>
          </a:p>
          <a:p>
            <a:r>
              <a:rPr lang="en-US" dirty="0" smtClean="0"/>
              <a:t>Data-Driven Evaluation: Evaluating calibration involves assessing how much confidence scores can be trusted in relation to the model's actual accuracy on real-world data. Beyond Training Data: This process moves beyond just the training or validation data to ensure the model's confidence is reliable in practical, deployed scenarios.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sp>
        <p:nvSpPr>
          <p:cNvPr id="5"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Poppins" panose="00000500000000000000" pitchFamily="2" charset="0"/>
                <a:cs typeface="Poppins" panose="00000500000000000000" pitchFamily="2" charset="0"/>
              </a:rPr>
              <a:t>Self-Assessment Questions</a:t>
            </a:r>
            <a:endParaRPr lang="en-US" sz="2000" dirty="0">
              <a:solidFill>
                <a:schemeClr val="bg1"/>
              </a:solidFill>
              <a:latin typeface="Poppins" panose="00000500000000000000" pitchFamily="2" charset="0"/>
              <a:cs typeface="Poppins" panose="00000500000000000000" pitchFamily="2" charset="0"/>
            </a:endParaRPr>
          </a:p>
        </p:txBody>
      </p:sp>
      <p:sp>
        <p:nvSpPr>
          <p:cNvPr id="6"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2000" dirty="0" smtClean="0"/>
              <a:t>1. </a:t>
            </a:r>
            <a:r>
              <a:rPr lang="en-US" sz="2000" dirty="0" smtClean="0"/>
              <a:t>A Gaussian Process (GP) is best described as:</a:t>
            </a:r>
            <a:endParaRPr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7" name="Rounded Rectangle 17"/>
          <p:cNvSpPr/>
          <p:nvPr/>
        </p:nvSpPr>
        <p:spPr>
          <a:xfrm>
            <a:off x="1230922" y="1925151"/>
            <a:ext cx="69986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US" sz="1600" dirty="0" smtClean="0"/>
              <a:t>A distribution over random </a:t>
            </a:r>
            <a:r>
              <a:rPr lang="en-US" sz="1600" dirty="0" smtClean="0"/>
              <a:t>variables</a:t>
            </a:r>
          </a:p>
          <a:p>
            <a:pPr marL="342900" indent="-342900">
              <a:lnSpc>
                <a:spcPct val="150000"/>
              </a:lnSpc>
              <a:buAutoNum type="alphaLcParenR"/>
            </a:pPr>
            <a:r>
              <a:rPr lang="en-US" sz="1600" dirty="0" smtClean="0">
                <a:solidFill>
                  <a:srgbClr val="00B050"/>
                </a:solidFill>
              </a:rPr>
              <a:t>A distribution over </a:t>
            </a:r>
            <a:r>
              <a:rPr lang="en-US" sz="1600" dirty="0" smtClean="0">
                <a:solidFill>
                  <a:srgbClr val="00B050"/>
                </a:solidFill>
              </a:rPr>
              <a:t>functions</a:t>
            </a:r>
          </a:p>
          <a:p>
            <a:pPr marL="342900" indent="-342900">
              <a:lnSpc>
                <a:spcPct val="150000"/>
              </a:lnSpc>
              <a:buAutoNum type="alphaLcParenR"/>
            </a:pPr>
            <a:r>
              <a:rPr lang="en-US" sz="1600" dirty="0" smtClean="0"/>
              <a:t>A linear regression </a:t>
            </a:r>
            <a:r>
              <a:rPr lang="en-US" sz="1600" dirty="0" smtClean="0"/>
              <a:t>model</a:t>
            </a:r>
          </a:p>
          <a:p>
            <a:pPr marL="342900" indent="-342900">
              <a:lnSpc>
                <a:spcPct val="150000"/>
              </a:lnSpc>
              <a:buAutoNum type="alphaLcParenR"/>
            </a:pPr>
            <a:r>
              <a:rPr lang="en-US" sz="1600" dirty="0" smtClean="0"/>
              <a:t>A neural network</a:t>
            </a:r>
            <a:endParaRPr lang="en-US" sz="1600" b="1" i="0" dirty="0">
              <a:solidFill>
                <a:srgbClr val="00B050"/>
              </a:solidFill>
              <a:effectLst/>
              <a:latin typeface="var(--body-font-family)"/>
            </a:endParaRPr>
          </a:p>
        </p:txBody>
      </p:sp>
      <p:sp>
        <p:nvSpPr>
          <p:cNvPr id="8" name="Google Shape;502;p17"/>
          <p:cNvSpPr/>
          <p:nvPr/>
        </p:nvSpPr>
        <p:spPr>
          <a:xfrm>
            <a:off x="1009895" y="36679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000" dirty="0" smtClean="0"/>
              <a:t>Which two components define a Gaussian Process?</a:t>
            </a:r>
            <a:endParaRPr lang="en-US"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0" name="Rounded Rectangle 17"/>
          <p:cNvSpPr/>
          <p:nvPr/>
        </p:nvSpPr>
        <p:spPr>
          <a:xfrm>
            <a:off x="1232634" y="4455249"/>
            <a:ext cx="62659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UcParenR"/>
            </a:pPr>
            <a:r>
              <a:rPr lang="en-US" sz="1600" dirty="0" smtClean="0">
                <a:solidFill>
                  <a:srgbClr val="00B050"/>
                </a:solidFill>
              </a:rPr>
              <a:t>Mean function and covariance </a:t>
            </a:r>
            <a:r>
              <a:rPr lang="en-US" sz="1600" dirty="0" smtClean="0">
                <a:solidFill>
                  <a:srgbClr val="00B050"/>
                </a:solidFill>
              </a:rPr>
              <a:t>function</a:t>
            </a:r>
          </a:p>
          <a:p>
            <a:pPr marL="342900" indent="-342900">
              <a:lnSpc>
                <a:spcPct val="150000"/>
              </a:lnSpc>
              <a:buAutoNum type="alphaUcParenR"/>
            </a:pPr>
            <a:r>
              <a:rPr lang="en-US" sz="1600" dirty="0" smtClean="0"/>
              <a:t>Loss function and </a:t>
            </a:r>
            <a:r>
              <a:rPr lang="en-US" sz="1600" dirty="0" smtClean="0"/>
              <a:t>optimizer</a:t>
            </a:r>
          </a:p>
          <a:p>
            <a:pPr marL="342900" indent="-342900">
              <a:lnSpc>
                <a:spcPct val="150000"/>
              </a:lnSpc>
              <a:buAutoNum type="alphaUcParenR"/>
            </a:pPr>
            <a:r>
              <a:rPr lang="en-US" sz="1600" dirty="0" smtClean="0"/>
              <a:t>Kernel and </a:t>
            </a:r>
            <a:r>
              <a:rPr lang="en-US" sz="1600" dirty="0" smtClean="0"/>
              <a:t>gradient</a:t>
            </a:r>
          </a:p>
          <a:p>
            <a:pPr marL="342900" indent="-342900">
              <a:lnSpc>
                <a:spcPct val="150000"/>
              </a:lnSpc>
              <a:buAutoNum type="alphaUcParenR"/>
            </a:pPr>
            <a:r>
              <a:rPr lang="en-US" sz="1600" dirty="0" smtClean="0"/>
              <a:t>Activation and bias</a:t>
            </a:r>
            <a:endParaRPr lang="en-US" sz="1600" b="0" i="0" dirty="0">
              <a:solidFill>
                <a:srgbClr val="00B050"/>
              </a:solidFill>
              <a:effectLst/>
              <a:latin typeface="var(--body-font-family)"/>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ounded Rectangle 17"/>
          <p:cNvSpPr/>
          <p:nvPr/>
        </p:nvSpPr>
        <p:spPr>
          <a:xfrm>
            <a:off x="3348000" y="576720"/>
            <a:ext cx="5470920" cy="600480"/>
          </a:xfrm>
          <a:prstGeom prst="roundRect">
            <a:avLst>
              <a:gd name="adj" fmla="val 16667"/>
            </a:avLst>
          </a:prstGeom>
          <a:solidFill>
            <a:srgbClr val="BA2532"/>
          </a:solidFill>
          <a:ln>
            <a:noFill/>
          </a:ln>
          <a:effectLst>
            <a:outerShdw blurRad="50760" dist="37674"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3200" b="0" strike="noStrike" spc="-1">
                <a:solidFill>
                  <a:srgbClr val="FFFFFF"/>
                </a:solidFill>
                <a:latin typeface="Calibri" panose="020F0502020204030204"/>
                <a:ea typeface="DejaVu Sans"/>
              </a:rPr>
              <a:t>TERMINAL QUESTIONS</a:t>
            </a:r>
            <a:endParaRPr lang="en-IN" sz="3200" b="0" strike="noStrike" spc="-1">
              <a:latin typeface="Arial" panose="020B0604020202020204"/>
            </a:endParaRPr>
          </a:p>
        </p:txBody>
      </p:sp>
      <p:sp>
        <p:nvSpPr>
          <p:cNvPr id="282" name="TextBox 8"/>
          <p:cNvSpPr/>
          <p:nvPr/>
        </p:nvSpPr>
        <p:spPr>
          <a:xfrm>
            <a:off x="1537920" y="2211120"/>
            <a:ext cx="9573480" cy="22453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457200" indent="-457200">
              <a:buAutoNum type="arabicPeriod"/>
            </a:pPr>
            <a:r>
              <a:rPr lang="en-US" sz="2000" dirty="0" smtClean="0"/>
              <a:t>What is a Gaussian Process (GP) in machine learning</a:t>
            </a:r>
            <a:r>
              <a:rPr lang="en-US" sz="2000" dirty="0" smtClean="0"/>
              <a:t>?</a:t>
            </a:r>
          </a:p>
          <a:p>
            <a:pPr marL="457200" indent="-457200">
              <a:buAutoNum type="arabicPeriod"/>
            </a:pPr>
            <a:endParaRPr lang="en-US" sz="2000" dirty="0" smtClean="0"/>
          </a:p>
          <a:p>
            <a:r>
              <a:rPr lang="en-US" sz="2000" dirty="0" smtClean="0"/>
              <a:t>2. </a:t>
            </a:r>
            <a:r>
              <a:rPr lang="en-US" sz="2000" dirty="0" smtClean="0"/>
              <a:t>How is Gaussian Process Regression (GPR) different from Linear Regression?</a:t>
            </a:r>
            <a:endParaRPr lang="en-US" sz="2000" dirty="0" smtClean="0"/>
          </a:p>
          <a:p>
            <a:endParaRPr lang="en-US" sz="2000" dirty="0" smtClean="0"/>
          </a:p>
          <a:p>
            <a:r>
              <a:rPr lang="en-US" sz="2000" dirty="0" smtClean="0"/>
              <a:t>3. </a:t>
            </a:r>
            <a:r>
              <a:rPr lang="en-US" sz="2000" dirty="0" smtClean="0"/>
              <a:t>What role does the kernel function play in Gaussian Processes?</a:t>
            </a:r>
            <a:endParaRPr lang="en-US" sz="2000" dirty="0">
              <a:solidFill>
                <a:schemeClr val="tx1"/>
              </a:solidFill>
            </a:endParaRPr>
          </a:p>
          <a:p>
            <a:pPr>
              <a:lnSpc>
                <a:spcPct val="200000"/>
              </a:lnSpc>
              <a:buNone/>
            </a:pPr>
            <a:endParaRPr lang="en-IN" sz="2000" b="0" strike="noStrike" spc="-1" dirty="0">
              <a:latin typeface="Arial" panose="020B0604020202020204"/>
            </a:endParaRPr>
          </a:p>
        </p:txBody>
      </p:sp>
    </p:spTree>
  </p:cSld>
  <p:clrMapOvr>
    <a:masterClrMapping/>
  </p:clrMapOvr>
  <mc:AlternateContent xmlns:mc="http://schemas.openxmlformats.org/markup-compatibility/2006">
    <mc:Choice xmlns:p14="http://schemas.microsoft.com/office/powerpoint/2010/main" xmlns="" Requires="p14">
      <p:transition spd="slow" p14:dur="12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additive="repl">
                                        <p:cTn id="7"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IN"/>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22</a:t>
            </a:fld>
            <a:endParaRPr lang="en-US"/>
          </a:p>
        </p:txBody>
      </p:sp>
      <p:sp>
        <p:nvSpPr>
          <p:cNvPr id="12" name="Text Placeholder 11"/>
          <p:cNvSpPr>
            <a:spLocks noGrp="1"/>
          </p:cNvSpPr>
          <p:nvPr>
            <p:ph idx="4294967295"/>
          </p:nvPr>
        </p:nvSpPr>
        <p:spPr>
          <a:xfrm>
            <a:off x="0" y="1825625"/>
            <a:ext cx="10515600" cy="4351338"/>
          </a:xfrm>
        </p:spPr>
        <p:txBody>
          <a:bodyPr/>
          <a:lstStyle/>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endParaRPr lang="en-US" dirty="0"/>
          </a:p>
        </p:txBody>
      </p:sp>
      <p:sp>
        <p:nvSpPr>
          <p:cNvPr id="2" name="Rounded Rectangle 17"/>
          <p:cNvSpPr/>
          <p:nvPr/>
        </p:nvSpPr>
        <p:spPr>
          <a:xfrm>
            <a:off x="1574799" y="694337"/>
            <a:ext cx="8503265" cy="5882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120876" y="1915318"/>
            <a:ext cx="10707329" cy="5493812"/>
          </a:xfrm>
          <a:prstGeom prst="rect">
            <a:avLst/>
          </a:prstGeom>
          <a:noFill/>
        </p:spPr>
        <p:txBody>
          <a:bodyPr wrap="square" rtlCol="0">
            <a:spAutoFit/>
          </a:bodyPr>
          <a:lstStyle/>
          <a:p>
            <a:pPr>
              <a:lnSpc>
                <a:spcPct val="150000"/>
              </a:lnSpc>
            </a:pPr>
            <a:r>
              <a:rPr lang="en-US" b="1" dirty="0"/>
              <a:t> Books:</a:t>
            </a:r>
          </a:p>
          <a:p>
            <a:r>
              <a:rPr lang="en-US" b="1" dirty="0" smtClean="0"/>
              <a:t>1. </a:t>
            </a:r>
            <a:r>
              <a:rPr lang="en-US" b="1" dirty="0" smtClean="0"/>
              <a:t>Gaussian Processes for Machine Learning</a:t>
            </a:r>
            <a:r>
              <a:rPr lang="en-US" dirty="0" smtClean="0"/>
              <a:t> – Carl Edward Rasmussen &amp; Christopher K. I. Williams (MIT Press, 2006)</a:t>
            </a:r>
            <a:br>
              <a:rPr lang="en-US" dirty="0" smtClean="0"/>
            </a:br>
            <a:r>
              <a:rPr lang="en-US" i="1" dirty="0" smtClean="0"/>
              <a:t>The </a:t>
            </a:r>
            <a:r>
              <a:rPr lang="en-US" i="1" dirty="0" smtClean="0"/>
              <a:t>classic reference book on GPs, covering regression, classification, kernels, inference, and approximations.</a:t>
            </a:r>
            <a:endParaRPr lang="en-US" dirty="0" smtClean="0"/>
          </a:p>
          <a:p>
            <a:r>
              <a:rPr lang="en-US" b="1" dirty="0" smtClean="0"/>
              <a:t>2. Machine </a:t>
            </a:r>
            <a:r>
              <a:rPr lang="en-US" b="1" dirty="0" smtClean="0"/>
              <a:t>Learning: A Probabilistic Perspective</a:t>
            </a:r>
            <a:r>
              <a:rPr lang="en-US" dirty="0" smtClean="0"/>
              <a:t> – Kevin P. Murphy (MIT Press, 2012)</a:t>
            </a:r>
            <a:br>
              <a:rPr lang="en-US" dirty="0" smtClean="0"/>
            </a:br>
            <a:r>
              <a:rPr lang="en-US" i="1" dirty="0" smtClean="0"/>
              <a:t>Explains </a:t>
            </a:r>
            <a:r>
              <a:rPr lang="en-US" i="1" dirty="0" smtClean="0"/>
              <a:t>probabilistic modeling in depth, including Gaussian Processes and Bayesian inference.</a:t>
            </a:r>
            <a:endParaRPr lang="en-US" dirty="0" smtClean="0"/>
          </a:p>
          <a:p>
            <a:endParaRPr lang="en-US" b="1" dirty="0" smtClean="0"/>
          </a:p>
          <a:p>
            <a:r>
              <a:rPr lang="en-US" b="1" dirty="0" smtClean="0"/>
              <a:t>Web </a:t>
            </a:r>
            <a:r>
              <a:rPr lang="en-US" b="1" dirty="0"/>
              <a:t>references:</a:t>
            </a:r>
          </a:p>
          <a:p>
            <a:r>
              <a:rPr lang="en-US" dirty="0" smtClean="0"/>
              <a:t>Gaussian Processes for Machine Learning (Book PDF by Rasmussen &amp; Williams)</a:t>
            </a:r>
            <a:r>
              <a:rPr lang="en-US" dirty="0" smtClean="0"/>
              <a:t/>
            </a:r>
            <a:br>
              <a:rPr lang="en-US" dirty="0" smtClean="0"/>
            </a:br>
            <a:r>
              <a:rPr lang="en-US" dirty="0" smtClean="0"/>
              <a:t> </a:t>
            </a:r>
            <a:r>
              <a:rPr lang="en-US" dirty="0" smtClean="0">
                <a:hlinkClick r:id="rId3"/>
              </a:rPr>
              <a:t>http://www.gaussianprocess.org/gpml</a:t>
            </a:r>
            <a:r>
              <a:rPr lang="en-US" dirty="0" smtClean="0">
                <a:hlinkClick r:id="rId3"/>
              </a:rPr>
              <a:t>/</a:t>
            </a:r>
            <a:endParaRPr lang="en-US" dirty="0" smtClean="0"/>
          </a:p>
          <a:p>
            <a:endParaRPr lang="en-US" dirty="0" smtClean="0"/>
          </a:p>
          <a:p>
            <a:endParaRPr lang="en-US" dirty="0" smtClean="0"/>
          </a:p>
          <a:p>
            <a:r>
              <a:rPr lang="en-US" dirty="0" smtClean="0"/>
              <a:t>Machine Learning Mastery – Gentle Introduction to Gaussian Processes</a:t>
            </a:r>
            <a:r>
              <a:rPr lang="en-US" dirty="0" smtClean="0"/>
              <a:t/>
            </a:r>
            <a:br>
              <a:rPr lang="en-US" dirty="0" smtClean="0"/>
            </a:br>
            <a:r>
              <a:rPr lang="en-US" dirty="0" smtClean="0"/>
              <a:t> </a:t>
            </a:r>
            <a:r>
              <a:rPr lang="en-US" dirty="0" smtClean="0">
                <a:hlinkClick r:id="rId4"/>
              </a:rPr>
              <a:t>https://machinelearningmastery.com/gaussian-processes-for-machine-learning</a:t>
            </a:r>
            <a:r>
              <a:rPr lang="en-US" dirty="0" smtClean="0">
                <a:hlinkClick r:id="rId4"/>
              </a:rPr>
              <a:t>/</a:t>
            </a:r>
            <a:endParaRPr lang="en-US" dirty="0" smtClean="0"/>
          </a:p>
          <a:p>
            <a:endParaRPr lang="en-US" dirty="0" smtClean="0"/>
          </a:p>
          <a:p>
            <a:endParaRPr lang="en-US" dirty="0" smtClean="0"/>
          </a:p>
          <a:p>
            <a:endParaRPr lang="en-US" dirty="0" smtClean="0"/>
          </a:p>
          <a:p>
            <a:endParaRPr lang="en-US" dirty="0" smtClean="0"/>
          </a:p>
          <a:p>
            <a:pPr marL="342900" indent="-342900">
              <a:buAutoNum type="arabicPeriod"/>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23</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1920</TotalTime>
  <Words>2281</Words>
  <Application>Microsoft Office PowerPoint</Application>
  <PresentationFormat>Custom</PresentationFormat>
  <Paragraphs>152</Paragraphs>
  <Slides>23</Slides>
  <Notes>2</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Gallery</vt:lpstr>
      <vt:lpstr>Slide 1</vt:lpstr>
      <vt:lpstr>Slide 2</vt:lpstr>
      <vt:lpstr>Objectives</vt:lpstr>
      <vt:lpstr>Gaussian Processes</vt:lpstr>
      <vt:lpstr>Gaussian Process Classification</vt:lpstr>
      <vt:lpstr>CONTD..</vt:lpstr>
      <vt:lpstr>Concepts of Gaussian Process Classification </vt:lpstr>
      <vt:lpstr>CONTD..</vt:lpstr>
      <vt:lpstr>Gaussian Process Regression (GPR) </vt:lpstr>
      <vt:lpstr>Gaussian Process Regression (GPR) </vt:lpstr>
      <vt:lpstr>Characteristics of Gaussian Processes:</vt:lpstr>
      <vt:lpstr>CONTD..</vt:lpstr>
      <vt:lpstr>CONTD…</vt:lpstr>
      <vt:lpstr>Mathematical Concept of Gaussian Process Regression (GPR)</vt:lpstr>
      <vt:lpstr>CONTD..</vt:lpstr>
      <vt:lpstr>CONTD..</vt:lpstr>
      <vt:lpstr>calibration and confidence. </vt:lpstr>
      <vt:lpstr>CONTD…</vt:lpstr>
      <vt:lpstr> CONTD..</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97</cp:revision>
  <dcterms:created xsi:type="dcterms:W3CDTF">2023-05-06T03:47:00Z</dcterms:created>
  <dcterms:modified xsi:type="dcterms:W3CDTF">2025-09-15T18:15:26Z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