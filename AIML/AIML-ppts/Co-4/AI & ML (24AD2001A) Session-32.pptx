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60" r:id="rId1"/>
  </p:sldMasterIdLst>
  <p:notesMasterIdLst>
    <p:notesMasterId r:id="rId52"/>
  </p:notesMasterIdLst>
  <p:handoutMasterIdLst>
    <p:handoutMasterId r:id="rId53"/>
  </p:handoutMasterIdLst>
  <p:sldIdLst>
    <p:sldId id="256" r:id="rId2"/>
    <p:sldId id="324" r:id="rId3"/>
    <p:sldId id="395" r:id="rId4"/>
    <p:sldId id="396" r:id="rId5"/>
    <p:sldId id="397" r:id="rId6"/>
    <p:sldId id="398" r:id="rId7"/>
    <p:sldId id="388" r:id="rId8"/>
    <p:sldId id="389" r:id="rId9"/>
    <p:sldId id="400" r:id="rId10"/>
    <p:sldId id="399" r:id="rId11"/>
    <p:sldId id="390" r:id="rId12"/>
    <p:sldId id="391" r:id="rId13"/>
    <p:sldId id="392" r:id="rId14"/>
    <p:sldId id="401" r:id="rId15"/>
    <p:sldId id="393" r:id="rId16"/>
    <p:sldId id="423" r:id="rId17"/>
    <p:sldId id="424" r:id="rId18"/>
    <p:sldId id="425" r:id="rId19"/>
    <p:sldId id="426" r:id="rId20"/>
    <p:sldId id="428" r:id="rId21"/>
    <p:sldId id="429" r:id="rId22"/>
    <p:sldId id="427" r:id="rId23"/>
    <p:sldId id="431" r:id="rId24"/>
    <p:sldId id="387" r:id="rId25"/>
    <p:sldId id="402" r:id="rId26"/>
    <p:sldId id="403" r:id="rId27"/>
    <p:sldId id="404" r:id="rId28"/>
    <p:sldId id="405" r:id="rId29"/>
    <p:sldId id="406" r:id="rId30"/>
    <p:sldId id="407" r:id="rId31"/>
    <p:sldId id="408" r:id="rId32"/>
    <p:sldId id="409" r:id="rId33"/>
    <p:sldId id="410" r:id="rId34"/>
    <p:sldId id="436" r:id="rId35"/>
    <p:sldId id="411" r:id="rId36"/>
    <p:sldId id="412" r:id="rId37"/>
    <p:sldId id="432" r:id="rId38"/>
    <p:sldId id="433" r:id="rId39"/>
    <p:sldId id="434" r:id="rId40"/>
    <p:sldId id="435" r:id="rId41"/>
    <p:sldId id="413" r:id="rId42"/>
    <p:sldId id="437" r:id="rId43"/>
    <p:sldId id="414" r:id="rId44"/>
    <p:sldId id="415" r:id="rId45"/>
    <p:sldId id="418" r:id="rId46"/>
    <p:sldId id="419" r:id="rId47"/>
    <p:sldId id="420" r:id="rId48"/>
    <p:sldId id="421" r:id="rId49"/>
    <p:sldId id="422" r:id="rId50"/>
    <p:sldId id="286"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0" autoAdjust="0"/>
    <p:restoredTop sz="88116" autoAdjust="0"/>
  </p:normalViewPr>
  <p:slideViewPr>
    <p:cSldViewPr snapToGrid="0">
      <p:cViewPr>
        <p:scale>
          <a:sx n="71" d="100"/>
          <a:sy n="71" d="100"/>
        </p:scale>
        <p:origin x="788" y="-3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16-10-2025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16-10-2025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a:t>Course Title, Topic Name</a:t>
            </a:r>
          </a:p>
        </p:txBody>
      </p:sp>
      <p:sp>
        <p:nvSpPr>
          <p:cNvPr id="5" name="Footer Placeholder 4"/>
          <p:cNvSpPr>
            <a:spLocks noGrp="1"/>
          </p:cNvSpPr>
          <p:nvPr>
            <p:ph type="ftr" sz="quarter" idx="4"/>
          </p:nvPr>
        </p:nvSpPr>
        <p:spPr/>
        <p:txBody>
          <a:bodyPr/>
          <a:lstStyle/>
          <a:p>
            <a:r>
              <a:rPr lang="en-US"/>
              <a:t>College of Engineering, KONERU LAKSHMAIAH EDUCATION FOUNDATION</a:t>
            </a:r>
            <a:endParaRPr lang="en-IN"/>
          </a:p>
        </p:txBody>
      </p:sp>
      <p:sp>
        <p:nvSpPr>
          <p:cNvPr id="6" name="Slide Number Placeholder 5"/>
          <p:cNvSpPr>
            <a:spLocks noGrp="1"/>
          </p:cNvSpPr>
          <p:nvPr>
            <p:ph type="sldNum" sz="quarter" idx="5"/>
          </p:nvPr>
        </p:nvSpPr>
        <p:spPr/>
        <p:txBody>
          <a:bodyPr/>
          <a:lstStyle/>
          <a:p>
            <a:fld id="{823BDDA1-7BB7-447A-97DE-AE5425C8F2AD}" type="slidenum">
              <a:rPr lang="en-IN" smtClean="0"/>
              <a:pPr/>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FF242-1868-EF94-E7EE-5083040DD6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9D54470-C6C3-251A-67D6-14C82774ED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228751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4BB4-D960-E217-CA9C-AB95B7FF70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EB0AF1-2EAC-4DC3-F0E9-08A7173AA8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EFF321-B98A-733A-E9DD-5EAA6FA85528}"/>
              </a:ext>
            </a:extLst>
          </p:cNvPr>
          <p:cNvSpPr>
            <a:spLocks noGrp="1"/>
          </p:cNvSpPr>
          <p:nvPr>
            <p:ph type="dt" sz="half" idx="10"/>
          </p:nvPr>
        </p:nvSpPr>
        <p:spPr>
          <a:xfrm>
            <a:off x="838200" y="6356350"/>
            <a:ext cx="2743200" cy="365125"/>
          </a:xfrm>
          <a:prstGeom prst="rect">
            <a:avLst/>
          </a:prstGeom>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67A8DA94-F9FE-5D63-5B4C-6537DF145F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25F163-405A-94F9-A67C-707A6812B858}"/>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1822190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97578-21DF-F6AB-2762-E676E3443D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6563E96-E74D-C9D5-3104-2C68F17E07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1E27B6-AC53-6D69-A92D-20B3B4377F12}"/>
              </a:ext>
            </a:extLst>
          </p:cNvPr>
          <p:cNvSpPr>
            <a:spLocks noGrp="1"/>
          </p:cNvSpPr>
          <p:nvPr>
            <p:ph type="dt" sz="half" idx="10"/>
          </p:nvPr>
        </p:nvSpPr>
        <p:spPr>
          <a:xfrm>
            <a:off x="838200" y="6356350"/>
            <a:ext cx="2743200" cy="365125"/>
          </a:xfrm>
          <a:prstGeom prst="rect">
            <a:avLst/>
          </a:prstGeom>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3F1D4C17-57B9-315F-C29C-DD31E879E3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79320E-E7ED-CC99-BFDD-20D7E2528FCA}"/>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32616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1F332-BFAD-AAFC-706F-B1F01E252E4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DF6E173-AF71-BEC0-2766-6F1D207DE8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D7EF168-D2DD-A5C8-B6A9-C76CDC03AB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89FC0E7-2274-32C5-13E0-5367ABF2B510}"/>
              </a:ext>
            </a:extLst>
          </p:cNvPr>
          <p:cNvSpPr>
            <a:spLocks noGrp="1"/>
          </p:cNvSpPr>
          <p:nvPr>
            <p:ph type="dt" sz="half" idx="10"/>
          </p:nvPr>
        </p:nvSpPr>
        <p:spPr>
          <a:xfrm>
            <a:off x="838200" y="6356350"/>
            <a:ext cx="2743200" cy="365125"/>
          </a:xfrm>
          <a:prstGeom prst="rect">
            <a:avLst/>
          </a:prstGeom>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61B5E785-6A94-77F6-1137-BB6E7FC617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378846-C126-C020-A434-506CE5BFEAE3}"/>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2121409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E6954-B15C-B20D-AB05-1993A6D61E7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D832CF-B07E-237F-EF0F-7DB21DE014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84A7D8-E6C9-7781-1009-575910DC2F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CB331D-B516-29E1-5E85-F5A55B96E3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0A4923-9F4F-C883-ADDA-98773B9EB4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42516CB-2223-8C76-D61A-51C754495D3A}"/>
              </a:ext>
            </a:extLst>
          </p:cNvPr>
          <p:cNvSpPr>
            <a:spLocks noGrp="1"/>
          </p:cNvSpPr>
          <p:nvPr>
            <p:ph type="dt" sz="half" idx="10"/>
          </p:nvPr>
        </p:nvSpPr>
        <p:spPr>
          <a:xfrm>
            <a:off x="838200" y="6356350"/>
            <a:ext cx="2743200" cy="365125"/>
          </a:xfrm>
          <a:prstGeom prst="rect">
            <a:avLst/>
          </a:prstGeom>
        </p:spPr>
        <p:txBody>
          <a:bodyPr/>
          <a:lstStyle/>
          <a:p>
            <a:r>
              <a:rPr lang="en-US"/>
              <a:t>&lt;COURSE TITLE&gt;, &lt;TOPIC NAME&gt;</a:t>
            </a:r>
            <a:endParaRPr lang="en-IN" dirty="0"/>
          </a:p>
        </p:txBody>
      </p:sp>
      <p:sp>
        <p:nvSpPr>
          <p:cNvPr id="8" name="Footer Placeholder 7">
            <a:extLst>
              <a:ext uri="{FF2B5EF4-FFF2-40B4-BE49-F238E27FC236}">
                <a16:creationId xmlns:a16="http://schemas.microsoft.com/office/drawing/2014/main" id="{F14D2B61-2CD2-6F18-BCA5-38FF61B7F08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57B6191-6241-6EF7-53D6-BCCE6E20ECFF}"/>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617419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4EBBF-2E56-B465-159F-BD5DB6A8251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2F34D96-5A62-A358-85AD-542E91EBCA9A}"/>
              </a:ext>
            </a:extLst>
          </p:cNvPr>
          <p:cNvSpPr>
            <a:spLocks noGrp="1"/>
          </p:cNvSpPr>
          <p:nvPr>
            <p:ph type="dt" sz="half" idx="10"/>
          </p:nvPr>
        </p:nvSpPr>
        <p:spPr>
          <a:xfrm>
            <a:off x="838200" y="6356350"/>
            <a:ext cx="2743200" cy="365125"/>
          </a:xfrm>
          <a:prstGeom prst="rect">
            <a:avLst/>
          </a:prstGeom>
        </p:spPr>
        <p:txBody>
          <a:bodyPr/>
          <a:lstStyle/>
          <a:p>
            <a:r>
              <a:rPr lang="en-US"/>
              <a:t>&lt;COURSE TITLE&gt;, &lt;TOPIC NAME&gt;</a:t>
            </a:r>
            <a:endParaRPr lang="en-IN" dirty="0"/>
          </a:p>
        </p:txBody>
      </p:sp>
      <p:sp>
        <p:nvSpPr>
          <p:cNvPr id="4" name="Footer Placeholder 3">
            <a:extLst>
              <a:ext uri="{FF2B5EF4-FFF2-40B4-BE49-F238E27FC236}">
                <a16:creationId xmlns:a16="http://schemas.microsoft.com/office/drawing/2014/main" id="{6ABBDF11-B1D3-A033-78D7-D734C282687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DDF907B-1DB3-FAD8-1DF9-B115B99687B5}"/>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979052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0A8555-F175-421B-B99A-6DA25405ED85}"/>
              </a:ext>
            </a:extLst>
          </p:cNvPr>
          <p:cNvSpPr>
            <a:spLocks noGrp="1"/>
          </p:cNvSpPr>
          <p:nvPr>
            <p:ph type="dt" sz="half" idx="10"/>
          </p:nvPr>
        </p:nvSpPr>
        <p:spPr>
          <a:xfrm>
            <a:off x="838200" y="6356350"/>
            <a:ext cx="2743200" cy="365125"/>
          </a:xfrm>
          <a:prstGeom prst="rect">
            <a:avLst/>
          </a:prstGeom>
        </p:spPr>
        <p:txBody>
          <a:bodyPr/>
          <a:lstStyle/>
          <a:p>
            <a:r>
              <a:rPr lang="en-US"/>
              <a:t>&lt;COURSE TITLE&gt;, &lt;TOPIC NAME&gt;</a:t>
            </a:r>
            <a:endParaRPr lang="en-IN" dirty="0"/>
          </a:p>
        </p:txBody>
      </p:sp>
      <p:sp>
        <p:nvSpPr>
          <p:cNvPr id="3" name="Footer Placeholder 2">
            <a:extLst>
              <a:ext uri="{FF2B5EF4-FFF2-40B4-BE49-F238E27FC236}">
                <a16:creationId xmlns:a16="http://schemas.microsoft.com/office/drawing/2014/main" id="{9099A52A-5AD4-88A4-F7EC-DDF0856BEA5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C49114A-5DF3-D04C-3252-F3CA403AD6E5}"/>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87360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D1C7B-171B-6E4C-B6FC-95EACCAF9E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5CD06A9-9AC8-B1DC-7A89-B43F6E6B19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49568B4-2721-84B8-59A7-0E65A52BAE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2F4028-A3E8-51C8-4980-B491CEF721ED}"/>
              </a:ext>
            </a:extLst>
          </p:cNvPr>
          <p:cNvSpPr>
            <a:spLocks noGrp="1"/>
          </p:cNvSpPr>
          <p:nvPr>
            <p:ph type="dt" sz="half" idx="10"/>
          </p:nvPr>
        </p:nvSpPr>
        <p:spPr>
          <a:xfrm>
            <a:off x="838200" y="6356350"/>
            <a:ext cx="2743200" cy="365125"/>
          </a:xfrm>
          <a:prstGeom prst="rect">
            <a:avLst/>
          </a:prstGeom>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DABEB7B1-D9F6-B718-4DEA-D2C17BBCAF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8E60CC-89C7-804C-2DD9-2C508DEA417F}"/>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1599506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006E8-BE1A-865D-339E-1418A48EE6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DC12B61-A359-3E51-F7C3-DFA8EA5BDE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77775FA-2B4D-AAD9-A48D-E5FD7BBAA2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2291A8-99E5-A7E8-D780-19CBB1D10C57}"/>
              </a:ext>
            </a:extLst>
          </p:cNvPr>
          <p:cNvSpPr>
            <a:spLocks noGrp="1"/>
          </p:cNvSpPr>
          <p:nvPr>
            <p:ph type="dt" sz="half" idx="10"/>
          </p:nvPr>
        </p:nvSpPr>
        <p:spPr>
          <a:xfrm>
            <a:off x="838200" y="6356350"/>
            <a:ext cx="2743200" cy="365125"/>
          </a:xfrm>
          <a:prstGeom prst="rect">
            <a:avLst/>
          </a:prstGeom>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A74F8A64-D4BC-D5BD-1B02-9208FD6EA6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0F7CCD7-B887-00BE-EDEF-0FDA54C6E6FF}"/>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1743422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57C3F-0E77-31C2-A14E-DF201416798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57ED0B9-CA31-647A-B29E-80DC59F7CF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52652C-B3D4-94D6-B210-45FA578A622B}"/>
              </a:ext>
            </a:extLst>
          </p:cNvPr>
          <p:cNvSpPr>
            <a:spLocks noGrp="1"/>
          </p:cNvSpPr>
          <p:nvPr>
            <p:ph type="dt" sz="half" idx="10"/>
          </p:nvPr>
        </p:nvSpPr>
        <p:spPr>
          <a:xfrm>
            <a:off x="838200" y="6356350"/>
            <a:ext cx="2743200" cy="365125"/>
          </a:xfrm>
          <a:prstGeom prst="rect">
            <a:avLst/>
          </a:prstGeom>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72ACD4E8-5E8A-BFE0-212B-A318FA16FD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F280B7-D055-E171-EA23-39961131DBA1}"/>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771519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76570C-AFAB-1226-EB85-0ECF7F3BF49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BB0AB6-F9EB-CCA0-9E5D-E22937CA58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4B6121-C3EC-0EB8-6CD8-5DD2F9599391}"/>
              </a:ext>
            </a:extLst>
          </p:cNvPr>
          <p:cNvSpPr>
            <a:spLocks noGrp="1"/>
          </p:cNvSpPr>
          <p:nvPr>
            <p:ph type="dt" sz="half" idx="10"/>
          </p:nvPr>
        </p:nvSpPr>
        <p:spPr>
          <a:xfrm>
            <a:off x="838200" y="6356350"/>
            <a:ext cx="2743200" cy="365125"/>
          </a:xfrm>
          <a:prstGeom prst="rect">
            <a:avLst/>
          </a:prstGeom>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A19FAD58-9FC7-9A15-2B0D-73598FDA53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6C88FF-7705-959D-56AD-7634F6BC91ED}"/>
              </a:ext>
            </a:extLst>
          </p:cNvPr>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718996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212D17-0225-3646-798C-DF0A4C8308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785706E-9751-FE6F-46E7-BEE807F0C6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A35EEC98-D146-095C-25D8-F2A3448A3E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FE02C9D-E43F-0924-3F12-6BE5ACC014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ABCCC1-BF11-4F37-963E-1BCD5B23FD72}" type="slidenum">
              <a:rPr lang="en-IN" smtClean="0"/>
              <a:pPr/>
              <a:t>‹#›</a:t>
            </a:fld>
            <a:endParaRPr lang="en-IN" dirty="0"/>
          </a:p>
        </p:txBody>
      </p:sp>
      <p:pic>
        <p:nvPicPr>
          <p:cNvPr id="7" name="Picture 6" descr="Icon&#10;&#10;Description automatically generated with medium confidence">
            <a:extLst>
              <a:ext uri="{FF2B5EF4-FFF2-40B4-BE49-F238E27FC236}">
                <a16:creationId xmlns:a16="http://schemas.microsoft.com/office/drawing/2014/main" id="{7B3C7802-D8A9-CEAB-FB21-82D9E37D2801}"/>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spTree>
    <p:extLst>
      <p:ext uri="{BB962C8B-B14F-4D97-AF65-F5344CB8AC3E}">
        <p14:creationId xmlns:p14="http://schemas.microsoft.com/office/powerpoint/2010/main" val="42870287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geeksforgeeks.org/machine-learning/k-means-clustering-introductio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geeksforgeeks.org/machine-learning/agglomerative-methods-in-machine-learnin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scikit-learn.org/stable/modules/generated/sklearn.cluster.AgglomerativeClustering.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geeksforgeeks.org/machine-learning/difference-between-agglomerative-clustering-and-divisive-clustering/"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www.geeksforgeeks.org/machine-learning/ml-mean-shift-clustering/"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oogle Shape;464;p16"/>
          <p:cNvPicPr preferRelativeResize="0"/>
          <p:nvPr/>
        </p:nvPicPr>
        <p:blipFill>
          <a:blip r:embed="rId3" cstate="print">
            <a:extLst>
              <a:ext uri="{28A0092B-C50C-407E-A947-70E740481C1C}">
                <a14:useLocalDpi xmlns:a14="http://schemas.microsoft.com/office/drawing/2010/main" val="0"/>
              </a:ext>
            </a:extLst>
          </a:blip>
          <a:stretch>
            <a:fillRect/>
          </a:stretch>
        </p:blipFill>
        <p:spPr>
          <a:xfrm>
            <a:off x="23449" y="234462"/>
            <a:ext cx="4829908" cy="5838093"/>
          </a:xfrm>
          <a:prstGeom prst="rect">
            <a:avLst/>
          </a:prstGeom>
          <a:noFill/>
          <a:ln>
            <a:noFill/>
          </a:ln>
        </p:spPr>
      </p:pic>
      <p:sp>
        <p:nvSpPr>
          <p:cNvPr id="15" name="Google Shape;476;p16"/>
          <p:cNvSpPr txBox="1"/>
          <p:nvPr/>
        </p:nvSpPr>
        <p:spPr>
          <a:xfrm>
            <a:off x="5249334" y="1323812"/>
            <a:ext cx="6791558" cy="1815841"/>
          </a:xfrm>
          <a:prstGeom prst="rect">
            <a:avLst/>
          </a:prstGeom>
          <a:noFill/>
          <a:ln>
            <a:noFill/>
          </a:ln>
        </p:spPr>
        <p:txBody>
          <a:bodyPr spcFirstLastPara="1" wrap="square" lIns="91425" tIns="45700" rIns="91425" bIns="45700" anchor="t" anchorCtr="0">
            <a:spAutoFit/>
          </a:bodyPr>
          <a:lstStyle/>
          <a:p>
            <a:pPr algn="ctr"/>
            <a:r>
              <a:rPr lang="en-US" sz="2400" b="1" cap="all" dirty="0">
                <a:solidFill>
                  <a:srgbClr val="C00000"/>
                </a:solidFill>
                <a:cs typeface="Poppins" panose="00000500000000000000" pitchFamily="2" charset="0"/>
                <a:sym typeface="BioRhyme ExtraBold"/>
              </a:rPr>
              <a:t>Course:  AI &amp; ML</a:t>
            </a:r>
          </a:p>
          <a:p>
            <a:pPr marR="0" lvl="0" indent="0" algn="ctr">
              <a:spcBef>
                <a:spcPts val="0"/>
              </a:spcBef>
              <a:spcAft>
                <a:spcPts val="0"/>
              </a:spcAft>
              <a:buNone/>
            </a:pPr>
            <a:r>
              <a:rPr lang="en-US" sz="2400" b="1" cap="all" dirty="0">
                <a:solidFill>
                  <a:srgbClr val="C00000"/>
                </a:solidFill>
                <a:cs typeface="Poppins"/>
                <a:sym typeface="BioRhyme ExtraBold"/>
              </a:rPr>
              <a:t>Course code: 24AD2001A</a:t>
            </a:r>
          </a:p>
          <a:p>
            <a:pPr marR="0" lvl="0" indent="0" algn="ctr">
              <a:spcBef>
                <a:spcPts val="0"/>
              </a:spcBef>
              <a:spcAft>
                <a:spcPts val="0"/>
              </a:spcAft>
              <a:buNone/>
            </a:pPr>
            <a:endParaRPr lang="en-US" sz="2000" b="1" dirty="0">
              <a:solidFill>
                <a:srgbClr val="C00000"/>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rgbClr val="C00000"/>
                </a:solidFill>
                <a:ea typeface="BioRhyme ExtraBold"/>
                <a:cs typeface="Poppins" panose="00000500000000000000" pitchFamily="2" charset="0"/>
                <a:sym typeface="BioRhyme ExtraBold"/>
              </a:rPr>
              <a:t>Topic: </a:t>
            </a:r>
          </a:p>
          <a:p>
            <a:r>
              <a:rPr lang="en-US" sz="2400" b="1" dirty="0"/>
              <a:t>Clustering: </a:t>
            </a:r>
            <a:r>
              <a:rPr lang="en-US" sz="2400" dirty="0"/>
              <a:t>hierarchical, DBSCAN, mean-shift.</a:t>
            </a:r>
            <a:endParaRPr lang="en-US" sz="2400" b="1" dirty="0"/>
          </a:p>
        </p:txBody>
      </p:sp>
      <p:sp>
        <p:nvSpPr>
          <p:cNvPr id="16" name="Google Shape;475;p16"/>
          <p:cNvSpPr txBox="1"/>
          <p:nvPr/>
        </p:nvSpPr>
        <p:spPr>
          <a:xfrm>
            <a:off x="6468032" y="221119"/>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a:rPr>
              <a:t>Department of CSE</a:t>
            </a:r>
          </a:p>
        </p:txBody>
      </p:sp>
      <p:sp>
        <p:nvSpPr>
          <p:cNvPr id="17" name="Google Shape;502;p17"/>
          <p:cNvSpPr/>
          <p:nvPr/>
        </p:nvSpPr>
        <p:spPr>
          <a:xfrm>
            <a:off x="7892797" y="4137052"/>
            <a:ext cx="232972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Session – 32</a:t>
            </a:r>
            <a:endParaRPr sz="2400" dirty="0">
              <a:solidFill>
                <a:schemeClr val="lt1"/>
              </a:solidFill>
              <a:ea typeface="Calibri" panose="020F0502020204030204"/>
              <a:cs typeface="Poppins" panose="00000500000000000000" pitchFamily="2" charset="0"/>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Hierarchical CLUSTERING</a:t>
            </a:r>
            <a:endParaRPr lang="en-US" b="1" dirty="0"/>
          </a:p>
        </p:txBody>
      </p:sp>
      <p:sp>
        <p:nvSpPr>
          <p:cNvPr id="3" name="Content Placeholder 2"/>
          <p:cNvSpPr>
            <a:spLocks noGrp="1"/>
          </p:cNvSpPr>
          <p:nvPr>
            <p:ph idx="1"/>
          </p:nvPr>
        </p:nvSpPr>
        <p:spPr>
          <a:xfrm>
            <a:off x="1451579" y="1773382"/>
            <a:ext cx="9603275" cy="4322618"/>
          </a:xfrm>
        </p:spPr>
        <p:txBody>
          <a:bodyPr>
            <a:normAutofit fontScale="77500" lnSpcReduction="20000"/>
          </a:bodyPr>
          <a:lstStyle/>
          <a:p>
            <a:pPr algn="just"/>
            <a:r>
              <a:rPr lang="en-US" dirty="0"/>
              <a:t>Hierarchical clustering is an unsupervised learning technique used to group similar data points into clusters by building a hierarchy (tree-like structure). Unlike flat clustering like </a:t>
            </a:r>
            <a:r>
              <a:rPr lang="en-US" dirty="0">
                <a:hlinkClick r:id="rId2"/>
              </a:rPr>
              <a:t>k-means</a:t>
            </a:r>
            <a:r>
              <a:rPr lang="en-US" dirty="0"/>
              <a:t> hierarchical clustering does not require specifying the number of clusters in advance. </a:t>
            </a:r>
          </a:p>
          <a:p>
            <a:pPr algn="just"/>
            <a:r>
              <a:rPr lang="en-US" dirty="0"/>
              <a:t>Imagine we have four fruits with different weights: an apple (100g), a banana (120g), a cherry (50g) and a grape (30g). Hierarchical clustering starts by treating each fruit as its own group. </a:t>
            </a:r>
          </a:p>
          <a:p>
            <a:pPr algn="just"/>
            <a:r>
              <a:rPr lang="en-US" dirty="0"/>
              <a:t>Start with each fruit as its own cluster.</a:t>
            </a:r>
          </a:p>
          <a:p>
            <a:pPr algn="just"/>
            <a:r>
              <a:rPr lang="en-US" dirty="0"/>
              <a:t>Merge the closest items: grape (30g) and cherry (50g) are grouped first.</a:t>
            </a:r>
          </a:p>
          <a:p>
            <a:pPr algn="just"/>
            <a:r>
              <a:rPr lang="en-US" dirty="0"/>
              <a:t>Next, apple (100g) and banana (120g) are grouped.</a:t>
            </a:r>
          </a:p>
          <a:p>
            <a:pPr algn="just"/>
            <a:r>
              <a:rPr lang="en-US" dirty="0"/>
              <a:t>Finally, these two clusters merge into one.</a:t>
            </a:r>
          </a:p>
          <a:p>
            <a:pPr algn="just"/>
            <a:r>
              <a:rPr lang="en-US" dirty="0"/>
              <a:t>Finally all the fruits are merged into one large group, showing how hierarchical clustering progressively combines the most similar data points.</a:t>
            </a:r>
          </a:p>
          <a:p>
            <a:endParaRPr lang="en-US" dirty="0"/>
          </a:p>
          <a:p>
            <a:pPr algn="just">
              <a:buNone/>
            </a:pP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CONTD..</a:t>
            </a:r>
            <a:br>
              <a:rPr lang="en-US" b="1" dirty="0"/>
            </a:br>
            <a:endParaRPr lang="en-US"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1440873" y="1870364"/>
            <a:ext cx="4862945" cy="4156363"/>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3</a:t>
            </a:fld>
            <a:endParaRPr lang="en-IN"/>
          </a:p>
        </p:txBody>
      </p:sp>
      <p:pic>
        <p:nvPicPr>
          <p:cNvPr id="1027" name="Picture 3"/>
          <p:cNvPicPr>
            <a:picLocks noChangeAspect="1" noChangeArrowheads="1"/>
          </p:cNvPicPr>
          <p:nvPr/>
        </p:nvPicPr>
        <p:blipFill>
          <a:blip r:embed="rId3" cstate="print"/>
          <a:srcRect/>
          <a:stretch>
            <a:fillRect/>
          </a:stretch>
        </p:blipFill>
        <p:spPr bwMode="auto">
          <a:xfrm>
            <a:off x="6525491" y="1814946"/>
            <a:ext cx="4904508" cy="4281054"/>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pic>
        <p:nvPicPr>
          <p:cNvPr id="2050" name="Picture 2"/>
          <p:cNvPicPr>
            <a:picLocks noGrp="1" noChangeAspect="1" noChangeArrowheads="1"/>
          </p:cNvPicPr>
          <p:nvPr>
            <p:ph idx="1"/>
          </p:nvPr>
        </p:nvPicPr>
        <p:blipFill>
          <a:blip r:embed="rId2" cstate="print"/>
          <a:srcRect/>
          <a:stretch>
            <a:fillRect/>
          </a:stretch>
        </p:blipFill>
        <p:spPr bwMode="auto">
          <a:xfrm>
            <a:off x="1205345" y="1828800"/>
            <a:ext cx="4946073" cy="4336473"/>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4</a:t>
            </a:fld>
            <a:endParaRPr lang="en-IN"/>
          </a:p>
        </p:txBody>
      </p:sp>
      <p:pic>
        <p:nvPicPr>
          <p:cNvPr id="2051" name="Picture 3"/>
          <p:cNvPicPr>
            <a:picLocks noChangeAspect="1" noChangeArrowheads="1"/>
          </p:cNvPicPr>
          <p:nvPr/>
        </p:nvPicPr>
        <p:blipFill>
          <a:blip r:embed="rId3" cstate="print"/>
          <a:srcRect/>
          <a:stretch>
            <a:fillRect/>
          </a:stretch>
        </p:blipFill>
        <p:spPr bwMode="auto">
          <a:xfrm>
            <a:off x="6262255" y="1787236"/>
            <a:ext cx="4876799" cy="4350327"/>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pic>
        <p:nvPicPr>
          <p:cNvPr id="3074" name="Picture 2"/>
          <p:cNvPicPr>
            <a:picLocks noGrp="1" noChangeAspect="1" noChangeArrowheads="1"/>
          </p:cNvPicPr>
          <p:nvPr>
            <p:ph idx="1"/>
          </p:nvPr>
        </p:nvPicPr>
        <p:blipFill>
          <a:blip r:embed="rId2" cstate="print"/>
          <a:stretch>
            <a:fillRect/>
          </a:stretch>
        </p:blipFill>
        <p:spPr bwMode="auto">
          <a:xfrm>
            <a:off x="3148012" y="2567781"/>
            <a:ext cx="5895975" cy="2867025"/>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Dendrogram</a:t>
            </a:r>
            <a:endParaRPr lang="en-US" b="1" dirty="0"/>
          </a:p>
        </p:txBody>
      </p:sp>
      <p:sp>
        <p:nvSpPr>
          <p:cNvPr id="3" name="Content Placeholder 2"/>
          <p:cNvSpPr>
            <a:spLocks noGrp="1"/>
          </p:cNvSpPr>
          <p:nvPr>
            <p:ph idx="1"/>
          </p:nvPr>
        </p:nvSpPr>
        <p:spPr>
          <a:xfrm>
            <a:off x="1451579" y="2015732"/>
            <a:ext cx="9603275" cy="1724995"/>
          </a:xfrm>
        </p:spPr>
        <p:txBody>
          <a:bodyPr>
            <a:normAutofit fontScale="92500" lnSpcReduction="10000"/>
          </a:bodyPr>
          <a:lstStyle/>
          <a:p>
            <a:pPr algn="just"/>
            <a:r>
              <a:rPr lang="en-US" dirty="0"/>
              <a:t>A </a:t>
            </a:r>
            <a:r>
              <a:rPr lang="en-US" dirty="0" err="1"/>
              <a:t>dendrogram</a:t>
            </a:r>
            <a:r>
              <a:rPr lang="en-US" dirty="0"/>
              <a:t> is like a family tree for clusters. It shows how individual data points or groups of data merge together. The bottom shows each data point as its own group and as we move up, similar groups are combined. The lower the merge point, the more similar the groups are. It helps us see how things are grouped step by step. </a:t>
            </a:r>
          </a:p>
        </p:txBody>
      </p:sp>
      <p:sp>
        <p:nvSpPr>
          <p:cNvPr id="4" name="Slide Number Placeholder 3"/>
          <p:cNvSpPr>
            <a:spLocks noGrp="1"/>
          </p:cNvSpPr>
          <p:nvPr>
            <p:ph type="sldNum" sz="quarter" idx="12"/>
          </p:nvPr>
        </p:nvSpPr>
        <p:spPr/>
        <p:txBody>
          <a:bodyPr/>
          <a:lstStyle/>
          <a:p>
            <a:fld id="{CBABCCC1-BF11-4F37-963E-1BCD5B23FD72}" type="slidenum">
              <a:rPr lang="en-IN" smtClean="0"/>
              <a:pPr/>
              <a:t>6</a:t>
            </a:fld>
            <a:endParaRPr lang="en-IN"/>
          </a:p>
        </p:txBody>
      </p:sp>
      <p:pic>
        <p:nvPicPr>
          <p:cNvPr id="4098" name="Picture 2"/>
          <p:cNvPicPr>
            <a:picLocks noChangeAspect="1" noChangeArrowheads="1"/>
          </p:cNvPicPr>
          <p:nvPr/>
        </p:nvPicPr>
        <p:blipFill>
          <a:blip r:embed="rId2" cstate="print"/>
          <a:srcRect/>
          <a:stretch>
            <a:fillRect/>
          </a:stretch>
        </p:blipFill>
        <p:spPr bwMode="auto">
          <a:xfrm>
            <a:off x="1980334" y="3560618"/>
            <a:ext cx="2495550" cy="2493818"/>
          </a:xfrm>
          <a:prstGeom prst="rect">
            <a:avLst/>
          </a:prstGeom>
          <a:noFill/>
          <a:ln w="9525">
            <a:noFill/>
            <a:miter lim="800000"/>
            <a:headEnd/>
            <a:tailEnd/>
          </a:ln>
        </p:spPr>
      </p:pic>
      <p:sp>
        <p:nvSpPr>
          <p:cNvPr id="6" name="Rectangle 5"/>
          <p:cNvSpPr/>
          <p:nvPr/>
        </p:nvSpPr>
        <p:spPr>
          <a:xfrm>
            <a:off x="4655127" y="3560618"/>
            <a:ext cx="6705599" cy="2308324"/>
          </a:xfrm>
          <a:prstGeom prst="rect">
            <a:avLst/>
          </a:prstGeom>
        </p:spPr>
        <p:txBody>
          <a:bodyPr wrap="square">
            <a:spAutoFit/>
          </a:bodyPr>
          <a:lstStyle/>
          <a:p>
            <a:pPr algn="just"/>
            <a:r>
              <a:rPr lang="en-US" dirty="0"/>
              <a:t>&gt;At the bottom of the </a:t>
            </a:r>
            <a:r>
              <a:rPr lang="en-US" dirty="0" err="1"/>
              <a:t>dendrogram</a:t>
            </a:r>
            <a:r>
              <a:rPr lang="en-US" dirty="0"/>
              <a:t> the points P, Q, R, S and T are all separate.</a:t>
            </a:r>
          </a:p>
          <a:p>
            <a:pPr algn="just"/>
            <a:r>
              <a:rPr lang="en-US" dirty="0"/>
              <a:t>&gt;As we move up, the closest points are merged into a single group.</a:t>
            </a:r>
          </a:p>
          <a:p>
            <a:pPr algn="just"/>
            <a:r>
              <a:rPr lang="en-US" dirty="0"/>
              <a:t>&gt;The lines connecting the points show how they are progressively merged based on similarity.</a:t>
            </a:r>
          </a:p>
          <a:p>
            <a:pPr algn="just"/>
            <a:r>
              <a:rPr lang="en-US" dirty="0"/>
              <a:t>&gt;The height at which they are connected shows how similar the points are to each other; the shorter the line the more similar they are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3143" y="735247"/>
            <a:ext cx="9603275" cy="1049235"/>
          </a:xfrm>
        </p:spPr>
        <p:txBody>
          <a:bodyPr/>
          <a:lstStyle/>
          <a:p>
            <a:r>
              <a:rPr lang="en-US" b="1" dirty="0"/>
              <a:t>Types of Hierarchical Clustering</a:t>
            </a:r>
          </a:p>
        </p:txBody>
      </p:sp>
      <p:sp>
        <p:nvSpPr>
          <p:cNvPr id="4" name="Slide Number Placeholder 3"/>
          <p:cNvSpPr>
            <a:spLocks noGrp="1"/>
          </p:cNvSpPr>
          <p:nvPr>
            <p:ph type="sldNum" sz="quarter" idx="12"/>
          </p:nvPr>
        </p:nvSpPr>
        <p:spPr/>
        <p:txBody>
          <a:bodyPr/>
          <a:lstStyle/>
          <a:p>
            <a:fld id="{CBABCCC1-BF11-4F37-963E-1BCD5B23FD72}" type="slidenum">
              <a:rPr lang="en-IN" smtClean="0"/>
              <a:pPr/>
              <a:t>7</a:t>
            </a:fld>
            <a:endParaRPr lang="en-IN"/>
          </a:p>
        </p:txBody>
      </p:sp>
      <p:sp>
        <p:nvSpPr>
          <p:cNvPr id="6" name="TextBox 5"/>
          <p:cNvSpPr txBox="1"/>
          <p:nvPr/>
        </p:nvSpPr>
        <p:spPr>
          <a:xfrm>
            <a:off x="1343891" y="1814945"/>
            <a:ext cx="10487891" cy="2585323"/>
          </a:xfrm>
          <a:prstGeom prst="rect">
            <a:avLst/>
          </a:prstGeom>
          <a:noFill/>
        </p:spPr>
        <p:txBody>
          <a:bodyPr wrap="square" rtlCol="0">
            <a:spAutoFit/>
          </a:bodyPr>
          <a:lstStyle/>
          <a:p>
            <a:pPr algn="just"/>
            <a:r>
              <a:rPr lang="en-US" dirty="0"/>
              <a:t>Now we understand the basics of hierarchical clustering. There are two main types of hierarchical clustering.</a:t>
            </a:r>
          </a:p>
          <a:p>
            <a:pPr algn="just"/>
            <a:r>
              <a:rPr lang="en-US" dirty="0"/>
              <a:t>Agglomerative Clustering</a:t>
            </a:r>
          </a:p>
          <a:p>
            <a:pPr algn="just"/>
            <a:r>
              <a:rPr lang="en-US" dirty="0"/>
              <a:t>Divisive clustering</a:t>
            </a:r>
          </a:p>
          <a:p>
            <a:pPr algn="just"/>
            <a:r>
              <a:rPr lang="en-US" b="1" dirty="0"/>
              <a:t>1. Hierarchical Agglomerative Clustering</a:t>
            </a:r>
          </a:p>
          <a:p>
            <a:pPr algn="just"/>
            <a:r>
              <a:rPr lang="en-US" dirty="0"/>
              <a:t>It is also known as the bottom-up approach or hierarchical </a:t>
            </a:r>
            <a:r>
              <a:rPr lang="en-US" dirty="0">
                <a:hlinkClick r:id="rId2"/>
              </a:rPr>
              <a:t>agglomerative clustering</a:t>
            </a:r>
            <a:r>
              <a:rPr lang="en-US" dirty="0"/>
              <a:t> (HAC). Bottom-up algorithms treat each data as a singleton cluster at the outset and then successively agglomerate pairs of clusters until all clusters have been merged into a single cluster that contains all data. </a:t>
            </a:r>
          </a:p>
          <a:p>
            <a:pPr marL="342900" indent="-342900"/>
            <a:endParaRPr lang="en-US" dirty="0"/>
          </a:p>
          <a:p>
            <a:endParaRPr lang="en-US" dirty="0"/>
          </a:p>
        </p:txBody>
      </p:sp>
      <p:pic>
        <p:nvPicPr>
          <p:cNvPr id="5122" name="Picture 2"/>
          <p:cNvPicPr>
            <a:picLocks noChangeAspect="1" noChangeArrowheads="1"/>
          </p:cNvPicPr>
          <p:nvPr/>
        </p:nvPicPr>
        <p:blipFill>
          <a:blip r:embed="rId3" cstate="print"/>
          <a:srcRect/>
          <a:stretch>
            <a:fillRect/>
          </a:stretch>
        </p:blipFill>
        <p:spPr bwMode="auto">
          <a:xfrm>
            <a:off x="1246909" y="3782291"/>
            <a:ext cx="10335491" cy="2486891"/>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Workflow for Hierarchical Agglomerative clustering </a:t>
            </a:r>
          </a:p>
        </p:txBody>
      </p:sp>
      <p:sp>
        <p:nvSpPr>
          <p:cNvPr id="5" name="Content Placeholder 4"/>
          <p:cNvSpPr>
            <a:spLocks noGrp="1"/>
          </p:cNvSpPr>
          <p:nvPr>
            <p:ph idx="1"/>
          </p:nvPr>
        </p:nvSpPr>
        <p:spPr>
          <a:xfrm>
            <a:off x="1011383" y="1814945"/>
            <a:ext cx="10377054" cy="4322619"/>
          </a:xfrm>
        </p:spPr>
        <p:txBody>
          <a:bodyPr>
            <a:normAutofit fontScale="85000" lnSpcReduction="20000"/>
          </a:bodyPr>
          <a:lstStyle/>
          <a:p>
            <a:pPr algn="just"/>
            <a:r>
              <a:rPr lang="en-US" b="1" dirty="0"/>
              <a:t>Start with individual points:</a:t>
            </a:r>
            <a:r>
              <a:rPr lang="en-US" dirty="0"/>
              <a:t> Each data point is its own cluster. For example if we have 5 data points we start with 5 clusters each containing just one data point.</a:t>
            </a:r>
          </a:p>
          <a:p>
            <a:pPr algn="just"/>
            <a:r>
              <a:rPr lang="en-US" b="1" dirty="0"/>
              <a:t>Calculate distances between clusters</a:t>
            </a:r>
            <a:r>
              <a:rPr lang="en-US" dirty="0"/>
              <a:t>: Calculate the distance between every pair of clusters. Initially since each cluster has one point this is the distance between the two data points.</a:t>
            </a:r>
          </a:p>
          <a:p>
            <a:pPr algn="just"/>
            <a:r>
              <a:rPr lang="en-US" b="1" dirty="0"/>
              <a:t>Merge the closest clusters</a:t>
            </a:r>
            <a:r>
              <a:rPr lang="en-US" dirty="0"/>
              <a:t>: Identify the two clusters with the smallest distance and merge them into a single cluster.</a:t>
            </a:r>
          </a:p>
          <a:p>
            <a:pPr algn="just"/>
            <a:r>
              <a:rPr lang="en-US" b="1" dirty="0"/>
              <a:t>Update distance matrix</a:t>
            </a:r>
            <a:r>
              <a:rPr lang="en-US" dirty="0"/>
              <a:t>: After merging we now have one less cluster. Recalculate the distances between the new cluster and the remaining clusters.</a:t>
            </a:r>
          </a:p>
          <a:p>
            <a:pPr algn="just"/>
            <a:r>
              <a:rPr lang="en-US" b="1" dirty="0"/>
              <a:t>Repeat steps 3 and 4</a:t>
            </a:r>
            <a:r>
              <a:rPr lang="en-US" dirty="0"/>
              <a:t>: Keep merging the closest clusters and updating the distance matrix until we have only one cluster left.</a:t>
            </a:r>
          </a:p>
          <a:p>
            <a:pPr algn="just"/>
            <a:r>
              <a:rPr lang="en-US" b="1" dirty="0"/>
              <a:t>Create a </a:t>
            </a:r>
            <a:r>
              <a:rPr lang="en-US" b="1" dirty="0" err="1"/>
              <a:t>dendrogram</a:t>
            </a:r>
            <a:r>
              <a:rPr lang="en-US" dirty="0"/>
              <a:t>: As the process continues we can visualize the merging of clusters using a tree-like diagram called a </a:t>
            </a:r>
            <a:r>
              <a:rPr lang="en-US" dirty="0" err="1"/>
              <a:t>dendrogram</a:t>
            </a:r>
            <a:r>
              <a:rPr lang="en-US" dirty="0"/>
              <a:t>. It shows the hierarchy of how clusters are merged.</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Implementation</a:t>
            </a:r>
          </a:p>
        </p:txBody>
      </p:sp>
      <p:sp>
        <p:nvSpPr>
          <p:cNvPr id="3" name="Content Placeholder 2"/>
          <p:cNvSpPr>
            <a:spLocks noGrp="1"/>
          </p:cNvSpPr>
          <p:nvPr>
            <p:ph idx="1"/>
          </p:nvPr>
        </p:nvSpPr>
        <p:spPr>
          <a:xfrm>
            <a:off x="1451579" y="1759528"/>
            <a:ext cx="9603275" cy="4364182"/>
          </a:xfrm>
        </p:spPr>
        <p:txBody>
          <a:bodyPr>
            <a:normAutofit/>
          </a:bodyPr>
          <a:lstStyle/>
          <a:p>
            <a:pPr>
              <a:buNone/>
            </a:pPr>
            <a:r>
              <a:rPr lang="en-US" dirty="0"/>
              <a:t>Let's see the implementation of Agglomerative Clustering,</a:t>
            </a:r>
          </a:p>
          <a:p>
            <a:r>
              <a:rPr lang="en-US" dirty="0"/>
              <a:t>Start with each data point as its own cluster.</a:t>
            </a:r>
          </a:p>
          <a:p>
            <a:r>
              <a:rPr lang="en-US" dirty="0"/>
              <a:t>Compute distances between all clusters.</a:t>
            </a:r>
          </a:p>
          <a:p>
            <a:r>
              <a:rPr lang="en-US" dirty="0"/>
              <a:t>Merge the two closest clusters based on a linkage method.</a:t>
            </a:r>
          </a:p>
          <a:p>
            <a:r>
              <a:rPr lang="en-US" dirty="0"/>
              <a:t>Update the distances to reflect the new cluster.</a:t>
            </a:r>
          </a:p>
          <a:p>
            <a:r>
              <a:rPr lang="en-US" dirty="0"/>
              <a:t>Repeat merging until the desired number of clusters or one cluster remains.</a:t>
            </a:r>
          </a:p>
          <a:p>
            <a:r>
              <a:rPr lang="en-US" dirty="0"/>
              <a:t>The </a:t>
            </a:r>
            <a:r>
              <a:rPr lang="en-US" dirty="0" err="1"/>
              <a:t>dendrogram</a:t>
            </a:r>
            <a:r>
              <a:rPr lang="en-US" dirty="0"/>
              <a:t> visualizes these merges as a tree, showing cluster relationships and distances.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9</a:t>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Computing Distance Matrix</a:t>
            </a:r>
            <a:br>
              <a:rPr lang="en-US" b="1" dirty="0"/>
            </a:br>
            <a:endParaRPr lang="en-US" dirty="0"/>
          </a:p>
        </p:txBody>
      </p:sp>
      <p:sp>
        <p:nvSpPr>
          <p:cNvPr id="3" name="Content Placeholder 2"/>
          <p:cNvSpPr>
            <a:spLocks noGrp="1"/>
          </p:cNvSpPr>
          <p:nvPr>
            <p:ph idx="1"/>
          </p:nvPr>
        </p:nvSpPr>
        <p:spPr>
          <a:xfrm>
            <a:off x="1451579" y="1773382"/>
            <a:ext cx="9603275" cy="4364182"/>
          </a:xfrm>
        </p:spPr>
        <p:txBody>
          <a:bodyPr>
            <a:normAutofit fontScale="92500" lnSpcReduction="20000"/>
          </a:bodyPr>
          <a:lstStyle/>
          <a:p>
            <a:pPr algn="just"/>
            <a:r>
              <a:rPr lang="en-US" dirty="0"/>
              <a:t>While merging two clusters we check the distance between two every pair of clusters and merge the pair with the least distance/most similarity. But the question is how is that distance determined. There are different ways of defining Inter Cluster distance/similarity. Some of them are:</a:t>
            </a:r>
          </a:p>
          <a:p>
            <a:pPr algn="just"/>
            <a:r>
              <a:rPr lang="en-US" b="1" dirty="0"/>
              <a:t>Min Distance</a:t>
            </a:r>
            <a:r>
              <a:rPr lang="en-US" dirty="0"/>
              <a:t>: Find the minimum distance between any two points of the cluster.</a:t>
            </a:r>
          </a:p>
          <a:p>
            <a:pPr algn="just"/>
            <a:r>
              <a:rPr lang="en-US" b="1" dirty="0"/>
              <a:t>Max Distance:</a:t>
            </a:r>
            <a:r>
              <a:rPr lang="en-US" dirty="0"/>
              <a:t> Find the maximum distance between any two points of the cluster.</a:t>
            </a:r>
          </a:p>
          <a:p>
            <a:pPr algn="just"/>
            <a:r>
              <a:rPr lang="en-US" b="1" dirty="0"/>
              <a:t>Group Average</a:t>
            </a:r>
            <a:r>
              <a:rPr lang="en-US" dirty="0"/>
              <a:t>: Find the average distance between every two points of the clusters.</a:t>
            </a:r>
          </a:p>
          <a:p>
            <a:pPr algn="just"/>
            <a:r>
              <a:rPr lang="en-US" b="1" dirty="0"/>
              <a:t>Ward's Method</a:t>
            </a:r>
            <a:r>
              <a:rPr lang="en-US" dirty="0"/>
              <a:t>: The similarity of two clusters is based on the increase in squared error when two clusters are merged.</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10</a:t>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 Also can be called with linkage criteria</a:t>
            </a:r>
          </a:p>
        </p:txBody>
      </p:sp>
      <p:sp>
        <p:nvSpPr>
          <p:cNvPr id="5" name="Content Placeholder 4"/>
          <p:cNvSpPr>
            <a:spLocks noGrp="1"/>
          </p:cNvSpPr>
          <p:nvPr>
            <p:ph idx="1"/>
          </p:nvPr>
        </p:nvSpPr>
        <p:spPr>
          <a:xfrm>
            <a:off x="1451579" y="1828800"/>
            <a:ext cx="9603275" cy="4364182"/>
          </a:xfrm>
        </p:spPr>
        <p:txBody>
          <a:bodyPr>
            <a:normAutofit fontScale="77500" lnSpcReduction="20000"/>
          </a:bodyPr>
          <a:lstStyle/>
          <a:p>
            <a:pPr algn="just"/>
            <a:r>
              <a:rPr lang="en-US" dirty="0"/>
              <a:t>The </a:t>
            </a:r>
            <a:r>
              <a:rPr lang="en-US" dirty="0" err="1">
                <a:hlinkClick r:id="rId2" tooltip="sklearn.cluster.AgglomerativeClustering"/>
              </a:rPr>
              <a:t>AgglomerativeClustering</a:t>
            </a:r>
            <a:r>
              <a:rPr lang="en-US" dirty="0"/>
              <a:t> object performs a hierarchical clustering using a bottom up approach: each observation starts in its own cluster, and clusters are successively merged together. Linkage criteria determine how distances between clusters are calculated during the merging </a:t>
            </a:r>
            <a:r>
              <a:rPr lang="en-US" dirty="0" err="1"/>
              <a:t>process.The</a:t>
            </a:r>
            <a:r>
              <a:rPr lang="en-US" dirty="0"/>
              <a:t> linkage criteria determines the metric used for the merge strategy:</a:t>
            </a:r>
          </a:p>
          <a:p>
            <a:pPr algn="just"/>
            <a:r>
              <a:rPr lang="en-US" b="1" dirty="0"/>
              <a:t>Ward</a:t>
            </a:r>
            <a:r>
              <a:rPr lang="en-US" dirty="0"/>
              <a:t> minimizes the sum of squared differences within all clusters. It is a variance-minimizing approach and in this sense is similar to the k-means objective function but tackled with an agglomerative hierarchical approach.</a:t>
            </a:r>
          </a:p>
          <a:p>
            <a:pPr algn="just"/>
            <a:r>
              <a:rPr lang="en-US" b="1" dirty="0"/>
              <a:t>Maximum</a:t>
            </a:r>
            <a:r>
              <a:rPr lang="en-US" dirty="0"/>
              <a:t> or </a:t>
            </a:r>
            <a:r>
              <a:rPr lang="en-US" b="1" dirty="0"/>
              <a:t>complete linkage</a:t>
            </a:r>
            <a:r>
              <a:rPr lang="en-US" dirty="0"/>
              <a:t> minimizes the maximum distance between observations of pairs of clusters.</a:t>
            </a:r>
          </a:p>
          <a:p>
            <a:pPr algn="just"/>
            <a:r>
              <a:rPr lang="en-US" b="1" dirty="0"/>
              <a:t>Average linkage</a:t>
            </a:r>
            <a:r>
              <a:rPr lang="en-US" dirty="0"/>
              <a:t> minimizes the average of the distances between all observations of pairs of clusters.</a:t>
            </a:r>
          </a:p>
          <a:p>
            <a:pPr algn="just"/>
            <a:r>
              <a:rPr lang="en-US" b="1" dirty="0"/>
              <a:t>Single linkage</a:t>
            </a:r>
            <a:r>
              <a:rPr lang="en-US" dirty="0"/>
              <a:t> minimizes the distance between the closest observations of pairs of clusters.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11</a:t>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pic>
        <p:nvPicPr>
          <p:cNvPr id="6146" name="Picture 2"/>
          <p:cNvPicPr>
            <a:picLocks noGrp="1" noChangeAspect="1" noChangeArrowheads="1"/>
          </p:cNvPicPr>
          <p:nvPr>
            <p:ph idx="1"/>
          </p:nvPr>
        </p:nvPicPr>
        <p:blipFill>
          <a:blip r:embed="rId2" cstate="print"/>
          <a:stretch>
            <a:fillRect/>
          </a:stretch>
        </p:blipFill>
        <p:spPr bwMode="auto">
          <a:xfrm>
            <a:off x="2928937" y="1962944"/>
            <a:ext cx="6334125" cy="40767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12</a:t>
            </a:fld>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Hierarchical Divisive clustering</a:t>
            </a:r>
          </a:p>
        </p:txBody>
      </p:sp>
      <p:sp>
        <p:nvSpPr>
          <p:cNvPr id="5" name="Content Placeholder 4"/>
          <p:cNvSpPr>
            <a:spLocks noGrp="1"/>
          </p:cNvSpPr>
          <p:nvPr>
            <p:ph idx="1"/>
          </p:nvPr>
        </p:nvSpPr>
        <p:spPr>
          <a:xfrm>
            <a:off x="1451579" y="1842656"/>
            <a:ext cx="9603275" cy="4322618"/>
          </a:xfrm>
        </p:spPr>
        <p:txBody>
          <a:bodyPr>
            <a:normAutofit fontScale="70000" lnSpcReduction="20000"/>
          </a:bodyPr>
          <a:lstStyle/>
          <a:p>
            <a:pPr algn="just"/>
            <a:r>
              <a:rPr lang="en-US" dirty="0">
                <a:hlinkClick r:id="rId2"/>
              </a:rPr>
              <a:t>Divisive clustering </a:t>
            </a:r>
            <a:r>
              <a:rPr lang="en-US" dirty="0"/>
              <a:t>is also known as a top-down approach. Top-down clustering requires a method for splitting a cluster that contains the whole data and proceeds by splitting clusters recursively until individual data have been split into singleton clusters.</a:t>
            </a:r>
          </a:p>
          <a:p>
            <a:pPr algn="just"/>
            <a:r>
              <a:rPr lang="en-US" b="1" dirty="0"/>
              <a:t>Workflow for Hierarchical Divisive clustering : </a:t>
            </a:r>
          </a:p>
          <a:p>
            <a:pPr algn="just"/>
            <a:r>
              <a:rPr lang="en-US" b="1" dirty="0"/>
              <a:t>Start with all data points in one cluster:</a:t>
            </a:r>
            <a:r>
              <a:rPr lang="en-US" dirty="0"/>
              <a:t> Treat the entire dataset as a single large cluster.</a:t>
            </a:r>
          </a:p>
          <a:p>
            <a:pPr algn="just"/>
            <a:r>
              <a:rPr lang="en-US" b="1" dirty="0"/>
              <a:t>Split the cluster</a:t>
            </a:r>
            <a:r>
              <a:rPr lang="en-US" dirty="0"/>
              <a:t>: Divide the cluster into two smaller clusters. The division is typically done by finding the two most dissimilar points in the cluster and using them to separate the data into two parts.</a:t>
            </a:r>
          </a:p>
          <a:p>
            <a:pPr algn="just"/>
            <a:r>
              <a:rPr lang="en-US" b="1" dirty="0"/>
              <a:t>Repeat the process</a:t>
            </a:r>
            <a:r>
              <a:rPr lang="en-US" dirty="0"/>
              <a:t>: For each of the new clusters, repeat the splitting process: Choose the cluster with the most dissimilar points and split it again into two smaller clusters.</a:t>
            </a:r>
          </a:p>
          <a:p>
            <a:pPr algn="just"/>
            <a:r>
              <a:rPr lang="en-US" b="1" dirty="0"/>
              <a:t>Stop when each data point is in its own cluster</a:t>
            </a:r>
            <a:r>
              <a:rPr lang="en-US" dirty="0"/>
              <a:t>: Continue this process until every data point is its own cluster or the stopping condition (such as a predefined number of clusters) is met.</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13</a:t>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pic>
        <p:nvPicPr>
          <p:cNvPr id="7170" name="Picture 2"/>
          <p:cNvPicPr>
            <a:picLocks noGrp="1" noChangeAspect="1" noChangeArrowheads="1"/>
          </p:cNvPicPr>
          <p:nvPr>
            <p:ph idx="1"/>
          </p:nvPr>
        </p:nvPicPr>
        <p:blipFill>
          <a:blip r:embed="rId2" cstate="print"/>
          <a:stretch>
            <a:fillRect/>
          </a:stretch>
        </p:blipFill>
        <p:spPr bwMode="auto">
          <a:xfrm>
            <a:off x="3371850" y="2262981"/>
            <a:ext cx="5448300" cy="3476625"/>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Implementation</a:t>
            </a:r>
          </a:p>
        </p:txBody>
      </p:sp>
      <p:sp>
        <p:nvSpPr>
          <p:cNvPr id="3" name="Content Placeholder 2"/>
          <p:cNvSpPr>
            <a:spLocks noGrp="1"/>
          </p:cNvSpPr>
          <p:nvPr>
            <p:ph idx="1"/>
          </p:nvPr>
        </p:nvSpPr>
        <p:spPr>
          <a:xfrm>
            <a:off x="1451579" y="1842655"/>
            <a:ext cx="9923003" cy="4239490"/>
          </a:xfrm>
        </p:spPr>
        <p:txBody>
          <a:bodyPr>
            <a:normAutofit/>
          </a:bodyPr>
          <a:lstStyle/>
          <a:p>
            <a:pPr>
              <a:buNone/>
            </a:pPr>
            <a:r>
              <a:rPr lang="en-US" sz="2400" dirty="0"/>
              <a:t>Let's see the implementation of Divisive Clustering,</a:t>
            </a:r>
          </a:p>
          <a:p>
            <a:r>
              <a:rPr lang="en-US" sz="2400" dirty="0"/>
              <a:t>Starts with all data points as one big cluster.</a:t>
            </a:r>
          </a:p>
          <a:p>
            <a:r>
              <a:rPr lang="en-US" sz="2400" dirty="0"/>
              <a:t>Finds the largest cluster and splits it into two using </a:t>
            </a:r>
            <a:r>
              <a:rPr lang="en-US" sz="2400" dirty="0" err="1"/>
              <a:t>KMeans</a:t>
            </a:r>
            <a:r>
              <a:rPr lang="en-US" sz="2400" dirty="0"/>
              <a:t>.</a:t>
            </a:r>
          </a:p>
          <a:p>
            <a:r>
              <a:rPr lang="en-US" sz="2400" dirty="0"/>
              <a:t>Repeats splitting the largest cluster until reaching the desired number of clusters.</a:t>
            </a:r>
          </a:p>
          <a:p>
            <a:r>
              <a:rPr lang="en-US" sz="2400" dirty="0"/>
              <a:t>Assigns cluster labels to each data point based on the splits.</a:t>
            </a:r>
          </a:p>
          <a:p>
            <a:r>
              <a:rPr lang="en-US" sz="2400" dirty="0"/>
              <a:t>Returns history of clusters at each step and final labels.</a:t>
            </a:r>
          </a:p>
          <a:p>
            <a:r>
              <a:rPr lang="en-US" sz="2400" dirty="0"/>
              <a:t>Visualizes data points colored by their final cluster.</a:t>
            </a:r>
          </a:p>
          <a:p>
            <a:pPr algn="just"/>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15</a:t>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with solution: AGGLOMERATIVE HIERARCHICAL clustering</a:t>
            </a:r>
          </a:p>
        </p:txBody>
      </p:sp>
      <p:sp>
        <p:nvSpPr>
          <p:cNvPr id="3" name="Content Placeholder 2"/>
          <p:cNvSpPr>
            <a:spLocks noGrp="1"/>
          </p:cNvSpPr>
          <p:nvPr>
            <p:ph idx="1"/>
          </p:nvPr>
        </p:nvSpPr>
        <p:spPr>
          <a:xfrm>
            <a:off x="1451579" y="2015732"/>
            <a:ext cx="9603275" cy="713613"/>
          </a:xfrm>
        </p:spPr>
        <p:txBody>
          <a:bodyPr/>
          <a:lstStyle/>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16</a:t>
            </a:fld>
            <a:endParaRPr lang="en-IN"/>
          </a:p>
        </p:txBody>
      </p:sp>
      <p:pic>
        <p:nvPicPr>
          <p:cNvPr id="18434" name="Picture 2"/>
          <p:cNvPicPr>
            <a:picLocks noChangeAspect="1" noChangeArrowheads="1"/>
          </p:cNvPicPr>
          <p:nvPr/>
        </p:nvPicPr>
        <p:blipFill>
          <a:blip r:embed="rId2" cstate="print"/>
          <a:srcRect/>
          <a:stretch>
            <a:fillRect/>
          </a:stretch>
        </p:blipFill>
        <p:spPr bwMode="auto">
          <a:xfrm>
            <a:off x="1427018" y="1856508"/>
            <a:ext cx="9684327" cy="4239491"/>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8325"/>
          </a:xfrm>
        </p:spPr>
        <p:txBody>
          <a:bodyPr>
            <a:normAutofit fontScale="90000"/>
          </a:bodyPr>
          <a:lstStyle/>
          <a:p>
            <a:r>
              <a:rPr lang="en-US" dirty="0"/>
              <a:t>CONTD..</a:t>
            </a:r>
          </a:p>
        </p:txBody>
      </p:sp>
      <p:pic>
        <p:nvPicPr>
          <p:cNvPr id="19458" name="Picture 2"/>
          <p:cNvPicPr>
            <a:picLocks noGrp="1" noChangeAspect="1" noChangeArrowheads="1"/>
          </p:cNvPicPr>
          <p:nvPr>
            <p:ph idx="1"/>
          </p:nvPr>
        </p:nvPicPr>
        <p:blipFill>
          <a:blip r:embed="rId2" cstate="print"/>
          <a:srcRect/>
          <a:stretch>
            <a:fillRect/>
          </a:stretch>
        </p:blipFill>
        <p:spPr bwMode="auto">
          <a:xfrm>
            <a:off x="1427018" y="933450"/>
            <a:ext cx="9642764" cy="54229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17</a:t>
            </a:fld>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pic>
        <p:nvPicPr>
          <p:cNvPr id="20482" name="Picture 2"/>
          <p:cNvPicPr>
            <a:picLocks noGrp="1" noChangeAspect="1" noChangeArrowheads="1"/>
          </p:cNvPicPr>
          <p:nvPr>
            <p:ph idx="1"/>
          </p:nvPr>
        </p:nvPicPr>
        <p:blipFill>
          <a:blip r:embed="rId2" cstate="print"/>
          <a:stretch>
            <a:fillRect/>
          </a:stretch>
        </p:blipFill>
        <p:spPr bwMode="auto">
          <a:xfrm>
            <a:off x="2076451" y="790575"/>
            <a:ext cx="8753474" cy="5386388"/>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18</a:t>
            </a:fld>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1506" name="Picture 2"/>
          <p:cNvPicPr>
            <a:picLocks noGrp="1" noChangeAspect="1" noChangeArrowheads="1"/>
          </p:cNvPicPr>
          <p:nvPr>
            <p:ph idx="1"/>
          </p:nvPr>
        </p:nvPicPr>
        <p:blipFill>
          <a:blip r:embed="rId2" cstate="print"/>
          <a:srcRect/>
          <a:stretch>
            <a:fillRect/>
          </a:stretch>
        </p:blipFill>
        <p:spPr bwMode="auto">
          <a:xfrm>
            <a:off x="1468583" y="0"/>
            <a:ext cx="5624944" cy="1571625"/>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19</a:t>
            </a:fld>
            <a:endParaRPr lang="en-IN"/>
          </a:p>
        </p:txBody>
      </p:sp>
      <p:pic>
        <p:nvPicPr>
          <p:cNvPr id="21507" name="Picture 3"/>
          <p:cNvPicPr>
            <a:picLocks noChangeAspect="1" noChangeArrowheads="1"/>
          </p:cNvPicPr>
          <p:nvPr/>
        </p:nvPicPr>
        <p:blipFill>
          <a:blip r:embed="rId3" cstate="print"/>
          <a:srcRect/>
          <a:stretch>
            <a:fillRect/>
          </a:stretch>
        </p:blipFill>
        <p:spPr bwMode="auto">
          <a:xfrm>
            <a:off x="1330036" y="1625311"/>
            <a:ext cx="9518073" cy="474345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20</a:t>
            </a:fld>
            <a:endParaRPr lang="en-IN"/>
          </a:p>
        </p:txBody>
      </p:sp>
      <p:pic>
        <p:nvPicPr>
          <p:cNvPr id="22530" name="Picture 2"/>
          <p:cNvPicPr>
            <a:picLocks noChangeAspect="1" noChangeArrowheads="1"/>
          </p:cNvPicPr>
          <p:nvPr/>
        </p:nvPicPr>
        <p:blipFill>
          <a:blip r:embed="rId2" cstate="print"/>
          <a:srcRect/>
          <a:stretch>
            <a:fillRect/>
          </a:stretch>
        </p:blipFill>
        <p:spPr bwMode="auto">
          <a:xfrm>
            <a:off x="1427018" y="568036"/>
            <a:ext cx="9850582" cy="5500255"/>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1600" dirty="0"/>
              <a:t>Steps:</a:t>
            </a:r>
            <a:br>
              <a:rPr lang="en-US" sz="1600" dirty="0"/>
            </a:br>
            <a:r>
              <a:rPr lang="en-US" sz="1600" dirty="0"/>
              <a:t>- Using graph terminology, start with all points as singleton clusters.</a:t>
            </a:r>
            <a:br>
              <a:rPr lang="en-US" sz="1600" dirty="0"/>
            </a:br>
            <a:r>
              <a:rPr lang="en-US" sz="1600" dirty="0"/>
              <a:t>- Add links between points one at a time (shortest links first).</a:t>
            </a:r>
          </a:p>
        </p:txBody>
      </p:sp>
      <p:pic>
        <p:nvPicPr>
          <p:cNvPr id="23554" name="Picture 2"/>
          <p:cNvPicPr>
            <a:picLocks noGrp="1" noChangeAspect="1" noChangeArrowheads="1"/>
          </p:cNvPicPr>
          <p:nvPr>
            <p:ph idx="1"/>
          </p:nvPr>
        </p:nvPicPr>
        <p:blipFill>
          <a:blip r:embed="rId2" cstate="print"/>
          <a:srcRect/>
          <a:stretch>
            <a:fillRect/>
          </a:stretch>
        </p:blipFill>
        <p:spPr bwMode="auto">
          <a:xfrm>
            <a:off x="1371600" y="1828800"/>
            <a:ext cx="9753600" cy="4322618"/>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21</a:t>
            </a:fld>
            <a:endParaRPr lang="en-I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pic>
        <p:nvPicPr>
          <p:cNvPr id="24579" name="Picture 3"/>
          <p:cNvPicPr>
            <a:picLocks noGrp="1" noChangeAspect="1" noChangeArrowheads="1"/>
          </p:cNvPicPr>
          <p:nvPr>
            <p:ph idx="1"/>
          </p:nvPr>
        </p:nvPicPr>
        <p:blipFill>
          <a:blip r:embed="rId2" cstate="print"/>
          <a:srcRect/>
          <a:stretch>
            <a:fillRect/>
          </a:stretch>
        </p:blipFill>
        <p:spPr bwMode="auto">
          <a:xfrm>
            <a:off x="1385456" y="665018"/>
            <a:ext cx="9836726" cy="54864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22</a:t>
            </a:fld>
            <a:endParaRPr lang="en-I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5602" name="Picture 2"/>
          <p:cNvPicPr>
            <a:picLocks noGrp="1" noChangeAspect="1" noChangeArrowheads="1"/>
          </p:cNvPicPr>
          <p:nvPr>
            <p:ph idx="1"/>
          </p:nvPr>
        </p:nvPicPr>
        <p:blipFill>
          <a:blip r:embed="rId2" cstate="print"/>
          <a:srcRect/>
          <a:stretch>
            <a:fillRect/>
          </a:stretch>
        </p:blipFill>
        <p:spPr bwMode="auto">
          <a:xfrm>
            <a:off x="1413164" y="803564"/>
            <a:ext cx="9864436" cy="5347853"/>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23</a:t>
            </a:fld>
            <a:endParaRPr lang="en-I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DBSCAN Clustering</a:t>
            </a:r>
          </a:p>
        </p:txBody>
      </p:sp>
      <p:sp>
        <p:nvSpPr>
          <p:cNvPr id="3" name="Content Placeholder 2"/>
          <p:cNvSpPr>
            <a:spLocks noGrp="1"/>
          </p:cNvSpPr>
          <p:nvPr>
            <p:ph idx="1"/>
          </p:nvPr>
        </p:nvSpPr>
        <p:spPr>
          <a:xfrm>
            <a:off x="1451579" y="1814946"/>
            <a:ext cx="9603275" cy="4308764"/>
          </a:xfrm>
        </p:spPr>
        <p:txBody>
          <a:bodyPr>
            <a:normAutofit/>
          </a:bodyPr>
          <a:lstStyle/>
          <a:p>
            <a:pPr algn="just"/>
            <a:r>
              <a:rPr lang="en-US" sz="1800" dirty="0"/>
              <a:t>DBSCAN is a density-based clustering algorithm that groups data points that are closely packed together and marks outliers as noise based on their density in the feature space. It identifies clusters as dense regions in the data space separated by areas of lower density. Unlike K-Means or hierarchical clustering which assumes clusters are compact and spherical, DBSCAN perform well in handling real-world data irregularities such as:</a:t>
            </a:r>
          </a:p>
          <a:p>
            <a:pPr algn="just"/>
            <a:r>
              <a:rPr lang="en-US" sz="1800" b="1" dirty="0"/>
              <a:t>Arbitrary-Shaped Clusters</a:t>
            </a:r>
            <a:r>
              <a:rPr lang="en-US" sz="1800" dirty="0"/>
              <a:t>: Clusters can take any shape not just circular or convex.</a:t>
            </a:r>
          </a:p>
          <a:p>
            <a:pPr algn="just"/>
            <a:r>
              <a:rPr lang="en-US" sz="1800" b="1" dirty="0"/>
              <a:t>Noise and Outliers</a:t>
            </a:r>
            <a:r>
              <a:rPr lang="en-US" sz="1800" dirty="0"/>
              <a:t>: It effectively identifies and handles noise points without assigning them to any cluster.</a:t>
            </a:r>
          </a:p>
          <a:p>
            <a:pPr algn="just">
              <a:buNone/>
            </a:pPr>
            <a:r>
              <a:rPr lang="en-US" dirty="0"/>
              <a:t>The figure below shows a data set with clustering algorithms: K-Means and Hierarchical handling compact, spherical clusters with varying noise tolerance while DBSCAN manages arbitrary-shaped clusters and noise handling.</a:t>
            </a:r>
          </a:p>
        </p:txBody>
      </p:sp>
      <p:sp>
        <p:nvSpPr>
          <p:cNvPr id="4" name="Slide Number Placeholder 3"/>
          <p:cNvSpPr>
            <a:spLocks noGrp="1"/>
          </p:cNvSpPr>
          <p:nvPr>
            <p:ph type="sldNum" sz="quarter" idx="12"/>
          </p:nvPr>
        </p:nvSpPr>
        <p:spPr/>
        <p:txBody>
          <a:bodyPr/>
          <a:lstStyle/>
          <a:p>
            <a:fld id="{CBABCCC1-BF11-4F37-963E-1BCD5B23FD72}" type="slidenum">
              <a:rPr lang="en-IN" smtClean="0"/>
              <a:pPr/>
              <a:t>24</a:t>
            </a:fld>
            <a:endParaRPr lang="en-I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pic>
        <p:nvPicPr>
          <p:cNvPr id="8194" name="Picture 2"/>
          <p:cNvPicPr>
            <a:picLocks noGrp="1" noChangeAspect="1" noChangeArrowheads="1"/>
          </p:cNvPicPr>
          <p:nvPr>
            <p:ph idx="1"/>
          </p:nvPr>
        </p:nvPicPr>
        <p:blipFill>
          <a:blip r:embed="rId2" cstate="print"/>
          <a:stretch>
            <a:fillRect/>
          </a:stretch>
        </p:blipFill>
        <p:spPr bwMode="auto">
          <a:xfrm>
            <a:off x="3348037" y="2558256"/>
            <a:ext cx="5495925" cy="2886075"/>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25</a:t>
            </a:fld>
            <a:endParaRPr lang="en-I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DBSCAN</a:t>
            </a:r>
            <a:br>
              <a:rPr lang="en-US" b="1" dirty="0"/>
            </a:br>
            <a:endParaRPr lang="en-US" dirty="0"/>
          </a:p>
        </p:txBody>
      </p:sp>
      <p:sp>
        <p:nvSpPr>
          <p:cNvPr id="3" name="Content Placeholder 2"/>
          <p:cNvSpPr>
            <a:spLocks noGrp="1"/>
          </p:cNvSpPr>
          <p:nvPr>
            <p:ph idx="1"/>
          </p:nvPr>
        </p:nvSpPr>
        <p:spPr>
          <a:xfrm>
            <a:off x="1451579" y="2015732"/>
            <a:ext cx="9603275" cy="4121832"/>
          </a:xfrm>
        </p:spPr>
        <p:txBody>
          <a:bodyPr>
            <a:normAutofit fontScale="92500" lnSpcReduction="10000"/>
          </a:bodyPr>
          <a:lstStyle/>
          <a:p>
            <a:pPr algn="just"/>
            <a:r>
              <a:rPr lang="en-US" dirty="0"/>
              <a:t>The algorithm works by defining clusters as dense regions separated by regions of lower density. This approach allows DBSCAN to discover clusters of arbitrary shape and identify outliers as noise.</a:t>
            </a:r>
          </a:p>
          <a:p>
            <a:pPr algn="just"/>
            <a:r>
              <a:rPr lang="en-US" dirty="0"/>
              <a:t>DBSCAN revolves around three key concepts:</a:t>
            </a:r>
          </a:p>
          <a:p>
            <a:pPr algn="just"/>
            <a:r>
              <a:rPr lang="en-US" b="1" dirty="0"/>
              <a:t>Core Points</a:t>
            </a:r>
            <a:r>
              <a:rPr lang="en-US" dirty="0"/>
              <a:t>: These are points that have at least a minimum number of other points (</a:t>
            </a:r>
            <a:r>
              <a:rPr lang="en-US" dirty="0" err="1"/>
              <a:t>MinPts</a:t>
            </a:r>
            <a:r>
              <a:rPr lang="en-US" dirty="0"/>
              <a:t>) within a specified distance (ε or epsilon).</a:t>
            </a:r>
          </a:p>
          <a:p>
            <a:pPr algn="just"/>
            <a:r>
              <a:rPr lang="en-US" b="1" dirty="0"/>
              <a:t>Border Points</a:t>
            </a:r>
            <a:r>
              <a:rPr lang="en-US" dirty="0"/>
              <a:t>: These are points that are within the ε distance of a core point but don't have </a:t>
            </a:r>
            <a:r>
              <a:rPr lang="en-US" dirty="0" err="1"/>
              <a:t>MinPts</a:t>
            </a:r>
            <a:r>
              <a:rPr lang="en-US" dirty="0"/>
              <a:t> neighbors themselves.</a:t>
            </a:r>
          </a:p>
          <a:p>
            <a:pPr algn="just"/>
            <a:r>
              <a:rPr lang="en-US" b="1" dirty="0"/>
              <a:t>Noise Points</a:t>
            </a:r>
            <a:r>
              <a:rPr lang="en-US" dirty="0"/>
              <a:t>: These are points that are neither core points nor border points. They're not close enough to any cluster to be included.</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26</a:t>
            </a:fld>
            <a:endParaRPr lang="en-I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pic>
        <p:nvPicPr>
          <p:cNvPr id="9218" name="Picture 2"/>
          <p:cNvPicPr>
            <a:picLocks noGrp="1" noChangeAspect="1" noChangeArrowheads="1"/>
          </p:cNvPicPr>
          <p:nvPr>
            <p:ph idx="1"/>
          </p:nvPr>
        </p:nvPicPr>
        <p:blipFill>
          <a:blip r:embed="rId2" cstate="print"/>
          <a:stretch>
            <a:fillRect/>
          </a:stretch>
        </p:blipFill>
        <p:spPr bwMode="auto">
          <a:xfrm>
            <a:off x="2438400" y="1287402"/>
            <a:ext cx="6589819" cy="4889561"/>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27</a:t>
            </a:fld>
            <a:endParaRPr lang="en-I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a:xfrm>
            <a:off x="1451579" y="1856510"/>
            <a:ext cx="9603275" cy="4253346"/>
          </a:xfrm>
        </p:spPr>
        <p:txBody>
          <a:bodyPr>
            <a:normAutofit fontScale="92500" lnSpcReduction="10000"/>
          </a:bodyPr>
          <a:lstStyle/>
          <a:p>
            <a:pPr algn="just"/>
            <a:r>
              <a:rPr lang="en-US" dirty="0"/>
              <a:t>The diagram above illustrates these concepts. Core points (blue) form the heart of clusters, border points (orange) are on the edge of clusters, and noise points (red) are isolated.</a:t>
            </a:r>
          </a:p>
          <a:p>
            <a:pPr algn="just"/>
            <a:r>
              <a:rPr lang="en-US" dirty="0"/>
              <a:t>DBSCAN uses two main parameters:</a:t>
            </a:r>
          </a:p>
          <a:p>
            <a:pPr algn="just"/>
            <a:r>
              <a:rPr lang="en-US" b="1" dirty="0"/>
              <a:t>ε (epsilon)</a:t>
            </a:r>
            <a:r>
              <a:rPr lang="en-US" dirty="0"/>
              <a:t>: The maximum distance between two points for them to be considered as neighbors.</a:t>
            </a:r>
          </a:p>
          <a:p>
            <a:pPr algn="just"/>
            <a:r>
              <a:rPr lang="en-US" b="1" dirty="0" err="1"/>
              <a:t>MinPts</a:t>
            </a:r>
            <a:r>
              <a:rPr lang="en-US" dirty="0"/>
              <a:t>: The minimum number of points required to form a dense region.</a:t>
            </a:r>
          </a:p>
          <a:p>
            <a:pPr algn="just"/>
            <a:r>
              <a:rPr lang="en-US" dirty="0"/>
              <a:t>By adjusting these parameters, you can control how the algorithm defines clusters, allowing it to adapt to different types of datasets and clustering requirements.</a:t>
            </a:r>
          </a:p>
          <a:p>
            <a:pPr algn="just"/>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28</a:t>
            </a:fld>
            <a:endParaRPr lang="en-I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Does DBSCAN Work?</a:t>
            </a:r>
            <a:br>
              <a:rPr lang="en-US" b="1" dirty="0"/>
            </a:br>
            <a:endParaRPr lang="en-US" dirty="0"/>
          </a:p>
        </p:txBody>
      </p:sp>
      <p:sp>
        <p:nvSpPr>
          <p:cNvPr id="3" name="Content Placeholder 2"/>
          <p:cNvSpPr>
            <a:spLocks noGrp="1"/>
          </p:cNvSpPr>
          <p:nvPr>
            <p:ph idx="1"/>
          </p:nvPr>
        </p:nvSpPr>
        <p:spPr>
          <a:xfrm>
            <a:off x="1451579" y="1228725"/>
            <a:ext cx="9603275" cy="5127625"/>
          </a:xfrm>
        </p:spPr>
        <p:txBody>
          <a:bodyPr>
            <a:normAutofit/>
          </a:bodyPr>
          <a:lstStyle/>
          <a:p>
            <a:pPr algn="just"/>
            <a:r>
              <a:rPr lang="en-US" dirty="0"/>
              <a:t>DBSCAN operates by examining the neighborhood of each point in the dataset. The algorithm follows a step-by-step process to identify clusters based on the density of data points. Let's break down how DBSCAN works:</a:t>
            </a:r>
          </a:p>
          <a:p>
            <a:pPr algn="just">
              <a:buNone/>
            </a:pPr>
            <a:r>
              <a:rPr lang="en-US" b="1" dirty="0"/>
              <a:t>1. Parameter Selection</a:t>
            </a:r>
            <a:endParaRPr lang="en-US" dirty="0"/>
          </a:p>
          <a:p>
            <a:pPr lvl="1" algn="just"/>
            <a:r>
              <a:rPr lang="en-US" dirty="0"/>
              <a:t>Choose ε (epsilon): The maximum distance between two points for them to be considered as neighbors.</a:t>
            </a:r>
          </a:p>
          <a:p>
            <a:pPr lvl="1" algn="just"/>
            <a:r>
              <a:rPr lang="en-US" dirty="0"/>
              <a:t>Choose </a:t>
            </a:r>
            <a:r>
              <a:rPr lang="en-US" dirty="0" err="1"/>
              <a:t>MinPts</a:t>
            </a:r>
            <a:r>
              <a:rPr lang="en-US" dirty="0"/>
              <a:t>: The minimum number of points required to form a dense region.</a:t>
            </a:r>
          </a:p>
          <a:p>
            <a:pPr algn="just">
              <a:buNone/>
            </a:pPr>
            <a:r>
              <a:rPr lang="en-US" b="1" dirty="0"/>
              <a:t>2. Select a Starting Point</a:t>
            </a:r>
            <a:endParaRPr lang="en-US" dirty="0"/>
          </a:p>
          <a:p>
            <a:pPr lvl="1" algn="just"/>
            <a:r>
              <a:rPr lang="en-US" dirty="0"/>
              <a:t>The algorithm starts with an arbitrary unvisited point in the dataset.</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29</a:t>
            </a:fld>
            <a:endParaRPr lang="en-I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a:xfrm>
            <a:off x="838201" y="1238250"/>
            <a:ext cx="10216654" cy="4871605"/>
          </a:xfrm>
        </p:spPr>
        <p:txBody>
          <a:bodyPr>
            <a:normAutofit lnSpcReduction="10000"/>
          </a:bodyPr>
          <a:lstStyle/>
          <a:p>
            <a:pPr algn="just">
              <a:buNone/>
            </a:pPr>
            <a:r>
              <a:rPr lang="en-US" b="1" dirty="0"/>
              <a:t>3. Examine the Neighborhood</a:t>
            </a:r>
            <a:r>
              <a:rPr lang="en-US" dirty="0"/>
              <a:t> It retrieves all points within the ε distance of the starting point.</a:t>
            </a:r>
          </a:p>
          <a:p>
            <a:pPr algn="just"/>
            <a:r>
              <a:rPr lang="en-US" dirty="0"/>
              <a:t>If the number of neighboring points is less than </a:t>
            </a:r>
            <a:r>
              <a:rPr lang="en-US" dirty="0" err="1"/>
              <a:t>MinPts</a:t>
            </a:r>
            <a:r>
              <a:rPr lang="en-US" dirty="0"/>
              <a:t>, the point is labeled as noise (for now).</a:t>
            </a:r>
          </a:p>
          <a:p>
            <a:pPr algn="just"/>
            <a:r>
              <a:rPr lang="en-US" dirty="0"/>
              <a:t>If there are at least </a:t>
            </a:r>
            <a:r>
              <a:rPr lang="en-US" dirty="0" err="1"/>
              <a:t>MinPts</a:t>
            </a:r>
            <a:r>
              <a:rPr lang="en-US" dirty="0"/>
              <a:t> points within ε distance, the point is marked as a core point, and a new cluster is formed.</a:t>
            </a:r>
          </a:p>
          <a:p>
            <a:pPr algn="just">
              <a:buNone/>
            </a:pPr>
            <a:r>
              <a:rPr lang="en-US" b="1" dirty="0"/>
              <a:t>4. Expand the Cluster</a:t>
            </a:r>
            <a:r>
              <a:rPr lang="en-US" dirty="0"/>
              <a:t> All the neighbors of the core point are added to the cluster.</a:t>
            </a:r>
          </a:p>
          <a:p>
            <a:pPr algn="just"/>
            <a:r>
              <a:rPr lang="en-US" dirty="0"/>
              <a:t>For each of these neighbors:</a:t>
            </a:r>
          </a:p>
          <a:p>
            <a:pPr lvl="1" algn="just"/>
            <a:r>
              <a:rPr lang="en-US" dirty="0"/>
              <a:t>If it's a core point, its neighbors are added to the cluster recursively.</a:t>
            </a:r>
          </a:p>
          <a:p>
            <a:pPr lvl="1" algn="just"/>
            <a:r>
              <a:rPr lang="en-US" dirty="0"/>
              <a:t>If it's not a core point, it's marked as a border point, and the expansion stops.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30</a:t>
            </a:fld>
            <a:endParaRPr lang="en-I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a:xfrm>
            <a:off x="1451579" y="1314450"/>
            <a:ext cx="9603275" cy="4878532"/>
          </a:xfrm>
        </p:spPr>
        <p:txBody>
          <a:bodyPr>
            <a:normAutofit fontScale="92500" lnSpcReduction="20000"/>
          </a:bodyPr>
          <a:lstStyle/>
          <a:p>
            <a:pPr algn="just">
              <a:buNone/>
            </a:pPr>
            <a:r>
              <a:rPr lang="en-US" b="1" dirty="0"/>
              <a:t>5. Repeat the Process</a:t>
            </a:r>
            <a:r>
              <a:rPr lang="en-US" dirty="0"/>
              <a:t> The algorithm moves to the next unvisited point in the dataset.</a:t>
            </a:r>
          </a:p>
          <a:p>
            <a:pPr algn="just"/>
            <a:r>
              <a:rPr lang="en-US" dirty="0"/>
              <a:t>Steps 3-4 are repeated until all points have been visited.</a:t>
            </a:r>
          </a:p>
          <a:p>
            <a:pPr algn="just">
              <a:buNone/>
            </a:pPr>
            <a:r>
              <a:rPr lang="en-US" b="1" dirty="0"/>
              <a:t>6. Finalize Clusters</a:t>
            </a:r>
            <a:r>
              <a:rPr lang="en-US" dirty="0"/>
              <a:t> After all points have been processed, the algorithm identifies all clusters.</a:t>
            </a:r>
          </a:p>
          <a:p>
            <a:pPr algn="just"/>
            <a:r>
              <a:rPr lang="en-US" dirty="0"/>
              <a:t>Points initially labeled as noise might now be border points if they're within ε distance of a core point.</a:t>
            </a:r>
          </a:p>
          <a:p>
            <a:pPr algn="just">
              <a:buNone/>
            </a:pPr>
            <a:r>
              <a:rPr lang="en-US" b="1" dirty="0"/>
              <a:t>7. Handling Noise</a:t>
            </a:r>
            <a:r>
              <a:rPr lang="en-US" dirty="0"/>
              <a:t> Any points not belonging to any cluster remain classified as noise.</a:t>
            </a:r>
          </a:p>
          <a:p>
            <a:pPr algn="just">
              <a:buNone/>
            </a:pPr>
            <a:r>
              <a:rPr lang="en-US" dirty="0"/>
              <a:t>    This process allows DBSCAN to form clusters of arbitrary shapes and identify outliers effectively. The algorithm's ability to find clusters without specifying the number of clusters beforehand is one of its key strengths.  It's important to note that the choice of ε and </a:t>
            </a:r>
            <a:r>
              <a:rPr lang="en-US" dirty="0" err="1"/>
              <a:t>MinPts</a:t>
            </a:r>
            <a:r>
              <a:rPr lang="en-US" dirty="0"/>
              <a:t> can significantly affect the clustering results. </a:t>
            </a:r>
          </a:p>
          <a:p>
            <a:pPr>
              <a:buNone/>
            </a:pPr>
            <a:endParaRPr lang="en-US" dirty="0"/>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31</a:t>
            </a:fld>
            <a:endParaRPr lang="en-I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DBSCAN Key Concepts and Parameters</a:t>
            </a:r>
            <a:br>
              <a:rPr lang="en-US" b="1" dirty="0"/>
            </a:br>
            <a:endParaRPr lang="en-US" dirty="0"/>
          </a:p>
        </p:txBody>
      </p:sp>
      <p:sp>
        <p:nvSpPr>
          <p:cNvPr id="3" name="Content Placeholder 2"/>
          <p:cNvSpPr>
            <a:spLocks noGrp="1"/>
          </p:cNvSpPr>
          <p:nvPr>
            <p:ph idx="1"/>
          </p:nvPr>
        </p:nvSpPr>
        <p:spPr>
          <a:xfrm>
            <a:off x="628651" y="1295400"/>
            <a:ext cx="10426204" cy="5314950"/>
          </a:xfrm>
        </p:spPr>
        <p:txBody>
          <a:bodyPr>
            <a:normAutofit/>
          </a:bodyPr>
          <a:lstStyle/>
          <a:p>
            <a:pPr algn="just">
              <a:buNone/>
            </a:pPr>
            <a:r>
              <a:rPr lang="en-US" dirty="0"/>
              <a:t>   To fully grasp how DBSCAN forms clusters, it's important to understand two key concepts: density </a:t>
            </a:r>
            <a:r>
              <a:rPr lang="en-US" dirty="0" err="1"/>
              <a:t>reachability</a:t>
            </a:r>
            <a:r>
              <a:rPr lang="en-US" dirty="0"/>
              <a:t> and density connectivity.</a:t>
            </a:r>
          </a:p>
          <a:p>
            <a:pPr algn="just">
              <a:buNone/>
            </a:pPr>
            <a:r>
              <a:rPr lang="en-US" b="1" dirty="0">
                <a:solidFill>
                  <a:srgbClr val="C00000"/>
                </a:solidFill>
              </a:rPr>
              <a:t>Density </a:t>
            </a:r>
            <a:r>
              <a:rPr lang="en-US" b="1" dirty="0" err="1">
                <a:solidFill>
                  <a:srgbClr val="C00000"/>
                </a:solidFill>
              </a:rPr>
              <a:t>reachability</a:t>
            </a:r>
            <a:endParaRPr lang="en-US" b="1" dirty="0">
              <a:solidFill>
                <a:srgbClr val="C00000"/>
              </a:solidFill>
            </a:endParaRPr>
          </a:p>
          <a:p>
            <a:pPr algn="just"/>
            <a:r>
              <a:rPr lang="en-US" dirty="0"/>
              <a:t>A point q is density-reachable from a point p if:</a:t>
            </a:r>
          </a:p>
          <a:p>
            <a:pPr algn="just"/>
            <a:r>
              <a:rPr lang="en-US" dirty="0"/>
              <a:t>1. p is a core point (has at least </a:t>
            </a:r>
            <a:r>
              <a:rPr lang="en-US" dirty="0" err="1"/>
              <a:t>MinPts</a:t>
            </a:r>
            <a:r>
              <a:rPr lang="en-US" dirty="0"/>
              <a:t> within ε distance)</a:t>
            </a:r>
          </a:p>
          <a:p>
            <a:pPr algn="just"/>
            <a:r>
              <a:rPr lang="en-US" dirty="0"/>
              <a:t>2. There is a chain of points p = p</a:t>
            </a:r>
            <a:r>
              <a:rPr lang="en-US" baseline="-25000" dirty="0"/>
              <a:t>1</a:t>
            </a:r>
            <a:r>
              <a:rPr lang="en-US" dirty="0"/>
              <a:t>, ..., </a:t>
            </a:r>
            <a:r>
              <a:rPr lang="en-US" dirty="0" err="1"/>
              <a:t>p</a:t>
            </a:r>
            <a:r>
              <a:rPr lang="en-US" baseline="-25000" dirty="0" err="1"/>
              <a:t>n</a:t>
            </a:r>
            <a:r>
              <a:rPr lang="en-US" dirty="0"/>
              <a:t> = q where each p</a:t>
            </a:r>
            <a:r>
              <a:rPr lang="en-US" baseline="-25000" dirty="0"/>
              <a:t>i</a:t>
            </a:r>
            <a:r>
              <a:rPr lang="en-US" dirty="0"/>
              <a:t>+1 is directly density-reachable from p</a:t>
            </a:r>
            <a:r>
              <a:rPr lang="en-US" baseline="-25000" dirty="0"/>
              <a:t>i.</a:t>
            </a:r>
            <a:endParaRPr lang="en-US" dirty="0"/>
          </a:p>
          <a:p>
            <a:pPr algn="just"/>
            <a:r>
              <a:rPr lang="en-US" dirty="0"/>
              <a:t>In simpler terms, you can reach q from p by stepping through core points, where each step is no larger than ε.</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32</a:t>
            </a:fld>
            <a:endParaRPr lang="en-I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a:xfrm>
            <a:off x="1038225" y="1419225"/>
            <a:ext cx="10016629" cy="4937125"/>
          </a:xfrm>
        </p:spPr>
        <p:txBody>
          <a:bodyPr>
            <a:normAutofit/>
          </a:bodyPr>
          <a:lstStyle/>
          <a:p>
            <a:pPr algn="just">
              <a:buNone/>
            </a:pPr>
            <a:r>
              <a:rPr lang="en-US" b="1" dirty="0"/>
              <a:t>  </a:t>
            </a:r>
            <a:r>
              <a:rPr lang="en-US" b="1" dirty="0">
                <a:solidFill>
                  <a:srgbClr val="C00000"/>
                </a:solidFill>
              </a:rPr>
              <a:t>Density connectivity</a:t>
            </a:r>
          </a:p>
          <a:p>
            <a:pPr algn="just"/>
            <a:r>
              <a:rPr lang="en-US" dirty="0"/>
              <a:t>Two points p and q are density-connected if there exists a point o such that both p and q are density-reachable from o.</a:t>
            </a:r>
          </a:p>
          <a:p>
            <a:pPr algn="just"/>
            <a:r>
              <a:rPr lang="en-US" dirty="0"/>
              <a:t>Density connectivity is the basis for forming clusters in DBSCAN. All points in a cluster are mutually density-connected, and if a point is density-connected to any point in the cluster, it also belongs to that cluster.</a:t>
            </a:r>
          </a:p>
          <a:p>
            <a:pPr algn="just">
              <a:buNone/>
            </a:pPr>
            <a:r>
              <a:rPr lang="en-US" b="1" dirty="0">
                <a:solidFill>
                  <a:srgbClr val="C00000"/>
                </a:solidFill>
              </a:rPr>
              <a:t>Choosing DBSCAN Parameters</a:t>
            </a:r>
          </a:p>
          <a:p>
            <a:pPr algn="just"/>
            <a:r>
              <a:rPr lang="en-US" dirty="0"/>
              <a:t>The effectiveness of DBSCAN heavily depends on the choice of its two main parameters: ε (epsilon) and </a:t>
            </a:r>
            <a:r>
              <a:rPr lang="en-US" dirty="0" err="1"/>
              <a:t>MinPts</a:t>
            </a:r>
            <a:r>
              <a:rPr lang="en-US" dirty="0"/>
              <a:t>. Here's how to approach selecting these parameters: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33</a:t>
            </a:fld>
            <a:endParaRPr lang="en-I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9E077-53CE-6C86-51EA-8A5631DD941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AE0F906-2B91-9DFF-76F6-38FCC714E5C1}"/>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4E5F7110-3340-EC4D-5B6F-53464A4677A5}"/>
              </a:ext>
            </a:extLst>
          </p:cNvPr>
          <p:cNvSpPr>
            <a:spLocks noGrp="1"/>
          </p:cNvSpPr>
          <p:nvPr>
            <p:ph type="sldNum" sz="quarter" idx="12"/>
          </p:nvPr>
        </p:nvSpPr>
        <p:spPr/>
        <p:txBody>
          <a:bodyPr/>
          <a:lstStyle/>
          <a:p>
            <a:fld id="{CBABCCC1-BF11-4F37-963E-1BCD5B23FD72}" type="slidenum">
              <a:rPr lang="en-IN" smtClean="0"/>
              <a:pPr/>
              <a:t>34</a:t>
            </a:fld>
            <a:endParaRPr lang="en-IN"/>
          </a:p>
        </p:txBody>
      </p:sp>
      <p:pic>
        <p:nvPicPr>
          <p:cNvPr id="6" name="Picture 5">
            <a:extLst>
              <a:ext uri="{FF2B5EF4-FFF2-40B4-BE49-F238E27FC236}">
                <a16:creationId xmlns:a16="http://schemas.microsoft.com/office/drawing/2014/main" id="{95BE7C80-D7CE-6B82-A94B-8E357A18E4D2}"/>
              </a:ext>
            </a:extLst>
          </p:cNvPr>
          <p:cNvPicPr>
            <a:picLocks noChangeAspect="1"/>
          </p:cNvPicPr>
          <p:nvPr/>
        </p:nvPicPr>
        <p:blipFill>
          <a:blip r:embed="rId2"/>
          <a:stretch>
            <a:fillRect/>
          </a:stretch>
        </p:blipFill>
        <p:spPr>
          <a:xfrm>
            <a:off x="1073800" y="0"/>
            <a:ext cx="10044399" cy="6858000"/>
          </a:xfrm>
          <a:prstGeom prst="rect">
            <a:avLst/>
          </a:prstGeom>
        </p:spPr>
      </p:pic>
    </p:spTree>
    <p:extLst>
      <p:ext uri="{BB962C8B-B14F-4D97-AF65-F5344CB8AC3E}">
        <p14:creationId xmlns:p14="http://schemas.microsoft.com/office/powerpoint/2010/main" val="14953598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a:xfrm>
            <a:off x="923925" y="990600"/>
            <a:ext cx="10515600" cy="5202382"/>
          </a:xfrm>
        </p:spPr>
        <p:txBody>
          <a:bodyPr>
            <a:normAutofit fontScale="92500" lnSpcReduction="10000"/>
          </a:bodyPr>
          <a:lstStyle/>
          <a:p>
            <a:pPr algn="just">
              <a:buNone/>
            </a:pPr>
            <a:r>
              <a:rPr lang="en-US" b="1" dirty="0">
                <a:solidFill>
                  <a:srgbClr val="C00000"/>
                </a:solidFill>
              </a:rPr>
              <a:t>  Selecting ε (Epsilon)</a:t>
            </a:r>
          </a:p>
          <a:p>
            <a:pPr algn="just"/>
            <a:r>
              <a:rPr lang="en-US" dirty="0"/>
              <a:t>The ε parameter determines the maximum distance between two points for them to be considered neighbors. To choose an appropriate ε:</a:t>
            </a:r>
          </a:p>
          <a:p>
            <a:pPr algn="just"/>
            <a:r>
              <a:rPr lang="en-US" b="1" dirty="0"/>
              <a:t>1. Use domain knowledge</a:t>
            </a:r>
            <a:r>
              <a:rPr lang="en-US" dirty="0"/>
              <a:t>: If you have insight into what distance is meaningful for your specific problem, use that as a starting point.</a:t>
            </a:r>
          </a:p>
          <a:p>
            <a:pPr algn="just"/>
            <a:r>
              <a:rPr lang="en-US" b="1" dirty="0"/>
              <a:t>2. K-distance graph</a:t>
            </a:r>
            <a:r>
              <a:rPr lang="en-US" dirty="0"/>
              <a:t>: This is a more systematic approach:</a:t>
            </a:r>
          </a:p>
          <a:p>
            <a:pPr algn="just"/>
            <a:r>
              <a:rPr lang="en-US" dirty="0"/>
              <a:t>Calculate the distance to the k-</a:t>
            </a:r>
            <a:r>
              <a:rPr lang="en-US" dirty="0" err="1"/>
              <a:t>th</a:t>
            </a:r>
            <a:r>
              <a:rPr lang="en-US" dirty="0"/>
              <a:t> nearest neighbor for each point (where k = </a:t>
            </a:r>
            <a:r>
              <a:rPr lang="en-US" dirty="0" err="1"/>
              <a:t>MinPts</a:t>
            </a:r>
            <a:r>
              <a:rPr lang="en-US" dirty="0"/>
              <a:t>).</a:t>
            </a:r>
          </a:p>
          <a:p>
            <a:pPr algn="just"/>
            <a:r>
              <a:rPr lang="en-US" dirty="0"/>
              <a:t>Plot these k-distances in ascending order.</a:t>
            </a:r>
          </a:p>
          <a:p>
            <a:pPr algn="just"/>
            <a:r>
              <a:rPr lang="en-US" dirty="0"/>
              <a:t>Look for an "elbow" in the graph – a point where the curve starts to level off.</a:t>
            </a:r>
          </a:p>
          <a:p>
            <a:pPr algn="just"/>
            <a:r>
              <a:rPr lang="en-US" dirty="0"/>
              <a:t>The ε value at this elbow is often a good choice.</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35</a:t>
            </a:fld>
            <a:endParaRPr lang="en-I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a:xfrm>
            <a:off x="1123950" y="1028699"/>
            <a:ext cx="10229849" cy="5464175"/>
          </a:xfrm>
        </p:spPr>
        <p:txBody>
          <a:bodyPr>
            <a:normAutofit fontScale="92500" lnSpcReduction="10000"/>
          </a:bodyPr>
          <a:lstStyle/>
          <a:p>
            <a:pPr>
              <a:buNone/>
            </a:pPr>
            <a:r>
              <a:rPr lang="en-US" b="1" dirty="0">
                <a:solidFill>
                  <a:srgbClr val="C00000"/>
                </a:solidFill>
              </a:rPr>
              <a:t>  Selecting </a:t>
            </a:r>
            <a:r>
              <a:rPr lang="en-US" b="1" dirty="0" err="1">
                <a:solidFill>
                  <a:srgbClr val="C00000"/>
                </a:solidFill>
              </a:rPr>
              <a:t>MinPts</a:t>
            </a:r>
            <a:endParaRPr lang="en-US" b="1" dirty="0">
              <a:solidFill>
                <a:srgbClr val="C00000"/>
              </a:solidFill>
            </a:endParaRPr>
          </a:p>
          <a:p>
            <a:pPr algn="just">
              <a:buNone/>
            </a:pPr>
            <a:r>
              <a:rPr lang="en-US" dirty="0"/>
              <a:t>    </a:t>
            </a:r>
            <a:r>
              <a:rPr lang="en-US" dirty="0" err="1"/>
              <a:t>MinPts</a:t>
            </a:r>
            <a:r>
              <a:rPr lang="en-US" dirty="0"/>
              <a:t> determines the minimum number of points required to form a dense region. Here are some guidelines:</a:t>
            </a:r>
          </a:p>
          <a:p>
            <a:pPr algn="just"/>
            <a:r>
              <a:rPr lang="en-US" b="1" dirty="0"/>
              <a:t>1. General rule</a:t>
            </a:r>
            <a:r>
              <a:rPr lang="en-US" dirty="0"/>
              <a:t>: A good starting point is to set </a:t>
            </a:r>
            <a:r>
              <a:rPr lang="en-US" dirty="0" err="1"/>
              <a:t>MinPts</a:t>
            </a:r>
            <a:r>
              <a:rPr lang="en-US" dirty="0"/>
              <a:t> = 2 * </a:t>
            </a:r>
            <a:r>
              <a:rPr lang="en-US" dirty="0" err="1"/>
              <a:t>num_features</a:t>
            </a:r>
            <a:r>
              <a:rPr lang="en-US" dirty="0"/>
              <a:t>, where </a:t>
            </a:r>
            <a:r>
              <a:rPr lang="en-US" dirty="0" err="1"/>
              <a:t>num_features</a:t>
            </a:r>
            <a:r>
              <a:rPr lang="en-US" dirty="0"/>
              <a:t> is the number of dimensions in your dataset.</a:t>
            </a:r>
          </a:p>
          <a:p>
            <a:pPr algn="just"/>
            <a:r>
              <a:rPr lang="en-US" b="1" dirty="0"/>
              <a:t>2. Noise consideration</a:t>
            </a:r>
            <a:r>
              <a:rPr lang="en-US" dirty="0"/>
              <a:t>: If your data has noise or you want to detect smaller clusters, you might want to decrease </a:t>
            </a:r>
            <a:r>
              <a:rPr lang="en-US" dirty="0" err="1"/>
              <a:t>MinPts</a:t>
            </a:r>
            <a:r>
              <a:rPr lang="en-US" dirty="0"/>
              <a:t>.</a:t>
            </a:r>
          </a:p>
          <a:p>
            <a:pPr algn="just"/>
            <a:r>
              <a:rPr lang="en-US" b="1" dirty="0"/>
              <a:t>3. Dataset size</a:t>
            </a:r>
            <a:r>
              <a:rPr lang="en-US" dirty="0"/>
              <a:t>: For larger datasets, you might need to increase </a:t>
            </a:r>
            <a:r>
              <a:rPr lang="en-US" dirty="0" err="1"/>
              <a:t>MinPts</a:t>
            </a:r>
            <a:r>
              <a:rPr lang="en-US" dirty="0"/>
              <a:t> to avoid creating too many small clusters.</a:t>
            </a:r>
          </a:p>
          <a:p>
            <a:pPr algn="just">
              <a:buNone/>
            </a:pPr>
            <a:r>
              <a:rPr lang="en-US" dirty="0"/>
              <a:t>   Remember, the choice of parameters can significantly affect the results. It's often beneficial to experiment with different values and evaluate the resulting clusters to find the best fit for your specific dataset and problem.</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36</a:t>
            </a:fld>
            <a:endParaRPr lang="en-I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with solution</a:t>
            </a:r>
          </a:p>
        </p:txBody>
      </p:sp>
      <p:pic>
        <p:nvPicPr>
          <p:cNvPr id="26626" name="Picture 2"/>
          <p:cNvPicPr>
            <a:picLocks noGrp="1" noChangeAspect="1" noChangeArrowheads="1"/>
          </p:cNvPicPr>
          <p:nvPr>
            <p:ph idx="1"/>
          </p:nvPr>
        </p:nvPicPr>
        <p:blipFill>
          <a:blip r:embed="rId2" cstate="print"/>
          <a:srcRect/>
          <a:stretch>
            <a:fillRect/>
          </a:stretch>
        </p:blipFill>
        <p:spPr bwMode="auto">
          <a:xfrm>
            <a:off x="1302328" y="1133476"/>
            <a:ext cx="9878290" cy="4962524"/>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37</a:t>
            </a:fld>
            <a:endParaRPr lang="en-I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7650" name="Picture 2"/>
          <p:cNvPicPr>
            <a:picLocks noGrp="1" noChangeAspect="1" noChangeArrowheads="1"/>
          </p:cNvPicPr>
          <p:nvPr>
            <p:ph idx="1"/>
          </p:nvPr>
        </p:nvPicPr>
        <p:blipFill>
          <a:blip r:embed="rId2" cstate="print"/>
          <a:srcRect/>
          <a:stretch>
            <a:fillRect/>
          </a:stretch>
        </p:blipFill>
        <p:spPr bwMode="auto">
          <a:xfrm>
            <a:off x="1385455" y="0"/>
            <a:ext cx="9919853" cy="6151418"/>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38</a:t>
            </a:fld>
            <a:endParaRPr lang="en-I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8674" name="Picture 2"/>
          <p:cNvPicPr>
            <a:picLocks noGrp="1" noChangeAspect="1" noChangeArrowheads="1"/>
          </p:cNvPicPr>
          <p:nvPr>
            <p:ph idx="1"/>
          </p:nvPr>
        </p:nvPicPr>
        <p:blipFill>
          <a:blip r:embed="rId2" cstate="print"/>
          <a:srcRect/>
          <a:stretch>
            <a:fillRect/>
          </a:stretch>
        </p:blipFill>
        <p:spPr bwMode="auto">
          <a:xfrm>
            <a:off x="1427018" y="0"/>
            <a:ext cx="9809017" cy="6082145"/>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39</a:t>
            </a:fld>
            <a:endParaRPr lang="en-I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1600" dirty="0"/>
              <a:t>The diagonal elements of this matrix will always be 0 as the distance of a point with itself is always 0. In the above table, Distance ≤ Epsilon (i.e. 2.5) is marked red.</a:t>
            </a:r>
          </a:p>
        </p:txBody>
      </p:sp>
      <p:pic>
        <p:nvPicPr>
          <p:cNvPr id="29698" name="Picture 2"/>
          <p:cNvPicPr>
            <a:picLocks noGrp="1" noChangeAspect="1" noChangeArrowheads="1"/>
          </p:cNvPicPr>
          <p:nvPr>
            <p:ph idx="1"/>
          </p:nvPr>
        </p:nvPicPr>
        <p:blipFill>
          <a:blip r:embed="rId2" cstate="print"/>
          <a:srcRect/>
          <a:stretch>
            <a:fillRect/>
          </a:stretch>
        </p:blipFill>
        <p:spPr bwMode="auto">
          <a:xfrm>
            <a:off x="1052945" y="1385454"/>
            <a:ext cx="10390910" cy="4765963"/>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BABCCC1-BF11-4F37-963E-1BCD5B23FD72}" type="slidenum">
              <a:rPr lang="en-IN" smtClean="0"/>
              <a:pPr/>
              <a:t>40</a:t>
            </a:fld>
            <a:endParaRPr lang="en-I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Mean-Shift Clustering</a:t>
            </a:r>
            <a:br>
              <a:rPr lang="en-US" b="1" dirty="0"/>
            </a:br>
            <a:endParaRPr lang="en-US" dirty="0"/>
          </a:p>
        </p:txBody>
      </p:sp>
      <p:sp>
        <p:nvSpPr>
          <p:cNvPr id="3" name="Content Placeholder 2"/>
          <p:cNvSpPr>
            <a:spLocks noGrp="1"/>
          </p:cNvSpPr>
          <p:nvPr>
            <p:ph idx="1"/>
          </p:nvPr>
        </p:nvSpPr>
        <p:spPr>
          <a:xfrm>
            <a:off x="685801" y="1066800"/>
            <a:ext cx="10369054" cy="6524625"/>
          </a:xfrm>
        </p:spPr>
        <p:txBody>
          <a:bodyPr>
            <a:normAutofit/>
          </a:bodyPr>
          <a:lstStyle/>
          <a:p>
            <a:pPr algn="just"/>
            <a:r>
              <a:rPr lang="en-US" dirty="0"/>
              <a:t>Mean shift clustering is used to identify clusters in datasets where the number of clusters is not known beforehand. It finds clusters by iteratively shifting data points toward the densest regions in the feature space. This makes it particularly useful for applications such as object recognition, where it can segment images based on pixel intensity and color, and also for tracking objects in video sequences.</a:t>
            </a:r>
          </a:p>
          <a:p>
            <a:pPr algn="just"/>
            <a:r>
              <a:rPr lang="en-US" dirty="0"/>
              <a:t>As a mode-seeking algorithm, it labels the clusters by finding the modes, or peaks, in the data distribution. Essentially, it highlights the most dense areas. It does this by iteratively shifting the cluster centers toward regions of a higher data density. Here are the steps: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41</a:t>
            </a:fld>
            <a:endParaRPr lang="en-I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BE814-CD28-47E4-2968-CBB0E6A6A5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85AC36-9BD6-BCF2-2C5D-6F9BE24235FD}"/>
              </a:ext>
            </a:extLst>
          </p:cNvPr>
          <p:cNvSpPr>
            <a:spLocks noGrp="1"/>
          </p:cNvSpPr>
          <p:nvPr>
            <p:ph type="title"/>
          </p:nvPr>
        </p:nvSpPr>
        <p:spPr/>
        <p:txBody>
          <a:bodyPr/>
          <a:lstStyle/>
          <a:p>
            <a:r>
              <a:rPr lang="en-US" b="1" dirty="0"/>
              <a:t>Mean-Shift Clustering</a:t>
            </a:r>
            <a:br>
              <a:rPr lang="en-US" b="1" dirty="0"/>
            </a:br>
            <a:endParaRPr lang="en-US" dirty="0"/>
          </a:p>
        </p:txBody>
      </p:sp>
      <p:sp>
        <p:nvSpPr>
          <p:cNvPr id="3" name="Content Placeholder 2">
            <a:extLst>
              <a:ext uri="{FF2B5EF4-FFF2-40B4-BE49-F238E27FC236}">
                <a16:creationId xmlns:a16="http://schemas.microsoft.com/office/drawing/2014/main" id="{872659B0-F811-2E00-33E0-28ACA33F54DB}"/>
              </a:ext>
            </a:extLst>
          </p:cNvPr>
          <p:cNvSpPr>
            <a:spLocks noGrp="1"/>
          </p:cNvSpPr>
          <p:nvPr>
            <p:ph idx="1"/>
          </p:nvPr>
        </p:nvSpPr>
        <p:spPr>
          <a:xfrm>
            <a:off x="685801" y="1066800"/>
            <a:ext cx="10369054" cy="5562599"/>
          </a:xfrm>
        </p:spPr>
        <p:txBody>
          <a:bodyPr>
            <a:normAutofit/>
          </a:bodyPr>
          <a:lstStyle/>
          <a:p>
            <a:pPr algn="just"/>
            <a:r>
              <a:rPr lang="en-US" b="1" dirty="0"/>
              <a:t>Initialization</a:t>
            </a:r>
            <a:r>
              <a:rPr lang="en-US" dirty="0"/>
              <a:t>: Start by considering each data point as a potential candidate for the cluster center.</a:t>
            </a:r>
          </a:p>
          <a:p>
            <a:pPr algn="just"/>
            <a:r>
              <a:rPr lang="en-US" b="1" dirty="0"/>
              <a:t>Density</a:t>
            </a:r>
            <a:r>
              <a:rPr lang="en-US" dirty="0"/>
              <a:t> </a:t>
            </a:r>
            <a:r>
              <a:rPr lang="en-US" b="1" dirty="0"/>
              <a:t>Estimation</a:t>
            </a:r>
            <a:r>
              <a:rPr lang="en-US" dirty="0"/>
              <a:t>: For each data point, define a window around it, called the radius, and then compute the mean of those data points within this radius.</a:t>
            </a:r>
          </a:p>
          <a:p>
            <a:pPr algn="just"/>
            <a:r>
              <a:rPr lang="en-US" b="1" dirty="0"/>
              <a:t>Shifting</a:t>
            </a:r>
            <a:r>
              <a:rPr lang="en-US" dirty="0"/>
              <a:t>: Shift each point to this mean position. This step moves the point towards the region of higher density.</a:t>
            </a:r>
          </a:p>
          <a:p>
            <a:pPr algn="just"/>
            <a:r>
              <a:rPr lang="en-US" b="1" dirty="0"/>
              <a:t>Convergence</a:t>
            </a:r>
            <a:r>
              <a:rPr lang="en-US" dirty="0"/>
              <a:t>: Repeat steps 2 and 3 iteratively until convergence, i.e., when the shift is smaller than a predefined threshold. The insignificant change in shift implies that the points have stabilized around the local maxima of the density function.</a:t>
            </a:r>
          </a:p>
          <a:p>
            <a:endParaRPr lang="en-US" dirty="0"/>
          </a:p>
        </p:txBody>
      </p:sp>
      <p:sp>
        <p:nvSpPr>
          <p:cNvPr id="4" name="Slide Number Placeholder 3">
            <a:extLst>
              <a:ext uri="{FF2B5EF4-FFF2-40B4-BE49-F238E27FC236}">
                <a16:creationId xmlns:a16="http://schemas.microsoft.com/office/drawing/2014/main" id="{1F549C0B-6F21-EF90-8FC2-061E5775E102}"/>
              </a:ext>
            </a:extLst>
          </p:cNvPr>
          <p:cNvSpPr>
            <a:spLocks noGrp="1"/>
          </p:cNvSpPr>
          <p:nvPr>
            <p:ph type="sldNum" sz="quarter" idx="12"/>
          </p:nvPr>
        </p:nvSpPr>
        <p:spPr/>
        <p:txBody>
          <a:bodyPr/>
          <a:lstStyle/>
          <a:p>
            <a:fld id="{CBABCCC1-BF11-4F37-963E-1BCD5B23FD72}" type="slidenum">
              <a:rPr lang="en-IN" smtClean="0"/>
              <a:pPr/>
              <a:t>42</a:t>
            </a:fld>
            <a:endParaRPr lang="en-IN"/>
          </a:p>
        </p:txBody>
      </p:sp>
    </p:spTree>
    <p:extLst>
      <p:ext uri="{BB962C8B-B14F-4D97-AF65-F5344CB8AC3E}">
        <p14:creationId xmlns:p14="http://schemas.microsoft.com/office/powerpoint/2010/main" val="561094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Why Use Mean Shift Clustering?</a:t>
            </a:r>
            <a:br>
              <a:rPr lang="en-US" b="1" dirty="0"/>
            </a:br>
            <a:endParaRPr lang="en-US" dirty="0"/>
          </a:p>
        </p:txBody>
      </p:sp>
      <p:sp>
        <p:nvSpPr>
          <p:cNvPr id="3" name="Content Placeholder 2"/>
          <p:cNvSpPr>
            <a:spLocks noGrp="1"/>
          </p:cNvSpPr>
          <p:nvPr>
            <p:ph idx="1"/>
          </p:nvPr>
        </p:nvSpPr>
        <p:spPr>
          <a:xfrm>
            <a:off x="539255" y="914399"/>
            <a:ext cx="10515599" cy="5667375"/>
          </a:xfrm>
        </p:spPr>
        <p:txBody>
          <a:bodyPr>
            <a:normAutofit/>
          </a:bodyPr>
          <a:lstStyle/>
          <a:p>
            <a:pPr algn="just"/>
            <a:r>
              <a:rPr lang="en-US" dirty="0"/>
              <a:t>Mean shift clustering is a powerful tool for uncovering the underlying structure of data without making any assumptions about its parameters such as the number of clusters or their shape. Considering its density-based approach that focuses on regions of high data density, it is robust against outliers, thereby ensuring that noisy data has minimal impact on the clustering process. Such robustness makes it an apt fit for real-world datasets, which often contain irregularities and noise, and also for applications requiring adaptability and precision. </a:t>
            </a:r>
          </a:p>
          <a:p>
            <a:pPr algn="just"/>
            <a:r>
              <a:rPr lang="en-US" dirty="0"/>
              <a:t>Some of the real-world scenarios where mean shift clustering works well are:</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43</a:t>
            </a:fld>
            <a:endParaRPr lang="en-I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EX: </a:t>
            </a:r>
            <a:r>
              <a:rPr lang="en-US" b="1" dirty="0"/>
              <a:t>Image segmentation</a:t>
            </a:r>
            <a:br>
              <a:rPr lang="en-US" b="1" dirty="0"/>
            </a:br>
            <a:endParaRPr lang="en-US" dirty="0"/>
          </a:p>
        </p:txBody>
      </p:sp>
      <p:sp>
        <p:nvSpPr>
          <p:cNvPr id="3" name="Content Placeholder 2"/>
          <p:cNvSpPr>
            <a:spLocks noGrp="1"/>
          </p:cNvSpPr>
          <p:nvPr>
            <p:ph idx="1"/>
          </p:nvPr>
        </p:nvSpPr>
        <p:spPr>
          <a:xfrm>
            <a:off x="1451579" y="1076326"/>
            <a:ext cx="9603275" cy="2650548"/>
          </a:xfrm>
        </p:spPr>
        <p:txBody>
          <a:bodyPr>
            <a:normAutofit/>
          </a:bodyPr>
          <a:lstStyle/>
          <a:p>
            <a:r>
              <a:rPr lang="en-US" dirty="0"/>
              <a:t>The mean shift clustering algorithm can segment images into regions based on pixel intensity or color without requiring prior knowledge of the number of segments. This flexibility makes it highly effective for image segmentation tasks because the clusters generated using mean shift clustering can take any shape or size.</a:t>
            </a:r>
          </a:p>
        </p:txBody>
      </p:sp>
      <p:sp>
        <p:nvSpPr>
          <p:cNvPr id="4" name="Slide Number Placeholder 3"/>
          <p:cNvSpPr>
            <a:spLocks noGrp="1"/>
          </p:cNvSpPr>
          <p:nvPr>
            <p:ph type="sldNum" sz="quarter" idx="12"/>
          </p:nvPr>
        </p:nvSpPr>
        <p:spPr/>
        <p:txBody>
          <a:bodyPr/>
          <a:lstStyle/>
          <a:p>
            <a:fld id="{CBABCCC1-BF11-4F37-963E-1BCD5B23FD72}" type="slidenum">
              <a:rPr lang="en-IN" smtClean="0"/>
              <a:pPr/>
              <a:t>44</a:t>
            </a:fld>
            <a:endParaRPr lang="en-IN"/>
          </a:p>
        </p:txBody>
      </p:sp>
      <p:pic>
        <p:nvPicPr>
          <p:cNvPr id="10242" name="Picture 2"/>
          <p:cNvPicPr>
            <a:picLocks noChangeAspect="1" noChangeArrowheads="1"/>
          </p:cNvPicPr>
          <p:nvPr/>
        </p:nvPicPr>
        <p:blipFill>
          <a:blip r:embed="rId2" cstate="print"/>
          <a:srcRect/>
          <a:stretch>
            <a:fillRect/>
          </a:stretch>
        </p:blipFill>
        <p:spPr bwMode="auto">
          <a:xfrm>
            <a:off x="1634836" y="3519054"/>
            <a:ext cx="9490363" cy="3202421"/>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Concepts of Mean-Shift Clustering</a:t>
            </a:r>
          </a:p>
        </p:txBody>
      </p:sp>
      <p:sp>
        <p:nvSpPr>
          <p:cNvPr id="3" name="Content Placeholder 2"/>
          <p:cNvSpPr>
            <a:spLocks noGrp="1"/>
          </p:cNvSpPr>
          <p:nvPr>
            <p:ph idx="1"/>
          </p:nvPr>
        </p:nvSpPr>
        <p:spPr>
          <a:xfrm>
            <a:off x="1451579" y="2015732"/>
            <a:ext cx="9603275" cy="1032268"/>
          </a:xfrm>
        </p:spPr>
        <p:txBody>
          <a:bodyPr>
            <a:normAutofit/>
          </a:bodyPr>
          <a:lstStyle/>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45</a:t>
            </a:fld>
            <a:endParaRPr lang="en-IN"/>
          </a:p>
        </p:txBody>
      </p:sp>
      <p:pic>
        <p:nvPicPr>
          <p:cNvPr id="17410" name="Picture 2"/>
          <p:cNvPicPr>
            <a:picLocks noChangeAspect="1" noChangeArrowheads="1"/>
          </p:cNvPicPr>
          <p:nvPr/>
        </p:nvPicPr>
        <p:blipFill>
          <a:blip r:embed="rId2" cstate="print"/>
          <a:srcRect/>
          <a:stretch>
            <a:fillRect/>
          </a:stretch>
        </p:blipFill>
        <p:spPr bwMode="auto">
          <a:xfrm>
            <a:off x="651163" y="1228725"/>
            <a:ext cx="10883611" cy="5334000"/>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CONTD..</a:t>
            </a:r>
            <a:endParaRPr lang="en-US" dirty="0"/>
          </a:p>
        </p:txBody>
      </p:sp>
      <p:sp>
        <p:nvSpPr>
          <p:cNvPr id="3" name="Content Placeholder 2"/>
          <p:cNvSpPr>
            <a:spLocks noGrp="1"/>
          </p:cNvSpPr>
          <p:nvPr>
            <p:ph idx="1"/>
          </p:nvPr>
        </p:nvSpPr>
        <p:spPr>
          <a:xfrm>
            <a:off x="1066801" y="1000125"/>
            <a:ext cx="10335490" cy="5151293"/>
          </a:xfrm>
        </p:spPr>
        <p:txBody>
          <a:bodyPr>
            <a:normAutofit fontScale="85000" lnSpcReduction="20000"/>
          </a:bodyPr>
          <a:lstStyle/>
          <a:p>
            <a:r>
              <a:rPr lang="en-US" sz="2600" b="1" dirty="0"/>
              <a:t>2-</a:t>
            </a:r>
            <a:r>
              <a:rPr lang="en-US" sz="2600" dirty="0"/>
              <a:t> </a:t>
            </a:r>
            <a:r>
              <a:rPr lang="en-US" sz="2600" b="1" dirty="0"/>
              <a:t>Choosing the Right Bandwidth/Radius: </a:t>
            </a:r>
            <a:r>
              <a:rPr lang="en-US" sz="2600" dirty="0"/>
              <a:t>The desire of bandwidth (h) in Mean Shift and KDE is crucial as it notably affects the smoothness and accuracy of the predicted PDF. </a:t>
            </a:r>
          </a:p>
          <a:p>
            <a:r>
              <a:rPr lang="en-US" sz="2600" dirty="0"/>
              <a:t>There are a number of different ways to select the bandwidth for Mean Shift clustering. Some common approaches include:</a:t>
            </a:r>
          </a:p>
          <a:p>
            <a:r>
              <a:rPr lang="en-US" sz="2600" dirty="0"/>
              <a:t>Scott's Rule: This rule selects a bandwidth that is proportional to the standard deviation of the data.</a:t>
            </a:r>
          </a:p>
          <a:p>
            <a:r>
              <a:rPr lang="en-US" sz="2600" dirty="0"/>
              <a:t>Silverman's Rule: This rule selects a bandwidth that is proportional to the median </a:t>
            </a:r>
            <a:r>
              <a:rPr lang="en-US" sz="2600" dirty="0" err="1"/>
              <a:t>interquartile</a:t>
            </a:r>
            <a:r>
              <a:rPr lang="en-US" sz="2600" dirty="0"/>
              <a:t> range of the data.</a:t>
            </a:r>
          </a:p>
          <a:p>
            <a:r>
              <a:rPr lang="en-US" sz="2600" dirty="0"/>
              <a:t>Cross-validation: This approach involves training Mean Shift clustering with a range of different bandwidth values and evaluating the performance of the algorithm on a held-out test set. The bandwidth that results in the best performance on the test set is then selected.</a:t>
            </a:r>
          </a:p>
          <a:p>
            <a:r>
              <a:rPr lang="en-US" sz="2600" dirty="0"/>
              <a:t>Expert Knowledge: If you have got domain-specific information or earlier records approximately your statistics, you can pick the bandwidth manually. Adjusting the bandwidth based totally in your know-how of the </a:t>
            </a:r>
            <a:r>
              <a:rPr lang="en-US" sz="2600" dirty="0" err="1"/>
              <a:t>facts's</a:t>
            </a:r>
            <a:r>
              <a:rPr lang="en-US" sz="2600" dirty="0"/>
              <a:t> traits can from time to time result in better results.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46</a:t>
            </a:fld>
            <a:endParaRPr lang="en-I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b="1" dirty="0"/>
            </a:br>
            <a:endParaRPr lang="en-US" dirty="0"/>
          </a:p>
        </p:txBody>
      </p:sp>
      <p:sp>
        <p:nvSpPr>
          <p:cNvPr id="3" name="Content Placeholder 2"/>
          <p:cNvSpPr>
            <a:spLocks noGrp="1"/>
          </p:cNvSpPr>
          <p:nvPr>
            <p:ph idx="1"/>
          </p:nvPr>
        </p:nvSpPr>
        <p:spPr>
          <a:xfrm>
            <a:off x="714375" y="707887"/>
            <a:ext cx="10858500" cy="6013588"/>
          </a:xfrm>
        </p:spPr>
        <p:txBody>
          <a:bodyPr>
            <a:normAutofit/>
          </a:bodyPr>
          <a:lstStyle/>
          <a:p>
            <a:r>
              <a:rPr lang="en-US" sz="2400" dirty="0"/>
              <a:t>The need of bandwidth is to get stability between over-smoothing and underneath-smoothing (sensitive to noise). It frequently depends at the unique traits of your records, and experimentation may be required to locate the most appropriate bandwidth on your clustering or density estimation challenge.</a:t>
            </a:r>
          </a:p>
          <a:p>
            <a:r>
              <a:rPr lang="en-US" sz="2400" b="1" dirty="0"/>
              <a:t>3- Convergence</a:t>
            </a:r>
            <a:r>
              <a:rPr lang="en-US" sz="2400" dirty="0"/>
              <a:t>: Convergence in Mean Shift occurs when the data points stop moving significantly. This means that the data points have reached the modes of the density distribution and are no longer moving towards higher density regions.</a:t>
            </a:r>
          </a:p>
          <a:p>
            <a:r>
              <a:rPr lang="en-US" sz="2400" b="1" dirty="0"/>
              <a:t>4- Bandwidth Kernel Function</a:t>
            </a:r>
            <a:r>
              <a:rPr lang="en-US" sz="2400" dirty="0"/>
              <a:t>: The bandwidth kernel function is a function that is used to weight the data points when calculating the mean shift vector. It controls the size of the window around each data point that Mean Shift uses to calculate the mean shift vector. A larger bandwidth will result in fewer clusters, while a smaller bandwidth will result in more clusters.</a:t>
            </a:r>
          </a:p>
          <a:p>
            <a:r>
              <a:rPr lang="en-US" sz="2400" b="1" dirty="0"/>
              <a:t>5- Mean shift vector:</a:t>
            </a:r>
            <a:r>
              <a:rPr lang="en-US" sz="2400" dirty="0"/>
              <a:t> The mean shift vector for a data point points in the direction of the highest density of data points around it. Mean Shift moves the data points in the direction of their mean shift vectors, which ultimately leads to the data points converging to the modes of the density distribution.</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47</a:t>
            </a:fld>
            <a:endParaRPr lang="en-IN"/>
          </a:p>
        </p:txBody>
      </p:sp>
      <p:sp>
        <p:nvSpPr>
          <p:cNvPr id="6" name="TextBox 5"/>
          <p:cNvSpPr txBox="1"/>
          <p:nvPr/>
        </p:nvSpPr>
        <p:spPr>
          <a:xfrm>
            <a:off x="1572490" y="0"/>
            <a:ext cx="9047019" cy="707886"/>
          </a:xfrm>
          <a:prstGeom prst="rect">
            <a:avLst/>
          </a:prstGeom>
          <a:noFill/>
        </p:spPr>
        <p:txBody>
          <a:bodyPr wrap="square" rtlCol="0">
            <a:spAutoFit/>
          </a:bodyPr>
          <a:lstStyle/>
          <a:p>
            <a:r>
              <a:rPr lang="en-US" sz="4000" dirty="0"/>
              <a:t>CONTD..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mean-shift works?</a:t>
            </a:r>
          </a:p>
        </p:txBody>
      </p:sp>
      <p:sp>
        <p:nvSpPr>
          <p:cNvPr id="3" name="Content Placeholder 2"/>
          <p:cNvSpPr>
            <a:spLocks noGrp="1"/>
          </p:cNvSpPr>
          <p:nvPr>
            <p:ph idx="1"/>
          </p:nvPr>
        </p:nvSpPr>
        <p:spPr>
          <a:xfrm>
            <a:off x="734291" y="1454728"/>
            <a:ext cx="10737273" cy="4710546"/>
          </a:xfrm>
        </p:spPr>
        <p:txBody>
          <a:bodyPr>
            <a:normAutofit fontScale="25000" lnSpcReduction="20000"/>
          </a:bodyPr>
          <a:lstStyle/>
          <a:p>
            <a:r>
              <a:rPr lang="en-US" sz="5600" dirty="0"/>
              <a:t>Mean Shift operates through a series of steps to identify clusters within a dataset</a:t>
            </a:r>
          </a:p>
          <a:p>
            <a:endParaRPr lang="en-US" sz="2300" b="1" dirty="0"/>
          </a:p>
          <a:p>
            <a:pPr algn="just"/>
            <a:r>
              <a:rPr lang="en-US" sz="6400" b="1" dirty="0"/>
              <a:t>Kernel Density Estimation:</a:t>
            </a:r>
            <a:r>
              <a:rPr lang="en-US" sz="6400" dirty="0"/>
              <a:t> It begins with estimating the PDF of the facts the usage of kernel density estimation. A kernel feature is used to symbolize the distribution of statistics points in the function space. A common desire is the Gaussian kernel. This step helps in figuring out areas of excessive records density.</a:t>
            </a:r>
          </a:p>
          <a:p>
            <a:pPr algn="just"/>
            <a:r>
              <a:rPr lang="en-US" sz="6400" b="1" dirty="0"/>
              <a:t>Mean Shift Vector:</a:t>
            </a:r>
            <a:r>
              <a:rPr lang="en-US" sz="6400" dirty="0"/>
              <a:t> For every statistics point, Mean Shift calculates a median shift vector that points towards the mode (peak) of the anticipated PDF. This vector represents the direction wherein the records point need to pass to reach a location of higher density.</a:t>
            </a:r>
          </a:p>
          <a:p>
            <a:pPr algn="just"/>
            <a:r>
              <a:rPr lang="en-US" sz="6400" b="1" dirty="0"/>
              <a:t>Shifting Data Points: </a:t>
            </a:r>
            <a:r>
              <a:rPr lang="en-US" sz="6400" dirty="0"/>
              <a:t>Data factors are shifted within the path of their respective mean shift vectors. This step is executed iteratively, and the records points steadily circulate towards the nearest modes (cluster centers) inside the feature space.</a:t>
            </a:r>
          </a:p>
          <a:p>
            <a:pPr algn="just"/>
            <a:r>
              <a:rPr lang="en-US" sz="6400" b="1" dirty="0"/>
              <a:t>Convergence:</a:t>
            </a:r>
            <a:r>
              <a:rPr lang="en-US" sz="6400" dirty="0"/>
              <a:t> The technique keeps until information factors now not pass significantly, indicating convergence. A convergence threshold can be defined to manipulate when to forestall the iterations.</a:t>
            </a:r>
          </a:p>
          <a:p>
            <a:pPr algn="just"/>
            <a:r>
              <a:rPr lang="en-US" sz="6400" b="1" dirty="0"/>
              <a:t>Cluster Assignment:</a:t>
            </a:r>
            <a:r>
              <a:rPr lang="en-US" sz="6400" dirty="0"/>
              <a:t> Once convergence is accomplished, statistics factors are assigned to their nearest modes, effectively growing clusters.</a:t>
            </a:r>
          </a:p>
          <a:p>
            <a:pPr algn="just"/>
            <a:r>
              <a:rPr lang="en-US" sz="6400" dirty="0"/>
              <a:t>Mean Shift correctly identifies clusters via iteratively moving information points closer to regions of higher density until they attain modes, which represent the cluster facilities.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48</a:t>
            </a:fld>
            <a:endParaRPr lang="en-IN"/>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3050" y="174625"/>
            <a:ext cx="2333625" cy="444500"/>
          </a:xfrm>
        </p:spPr>
        <p:txBody>
          <a:bodyPr>
            <a:normAutofit fontScale="90000"/>
          </a:bodyPr>
          <a:lstStyle/>
          <a:p>
            <a:r>
              <a:rPr lang="en-US" b="1" dirty="0"/>
              <a:t>Algorithm</a:t>
            </a:r>
          </a:p>
        </p:txBody>
      </p:sp>
      <p:sp>
        <p:nvSpPr>
          <p:cNvPr id="3" name="Content Placeholder 2"/>
          <p:cNvSpPr>
            <a:spLocks noGrp="1"/>
          </p:cNvSpPr>
          <p:nvPr>
            <p:ph idx="1"/>
          </p:nvPr>
        </p:nvSpPr>
        <p:spPr>
          <a:xfrm>
            <a:off x="800100" y="923925"/>
            <a:ext cx="10553699" cy="5759449"/>
          </a:xfrm>
        </p:spPr>
        <p:txBody>
          <a:bodyPr>
            <a:normAutofit fontScale="92500"/>
          </a:bodyPr>
          <a:lstStyle/>
          <a:p>
            <a:pPr algn="just"/>
            <a:r>
              <a:rPr lang="en-US" sz="2400" dirty="0"/>
              <a:t>The </a:t>
            </a:r>
            <a:r>
              <a:rPr lang="en-US" sz="2400" dirty="0">
                <a:hlinkClick r:id="rId2"/>
              </a:rPr>
              <a:t>Mean Shift</a:t>
            </a:r>
            <a:r>
              <a:rPr lang="en-US" sz="2400" dirty="0"/>
              <a:t> Algorithm follows a specific sequence of operations to move statistics factors closer to the modes of the anticipated density. The steps involved are as follows:</a:t>
            </a:r>
          </a:p>
          <a:p>
            <a:pPr algn="just"/>
            <a:r>
              <a:rPr lang="en-US" sz="2400" b="1" dirty="0"/>
              <a:t>Initialization</a:t>
            </a:r>
            <a:r>
              <a:rPr lang="en-US" sz="2400" dirty="0"/>
              <a:t>: Start with hard and fast data points.</a:t>
            </a:r>
          </a:p>
          <a:p>
            <a:pPr algn="just"/>
            <a:r>
              <a:rPr lang="en-US" sz="2400" b="1" dirty="0"/>
              <a:t>Bandwidth Selection</a:t>
            </a:r>
            <a:r>
              <a:rPr lang="en-US" sz="2400" dirty="0"/>
              <a:t>: Choose the ideal bandwidth h for the kernel. You can use techniques like </a:t>
            </a:r>
            <a:r>
              <a:rPr lang="en-US" sz="2400" b="1" dirty="0"/>
              <a:t>Scott's Rule</a:t>
            </a:r>
            <a:r>
              <a:rPr lang="en-US" sz="2400" dirty="0"/>
              <a:t> or </a:t>
            </a:r>
            <a:r>
              <a:rPr lang="en-US" sz="2400" b="1" dirty="0"/>
              <a:t>Silverman's Rule</a:t>
            </a:r>
            <a:r>
              <a:rPr lang="en-US" sz="2400" dirty="0"/>
              <a:t> or estimate it using move-validation.</a:t>
            </a:r>
          </a:p>
          <a:p>
            <a:pPr algn="just"/>
            <a:r>
              <a:rPr lang="en-US" sz="2400" b="1" dirty="0"/>
              <a:t>Mean Shift Computation</a:t>
            </a:r>
            <a:r>
              <a:rPr lang="en-US" sz="2400" dirty="0"/>
              <a:t>: For each data point, compute the mean shift vector M(x).</a:t>
            </a:r>
          </a:p>
          <a:p>
            <a:pPr algn="just"/>
            <a:r>
              <a:rPr lang="en-US" sz="2400" b="1" dirty="0"/>
              <a:t>Shift Data Points</a:t>
            </a:r>
            <a:r>
              <a:rPr lang="en-US" sz="2400" dirty="0"/>
              <a:t>: Update the data points by shifting them in the direction of M(x). </a:t>
            </a:r>
            <a:r>
              <a:rPr lang="en-US" sz="2400" dirty="0" err="1"/>
              <a:t>x←x+M</a:t>
            </a:r>
            <a:r>
              <a:rPr lang="en-US" sz="2400" dirty="0"/>
              <a:t>(x).</a:t>
            </a:r>
          </a:p>
          <a:p>
            <a:pPr algn="just"/>
            <a:r>
              <a:rPr lang="en-US" sz="2400" b="1" dirty="0"/>
              <a:t>Convergence Check</a:t>
            </a:r>
            <a:r>
              <a:rPr lang="en-US" sz="2400" dirty="0"/>
              <a:t>: Repeat steps three and four until the data points do not converge. You can outline a convergence threshold.</a:t>
            </a:r>
          </a:p>
          <a:p>
            <a:pPr algn="just"/>
            <a:r>
              <a:rPr lang="en-US" sz="2400" b="1" dirty="0"/>
              <a:t>Cluster Assignment:</a:t>
            </a:r>
            <a:r>
              <a:rPr lang="en-US" sz="2400" dirty="0"/>
              <a:t> Once the data factors have converged, assign every point to its nearest mode (cluster middle).</a:t>
            </a:r>
          </a:p>
          <a:p>
            <a:pPr algn="just"/>
            <a:r>
              <a:rPr lang="en-US" sz="2400" b="1" dirty="0"/>
              <a:t>Result</a:t>
            </a:r>
            <a:r>
              <a:rPr lang="en-US" sz="2400" dirty="0"/>
              <a:t>: The final clusters are determined based on the modes.</a:t>
            </a:r>
          </a:p>
          <a:p>
            <a:pPr algn="just"/>
            <a:r>
              <a:rPr lang="en-US" sz="2400" dirty="0"/>
              <a:t>The Mean Shift set of rules iteratively refines the positions of statistics points, moving them toward the modes of the estimated density.</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49</a:t>
            </a:fld>
            <a:endParaRPr lang="en-I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50</a:t>
            </a:fld>
            <a:endParaRPr lang="en-IN"/>
          </a:p>
        </p:txBody>
      </p:sp>
      <p:sp>
        <p:nvSpPr>
          <p:cNvPr id="9" name="Rounded Rectangle 3"/>
          <p:cNvSpPr/>
          <p:nvPr/>
        </p:nvSpPr>
        <p:spPr>
          <a:xfrm>
            <a:off x="2541453" y="247782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AI &amp;ML</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2586</TotalTime>
  <Words>3818</Words>
  <Application>Microsoft Office PowerPoint</Application>
  <PresentationFormat>Widescreen</PresentationFormat>
  <Paragraphs>256</Paragraphs>
  <Slides>50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BioRhyme ExtraBold</vt:lpstr>
      <vt:lpstr>Calibri</vt:lpstr>
      <vt:lpstr>Calibri Light</vt:lpstr>
      <vt:lpstr>Poppins</vt:lpstr>
      <vt:lpstr>Office Theme</vt:lpstr>
      <vt:lpstr>PowerPoint Presentation</vt:lpstr>
      <vt:lpstr>Hierarchical CLUSTERING</vt:lpstr>
      <vt:lpstr>CONTD.. </vt:lpstr>
      <vt:lpstr>CONTD..</vt:lpstr>
      <vt:lpstr>CONTd..</vt:lpstr>
      <vt:lpstr>Dendrogram</vt:lpstr>
      <vt:lpstr>Types of Hierarchical Clustering</vt:lpstr>
      <vt:lpstr>Workflow for Hierarchical Agglomerative clustering </vt:lpstr>
      <vt:lpstr>Implementation</vt:lpstr>
      <vt:lpstr>Computing Distance Matrix </vt:lpstr>
      <vt:lpstr>CONTd.. Also can be called with linkage criteria</vt:lpstr>
      <vt:lpstr>CONTD..</vt:lpstr>
      <vt:lpstr>2. Hierarchical Divisive clustering</vt:lpstr>
      <vt:lpstr>CONTD..</vt:lpstr>
      <vt:lpstr>Implementation</vt:lpstr>
      <vt:lpstr>Problem with solution: AGGLOMERATIVE HIERARCHICAL clustering</vt:lpstr>
      <vt:lpstr>CONTD..</vt:lpstr>
      <vt:lpstr>CONTD..</vt:lpstr>
      <vt:lpstr>PowerPoint Presentation</vt:lpstr>
      <vt:lpstr>PowerPoint Presentation</vt:lpstr>
      <vt:lpstr>Steps: - Using graph terminology, start with all points as singleton clusters. - Add links between points one at a time (shortest links first).</vt:lpstr>
      <vt:lpstr>CONTD..</vt:lpstr>
      <vt:lpstr>PowerPoint Presentation</vt:lpstr>
      <vt:lpstr>DBSCAN Clustering</vt:lpstr>
      <vt:lpstr>CONTD..</vt:lpstr>
      <vt:lpstr> DBSCAN </vt:lpstr>
      <vt:lpstr>CONTD..</vt:lpstr>
      <vt:lpstr>CONTD..</vt:lpstr>
      <vt:lpstr>How Does DBSCAN Work? </vt:lpstr>
      <vt:lpstr>CONTD..</vt:lpstr>
      <vt:lpstr>CONTD..</vt:lpstr>
      <vt:lpstr>DBSCAN Key Concepts and Parameters </vt:lpstr>
      <vt:lpstr>CONTD..</vt:lpstr>
      <vt:lpstr>PowerPoint Presentation</vt:lpstr>
      <vt:lpstr>CONTD..</vt:lpstr>
      <vt:lpstr>CONTD..</vt:lpstr>
      <vt:lpstr>Problem with solution</vt:lpstr>
      <vt:lpstr>PowerPoint Presentation</vt:lpstr>
      <vt:lpstr>PowerPoint Presentation</vt:lpstr>
      <vt:lpstr>The diagonal elements of this matrix will always be 0 as the distance of a point with itself is always 0. In the above table, Distance ≤ Epsilon (i.e. 2.5) is marked red.</vt:lpstr>
      <vt:lpstr>Mean-Shift Clustering </vt:lpstr>
      <vt:lpstr>Mean-Shift Clustering </vt:lpstr>
      <vt:lpstr>Why Use Mean Shift Clustering? </vt:lpstr>
      <vt:lpstr>1. EX: Image segmentation </vt:lpstr>
      <vt:lpstr>Key Concepts of Mean-Shift Clustering</vt:lpstr>
      <vt:lpstr>CONTD..</vt:lpstr>
      <vt:lpstr> </vt:lpstr>
      <vt:lpstr>How mean-shift works?</vt:lpstr>
      <vt:lpstr>Algorithm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Narendra Babu T</dc:creator>
  <cp:lastModifiedBy>P Manika Prasuna</cp:lastModifiedBy>
  <cp:revision>105</cp:revision>
  <dcterms:created xsi:type="dcterms:W3CDTF">2023-05-06T03:47:00Z</dcterms:created>
  <dcterms:modified xsi:type="dcterms:W3CDTF">2025-10-16T16:24:27Z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6E6046E1B8564DE48E72D44BA630FF3F_13</vt:lpwstr>
  </property>
  <property fmtid="{D5CDD505-2E9C-101B-9397-08002B2CF9AE}" pid="3" name="KSOProductBuildVer">
    <vt:lpwstr>1033-12.2.0.17119</vt:lpwstr>
  </property>
</Properties>
</file>