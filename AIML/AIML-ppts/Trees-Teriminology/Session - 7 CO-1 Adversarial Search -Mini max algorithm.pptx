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handoutMasterIdLst>
    <p:handoutMasterId r:id="rId27"/>
  </p:handoutMasterIdLst>
  <p:sldIdLst>
    <p:sldId id="256" r:id="rId3"/>
    <p:sldId id="499" r:id="rId4"/>
    <p:sldId id="500" r:id="rId5"/>
    <p:sldId id="501" r:id="rId7"/>
    <p:sldId id="502" r:id="rId8"/>
    <p:sldId id="503" r:id="rId9"/>
    <p:sldId id="504" r:id="rId10"/>
    <p:sldId id="505" r:id="rId11"/>
    <p:sldId id="506" r:id="rId12"/>
    <p:sldId id="507" r:id="rId13"/>
    <p:sldId id="508" r:id="rId14"/>
    <p:sldId id="509" r:id="rId15"/>
    <p:sldId id="510" r:id="rId16"/>
    <p:sldId id="511" r:id="rId17"/>
    <p:sldId id="512" r:id="rId18"/>
    <p:sldId id="513" r:id="rId19"/>
    <p:sldId id="514" r:id="rId20"/>
    <p:sldId id="515" r:id="rId21"/>
    <p:sldId id="516" r:id="rId22"/>
    <p:sldId id="517" r:id="rId23"/>
    <p:sldId id="518" r:id="rId24"/>
    <p:sldId id="519" r:id="rId25"/>
    <p:sldId id="52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AFCE5D-DEB3-480D-922E-F438F7482C87}" type="slidenum">
              <a:rPr lang="en-US" altLang="en-US">
                <a:latin typeface="Calibri" panose="020F0502020204030204" charset="0"/>
              </a:rPr>
            </a:fld>
            <a:endParaRPr lang="en-US" altLang="en-US">
              <a:latin typeface="Calibri" panose="020F050202020403020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012E5BD-E7C0-4A92-9896-93CF00CF6CC9}" type="slidenum">
              <a:rPr lang="en-US" altLang="en-US">
                <a:latin typeface="Calibri" panose="020F0502020204030204" charset="0"/>
              </a:rPr>
            </a:fld>
            <a:endParaRPr lang="en-US" altLang="en-US">
              <a:latin typeface="Calibri" panose="020F050202020403020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E13D8E2-2271-4452-9F8F-F6EC8136D4B4}" type="slidenum">
              <a:rPr lang="en-US" altLang="en-US">
                <a:latin typeface="Calibri" panose="020F0502020204030204" charset="0"/>
              </a:rPr>
            </a:fld>
            <a:endParaRPr lang="en-US" altLang="en-US">
              <a:latin typeface="Calibri" panose="020F0502020204030204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>
              <a:spcBef>
                <a:spcPct val="0"/>
              </a:spcBef>
            </a:pPr>
            <a:r>
              <a:rPr lang="en-GB" altLang="en-US">
                <a:ea typeface="MS PGothic" panose="020B0600070205080204" pitchFamily="34" charset="-128"/>
              </a:rPr>
              <a:t>If Nature is not a player, then poker etc. involve chance moves like drawing cards, tiles. The other card games involve no more chance. Play with class.</a:t>
            </a:r>
            <a:endParaRPr lang="en-GB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B4CB2C4-BF99-46A1-9BE3-698E675DD059}" type="slidenum">
              <a:rPr lang="en-US" altLang="en-US">
                <a:latin typeface="Calibri" panose="020F0502020204030204" charset="0"/>
              </a:rPr>
            </a:fld>
            <a:endParaRPr lang="en-US" altLang="en-US">
              <a:latin typeface="Calibri" panose="020F050202020403020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>
                <a:ea typeface="MS PGothic" panose="020B0600070205080204" pitchFamily="34" charset="-128"/>
              </a:rPr>
              <a:t>Explain these conventions carefully. Maybe contrast with general game trees.</a:t>
            </a:r>
            <a:endParaRPr lang="en-US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EB0B8E-0F3C-4799-BA1E-89208F2A7B20}" type="slidenum">
              <a:rPr lang="en-US" altLang="en-US">
                <a:latin typeface="Calibri" panose="020F0502020204030204" charset="0"/>
              </a:rPr>
            </a:fld>
            <a:endParaRPr lang="en-US" altLang="en-US">
              <a:latin typeface="Calibri" panose="020F050202020403020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A849856-A860-4053-BC8E-89465FFABAEE}" type="slidenum">
              <a:rPr lang="en-US" altLang="en-US">
                <a:latin typeface="Calibri" panose="020F0502020204030204" charset="0"/>
              </a:rPr>
            </a:fld>
            <a:endParaRPr lang="en-US" altLang="en-US">
              <a:latin typeface="Calibri" panose="020F0502020204030204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276CC13-5CB0-4DA5-BD7E-E4515791A158}" type="slidenum">
              <a:rPr lang="en-US" altLang="en-US">
                <a:latin typeface="Calibri" panose="020F0502020204030204" charset="0"/>
              </a:rPr>
            </a:fld>
            <a:endParaRPr lang="en-US" altLang="en-US">
              <a:latin typeface="Calibri" panose="020F050202020403020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>
                <a:ea typeface="MS PGothic" panose="020B0600070205080204" pitchFamily="34" charset="-128"/>
              </a:rPr>
              <a:t>Add tic-tac-toe demo.</a:t>
            </a:r>
            <a:endParaRPr lang="en-US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004F5EA-D833-4AD0-B016-1357C22450AE}" type="slidenum">
              <a:rPr lang="en-US" altLang="en-US">
                <a:latin typeface="Calibri" panose="020F0502020204030204" charset="0"/>
              </a:rPr>
            </a:fld>
            <a:endParaRPr lang="en-US" altLang="en-US">
              <a:latin typeface="Calibri" panose="020F050202020403020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CF27699-6BAC-44FB-B562-02EB3ECB5E97}" type="slidenum">
              <a:rPr lang="en-US" altLang="en-US">
                <a:latin typeface="Calibri" panose="020F0502020204030204" charset="0"/>
              </a:rPr>
            </a:fld>
            <a:endParaRPr lang="en-US" altLang="en-US">
              <a:latin typeface="Calibri" panose="020F050202020403020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altLang="en-US">
                <a:ea typeface="MS PGothic" panose="020B0600070205080204" pitchFamily="34" charset="-128"/>
              </a:rPr>
              <a:t>Chocolate playing: max gets x number of chocolates, min has to give up x number of chocolates.</a:t>
            </a:r>
            <a:endParaRPr lang="en-GB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6BA0093-ACD3-46C4-8670-38CA7DDB4664}" type="slidenum">
              <a:rPr lang="en-US" altLang="en-US">
                <a:latin typeface="Calibri" panose="020F0502020204030204" charset="0"/>
              </a:rPr>
            </a:fld>
            <a:endParaRPr lang="en-US" altLang="en-US">
              <a:latin typeface="Calibri" panose="020F0502020204030204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05953C-93D8-440F-A93E-22CDB4F1A61F}" type="slidenum">
              <a:rPr lang="en-US" altLang="en-US">
                <a:latin typeface="Calibri" panose="020F0502020204030204" charset="0"/>
              </a:rPr>
            </a:fld>
            <a:endParaRPr lang="en-US" altLang="en-US">
              <a:latin typeface="Calibri" panose="020F050202020403020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altLang="en-US">
                <a:ea typeface="MS PGothic" panose="020B0600070205080204" pitchFamily="34" charset="-128"/>
              </a:rPr>
              <a:t>Ply = 2 half moves</a:t>
            </a:r>
            <a:endParaRPr lang="en-GB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68EAD6B-3298-4515-8AE5-B868A72A8FC8}" type="slidenum">
              <a:rPr lang="en-US" altLang="en-US">
                <a:latin typeface="Calibri" panose="020F0502020204030204" charset="0"/>
              </a:rPr>
            </a:fld>
            <a:endParaRPr lang="en-US" altLang="en-US">
              <a:latin typeface="Calibri" panose="020F050202020403020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13F33A4-21F5-45A2-B986-45738E4D8CCD}" type="slidenum">
              <a:rPr lang="en-US" altLang="en-US">
                <a:latin typeface="Calibri" panose="020F0502020204030204" charset="0"/>
              </a:rPr>
            </a:fld>
            <a:endParaRPr lang="en-US" altLang="en-US">
              <a:latin typeface="Calibri" panose="020F050202020403020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59744B2-38FF-4B65-B552-DDFB7801A94A}" type="slidenum">
              <a:rPr lang="en-US" altLang="en-US">
                <a:latin typeface="Calibri" panose="020F0502020204030204" charset="0"/>
              </a:rPr>
            </a:fld>
            <a:endParaRPr lang="en-US" altLang="en-US">
              <a:latin typeface="Calibri" panose="020F050202020403020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>
            <a:fillRect/>
          </a:stretch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>
            <a:fillRect/>
          </a:stretch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ocf.berkeley.edu/~yosenl/extras/alphabeta/alphabeta.html" TargetMode="Externa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8650" y="981710"/>
            <a:ext cx="8637270" cy="1733550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Artificial intelligence &amp;</a:t>
            </a:r>
            <a:br>
              <a:rPr lang="en-US" sz="3600" dirty="0"/>
            </a:br>
            <a:r>
              <a:rPr lang="en-US" sz="3600" dirty="0"/>
              <a:t>machine learning</a:t>
            </a:r>
            <a:endParaRPr lang="en-US" sz="3600" dirty="0"/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524000" y="577049"/>
            <a:ext cx="9144000" cy="293291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5" name="Subtitle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738461" y="3328328"/>
            <a:ext cx="9767455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Contents: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Search:Mini Max Algorithm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2"/>
          <p:cNvSpPr>
            <a:spLocks noGrp="1"/>
          </p:cNvSpPr>
          <p:nvPr>
            <p:ph idx="1"/>
          </p:nvPr>
        </p:nvSpPr>
        <p:spPr>
          <a:xfrm>
            <a:off x="1825625" y="2196465"/>
            <a:ext cx="9004935" cy="3374390"/>
          </a:xfrm>
        </p:spPr>
        <p:txBody>
          <a:bodyPr/>
          <a:lstStyle/>
          <a:p>
            <a:pPr eaLnBrk="1" hangingPunct="1"/>
            <a:r>
              <a:rPr lang="en-US" altLang="en-US"/>
              <a:t>Examine the problems that arise when we try to plan ahead in a world where other agents are planning against us.</a:t>
            </a:r>
            <a:br>
              <a:rPr lang="en-US" altLang="en-US"/>
            </a:br>
            <a:endParaRPr lang="en-US" altLang="en-US"/>
          </a:p>
          <a:p>
            <a:pPr eaLnBrk="1" hangingPunct="1"/>
            <a:r>
              <a:rPr lang="en-US" altLang="en-US"/>
              <a:t>A good example is in board games.</a:t>
            </a:r>
            <a:br>
              <a:rPr lang="en-US" altLang="en-US"/>
            </a:br>
            <a:endParaRPr lang="en-US" altLang="en-US"/>
          </a:p>
          <a:p>
            <a:pPr eaLnBrk="1" hangingPunct="1"/>
            <a:r>
              <a:rPr lang="en-US" altLang="en-US"/>
              <a:t>Adversarial games, while much studied in AI, are a small part of game theory in economics.</a:t>
            </a:r>
            <a:endParaRPr lang="en-US" altLang="en-US"/>
          </a:p>
        </p:txBody>
      </p:sp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Adversarial Search</a:t>
            </a:r>
            <a:endParaRPr lang="en-US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1911350" y="1889760"/>
            <a:ext cx="9294495" cy="4029075"/>
          </a:xfrm>
        </p:spPr>
        <p:txBody>
          <a:bodyPr>
            <a:normAutofit lnSpcReduction="20000"/>
          </a:bodyPr>
          <a:lstStyle/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Two agents whose actions alternate</a:t>
            </a: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Utility values for each agent are the opposite of the other</a:t>
            </a: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creates the adversarial situation</a:t>
            </a:r>
            <a:endParaRPr lang="en-US" altLang="en-US"/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Fully observable environments</a:t>
            </a: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In game theory terms: Zero-sum games of perfect information.</a:t>
            </a:r>
            <a:endParaRPr lang="en-US" altLang="en-US" sz="2400"/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We’ll relax these assumptions later.</a:t>
            </a: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661160" y="758826"/>
            <a:ext cx="8534400" cy="758825"/>
          </a:xfrm>
        </p:spPr>
        <p:txBody>
          <a:bodyPr/>
          <a:lstStyle/>
          <a:p>
            <a:pPr>
              <a:defRPr/>
            </a:pPr>
            <a:r>
              <a:rPr lang="en-US" dirty="0"/>
              <a:t>Typical  AI  assumptions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>
          <a:xfrm>
            <a:off x="1451610" y="1853565"/>
            <a:ext cx="10235565" cy="4116070"/>
          </a:xfrm>
        </p:spPr>
        <p:txBody>
          <a:bodyPr>
            <a:normAutofit fontScale="60000"/>
          </a:bodyPr>
          <a:lstStyle/>
          <a:p>
            <a:pPr eaLnBrk="1" hangingPunct="1"/>
            <a:r>
              <a:rPr lang="en-US" altLang="en-US" sz="2000" b="1"/>
              <a:t>Search – no adversary</a:t>
            </a:r>
            <a:endParaRPr lang="en-US" altLang="en-US" sz="2000" b="1"/>
          </a:p>
          <a:p>
            <a:pPr lvl="1" eaLnBrk="1" hangingPunct="1"/>
            <a:r>
              <a:rPr lang="en-US" altLang="en-US" sz="2855"/>
              <a:t>Solution is (heuristic) method for finding goal</a:t>
            </a:r>
            <a:endParaRPr lang="en-US" altLang="en-US" sz="2855"/>
          </a:p>
          <a:p>
            <a:pPr lvl="1" eaLnBrk="1" hangingPunct="1"/>
            <a:r>
              <a:rPr lang="en-US" altLang="en-US" sz="2855"/>
              <a:t>Heuristic techniques can find </a:t>
            </a:r>
            <a:r>
              <a:rPr lang="en-US" altLang="en-US" sz="2855" i="1"/>
              <a:t>optimal</a:t>
            </a:r>
            <a:r>
              <a:rPr lang="en-US" altLang="en-US" sz="2855"/>
              <a:t> solution</a:t>
            </a:r>
            <a:endParaRPr lang="en-US" altLang="en-US" sz="2855"/>
          </a:p>
          <a:p>
            <a:pPr lvl="1" eaLnBrk="1" hangingPunct="1"/>
            <a:r>
              <a:rPr lang="en-US" altLang="en-US" sz="2855"/>
              <a:t>Evaluation function: estimate of cost from start to goal through given node</a:t>
            </a:r>
            <a:endParaRPr lang="en-US" altLang="en-US" sz="2855"/>
          </a:p>
          <a:p>
            <a:pPr lvl="1" eaLnBrk="1" hangingPunct="1"/>
            <a:r>
              <a:rPr lang="en-US" altLang="en-US" sz="2855"/>
              <a:t>Examples: path planning, scheduling activities</a:t>
            </a:r>
            <a:endParaRPr lang="en-US" altLang="en-US" sz="2855"/>
          </a:p>
          <a:p>
            <a:pPr marL="457200" lvl="1" indent="0" eaLnBrk="1" hangingPunct="1">
              <a:buNone/>
            </a:pPr>
            <a:r>
              <a:rPr lang="en-US" altLang="en-US" sz="2000" b="1"/>
              <a:t>Games – adversary</a:t>
            </a:r>
            <a:endParaRPr lang="en-US" altLang="en-US" sz="2000" b="1"/>
          </a:p>
          <a:p>
            <a:pPr lvl="1" algn="l" eaLnBrk="1" hangingPunct="1">
              <a:buSzTx/>
            </a:pPr>
            <a:r>
              <a:rPr lang="en-US" altLang="en-US" sz="2855"/>
              <a:t>Solution is strategy (strategy specifies move for every possible opponent reply).</a:t>
            </a:r>
            <a:endParaRPr lang="en-US" altLang="en-US" sz="2855"/>
          </a:p>
          <a:p>
            <a:pPr lvl="1" algn="l" eaLnBrk="1" hangingPunct="1">
              <a:buSzTx/>
            </a:pPr>
            <a:r>
              <a:rPr lang="en-US" altLang="en-US" sz="2855"/>
              <a:t>Optimality depends on opponent. Why?</a:t>
            </a:r>
            <a:endParaRPr lang="en-US" altLang="en-US" sz="2855"/>
          </a:p>
          <a:p>
            <a:pPr lvl="1" algn="l" eaLnBrk="1" hangingPunct="1">
              <a:buSzTx/>
            </a:pPr>
            <a:r>
              <a:rPr lang="en-US" altLang="en-US" sz="2855"/>
              <a:t>Time limits force an approximate solution</a:t>
            </a:r>
            <a:endParaRPr lang="en-US" altLang="en-US" sz="2855"/>
          </a:p>
          <a:p>
            <a:pPr lvl="1" algn="l" eaLnBrk="1" hangingPunct="1">
              <a:buSzTx/>
            </a:pPr>
            <a:r>
              <a:rPr lang="en-US" altLang="en-US" sz="2855"/>
              <a:t>Evaluation function: evaluate “goodness” of  game position</a:t>
            </a:r>
            <a:endParaRPr lang="en-US" altLang="en-US" sz="2855"/>
          </a:p>
          <a:p>
            <a:pPr lvl="1" algn="l" eaLnBrk="1" hangingPunct="1">
              <a:buSzTx/>
            </a:pPr>
            <a:r>
              <a:rPr lang="en-US" altLang="en-US" sz="2855"/>
              <a:t>Examples: chess, checkers, Othello, backgammon </a:t>
            </a:r>
            <a:endParaRPr lang="en-US" altLang="en-US" sz="2855"/>
          </a:p>
          <a:p>
            <a:pPr eaLnBrk="1" hangingPunct="1"/>
            <a:endParaRPr lang="en-US" alt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Search versus Games</a:t>
            </a:r>
            <a:endParaRPr lang="en-US"/>
          </a:p>
        </p:txBody>
      </p:sp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Types of Games</a:t>
            </a:r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476500" y="2589531"/>
          <a:ext cx="6096000" cy="2200275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eorgia" panose="02040502050405020303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eorgia" panose="02040502050405020303" charset="0"/>
                        </a:rPr>
                        <a:t>deterministic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eorgia" panose="02040502050405020303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eorgia" panose="02040502050405020303" charset="0"/>
                        </a:rPr>
                        <a:t>Chance moves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eorgia" panose="02040502050405020303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eorgia" panose="02040502050405020303" charset="0"/>
                        </a:rPr>
                        <a:t>Perfect information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eorgia" panose="02040502050405020303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D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eorgia" panose="02040502050405020303" charset="0"/>
                        </a:rPr>
                        <a:t>Chess, checkers, go, othello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eorgia" panose="02040502050405020303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D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eorgia" panose="02040502050405020303" charset="0"/>
                        </a:rPr>
                        <a:t>Backgammon, monopoly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eorgia" panose="02040502050405020303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D3C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eorgia" panose="02040502050405020303" charset="0"/>
                        </a:rPr>
                        <a:t>Imperfect information</a:t>
                      </a:r>
                      <a:b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eorgia" panose="02040502050405020303" charset="0"/>
                        </a:rPr>
                      </a:b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eorgia" panose="02040502050405020303" charset="0"/>
                        </a:rPr>
                        <a:t>(Initial Chance Moves)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eorgia" panose="02040502050405020303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eorgia" panose="02040502050405020303" charset="0"/>
                        </a:rPr>
                        <a:t>Bridge, Skat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eorgia" panose="02040502050405020303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eorgia" panose="02040502050405020303" charset="0"/>
                        </a:rPr>
                        <a:t>Poker, scrabble, blackjack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eorgia" panose="02040502050405020303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A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>
          <a:xfrm>
            <a:off x="1451610" y="2015490"/>
            <a:ext cx="10264775" cy="3912870"/>
          </a:xfrm>
        </p:spPr>
        <p:txBody>
          <a:bodyPr/>
          <a:lstStyle/>
          <a:p>
            <a:pPr eaLnBrk="1" hangingPunct="1"/>
            <a:r>
              <a:rPr lang="en-US" altLang="en-US" sz="2000"/>
              <a:t>Two players: MAX and MIN</a:t>
            </a:r>
            <a:endParaRPr lang="en-US" altLang="en-US" sz="2000"/>
          </a:p>
          <a:p>
            <a:pPr eaLnBrk="1" hangingPunct="1"/>
            <a:r>
              <a:rPr lang="en-US" altLang="en-US" sz="2000"/>
              <a:t>MAX moves first and they take turns until the game is over</a:t>
            </a:r>
            <a:endParaRPr lang="en-US" altLang="en-US" sz="2000"/>
          </a:p>
          <a:p>
            <a:pPr lvl="1" eaLnBrk="1" hangingPunct="1"/>
            <a:r>
              <a:rPr lang="en-US" altLang="en-US" sz="1800"/>
              <a:t>Winner gets award, loser gets penalty.</a:t>
            </a:r>
            <a:endParaRPr lang="en-US" altLang="en-US" sz="1800"/>
          </a:p>
          <a:p>
            <a:pPr eaLnBrk="1" hangingPunct="1"/>
            <a:r>
              <a:rPr lang="en-US" altLang="en-US" sz="2000"/>
              <a:t>Games as search:</a:t>
            </a:r>
            <a:endParaRPr lang="en-US" altLang="en-US" sz="2000"/>
          </a:p>
          <a:p>
            <a:pPr lvl="1" eaLnBrk="1" hangingPunct="1"/>
            <a:r>
              <a:rPr lang="en-US" altLang="en-US" sz="1800"/>
              <a:t>Initial state: e.g. board configuration of chess</a:t>
            </a:r>
            <a:endParaRPr lang="en-US" altLang="en-US" sz="1800"/>
          </a:p>
          <a:p>
            <a:pPr lvl="1" eaLnBrk="1" hangingPunct="1"/>
            <a:r>
              <a:rPr lang="en-US" altLang="en-US" sz="1800"/>
              <a:t>Successor function: list of (move,state) pairs specifying legal moves.</a:t>
            </a:r>
            <a:endParaRPr lang="en-US" altLang="en-US" sz="1800"/>
          </a:p>
          <a:p>
            <a:pPr lvl="1" eaLnBrk="1" hangingPunct="1"/>
            <a:r>
              <a:rPr lang="en-US" altLang="en-US" sz="1800"/>
              <a:t>Terminal test: Is the game finished?</a:t>
            </a:r>
            <a:endParaRPr lang="en-US" altLang="en-US" sz="1800"/>
          </a:p>
          <a:p>
            <a:pPr lvl="1" eaLnBrk="1" hangingPunct="1"/>
            <a:r>
              <a:rPr lang="en-US" altLang="en-US" sz="1800"/>
              <a:t>Utility function: Gives numerical value of terminal states. E.g. win (+1), lose (-1) and draw (0) in tic-tac-toe  or chess</a:t>
            </a:r>
            <a:endParaRPr lang="en-US" altLang="en-US" sz="180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Game Setup</a:t>
            </a:r>
            <a:endParaRPr lang="en-US"/>
          </a:p>
        </p:txBody>
      </p:sp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1825625" y="1932940"/>
            <a:ext cx="9543415" cy="4315460"/>
          </a:xfrm>
        </p:spPr>
        <p:txBody>
          <a:bodyPr>
            <a:normAutofit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300"/>
              <a:t>b = branching factor</a:t>
            </a:r>
            <a:endParaRPr lang="en-US" altLang="en-US" sz="2300"/>
          </a:p>
          <a:p>
            <a:pPr eaLnBrk="1" hangingPunct="1">
              <a:lnSpc>
                <a:spcPct val="80000"/>
              </a:lnSpc>
            </a:pPr>
            <a:r>
              <a:rPr lang="en-US" altLang="en-US" sz="2300"/>
              <a:t>d = number of moves by both players</a:t>
            </a:r>
            <a:endParaRPr lang="en-US" altLang="en-US" sz="2300"/>
          </a:p>
          <a:p>
            <a:pPr eaLnBrk="1" hangingPunct="1">
              <a:lnSpc>
                <a:spcPct val="80000"/>
              </a:lnSpc>
            </a:pPr>
            <a:r>
              <a:rPr lang="en-US" altLang="en-US" sz="2300"/>
              <a:t>Search tree is O(b</a:t>
            </a:r>
            <a:r>
              <a:rPr lang="en-US" altLang="en-US" sz="2300" baseline="30000"/>
              <a:t>d</a:t>
            </a:r>
            <a:r>
              <a:rPr lang="en-US" altLang="en-US" sz="2300"/>
              <a:t>)</a:t>
            </a:r>
            <a:endParaRPr lang="en-US" altLang="en-US" sz="2300"/>
          </a:p>
          <a:p>
            <a:pPr eaLnBrk="1" hangingPunct="1">
              <a:lnSpc>
                <a:spcPct val="80000"/>
              </a:lnSpc>
            </a:pPr>
            <a:r>
              <a:rPr lang="en-US" altLang="en-US" sz="2300"/>
              <a:t>Chess</a:t>
            </a:r>
            <a:endParaRPr lang="en-US" altLang="en-US" sz="2300"/>
          </a:p>
          <a:p>
            <a:pPr lvl="1" eaLnBrk="1" hangingPunct="1">
              <a:lnSpc>
                <a:spcPct val="80000"/>
              </a:lnSpc>
            </a:pPr>
            <a:r>
              <a:rPr lang="en-US" altLang="en-US" sz="1900"/>
              <a:t>b ~ 35</a:t>
            </a:r>
            <a:endParaRPr lang="en-US" altLang="en-US" sz="1900"/>
          </a:p>
          <a:p>
            <a:pPr lvl="1" eaLnBrk="1" hangingPunct="1">
              <a:lnSpc>
                <a:spcPct val="80000"/>
              </a:lnSpc>
            </a:pPr>
            <a:r>
              <a:rPr lang="en-US" altLang="en-US" sz="1900"/>
              <a:t>D ~100</a:t>
            </a:r>
            <a:endParaRPr lang="en-US" altLang="en-US" sz="190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900"/>
              <a:t>      -   search tree is ~ 10 </a:t>
            </a:r>
            <a:r>
              <a:rPr lang="en-US" altLang="en-US" sz="1900" baseline="30000"/>
              <a:t>154</a:t>
            </a:r>
            <a:r>
              <a:rPr lang="en-US" altLang="en-US" sz="1900"/>
              <a:t>   (!!)</a:t>
            </a:r>
            <a:endParaRPr lang="en-US" altLang="en-US" sz="190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900"/>
              <a:t>      -   completely impractical to search this</a:t>
            </a:r>
            <a:endParaRPr lang="en-US" altLang="en-US" sz="1900"/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9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Game-playing emphasizes being able to make optimal decisions in a finite amount of time</a:t>
            </a:r>
            <a:endParaRPr lang="en-US" altLang="en-US" sz="2000"/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Somewhat realistic as a model of a real-world agent</a:t>
            </a:r>
            <a:endParaRPr lang="en-US" altLang="en-US" sz="2000"/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Even if games themselves are artificial</a:t>
            </a:r>
            <a:endParaRPr lang="en-US" altLang="en-US" sz="200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Size of search trees</a:t>
            </a:r>
            <a:endParaRPr lang="en-US"/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1800"/>
              <a:t>Partial Game Tree for Tic-Tac-Toe</a:t>
            </a:r>
            <a:endParaRPr lang="en-US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800" y="2218055"/>
            <a:ext cx="6604000" cy="387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Game tree (2-player, deterministic, turns)</a:t>
            </a:r>
            <a:endParaRPr lang="en-US"/>
          </a:p>
        </p:txBody>
      </p:sp>
      <p:pic>
        <p:nvPicPr>
          <p:cNvPr id="17411" name="Picture 3" descr="tictacto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132330"/>
            <a:ext cx="5943600" cy="362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895600" y="5791201"/>
            <a:ext cx="61483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  <a:latin typeface="Georgia" panose="02040502050405020303" charset="0"/>
              </a:rPr>
              <a:t>How do we search this tree to find the optimal move?</a:t>
            </a:r>
            <a:endParaRPr lang="en-US" altLang="en-US">
              <a:solidFill>
                <a:srgbClr val="FF0000"/>
              </a:solidFill>
              <a:latin typeface="Georgia" panose="02040502050405020303" charset="0"/>
            </a:endParaRPr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65760" indent="-255905">
              <a:defRPr/>
            </a:pPr>
            <a:r>
              <a:rPr lang="en-US" dirty="0"/>
              <a:t>Find the optimal </a:t>
            </a:r>
            <a:r>
              <a:rPr lang="en-US" i="1" dirty="0"/>
              <a:t>strategy</a:t>
            </a:r>
            <a:r>
              <a:rPr lang="en-US" dirty="0"/>
              <a:t> for MAX assuming an infallible MIN opponent</a:t>
            </a:r>
            <a:endParaRPr lang="en-US" dirty="0"/>
          </a:p>
          <a:p>
            <a:pPr marL="621665" lvl="1">
              <a:spcBef>
                <a:spcPts val="325"/>
              </a:spcBef>
              <a:buFont typeface="Arial" panose="020B0604020202020204" pitchFamily="34" charset="0"/>
              <a:buChar char="–"/>
              <a:defRPr/>
            </a:pPr>
            <a:r>
              <a:rPr lang="en-US" dirty="0"/>
              <a:t>Need to compute this all the down the tree</a:t>
            </a:r>
            <a:endParaRPr lang="en-US" dirty="0"/>
          </a:p>
          <a:p>
            <a:pPr marL="621665" lvl="1">
              <a:spcBef>
                <a:spcPts val="325"/>
              </a:spcBef>
              <a:buFont typeface="Arial" panose="020B0604020202020204" pitchFamily="34" charset="0"/>
              <a:buChar char="–"/>
              <a:defRPr/>
            </a:pPr>
            <a:r>
              <a:rPr lang="en-US" dirty="0">
                <a:hlinkClick r:id="rId1"/>
              </a:rPr>
              <a:t>Game Tree Search Demo</a:t>
            </a:r>
            <a:br>
              <a:rPr lang="en-US" dirty="0"/>
            </a:br>
            <a:endParaRPr lang="en-US" dirty="0"/>
          </a:p>
          <a:p>
            <a:pPr marL="365760" indent="-255905">
              <a:defRPr/>
            </a:pPr>
            <a:r>
              <a:rPr lang="en-US" dirty="0"/>
              <a:t>Assumption: Both players play optimally!</a:t>
            </a:r>
            <a:endParaRPr lang="en-US" dirty="0"/>
          </a:p>
          <a:p>
            <a:pPr marL="365760" indent="-255905">
              <a:defRPr/>
            </a:pPr>
            <a:r>
              <a:rPr lang="en-US" dirty="0"/>
              <a:t>Given a game tree, the optimal strategy can be determined by using the </a:t>
            </a:r>
            <a:r>
              <a:rPr lang="en-US" b="1" dirty="0" err="1"/>
              <a:t>minimax</a:t>
            </a:r>
            <a:r>
              <a:rPr lang="en-US" b="1" dirty="0"/>
              <a:t> value of each node.</a:t>
            </a:r>
            <a:endParaRPr lang="en-US" dirty="0"/>
          </a:p>
          <a:p>
            <a:pPr marL="365760" indent="-255905">
              <a:defRPr/>
            </a:pPr>
            <a:r>
              <a:rPr lang="en-US" dirty="0" err="1"/>
              <a:t>Zermelo</a:t>
            </a:r>
            <a:r>
              <a:rPr lang="en-US" dirty="0"/>
              <a:t> 1912.</a:t>
            </a:r>
            <a:endParaRPr lang="en-US" dirty="0"/>
          </a:p>
          <a:p>
            <a:pPr marL="365760" indent="-255905">
              <a:buNone/>
              <a:defRPr/>
            </a:pPr>
            <a:endParaRPr lang="en-US" sz="1400" dirty="0"/>
          </a:p>
          <a:p>
            <a:pPr marL="365760" indent="-255905">
              <a:buNone/>
              <a:defRPr/>
            </a:pPr>
            <a:r>
              <a:rPr lang="en-US" sz="1600" dirty="0"/>
              <a:t>	</a:t>
            </a:r>
            <a:endParaRPr lang="en-US" sz="1600" dirty="0"/>
          </a:p>
          <a:p>
            <a:pPr marL="365760" indent="-255905">
              <a:defRPr/>
            </a:pPr>
            <a:endParaRPr lang="en-US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200"/>
              <a:t>Minimax strategy:</a:t>
            </a:r>
            <a:endParaRPr lang="en-US" sz="3200"/>
          </a:p>
        </p:txBody>
      </p:sp>
    </p:spTree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Two-Ply Game Tree</a:t>
            </a:r>
            <a:endParaRPr lang="en-US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514600"/>
            <a:ext cx="76200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971801"/>
            <a:ext cx="7620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048001"/>
            <a:ext cx="304800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2905126"/>
            <a:ext cx="7620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6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4200526"/>
            <a:ext cx="7620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6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4343401"/>
            <a:ext cx="3048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6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4495800"/>
            <a:ext cx="304800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6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4495800"/>
            <a:ext cx="304800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67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4386264"/>
            <a:ext cx="152400" cy="10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68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452939"/>
            <a:ext cx="30480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69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343400"/>
            <a:ext cx="1524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70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468814"/>
            <a:ext cx="30480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71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359275"/>
            <a:ext cx="1524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72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452939"/>
            <a:ext cx="30480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73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343400"/>
            <a:ext cx="1524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74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4468814"/>
            <a:ext cx="4572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75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359275"/>
            <a:ext cx="22860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76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4452939"/>
            <a:ext cx="30480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77" name="Pictur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4343400"/>
            <a:ext cx="1524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78" name="Picture 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452939"/>
            <a:ext cx="30480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79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343400"/>
            <a:ext cx="1524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80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5181601"/>
            <a:ext cx="63246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81" name="Picture 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638550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82" name="Picture 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3581400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83" name="Picture 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3581400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84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2514600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Two-Ply Game Tree</a:t>
            </a:r>
            <a:endParaRPr lang="en-US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514600"/>
            <a:ext cx="76200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971801"/>
            <a:ext cx="7620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048001"/>
            <a:ext cx="304800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2905126"/>
            <a:ext cx="7620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48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4200526"/>
            <a:ext cx="7620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48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4343401"/>
            <a:ext cx="3048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489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4495800"/>
            <a:ext cx="304800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490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4495800"/>
            <a:ext cx="304800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491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4386264"/>
            <a:ext cx="152400" cy="10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492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452939"/>
            <a:ext cx="30480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49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343400"/>
            <a:ext cx="1524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494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468814"/>
            <a:ext cx="30480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495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359275"/>
            <a:ext cx="1524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496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452939"/>
            <a:ext cx="30480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497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343400"/>
            <a:ext cx="1524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498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4468814"/>
            <a:ext cx="4572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499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359275"/>
            <a:ext cx="22860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500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4452939"/>
            <a:ext cx="30480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501" name="Pictur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4343400"/>
            <a:ext cx="1524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502" name="Picture 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452939"/>
            <a:ext cx="30480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503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343400"/>
            <a:ext cx="1524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504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638550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505" name="Picture 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3581400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506" name="Picture 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3581400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507" name="Picture 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2514600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Two-Ply Game Tree</a:t>
            </a:r>
            <a:endParaRPr lang="en-US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514600"/>
            <a:ext cx="76200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971801"/>
            <a:ext cx="7620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048001"/>
            <a:ext cx="304800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2905126"/>
            <a:ext cx="7620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151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2514600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1512" name="Oval 8"/>
          <p:cNvSpPr>
            <a:spLocks noChangeArrowheads="1"/>
          </p:cNvSpPr>
          <p:nvPr/>
        </p:nvSpPr>
        <p:spPr bwMode="auto">
          <a:xfrm>
            <a:off x="4038600" y="5105400"/>
            <a:ext cx="304800" cy="3048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Georgia" panose="02040502050405020303" charset="0"/>
            </a:endParaRPr>
          </a:p>
        </p:txBody>
      </p:sp>
      <p:cxnSp>
        <p:nvCxnSpPr>
          <p:cNvPr id="21513" name="AutoShape 9"/>
          <p:cNvCxnSpPr>
            <a:cxnSpLocks noChangeShapeType="1"/>
            <a:stCxn id="21512" idx="2"/>
          </p:cNvCxnSpPr>
          <p:nvPr/>
        </p:nvCxnSpPr>
        <p:spPr bwMode="auto">
          <a:xfrm rot="10800000" flipH="1">
            <a:off x="4038600" y="3810000"/>
            <a:ext cx="914400" cy="1447800"/>
          </a:xfrm>
          <a:prstGeom prst="curvedConnector4">
            <a:avLst>
              <a:gd name="adj1" fmla="val -25000"/>
              <a:gd name="adj2" fmla="val 78398"/>
            </a:avLst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14" name="Oval 10"/>
          <p:cNvSpPr>
            <a:spLocks noChangeArrowheads="1"/>
          </p:cNvSpPr>
          <p:nvPr/>
        </p:nvSpPr>
        <p:spPr bwMode="auto">
          <a:xfrm>
            <a:off x="9982200" y="5105400"/>
            <a:ext cx="304800" cy="3048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Georgia" panose="02040502050405020303" charset="0"/>
            </a:endParaRPr>
          </a:p>
        </p:txBody>
      </p:sp>
      <p:sp>
        <p:nvSpPr>
          <p:cNvPr id="21515" name="Oval 11"/>
          <p:cNvSpPr>
            <a:spLocks noChangeArrowheads="1"/>
          </p:cNvSpPr>
          <p:nvPr/>
        </p:nvSpPr>
        <p:spPr bwMode="auto">
          <a:xfrm>
            <a:off x="6248400" y="5105400"/>
            <a:ext cx="304800" cy="3048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Georgia" panose="02040502050405020303" charset="0"/>
            </a:endParaRPr>
          </a:p>
        </p:txBody>
      </p:sp>
      <p:sp>
        <p:nvSpPr>
          <p:cNvPr id="21516" name="Rectangle 12"/>
          <p:cNvSpPr>
            <a:spLocks noChangeArrowheads="1"/>
          </p:cNvSpPr>
          <p:nvPr/>
        </p:nvSpPr>
        <p:spPr bwMode="auto">
          <a:xfrm flipH="1">
            <a:off x="6858000" y="3810000"/>
            <a:ext cx="762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Georgia" panose="02040502050405020303" charset="0"/>
            </a:endParaRPr>
          </a:p>
        </p:txBody>
      </p:sp>
      <p:cxnSp>
        <p:nvCxnSpPr>
          <p:cNvPr id="21517" name="AutoShape 13"/>
          <p:cNvCxnSpPr>
            <a:cxnSpLocks noChangeShapeType="1"/>
            <a:stCxn id="21515" idx="2"/>
            <a:endCxn id="21516" idx="0"/>
          </p:cNvCxnSpPr>
          <p:nvPr/>
        </p:nvCxnSpPr>
        <p:spPr bwMode="auto">
          <a:xfrm rot="10800000" flipH="1">
            <a:off x="6248400" y="3810000"/>
            <a:ext cx="647700" cy="1447800"/>
          </a:xfrm>
          <a:prstGeom prst="curvedConnector4">
            <a:avLst>
              <a:gd name="adj1" fmla="val -35296"/>
              <a:gd name="adj2" fmla="val 95833"/>
            </a:avLst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8" name="AutoShape 14"/>
          <p:cNvCxnSpPr>
            <a:cxnSpLocks noChangeShapeType="1"/>
            <a:stCxn id="21514" idx="6"/>
          </p:cNvCxnSpPr>
          <p:nvPr/>
        </p:nvCxnSpPr>
        <p:spPr bwMode="auto">
          <a:xfrm flipH="1" flipV="1">
            <a:off x="9296400" y="3721100"/>
            <a:ext cx="990600" cy="1536700"/>
          </a:xfrm>
          <a:prstGeom prst="curvedConnector4">
            <a:avLst>
              <a:gd name="adj1" fmla="val -23079"/>
              <a:gd name="adj2" fmla="val 98343"/>
            </a:avLst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Two-Ply Game Tree</a:t>
            </a:r>
            <a:endParaRPr lang="en-US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514600"/>
            <a:ext cx="76200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2532" name="Oval 4"/>
          <p:cNvSpPr>
            <a:spLocks noChangeArrowheads="1"/>
          </p:cNvSpPr>
          <p:nvPr/>
        </p:nvSpPr>
        <p:spPr bwMode="auto">
          <a:xfrm>
            <a:off x="5181600" y="3581400"/>
            <a:ext cx="304800" cy="3048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Georgia" panose="02040502050405020303" charset="0"/>
            </a:endParaRPr>
          </a:p>
        </p:txBody>
      </p:sp>
      <p:cxnSp>
        <p:nvCxnSpPr>
          <p:cNvPr id="22533" name="AutoShape 5"/>
          <p:cNvCxnSpPr>
            <a:cxnSpLocks noChangeShapeType="1"/>
            <a:stCxn id="22532" idx="2"/>
          </p:cNvCxnSpPr>
          <p:nvPr/>
        </p:nvCxnSpPr>
        <p:spPr bwMode="auto">
          <a:xfrm rot="10800000" flipH="1">
            <a:off x="5181600" y="2667000"/>
            <a:ext cx="1752600" cy="1066800"/>
          </a:xfrm>
          <a:prstGeom prst="curvedConnector3">
            <a:avLst>
              <a:gd name="adj1" fmla="val -13042"/>
            </a:avLst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4419601" y="2359025"/>
            <a:ext cx="24050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>
                <a:solidFill>
                  <a:srgbClr val="FF0000"/>
                </a:solidFill>
                <a:latin typeface="Verdana" panose="020B0604030504040204" pitchFamily="34" charset="0"/>
              </a:rPr>
              <a:t>The minimax decision</a:t>
            </a:r>
            <a:endParaRPr lang="en-US" altLang="en-US" sz="1600" i="1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2133601" y="1412875"/>
            <a:ext cx="68373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Verdana" panose="020B0604030504040204" pitchFamily="34" charset="0"/>
              </a:rPr>
              <a:t>Minimax maximizes the utility for the worst-case outcome for max</a:t>
            </a:r>
            <a:endParaRPr lang="en-US" altLang="en-US" sz="1400" b="1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Definition of optimal play for MAX assumes MIN plays optimally:</a:t>
            </a:r>
            <a:endParaRPr lang="en-US" altLang="en-US" sz="2400"/>
          </a:p>
          <a:p>
            <a:pPr lvl="1" eaLnBrk="1" hangingPunct="1"/>
            <a:r>
              <a:rPr lang="en-US" altLang="en-US"/>
              <a:t>maximizes worst-case outcome for MAX</a:t>
            </a:r>
            <a:endParaRPr lang="en-US" altLang="en-US"/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 sz="2400"/>
              <a:t>But if MIN does not play optimally, MAX will do even better</a:t>
            </a:r>
            <a:endParaRPr lang="en-US" altLang="en-US" sz="2400"/>
          </a:p>
          <a:p>
            <a:pPr lvl="1" eaLnBrk="1" hangingPunct="1"/>
            <a:r>
              <a:rPr lang="en-US" altLang="en-US"/>
              <a:t>Can prove this (Problem 6.2)</a:t>
            </a:r>
            <a:endParaRPr lang="en-US" altLang="en-US"/>
          </a:p>
          <a:p>
            <a:pPr eaLnBrk="1" hangingPunct="1">
              <a:buFontTx/>
              <a:buNone/>
            </a:pPr>
            <a:endParaRPr lang="en-US" altLang="en-US" sz="2400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200"/>
              <a:t>What if MIN does not play optimally?</a:t>
            </a:r>
            <a:endParaRPr lang="en-US" sz="320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1" y="304800"/>
            <a:ext cx="7775575" cy="484188"/>
          </a:xfrm>
        </p:spPr>
        <p:txBody>
          <a:bodyPr/>
          <a:lstStyle/>
          <a:p>
            <a:pPr>
              <a:defRPr/>
            </a:pPr>
            <a:r>
              <a:rPr lang="en-US" sz="2500"/>
              <a:t>Pseudocode for Minimax Algorithm</a:t>
            </a:r>
            <a:endParaRPr lang="en-US" sz="2500"/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819400" y="1447800"/>
            <a:ext cx="68135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latin typeface="Times New Roman" panose="02020603050405020304" pitchFamily="18" charset="0"/>
              </a:rPr>
              <a:t>function </a:t>
            </a:r>
            <a:r>
              <a:rPr lang="en-US" altLang="en-US">
                <a:latin typeface="Times New Roman" panose="02020603050405020304" pitchFamily="18" charset="0"/>
              </a:rPr>
              <a:t>MINIMAX-DECISION(</a:t>
            </a:r>
            <a:r>
              <a:rPr lang="en-US" altLang="en-US" i="1">
                <a:latin typeface="Times New Roman" panose="02020603050405020304" pitchFamily="18" charset="0"/>
              </a:rPr>
              <a:t>state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  <a:r>
              <a:rPr lang="en-US" altLang="en-US" b="1">
                <a:latin typeface="Times New Roman" panose="02020603050405020304" pitchFamily="18" charset="0"/>
              </a:rPr>
              <a:t> returns </a:t>
            </a:r>
            <a:r>
              <a:rPr lang="en-US" altLang="en-US" i="1">
                <a:latin typeface="Times New Roman" panose="02020603050405020304" pitchFamily="18" charset="0"/>
              </a:rPr>
              <a:t>an action</a:t>
            </a:r>
            <a:endParaRPr lang="en-US" altLang="en-US" i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b="1">
                <a:latin typeface="Times New Roman" panose="02020603050405020304" pitchFamily="18" charset="0"/>
              </a:rPr>
              <a:t>   </a:t>
            </a:r>
            <a:r>
              <a:rPr lang="en-US" altLang="en-US" sz="1600" b="1">
                <a:latin typeface="Times New Roman" panose="02020603050405020304" pitchFamily="18" charset="0"/>
              </a:rPr>
              <a:t>inputs</a:t>
            </a:r>
            <a:r>
              <a:rPr lang="en-US" altLang="en-US" b="1">
                <a:latin typeface="Times New Roman" panose="02020603050405020304" pitchFamily="18" charset="0"/>
              </a:rPr>
              <a:t>: </a:t>
            </a:r>
            <a:r>
              <a:rPr lang="en-US" altLang="en-US" i="1">
                <a:latin typeface="Times New Roman" panose="02020603050405020304" pitchFamily="18" charset="0"/>
              </a:rPr>
              <a:t>state</a:t>
            </a:r>
            <a:r>
              <a:rPr lang="en-US" altLang="en-US">
                <a:latin typeface="Times New Roman" panose="02020603050405020304" pitchFamily="18" charset="0"/>
              </a:rPr>
              <a:t>, current state in game</a:t>
            </a:r>
            <a:endParaRPr lang="en-US" altLang="en-US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b="1">
                <a:latin typeface="Times New Roman" panose="02020603050405020304" pitchFamily="18" charset="0"/>
              </a:rPr>
              <a:t>   </a:t>
            </a:r>
            <a:r>
              <a:rPr lang="en-US" altLang="en-US" i="1">
                <a:latin typeface="Times New Roman" panose="02020603050405020304" pitchFamily="18" charset="0"/>
              </a:rPr>
              <a:t>v</a:t>
            </a:r>
            <a:r>
              <a:rPr lang="en-US" altLang="en-US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latin typeface="MS Shell Dlg" panose="020B0604020202020204" pitchFamily="34" charset="0"/>
              </a:rPr>
              <a:t>MAX-VALUE(</a:t>
            </a:r>
            <a:r>
              <a:rPr lang="en-US" altLang="en-US" i="1">
                <a:latin typeface="MS Shell Dlg" panose="020B0604020202020204" pitchFamily="34" charset="0"/>
              </a:rPr>
              <a:t>state</a:t>
            </a:r>
            <a:r>
              <a:rPr lang="en-US" altLang="en-US">
                <a:latin typeface="MS Shell Dlg" panose="020B0604020202020204" pitchFamily="34" charset="0"/>
              </a:rPr>
              <a:t>)</a:t>
            </a:r>
            <a:endParaRPr lang="en-US" altLang="en-US">
              <a:latin typeface="MS Shell Dlg" panose="020B0604020202020204" pitchFamily="34" charset="0"/>
            </a:endParaRPr>
          </a:p>
          <a:p>
            <a:pPr eaLnBrk="1" hangingPunct="1"/>
            <a:r>
              <a:rPr lang="en-US" altLang="en-US" b="1">
                <a:latin typeface="MS Shell Dlg" panose="020B0604020202020204" pitchFamily="34" charset="0"/>
              </a:rPr>
              <a:t>   return </a:t>
            </a:r>
            <a:r>
              <a:rPr lang="en-US" altLang="en-US">
                <a:latin typeface="MS Shell Dlg" panose="020B0604020202020204" pitchFamily="34" charset="0"/>
              </a:rPr>
              <a:t>the </a:t>
            </a:r>
            <a:r>
              <a:rPr lang="en-US" altLang="en-US" i="1">
                <a:latin typeface="MS Shell Dlg" panose="020B0604020202020204" pitchFamily="34" charset="0"/>
              </a:rPr>
              <a:t>action</a:t>
            </a:r>
            <a:r>
              <a:rPr lang="en-US" altLang="en-US">
                <a:latin typeface="MS Shell Dlg" panose="020B0604020202020204" pitchFamily="34" charset="0"/>
              </a:rPr>
              <a:t> in SUCCESSORS(</a:t>
            </a:r>
            <a:r>
              <a:rPr lang="en-US" altLang="en-US" i="1">
                <a:latin typeface="MS Shell Dlg" panose="020B0604020202020204" pitchFamily="34" charset="0"/>
              </a:rPr>
              <a:t>state</a:t>
            </a:r>
            <a:r>
              <a:rPr lang="en-US" altLang="en-US">
                <a:latin typeface="MS Shell Dlg" panose="020B0604020202020204" pitchFamily="34" charset="0"/>
              </a:rPr>
              <a:t>) with value </a:t>
            </a:r>
            <a:r>
              <a:rPr lang="en-US" altLang="en-US" i="1">
                <a:latin typeface="MS Shell Dlg" panose="020B0604020202020204" pitchFamily="34" charset="0"/>
              </a:rPr>
              <a:t>v</a:t>
            </a:r>
            <a:endParaRPr lang="en-US" altLang="en-US" i="1">
              <a:latin typeface="Times New Roman" panose="02020603050405020304" pitchFamily="18" charset="0"/>
            </a:endParaRP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3276600" y="4495800"/>
            <a:ext cx="591185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baseline="30000">
                <a:latin typeface="Times New Roman" panose="02020603050405020304" pitchFamily="18" charset="0"/>
              </a:rPr>
              <a:t>function </a:t>
            </a:r>
            <a:r>
              <a:rPr lang="en-US" altLang="en-US" sz="2800" baseline="30000">
                <a:latin typeface="Times New Roman" panose="02020603050405020304" pitchFamily="18" charset="0"/>
              </a:rPr>
              <a:t>MIN-VALUE(</a:t>
            </a:r>
            <a:r>
              <a:rPr lang="en-US" altLang="en-US" sz="2800" i="1" baseline="30000">
                <a:latin typeface="Times New Roman" panose="02020603050405020304" pitchFamily="18" charset="0"/>
              </a:rPr>
              <a:t>state</a:t>
            </a:r>
            <a:r>
              <a:rPr lang="en-US" altLang="en-US" sz="2800" baseline="30000">
                <a:latin typeface="Times New Roman" panose="02020603050405020304" pitchFamily="18" charset="0"/>
              </a:rPr>
              <a:t>)</a:t>
            </a:r>
            <a:r>
              <a:rPr lang="en-US" altLang="en-US" sz="2800" b="1" baseline="30000">
                <a:latin typeface="Times New Roman" panose="02020603050405020304" pitchFamily="18" charset="0"/>
              </a:rPr>
              <a:t> returns </a:t>
            </a:r>
            <a:r>
              <a:rPr lang="en-US" altLang="en-US" sz="2800" i="1" baseline="30000">
                <a:latin typeface="Times New Roman" panose="02020603050405020304" pitchFamily="18" charset="0"/>
              </a:rPr>
              <a:t>a utility value</a:t>
            </a:r>
            <a:endParaRPr lang="en-US" altLang="en-US" sz="2800" i="1" baseline="300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800" b="1" baseline="30000">
                <a:latin typeface="Times New Roman" panose="02020603050405020304" pitchFamily="18" charset="0"/>
              </a:rPr>
              <a:t>   if </a:t>
            </a:r>
            <a:r>
              <a:rPr lang="en-US" altLang="en-US" sz="2800" baseline="30000">
                <a:latin typeface="Times New Roman" panose="02020603050405020304" pitchFamily="18" charset="0"/>
              </a:rPr>
              <a:t>TERMINAL-TEST(</a:t>
            </a:r>
            <a:r>
              <a:rPr lang="en-US" altLang="en-US" sz="2800" i="1" baseline="30000">
                <a:latin typeface="Times New Roman" panose="02020603050405020304" pitchFamily="18" charset="0"/>
              </a:rPr>
              <a:t>state</a:t>
            </a:r>
            <a:r>
              <a:rPr lang="en-US" altLang="en-US" sz="2800" baseline="30000">
                <a:latin typeface="Times New Roman" panose="02020603050405020304" pitchFamily="18" charset="0"/>
              </a:rPr>
              <a:t>) </a:t>
            </a:r>
            <a:r>
              <a:rPr lang="en-US" altLang="en-US" sz="2800" b="1" baseline="30000">
                <a:latin typeface="Times New Roman" panose="02020603050405020304" pitchFamily="18" charset="0"/>
              </a:rPr>
              <a:t>then return</a:t>
            </a:r>
            <a:r>
              <a:rPr lang="en-US" altLang="en-US" sz="2800" baseline="30000">
                <a:latin typeface="Times New Roman" panose="02020603050405020304" pitchFamily="18" charset="0"/>
              </a:rPr>
              <a:t> UTILITY(</a:t>
            </a:r>
            <a:r>
              <a:rPr lang="en-US" altLang="en-US" sz="2800" i="1" baseline="30000">
                <a:latin typeface="Times New Roman" panose="02020603050405020304" pitchFamily="18" charset="0"/>
              </a:rPr>
              <a:t>state</a:t>
            </a:r>
            <a:r>
              <a:rPr lang="en-US" altLang="en-US" sz="2800" baseline="30000">
                <a:latin typeface="Times New Roman" panose="02020603050405020304" pitchFamily="18" charset="0"/>
              </a:rPr>
              <a:t>)</a:t>
            </a:r>
            <a:endParaRPr lang="en-US" altLang="en-US" sz="2800" b="1" baseline="300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800" b="1" baseline="30000">
                <a:latin typeface="Times New Roman" panose="02020603050405020304" pitchFamily="18" charset="0"/>
              </a:rPr>
              <a:t>   </a:t>
            </a:r>
            <a:r>
              <a:rPr lang="en-US" altLang="en-US" sz="2800" i="1" baseline="30000">
                <a:latin typeface="Times New Roman" panose="02020603050405020304" pitchFamily="18" charset="0"/>
              </a:rPr>
              <a:t>v </a:t>
            </a:r>
            <a:r>
              <a:rPr lang="en-US" altLang="en-US" sz="2800" baseline="30000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800" baseline="30000">
                <a:latin typeface="Times New Roman" panose="02020603050405020304" pitchFamily="18" charset="0"/>
              </a:rPr>
              <a:t> ∞</a:t>
            </a:r>
            <a:endParaRPr lang="en-US" altLang="en-US" sz="2800" baseline="300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800" b="1" baseline="30000">
                <a:latin typeface="MS Shell Dlg" panose="020B0604020202020204" pitchFamily="34" charset="0"/>
              </a:rPr>
              <a:t>   for </a:t>
            </a:r>
            <a:r>
              <a:rPr lang="en-US" altLang="en-US" sz="2800" i="1" baseline="30000">
                <a:latin typeface="MS Shell Dlg" panose="020B0604020202020204" pitchFamily="34" charset="0"/>
              </a:rPr>
              <a:t>a,s</a:t>
            </a:r>
            <a:r>
              <a:rPr lang="en-US" altLang="en-US" sz="2800" baseline="30000">
                <a:latin typeface="MS Shell Dlg" panose="020B0604020202020204" pitchFamily="34" charset="0"/>
              </a:rPr>
              <a:t> in SUCCESSORS(</a:t>
            </a:r>
            <a:r>
              <a:rPr lang="en-US" altLang="en-US" sz="2800" i="1" baseline="30000">
                <a:latin typeface="MS Shell Dlg" panose="020B0604020202020204" pitchFamily="34" charset="0"/>
              </a:rPr>
              <a:t>state</a:t>
            </a:r>
            <a:r>
              <a:rPr lang="en-US" altLang="en-US" sz="2800" baseline="30000">
                <a:latin typeface="MS Shell Dlg" panose="020B0604020202020204" pitchFamily="34" charset="0"/>
              </a:rPr>
              <a:t>) </a:t>
            </a:r>
            <a:r>
              <a:rPr lang="en-US" altLang="en-US" sz="2800" b="1" baseline="30000">
                <a:latin typeface="MS Shell Dlg" panose="020B0604020202020204" pitchFamily="34" charset="0"/>
              </a:rPr>
              <a:t>do</a:t>
            </a:r>
            <a:endParaRPr lang="en-US" altLang="en-US" sz="2800" b="1" baseline="30000">
              <a:latin typeface="MS Shell Dlg" panose="020B0604020202020204" pitchFamily="34" charset="0"/>
            </a:endParaRPr>
          </a:p>
          <a:p>
            <a:pPr eaLnBrk="1" hangingPunct="1"/>
            <a:r>
              <a:rPr lang="en-US" altLang="en-US" sz="2800" b="1" baseline="30000">
                <a:latin typeface="Times New Roman" panose="02020603050405020304" pitchFamily="18" charset="0"/>
              </a:rPr>
              <a:t>      </a:t>
            </a:r>
            <a:r>
              <a:rPr lang="en-US" altLang="en-US" sz="2800" i="1" baseline="30000">
                <a:latin typeface="Times New Roman" panose="02020603050405020304" pitchFamily="18" charset="0"/>
              </a:rPr>
              <a:t>v </a:t>
            </a:r>
            <a:r>
              <a:rPr lang="en-US" altLang="en-US" sz="2800" baseline="30000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800" baseline="30000">
                <a:latin typeface="Times New Roman" panose="02020603050405020304" pitchFamily="18" charset="0"/>
              </a:rPr>
              <a:t> </a:t>
            </a:r>
            <a:r>
              <a:rPr lang="en-US" altLang="en-US" sz="2800" baseline="30000">
                <a:latin typeface="MS Shell Dlg" panose="020B0604020202020204" pitchFamily="34" charset="0"/>
              </a:rPr>
              <a:t>MIN(</a:t>
            </a:r>
            <a:r>
              <a:rPr lang="en-US" altLang="en-US" sz="2800" i="1" baseline="30000">
                <a:latin typeface="MS Shell Dlg" panose="020B0604020202020204" pitchFamily="34" charset="0"/>
              </a:rPr>
              <a:t>v,</a:t>
            </a:r>
            <a:r>
              <a:rPr lang="en-US" altLang="en-US" sz="2800" baseline="30000">
                <a:latin typeface="MS Shell Dlg" panose="020B0604020202020204" pitchFamily="34" charset="0"/>
              </a:rPr>
              <a:t>MAX-VALUE(</a:t>
            </a:r>
            <a:r>
              <a:rPr lang="en-US" altLang="en-US" sz="2800" i="1" baseline="30000">
                <a:latin typeface="MS Shell Dlg" panose="020B0604020202020204" pitchFamily="34" charset="0"/>
              </a:rPr>
              <a:t>s</a:t>
            </a:r>
            <a:r>
              <a:rPr lang="en-US" altLang="en-US" sz="2800" baseline="30000">
                <a:latin typeface="MS Shell Dlg" panose="020B0604020202020204" pitchFamily="34" charset="0"/>
              </a:rPr>
              <a:t>))</a:t>
            </a:r>
            <a:endParaRPr lang="en-US" altLang="en-US" sz="2800" baseline="30000">
              <a:latin typeface="MS Shell Dlg" panose="020B0604020202020204" pitchFamily="34" charset="0"/>
            </a:endParaRPr>
          </a:p>
          <a:p>
            <a:pPr eaLnBrk="1" hangingPunct="1"/>
            <a:r>
              <a:rPr lang="en-US" altLang="en-US" sz="2800" b="1" baseline="30000">
                <a:latin typeface="MS Shell Dlg" panose="020B0604020202020204" pitchFamily="34" charset="0"/>
              </a:rPr>
              <a:t>   return </a:t>
            </a:r>
            <a:r>
              <a:rPr lang="en-US" altLang="en-US" sz="2800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endParaRPr lang="en-US" altLang="en-US" sz="2800" i="1" baseline="300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2895600" y="2743200"/>
            <a:ext cx="64008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Times New Roman" panose="02020603050405020304" pitchFamily="18" charset="0"/>
              </a:rPr>
              <a:t>function </a:t>
            </a:r>
            <a:r>
              <a:rPr lang="en-US" altLang="en-US" sz="1600">
                <a:latin typeface="Times New Roman" panose="02020603050405020304" pitchFamily="18" charset="0"/>
              </a:rPr>
              <a:t>MAX-VALUE(</a:t>
            </a:r>
            <a:r>
              <a:rPr lang="en-US" altLang="en-US" sz="1600" i="1">
                <a:latin typeface="Times New Roman" panose="02020603050405020304" pitchFamily="18" charset="0"/>
              </a:rPr>
              <a:t>state</a:t>
            </a:r>
            <a:r>
              <a:rPr lang="en-US" altLang="en-US" sz="1600">
                <a:latin typeface="Times New Roman" panose="02020603050405020304" pitchFamily="18" charset="0"/>
              </a:rPr>
              <a:t>)</a:t>
            </a:r>
            <a:r>
              <a:rPr lang="en-US" altLang="en-US" sz="1600" b="1">
                <a:latin typeface="Times New Roman" panose="02020603050405020304" pitchFamily="18" charset="0"/>
              </a:rPr>
              <a:t> returns </a:t>
            </a:r>
            <a:r>
              <a:rPr lang="en-US" altLang="en-US" sz="1600" i="1">
                <a:latin typeface="Times New Roman" panose="02020603050405020304" pitchFamily="18" charset="0"/>
              </a:rPr>
              <a:t>a utility value</a:t>
            </a:r>
            <a:endParaRPr lang="en-US" altLang="en-US" sz="1600" i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1600" b="1">
                <a:latin typeface="Times New Roman" panose="02020603050405020304" pitchFamily="18" charset="0"/>
              </a:rPr>
              <a:t>   if </a:t>
            </a:r>
            <a:r>
              <a:rPr lang="en-US" altLang="en-US" sz="1600">
                <a:latin typeface="Times New Roman" panose="02020603050405020304" pitchFamily="18" charset="0"/>
              </a:rPr>
              <a:t>TERMINAL-TEST(</a:t>
            </a:r>
            <a:r>
              <a:rPr lang="en-US" altLang="en-US" sz="1600" i="1">
                <a:latin typeface="Times New Roman" panose="02020603050405020304" pitchFamily="18" charset="0"/>
              </a:rPr>
              <a:t>state</a:t>
            </a:r>
            <a:r>
              <a:rPr lang="en-US" altLang="en-US" sz="1600">
                <a:latin typeface="Times New Roman" panose="02020603050405020304" pitchFamily="18" charset="0"/>
              </a:rPr>
              <a:t>) </a:t>
            </a:r>
            <a:r>
              <a:rPr lang="en-US" altLang="en-US" sz="1600" b="1">
                <a:latin typeface="Times New Roman" panose="02020603050405020304" pitchFamily="18" charset="0"/>
              </a:rPr>
              <a:t>then return</a:t>
            </a:r>
            <a:r>
              <a:rPr lang="en-US" altLang="en-US" sz="1600">
                <a:latin typeface="Times New Roman" panose="02020603050405020304" pitchFamily="18" charset="0"/>
              </a:rPr>
              <a:t> UTILITY(</a:t>
            </a:r>
            <a:r>
              <a:rPr lang="en-US" altLang="en-US" sz="1600" i="1">
                <a:latin typeface="Times New Roman" panose="02020603050405020304" pitchFamily="18" charset="0"/>
              </a:rPr>
              <a:t>state</a:t>
            </a:r>
            <a:r>
              <a:rPr lang="en-US" altLang="en-US" sz="1600">
                <a:latin typeface="Times New Roman" panose="02020603050405020304" pitchFamily="18" charset="0"/>
              </a:rPr>
              <a:t>)</a:t>
            </a:r>
            <a:endParaRPr lang="en-US" altLang="en-US" sz="1600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1600" b="1">
                <a:latin typeface="Times New Roman" panose="02020603050405020304" pitchFamily="18" charset="0"/>
              </a:rPr>
              <a:t>   </a:t>
            </a:r>
            <a:r>
              <a:rPr lang="en-US" altLang="en-US" sz="1600" i="1">
                <a:latin typeface="Times New Roman" panose="02020603050405020304" pitchFamily="18" charset="0"/>
              </a:rPr>
              <a:t>v </a:t>
            </a:r>
            <a:r>
              <a:rPr lang="en-US" altLang="en-US" sz="1600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600">
                <a:latin typeface="Times New Roman" panose="02020603050405020304" pitchFamily="18" charset="0"/>
              </a:rPr>
              <a:t> -∞</a:t>
            </a:r>
            <a:endParaRPr lang="en-US" altLang="en-US" sz="16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1600" b="1">
                <a:latin typeface="MS Shell Dlg" panose="020B0604020202020204" pitchFamily="34" charset="0"/>
              </a:rPr>
              <a:t>   for </a:t>
            </a:r>
            <a:r>
              <a:rPr lang="en-US" altLang="en-US" sz="1600" i="1">
                <a:latin typeface="MS Shell Dlg" panose="020B0604020202020204" pitchFamily="34" charset="0"/>
              </a:rPr>
              <a:t>a,s</a:t>
            </a:r>
            <a:r>
              <a:rPr lang="en-US" altLang="en-US" sz="1600">
                <a:latin typeface="MS Shell Dlg" panose="020B0604020202020204" pitchFamily="34" charset="0"/>
              </a:rPr>
              <a:t> in SUCCESSORS(</a:t>
            </a:r>
            <a:r>
              <a:rPr lang="en-US" altLang="en-US" sz="1600" i="1">
                <a:latin typeface="MS Shell Dlg" panose="020B0604020202020204" pitchFamily="34" charset="0"/>
              </a:rPr>
              <a:t>state</a:t>
            </a:r>
            <a:r>
              <a:rPr lang="en-US" altLang="en-US" sz="1600">
                <a:latin typeface="MS Shell Dlg" panose="020B0604020202020204" pitchFamily="34" charset="0"/>
              </a:rPr>
              <a:t>) </a:t>
            </a:r>
            <a:r>
              <a:rPr lang="en-US" altLang="en-US" sz="1600" b="1">
                <a:latin typeface="MS Shell Dlg" panose="020B0604020202020204" pitchFamily="34" charset="0"/>
              </a:rPr>
              <a:t>do</a:t>
            </a:r>
            <a:endParaRPr lang="en-US" altLang="en-US" sz="1600" b="1">
              <a:latin typeface="MS Shell Dlg" panose="020B0604020202020204" pitchFamily="34" charset="0"/>
            </a:endParaRPr>
          </a:p>
          <a:p>
            <a:pPr eaLnBrk="1" hangingPunct="1"/>
            <a:r>
              <a:rPr lang="en-US" altLang="en-US" sz="1600" b="1">
                <a:latin typeface="Times New Roman" panose="02020603050405020304" pitchFamily="18" charset="0"/>
              </a:rPr>
              <a:t>      </a:t>
            </a:r>
            <a:r>
              <a:rPr lang="en-US" altLang="en-US" sz="1600" i="1">
                <a:latin typeface="Times New Roman" panose="02020603050405020304" pitchFamily="18" charset="0"/>
              </a:rPr>
              <a:t>v </a:t>
            </a:r>
            <a:r>
              <a:rPr lang="en-US" altLang="en-US" sz="1600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600">
                <a:latin typeface="Times New Roman" panose="02020603050405020304" pitchFamily="18" charset="0"/>
              </a:rPr>
              <a:t> </a:t>
            </a:r>
            <a:r>
              <a:rPr lang="en-US" altLang="en-US" sz="1600">
                <a:latin typeface="MS Shell Dlg" panose="020B0604020202020204" pitchFamily="34" charset="0"/>
              </a:rPr>
              <a:t>MAX(</a:t>
            </a:r>
            <a:r>
              <a:rPr lang="en-US" altLang="en-US" sz="1600" i="1">
                <a:latin typeface="MS Shell Dlg" panose="020B0604020202020204" pitchFamily="34" charset="0"/>
              </a:rPr>
              <a:t>v,</a:t>
            </a:r>
            <a:r>
              <a:rPr lang="en-US" altLang="en-US" sz="1600">
                <a:latin typeface="MS Shell Dlg" panose="020B0604020202020204" pitchFamily="34" charset="0"/>
              </a:rPr>
              <a:t>MIN-VALUE(</a:t>
            </a:r>
            <a:r>
              <a:rPr lang="en-US" altLang="en-US" sz="1600" i="1">
                <a:latin typeface="MS Shell Dlg" panose="020B0604020202020204" pitchFamily="34" charset="0"/>
              </a:rPr>
              <a:t>s</a:t>
            </a:r>
            <a:r>
              <a:rPr lang="en-US" altLang="en-US" sz="1600">
                <a:latin typeface="MS Shell Dlg" panose="020B0604020202020204" pitchFamily="34" charset="0"/>
              </a:rPr>
              <a:t>))</a:t>
            </a:r>
            <a:endParaRPr lang="en-US" altLang="en-US" sz="1600">
              <a:latin typeface="MS Shell Dlg" panose="020B0604020202020204" pitchFamily="34" charset="0"/>
            </a:endParaRPr>
          </a:p>
          <a:p>
            <a:pPr eaLnBrk="1" hangingPunct="1"/>
            <a:r>
              <a:rPr lang="en-US" altLang="en-US" sz="1600" b="1">
                <a:latin typeface="MS Shell Dlg" panose="020B0604020202020204" pitchFamily="34" charset="0"/>
              </a:rPr>
              <a:t>   return </a:t>
            </a:r>
            <a:r>
              <a:rPr lang="en-US" altLang="en-US" sz="1600" i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endParaRPr lang="en-US" altLang="en-US" sz="1600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4582" name="Line 7"/>
          <p:cNvSpPr>
            <a:spLocks noChangeShapeType="1"/>
          </p:cNvSpPr>
          <p:nvPr/>
        </p:nvSpPr>
        <p:spPr bwMode="auto">
          <a:xfrm>
            <a:off x="1752600" y="4419600"/>
            <a:ext cx="861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8857" name="Rectangle 9"/>
          <p:cNvSpPr>
            <a:spLocks noChangeArrowheads="1"/>
          </p:cNvSpPr>
          <p:nvPr/>
        </p:nvSpPr>
        <p:spPr bwMode="auto">
          <a:xfrm>
            <a:off x="2971800" y="2057400"/>
            <a:ext cx="6076950" cy="2286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Georgia" panose="02040502050405020303" charset="0"/>
            </a:endParaRPr>
          </a:p>
        </p:txBody>
      </p:sp>
      <p:sp>
        <p:nvSpPr>
          <p:cNvPr id="78858" name="Rectangle 10"/>
          <p:cNvSpPr>
            <a:spLocks noChangeArrowheads="1"/>
          </p:cNvSpPr>
          <p:nvPr/>
        </p:nvSpPr>
        <p:spPr bwMode="auto">
          <a:xfrm>
            <a:off x="3124200" y="3733800"/>
            <a:ext cx="37338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Georgia" panose="02040502050405020303" charset="0"/>
            </a:endParaRPr>
          </a:p>
        </p:txBody>
      </p:sp>
      <p:sp>
        <p:nvSpPr>
          <p:cNvPr id="78859" name="Rectangle 11"/>
          <p:cNvSpPr>
            <a:spLocks noChangeArrowheads="1"/>
          </p:cNvSpPr>
          <p:nvPr/>
        </p:nvSpPr>
        <p:spPr bwMode="auto">
          <a:xfrm>
            <a:off x="3505200" y="5562600"/>
            <a:ext cx="37338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Georgia" panose="02040502050405020303" charset="0"/>
            </a:endParaRPr>
          </a:p>
        </p:txBody>
      </p:sp>
      <p:sp>
        <p:nvSpPr>
          <p:cNvPr id="24586" name="Line 7"/>
          <p:cNvSpPr>
            <a:spLocks noChangeShapeType="1"/>
          </p:cNvSpPr>
          <p:nvPr/>
        </p:nvSpPr>
        <p:spPr bwMode="auto">
          <a:xfrm>
            <a:off x="1752600" y="2743200"/>
            <a:ext cx="853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7" grpId="0" bldLvl="0" animBg="1"/>
      <p:bldP spid="78858" grpId="0" bldLvl="0" animBg="1"/>
      <p:bldP spid="78859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7"/>
          <p:cNvSpPr>
            <a:spLocks noChangeArrowheads="1"/>
          </p:cNvSpPr>
          <p:nvPr/>
        </p:nvSpPr>
        <p:spPr bwMode="auto">
          <a:xfrm>
            <a:off x="4011084" y="304800"/>
            <a:ext cx="2076209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3200" b="1" u="sng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Example-1</a:t>
            </a:r>
            <a:endParaRPr lang="en-US" sz="320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99770" y="2133600"/>
            <a:ext cx="10792460" cy="32111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ransition advClick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7"/>
          <p:cNvSpPr>
            <a:spLocks noChangeArrowheads="1"/>
          </p:cNvSpPr>
          <p:nvPr/>
        </p:nvSpPr>
        <p:spPr bwMode="auto">
          <a:xfrm>
            <a:off x="4011084" y="304800"/>
            <a:ext cx="1460656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3200" b="1" u="sng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sz="320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508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07434" y="1905000"/>
            <a:ext cx="11781367" cy="3505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ransition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7"/>
          <p:cNvSpPr>
            <a:spLocks noChangeArrowheads="1"/>
          </p:cNvSpPr>
          <p:nvPr/>
        </p:nvSpPr>
        <p:spPr bwMode="auto">
          <a:xfrm>
            <a:off x="4011084" y="304800"/>
            <a:ext cx="1460656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3200" b="1" u="sng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sz="320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532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07434" y="1905000"/>
            <a:ext cx="11781367" cy="3505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ransition advClick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7"/>
          <p:cNvSpPr>
            <a:spLocks noChangeArrowheads="1"/>
          </p:cNvSpPr>
          <p:nvPr/>
        </p:nvSpPr>
        <p:spPr bwMode="auto">
          <a:xfrm>
            <a:off x="3759200" y="406400"/>
            <a:ext cx="2076209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3200" b="1" u="sng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Example-2</a:t>
            </a:r>
            <a:endParaRPr lang="en-US" sz="320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55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03200" y="1852614"/>
            <a:ext cx="11785600" cy="439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7"/>
          <p:cNvSpPr>
            <a:spLocks noChangeArrowheads="1"/>
          </p:cNvSpPr>
          <p:nvPr/>
        </p:nvSpPr>
        <p:spPr bwMode="auto">
          <a:xfrm>
            <a:off x="4011084" y="304800"/>
            <a:ext cx="2076209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3200" b="1" u="sng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Example-3</a:t>
            </a:r>
            <a:endParaRPr lang="en-US" sz="320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580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41867" y="1563688"/>
            <a:ext cx="11142133" cy="5065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0800000" flipV="1">
            <a:off x="7410091" y="6185140"/>
            <a:ext cx="4226943" cy="422693"/>
          </a:xfrm>
        </p:spPr>
        <p:txBody>
          <a:bodyPr/>
          <a:lstStyle/>
          <a:p>
            <a:pPr lvl="1"/>
            <a:endParaRPr lang="en-US" altLang="en-US" dirty="0"/>
          </a:p>
          <a:p>
            <a:pPr lvl="1"/>
            <a:r>
              <a:rPr lang="en-US" altLang="en-US" dirty="0"/>
              <a:t>End of Session</a:t>
            </a:r>
            <a:endParaRPr lang="en-US" altLang="en-US" dirty="0"/>
          </a:p>
        </p:txBody>
      </p:sp>
      <p:pic>
        <p:nvPicPr>
          <p:cNvPr id="5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 bwMode="auto">
          <a:xfrm>
            <a:off x="1432223" y="456960"/>
            <a:ext cx="9396566" cy="5021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5400" b="1" dirty="0"/>
          </a:p>
          <a:p>
            <a:pPr marL="0" indent="0" algn="ctr">
              <a:buNone/>
            </a:pPr>
            <a:endParaRPr lang="en-IN" sz="5400" b="1" dirty="0"/>
          </a:p>
          <a:p>
            <a:pPr marL="0" indent="0" algn="ctr">
              <a:buNone/>
            </a:pPr>
            <a:r>
              <a:rPr lang="en-IN" sz="5400" b="1" dirty="0"/>
              <a:t>Thank you</a:t>
            </a:r>
            <a:endParaRPr lang="en-IN" sz="5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</a:fld>
            <a:endParaRPr lang="en-AU"/>
          </a:p>
        </p:txBody>
      </p:sp>
    </p:spTree>
  </p:cSld>
  <p:clrMapOvr>
    <a:masterClrMapping/>
  </p:clrMapOvr>
  <p:transition advClick="0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 (1)</Template>
  <TotalTime>0</TotalTime>
  <Words>3582</Words>
  <Application>WPS Presentation</Application>
  <PresentationFormat>Widescreen</PresentationFormat>
  <Paragraphs>165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6" baseType="lpstr">
      <vt:lpstr>Arial</vt:lpstr>
      <vt:lpstr>SimSun</vt:lpstr>
      <vt:lpstr>Wingdings</vt:lpstr>
      <vt:lpstr>Gill Sans MT</vt:lpstr>
      <vt:lpstr>Microsoft YaHei</vt:lpstr>
      <vt:lpstr>Arial Unicode MS</vt:lpstr>
      <vt:lpstr>Calibri</vt:lpstr>
      <vt:lpstr>Times New Roman</vt:lpstr>
      <vt:lpstr>Arial Unicode MS</vt:lpstr>
      <vt:lpstr>Courier New</vt:lpstr>
      <vt:lpstr>Carlito</vt:lpstr>
      <vt:lpstr>Segoe Print</vt:lpstr>
      <vt:lpstr>Arial Unicode MS</vt:lpstr>
      <vt:lpstr>Arial</vt:lpstr>
      <vt:lpstr>Times New Roman</vt:lpstr>
      <vt:lpstr>Aharoni</vt:lpstr>
      <vt:lpstr>MS PGothic</vt:lpstr>
      <vt:lpstr>Georgia</vt:lpstr>
      <vt:lpstr>Verdana</vt:lpstr>
      <vt:lpstr>Symbol</vt:lpstr>
      <vt:lpstr>MS Shell Dlg</vt:lpstr>
      <vt:lpstr>Microsoft Sans Serif</vt:lpstr>
      <vt:lpstr>Gallery</vt:lpstr>
      <vt:lpstr>        22AD2001A  DDAIS </vt:lpstr>
      <vt:lpstr>Adversarial Search</vt:lpstr>
      <vt:lpstr>Typical AI assumptions</vt:lpstr>
      <vt:lpstr>Search versus Games</vt:lpstr>
      <vt:lpstr>Types of Games</vt:lpstr>
      <vt:lpstr>Game Setup</vt:lpstr>
      <vt:lpstr>Size of search trees</vt:lpstr>
      <vt:lpstr>Partial Game Tree for Tic-Tac-Toe</vt:lpstr>
      <vt:lpstr>Game tree (2-player, deterministic, turns)</vt:lpstr>
      <vt:lpstr>Minimax strategy:</vt:lpstr>
      <vt:lpstr>Two-Ply Game Tree</vt:lpstr>
      <vt:lpstr>Two-Ply Game Tree</vt:lpstr>
      <vt:lpstr>Two-Ply Game Tree</vt:lpstr>
      <vt:lpstr>Two-Ply Game Tree</vt:lpstr>
      <vt:lpstr>What if MIN does not play optimally?</vt:lpstr>
      <vt:lpstr>Pseudocode for Minimax Algorithm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Driven Artificial intelligent systems</dc:title>
  <dc:creator>IMRAN RASHEED</dc:creator>
  <cp:lastModifiedBy>VATHSANMIRA</cp:lastModifiedBy>
  <cp:revision>156</cp:revision>
  <dcterms:created xsi:type="dcterms:W3CDTF">2023-06-21T10:47:00Z</dcterms:created>
  <dcterms:modified xsi:type="dcterms:W3CDTF">2024-06-03T08:13:05Z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F295600FDAB44329831BA23961E2D9EC_13</vt:lpwstr>
  </property>
  <property fmtid="{D5CDD505-2E9C-101B-9397-08002B2CF9AE}" pid="3" name="KSOProductBuildVer">
    <vt:lpwstr>1033-12.2.0.17119</vt:lpwstr>
  </property>
</Properties>
</file>