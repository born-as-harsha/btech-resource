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61"/>
  </p:notesMasterIdLst>
  <p:sldIdLst>
    <p:sldId id="256" r:id="rId2"/>
    <p:sldId id="351" r:id="rId3"/>
    <p:sldId id="352" r:id="rId4"/>
    <p:sldId id="354" r:id="rId5"/>
    <p:sldId id="295" r:id="rId6"/>
    <p:sldId id="296" r:id="rId7"/>
    <p:sldId id="298" r:id="rId8"/>
    <p:sldId id="302" r:id="rId9"/>
    <p:sldId id="304" r:id="rId10"/>
    <p:sldId id="353" r:id="rId11"/>
    <p:sldId id="300" r:id="rId12"/>
    <p:sldId id="301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4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47" r:id="rId37"/>
    <p:sldId id="348" r:id="rId38"/>
    <p:sldId id="349" r:id="rId39"/>
    <p:sldId id="350" r:id="rId40"/>
    <p:sldId id="327" r:id="rId41"/>
    <p:sldId id="328" r:id="rId42"/>
    <p:sldId id="329" r:id="rId43"/>
    <p:sldId id="340" r:id="rId44"/>
    <p:sldId id="341" r:id="rId45"/>
    <p:sldId id="342" r:id="rId46"/>
    <p:sldId id="330" r:id="rId47"/>
    <p:sldId id="331" r:id="rId48"/>
    <p:sldId id="332" r:id="rId49"/>
    <p:sldId id="346" r:id="rId50"/>
    <p:sldId id="333" r:id="rId51"/>
    <p:sldId id="334" r:id="rId52"/>
    <p:sldId id="335" r:id="rId53"/>
    <p:sldId id="336" r:id="rId54"/>
    <p:sldId id="337" r:id="rId55"/>
    <p:sldId id="338" r:id="rId56"/>
    <p:sldId id="344" r:id="rId57"/>
    <p:sldId id="345" r:id="rId58"/>
    <p:sldId id="355" r:id="rId59"/>
    <p:sldId id="339" r:id="rId6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00"/>
    <a:srgbClr val="00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14D13-A1F5-E697-A764-2201615C9231}" v="45" dt="2025-07-12T09:30:20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78" autoAdjust="0"/>
    <p:restoredTop sz="90929"/>
  </p:normalViewPr>
  <p:slideViewPr>
    <p:cSldViewPr>
      <p:cViewPr>
        <p:scale>
          <a:sx n="66" d="100"/>
          <a:sy n="66" d="100"/>
        </p:scale>
        <p:origin x="-12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FCDC07B-0FEB-F6F9-0D46-1EEAF354D2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189EBC0-F90F-268D-A310-B3E5644259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7C8F2240-E712-2782-E6F1-ABE090BBB23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DEF84B84-CF72-A035-6A1F-D448B03E36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3F25D959-D0D6-181A-0633-1FB0C4172A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EDAF2C38-C7C9-1650-045A-0551E7D36B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6167943-9A56-44A2-B6C7-57259E26140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5937E62-C408-D9A9-4A94-C8A3DFFCE9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7D6445-7D5F-4515-8C4F-1976094819F3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C1965F9-8486-322D-BAE3-84E67442E4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BC07E62-8CAF-09A2-F66D-20983D314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813C9D1D-EE55-18B5-3D22-B3C1422E9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0B44930-00CA-4201-8EAF-4A7397201206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4F03FBB2-12FF-1C3E-9B15-3388CF36F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F192B9F-9278-6100-0DA6-09168539E7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71213EC-1D66-92EB-B524-65281609F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DC84E95-A5BE-4252-824C-C3572B0ED7F2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66563" name="Rectangle 7">
            <a:extLst>
              <a:ext uri="{FF2B5EF4-FFF2-40B4-BE49-F238E27FC236}">
                <a16:creationId xmlns:a16="http://schemas.microsoft.com/office/drawing/2014/main" id="{C3488F77-FBD4-3878-E8A6-B60768C0BF7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3D4F059-256F-4387-883D-AF9646F618EE}" type="slidenum">
              <a:rPr lang="en-US" altLang="en-US" sz="1200"/>
              <a:pPr algn="r"/>
              <a:t>5</a:t>
            </a:fld>
            <a:endParaRPr lang="en-US" altLang="en-US" sz="1200"/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3B03C333-549F-BEDB-AF99-A7D0342A1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D0225433-6ACF-0A33-BAE7-BBC700A2A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5FF33081-E5C3-3CAD-B32E-740070ACAB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7E58D25-4586-4DAD-B720-02B97D106A80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67587" name="Rectangle 7">
            <a:extLst>
              <a:ext uri="{FF2B5EF4-FFF2-40B4-BE49-F238E27FC236}">
                <a16:creationId xmlns:a16="http://schemas.microsoft.com/office/drawing/2014/main" id="{B11FC943-4AC1-6482-13B8-7631C9342C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BE52CBA-A3C4-4158-8507-22CA27425A43}" type="slidenum">
              <a:rPr lang="en-US" altLang="en-US" sz="1200"/>
              <a:pPr algn="r"/>
              <a:t>6</a:t>
            </a:fld>
            <a:endParaRPr lang="en-US" altLang="en-US" sz="1200"/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52BFD454-432A-0F7C-0567-4C7094997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2A91A524-45D4-65B8-40A4-C36B68FC0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B8D202D4-0E60-F9E8-98F5-70E8C8B367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0640683-11A1-4170-9790-73773564B278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68611" name="Rectangle 7">
            <a:extLst>
              <a:ext uri="{FF2B5EF4-FFF2-40B4-BE49-F238E27FC236}">
                <a16:creationId xmlns:a16="http://schemas.microsoft.com/office/drawing/2014/main" id="{15A1BA4A-D7DB-882F-D1F2-70AE90A23C2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A8D0100A-6FD4-4396-93FE-6F2F98A2CA24}" type="slidenum">
              <a:rPr lang="en-US" altLang="en-US" sz="1200"/>
              <a:pPr algn="r"/>
              <a:t>7</a:t>
            </a:fld>
            <a:endParaRPr lang="en-US" altLang="en-US" sz="1200"/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2CC7DFB4-6EFF-057E-59D8-1B8E76878D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B4B6406C-027D-53BB-F6AA-B7EEB67CF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A70BE9C-43B6-01D2-F21E-3EC1B83237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C7FE6FD-AF22-4F2F-B698-8CFA5F11704B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69635" name="Rectangle 7">
            <a:extLst>
              <a:ext uri="{FF2B5EF4-FFF2-40B4-BE49-F238E27FC236}">
                <a16:creationId xmlns:a16="http://schemas.microsoft.com/office/drawing/2014/main" id="{DFA17D29-0E39-0513-9DD1-8D025450487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04DBBF1-BAB6-49D7-9085-483E349EFA5B}" type="slidenum">
              <a:rPr lang="en-US" altLang="en-US" sz="1200"/>
              <a:pPr algn="r"/>
              <a:t>11</a:t>
            </a:fld>
            <a:endParaRPr lang="en-US" altLang="en-US" sz="1200"/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9B52740D-9D31-18C5-AA6C-BD3BD0E74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46BB0B3C-6E7A-C502-180E-0FC6ACB93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0E22CC34-A56C-46D7-03EE-06881ECB6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069016A-4184-4401-8FFE-F8A9B2887EAA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0659" name="Rectangle 7">
            <a:extLst>
              <a:ext uri="{FF2B5EF4-FFF2-40B4-BE49-F238E27FC236}">
                <a16:creationId xmlns:a16="http://schemas.microsoft.com/office/drawing/2014/main" id="{09E0D74F-89A4-3139-BAD9-F8213B04282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C1D8CB2-D177-4132-9C58-EAB349471570}" type="slidenum">
              <a:rPr lang="en-US" altLang="en-US" sz="1200"/>
              <a:pPr algn="r"/>
              <a:t>12</a:t>
            </a:fld>
            <a:endParaRPr lang="en-US" altLang="en-US" sz="1200"/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F17CF43A-8743-C9EF-2EF4-67F5E95D78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1" name="Rectangle 3">
            <a:extLst>
              <a:ext uri="{FF2B5EF4-FFF2-40B4-BE49-F238E27FC236}">
                <a16:creationId xmlns:a16="http://schemas.microsoft.com/office/drawing/2014/main" id="{53B1BFCE-2CBC-AF8A-7CAA-B55005DB9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7AED575-9EBF-AAF3-8C9C-791E53D9EC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F24EC2-32C5-4BCA-B972-CAA39066D574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ADD6B787-8A49-C688-E264-E3E81AAED4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583373C-F34B-4A7D-8B41-B6453D97DBDF}" type="slidenum">
              <a:rPr lang="en-US" altLang="en-US" sz="1200"/>
              <a:pPr algn="r"/>
              <a:t>14</a:t>
            </a:fld>
            <a:endParaRPr lang="en-US" altLang="en-US" sz="1200"/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6C27B8E9-189D-3223-FF58-78A5DCCC4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2ACFAC9E-6AF0-C3EF-CD97-8738C3613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7BEDB1CC-FD1F-76A3-0BD1-CBEE87EA4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71A73CF-BD01-472F-9678-014CF4541715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2707" name="Rectangle 7">
            <a:extLst>
              <a:ext uri="{FF2B5EF4-FFF2-40B4-BE49-F238E27FC236}">
                <a16:creationId xmlns:a16="http://schemas.microsoft.com/office/drawing/2014/main" id="{66673C01-EF5B-28A6-1784-D590CF6BF61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4D1A3F6-1F4A-450E-8B5B-2C69694A2F09}" type="slidenum">
              <a:rPr lang="en-US" altLang="en-US" sz="1200"/>
              <a:pPr algn="r"/>
              <a:t>15</a:t>
            </a:fld>
            <a:endParaRPr lang="en-US" altLang="en-US" sz="1200"/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46CA4752-F11C-8EF8-0DA5-7AC524235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C1408F67-8E25-E29E-84FA-3D406D5372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C0281DE9-848D-9B9E-F9C0-18BAAAF07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CDCB35B-503D-4A0F-B24D-960ACFD9FDAB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37637AC-14FB-EA5F-2C98-47280E88266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D5D85904-FE39-4C6D-83C2-C1EBF9C322E6}" type="slidenum">
              <a:rPr lang="en-US" altLang="en-US" sz="1200"/>
              <a:pPr algn="r"/>
              <a:t>16</a:t>
            </a:fld>
            <a:endParaRPr lang="en-US" altLang="en-US" sz="1200"/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89084748-A97D-9C6B-9624-16A66BF35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71EC736F-3CBB-57CE-AD3D-C5665FD30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0FB9247F-87EB-83F1-AD6A-1EDC52375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AFD224D-7094-4DCE-BEF8-E6AAEAF6EDD6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4755" name="Rectangle 7">
            <a:extLst>
              <a:ext uri="{FF2B5EF4-FFF2-40B4-BE49-F238E27FC236}">
                <a16:creationId xmlns:a16="http://schemas.microsoft.com/office/drawing/2014/main" id="{40990E13-38B5-56DB-91B6-3F73F399D91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57B2326-AA40-4C14-B1AB-D2FA81E75522}" type="slidenum">
              <a:rPr lang="en-US" altLang="en-US" sz="1200"/>
              <a:pPr algn="r"/>
              <a:t>17</a:t>
            </a:fld>
            <a:endParaRPr lang="en-US" altLang="en-US" sz="1200"/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A9FB1833-C589-9529-82D2-24840DAFF3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C548DB3C-0E10-87E4-A2B8-567C6A57D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4095EA28-D327-FE0A-D470-4492E5FCF5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9AA4A0-29D9-465E-B342-8F782F7151D7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75779" name="Rectangle 7">
            <a:extLst>
              <a:ext uri="{FF2B5EF4-FFF2-40B4-BE49-F238E27FC236}">
                <a16:creationId xmlns:a16="http://schemas.microsoft.com/office/drawing/2014/main" id="{8B83960F-4975-4D5C-E6EC-7F1BC3BE6E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EDE4C6A-C84A-4627-A2B9-19A55C96E070}" type="slidenum">
              <a:rPr lang="en-US" altLang="en-US" sz="1200"/>
              <a:pPr algn="r"/>
              <a:t>18</a:t>
            </a:fld>
            <a:endParaRPr lang="en-US" altLang="en-US" sz="1200"/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E2ED0EB5-23A4-4CE5-15B8-30A55546EF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0F0FA091-02FD-5613-8131-3475A652A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A7E4FEA9-0D87-631A-D99F-AA52A63C2B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CFDFE96-6819-4D67-BD37-A64FCBD63DB0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76803" name="Rectangle 7">
            <a:extLst>
              <a:ext uri="{FF2B5EF4-FFF2-40B4-BE49-F238E27FC236}">
                <a16:creationId xmlns:a16="http://schemas.microsoft.com/office/drawing/2014/main" id="{B1B97058-A803-7426-4152-72B4F050FB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4FBC69B-A8F8-4C04-AB02-C89E64AC61AF}" type="slidenum">
              <a:rPr lang="en-US" altLang="en-US" sz="1200"/>
              <a:pPr algn="r"/>
              <a:t>19</a:t>
            </a:fld>
            <a:endParaRPr lang="en-US" altLang="en-US" sz="1200"/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D4A4D4F5-C8A4-1F2C-CA92-F2D52E26C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6289A841-6AC9-F9A3-6DA1-03B2737045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1FAA26BB-F3C1-5613-575B-59EF7B3D88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6220466-4655-4506-8946-A9C8F305F267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77827" name="Rectangle 7">
            <a:extLst>
              <a:ext uri="{FF2B5EF4-FFF2-40B4-BE49-F238E27FC236}">
                <a16:creationId xmlns:a16="http://schemas.microsoft.com/office/drawing/2014/main" id="{0341494C-4F50-CB41-B136-1F1DB348D4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7EE265DB-F74B-4B81-A9B0-C35AA0519856}" type="slidenum">
              <a:rPr lang="en-US" altLang="en-US" sz="1200"/>
              <a:pPr algn="r"/>
              <a:t>20</a:t>
            </a:fld>
            <a:endParaRPr lang="en-US" altLang="en-US" sz="1200"/>
          </a:p>
        </p:txBody>
      </p:sp>
      <p:sp>
        <p:nvSpPr>
          <p:cNvPr id="77828" name="Rectangle 2">
            <a:extLst>
              <a:ext uri="{FF2B5EF4-FFF2-40B4-BE49-F238E27FC236}">
                <a16:creationId xmlns:a16="http://schemas.microsoft.com/office/drawing/2014/main" id="{D2566293-2A4D-9474-461C-9DFF6D9DC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6CEA18B2-9B6F-CB66-8EE9-9EFD05F52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02656604-5416-322A-05AB-7D4F84F88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DBD0967-36C0-4888-A904-48CA03A6A0AC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78851" name="Rectangle 7">
            <a:extLst>
              <a:ext uri="{FF2B5EF4-FFF2-40B4-BE49-F238E27FC236}">
                <a16:creationId xmlns:a16="http://schemas.microsoft.com/office/drawing/2014/main" id="{DB3A0054-1681-7097-67F3-A0E0114DD8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D9E52AE-B1B1-4E7C-AB0B-7551F73EA7E4}" type="slidenum">
              <a:rPr lang="en-US" altLang="en-US" sz="1200"/>
              <a:pPr algn="r"/>
              <a:t>21</a:t>
            </a:fld>
            <a:endParaRPr lang="en-US" altLang="en-US" sz="1200"/>
          </a:p>
        </p:txBody>
      </p:sp>
      <p:sp>
        <p:nvSpPr>
          <p:cNvPr id="78852" name="Rectangle 2">
            <a:extLst>
              <a:ext uri="{FF2B5EF4-FFF2-40B4-BE49-F238E27FC236}">
                <a16:creationId xmlns:a16="http://schemas.microsoft.com/office/drawing/2014/main" id="{302C7D84-146A-8D16-CEA7-7CBD9B68A6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3" name="Rectangle 3">
            <a:extLst>
              <a:ext uri="{FF2B5EF4-FFF2-40B4-BE49-F238E27FC236}">
                <a16:creationId xmlns:a16="http://schemas.microsoft.com/office/drawing/2014/main" id="{B10578E1-E024-2561-E1AF-3CE42698E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C74F1D97-903B-D648-2C1A-C7A29976A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C81B612-2C71-4251-9BDC-2BEB191F0E51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79875" name="Rectangle 7">
            <a:extLst>
              <a:ext uri="{FF2B5EF4-FFF2-40B4-BE49-F238E27FC236}">
                <a16:creationId xmlns:a16="http://schemas.microsoft.com/office/drawing/2014/main" id="{77655ECB-6D21-EFE2-9653-E1DBA8E70D1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AFAAA52-15D8-4205-BBD6-DB3CA948C66A}" type="slidenum">
              <a:rPr lang="en-US" altLang="en-US" sz="1200"/>
              <a:pPr algn="r"/>
              <a:t>23</a:t>
            </a:fld>
            <a:endParaRPr lang="en-US" altLang="en-US" sz="12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50083F97-6731-D3A8-F7F4-B927430A9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7" name="Rectangle 3">
            <a:extLst>
              <a:ext uri="{FF2B5EF4-FFF2-40B4-BE49-F238E27FC236}">
                <a16:creationId xmlns:a16="http://schemas.microsoft.com/office/drawing/2014/main" id="{A2C7EC2B-5406-69F7-1D88-71FB5AE6D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09F72A0-4FFD-A121-6392-CF3AFFAF45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E45C7FB-D873-4C22-BA75-C9723B5FB84C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80899" name="Rectangle 7">
            <a:extLst>
              <a:ext uri="{FF2B5EF4-FFF2-40B4-BE49-F238E27FC236}">
                <a16:creationId xmlns:a16="http://schemas.microsoft.com/office/drawing/2014/main" id="{7895787A-0A23-D16B-DADA-3D4302A7386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74D84D6A-8E88-4061-9A26-893E0A758586}" type="slidenum">
              <a:rPr lang="en-US" altLang="en-US" sz="1200"/>
              <a:pPr algn="r"/>
              <a:t>24</a:t>
            </a:fld>
            <a:endParaRPr lang="en-US" altLang="en-US" sz="1200"/>
          </a:p>
        </p:txBody>
      </p:sp>
      <p:sp>
        <p:nvSpPr>
          <p:cNvPr id="80900" name="Rectangle 2">
            <a:extLst>
              <a:ext uri="{FF2B5EF4-FFF2-40B4-BE49-F238E27FC236}">
                <a16:creationId xmlns:a16="http://schemas.microsoft.com/office/drawing/2014/main" id="{1F6D28FA-D0BE-0A8C-5236-8DA1DA4CE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D375CBC7-A4F1-156C-573E-4413C81D9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44B96A37-A4AA-E7FE-D871-693F2ABC0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2F3F608-B3CA-4CCA-87C6-6DD37523BA43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81923" name="Rectangle 7">
            <a:extLst>
              <a:ext uri="{FF2B5EF4-FFF2-40B4-BE49-F238E27FC236}">
                <a16:creationId xmlns:a16="http://schemas.microsoft.com/office/drawing/2014/main" id="{21D09D3F-2851-8CE4-BA43-E96832188D9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8DC2A0BD-A02E-4F67-9805-0C52AA8CE6E9}" type="slidenum">
              <a:rPr lang="en-US" altLang="en-US" sz="1200"/>
              <a:pPr algn="r"/>
              <a:t>25</a:t>
            </a:fld>
            <a:endParaRPr lang="en-US" altLang="en-US" sz="1200"/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E2CE75EB-4C6C-E16A-E914-CA6AEA992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>
            <a:extLst>
              <a:ext uri="{FF2B5EF4-FFF2-40B4-BE49-F238E27FC236}">
                <a16:creationId xmlns:a16="http://schemas.microsoft.com/office/drawing/2014/main" id="{7F2B9108-6C7E-FABE-795C-3D6D5503C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1B0D9033-33AA-C4BB-AC15-865797D356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9A6867F-FF01-443B-BDB2-BC04AEDAA1FB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82947" name="Rectangle 7">
            <a:extLst>
              <a:ext uri="{FF2B5EF4-FFF2-40B4-BE49-F238E27FC236}">
                <a16:creationId xmlns:a16="http://schemas.microsoft.com/office/drawing/2014/main" id="{FCDE068B-D5A5-3091-72DC-27EF0B3828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50E070A4-0825-4DF7-8836-D0AF4C32E46F}" type="slidenum">
              <a:rPr lang="en-US" altLang="en-US" sz="1200"/>
              <a:pPr algn="r"/>
              <a:t>26</a:t>
            </a:fld>
            <a:endParaRPr lang="en-US" altLang="en-US" sz="1200"/>
          </a:p>
        </p:txBody>
      </p:sp>
      <p:sp>
        <p:nvSpPr>
          <p:cNvPr id="82948" name="Rectangle 2">
            <a:extLst>
              <a:ext uri="{FF2B5EF4-FFF2-40B4-BE49-F238E27FC236}">
                <a16:creationId xmlns:a16="http://schemas.microsoft.com/office/drawing/2014/main" id="{76DCD338-A5E8-A71F-C15E-DED343D29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70F8EE04-905B-0A08-6D36-44756FA24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DC0B0E9F-FA0A-7029-88AE-ABA95AAEE3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6F48AD8-7D75-495E-9A58-386506F2619B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83971" name="Rectangle 7">
            <a:extLst>
              <a:ext uri="{FF2B5EF4-FFF2-40B4-BE49-F238E27FC236}">
                <a16:creationId xmlns:a16="http://schemas.microsoft.com/office/drawing/2014/main" id="{6214DBE4-12BC-0186-268D-063F292DF88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162F8A92-8370-41F5-BE89-A6AB757F7869}" type="slidenum">
              <a:rPr lang="en-US" altLang="en-US" sz="1200"/>
              <a:pPr algn="r"/>
              <a:t>27</a:t>
            </a:fld>
            <a:endParaRPr lang="en-US" altLang="en-US" sz="1200"/>
          </a:p>
        </p:txBody>
      </p:sp>
      <p:sp>
        <p:nvSpPr>
          <p:cNvPr id="83972" name="Rectangle 2">
            <a:extLst>
              <a:ext uri="{FF2B5EF4-FFF2-40B4-BE49-F238E27FC236}">
                <a16:creationId xmlns:a16="http://schemas.microsoft.com/office/drawing/2014/main" id="{E37E8F68-18F0-3186-FBA3-8CEAD85DAF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F0A5C81B-12F0-ADBE-C491-4BDBCA32F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07062337-7722-D231-712C-EA8A8ABE7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A874BA3-CA7B-46A9-ACCD-40B79B0A6E63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84995" name="Rectangle 7">
            <a:extLst>
              <a:ext uri="{FF2B5EF4-FFF2-40B4-BE49-F238E27FC236}">
                <a16:creationId xmlns:a16="http://schemas.microsoft.com/office/drawing/2014/main" id="{04957560-3C82-62E4-C03B-C842B537F06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CD6A074-A534-4DA5-95C2-95350CC0AEDC}" type="slidenum">
              <a:rPr lang="en-US" altLang="en-US" sz="1200"/>
              <a:pPr algn="r"/>
              <a:t>28</a:t>
            </a:fld>
            <a:endParaRPr lang="en-US" altLang="en-US" sz="1200"/>
          </a:p>
        </p:txBody>
      </p:sp>
      <p:sp>
        <p:nvSpPr>
          <p:cNvPr id="84996" name="Rectangle 2">
            <a:extLst>
              <a:ext uri="{FF2B5EF4-FFF2-40B4-BE49-F238E27FC236}">
                <a16:creationId xmlns:a16="http://schemas.microsoft.com/office/drawing/2014/main" id="{6F1DD109-15EB-D073-EB9F-3226C9B41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7BF93A86-F5D6-158E-8111-CF22885B0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54668AD2-852C-B7B7-722A-7F4F54D129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CDA3B2D-0F66-439C-9DF8-635642297189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86019" name="Rectangle 7">
            <a:extLst>
              <a:ext uri="{FF2B5EF4-FFF2-40B4-BE49-F238E27FC236}">
                <a16:creationId xmlns:a16="http://schemas.microsoft.com/office/drawing/2014/main" id="{C51B4E2F-8691-D10E-A38C-E4CCC0CFB66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DC639749-3FFF-423C-8DE8-77D9E50BBFB6}" type="slidenum">
              <a:rPr lang="en-US" altLang="en-US" sz="1200"/>
              <a:pPr algn="r"/>
              <a:t>29</a:t>
            </a:fld>
            <a:endParaRPr lang="en-US" altLang="en-US" sz="1200"/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63747F55-FC7D-1815-34B8-EB4568E42B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011D7AFD-A832-6971-29CD-E0C6F55A1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DC7C5C5F-728D-BCD1-E6CD-11726648F3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9C27461-C18A-4E86-BED7-29432CF9B23B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87043" name="Rectangle 7">
            <a:extLst>
              <a:ext uri="{FF2B5EF4-FFF2-40B4-BE49-F238E27FC236}">
                <a16:creationId xmlns:a16="http://schemas.microsoft.com/office/drawing/2014/main" id="{904DF458-D67E-91DD-646C-751346A0FC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F20CAEC-C6B7-4351-85E4-D389D9BDB86E}" type="slidenum">
              <a:rPr lang="en-US" altLang="en-US" sz="1200"/>
              <a:pPr algn="r"/>
              <a:t>30</a:t>
            </a:fld>
            <a:endParaRPr lang="en-US" altLang="en-US" sz="1200"/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7975AECA-2F7E-2AE5-0C94-8DFB24D13F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90FDF427-7889-D221-0CD0-8AD1ECB600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F49E480-2863-9E6B-6A94-CAD3B17D6F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7CE4A3-D449-495B-BF94-0B6E166A12FD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88067" name="Rectangle 7">
            <a:extLst>
              <a:ext uri="{FF2B5EF4-FFF2-40B4-BE49-F238E27FC236}">
                <a16:creationId xmlns:a16="http://schemas.microsoft.com/office/drawing/2014/main" id="{E83D460A-9920-7733-23D5-65FB11128A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5F1136C-9791-40F6-97F6-E683FDE296DA}" type="slidenum">
              <a:rPr lang="en-US" altLang="en-US" sz="1200"/>
              <a:pPr algn="r"/>
              <a:t>31</a:t>
            </a:fld>
            <a:endParaRPr lang="en-US" altLang="en-US" sz="1200"/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DCE99CCD-54E7-8161-7AF2-6295885F5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>
            <a:extLst>
              <a:ext uri="{FF2B5EF4-FFF2-40B4-BE49-F238E27FC236}">
                <a16:creationId xmlns:a16="http://schemas.microsoft.com/office/drawing/2014/main" id="{6BBBE241-D19E-9B2E-C7E9-7E61F6A3C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8AC99037-B081-9233-AE09-419B3B3E6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F513F03-5657-40A4-9E4F-E4B00DA6A941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89091" name="Rectangle 7">
            <a:extLst>
              <a:ext uri="{FF2B5EF4-FFF2-40B4-BE49-F238E27FC236}">
                <a16:creationId xmlns:a16="http://schemas.microsoft.com/office/drawing/2014/main" id="{5561C89F-E749-44A4-48FC-7F8C1ED2894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8D11FAC6-CE85-4A73-A289-47E6BFD79D3B}" type="slidenum">
              <a:rPr lang="en-US" altLang="en-US" sz="1200"/>
              <a:pPr algn="r"/>
              <a:t>32</a:t>
            </a:fld>
            <a:endParaRPr lang="en-US" altLang="en-US" sz="1200"/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A7BD7000-DCD9-A4EE-61B4-C8EA0FB9A7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1146F689-CF73-F754-1EEF-90D2564D8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72A808EE-50B4-68B2-6AE8-DE0F79DA51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ED8E12-1761-4F82-ADE5-2539C842763F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90115" name="Rectangle 7">
            <a:extLst>
              <a:ext uri="{FF2B5EF4-FFF2-40B4-BE49-F238E27FC236}">
                <a16:creationId xmlns:a16="http://schemas.microsoft.com/office/drawing/2014/main" id="{32D3B041-4AEA-F9D8-0F78-3848ABBD13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892179A7-BD83-4A2B-A763-F8690F1AC5FB}" type="slidenum">
              <a:rPr lang="en-US" altLang="en-US" sz="1200"/>
              <a:pPr algn="r"/>
              <a:t>33</a:t>
            </a:fld>
            <a:endParaRPr lang="en-US" altLang="en-US" sz="1200"/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EBD58B71-012D-1EE0-A5F5-FC4BD2D9BC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7" name="Rectangle 3">
            <a:extLst>
              <a:ext uri="{FF2B5EF4-FFF2-40B4-BE49-F238E27FC236}">
                <a16:creationId xmlns:a16="http://schemas.microsoft.com/office/drawing/2014/main" id="{8C03AE23-33D6-FBFD-9671-6E1D9726F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CF5096D8-C501-EE2F-23E6-4E7B13F2E4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A033373-F2B7-4B1B-9957-F0320530EA3A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91139" name="Rectangle 7">
            <a:extLst>
              <a:ext uri="{FF2B5EF4-FFF2-40B4-BE49-F238E27FC236}">
                <a16:creationId xmlns:a16="http://schemas.microsoft.com/office/drawing/2014/main" id="{4BA1E502-A0FE-D7AD-B1A7-3A0C8ED8CBB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D503274C-5F2C-4F75-BC92-9EE3D3DC5562}" type="slidenum">
              <a:rPr lang="en-US" altLang="en-US" sz="1200"/>
              <a:pPr algn="r"/>
              <a:t>34</a:t>
            </a:fld>
            <a:endParaRPr lang="en-US" altLang="en-US" sz="1200"/>
          </a:p>
        </p:txBody>
      </p:sp>
      <p:sp>
        <p:nvSpPr>
          <p:cNvPr id="91140" name="Rectangle 2">
            <a:extLst>
              <a:ext uri="{FF2B5EF4-FFF2-40B4-BE49-F238E27FC236}">
                <a16:creationId xmlns:a16="http://schemas.microsoft.com/office/drawing/2014/main" id="{FF55E1C6-74FF-B137-C583-35B7C5CD24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36A243B2-1DA1-49F7-4904-70B30F523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843415AE-97DF-7A98-6572-457F68AF3A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738293C-2542-42B8-AB86-34331D294F96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92163" name="Rectangle 7">
            <a:extLst>
              <a:ext uri="{FF2B5EF4-FFF2-40B4-BE49-F238E27FC236}">
                <a16:creationId xmlns:a16="http://schemas.microsoft.com/office/drawing/2014/main" id="{EEDE7652-B002-953A-03F6-B9A86B46CC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2FCBE73E-CA0C-44A7-A663-A1F94A7BCBDD}" type="slidenum">
              <a:rPr lang="en-US" altLang="en-US" sz="1200"/>
              <a:pPr algn="r"/>
              <a:t>35</a:t>
            </a:fld>
            <a:endParaRPr lang="en-US" altLang="en-US" sz="1200"/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A2452095-86F5-AC52-FD5B-D16075BBA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5" name="Rectangle 3">
            <a:extLst>
              <a:ext uri="{FF2B5EF4-FFF2-40B4-BE49-F238E27FC236}">
                <a16:creationId xmlns:a16="http://schemas.microsoft.com/office/drawing/2014/main" id="{9A07BD60-01FA-86A1-DD64-91AB56B9A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38A67D7-649A-225A-55F0-3E8A2AB8D9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7810F50-58C4-4B7A-A336-07771E857668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B0312A7-860A-851A-92AB-BCF89D282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F63F149-E38E-673D-6623-91BD9A2FB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9247654A-A86B-BDF2-2A2F-96C622CC90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7F616CC-8AB2-4829-A8AE-D4E670243767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E555F2B9-19E5-F7EB-F47A-DF5115650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860C7E4-7E9B-F8FB-07A7-C2647B5D3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C377EC22-B0D3-2385-64A9-CC1FD083B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93FCC7F-74FE-4714-85D6-0227C67A5F46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86B0D2DE-D0DF-D5BA-33E1-8951861DD9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D97A2B0C-CA71-8A87-7AC5-127A71123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3B649F3-CC62-7E9D-C893-B13EF29676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3FA7656-88C8-4223-BB0E-A88FA3B6D23E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C5B59F91-CDCC-6740-F803-0415106D5B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073FBCC-5B68-BE48-4EE6-493B6045B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3C94B7E5-4CAE-E42C-8E06-D5496C170A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DD36AA3-5B60-4A35-A8EF-8F1047B637C3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97283" name="Rectangle 7">
            <a:extLst>
              <a:ext uri="{FF2B5EF4-FFF2-40B4-BE49-F238E27FC236}">
                <a16:creationId xmlns:a16="http://schemas.microsoft.com/office/drawing/2014/main" id="{C31A3D85-E05E-8BD7-20A3-520A5AE073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46FBB47-A430-471B-986A-28FA5D899BD9}" type="slidenum">
              <a:rPr lang="en-US" altLang="en-US" sz="1200"/>
              <a:pPr algn="r"/>
              <a:t>40</a:t>
            </a:fld>
            <a:endParaRPr lang="en-US" altLang="en-US" sz="1200"/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EDD5D575-C8BE-983B-D110-BAA8B0068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5" name="Rectangle 3">
            <a:extLst>
              <a:ext uri="{FF2B5EF4-FFF2-40B4-BE49-F238E27FC236}">
                <a16:creationId xmlns:a16="http://schemas.microsoft.com/office/drawing/2014/main" id="{9C8B7939-FE87-2406-FCCE-64D43550E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08EF267-2C3B-EC12-9C84-02D4889B2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78BC042-6A0D-4DC4-BA37-90BCF6C31B33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  <p:sp>
        <p:nvSpPr>
          <p:cNvPr id="98307" name="Rectangle 7">
            <a:extLst>
              <a:ext uri="{FF2B5EF4-FFF2-40B4-BE49-F238E27FC236}">
                <a16:creationId xmlns:a16="http://schemas.microsoft.com/office/drawing/2014/main" id="{DC2D2E09-C6A1-C2B1-C7FB-602B17ECAAE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A5C2137A-DA04-430C-9622-7915AC4D7820}" type="slidenum">
              <a:rPr lang="en-US" altLang="en-US" sz="1200"/>
              <a:pPr algn="r"/>
              <a:t>41</a:t>
            </a:fld>
            <a:endParaRPr lang="en-US" altLang="en-US" sz="1200"/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B8B94E8C-2A04-8FBF-2C5A-BD10BB78FD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9" name="Rectangle 3">
            <a:extLst>
              <a:ext uri="{FF2B5EF4-FFF2-40B4-BE49-F238E27FC236}">
                <a16:creationId xmlns:a16="http://schemas.microsoft.com/office/drawing/2014/main" id="{A9655215-9963-A07D-33F8-4438BD28E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024D43F1-6433-FD78-A745-39C4351FB3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68B4642-7F13-4662-AA08-8768F461B345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  <p:sp>
        <p:nvSpPr>
          <p:cNvPr id="99331" name="Rectangle 7">
            <a:extLst>
              <a:ext uri="{FF2B5EF4-FFF2-40B4-BE49-F238E27FC236}">
                <a16:creationId xmlns:a16="http://schemas.microsoft.com/office/drawing/2014/main" id="{A4F0511A-7E8C-0D4A-ABFF-D6F0D3718BA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A5DED10-6522-4273-8EAC-209EC841C605}" type="slidenum">
              <a:rPr lang="en-US" altLang="en-US" sz="1200"/>
              <a:pPr algn="r"/>
              <a:t>42</a:t>
            </a:fld>
            <a:endParaRPr lang="en-US" altLang="en-US" sz="1200"/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id="{7840FC2F-C3ED-138B-4A82-127971C8F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id="{47E568F5-D755-EC95-0FE1-1AB46521D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FB2269BF-7094-E1FD-88CA-4A3DEB7BA8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47066D4-05E4-460B-9842-8A31C91A8CFB}" type="slidenum">
              <a:rPr lang="en-US" altLang="en-US" sz="1200"/>
              <a:pPr eaLnBrk="1" hangingPunct="1"/>
              <a:t>46</a:t>
            </a:fld>
            <a:endParaRPr lang="en-US" altLang="en-US" sz="1200"/>
          </a:p>
        </p:txBody>
      </p:sp>
      <p:sp>
        <p:nvSpPr>
          <p:cNvPr id="100355" name="Rectangle 7">
            <a:extLst>
              <a:ext uri="{FF2B5EF4-FFF2-40B4-BE49-F238E27FC236}">
                <a16:creationId xmlns:a16="http://schemas.microsoft.com/office/drawing/2014/main" id="{69737410-1905-9B97-20DB-2A715FCA57B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4E57458-368E-4317-B93E-938EC195037F}" type="slidenum">
              <a:rPr lang="en-US" altLang="en-US" sz="1200"/>
              <a:pPr algn="r"/>
              <a:t>46</a:t>
            </a:fld>
            <a:endParaRPr lang="en-US" altLang="en-US" sz="1200"/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D2EDED76-39E7-69EC-6456-C8D02EA31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id="{C8090BBE-2B11-3FEE-3611-C00C9FC8B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0DABCB5B-2A77-29EE-1525-A995177330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43921F-B652-4650-B66F-319C84EB5AA6}" type="slidenum">
              <a:rPr lang="en-US" altLang="en-US" sz="1200"/>
              <a:pPr eaLnBrk="1" hangingPunct="1"/>
              <a:t>47</a:t>
            </a:fld>
            <a:endParaRPr lang="en-US" altLang="en-US" sz="1200"/>
          </a:p>
        </p:txBody>
      </p:sp>
      <p:sp>
        <p:nvSpPr>
          <p:cNvPr id="101379" name="Rectangle 7">
            <a:extLst>
              <a:ext uri="{FF2B5EF4-FFF2-40B4-BE49-F238E27FC236}">
                <a16:creationId xmlns:a16="http://schemas.microsoft.com/office/drawing/2014/main" id="{19B3B197-28F1-2486-E3B5-18BE161A8DE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51FCF2C-6B22-4018-9B19-5229AB6BCB1C}" type="slidenum">
              <a:rPr lang="en-US" altLang="en-US" sz="1200"/>
              <a:pPr algn="r"/>
              <a:t>47</a:t>
            </a:fld>
            <a:endParaRPr lang="en-US" altLang="en-US" sz="1200"/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C96FD0DB-A559-27FD-0E2A-18593C1771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F48C75DB-6FA1-2D78-8A0E-FEBD1939D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29697D27-D2AF-4005-3B97-D7E75C314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C943A19-EE9E-4162-96F7-5D6720E93A3D}" type="slidenum">
              <a:rPr lang="en-US" altLang="en-US" sz="1200"/>
              <a:pPr eaLnBrk="1" hangingPunct="1"/>
              <a:t>48</a:t>
            </a:fld>
            <a:endParaRPr lang="en-US" altLang="en-US" sz="1200"/>
          </a:p>
        </p:txBody>
      </p:sp>
      <p:sp>
        <p:nvSpPr>
          <p:cNvPr id="102403" name="Rectangle 7">
            <a:extLst>
              <a:ext uri="{FF2B5EF4-FFF2-40B4-BE49-F238E27FC236}">
                <a16:creationId xmlns:a16="http://schemas.microsoft.com/office/drawing/2014/main" id="{1491B045-2225-A503-8BD3-4F065090ADF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29B100A3-E52D-457E-9FCB-9D4E1818577F}" type="slidenum">
              <a:rPr lang="en-US" altLang="en-US" sz="1200"/>
              <a:pPr algn="r"/>
              <a:t>48</a:t>
            </a:fld>
            <a:endParaRPr lang="en-US" altLang="en-US" sz="1200"/>
          </a:p>
        </p:txBody>
      </p:sp>
      <p:sp>
        <p:nvSpPr>
          <p:cNvPr id="102404" name="Rectangle 2">
            <a:extLst>
              <a:ext uri="{FF2B5EF4-FFF2-40B4-BE49-F238E27FC236}">
                <a16:creationId xmlns:a16="http://schemas.microsoft.com/office/drawing/2014/main" id="{7C97BFF8-65F5-4D34-F89B-BCF3002A1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5" name="Rectangle 3">
            <a:extLst>
              <a:ext uri="{FF2B5EF4-FFF2-40B4-BE49-F238E27FC236}">
                <a16:creationId xmlns:a16="http://schemas.microsoft.com/office/drawing/2014/main" id="{8BA2DE53-A427-D1F1-4D0B-5FE8E4826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F257E448-2937-B5D1-220B-D54C310B81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409D8C0-1920-4704-AE90-B0682AD2F7C5}" type="slidenum">
              <a:rPr lang="en-US" altLang="en-US" sz="1200"/>
              <a:pPr eaLnBrk="1" hangingPunct="1"/>
              <a:t>50</a:t>
            </a:fld>
            <a:endParaRPr lang="en-US" altLang="en-US" sz="1200"/>
          </a:p>
        </p:txBody>
      </p:sp>
      <p:sp>
        <p:nvSpPr>
          <p:cNvPr id="103427" name="Rectangle 7">
            <a:extLst>
              <a:ext uri="{FF2B5EF4-FFF2-40B4-BE49-F238E27FC236}">
                <a16:creationId xmlns:a16="http://schemas.microsoft.com/office/drawing/2014/main" id="{4CFB6EBA-4BFB-8B70-9BEA-BD21298CBF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6A9F4B4-EACC-426F-B4A4-6E818D1D4979}" type="slidenum">
              <a:rPr lang="en-US" altLang="en-US" sz="1200"/>
              <a:pPr algn="r"/>
              <a:t>50</a:t>
            </a:fld>
            <a:endParaRPr lang="en-US" altLang="en-US" sz="1200"/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id="{2F5F3411-4CE1-A65C-829C-153BAC83C6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id="{E8CBFDED-9682-E064-8A6A-B18809B9D0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9426EB94-D1D8-4803-F155-B59D728730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EE1C065-BDE1-4FF8-94D2-106C92DF4EA4}" type="slidenum">
              <a:rPr lang="en-US" altLang="en-US" sz="1200"/>
              <a:pPr eaLnBrk="1" hangingPunct="1"/>
              <a:t>51</a:t>
            </a:fld>
            <a:endParaRPr lang="en-US" altLang="en-US" sz="1200"/>
          </a:p>
        </p:txBody>
      </p:sp>
      <p:sp>
        <p:nvSpPr>
          <p:cNvPr id="104451" name="Rectangle 7">
            <a:extLst>
              <a:ext uri="{FF2B5EF4-FFF2-40B4-BE49-F238E27FC236}">
                <a16:creationId xmlns:a16="http://schemas.microsoft.com/office/drawing/2014/main" id="{DF38DB95-9F94-3C89-D989-CF7A60420DB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04954640-7A6B-4B88-A4C1-49938D1BEEAE}" type="slidenum">
              <a:rPr lang="en-US" altLang="en-US" sz="1200"/>
              <a:pPr algn="r"/>
              <a:t>51</a:t>
            </a:fld>
            <a:endParaRPr lang="en-US" altLang="en-US" sz="1200"/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6921A5DB-E99A-D2C3-831E-CA5838A7C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3" name="Rectangle 3">
            <a:extLst>
              <a:ext uri="{FF2B5EF4-FFF2-40B4-BE49-F238E27FC236}">
                <a16:creationId xmlns:a16="http://schemas.microsoft.com/office/drawing/2014/main" id="{6D222005-3503-D507-120B-6DEDF5C62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0206DDD5-5E88-5A58-1134-65781F19B6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183AAD1-2646-4E1C-8AE7-71FF94A49F63}" type="slidenum">
              <a:rPr lang="en-US" altLang="en-US" sz="1200"/>
              <a:pPr eaLnBrk="1" hangingPunct="1"/>
              <a:t>52</a:t>
            </a:fld>
            <a:endParaRPr lang="en-US" altLang="en-US" sz="1200"/>
          </a:p>
        </p:txBody>
      </p:sp>
      <p:sp>
        <p:nvSpPr>
          <p:cNvPr id="105475" name="Rectangle 7">
            <a:extLst>
              <a:ext uri="{FF2B5EF4-FFF2-40B4-BE49-F238E27FC236}">
                <a16:creationId xmlns:a16="http://schemas.microsoft.com/office/drawing/2014/main" id="{A193F769-D2D6-2BA8-1EEB-E9E94B31C3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DB26B2B-3F8B-4C92-984A-7FFDD7F6A8C7}" type="slidenum">
              <a:rPr lang="en-US" altLang="en-US" sz="1200"/>
              <a:pPr algn="r"/>
              <a:t>52</a:t>
            </a:fld>
            <a:endParaRPr lang="en-US" altLang="en-US" sz="1200"/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108620A5-FD90-9D94-FE1E-4A466E015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D46FC265-0C45-6EBA-BDA3-6FE77ECDC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BD714244-BA7D-B92B-2BB6-7C3A8E03A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BB4A93-2F72-4466-AC0A-2A2B7827FC38}" type="slidenum">
              <a:rPr lang="en-US" altLang="en-US" sz="1200"/>
              <a:pPr eaLnBrk="1" hangingPunct="1"/>
              <a:t>53</a:t>
            </a:fld>
            <a:endParaRPr lang="en-US" altLang="en-US" sz="1200"/>
          </a:p>
        </p:txBody>
      </p:sp>
      <p:sp>
        <p:nvSpPr>
          <p:cNvPr id="106499" name="Rectangle 7">
            <a:extLst>
              <a:ext uri="{FF2B5EF4-FFF2-40B4-BE49-F238E27FC236}">
                <a16:creationId xmlns:a16="http://schemas.microsoft.com/office/drawing/2014/main" id="{5F7F2CCC-0EA3-AA04-B17E-BF633AE7C64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8F4922B5-E030-4971-BD63-1C22709D2D84}" type="slidenum">
              <a:rPr lang="en-US" altLang="en-US" sz="1200"/>
              <a:pPr algn="r"/>
              <a:t>53</a:t>
            </a:fld>
            <a:endParaRPr lang="en-US" altLang="en-US" sz="1200"/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id="{13219FA7-86B3-A8C8-EEC3-8FAAD68F77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1" name="Rectangle 3">
            <a:extLst>
              <a:ext uri="{FF2B5EF4-FFF2-40B4-BE49-F238E27FC236}">
                <a16:creationId xmlns:a16="http://schemas.microsoft.com/office/drawing/2014/main" id="{5D1D70CE-7F7D-84BA-3B43-D8D2C5BD8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2C5A37F7-6F96-BEE6-3EFE-3086558E20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AF20D41-34C7-469D-88F8-6BF74ACA99E1}" type="slidenum">
              <a:rPr lang="en-US" altLang="en-US" sz="1200"/>
              <a:pPr eaLnBrk="1" hangingPunct="1"/>
              <a:t>54</a:t>
            </a:fld>
            <a:endParaRPr lang="en-US" altLang="en-US" sz="1200"/>
          </a:p>
        </p:txBody>
      </p:sp>
      <p:sp>
        <p:nvSpPr>
          <p:cNvPr id="107523" name="Rectangle 7">
            <a:extLst>
              <a:ext uri="{FF2B5EF4-FFF2-40B4-BE49-F238E27FC236}">
                <a16:creationId xmlns:a16="http://schemas.microsoft.com/office/drawing/2014/main" id="{629F17BA-BA3E-6512-236C-D2DD3B457E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B5ABACF4-A8EF-4A29-ABC7-E6778CD742A1}" type="slidenum">
              <a:rPr lang="en-US" altLang="en-US" sz="1200"/>
              <a:pPr algn="r"/>
              <a:t>54</a:t>
            </a:fld>
            <a:endParaRPr lang="en-US" altLang="en-US" sz="1200"/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id="{B1E54197-1114-894B-5FE8-AB7C877BB8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id="{900CE5F6-D607-C9C9-070B-630DE5A2F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15176248-C526-0DCD-715B-C9657DB7F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E5125FC-AB94-444C-A64D-20910BEC5E3E}" type="slidenum">
              <a:rPr lang="en-US" altLang="en-US" sz="1200"/>
              <a:pPr eaLnBrk="1" hangingPunct="1"/>
              <a:t>58</a:t>
            </a:fld>
            <a:endParaRPr lang="en-US" altLang="en-US" sz="12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89C91E4E-E813-3254-48AE-03E16B6782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1794F987-3A81-3A7B-6128-96C3E5B58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tr-T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8FCCDFE-E7C7-BB74-48CD-8161DFF96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D4A5FB2-0DE8-4147-8D3C-AE0C2671E0E2}" type="slidenum">
              <a:rPr lang="en-US" altLang="en-US" sz="1200"/>
              <a:pPr eaLnBrk="1" hangingPunct="1"/>
              <a:t>59</a:t>
            </a:fld>
            <a:endParaRPr lang="en-US" altLang="en-US" sz="1200"/>
          </a:p>
        </p:txBody>
      </p:sp>
      <p:sp>
        <p:nvSpPr>
          <p:cNvPr id="109571" name="Rectangle 7">
            <a:extLst>
              <a:ext uri="{FF2B5EF4-FFF2-40B4-BE49-F238E27FC236}">
                <a16:creationId xmlns:a16="http://schemas.microsoft.com/office/drawing/2014/main" id="{279BA153-D3B9-1CA1-C0F0-720E92E8BA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E06F81B7-1F7A-42D5-8B5F-4B6DCBA07F4C}" type="slidenum">
              <a:rPr lang="en-US" altLang="en-US" sz="1200"/>
              <a:pPr algn="r"/>
              <a:t>59</a:t>
            </a:fld>
            <a:endParaRPr lang="en-US" altLang="en-US" sz="1200"/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id="{45D6041E-2A92-0F61-5486-1100B0839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id="{DC9A5DAA-FE5D-D3FB-A418-853155A8F1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292371F3-0702-7946-CC60-C7081DEA8CF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200400"/>
            <a:ext cx="3733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ine 5">
            <a:extLst>
              <a:ext uri="{FF2B5EF4-FFF2-40B4-BE49-F238E27FC236}">
                <a16:creationId xmlns:a16="http://schemas.microsoft.com/office/drawing/2014/main" id="{4BBCB187-29BA-8766-76AB-871262AD6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219200"/>
            <a:ext cx="7391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2A646DD8-6C04-1AA9-9E29-1EB9369B0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1219200"/>
            <a:ext cx="0" cy="34290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A1765EE-6203-2E35-4BA7-44252B06D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150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52400"/>
            <a:ext cx="7239000" cy="10668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B953FD-0625-080D-6A1C-02DC454DE1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56C504-E46D-410E-BF6E-4C00D60BD1B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271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FA5C16-C709-DDA5-0779-91F2472667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F209C4-230F-51FD-2F99-EF6ACA4038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6AE3B2-E38E-A405-DD0D-D3A71C24D8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EE7AB4-9B88-435D-83DD-75DD908F02A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048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248B76-AB01-10A3-9EC6-389261D0A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43A094-F8BC-BA26-8305-E37D1802E2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EE9E51-E64E-5737-26C1-BC5E873DC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DDA7F2-AD8B-49D9-B596-3D86288B9C6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121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B8D3A7-3AB0-9507-6F83-380971B95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470EFB-7B36-00EB-2D66-3A4270190B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91324E-3D2B-9DDC-E028-F46C3AABD4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D1E80C-92F3-436C-AE81-02063276E52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358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357C54-4D2B-157C-B26D-F831125A6E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F9B7068-74A9-125F-D923-2CF194B61F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85A34F-535D-F012-64EC-6350BE915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026C56-5CF6-4D84-ABCB-49416BE72C0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1282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820CEE-2CA5-32DC-241B-EA457DB1BF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5B2824-A705-C763-8FC3-9C84BD518D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EA7810-961A-EA64-ECD1-86A9B9A5F6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9C36D-1FF8-4D00-A2D6-2B9358ECAE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051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FCE6AEE-D6E5-B35C-4526-82F08DCB1A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ACA3D76-344E-A605-36F0-BC75C0077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901594-E847-31B7-07E7-C9BBAFBA7F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B1B606-312C-4360-ACAE-676D6E9FFEA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9134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44298D-69EB-F2DB-38A9-BE343C5A1A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B2649-413D-54E1-EC6B-325F2B7B1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81593-6C25-30C7-07C7-7D2586F5B3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EEE881-E4E4-468C-BC16-C994BDED361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701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6FBF9-0CF4-66D4-C399-63137F0BB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86CFE-CFC2-2905-93A3-4C57303BF7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EECF97-8CA1-C5ED-0A91-E01ABEC505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F4F3E2-9D96-4B6B-AA95-3B8C6ABA90D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63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BCDFC9-846F-1A2B-D00B-BAB25BD42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9F0025-36E8-2D9C-45B3-639FC41CF7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50A404-59FD-EE2B-49C5-97B780B100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80F2E-5E02-42B0-B5C9-3C9DCB81888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6871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77000" y="152400"/>
            <a:ext cx="19812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152400"/>
            <a:ext cx="57912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2A9D11-18C0-9048-1DAA-D18C408C33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8DD8A5-FAF9-2E4B-3AF9-1C895DAB2D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02ACA0-08E9-EABB-AEF7-1015E9D3F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7E8F5-D00D-4224-98FF-B64E7033E42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31122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31D2A0-ACDC-D5F8-AE65-A2E21511C2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1A180-5CA0-0F88-E5F3-5A8EFF0595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3C7A67-FFD9-C4CB-8DE9-09EE2EC7BD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F3B7CC-7412-4F41-9408-F099A5D6233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976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399A6F-C265-2AB3-962F-0166AD59D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2400"/>
            <a:ext cx="7467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DB2E4D5-DECC-5AA2-E178-827129E58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343AAE02-5D7E-939B-60AE-DFAE6E62C2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DD1BEC2A-F843-0297-7D20-C52CA9E17B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5B74F06A-5BA6-C34D-E569-AD915C9872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60C01B3-8195-4600-AE87-EF9B76C513E4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71043FD7-F37D-1EFC-9A3E-37E02D894673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286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Line 8">
            <a:extLst>
              <a:ext uri="{FF2B5EF4-FFF2-40B4-BE49-F238E27FC236}">
                <a16:creationId xmlns:a16="http://schemas.microsoft.com/office/drawing/2014/main" id="{5F0F105C-FAE6-0F19-7C4D-C2647B4CE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219200"/>
            <a:ext cx="73914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7B031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4B7FDFF-6A0F-95DF-908B-139FB608B1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04490" y="2179607"/>
            <a:ext cx="7239000" cy="762000"/>
          </a:xfrm>
        </p:spPr>
        <p:txBody>
          <a:bodyPr/>
          <a:lstStyle/>
          <a:p>
            <a:pPr algn="ctr" eaLnBrk="1" hangingPunct="1"/>
            <a:r>
              <a:rPr lang="en-US" altLang="en-US" sz="4000">
                <a:solidFill>
                  <a:srgbClr val="0000FF"/>
                </a:solidFill>
              </a:rPr>
              <a:t>Introduction to Matlab</a:t>
            </a:r>
            <a:endParaRPr lang="en-GB" altLang="en-US" sz="4000">
              <a:solidFill>
                <a:srgbClr val="0000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9A8D8-722B-56C3-BFE0-E2E387B5C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39" y="103518"/>
            <a:ext cx="7239000" cy="107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7B031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4000" kern="0" dirty="0">
                <a:solidFill>
                  <a:srgbClr val="0000FF"/>
                </a:solidFill>
              </a:rPr>
              <a:t>Signals &amp; Communication Systems Lab</a:t>
            </a:r>
            <a:endParaRPr lang="en-US" altLang="en-US" sz="4000" kern="0" dirty="0">
              <a:solidFill>
                <a:srgbClr val="0000FF"/>
              </a:solidFill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FBC998E-11FD-35A6-3498-B001E3B3D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Matlab?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C73CAEF-CEE5-13DF-75D0-9961A96A7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05800" cy="2667000"/>
          </a:xfrm>
        </p:spPr>
        <p:txBody>
          <a:bodyPr/>
          <a:lstStyle/>
          <a:p>
            <a:pPr eaLnBrk="1" hangingPunct="1"/>
            <a:r>
              <a:rPr lang="en-US" altLang="en-US" sz="2800"/>
              <a:t>Matlab is basically a </a:t>
            </a:r>
            <a:r>
              <a:rPr lang="en-US" altLang="en-US" sz="2800">
                <a:solidFill>
                  <a:srgbClr val="FF3300"/>
                </a:solidFill>
              </a:rPr>
              <a:t>high level language</a:t>
            </a:r>
            <a:r>
              <a:rPr lang="en-US" altLang="en-US" sz="2800"/>
              <a:t> which has many specialized toolboxes for making things easier for us</a:t>
            </a:r>
          </a:p>
          <a:p>
            <a:pPr eaLnBrk="1" hangingPunct="1">
              <a:buFontTx/>
              <a:buNone/>
            </a:pPr>
            <a:r>
              <a:rPr lang="en-US" altLang="en-US"/>
              <a:t>	</a:t>
            </a:r>
          </a:p>
        </p:txBody>
      </p:sp>
      <p:grpSp>
        <p:nvGrpSpPr>
          <p:cNvPr id="5124" name="Group 4">
            <a:extLst>
              <a:ext uri="{FF2B5EF4-FFF2-40B4-BE49-F238E27FC236}">
                <a16:creationId xmlns:a16="http://schemas.microsoft.com/office/drawing/2014/main" id="{603FFEA8-6308-DBBF-67A9-82F1B1660C59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743200"/>
            <a:ext cx="2286000" cy="3429000"/>
            <a:chOff x="3120" y="2160"/>
            <a:chExt cx="1440" cy="2160"/>
          </a:xfrm>
        </p:grpSpPr>
        <p:sp>
          <p:nvSpPr>
            <p:cNvPr id="5125" name="AutoShape 5">
              <a:extLst>
                <a:ext uri="{FF2B5EF4-FFF2-40B4-BE49-F238E27FC236}">
                  <a16:creationId xmlns:a16="http://schemas.microsoft.com/office/drawing/2014/main" id="{FB8B15AA-B4ED-94EF-BDEE-2F691602B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792"/>
              <a:ext cx="1440" cy="52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Assembly</a:t>
              </a:r>
            </a:p>
          </p:txBody>
        </p:sp>
        <p:sp>
          <p:nvSpPr>
            <p:cNvPr id="5126" name="Line 6">
              <a:extLst>
                <a:ext uri="{FF2B5EF4-FFF2-40B4-BE49-F238E27FC236}">
                  <a16:creationId xmlns:a16="http://schemas.microsoft.com/office/drawing/2014/main" id="{E9873E18-A35C-98CF-DABD-03D9A0DA2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35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AutoShape 7">
              <a:extLst>
                <a:ext uri="{FF2B5EF4-FFF2-40B4-BE49-F238E27FC236}">
                  <a16:creationId xmlns:a16="http://schemas.microsoft.com/office/drawing/2014/main" id="{99741339-0F7E-39B5-E2F3-BD393A40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1440" cy="52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High Level 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Languages such as </a:t>
              </a:r>
            </a:p>
            <a:p>
              <a:pPr algn="ctr"/>
              <a:r>
                <a:rPr lang="en-US" altLang="en-US" sz="1600">
                  <a:latin typeface="Tahoma" panose="020B0604030504040204" pitchFamily="34" charset="0"/>
                </a:rPr>
                <a:t>C, Pascal etc.</a:t>
              </a:r>
            </a:p>
          </p:txBody>
        </p:sp>
        <p:sp>
          <p:nvSpPr>
            <p:cNvPr id="5128" name="Line 8">
              <a:extLst>
                <a:ext uri="{FF2B5EF4-FFF2-40B4-BE49-F238E27FC236}">
                  <a16:creationId xmlns:a16="http://schemas.microsoft.com/office/drawing/2014/main" id="{C7BBC443-BB6F-F44E-D8F8-D6AE44245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0" y="268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AutoShape 9">
              <a:extLst>
                <a:ext uri="{FF2B5EF4-FFF2-40B4-BE49-F238E27FC236}">
                  <a16:creationId xmlns:a16="http://schemas.microsoft.com/office/drawing/2014/main" id="{AE182330-B951-491F-A928-B086B63C1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160"/>
              <a:ext cx="1440" cy="52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Matlab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8306A5B-B87B-5A6F-1075-518A38CCA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are we interested in?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DBDDFCE-BEDF-4DE0-EB56-48E90C558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839200" cy="3886200"/>
          </a:xfrm>
        </p:spPr>
        <p:txBody>
          <a:bodyPr/>
          <a:lstStyle/>
          <a:p>
            <a:pPr eaLnBrk="1" hangingPunct="1"/>
            <a:r>
              <a:rPr lang="en-US" altLang="en-US" sz="2800"/>
              <a:t>Matlab is too broad for our purposes in this course.</a:t>
            </a:r>
          </a:p>
          <a:p>
            <a:pPr eaLnBrk="1" hangingPunct="1"/>
            <a:r>
              <a:rPr lang="en-US" altLang="en-US" sz="2800"/>
              <a:t>The features we are going to require is</a:t>
            </a:r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>
              <a:buFontTx/>
              <a:buNone/>
            </a:pPr>
            <a:endParaRPr lang="en-US" altLang="en-US" sz="2800"/>
          </a:p>
        </p:txBody>
      </p:sp>
      <p:grpSp>
        <p:nvGrpSpPr>
          <p:cNvPr id="6148" name="Group 4">
            <a:extLst>
              <a:ext uri="{FF2B5EF4-FFF2-40B4-BE49-F238E27FC236}">
                <a16:creationId xmlns:a16="http://schemas.microsoft.com/office/drawing/2014/main" id="{4223528B-1423-51A7-381B-8C36D2D85DE8}"/>
              </a:ext>
            </a:extLst>
          </p:cNvPr>
          <p:cNvGrpSpPr>
            <a:grpSpLocks/>
          </p:cNvGrpSpPr>
          <p:nvPr/>
        </p:nvGrpSpPr>
        <p:grpSpPr bwMode="auto">
          <a:xfrm>
            <a:off x="604838" y="2743200"/>
            <a:ext cx="7548562" cy="3429000"/>
            <a:chOff x="381" y="2064"/>
            <a:chExt cx="4755" cy="2160"/>
          </a:xfrm>
        </p:grpSpPr>
        <p:sp>
          <p:nvSpPr>
            <p:cNvPr id="6149" name="AutoShape 5">
              <a:extLst>
                <a:ext uri="{FF2B5EF4-FFF2-40B4-BE49-F238E27FC236}">
                  <a16:creationId xmlns:a16="http://schemas.microsoft.com/office/drawing/2014/main" id="{BE52AA11-D3D9-F953-9CA2-C311133C4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064"/>
              <a:ext cx="1152" cy="384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Matlab</a:t>
              </a:r>
            </a:p>
          </p:txBody>
        </p:sp>
        <p:sp>
          <p:nvSpPr>
            <p:cNvPr id="6150" name="Line 6">
              <a:extLst>
                <a:ext uri="{FF2B5EF4-FFF2-40B4-BE49-F238E27FC236}">
                  <a16:creationId xmlns:a16="http://schemas.microsoft.com/office/drawing/2014/main" id="{E0181736-604E-2B35-FA96-C6850FE9F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4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AutoShape 7">
              <a:extLst>
                <a:ext uri="{FF2B5EF4-FFF2-40B4-BE49-F238E27FC236}">
                  <a16:creationId xmlns:a16="http://schemas.microsoft.com/office/drawing/2014/main" id="{A5DD3C03-3BFB-85C6-A8C3-C6BEA35B5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784"/>
              <a:ext cx="816" cy="336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Command</a:t>
              </a:r>
            </a:p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Line</a:t>
              </a:r>
            </a:p>
          </p:txBody>
        </p:sp>
        <p:sp>
          <p:nvSpPr>
            <p:cNvPr id="6152" name="Line 8">
              <a:extLst>
                <a:ext uri="{FF2B5EF4-FFF2-40B4-BE49-F238E27FC236}">
                  <a16:creationId xmlns:a16="http://schemas.microsoft.com/office/drawing/2014/main" id="{7F7BE626-724D-5058-3F99-2EC81E243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5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Line 9">
              <a:extLst>
                <a:ext uri="{FF2B5EF4-FFF2-40B4-BE49-F238E27FC236}">
                  <a16:creationId xmlns:a16="http://schemas.microsoft.com/office/drawing/2014/main" id="{94BA8F78-E977-5E13-EFFA-75306A7B6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5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" name="AutoShape 10">
              <a:extLst>
                <a:ext uri="{FF2B5EF4-FFF2-40B4-BE49-F238E27FC236}">
                  <a16:creationId xmlns:a16="http://schemas.microsoft.com/office/drawing/2014/main" id="{4778845C-06BC-4353-4E09-AFB5DF90C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784"/>
              <a:ext cx="816" cy="336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m-files</a:t>
              </a:r>
            </a:p>
          </p:txBody>
        </p:sp>
        <p:sp>
          <p:nvSpPr>
            <p:cNvPr id="6155" name="AutoShape 11">
              <a:extLst>
                <a:ext uri="{FF2B5EF4-FFF2-40B4-BE49-F238E27FC236}">
                  <a16:creationId xmlns:a16="http://schemas.microsoft.com/office/drawing/2014/main" id="{864ABB13-57F5-61A8-6768-4480B5B2F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60"/>
              <a:ext cx="816" cy="336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functions</a:t>
              </a:r>
            </a:p>
          </p:txBody>
        </p:sp>
        <p:sp>
          <p:nvSpPr>
            <p:cNvPr id="6156" name="Line 12">
              <a:extLst>
                <a:ext uri="{FF2B5EF4-FFF2-40B4-BE49-F238E27FC236}">
                  <a16:creationId xmlns:a16="http://schemas.microsoft.com/office/drawing/2014/main" id="{342532CF-F284-BF0E-1A46-FB48F2C56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1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Line 13">
              <a:extLst>
                <a:ext uri="{FF2B5EF4-FFF2-40B4-BE49-F238E27FC236}">
                  <a16:creationId xmlns:a16="http://schemas.microsoft.com/office/drawing/2014/main" id="{07AF98D9-6DE8-A882-9F81-20BE3D53B5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25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AutoShape 14">
              <a:extLst>
                <a:ext uri="{FF2B5EF4-FFF2-40B4-BE49-F238E27FC236}">
                  <a16:creationId xmlns:a16="http://schemas.microsoft.com/office/drawing/2014/main" id="{9A069573-B23D-DC4A-CAE0-7CA792B95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84"/>
              <a:ext cx="816" cy="336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mat-files</a:t>
              </a:r>
            </a:p>
          </p:txBody>
        </p:sp>
        <p:sp>
          <p:nvSpPr>
            <p:cNvPr id="6159" name="Line 15">
              <a:extLst>
                <a:ext uri="{FF2B5EF4-FFF2-40B4-BE49-F238E27FC236}">
                  <a16:creationId xmlns:a16="http://schemas.microsoft.com/office/drawing/2014/main" id="{47DB2485-0BF0-A223-BB30-FFF927974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5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AutoShape 16">
              <a:extLst>
                <a:ext uri="{FF2B5EF4-FFF2-40B4-BE49-F238E27FC236}">
                  <a16:creationId xmlns:a16="http://schemas.microsoft.com/office/drawing/2014/main" id="{283AD13C-1CBC-E5DC-D822-778202D98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3312"/>
              <a:ext cx="1508" cy="720"/>
            </a:xfrm>
            <a:prstGeom prst="borderCallout3">
              <a:avLst>
                <a:gd name="adj1" fmla="val 10000"/>
                <a:gd name="adj2" fmla="val 103185"/>
                <a:gd name="adj3" fmla="val 10000"/>
                <a:gd name="adj4" fmla="val 107894"/>
                <a:gd name="adj5" fmla="val -20417"/>
                <a:gd name="adj6" fmla="val 107894"/>
                <a:gd name="adj7" fmla="val -27222"/>
                <a:gd name="adj8" fmla="val 49736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Command execution like DOS command window</a:t>
              </a:r>
            </a:p>
          </p:txBody>
        </p:sp>
        <p:sp>
          <p:nvSpPr>
            <p:cNvPr id="6161" name="AutoShape 17">
              <a:extLst>
                <a:ext uri="{FF2B5EF4-FFF2-40B4-BE49-F238E27FC236}">
                  <a16:creationId xmlns:a16="http://schemas.microsoft.com/office/drawing/2014/main" id="{CC3A868A-F99B-24F2-B3B3-530C5BE6970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1" y="2312"/>
              <a:ext cx="1106" cy="609"/>
            </a:xfrm>
            <a:prstGeom prst="borderCallout1">
              <a:avLst>
                <a:gd name="adj1" fmla="val -7884"/>
                <a:gd name="adj2" fmla="val 6509"/>
                <a:gd name="adj3" fmla="val -7884"/>
                <a:gd name="adj4" fmla="val 106056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Series of Matlab commands</a:t>
              </a:r>
            </a:p>
          </p:txBody>
        </p:sp>
        <p:sp>
          <p:nvSpPr>
            <p:cNvPr id="6162" name="AutoShape 18">
              <a:extLst>
                <a:ext uri="{FF2B5EF4-FFF2-40B4-BE49-F238E27FC236}">
                  <a16:creationId xmlns:a16="http://schemas.microsoft.com/office/drawing/2014/main" id="{1CDD156F-32B8-405A-0FAB-6F55CE027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3572"/>
              <a:ext cx="1056" cy="652"/>
            </a:xfrm>
            <a:prstGeom prst="borderCallout1">
              <a:avLst>
                <a:gd name="adj1" fmla="val -7361"/>
                <a:gd name="adj2" fmla="val 6819"/>
                <a:gd name="adj3" fmla="val -7361"/>
                <a:gd name="adj4" fmla="val 103407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Input</a:t>
              </a:r>
            </a:p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Output</a:t>
              </a:r>
            </a:p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capability</a:t>
              </a:r>
            </a:p>
          </p:txBody>
        </p:sp>
        <p:sp>
          <p:nvSpPr>
            <p:cNvPr id="6163" name="AutoShape 19">
              <a:extLst>
                <a:ext uri="{FF2B5EF4-FFF2-40B4-BE49-F238E27FC236}">
                  <a16:creationId xmlns:a16="http://schemas.microsoft.com/office/drawing/2014/main" id="{15154BBC-7E32-0340-7B1E-6C7221371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3340"/>
              <a:ext cx="672" cy="696"/>
            </a:xfrm>
            <a:prstGeom prst="borderCallout3">
              <a:avLst>
                <a:gd name="adj1" fmla="val 10343"/>
                <a:gd name="adj2" fmla="val -7144"/>
                <a:gd name="adj3" fmla="val 10343"/>
                <a:gd name="adj4" fmla="val -7144"/>
                <a:gd name="adj5" fmla="val -12069"/>
                <a:gd name="adj6" fmla="val -7144"/>
                <a:gd name="adj7" fmla="val -34481"/>
                <a:gd name="adj8" fmla="val 7144"/>
              </a:avLst>
            </a:prstGeom>
            <a:solidFill>
              <a:srgbClr val="99CC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Tahoma" panose="020B0604030504040204" pitchFamily="34" charset="0"/>
                </a:rPr>
                <a:t>Data storage/ loading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BB15D3A-2E1F-8EAF-11BA-A74E68B52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E7CC022-1B1F-D6E0-B332-36CE97C9F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05400"/>
          </a:xfrm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3600">
              <a:solidFill>
                <a:srgbClr val="FF0000"/>
              </a:solidFill>
            </a:endParaRPr>
          </a:p>
          <a:p>
            <a:pPr algn="ctr" eaLnBrk="1" hangingPunct="1">
              <a:buFontTx/>
              <a:buNone/>
            </a:pPr>
            <a:r>
              <a:rPr lang="en-US" altLang="en-US" sz="3600">
                <a:solidFill>
                  <a:srgbClr val="FF0000"/>
                </a:solidFill>
              </a:rPr>
              <a:t>Physical Problem</a:t>
            </a:r>
          </a:p>
          <a:p>
            <a:pPr algn="ctr" eaLnBrk="1" hangingPunct="1"/>
            <a:endParaRPr lang="en-US" altLang="en-US" sz="3600">
              <a:solidFill>
                <a:srgbClr val="FF0000"/>
              </a:solidFill>
            </a:endParaRPr>
          </a:p>
          <a:p>
            <a:pPr algn="ctr" eaLnBrk="1" hangingPunct="1">
              <a:buFontTx/>
              <a:buNone/>
            </a:pPr>
            <a:r>
              <a:rPr lang="en-US" altLang="en-US" sz="3600"/>
              <a:t> </a:t>
            </a:r>
            <a:r>
              <a:rPr lang="en-US" altLang="en-US" sz="3600">
                <a:solidFill>
                  <a:srgbClr val="0000FF"/>
                </a:solidFill>
              </a:rPr>
              <a:t>Mathematical Models</a:t>
            </a:r>
          </a:p>
          <a:p>
            <a:pPr algn="ctr" eaLnBrk="1" hangingPunct="1"/>
            <a:endParaRPr lang="en-US" altLang="en-US" sz="3600">
              <a:solidFill>
                <a:srgbClr val="0000FF"/>
              </a:solidFill>
            </a:endParaRPr>
          </a:p>
          <a:p>
            <a:pPr algn="ctr" eaLnBrk="1" hangingPunct="1">
              <a:buFontTx/>
              <a:buNone/>
            </a:pPr>
            <a:r>
              <a:rPr lang="en-US" altLang="en-US" sz="3600"/>
              <a:t>Solving Mathematical Equations</a:t>
            </a:r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98EEBEE5-6F7A-969F-47F1-102404620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8100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5FE961AF-9770-75F8-469D-7B54F945E3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5146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D1A07A1-3BD7-7943-DA8C-ED2CD3E0D0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0000FF"/>
                </a:solidFill>
              </a:rPr>
              <a:t>Introduction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771A669-04BE-A094-0A94-E8AC760A028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algn="just" eaLnBrk="1" hangingPunct="1"/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 (short for MATrix LABoratory) is a powerful computing environment that handles anything from simple arithmetic to advanced data analysis.</a:t>
            </a:r>
          </a:p>
          <a:p>
            <a:pPr algn="just" eaLnBrk="1" hangingPunct="1"/>
            <a:r>
              <a:rPr lang="en-US" altLang="en-US">
                <a:solidFill>
                  <a:srgbClr val="1025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its core is the matrix as its basic data type.</a:t>
            </a:r>
          </a:p>
          <a:p>
            <a:pPr algn="just" eaLnBrk="1" hangingPunct="1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 with extensive maths and graphics functions, complicated calculations can be carried out by specifying only a few simple instructions.</a:t>
            </a:r>
          </a:p>
          <a:p>
            <a:pPr algn="just"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MATLAB can be used to do anything your scientific calculator can do, and more.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installations in the computer labs include tool boxes that include functions for electrical engineering related tasks, such as signal processing and system analysis.</a:t>
            </a:r>
          </a:p>
          <a:p>
            <a:pPr eaLnBrk="1" hangingPunct="1"/>
            <a:endParaRPr lang="en-US" altLang="en-US" sz="2800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95248196-93C7-A6DD-5B56-C1974203BD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66"/>
                </a:solidFill>
              </a:rPr>
              <a:t>Introduction. . . .</a:t>
            </a:r>
            <a:r>
              <a:rPr lang="en-US" altLang="en-US"/>
              <a:t>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97D324C-1FB1-2AD8-34A5-675619AD3E9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95400"/>
            <a:ext cx="9144000" cy="5334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>
                <a:solidFill>
                  <a:srgbClr val="10253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installations in the computer labs include tool boxes that include functions for electrical engineering related tasks, such as signal processing and system analysis.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>
              <a:solidFill>
                <a:srgbClr val="1025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 can plot your data in a multitude of visualizations as well.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en-US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Computations can be carried out in one of three ways: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1. Directly from the command line,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by writing a script that carries out predefined instructions, or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3.  by writing your own functions. </a:t>
            </a:r>
            <a:endParaRPr lang="en-US" altLang="en-US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3F83C0B-76CC-395E-C758-1800DAFF2D9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66"/>
                </a:solidFill>
              </a:rPr>
              <a:t>Introduction . . .</a:t>
            </a:r>
            <a:r>
              <a:rPr lang="en-US" altLang="en-US"/>
              <a:t>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B7BD56C-0F67-0016-1EF5-A010D807A90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eaLnBrk="1" hangingPunct="1"/>
            <a:r>
              <a:rPr lang="en-US" altLang="en-US" sz="2800"/>
              <a:t>Writing your own functions is much like programming in other languages, except that you have the full resources of MATLAB’s functions at your disposal, making for very compact code.</a:t>
            </a:r>
          </a:p>
          <a:p>
            <a:pPr eaLnBrk="1" hangingPunct="1"/>
            <a:endParaRPr lang="en-US" altLang="en-US" sz="28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FF"/>
                </a:solidFill>
              </a:rPr>
              <a:t>The MATLAB-6 and above environment has several windows at your disposal.</a:t>
            </a:r>
            <a:r>
              <a:rPr lang="en-US" altLang="en-US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 u="sng">
                <a:latin typeface="Arial" panose="020B0604020202020204" pitchFamily="34" charset="0"/>
                <a:cs typeface="Arial" panose="020B0604020202020204" pitchFamily="34" charset="0"/>
              </a:rPr>
              <a:t>Command Window</a:t>
            </a:r>
            <a:r>
              <a:rPr lang="en-US" altLang="en-US">
                <a:solidFill>
                  <a:srgbClr val="99FF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window is the command window, </a:t>
            </a:r>
            <a:r>
              <a:rPr lang="en-US" altLang="en-US">
                <a:solidFill>
                  <a:srgbClr val="FF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you will type all your commands, for small programs.</a:t>
            </a:r>
          </a:p>
          <a:p>
            <a:pPr eaLnBrk="1" hangingPunct="1"/>
            <a:endParaRPr lang="en-US" altLang="en-US" sz="2800">
              <a:solidFill>
                <a:srgbClr val="FFFF00"/>
              </a:solidFill>
            </a:endParaRPr>
          </a:p>
          <a:p>
            <a:pPr eaLnBrk="1" hangingPunct="1"/>
            <a:endParaRPr lang="en-US" altLang="en-US">
              <a:solidFill>
                <a:srgbClr val="FFFF00"/>
              </a:solidFill>
            </a:endParaRP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8F9B5F5-1096-051B-A68C-E4C3607CF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4400">
                <a:solidFill>
                  <a:srgbClr val="0000FF"/>
                </a:solidFill>
              </a:rPr>
              <a:t>Desktop Tools</a:t>
            </a:r>
            <a:endParaRPr lang="en-GB" altLang="en-US" sz="4400">
              <a:solidFill>
                <a:srgbClr val="0000FF"/>
              </a:solidFill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871E8AD-B8DE-2B45-FB3D-18C3C3A4A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</a:rPr>
              <a:t>Command Window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type commands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</a:rPr>
              <a:t>Workspace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view program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Courier New" panose="02070309020205020404" pitchFamily="49" charset="0"/>
              </a:rPr>
              <a:t>clear</a:t>
            </a:r>
            <a:r>
              <a:rPr lang="en-US" altLang="en-US" sz="2400"/>
              <a:t> to clear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double click on a variable to see it in the Array Editor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Command History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view past commands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save a whole session using </a:t>
            </a:r>
            <a:r>
              <a:rPr lang="en-US" altLang="en-US" sz="2400">
                <a:latin typeface="Courier New" panose="02070309020205020404" pitchFamily="49" charset="0"/>
              </a:rPr>
              <a:t>diary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</a:rPr>
              <a:t>Launch Pad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access tools, demos and documentation</a:t>
            </a:r>
            <a:endParaRPr lang="en-GB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717BE93-AE27-3996-45EE-0458AF3058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37C35D7-587E-1C6D-0CD6-BB8C2483C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897C664F-5C96-2017-0FDD-09331663C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2013" cy="731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E33B239-DC70-ADFA-B221-7F07EF335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Matlab Screen</a:t>
            </a:r>
            <a:endParaRPr lang="tr-TR" altLang="en-US"/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E00A462F-DC4D-600E-41A4-A6774570E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44625"/>
            <a:ext cx="6019800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Rectangle 4">
            <a:extLst>
              <a:ext uri="{FF2B5EF4-FFF2-40B4-BE49-F238E27FC236}">
                <a16:creationId xmlns:a16="http://schemas.microsoft.com/office/drawing/2014/main" id="{56FD720A-37CA-F43B-2CC2-A567CB01F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76200" y="1371600"/>
            <a:ext cx="5562600" cy="4495800"/>
          </a:xfrm>
          <a:noFill/>
        </p:spPr>
        <p:txBody>
          <a:bodyPr/>
          <a:lstStyle/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Command Window</a:t>
            </a:r>
          </a:p>
          <a:p>
            <a:pPr lvl="1" eaLnBrk="1" hangingPunct="1"/>
            <a:r>
              <a:rPr lang="en-US" altLang="en-US" sz="1600"/>
              <a:t>type commands</a:t>
            </a:r>
          </a:p>
          <a:p>
            <a:pPr lvl="1" eaLnBrk="1" hangingPunct="1">
              <a:buFontTx/>
              <a:buNone/>
            </a:pPr>
            <a:endParaRPr lang="en-US" altLang="en-US" sz="1600"/>
          </a:p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Current Directory</a:t>
            </a:r>
          </a:p>
          <a:p>
            <a:pPr lvl="1" eaLnBrk="1" hangingPunct="1"/>
            <a:r>
              <a:rPr lang="en-US" altLang="en-US" sz="1600"/>
              <a:t>View folders and m-files</a:t>
            </a:r>
          </a:p>
          <a:p>
            <a:pPr lvl="1" eaLnBrk="1" hangingPunct="1">
              <a:buFontTx/>
              <a:buNone/>
            </a:pPr>
            <a:endParaRPr lang="en-US" altLang="en-US" sz="1600"/>
          </a:p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Workspace</a:t>
            </a:r>
          </a:p>
          <a:p>
            <a:pPr lvl="1" eaLnBrk="1" hangingPunct="1"/>
            <a:r>
              <a:rPr lang="en-US" altLang="en-US" sz="1600"/>
              <a:t>View program variables</a:t>
            </a:r>
          </a:p>
          <a:p>
            <a:pPr lvl="1" eaLnBrk="1" hangingPunct="1"/>
            <a:r>
              <a:rPr lang="en-US" altLang="en-US" sz="1600"/>
              <a:t>Double click on a variable</a:t>
            </a:r>
          </a:p>
          <a:p>
            <a:pPr lvl="1" eaLnBrk="1" hangingPunct="1">
              <a:buFontTx/>
              <a:buNone/>
            </a:pPr>
            <a:r>
              <a:rPr lang="en-US" altLang="en-US" sz="1600"/>
              <a:t>     to see it in the Array Editor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1800" b="1">
                <a:solidFill>
                  <a:srgbClr val="FF0000"/>
                </a:solidFill>
              </a:rPr>
              <a:t>Command History</a:t>
            </a:r>
          </a:p>
          <a:p>
            <a:pPr lvl="1" eaLnBrk="1" hangingPunct="1"/>
            <a:r>
              <a:rPr lang="en-US" altLang="en-US" sz="1600"/>
              <a:t>view past commands</a:t>
            </a:r>
          </a:p>
          <a:p>
            <a:pPr lvl="1" eaLnBrk="1" hangingPunct="1"/>
            <a:r>
              <a:rPr lang="en-US" altLang="en-US" sz="1600"/>
              <a:t>save a whole session </a:t>
            </a:r>
          </a:p>
          <a:p>
            <a:pPr lvl="1" eaLnBrk="1" hangingPunct="1">
              <a:buFontTx/>
              <a:buNone/>
            </a:pPr>
            <a:r>
              <a:rPr lang="en-US" altLang="en-US" sz="1600"/>
              <a:t>      using diary</a:t>
            </a:r>
          </a:p>
          <a:p>
            <a:pPr eaLnBrk="1" hangingPunct="1"/>
            <a:endParaRPr lang="en-GB" altLang="en-US" sz="1600"/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BCD54491-ED77-6482-F67C-03FA7ADB54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4572000"/>
            <a:ext cx="10668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76C1076A-CAB9-89E4-4C65-4D702AD72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276600"/>
            <a:ext cx="2514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09C5AA24-EE4E-A1BF-2BC0-022DA2BB8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438400"/>
            <a:ext cx="1752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73C2978F-1D70-F449-89D8-A67C7A901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524000"/>
            <a:ext cx="36576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B01E543E-19BB-CB33-9F9C-E2BB13C7C7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C00000"/>
                </a:solidFill>
              </a:rPr>
              <a:t>Command History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9BAD288-BC73-0CFC-FC67-0995C7D94AD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* </a:t>
            </a:r>
            <a:r>
              <a:rPr lang="en-US" altLang="en-US" sz="3200">
                <a:solidFill>
                  <a:srgbClr val="7030A0"/>
                </a:solidFill>
              </a:rPr>
              <a:t>A</a:t>
            </a:r>
            <a:r>
              <a:rPr lang="en-US" altLang="en-US" sz="3200">
                <a:solidFill>
                  <a:srgbClr val="FFFF00"/>
                </a:solidFill>
              </a:rPr>
              <a:t> </a:t>
            </a:r>
            <a:r>
              <a:rPr lang="en-US" altLang="en-US" sz="3200">
                <a:solidFill>
                  <a:srgbClr val="C00000"/>
                </a:solidFill>
              </a:rPr>
              <a:t>command history</a:t>
            </a:r>
            <a:r>
              <a:rPr lang="en-US" altLang="en-US" sz="3200">
                <a:solidFill>
                  <a:srgbClr val="FFFF00"/>
                </a:solidFill>
              </a:rPr>
              <a:t>, </a:t>
            </a:r>
            <a:r>
              <a:rPr lang="en-US" altLang="en-US" sz="3200">
                <a:solidFill>
                  <a:srgbClr val="7030A0"/>
                </a:solidFill>
              </a:rPr>
              <a:t>which contains a list of all the commands that you have typed in the command window.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 * This makes it easy to cut and paste earlier lengthy commands,   saving you the effort of typing it over again.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chemeClr val="hlink"/>
                </a:solidFill>
              </a:rPr>
              <a:t> </a:t>
            </a:r>
            <a:r>
              <a:rPr lang="en-US" altLang="en-US" sz="3200">
                <a:solidFill>
                  <a:srgbClr val="0000FF"/>
                </a:solidFill>
              </a:rPr>
              <a:t>* This window can also display the contents of the current directory.</a:t>
            </a:r>
          </a:p>
          <a:p>
            <a:pPr eaLnBrk="1" hangingPunct="1"/>
            <a:endParaRPr lang="en-US" altLang="en-US" sz="3200">
              <a:solidFill>
                <a:srgbClr val="0000FF"/>
              </a:solidFill>
            </a:endParaRPr>
          </a:p>
          <a:p>
            <a:pPr eaLnBrk="1" hangingPunct="1"/>
            <a:endParaRPr lang="en-US" altLang="en-US">
              <a:solidFill>
                <a:srgbClr val="99FF9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DA72DC4-90AE-4762-4145-9717B526FC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Workspace &amp; Launch pad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D068B42-B6E0-ED10-BE49-5B07AC87A8D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676400"/>
            <a:ext cx="91440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 </a:t>
            </a:r>
            <a:r>
              <a:rPr lang="en-US" altLang="en-US" sz="3200">
                <a:solidFill>
                  <a:srgbClr val="0000FF"/>
                </a:solidFill>
              </a:rPr>
              <a:t>The third window displays one of two things:</a:t>
            </a:r>
            <a:r>
              <a:rPr lang="en-US" altLang="en-US" sz="3200">
                <a:solidFill>
                  <a:schemeClr val="hlink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0000FF"/>
                </a:solidFill>
              </a:rPr>
              <a:t>* </a:t>
            </a:r>
            <a:r>
              <a:rPr lang="en-US" altLang="en-US" sz="3200"/>
              <a:t>The </a:t>
            </a:r>
            <a:r>
              <a:rPr lang="en-US" altLang="en-US" sz="3200">
                <a:solidFill>
                  <a:srgbClr val="C00000"/>
                </a:solidFill>
              </a:rPr>
              <a:t>launch pad </a:t>
            </a:r>
            <a:r>
              <a:rPr lang="en-US" altLang="en-US" sz="3200"/>
              <a:t>from which you can browse the installed toolboxes and launch various tools as well as view demonstrations</a:t>
            </a:r>
            <a:r>
              <a:rPr lang="en-US" altLang="en-US" sz="3200">
                <a:solidFill>
                  <a:schemeClr val="hlink"/>
                </a:solidFill>
              </a:rPr>
              <a:t>,</a:t>
            </a:r>
            <a:r>
              <a:rPr lang="en-US" altLang="en-US" sz="3200">
                <a:solidFill>
                  <a:srgbClr val="FFFF00"/>
                </a:solidFill>
              </a:rPr>
              <a:t> </a:t>
            </a:r>
            <a:r>
              <a:rPr lang="en-US" altLang="en-US" sz="3200">
                <a:solidFill>
                  <a:srgbClr val="C00000"/>
                </a:solidFill>
              </a:rPr>
              <a:t>and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C00000"/>
                </a:solidFill>
              </a:rPr>
              <a:t>* The </a:t>
            </a:r>
            <a:r>
              <a:rPr lang="en-US" altLang="en-US" sz="3200">
                <a:solidFill>
                  <a:srgbClr val="254061"/>
                </a:solidFill>
              </a:rPr>
              <a:t>workspace</a:t>
            </a:r>
            <a:r>
              <a:rPr lang="en-US" altLang="en-US" sz="3200">
                <a:solidFill>
                  <a:srgbClr val="C00000"/>
                </a:solidFill>
              </a:rPr>
              <a:t>, which lists all the variables that are currently in memory as well as their sizes.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76C5D9C-C423-5A01-4591-94B6CCD940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b="1"/>
              <a:t>The Toolbar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652AED4-B1C6-A23E-6740-67E8EDE24006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A8A0E22A-2973-38A4-C89F-EE08D7D8A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6D6E439A-2484-4B55-3BC7-B9D3ED24F9B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981200"/>
            <a:ext cx="9144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3200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4000">
                <a:solidFill>
                  <a:srgbClr val="254061"/>
                </a:solidFill>
              </a:rPr>
              <a:t>Vectors and Matices and their Manipulation</a:t>
            </a:r>
          </a:p>
          <a:p>
            <a:pPr eaLnBrk="1" hangingPunct="1"/>
            <a:endParaRPr lang="en-US" altLang="en-US" sz="3200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E858D4C-66C4-A3F6-031E-A7C6C7EA640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254061"/>
                </a:solidFill>
              </a:rPr>
              <a:t>Definition of Vectors &amp; Matrices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5496071-43E6-146B-AA0B-C52EF3313A8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FF"/>
                </a:solidFill>
              </a:rPr>
              <a:t>MATLAB is based on matrix and vector algebra; even scalars are treated as 1x1  matrices. Therefore, vector and matrix operations are as simple as common calculator operations.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3300"/>
                </a:solidFill>
              </a:rPr>
              <a:t>Vectors can be defined in two ways.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 </a:t>
            </a:r>
            <a:r>
              <a:rPr lang="en-US" altLang="en-US" sz="2800" b="1">
                <a:solidFill>
                  <a:srgbClr val="FF0066"/>
                </a:solidFill>
              </a:rPr>
              <a:t>*  The first method is used for arbitrary elements: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 </a:t>
            </a:r>
            <a:r>
              <a:rPr lang="en-US" altLang="en-US" sz="2800"/>
              <a:t>v = [1 3 5 7];    creates a 1x4 vector with elements 1, 3, 5 and 7.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accent1"/>
                </a:solidFill>
              </a:rPr>
              <a:t> </a:t>
            </a:r>
            <a:r>
              <a:rPr lang="en-US" altLang="en-US" sz="2800">
                <a:solidFill>
                  <a:srgbClr val="003300"/>
                </a:solidFill>
              </a:rPr>
              <a:t>* Note that commas could have been used in place of spaces to separate the elements.     that is v=[1,3,5,7];</a:t>
            </a:r>
          </a:p>
          <a:p>
            <a:pPr eaLnBrk="1" hangingPunct="1"/>
            <a:r>
              <a:rPr lang="en-US" altLang="en-US" sz="2800">
                <a:solidFill>
                  <a:srgbClr val="0000FF"/>
                </a:solidFill>
              </a:rPr>
              <a:t>Additional elements can be added to the vector:     v(5) = 8;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FF"/>
                </a:solidFill>
              </a:rPr>
              <a:t>  yields the vector v = [1 3 5 7 8].</a:t>
            </a:r>
            <a:r>
              <a:rPr lang="en-US" altLang="en-US" sz="2800"/>
              <a:t> </a:t>
            </a:r>
            <a:r>
              <a:rPr lang="en-US" altLang="en-US"/>
              <a:t>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7A13BC17-0B01-B9F0-5782-E190C6239D2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/>
          </a:p>
          <a:p>
            <a:pPr eaLnBrk="1" hangingPunct="1"/>
            <a:r>
              <a:rPr lang="en-US" altLang="en-US" sz="2800">
                <a:solidFill>
                  <a:srgbClr val="254061"/>
                </a:solidFill>
              </a:rPr>
              <a:t>Previously defined vectors can be used to define a new vector. For example, with ‘</a:t>
            </a:r>
            <a:r>
              <a:rPr lang="en-US" altLang="en-US" sz="2800" b="1">
                <a:solidFill>
                  <a:srgbClr val="254061"/>
                </a:solidFill>
              </a:rPr>
              <a:t>v</a:t>
            </a:r>
            <a:r>
              <a:rPr lang="en-US" altLang="en-US" sz="2800">
                <a:solidFill>
                  <a:srgbClr val="254061"/>
                </a:solidFill>
              </a:rPr>
              <a:t>’ defined above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   </a:t>
            </a:r>
            <a:r>
              <a:rPr lang="en-US" altLang="en-US" sz="2800"/>
              <a:t>a = [9 10];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   </a:t>
            </a:r>
            <a:r>
              <a:rPr lang="en-US" altLang="en-US" sz="2800"/>
              <a:t>b = [v a];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  </a:t>
            </a:r>
            <a:r>
              <a:rPr lang="en-US" altLang="en-US" sz="2800">
                <a:solidFill>
                  <a:srgbClr val="FF0000"/>
                </a:solidFill>
              </a:rPr>
              <a:t>creates the vector </a:t>
            </a:r>
            <a:r>
              <a:rPr lang="en-US" altLang="en-US" sz="2800"/>
              <a:t>b = [1 3 5 7 8 9 10].</a:t>
            </a:r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40578AA-23C6-9386-C9D0-181BE0955F5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Second Method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19EE817-C99D-DEFF-9A8E-1F35315381F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371600"/>
            <a:ext cx="9144000" cy="52578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The second method is used for creating vectors with equally spaced elements: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       t = 0: 0.1:10;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         creates a 1x101 vector with the elements 0, .1, .2, .3,...,10. </a:t>
            </a:r>
            <a:r>
              <a:rPr lang="en-US" altLang="en-US" sz="3200">
                <a:solidFill>
                  <a:srgbClr val="FF0000"/>
                </a:solidFill>
              </a:rPr>
              <a:t>Note that the middle number defines the increment. </a:t>
            </a:r>
          </a:p>
          <a:p>
            <a:pPr eaLnBrk="1" hangingPunct="1"/>
            <a:r>
              <a:rPr lang="en-US" altLang="en-US" sz="3200" b="1">
                <a:solidFill>
                  <a:srgbClr val="984807"/>
                </a:solidFill>
              </a:rPr>
              <a:t>If only two numbers are given, then the increment is set to a default of 1: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/>
              <a:t> For ex.  k = 0:10;</a:t>
            </a:r>
            <a:r>
              <a:rPr lang="en-US" altLang="en-US" sz="3200" b="1"/>
              <a:t> </a:t>
            </a:r>
            <a:r>
              <a:rPr lang="en-US" altLang="en-US" sz="3200"/>
              <a:t> creates a 1x11 vector with the elements 0, 1, 2, ..., 10.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BD51BE5A-62BA-EEDC-568D-0BCD4EAEBB06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984807"/>
                </a:solidFill>
              </a:rPr>
              <a:t>* Matrices are defined by entering the elements row by row: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</a:t>
            </a:r>
            <a:r>
              <a:rPr lang="en-US" altLang="en-US" sz="2800"/>
              <a:t>M = [1 2 4; 3 6 8; 2 6 5];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                 </a:t>
            </a:r>
            <a:r>
              <a:rPr lang="en-US" altLang="en-US" sz="2800">
                <a:solidFill>
                  <a:srgbClr val="FF0066"/>
                </a:solidFill>
              </a:rPr>
              <a:t>   creates the matrix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>
              <a:solidFill>
                <a:srgbClr val="FF99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99FF"/>
                </a:solidFill>
              </a:rPr>
              <a:t>* </a:t>
            </a:r>
            <a:r>
              <a:rPr lang="en-US" altLang="en-US" sz="2800">
                <a:solidFill>
                  <a:srgbClr val="FF0066"/>
                </a:solidFill>
              </a:rPr>
              <a:t>Transpose of M is denoted by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66"/>
                </a:solidFill>
              </a:rPr>
              <a:t>     </a:t>
            </a:r>
            <a:r>
              <a:rPr lang="en-US" altLang="en-US" sz="2800">
                <a:solidFill>
                  <a:schemeClr val="folHlink"/>
                </a:solidFill>
              </a:rPr>
              <a:t> </a:t>
            </a:r>
            <a:r>
              <a:rPr lang="en-US" altLang="en-US" sz="2800">
                <a:solidFill>
                  <a:srgbClr val="0000FF"/>
                </a:solidFill>
              </a:rPr>
              <a:t>M’</a:t>
            </a:r>
            <a:r>
              <a:rPr lang="en-US" altLang="en-US" sz="2800">
                <a:solidFill>
                  <a:srgbClr val="FF0066"/>
                </a:solidFill>
              </a:rPr>
              <a:t>, </a:t>
            </a:r>
            <a:r>
              <a:rPr lang="en-US" altLang="en-US" sz="2800"/>
              <a:t>and displays as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*</a:t>
            </a:r>
            <a:r>
              <a:rPr lang="en-US" altLang="en-US" sz="2800">
                <a:solidFill>
                  <a:srgbClr val="FF0066"/>
                </a:solidFill>
              </a:rPr>
              <a:t>The inverse of M is M</a:t>
            </a:r>
            <a:r>
              <a:rPr lang="en-US" altLang="en-US" sz="2800" baseline="30000">
                <a:solidFill>
                  <a:srgbClr val="FF0066"/>
                </a:solidFill>
              </a:rPr>
              <a:t>-1</a:t>
            </a:r>
            <a:r>
              <a:rPr lang="en-US" altLang="en-US" sz="2800">
                <a:solidFill>
                  <a:srgbClr val="FF0066"/>
                </a:solidFill>
              </a:rPr>
              <a:t> denoted in                                               Matlab as M^-</a:t>
            </a:r>
            <a:r>
              <a:rPr lang="en-US" altLang="en-US" sz="2800">
                <a:solidFill>
                  <a:schemeClr val="bg1"/>
                </a:solidFill>
              </a:rPr>
              <a:t>1</a:t>
            </a:r>
            <a:r>
              <a:rPr lang="en-US" altLang="en-US" sz="2800">
                <a:solidFill>
                  <a:srgbClr val="0000FF"/>
                </a:solidFill>
              </a:rPr>
              <a:t>and displays as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* </a:t>
            </a:r>
            <a:r>
              <a:rPr lang="en-US" altLang="en-US" sz="2800"/>
              <a:t>M(2,3) displays the                                                                      element of second                                                                                row and third column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                  </a:t>
            </a:r>
          </a:p>
        </p:txBody>
      </p:sp>
      <p:pic>
        <p:nvPicPr>
          <p:cNvPr id="21507" name="Picture 9">
            <a:extLst>
              <a:ext uri="{FF2B5EF4-FFF2-40B4-BE49-F238E27FC236}">
                <a16:creationId xmlns:a16="http://schemas.microsoft.com/office/drawing/2014/main" id="{D6636086-39F3-B566-A3AB-66C6EA57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362200"/>
            <a:ext cx="266700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10">
            <a:extLst>
              <a:ext uri="{FF2B5EF4-FFF2-40B4-BE49-F238E27FC236}">
                <a16:creationId xmlns:a16="http://schemas.microsoft.com/office/drawing/2014/main" id="{ACF96F30-B2C7-6387-0F91-961AAE13A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57200"/>
            <a:ext cx="289560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11">
            <a:extLst>
              <a:ext uri="{FF2B5EF4-FFF2-40B4-BE49-F238E27FC236}">
                <a16:creationId xmlns:a16="http://schemas.microsoft.com/office/drawing/2014/main" id="{C82F3556-A878-2516-3488-B5703F148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191000"/>
            <a:ext cx="38100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16">
            <a:extLst>
              <a:ext uri="{FF2B5EF4-FFF2-40B4-BE49-F238E27FC236}">
                <a16:creationId xmlns:a16="http://schemas.microsoft.com/office/drawing/2014/main" id="{BF3D4F05-70D5-ADB8-46B4-849389F2C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638800"/>
            <a:ext cx="24384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Line 17">
            <a:extLst>
              <a:ext uri="{FF2B5EF4-FFF2-40B4-BE49-F238E27FC236}">
                <a16:creationId xmlns:a16="http://schemas.microsoft.com/office/drawing/2014/main" id="{8710ABFD-7233-3C5B-39D0-9EFFCE8368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581400"/>
            <a:ext cx="914400" cy="685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Line 18">
            <a:extLst>
              <a:ext uri="{FF2B5EF4-FFF2-40B4-BE49-F238E27FC236}">
                <a16:creationId xmlns:a16="http://schemas.microsoft.com/office/drawing/2014/main" id="{1FEFE716-3AD5-F16D-3807-AF6701AC8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953000"/>
            <a:ext cx="762000" cy="5334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9">
            <a:extLst>
              <a:ext uri="{FF2B5EF4-FFF2-40B4-BE49-F238E27FC236}">
                <a16:creationId xmlns:a16="http://schemas.microsoft.com/office/drawing/2014/main" id="{900EE0ED-7371-DB33-F1E2-BC8602600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590800"/>
            <a:ext cx="1600200" cy="838200"/>
          </a:xfrm>
          <a:prstGeom prst="line">
            <a:avLst/>
          </a:prstGeom>
          <a:noFill/>
          <a:ln w="28575">
            <a:solidFill>
              <a:srgbClr val="33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B4D873B-E02B-BE0E-443B-9CF224CAC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-1778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Arithmetic Operations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12158B0-710D-D3D4-E92B-0334C9E5DDC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7030A0"/>
                </a:solidFill>
              </a:rPr>
              <a:t>When applying addition, subtraction, multiplication and division between a scalar (that is a single number) and a vector we use     </a:t>
            </a:r>
            <a:r>
              <a:rPr lang="en-US" altLang="en-US" b="1">
                <a:solidFill>
                  <a:srgbClr val="FF0000"/>
                </a:solidFill>
              </a:rPr>
              <a:t> +</a:t>
            </a:r>
            <a:r>
              <a:rPr lang="en-US" altLang="en-US" b="1">
                <a:solidFill>
                  <a:srgbClr val="7030A0"/>
                </a:solidFill>
              </a:rPr>
              <a:t>,  </a:t>
            </a:r>
            <a:r>
              <a:rPr lang="en-US" altLang="en-US" b="1">
                <a:solidFill>
                  <a:srgbClr val="FF0000"/>
                </a:solidFill>
              </a:rPr>
              <a:t>-</a:t>
            </a:r>
            <a:r>
              <a:rPr lang="en-US" altLang="en-US" b="1">
                <a:solidFill>
                  <a:srgbClr val="7030A0"/>
                </a:solidFill>
              </a:rPr>
              <a:t>,  </a:t>
            </a:r>
            <a:r>
              <a:rPr lang="en-US" altLang="en-US" b="1">
                <a:solidFill>
                  <a:srgbClr val="FF0000"/>
                </a:solidFill>
              </a:rPr>
              <a:t>*</a:t>
            </a:r>
            <a:r>
              <a:rPr lang="en-US" altLang="en-US" b="1">
                <a:solidFill>
                  <a:srgbClr val="7030A0"/>
                </a:solidFill>
              </a:rPr>
              <a:t>,  and </a:t>
            </a:r>
            <a:r>
              <a:rPr lang="en-US" altLang="en-US" b="1">
                <a:solidFill>
                  <a:srgbClr val="FF0000"/>
                </a:solidFill>
              </a:rPr>
              <a:t>/ </a:t>
            </a:r>
            <a:r>
              <a:rPr lang="en-US" altLang="en-US" b="1">
                <a:solidFill>
                  <a:srgbClr val="7030A0"/>
                </a:solidFill>
              </a:rPr>
              <a:t>respectively.</a:t>
            </a:r>
            <a:r>
              <a:rPr lang="en-US" altLang="en-US" sz="2000" b="1">
                <a:solidFill>
                  <a:srgbClr val="7030A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</a:t>
            </a:r>
            <a:r>
              <a:rPr lang="en-US" altLang="en-US"/>
              <a:t>Let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Then     a + b  gives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        a - b   gives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           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CBF8ECA6-34C3-F8CA-4AFA-A1F31D0D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38400"/>
            <a:ext cx="3581400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>
            <a:extLst>
              <a:ext uri="{FF2B5EF4-FFF2-40B4-BE49-F238E27FC236}">
                <a16:creationId xmlns:a16="http://schemas.microsoft.com/office/drawing/2014/main" id="{155F354B-17EE-68C8-C656-6E1762F0B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971800"/>
            <a:ext cx="281940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Line 6">
            <a:extLst>
              <a:ext uri="{FF2B5EF4-FFF2-40B4-BE49-F238E27FC236}">
                <a16:creationId xmlns:a16="http://schemas.microsoft.com/office/drawing/2014/main" id="{15FAC4EC-B39E-4052-8756-C257ACFEE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733800"/>
            <a:ext cx="2438400" cy="76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2535" name="Picture 7">
            <a:extLst>
              <a:ext uri="{FF2B5EF4-FFF2-40B4-BE49-F238E27FC236}">
                <a16:creationId xmlns:a16="http://schemas.microsoft.com/office/drawing/2014/main" id="{135381B3-ADAF-3C4D-843F-1213EF77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800600"/>
            <a:ext cx="29718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543ECEF7-A9FF-DC1F-FB32-B4CFDC945FF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rgbClr val="FF0000"/>
                </a:solidFill>
              </a:rPr>
              <a:t>aXb in Matlab </a:t>
            </a:r>
            <a:r>
              <a:rPr lang="en-US" altLang="en-US" sz="3200">
                <a:solidFill>
                  <a:srgbClr val="0000FF"/>
                </a:solidFill>
              </a:rPr>
              <a:t>a*b </a:t>
            </a:r>
            <a:r>
              <a:rPr lang="en-US" altLang="en-US">
                <a:solidFill>
                  <a:srgbClr val="FF0000"/>
                </a:solidFill>
              </a:rPr>
              <a:t>displays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7030A0"/>
                </a:solidFill>
              </a:rPr>
              <a:t>In Matlab </a:t>
            </a:r>
            <a:r>
              <a:rPr lang="en-US" altLang="en-US" sz="3200">
                <a:solidFill>
                  <a:srgbClr val="FF0000"/>
                </a:solidFill>
              </a:rPr>
              <a:t>a</a:t>
            </a:r>
            <a:r>
              <a:rPr lang="en-US" altLang="en-US" sz="4400">
                <a:solidFill>
                  <a:srgbClr val="FF0000"/>
                </a:solidFill>
              </a:rPr>
              <a:t>.</a:t>
            </a:r>
            <a:r>
              <a:rPr lang="en-US" altLang="en-US" sz="3200">
                <a:solidFill>
                  <a:srgbClr val="FF0000"/>
                </a:solidFill>
              </a:rPr>
              <a:t>*b</a:t>
            </a:r>
            <a:r>
              <a:rPr lang="en-US" altLang="en-US">
                <a:solidFill>
                  <a:srgbClr val="7030A0"/>
                </a:solidFill>
              </a:rPr>
              <a:t> gives element wise multiplication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FF33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FF0000"/>
                </a:solidFill>
              </a:rPr>
              <a:t> a+2 gives</a:t>
            </a:r>
          </a:p>
        </p:txBody>
      </p:sp>
      <p:pic>
        <p:nvPicPr>
          <p:cNvPr id="23555" name="Picture 4">
            <a:extLst>
              <a:ext uri="{FF2B5EF4-FFF2-40B4-BE49-F238E27FC236}">
                <a16:creationId xmlns:a16="http://schemas.microsoft.com/office/drawing/2014/main" id="{1309CBAA-D3D2-2019-6820-117930FFD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3124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>
            <a:extLst>
              <a:ext uri="{FF2B5EF4-FFF2-40B4-BE49-F238E27FC236}">
                <a16:creationId xmlns:a16="http://schemas.microsoft.com/office/drawing/2014/main" id="{E04119D6-0DE0-0F93-750E-12A012BF2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744788"/>
            <a:ext cx="2971800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6">
            <a:extLst>
              <a:ext uri="{FF2B5EF4-FFF2-40B4-BE49-F238E27FC236}">
                <a16:creationId xmlns:a16="http://schemas.microsoft.com/office/drawing/2014/main" id="{FC459897-B179-D3FB-39B7-E7E6B276A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986088"/>
            <a:ext cx="3048000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C22E289-497C-1F7A-E6E5-11AE87692C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Algebraic manipulations</a:t>
            </a:r>
            <a:r>
              <a:rPr lang="en-US" altLang="en-US"/>
              <a:t> 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DBDE1A4-F0D9-93AA-EC3E-9D730740CB0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Scalar Calculations. The common arithmetic operators used in spreadsheets and program-ming languages such as BASIC are used in ‘Matlab'. 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In addition a distinction is made between right and left division. The arithmetic operators are 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D0F505EC-E51D-6281-A2A6-B5B4EB855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581400"/>
            <a:ext cx="7086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04A77F7C-ED60-F47E-EF3B-F5396F94D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Operators (relational, logical) </a:t>
            </a:r>
            <a:endParaRPr lang="en-GB" altLang="en-US"/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2774B4A2-16C8-CA60-5366-8EC3467FF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4038600" cy="464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= =</a:t>
            </a:r>
            <a:r>
              <a:rPr lang="en-US" altLang="en-US" sz="2800"/>
              <a:t>	equal</a:t>
            </a:r>
          </a:p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~=</a:t>
            </a:r>
            <a:r>
              <a:rPr lang="en-US" altLang="en-US" sz="2800"/>
              <a:t>	not equal</a:t>
            </a:r>
          </a:p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&lt;	</a:t>
            </a:r>
            <a:r>
              <a:rPr lang="en-US" altLang="en-US" sz="2800"/>
              <a:t>	less than</a:t>
            </a:r>
          </a:p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&lt;=</a:t>
            </a:r>
            <a:r>
              <a:rPr lang="en-US" altLang="en-US" sz="2800"/>
              <a:t>	less than or equal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&gt;</a:t>
            </a:r>
            <a:r>
              <a:rPr lang="en-US" altLang="en-US" sz="2800"/>
              <a:t>		greater than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&gt;=</a:t>
            </a:r>
            <a:r>
              <a:rPr lang="en-US" altLang="en-US" sz="2800"/>
              <a:t>	greater than or equal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&amp;	</a:t>
            </a:r>
            <a:r>
              <a:rPr lang="en-US" altLang="en-US" sz="2800"/>
              <a:t>	AND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|	</a:t>
            </a:r>
            <a:r>
              <a:rPr lang="en-US" altLang="en-US" sz="2800"/>
              <a:t>	OR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CC0000"/>
                </a:solidFill>
              </a:rPr>
              <a:t>~	</a:t>
            </a:r>
            <a:r>
              <a:rPr lang="en-US" altLang="en-US" sz="2800"/>
              <a:t>	NOT</a:t>
            </a:r>
            <a:endParaRPr lang="en-GB" altLang="en-US" sz="2800"/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F4C84652-A718-79F1-D867-FDC6641977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441575"/>
          <a:ext cx="5334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215640" progId="Equation.DSMT4">
                  <p:embed/>
                </p:oleObj>
              </mc:Choice>
              <mc:Fallback>
                <p:oleObj name="Equation" r:id="rId2" imgW="304560" imgH="215640" progId="Equation.DSMT4">
                  <p:embed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F4C84652-A718-79F1-D867-FDC6641977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441575"/>
                        <a:ext cx="5334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>
            <a:extLst>
              <a:ext uri="{FF2B5EF4-FFF2-40B4-BE49-F238E27FC236}">
                <a16:creationId xmlns:a16="http://schemas.microsoft.com/office/drawing/2014/main" id="{ECBEDF5B-FE64-50E8-6BD0-7774D66AD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981200"/>
            <a:ext cx="3505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CC0000"/>
                </a:solidFill>
              </a:rPr>
              <a:t>pi</a:t>
            </a:r>
            <a:r>
              <a:rPr lang="en-US" altLang="en-US" sz="2800"/>
              <a:t>	3.14159265…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CC0000"/>
                </a:solidFill>
              </a:rPr>
              <a:t>j</a:t>
            </a:r>
            <a:r>
              <a:rPr lang="en-US" altLang="en-US" sz="2800"/>
              <a:t>	imaginary unit,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CC0000"/>
                </a:solidFill>
              </a:rPr>
              <a:t>i</a:t>
            </a:r>
            <a:r>
              <a:rPr lang="en-US" altLang="en-US" sz="2800"/>
              <a:t>	same as j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GB" altLang="en-US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934BAE9-0EA3-6193-EAA2-53D7689343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Special Matrices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9E151A3-8400-5E75-22F7-D0E0B44D26D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FF0000"/>
                </a:solidFill>
              </a:rPr>
              <a:t> null matrix: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/>
              <a:t>           M = [ ];</a:t>
            </a:r>
          </a:p>
          <a:p>
            <a:pPr eaLnBrk="1" hangingPunct="1"/>
            <a:r>
              <a:rPr lang="en-US" altLang="en-US" sz="3200">
                <a:solidFill>
                  <a:srgbClr val="FF0000"/>
                </a:solidFill>
              </a:rPr>
              <a:t>nxm matrix of zeros: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>
                <a:solidFill>
                  <a:srgbClr val="99FF99"/>
                </a:solidFill>
              </a:rPr>
              <a:t>      </a:t>
            </a:r>
            <a:r>
              <a:rPr lang="en-US" altLang="en-US" sz="3200" b="1"/>
              <a:t>M = zeros(n,m);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FF0000"/>
                </a:solidFill>
              </a:rPr>
              <a:t>nxm matrix of ones: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/>
              <a:t>      M = ones(n,m);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FF0000"/>
                </a:solidFill>
              </a:rPr>
              <a:t>nxn identity matrix: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200" b="1"/>
              <a:t>      M = eye(n);</a:t>
            </a:r>
            <a:endParaRPr lang="en-US" altLang="en-US"/>
          </a:p>
        </p:txBody>
      </p:sp>
      <p:pic>
        <p:nvPicPr>
          <p:cNvPr id="25604" name="Picture 4">
            <a:extLst>
              <a:ext uri="{FF2B5EF4-FFF2-40B4-BE49-F238E27FC236}">
                <a16:creationId xmlns:a16="http://schemas.microsoft.com/office/drawing/2014/main" id="{BD16AB44-17D7-E153-232F-D8DC63E68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969963"/>
            <a:ext cx="25146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A595786F-CF95-1207-7468-929C5EFAF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743200"/>
            <a:ext cx="3124200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6">
            <a:extLst>
              <a:ext uri="{FF2B5EF4-FFF2-40B4-BE49-F238E27FC236}">
                <a16:creationId xmlns:a16="http://schemas.microsoft.com/office/drawing/2014/main" id="{9AAD8572-3424-B480-A97B-1D6AE41D4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4672013"/>
            <a:ext cx="3352800" cy="218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Line 10">
            <a:extLst>
              <a:ext uri="{FF2B5EF4-FFF2-40B4-BE49-F238E27FC236}">
                <a16:creationId xmlns:a16="http://schemas.microsoft.com/office/drawing/2014/main" id="{79814476-46D5-76EE-DF51-8A0A36B8C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657600"/>
            <a:ext cx="205740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D90A6BD-C829-978F-9CF0-C348A02748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Help, Document and Demos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F823215-03DA-1113-58DF-A929B57274F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752600"/>
            <a:ext cx="9144000" cy="50165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7030A0"/>
                </a:solidFill>
              </a:rPr>
              <a:t>Matlab</a:t>
            </a:r>
            <a:r>
              <a:rPr lang="en-US" altLang="en-US"/>
              <a:t> provides excellent tutorials that are accessible by typing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FF0000"/>
                </a:solidFill>
              </a:rPr>
              <a:t>  &gt;&gt;demo</a:t>
            </a:r>
          </a:p>
          <a:p>
            <a:pPr eaLnBrk="1" hangingPunct="1"/>
            <a:r>
              <a:rPr lang="en-US" altLang="en-US"/>
              <a:t>The </a:t>
            </a:r>
            <a:r>
              <a:rPr lang="en-US" altLang="en-US">
                <a:solidFill>
                  <a:srgbClr val="1B09A3"/>
                </a:solidFill>
              </a:rPr>
              <a:t>Basic matrix operations </a:t>
            </a:r>
            <a:r>
              <a:rPr lang="en-US" altLang="en-US"/>
              <a:t>tutorial under the </a:t>
            </a:r>
            <a:r>
              <a:rPr lang="en-US" altLang="en-US">
                <a:solidFill>
                  <a:srgbClr val="7030A0"/>
                </a:solidFill>
              </a:rPr>
              <a:t>Matrices </a:t>
            </a:r>
            <a:r>
              <a:rPr lang="en-US" altLang="en-US"/>
              <a:t>tutorial, the </a:t>
            </a:r>
            <a:r>
              <a:rPr lang="en-US" altLang="en-US">
                <a:solidFill>
                  <a:srgbClr val="7030A0"/>
                </a:solidFill>
              </a:rPr>
              <a:t>Image Processing </a:t>
            </a:r>
            <a:r>
              <a:rPr lang="en-US" altLang="en-US"/>
              <a:t>and </a:t>
            </a:r>
            <a:r>
              <a:rPr lang="en-US" altLang="en-US">
                <a:solidFill>
                  <a:srgbClr val="7030A0"/>
                </a:solidFill>
              </a:rPr>
              <a:t>Signal Processing </a:t>
            </a:r>
            <a:r>
              <a:rPr lang="en-US" altLang="en-US"/>
              <a:t>tutorial under </a:t>
            </a:r>
            <a:r>
              <a:rPr lang="en-US" altLang="en-US">
                <a:solidFill>
                  <a:srgbClr val="7030A0"/>
                </a:solidFill>
              </a:rPr>
              <a:t>Toolboxes </a:t>
            </a:r>
            <a:r>
              <a:rPr lang="en-US" altLang="en-US"/>
              <a:t>are highly recommended.</a:t>
            </a:r>
          </a:p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To get information on a particular function of Matlab, we type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7030A0"/>
                </a:solidFill>
              </a:rPr>
              <a:t>  &gt;&gt;help function_name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7030A0"/>
                </a:solidFill>
              </a:rPr>
              <a:t> Example: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7030A0"/>
                </a:solidFill>
              </a:rPr>
              <a:t> </a:t>
            </a:r>
            <a:r>
              <a:rPr lang="en-US" altLang="en-US">
                <a:solidFill>
                  <a:srgbClr val="0000FF"/>
                </a:solidFill>
              </a:rPr>
              <a:t>&gt;&gt; help fft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&gt;&gt; help mean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00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olidFill>
                <a:srgbClr val="99FF9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A6FB0FD-ACAF-0F42-21BD-9B194038BD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85738"/>
            <a:ext cx="9144000" cy="838201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Getting Help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B803ABF-CF57-53DF-0EE9-9861FCC9E70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The Help pull-down menu gives you access to all the help pages included with MATLAB.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19002D57-56F9-880A-A6A8-9C97871C4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7239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AA6EF1FB-6F76-9C7A-2319-02AF599F548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371600"/>
            <a:ext cx="91440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Comments in Matlab must be proceeded by %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          % </a:t>
            </a:r>
            <a:r>
              <a:rPr lang="en-US" altLang="en-US">
                <a:solidFill>
                  <a:srgbClr val="7030A0"/>
                </a:solidFill>
              </a:rPr>
              <a:t>This is a comment in Matlab.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To define a function in Matlab, we first create a function with the name of the function.</a:t>
            </a:r>
            <a:r>
              <a:rPr lang="en-US" altLang="en-US"/>
              <a:t>       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*</a:t>
            </a:r>
            <a:r>
              <a:rPr lang="en-US" altLang="en-US">
                <a:solidFill>
                  <a:srgbClr val="7030A0"/>
                </a:solidFill>
              </a:rPr>
              <a:t>We then define the function in the file.</a:t>
            </a:r>
            <a:r>
              <a:rPr lang="en-US" altLang="en-US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*For example, the Matlab documentation recommends </a:t>
            </a:r>
            <a:r>
              <a:rPr lang="en-US" altLang="en-US">
                <a:solidFill>
                  <a:srgbClr val="FF0000"/>
                </a:solidFill>
              </a:rPr>
              <a:t>stat.m</a:t>
            </a:r>
            <a:r>
              <a:rPr lang="en-US" altLang="en-US"/>
              <a:t> written as: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  <a:r>
              <a:rPr lang="en-US" altLang="en-US">
                <a:solidFill>
                  <a:srgbClr val="0000FF"/>
                </a:solidFill>
              </a:rPr>
              <a:t>function</a:t>
            </a:r>
            <a:r>
              <a:rPr lang="en-US" altLang="en-US">
                <a:solidFill>
                  <a:srgbClr val="7030A0"/>
                </a:solidFill>
              </a:rPr>
              <a:t> </a:t>
            </a:r>
            <a:r>
              <a:rPr lang="en-US" altLang="en-US"/>
              <a:t>[mean,stdev] = stat(x)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  % This comment is printed out with </a:t>
            </a:r>
            <a:r>
              <a:rPr lang="en-US" altLang="en-US">
                <a:solidFill>
                  <a:srgbClr val="7030A0"/>
                </a:solidFill>
              </a:rPr>
              <a:t>help stat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n = length(x);  % </a:t>
            </a:r>
            <a:r>
              <a:rPr lang="en-US" altLang="en-US">
                <a:solidFill>
                  <a:srgbClr val="7030A0"/>
                </a:solidFill>
              </a:rPr>
              <a:t>assumes that x is a vector.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mean = sum(x) / n; % </a:t>
            </a:r>
            <a:r>
              <a:rPr lang="en-US" altLang="en-US">
                <a:solidFill>
                  <a:srgbClr val="7030A0"/>
                </a:solidFill>
              </a:rPr>
              <a:t>sum adds up all elements.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stdev = sqrt(sum((x - mean).^2)/n);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9F5685-A646-D02F-FFF7-A861A2236A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780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FF3399"/>
                </a:solidFill>
              </a:rPr>
              <a:t>Viewing Matlab Matrices as one Dimensional Arrays</a:t>
            </a:r>
            <a:br>
              <a:rPr lang="en-US" altLang="en-US" sz="2800"/>
            </a:br>
            <a:endParaRPr lang="en-US" altLang="en-US" sz="28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CF5A147-B4EA-5D88-4545-149B0C594ED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524000"/>
            <a:ext cx="9144000" cy="52228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Convert multi-dimensional to a one-dimensional array by simply using </a:t>
            </a:r>
            <a:r>
              <a:rPr lang="en-US" altLang="en-US" sz="2000" b="1"/>
              <a:t>array_name(:)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» a(:)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/>
              <a:t>	</a:t>
            </a:r>
            <a:r>
              <a:rPr lang="en-US" altLang="en-US" sz="2000"/>
              <a:t>ans =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4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7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5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8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	9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7030A0"/>
                </a:solidFill>
              </a:rPr>
              <a:t>	Note that the elements in the one-dimensional array are arranged column by column, </a:t>
            </a:r>
            <a:r>
              <a:rPr lang="en-US" altLang="en-US" sz="2000" b="1">
                <a:solidFill>
                  <a:srgbClr val="7030A0"/>
                </a:solidFill>
              </a:rPr>
              <a:t>not</a:t>
            </a:r>
            <a:r>
              <a:rPr lang="en-US" altLang="en-US" sz="2000">
                <a:solidFill>
                  <a:srgbClr val="7030A0"/>
                </a:solidFill>
              </a:rPr>
              <a:t> row by row. This is the same convention that is used for two dimensional arrays in </a:t>
            </a:r>
            <a:r>
              <a:rPr lang="en-US" altLang="en-US" sz="2000" b="1">
                <a:solidFill>
                  <a:srgbClr val="7030A0"/>
                </a:solidFill>
              </a:rPr>
              <a:t>Fortran</a:t>
            </a:r>
            <a:r>
              <a:rPr lang="en-US" altLang="en-US" sz="2000">
                <a:solidFill>
                  <a:srgbClr val="7030A0"/>
                </a:solidFill>
              </a:rPr>
              <a:t>, and this will also be the convention that we will adopt for representing two dimensional arrays in C++.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FC80E37-12D5-3F06-EC4B-8014E0D40F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CC00CC"/>
                </a:solidFill>
              </a:rPr>
              <a:t>Displaying and Printing in Matlab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E9DC916-78CA-FCF1-E0A1-734852D01C5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676400"/>
            <a:ext cx="91440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/>
              <a:t>To plot an array or display an image, select the figure using: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	» figure(1); % </a:t>
            </a:r>
            <a:r>
              <a:rPr lang="en-US" altLang="en-US" sz="3200">
                <a:solidFill>
                  <a:srgbClr val="0000FF"/>
                </a:solidFill>
              </a:rPr>
              <a:t>select the figure to display.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   » clf          % </a:t>
            </a:r>
            <a:r>
              <a:rPr lang="en-US" altLang="en-US" sz="3200">
                <a:solidFill>
                  <a:srgbClr val="7030A0"/>
                </a:solidFill>
              </a:rPr>
              <a:t>clear the figure from any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>
                <a:solidFill>
                  <a:srgbClr val="FF99FF"/>
                </a:solidFill>
              </a:rPr>
              <a:t>                     </a:t>
            </a:r>
            <a:r>
              <a:rPr lang="en-US" altLang="en-US" sz="3200"/>
              <a:t>%</a:t>
            </a:r>
            <a:r>
              <a:rPr lang="en-US" altLang="en-US" sz="3200">
                <a:solidFill>
                  <a:srgbClr val="FF99FF"/>
                </a:solidFill>
              </a:rPr>
              <a:t> </a:t>
            </a:r>
            <a:r>
              <a:rPr lang="en-US" altLang="en-US" sz="3200">
                <a:solidFill>
                  <a:srgbClr val="7030A0"/>
                </a:solidFill>
              </a:rPr>
              <a:t>previous commands.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>
                <a:solidFill>
                  <a:srgbClr val="FF0000"/>
                </a:solidFill>
              </a:rPr>
              <a:t>and use plot for displaying a one-dimen-sional array: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/>
              <a:t> » plot ([3 4 5 3 2 2]); % </a:t>
            </a:r>
            <a:r>
              <a:rPr lang="en-US" altLang="en-US" sz="3200">
                <a:solidFill>
                  <a:srgbClr val="FF0000"/>
                </a:solidFill>
              </a:rPr>
              <a:t>plots broken-line graph.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/>
              <a:t>or use imagesc for displaying a two dimensional array (image):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3200">
              <a:solidFill>
                <a:srgbClr val="FF99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7C88C12-B947-E61D-7F7A-218BCF2941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FF3399"/>
                </a:solidFill>
              </a:rPr>
              <a:t>One-dimensional random access iterator (using an index array)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B61A6AD-5987-36A7-D5B2-0FA12593EF7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  [1 5 9 2 6 10 3 7 11 4 8 12]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» I=[1 5 8 10]; </a:t>
            </a:r>
            <a:r>
              <a:rPr lang="en-US" altLang="en-US" sz="2000" b="1">
                <a:solidFill>
                  <a:srgbClr val="FF0000"/>
                </a:solidFill>
              </a:rPr>
              <a:t>% indices apply to one-dimensional array a(:)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» a(I)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ans 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1 6 7 4</a:t>
            </a:r>
          </a:p>
          <a:p>
            <a:pPr lvl="1" eaLnBrk="1" hangingPunct="1"/>
            <a:r>
              <a:rPr lang="en-US" altLang="en-US" b="1">
                <a:solidFill>
                  <a:srgbClr val="FF0000"/>
                </a:solidFill>
              </a:rPr>
              <a:t>two dimensional iterators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» a(1:2,1:3)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ans = 1 2 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b="1"/>
              <a:t>	           5 6 7 .</a:t>
            </a:r>
          </a:p>
          <a:p>
            <a:pPr eaLnBrk="1" hangingPunct="1"/>
            <a:endParaRPr lang="en-US" altLang="en-US" sz="2000" b="1"/>
          </a:p>
        </p:txBody>
      </p:sp>
      <p:pic>
        <p:nvPicPr>
          <p:cNvPr id="31748" name="Picture 5">
            <a:extLst>
              <a:ext uri="{FF2B5EF4-FFF2-40B4-BE49-F238E27FC236}">
                <a16:creationId xmlns:a16="http://schemas.microsoft.com/office/drawing/2014/main" id="{890E2484-BD56-9726-1852-9DFD9C53DF8D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27763" y="3435350"/>
            <a:ext cx="2159000" cy="1455738"/>
          </a:xfr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2C7F70F-71ED-AC39-FF13-EA6751DE7A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Working with Memory in Matlab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378D58D-E024-3934-3BCE-8E0ECC33E18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To keep track of how memory is allocated, we use </a:t>
            </a:r>
            <a:r>
              <a:rPr lang="en-US" altLang="en-US" b="1">
                <a:solidFill>
                  <a:srgbClr val="CCFFFF"/>
                </a:solidFill>
              </a:rPr>
              <a:t>whos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FF"/>
                </a:solidFill>
              </a:rPr>
              <a:t>  » b=[34 54 56];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0000FF"/>
                </a:solidFill>
              </a:rPr>
              <a:t>  » a=[2 3 56];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CCFFFF"/>
                </a:solidFill>
              </a:rPr>
              <a:t>  </a:t>
            </a:r>
            <a:r>
              <a:rPr lang="en-US" altLang="en-US" b="1">
                <a:solidFill>
                  <a:srgbClr val="FF0000"/>
                </a:solidFill>
              </a:rPr>
              <a:t>» whos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FF00"/>
                </a:solidFill>
              </a:rPr>
              <a:t>	</a:t>
            </a:r>
            <a:r>
              <a:rPr lang="en-US" altLang="en-US" b="1">
                <a:solidFill>
                  <a:srgbClr val="FF0000"/>
                </a:solidFill>
              </a:rPr>
              <a:t>Name Size Bytes Class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	a 1x3 24 double array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	b 1x3 24 double array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	Grand total is 6 elements using 48 bytes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	We may then get rid of unwanted variables using clear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 » clear a; % </a:t>
            </a:r>
            <a:r>
              <a:rPr lang="en-US" altLang="en-US" b="1">
                <a:solidFill>
                  <a:srgbClr val="FF0000"/>
                </a:solidFill>
              </a:rPr>
              <a:t>removes the variable a from the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We can use clear all to remove all variables from memory (and all functions and mex links) and close all to close all the figures and hence save a lot of memory.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D71D40B3-C446-C2F5-4806-A92D7DAE2B7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0000FF"/>
                </a:solidFill>
              </a:rPr>
              <a:t>Since Matlab supports dynamic memory allocation, it is possible to make inefficient use of the memory due to memory fragmentation problems. In this case, the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 b="1">
                <a:solidFill>
                  <a:srgbClr val="0000FF"/>
                </a:solidFill>
              </a:rPr>
              <a:t>pack command can be used to defragment the memory and help reclaim some of the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To use memory efficiently, it is best to avoid changing the number of elements in an array during execution. It is best to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>
                <a:solidFill>
                  <a:srgbClr val="FF3399"/>
                </a:solidFill>
              </a:rPr>
              <a:t>preallocate arrays before using them. To this end we can use zeros and ones: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 » </a:t>
            </a:r>
            <a:r>
              <a:rPr lang="en-US" altLang="en-US" b="1">
                <a:solidFill>
                  <a:srgbClr val="002060"/>
                </a:solidFill>
              </a:rPr>
              <a:t>a=zeros(3,4); </a:t>
            </a:r>
            <a:r>
              <a:rPr lang="en-US" altLang="en-US" b="1"/>
              <a:t>% </a:t>
            </a:r>
            <a:r>
              <a:rPr lang="en-US" altLang="en-US" b="1">
                <a:solidFill>
                  <a:srgbClr val="0000FF"/>
                </a:solidFill>
              </a:rPr>
              <a:t>a two-dimensional 3x4 zero matrix.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 » </a:t>
            </a:r>
            <a:r>
              <a:rPr lang="en-US" altLang="en-US" b="1">
                <a:solidFill>
                  <a:srgbClr val="002060"/>
                </a:solidFill>
              </a:rPr>
              <a:t>b=ones(1,5); </a:t>
            </a:r>
            <a:r>
              <a:rPr lang="en-US" altLang="en-US" b="1">
                <a:solidFill>
                  <a:srgbClr val="0000FF"/>
                </a:solidFill>
              </a:rPr>
              <a:t>% an array of 5 elements of value 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3EF9E21-2D35-0373-18ED-C51B11867F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chemeClr val="tx1"/>
                </a:solidFill>
              </a:rPr>
              <a:t>Evaluating one-dimensional</a:t>
            </a:r>
            <a:br>
              <a:rPr lang="en-US" altLang="en-US" sz="3200">
                <a:solidFill>
                  <a:schemeClr val="tx1"/>
                </a:solidFill>
              </a:rPr>
            </a:br>
            <a:r>
              <a:rPr lang="en-US" altLang="en-US" sz="3200">
                <a:solidFill>
                  <a:schemeClr val="tx1"/>
                </a:solidFill>
              </a:rPr>
              <a:t>functions in Matlab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1FFA54E-343A-361A-D1D6-ACF65AD9EF3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To evaluate one-dimensional functions in Matlab we need to specify the points at which we would like our function to be evaluated at.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We can use either the built-in colon notation to specify the points » t=-1:0.5:1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99FF99"/>
                </a:solidFill>
                <a:latin typeface="Arial" panose="020B0604020202020204" pitchFamily="34" charset="0"/>
              </a:rPr>
              <a:t>	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t = -1.0000 -0.5000 0 0.5000 1.0000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or use </a:t>
            </a:r>
            <a:r>
              <a:rPr lang="en-US" altLang="en-US">
                <a:solidFill>
                  <a:srgbClr val="FF0066"/>
                </a:solidFill>
                <a:latin typeface="Arial" panose="020B0604020202020204" pitchFamily="34" charset="0"/>
              </a:rPr>
              <a:t>linspace(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» t=linspace(-2,4,5) %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generates 5 points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				%  </a:t>
            </a: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between -2 and 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99FF99"/>
                </a:solidFill>
                <a:latin typeface="Arial" panose="020B0604020202020204" pitchFamily="34" charset="0"/>
              </a:rPr>
              <a:t>	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t = -2.0000 -0.5000 1.0000 2.5000 4.0000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	or use</a:t>
            </a:r>
            <a:r>
              <a:rPr lang="en-US" altLang="en-US">
                <a:solidFill>
                  <a:srgbClr val="99FF99"/>
                </a:solidFill>
                <a:latin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logspace( )</a:t>
            </a:r>
          </a:p>
          <a:p>
            <a:pPr eaLnBrk="1" hangingPunct="1"/>
            <a:endParaRPr lang="en-US" altLang="en-US">
              <a:solidFill>
                <a:srgbClr val="99FF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D6C6565-DF21-716C-33D7-7115E7DB52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FF0000"/>
                </a:solidFill>
              </a:rPr>
              <a:t>Evaluating one-dimensional functions in Matlab (contd)</a:t>
            </a:r>
            <a:br>
              <a:rPr lang="en-US" altLang="en-US" sz="3200">
                <a:solidFill>
                  <a:srgbClr val="FF0000"/>
                </a:solidFill>
              </a:rPr>
            </a:br>
            <a:endParaRPr lang="en-US" altLang="en-US" sz="3200">
              <a:solidFill>
                <a:srgbClr val="FF0000"/>
              </a:solidFill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6F5DABC-5520-F4F6-CB58-1C6C81030FB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981200"/>
            <a:ext cx="9144000" cy="4876800"/>
          </a:xfrm>
        </p:spPr>
        <p:txBody>
          <a:bodyPr/>
          <a:lstStyle/>
          <a:p>
            <a:pPr eaLnBrk="1" hangingPunct="1"/>
            <a:r>
              <a:rPr lang="en-US" altLang="en-US" sz="2800"/>
              <a:t>In general, all numbers in Matlab are double. Complex numbers are represented by multiplying the imaginary part by </a:t>
            </a:r>
            <a:r>
              <a:rPr lang="en-US" altLang="en-US" sz="2800">
                <a:solidFill>
                  <a:srgbClr val="0000FF"/>
                </a:solidFill>
              </a:rPr>
              <a:t>1i</a:t>
            </a:r>
            <a:r>
              <a:rPr lang="en-US" altLang="en-US" sz="2800"/>
              <a:t>. For example, </a:t>
            </a:r>
            <a:r>
              <a:rPr lang="en-US" altLang="en-US" sz="2800">
                <a:solidFill>
                  <a:srgbClr val="FF0066"/>
                </a:solidFill>
              </a:rPr>
              <a:t>1+3j </a:t>
            </a:r>
            <a:r>
              <a:rPr lang="en-US" altLang="en-US" sz="2800"/>
              <a:t>can be represented by </a:t>
            </a:r>
            <a:r>
              <a:rPr lang="en-US" altLang="en-US" sz="2800">
                <a:solidFill>
                  <a:srgbClr val="0000FF"/>
                </a:solidFill>
              </a:rPr>
              <a:t>1+1i*3 </a:t>
            </a:r>
            <a:r>
              <a:rPr lang="en-US" altLang="en-US" sz="2800"/>
              <a:t>or </a:t>
            </a:r>
            <a:r>
              <a:rPr lang="en-US" altLang="en-US" sz="2800">
                <a:solidFill>
                  <a:srgbClr val="0000FF"/>
                </a:solidFill>
              </a:rPr>
              <a:t>1+3i.</a:t>
            </a:r>
          </a:p>
          <a:p>
            <a:pPr eaLnBrk="1" hangingPunct="1"/>
            <a:r>
              <a:rPr lang="en-US" altLang="en-US" sz="2800">
                <a:solidFill>
                  <a:srgbClr val="0000FF"/>
                </a:solidFill>
              </a:rPr>
              <a:t>All the well-known mathematical functions are defined in Matlab, and but they apply to to each element in the vector directly. </a:t>
            </a:r>
          </a:p>
          <a:p>
            <a:pPr eaLnBrk="1" hangingPunct="1"/>
            <a:r>
              <a:rPr lang="en-US" altLang="en-US" sz="2800"/>
              <a:t>For example, </a:t>
            </a:r>
            <a:r>
              <a:rPr lang="en-US" altLang="en-US" sz="2800">
                <a:solidFill>
                  <a:srgbClr val="0000FF"/>
                </a:solidFill>
                <a:latin typeface="Arial" panose="020B0604020202020204" pitchFamily="34" charset="0"/>
              </a:rPr>
              <a:t>cos([2 3 4]) </a:t>
            </a:r>
            <a:r>
              <a:rPr lang="en-US" altLang="en-US" sz="2800">
                <a:latin typeface="Arial" panose="020B0604020202020204" pitchFamily="34" charset="0"/>
              </a:rPr>
              <a:t>is equivalent</a:t>
            </a:r>
            <a:r>
              <a:rPr lang="en-US" altLang="en-US" sz="2800">
                <a:solidFill>
                  <a:srgbClr val="99FF99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to</a:t>
            </a:r>
            <a:r>
              <a:rPr lang="en-US" altLang="en-US" sz="280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000FF"/>
                </a:solidFill>
                <a:latin typeface="Arial" panose="020B0604020202020204" pitchFamily="34" charset="0"/>
              </a:rPr>
              <a:t>[cos(2) cos(3) cos(4)].</a:t>
            </a:r>
          </a:p>
          <a:p>
            <a:pPr eaLnBrk="1" hangingPunct="1"/>
            <a:endParaRPr lang="en-US" altLang="en-US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27D3550-7A69-4A3F-B49B-7831579EAA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0025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FF3399"/>
                </a:solidFill>
              </a:rPr>
              <a:t>Evaluating two-dimensional</a:t>
            </a:r>
            <a:br>
              <a:rPr lang="en-US" altLang="en-US" sz="2800">
                <a:solidFill>
                  <a:srgbClr val="FF3399"/>
                </a:solidFill>
              </a:rPr>
            </a:br>
            <a:r>
              <a:rPr lang="en-US" altLang="en-US" sz="2800">
                <a:solidFill>
                  <a:srgbClr val="FF3399"/>
                </a:solidFill>
              </a:rPr>
              <a:t>functions in Matlab</a:t>
            </a:r>
            <a:br>
              <a:rPr lang="en-US" altLang="en-US" sz="2800" u="sng">
                <a:solidFill>
                  <a:srgbClr val="FF3399"/>
                </a:solidFill>
              </a:rPr>
            </a:br>
            <a:endParaRPr lang="en-US" altLang="en-US" sz="2800" u="sng">
              <a:solidFill>
                <a:srgbClr val="FF3399"/>
              </a:solidFill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57F436FB-DA73-1BE3-9536-4E3CC5F7839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752600"/>
            <a:ext cx="9144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To evaluate two-dimensional functions in Matlab we use the built-in function </a:t>
            </a:r>
            <a:r>
              <a:rPr lang="en-US" altLang="en-US" sz="2800">
                <a:solidFill>
                  <a:srgbClr val="FF0000"/>
                </a:solidFill>
              </a:rPr>
              <a:t>meshgrid ( ) </a:t>
            </a:r>
            <a:r>
              <a:rPr lang="en-US" altLang="en-US" sz="2800"/>
              <a:t>with the ranges for x and y; eg: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</a:t>
            </a:r>
            <a:r>
              <a:rPr lang="en-US" altLang="en-US" sz="2800">
                <a:solidFill>
                  <a:srgbClr val="0000FF"/>
                </a:solidFill>
              </a:rPr>
              <a:t>» [x,y]=meshgrid(0.1:0.1:0.3, 0.2:0.1:0.4)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yields the matrices x and y given by: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x =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0.1 0.2 0.3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0.1 0.2 0.3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0.1 0.2 0.3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266CA085-EFBD-AEF7-56AB-CA9C7EDF6A3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y =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0.2 0.2 0.2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0.3 0.3 0.3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0.4 0.4 0.4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00FF"/>
                </a:solidFill>
              </a:rPr>
              <a:t>We may then apply any binary operation to x and y provided that we preceed each operation with a period.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</a:rPr>
              <a:t>For example </a:t>
            </a:r>
            <a:r>
              <a:rPr lang="en-US" altLang="en-US"/>
              <a:t>x.*y </a:t>
            </a:r>
            <a:r>
              <a:rPr lang="en-US" altLang="en-US">
                <a:solidFill>
                  <a:srgbClr val="FF0000"/>
                </a:solidFill>
              </a:rPr>
              <a:t>represents the matrix where each element of x multiplies each element of y.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Similarly, </a:t>
            </a:r>
            <a:r>
              <a:rPr lang="en-US" altLang="en-US">
                <a:solidFill>
                  <a:srgbClr val="0000FF"/>
                </a:solidFill>
              </a:rPr>
              <a:t>exp(x.^2+y.^2) </a:t>
            </a:r>
            <a:r>
              <a:rPr lang="en-US" altLang="en-US"/>
              <a:t>represents the matrix resulting from applying </a:t>
            </a:r>
            <a:r>
              <a:rPr lang="en-US" altLang="en-US">
                <a:solidFill>
                  <a:srgbClr val="0000FF"/>
                </a:solidFill>
              </a:rPr>
              <a:t>exp( ) </a:t>
            </a:r>
            <a:r>
              <a:rPr lang="en-US" altLang="en-US"/>
              <a:t>to the sum of the squares of each of the elements of x and y.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037719E-8779-14AD-D4DE-0E29D0577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 Control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800D15F-1C62-7172-2BFD-0E3CC00B6F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924800" cy="3276600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if               </a:t>
            </a:r>
          </a:p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for            </a:t>
            </a:r>
          </a:p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while         </a:t>
            </a:r>
          </a:p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break    </a:t>
            </a:r>
          </a:p>
          <a:p>
            <a:pPr eaLnBrk="1" hangingPunct="1"/>
            <a:r>
              <a:rPr lang="en-US" altLang="en-US" sz="3200">
                <a:solidFill>
                  <a:srgbClr val="0000FF"/>
                </a:solidFill>
              </a:rPr>
              <a:t>….</a:t>
            </a:r>
            <a:r>
              <a:rPr lang="en-US" altLang="en-US"/>
              <a:t>  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FD1FD33-6858-C00A-9267-3EF9F145F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Control Structures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1F5DF79-0B6D-6DCB-780D-565E1CCD5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FF3300"/>
                </a:solidFill>
              </a:rPr>
              <a:t>If Statement Syntax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if (Condition_1)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		Matlab Commands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elseif (Condition_2)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		Matlab Commands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elseif (Condition_3)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		Matlab Commands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else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		Matlab Commands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/>
              <a:t>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BA02601-1BA7-DA53-3950-0550BC1437D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219200"/>
            <a:ext cx="4191000" cy="4876800"/>
            <a:chOff x="3120" y="768"/>
            <a:chExt cx="2640" cy="3072"/>
          </a:xfrm>
        </p:grpSpPr>
        <p:sp>
          <p:nvSpPr>
            <p:cNvPr id="39941" name="Rectangle 5">
              <a:extLst>
                <a:ext uri="{FF2B5EF4-FFF2-40B4-BE49-F238E27FC236}">
                  <a16:creationId xmlns:a16="http://schemas.microsoft.com/office/drawing/2014/main" id="{0AA1F90D-2904-37A0-B6F4-CE6BBD515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768"/>
              <a:ext cx="2640" cy="307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800">
                <a:latin typeface="Tahoma" panose="020B0604030504040204" pitchFamily="34" charset="0"/>
              </a:endParaRPr>
            </a:p>
            <a:p>
              <a:endParaRPr lang="en-US" altLang="en-US" sz="1800">
                <a:latin typeface="Tahoma" panose="020B0604030504040204" pitchFamily="34" charset="0"/>
              </a:endParaRPr>
            </a:p>
            <a:p>
              <a:r>
                <a:rPr lang="en-US" altLang="en-US">
                  <a:solidFill>
                    <a:srgbClr val="FF0000"/>
                  </a:solidFill>
                  <a:latin typeface="Tahoma" panose="020B0604030504040204" pitchFamily="34" charset="0"/>
                </a:rPr>
                <a:t>Some Dummy Examples</a:t>
              </a:r>
            </a:p>
            <a:p>
              <a:endParaRPr lang="en-US" altLang="en-US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if ((a&gt;3) &amp; (b==5))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     Some Matlab Commands;	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FF3300"/>
                  </a:solidFill>
                  <a:latin typeface="Tahoma" panose="020B0604030504040204" pitchFamily="34" charset="0"/>
                </a:rPr>
                <a:t>if (a&lt;3)</a:t>
              </a:r>
            </a:p>
            <a:p>
              <a:r>
                <a:rPr lang="en-US" altLang="en-US" sz="1800" b="1">
                  <a:solidFill>
                    <a:srgbClr val="FF3300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FF3300"/>
                  </a:solidFill>
                  <a:latin typeface="Tahoma" panose="020B0604030504040204" pitchFamily="34" charset="0"/>
                </a:rPr>
                <a:t>elseif (b~=5) </a:t>
              </a:r>
            </a:p>
            <a:p>
              <a:r>
                <a:rPr lang="en-US" altLang="en-US" sz="1800" b="1">
                  <a:solidFill>
                    <a:srgbClr val="FF3300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FF3300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FF3300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if (a&lt;3)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else     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endParaRPr lang="en-US" altLang="en-US" sz="1800">
                <a:latin typeface="Tahoma" panose="020B0604030504040204" pitchFamily="34" charset="0"/>
              </a:endParaRPr>
            </a:p>
          </p:txBody>
        </p:sp>
        <p:sp>
          <p:nvSpPr>
            <p:cNvPr id="39942" name="Line 6">
              <a:extLst>
                <a:ext uri="{FF2B5EF4-FFF2-40B4-BE49-F238E27FC236}">
                  <a16:creationId xmlns:a16="http://schemas.microsoft.com/office/drawing/2014/main" id="{CBD9C717-CF4E-DEF2-8308-AFFBC02C5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824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3" name="Line 7">
              <a:extLst>
                <a:ext uri="{FF2B5EF4-FFF2-40B4-BE49-F238E27FC236}">
                  <a16:creationId xmlns:a16="http://schemas.microsoft.com/office/drawing/2014/main" id="{70700569-CE13-9BA0-2E5B-E7CA62049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880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A763AE7-062D-428E-51AE-0275FDB9B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Control Structures 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DD96A8F-5763-86B1-ABBC-06AF61AFB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FF3300"/>
                </a:solidFill>
              </a:rPr>
              <a:t>For loop syntax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for i=Index_Array</a:t>
            </a:r>
          </a:p>
          <a:p>
            <a:pPr eaLnBrk="1" hangingPunct="1">
              <a:buFontTx/>
              <a:buNone/>
            </a:pPr>
            <a:r>
              <a:rPr lang="en-US" altLang="en-US"/>
              <a:t>	Matlab Commands</a:t>
            </a:r>
          </a:p>
          <a:p>
            <a:pPr eaLnBrk="1" hangingPunct="1">
              <a:buFontTx/>
              <a:buNone/>
            </a:pPr>
            <a:r>
              <a:rPr lang="en-US" altLang="en-US"/>
              <a:t>end</a:t>
            </a:r>
          </a:p>
          <a:p>
            <a:pPr eaLnBrk="1" hangingPunct="1">
              <a:buFontTx/>
              <a:buNone/>
            </a:pPr>
            <a:r>
              <a:rPr lang="en-US" altLang="en-US"/>
              <a:t>		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C5ADC953-6D07-4BF7-D767-E8C9A47FBD98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143000"/>
            <a:ext cx="4191000" cy="5029200"/>
            <a:chOff x="2976" y="720"/>
            <a:chExt cx="2640" cy="3168"/>
          </a:xfrm>
        </p:grpSpPr>
        <p:sp>
          <p:nvSpPr>
            <p:cNvPr id="40965" name="Rectangle 5">
              <a:extLst>
                <a:ext uri="{FF2B5EF4-FFF2-40B4-BE49-F238E27FC236}">
                  <a16:creationId xmlns:a16="http://schemas.microsoft.com/office/drawing/2014/main" id="{DB7840AF-CE6D-ED2B-E5A0-86CCA04B8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720"/>
              <a:ext cx="2640" cy="316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sz="1800">
                <a:latin typeface="Tahoma" panose="020B0604030504040204" pitchFamily="34" charset="0"/>
              </a:endParaRPr>
            </a:p>
            <a:p>
              <a:r>
                <a:rPr lang="en-US" altLang="en-US">
                  <a:latin typeface="Tahoma" panose="020B0604030504040204" pitchFamily="34" charset="0"/>
                </a:rPr>
                <a:t>Some Dummy Examples</a:t>
              </a:r>
            </a:p>
            <a:p>
              <a:endParaRPr lang="en-US" altLang="en-US" sz="1800"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for i=1:100</a:t>
              </a: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for j=1:3:200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0000FF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latin typeface="Tahoma" panose="020B0604030504040204" pitchFamily="34" charset="0"/>
                </a:rPr>
                <a:t>for m=13:-0.2:-21</a:t>
              </a:r>
            </a:p>
            <a:p>
              <a:r>
                <a:rPr lang="en-US" altLang="en-US" sz="1800" b="1"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latin typeface="Tahoma" panose="020B0604030504040204" pitchFamily="34" charset="0"/>
                </a:rPr>
                <a:t>end </a:t>
              </a:r>
            </a:p>
            <a:p>
              <a:endParaRPr lang="en-US" altLang="en-US" sz="1800">
                <a:solidFill>
                  <a:srgbClr val="FF0000"/>
                </a:solidFill>
                <a:latin typeface="Tahoma" panose="020B0604030504040204" pitchFamily="34" charset="0"/>
              </a:endParaRP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for k=[0.1 0.3 -13 12 7 -9.3]</a:t>
              </a: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     Some Matlab Commands;</a:t>
              </a:r>
            </a:p>
            <a:p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end</a:t>
              </a:r>
            </a:p>
            <a:p>
              <a:endParaRPr lang="en-US" altLang="en-US" sz="1800" b="1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0966" name="Line 6">
              <a:extLst>
                <a:ext uri="{FF2B5EF4-FFF2-40B4-BE49-F238E27FC236}">
                  <a16:creationId xmlns:a16="http://schemas.microsoft.com/office/drawing/2014/main" id="{1FACE0E8-F937-6426-7DF3-1045008D6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776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7" name="Line 7">
              <a:extLst>
                <a:ext uri="{FF2B5EF4-FFF2-40B4-BE49-F238E27FC236}">
                  <a16:creationId xmlns:a16="http://schemas.microsoft.com/office/drawing/2014/main" id="{CD5BA849-FC1F-D45A-C3ED-6A54B5BB9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496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8" name="Line 8">
              <a:extLst>
                <a:ext uri="{FF2B5EF4-FFF2-40B4-BE49-F238E27FC236}">
                  <a16:creationId xmlns:a16="http://schemas.microsoft.com/office/drawing/2014/main" id="{E0A9D581-0843-1A35-92CA-DE0E963E7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216"/>
              <a:ext cx="24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4029BD8-2F51-CF38-0226-F5AA996B1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Control Structures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EF6668C-0FA0-5CC9-B88F-E91293E42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3300"/>
                </a:solidFill>
              </a:rPr>
              <a:t>While Loop Syntax</a:t>
            </a:r>
            <a:r>
              <a:rPr lang="en-US" altLang="en-US"/>
              <a:t> 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while (condition)</a:t>
            </a:r>
          </a:p>
          <a:p>
            <a:pPr eaLnBrk="1" hangingPunct="1">
              <a:buFontTx/>
              <a:buNone/>
            </a:pPr>
            <a:r>
              <a:rPr lang="en-US" altLang="en-US"/>
              <a:t>	Matlab Commands</a:t>
            </a:r>
          </a:p>
          <a:p>
            <a:pPr eaLnBrk="1" hangingPunct="1">
              <a:buFontTx/>
              <a:buNone/>
            </a:pPr>
            <a:r>
              <a:rPr lang="en-US" altLang="en-US"/>
              <a:t>end</a:t>
            </a:r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81996844-2770-6892-EFC1-4FBB803FE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514600"/>
            <a:ext cx="4191000" cy="2057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1800">
              <a:latin typeface="Tahoma" panose="020B0604030504040204" pitchFamily="34" charset="0"/>
            </a:endParaRPr>
          </a:p>
          <a:p>
            <a:endParaRPr lang="en-US" altLang="en-US" sz="1800">
              <a:latin typeface="Tahoma" panose="020B0604030504040204" pitchFamily="34" charset="0"/>
            </a:endParaRPr>
          </a:p>
          <a:p>
            <a:r>
              <a:rPr lang="en-US" altLang="en-US">
                <a:solidFill>
                  <a:srgbClr val="0066FF"/>
                </a:solidFill>
                <a:latin typeface="Tahoma" panose="020B0604030504040204" pitchFamily="34" charset="0"/>
              </a:rPr>
              <a:t>Dummy Example</a:t>
            </a:r>
          </a:p>
          <a:p>
            <a:endParaRPr lang="en-US" altLang="en-US">
              <a:solidFill>
                <a:srgbClr val="0066FF"/>
              </a:solidFill>
              <a:latin typeface="Tahoma" panose="020B0604030504040204" pitchFamily="34" charset="0"/>
            </a:endParaRPr>
          </a:p>
          <a:p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while  ((a&gt;3) &amp; (b==5))</a:t>
            </a:r>
          </a:p>
          <a:p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     Some Matlab Commands;	</a:t>
            </a:r>
          </a:p>
          <a:p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</a:rPr>
              <a:t>end</a:t>
            </a:r>
          </a:p>
          <a:p>
            <a:endParaRPr lang="en-US" altLang="en-US" sz="1800" b="1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en-US" sz="1800">
              <a:latin typeface="Tahoma" panose="020B0604030504040204" pitchFamily="34" charset="0"/>
            </a:endParaRPr>
          </a:p>
          <a:p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EF7F8B3-3077-BDE9-8E63-4910119892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133600"/>
            <a:ext cx="9144000" cy="2286000"/>
          </a:xfrm>
        </p:spPr>
        <p:txBody>
          <a:bodyPr/>
          <a:lstStyle/>
          <a:p>
            <a:pPr eaLnBrk="1" hangingPunct="1"/>
            <a:r>
              <a:rPr lang="en-US" altLang="en-US" sz="4800">
                <a:solidFill>
                  <a:srgbClr val="0000FF"/>
                </a:solidFill>
              </a:rPr>
              <a:t>Generation and plotting of basic signals</a:t>
            </a:r>
            <a:br>
              <a:rPr lang="en-US" altLang="en-US" sz="4800"/>
            </a:br>
            <a:endParaRPr lang="en-US" altLang="en-US" sz="4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D941FFF-46C2-6942-DA6D-7EEE50E13B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3399"/>
                </a:solidFill>
              </a:rPr>
              <a:t>Simple plot</a:t>
            </a:r>
          </a:p>
        </p:txBody>
      </p:sp>
      <p:pic>
        <p:nvPicPr>
          <p:cNvPr id="44035" name="Picture 4">
            <a:extLst>
              <a:ext uri="{FF2B5EF4-FFF2-40B4-BE49-F238E27FC236}">
                <a16:creationId xmlns:a16="http://schemas.microsoft.com/office/drawing/2014/main" id="{E306DF60-D95D-EE32-79D3-3CDD713CD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9144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44408525-E4BA-E976-CDD9-D86C7BEE2EC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FF0000"/>
                </a:solidFill>
              </a:rPr>
              <a:t>To make a graph of y = sin(t) on the interval  </a:t>
            </a:r>
            <a:r>
              <a:rPr lang="en-US" altLang="en-US" sz="2800"/>
              <a:t>t = 0    to  t = 10</a:t>
            </a:r>
            <a:r>
              <a:rPr lang="en-US" altLang="en-US" sz="2800">
                <a:solidFill>
                  <a:srgbClr val="FF0000"/>
                </a:solidFill>
              </a:rPr>
              <a:t>                                                                                                         </a:t>
            </a:r>
            <a:r>
              <a:rPr lang="en-US" altLang="en-US" sz="2800">
                <a:solidFill>
                  <a:srgbClr val="0000FF"/>
                </a:solidFill>
              </a:rPr>
              <a:t>we do the following: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t = 0:0.3:10;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y = sin(t);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plot(t,y) ;</a:t>
            </a:r>
          </a:p>
        </p:txBody>
      </p:sp>
      <p:pic>
        <p:nvPicPr>
          <p:cNvPr id="45059" name="Picture 5">
            <a:extLst>
              <a:ext uri="{FF2B5EF4-FFF2-40B4-BE49-F238E27FC236}">
                <a16:creationId xmlns:a16="http://schemas.microsoft.com/office/drawing/2014/main" id="{D0B5B6F3-208E-9A37-953D-3B20558C6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6019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83F69A0-D22D-EFBA-891A-D62AAEAA6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Matlab Graphics</a:t>
            </a:r>
            <a:endParaRPr lang="en-GB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7E89253-A81A-98D3-F6EB-1ACB11FC3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3581400" cy="4114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x = 0:pi/100:2*pi;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y = sin(x);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plot(x,y)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xlabel('x = 0:2\pi')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ylabel('Sine of x')</a:t>
            </a:r>
          </a:p>
          <a:p>
            <a:pPr eaLnBrk="1" hangingPunct="1"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title('Plot of the Sine Function')</a:t>
            </a:r>
          </a:p>
          <a:p>
            <a:pPr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56B55A2F-744A-5352-67E3-8E6F23B1D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905000"/>
            <a:ext cx="4953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464AEE2-E6C8-111C-1942-37C99BA19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Graphs</a:t>
            </a:r>
            <a:endParaRPr lang="en-GB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581378B-7788-C29E-D0A3-770F9F735A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981200"/>
            <a:ext cx="4343400" cy="4648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t = 0:pi/100:2*pi;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y1=sin(t);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y2=sin(t+pi/2);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plot(t,y1,t,y2)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grid on</a:t>
            </a: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DC1F0ED3-26C4-34BD-A127-8D67C0D26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05000"/>
            <a:ext cx="48006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2F2FC38-BAAD-91A4-1F29-92096850E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Multiple Plots</a:t>
            </a:r>
            <a:endParaRPr lang="en-GB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B986712-4B4B-8832-4427-8350C94BB1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981200"/>
            <a:ext cx="3810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t = 0:pi/100:2*pi;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y1=sin(t);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y2=sin(t+pi/2);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subplot(2,2,1)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plot(t,y1)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subplot(2,2,2)</a:t>
            </a:r>
          </a:p>
          <a:p>
            <a:pPr eaLnBrk="1" hangingPunct="1">
              <a:buFontTx/>
              <a:buNone/>
            </a:pPr>
            <a:r>
              <a:rPr lang="en-GB" altLang="en-US" sz="2000">
                <a:latin typeface="Courier New" panose="02070309020205020404" pitchFamily="49" charset="0"/>
              </a:rPr>
              <a:t>plot(t,y2)</a:t>
            </a:r>
          </a:p>
        </p:txBody>
      </p:sp>
      <p:pic>
        <p:nvPicPr>
          <p:cNvPr id="48132" name="Picture 4">
            <a:extLst>
              <a:ext uri="{FF2B5EF4-FFF2-40B4-BE49-F238E27FC236}">
                <a16:creationId xmlns:a16="http://schemas.microsoft.com/office/drawing/2014/main" id="{7D0BB86E-6474-7E32-3D1D-A2EAC24BB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62150"/>
            <a:ext cx="48006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D544F7B-6CFF-6ECC-FFC2-FCBD64CF41A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Second, I can plot several different sets of data together: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x = 0 : 0.1 : 10;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y = sin(x);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z = cos(x);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&gt;&gt; plot(x, y, x, z);</a:t>
            </a:r>
            <a:r>
              <a:rPr lang="en-US" altLang="en-US"/>
              <a:t> </a:t>
            </a: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8B37BEE9-33FB-CE0F-8897-28BCF6105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227263"/>
            <a:ext cx="62071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C05A2A6-BE1C-1402-1A83-A18B3F00ED7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Another useful command is </a:t>
            </a:r>
            <a:r>
              <a:rPr lang="en-US" altLang="en-US" b="1">
                <a:solidFill>
                  <a:srgbClr val="0000FF"/>
                </a:solidFill>
              </a:rPr>
              <a:t>axis</a:t>
            </a:r>
            <a:r>
              <a:rPr lang="en-US" altLang="en-US">
                <a:solidFill>
                  <a:srgbClr val="0000FF"/>
                </a:solidFill>
              </a:rPr>
              <a:t>, which lets you control the size of the axes. If I've already created the plot with both sine and cosine functions, I can resize it by typing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&gt;&gt; axis([-5, 15, -3, 3]);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 which</a:t>
            </a:r>
            <a:r>
              <a:rPr lang="en-US" altLang="en-US">
                <a:solidFill>
                  <a:srgbClr val="FFFF00"/>
                </a:solidFill>
              </a:rPr>
              <a:t> </a:t>
            </a:r>
            <a:r>
              <a:rPr lang="en-US" altLang="en-US">
                <a:solidFill>
                  <a:srgbClr val="FF0000"/>
                </a:solidFill>
              </a:rPr>
              <a:t>changes the plotting window so  it looks like this: </a:t>
            </a:r>
          </a:p>
        </p:txBody>
      </p:sp>
      <p:pic>
        <p:nvPicPr>
          <p:cNvPr id="50179" name="Picture 3">
            <a:extLst>
              <a:ext uri="{FF2B5EF4-FFF2-40B4-BE49-F238E27FC236}">
                <a16:creationId xmlns:a16="http://schemas.microsoft.com/office/drawing/2014/main" id="{EE7A6629-528B-4666-7BA1-E62096824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6019800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4142448-4402-4289-9DE1-3E5033935B1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 (x)=sin (x)</a:t>
            </a:r>
            <a:r>
              <a:rPr lang="en-US" altLang="en-US" baseline="30000">
                <a:solidFill>
                  <a:srgbClr val="FF0000"/>
                </a:solidFill>
              </a:rPr>
              <a:t>3</a:t>
            </a:r>
            <a:r>
              <a:rPr lang="en-US" altLang="en-US">
                <a:solidFill>
                  <a:srgbClr val="FF0000"/>
                </a:solidFill>
              </a:rPr>
              <a:t> +cos(3x)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over one period </a:t>
            </a:r>
          </a:p>
          <a:p>
            <a:pPr eaLnBrk="1" hangingPunct="1">
              <a:buFontTx/>
              <a:buNone/>
            </a:pPr>
            <a:r>
              <a:rPr lang="en-US" altLang="en-US"/>
              <a:t>  syms x; </a:t>
            </a:r>
          </a:p>
          <a:p>
            <a:pPr eaLnBrk="1" hangingPunct="1">
              <a:buFontTx/>
              <a:buNone/>
            </a:pPr>
            <a:r>
              <a:rPr lang="en-US" altLang="en-US"/>
              <a:t>ezplot(sin(x)^3+ cos(3*x), [-pi pi], 1);</a:t>
            </a:r>
          </a:p>
          <a:p>
            <a:pPr eaLnBrk="1" hangingPunct="1">
              <a:buFontTx/>
              <a:buNone/>
            </a:pPr>
            <a:r>
              <a:rPr lang="en-US" altLang="en-US"/>
              <a:t> grid on;</a:t>
            </a:r>
          </a:p>
          <a:p>
            <a:pPr eaLnBrk="1" hangingPunct="1"/>
            <a:endParaRPr lang="en-US" altLang="en-US"/>
          </a:p>
        </p:txBody>
      </p:sp>
      <p:pic>
        <p:nvPicPr>
          <p:cNvPr id="51203" name="Picture 3">
            <a:extLst>
              <a:ext uri="{FF2B5EF4-FFF2-40B4-BE49-F238E27FC236}">
                <a16:creationId xmlns:a16="http://schemas.microsoft.com/office/drawing/2014/main" id="{50E3C651-9CD5-77E8-5085-A2921A11A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854200"/>
            <a:ext cx="6275388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A1BBB6A-CB39-D8C2-510B-98933A69A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Continuous and Discrete time plots</a:t>
            </a:r>
          </a:p>
        </p:txBody>
      </p:sp>
      <p:pic>
        <p:nvPicPr>
          <p:cNvPr id="52227" name="Picture 4">
            <a:extLst>
              <a:ext uri="{FF2B5EF4-FFF2-40B4-BE49-F238E27FC236}">
                <a16:creationId xmlns:a16="http://schemas.microsoft.com/office/drawing/2014/main" id="{BC912FD3-EEBB-0FBD-6077-73CB5D1BC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7391400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5">
            <a:extLst>
              <a:ext uri="{FF2B5EF4-FFF2-40B4-BE49-F238E27FC236}">
                <a16:creationId xmlns:a16="http://schemas.microsoft.com/office/drawing/2014/main" id="{7107301F-5D64-0B64-C86E-BE726E5FE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3429000" cy="41148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/>
              <a:t>k=0:20;</a:t>
            </a:r>
          </a:p>
          <a:p>
            <a:pPr eaLnBrk="1" hangingPunct="1">
              <a:buFontTx/>
              <a:buNone/>
            </a:pPr>
            <a:r>
              <a:rPr lang="en-GB" altLang="en-US"/>
              <a:t>y=binopdf(k,20,0.5);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GB" altLang="en-US"/>
              <a:t>plot(k,y)</a:t>
            </a:r>
            <a:endParaRPr lang="en-US" altLang="en-US"/>
          </a:p>
        </p:txBody>
      </p:sp>
      <p:sp>
        <p:nvSpPr>
          <p:cNvPr id="52229" name="Rectangle 6">
            <a:extLst>
              <a:ext uri="{FF2B5EF4-FFF2-40B4-BE49-F238E27FC236}">
                <a16:creationId xmlns:a16="http://schemas.microsoft.com/office/drawing/2014/main" id="{FDB0312C-381B-2CC1-F709-6B5095824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524000"/>
            <a:ext cx="3429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/>
              <a:t>k=0:20;</a:t>
            </a:r>
          </a:p>
          <a:p>
            <a:pPr eaLnBrk="1" hangingPunct="1">
              <a:spcBef>
                <a:spcPct val="20000"/>
              </a:spcBef>
            </a:pPr>
            <a:r>
              <a:rPr lang="en-GB" altLang="en-US"/>
              <a:t>y=binopdf(k,20,0.5);</a:t>
            </a:r>
            <a:endParaRPr lang="en-US" altLang="en-US"/>
          </a:p>
          <a:p>
            <a:pPr eaLnBrk="1" hangingPunct="1">
              <a:spcBef>
                <a:spcPct val="20000"/>
              </a:spcBef>
            </a:pPr>
            <a:r>
              <a:rPr lang="en-GB" altLang="en-US"/>
              <a:t>stem(k,y)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56C5225-8C89-9E50-BAFB-375D3D4FC3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2286000" cy="914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Plotting</a:t>
            </a:r>
          </a:p>
        </p:txBody>
      </p:sp>
      <p:pic>
        <p:nvPicPr>
          <p:cNvPr id="53251" name="Picture 7">
            <a:extLst>
              <a:ext uri="{FF2B5EF4-FFF2-40B4-BE49-F238E27FC236}">
                <a16:creationId xmlns:a16="http://schemas.microsoft.com/office/drawing/2014/main" id="{A6A3C025-1CAC-6CD8-D875-A28B4B48F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5">
            <a:extLst>
              <a:ext uri="{FF2B5EF4-FFF2-40B4-BE49-F238E27FC236}">
                <a16:creationId xmlns:a16="http://schemas.microsoft.com/office/drawing/2014/main" id="{A3827436-15FB-0FD1-494D-02C505D2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4">
            <a:extLst>
              <a:ext uri="{FF2B5EF4-FFF2-40B4-BE49-F238E27FC236}">
                <a16:creationId xmlns:a16="http://schemas.microsoft.com/office/drawing/2014/main" id="{A61799E7-1D10-4BCC-963E-9959C399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99C5ADB-39BA-F8C4-59F5-F354E58C6B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4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</a:rPr>
              <a:t>Commonly Used Mathematical Functions</a:t>
            </a:r>
            <a:br>
              <a:rPr lang="en-US" altLang="en-US" sz="2800">
                <a:solidFill>
                  <a:srgbClr val="FF0000"/>
                </a:solidFill>
              </a:rPr>
            </a:br>
            <a:endParaRPr lang="en-US" altLang="en-US" sz="2800">
              <a:solidFill>
                <a:srgbClr val="FF0000"/>
              </a:solidFill>
            </a:endParaRPr>
          </a:p>
        </p:txBody>
      </p:sp>
      <p:pic>
        <p:nvPicPr>
          <p:cNvPr id="56323" name="Picture 4">
            <a:extLst>
              <a:ext uri="{FF2B5EF4-FFF2-40B4-BE49-F238E27FC236}">
                <a16:creationId xmlns:a16="http://schemas.microsoft.com/office/drawing/2014/main" id="{D6C85D71-C7A5-3929-213C-A2ABB31EE15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150938"/>
            <a:ext cx="8153400" cy="5562600"/>
          </a:xfr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6E988C16-0B7F-79EA-82AB-B2288FE242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Using Matlab Editors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1486D77-5BBE-7425-6EEF-675B5D5CBCF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eaLnBrk="1" hangingPunct="1"/>
            <a:r>
              <a:rPr lang="en-US" altLang="en-US"/>
              <a:t>Very small programs can be typed and executed in command window.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Large programs on other hand can be used the Matlab editor. </a:t>
            </a:r>
          </a:p>
          <a:p>
            <a:pPr eaLnBrk="1" hangingPunct="1"/>
            <a:r>
              <a:rPr lang="en-US" altLang="en-US">
                <a:solidFill>
                  <a:srgbClr val="0000FF"/>
                </a:solidFill>
              </a:rPr>
              <a:t>The complete program can be typed in the Matlab editor and saved as ‘file_name.m’, and can be retrieved when-ever necessary.</a:t>
            </a:r>
          </a:p>
          <a:p>
            <a:pPr eaLnBrk="1" hangingPunct="1"/>
            <a:r>
              <a:rPr lang="en-US" altLang="en-US"/>
              <a:t>You can execute either directly from editor window or type the file name in the command window and press the enter button.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9899354-F613-8625-DB7F-4817340597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FF"/>
                </a:solidFill>
              </a:rPr>
              <a:t>Creating, Saving, and Executing a Script File</a:t>
            </a:r>
            <a:endParaRPr lang="en-US" altLang="en-US" sz="3200">
              <a:solidFill>
                <a:srgbClr val="0000FF"/>
              </a:solidFill>
            </a:endParaRP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BE0C6A6E-ADEE-8467-3BDE-3382901D0CE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/>
              <a:t>% CIRCLE - A script file to draw a pretty circle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/>
              <a:t> </a:t>
            </a:r>
            <a:r>
              <a:rPr lang="en-US" altLang="en-US" sz="2000"/>
              <a:t>function [x, y] = prettycirclefn(r)</a:t>
            </a:r>
            <a:br>
              <a:rPr lang="en-US" altLang="en-US" sz="2000"/>
            </a:br>
            <a:r>
              <a:rPr lang="en-US" altLang="en-US" sz="2000" b="1"/>
              <a:t>% </a:t>
            </a:r>
            <a:r>
              <a:rPr lang="en-US" altLang="en-US" sz="2000"/>
              <a:t>CIRCLE - A script file to draw a pretty circle</a:t>
            </a:r>
            <a:br>
              <a:rPr lang="en-US" altLang="en-US" sz="2000"/>
            </a:br>
            <a:r>
              <a:rPr lang="en-US" altLang="en-US" sz="2000"/>
              <a:t>% Input: r = specified radius</a:t>
            </a:r>
            <a:br>
              <a:rPr lang="en-US" altLang="en-US" sz="2000"/>
            </a:br>
            <a:r>
              <a:rPr lang="en-US" altLang="en-US" sz="2000"/>
              <a:t>% Output: [x, y] = the x and y coordinates</a:t>
            </a:r>
            <a:br>
              <a:rPr lang="en-US" altLang="en-US" sz="2000"/>
            </a:br>
            <a:br>
              <a:rPr lang="en-US" altLang="en-US" sz="2000"/>
            </a:br>
            <a:r>
              <a:rPr lang="en-US" altLang="en-US" sz="2000"/>
              <a:t>angle = linspace(0, 2*pi, 360);</a:t>
            </a:r>
            <a:br>
              <a:rPr lang="en-US" altLang="en-US" sz="2000"/>
            </a:br>
            <a:r>
              <a:rPr lang="en-US" altLang="en-US" sz="2000"/>
              <a:t>x = r * cos(angle);</a:t>
            </a:r>
            <a:br>
              <a:rPr lang="en-US" altLang="en-US" sz="2000"/>
            </a:br>
            <a:r>
              <a:rPr lang="en-US" altLang="en-US" sz="2000"/>
              <a:t>y = r * sin(angle);</a:t>
            </a:r>
            <a:br>
              <a:rPr lang="en-US" altLang="en-US" sz="2000"/>
            </a:br>
            <a:r>
              <a:rPr lang="en-US" altLang="en-US" sz="2000"/>
              <a:t>plot(x,y)</a:t>
            </a:r>
            <a:br>
              <a:rPr lang="en-US" altLang="en-US" sz="2000"/>
            </a:br>
            <a:r>
              <a:rPr lang="en-US" altLang="en-US" sz="2000"/>
              <a:t>axis('equal')</a:t>
            </a:r>
            <a:br>
              <a:rPr lang="en-US" altLang="en-US" sz="2000"/>
            </a:br>
            <a:r>
              <a:rPr lang="en-US" altLang="en-US" sz="2000"/>
              <a:t>ylabel('y')</a:t>
            </a:r>
            <a:br>
              <a:rPr lang="en-US" altLang="en-US" sz="2000"/>
            </a:br>
            <a:r>
              <a:rPr lang="en-US" altLang="en-US" sz="2000"/>
              <a:t>xlabel('x')</a:t>
            </a:r>
            <a:br>
              <a:rPr lang="en-US" altLang="en-US" sz="2000"/>
            </a:br>
            <a:r>
              <a:rPr lang="en-US" altLang="en-US" sz="2000"/>
              <a:t>title(['Radius r =',num2str(r)])</a:t>
            </a:r>
            <a:br>
              <a:rPr lang="en-US" altLang="en-US" sz="2000"/>
            </a:br>
            <a:r>
              <a:rPr lang="en-US" altLang="en-US" sz="2000"/>
              <a:t>grid on</a:t>
            </a:r>
            <a:br>
              <a:rPr lang="en-US" altLang="en-US" sz="2000"/>
            </a:br>
            <a:endParaRPr lang="en-US" altLang="en-US" sz="2000"/>
          </a:p>
        </p:txBody>
      </p:sp>
      <p:pic>
        <p:nvPicPr>
          <p:cNvPr id="58372" name="Picture 2">
            <a:extLst>
              <a:ext uri="{FF2B5EF4-FFF2-40B4-BE49-F238E27FC236}">
                <a16:creationId xmlns:a16="http://schemas.microsoft.com/office/drawing/2014/main" id="{FD5D60F3-7D2D-EC1E-63E3-803FCF4A8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48000"/>
            <a:ext cx="4419600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90302FE-142E-E46D-62E5-AA627AA54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Functions (summary)</a:t>
            </a:r>
            <a:endParaRPr lang="en-GB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07B96BC-2458-8998-11BC-5636203E7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/>
              <a:t>plot		linear plot</a:t>
            </a:r>
          </a:p>
          <a:p>
            <a:pPr eaLnBrk="1" hangingPunct="1"/>
            <a:r>
              <a:rPr lang="en-US" altLang="en-US"/>
              <a:t>stem	discrete plot</a:t>
            </a:r>
          </a:p>
          <a:p>
            <a:pPr eaLnBrk="1" hangingPunct="1"/>
            <a:r>
              <a:rPr lang="en-US" altLang="en-US"/>
              <a:t>grid		add grid lines</a:t>
            </a:r>
          </a:p>
          <a:p>
            <a:pPr eaLnBrk="1" hangingPunct="1"/>
            <a:r>
              <a:rPr lang="en-US" altLang="en-US"/>
              <a:t>xlabel	add X-axis label</a:t>
            </a:r>
          </a:p>
          <a:p>
            <a:pPr eaLnBrk="1" hangingPunct="1"/>
            <a:r>
              <a:rPr lang="en-US" altLang="en-US"/>
              <a:t>ylabel	 add Y-axis label</a:t>
            </a:r>
          </a:p>
          <a:p>
            <a:pPr eaLnBrk="1" hangingPunct="1"/>
            <a:r>
              <a:rPr lang="en-US" altLang="en-US"/>
              <a:t>title		add graph title</a:t>
            </a:r>
          </a:p>
          <a:p>
            <a:pPr eaLnBrk="1" hangingPunct="1"/>
            <a:r>
              <a:rPr lang="en-US" altLang="en-US"/>
              <a:t>subplot	divide figure window </a:t>
            </a:r>
          </a:p>
          <a:p>
            <a:pPr eaLnBrk="1" hangingPunct="1"/>
            <a:r>
              <a:rPr lang="en-US" altLang="en-US"/>
              <a:t>figure	create new figure window</a:t>
            </a:r>
          </a:p>
          <a:p>
            <a:pPr eaLnBrk="1" hangingPunct="1"/>
            <a:r>
              <a:rPr lang="en-US" altLang="en-US"/>
              <a:t>pause	wait for user response</a:t>
            </a:r>
            <a:endParaRPr lang="en-GB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87831E4-B513-3CFD-7A01-88249F384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Random Numbers</a:t>
            </a:r>
            <a:endParaRPr lang="en-GB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F21063C-3AAA-7A38-4369-FB40BF601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41148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x=rand(100,1);</a:t>
            </a: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stem(x);</a:t>
            </a: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en-US" altLang="en-US" sz="1800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hist(x,100)</a:t>
            </a:r>
            <a:endParaRPr lang="en-GB" altLang="en-US" sz="1800">
              <a:latin typeface="Courier New" panose="02070309020205020404" pitchFamily="49" charset="0"/>
            </a:endParaRPr>
          </a:p>
        </p:txBody>
      </p:sp>
      <p:pic>
        <p:nvPicPr>
          <p:cNvPr id="60420" name="Picture 4">
            <a:extLst>
              <a:ext uri="{FF2B5EF4-FFF2-40B4-BE49-F238E27FC236}">
                <a16:creationId xmlns:a16="http://schemas.microsoft.com/office/drawing/2014/main" id="{82853260-23C3-160B-FA61-6578EE5B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43350"/>
            <a:ext cx="38862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5">
            <a:extLst>
              <a:ext uri="{FF2B5EF4-FFF2-40B4-BE49-F238E27FC236}">
                <a16:creationId xmlns:a16="http://schemas.microsoft.com/office/drawing/2014/main" id="{BF2405B1-0475-7FC2-19B1-DCC23B6C4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219200"/>
            <a:ext cx="38862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A89A8C2-DEDB-29AF-B9F4-8F5FEBE77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2667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sz="6600">
                <a:solidFill>
                  <a:srgbClr val="FF3300"/>
                </a:solidFill>
              </a:rPr>
              <a:t>Thank You…</a:t>
            </a:r>
            <a:endParaRPr lang="en-US" altLang="en-US" sz="6600">
              <a:solidFill>
                <a:srgbClr val="FF33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3">
            <a:extLst>
              <a:ext uri="{FF2B5EF4-FFF2-40B4-BE49-F238E27FC236}">
                <a16:creationId xmlns:a16="http://schemas.microsoft.com/office/drawing/2014/main" id="{3EC24F28-DA94-D309-DD99-604C71141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95600"/>
            <a:ext cx="51816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600">
                <a:solidFill>
                  <a:srgbClr val="CC0000"/>
                </a:solidFill>
              </a:rPr>
              <a:t>       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">
  <a:themeElements>
    <a:clrScheme name="">
      <a:dk1>
        <a:srgbClr val="000000"/>
      </a:dk1>
      <a:lt1>
        <a:srgbClr val="FF3399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ADC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atlab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tlab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tlab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lab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lab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lab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lab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tlab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D:\WINNT\Profiles\Administrator\Application Data\Microsoft\Templates\matlab.pot</Template>
  <TotalTime>7478</TotalTime>
  <Words>2273</Words>
  <Application>Microsoft Office PowerPoint</Application>
  <PresentationFormat>On-screen Show (4:3)</PresentationFormat>
  <Paragraphs>507</Paragraphs>
  <Slides>59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matlab</vt:lpstr>
      <vt:lpstr>Introduction to Matlab</vt:lpstr>
      <vt:lpstr>What is Matlab?</vt:lpstr>
      <vt:lpstr>What are we interested in?</vt:lpstr>
      <vt:lpstr>PowerPoint Presentation</vt:lpstr>
      <vt:lpstr>Introduction</vt:lpstr>
      <vt:lpstr>Introduction. . . . </vt:lpstr>
      <vt:lpstr>Introduction . . . </vt:lpstr>
      <vt:lpstr>Desktop Tools</vt:lpstr>
      <vt:lpstr>PowerPoint Presentation</vt:lpstr>
      <vt:lpstr>Matlab Screen</vt:lpstr>
      <vt:lpstr>Command History</vt:lpstr>
      <vt:lpstr>Workspace &amp; Launch pad</vt:lpstr>
      <vt:lpstr>The Toolbar</vt:lpstr>
      <vt:lpstr>PowerPoint Presentation</vt:lpstr>
      <vt:lpstr>Definition of Vectors &amp; Matrices</vt:lpstr>
      <vt:lpstr>PowerPoint Presentation</vt:lpstr>
      <vt:lpstr>Second Method</vt:lpstr>
      <vt:lpstr>PowerPoint Presentation</vt:lpstr>
      <vt:lpstr>Arithmetic Operations</vt:lpstr>
      <vt:lpstr>PowerPoint Presentation</vt:lpstr>
      <vt:lpstr>Algebraic manipulations </vt:lpstr>
      <vt:lpstr>Operators (relational, logical) </vt:lpstr>
      <vt:lpstr>Special Matrices</vt:lpstr>
      <vt:lpstr>Help, Document and Demos</vt:lpstr>
      <vt:lpstr>Getting Help</vt:lpstr>
      <vt:lpstr>PowerPoint Presentation</vt:lpstr>
      <vt:lpstr>Viewing Matlab Matrices as one Dimensional Arrays </vt:lpstr>
      <vt:lpstr>Displaying and Printing in Matlab </vt:lpstr>
      <vt:lpstr>One-dimensional random access iterator (using an index array)</vt:lpstr>
      <vt:lpstr>Working with Memory in Matlab</vt:lpstr>
      <vt:lpstr>PowerPoint Presentation</vt:lpstr>
      <vt:lpstr>Evaluating one-dimensional functions in Matlab</vt:lpstr>
      <vt:lpstr>Evaluating one-dimensional functions in Matlab (contd) </vt:lpstr>
      <vt:lpstr>Evaluating two-dimensional functions in Matlab </vt:lpstr>
      <vt:lpstr>PowerPoint Presentation</vt:lpstr>
      <vt:lpstr>Flow Control</vt:lpstr>
      <vt:lpstr>Control Structures </vt:lpstr>
      <vt:lpstr>Control Structures </vt:lpstr>
      <vt:lpstr>Control Structures</vt:lpstr>
      <vt:lpstr>Generation and plotting of basic signals </vt:lpstr>
      <vt:lpstr>Simple plot</vt:lpstr>
      <vt:lpstr>PowerPoint Presentation</vt:lpstr>
      <vt:lpstr>Matlab Graphics</vt:lpstr>
      <vt:lpstr>Multiple Graphs</vt:lpstr>
      <vt:lpstr>Multiple Plots</vt:lpstr>
      <vt:lpstr>PowerPoint Presentation</vt:lpstr>
      <vt:lpstr>PowerPoint Presentation</vt:lpstr>
      <vt:lpstr>PowerPoint Presentation</vt:lpstr>
      <vt:lpstr>Continuous and Discrete time plots</vt:lpstr>
      <vt:lpstr>Plotting</vt:lpstr>
      <vt:lpstr>PowerPoint Presentation</vt:lpstr>
      <vt:lpstr>PowerPoint Presentation</vt:lpstr>
      <vt:lpstr>Commonly Used Mathematical Functions </vt:lpstr>
      <vt:lpstr>Using Matlab Editors</vt:lpstr>
      <vt:lpstr>Creating, Saving, and Executing a Script File</vt:lpstr>
      <vt:lpstr>Graph Functions (summary)</vt:lpstr>
      <vt:lpstr>Random Numbers</vt:lpstr>
      <vt:lpstr>Thank You…</vt:lpstr>
      <vt:lpstr>PowerPoint Presentation</vt:lpstr>
    </vt:vector>
  </TitlesOfParts>
  <Company>TUC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Matlab</dc:title>
  <dc:creator>doikon</dc:creator>
  <cp:lastModifiedBy>klu</cp:lastModifiedBy>
  <cp:revision>129</cp:revision>
  <dcterms:created xsi:type="dcterms:W3CDTF">2002-02-09T15:11:20Z</dcterms:created>
  <dcterms:modified xsi:type="dcterms:W3CDTF">2025-07-12T09:31:12Z</dcterms:modified>
</cp:coreProperties>
</file>