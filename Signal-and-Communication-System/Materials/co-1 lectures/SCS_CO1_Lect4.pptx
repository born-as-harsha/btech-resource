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25"/>
  </p:notesMasterIdLst>
  <p:handoutMasterIdLst>
    <p:handoutMasterId r:id="rId26"/>
  </p:handoutMasterIdLst>
  <p:sldIdLst>
    <p:sldId id="478" r:id="rId5"/>
    <p:sldId id="523" r:id="rId6"/>
    <p:sldId id="524" r:id="rId7"/>
    <p:sldId id="525" r:id="rId8"/>
    <p:sldId id="494" r:id="rId9"/>
    <p:sldId id="433" r:id="rId10"/>
    <p:sldId id="526" r:id="rId11"/>
    <p:sldId id="527" r:id="rId12"/>
    <p:sldId id="529" r:id="rId13"/>
    <p:sldId id="426" r:id="rId14"/>
    <p:sldId id="531" r:id="rId15"/>
    <p:sldId id="421" r:id="rId16"/>
    <p:sldId id="532" r:id="rId17"/>
    <p:sldId id="533" r:id="rId18"/>
    <p:sldId id="428" r:id="rId19"/>
    <p:sldId id="495" r:id="rId20"/>
    <p:sldId id="540" r:id="rId21"/>
    <p:sldId id="542" r:id="rId22"/>
    <p:sldId id="422" r:id="rId23"/>
    <p:sldId id="36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9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ED47-D61B-E309-5EB2-04BEA12A9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2015A-4BD5-FB90-2194-40EC34F3C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CA64A-8775-9B3D-9AE9-FD021694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E4F57-AEEB-49AD-9247-EBAFB94AA093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1261-2900-E08E-C669-3DFABF33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EC566-B985-EEED-64AD-AD1E74A8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7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CA1A-1762-8CB7-50BB-A111D129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2A42-2CDB-09CC-BE64-F16D5C826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ABE68-4EA6-9203-A5C9-B66C24AF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8EDA-E4FD-46CF-9521-BED30467D788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AC3-7233-F0A8-8841-E703D8A9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67B6A-FEE3-4AC6-8E54-D5FACAB4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5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8C2C-E2CF-99A3-4B76-ADF5001F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C2576-8EE8-91D2-5E72-FA94CB72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034DF-70BD-585F-9DD0-E4C04178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543AF-E066-4E14-AC03-16712CC97484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EBFF7-3FE4-D642-3C34-C2AB78F7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8487C-E86A-5B42-AFD9-4459C395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1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7CD4-BDA6-3911-5E74-51628C7F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55A5-127A-FB1A-D6A8-2DB0C0250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ADF-3BAF-8B6D-CE3D-0630A3BD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AF980-DB77-3853-4FE3-4F5B590D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D0D99-F986-469B-9DDD-25484C26797F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6C360-183F-64E6-626F-727D1D8C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84E52-C247-AD53-8DB0-9ECE2061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011E-FDD8-C6F9-54EC-64602216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621B-0845-07C4-189D-F7BBBB0E1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9B479-E026-29B4-BC5D-A2969FF33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7F45F-1EF7-566D-CAC4-4C5D316E0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46E26-E4BA-61B4-260D-FE06C29DD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7DA7C-8C23-E683-8694-DF1F8F91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0A87-BA8A-4062-9DEB-BB77824A9D57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B2813-0E43-C0C5-55E0-B207BC18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6E77F-AC73-4C85-9AF3-4E287B76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DFC9-9061-5F4F-63A1-3305678E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CD372-4898-7A0A-F18E-2955DE19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105BB-A991-4C3C-9840-B68F2EB36F88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026B0-5458-1CA3-28D7-348D05C7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49DE8-CD82-8DB2-ECF2-2D40EF18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6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1F90C-55A9-31B0-CBB0-BB75405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74F32-6B1A-4E50-BB55-AF8958D3F435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083F-F5FA-7EDC-022C-F983177B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D4BC-94EA-DC9F-DE3D-52353BCF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1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56F4-13D7-9DF0-566B-6B11FBCF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662A4-F4B4-465C-1D29-3348E830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31FD9-C665-610D-0289-9B7B8A5C2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757DB-B89E-4A29-D0C5-6C71BF3D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D3AB-AE84-4456-B59D-80DF71C78F4B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85567-382F-8CF1-AD95-ABD0EA4C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CD8D5-E405-5DA9-B52B-41819F4E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239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9B87-55C2-9F19-3623-91B7F4C3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A6723-D58C-1102-D7AC-4EB5F54D0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7D962-ECA6-E890-FA89-C9836AA22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0DDB2-6F1C-06B9-6100-0D082679E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A96EE-5959-4822-B594-F27BB8AEB304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86502-ED0C-6A23-60A8-C9EC1E67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7D0C5-413A-DA84-8A31-11018340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6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D69A-3DC0-DB39-3334-A9BA5A40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3BDA-5093-5E89-269A-69491664F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D6DE-8E90-0D56-D28B-DE572490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7B8F1-BDDD-4F20-92C4-03DA29A817FC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05BF5-4225-BB1D-1457-34DF8A62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5106-45F8-64CE-C438-3456469A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42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C22B9-DE1E-5F16-BBC3-3C3783BBB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CD89A-B728-0F81-7454-DC5E2A878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58732-2337-1D9F-CEEA-43A1482A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3B40B-B14B-4D70-9B07-F3AA7AB7D67D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7DE17-567C-8524-BA24-E118292F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672A-C170-9AF8-1F51-A43D912B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91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E7B62-8011-CCDC-959C-C770C92F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A46B4-B884-807D-D2D2-4536B041F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81CC-4DF4-0090-E0ED-584BBD3B4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92C9B-1CF3-4A73-8C92-50C47BD43606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F9F48-0658-B969-E15D-50A0133BC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4D365-DD42-F8BB-FE9B-3A524593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 descr="Icon&#10;&#10;Description automatically generated with medium confidence">
            <a:extLst>
              <a:ext uri="{FF2B5EF4-FFF2-40B4-BE49-F238E27FC236}">
                <a16:creationId xmlns:a16="http://schemas.microsoft.com/office/drawing/2014/main" id="{FA6FD25C-E91B-3776-D178-4D9AF946F9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B01E73-FD80-735E-7997-6704ACBA2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874DC773-DFA3-0B02-D75F-59F2159E3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wmf"/><Relationship Id="rId10" Type="http://schemas.openxmlformats.org/officeDocument/2006/relationships/image" Target="../media/image9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8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6.wmf"/><Relationship Id="rId5" Type="http://schemas.openxmlformats.org/officeDocument/2006/relationships/image" Target="../media/image12.png"/><Relationship Id="rId10" Type="http://schemas.openxmlformats.org/officeDocument/2006/relationships/oleObject" Target="../embeddings/oleObject4.bin"/><Relationship Id="rId4" Type="http://schemas.openxmlformats.org/officeDocument/2006/relationships/image" Target="../media/image11.png"/><Relationship Id="rId9" Type="http://schemas.openxmlformats.org/officeDocument/2006/relationships/image" Target="../media/image15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oleObject" Target="../embeddings/oleObject5.bin"/><Relationship Id="rId7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wmf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oleObject" Target="../embeddings/oleObject6.bin"/><Relationship Id="rId7" Type="http://schemas.openxmlformats.org/officeDocument/2006/relationships/image" Target="../media/image3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37.wmf"/><Relationship Id="rId9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oleObject" Target="../embeddings/oleObject10.bin"/><Relationship Id="rId7" Type="http://schemas.openxmlformats.org/officeDocument/2006/relationships/image" Target="../media/image5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52.wmf"/><Relationship Id="rId9" Type="http://schemas.openxmlformats.org/officeDocument/2006/relationships/image" Target="../media/image5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7" Type="http://schemas.openxmlformats.org/officeDocument/2006/relationships/image" Target="../media/image65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64.wmf"/><Relationship Id="rId4" Type="http://schemas.openxmlformats.org/officeDocument/2006/relationships/oleObject" Target="../embeddings/oleObject13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oleObject" Target="../embeddings/oleObject15.bin"/><Relationship Id="rId7" Type="http://schemas.openxmlformats.org/officeDocument/2006/relationships/image" Target="../media/image53.wmf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66.png"/><Relationship Id="rId4" Type="http://schemas.openxmlformats.org/officeDocument/2006/relationships/image" Target="../media/image8.wmf"/><Relationship Id="rId9" Type="http://schemas.openxmlformats.org/officeDocument/2006/relationships/image" Target="../media/image6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7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28.png"/><Relationship Id="rId4" Type="http://schemas.openxmlformats.org/officeDocument/2006/relationships/image" Target="../media/image6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3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2.png"/><Relationship Id="rId7" Type="http://schemas.openxmlformats.org/officeDocument/2006/relationships/image" Target="../media/image80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7" Type="http://schemas.openxmlformats.org/officeDocument/2006/relationships/image" Target="../media/image65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64.wmf"/><Relationship Id="rId4" Type="http://schemas.openxmlformats.org/officeDocument/2006/relationships/oleObject" Target="../embeddings/oleObject18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FEA6F-0882-4D2E-9B03-FE68E7C12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551234"/>
            <a:ext cx="8229600" cy="21336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Signals and Communication Systems (SCS)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2B2F96-17AE-C877-7D88-00896449F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FA393-5727-4338-ABCB-CDD993113DFF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01DBA-6A87-663C-D190-B06FC3B8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CDE9083-29D9-13C2-D4C9-4BB04C48A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460" y="2498778"/>
            <a:ext cx="10192966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rial" pitchFamily="34" charset="0"/>
                <a:cs typeface="Arial" pitchFamily="34" charset="0"/>
              </a:rPr>
              <a:t>Representation of Signals </a:t>
            </a:r>
            <a:br>
              <a:rPr lang="en-US" dirty="0">
                <a:latin typeface="Arial" pitchFamily="34" charset="0"/>
                <a:cs typeface="Arial" pitchFamily="34" charset="0"/>
              </a:rPr>
            </a:br>
            <a:r>
              <a:rPr lang="en-US" dirty="0">
                <a:latin typeface="Arial" pitchFamily="34" charset="0"/>
                <a:cs typeface="Arial" pitchFamily="34" charset="0"/>
              </a:rPr>
              <a:t>in terms of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Functional form </a:t>
            </a:r>
            <a:r>
              <a:rPr lang="en-US" dirty="0">
                <a:latin typeface="Arial" pitchFamily="34" charset="0"/>
                <a:cs typeface="Arial" pitchFamily="34" charset="0"/>
              </a:rPr>
              <a:t>/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Mathematical equations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19D7C0-774D-63F5-803A-7F9DE03DE120}"/>
              </a:ext>
            </a:extLst>
          </p:cNvPr>
          <p:cNvSpPr txBox="1"/>
          <p:nvPr/>
        </p:nvSpPr>
        <p:spPr>
          <a:xfrm>
            <a:off x="2937754" y="4598723"/>
            <a:ext cx="60943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0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Session-5</a:t>
            </a:r>
          </a:p>
        </p:txBody>
      </p:sp>
    </p:spTree>
    <p:extLst>
      <p:ext uri="{BB962C8B-B14F-4D97-AF65-F5344CB8AC3E}">
        <p14:creationId xmlns:p14="http://schemas.microsoft.com/office/powerpoint/2010/main" val="4149506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7B4EF9B9-B2C6-BD8E-0753-4E1BE50F7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2274" y="65088"/>
            <a:ext cx="8680451" cy="677862"/>
          </a:xfrm>
        </p:spPr>
        <p:txBody>
          <a:bodyPr>
            <a:normAutofit fontScale="90000"/>
          </a:bodyPr>
          <a:lstStyle/>
          <a:p>
            <a:r>
              <a:rPr lang="en-US" altLang="en-US" sz="3200" dirty="0">
                <a:solidFill>
                  <a:srgbClr val="0589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Representation of signals in terms of Mathematical Equation / Functional form</a:t>
            </a:r>
          </a:p>
        </p:txBody>
      </p:sp>
      <p:pic>
        <p:nvPicPr>
          <p:cNvPr id="19459" name="Picture 3">
            <a:extLst>
              <a:ext uri="{FF2B5EF4-FFF2-40B4-BE49-F238E27FC236}">
                <a16:creationId xmlns:a16="http://schemas.microsoft.com/office/drawing/2014/main" id="{69E79948-FF04-62BE-947F-0D5908DFF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4539" y="990600"/>
            <a:ext cx="3278187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>
            <a:extLst>
              <a:ext uri="{FF2B5EF4-FFF2-40B4-BE49-F238E27FC236}">
                <a16:creationId xmlns:a16="http://schemas.microsoft.com/office/drawing/2014/main" id="{320BF025-8AEA-734D-524A-B3FFC12F8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113" y="2501901"/>
            <a:ext cx="3879850" cy="164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E303EA-9306-758A-4043-E2455B7CA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4925" y="2725739"/>
            <a:ext cx="1524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5894A"/>
                </a:solidFill>
                <a:latin typeface="Arial" panose="020B0604020202020204" pitchFamily="34" charset="0"/>
              </a:rPr>
              <a:t>(0,0)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1F718A-F364-01FA-7F23-7329862EB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8725" y="1116014"/>
            <a:ext cx="15240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5894A"/>
                </a:solidFill>
                <a:latin typeface="Arial" panose="020B0604020202020204" pitchFamily="34" charset="0"/>
              </a:rPr>
              <a:t>(2,1)</a:t>
            </a:r>
          </a:p>
        </p:txBody>
      </p:sp>
      <p:sp>
        <p:nvSpPr>
          <p:cNvPr id="19463" name="TextBox 10">
            <a:extLst>
              <a:ext uri="{FF2B5EF4-FFF2-40B4-BE49-F238E27FC236}">
                <a16:creationId xmlns:a16="http://schemas.microsoft.com/office/drawing/2014/main" id="{BBC040DC-E3E4-26E3-F43A-254669D9D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1" y="731838"/>
            <a:ext cx="4740275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rgbClr val="2305A3"/>
                </a:solidFill>
                <a:latin typeface="Arial" panose="020B0604020202020204" pitchFamily="34" charset="0"/>
              </a:rPr>
              <a:t>Write the Mathematical expression for signal shown in figure.</a:t>
            </a:r>
          </a:p>
        </p:txBody>
      </p:sp>
      <p:sp>
        <p:nvSpPr>
          <p:cNvPr id="19464" name="Rectangle 2">
            <a:extLst>
              <a:ext uri="{FF2B5EF4-FFF2-40B4-BE49-F238E27FC236}">
                <a16:creationId xmlns:a16="http://schemas.microsoft.com/office/drawing/2014/main" id="{20D457D2-2359-4E82-F934-5BE3A53D9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1DE92403-71B1-5573-0759-97CE7E6441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6114" y="4294189"/>
          <a:ext cx="4179887" cy="1128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73120" imgH="393480" progId="Equation.DSMT4">
                  <p:embed/>
                </p:oleObj>
              </mc:Choice>
              <mc:Fallback>
                <p:oleObj name="Equation" r:id="rId4" imgW="1473120" imgH="39348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1DE92403-71B1-5573-0759-97CE7E6441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114" y="4294189"/>
                        <a:ext cx="4179887" cy="11285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6" name="Rectangle 5">
            <a:extLst>
              <a:ext uri="{FF2B5EF4-FFF2-40B4-BE49-F238E27FC236}">
                <a16:creationId xmlns:a16="http://schemas.microsoft.com/office/drawing/2014/main" id="{5757F2CC-888E-D610-7060-086B27605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-322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9467" name="Rectangle 7">
            <a:extLst>
              <a:ext uri="{FF2B5EF4-FFF2-40B4-BE49-F238E27FC236}">
                <a16:creationId xmlns:a16="http://schemas.microsoft.com/office/drawing/2014/main" id="{393A1BC2-FA64-A0E5-90C6-FE98B2142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C2C449E-73F6-E4EA-6C7F-C4FF9E86C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1" y="1600200"/>
            <a:ext cx="485775" cy="69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F933E77-DA4F-0F43-ED21-D91648225F6F}"/>
              </a:ext>
            </a:extLst>
          </p:cNvPr>
          <p:cNvCxnSpPr/>
          <p:nvPr/>
        </p:nvCxnSpPr>
        <p:spPr>
          <a:xfrm flipH="1">
            <a:off x="5105400" y="2470150"/>
            <a:ext cx="2743200" cy="6540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C4C1EE29-2E39-B419-6B5D-4E8DCBD560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0562" y="5573601"/>
            <a:ext cx="3471039" cy="809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72" name="TextBox 1">
            <a:extLst>
              <a:ext uri="{FF2B5EF4-FFF2-40B4-BE49-F238E27FC236}">
                <a16:creationId xmlns:a16="http://schemas.microsoft.com/office/drawing/2014/main" id="{52DDB6EA-01F7-BF4D-2EEE-6523A8FF4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4191001"/>
            <a:ext cx="37322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</a:rPr>
              <a:t>Functional form</a:t>
            </a:r>
          </a:p>
        </p:txBody>
      </p:sp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26BF4BB8-21D7-83CF-33C3-1FE2FAFCCC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0800" y="4667252"/>
          <a:ext cx="3367002" cy="1504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57120" imgH="558720" progId="Equation.DSMT4">
                  <p:embed/>
                </p:oleObj>
              </mc:Choice>
              <mc:Fallback>
                <p:oleObj name="Equation" r:id="rId8" imgW="1257120" imgH="558720" progId="Equation.DSMT4">
                  <p:embed/>
                  <p:pic>
                    <p:nvPicPr>
                      <p:cNvPr id="2" name="Object 2">
                        <a:extLst>
                          <a:ext uri="{FF2B5EF4-FFF2-40B4-BE49-F238E27FC236}">
                            <a16:creationId xmlns:a16="http://schemas.microsoft.com/office/drawing/2014/main" id="{26BF4BB8-21D7-83CF-33C3-1FE2FAFCCC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667252"/>
                        <a:ext cx="3367002" cy="15049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CDB6EC3-34A4-C715-4608-121A0CF854B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67601" y="3141952"/>
            <a:ext cx="1857375" cy="41563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3D015E-0495-3C8E-426C-E9C502533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EF6E1-3E3A-4867-BA89-8084B361C3F7}" type="datetime1">
              <a:rPr lang="en-US" smtClean="0"/>
              <a:t>7/12/2025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8800C3-6B84-C92B-4148-06ECC35B4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947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7" name="Picture 16">
            <a:extLst>
              <a:ext uri="{FF2B5EF4-FFF2-40B4-BE49-F238E27FC236}">
                <a16:creationId xmlns:a16="http://schemas.microsoft.com/office/drawing/2014/main" id="{4968A6B3-CF48-CF40-918B-0705CE855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814" y="1147763"/>
            <a:ext cx="3538537" cy="149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Rectangle 18">
            <a:extLst>
              <a:ext uri="{FF2B5EF4-FFF2-40B4-BE49-F238E27FC236}">
                <a16:creationId xmlns:a16="http://schemas.microsoft.com/office/drawing/2014/main" id="{2A1E0BD5-148F-E5E5-9BBA-7C654598E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1813" y="166689"/>
            <a:ext cx="5529262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800">
                <a:solidFill>
                  <a:srgbClr val="4804F2"/>
                </a:solidFill>
                <a:latin typeface="Arial" panose="020B0604020202020204" pitchFamily="34" charset="0"/>
              </a:rPr>
              <a:t>Write mathematical equation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800">
                <a:solidFill>
                  <a:srgbClr val="4804F2"/>
                </a:solidFill>
                <a:latin typeface="Arial" panose="020B0604020202020204" pitchFamily="34" charset="0"/>
              </a:rPr>
              <a:t> for the signal shown</a:t>
            </a:r>
          </a:p>
        </p:txBody>
      </p:sp>
      <p:pic>
        <p:nvPicPr>
          <p:cNvPr id="20490" name="Picture 20">
            <a:extLst>
              <a:ext uri="{FF2B5EF4-FFF2-40B4-BE49-F238E27FC236}">
                <a16:creationId xmlns:a16="http://schemas.microsoft.com/office/drawing/2014/main" id="{3656305F-CFAC-74F4-B3D6-47853B5B1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813" y="3038475"/>
            <a:ext cx="248126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91" name="Picture 22">
            <a:extLst>
              <a:ext uri="{FF2B5EF4-FFF2-40B4-BE49-F238E27FC236}">
                <a16:creationId xmlns:a16="http://schemas.microsoft.com/office/drawing/2014/main" id="{725BF04A-1BB9-6FA7-170F-80C17E102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2514601"/>
            <a:ext cx="1143000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AAB83D0-306C-EDA4-55B3-1E2130D30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7064" y="239713"/>
            <a:ext cx="3074987" cy="224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6">
            <a:extLst>
              <a:ext uri="{FF2B5EF4-FFF2-40B4-BE49-F238E27FC236}">
                <a16:creationId xmlns:a16="http://schemas.microsoft.com/office/drawing/2014/main" id="{38CB5A3E-8014-BE10-56CF-BF16711F0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665163"/>
            <a:ext cx="1371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  </a:t>
            </a: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</a:rPr>
              <a:t>(0,1)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74D712B-672E-F102-B2FB-B6F145D96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371600"/>
            <a:ext cx="1371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</a:rPr>
              <a:t>(-1,0)  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EFF0651-949F-4060-F45A-B3940F003965}"/>
              </a:ext>
            </a:extLst>
          </p:cNvPr>
          <p:cNvCxnSpPr>
            <a:cxnSpLocks/>
          </p:cNvCxnSpPr>
          <p:nvPr/>
        </p:nvCxnSpPr>
        <p:spPr>
          <a:xfrm flipH="1">
            <a:off x="5105400" y="1603375"/>
            <a:ext cx="2819400" cy="254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E3B22CE3-0876-FE20-71DF-6F0FC7304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0764" y="4302126"/>
            <a:ext cx="2784475" cy="210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7" name="Picture 22">
            <a:extLst>
              <a:ext uri="{FF2B5EF4-FFF2-40B4-BE49-F238E27FC236}">
                <a16:creationId xmlns:a16="http://schemas.microsoft.com/office/drawing/2014/main" id="{2B5CC2D5-D30B-27A8-5701-AAF67606E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00" y="6454776"/>
            <a:ext cx="1143000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9" name="Picture 19">
            <a:extLst>
              <a:ext uri="{FF2B5EF4-FFF2-40B4-BE49-F238E27FC236}">
                <a16:creationId xmlns:a16="http://schemas.microsoft.com/office/drawing/2014/main" id="{B2485E0E-70AE-5988-16A8-E5B06C89D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765425"/>
            <a:ext cx="2667000" cy="865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E0EC96E8-F8C0-DBA8-FEB9-B94E139142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3838576"/>
          <a:ext cx="3541886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60160" imgH="457200" progId="Equation.DSMT4">
                  <p:embed/>
                </p:oleObj>
              </mc:Choice>
              <mc:Fallback>
                <p:oleObj name="Equation" r:id="rId8" imgW="1460160" imgH="457200" progId="Equation.DSMT4">
                  <p:embed/>
                  <p:pic>
                    <p:nvPicPr>
                      <p:cNvPr id="6" name="Object 2">
                        <a:extLst>
                          <a:ext uri="{FF2B5EF4-FFF2-40B4-BE49-F238E27FC236}">
                            <a16:creationId xmlns:a16="http://schemas.microsoft.com/office/drawing/2014/main" id="{E0EC96E8-F8C0-DBA8-FEB9-B94E139142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838576"/>
                        <a:ext cx="3541886" cy="1114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22CBE863-3358-94B3-F827-CEFC75D9BE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7700" y="5362576"/>
          <a:ext cx="308030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9720" imgH="457200" progId="Equation.DSMT4">
                  <p:embed/>
                </p:oleObj>
              </mc:Choice>
              <mc:Fallback>
                <p:oleObj name="Equation" r:id="rId10" imgW="1269720" imgH="457200" progId="Equation.DSMT4">
                  <p:embed/>
                  <p:pic>
                    <p:nvPicPr>
                      <p:cNvPr id="7" name="Object 2">
                        <a:extLst>
                          <a:ext uri="{FF2B5EF4-FFF2-40B4-BE49-F238E27FC236}">
                            <a16:creationId xmlns:a16="http://schemas.microsoft.com/office/drawing/2014/main" id="{22CBE863-3358-94B3-F827-CEFC75D9BE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7700" y="5362576"/>
                        <a:ext cx="3080300" cy="1114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600ED-93A2-9E14-2738-F70781059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02669-5B87-4F64-950A-FDD4C2E08940}" type="datetime1">
              <a:rPr lang="en-US" smtClean="0"/>
              <a:t>7/12/2025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2A42-3A46-495B-24E5-6F54B8CF2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1">
            <a:extLst>
              <a:ext uri="{FF2B5EF4-FFF2-40B4-BE49-F238E27FC236}">
                <a16:creationId xmlns:a16="http://schemas.microsoft.com/office/drawing/2014/main" id="{B37280D5-0A90-9332-F300-DEDBCF097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014" y="55564"/>
            <a:ext cx="3608387" cy="255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Picture 3">
            <a:extLst>
              <a:ext uri="{FF2B5EF4-FFF2-40B4-BE49-F238E27FC236}">
                <a16:creationId xmlns:a16="http://schemas.microsoft.com/office/drawing/2014/main" id="{80BED9CC-CC6E-5A97-B3E7-D3D159496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3475" y="2651126"/>
            <a:ext cx="2863850" cy="423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4" name="Picture 13">
            <a:extLst>
              <a:ext uri="{FF2B5EF4-FFF2-40B4-BE49-F238E27FC236}">
                <a16:creationId xmlns:a16="http://schemas.microsoft.com/office/drawing/2014/main" id="{384B0A11-65C2-10B1-3099-4B972C763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864" y="2309814"/>
            <a:ext cx="5407025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Rectangle 18">
            <a:extLst>
              <a:ext uri="{FF2B5EF4-FFF2-40B4-BE49-F238E27FC236}">
                <a16:creationId xmlns:a16="http://schemas.microsoft.com/office/drawing/2014/main" id="{AC44F2F2-D9E1-CE13-0DBF-4F0CC2B51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6726" y="346076"/>
            <a:ext cx="5408613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>
                <a:solidFill>
                  <a:srgbClr val="4804F2"/>
                </a:solidFill>
                <a:latin typeface="Arial" panose="020B0604020202020204" pitchFamily="34" charset="0"/>
              </a:rPr>
              <a:t>Write mathematical equation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>
                <a:solidFill>
                  <a:srgbClr val="4804F2"/>
                </a:solidFill>
                <a:latin typeface="Arial" panose="020B0604020202020204" pitchFamily="34" charset="0"/>
              </a:rPr>
              <a:t> for the signal shown</a:t>
            </a:r>
          </a:p>
        </p:txBody>
      </p:sp>
      <p:pic>
        <p:nvPicPr>
          <p:cNvPr id="20492" name="Picture 24">
            <a:extLst>
              <a:ext uri="{FF2B5EF4-FFF2-40B4-BE49-F238E27FC236}">
                <a16:creationId xmlns:a16="http://schemas.microsoft.com/office/drawing/2014/main" id="{8681C4DB-1945-81A8-99E9-C3166DB6D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675" y="3333750"/>
            <a:ext cx="4021138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93" name="Picture 25">
            <a:extLst>
              <a:ext uri="{FF2B5EF4-FFF2-40B4-BE49-F238E27FC236}">
                <a16:creationId xmlns:a16="http://schemas.microsoft.com/office/drawing/2014/main" id="{8CBE2862-D6CE-341D-7C2E-D00C046D2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4781551"/>
            <a:ext cx="5843588" cy="152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B301425-0F80-5D89-51D0-419DC44659EF}"/>
              </a:ext>
            </a:extLst>
          </p:cNvPr>
          <p:cNvCxnSpPr/>
          <p:nvPr/>
        </p:nvCxnSpPr>
        <p:spPr>
          <a:xfrm flipH="1" flipV="1">
            <a:off x="6096000" y="2876550"/>
            <a:ext cx="2216150" cy="552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3BEF29-5858-E5E1-BFA6-C49924F9A635}"/>
              </a:ext>
            </a:extLst>
          </p:cNvPr>
          <p:cNvCxnSpPr>
            <a:cxnSpLocks/>
          </p:cNvCxnSpPr>
          <p:nvPr/>
        </p:nvCxnSpPr>
        <p:spPr>
          <a:xfrm flipH="1" flipV="1">
            <a:off x="5894388" y="3762375"/>
            <a:ext cx="2832100" cy="1593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4C5C400-8A04-9C6D-94BE-311BA9DCAA98}"/>
              </a:ext>
            </a:extLst>
          </p:cNvPr>
          <p:cNvCxnSpPr/>
          <p:nvPr/>
        </p:nvCxnSpPr>
        <p:spPr>
          <a:xfrm flipH="1">
            <a:off x="5486400" y="1828800"/>
            <a:ext cx="2825750" cy="29416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0678332-127B-39AB-9EB2-D7D7F45F3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6053139"/>
            <a:ext cx="37322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00B050"/>
                </a:solidFill>
                <a:latin typeface="Arial" panose="020B0604020202020204" pitchFamily="34" charset="0"/>
              </a:rPr>
              <a:t>Functional form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BEBF6E-DB0F-4A20-22FB-41124FC63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21564-C986-4F21-B9D9-7C796D0A8C1F}" type="datetime1">
              <a:rPr lang="en-US" smtClean="0"/>
              <a:t>7/12/2025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50084-86A5-13DB-F5AB-3651BEF37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F553B-8D45-80FF-AA59-2CAB06740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2C24D-7ECA-4DD0-BF84-422C66EFF672}" type="datetime1">
              <a:rPr lang="en-US" smtClean="0"/>
              <a:t>7/12/2025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3BCAC-77B7-2736-0201-65A643F11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080C2B-CAA5-C46E-77F7-469E15A393E3}"/>
              </a:ext>
            </a:extLst>
          </p:cNvPr>
          <p:cNvSpPr txBox="1"/>
          <p:nvPr/>
        </p:nvSpPr>
        <p:spPr>
          <a:xfrm>
            <a:off x="1828800" y="136526"/>
            <a:ext cx="8763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Represent the signals shown below in terms of 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form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Mathematical equations</a:t>
            </a: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EF24C9B-F96C-B14C-7BA4-FE3BD9926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09999" y="1090633"/>
            <a:ext cx="2580790" cy="15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3733CC6C-60B7-5B70-4AF9-49E454418C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8800" y="1295401"/>
          <a:ext cx="2895600" cy="123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06360" imgH="507960" progId="Equation.DSMT4">
                  <p:embed/>
                </p:oleObj>
              </mc:Choice>
              <mc:Fallback>
                <p:oleObj name="Equation" r:id="rId3" imgW="1206360" imgH="507960" progId="Equation.DSMT4">
                  <p:embed/>
                  <p:pic>
                    <p:nvPicPr>
                      <p:cNvPr id="10" name="Object 3">
                        <a:extLst>
                          <a:ext uri="{FF2B5EF4-FFF2-40B4-BE49-F238E27FC236}">
                            <a16:creationId xmlns:a16="http://schemas.microsoft.com/office/drawing/2014/main" id="{3733CC6C-60B7-5B70-4AF9-49E454418C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295401"/>
                        <a:ext cx="2895600" cy="1230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680A368C-1FB5-198D-E28F-DC6BB57007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1514" y="4021894"/>
            <a:ext cx="2581510" cy="222970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4DAE5EF-FB41-C908-C005-8BA9959EA9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229" y="4614753"/>
            <a:ext cx="2508208" cy="186222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1F35AE7-9A41-86C1-3827-298FEE26BF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4735" y="3040991"/>
            <a:ext cx="3750740" cy="75014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76D7F20-2975-3864-8108-D2611B403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6131" y="3791140"/>
            <a:ext cx="3842432" cy="75274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C38CC35-D8C3-1E4D-8262-A4E0B14C5B96}"/>
              </a:ext>
            </a:extLst>
          </p:cNvPr>
          <p:cNvSpPr txBox="1"/>
          <p:nvPr/>
        </p:nvSpPr>
        <p:spPr>
          <a:xfrm>
            <a:off x="3684429" y="3964779"/>
            <a:ext cx="289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line equation is valid in time from 0 to 1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6C217F9-EE17-1BC8-BFE0-A31F7BF2AA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2417" y="4761705"/>
            <a:ext cx="2733675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461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2590800"/>
            <a:ext cx="8610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Representation of Signals </a:t>
            </a:r>
            <a:b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</a:b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 terms of Singularity Functions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7CA2BF-25A6-6E2A-417A-FDB43E54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70703-C13C-4817-9D82-E6DE2E8141DA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D320D6-D60B-892E-6F9F-3420C7CEC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646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5">
            <a:extLst>
              <a:ext uri="{FF2B5EF4-FFF2-40B4-BE49-F238E27FC236}">
                <a16:creationId xmlns:a16="http://schemas.microsoft.com/office/drawing/2014/main" id="{232290B3-D4D4-1BD8-386B-F13156E1C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988" y="0"/>
            <a:ext cx="9021762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5" name="Picture 23">
            <a:extLst>
              <a:ext uri="{FF2B5EF4-FFF2-40B4-BE49-F238E27FC236}">
                <a16:creationId xmlns:a16="http://schemas.microsoft.com/office/drawing/2014/main" id="{34BA2EF5-A42F-6769-C465-FCB1ECAC0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0988" y="3255964"/>
            <a:ext cx="2532062" cy="161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25">
            <a:extLst>
              <a:ext uri="{FF2B5EF4-FFF2-40B4-BE49-F238E27FC236}">
                <a16:creationId xmlns:a16="http://schemas.microsoft.com/office/drawing/2014/main" id="{E0BD7750-38C2-1DB7-77B2-E1EEFF9B5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0576" y="3124201"/>
            <a:ext cx="809625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26">
            <a:extLst>
              <a:ext uri="{FF2B5EF4-FFF2-40B4-BE49-F238E27FC236}">
                <a16:creationId xmlns:a16="http://schemas.microsoft.com/office/drawing/2014/main" id="{76B9FF2A-EEC7-8992-4624-C3A49FB3D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3389" y="5002214"/>
            <a:ext cx="2408237" cy="161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28">
            <a:extLst>
              <a:ext uri="{FF2B5EF4-FFF2-40B4-BE49-F238E27FC236}">
                <a16:creationId xmlns:a16="http://schemas.microsoft.com/office/drawing/2014/main" id="{73F7408E-C83F-4B3F-DFCB-265C1E3C5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0576" y="4984750"/>
            <a:ext cx="885825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Picture 29">
            <a:extLst>
              <a:ext uri="{FF2B5EF4-FFF2-40B4-BE49-F238E27FC236}">
                <a16:creationId xmlns:a16="http://schemas.microsoft.com/office/drawing/2014/main" id="{78E39B3C-17D3-B9CB-B20E-97497CFD2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0226" y="2286000"/>
            <a:ext cx="2317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1" name="Picture 1">
            <a:extLst>
              <a:ext uri="{FF2B5EF4-FFF2-40B4-BE49-F238E27FC236}">
                <a16:creationId xmlns:a16="http://schemas.microsoft.com/office/drawing/2014/main" id="{B6C15CD2-0690-80C6-294A-BAAA18C74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429000"/>
            <a:ext cx="31242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2" name="Picture 2">
            <a:extLst>
              <a:ext uri="{FF2B5EF4-FFF2-40B4-BE49-F238E27FC236}">
                <a16:creationId xmlns:a16="http://schemas.microsoft.com/office/drawing/2014/main" id="{238B6486-7A3A-2394-CCB0-B4B28FABD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538" y="5340351"/>
            <a:ext cx="3314700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3C6F39-F41A-F4C7-B4D7-D1E4C1C95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C53B9-6530-40FF-A3E9-1387752D8F34}" type="datetime1">
              <a:rPr lang="en-US" smtClean="0"/>
              <a:t>7/12/2025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53F1A-172D-2E8E-E7EB-40CC09827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>
            <a:extLst>
              <a:ext uri="{FF2B5EF4-FFF2-40B4-BE49-F238E27FC236}">
                <a16:creationId xmlns:a16="http://schemas.microsoft.com/office/drawing/2014/main" id="{68642D29-212E-24BF-B2AA-F23BAEA5A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1" y="-31750"/>
            <a:ext cx="2847975" cy="172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Rectangle 4">
            <a:extLst>
              <a:ext uri="{FF2B5EF4-FFF2-40B4-BE49-F238E27FC236}">
                <a16:creationId xmlns:a16="http://schemas.microsoft.com/office/drawing/2014/main" id="{2D537D20-7E6D-8D6A-3314-CB9F2DB01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24580" name="Object 25">
            <a:extLst>
              <a:ext uri="{FF2B5EF4-FFF2-40B4-BE49-F238E27FC236}">
                <a16:creationId xmlns:a16="http://schemas.microsoft.com/office/drawing/2014/main" id="{32859091-B067-A1F7-0BDD-761D027143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75" y="1106488"/>
          <a:ext cx="3048000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480000" imgH="13411200" progId="Equation.DSMT4">
                  <p:embed/>
                </p:oleObj>
              </mc:Choice>
              <mc:Fallback>
                <p:oleObj name="Equation" r:id="rId3" imgW="30480000" imgH="13411200" progId="Equation.DSMT4">
                  <p:embed/>
                  <p:pic>
                    <p:nvPicPr>
                      <p:cNvPr id="24580" name="Object 25">
                        <a:extLst>
                          <a:ext uri="{FF2B5EF4-FFF2-40B4-BE49-F238E27FC236}">
                            <a16:creationId xmlns:a16="http://schemas.microsoft.com/office/drawing/2014/main" id="{32859091-B067-A1F7-0BDD-761D027143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75" y="1106488"/>
                        <a:ext cx="3048000" cy="135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Rectangle 8">
            <a:extLst>
              <a:ext uri="{FF2B5EF4-FFF2-40B4-BE49-F238E27FC236}">
                <a16:creationId xmlns:a16="http://schemas.microsoft.com/office/drawing/2014/main" id="{53DA6B2A-86E5-0CC0-E827-4DC857FC3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4582" name="Rectangle 10">
            <a:extLst>
              <a:ext uri="{FF2B5EF4-FFF2-40B4-BE49-F238E27FC236}">
                <a16:creationId xmlns:a16="http://schemas.microsoft.com/office/drawing/2014/main" id="{671F060C-EF79-B1F6-184E-D1287BC72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24586" name="Object 27">
            <a:extLst>
              <a:ext uri="{FF2B5EF4-FFF2-40B4-BE49-F238E27FC236}">
                <a16:creationId xmlns:a16="http://schemas.microsoft.com/office/drawing/2014/main" id="{6B28C5EF-623A-004F-F412-12E27AA2D9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31963" y="3167064"/>
          <a:ext cx="44323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233600" imgH="4876800" progId="Equation.DSMT4">
                  <p:embed/>
                </p:oleObj>
              </mc:Choice>
              <mc:Fallback>
                <p:oleObj name="Equation" r:id="rId5" imgW="40233600" imgH="4876800" progId="Equation.DSMT4">
                  <p:embed/>
                  <p:pic>
                    <p:nvPicPr>
                      <p:cNvPr id="24586" name="Object 27">
                        <a:extLst>
                          <a:ext uri="{FF2B5EF4-FFF2-40B4-BE49-F238E27FC236}">
                            <a16:creationId xmlns:a16="http://schemas.microsoft.com/office/drawing/2014/main" id="{6B28C5EF-623A-004F-F412-12E27AA2D9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1963" y="3167064"/>
                        <a:ext cx="443230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4" name="TextBox 1">
            <a:extLst>
              <a:ext uri="{FF2B5EF4-FFF2-40B4-BE49-F238E27FC236}">
                <a16:creationId xmlns:a16="http://schemas.microsoft.com/office/drawing/2014/main" id="{EAF076AC-883B-E070-AF41-989838D6C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152400"/>
            <a:ext cx="52578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2305A3"/>
                </a:solidFill>
                <a:latin typeface="Arial" panose="020B0604020202020204" pitchFamily="34" charset="0"/>
              </a:rPr>
              <a:t>Express the signal in terms of singularity functions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9690B7-913B-BE85-914B-C256FD813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7964" y="1727200"/>
            <a:ext cx="3825875" cy="165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2740A0-17D8-3EE0-7591-99BFAA04E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9088" y="3529014"/>
            <a:ext cx="45847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53AAC2-2300-74D8-67D9-101BA7285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9064" y="5137150"/>
            <a:ext cx="3500437" cy="172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8B925-B1B1-97CE-D3B9-65CE66A23319}"/>
              </a:ext>
            </a:extLst>
          </p:cNvPr>
          <p:cNvCxnSpPr/>
          <p:nvPr/>
        </p:nvCxnSpPr>
        <p:spPr>
          <a:xfrm flipV="1">
            <a:off x="8534400" y="2209800"/>
            <a:ext cx="0" cy="342900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87BF2F-EBA6-1F1B-450F-F2F086F488FC}"/>
              </a:ext>
            </a:extLst>
          </p:cNvPr>
          <p:cNvCxnSpPr>
            <a:cxnSpLocks/>
          </p:cNvCxnSpPr>
          <p:nvPr/>
        </p:nvCxnSpPr>
        <p:spPr>
          <a:xfrm flipH="1">
            <a:off x="3448051" y="1598613"/>
            <a:ext cx="47625" cy="15684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522A96-A83E-97DF-5B2D-FE17003576C4}"/>
              </a:ext>
            </a:extLst>
          </p:cNvPr>
          <p:cNvCxnSpPr>
            <a:cxnSpLocks/>
          </p:cNvCxnSpPr>
          <p:nvPr/>
        </p:nvCxnSpPr>
        <p:spPr>
          <a:xfrm>
            <a:off x="4572000" y="1546225"/>
            <a:ext cx="522288" cy="16208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2A28B7-5701-B072-9164-62FA0D5F9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AB8D7-698D-4D20-A2D0-4CE4F3995C3D}" type="datetime1">
              <a:rPr lang="en-US" smtClean="0"/>
              <a:t>7/12/2025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AAC37-3CB6-9340-FC2B-0B9DF629F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3">
            <a:extLst>
              <a:ext uri="{FF2B5EF4-FFF2-40B4-BE49-F238E27FC236}">
                <a16:creationId xmlns:a16="http://schemas.microsoft.com/office/drawing/2014/main" id="{03240A85-9282-AFF9-535B-F8181AD79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1" y="26988"/>
            <a:ext cx="3148013" cy="170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D62222-5977-DFFD-17B8-32698D391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808163"/>
            <a:ext cx="2959100" cy="153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46C6EC-3283-2A74-D8EF-20B9B94B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775" y="3392488"/>
            <a:ext cx="2959100" cy="154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CB7D92-70A6-B84C-0AF8-D3C1B9322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775" y="5129213"/>
            <a:ext cx="3429000" cy="159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04EA7D-B0F2-6EF8-C9FF-BE8554BE6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7989" y="5576889"/>
            <a:ext cx="134937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D680DB-F1BD-16A8-CE8B-E3947CD8B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1" y="3944938"/>
            <a:ext cx="1427163" cy="62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6114A86-0DF7-073A-1F0A-1484DF70A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1" y="39688"/>
            <a:ext cx="2562225" cy="170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590C658-DAF3-50E9-9F72-C660ED7BD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7789" y="1958976"/>
            <a:ext cx="2439987" cy="154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579847-19CE-D563-D599-610D244BB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6A78-CB4A-47AA-927E-A5D0A1768C89}" type="datetime1">
              <a:rPr lang="en-US" smtClean="0"/>
              <a:t>7/12/2025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0AD39-85C6-09A1-6A24-7440F99E9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8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95587" name="Object 3"/>
          <p:cNvGraphicFramePr>
            <a:graphicFrameLocks noChangeAspect="1"/>
          </p:cNvGraphicFramePr>
          <p:nvPr/>
        </p:nvGraphicFramePr>
        <p:xfrm>
          <a:off x="1676400" y="152400"/>
          <a:ext cx="3048001" cy="1352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70000" imgH="558800" progId="Equation.DSMT4">
                  <p:embed/>
                </p:oleObj>
              </mc:Choice>
              <mc:Fallback>
                <p:oleObj name="Equation" r:id="rId2" imgW="1270000" imgH="558800" progId="Equation.DSMT4">
                  <p:embed/>
                  <p:pic>
                    <p:nvPicPr>
                      <p:cNvPr id="1955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52400"/>
                        <a:ext cx="3048001" cy="13521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558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81200" y="2057401"/>
            <a:ext cx="2819400" cy="4564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5592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95594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95593" name="Object 9"/>
          <p:cNvGraphicFramePr>
            <a:graphicFrameLocks noChangeAspect="1"/>
          </p:cNvGraphicFramePr>
          <p:nvPr/>
        </p:nvGraphicFramePr>
        <p:xfrm>
          <a:off x="1676400" y="1620982"/>
          <a:ext cx="3657601" cy="436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76400" imgH="203200" progId="Equation.DSMT4">
                  <p:embed/>
                </p:oleObj>
              </mc:Choice>
              <mc:Fallback>
                <p:oleObj name="Equation" r:id="rId5" imgW="1676400" imgH="203200" progId="Equation.DSMT4">
                  <p:embed/>
                  <p:pic>
                    <p:nvPicPr>
                      <p:cNvPr id="19559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620982"/>
                        <a:ext cx="3657601" cy="4364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343F98-4B17-194A-BC9B-DDE0A4966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43FF1-4BEB-4FCE-8B44-033F20A938D6}" type="datetime1">
              <a:rPr lang="en-US" smtClean="0"/>
              <a:t>7/12/2025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A9EF1-1AFE-2650-BE75-FCF24A19A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90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1">
            <a:extLst>
              <a:ext uri="{FF2B5EF4-FFF2-40B4-BE49-F238E27FC236}">
                <a16:creationId xmlns:a16="http://schemas.microsoft.com/office/drawing/2014/main" id="{9A67CB1F-A398-C51C-294F-783856C6C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7576" y="22225"/>
            <a:ext cx="2525713" cy="163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Rectangle 3">
            <a:extLst>
              <a:ext uri="{FF2B5EF4-FFF2-40B4-BE49-F238E27FC236}">
                <a16:creationId xmlns:a16="http://schemas.microsoft.com/office/drawing/2014/main" id="{CD9B42EE-6695-D935-A5FC-D9D34FB59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25604" name="Object 16">
            <a:extLst>
              <a:ext uri="{FF2B5EF4-FFF2-40B4-BE49-F238E27FC236}">
                <a16:creationId xmlns:a16="http://schemas.microsoft.com/office/drawing/2014/main" id="{0A7F9FF7-7B7D-295E-96C2-613924FDCF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49464" y="1295400"/>
          <a:ext cx="3438525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175200" imgH="13411200" progId="Equation.DSMT4">
                  <p:embed/>
                </p:oleObj>
              </mc:Choice>
              <mc:Fallback>
                <p:oleObj name="Equation" r:id="rId3" imgW="30175200" imgH="13411200" progId="Equation.DSMT4">
                  <p:embed/>
                  <p:pic>
                    <p:nvPicPr>
                      <p:cNvPr id="25604" name="Object 16">
                        <a:extLst>
                          <a:ext uri="{FF2B5EF4-FFF2-40B4-BE49-F238E27FC236}">
                            <a16:creationId xmlns:a16="http://schemas.microsoft.com/office/drawing/2014/main" id="{0A7F9FF7-7B7D-295E-96C2-613924FDCF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9464" y="1295400"/>
                        <a:ext cx="3438525" cy="153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Rectangle 6">
            <a:extLst>
              <a:ext uri="{FF2B5EF4-FFF2-40B4-BE49-F238E27FC236}">
                <a16:creationId xmlns:a16="http://schemas.microsoft.com/office/drawing/2014/main" id="{4B43EB22-EDF6-533D-97F9-6E36ED167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25607" name="Object 17">
            <a:extLst>
              <a:ext uri="{FF2B5EF4-FFF2-40B4-BE49-F238E27FC236}">
                <a16:creationId xmlns:a16="http://schemas.microsoft.com/office/drawing/2014/main" id="{E5E72483-4720-38FD-7BAF-4CFBD6645E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1" y="3124200"/>
          <a:ext cx="42195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880800" imgH="7315200" progId="Equation.DSMT4">
                  <p:embed/>
                </p:oleObj>
              </mc:Choice>
              <mc:Fallback>
                <p:oleObj name="Equation" r:id="rId5" imgW="36880800" imgH="7315200" progId="Equation.DSMT4">
                  <p:embed/>
                  <p:pic>
                    <p:nvPicPr>
                      <p:cNvPr id="25607" name="Object 17">
                        <a:extLst>
                          <a:ext uri="{FF2B5EF4-FFF2-40B4-BE49-F238E27FC236}">
                            <a16:creationId xmlns:a16="http://schemas.microsoft.com/office/drawing/2014/main" id="{E5E72483-4720-38FD-7BAF-4CFBD6645E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1" y="3124200"/>
                        <a:ext cx="421957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973B5192-BB57-BEB3-4B3C-958F2220A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889" y="1622426"/>
            <a:ext cx="2600325" cy="185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544709-9EF2-066D-D660-2359A6B57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1" y="3413126"/>
            <a:ext cx="2600325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F5A665-3428-24EB-CF5C-02E2F5A44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5116514"/>
            <a:ext cx="2743200" cy="166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8" name="TextBox 4">
            <a:extLst>
              <a:ext uri="{FF2B5EF4-FFF2-40B4-BE49-F238E27FC236}">
                <a16:creationId xmlns:a16="http://schemas.microsoft.com/office/drawing/2014/main" id="{49DD93B7-7793-C143-6A88-0B059FF8D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152400"/>
            <a:ext cx="52578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2305A3"/>
                </a:solidFill>
                <a:latin typeface="Arial" panose="020B0604020202020204" pitchFamily="34" charset="0"/>
              </a:rPr>
              <a:t>Express the signal in terms of singularity functions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B92D6C4-DF2F-9869-F6F0-0FEBA78D1E32}"/>
              </a:ext>
            </a:extLst>
          </p:cNvPr>
          <p:cNvCxnSpPr/>
          <p:nvPr/>
        </p:nvCxnSpPr>
        <p:spPr>
          <a:xfrm flipH="1">
            <a:off x="3276600" y="1981200"/>
            <a:ext cx="381000" cy="1371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407547B-9BD6-A62C-17DC-99F38DE0F69A}"/>
              </a:ext>
            </a:extLst>
          </p:cNvPr>
          <p:cNvCxnSpPr/>
          <p:nvPr/>
        </p:nvCxnSpPr>
        <p:spPr>
          <a:xfrm>
            <a:off x="4572000" y="1981200"/>
            <a:ext cx="0" cy="1371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8CF818-D001-333B-24A9-02C4A8170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4ADA8-ADED-4570-851E-BD5A7D8786A9}" type="datetime1">
              <a:rPr lang="en-US" smtClean="0"/>
              <a:t>7/12/2025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EE3875-8FEE-7E1E-B0C2-7492A9EA5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1">
            <a:extLst>
              <a:ext uri="{FF2B5EF4-FFF2-40B4-BE49-F238E27FC236}">
                <a16:creationId xmlns:a16="http://schemas.microsoft.com/office/drawing/2014/main" id="{4C342383-D8D6-C019-5968-94AE924DE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0"/>
            <a:ext cx="3608388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C26727-AA54-A829-F65E-547C6E855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953000"/>
            <a:ext cx="8591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9BEC19-89BB-2FEE-EBD7-68FF91A1C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1" y="2573338"/>
            <a:ext cx="5000625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59EF838-2A68-494A-8DDF-E79B04EB9D19}"/>
              </a:ext>
            </a:extLst>
          </p:cNvPr>
          <p:cNvCxnSpPr>
            <a:cxnSpLocks/>
          </p:cNvCxnSpPr>
          <p:nvPr/>
        </p:nvCxnSpPr>
        <p:spPr>
          <a:xfrm>
            <a:off x="4572000" y="3200400"/>
            <a:ext cx="0" cy="1752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F1E38D6-B364-7058-CC6B-68131DE44049}"/>
              </a:ext>
            </a:extLst>
          </p:cNvPr>
          <p:cNvCxnSpPr/>
          <p:nvPr/>
        </p:nvCxnSpPr>
        <p:spPr>
          <a:xfrm>
            <a:off x="6096000" y="3733800"/>
            <a:ext cx="2057400" cy="1447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1DC9C0C-71AB-DA32-1D69-DD6039F96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751" y="3162300"/>
            <a:ext cx="37322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Functional form</a:t>
            </a:r>
          </a:p>
        </p:txBody>
      </p:sp>
      <p:sp>
        <p:nvSpPr>
          <p:cNvPr id="28680" name="TextBox 10">
            <a:extLst>
              <a:ext uri="{FF2B5EF4-FFF2-40B4-BE49-F238E27FC236}">
                <a16:creationId xmlns:a16="http://schemas.microsoft.com/office/drawing/2014/main" id="{8C78CD39-7DDF-7E30-0953-8D8F93AE6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5614" y="403226"/>
            <a:ext cx="5545137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3803BD"/>
                </a:solidFill>
                <a:latin typeface="Arial" panose="020B0604020202020204" pitchFamily="34" charset="0"/>
              </a:rPr>
              <a:t>Represent the signal in-terms of singularity functions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4DF378-E91F-471C-7BA6-CF43BF259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A3ADF-FE58-444F-9741-76ECC1299B1E}" type="datetime1">
              <a:rPr lang="en-US" smtClean="0"/>
              <a:t>7/12/2025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61458-0006-0DD1-34FA-C8543148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E344F8EE-1004-CD33-695D-FA3A7988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4638"/>
            <a:ext cx="8991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sz="3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Practice problems: </a:t>
            </a:r>
            <a:r>
              <a:rPr lang="en-US" altLang="en-US" sz="2800">
                <a:solidFill>
                  <a:srgbClr val="4804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the Mathematical expressions both in functional form and in terms of step functions</a:t>
            </a:r>
          </a:p>
        </p:txBody>
      </p:sp>
      <p:pic>
        <p:nvPicPr>
          <p:cNvPr id="29699" name="Picture 3">
            <a:extLst>
              <a:ext uri="{FF2B5EF4-FFF2-40B4-BE49-F238E27FC236}">
                <a16:creationId xmlns:a16="http://schemas.microsoft.com/office/drawing/2014/main" id="{BB20ED40-DEA5-1161-7556-5D44641CC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582738"/>
            <a:ext cx="2363788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0" name="Picture 4">
            <a:extLst>
              <a:ext uri="{FF2B5EF4-FFF2-40B4-BE49-F238E27FC236}">
                <a16:creationId xmlns:a16="http://schemas.microsoft.com/office/drawing/2014/main" id="{AE7A5334-DD3E-3EB6-AFFE-327B98DCE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417639"/>
            <a:ext cx="3562350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5">
            <a:extLst>
              <a:ext uri="{FF2B5EF4-FFF2-40B4-BE49-F238E27FC236}">
                <a16:creationId xmlns:a16="http://schemas.microsoft.com/office/drawing/2014/main" id="{74407EFD-73C2-9872-C180-2A5E2B1C5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359276"/>
            <a:ext cx="2266950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2" name="Picture 6">
            <a:extLst>
              <a:ext uri="{FF2B5EF4-FFF2-40B4-BE49-F238E27FC236}">
                <a16:creationId xmlns:a16="http://schemas.microsoft.com/office/drawing/2014/main" id="{A4FE6062-4323-BEBF-2B8F-8AC702B52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925" y="4240214"/>
            <a:ext cx="2419350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BD5EA1-3CE0-CAB1-9BE1-050FC46AA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8787D-D0CC-4350-A76E-75265A382F3F}" type="datetime1">
              <a:rPr lang="en-US" smtClean="0"/>
              <a:t>7/12/2025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22D26-690C-01AD-E311-D7874C984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ontent Placeholder 2">
            <a:extLst>
              <a:ext uri="{FF2B5EF4-FFF2-40B4-BE49-F238E27FC236}">
                <a16:creationId xmlns:a16="http://schemas.microsoft.com/office/drawing/2014/main" id="{8F555FD4-8810-67DF-DB52-C9B382A68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04800"/>
            <a:ext cx="8839200" cy="6248400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>
                <a:solidFill>
                  <a:srgbClr val="4804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Sketch the following signals and represent in terms of step functions. 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9BEAAB0C-213E-787E-57C8-33CEF5958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30724" name="Object 21">
            <a:extLst>
              <a:ext uri="{FF2B5EF4-FFF2-40B4-BE49-F238E27FC236}">
                <a16:creationId xmlns:a16="http://schemas.microsoft.com/office/drawing/2014/main" id="{E768E02A-1723-6DC8-A12C-428A54EEB3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68500" y="1752601"/>
          <a:ext cx="388620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832800" imgH="10972800" progId="Equation.DSMT4">
                  <p:embed/>
                </p:oleObj>
              </mc:Choice>
              <mc:Fallback>
                <p:oleObj name="Equation" r:id="rId2" imgW="33832800" imgH="10972800" progId="Equation.DSMT4">
                  <p:embed/>
                  <p:pic>
                    <p:nvPicPr>
                      <p:cNvPr id="30724" name="Object 21">
                        <a:extLst>
                          <a:ext uri="{FF2B5EF4-FFF2-40B4-BE49-F238E27FC236}">
                            <a16:creationId xmlns:a16="http://schemas.microsoft.com/office/drawing/2014/main" id="{E768E02A-1723-6DC8-A12C-428A54EEB3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0" y="1752601"/>
                        <a:ext cx="3886200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5" name="Rectangle 4">
            <a:extLst>
              <a:ext uri="{FF2B5EF4-FFF2-40B4-BE49-F238E27FC236}">
                <a16:creationId xmlns:a16="http://schemas.microsoft.com/office/drawing/2014/main" id="{713B35B9-862F-1D17-A18E-C21DBF761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30726" name="Object 22">
            <a:extLst>
              <a:ext uri="{FF2B5EF4-FFF2-40B4-BE49-F238E27FC236}">
                <a16:creationId xmlns:a16="http://schemas.microsoft.com/office/drawing/2014/main" id="{1FC8C70E-3A42-354B-211C-4EDDA0B70D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3048001"/>
          <a:ext cx="4114800" cy="187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795200" imgH="17068800" progId="Equation.DSMT4">
                  <p:embed/>
                </p:oleObj>
              </mc:Choice>
              <mc:Fallback>
                <p:oleObj name="Equation" r:id="rId4" imgW="37795200" imgH="17068800" progId="Equation.DSMT4">
                  <p:embed/>
                  <p:pic>
                    <p:nvPicPr>
                      <p:cNvPr id="30726" name="Object 22">
                        <a:extLst>
                          <a:ext uri="{FF2B5EF4-FFF2-40B4-BE49-F238E27FC236}">
                            <a16:creationId xmlns:a16="http://schemas.microsoft.com/office/drawing/2014/main" id="{1FC8C70E-3A42-354B-211C-4EDDA0B70D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048001"/>
                        <a:ext cx="4114800" cy="187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7" name="Rectangle 6">
            <a:extLst>
              <a:ext uri="{FF2B5EF4-FFF2-40B4-BE49-F238E27FC236}">
                <a16:creationId xmlns:a16="http://schemas.microsoft.com/office/drawing/2014/main" id="{3C465E1F-24F7-9A75-EF74-D90B9F91B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30728" name="Object 23">
            <a:extLst>
              <a:ext uri="{FF2B5EF4-FFF2-40B4-BE49-F238E27FC236}">
                <a16:creationId xmlns:a16="http://schemas.microsoft.com/office/drawing/2014/main" id="{093D2821-8E94-018B-5152-BC8A31B88E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5334000"/>
          <a:ext cx="3962400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100000" imgH="10972800" progId="Equation.DSMT4">
                  <p:embed/>
                </p:oleObj>
              </mc:Choice>
              <mc:Fallback>
                <p:oleObj name="Equation" r:id="rId6" imgW="38100000" imgH="10972800" progId="Equation.DSMT4">
                  <p:embed/>
                  <p:pic>
                    <p:nvPicPr>
                      <p:cNvPr id="30728" name="Object 23">
                        <a:extLst>
                          <a:ext uri="{FF2B5EF4-FFF2-40B4-BE49-F238E27FC236}">
                            <a16:creationId xmlns:a16="http://schemas.microsoft.com/office/drawing/2014/main" id="{093D2821-8E94-018B-5152-BC8A31B88E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5334000"/>
                        <a:ext cx="3962400" cy="113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3CBA23-F0C6-19E1-5184-C27CC573E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A4F0-DDEF-4BCC-A32F-494DECD0E57C}" type="datetime1">
              <a:rPr lang="en-US" smtClean="0"/>
              <a:t>7/12/2025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AB151-8830-39C3-D772-1FD486160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0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29600" y="1041274"/>
            <a:ext cx="2150364" cy="1397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03" name="Rectangle 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4802" name="Object 2"/>
          <p:cNvGraphicFramePr>
            <a:graphicFrameLocks noChangeAspect="1"/>
          </p:cNvGraphicFramePr>
          <p:nvPr/>
        </p:nvGraphicFramePr>
        <p:xfrm>
          <a:off x="1711970" y="1400176"/>
          <a:ext cx="2919711" cy="13050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57120" imgH="558720" progId="Equation.DSMT4">
                  <p:embed/>
                </p:oleObj>
              </mc:Choice>
              <mc:Fallback>
                <p:oleObj name="Equation" r:id="rId3" imgW="1257120" imgH="558720" progId="Equation.DSMT4">
                  <p:embed/>
                  <p:pic>
                    <p:nvPicPr>
                      <p:cNvPr id="20480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1970" y="1400176"/>
                        <a:ext cx="2919711" cy="13050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804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074227" y="2415736"/>
            <a:ext cx="2310036" cy="4123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06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4805" name="Object 5"/>
          <p:cNvGraphicFramePr>
            <a:graphicFrameLocks noChangeAspect="1"/>
          </p:cNvGraphicFramePr>
          <p:nvPr/>
        </p:nvGraphicFramePr>
        <p:xfrm>
          <a:off x="1728490" y="2782379"/>
          <a:ext cx="3761777" cy="747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36033" imgH="304668" progId="Equation.DSMT4">
                  <p:embed/>
                </p:oleObj>
              </mc:Choice>
              <mc:Fallback>
                <p:oleObj name="Equation" r:id="rId6" imgW="1536033" imgH="304668" progId="Equation.DSMT4">
                  <p:embed/>
                  <p:pic>
                    <p:nvPicPr>
                      <p:cNvPr id="2048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8490" y="2782379"/>
                        <a:ext cx="3761777" cy="7476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43AB5F-91AE-AA47-036B-50425E0DA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0EE54-6A28-4B1C-8FE6-C2C7D28CB941}" type="datetime1">
              <a:rPr lang="en-US" smtClean="0"/>
              <a:t>7/12/2025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F4BF9-F527-35A6-EFD4-4922B074A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46C933-7591-B950-21C6-2814DFEB0E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5920" y="3850088"/>
            <a:ext cx="4217180" cy="26583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D04677-05DA-52E4-6018-4EA65FF5475A}"/>
              </a:ext>
            </a:extLst>
          </p:cNvPr>
          <p:cNvSpPr txBox="1"/>
          <p:nvPr/>
        </p:nvSpPr>
        <p:spPr>
          <a:xfrm>
            <a:off x="1535920" y="43337"/>
            <a:ext cx="91320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Represent the signal shown in figure in terms of                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form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and (ii) in terms of 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Singularity functions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3F23B4-DC90-CC40-BDB3-19307B68B593}"/>
              </a:ext>
            </a:extLst>
          </p:cNvPr>
          <p:cNvSpPr txBox="1"/>
          <p:nvPr/>
        </p:nvSpPr>
        <p:spPr>
          <a:xfrm>
            <a:off x="5143011" y="1471667"/>
            <a:ext cx="19059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form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D281EA-AE07-6802-B276-065A7D3FFBE0}"/>
              </a:ext>
            </a:extLst>
          </p:cNvPr>
          <p:cNvSpPr txBox="1"/>
          <p:nvPr/>
        </p:nvSpPr>
        <p:spPr>
          <a:xfrm>
            <a:off x="5638801" y="2740722"/>
            <a:ext cx="17037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Singularity functions</a:t>
            </a:r>
            <a:endParaRPr lang="en-US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CF48D5-3F6B-CDFD-C019-FA09D41223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1" y="1400176"/>
            <a:ext cx="33337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19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4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04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36526"/>
            <a:ext cx="8915400" cy="108267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Represent the following signals shown below in terms of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functional form </a:t>
            </a:r>
            <a:r>
              <a:rPr lang="en-US" dirty="0">
                <a:latin typeface="Arial" pitchFamily="34" charset="0"/>
                <a:cs typeface="Arial" pitchFamily="34" charset="0"/>
              </a:rPr>
              <a:t>and in terms of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singularity functions</a:t>
            </a:r>
          </a:p>
        </p:txBody>
      </p:sp>
      <p:pic>
        <p:nvPicPr>
          <p:cNvPr id="20377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7445" y="3733132"/>
            <a:ext cx="3276600" cy="2318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B508F4-3113-9FCE-853E-C808BAFC9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478D6-79F1-4292-A9D3-AF46DCBD4EA3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9F7F91-DB1E-7452-A18B-BDF08C3E9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3443AC-8242-F978-227A-DF75483B1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690" y="1058506"/>
            <a:ext cx="2581510" cy="22297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A0F97A-2F51-CA29-2A2C-4B1108316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8839" y="3711092"/>
            <a:ext cx="2752725" cy="14192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B4F8E7-7FFB-2822-2349-652077F5AD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1" y="1212458"/>
            <a:ext cx="2733675" cy="8667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22344C-D645-EAAB-F830-A71CE66F12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4210" y="2222858"/>
            <a:ext cx="3505200" cy="4762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8CCEBA-6754-23BE-F546-D185BA9DA1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5357218"/>
            <a:ext cx="5391150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881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4">
            <a:extLst>
              <a:ext uri="{FF2B5EF4-FFF2-40B4-BE49-F238E27FC236}">
                <a16:creationId xmlns:a16="http://schemas.microsoft.com/office/drawing/2014/main" id="{BE54DFE5-5A5D-4D72-161B-C6E46C214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0" y="76200"/>
            <a:ext cx="77089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5" name="Picture 5">
            <a:extLst>
              <a:ext uri="{FF2B5EF4-FFF2-40B4-BE49-F238E27FC236}">
                <a16:creationId xmlns:a16="http://schemas.microsoft.com/office/drawing/2014/main" id="{E9197D6D-AAE4-DF78-DCD5-661355352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0" y="614364"/>
            <a:ext cx="2781300" cy="205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2A9348-6225-2C4D-DDAC-F19344666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926" y="1371600"/>
            <a:ext cx="5953125" cy="149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1AA8D3-9392-4C5F-575F-CCE9E7D7D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1" y="1066800"/>
            <a:ext cx="44767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BE9EEA-3185-709E-F907-AAC9F105A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926" y="2819401"/>
            <a:ext cx="5019675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9B346C-1256-21AA-4A2F-84F022D94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1" y="3581401"/>
            <a:ext cx="216217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27225D-4EC5-D849-62A7-3709BDBC3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700" y="4419600"/>
            <a:ext cx="299085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36C133-7878-96C0-C464-DF522B89F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550" y="5105400"/>
            <a:ext cx="572928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D40FEDB-A41F-B1BD-7A73-C2D9F9FA3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926" y="6010276"/>
            <a:ext cx="303847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ADD0DA3-CF22-552F-FC68-6CFF93870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0" y="2749551"/>
            <a:ext cx="2865438" cy="181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33CF32-1B73-C93A-9EA5-BAE4BF8BC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4645026"/>
            <a:ext cx="2852738" cy="198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C57D4D-64EA-F079-6DE4-1F81105BB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4C63-648E-4BF4-9E76-889498064860}" type="datetime1">
              <a:rPr lang="en-US" smtClean="0"/>
              <a:t>7/12/2025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A9E62-BDDE-6523-E4CD-19A155F2A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3">
            <a:extLst>
              <a:ext uri="{FF2B5EF4-FFF2-40B4-BE49-F238E27FC236}">
                <a16:creationId xmlns:a16="http://schemas.microsoft.com/office/drawing/2014/main" id="{D74ADE05-545A-7AF0-0225-9C1BFCDFE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228600"/>
            <a:ext cx="2857500" cy="198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19" name="Picture 4">
            <a:extLst>
              <a:ext uri="{FF2B5EF4-FFF2-40B4-BE49-F238E27FC236}">
                <a16:creationId xmlns:a16="http://schemas.microsoft.com/office/drawing/2014/main" id="{2B3B336A-B670-6BFC-ADB1-2484D0E48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158751"/>
            <a:ext cx="5905500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E93726-BA87-1F52-2DBE-21CCC06D1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550" y="1962150"/>
            <a:ext cx="379095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F3B517-5029-5C1D-BE7C-EE0AEDC72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38" y="2798764"/>
            <a:ext cx="5524500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8A22C0-111D-D070-D8BC-E36F2472D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588" y="5283201"/>
            <a:ext cx="2971800" cy="138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1A4D7C-9812-99CC-73A1-0BAC177DC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2075" y="2522539"/>
            <a:ext cx="2865438" cy="181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686A63-05DF-0559-8687-D546047DE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750" y="4576764"/>
            <a:ext cx="2781300" cy="205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33D6CF-1E0D-332D-901F-E254A90DC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C682-31A9-4785-9886-FAF33865A53B}" type="datetime1">
              <a:rPr lang="en-US" smtClean="0"/>
              <a:t>7/12/2025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068F4-ADCF-76F9-7890-A81CADA24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304800"/>
            <a:ext cx="8839200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Sketch the following signals and represent in terms of singularity functions. </a:t>
            </a:r>
          </a:p>
        </p:txBody>
      </p:sp>
      <p:sp>
        <p:nvSpPr>
          <p:cNvPr id="20275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2753" name="Object 1"/>
          <p:cNvGraphicFramePr>
            <a:graphicFrameLocks noChangeAspect="1"/>
          </p:cNvGraphicFramePr>
          <p:nvPr/>
        </p:nvGraphicFramePr>
        <p:xfrm>
          <a:off x="1968500" y="1736471"/>
          <a:ext cx="32893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09700" imgH="457200" progId="Equation.DSMT4">
                  <p:embed/>
                </p:oleObj>
              </mc:Choice>
              <mc:Fallback>
                <p:oleObj name="Equation" r:id="rId2" imgW="1409700" imgH="457200" progId="Equation.DSMT4">
                  <p:embed/>
                  <p:pic>
                    <p:nvPicPr>
                      <p:cNvPr id="20275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0" y="1736471"/>
                        <a:ext cx="3289300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75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2755" name="Object 3"/>
          <p:cNvGraphicFramePr>
            <a:graphicFrameLocks noChangeAspect="1"/>
          </p:cNvGraphicFramePr>
          <p:nvPr/>
        </p:nvGraphicFramePr>
        <p:xfrm>
          <a:off x="2066131" y="3115452"/>
          <a:ext cx="3276600" cy="148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74800" imgH="711200" progId="Equation.DSMT4">
                  <p:embed/>
                </p:oleObj>
              </mc:Choice>
              <mc:Fallback>
                <p:oleObj name="Equation" r:id="rId4" imgW="1574800" imgH="711200" progId="Equation.DSMT4">
                  <p:embed/>
                  <p:pic>
                    <p:nvPicPr>
                      <p:cNvPr id="20275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6131" y="3115452"/>
                        <a:ext cx="3276600" cy="1489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75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2757" name="Object 5"/>
          <p:cNvGraphicFramePr>
            <a:graphicFrameLocks noChangeAspect="1"/>
          </p:cNvGraphicFramePr>
          <p:nvPr/>
        </p:nvGraphicFramePr>
        <p:xfrm>
          <a:off x="2066132" y="5114187"/>
          <a:ext cx="344646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87500" imgH="457200" progId="Equation.DSMT4">
                  <p:embed/>
                </p:oleObj>
              </mc:Choice>
              <mc:Fallback>
                <p:oleObj name="Equation" r:id="rId6" imgW="1587500" imgH="457200" progId="Equation.DSMT4">
                  <p:embed/>
                  <p:pic>
                    <p:nvPicPr>
                      <p:cNvPr id="2027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6132" y="5114187"/>
                        <a:ext cx="3446463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6B6BD1-CC45-854D-FF5B-92F5020AB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A4AAD-561C-442E-9982-A171719180DA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EA5796-F6B6-B6CE-D020-7B1BC44CF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68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1783" y="3025303"/>
            <a:ext cx="1421860" cy="1143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2603BD"/>
                </a:solidFill>
                <a:latin typeface="Arial" pitchFamily="34" charset="0"/>
                <a:cs typeface="Arial" pitchFamily="34" charset="0"/>
              </a:rPr>
              <a:t>End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AB49C-B7CE-5040-E5D4-7ECE0E0F8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793E-243A-4F30-A3B0-A14976E62BA8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65DC6F-E0B8-6F8B-556C-F6B2B3AB1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f66832-8a96-40a9-b472-27b1b671652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B4054966B8914981DF84CE0611BBF3" ma:contentTypeVersion="13" ma:contentTypeDescription="Create a new document." ma:contentTypeScope="" ma:versionID="8a796047917fdd02fe75b75195f00977">
  <xsd:schema xmlns:xsd="http://www.w3.org/2001/XMLSchema" xmlns:xs="http://www.w3.org/2001/XMLSchema" xmlns:p="http://schemas.microsoft.com/office/2006/metadata/properties" xmlns:ns3="9df66832-8a96-40a9-b472-27b1b671652b" xmlns:ns4="3ef07bbe-7178-465e-b37e-c96ad76c7ba2" targetNamespace="http://schemas.microsoft.com/office/2006/metadata/properties" ma:root="true" ma:fieldsID="f3a2d852074f99ffe044f5cdbc6860e7" ns3:_="" ns4:_="">
    <xsd:import namespace="9df66832-8a96-40a9-b472-27b1b671652b"/>
    <xsd:import namespace="3ef07bbe-7178-465e-b37e-c96ad76c7b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f66832-8a96-40a9-b472-27b1b67165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07bbe-7178-465e-b37e-c96ad76c7b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3942E90-F73C-42DC-BE25-1F552216703B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df66832-8a96-40a9-b472-27b1b671652b"/>
    <ds:schemaRef ds:uri="http://purl.org/dc/elements/1.1/"/>
    <ds:schemaRef ds:uri="3ef07bbe-7178-465e-b37e-c96ad76c7ba2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0D4FFE4-B5DD-40DF-82C4-AC58AE0649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f66832-8a96-40a9-b472-27b1b671652b"/>
    <ds:schemaRef ds:uri="3ef07bbe-7178-465e-b37e-c96ad76c7b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4A4D56B-9EDA-4F8D-84ED-5B5B230CCC1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</TotalTime>
  <Words>258</Words>
  <Application>Microsoft Office PowerPoint</Application>
  <PresentationFormat>Widescreen</PresentationFormat>
  <Paragraphs>70</Paragraphs>
  <Slides>20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Equation</vt:lpstr>
      <vt:lpstr>Representation of Signals  in terms of Functional form / Mathematical equations</vt:lpstr>
      <vt:lpstr>Representation of signals in terms of Mathematical Equation / Functional form</vt:lpstr>
      <vt:lpstr>PowerPoint Presentation</vt:lpstr>
      <vt:lpstr>PowerPoint Presentation</vt:lpstr>
      <vt:lpstr>PowerPoint Presentation</vt:lpstr>
      <vt:lpstr>Representation of Signals  in terms of Singularity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 problems: Write the Mathematical expressions both in functional form and in terms of step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MVGR</dc:creator>
  <cp:lastModifiedBy>D Sreenivasa Rao</cp:lastModifiedBy>
  <cp:revision>16</cp:revision>
  <dcterms:created xsi:type="dcterms:W3CDTF">2023-05-08T13:48:07Z</dcterms:created>
  <dcterms:modified xsi:type="dcterms:W3CDTF">2025-07-12T08:53:04Z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0x010100F1B4054966B8914981DF84CE0611BBF3</vt:lpwstr>
  </property>
</Properties>
</file>