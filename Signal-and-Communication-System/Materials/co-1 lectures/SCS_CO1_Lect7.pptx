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21"/>
  </p:notesMasterIdLst>
  <p:handoutMasterIdLst>
    <p:handoutMasterId r:id="rId22"/>
  </p:handoutMasterIdLst>
  <p:sldIdLst>
    <p:sldId id="478" r:id="rId5"/>
    <p:sldId id="569" r:id="rId6"/>
    <p:sldId id="544" r:id="rId7"/>
    <p:sldId id="545" r:id="rId8"/>
    <p:sldId id="546" r:id="rId9"/>
    <p:sldId id="548" r:id="rId10"/>
    <p:sldId id="470" r:id="rId11"/>
    <p:sldId id="474" r:id="rId12"/>
    <p:sldId id="475" r:id="rId13"/>
    <p:sldId id="476" r:id="rId14"/>
    <p:sldId id="477" r:id="rId15"/>
    <p:sldId id="480" r:id="rId16"/>
    <p:sldId id="479" r:id="rId17"/>
    <p:sldId id="570" r:id="rId18"/>
    <p:sldId id="571" r:id="rId19"/>
    <p:sldId id="3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12-07-2025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fld id="{AA571D57-78BE-4B29-858A-1EB1AD90A408}" type="datetime1">
              <a:rPr lang="en-US" smtClean="0"/>
              <a:t>7/12/2025</a:t>
            </a:fld>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fld id="{9A2D90D2-0C11-496D-9C4C-4B3F86EAC531}" type="datetime1">
              <a:rPr lang="en-US" smtClean="0"/>
              <a:t>7/12/2025</a:t>
            </a:fld>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fld id="{4ABE31AA-39A8-430D-9E3A-28AE74F3BE33}" type="datetime1">
              <a:rPr lang="en-US" smtClean="0"/>
              <a:t>7/12/2025</a:t>
            </a:fld>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fld id="{07234A0D-2482-49DE-B371-0949D483D503}" type="datetime1">
              <a:rPr lang="en-US" smtClean="0"/>
              <a:t>7/12/2025</a:t>
            </a:fld>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 Professor, Dept. of ECE, KLEF. </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fld id="{FD77D4A2-D86A-4D9F-A10B-1629D66FD4C2}" type="datetime1">
              <a:rPr lang="en-US" smtClean="0"/>
              <a:t>7/12/2025</a:t>
            </a:fld>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 Professor, Dept. of ECE, KLEF. </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fld id="{4A24CC0F-90ED-47F2-AEC9-D8D57F4C7ADC}" type="datetime1">
              <a:rPr lang="en-US" smtClean="0"/>
              <a:t>7/12/2025</a:t>
            </a:fld>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 Professor, Dept. of ECE, KLEF. </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fld id="{04C34E55-423D-49CF-86A3-EAB74F733069}" type="datetime1">
              <a:rPr lang="en-US" smtClean="0"/>
              <a:t>7/12/2025</a:t>
            </a:fld>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 Professor, Dept. of ECE, KLEF. </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fld id="{9BFC4604-C9C0-4C47-A526-C7D41486E3BA}" type="datetime1">
              <a:rPr lang="en-US" smtClean="0"/>
              <a:t>7/12/2025</a:t>
            </a:fld>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 Professor, Dept. of ECE, KLEF. </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fld id="{562C8B52-84DD-4DCE-B34A-4AF5FA88A570}" type="datetime1">
              <a:rPr lang="en-US" smtClean="0"/>
              <a:t>7/12/2025</a:t>
            </a:fld>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 Professor, Dept. of ECE, KLEF. </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fld id="{E6C4C086-DDC6-47F0-AA40-AF9F5274C68D}" type="datetime1">
              <a:rPr lang="en-US" smtClean="0"/>
              <a:t>7/12/2025</a:t>
            </a:fld>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fld id="{926D925A-39BE-4999-A9F2-71C6CC43AF6C}" type="datetime1">
              <a:rPr lang="en-US" smtClean="0"/>
              <a:t>7/12/2025</a:t>
            </a:fld>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58B056-A2C2-412B-BD91-FEB09B6B74FA}" type="datetime1">
              <a:rPr lang="en-US" smtClean="0"/>
              <a:t>7/12/2025</a:t>
            </a:fld>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 Professor, Dept. of ECE, KLEF. </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6FEA6F-0882-4D2E-9B03-FE68E7C12E3F}"/>
              </a:ext>
            </a:extLst>
          </p:cNvPr>
          <p:cNvSpPr>
            <a:spLocks noGrp="1"/>
          </p:cNvSpPr>
          <p:nvPr>
            <p:ph idx="1"/>
          </p:nvPr>
        </p:nvSpPr>
        <p:spPr>
          <a:xfrm>
            <a:off x="1752600" y="551234"/>
            <a:ext cx="8229600" cy="2133600"/>
          </a:xfrm>
        </p:spPr>
        <p:txBody>
          <a:bodyPr>
            <a:normAutofit/>
          </a:bodyPr>
          <a:lstStyle/>
          <a:p>
            <a:pPr marL="0" indent="0" algn="ctr">
              <a:buNone/>
            </a:pPr>
            <a:r>
              <a:rPr lang="en-US" sz="4400" dirty="0">
                <a:solidFill>
                  <a:srgbClr val="FF0000"/>
                </a:solidFill>
                <a:latin typeface="Arial" panose="020B0604020202020204" pitchFamily="34" charset="0"/>
                <a:cs typeface="Arial" panose="020B0604020202020204" pitchFamily="34" charset="0"/>
              </a:rPr>
              <a:t>Signals and Communication Systems (SCS)</a:t>
            </a:r>
          </a:p>
        </p:txBody>
      </p:sp>
      <p:sp>
        <p:nvSpPr>
          <p:cNvPr id="2" name="Date Placeholder 1">
            <a:extLst>
              <a:ext uri="{FF2B5EF4-FFF2-40B4-BE49-F238E27FC236}">
                <a16:creationId xmlns:a16="http://schemas.microsoft.com/office/drawing/2014/main" id="{132B2F96-17AE-C877-7D88-00896449F6DE}"/>
              </a:ext>
            </a:extLst>
          </p:cNvPr>
          <p:cNvSpPr>
            <a:spLocks noGrp="1"/>
          </p:cNvSpPr>
          <p:nvPr>
            <p:ph type="dt" sz="half" idx="10"/>
          </p:nvPr>
        </p:nvSpPr>
        <p:spPr/>
        <p:txBody>
          <a:bodyPr/>
          <a:lstStyle/>
          <a:p>
            <a:fld id="{823A4777-723E-48B5-B0B4-46F6F000FD8A}" type="datetime1">
              <a:rPr lang="en-US" smtClean="0"/>
              <a:t>7/12/2025</a:t>
            </a:fld>
            <a:endParaRPr lang="en-US"/>
          </a:p>
        </p:txBody>
      </p:sp>
      <p:sp>
        <p:nvSpPr>
          <p:cNvPr id="5" name="Slide Number Placeholder 4">
            <a:extLst>
              <a:ext uri="{FF2B5EF4-FFF2-40B4-BE49-F238E27FC236}">
                <a16:creationId xmlns:a16="http://schemas.microsoft.com/office/drawing/2014/main" id="{FBD01DBA-6A87-663C-D190-B06FC3B890F6}"/>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6" name="Title 1">
            <a:extLst>
              <a:ext uri="{FF2B5EF4-FFF2-40B4-BE49-F238E27FC236}">
                <a16:creationId xmlns:a16="http://schemas.microsoft.com/office/drawing/2014/main" id="{BCDE9083-29D9-13C2-D4C9-4BB04C48A8C4}"/>
              </a:ext>
            </a:extLst>
          </p:cNvPr>
          <p:cNvSpPr>
            <a:spLocks noGrp="1"/>
          </p:cNvSpPr>
          <p:nvPr>
            <p:ph type="title"/>
          </p:nvPr>
        </p:nvSpPr>
        <p:spPr>
          <a:xfrm>
            <a:off x="888460" y="2498778"/>
            <a:ext cx="10192966" cy="1143000"/>
          </a:xfrm>
        </p:spPr>
        <p:txBody>
          <a:bodyPr>
            <a:normAutofit/>
          </a:bodyPr>
          <a:lstStyle/>
          <a:p>
            <a:pPr algn="ctr"/>
            <a:r>
              <a:rPr lang="en-US" altLang="en-US" dirty="0">
                <a:latin typeface="Arial" panose="020B0604020202020204" pitchFamily="34" charset="0"/>
                <a:cs typeface="Arial" panose="020B0604020202020204" pitchFamily="34" charset="0"/>
              </a:rPr>
              <a:t>Problems on Energy and Power Signals</a:t>
            </a:r>
            <a:endParaRPr lang="en-US" dirty="0">
              <a:latin typeface="Arial" pitchFamily="34" charset="0"/>
              <a:cs typeface="Arial" pitchFamily="34" charset="0"/>
            </a:endParaRPr>
          </a:p>
        </p:txBody>
      </p:sp>
      <p:sp>
        <p:nvSpPr>
          <p:cNvPr id="8" name="TextBox 7">
            <a:extLst>
              <a:ext uri="{FF2B5EF4-FFF2-40B4-BE49-F238E27FC236}">
                <a16:creationId xmlns:a16="http://schemas.microsoft.com/office/drawing/2014/main" id="{1719D7C0-774D-63F5-803A-7F9DE03DE120}"/>
              </a:ext>
            </a:extLst>
          </p:cNvPr>
          <p:cNvSpPr txBox="1"/>
          <p:nvPr/>
        </p:nvSpPr>
        <p:spPr>
          <a:xfrm>
            <a:off x="2937754" y="4598723"/>
            <a:ext cx="6094378" cy="707886"/>
          </a:xfrm>
          <a:prstGeom prst="rect">
            <a:avLst/>
          </a:prstGeom>
          <a:noFill/>
        </p:spPr>
        <p:txBody>
          <a:bodyPr wrap="square">
            <a:spAutoFit/>
          </a:bodyPr>
          <a:lstStyle/>
          <a:p>
            <a:pPr marL="0" indent="0" algn="ctr">
              <a:buNone/>
            </a:pPr>
            <a:r>
              <a:rPr lang="en-US" sz="4000" dirty="0">
                <a:solidFill>
                  <a:srgbClr val="0909B7"/>
                </a:solidFill>
                <a:latin typeface="Arial" panose="020B0604020202020204" pitchFamily="34" charset="0"/>
                <a:cs typeface="Arial" panose="020B0604020202020204" pitchFamily="34" charset="0"/>
              </a:rPr>
              <a:t>Session-6</a:t>
            </a:r>
          </a:p>
        </p:txBody>
      </p:sp>
    </p:spTree>
    <p:extLst>
      <p:ext uri="{BB962C8B-B14F-4D97-AF65-F5344CB8AC3E}">
        <p14:creationId xmlns:p14="http://schemas.microsoft.com/office/powerpoint/2010/main" val="4149506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C92EB321-E3DF-3F74-DE2D-334672C8831F}"/>
              </a:ext>
            </a:extLst>
          </p:cNvPr>
          <p:cNvSpPr>
            <a:spLocks noGrp="1"/>
          </p:cNvSpPr>
          <p:nvPr>
            <p:ph type="title"/>
          </p:nvPr>
        </p:nvSpPr>
        <p:spPr>
          <a:xfrm>
            <a:off x="1676400" y="26956"/>
            <a:ext cx="8534400" cy="582644"/>
          </a:xfrm>
        </p:spPr>
        <p:txBody>
          <a:bodyPr>
            <a:normAutofit/>
          </a:bodyPr>
          <a:lstStyle/>
          <a:p>
            <a:pPr algn="l" eaLnBrk="1" hangingPunct="1"/>
            <a:r>
              <a:rPr lang="en-US" altLang="en-US" sz="3200" dirty="0">
                <a:solidFill>
                  <a:srgbClr val="2603BD"/>
                </a:solidFill>
                <a:latin typeface="Arial" panose="020B0604020202020204" pitchFamily="34" charset="0"/>
                <a:cs typeface="Arial" panose="020B0604020202020204" pitchFamily="34" charset="0"/>
              </a:rPr>
              <a:t>Problems on </a:t>
            </a:r>
            <a:r>
              <a:rPr lang="en-US" altLang="en-US" sz="3200" dirty="0">
                <a:solidFill>
                  <a:srgbClr val="FF0000"/>
                </a:solidFill>
                <a:latin typeface="Arial" panose="020B0604020202020204" pitchFamily="34" charset="0"/>
                <a:cs typeface="Arial" panose="020B0604020202020204" pitchFamily="34" charset="0"/>
              </a:rPr>
              <a:t>Energy</a:t>
            </a:r>
            <a:r>
              <a:rPr lang="en-US" altLang="en-US" sz="3200" dirty="0">
                <a:solidFill>
                  <a:srgbClr val="2603BD"/>
                </a:solidFill>
                <a:latin typeface="Arial" panose="020B0604020202020204" pitchFamily="34" charset="0"/>
                <a:cs typeface="Arial" panose="020B0604020202020204" pitchFamily="34" charset="0"/>
              </a:rPr>
              <a:t> and </a:t>
            </a:r>
            <a:r>
              <a:rPr lang="en-US" altLang="en-US" sz="3200" dirty="0">
                <a:solidFill>
                  <a:srgbClr val="FF0000"/>
                </a:solidFill>
                <a:latin typeface="Arial" panose="020B0604020202020204" pitchFamily="34" charset="0"/>
                <a:cs typeface="Arial" panose="020B0604020202020204" pitchFamily="34" charset="0"/>
              </a:rPr>
              <a:t>Power</a:t>
            </a:r>
            <a:r>
              <a:rPr lang="en-US" altLang="en-US" sz="3200" dirty="0">
                <a:solidFill>
                  <a:srgbClr val="2603BD"/>
                </a:solidFill>
                <a:latin typeface="Arial" panose="020B0604020202020204" pitchFamily="34" charset="0"/>
                <a:cs typeface="Arial" panose="020B0604020202020204" pitchFamily="34" charset="0"/>
              </a:rPr>
              <a:t> Signals</a:t>
            </a:r>
          </a:p>
        </p:txBody>
      </p:sp>
      <p:sp>
        <p:nvSpPr>
          <p:cNvPr id="47107" name="Rectangle 5">
            <a:extLst>
              <a:ext uri="{FF2B5EF4-FFF2-40B4-BE49-F238E27FC236}">
                <a16:creationId xmlns:a16="http://schemas.microsoft.com/office/drawing/2014/main" id="{248E1DDE-B1C6-7E3A-E0CA-11DCEBB753A0}"/>
              </a:ext>
            </a:extLst>
          </p:cNvPr>
          <p:cNvSpPr>
            <a:spLocks noChangeArrowheads="1"/>
          </p:cNvSpPr>
          <p:nvPr/>
        </p:nvSpPr>
        <p:spPr bwMode="auto">
          <a:xfrm>
            <a:off x="4343401" y="13996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aphicFrame>
        <p:nvGraphicFramePr>
          <p:cNvPr id="47108" name="Object 14">
            <a:extLst>
              <a:ext uri="{FF2B5EF4-FFF2-40B4-BE49-F238E27FC236}">
                <a16:creationId xmlns:a16="http://schemas.microsoft.com/office/drawing/2014/main" id="{53BA3D63-454C-B2B9-39CC-FF7F7F613F0B}"/>
              </a:ext>
            </a:extLst>
          </p:cNvPr>
          <p:cNvGraphicFramePr>
            <a:graphicFrameLocks noChangeAspect="1"/>
          </p:cNvGraphicFramePr>
          <p:nvPr/>
        </p:nvGraphicFramePr>
        <p:xfrm>
          <a:off x="3352800" y="3884613"/>
          <a:ext cx="2743200" cy="825190"/>
        </p:xfrm>
        <a:graphic>
          <a:graphicData uri="http://schemas.openxmlformats.org/presentationml/2006/ole">
            <mc:AlternateContent xmlns:mc="http://schemas.openxmlformats.org/markup-compatibility/2006">
              <mc:Choice xmlns:v="urn:schemas-microsoft-com:vml" Requires="v">
                <p:oleObj name="Equation" r:id="rId2" imgW="26822400" imgH="7924800" progId="Equation.DSMT4">
                  <p:embed/>
                </p:oleObj>
              </mc:Choice>
              <mc:Fallback>
                <p:oleObj name="Equation" r:id="rId2" imgW="26822400" imgH="7924800" progId="Equation.DSMT4">
                  <p:embed/>
                  <p:pic>
                    <p:nvPicPr>
                      <p:cNvPr id="47108" name="Object 14">
                        <a:extLst>
                          <a:ext uri="{FF2B5EF4-FFF2-40B4-BE49-F238E27FC236}">
                            <a16:creationId xmlns:a16="http://schemas.microsoft.com/office/drawing/2014/main" id="{53BA3D63-454C-B2B9-39CC-FF7F7F613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884613"/>
                        <a:ext cx="2743200" cy="825190"/>
                      </a:xfrm>
                      <a:prstGeom prst="rect">
                        <a:avLst/>
                      </a:prstGeom>
                      <a:noFill/>
                      <a:ln>
                        <a:noFill/>
                      </a:ln>
                    </p:spPr>
                  </p:pic>
                </p:oleObj>
              </mc:Fallback>
            </mc:AlternateContent>
          </a:graphicData>
        </a:graphic>
      </p:graphicFrame>
      <p:sp>
        <p:nvSpPr>
          <p:cNvPr id="47109" name="Rectangle 7">
            <a:extLst>
              <a:ext uri="{FF2B5EF4-FFF2-40B4-BE49-F238E27FC236}">
                <a16:creationId xmlns:a16="http://schemas.microsoft.com/office/drawing/2014/main" id="{A29C314C-16D5-CF9F-1F78-0A5CBA8B5FA6}"/>
              </a:ext>
            </a:extLst>
          </p:cNvPr>
          <p:cNvSpPr>
            <a:spLocks noChangeArrowheads="1"/>
          </p:cNvSpPr>
          <p:nvPr/>
        </p:nvSpPr>
        <p:spPr bwMode="auto">
          <a:xfrm>
            <a:off x="4343401" y="31220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pic>
        <p:nvPicPr>
          <p:cNvPr id="47110" name="Picture 2">
            <a:extLst>
              <a:ext uri="{FF2B5EF4-FFF2-40B4-BE49-F238E27FC236}">
                <a16:creationId xmlns:a16="http://schemas.microsoft.com/office/drawing/2014/main" id="{DA736952-735C-2EDD-565A-43503DE877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888" y="4111341"/>
            <a:ext cx="11811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3">
            <a:extLst>
              <a:ext uri="{FF2B5EF4-FFF2-40B4-BE49-F238E27FC236}">
                <a16:creationId xmlns:a16="http://schemas.microsoft.com/office/drawing/2014/main" id="{9CFFC88D-4C6E-155B-DA70-EB03AADC97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2800" y="945325"/>
            <a:ext cx="11938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4">
            <a:extLst>
              <a:ext uri="{FF2B5EF4-FFF2-40B4-BE49-F238E27FC236}">
                <a16:creationId xmlns:a16="http://schemas.microsoft.com/office/drawing/2014/main" id="{A5FC7035-3D66-4AAD-451D-65AECF18A6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609600"/>
            <a:ext cx="3657600" cy="91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CB82A30E-3218-DC1D-F779-A4CC91CDF731}"/>
              </a:ext>
            </a:extLst>
          </p:cNvPr>
          <p:cNvSpPr txBox="1"/>
          <p:nvPr/>
        </p:nvSpPr>
        <p:spPr>
          <a:xfrm>
            <a:off x="1524000" y="1527931"/>
            <a:ext cx="9067800" cy="2343655"/>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The value of power of given signal does not depend on frequency and phase components of the signal.</a:t>
            </a:r>
            <a:endParaRPr lang="en-US" sz="2000" kern="100" dirty="0">
              <a:latin typeface="Arial" panose="020B0604020202020204" pitchFamily="34" charset="0"/>
              <a:ea typeface="Calibri" panose="020F0502020204030204" pitchFamily="34" charset="0"/>
              <a:cs typeface="Arial" panose="020B0604020202020204" pitchFamily="34" charset="0"/>
            </a:endParaRPr>
          </a:p>
          <a:p>
            <a:pPr marL="342900" marR="254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The value of power depends on scaling in amplitude and squaring (or higher powers) of the signal.  However, the value of power does not depend on scaling in time (compression, expansion).</a:t>
            </a:r>
            <a:endParaRPr lang="en-US" sz="2000" kern="100" dirty="0">
              <a:latin typeface="Arial" panose="020B060402020202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85272B5-5098-5DB3-99E9-5CBB3554FF7E}"/>
              </a:ext>
            </a:extLst>
          </p:cNvPr>
          <p:cNvSpPr txBox="1"/>
          <p:nvPr/>
        </p:nvSpPr>
        <p:spPr>
          <a:xfrm>
            <a:off x="1638300" y="4739236"/>
            <a:ext cx="8915400" cy="1881990"/>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The value of energy does not depend on shifting, folding and combined shifting and folding of the signal.</a:t>
            </a:r>
            <a:endParaRPr lang="en-US" sz="2000" kern="100"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However, the value of energy depends on scaling in time (compression, expansion) and amplitude and squaring of the signal.</a:t>
            </a:r>
            <a:endParaRPr lang="en-US" sz="2000" kern="100" dirty="0">
              <a:latin typeface="Arial" panose="020B0604020202020204" pitchFamily="34" charset="0"/>
              <a:ea typeface="Calibri" panose="020F0502020204030204" pitchFamily="34" charset="0"/>
              <a:cs typeface="Arial" panose="020B0604020202020204" pitchFamily="34" charset="0"/>
            </a:endParaRPr>
          </a:p>
        </p:txBody>
      </p:sp>
      <p:sp>
        <p:nvSpPr>
          <p:cNvPr id="8" name="Date Placeholder 7">
            <a:extLst>
              <a:ext uri="{FF2B5EF4-FFF2-40B4-BE49-F238E27FC236}">
                <a16:creationId xmlns:a16="http://schemas.microsoft.com/office/drawing/2014/main" id="{C1E69625-434C-1E32-2F50-AF7F54D15DBA}"/>
              </a:ext>
            </a:extLst>
          </p:cNvPr>
          <p:cNvSpPr>
            <a:spLocks noGrp="1"/>
          </p:cNvSpPr>
          <p:nvPr>
            <p:ph type="dt" sz="half" idx="10"/>
          </p:nvPr>
        </p:nvSpPr>
        <p:spPr/>
        <p:txBody>
          <a:bodyPr/>
          <a:lstStyle/>
          <a:p>
            <a:fld id="{7F68696E-C82E-48C0-A0BB-EC928D570783}" type="datetime1">
              <a:rPr lang="en-US" smtClean="0"/>
              <a:t>7/12/2025</a:t>
            </a:fld>
            <a:endParaRPr lang="en-US"/>
          </a:p>
        </p:txBody>
      </p:sp>
      <p:sp>
        <p:nvSpPr>
          <p:cNvPr id="10" name="Slide Number Placeholder 9">
            <a:extLst>
              <a:ext uri="{FF2B5EF4-FFF2-40B4-BE49-F238E27FC236}">
                <a16:creationId xmlns:a16="http://schemas.microsoft.com/office/drawing/2014/main" id="{18857044-100E-37EA-16D4-67572EB5896E}"/>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70428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111"/>
                                        </p:tgtEl>
                                        <p:attrNameLst>
                                          <p:attrName>style.visibility</p:attrName>
                                        </p:attrNameLst>
                                      </p:cBhvr>
                                      <p:to>
                                        <p:strVal val="visible"/>
                                      </p:to>
                                    </p:set>
                                    <p:animEffect transition="in" filter="barn(inVertical)">
                                      <p:cBhvr>
                                        <p:cTn id="7" dur="500"/>
                                        <p:tgtEl>
                                          <p:spTgt spid="471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7112"/>
                                        </p:tgtEl>
                                        <p:attrNameLst>
                                          <p:attrName>style.visibility</p:attrName>
                                        </p:attrNameLst>
                                      </p:cBhvr>
                                      <p:to>
                                        <p:strVal val="visible"/>
                                      </p:to>
                                    </p:set>
                                    <p:animEffect transition="in" filter="barn(inVertical)">
                                      <p:cBhvr>
                                        <p:cTn id="12" dur="500"/>
                                        <p:tgtEl>
                                          <p:spTgt spid="471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barn(inVertic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barn(inVertical)">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7110"/>
                                        </p:tgtEl>
                                        <p:attrNameLst>
                                          <p:attrName>style.visibility</p:attrName>
                                        </p:attrNameLst>
                                      </p:cBhvr>
                                      <p:to>
                                        <p:strVal val="visible"/>
                                      </p:to>
                                    </p:set>
                                    <p:animEffect transition="in" filter="barn(inVertical)">
                                      <p:cBhvr>
                                        <p:cTn id="27" dur="500"/>
                                        <p:tgtEl>
                                          <p:spTgt spid="471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7108"/>
                                        </p:tgtEl>
                                        <p:attrNameLst>
                                          <p:attrName>style.visibility</p:attrName>
                                        </p:attrNameLst>
                                      </p:cBhvr>
                                      <p:to>
                                        <p:strVal val="visible"/>
                                      </p:to>
                                    </p:set>
                                    <p:animEffect transition="in" filter="barn(inVertical)">
                                      <p:cBhvr>
                                        <p:cTn id="32" dur="500"/>
                                        <p:tgtEl>
                                          <p:spTgt spid="4710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barn(inVertical)">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barn(inVertical)">
                                      <p:cBhvr>
                                        <p:cTn id="4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130D3AA8-FB51-9224-1566-3B3E78474381}"/>
              </a:ext>
            </a:extLst>
          </p:cNvPr>
          <p:cNvSpPr>
            <a:spLocks noGrp="1"/>
          </p:cNvSpPr>
          <p:nvPr>
            <p:ph idx="1"/>
          </p:nvPr>
        </p:nvSpPr>
        <p:spPr>
          <a:xfrm>
            <a:off x="1676400" y="228600"/>
            <a:ext cx="8839200" cy="1219200"/>
          </a:xfrm>
        </p:spPr>
        <p:txBody>
          <a:bodyPr/>
          <a:lstStyle/>
          <a:p>
            <a:pPr marL="0" indent="0">
              <a:buNone/>
            </a:pPr>
            <a:r>
              <a:rPr lang="en-US" altLang="en-US" dirty="0">
                <a:solidFill>
                  <a:srgbClr val="FF0000"/>
                </a:solidFill>
                <a:latin typeface="Arial" panose="020B0604020202020204" pitchFamily="34" charset="0"/>
                <a:cs typeface="Arial" panose="020B0604020202020204" pitchFamily="34" charset="0"/>
              </a:rPr>
              <a:t>Ex2:  </a:t>
            </a:r>
            <a:r>
              <a:rPr lang="en-US" altLang="en-US" dirty="0">
                <a:solidFill>
                  <a:srgbClr val="2603BD"/>
                </a:solidFill>
              </a:rPr>
              <a:t>A rectangular pulse having unit width, unit height centered at origin. Find its energy.</a:t>
            </a:r>
          </a:p>
        </p:txBody>
      </p:sp>
      <p:pic>
        <p:nvPicPr>
          <p:cNvPr id="48131" name="Picture 7">
            <a:extLst>
              <a:ext uri="{FF2B5EF4-FFF2-40B4-BE49-F238E27FC236}">
                <a16:creationId xmlns:a16="http://schemas.microsoft.com/office/drawing/2014/main" id="{1EBCC141-6046-498A-A4AA-F7E693299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0" y="838200"/>
            <a:ext cx="2743200" cy="183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8">
            <a:extLst>
              <a:ext uri="{FF2B5EF4-FFF2-40B4-BE49-F238E27FC236}">
                <a16:creationId xmlns:a16="http://schemas.microsoft.com/office/drawing/2014/main" id="{9E6D9DFB-4789-93DB-F6D3-EAC7973B208F}"/>
              </a:ext>
            </a:extLst>
          </p:cNvPr>
          <p:cNvSpPr>
            <a:spLocks noChangeArrowheads="1"/>
          </p:cNvSpPr>
          <p:nvPr/>
        </p:nvSpPr>
        <p:spPr bwMode="auto">
          <a:xfrm>
            <a:off x="1828800" y="1504950"/>
            <a:ext cx="48466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800" dirty="0">
                <a:solidFill>
                  <a:srgbClr val="FF0000"/>
                </a:solidFill>
                <a:cs typeface="Times New Roman" panose="02020603050405020304" pitchFamily="18" charset="0"/>
              </a:rPr>
              <a:t>The functional representation</a:t>
            </a:r>
            <a:endParaRPr lang="en-US" altLang="en-US" sz="2800" dirty="0">
              <a:solidFill>
                <a:srgbClr val="FF0000"/>
              </a:solidFill>
            </a:endParaRPr>
          </a:p>
        </p:txBody>
      </p:sp>
      <p:pic>
        <p:nvPicPr>
          <p:cNvPr id="48133" name="Picture 11">
            <a:extLst>
              <a:ext uri="{FF2B5EF4-FFF2-40B4-BE49-F238E27FC236}">
                <a16:creationId xmlns:a16="http://schemas.microsoft.com/office/drawing/2014/main" id="{419E4113-2045-D82C-9DB6-5918E17516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175" y="2084388"/>
            <a:ext cx="2967038" cy="12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Rectangle 12">
            <a:extLst>
              <a:ext uri="{FF2B5EF4-FFF2-40B4-BE49-F238E27FC236}">
                <a16:creationId xmlns:a16="http://schemas.microsoft.com/office/drawing/2014/main" id="{04C5D999-3EF7-C922-D544-C6439B0309F6}"/>
              </a:ext>
            </a:extLst>
          </p:cNvPr>
          <p:cNvSpPr>
            <a:spLocks noChangeArrowheads="1"/>
          </p:cNvSpPr>
          <p:nvPr/>
        </p:nvSpPr>
        <p:spPr bwMode="auto">
          <a:xfrm>
            <a:off x="2133601" y="3657601"/>
            <a:ext cx="4143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800" dirty="0">
                <a:cs typeface="Times New Roman" panose="02020603050405020304" pitchFamily="18" charset="0"/>
              </a:rPr>
              <a:t>The energy of the signal </a:t>
            </a:r>
            <a:endParaRPr lang="en-US" altLang="en-US" sz="2800" dirty="0"/>
          </a:p>
        </p:txBody>
      </p:sp>
      <p:pic>
        <p:nvPicPr>
          <p:cNvPr id="48135" name="Picture 13">
            <a:extLst>
              <a:ext uri="{FF2B5EF4-FFF2-40B4-BE49-F238E27FC236}">
                <a16:creationId xmlns:a16="http://schemas.microsoft.com/office/drawing/2014/main" id="{E72A8904-ECB0-F4ED-E5E4-6AC2681048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1" y="4518025"/>
            <a:ext cx="33813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51D5634B-CA70-04BD-ECCF-D126BEA17E75}"/>
              </a:ext>
            </a:extLst>
          </p:cNvPr>
          <p:cNvSpPr>
            <a:spLocks noGrp="1"/>
          </p:cNvSpPr>
          <p:nvPr>
            <p:ph type="dt" sz="half" idx="10"/>
          </p:nvPr>
        </p:nvSpPr>
        <p:spPr/>
        <p:txBody>
          <a:bodyPr/>
          <a:lstStyle/>
          <a:p>
            <a:fld id="{B97B6630-E108-4D2A-99BB-1ACA181A8FF6}" type="datetime1">
              <a:rPr lang="en-US" smtClean="0"/>
              <a:t>7/12/2025</a:t>
            </a:fld>
            <a:endParaRPr lang="en-US"/>
          </a:p>
        </p:txBody>
      </p:sp>
      <p:sp>
        <p:nvSpPr>
          <p:cNvPr id="4" name="Slide Number Placeholder 3">
            <a:extLst>
              <a:ext uri="{FF2B5EF4-FFF2-40B4-BE49-F238E27FC236}">
                <a16:creationId xmlns:a16="http://schemas.microsoft.com/office/drawing/2014/main" id="{032F81B2-CA88-D3C7-9293-0290D16D75FD}"/>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barn(inVertical)">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8132"/>
                                        </p:tgtEl>
                                        <p:attrNameLst>
                                          <p:attrName>style.visibility</p:attrName>
                                        </p:attrNameLst>
                                      </p:cBhvr>
                                      <p:to>
                                        <p:strVal val="visible"/>
                                      </p:to>
                                    </p:set>
                                    <p:animEffect transition="in" filter="barn(inVertical)">
                                      <p:cBhvr>
                                        <p:cTn id="12" dur="500"/>
                                        <p:tgtEl>
                                          <p:spTgt spid="4813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8133"/>
                                        </p:tgtEl>
                                        <p:attrNameLst>
                                          <p:attrName>style.visibility</p:attrName>
                                        </p:attrNameLst>
                                      </p:cBhvr>
                                      <p:to>
                                        <p:strVal val="visible"/>
                                      </p:to>
                                    </p:set>
                                    <p:animEffect transition="in" filter="barn(inVertical)">
                                      <p:cBhvr>
                                        <p:cTn id="17" dur="500"/>
                                        <p:tgtEl>
                                          <p:spTgt spid="4813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8134"/>
                                        </p:tgtEl>
                                        <p:attrNameLst>
                                          <p:attrName>style.visibility</p:attrName>
                                        </p:attrNameLst>
                                      </p:cBhvr>
                                      <p:to>
                                        <p:strVal val="visible"/>
                                      </p:to>
                                    </p:set>
                                    <p:animEffect transition="in" filter="barn(inVertical)">
                                      <p:cBhvr>
                                        <p:cTn id="22" dur="500"/>
                                        <p:tgtEl>
                                          <p:spTgt spid="4813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8135"/>
                                        </p:tgtEl>
                                        <p:attrNameLst>
                                          <p:attrName>style.visibility</p:attrName>
                                        </p:attrNameLst>
                                      </p:cBhvr>
                                      <p:to>
                                        <p:strVal val="visible"/>
                                      </p:to>
                                    </p:set>
                                    <p:animEffect transition="in" filter="barn(inVertical)">
                                      <p:cBhvr>
                                        <p:cTn id="27" dur="500"/>
                                        <p:tgtEl>
                                          <p:spTgt spid="4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P spid="481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1CB807-3BAA-FD74-BB02-747723F57CB6}"/>
              </a:ext>
            </a:extLst>
          </p:cNvPr>
          <p:cNvSpPr>
            <a:spLocks noGrp="1"/>
          </p:cNvSpPr>
          <p:nvPr>
            <p:ph idx="1"/>
          </p:nvPr>
        </p:nvSpPr>
        <p:spPr>
          <a:xfrm>
            <a:off x="1524000" y="228601"/>
            <a:ext cx="8686800" cy="5897563"/>
          </a:xfrm>
        </p:spPr>
        <p:txBody>
          <a:bodyPr/>
          <a:lstStyle/>
          <a:p>
            <a:pPr marL="0" indent="0">
              <a:buNone/>
            </a:pPr>
            <a:r>
              <a:rPr lang="en-US" altLang="en-US" dirty="0">
                <a:solidFill>
                  <a:srgbClr val="FF0000"/>
                </a:solidFill>
                <a:latin typeface="Arial" panose="020B0604020202020204" pitchFamily="34" charset="0"/>
                <a:cs typeface="Arial" panose="020B0604020202020204" pitchFamily="34" charset="0"/>
              </a:rPr>
              <a:t>Ex2</a:t>
            </a:r>
            <a:r>
              <a:rPr lang="en-US" altLang="en-US" dirty="0">
                <a:solidFill>
                  <a:srgbClr val="2603BD"/>
                </a:solidFill>
                <a:latin typeface="Arial" panose="020B0604020202020204" pitchFamily="34" charset="0"/>
                <a:cs typeface="Arial" panose="020B0604020202020204" pitchFamily="34" charset="0"/>
              </a:rPr>
              <a:t>: Find energy of a signal shown in figure</a:t>
            </a:r>
          </a:p>
          <a:p>
            <a:pPr marL="0" indent="0">
              <a:buNone/>
            </a:pPr>
            <a:endParaRPr lang="en-US" altLang="en-US" dirty="0"/>
          </a:p>
          <a:p>
            <a:pPr marL="0" indent="0">
              <a:buNone/>
            </a:pPr>
            <a:r>
              <a:rPr lang="en-US" altLang="en-US" dirty="0">
                <a:solidFill>
                  <a:srgbClr val="FF0000"/>
                </a:solidFill>
                <a:latin typeface="Arial" panose="020B0604020202020204" pitchFamily="34" charset="0"/>
                <a:cs typeface="Arial" panose="020B0604020202020204" pitchFamily="34" charset="0"/>
              </a:rPr>
              <a:t>Then the signal is represented</a:t>
            </a:r>
          </a:p>
          <a:p>
            <a:pPr marL="0" indent="0">
              <a:buNone/>
            </a:pPr>
            <a:r>
              <a:rPr lang="en-US" altLang="en-US" dirty="0">
                <a:solidFill>
                  <a:srgbClr val="FF0000"/>
                </a:solidFill>
                <a:latin typeface="Arial" panose="020B0604020202020204" pitchFamily="34" charset="0"/>
                <a:cs typeface="Arial" panose="020B0604020202020204" pitchFamily="34" charset="0"/>
              </a:rPr>
              <a:t> by </a:t>
            </a:r>
            <a:endParaRPr lang="en-US" altLang="en-US" sz="3600" dirty="0">
              <a:solidFill>
                <a:srgbClr val="FF0000"/>
              </a:solidFill>
              <a:latin typeface="Arial" panose="020B0604020202020204" pitchFamily="34" charset="0"/>
              <a:cs typeface="Arial" panose="020B0604020202020204" pitchFamily="34" charset="0"/>
            </a:endParaRPr>
          </a:p>
          <a:p>
            <a:pPr marL="0" indent="0">
              <a:buNone/>
            </a:pPr>
            <a:endParaRPr lang="en-US" altLang="en-US" sz="3600" dirty="0">
              <a:latin typeface="Arial" panose="020B0604020202020204" pitchFamily="34" charset="0"/>
              <a:cs typeface="Arial" panose="020B0604020202020204" pitchFamily="34" charset="0"/>
            </a:endParaRPr>
          </a:p>
        </p:txBody>
      </p:sp>
      <p:pic>
        <p:nvPicPr>
          <p:cNvPr id="49155" name="Picture 3">
            <a:extLst>
              <a:ext uri="{FF2B5EF4-FFF2-40B4-BE49-F238E27FC236}">
                <a16:creationId xmlns:a16="http://schemas.microsoft.com/office/drawing/2014/main" id="{5699A4E9-1B0A-E406-074C-7C78F468FE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1075" y="838200"/>
            <a:ext cx="3200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1376D225-29FE-111F-715E-9BC564F5C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057400"/>
            <a:ext cx="3276600"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D112712F-2A79-4533-5496-FE0B67978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514726"/>
            <a:ext cx="4610100"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2C6C4ED-5A25-CE6B-A7A6-BA2B815A6C69}"/>
              </a:ext>
            </a:extLst>
          </p:cNvPr>
          <p:cNvSpPr>
            <a:spLocks noGrp="1"/>
          </p:cNvSpPr>
          <p:nvPr>
            <p:ph type="dt" sz="half" idx="10"/>
          </p:nvPr>
        </p:nvSpPr>
        <p:spPr/>
        <p:txBody>
          <a:bodyPr/>
          <a:lstStyle/>
          <a:p>
            <a:fld id="{6EA46385-5D9F-4B1D-ADA5-C7258473C8E2}" type="datetime1">
              <a:rPr lang="en-US" smtClean="0"/>
              <a:t>7/12/2025</a:t>
            </a:fld>
            <a:endParaRPr lang="en-US"/>
          </a:p>
        </p:txBody>
      </p:sp>
      <p:sp>
        <p:nvSpPr>
          <p:cNvPr id="5" name="Slide Number Placeholder 4">
            <a:extLst>
              <a:ext uri="{FF2B5EF4-FFF2-40B4-BE49-F238E27FC236}">
                <a16:creationId xmlns:a16="http://schemas.microsoft.com/office/drawing/2014/main" id="{FFA4D145-DD2D-838D-0A22-5EB2D030BCB2}"/>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CCB6B3C3-35F3-4920-0CBE-6C23C1C915DA}"/>
              </a:ext>
            </a:extLst>
          </p:cNvPr>
          <p:cNvSpPr>
            <a:spLocks noGrp="1"/>
          </p:cNvSpPr>
          <p:nvPr>
            <p:ph idx="1"/>
          </p:nvPr>
        </p:nvSpPr>
        <p:spPr>
          <a:xfrm>
            <a:off x="1752600" y="152400"/>
            <a:ext cx="8763000" cy="3429000"/>
          </a:xfrm>
        </p:spPr>
        <p:txBody>
          <a:bodyPr/>
          <a:lstStyle/>
          <a:p>
            <a:pPr marL="0" indent="0">
              <a:buNone/>
            </a:pPr>
            <a:r>
              <a:rPr lang="en-US" altLang="en-US" dirty="0">
                <a:solidFill>
                  <a:srgbClr val="FF0000"/>
                </a:solidFill>
                <a:latin typeface="Arial" panose="020B0604020202020204" pitchFamily="34" charset="0"/>
                <a:cs typeface="Arial" panose="020B0604020202020204" pitchFamily="34" charset="0"/>
              </a:rPr>
              <a:t>Ex3</a:t>
            </a:r>
            <a:r>
              <a:rPr lang="en-US" altLang="en-US" dirty="0">
                <a:solidFill>
                  <a:srgbClr val="2603BD"/>
                </a:solidFill>
                <a:latin typeface="Arial" panose="020B0604020202020204" pitchFamily="34" charset="0"/>
                <a:cs typeface="Arial" panose="020B0604020202020204" pitchFamily="34" charset="0"/>
              </a:rPr>
              <a:t>: Find energy and power of the following signals</a:t>
            </a:r>
          </a:p>
          <a:p>
            <a:pPr marL="0" indent="0">
              <a:buNone/>
            </a:pPr>
            <a:r>
              <a:rPr lang="en-US" altLang="en-US" dirty="0">
                <a:solidFill>
                  <a:srgbClr val="FF0000"/>
                </a:solidFill>
                <a:latin typeface="Arial" panose="020B0604020202020204" pitchFamily="34" charset="0"/>
                <a:cs typeface="Arial" panose="020B0604020202020204" pitchFamily="34" charset="0"/>
              </a:rPr>
              <a:t> (a)</a:t>
            </a:r>
            <a:r>
              <a:rPr lang="en-US" altLang="en-US" dirty="0">
                <a:solidFill>
                  <a:srgbClr val="2603BD"/>
                </a:solidFill>
                <a:latin typeface="Arial" panose="020B0604020202020204" pitchFamily="34" charset="0"/>
                <a:cs typeface="Arial" panose="020B0604020202020204" pitchFamily="34" charset="0"/>
              </a:rPr>
              <a:t>                              </a:t>
            </a:r>
            <a:r>
              <a:rPr lang="en-US" altLang="en-US" dirty="0">
                <a:solidFill>
                  <a:srgbClr val="FF0000"/>
                </a:solidFill>
                <a:latin typeface="Arial" panose="020B0604020202020204" pitchFamily="34" charset="0"/>
                <a:cs typeface="Arial" panose="020B0604020202020204" pitchFamily="34" charset="0"/>
              </a:rPr>
              <a:t>(b)               </a:t>
            </a:r>
          </a:p>
          <a:p>
            <a:pPr marL="0" indent="0">
              <a:buNone/>
            </a:pPr>
            <a:r>
              <a:rPr lang="en-US" altLang="en-US" dirty="0">
                <a:solidFill>
                  <a:srgbClr val="FF0000"/>
                </a:solidFill>
                <a:latin typeface="Arial" panose="020B0604020202020204" pitchFamily="34" charset="0"/>
                <a:cs typeface="Arial" panose="020B0604020202020204" pitchFamily="34" charset="0"/>
              </a:rPr>
              <a:t> (c)</a:t>
            </a:r>
          </a:p>
        </p:txBody>
      </p:sp>
      <p:pic>
        <p:nvPicPr>
          <p:cNvPr id="50179" name="Picture 5">
            <a:extLst>
              <a:ext uri="{FF2B5EF4-FFF2-40B4-BE49-F238E27FC236}">
                <a16:creationId xmlns:a16="http://schemas.microsoft.com/office/drawing/2014/main" id="{109FE149-6505-FFA9-650B-8E068EB193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438" y="1292137"/>
            <a:ext cx="26860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6">
            <a:extLst>
              <a:ext uri="{FF2B5EF4-FFF2-40B4-BE49-F238E27FC236}">
                <a16:creationId xmlns:a16="http://schemas.microsoft.com/office/drawing/2014/main" id="{59E18517-1551-E22C-F748-2518373104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198714"/>
            <a:ext cx="302895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7">
            <a:extLst>
              <a:ext uri="{FF2B5EF4-FFF2-40B4-BE49-F238E27FC236}">
                <a16:creationId xmlns:a16="http://schemas.microsoft.com/office/drawing/2014/main" id="{1A8D8A66-9772-85BC-7ABD-10B214A26A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4333" y="1888951"/>
            <a:ext cx="28194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13">
            <a:extLst>
              <a:ext uri="{FF2B5EF4-FFF2-40B4-BE49-F238E27FC236}">
                <a16:creationId xmlns:a16="http://schemas.microsoft.com/office/drawing/2014/main" id="{8A9CC93D-7B8D-1AE8-9C95-125A2D4AF0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1763" y="4288812"/>
            <a:ext cx="2563812"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EC4D4C13-CE95-79AA-00C9-BD4A2B32F59C}"/>
              </a:ext>
            </a:extLst>
          </p:cNvPr>
          <p:cNvPicPr>
            <a:picLocks noChangeAspect="1"/>
          </p:cNvPicPr>
          <p:nvPr/>
        </p:nvPicPr>
        <p:blipFill>
          <a:blip r:embed="rId6"/>
          <a:stretch>
            <a:fillRect/>
          </a:stretch>
        </p:blipFill>
        <p:spPr>
          <a:xfrm>
            <a:off x="1752600" y="2896642"/>
            <a:ext cx="1562100" cy="635560"/>
          </a:xfrm>
          <a:prstGeom prst="rect">
            <a:avLst/>
          </a:prstGeom>
        </p:spPr>
      </p:pic>
      <p:pic>
        <p:nvPicPr>
          <p:cNvPr id="5" name="Picture 4">
            <a:extLst>
              <a:ext uri="{FF2B5EF4-FFF2-40B4-BE49-F238E27FC236}">
                <a16:creationId xmlns:a16="http://schemas.microsoft.com/office/drawing/2014/main" id="{8D017DC3-DA57-EF26-AACA-773B5B8DDBEB}"/>
              </a:ext>
            </a:extLst>
          </p:cNvPr>
          <p:cNvPicPr>
            <a:picLocks noChangeAspect="1"/>
          </p:cNvPicPr>
          <p:nvPr/>
        </p:nvPicPr>
        <p:blipFill>
          <a:blip r:embed="rId7"/>
          <a:stretch>
            <a:fillRect/>
          </a:stretch>
        </p:blipFill>
        <p:spPr>
          <a:xfrm>
            <a:off x="2024780" y="3770333"/>
            <a:ext cx="3524250" cy="864155"/>
          </a:xfrm>
          <a:prstGeom prst="rect">
            <a:avLst/>
          </a:prstGeom>
        </p:spPr>
      </p:pic>
      <p:pic>
        <p:nvPicPr>
          <p:cNvPr id="7" name="Picture 6">
            <a:extLst>
              <a:ext uri="{FF2B5EF4-FFF2-40B4-BE49-F238E27FC236}">
                <a16:creationId xmlns:a16="http://schemas.microsoft.com/office/drawing/2014/main" id="{1ED6D364-6680-F41A-9360-5234148C7872}"/>
              </a:ext>
            </a:extLst>
          </p:cNvPr>
          <p:cNvPicPr>
            <a:picLocks noChangeAspect="1"/>
          </p:cNvPicPr>
          <p:nvPr/>
        </p:nvPicPr>
        <p:blipFill>
          <a:blip r:embed="rId8"/>
          <a:stretch>
            <a:fillRect/>
          </a:stretch>
        </p:blipFill>
        <p:spPr>
          <a:xfrm>
            <a:off x="2628379" y="4697392"/>
            <a:ext cx="3524251" cy="890260"/>
          </a:xfrm>
          <a:prstGeom prst="rect">
            <a:avLst/>
          </a:prstGeom>
        </p:spPr>
      </p:pic>
      <p:pic>
        <p:nvPicPr>
          <p:cNvPr id="9" name="Picture 8">
            <a:extLst>
              <a:ext uri="{FF2B5EF4-FFF2-40B4-BE49-F238E27FC236}">
                <a16:creationId xmlns:a16="http://schemas.microsoft.com/office/drawing/2014/main" id="{27CEE398-9284-018C-EB65-979AA53A1D87}"/>
              </a:ext>
            </a:extLst>
          </p:cNvPr>
          <p:cNvPicPr>
            <a:picLocks noChangeAspect="1"/>
          </p:cNvPicPr>
          <p:nvPr/>
        </p:nvPicPr>
        <p:blipFill>
          <a:blip r:embed="rId9"/>
          <a:stretch>
            <a:fillRect/>
          </a:stretch>
        </p:blipFill>
        <p:spPr>
          <a:xfrm>
            <a:off x="2562225" y="5790920"/>
            <a:ext cx="2590800" cy="902154"/>
          </a:xfrm>
          <a:prstGeom prst="rect">
            <a:avLst/>
          </a:prstGeom>
        </p:spPr>
      </p:pic>
      <p:pic>
        <p:nvPicPr>
          <p:cNvPr id="13" name="Picture 12">
            <a:extLst>
              <a:ext uri="{FF2B5EF4-FFF2-40B4-BE49-F238E27FC236}">
                <a16:creationId xmlns:a16="http://schemas.microsoft.com/office/drawing/2014/main" id="{18B763EE-053C-542F-C519-6B588D37BC7E}"/>
              </a:ext>
            </a:extLst>
          </p:cNvPr>
          <p:cNvPicPr>
            <a:picLocks noChangeAspect="1"/>
          </p:cNvPicPr>
          <p:nvPr/>
        </p:nvPicPr>
        <p:blipFill>
          <a:blip r:embed="rId10"/>
          <a:stretch>
            <a:fillRect/>
          </a:stretch>
        </p:blipFill>
        <p:spPr>
          <a:xfrm>
            <a:off x="5486400" y="5638800"/>
            <a:ext cx="1409700" cy="1143000"/>
          </a:xfrm>
          <a:prstGeom prst="rect">
            <a:avLst/>
          </a:prstGeom>
        </p:spPr>
      </p:pic>
      <p:sp>
        <p:nvSpPr>
          <p:cNvPr id="14" name="Date Placeholder 13">
            <a:extLst>
              <a:ext uri="{FF2B5EF4-FFF2-40B4-BE49-F238E27FC236}">
                <a16:creationId xmlns:a16="http://schemas.microsoft.com/office/drawing/2014/main" id="{8E51825F-33FB-7E28-C4BC-9DEA6440A63E}"/>
              </a:ext>
            </a:extLst>
          </p:cNvPr>
          <p:cNvSpPr>
            <a:spLocks noGrp="1"/>
          </p:cNvSpPr>
          <p:nvPr>
            <p:ph type="dt" sz="half" idx="10"/>
          </p:nvPr>
        </p:nvSpPr>
        <p:spPr/>
        <p:txBody>
          <a:bodyPr/>
          <a:lstStyle/>
          <a:p>
            <a:fld id="{CE4350FB-2E06-45F2-AA64-5EB3EE3CE9A9}" type="datetime1">
              <a:rPr lang="en-US" smtClean="0"/>
              <a:t>7/12/2025</a:t>
            </a:fld>
            <a:endParaRPr lang="en-US"/>
          </a:p>
        </p:txBody>
      </p:sp>
      <p:sp>
        <p:nvSpPr>
          <p:cNvPr id="16" name="Slide Number Placeholder 15">
            <a:extLst>
              <a:ext uri="{FF2B5EF4-FFF2-40B4-BE49-F238E27FC236}">
                <a16:creationId xmlns:a16="http://schemas.microsoft.com/office/drawing/2014/main" id="{921FA859-E134-9CEA-2679-9F1199B8A1F4}"/>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0182"/>
                                        </p:tgtEl>
                                        <p:attrNameLst>
                                          <p:attrName>style.visibility</p:attrName>
                                        </p:attrNameLst>
                                      </p:cBhvr>
                                      <p:to>
                                        <p:strVal val="visible"/>
                                      </p:to>
                                    </p:set>
                                    <p:animEffect transition="in" filter="barn(inVertical)">
                                      <p:cBhvr>
                                        <p:cTn id="12" dur="500"/>
                                        <p:tgtEl>
                                          <p:spTgt spid="501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inVertic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A4CC2B-D842-E59A-257C-7413EF190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4539" y="533401"/>
            <a:ext cx="6372225"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D8D06B8A-E7A4-419E-8DB1-4956AD99E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495800"/>
            <a:ext cx="4724400" cy="154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a:extLst>
              <a:ext uri="{FF2B5EF4-FFF2-40B4-BE49-F238E27FC236}">
                <a16:creationId xmlns:a16="http://schemas.microsoft.com/office/drawing/2014/main" id="{8D7F9347-1FA6-9F91-112F-1EA01F40799F}"/>
              </a:ext>
            </a:extLst>
          </p:cNvPr>
          <p:cNvSpPr>
            <a:spLocks noGrp="1"/>
          </p:cNvSpPr>
          <p:nvPr>
            <p:ph type="dt" sz="half" idx="10"/>
          </p:nvPr>
        </p:nvSpPr>
        <p:spPr/>
        <p:txBody>
          <a:bodyPr/>
          <a:lstStyle/>
          <a:p>
            <a:fld id="{7A7B8C05-F26B-4192-8518-5AE3EF8513C0}" type="datetime1">
              <a:rPr lang="en-US" smtClean="0"/>
              <a:t>7/12/2025</a:t>
            </a:fld>
            <a:endParaRPr lang="en-US"/>
          </a:p>
        </p:txBody>
      </p:sp>
      <p:sp>
        <p:nvSpPr>
          <p:cNvPr id="8" name="Slide Number Placeholder 7">
            <a:extLst>
              <a:ext uri="{FF2B5EF4-FFF2-40B4-BE49-F238E27FC236}">
                <a16:creationId xmlns:a16="http://schemas.microsoft.com/office/drawing/2014/main" id="{047A8DE2-5B6E-F953-43ED-16E6716A469C}"/>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3">
            <a:extLst>
              <a:ext uri="{FF2B5EF4-FFF2-40B4-BE49-F238E27FC236}">
                <a16:creationId xmlns:a16="http://schemas.microsoft.com/office/drawing/2014/main" id="{673E125D-9EFB-76C3-B0DC-CABC847A4E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057400"/>
            <a:ext cx="8839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7" name="Rectangle 1">
            <a:extLst>
              <a:ext uri="{FF2B5EF4-FFF2-40B4-BE49-F238E27FC236}">
                <a16:creationId xmlns:a16="http://schemas.microsoft.com/office/drawing/2014/main" id="{7A5AD146-2E04-2378-EF7F-D8C2031766E4}"/>
              </a:ext>
            </a:extLst>
          </p:cNvPr>
          <p:cNvSpPr>
            <a:spLocks noChangeArrowheads="1"/>
          </p:cNvSpPr>
          <p:nvPr/>
        </p:nvSpPr>
        <p:spPr bwMode="auto">
          <a:xfrm>
            <a:off x="1828800" y="609600"/>
            <a:ext cx="853440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3200" dirty="0">
                <a:solidFill>
                  <a:srgbClr val="FF0000"/>
                </a:solidFill>
              </a:rPr>
              <a:t>Ex4:</a:t>
            </a:r>
            <a:r>
              <a:rPr lang="en-US" altLang="en-US" sz="3200" dirty="0">
                <a:solidFill>
                  <a:srgbClr val="2603BD"/>
                </a:solidFill>
              </a:rPr>
              <a:t> Show that the delayed signal does not change the energy content. </a:t>
            </a:r>
          </a:p>
          <a:p>
            <a:endParaRPr lang="en-US" altLang="en-US" dirty="0">
              <a:solidFill>
                <a:srgbClr val="2603BD"/>
              </a:solidFill>
            </a:endParaRPr>
          </a:p>
        </p:txBody>
      </p:sp>
      <p:sp>
        <p:nvSpPr>
          <p:cNvPr id="3" name="TextBox 2">
            <a:extLst>
              <a:ext uri="{FF2B5EF4-FFF2-40B4-BE49-F238E27FC236}">
                <a16:creationId xmlns:a16="http://schemas.microsoft.com/office/drawing/2014/main" id="{53D340D4-449F-4CA2-0E88-F9E725E9E3DE}"/>
              </a:ext>
            </a:extLst>
          </p:cNvPr>
          <p:cNvSpPr txBox="1"/>
          <p:nvPr/>
        </p:nvSpPr>
        <p:spPr>
          <a:xfrm>
            <a:off x="3276600" y="5257801"/>
            <a:ext cx="4572000" cy="584775"/>
          </a:xfrm>
          <a:prstGeom prst="rect">
            <a:avLst/>
          </a:prstGeom>
          <a:noFill/>
        </p:spPr>
        <p:txBody>
          <a:bodyPr wrap="square">
            <a:spAutoFit/>
          </a:bodyPr>
          <a:lstStyle/>
          <a:p>
            <a:r>
              <a:rPr lang="en-US" altLang="en-US" sz="3200" dirty="0">
                <a:solidFill>
                  <a:srgbClr val="FF0000"/>
                </a:solidFill>
                <a:latin typeface="Arial" panose="020B0604020202020204" pitchFamily="34" charset="0"/>
                <a:cs typeface="Arial" panose="020B0604020202020204" pitchFamily="34" charset="0"/>
              </a:rPr>
              <a:t>Left an exercise</a:t>
            </a:r>
            <a:endParaRPr lang="en-US" sz="3200" dirty="0">
              <a:solidFill>
                <a:srgbClr val="FF0000"/>
              </a:solidFill>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D0630AA4-8133-7504-5065-5885E5C7D3AA}"/>
              </a:ext>
            </a:extLst>
          </p:cNvPr>
          <p:cNvSpPr>
            <a:spLocks noGrp="1"/>
          </p:cNvSpPr>
          <p:nvPr>
            <p:ph type="dt" sz="half" idx="10"/>
          </p:nvPr>
        </p:nvSpPr>
        <p:spPr/>
        <p:txBody>
          <a:bodyPr/>
          <a:lstStyle/>
          <a:p>
            <a:fld id="{3905475A-BFA2-4B00-A68F-804F6218B493}" type="datetime1">
              <a:rPr lang="en-US" smtClean="0"/>
              <a:t>7/12/2025</a:t>
            </a:fld>
            <a:endParaRPr lang="en-US"/>
          </a:p>
        </p:txBody>
      </p:sp>
      <p:sp>
        <p:nvSpPr>
          <p:cNvPr id="6" name="Slide Number Placeholder 5">
            <a:extLst>
              <a:ext uri="{FF2B5EF4-FFF2-40B4-BE49-F238E27FC236}">
                <a16:creationId xmlns:a16="http://schemas.microsoft.com/office/drawing/2014/main" id="{B3B742CE-EB38-1AE3-B9DA-0E9EED3AD8BE}"/>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ED21E3-9A03-5164-2152-BED9863F4FB7}"/>
              </a:ext>
            </a:extLst>
          </p:cNvPr>
          <p:cNvPicPr>
            <a:picLocks noChangeAspect="1"/>
          </p:cNvPicPr>
          <p:nvPr/>
        </p:nvPicPr>
        <p:blipFill>
          <a:blip r:embed="rId2"/>
          <a:stretch>
            <a:fillRect/>
          </a:stretch>
        </p:blipFill>
        <p:spPr>
          <a:xfrm>
            <a:off x="1770889" y="1676400"/>
            <a:ext cx="3152775" cy="895350"/>
          </a:xfrm>
          <a:prstGeom prst="rect">
            <a:avLst/>
          </a:prstGeom>
        </p:spPr>
      </p:pic>
      <p:pic>
        <p:nvPicPr>
          <p:cNvPr id="9" name="Picture 8">
            <a:extLst>
              <a:ext uri="{FF2B5EF4-FFF2-40B4-BE49-F238E27FC236}">
                <a16:creationId xmlns:a16="http://schemas.microsoft.com/office/drawing/2014/main" id="{31B33D29-EF75-0621-F48F-A751E822109F}"/>
              </a:ext>
            </a:extLst>
          </p:cNvPr>
          <p:cNvPicPr>
            <a:picLocks noChangeAspect="1"/>
          </p:cNvPicPr>
          <p:nvPr/>
        </p:nvPicPr>
        <p:blipFill>
          <a:blip r:embed="rId3"/>
          <a:stretch>
            <a:fillRect/>
          </a:stretch>
        </p:blipFill>
        <p:spPr>
          <a:xfrm>
            <a:off x="1613833" y="3256027"/>
            <a:ext cx="3238500" cy="904875"/>
          </a:xfrm>
          <a:prstGeom prst="rect">
            <a:avLst/>
          </a:prstGeom>
        </p:spPr>
      </p:pic>
      <p:pic>
        <p:nvPicPr>
          <p:cNvPr id="11" name="Picture 10">
            <a:extLst>
              <a:ext uri="{FF2B5EF4-FFF2-40B4-BE49-F238E27FC236}">
                <a16:creationId xmlns:a16="http://schemas.microsoft.com/office/drawing/2014/main" id="{DBC3BED6-69F0-F124-5AA1-9555A3C18116}"/>
              </a:ext>
            </a:extLst>
          </p:cNvPr>
          <p:cNvPicPr>
            <a:picLocks noChangeAspect="1"/>
          </p:cNvPicPr>
          <p:nvPr/>
        </p:nvPicPr>
        <p:blipFill>
          <a:blip r:embed="rId4"/>
          <a:stretch>
            <a:fillRect/>
          </a:stretch>
        </p:blipFill>
        <p:spPr>
          <a:xfrm>
            <a:off x="1613833" y="4924426"/>
            <a:ext cx="3810000" cy="1076325"/>
          </a:xfrm>
          <a:prstGeom prst="rect">
            <a:avLst/>
          </a:prstGeom>
        </p:spPr>
      </p:pic>
      <p:pic>
        <p:nvPicPr>
          <p:cNvPr id="12" name="Picture 11" descr="A picture containing line, diagram, whiteboard&#10;&#10;Description automatically generated">
            <a:extLst>
              <a:ext uri="{FF2B5EF4-FFF2-40B4-BE49-F238E27FC236}">
                <a16:creationId xmlns:a16="http://schemas.microsoft.com/office/drawing/2014/main" id="{25AFB9D5-26A3-8772-2DF8-EEB2443D83E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57880" y="1295400"/>
            <a:ext cx="2163233" cy="1390650"/>
          </a:xfrm>
          <a:prstGeom prst="rect">
            <a:avLst/>
          </a:prstGeom>
          <a:noFill/>
          <a:ln>
            <a:noFill/>
          </a:ln>
        </p:spPr>
      </p:pic>
      <p:pic>
        <p:nvPicPr>
          <p:cNvPr id="14" name="Picture 13">
            <a:extLst>
              <a:ext uri="{FF2B5EF4-FFF2-40B4-BE49-F238E27FC236}">
                <a16:creationId xmlns:a16="http://schemas.microsoft.com/office/drawing/2014/main" id="{A9439F84-0C52-FEF5-5CDF-6899F4E20D6C}"/>
              </a:ext>
            </a:extLst>
          </p:cNvPr>
          <p:cNvPicPr>
            <a:picLocks noChangeAspect="1"/>
          </p:cNvPicPr>
          <p:nvPr/>
        </p:nvPicPr>
        <p:blipFill>
          <a:blip r:embed="rId6"/>
          <a:stretch>
            <a:fillRect/>
          </a:stretch>
        </p:blipFill>
        <p:spPr>
          <a:xfrm>
            <a:off x="5211551" y="1828800"/>
            <a:ext cx="2819400" cy="585026"/>
          </a:xfrm>
          <a:prstGeom prst="rect">
            <a:avLst/>
          </a:prstGeom>
        </p:spPr>
      </p:pic>
      <p:pic>
        <p:nvPicPr>
          <p:cNvPr id="15" name="Picture 14" descr="A picture containing line, plot, diagram&#10;&#10;Description automatically generated">
            <a:extLst>
              <a:ext uri="{FF2B5EF4-FFF2-40B4-BE49-F238E27FC236}">
                <a16:creationId xmlns:a16="http://schemas.microsoft.com/office/drawing/2014/main" id="{D366B796-65EC-385F-CDC5-0B38FBB23DC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458201" y="2989326"/>
            <a:ext cx="2119967" cy="1390650"/>
          </a:xfrm>
          <a:prstGeom prst="rect">
            <a:avLst/>
          </a:prstGeom>
          <a:noFill/>
          <a:ln>
            <a:noFill/>
          </a:ln>
        </p:spPr>
      </p:pic>
      <p:pic>
        <p:nvPicPr>
          <p:cNvPr id="17" name="Picture 16">
            <a:extLst>
              <a:ext uri="{FF2B5EF4-FFF2-40B4-BE49-F238E27FC236}">
                <a16:creationId xmlns:a16="http://schemas.microsoft.com/office/drawing/2014/main" id="{FE8D3054-A7CC-1C1D-8868-D36FF376356E}"/>
              </a:ext>
            </a:extLst>
          </p:cNvPr>
          <p:cNvPicPr>
            <a:picLocks noChangeAspect="1"/>
          </p:cNvPicPr>
          <p:nvPr/>
        </p:nvPicPr>
        <p:blipFill>
          <a:blip r:embed="rId8"/>
          <a:stretch>
            <a:fillRect/>
          </a:stretch>
        </p:blipFill>
        <p:spPr>
          <a:xfrm>
            <a:off x="5022616" y="3449574"/>
            <a:ext cx="3405188" cy="582152"/>
          </a:xfrm>
          <a:prstGeom prst="rect">
            <a:avLst/>
          </a:prstGeom>
        </p:spPr>
      </p:pic>
      <p:pic>
        <p:nvPicPr>
          <p:cNvPr id="18" name="Picture 17" descr="A picture containing line, diagram, triangle&#10;&#10;Description automatically generated">
            <a:extLst>
              <a:ext uri="{FF2B5EF4-FFF2-40B4-BE49-F238E27FC236}">
                <a16:creationId xmlns:a16="http://schemas.microsoft.com/office/drawing/2014/main" id="{D073C36A-BE39-35DD-0D2D-BF07D177115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8421625" y="4961001"/>
            <a:ext cx="1898807" cy="1638126"/>
          </a:xfrm>
          <a:prstGeom prst="rect">
            <a:avLst/>
          </a:prstGeom>
          <a:noFill/>
          <a:ln>
            <a:noFill/>
          </a:ln>
        </p:spPr>
      </p:pic>
      <p:pic>
        <p:nvPicPr>
          <p:cNvPr id="20" name="Picture 19">
            <a:extLst>
              <a:ext uri="{FF2B5EF4-FFF2-40B4-BE49-F238E27FC236}">
                <a16:creationId xmlns:a16="http://schemas.microsoft.com/office/drawing/2014/main" id="{8787FA2A-1934-A8BA-8134-A9EC7E0A1919}"/>
              </a:ext>
            </a:extLst>
          </p:cNvPr>
          <p:cNvPicPr>
            <a:picLocks noChangeAspect="1"/>
          </p:cNvPicPr>
          <p:nvPr/>
        </p:nvPicPr>
        <p:blipFill>
          <a:blip r:embed="rId10"/>
          <a:stretch>
            <a:fillRect/>
          </a:stretch>
        </p:blipFill>
        <p:spPr>
          <a:xfrm>
            <a:off x="2375195" y="6187616"/>
            <a:ext cx="5637468" cy="429593"/>
          </a:xfrm>
          <a:prstGeom prst="rect">
            <a:avLst/>
          </a:prstGeom>
        </p:spPr>
      </p:pic>
      <p:pic>
        <p:nvPicPr>
          <p:cNvPr id="3" name="Picture 2">
            <a:extLst>
              <a:ext uri="{FF2B5EF4-FFF2-40B4-BE49-F238E27FC236}">
                <a16:creationId xmlns:a16="http://schemas.microsoft.com/office/drawing/2014/main" id="{BD92CC09-2B63-082A-4B9C-D752AF6BEE1C}"/>
              </a:ext>
            </a:extLst>
          </p:cNvPr>
          <p:cNvPicPr>
            <a:picLocks noChangeAspect="1"/>
          </p:cNvPicPr>
          <p:nvPr/>
        </p:nvPicPr>
        <p:blipFill>
          <a:blip r:embed="rId11"/>
          <a:stretch>
            <a:fillRect/>
          </a:stretch>
        </p:blipFill>
        <p:spPr>
          <a:xfrm>
            <a:off x="1676401" y="152401"/>
            <a:ext cx="7172325" cy="733425"/>
          </a:xfrm>
          <a:prstGeom prst="rect">
            <a:avLst/>
          </a:prstGeom>
        </p:spPr>
      </p:pic>
      <p:sp>
        <p:nvSpPr>
          <p:cNvPr id="4" name="Date Placeholder 3">
            <a:extLst>
              <a:ext uri="{FF2B5EF4-FFF2-40B4-BE49-F238E27FC236}">
                <a16:creationId xmlns:a16="http://schemas.microsoft.com/office/drawing/2014/main" id="{ADDE4A7F-B59A-A843-2CEE-AE98B8CF54C9}"/>
              </a:ext>
            </a:extLst>
          </p:cNvPr>
          <p:cNvSpPr>
            <a:spLocks noGrp="1"/>
          </p:cNvSpPr>
          <p:nvPr>
            <p:ph type="dt" sz="half" idx="10"/>
          </p:nvPr>
        </p:nvSpPr>
        <p:spPr/>
        <p:txBody>
          <a:bodyPr/>
          <a:lstStyle/>
          <a:p>
            <a:fld id="{75CF4753-5F37-4CDB-9EEF-6B6006BD55D4}" type="datetime1">
              <a:rPr lang="en-US" smtClean="0"/>
              <a:t>7/12/2025</a:t>
            </a:fld>
            <a:endParaRPr lang="en-US"/>
          </a:p>
        </p:txBody>
      </p:sp>
      <p:sp>
        <p:nvSpPr>
          <p:cNvPr id="8" name="Slide Number Placeholder 7">
            <a:extLst>
              <a:ext uri="{FF2B5EF4-FFF2-40B4-BE49-F238E27FC236}">
                <a16:creationId xmlns:a16="http://schemas.microsoft.com/office/drawing/2014/main" id="{BCE70BE4-1364-7FBA-DB84-FF5943AA2229}"/>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132348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arn(inVertical)">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inVertical)">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5A8B5A-8549-A163-2982-EFDB13FDAC2F}"/>
              </a:ext>
            </a:extLst>
          </p:cNvPr>
          <p:cNvPicPr>
            <a:picLocks noChangeAspect="1"/>
          </p:cNvPicPr>
          <p:nvPr/>
        </p:nvPicPr>
        <p:blipFill>
          <a:blip r:embed="rId2"/>
          <a:stretch>
            <a:fillRect/>
          </a:stretch>
        </p:blipFill>
        <p:spPr>
          <a:xfrm>
            <a:off x="1905000" y="1828801"/>
            <a:ext cx="7715250" cy="4810125"/>
          </a:xfrm>
          <a:prstGeom prst="rect">
            <a:avLst/>
          </a:prstGeom>
        </p:spPr>
      </p:pic>
      <p:pic>
        <p:nvPicPr>
          <p:cNvPr id="3" name="Picture 2">
            <a:extLst>
              <a:ext uri="{FF2B5EF4-FFF2-40B4-BE49-F238E27FC236}">
                <a16:creationId xmlns:a16="http://schemas.microsoft.com/office/drawing/2014/main" id="{5D096B02-57FE-0B38-1CCB-CFBCCE20F1BC}"/>
              </a:ext>
            </a:extLst>
          </p:cNvPr>
          <p:cNvPicPr>
            <a:picLocks noChangeAspect="1"/>
          </p:cNvPicPr>
          <p:nvPr/>
        </p:nvPicPr>
        <p:blipFill>
          <a:blip r:embed="rId3"/>
          <a:stretch>
            <a:fillRect/>
          </a:stretch>
        </p:blipFill>
        <p:spPr>
          <a:xfrm>
            <a:off x="1981201" y="76201"/>
            <a:ext cx="6677025" cy="1571625"/>
          </a:xfrm>
          <a:prstGeom prst="rect">
            <a:avLst/>
          </a:prstGeom>
        </p:spPr>
      </p:pic>
      <p:sp>
        <p:nvSpPr>
          <p:cNvPr id="4" name="Date Placeholder 3">
            <a:extLst>
              <a:ext uri="{FF2B5EF4-FFF2-40B4-BE49-F238E27FC236}">
                <a16:creationId xmlns:a16="http://schemas.microsoft.com/office/drawing/2014/main" id="{24FE7A15-702D-B89E-5BCA-5C4ADD97A24F}"/>
              </a:ext>
            </a:extLst>
          </p:cNvPr>
          <p:cNvSpPr>
            <a:spLocks noGrp="1"/>
          </p:cNvSpPr>
          <p:nvPr>
            <p:ph type="dt" sz="half" idx="10"/>
          </p:nvPr>
        </p:nvSpPr>
        <p:spPr/>
        <p:txBody>
          <a:bodyPr/>
          <a:lstStyle/>
          <a:p>
            <a:fld id="{C522257A-E9C4-4F6F-99E8-DA41CE990B7B}" type="datetime1">
              <a:rPr lang="en-US" smtClean="0"/>
              <a:t>7/12/2025</a:t>
            </a:fld>
            <a:endParaRPr lang="en-US"/>
          </a:p>
        </p:txBody>
      </p:sp>
      <p:sp>
        <p:nvSpPr>
          <p:cNvPr id="8" name="Slide Number Placeholder 7">
            <a:extLst>
              <a:ext uri="{FF2B5EF4-FFF2-40B4-BE49-F238E27FC236}">
                <a16:creationId xmlns:a16="http://schemas.microsoft.com/office/drawing/2014/main" id="{82FC6723-4441-A02C-A0F1-AA2565D65E53}"/>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378381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0917E5-CE31-2677-E0C2-CB90F6978D86}"/>
              </a:ext>
            </a:extLst>
          </p:cNvPr>
          <p:cNvPicPr>
            <a:picLocks noChangeAspect="1"/>
          </p:cNvPicPr>
          <p:nvPr/>
        </p:nvPicPr>
        <p:blipFill>
          <a:blip r:embed="rId2"/>
          <a:stretch>
            <a:fillRect/>
          </a:stretch>
        </p:blipFill>
        <p:spPr>
          <a:xfrm>
            <a:off x="1752600" y="3492961"/>
            <a:ext cx="5314950" cy="2571750"/>
          </a:xfrm>
          <a:prstGeom prst="rect">
            <a:avLst/>
          </a:prstGeom>
        </p:spPr>
      </p:pic>
      <p:pic>
        <p:nvPicPr>
          <p:cNvPr id="9" name="Picture 8">
            <a:extLst>
              <a:ext uri="{FF2B5EF4-FFF2-40B4-BE49-F238E27FC236}">
                <a16:creationId xmlns:a16="http://schemas.microsoft.com/office/drawing/2014/main" id="{D3D0C22D-E622-2433-2EA5-175562F124D0}"/>
              </a:ext>
            </a:extLst>
          </p:cNvPr>
          <p:cNvPicPr>
            <a:picLocks noChangeAspect="1"/>
          </p:cNvPicPr>
          <p:nvPr/>
        </p:nvPicPr>
        <p:blipFill>
          <a:blip r:embed="rId3"/>
          <a:stretch>
            <a:fillRect/>
          </a:stretch>
        </p:blipFill>
        <p:spPr>
          <a:xfrm>
            <a:off x="8153400" y="3429000"/>
            <a:ext cx="1866900" cy="3257550"/>
          </a:xfrm>
          <a:prstGeom prst="rect">
            <a:avLst/>
          </a:prstGeom>
        </p:spPr>
      </p:pic>
      <p:pic>
        <p:nvPicPr>
          <p:cNvPr id="3" name="Picture 2">
            <a:extLst>
              <a:ext uri="{FF2B5EF4-FFF2-40B4-BE49-F238E27FC236}">
                <a16:creationId xmlns:a16="http://schemas.microsoft.com/office/drawing/2014/main" id="{4646FBB6-24CC-C82F-E4AC-D6CD42529E38}"/>
              </a:ext>
            </a:extLst>
          </p:cNvPr>
          <p:cNvPicPr>
            <a:picLocks noChangeAspect="1"/>
          </p:cNvPicPr>
          <p:nvPr/>
        </p:nvPicPr>
        <p:blipFill>
          <a:blip r:embed="rId4"/>
          <a:stretch>
            <a:fillRect/>
          </a:stretch>
        </p:blipFill>
        <p:spPr>
          <a:xfrm>
            <a:off x="1600200" y="87816"/>
            <a:ext cx="8915400" cy="3112585"/>
          </a:xfrm>
          <a:prstGeom prst="rect">
            <a:avLst/>
          </a:prstGeom>
        </p:spPr>
      </p:pic>
      <p:sp>
        <p:nvSpPr>
          <p:cNvPr id="4" name="Date Placeholder 3">
            <a:extLst>
              <a:ext uri="{FF2B5EF4-FFF2-40B4-BE49-F238E27FC236}">
                <a16:creationId xmlns:a16="http://schemas.microsoft.com/office/drawing/2014/main" id="{DCB4130C-1225-D185-BD12-F5B0FFCF31F3}"/>
              </a:ext>
            </a:extLst>
          </p:cNvPr>
          <p:cNvSpPr>
            <a:spLocks noGrp="1"/>
          </p:cNvSpPr>
          <p:nvPr>
            <p:ph type="dt" sz="half" idx="10"/>
          </p:nvPr>
        </p:nvSpPr>
        <p:spPr/>
        <p:txBody>
          <a:bodyPr/>
          <a:lstStyle/>
          <a:p>
            <a:fld id="{00EC04A3-E315-4E44-97AA-9039198C2B95}" type="datetime1">
              <a:rPr lang="en-US" smtClean="0"/>
              <a:t>7/12/2025</a:t>
            </a:fld>
            <a:endParaRPr lang="en-US"/>
          </a:p>
        </p:txBody>
      </p:sp>
      <p:sp>
        <p:nvSpPr>
          <p:cNvPr id="8" name="Slide Number Placeholder 7">
            <a:extLst>
              <a:ext uri="{FF2B5EF4-FFF2-40B4-BE49-F238E27FC236}">
                <a16:creationId xmlns:a16="http://schemas.microsoft.com/office/drawing/2014/main" id="{31FA0E9C-2152-CF4A-FBD7-8E5086D187B5}"/>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84540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8E62-B014-6D32-3EDA-14288AFA08BC}"/>
              </a:ext>
            </a:extLst>
          </p:cNvPr>
          <p:cNvSpPr>
            <a:spLocks noGrp="1"/>
          </p:cNvSpPr>
          <p:nvPr>
            <p:ph type="title"/>
          </p:nvPr>
        </p:nvSpPr>
        <p:spPr>
          <a:xfrm>
            <a:off x="1676400" y="122238"/>
            <a:ext cx="8229600" cy="411162"/>
          </a:xfrm>
        </p:spPr>
        <p:txBody>
          <a:bodyPr>
            <a:noAutofit/>
          </a:bodyPr>
          <a:lstStyle/>
          <a:p>
            <a:pPr algn="l"/>
            <a:r>
              <a:rPr lang="en-US" sz="2400" dirty="0">
                <a:solidFill>
                  <a:srgbClr val="FF0000"/>
                </a:solidFill>
                <a:latin typeface="Arial" panose="020B0604020202020204" pitchFamily="34" charset="0"/>
                <a:cs typeface="Arial" panose="020B0604020202020204" pitchFamily="34" charset="0"/>
              </a:rPr>
              <a:t>Even and odd components</a:t>
            </a:r>
          </a:p>
        </p:txBody>
      </p:sp>
      <p:pic>
        <p:nvPicPr>
          <p:cNvPr id="4" name="Picture 3" descr="A picture containing diagram, text, line, font&#10;&#10;Description automatically generated">
            <a:extLst>
              <a:ext uri="{FF2B5EF4-FFF2-40B4-BE49-F238E27FC236}">
                <a16:creationId xmlns:a16="http://schemas.microsoft.com/office/drawing/2014/main" id="{28EAB88C-0F0D-B0BA-F239-344073CD4AF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8124" y="1671898"/>
            <a:ext cx="8177105" cy="5176958"/>
          </a:xfrm>
          <a:prstGeom prst="rect">
            <a:avLst/>
          </a:prstGeom>
          <a:noFill/>
          <a:ln>
            <a:noFill/>
          </a:ln>
        </p:spPr>
      </p:pic>
      <p:pic>
        <p:nvPicPr>
          <p:cNvPr id="6" name="Picture 5">
            <a:extLst>
              <a:ext uri="{FF2B5EF4-FFF2-40B4-BE49-F238E27FC236}">
                <a16:creationId xmlns:a16="http://schemas.microsoft.com/office/drawing/2014/main" id="{52EE57AB-C049-20EE-D067-D806D55CA6FE}"/>
              </a:ext>
            </a:extLst>
          </p:cNvPr>
          <p:cNvPicPr>
            <a:picLocks noChangeAspect="1"/>
          </p:cNvPicPr>
          <p:nvPr/>
        </p:nvPicPr>
        <p:blipFill>
          <a:blip r:embed="rId3"/>
          <a:stretch>
            <a:fillRect/>
          </a:stretch>
        </p:blipFill>
        <p:spPr>
          <a:xfrm>
            <a:off x="2667000" y="533400"/>
            <a:ext cx="7136892" cy="1159334"/>
          </a:xfrm>
          <a:prstGeom prst="rect">
            <a:avLst/>
          </a:prstGeom>
        </p:spPr>
      </p:pic>
      <p:sp>
        <p:nvSpPr>
          <p:cNvPr id="3" name="Date Placeholder 2">
            <a:extLst>
              <a:ext uri="{FF2B5EF4-FFF2-40B4-BE49-F238E27FC236}">
                <a16:creationId xmlns:a16="http://schemas.microsoft.com/office/drawing/2014/main" id="{456EB613-49FF-F7F5-7424-129D94019931}"/>
              </a:ext>
            </a:extLst>
          </p:cNvPr>
          <p:cNvSpPr>
            <a:spLocks noGrp="1"/>
          </p:cNvSpPr>
          <p:nvPr>
            <p:ph type="dt" sz="half" idx="10"/>
          </p:nvPr>
        </p:nvSpPr>
        <p:spPr/>
        <p:txBody>
          <a:bodyPr/>
          <a:lstStyle/>
          <a:p>
            <a:fld id="{A984B2E5-4265-4D98-9047-7DB9E261F861}" type="datetime1">
              <a:rPr lang="en-US" smtClean="0"/>
              <a:t>7/12/2025</a:t>
            </a:fld>
            <a:endParaRPr lang="en-US"/>
          </a:p>
        </p:txBody>
      </p:sp>
      <p:sp>
        <p:nvSpPr>
          <p:cNvPr id="7" name="Slide Number Placeholder 6">
            <a:extLst>
              <a:ext uri="{FF2B5EF4-FFF2-40B4-BE49-F238E27FC236}">
                <a16:creationId xmlns:a16="http://schemas.microsoft.com/office/drawing/2014/main" id="{62EE9049-7510-0FC3-2B9C-8C24B8F3FB79}"/>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45876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D7DE7-0B10-5CEF-60DC-CE97F6B5EBA6}"/>
              </a:ext>
            </a:extLst>
          </p:cNvPr>
          <p:cNvSpPr>
            <a:spLocks noGrp="1"/>
          </p:cNvSpPr>
          <p:nvPr>
            <p:ph type="title"/>
          </p:nvPr>
        </p:nvSpPr>
        <p:spPr>
          <a:xfrm>
            <a:off x="1676400" y="198438"/>
            <a:ext cx="9144000" cy="563562"/>
          </a:xfrm>
        </p:spPr>
        <p:txBody>
          <a:bodyPr>
            <a:normAutofit/>
          </a:bodyPr>
          <a:lstStyle/>
          <a:p>
            <a:pPr algn="l"/>
            <a:r>
              <a:rPr lang="en-US" sz="2800" dirty="0">
                <a:solidFill>
                  <a:srgbClr val="FF0000"/>
                </a:solidFill>
                <a:latin typeface="Arial" panose="020B0604020202020204" pitchFamily="34" charset="0"/>
                <a:cs typeface="Arial" panose="020B0604020202020204" pitchFamily="34" charset="0"/>
              </a:rPr>
              <a:t>Energy: </a:t>
            </a:r>
            <a:r>
              <a:rPr lang="en-US" sz="2800" dirty="0">
                <a:latin typeface="Arial" panose="020B0604020202020204" pitchFamily="34" charset="0"/>
                <a:cs typeface="Arial" panose="020B0604020202020204" pitchFamily="34" charset="0"/>
              </a:rPr>
              <a:t>Energy does not change with time shifting</a:t>
            </a:r>
          </a:p>
        </p:txBody>
      </p:sp>
      <p:pic>
        <p:nvPicPr>
          <p:cNvPr id="7" name="Picture 6">
            <a:extLst>
              <a:ext uri="{FF2B5EF4-FFF2-40B4-BE49-F238E27FC236}">
                <a16:creationId xmlns:a16="http://schemas.microsoft.com/office/drawing/2014/main" id="{565CCC34-2C2F-A1DE-43A4-1A8C8709A5DB}"/>
              </a:ext>
            </a:extLst>
          </p:cNvPr>
          <p:cNvPicPr>
            <a:picLocks noChangeAspect="1"/>
          </p:cNvPicPr>
          <p:nvPr/>
        </p:nvPicPr>
        <p:blipFill>
          <a:blip r:embed="rId2"/>
          <a:stretch>
            <a:fillRect/>
          </a:stretch>
        </p:blipFill>
        <p:spPr>
          <a:xfrm>
            <a:off x="1524000" y="838201"/>
            <a:ext cx="9144000" cy="2850981"/>
          </a:xfrm>
          <a:prstGeom prst="rect">
            <a:avLst/>
          </a:prstGeom>
        </p:spPr>
      </p:pic>
      <p:pic>
        <p:nvPicPr>
          <p:cNvPr id="8" name="Picture 7">
            <a:extLst>
              <a:ext uri="{FF2B5EF4-FFF2-40B4-BE49-F238E27FC236}">
                <a16:creationId xmlns:a16="http://schemas.microsoft.com/office/drawing/2014/main" id="{F30E8143-1700-F7F6-B8B3-6A946351F4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804164" y="3810000"/>
            <a:ext cx="1848597" cy="1752600"/>
          </a:xfrm>
          <a:prstGeom prst="rect">
            <a:avLst/>
          </a:prstGeom>
          <a:noFill/>
          <a:ln>
            <a:noFill/>
          </a:ln>
        </p:spPr>
      </p:pic>
      <p:pic>
        <p:nvPicPr>
          <p:cNvPr id="10" name="Picture 9">
            <a:extLst>
              <a:ext uri="{FF2B5EF4-FFF2-40B4-BE49-F238E27FC236}">
                <a16:creationId xmlns:a16="http://schemas.microsoft.com/office/drawing/2014/main" id="{9E80167D-9140-C59B-45FB-9DF4F742D461}"/>
              </a:ext>
            </a:extLst>
          </p:cNvPr>
          <p:cNvPicPr>
            <a:picLocks noChangeAspect="1"/>
          </p:cNvPicPr>
          <p:nvPr/>
        </p:nvPicPr>
        <p:blipFill>
          <a:blip r:embed="rId4"/>
          <a:stretch>
            <a:fillRect/>
          </a:stretch>
        </p:blipFill>
        <p:spPr>
          <a:xfrm>
            <a:off x="1676400" y="3810001"/>
            <a:ext cx="6286500" cy="2828925"/>
          </a:xfrm>
          <a:prstGeom prst="rect">
            <a:avLst/>
          </a:prstGeom>
        </p:spPr>
      </p:pic>
      <p:sp>
        <p:nvSpPr>
          <p:cNvPr id="3" name="Date Placeholder 2">
            <a:extLst>
              <a:ext uri="{FF2B5EF4-FFF2-40B4-BE49-F238E27FC236}">
                <a16:creationId xmlns:a16="http://schemas.microsoft.com/office/drawing/2014/main" id="{FA1F8B23-D3B2-E73F-C6DA-0C0B091511F8}"/>
              </a:ext>
            </a:extLst>
          </p:cNvPr>
          <p:cNvSpPr>
            <a:spLocks noGrp="1"/>
          </p:cNvSpPr>
          <p:nvPr>
            <p:ph type="dt" sz="half" idx="10"/>
          </p:nvPr>
        </p:nvSpPr>
        <p:spPr/>
        <p:txBody>
          <a:bodyPr/>
          <a:lstStyle/>
          <a:p>
            <a:fld id="{6FE04515-8E3E-43CE-A386-421534E97E75}" type="datetime1">
              <a:rPr lang="en-US" smtClean="0"/>
              <a:t>7/12/2025</a:t>
            </a:fld>
            <a:endParaRPr lang="en-US"/>
          </a:p>
        </p:txBody>
      </p:sp>
      <p:sp>
        <p:nvSpPr>
          <p:cNvPr id="5" name="Slide Number Placeholder 4">
            <a:extLst>
              <a:ext uri="{FF2B5EF4-FFF2-40B4-BE49-F238E27FC236}">
                <a16:creationId xmlns:a16="http://schemas.microsoft.com/office/drawing/2014/main" id="{5F8F3CF7-CB95-4853-47E8-4016F721DFFF}"/>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103414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11AB4C-0BD0-4354-2471-E327BB983ECE}"/>
              </a:ext>
            </a:extLst>
          </p:cNvPr>
          <p:cNvPicPr>
            <a:picLocks noChangeAspect="1"/>
          </p:cNvPicPr>
          <p:nvPr/>
        </p:nvPicPr>
        <p:blipFill>
          <a:blip r:embed="rId2"/>
          <a:stretch>
            <a:fillRect/>
          </a:stretch>
        </p:blipFill>
        <p:spPr>
          <a:xfrm>
            <a:off x="1551432" y="152400"/>
            <a:ext cx="9129359" cy="2895600"/>
          </a:xfrm>
          <a:prstGeom prst="rect">
            <a:avLst/>
          </a:prstGeom>
        </p:spPr>
      </p:pic>
      <p:pic>
        <p:nvPicPr>
          <p:cNvPr id="7" name="Picture 6">
            <a:extLst>
              <a:ext uri="{FF2B5EF4-FFF2-40B4-BE49-F238E27FC236}">
                <a16:creationId xmlns:a16="http://schemas.microsoft.com/office/drawing/2014/main" id="{C298E9F8-4929-16E3-4AE4-A2513860F4EC}"/>
              </a:ext>
            </a:extLst>
          </p:cNvPr>
          <p:cNvPicPr>
            <a:picLocks noChangeAspect="1"/>
          </p:cNvPicPr>
          <p:nvPr/>
        </p:nvPicPr>
        <p:blipFill>
          <a:blip r:embed="rId3"/>
          <a:stretch>
            <a:fillRect/>
          </a:stretch>
        </p:blipFill>
        <p:spPr>
          <a:xfrm>
            <a:off x="1691640" y="3581400"/>
            <a:ext cx="8808720" cy="2895600"/>
          </a:xfrm>
          <a:prstGeom prst="rect">
            <a:avLst/>
          </a:prstGeom>
        </p:spPr>
      </p:pic>
      <p:sp>
        <p:nvSpPr>
          <p:cNvPr id="2" name="Date Placeholder 1">
            <a:extLst>
              <a:ext uri="{FF2B5EF4-FFF2-40B4-BE49-F238E27FC236}">
                <a16:creationId xmlns:a16="http://schemas.microsoft.com/office/drawing/2014/main" id="{015D7B77-16EC-A48C-CCF1-25C17DA5DDDA}"/>
              </a:ext>
            </a:extLst>
          </p:cNvPr>
          <p:cNvSpPr>
            <a:spLocks noGrp="1"/>
          </p:cNvSpPr>
          <p:nvPr>
            <p:ph type="dt" sz="half" idx="10"/>
          </p:nvPr>
        </p:nvSpPr>
        <p:spPr/>
        <p:txBody>
          <a:bodyPr/>
          <a:lstStyle/>
          <a:p>
            <a:fld id="{3ADFA571-FB28-4A6C-919A-09E9F70439D1}" type="datetime1">
              <a:rPr lang="en-US" smtClean="0"/>
              <a:t>7/12/2025</a:t>
            </a:fld>
            <a:endParaRPr lang="en-US"/>
          </a:p>
        </p:txBody>
      </p:sp>
      <p:sp>
        <p:nvSpPr>
          <p:cNvPr id="4" name="Slide Number Placeholder 3">
            <a:extLst>
              <a:ext uri="{FF2B5EF4-FFF2-40B4-BE49-F238E27FC236}">
                <a16:creationId xmlns:a16="http://schemas.microsoft.com/office/drawing/2014/main" id="{BADD204F-CC46-FBAF-A88D-CF949F0F39BD}"/>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91204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diagram, line, design&#10;&#10;Description automatically generated">
            <a:extLst>
              <a:ext uri="{FF2B5EF4-FFF2-40B4-BE49-F238E27FC236}">
                <a16:creationId xmlns:a16="http://schemas.microsoft.com/office/drawing/2014/main" id="{4481A58D-3E9E-CDEB-1691-59D64C01468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292377"/>
            <a:ext cx="3276600" cy="6273246"/>
          </a:xfrm>
          <a:prstGeom prst="rect">
            <a:avLst/>
          </a:prstGeom>
          <a:noFill/>
          <a:ln>
            <a:noFill/>
          </a:ln>
        </p:spPr>
      </p:pic>
      <p:pic>
        <p:nvPicPr>
          <p:cNvPr id="8" name="Picture 7">
            <a:extLst>
              <a:ext uri="{FF2B5EF4-FFF2-40B4-BE49-F238E27FC236}">
                <a16:creationId xmlns:a16="http://schemas.microsoft.com/office/drawing/2014/main" id="{B8ECF5CB-9A47-22B1-774E-DAD9A21FC791}"/>
              </a:ext>
            </a:extLst>
          </p:cNvPr>
          <p:cNvPicPr>
            <a:picLocks noChangeAspect="1"/>
          </p:cNvPicPr>
          <p:nvPr/>
        </p:nvPicPr>
        <p:blipFill>
          <a:blip r:embed="rId3"/>
          <a:stretch>
            <a:fillRect/>
          </a:stretch>
        </p:blipFill>
        <p:spPr>
          <a:xfrm>
            <a:off x="1828800" y="381000"/>
            <a:ext cx="5237098" cy="2209800"/>
          </a:xfrm>
          <a:prstGeom prst="rect">
            <a:avLst/>
          </a:prstGeom>
        </p:spPr>
      </p:pic>
      <p:pic>
        <p:nvPicPr>
          <p:cNvPr id="10" name="Picture 9">
            <a:extLst>
              <a:ext uri="{FF2B5EF4-FFF2-40B4-BE49-F238E27FC236}">
                <a16:creationId xmlns:a16="http://schemas.microsoft.com/office/drawing/2014/main" id="{ABD5E5A5-9283-9819-0EE3-8C46E4D8D445}"/>
              </a:ext>
            </a:extLst>
          </p:cNvPr>
          <p:cNvPicPr>
            <a:picLocks noChangeAspect="1"/>
          </p:cNvPicPr>
          <p:nvPr/>
        </p:nvPicPr>
        <p:blipFill>
          <a:blip r:embed="rId4"/>
          <a:stretch>
            <a:fillRect/>
          </a:stretch>
        </p:blipFill>
        <p:spPr>
          <a:xfrm>
            <a:off x="1828800" y="2743200"/>
            <a:ext cx="5543950" cy="1647824"/>
          </a:xfrm>
          <a:prstGeom prst="rect">
            <a:avLst/>
          </a:prstGeom>
        </p:spPr>
      </p:pic>
      <p:pic>
        <p:nvPicPr>
          <p:cNvPr id="12" name="Picture 11">
            <a:extLst>
              <a:ext uri="{FF2B5EF4-FFF2-40B4-BE49-F238E27FC236}">
                <a16:creationId xmlns:a16="http://schemas.microsoft.com/office/drawing/2014/main" id="{3D2A66A2-4210-1A6A-FBF4-BC1C756AF6B8}"/>
              </a:ext>
            </a:extLst>
          </p:cNvPr>
          <p:cNvPicPr>
            <a:picLocks noChangeAspect="1"/>
          </p:cNvPicPr>
          <p:nvPr/>
        </p:nvPicPr>
        <p:blipFill>
          <a:blip r:embed="rId5"/>
          <a:stretch>
            <a:fillRect/>
          </a:stretch>
        </p:blipFill>
        <p:spPr>
          <a:xfrm>
            <a:off x="1816608" y="4553960"/>
            <a:ext cx="4800600" cy="1848726"/>
          </a:xfrm>
          <a:prstGeom prst="rect">
            <a:avLst/>
          </a:prstGeom>
        </p:spPr>
      </p:pic>
      <p:sp>
        <p:nvSpPr>
          <p:cNvPr id="2" name="Date Placeholder 1">
            <a:extLst>
              <a:ext uri="{FF2B5EF4-FFF2-40B4-BE49-F238E27FC236}">
                <a16:creationId xmlns:a16="http://schemas.microsoft.com/office/drawing/2014/main" id="{5928A8D7-AC63-C4CE-B4DF-F1FBC1257B8D}"/>
              </a:ext>
            </a:extLst>
          </p:cNvPr>
          <p:cNvSpPr>
            <a:spLocks noGrp="1"/>
          </p:cNvSpPr>
          <p:nvPr>
            <p:ph type="dt" sz="half" idx="10"/>
          </p:nvPr>
        </p:nvSpPr>
        <p:spPr/>
        <p:txBody>
          <a:bodyPr/>
          <a:lstStyle/>
          <a:p>
            <a:fld id="{666D7082-A28E-4695-9274-307B16D7822A}" type="datetime1">
              <a:rPr lang="en-US" smtClean="0"/>
              <a:t>7/12/2025</a:t>
            </a:fld>
            <a:endParaRPr lang="en-US"/>
          </a:p>
        </p:txBody>
      </p:sp>
      <p:sp>
        <p:nvSpPr>
          <p:cNvPr id="5" name="Slide Number Placeholder 4">
            <a:extLst>
              <a:ext uri="{FF2B5EF4-FFF2-40B4-BE49-F238E27FC236}">
                <a16:creationId xmlns:a16="http://schemas.microsoft.com/office/drawing/2014/main" id="{84F33C05-9566-976E-38B2-E88D4270E468}"/>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62454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FA77DC-870D-4019-20D5-7F0AEB647B8C}"/>
              </a:ext>
            </a:extLst>
          </p:cNvPr>
          <p:cNvSpPr>
            <a:spLocks noGrp="1"/>
          </p:cNvSpPr>
          <p:nvPr>
            <p:ph idx="1"/>
          </p:nvPr>
        </p:nvSpPr>
        <p:spPr>
          <a:xfrm>
            <a:off x="1524000" y="381001"/>
            <a:ext cx="8763000" cy="5745163"/>
          </a:xfrm>
        </p:spPr>
        <p:txBody>
          <a:bodyPr/>
          <a:lstStyle/>
          <a:p>
            <a:pPr marL="0" indent="0">
              <a:buNone/>
            </a:pPr>
            <a:r>
              <a:rPr lang="en-US" sz="1800" kern="0" dirty="0">
                <a:solidFill>
                  <a:srgbClr val="2908F2"/>
                </a:solidFill>
                <a:latin typeface="Arial" panose="020B0604020202020204" pitchFamily="34" charset="0"/>
                <a:ea typeface="Times New Roman" panose="02020603050405020304" pitchFamily="18" charset="0"/>
              </a:rPr>
              <a:t> </a:t>
            </a:r>
            <a:r>
              <a:rPr lang="en-US" kern="0" dirty="0">
                <a:solidFill>
                  <a:srgbClr val="FF0000"/>
                </a:solidFill>
                <a:effectLst/>
                <a:latin typeface="Arial" panose="020B0604020202020204" pitchFamily="34" charset="0"/>
                <a:ea typeface="Times New Roman" panose="02020603050405020304" pitchFamily="18" charset="0"/>
              </a:rPr>
              <a:t>Comments on the energy calculations</a:t>
            </a:r>
          </a:p>
          <a:p>
            <a:pPr marL="0" indent="0">
              <a:buNone/>
            </a:pPr>
            <a:endParaRPr lang="en-US" sz="1800" kern="0" dirty="0">
              <a:solidFill>
                <a:srgbClr val="2908F2"/>
              </a:solidFill>
              <a:latin typeface="Arial" panose="020B0604020202020204" pitchFamily="34" charset="0"/>
              <a:ea typeface="Times New Roman" panose="02020603050405020304" pitchFamily="18" charset="0"/>
            </a:endParaRPr>
          </a:p>
        </p:txBody>
      </p:sp>
      <p:pic>
        <p:nvPicPr>
          <p:cNvPr id="5" name="Picture 4">
            <a:extLst>
              <a:ext uri="{FF2B5EF4-FFF2-40B4-BE49-F238E27FC236}">
                <a16:creationId xmlns:a16="http://schemas.microsoft.com/office/drawing/2014/main" id="{CC5DAF14-7BBC-1671-6487-26AB400C7645}"/>
              </a:ext>
            </a:extLst>
          </p:cNvPr>
          <p:cNvPicPr>
            <a:picLocks noChangeAspect="1"/>
          </p:cNvPicPr>
          <p:nvPr/>
        </p:nvPicPr>
        <p:blipFill>
          <a:blip r:embed="rId2"/>
          <a:stretch>
            <a:fillRect/>
          </a:stretch>
        </p:blipFill>
        <p:spPr>
          <a:xfrm>
            <a:off x="1538288" y="1714500"/>
            <a:ext cx="8609013" cy="3238500"/>
          </a:xfrm>
          <a:prstGeom prst="rect">
            <a:avLst/>
          </a:prstGeom>
        </p:spPr>
      </p:pic>
      <p:sp>
        <p:nvSpPr>
          <p:cNvPr id="2" name="Date Placeholder 1">
            <a:extLst>
              <a:ext uri="{FF2B5EF4-FFF2-40B4-BE49-F238E27FC236}">
                <a16:creationId xmlns:a16="http://schemas.microsoft.com/office/drawing/2014/main" id="{02C91B17-B13E-6423-067C-4243B7390F4B}"/>
              </a:ext>
            </a:extLst>
          </p:cNvPr>
          <p:cNvSpPr>
            <a:spLocks noGrp="1"/>
          </p:cNvSpPr>
          <p:nvPr>
            <p:ph type="dt" sz="half" idx="10"/>
          </p:nvPr>
        </p:nvSpPr>
        <p:spPr/>
        <p:txBody>
          <a:bodyPr/>
          <a:lstStyle/>
          <a:p>
            <a:fld id="{1C1CDF8E-7CD5-4F8C-B01C-4F37C83D4B7E}" type="datetime1">
              <a:rPr lang="en-US" smtClean="0"/>
              <a:t>7/12/2025</a:t>
            </a:fld>
            <a:endParaRPr lang="en-US"/>
          </a:p>
        </p:txBody>
      </p:sp>
      <p:sp>
        <p:nvSpPr>
          <p:cNvPr id="6" name="Slide Number Placeholder 5">
            <a:extLst>
              <a:ext uri="{FF2B5EF4-FFF2-40B4-BE49-F238E27FC236}">
                <a16:creationId xmlns:a16="http://schemas.microsoft.com/office/drawing/2014/main" id="{D789A56A-2102-E6C4-6465-082BD67738C8}"/>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4106132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9934" y="3112851"/>
            <a:ext cx="1412132" cy="1143000"/>
          </a:xfrm>
        </p:spPr>
        <p:txBody>
          <a:bodyPr>
            <a:normAutofit/>
          </a:bodyPr>
          <a:lstStyle/>
          <a:p>
            <a:r>
              <a:rPr lang="en-US" sz="4000" dirty="0">
                <a:solidFill>
                  <a:srgbClr val="2603BD"/>
                </a:solidFill>
                <a:latin typeface="Arial" pitchFamily="34" charset="0"/>
                <a:cs typeface="Arial" pitchFamily="34" charset="0"/>
              </a:rPr>
              <a:t>End</a:t>
            </a:r>
          </a:p>
        </p:txBody>
      </p:sp>
      <p:sp>
        <p:nvSpPr>
          <p:cNvPr id="3" name="Date Placeholder 2">
            <a:extLst>
              <a:ext uri="{FF2B5EF4-FFF2-40B4-BE49-F238E27FC236}">
                <a16:creationId xmlns:a16="http://schemas.microsoft.com/office/drawing/2014/main" id="{046AB49C-B7CE-5040-E5D4-7ECE0E0F8265}"/>
              </a:ext>
            </a:extLst>
          </p:cNvPr>
          <p:cNvSpPr>
            <a:spLocks noGrp="1"/>
          </p:cNvSpPr>
          <p:nvPr>
            <p:ph type="dt" sz="half" idx="10"/>
          </p:nvPr>
        </p:nvSpPr>
        <p:spPr/>
        <p:txBody>
          <a:bodyPr/>
          <a:lstStyle/>
          <a:p>
            <a:fld id="{793276A2-D10A-43D6-9DB2-D1EE73F6DD37}" type="datetime1">
              <a:rPr lang="en-US" smtClean="0"/>
              <a:t>7/12/2025</a:t>
            </a:fld>
            <a:endParaRPr lang="en-US"/>
          </a:p>
        </p:txBody>
      </p:sp>
      <p:sp>
        <p:nvSpPr>
          <p:cNvPr id="5" name="Slide Number Placeholder 4">
            <a:extLst>
              <a:ext uri="{FF2B5EF4-FFF2-40B4-BE49-F238E27FC236}">
                <a16:creationId xmlns:a16="http://schemas.microsoft.com/office/drawing/2014/main" id="{C765DC6F-E0B8-6F8B-556C-F6B2B3AB11BB}"/>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A4D56B-9EDA-4F8D-84ED-5B5B230CCC16}">
  <ds:schemaRefs>
    <ds:schemaRef ds:uri="http://schemas.microsoft.com/sharepoint/v3/contenttype/forms"/>
  </ds:schemaRefs>
</ds:datastoreItem>
</file>

<file path=customXml/itemProps2.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customXml/itemProps3.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100</TotalTime>
  <Words>255</Words>
  <Application>Microsoft Office PowerPoint</Application>
  <PresentationFormat>Widescreen</PresentationFormat>
  <Paragraphs>56</Paragraphs>
  <Slides>16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3" baseType="lpstr">
      <vt:lpstr>Arial</vt:lpstr>
      <vt:lpstr>Calibri</vt:lpstr>
      <vt:lpstr>Calibri Light</vt:lpstr>
      <vt:lpstr>Times New Roman</vt:lpstr>
      <vt:lpstr>Wingdings</vt:lpstr>
      <vt:lpstr>Office Theme</vt:lpstr>
      <vt:lpstr>Equation</vt:lpstr>
      <vt:lpstr>Problems on Energy and Power Signals</vt:lpstr>
      <vt:lpstr>Problems on Energy and Power Signals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Even and odd components</vt:lpstr>
      <vt:lpstr>Energy: Energy does not change with time shifting</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15</cp:revision>
  <dcterms:created xsi:type="dcterms:W3CDTF">2023-05-08T13:48:07Z</dcterms:created>
  <dcterms:modified xsi:type="dcterms:W3CDTF">2025-07-12T08:54:45Z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