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30"/>
  </p:notesMasterIdLst>
  <p:handoutMasterIdLst>
    <p:handoutMasterId r:id="rId31"/>
  </p:handoutMasterIdLst>
  <p:sldIdLst>
    <p:sldId id="478" r:id="rId5"/>
    <p:sldId id="384" r:id="rId6"/>
    <p:sldId id="407" r:id="rId7"/>
    <p:sldId id="285" r:id="rId8"/>
    <p:sldId id="330" r:id="rId9"/>
    <p:sldId id="483" r:id="rId10"/>
    <p:sldId id="286" r:id="rId11"/>
    <p:sldId id="376" r:id="rId12"/>
    <p:sldId id="287" r:id="rId13"/>
    <p:sldId id="335" r:id="rId14"/>
    <p:sldId id="334" r:id="rId15"/>
    <p:sldId id="411" r:id="rId16"/>
    <p:sldId id="412" r:id="rId17"/>
    <p:sldId id="409" r:id="rId18"/>
    <p:sldId id="488" r:id="rId19"/>
    <p:sldId id="414" r:id="rId20"/>
    <p:sldId id="481" r:id="rId21"/>
    <p:sldId id="415" r:id="rId22"/>
    <p:sldId id="486" r:id="rId23"/>
    <p:sldId id="420" r:id="rId24"/>
    <p:sldId id="424" r:id="rId25"/>
    <p:sldId id="425" r:id="rId26"/>
    <p:sldId id="429" r:id="rId27"/>
    <p:sldId id="430" r:id="rId28"/>
    <p:sldId id="36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732B7-2644-4B9E-A3CE-D01ABAD64FA1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5030F-450D-4AFF-8F3B-190CC9543A5B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E1F4-9989-43B1-99DC-CDD9E761F6E8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5D5D4-4D15-40D1-BF3E-CB0A54924BB9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04FB1-BFCE-4A99-84DE-A1E399E5EFFF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5989-ABDC-43E9-B903-E9AAAAD9B097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E52DE-B5E0-4622-9033-564D270E4834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148A-92AA-400D-AC1D-14F884CED715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1B9B2-1589-458C-B5A5-DE36B1DBC7BB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F03D5-F420-462C-B10E-D432D03E216E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0DC9C-C8E8-4674-BE39-B2AD0559067C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5AA41-35E4-4A50-9A3D-CDBA3AE6ADC3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wmf"/><Relationship Id="rId7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wmf"/><Relationship Id="rId4" Type="http://schemas.openxmlformats.org/officeDocument/2006/relationships/oleObject" Target="../embeddings/oleObject7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1200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  <a:p>
            <a:pPr marL="0" indent="0" algn="ctr">
              <a:buNone/>
            </a:pPr>
            <a:r>
              <a:rPr lang="en-US" sz="4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Session-1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3FFBF-C93C-4CF8-BAD5-F10FCBBA0D45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0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93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3803BD"/>
                </a:solidFill>
              </a:rPr>
              <a:t>Objectives</a:t>
            </a:r>
            <a:r>
              <a:rPr lang="en-US" dirty="0"/>
              <a:t> of the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143000"/>
            <a:ext cx="8610600" cy="4572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The main objective of this course is to provide students with a comprehensive treatment of the important issues in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understanding,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8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formulation and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analyzing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’ concepts and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DF681-755F-E86E-5C2F-8D79C980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BB43C-804E-45CC-B4B8-031BA1E4F2BE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EFE9B-07D7-7230-1D70-F4D69946D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836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itchFamily="34" charset="0"/>
                <a:cs typeface="Arial" pitchFamily="34" charset="0"/>
              </a:rPr>
              <a:t> Introduction to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00" y="1212056"/>
            <a:ext cx="8763000" cy="443388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38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Topics to be covered: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Signals, Systems and Signal Processing / communication system.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of signals.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Elementary Continuous Time (CT) signals.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Singularity functions and their properties</a:t>
            </a:r>
          </a:p>
          <a:p>
            <a:pPr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Operations and manipulation of signals.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57FC-2258-9F66-59FC-7625D4EC4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D1EF-D2B2-436B-88E7-8ABFCE721946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5A10B-ECE5-5305-AFEE-7E373548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2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What is a ‘</a:t>
            </a: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’?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295400"/>
            <a:ext cx="91440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Signal may be defined as a physical quantity that varies with respect to time, space or any other independent variable.</a:t>
            </a:r>
          </a:p>
          <a:p>
            <a:pPr>
              <a:buNone/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Speech (telephony, radio, everyday communication)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Biomedical signals (ECG, EEG brain signals).</a:t>
            </a:r>
          </a:p>
          <a:p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Sound and music.</a:t>
            </a:r>
          </a:p>
          <a:p>
            <a:r>
              <a:rPr lang="en-US" dirty="0">
                <a:solidFill>
                  <a:srgbClr val="00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 and image.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Radar signals (range and bearing).</a:t>
            </a:r>
          </a:p>
          <a:p>
            <a:r>
              <a:rPr lang="en-US" dirty="0" err="1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Temparature</a:t>
            </a: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Speed of a vehicle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BC20D-9EB7-C017-296F-7473A3BD7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A5288-6684-49B0-81FF-463DF3F17302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CA1C8-2DA3-95FB-E61D-F6A27BB2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0"/>
            <a:ext cx="8991600" cy="792162"/>
          </a:xfrm>
        </p:spPr>
        <p:txBody>
          <a:bodyPr/>
          <a:lstStyle/>
          <a:p>
            <a:r>
              <a:rPr lang="en-US" dirty="0"/>
              <a:t>What is a ‘</a:t>
            </a:r>
            <a:r>
              <a:rPr lang="en-US" dirty="0">
                <a:solidFill>
                  <a:srgbClr val="FF0000"/>
                </a:solidFill>
              </a:rPr>
              <a:t>Signal</a:t>
            </a:r>
            <a:r>
              <a:rPr lang="en-US" dirty="0"/>
              <a:t>’? …</a:t>
            </a:r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5777" name="Object 1"/>
          <p:cNvGraphicFramePr>
            <a:graphicFrameLocks noChangeAspect="1"/>
          </p:cNvGraphicFramePr>
          <p:nvPr/>
        </p:nvGraphicFramePr>
        <p:xfrm>
          <a:off x="2133600" y="838200"/>
          <a:ext cx="1936376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4" imgH="482391" progId="Equation.DSMT4">
                  <p:embed/>
                </p:oleObj>
              </mc:Choice>
              <mc:Fallback>
                <p:oleObj name="Equation" r:id="rId2" imgW="774364" imgH="482391" progId="Equation.DSMT4">
                  <p:embed/>
                  <p:pic>
                    <p:nvPicPr>
                      <p:cNvPr id="7577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838200"/>
                        <a:ext cx="1936376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5779" name="Object 3"/>
          <p:cNvGraphicFramePr>
            <a:graphicFrameLocks noChangeAspect="1"/>
          </p:cNvGraphicFramePr>
          <p:nvPr/>
        </p:nvGraphicFramePr>
        <p:xfrm>
          <a:off x="5181600" y="914400"/>
          <a:ext cx="490728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00" imgH="241300" progId="Equation.DSMT4">
                  <p:embed/>
                </p:oleObj>
              </mc:Choice>
              <mc:Fallback>
                <p:oleObj name="Equation" r:id="rId4" imgW="1536700" imgH="241300" progId="Equation.DSMT4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914400"/>
                        <a:ext cx="490728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5781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52600" y="2209800"/>
            <a:ext cx="4267200" cy="1972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2" name="Picture 1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43800" y="1981200"/>
            <a:ext cx="2590800" cy="224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5783" name="Picture 7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00400" y="4191000"/>
            <a:ext cx="3886200" cy="2517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191000" y="21336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Speech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9600" y="4419600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ECG Signal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57DC7-AF72-0EC5-8D03-BAC5BA67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9B43-B354-4335-B74E-A44ED2375F91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8B482-DCD6-3188-E71D-66F5289C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61FC2-1779-4FD6-BC9D-8A417615C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152400"/>
            <a:ext cx="8229600" cy="9144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Generation of an electrical signal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EAC3A-5A4C-444C-8FBB-6EE874F03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1" y="1371601"/>
            <a:ext cx="7381875" cy="3114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381F9-FDF2-4937-8E2F-7E38F6BB1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733800"/>
            <a:ext cx="3352800" cy="240929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38231-1212-28AF-79FA-7B4DBC88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30EA1-8549-495C-A4DC-1FB75A094E79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95B87-A267-CC7E-06D5-B17ADF83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67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0"/>
            <a:ext cx="8229600" cy="990600"/>
          </a:xfrm>
        </p:spPr>
        <p:txBody>
          <a:bodyPr>
            <a:normAutofit/>
          </a:bodyPr>
          <a:lstStyle/>
          <a:p>
            <a:r>
              <a:rPr lang="en-US" sz="4800" dirty="0"/>
              <a:t>What is a ‘</a:t>
            </a:r>
            <a:r>
              <a:rPr lang="en-US" sz="4800" dirty="0">
                <a:solidFill>
                  <a:srgbClr val="FF0000"/>
                </a:solidFill>
              </a:rPr>
              <a:t>System</a:t>
            </a:r>
            <a:r>
              <a:rPr lang="en-US" sz="4800" dirty="0"/>
              <a:t>’?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066800"/>
            <a:ext cx="9144000" cy="5638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dirty="0">
                <a:solidFill>
                  <a:srgbClr val="2603BD"/>
                </a:solidFill>
              </a:rPr>
              <a:t>A System may be defined as a physical device that operates on a signal.</a:t>
            </a:r>
          </a:p>
          <a:p>
            <a:pPr>
              <a:buNone/>
            </a:pPr>
            <a:endParaRPr lang="en-US" dirty="0">
              <a:solidFill>
                <a:srgbClr val="2603BD"/>
              </a:solidFill>
            </a:endParaRP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sz="4000" dirty="0">
                <a:solidFill>
                  <a:srgbClr val="C00000"/>
                </a:solidFill>
              </a:rPr>
              <a:t>Examples</a:t>
            </a:r>
            <a:r>
              <a:rPr lang="en-US" sz="4000" dirty="0">
                <a:solidFill>
                  <a:srgbClr val="2603BD"/>
                </a:solidFill>
              </a:rPr>
              <a:t>:</a:t>
            </a:r>
          </a:p>
          <a:p>
            <a:r>
              <a:rPr lang="en-US" sz="3600" dirty="0"/>
              <a:t>PA System (Public Address System)</a:t>
            </a:r>
          </a:p>
          <a:p>
            <a:r>
              <a:rPr lang="en-US" sz="3600" dirty="0"/>
              <a:t>Digital Computer</a:t>
            </a:r>
          </a:p>
          <a:p>
            <a:r>
              <a:rPr lang="en-US" sz="3600" dirty="0"/>
              <a:t>Mobile Phone</a:t>
            </a:r>
          </a:p>
          <a:p>
            <a:pPr>
              <a:buNone/>
            </a:pPr>
            <a:endParaRPr lang="en-US" sz="3600" dirty="0"/>
          </a:p>
          <a:p>
            <a:pPr>
              <a:buNone/>
            </a:pPr>
            <a:endParaRPr lang="en-US" dirty="0">
              <a:solidFill>
                <a:srgbClr val="2603BD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8321" y="2590800"/>
            <a:ext cx="540217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331EE-99EF-5311-49A6-2EDED114D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4014-A421-4297-9DA8-5F0F3096BD72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8CC34-878B-ECE0-AA64-21A62F444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8" name="Picture 14" descr="C:\users\david\Image_Processing\images\dcr-trv30_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1" y="3429001"/>
            <a:ext cx="2182813" cy="1635125"/>
          </a:xfrm>
          <a:prstGeom prst="rect">
            <a:avLst/>
          </a:prstGeom>
          <a:noFill/>
        </p:spPr>
      </p:pic>
      <p:pic>
        <p:nvPicPr>
          <p:cNvPr id="6150" name="Picture 6" descr="C:\users\david\Image_Processing\images\hp_phone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21401" y="4240214"/>
            <a:ext cx="1508125" cy="1220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3" name="Picture 9" descr="C:\users\david\Image_Processing\images\vmotion_hands_280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914400"/>
            <a:ext cx="3556000" cy="3975100"/>
          </a:xfrm>
          <a:prstGeom prst="rect">
            <a:avLst/>
          </a:prstGeom>
          <a:noFill/>
        </p:spPr>
      </p:pic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DSP Used For?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5562600"/>
            <a:ext cx="7772400" cy="685800"/>
          </a:xfrm>
        </p:spPr>
        <p:txBody>
          <a:bodyPr/>
          <a:lstStyle/>
          <a:p>
            <a:pPr algn="r">
              <a:buFontTx/>
              <a:buNone/>
            </a:pPr>
            <a:r>
              <a:rPr lang="en-GB">
                <a:effectLst>
                  <a:outerShdw blurRad="38100" dist="38100" dir="2700000" algn="tl">
                    <a:srgbClr val="C0C0C0"/>
                  </a:outerShdw>
                </a:effectLst>
              </a:rPr>
              <a:t>…And much more!</a:t>
            </a:r>
          </a:p>
        </p:txBody>
      </p:sp>
      <p:pic>
        <p:nvPicPr>
          <p:cNvPr id="6154" name="Picture 10" descr="C:\users\david\Image_Processing\images\laptop_1.jp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38400" y="1219201"/>
            <a:ext cx="1600200" cy="1554163"/>
          </a:xfrm>
          <a:prstGeom prst="rect">
            <a:avLst/>
          </a:prstGeom>
          <a:noFill/>
        </p:spPr>
      </p:pic>
      <p:pic>
        <p:nvPicPr>
          <p:cNvPr id="6152" name="Picture 8" descr="C:\users\david\Image_Processing\images\hi-fi_1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3600" y="3505200"/>
            <a:ext cx="2286000" cy="2286000"/>
          </a:xfrm>
          <a:prstGeom prst="rect">
            <a:avLst/>
          </a:prstGeom>
          <a:noFill/>
        </p:spPr>
      </p:pic>
      <p:pic>
        <p:nvPicPr>
          <p:cNvPr id="6149" name="Picture 5" descr="C:\users\david\Image_Processing\images\pc_2.jpg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29600" y="2133600"/>
            <a:ext cx="1600200" cy="1371600"/>
          </a:xfrm>
          <a:prstGeom prst="rect">
            <a:avLst/>
          </a:prstGeom>
          <a:noFill/>
        </p:spPr>
      </p:pic>
      <p:pic>
        <p:nvPicPr>
          <p:cNvPr id="6155" name="Picture 11" descr="C:\users\david\Image_Processing\images\hard_disk_2.jpg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724400" y="4343400"/>
            <a:ext cx="1600200" cy="1600200"/>
          </a:xfrm>
          <a:prstGeom prst="rect">
            <a:avLst/>
          </a:prstGeom>
          <a:noFill/>
        </p:spPr>
      </p:pic>
      <p:pic>
        <p:nvPicPr>
          <p:cNvPr id="6157" name="Picture 13" descr="C:\users\david\Image_Processing\images\nokia_handset.jpg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EFEFC"/>
              </a:clrFrom>
              <a:clrTo>
                <a:srgbClr val="FEFEF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124200" y="3124201"/>
            <a:ext cx="1752600" cy="949325"/>
          </a:xfrm>
          <a:prstGeom prst="rect">
            <a:avLst/>
          </a:prstGeom>
          <a:noFill/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CEA0A-6B65-FF24-7ED1-FF6C1E9A6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98B8-661B-41E3-9CBB-B3C887590442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38C79-7B77-84D3-D7EB-120D4AF1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0"/>
            <a:ext cx="8229600" cy="963660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 between </a:t>
            </a:r>
            <a:r>
              <a:rPr lang="en-US" dirty="0">
                <a:solidFill>
                  <a:srgbClr val="C00000"/>
                </a:solidFill>
              </a:rPr>
              <a:t>Signal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89" y="871585"/>
            <a:ext cx="11507821" cy="5486400"/>
          </a:xfrm>
        </p:spPr>
        <p:txBody>
          <a:bodyPr/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Signal: Physical quantity</a:t>
            </a:r>
            <a:endParaRPr lang="en-US" dirty="0">
              <a:solidFill>
                <a:srgbClr val="2603B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3947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System: </a:t>
            </a: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device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n-US" dirty="0">
                <a:solidFill>
                  <a:srgbClr val="3947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signal </a:t>
            </a:r>
            <a:r>
              <a:rPr lang="en-US" dirty="0">
                <a:solidFill>
                  <a:srgbClr val="3947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modified according to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 of the system </a:t>
            </a:r>
            <a:r>
              <a:rPr lang="en-US" dirty="0">
                <a:solidFill>
                  <a:srgbClr val="3947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produce some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signal</a:t>
            </a:r>
            <a:r>
              <a:rPr lang="en-US" dirty="0">
                <a:solidFill>
                  <a:srgbClr val="3947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3234447"/>
            <a:ext cx="8077200" cy="256386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F15DFA-2609-DC96-E3F6-2D5092D9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9AC71-B019-44CB-85BB-5C9390116EC8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635CF-C00F-23D3-E179-30797114F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3803BD"/>
                </a:solidFill>
              </a:rPr>
              <a:t>System…</a:t>
            </a:r>
          </a:p>
        </p:txBody>
      </p:sp>
      <p:pic>
        <p:nvPicPr>
          <p:cNvPr id="788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1" y="1371600"/>
            <a:ext cx="4977765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8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3733800"/>
            <a:ext cx="5029200" cy="2074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B097A-95AC-FD16-493C-03D3E2C42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B2F86-E294-4839-AB3F-8AEC0DC55AB8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C9DF5-E854-DE37-5CE4-FA704C38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Signal processing</a:t>
            </a:r>
            <a:r>
              <a:rPr lang="en-US" altLang="zh-CN" dirty="0">
                <a:solidFill>
                  <a:srgbClr val="FFFF00"/>
                </a:solidFill>
              </a:rPr>
              <a:t>?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4247" y="762000"/>
            <a:ext cx="9033753" cy="5791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>
                <a:solidFill>
                  <a:srgbClr val="3803BD"/>
                </a:solidFill>
                <a:latin typeface="Arial" pitchFamily="34" charset="0"/>
                <a:cs typeface="Arial" pitchFamily="34" charset="0"/>
              </a:rPr>
              <a:t>Signals are carriers of some information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latin typeface="Arial" pitchFamily="34" charset="0"/>
                <a:cs typeface="Arial" pitchFamily="34" charset="0"/>
              </a:rPr>
              <a:t>Useful and unwanted</a:t>
            </a:r>
          </a:p>
          <a:p>
            <a:pPr lvl="1">
              <a:buFont typeface="Wingdings" pitchFamily="2" charset="2"/>
              <a:buChar char="Ø"/>
            </a:pPr>
            <a:r>
              <a:rPr lang="en-US" altLang="zh-CN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Extracting, enhancing, storing and transmitting  the useful information.</a:t>
            </a:r>
          </a:p>
          <a:p>
            <a:pPr lvl="1">
              <a:buFont typeface="Wingdings" pitchFamily="2" charset="2"/>
              <a:buChar char="Ø"/>
            </a:pPr>
            <a:endParaRPr lang="en-US" altLang="zh-CN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Font typeface="Wingdings" pitchFamily="2" charset="2"/>
              <a:buChar char="Ø"/>
            </a:pPr>
            <a:endParaRPr lang="en-US" altLang="zh-CN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Font typeface="Wingdings" pitchFamily="2" charset="2"/>
              <a:buChar char="Ø"/>
            </a:pPr>
            <a:endParaRPr lang="en-US" altLang="zh-CN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Font typeface="Wingdings" pitchFamily="2" charset="2"/>
              <a:buChar char="Ø"/>
            </a:pPr>
            <a:endParaRPr lang="en-US" altLang="zh-CN" dirty="0">
              <a:solidFill>
                <a:srgbClr val="7030A0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None/>
            </a:pPr>
            <a:endParaRPr lang="en-US" altLang="zh-CN" dirty="0">
              <a:solidFill>
                <a:srgbClr val="003300"/>
              </a:solidFill>
            </a:endParaRP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6633" y="3200400"/>
            <a:ext cx="8778735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D89AE9-3964-496F-8435-39E792740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4763348"/>
            <a:ext cx="2362200" cy="194225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A36CB-1E68-984D-4250-34965A009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28832-B9D2-4FE0-8E46-4D409A13536C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D0FB0-99F8-76F2-E430-B8537F75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2590800"/>
            <a:ext cx="8229600" cy="1066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of signals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A17894-0F69-3CEC-76A6-39A571781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9C4B7-DC1D-4091-BE83-607E0FDEB11D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9858C-6269-3773-D9D6-A77CDF12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17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Deterministic versus Random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447801"/>
            <a:ext cx="8763000" cy="502919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300" dirty="0">
                <a:solidFill>
                  <a:srgbClr val="38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signal that can be uniquely described by an explicitly mathematical expression, a table of data or a well-defined rule is called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deterministic signal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Radio, Television, Mobile, the output of a noise generator and seismic signals are examples of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Random signals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352801" y="2939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429000" y="3581400"/>
          <a:ext cx="353568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203200" progId="Equation.DSMT4">
                  <p:embed/>
                </p:oleObj>
              </mc:Choice>
              <mc:Fallback>
                <p:oleObj name="Equation" r:id="rId2" imgW="1193800" imgH="2032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581400"/>
                        <a:ext cx="353568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0FFEC-395C-4AB4-C21A-4876EFE45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7400E-6B6B-488C-80A5-AE164671A8FD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F2C95-6596-A7CC-62E3-2FEF3895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85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7481"/>
            <a:ext cx="8229600" cy="9445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and Complex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914401"/>
            <a:ext cx="8839200" cy="46783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signal</a:t>
            </a:r>
            <a:r>
              <a:rPr lang="en-US" b="1" dirty="0"/>
              <a:t> </a:t>
            </a:r>
            <a:r>
              <a:rPr 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is real signal if its value is a real number and a complex signal if its value is a complex number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Vector Signals: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76601" y="2176772"/>
            <a:ext cx="7286575" cy="2362200"/>
          </a:xfrm>
          <a:prstGeom prst="rect">
            <a:avLst/>
          </a:prstGeom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105401" y="48372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5029200" y="4419600"/>
          <a:ext cx="2667000" cy="2227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76300" imgH="736600" progId="Equation.DSMT4">
                  <p:embed/>
                </p:oleObj>
              </mc:Choice>
              <mc:Fallback>
                <p:oleObj name="Equation" r:id="rId3" imgW="876300" imgH="736600" progId="Equation.DSMT4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419600"/>
                        <a:ext cx="2667000" cy="22273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31299-1A74-7F8B-B2DC-A58CBBF97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265A2-B78C-4735-A91C-373B81F465E5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99C5F-843B-8CF6-FBF7-51AC09243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93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981200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  <a:p>
            <a:pPr marL="0" indent="0" algn="ctr">
              <a:buNone/>
            </a:pPr>
            <a:r>
              <a:rPr lang="en-US" sz="44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09D3C-0DFB-4BE6-AA54-ECB31444F651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90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96645"/>
            <a:ext cx="8229600" cy="7159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Causal and non-causal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812608"/>
            <a:ext cx="8839200" cy="531355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causal signal is defined as the signal having the values for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0, </a:t>
            </a:r>
            <a:r>
              <a:rPr lang="en-US" dirty="0"/>
              <a:t>otherwise non causal signals. All right sided signals are referred to as causal signals.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773E0-3E38-77F5-7CAF-81981E54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32733-C341-48C9-910A-3917458AF5C9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E0A98-3A2B-8522-B38E-FC92A841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70F1F99-E042-4B25-A711-CE8C2667A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301" y="2387023"/>
            <a:ext cx="3347842" cy="20288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C73B39-E2E2-F665-D662-1D8942B0C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043" y="2370487"/>
            <a:ext cx="3149440" cy="21170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07D278E-691A-C7CC-3C74-9B3557522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112" y="4311989"/>
            <a:ext cx="3682840" cy="19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5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Analog, </a:t>
            </a:r>
            <a:r>
              <a:rPr lang="en-US" dirty="0">
                <a:solidFill>
                  <a:srgbClr val="C00000"/>
                </a:solidFill>
              </a:rPr>
              <a:t>Discrete Time </a:t>
            </a:r>
            <a:r>
              <a:rPr lang="en-US" dirty="0"/>
              <a:t>and </a:t>
            </a:r>
            <a:r>
              <a:rPr lang="en-US" dirty="0">
                <a:solidFill>
                  <a:srgbClr val="3803BD"/>
                </a:solidFill>
              </a:rPr>
              <a:t>Digital Signals</a:t>
            </a:r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4252" y="838200"/>
            <a:ext cx="8843178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8FDBBB-0593-48CD-31AB-20AD769B7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05-0B8E-4203-B468-BD599904CC51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8579E6-8FF9-60A6-2221-C3666F221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76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2947" y="29316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Periodic versus Non-Periodic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1" y="1172317"/>
            <a:ext cx="8805746" cy="49538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signal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/>
              <a:t>is said to be periodic if the equation</a:t>
            </a:r>
          </a:p>
          <a:p>
            <a:pPr marL="0" indent="0">
              <a:buNone/>
            </a:pPr>
            <a:r>
              <a:rPr lang="en-US" dirty="0"/>
              <a:t>                                          where </a:t>
            </a:r>
            <a:r>
              <a:rPr lang="en-US" i="1" dirty="0"/>
              <a:t>n</a:t>
            </a:r>
            <a:r>
              <a:rPr lang="en-US" dirty="0"/>
              <a:t> is an integer</a:t>
            </a:r>
          </a:p>
          <a:p>
            <a:pPr marL="0" indent="0">
              <a:buNone/>
            </a:pPr>
            <a:r>
              <a:rPr lang="en-US" dirty="0"/>
              <a:t>for all ‘</a:t>
            </a:r>
            <a:r>
              <a:rPr lang="en-US" i="1" dirty="0"/>
              <a:t>t </a:t>
            </a:r>
            <a:r>
              <a:rPr lang="en-US" dirty="0"/>
              <a:t>’ is satisfied.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429001" y="1796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048000" y="1858116"/>
          <a:ext cx="2514600" cy="507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476" imgH="203112" progId="Equation.DSMT4">
                  <p:embed/>
                </p:oleObj>
              </mc:Choice>
              <mc:Fallback>
                <p:oleObj name="Equation" r:id="rId2" imgW="977476" imgH="203112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858116"/>
                        <a:ext cx="2514600" cy="5077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E0EDDF3-4468-463E-898D-C08CE1679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355" y="3104920"/>
            <a:ext cx="9144000" cy="375308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AE9BD9-6629-DF7B-B41D-67505C9FF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EED1C-0008-46D6-9ECA-7B829E2B6923}" type="datetime1">
              <a:rPr lang="en-US" smtClean="0"/>
              <a:t>7/12/2025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87D20-21BE-9630-043C-558A20A26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41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2947" y="29316"/>
            <a:ext cx="89154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Periodic versus Non-Periodic Signals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429001" y="1796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6077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2" y="1524000"/>
            <a:ext cx="8776789" cy="3990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D676D-C093-A2E4-FC21-72F12CD9E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15CC7-0E6E-48A3-A959-A050D656176F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B6F4B-273D-948C-0756-F6289D67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03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 and Power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868363"/>
            <a:ext cx="8839200" cy="52578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normalized energy content ‘</a:t>
            </a:r>
            <a:r>
              <a:rPr lang="en-US" i="1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of a signal</a:t>
            </a:r>
            <a:r>
              <a:rPr lang="en-US" i="1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is defined as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normalized average power ‘P’ of a signal is defined as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4343401" y="139965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343400" y="1584324"/>
          <a:ext cx="2590801" cy="779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330200" progId="Equation.DSMT4">
                  <p:embed/>
                </p:oleObj>
              </mc:Choice>
              <mc:Fallback>
                <p:oleObj name="Equation" r:id="rId2" imgW="1117600" imgH="330200" progId="Equation.DSMT4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584324"/>
                        <a:ext cx="2590801" cy="7798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4343400" y="312209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343400" y="2925550"/>
          <a:ext cx="3581401" cy="9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1300" imgH="381000" progId="Equation.DSMT4">
                  <p:embed/>
                </p:oleObj>
              </mc:Choice>
              <mc:Fallback>
                <p:oleObj name="Equation" r:id="rId4" imgW="1511300" imgH="381000" progId="Equation.DSMT4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925550"/>
                        <a:ext cx="3581401" cy="900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981201" y="4022724"/>
            <a:ext cx="7699207" cy="27505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57A0C-726D-7FFF-4688-8E7CCB63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4A6F6-8F94-453A-BB94-60FDAB40A891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A9FE8-BDAC-37DD-5750-95C3FCCDF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5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152400"/>
            <a:ext cx="8555318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76400" y="1524000"/>
            <a:ext cx="8493760" cy="91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84082" y="2543159"/>
            <a:ext cx="8326718" cy="18764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362200" y="4482111"/>
            <a:ext cx="6629400" cy="216202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5FF9FF-79D9-6834-C539-14A61FC7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253F3-C5E3-4B58-B840-A7092FDC99C8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43E89-A567-43B2-4D42-6C8EA39D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44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8915400" cy="11430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(or Symmetric) and Odd              (anti-symmetric) signals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2836" y="1752600"/>
            <a:ext cx="8881590" cy="4572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9C6180-F720-BA95-0B99-F39E9DA1C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A019-4A1D-4242-943C-5A66E621183D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C322-85AC-2C39-D31C-4409862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984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6400" y="304800"/>
            <a:ext cx="8858476" cy="54864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CBE046-AD2C-6703-1DB5-5FC061B11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6E6E3-D7E7-4126-A6F8-F333AED8A2EC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ABEFF4-4CAB-78D5-E7EA-1130F5CD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0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7000" y="787086"/>
            <a:ext cx="6115512" cy="33016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05294" y="4267200"/>
            <a:ext cx="7580560" cy="9404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96151" y="5846926"/>
            <a:ext cx="7257211" cy="44797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A6455-7592-78D8-E7E7-8358ABA9D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9F4F9-AE36-48BC-93B0-D598FC1FC1A4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629569-FDC1-82FF-6FC5-B1453837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6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592" y="2857500"/>
            <a:ext cx="1947153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AB49C-B7CE-5040-E5D4-7ECE0E0F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D0FDE-3AAB-4487-8184-5BE4E22C91AA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5DC6F-E0B8-6F8B-556C-F6B2B3AB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551</Words>
  <Application>Microsoft Office PowerPoint</Application>
  <PresentationFormat>Widescreen</PresentationFormat>
  <Paragraphs>129</Paragraphs>
  <Slides>25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Wingdings</vt:lpstr>
      <vt:lpstr>Office Theme</vt:lpstr>
      <vt:lpstr>Equation</vt:lpstr>
      <vt:lpstr>PowerPoint Presentation</vt:lpstr>
      <vt:lpstr>Objectives of the course</vt:lpstr>
      <vt:lpstr> Introduction to Signals</vt:lpstr>
      <vt:lpstr>What is a ‘Signal’?</vt:lpstr>
      <vt:lpstr>What is a ‘Signal’? …</vt:lpstr>
      <vt:lpstr>Generation of an electrical signal</vt:lpstr>
      <vt:lpstr>What is a ‘System’?</vt:lpstr>
      <vt:lpstr>What is DSP Used For?</vt:lpstr>
      <vt:lpstr>Relation between Signal and System</vt:lpstr>
      <vt:lpstr>System…</vt:lpstr>
      <vt:lpstr>Signal processing?</vt:lpstr>
      <vt:lpstr>PowerPoint Presentation</vt:lpstr>
      <vt:lpstr>Deterministic versus Random Signals</vt:lpstr>
      <vt:lpstr>Real and Complex Signals</vt:lpstr>
      <vt:lpstr>PowerPoint Presentation</vt:lpstr>
      <vt:lpstr>Causal and non-causal signals</vt:lpstr>
      <vt:lpstr>Analog, Discrete Time and Digital Signals</vt:lpstr>
      <vt:lpstr>Periodic versus Non-Periodic Signals</vt:lpstr>
      <vt:lpstr>Periodic versus Non-Periodic Signals</vt:lpstr>
      <vt:lpstr>Energy and Power Signals</vt:lpstr>
      <vt:lpstr>PowerPoint Presentation</vt:lpstr>
      <vt:lpstr>Even (or Symmetric) and Odd              (anti-symmetric) signals</vt:lpstr>
      <vt:lpstr>PowerPoint Presentation</vt:lpstr>
      <vt:lpstr>Example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14</cp:revision>
  <dcterms:created xsi:type="dcterms:W3CDTF">2023-05-08T13:48:07Z</dcterms:created>
  <dcterms:modified xsi:type="dcterms:W3CDTF">2025-07-12T08:50:08Z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