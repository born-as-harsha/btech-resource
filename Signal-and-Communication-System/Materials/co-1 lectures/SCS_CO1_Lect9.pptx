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0"/>
  </p:notesMasterIdLst>
  <p:handoutMasterIdLst>
    <p:handoutMasterId r:id="rId21"/>
  </p:handoutMasterIdLst>
  <p:sldIdLst>
    <p:sldId id="478" r:id="rId5"/>
    <p:sldId id="460" r:id="rId6"/>
    <p:sldId id="482" r:id="rId7"/>
    <p:sldId id="481" r:id="rId8"/>
    <p:sldId id="472" r:id="rId9"/>
    <p:sldId id="483" r:id="rId10"/>
    <p:sldId id="485" r:id="rId11"/>
    <p:sldId id="484" r:id="rId12"/>
    <p:sldId id="420" r:id="rId13"/>
    <p:sldId id="421" r:id="rId14"/>
    <p:sldId id="465" r:id="rId15"/>
    <p:sldId id="467" r:id="rId16"/>
    <p:sldId id="473" r:id="rId17"/>
    <p:sldId id="474" r:id="rId18"/>
    <p:sldId id="42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C4BC-64B4-4240-94EB-1ABBFA7DE522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87B7A-A687-477E-9F20-A6DC09C52777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10AA8-3ADB-421E-9B67-5C3D2BD2D2E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D77F-D4BD-4B83-8910-317C4D44C33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72762-7013-4DD6-9C6D-8576392120C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B61AE-6F3B-44B6-AD4C-35740A4BB7A0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7A78-5BF4-4671-8625-3EE96393E2F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F6CA0-EDC7-420D-9411-F24F98CCEB7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CE34D-8A13-4B81-8805-E5815A0E399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224A2-A7D1-4EB2-8D9F-4873889C750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591BB-1022-42CC-8350-9070A613FAF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497B4-4713-4DE9-AE64-95DF338C80E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wmf"/><Relationship Id="rId7" Type="http://schemas.openxmlformats.org/officeDocument/2006/relationships/image" Target="../media/image2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55123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D2332-20F9-4EBE-812B-9E40AEDCE0E5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DE9083-29D9-13C2-D4C9-4BB04C48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460" y="2498778"/>
            <a:ext cx="10192966" cy="11430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Continuous Time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D7C0-774D-63F5-803A-7F9DE03DE120}"/>
              </a:ext>
            </a:extLst>
          </p:cNvPr>
          <p:cNvSpPr txBox="1"/>
          <p:nvPr/>
        </p:nvSpPr>
        <p:spPr>
          <a:xfrm>
            <a:off x="2937754" y="4598723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Session-9 &amp; 10</a:t>
            </a:r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839200" cy="6858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Time-Invariant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versus </a:t>
            </a:r>
            <a:r>
              <a:rPr lang="en-US" sz="3600" dirty="0">
                <a:solidFill>
                  <a:srgbClr val="058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Variant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2971800"/>
            <a:ext cx="8808388" cy="9477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04976" y="4343400"/>
            <a:ext cx="8963025" cy="8772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76400" y="682378"/>
            <a:ext cx="8839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 relaxed system </a:t>
            </a:r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said to be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time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invariant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or 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shift invariant, </a:t>
            </a:r>
            <a:r>
              <a:rPr lang="en-US" sz="2800" i="1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if  the system response does not change with time</a:t>
            </a:r>
            <a:r>
              <a:rPr lang="en-US" sz="2800" i="1" dirty="0">
                <a:latin typeface="Arial" pitchFamily="34" charset="0"/>
                <a:cs typeface="Arial" pitchFamily="34" charset="0"/>
              </a:rPr>
              <a:t>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14601" y="1991877"/>
            <a:ext cx="7499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For every input </a:t>
            </a:r>
            <a:r>
              <a:rPr lang="en-US" sz="28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n-US" sz="28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and for every time shift ‘</a:t>
            </a:r>
            <a:r>
              <a:rPr lang="en-US" sz="2800" b="1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’.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C7B16A-702E-7A8C-A0F2-C0146F59E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732" y="2524076"/>
            <a:ext cx="1056668" cy="6372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F0A2EA-A672-0E5E-DD66-E22395E583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732" y="3919539"/>
            <a:ext cx="999744" cy="538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40D888-D4AC-4B8A-1D34-31AA22BF13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7477" y="5513789"/>
            <a:ext cx="5143515" cy="102464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ABFF44-4ECB-E1ED-AE97-61B039CD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4914B-1B55-4790-A2EC-C36A5286D230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38B01B-1047-8F3E-582E-92544278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2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69A9-593B-6222-54E2-CD6BB5F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720F-8A53-C4E1-6368-EDBF3879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77" y="0"/>
            <a:ext cx="9130847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4FE57-5B15-F637-D5A2-0CA5DBAB4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E49C-4AA4-45D4-9316-06C4C7E75A62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0E9C2-C532-728A-731C-4D7F5354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EDAF69-0889-EAAC-870B-F8963E5CE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32" y="66991"/>
            <a:ext cx="8458200" cy="593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E76F1B-3439-7DB4-3560-8B61EEAB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833" y="660418"/>
            <a:ext cx="7050025" cy="562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FE9585-4C81-7D53-5D43-9B28717169C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97142" y="1808983"/>
            <a:ext cx="6512172" cy="76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0014DC-D51B-9972-8A6F-FD6576E21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576" y="1391753"/>
            <a:ext cx="4857750" cy="3935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A8B3B4-618C-0BB2-8271-83CE54A00A2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24574" y="4023256"/>
            <a:ext cx="6985314" cy="7510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D8E4DF-018C-59D5-7C3E-D59006945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6814" y="2640310"/>
            <a:ext cx="7050026" cy="4700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C05DA12-41BC-F22D-BF1D-5AADE94C30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4689" y="3313276"/>
            <a:ext cx="5492115" cy="6417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E4DE20-D7EA-42FE-3FA5-4A75AB9C6F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5806" y="4740546"/>
            <a:ext cx="5739384" cy="8151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B6EB65-EF65-5C83-FAF3-6F14AC50CA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5910" y="5844611"/>
            <a:ext cx="5739384" cy="8569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5333EDC-1A5A-164A-71D7-4DC0496CF3AA}"/>
              </a:ext>
            </a:extLst>
          </p:cNvPr>
          <p:cNvSpPr txBox="1"/>
          <p:nvPr/>
        </p:nvSpPr>
        <p:spPr>
          <a:xfrm>
            <a:off x="8753858" y="658640"/>
            <a:ext cx="18775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2 times input plus 3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93E47-D338-BED7-046D-4B7DAC95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26FB-BDA3-4AC6-BC36-EF081D36C8FC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49B93-18FA-EDFB-1CE1-26A0CC40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6401" y="152400"/>
            <a:ext cx="5899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</a:rPr>
              <a:t>Test this system for Time Invariance</a:t>
            </a:r>
            <a:endParaRPr lang="en-US" sz="28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7772401" y="185410"/>
          <a:ext cx="168812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203112" progId="Equation.DSMT4">
                  <p:embed/>
                </p:oleObj>
              </mc:Choice>
              <mc:Fallback>
                <p:oleObj name="Equation" r:id="rId2" imgW="761669" imgH="203112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185410"/>
                        <a:ext cx="1688123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39619" y="732115"/>
            <a:ext cx="7381875" cy="4286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66285" y="3177789"/>
            <a:ext cx="6753225" cy="9620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44202" y="5081384"/>
            <a:ext cx="6829425" cy="866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3073" y="6190573"/>
            <a:ext cx="8094981" cy="6296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CFA0A5-350A-2C9B-9517-004892A398F4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88312" y="4230060"/>
            <a:ext cx="6985314" cy="751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9183C3-0B96-CD8B-F5EE-2190022014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1374724"/>
            <a:ext cx="6753226" cy="11801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35AD4E-FCE0-B055-426F-7313BDE817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8866" y="2529423"/>
            <a:ext cx="6248400" cy="46767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26ACF7-DBCA-6838-9D2A-05031CA5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8788E-8441-4AB2-B800-53A0F3778143}" type="datetime1">
              <a:rPr lang="en-US" smtClean="0"/>
              <a:t>7/12/2025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D4670B-01BA-2D56-1196-318A4DCB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1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54" y="-21336"/>
            <a:ext cx="9130847" cy="6693407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D82CA67-3F2F-D10C-C8D1-89618DD6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940CCFD-873D-60DB-84D0-0D2CABECD4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0" y="12193"/>
          <a:ext cx="908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320" imgH="203040" progId="Equation.DSMT4">
                  <p:embed/>
                </p:oleObj>
              </mc:Choice>
              <mc:Fallback>
                <p:oleObj name="Equation" r:id="rId3" imgW="355320" imgH="20304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940CCFD-873D-60DB-84D0-0D2CABECD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2193"/>
                        <a:ext cx="90805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484E7CD-6FB8-B85E-9D24-4104E0DD0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5200" y="662782"/>
          <a:ext cx="9080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5320" imgH="203040" progId="Equation.DSMT4">
                  <p:embed/>
                </p:oleObj>
              </mc:Choice>
              <mc:Fallback>
                <p:oleObj name="Equation" r:id="rId3" imgW="355320" imgH="2030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484E7CD-6FB8-B85E-9D24-4104E0DD0B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662782"/>
                        <a:ext cx="908050" cy="5032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>
            <a:extLst>
              <a:ext uri="{FF2B5EF4-FFF2-40B4-BE49-F238E27FC236}">
                <a16:creationId xmlns:a16="http://schemas.microsoft.com/office/drawing/2014/main" id="{64D5CFB4-EBB5-7020-A85B-E09A9F60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297" y="5011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3A0A74-9FA8-24FF-AFA7-C5F54C64A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2590800"/>
            <a:ext cx="2800350" cy="342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9484F1-3D96-2391-5182-D6929FF43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324" y="5053585"/>
            <a:ext cx="1114425" cy="4095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431677-767A-EF61-72B8-C665EAF26D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8600" y="5755132"/>
            <a:ext cx="381000" cy="520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A58F53-E9E3-C882-F152-8410C05B40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340" y="6220968"/>
            <a:ext cx="1685925" cy="40005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086FBE-E1E9-670A-9B27-387B72F0FA42}"/>
              </a:ext>
            </a:extLst>
          </p:cNvPr>
          <p:cNvSpPr txBox="1"/>
          <p:nvPr/>
        </p:nvSpPr>
        <p:spPr>
          <a:xfrm>
            <a:off x="8223251" y="589403"/>
            <a:ext cx="24315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compressed the input by  2 times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12C77-F8B8-1ACF-F83B-9CA032024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BB67-54D3-4DE1-9EB4-71B6ADF95A80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4CF869-5539-3D4D-71B0-970FF4F9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3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097"/>
            <a:ext cx="9130847" cy="6851903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D82CA67-3F2F-D10C-C8D1-89618DD6D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4D5CFB4-EBB5-7020-A85B-E09A9F60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297" y="50113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431677-767A-EF61-72B8-C665EAF2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5880100"/>
            <a:ext cx="381000" cy="520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A58F53-E9E3-C882-F152-8410C05B4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340" y="6373368"/>
            <a:ext cx="1685925" cy="4000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6A673-5AAD-61CD-11FA-F24F34912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1" y="2591815"/>
            <a:ext cx="3190875" cy="342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DE7768-339F-DA3F-D9F7-EBD9572182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048000"/>
            <a:ext cx="264795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7F1F41-E3CC-4AA3-D866-A5A329165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526" y="5201412"/>
            <a:ext cx="1362075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669A85-827A-6CFA-F85D-E7383AEBA1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0" y="76201"/>
            <a:ext cx="1351932" cy="3809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0EAC7A-0D36-BD85-7563-3E56F39962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685800"/>
            <a:ext cx="1351932" cy="3809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16FA64-C0B0-AD04-C404-8E1782842B14}"/>
              </a:ext>
            </a:extLst>
          </p:cNvPr>
          <p:cNvSpPr txBox="1"/>
          <p:nvPr/>
        </p:nvSpPr>
        <p:spPr>
          <a:xfrm>
            <a:off x="7014028" y="974248"/>
            <a:ext cx="365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is time reversal of input and shift right by 2 units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EBAF70-2CC4-10C9-5A8A-AC8E981D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D999-1458-4286-AD1A-7C130C2AA134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92480-B144-0232-E468-9BC04FE2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3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69A9-593B-6222-54E2-CD6BB5F8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E720F-8A53-C4E1-6368-EDBF3879F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46A4C2-B822-7E8C-8C9B-CE23DEF6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77" y="0"/>
            <a:ext cx="9130847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292AD-5DF1-5573-A800-56C4CDD9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58BA-112F-42F1-950B-60871BA00DD9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E08F-E5E7-F931-B042-4B3F7D3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3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856" y="104034"/>
            <a:ext cx="9067800" cy="7921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Time-invariant versus time-variant systems</a:t>
            </a:r>
            <a:endParaRPr lang="en-US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93301" y="1267577"/>
            <a:ext cx="27646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Time-invariant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133600" y="1295810"/>
          <a:ext cx="2401048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614" imgH="203112" progId="Equation.DSMT4">
                  <p:embed/>
                </p:oleObj>
              </mc:Choice>
              <mc:Fallback>
                <p:oleObj name="Equation" r:id="rId2" imgW="888614" imgH="203112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95810"/>
                        <a:ext cx="2401048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5205493" y="2452041"/>
            <a:ext cx="2445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232418" y="2423940"/>
          <a:ext cx="2203413" cy="596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203112" progId="Equation.DSMT4">
                  <p:embed/>
                </p:oleObj>
              </mc:Choice>
              <mc:Fallback>
                <p:oleObj name="Equation" r:id="rId4" imgW="761669" imgH="203112" progId="Equation.DSMT4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418" y="2423940"/>
                        <a:ext cx="2203413" cy="5967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124">
            <a:extLst>
              <a:ext uri="{FF2B5EF4-FFF2-40B4-BE49-F238E27FC236}">
                <a16:creationId xmlns:a16="http://schemas.microsoft.com/office/drawing/2014/main" id="{E3B6E7D5-5A1F-B019-0649-EDB5DA5E1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335069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26DDEF50-4CF6-DF88-B12A-86925CB001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2418" y="3429001"/>
          <a:ext cx="2660241" cy="498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680" imgH="203040" progId="Equation.DSMT4">
                  <p:embed/>
                </p:oleObj>
              </mc:Choice>
              <mc:Fallback>
                <p:oleObj name="Equation" r:id="rId6" imgW="1066680" imgH="203040" progId="Equation.DSMT4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26DDEF50-4CF6-DF88-B12A-86925CB001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418" y="3429001"/>
                        <a:ext cx="2660241" cy="4985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34B14C3B-3DF7-2954-6FF8-989359D4894F}"/>
              </a:ext>
            </a:extLst>
          </p:cNvPr>
          <p:cNvSpPr/>
          <p:nvPr/>
        </p:nvSpPr>
        <p:spPr>
          <a:xfrm>
            <a:off x="5330365" y="3344117"/>
            <a:ext cx="2445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Time-variant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B4105-E6B3-8763-FC05-BA8D57D0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0A66-3663-4BE6-AE94-8525E5B892C5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59CC1-8B10-64E1-08B3-913EC859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7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Stable versus Unstable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639763"/>
            <a:ext cx="8763000" cy="548640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stable system is such that well-behaved outputs are obtained for well-behaved inputs. </a:t>
            </a:r>
          </a:p>
          <a:p>
            <a:pPr marL="0" indent="0">
              <a:buNone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system is said to be bounded input bounded output (BIBO) stable, if and only if every bounded input results in a bounded output.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429000" y="3276600"/>
          <a:ext cx="3200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3643" imgH="215806" progId="Equation.DSMT4">
                  <p:embed/>
                </p:oleObj>
              </mc:Choice>
              <mc:Fallback>
                <p:oleObj name="Equation" r:id="rId2" imgW="1053643" imgH="215806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76600"/>
                        <a:ext cx="32004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505200" y="4419601"/>
          <a:ext cx="3124200" cy="669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032" imgH="241195" progId="Equation.DSMT4">
                  <p:embed/>
                </p:oleObj>
              </mc:Choice>
              <mc:Fallback>
                <p:oleObj name="Equation" r:id="rId4" imgW="1079032" imgH="241195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19601"/>
                        <a:ext cx="3124200" cy="6694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A2FEBC4-655C-9B03-77B4-67A17ACD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0F61D-87A0-4D2F-A75B-021DCC3AC45B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199801-6058-33EB-EBFC-CC368AC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6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0BFE9-E0CB-498C-8F3F-CACB2D21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7770861" cy="121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B921-01A9-486B-AA24-F7A173F2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18291"/>
            <a:ext cx="6827522" cy="108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4BF412-4FDE-424E-BA50-EDE2A09F2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824920"/>
            <a:ext cx="7620001" cy="1034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1FA21-2A05-4FDA-9A99-3E13D0540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1" y="5178793"/>
            <a:ext cx="9051901" cy="10345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2BFF59-3813-4E6B-A7FF-924F50CAD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320" y="1670156"/>
            <a:ext cx="6050280" cy="53456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E8766-3FD1-AE01-EC86-E0BC8F8F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579-C531-4B9C-99EF-63E326C4C25C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65C90-2CAC-44B3-2844-8A3A4806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4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A0BFE9-E0CB-498C-8F3F-CACB2D21A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52400"/>
            <a:ext cx="8229601" cy="129117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416D8F-9ECF-4E7F-9E71-61F83733F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1" y="1714640"/>
            <a:ext cx="7224409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361019-BA2D-4C6B-89DB-2E212AACB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789" y="2594129"/>
            <a:ext cx="7224409" cy="1129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DCA6C-9E2B-4788-B30E-6B4DE2B30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1" y="4125053"/>
            <a:ext cx="3966649" cy="5028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56E3ED-5989-4CEE-934B-B01F1742E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693" y="5029200"/>
            <a:ext cx="6992603" cy="97155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9E6D10-5320-E845-AD8F-E1790983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1478-4EE2-48DF-981B-EB9B2B5F646C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FEB76F-F670-E4F0-7139-3C15683E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74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EB3742-89FF-4A31-8F75-47B799F8D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1001"/>
            <a:ext cx="8839200" cy="1093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D1A868-9724-4B59-8062-D5005A87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1886153"/>
            <a:ext cx="2476500" cy="552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AD8518-483B-4324-9186-EAB6A460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48" y="2648334"/>
            <a:ext cx="2009775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519B7-8C1C-4AE5-ABB0-BC6E3B956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1" y="2741688"/>
            <a:ext cx="1952625" cy="466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6D5ABC-701C-43B8-90E1-DE8B3A741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80" y="2771705"/>
            <a:ext cx="2057400" cy="447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A3C42C-1BE9-42F5-81E3-0D18494D6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1" y="3620269"/>
            <a:ext cx="2390775" cy="619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3D723E-F6FB-473B-9B92-3AC20B32EF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5875" y="3621400"/>
            <a:ext cx="2000250" cy="514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D2CB57-33DA-49DD-B956-41D9A42B5B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9801" y="4526469"/>
            <a:ext cx="1552575" cy="495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B7668A-36AF-4CB0-98B5-A27B792829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800" y="5285415"/>
            <a:ext cx="2609850" cy="5810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4AF4F-7AA9-3012-C05B-88E8DA2D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AAD6A-F8B6-4255-9824-7C45874D5DD1}" type="datetime1">
              <a:rPr lang="en-US" smtClean="0"/>
              <a:t>7/12/2025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5789486-D2DB-54FA-71A8-E5BF8E5B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0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1D245B-111C-4AD4-AF90-5789379B6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876426"/>
            <a:ext cx="2286000" cy="50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9F36B3-3173-4174-994A-F88A68810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720340"/>
            <a:ext cx="1943100" cy="495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63AD87-7B77-4634-9403-365E04D44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561" y="3510915"/>
            <a:ext cx="1685925" cy="533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921C32-08AD-443C-B781-41C8DC5CEF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710" y="4339591"/>
            <a:ext cx="1571625" cy="466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E26D38-4246-4BF1-A6B9-9DE94C64C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722" y="5173980"/>
            <a:ext cx="2943225" cy="514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7B5F84-FE40-76C8-ABDA-CCAE72874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1" y="152401"/>
            <a:ext cx="7991475" cy="866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922B3B-D186-084E-9804-6237BCACE7EF}"/>
                  </a:ext>
                </a:extLst>
              </p:cNvPr>
              <p:cNvSpPr txBox="1"/>
              <p:nvPr/>
            </p:nvSpPr>
            <p:spPr>
              <a:xfrm>
                <a:off x="5196459" y="795767"/>
                <a:ext cx="457200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"/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d>
                              <m: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"/>
                              <m:endChr m:val=""/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d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−2)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922B3B-D186-084E-9804-6237BCACE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459" y="795767"/>
                <a:ext cx="45720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96A7B5-883E-7779-629B-DACF03EB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7913-77B6-4329-A58C-6F494FE20429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5998FBF-D6A5-6491-8425-DCA21A82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1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9422" y="2857500"/>
            <a:ext cx="2057400" cy="114300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DDE861-9E5C-B170-DA53-88C9E4EB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17F1C-9B6D-41B4-B8C9-30279A1C56FC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C3100-F847-0790-BE44-5A137607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178</Words>
  <Application>Microsoft Office PowerPoint</Application>
  <PresentationFormat>Widescreen</PresentationFormat>
  <Paragraphs>49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Equation</vt:lpstr>
      <vt:lpstr>Continuous Time Systems</vt:lpstr>
      <vt:lpstr>4. Time-Invariant versus Time Variant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Time-invariant versus time-variant systems</vt:lpstr>
      <vt:lpstr>5. Stable versus Unstable systems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13</cp:revision>
  <dcterms:created xsi:type="dcterms:W3CDTF">2023-05-08T13:48:07Z</dcterms:created>
  <dcterms:modified xsi:type="dcterms:W3CDTF">2025-07-12T08:55:53Z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