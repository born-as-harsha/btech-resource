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9"/>
  </p:notesMasterIdLst>
  <p:handoutMasterIdLst>
    <p:handoutMasterId r:id="rId30"/>
  </p:handoutMasterIdLst>
  <p:sldIdLst>
    <p:sldId id="478" r:id="rId5"/>
    <p:sldId id="423" r:id="rId6"/>
    <p:sldId id="543" r:id="rId7"/>
    <p:sldId id="520" r:id="rId8"/>
    <p:sldId id="556" r:id="rId9"/>
    <p:sldId id="521" r:id="rId10"/>
    <p:sldId id="522" r:id="rId11"/>
    <p:sldId id="418" r:id="rId12"/>
    <p:sldId id="408" r:id="rId13"/>
    <p:sldId id="469" r:id="rId14"/>
    <p:sldId id="557" r:id="rId15"/>
    <p:sldId id="454" r:id="rId16"/>
    <p:sldId id="558" r:id="rId17"/>
    <p:sldId id="559" r:id="rId18"/>
    <p:sldId id="560" r:id="rId19"/>
    <p:sldId id="564" r:id="rId20"/>
    <p:sldId id="553" r:id="rId21"/>
    <p:sldId id="534" r:id="rId22"/>
    <p:sldId id="565" r:id="rId23"/>
    <p:sldId id="535" r:id="rId24"/>
    <p:sldId id="536" r:id="rId25"/>
    <p:sldId id="554" r:id="rId26"/>
    <p:sldId id="566" r:id="rId27"/>
    <p:sldId id="3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16C9-A0DD-4CD2-A5AD-705363F0F4B2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49297-C69C-495A-8D11-2E3D6092000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585F-6C9C-41F0-9F81-69DAC41F4C51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A77DE-5755-490B-A664-E23F4E4E43E7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9FC4-20F8-4F53-BD2D-A6EB96EB1204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5A80-65A1-4802-865F-A8CCC6C95A6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B0879-B5D7-4E19-B8E6-3E08EB94907D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75F9-6EEF-4186-BD41-6FD9CFFAF447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98DA-E31E-4CF9-8B42-2FABAD1F0606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6A8EA-8F73-43A9-B18C-48ED0F463D31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6021-CE85-4A4D-A140-1D418469C454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8E440-F617-46B2-851A-0512DCB3C54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7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7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55123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7F0B-DC00-4B47-99C6-BDE9F0DE2B19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DE9083-29D9-13C2-D4C9-4BB04C48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370" y="2129127"/>
            <a:ext cx="10192966" cy="5557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Basic Operations on signals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D7C0-774D-63F5-803A-7F9DE03DE120}"/>
              </a:ext>
            </a:extLst>
          </p:cNvPr>
          <p:cNvSpPr txBox="1"/>
          <p:nvPr/>
        </p:nvSpPr>
        <p:spPr>
          <a:xfrm>
            <a:off x="2976664" y="5130101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1316-2C16-6641-F8AE-E6021BC25AF8}"/>
              </a:ext>
            </a:extLst>
          </p:cNvPr>
          <p:cNvSpPr txBox="1"/>
          <p:nvPr/>
        </p:nvSpPr>
        <p:spPr>
          <a:xfrm>
            <a:off x="2535676" y="2857412"/>
            <a:ext cx="7924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Operations on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dependent</a:t>
            </a: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 variables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Operations on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independent</a:t>
            </a: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 variables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3716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Basic Operations on signals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0D52A-1404-C4CE-E424-0F376878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91B67-DCA0-4DA0-B806-A941184C3823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14CEB-990F-539E-82A6-C6F18364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2B974-6B24-405D-0139-F39A990A5A9E}"/>
              </a:ext>
            </a:extLst>
          </p:cNvPr>
          <p:cNvSpPr txBox="1"/>
          <p:nvPr/>
        </p:nvSpPr>
        <p:spPr>
          <a:xfrm>
            <a:off x="1981200" y="3019962"/>
            <a:ext cx="7924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Operations on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dependent</a:t>
            </a: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 variables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Operations on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independent</a:t>
            </a:r>
            <a:r>
              <a:rPr lang="en-US" sz="3600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 variables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938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445E-2994-DE15-EAD0-330C0D11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7159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Operations on dependent variables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D562B139-7B0E-1805-BFB2-C91A8D9D4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914400"/>
            <a:ext cx="3173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3">
            <a:extLst>
              <a:ext uri="{FF2B5EF4-FFF2-40B4-BE49-F238E27FC236}">
                <a16:creationId xmlns:a16="http://schemas.microsoft.com/office/drawing/2014/main" id="{6AA898A1-C7D1-AFD1-2E04-A6D709A7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389" y="914400"/>
            <a:ext cx="25606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4">
            <a:extLst>
              <a:ext uri="{FF2B5EF4-FFF2-40B4-BE49-F238E27FC236}">
                <a16:creationId xmlns:a16="http://schemas.microsoft.com/office/drawing/2014/main" id="{A3FA9D4F-CB3C-FB7E-155F-142992029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5426075"/>
            <a:ext cx="8458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803BD"/>
                </a:solidFill>
                <a:latin typeface="Arial" panose="020B0604020202020204" pitchFamily="34" charset="0"/>
              </a:rPr>
              <a:t>Only Amplitude is changing, but no change in frequency</a:t>
            </a:r>
          </a:p>
        </p:txBody>
      </p:sp>
      <p:pic>
        <p:nvPicPr>
          <p:cNvPr id="14342" name="Picture 5">
            <a:extLst>
              <a:ext uri="{FF2B5EF4-FFF2-40B4-BE49-F238E27FC236}">
                <a16:creationId xmlns:a16="http://schemas.microsoft.com/office/drawing/2014/main" id="{3A274D7B-34C3-6A94-06F7-DD834EC18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1"/>
            <a:ext cx="2762250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6">
            <a:extLst>
              <a:ext uri="{FF2B5EF4-FFF2-40B4-BE49-F238E27FC236}">
                <a16:creationId xmlns:a16="http://schemas.microsoft.com/office/drawing/2014/main" id="{4101BFF9-F23D-2632-A6E3-DB1A8808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81201"/>
            <a:ext cx="26670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7">
            <a:extLst>
              <a:ext uri="{FF2B5EF4-FFF2-40B4-BE49-F238E27FC236}">
                <a16:creationId xmlns:a16="http://schemas.microsoft.com/office/drawing/2014/main" id="{007C8908-9F87-0F0F-6F2A-A235143A6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1981201"/>
            <a:ext cx="27051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9">
            <a:extLst>
              <a:ext uri="{FF2B5EF4-FFF2-40B4-BE49-F238E27FC236}">
                <a16:creationId xmlns:a16="http://schemas.microsoft.com/office/drawing/2014/main" id="{AB5A0485-5E5B-1E21-9AC7-69DBB5D9C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1600200"/>
            <a:ext cx="1819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0F544803-93A2-9657-46CE-42A9CBCBC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676401"/>
            <a:ext cx="16192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E6C7B-DFDF-F025-67DA-8C846F68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3A6-878E-495A-B17E-1CA653ADC384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FD518-0BE6-A49B-0CED-54931CAB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5004E413-3458-509A-8643-5ADE6677C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5264"/>
            <a:ext cx="3581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803BD"/>
                </a:solidFill>
                <a:latin typeface="Arial" panose="020B0604020202020204" pitchFamily="34" charset="0"/>
              </a:rPr>
              <a:t>Amplitude Scaling</a:t>
            </a:r>
          </a:p>
        </p:txBody>
      </p:sp>
      <p:pic>
        <p:nvPicPr>
          <p:cNvPr id="15363" name="Picture 5">
            <a:extLst>
              <a:ext uri="{FF2B5EF4-FFF2-40B4-BE49-F238E27FC236}">
                <a16:creationId xmlns:a16="http://schemas.microsoft.com/office/drawing/2014/main" id="{9D4C8BA5-6800-22D1-B19F-5E38D7FE2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38" y="717550"/>
            <a:ext cx="16383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6">
            <a:extLst>
              <a:ext uri="{FF2B5EF4-FFF2-40B4-BE49-F238E27FC236}">
                <a16:creationId xmlns:a16="http://schemas.microsoft.com/office/drawing/2014/main" id="{8752E3E9-194A-4125-4D19-171DB56DB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39" y="2725739"/>
            <a:ext cx="20415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7">
            <a:extLst>
              <a:ext uri="{FF2B5EF4-FFF2-40B4-BE49-F238E27FC236}">
                <a16:creationId xmlns:a16="http://schemas.microsoft.com/office/drawing/2014/main" id="{0937E007-2EDC-E98B-29B1-6FCC58CB1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0" y="5106989"/>
            <a:ext cx="17526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8">
            <a:extLst>
              <a:ext uri="{FF2B5EF4-FFF2-40B4-BE49-F238E27FC236}">
                <a16:creationId xmlns:a16="http://schemas.microsoft.com/office/drawing/2014/main" id="{7EC67F40-A229-4B74-F4AA-4EE57C0BE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119064"/>
            <a:ext cx="2262188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9">
            <a:extLst>
              <a:ext uri="{FF2B5EF4-FFF2-40B4-BE49-F238E27FC236}">
                <a16:creationId xmlns:a16="http://schemas.microsoft.com/office/drawing/2014/main" id="{242B9A19-24EE-68A5-7C5B-6C587ED54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2346325"/>
            <a:ext cx="2471738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10">
            <a:extLst>
              <a:ext uri="{FF2B5EF4-FFF2-40B4-BE49-F238E27FC236}">
                <a16:creationId xmlns:a16="http://schemas.microsoft.com/office/drawing/2014/main" id="{D19D4826-F5E9-E73D-5DAD-336223ABA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824414"/>
            <a:ext cx="259080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A83B1-08D2-E34C-EB4A-E0702097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80F6-FD78-4D6C-8B6A-A16A13F80C1E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BE4E4-B3D5-0DAD-7FE3-D5C0E6BDB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7EA822F-930C-6E7C-A199-F49405B5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76200"/>
            <a:ext cx="44196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>
                <a:solidFill>
                  <a:srgbClr val="38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Amplitude Shifting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3D7F8-2715-B698-64AD-2251A422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57600"/>
            <a:ext cx="2057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285CEE-DA35-F51E-C8C1-BC4015C50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502276"/>
            <a:ext cx="1905000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355D6E-57ED-65C9-CB31-DA76D591E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505200"/>
            <a:ext cx="227488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951234-4BD0-DA88-E9D7-A59B90F4A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108701"/>
            <a:ext cx="19050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C6FA8A-06B3-F232-A06B-D3512C04D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5791201"/>
            <a:ext cx="18192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7" name="Picture 11">
            <a:extLst>
              <a:ext uri="{FF2B5EF4-FFF2-40B4-BE49-F238E27FC236}">
                <a16:creationId xmlns:a16="http://schemas.microsoft.com/office/drawing/2014/main" id="{8CE5C2CB-335D-6C51-469E-268C2D04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5334001"/>
            <a:ext cx="9715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CCB31F-96C3-CDAB-3C69-D3C921859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685800"/>
            <a:ext cx="3033713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FFA79-735A-22C4-66F8-6423B7969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6" y="3657601"/>
            <a:ext cx="2752725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CDFE17-57D5-D48F-A4E5-BA539381C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33400"/>
            <a:ext cx="6081713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FA761-E69B-F66F-7384-F78180F2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F1A9B-0695-4EDB-841A-9845B9BC7D87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C73F8-E63C-0347-9B97-786F68E6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2CF434B-65E8-CFD7-E44E-072CDA89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1"/>
            <a:ext cx="9144000" cy="754063"/>
          </a:xfrm>
        </p:spPr>
        <p:txBody>
          <a:bodyPr/>
          <a:lstStyle/>
          <a:p>
            <a:r>
              <a:rPr lang="en-US" altLang="en-US" sz="3600">
                <a:solidFill>
                  <a:srgbClr val="4804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Addition / </a:t>
            </a:r>
            <a:r>
              <a:rPr lang="en-US" altLang="en-US" sz="3600">
                <a:solidFill>
                  <a:srgbClr val="058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Subtraction/ Multiplication 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9FD72376-91FA-6435-3446-1C506E14C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14400"/>
            <a:ext cx="249396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0A1447C2-A955-4550-D05C-6B0DBB492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838450"/>
            <a:ext cx="2493963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C5C58-7AE5-773F-2A0F-1E4C83936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1" y="4743450"/>
            <a:ext cx="2644775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C0BE7-654A-4B19-4857-1D2524F6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914400"/>
            <a:ext cx="228600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8D648-C4BF-DD56-C9C7-6F6730A01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0" y="4114801"/>
            <a:ext cx="2643188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1496AA8B-72B2-0355-D849-9E46165F1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281239"/>
            <a:ext cx="2705100" cy="150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DC1E6-52CF-820B-3290-D64FDA69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D79F-C4F7-4E9C-B122-118FFE4F9A9B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E5A7C-CB68-CDB0-2A2A-3713F8C4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>
            <a:extLst>
              <a:ext uri="{FF2B5EF4-FFF2-40B4-BE49-F238E27FC236}">
                <a16:creationId xmlns:a16="http://schemas.microsoft.com/office/drawing/2014/main" id="{1B603774-7E07-F5BC-CB69-5DD3E6D7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"/>
            <a:ext cx="3124200" cy="19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4">
            <a:extLst>
              <a:ext uri="{FF2B5EF4-FFF2-40B4-BE49-F238E27FC236}">
                <a16:creationId xmlns:a16="http://schemas.microsoft.com/office/drawing/2014/main" id="{1497CA9B-B0D7-0BFE-6BF9-0BDFDCD1E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1839913"/>
            <a:ext cx="3200400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5">
            <a:extLst>
              <a:ext uri="{FF2B5EF4-FFF2-40B4-BE49-F238E27FC236}">
                <a16:creationId xmlns:a16="http://schemas.microsoft.com/office/drawing/2014/main" id="{CDB58ABA-823C-9D6E-D234-3E93285E4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6" y="3756026"/>
            <a:ext cx="2974975" cy="305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6">
            <a:extLst>
              <a:ext uri="{FF2B5EF4-FFF2-40B4-BE49-F238E27FC236}">
                <a16:creationId xmlns:a16="http://schemas.microsoft.com/office/drawing/2014/main" id="{CC85BFC2-EE4E-4196-66C1-5CDE31F9F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604963"/>
            <a:ext cx="351155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BF901-7780-3043-6743-F9B93ECB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F342-C815-4274-8B24-86E4B03E39CC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97798-9E35-EE57-993B-23C74F1B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Signal Multiplication</a:t>
            </a:r>
          </a:p>
        </p:txBody>
      </p:sp>
      <p:pic>
        <p:nvPicPr>
          <p:cNvPr id="1986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905000"/>
            <a:ext cx="906213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A0FDE-88E5-CE0D-68CA-702BFD09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793A-B575-4769-BFEA-29FAD39F0927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D84AA-2279-5119-47E4-BAC79FE1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4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514600"/>
            <a:ext cx="84582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Operations on independent variables</a:t>
            </a:r>
            <a:endParaRPr lang="en-US" sz="3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B2420-F001-87FC-CE1C-94F8A429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F659-0C84-4885-AB00-8A08F84AF05A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1D4B9-D3AD-A0FC-7F22-1D6B2519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52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685800"/>
            <a:ext cx="29718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09600"/>
            <a:ext cx="3048000" cy="160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124200"/>
            <a:ext cx="404123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00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01" name="Object 1"/>
          <p:cNvGraphicFramePr>
            <a:graphicFrameLocks noChangeAspect="1"/>
          </p:cNvGraphicFramePr>
          <p:nvPr/>
        </p:nvGraphicFramePr>
        <p:xfrm>
          <a:off x="6400800" y="152400"/>
          <a:ext cx="162098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8975" imgH="203112" progId="Equation.DSMT4">
                  <p:embed/>
                </p:oleObj>
              </mc:Choice>
              <mc:Fallback>
                <p:oleObj name="Equation" r:id="rId5" imgW="748975" imgH="203112" progId="Equation.DSMT4">
                  <p:embed/>
                  <p:pic>
                    <p:nvPicPr>
                      <p:cNvPr id="2560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52400"/>
                        <a:ext cx="162098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03" name="Object 3"/>
          <p:cNvGraphicFramePr>
            <a:graphicFrameLocks noChangeAspect="1"/>
          </p:cNvGraphicFramePr>
          <p:nvPr/>
        </p:nvGraphicFramePr>
        <p:xfrm>
          <a:off x="2286001" y="3124200"/>
          <a:ext cx="1922929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600" imgH="330200" progId="Equation.DSMT4">
                  <p:embed/>
                </p:oleObj>
              </mc:Choice>
              <mc:Fallback>
                <p:oleObj name="Equation" r:id="rId7" imgW="736600" imgH="330200" progId="Equation.DSMT4">
                  <p:embed/>
                  <p:pic>
                    <p:nvPicPr>
                      <p:cNvPr id="2560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3124200"/>
                        <a:ext cx="1922929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AC47C-1BCA-6C06-A02F-8071DCCE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6D6A-B6D7-49BA-BE89-72D3AD710844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401A2-F039-AEAA-A02C-742973E1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0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EBF0A15-7FF6-D958-B1BA-6B6953C1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876"/>
            <a:ext cx="8229600" cy="715963"/>
          </a:xfrm>
        </p:spPr>
        <p:txBody>
          <a:bodyPr/>
          <a:lstStyle/>
          <a:p>
            <a:pPr algn="l"/>
            <a:r>
              <a:rPr lang="en-US" altLang="en-US" sz="3600">
                <a:solidFill>
                  <a:srgbClr val="4804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scaling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27AC8916-0DC4-C122-9E13-FAE80777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671513"/>
            <a:ext cx="348456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AB8FF-BA43-E8D2-1281-A690CAAE3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8" y="2895601"/>
            <a:ext cx="22098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F4A84-E97C-8680-F352-91BFBA86E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953001"/>
            <a:ext cx="4495800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C52501-D902-257C-A00A-2890EEB0E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4" y="6350"/>
            <a:ext cx="3049587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1A32F-6744-C0CD-AD6C-19FAE5045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38" y="2184400"/>
            <a:ext cx="255270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62255-5BF1-CE57-ADFC-3E532C366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464" y="4154489"/>
            <a:ext cx="501967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FCEFE-53D5-F3A5-277E-D5F8B16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2FE1-52DD-41EC-90D6-FFC5436961C2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0331E-CB18-5699-0830-C93416A6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9316" y="65315"/>
            <a:ext cx="2553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Time scaling</a:t>
            </a:r>
            <a:r>
              <a:rPr lang="en-US" sz="28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: </a:t>
            </a:r>
          </a:p>
        </p:txBody>
      </p:sp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1236" y="609600"/>
            <a:ext cx="9081339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752600" y="2667001"/>
            <a:ext cx="6711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Time reflection / </a:t>
            </a:r>
            <a:r>
              <a:rPr lang="en-US" sz="3200" b="1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reversal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folding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119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505200"/>
            <a:ext cx="861822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ED452-BCF9-C22A-48CD-DED4EA18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D8F22-CBC4-4329-98B5-08181E0C48D1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B697D-6A2E-04EA-0F69-7F407FE6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E297AC8-C97B-81ED-49E4-2C7EC732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587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Reversal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Reflection /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Folding</a:t>
            </a:r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id="{BE8C7116-DD7D-16FA-6434-49DD0D648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820738"/>
            <a:ext cx="30543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7B3CE-5E75-AF66-9E9A-333C5B2BD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669926"/>
            <a:ext cx="26670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59043-DE81-A98B-85D7-A836B23D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495550"/>
            <a:ext cx="25241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D19B12-0196-7109-48E2-54435E29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398714"/>
            <a:ext cx="2794000" cy="196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1D844-FB3C-4359-AD5D-F59559398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4643438"/>
            <a:ext cx="2019300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D0CDF0-4409-84EE-5F1A-FD23828F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64" y="4608514"/>
            <a:ext cx="2020887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A1C104-1FC1-10C8-9F35-B73D8D60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73025"/>
            <a:ext cx="2133600" cy="232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AE5C9-9BF1-9D07-E994-523E0CD54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2454276"/>
            <a:ext cx="201930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950331-3714-C6CB-D33E-CCEBF7BE0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5232401"/>
            <a:ext cx="22383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2E3794-CF88-2783-A0D4-7B04DE58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5313364"/>
            <a:ext cx="21336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00A103-A280-B44B-0211-60588F20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47714-24A3-4821-B31F-60E8E998906B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854DB-F281-6B5B-AAE0-F809C21E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33680C88-C767-5489-3570-A66A66D0F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089" y="12700"/>
            <a:ext cx="27257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Time shifting</a:t>
            </a:r>
            <a:endParaRPr lang="en-US" altLang="en-US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867" name="Rectangle 9">
            <a:extLst>
              <a:ext uri="{FF2B5EF4-FFF2-40B4-BE49-F238E27FC236}">
                <a16:creationId xmlns:a16="http://schemas.microsoft.com/office/drawing/2014/main" id="{DDB4CFC2-2E87-496C-C040-42EFC3AB7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6868" name="Picture 1">
            <a:extLst>
              <a:ext uri="{FF2B5EF4-FFF2-40B4-BE49-F238E27FC236}">
                <a16:creationId xmlns:a16="http://schemas.microsoft.com/office/drawing/2014/main" id="{687305E2-792E-D173-FC78-4174C56F3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57176"/>
            <a:ext cx="20574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1DC69F-CDCC-FD18-2393-EF24D1056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92113"/>
            <a:ext cx="26670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834E9E-255A-FBD4-856B-FED8C14C6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549275"/>
            <a:ext cx="266700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99043796-6339-67ED-1680-6F64141BC1B1}"/>
              </a:ext>
            </a:extLst>
          </p:cNvPr>
          <p:cNvSpPr/>
          <p:nvPr/>
        </p:nvSpPr>
        <p:spPr>
          <a:xfrm>
            <a:off x="6138863" y="2349500"/>
            <a:ext cx="3124200" cy="6223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DBA1C93E-0AC4-7D20-CD15-769464BC9C00}"/>
              </a:ext>
            </a:extLst>
          </p:cNvPr>
          <p:cNvSpPr/>
          <p:nvPr/>
        </p:nvSpPr>
        <p:spPr>
          <a:xfrm flipH="1">
            <a:off x="2743200" y="2338388"/>
            <a:ext cx="3352800" cy="6223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B2A02-0CC2-26CA-FFE1-BF1018F42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9" y="3348039"/>
            <a:ext cx="272732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A06F9-8977-2CB8-A01B-535DC4CD1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309938"/>
            <a:ext cx="2590800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07A58B-485C-928D-0340-8C08764BD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6" y="3282951"/>
            <a:ext cx="25749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476327CD-C199-C1DB-A43A-14F3F92EBE69}"/>
              </a:ext>
            </a:extLst>
          </p:cNvPr>
          <p:cNvSpPr/>
          <p:nvPr/>
        </p:nvSpPr>
        <p:spPr>
          <a:xfrm>
            <a:off x="5930900" y="5235575"/>
            <a:ext cx="3124200" cy="6223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4B486595-0A6C-8832-E440-03A785F8EC53}"/>
              </a:ext>
            </a:extLst>
          </p:cNvPr>
          <p:cNvSpPr/>
          <p:nvPr/>
        </p:nvSpPr>
        <p:spPr>
          <a:xfrm flipH="1">
            <a:off x="2057400" y="5308600"/>
            <a:ext cx="3733800" cy="6238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7C51F-70D9-A842-41C1-DAF96154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08F29-1A3F-4C32-A5F8-8A13D7B8F954}" type="datetime1">
              <a:rPr lang="en-US" smtClean="0"/>
              <a:t>7/12/2025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491C0A-B0CA-B133-EF4F-74FE5A9A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0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246A1574-8B53-A12B-36DB-88F2A31B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60338"/>
            <a:ext cx="8229600" cy="754062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Reflection and shifting</a:t>
            </a:r>
            <a:endParaRPr lang="en-US" altLang="en-US">
              <a:solidFill>
                <a:srgbClr val="2603BD"/>
              </a:solidFill>
            </a:endParaRPr>
          </a:p>
        </p:txBody>
      </p:sp>
      <p:pic>
        <p:nvPicPr>
          <p:cNvPr id="37891" name="Picture 3">
            <a:extLst>
              <a:ext uri="{FF2B5EF4-FFF2-40B4-BE49-F238E27FC236}">
                <a16:creationId xmlns:a16="http://schemas.microsoft.com/office/drawing/2014/main" id="{E81F975C-C08D-8EA8-2569-6948F321B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914400"/>
            <a:ext cx="28194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DF2591-D093-F2EB-C439-0D9F6C9AD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940051"/>
            <a:ext cx="281940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57287B-4A18-DC4B-086C-7763893B0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005138"/>
            <a:ext cx="20574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519A8B-8E0C-56E4-EC2F-8E5535374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2895601"/>
            <a:ext cx="297180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8F83C7C7-7FC7-B3DE-AF62-979ED5F7AD3E}"/>
              </a:ext>
            </a:extLst>
          </p:cNvPr>
          <p:cNvSpPr/>
          <p:nvPr/>
        </p:nvSpPr>
        <p:spPr>
          <a:xfrm>
            <a:off x="6083300" y="4953000"/>
            <a:ext cx="3124200" cy="6223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96E1C269-2393-3DE1-95E3-2EF3CAA808A5}"/>
              </a:ext>
            </a:extLst>
          </p:cNvPr>
          <p:cNvSpPr/>
          <p:nvPr/>
        </p:nvSpPr>
        <p:spPr>
          <a:xfrm flipH="1">
            <a:off x="2819400" y="4953000"/>
            <a:ext cx="3124200" cy="6223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94D96-9401-4E11-A6EE-DDEAAC1E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B8DC8-2DB8-4D7C-991E-3ABE205F8164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0D7A-C263-C2D4-65E1-8C84B943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EF948B50-610C-D523-67FB-85E21B5F1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30337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5" name="Picture 3">
            <a:extLst>
              <a:ext uri="{FF2B5EF4-FFF2-40B4-BE49-F238E27FC236}">
                <a16:creationId xmlns:a16="http://schemas.microsoft.com/office/drawing/2014/main" id="{3172B851-7E97-CDEA-FCDF-0F4B49A13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0"/>
            <a:ext cx="255746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6" name="Picture 4">
            <a:extLst>
              <a:ext uri="{FF2B5EF4-FFF2-40B4-BE49-F238E27FC236}">
                <a16:creationId xmlns:a16="http://schemas.microsoft.com/office/drawing/2014/main" id="{FB6271DD-7D3E-3F38-E397-9B0F70DDD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228600"/>
            <a:ext cx="23098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5">
            <a:extLst>
              <a:ext uri="{FF2B5EF4-FFF2-40B4-BE49-F238E27FC236}">
                <a16:creationId xmlns:a16="http://schemas.microsoft.com/office/drawing/2014/main" id="{2D001CBA-2E1A-542C-231E-E16781666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8" y="152401"/>
            <a:ext cx="128111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9" name="Picture 7">
            <a:extLst>
              <a:ext uri="{FF2B5EF4-FFF2-40B4-BE49-F238E27FC236}">
                <a16:creationId xmlns:a16="http://schemas.microsoft.com/office/drawing/2014/main" id="{BE4AD187-94AF-81B3-CD39-60843A641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3581400"/>
            <a:ext cx="30575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0" name="Picture 8">
            <a:extLst>
              <a:ext uri="{FF2B5EF4-FFF2-40B4-BE49-F238E27FC236}">
                <a16:creationId xmlns:a16="http://schemas.microsoft.com/office/drawing/2014/main" id="{9083DF11-DD5C-CE55-E474-BD4A4E1F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581401"/>
            <a:ext cx="4038600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1" name="Picture 9">
            <a:extLst>
              <a:ext uri="{FF2B5EF4-FFF2-40B4-BE49-F238E27FC236}">
                <a16:creationId xmlns:a16="http://schemas.microsoft.com/office/drawing/2014/main" id="{1B072730-14D8-AC9B-78F6-E05485555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4" y="3352800"/>
            <a:ext cx="19510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E5A1D5-A99B-B87F-0A04-48FD3CA18CAD}"/>
              </a:ext>
            </a:extLst>
          </p:cNvPr>
          <p:cNvCxnSpPr/>
          <p:nvPr/>
        </p:nvCxnSpPr>
        <p:spPr>
          <a:xfrm>
            <a:off x="8107363" y="3352800"/>
            <a:ext cx="15240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762" name="Picture 10">
            <a:extLst>
              <a:ext uri="{FF2B5EF4-FFF2-40B4-BE49-F238E27FC236}">
                <a16:creationId xmlns:a16="http://schemas.microsoft.com/office/drawing/2014/main" id="{2679EAD6-7595-66C0-4CB2-789849E1C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038601"/>
            <a:ext cx="152400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E013B643-8C39-9DF5-4A30-A15344E2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3200400"/>
            <a:ext cx="1266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4" name="Picture 12">
            <a:extLst>
              <a:ext uri="{FF2B5EF4-FFF2-40B4-BE49-F238E27FC236}">
                <a16:creationId xmlns:a16="http://schemas.microsoft.com/office/drawing/2014/main" id="{B28C483A-E9EC-8AED-D287-A8E8C98EF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5562600"/>
            <a:ext cx="3352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B5931-282F-A16D-CCD5-A8C992A1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AC7E-9D28-4D24-8D19-A11D583D238C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B8BF2-A91D-CFD6-5915-1F133ED6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F8BD15B7-8A57-0E2A-E8A2-1A6BD44C8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"/>
            <a:ext cx="7467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2603BD"/>
                </a:solidFill>
                <a:latin typeface="Arial" panose="020B0604020202020204" pitchFamily="34" charset="0"/>
              </a:rPr>
              <a:t>Time shifting and Time scaling</a:t>
            </a:r>
          </a:p>
        </p:txBody>
      </p:sp>
      <p:sp>
        <p:nvSpPr>
          <p:cNvPr id="46083" name="Rectangle 9">
            <a:extLst>
              <a:ext uri="{FF2B5EF4-FFF2-40B4-BE49-F238E27FC236}">
                <a16:creationId xmlns:a16="http://schemas.microsoft.com/office/drawing/2014/main" id="{5192EDDC-4A6D-7B64-16B0-B476F4B05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9940" name="Picture 1">
            <a:extLst>
              <a:ext uri="{FF2B5EF4-FFF2-40B4-BE49-F238E27FC236}">
                <a16:creationId xmlns:a16="http://schemas.microsoft.com/office/drawing/2014/main" id="{4540AB1D-928B-FFDD-D2AA-5B0BEAA77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00400"/>
            <a:ext cx="7932738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32315F-BB93-51F0-90AF-FC7788DAD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932364"/>
            <a:ext cx="8077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TextBox 5">
            <a:extLst>
              <a:ext uri="{FF2B5EF4-FFF2-40B4-BE49-F238E27FC236}">
                <a16:creationId xmlns:a16="http://schemas.microsoft.com/office/drawing/2014/main" id="{D90918ED-BDC8-68CB-B841-8912DB38F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85801"/>
            <a:ext cx="845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latin typeface="Arial" panose="020B0604020202020204" pitchFamily="34" charset="0"/>
              </a:rPr>
              <a:t>In several cases, it is needed to perform several operations simultaneously, such as time shifting and time scaling. </a:t>
            </a:r>
          </a:p>
        </p:txBody>
      </p:sp>
      <p:pic>
        <p:nvPicPr>
          <p:cNvPr id="39943" name="Picture 7">
            <a:extLst>
              <a:ext uri="{FF2B5EF4-FFF2-40B4-BE49-F238E27FC236}">
                <a16:creationId xmlns:a16="http://schemas.microsoft.com/office/drawing/2014/main" id="{77D70771-41B9-57F6-BA8D-B597A83BE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0"/>
            <a:ext cx="30051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4" name="Picture 8">
            <a:extLst>
              <a:ext uri="{FF2B5EF4-FFF2-40B4-BE49-F238E27FC236}">
                <a16:creationId xmlns:a16="http://schemas.microsoft.com/office/drawing/2014/main" id="{3E063C4B-3DF0-CEDB-4200-C88D1D50E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47800"/>
            <a:ext cx="29718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7" name="Picture 11">
            <a:extLst>
              <a:ext uri="{FF2B5EF4-FFF2-40B4-BE49-F238E27FC236}">
                <a16:creationId xmlns:a16="http://schemas.microsoft.com/office/drawing/2014/main" id="{6E792EB0-C0E6-F690-CAF7-B3070438B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62200"/>
            <a:ext cx="1219200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F62F569C-31C9-EB71-BE82-60304EF1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1828800"/>
            <a:ext cx="1219200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8" name="Picture 12">
            <a:extLst>
              <a:ext uri="{FF2B5EF4-FFF2-40B4-BE49-F238E27FC236}">
                <a16:creationId xmlns:a16="http://schemas.microsoft.com/office/drawing/2014/main" id="{A3B33990-FA95-E691-3D91-6F919ACCA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86000"/>
            <a:ext cx="114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0E639385-F68C-49FB-7EC4-984CB219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438400"/>
            <a:ext cx="114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84EA76-AEC9-5223-EA39-843F556D61CB}"/>
              </a:ext>
            </a:extLst>
          </p:cNvPr>
          <p:cNvCxnSpPr/>
          <p:nvPr/>
        </p:nvCxnSpPr>
        <p:spPr>
          <a:xfrm flipH="1">
            <a:off x="3886200" y="1981200"/>
            <a:ext cx="304800" cy="5397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A78104-B575-0322-958A-A2D3C11728DC}"/>
              </a:ext>
            </a:extLst>
          </p:cNvPr>
          <p:cNvCxnSpPr/>
          <p:nvPr/>
        </p:nvCxnSpPr>
        <p:spPr>
          <a:xfrm>
            <a:off x="4953000" y="20574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C358BF-6BA4-677A-FE16-14B4ABDDCB29}"/>
              </a:ext>
            </a:extLst>
          </p:cNvPr>
          <p:cNvCxnSpPr/>
          <p:nvPr/>
        </p:nvCxnSpPr>
        <p:spPr>
          <a:xfrm flipH="1">
            <a:off x="8077200" y="2286000"/>
            <a:ext cx="3048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A287A3-7BC4-4F6C-DF4C-00589119896B}"/>
              </a:ext>
            </a:extLst>
          </p:cNvPr>
          <p:cNvCxnSpPr/>
          <p:nvPr/>
        </p:nvCxnSpPr>
        <p:spPr>
          <a:xfrm>
            <a:off x="8839200" y="17526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FCA1E-9C67-AC60-9F62-04DFF45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1A866-B7CB-4665-AA59-673C279B8549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066E8-3C1E-BA5A-E17E-EF6B448D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>
            <a:extLst>
              <a:ext uri="{FF2B5EF4-FFF2-40B4-BE49-F238E27FC236}">
                <a16:creationId xmlns:a16="http://schemas.microsoft.com/office/drawing/2014/main" id="{33FDEA31-0312-DB57-665D-7C7D49EFC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089" y="12700"/>
            <a:ext cx="61547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Time shifting and Time scaling</a:t>
            </a:r>
            <a:endParaRPr lang="en-US" altLang="en-US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212997" name="Picture 5">
            <a:extLst>
              <a:ext uri="{FF2B5EF4-FFF2-40B4-BE49-F238E27FC236}">
                <a16:creationId xmlns:a16="http://schemas.microsoft.com/office/drawing/2014/main" id="{5738BB5C-DAD2-2DE1-77DE-BBD3BC618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2481264"/>
            <a:ext cx="33528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998" name="Picture 6">
            <a:extLst>
              <a:ext uri="{FF2B5EF4-FFF2-40B4-BE49-F238E27FC236}">
                <a16:creationId xmlns:a16="http://schemas.microsoft.com/office/drawing/2014/main" id="{D077186A-DE50-B24B-ED9A-A173575CC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89" y="3522664"/>
            <a:ext cx="318928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999" name="Picture 7">
            <a:extLst>
              <a:ext uri="{FF2B5EF4-FFF2-40B4-BE49-F238E27FC236}">
                <a16:creationId xmlns:a16="http://schemas.microsoft.com/office/drawing/2014/main" id="{943F2B34-D302-0195-AF75-088FF0283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4" y="4478338"/>
            <a:ext cx="3519487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73C52E2-D4FF-0D2E-BF9D-D14CAEEF7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588964"/>
            <a:ext cx="89916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803BD"/>
                </a:solidFill>
                <a:latin typeface="Arial" panose="020B0604020202020204" pitchFamily="34" charset="0"/>
              </a:rPr>
              <a:t>Case1:</a:t>
            </a:r>
            <a:r>
              <a:rPr lang="en-US" altLang="en-US" sz="2800">
                <a:solidFill>
                  <a:srgbClr val="3803BD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B050"/>
                </a:solidFill>
                <a:latin typeface="Arial" panose="020B0604020202020204" pitchFamily="34" charset="0"/>
              </a:rPr>
              <a:t>The combined transformation of Time shifting, and Time scaling is represented by an equation</a:t>
            </a:r>
          </a:p>
        </p:txBody>
      </p:sp>
      <p:sp>
        <p:nvSpPr>
          <p:cNvPr id="47111" name="Rectangle 9">
            <a:extLst>
              <a:ext uri="{FF2B5EF4-FFF2-40B4-BE49-F238E27FC236}">
                <a16:creationId xmlns:a16="http://schemas.microsoft.com/office/drawing/2014/main" id="{155E596E-32FA-4A03-4DD8-DB41C6C1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13000" name="Object 14">
            <a:extLst>
              <a:ext uri="{FF2B5EF4-FFF2-40B4-BE49-F238E27FC236}">
                <a16:creationId xmlns:a16="http://schemas.microsoft.com/office/drawing/2014/main" id="{8CAB129F-0135-8851-0D18-FD3510350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1" y="1554164"/>
          <a:ext cx="31718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079200" imgH="5181600" progId="Equation.DSMT4">
                  <p:embed/>
                </p:oleObj>
              </mc:Choice>
              <mc:Fallback>
                <p:oleObj name="Equation" r:id="rId5" imgW="24079200" imgH="5181600" progId="Equation.DSMT4">
                  <p:embed/>
                  <p:pic>
                    <p:nvPicPr>
                      <p:cNvPr id="213000" name="Object 14">
                        <a:extLst>
                          <a:ext uri="{FF2B5EF4-FFF2-40B4-BE49-F238E27FC236}">
                            <a16:creationId xmlns:a16="http://schemas.microsoft.com/office/drawing/2014/main" id="{8CAB129F-0135-8851-0D18-FD3510350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1554164"/>
                        <a:ext cx="31718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B7D9592-08E2-9BB6-51F5-5B00AD7C9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064" y="5719764"/>
            <a:ext cx="77803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2603BD"/>
                </a:solidFill>
                <a:latin typeface="Arial" panose="020B0604020202020204" pitchFamily="34" charset="0"/>
              </a:rPr>
              <a:t>Step1: Time shifting,  and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2603BD"/>
                </a:solidFill>
                <a:latin typeface="Arial" panose="020B0604020202020204" pitchFamily="34" charset="0"/>
              </a:rPr>
              <a:t>Step2: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Time  scaling </a:t>
            </a:r>
            <a:r>
              <a:rPr lang="en-US" altLang="en-US" sz="2800">
                <a:solidFill>
                  <a:srgbClr val="2603BD"/>
                </a:solidFill>
                <a:latin typeface="Arial" panose="020B0604020202020204" pitchFamily="34" charset="0"/>
              </a:rPr>
              <a:t>operations</a:t>
            </a:r>
          </a:p>
        </p:txBody>
      </p:sp>
      <p:pic>
        <p:nvPicPr>
          <p:cNvPr id="47114" name="Picture 1">
            <a:extLst>
              <a:ext uri="{FF2B5EF4-FFF2-40B4-BE49-F238E27FC236}">
                <a16:creationId xmlns:a16="http://schemas.microsoft.com/office/drawing/2014/main" id="{12D96CE6-0D8B-EB77-6C59-578BF8722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988" y="2219325"/>
            <a:ext cx="5027612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146EC-7541-325A-B1E6-4EF68B35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98CD-7F0F-4D73-9E9C-F706B736039C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8E2C-ABD7-17CC-864A-FAB4CB92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3">
            <a:extLst>
              <a:ext uri="{FF2B5EF4-FFF2-40B4-BE49-F238E27FC236}">
                <a16:creationId xmlns:a16="http://schemas.microsoft.com/office/drawing/2014/main" id="{CED069A7-BC77-B46D-8717-1A232102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4238625"/>
            <a:ext cx="213360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0" name="Picture 4">
            <a:extLst>
              <a:ext uri="{FF2B5EF4-FFF2-40B4-BE49-F238E27FC236}">
                <a16:creationId xmlns:a16="http://schemas.microsoft.com/office/drawing/2014/main" id="{6D7469F3-5625-20C6-C713-C36A818F4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901" y="4337050"/>
            <a:ext cx="17383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1" name="Picture 5">
            <a:extLst>
              <a:ext uri="{FF2B5EF4-FFF2-40B4-BE49-F238E27FC236}">
                <a16:creationId xmlns:a16="http://schemas.microsoft.com/office/drawing/2014/main" id="{CD9302E7-8572-88D4-6D37-DC7BD386A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589" y="4710114"/>
            <a:ext cx="2738437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2" name="Picture 6">
            <a:extLst>
              <a:ext uri="{FF2B5EF4-FFF2-40B4-BE49-F238E27FC236}">
                <a16:creationId xmlns:a16="http://schemas.microsoft.com/office/drawing/2014/main" id="{C8D0095A-168A-AF4C-6642-6D97DCAE8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4406900"/>
            <a:ext cx="34290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814560-0E91-FE16-C8BB-985F6DB6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1" y="2181225"/>
            <a:ext cx="90662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CC0569-790B-E1EF-2133-AE8E86E97631}"/>
              </a:ext>
            </a:extLst>
          </p:cNvPr>
          <p:cNvSpPr txBox="1"/>
          <p:nvPr/>
        </p:nvSpPr>
        <p:spPr>
          <a:xfrm>
            <a:off x="1704499" y="1691227"/>
            <a:ext cx="1676400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Case1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BD53AB-802F-CC35-BCF3-33DF4BC2A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1" y="3562350"/>
            <a:ext cx="779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B476E-AD8A-C041-2BA5-20C777899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138" y="3582988"/>
            <a:ext cx="779462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8" name="Picture 10">
            <a:extLst>
              <a:ext uri="{FF2B5EF4-FFF2-40B4-BE49-F238E27FC236}">
                <a16:creationId xmlns:a16="http://schemas.microsoft.com/office/drawing/2014/main" id="{329C1BD2-1F43-4866-6681-8D9CD364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288"/>
            <a:ext cx="9029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1952EB-CCB8-1BD2-9649-4A4C733F6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800100"/>
            <a:ext cx="99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53DDDB-2EB0-9D4F-F6AA-CA9A3D9E7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475" y="793750"/>
            <a:ext cx="99060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EAB42-AB6E-9EBE-8CF4-8EE652D9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AABE-779D-4D41-A1EA-69B656DAF843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1703B-CA3D-226A-BA5F-7D2B0AD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8">
            <a:extLst>
              <a:ext uri="{FF2B5EF4-FFF2-40B4-BE49-F238E27FC236}">
                <a16:creationId xmlns:a16="http://schemas.microsoft.com/office/drawing/2014/main" id="{0627F8BE-0F09-F424-C0BD-95A937746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04801"/>
            <a:ext cx="891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Case2:</a:t>
            </a:r>
            <a:endParaRPr lang="en-US" altLang="en-US" sz="2400">
              <a:solidFill>
                <a:srgbClr val="4804F2"/>
              </a:solidFill>
              <a:latin typeface="Arial" panose="020B0604020202020204" pitchFamily="34" charset="0"/>
            </a:endParaRPr>
          </a:p>
        </p:txBody>
      </p:sp>
      <p:pic>
        <p:nvPicPr>
          <p:cNvPr id="49155" name="Picture 1">
            <a:extLst>
              <a:ext uri="{FF2B5EF4-FFF2-40B4-BE49-F238E27FC236}">
                <a16:creationId xmlns:a16="http://schemas.microsoft.com/office/drawing/2014/main" id="{ED2471FC-8BB2-A29B-54B4-CBA2AA18E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8763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5">
            <a:extLst>
              <a:ext uri="{FF2B5EF4-FFF2-40B4-BE49-F238E27FC236}">
                <a16:creationId xmlns:a16="http://schemas.microsoft.com/office/drawing/2014/main" id="{87BA705F-6F6E-FF08-D646-F0F66EDE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144463"/>
            <a:ext cx="5468938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1">
            <a:extLst>
              <a:ext uri="{FF2B5EF4-FFF2-40B4-BE49-F238E27FC236}">
                <a16:creationId xmlns:a16="http://schemas.microsoft.com/office/drawing/2014/main" id="{9FB7B8C6-DB53-701D-3681-9540CE17B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3698876"/>
            <a:ext cx="1857375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2F846A-2F8E-5A70-9ED6-B11E67DBD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3756025"/>
            <a:ext cx="27432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6D1DD-3651-E107-A0D5-277462AF2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50" y="3913188"/>
            <a:ext cx="3289300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E694E5-1549-E1C8-64D9-5DEE75FB8085}"/>
              </a:ext>
            </a:extLst>
          </p:cNvPr>
          <p:cNvCxnSpPr>
            <a:cxnSpLocks/>
          </p:cNvCxnSpPr>
          <p:nvPr/>
        </p:nvCxnSpPr>
        <p:spPr>
          <a:xfrm>
            <a:off x="5307013" y="3259138"/>
            <a:ext cx="0" cy="7794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B6CAB1-1E62-83AE-00D4-AF9E67B78448}"/>
              </a:ext>
            </a:extLst>
          </p:cNvPr>
          <p:cNvCxnSpPr/>
          <p:nvPr/>
        </p:nvCxnSpPr>
        <p:spPr>
          <a:xfrm>
            <a:off x="7772400" y="3259138"/>
            <a:ext cx="609600" cy="7794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A8304-0DFC-FEB4-DF36-87B1712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8058-3D81-4507-BA4B-EDDF40F73D04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9B77-44E2-1636-661E-95BE31D5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1068984E-CD19-2CE0-90EC-2653D16A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1" y="46038"/>
            <a:ext cx="5356225" cy="715962"/>
          </a:xfrm>
        </p:spPr>
        <p:txBody>
          <a:bodyPr/>
          <a:lstStyle/>
          <a:p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one is correct?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FF214-10B8-8700-B47E-1D0DF9C3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714376"/>
            <a:ext cx="5910262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4">
            <a:extLst>
              <a:ext uri="{FF2B5EF4-FFF2-40B4-BE49-F238E27FC236}">
                <a16:creationId xmlns:a16="http://schemas.microsoft.com/office/drawing/2014/main" id="{393E3587-919A-FEC0-355C-3D62B2721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139" y="995363"/>
            <a:ext cx="27273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6">
            <a:extLst>
              <a:ext uri="{FF2B5EF4-FFF2-40B4-BE49-F238E27FC236}">
                <a16:creationId xmlns:a16="http://schemas.microsoft.com/office/drawing/2014/main" id="{280AE8A0-E4B3-F36C-FB0D-8BACFAF6D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788" y="404813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Case1</a:t>
            </a:r>
          </a:p>
        </p:txBody>
      </p:sp>
      <p:sp>
        <p:nvSpPr>
          <p:cNvPr id="50182" name="TextBox 8">
            <a:extLst>
              <a:ext uri="{FF2B5EF4-FFF2-40B4-BE49-F238E27FC236}">
                <a16:creationId xmlns:a16="http://schemas.microsoft.com/office/drawing/2014/main" id="{062B6A78-21E3-E44B-B815-B9062716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930650"/>
            <a:ext cx="2286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Case2</a:t>
            </a:r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AD064599-3435-2B6C-A9E7-3F7A09EA0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4" y="4500563"/>
            <a:ext cx="2833687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54823-F73D-9082-F2CD-CA2FC9D2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1192-FC54-4912-949D-95864AEFFD9F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F99FF-EFC8-8A5C-0EC5-8EE6E32C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C70D75-F47F-E9FA-6879-94FDD12D9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6" y="1309689"/>
            <a:ext cx="7591425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C8DD5C-131B-DDCC-4FD5-E9CFAD699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5" y="4827588"/>
            <a:ext cx="782478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14">
            <a:extLst>
              <a:ext uri="{FF2B5EF4-FFF2-40B4-BE49-F238E27FC236}">
                <a16:creationId xmlns:a16="http://schemas.microsoft.com/office/drawing/2014/main" id="{6ECDE9FF-9133-9CE1-9E6C-135E56BFA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4950"/>
            <a:ext cx="3048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65CC38-8106-2284-A1F4-D51BD1505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303213"/>
            <a:ext cx="20256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F1DD32-40E5-7253-056D-A22E3A42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76600"/>
            <a:ext cx="2889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539ED7-2AF2-4805-2C6C-19C45DB94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13" y="3146425"/>
            <a:ext cx="216535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7061DF-98DE-EEE3-E4BD-E487769AF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03213"/>
            <a:ext cx="26431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AB4F3-CFFA-3EC5-63B8-5843D1B4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2026-9765-41E4-AAB3-B8B62FC5217E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23DCC-CD79-AEE8-34A9-28BA6BFE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C0CA04CF-587B-7E0A-7B31-9A3603589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176371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1" name="Picture 3">
            <a:extLst>
              <a:ext uri="{FF2B5EF4-FFF2-40B4-BE49-F238E27FC236}">
                <a16:creationId xmlns:a16="http://schemas.microsoft.com/office/drawing/2014/main" id="{CA657D53-A0EE-7493-F885-76DC802DA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05000"/>
            <a:ext cx="2774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2" name="Picture 4">
            <a:extLst>
              <a:ext uri="{FF2B5EF4-FFF2-40B4-BE49-F238E27FC236}">
                <a16:creationId xmlns:a16="http://schemas.microsoft.com/office/drawing/2014/main" id="{05EDAA16-18EF-4730-F7CE-98A50EAEE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590800"/>
            <a:ext cx="34099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4" name="Picture 6">
            <a:extLst>
              <a:ext uri="{FF2B5EF4-FFF2-40B4-BE49-F238E27FC236}">
                <a16:creationId xmlns:a16="http://schemas.microsoft.com/office/drawing/2014/main" id="{3A21B038-85D9-4A2B-5C00-FA9524ECA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648201"/>
            <a:ext cx="4495800" cy="19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2">
            <a:extLst>
              <a:ext uri="{FF2B5EF4-FFF2-40B4-BE49-F238E27FC236}">
                <a16:creationId xmlns:a16="http://schemas.microsoft.com/office/drawing/2014/main" id="{6B76D6F6-F2F8-D42B-4E53-56D838372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6" y="57150"/>
            <a:ext cx="8848725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40FAB-4C4E-445E-F183-D38C32C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7E76-C5B1-4C33-A83B-6CFE5C360D1F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69695-E074-9474-EC37-57BA7729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1783" y="3025303"/>
            <a:ext cx="142186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AB49C-B7CE-5040-E5D4-7ECE0E0F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F9B97-D06D-4419-B597-405B45FB0656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DC6F-E0B8-6F8B-556C-F6B2B3AB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203</Words>
  <Application>Microsoft Office PowerPoint</Application>
  <PresentationFormat>Widescreen</PresentationFormat>
  <Paragraphs>81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Equation</vt:lpstr>
      <vt:lpstr>Basic Operations on signals</vt:lpstr>
      <vt:lpstr>Basic Operations on signals</vt:lpstr>
      <vt:lpstr>Operations on dependent variables</vt:lpstr>
      <vt:lpstr>PowerPoint Presentation</vt:lpstr>
      <vt:lpstr>Amplitude Shifting</vt:lpstr>
      <vt:lpstr>Signal Addition / Subtraction/ Multiplication </vt:lpstr>
      <vt:lpstr>PowerPoint Presentation</vt:lpstr>
      <vt:lpstr>Signal Multiplication</vt:lpstr>
      <vt:lpstr>Operations on independent variables</vt:lpstr>
      <vt:lpstr>PowerPoint Presentation</vt:lpstr>
      <vt:lpstr>Time scaling</vt:lpstr>
      <vt:lpstr>PowerPoint Presentation</vt:lpstr>
      <vt:lpstr>Time Reversal / Reflection / Folding</vt:lpstr>
      <vt:lpstr>PowerPoint Presentation</vt:lpstr>
      <vt:lpstr>Time Reflection and shifting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one is correct?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15</cp:revision>
  <dcterms:created xsi:type="dcterms:W3CDTF">2023-05-08T13:48:07Z</dcterms:created>
  <dcterms:modified xsi:type="dcterms:W3CDTF">2025-07-12T08:53:35Z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