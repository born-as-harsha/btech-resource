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4"/>
  </p:sldMasterIdLst>
  <p:notesMasterIdLst>
    <p:notesMasterId r:id="rId25"/>
  </p:notesMasterIdLst>
  <p:handoutMasterIdLst>
    <p:handoutMasterId r:id="rId26"/>
  </p:handoutMasterIdLst>
  <p:sldIdLst>
    <p:sldId id="478" r:id="rId5"/>
    <p:sldId id="503" r:id="rId6"/>
    <p:sldId id="517" r:id="rId7"/>
    <p:sldId id="501" r:id="rId8"/>
    <p:sldId id="502" r:id="rId9"/>
    <p:sldId id="504" r:id="rId10"/>
    <p:sldId id="505" r:id="rId11"/>
    <p:sldId id="516" r:id="rId12"/>
    <p:sldId id="452" r:id="rId13"/>
    <p:sldId id="508" r:id="rId14"/>
    <p:sldId id="507" r:id="rId15"/>
    <p:sldId id="509" r:id="rId16"/>
    <p:sldId id="446" r:id="rId17"/>
    <p:sldId id="472" r:id="rId18"/>
    <p:sldId id="448" r:id="rId19"/>
    <p:sldId id="441" r:id="rId20"/>
    <p:sldId id="444" r:id="rId21"/>
    <p:sldId id="445" r:id="rId22"/>
    <p:sldId id="491" r:id="rId23"/>
    <p:sldId id="36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9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12-07-2025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AED47-D61B-E309-5EB2-04BEA12A9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12015A-4BD5-FB90-2194-40EC34F3C6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CA64A-8775-9B3D-9AE9-FD021694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B2CEB-7135-4CE2-B0A1-16A40A44FD2B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E81261-2900-E08E-C669-3DFABF335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EC566-B985-EEED-64AD-AD1E74A8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77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CA1A-1762-8CB7-50BB-A111D129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22A42-2CDB-09CC-BE64-F16D5C826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ABE68-4EA6-9203-A5C9-B66C24AFE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71AFF-8437-4486-B3E6-557599FC3EBB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AC3-7233-F0A8-8841-E703D8A9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67B6A-FEE3-4AC6-8E54-D5FACAB4F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550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38C2C-E2CF-99A3-4B76-ADF5001F7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EC2576-8EE8-91D2-5E72-FA94CB728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E034DF-70BD-585F-9DD0-E4C041783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01676-B060-4B69-B0E8-33865228086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EBFF7-3FE4-D642-3C34-C2AB78F7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487C-E86A-5B42-AFD9-4459C3954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16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B7CD4-BDA6-3911-5E74-51628C7FA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B55A5-127A-FB1A-D6A8-2DB0C02502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972ADF-3BAF-8B6D-CE3D-0630A3BD8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AF980-DB77-3853-4FE3-4F5B590D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E395A-5B47-4FA9-859A-54715AC86F89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06C360-183F-64E6-626F-727D1D8C5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984E52-C247-AD53-8DB0-9ECE2061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7145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2011E-FDD8-C6F9-54EC-646022162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5621B-0845-07C4-189D-F7BBBB0E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79B479-E026-29B4-BC5D-A2969FF33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57F45F-1EF7-566D-CAC4-4C5D316E0F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46E26-E4BA-61B4-260D-FE06C29DD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27DA7C-8C23-E683-8694-DF1F8F91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F0F1-420A-465B-AEA3-70E19C82071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BB2813-0E43-C0C5-55E0-B207BC18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6E77F-AC73-4C85-9AF3-4E287B76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5669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EDFC9-9061-5F4F-63A1-3305678EE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CD372-4898-7A0A-F18E-2955DE194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40929-EFC1-457B-AF5E-9C77F775D0C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026B0-5458-1CA3-28D7-348D05C70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D49DE8-CD82-8DB2-ECF2-2D40EF18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561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01F90C-55A9-31B0-CBB0-BB754054D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426EF-A003-4C6D-AF89-8DBD18517880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E083F-F5FA-7EDC-022C-F983177B2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4D4BC-94EA-DC9F-DE3D-52353BCFE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714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56F4-13D7-9DF0-566B-6B11FBCF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662A4-F4B4-465C-1D29-3348E830F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31FD9-C665-610D-0289-9B7B8A5C2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6757DB-B89E-4A29-D0C5-6C71BF3D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6162E-2F18-4A70-A0F1-CBDEC1DCF52F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85567-382F-8CF1-AD95-ABD0EA4CC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ECD8D5-E405-5DA9-B52B-41819F4E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239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09B87-55C2-9F19-3623-91B7F4C3B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A6723-D58C-1102-D7AC-4EB5F54D0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97D962-ECA6-E890-FA89-C9836AA22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E0DDB2-6F1C-06B9-6100-0D082679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74C00-3221-474E-AB4E-BF65E22A3FFE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86502-ED0C-6A23-60A8-C9EC1E679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67D0C5-413A-DA84-8A31-11018340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061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D69A-3DC0-DB39-3334-A9BA5A40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D3BDA-5093-5E89-269A-69491664FB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4D6DE-8E90-0D56-D28B-DE572490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5E56F-7714-43C1-92F2-7E3FCABA91AD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05BF5-4225-BB1D-1457-34DF8A62B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15106-45F8-64CE-C438-3456469AF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2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AC22B9-DE1E-5F16-BBC3-3C3783BBB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CD89A-B728-0F81-7454-DC5E2A878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58732-2337-1D9F-CEEA-43A1482A4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3365A-AEFD-4024-ABB0-44D2DEC1071C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7DE17-567C-8524-BA24-E118292F3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F672A-C170-9AF8-1F51-A43D912BC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916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2E7B62-8011-CCDC-959C-C770C92F8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A46B4-B884-807D-D2D2-4536B041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D281CC-4DF4-0090-E0ED-584BBD3B4D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03123-951B-4C9D-8998-7C0F2EECEEB6}" type="datetime1">
              <a:rPr lang="en-US" smtClean="0"/>
              <a:t>7/12/2025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F9F48-0658-B969-E15D-50A0133BC4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M. Venu Gopala Rao, Professor, Dept. of ECE, KLEF.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4D365-DD42-F8BB-FE9B-3A524593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Icon&#10;&#10;Description automatically generated with medium confidence">
            <a:extLst>
              <a:ext uri="{FF2B5EF4-FFF2-40B4-BE49-F238E27FC236}">
                <a16:creationId xmlns:a16="http://schemas.microsoft.com/office/drawing/2014/main" id="{FA6FD25C-E91B-3776-D178-4D9AF946F9A0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B01E73-FD80-735E-7997-6704ACBA2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9" name="Picture 8" descr="Text&#10;&#10;Description automatically generated with medium confidence">
            <a:extLst>
              <a:ext uri="{FF2B5EF4-FFF2-40B4-BE49-F238E27FC236}">
                <a16:creationId xmlns:a16="http://schemas.microsoft.com/office/drawing/2014/main" id="{874DC773-DFA3-0B02-D75F-59F2159E3A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1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89.wmf"/><Relationship Id="rId3" Type="http://schemas.openxmlformats.org/officeDocument/2006/relationships/image" Target="../media/image84.wmf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88.wmf"/><Relationship Id="rId5" Type="http://schemas.openxmlformats.org/officeDocument/2006/relationships/image" Target="../media/image85.wmf"/><Relationship Id="rId15" Type="http://schemas.openxmlformats.org/officeDocument/2006/relationships/image" Target="../media/image90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7.wmf"/><Relationship Id="rId14" Type="http://schemas.openxmlformats.org/officeDocument/2006/relationships/oleObject" Target="../embeddings/oleObject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FEA6F-0882-4D2E-9B03-FE68E7C12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3923" y="590144"/>
            <a:ext cx="8229600" cy="21336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Signals and Communication Systems (SCS)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2F96-17AE-C877-7D88-00896449F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02EE1-9617-4C11-AE33-C239324D0C17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01DBA-6A87-663C-D190-B06FC3B89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330DA1-9126-EE9E-834E-A14D5618F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3923" y="2442140"/>
            <a:ext cx="82296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Representation of basic elementary continuous time signals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BD3DC-F6A9-4324-C0D5-8114B6BCDABB}"/>
              </a:ext>
            </a:extLst>
          </p:cNvPr>
          <p:cNvSpPr txBox="1"/>
          <p:nvPr/>
        </p:nvSpPr>
        <p:spPr>
          <a:xfrm>
            <a:off x="2620794" y="4148113"/>
            <a:ext cx="60943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909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Session-3</a:t>
            </a:r>
          </a:p>
        </p:txBody>
      </p:sp>
    </p:spTree>
    <p:extLst>
      <p:ext uri="{BB962C8B-B14F-4D97-AF65-F5344CB8AC3E}">
        <p14:creationId xmlns:p14="http://schemas.microsoft.com/office/powerpoint/2010/main" val="4149506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FB4B7B5A-6B57-9BBD-71BB-21DEA8139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1"/>
            <a:ext cx="8229600" cy="6397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Sinusoidal signals</a:t>
            </a:r>
          </a:p>
        </p:txBody>
      </p:sp>
      <p:pic>
        <p:nvPicPr>
          <p:cNvPr id="25603" name="Picture 1">
            <a:extLst>
              <a:ext uri="{FF2B5EF4-FFF2-40B4-BE49-F238E27FC236}">
                <a16:creationId xmlns:a16="http://schemas.microsoft.com/office/drawing/2014/main" id="{9880FB0E-2884-C6E3-2285-CBA2EA596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650875"/>
            <a:ext cx="82423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A6674B-5298-FD02-44AD-A36D26232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800" y="1316038"/>
            <a:ext cx="15621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DE56874-17CC-A3D9-7C13-FBDC32352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1335088"/>
            <a:ext cx="14478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E9F3A3-C21A-1F38-BB66-CBEF367D6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901" y="1363664"/>
            <a:ext cx="1190625" cy="96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D170BF-A3A6-FECF-61BE-2BF2A1798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1" y="1335089"/>
            <a:ext cx="1571625" cy="801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8" name="Picture 10">
            <a:extLst>
              <a:ext uri="{FF2B5EF4-FFF2-40B4-BE49-F238E27FC236}">
                <a16:creationId xmlns:a16="http://schemas.microsoft.com/office/drawing/2014/main" id="{BF6464EC-56AA-52D6-6620-E39E92D5B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1" y="2727326"/>
            <a:ext cx="4862513" cy="3827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93B9A3-F429-8872-405C-76E980983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829" y="2882901"/>
            <a:ext cx="3649269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788B46-EA6A-7503-222B-2AFA37E9E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98" y="3713164"/>
            <a:ext cx="3984625" cy="896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8AAD4D-FDAD-F7E5-5520-B7DD202C0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197" y="4611688"/>
            <a:ext cx="3525044" cy="707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0A7E105-96F2-19A7-0EA3-6176A87D8F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4850" y="5601399"/>
            <a:ext cx="2260600" cy="79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56F273-5C85-307F-60B2-7D0C9028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B93F8-5E14-491F-BC39-84823FB569B9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3BB9AB-9480-9752-A4EB-52306B6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AD0B623C-D8C2-197A-A92A-3A2AC872E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94456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>
                <a:solidFill>
                  <a:srgbClr val="38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Sinusoidal signals with Phase</a:t>
            </a:r>
            <a:endParaRPr lang="en-US" altLang="en-US" sz="4000" dirty="0">
              <a:solidFill>
                <a:srgbClr val="3803BD"/>
              </a:solidFill>
            </a:endParaRPr>
          </a:p>
        </p:txBody>
      </p:sp>
      <p:pic>
        <p:nvPicPr>
          <p:cNvPr id="16387" name="Picture 2">
            <a:extLst>
              <a:ext uri="{FF2B5EF4-FFF2-40B4-BE49-F238E27FC236}">
                <a16:creationId xmlns:a16="http://schemas.microsoft.com/office/drawing/2014/main" id="{642DEECC-21FC-448C-12EC-27E074A09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4025" y="2133600"/>
            <a:ext cx="874395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Box 3">
            <a:extLst>
              <a:ext uri="{FF2B5EF4-FFF2-40B4-BE49-F238E27FC236}">
                <a16:creationId xmlns:a16="http://schemas.microsoft.com/office/drawing/2014/main" id="{0F183C78-795A-3C6D-66EC-D5375CA6E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5181601"/>
            <a:ext cx="8686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2800">
                <a:solidFill>
                  <a:srgbClr val="FF0000"/>
                </a:solidFill>
                <a:latin typeface="Arial" panose="020B0604020202020204" pitchFamily="34" charset="0"/>
              </a:rPr>
              <a:t>                          Phase leading          Phase lagging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8288F9-E950-2481-FF95-2B79495D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36917-7CDB-441A-86A6-BE441FE4E5E1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13CDD-9C17-601F-992A-76A23D1DF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6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27CA3BD8-27F6-409E-D287-7864A3FE5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8950" y="23813"/>
            <a:ext cx="8909050" cy="868362"/>
          </a:xfrm>
        </p:spPr>
        <p:txBody>
          <a:bodyPr/>
          <a:lstStyle/>
          <a:p>
            <a:pPr eaLnBrk="1" hangingPunct="1"/>
            <a:r>
              <a:rPr lang="en-US" altLang="en-US" sz="3600">
                <a:solidFill>
                  <a:srgbClr val="05894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Trigonometrical Formulas</a:t>
            </a:r>
          </a:p>
        </p:txBody>
      </p:sp>
      <p:pic>
        <p:nvPicPr>
          <p:cNvPr id="26627" name="Picture 6">
            <a:extLst>
              <a:ext uri="{FF2B5EF4-FFF2-40B4-BE49-F238E27FC236}">
                <a16:creationId xmlns:a16="http://schemas.microsoft.com/office/drawing/2014/main" id="{32057CE0-1A70-7F8D-8423-A78552E1F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376" y="1176338"/>
            <a:ext cx="8988425" cy="514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7FCCF-629B-95CE-34F8-8E8B344A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6B9F6-42F5-4257-84E6-2BB921E00263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7BBE7-A4B6-61C7-8547-C2D3FB20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3">
            <a:extLst>
              <a:ext uri="{FF2B5EF4-FFF2-40B4-BE49-F238E27FC236}">
                <a16:creationId xmlns:a16="http://schemas.microsoft.com/office/drawing/2014/main" id="{62525C97-1BB2-DFCF-C866-F2CE865D2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273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430058-C6C8-9841-6C0B-29155A5DF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819400"/>
            <a:ext cx="1524000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999B871-72DF-86F7-5F50-EFA42A1D2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738" y="2819400"/>
            <a:ext cx="2303462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E76AE3A-0356-1C9D-D9E5-04875692A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739" y="3262314"/>
            <a:ext cx="4340225" cy="49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353536-9976-F262-FA3D-7B2535935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9100" y="3295650"/>
            <a:ext cx="1600200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7BF071-D9A6-C8B7-BDD2-1DDF82FB0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7738" y="3725864"/>
            <a:ext cx="1693862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7B1D49-FEEF-9919-93DA-2D10C6124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1" y="4203701"/>
            <a:ext cx="6524625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7EC8443-B1C2-F2A6-CD69-207A2BCDB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BD68-5189-42E3-9ADA-808F95EE4124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23EFD8E-EA36-EA11-5314-5F87D92EC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3">
            <a:extLst>
              <a:ext uri="{FF2B5EF4-FFF2-40B4-BE49-F238E27FC236}">
                <a16:creationId xmlns:a16="http://schemas.microsoft.com/office/drawing/2014/main" id="{7306CC98-EE7C-5135-257E-4B6CE966B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304800"/>
            <a:ext cx="9144000" cy="111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EDB87F-CCC2-4EFF-419D-07BE5F4AB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00200"/>
            <a:ext cx="60198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E21455-C48D-44B4-D444-F880D8E47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2243138"/>
            <a:ext cx="33528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B59B46F-F349-17AE-F44C-98911A6E6A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1" y="2825751"/>
            <a:ext cx="2562225" cy="390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17C4DA-4C69-11CF-47F2-B665D0320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9" y="3473450"/>
            <a:ext cx="580072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49378D-4C14-7DE5-3725-6F5D0D3B8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1950" y="3987800"/>
            <a:ext cx="32575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A94B26-7C71-E4AD-3F25-AC37E877C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75" y="5119689"/>
            <a:ext cx="60198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25BA24-BA57-72CD-11AD-A20BA6EE5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591A1-46E8-4EC2-BF70-53416DE7B665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7B9C2-4172-0B88-E17B-7BBADE17A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3">
            <a:extLst>
              <a:ext uri="{FF2B5EF4-FFF2-40B4-BE49-F238E27FC236}">
                <a16:creationId xmlns:a16="http://schemas.microsoft.com/office/drawing/2014/main" id="{0407D0C6-1367-C45C-0753-9927C29A4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31764"/>
            <a:ext cx="7972425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DAA2DE-43E1-8EE5-C195-E90E080F7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000126"/>
            <a:ext cx="8896350" cy="569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44D131-0EA9-6C79-C366-D97DC15C5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3451" y="1724025"/>
            <a:ext cx="587692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323171-9CAC-E546-71CC-A205586A7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686050"/>
            <a:ext cx="6173788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ED6976-8E86-6D62-9162-B10CD845A7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539" y="4038600"/>
            <a:ext cx="414972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5E3550-9BDB-0E59-36BA-239DF8B21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538" y="4860925"/>
            <a:ext cx="3943350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DF9117-96FE-ED78-D21F-106E0E850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3" y="5491164"/>
            <a:ext cx="20574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4D75B0-A70E-0163-857A-CEB99DD2C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876" y="5497514"/>
            <a:ext cx="22764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FFC834-B889-A358-BBBA-5559B832CF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614" y="5973764"/>
            <a:ext cx="14382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30F77-3991-A6FC-7E8B-8B1E1F7E5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A14E-985C-4AE5-B663-A17C16F96D15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594AC7-8EAB-9D1A-DFEE-82769C435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3">
            <a:extLst>
              <a:ext uri="{FF2B5EF4-FFF2-40B4-BE49-F238E27FC236}">
                <a16:creationId xmlns:a16="http://schemas.microsoft.com/office/drawing/2014/main" id="{086B60DD-0239-4799-91CC-768190BE2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00013"/>
            <a:ext cx="51435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0B77DE0-0BA2-2A56-A693-2E8FFBA49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164" y="1443844"/>
            <a:ext cx="5638800" cy="539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Rectangle 6">
            <a:extLst>
              <a:ext uri="{FF2B5EF4-FFF2-40B4-BE49-F238E27FC236}">
                <a16:creationId xmlns:a16="http://schemas.microsoft.com/office/drawing/2014/main" id="{38ED4077-517A-2664-2FEA-86F3AC3D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2301" y="119064"/>
            <a:ext cx="3533775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z="2800" dirty="0">
                <a:solidFill>
                  <a:srgbClr val="05894A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Amplitude =2</a:t>
            </a:r>
          </a:p>
          <a:p>
            <a:pPr>
              <a:lnSpc>
                <a:spcPct val="107000"/>
              </a:lnSpc>
              <a:spcBef>
                <a:spcPct val="0"/>
              </a:spcBef>
              <a:spcAft>
                <a:spcPts val="800"/>
              </a:spcAft>
              <a:buNone/>
            </a:pPr>
            <a:r>
              <a:rPr lang="en-US" altLang="en-US" sz="28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en-US" sz="2800" dirty="0">
                <a:solidFill>
                  <a:srgbClr val="3803BD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Frequency = 200 Hz</a:t>
            </a:r>
            <a:endParaRPr lang="en-US" altLang="en-US" sz="2800" dirty="0">
              <a:solidFill>
                <a:srgbClr val="3803BD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96E6A3-A59C-A691-CF2A-E8A171B3B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984" y="1828800"/>
            <a:ext cx="1772816" cy="1143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70ADAC-D237-5675-3BB4-7CDF4C0AE0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3312531"/>
            <a:ext cx="2829316" cy="11912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E7302A-82DD-B575-97B2-92AA3A0A61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76400" y="5143501"/>
            <a:ext cx="3124200" cy="1054925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E15DB75-156B-000B-C247-CBF8D60F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709E-B312-402E-A8D2-A821EE47878B}" type="datetime1">
              <a:rPr lang="en-US" smtClean="0"/>
              <a:t>7/12/2025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27EB1DA-BE49-1AB9-4530-C64AAB2E4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63192"/>
            <a:ext cx="8229600" cy="56356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Periodicity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431D3-EBEB-A8C7-1D47-C2B9C45D0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45228-FAF1-45BD-8A48-489F65A7BE1D}" type="datetime1">
              <a:rPr lang="en-US" smtClean="0"/>
              <a:t>7/12/2025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272DF5B-B00B-3781-7B7C-15ABE263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39135B-91F2-0D9E-4DBE-C31761D68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43201"/>
            <a:ext cx="9144000" cy="34022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FCC0775-4DC2-5E75-8A14-8C7DA7E75B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762001"/>
            <a:ext cx="8648700" cy="170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2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2" name="Picture 4">
            <a:extLst>
              <a:ext uri="{FF2B5EF4-FFF2-40B4-BE49-F238E27FC236}">
                <a16:creationId xmlns:a16="http://schemas.microsoft.com/office/drawing/2014/main" id="{1257DD75-7139-84D6-533A-0EDA481191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65089"/>
            <a:ext cx="7677150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19" name="Picture 5">
            <a:extLst>
              <a:ext uri="{FF2B5EF4-FFF2-40B4-BE49-F238E27FC236}">
                <a16:creationId xmlns:a16="http://schemas.microsoft.com/office/drawing/2014/main" id="{F2E6AB4E-D058-0195-DB07-449509E31E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922588"/>
            <a:ext cx="9049848" cy="2807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6">
            <a:extLst>
              <a:ext uri="{FF2B5EF4-FFF2-40B4-BE49-F238E27FC236}">
                <a16:creationId xmlns:a16="http://schemas.microsoft.com/office/drawing/2014/main" id="{9D54291B-525A-3F22-C16C-0AEC7F690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4" y="5826125"/>
            <a:ext cx="1373187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7">
            <a:extLst>
              <a:ext uri="{FF2B5EF4-FFF2-40B4-BE49-F238E27FC236}">
                <a16:creationId xmlns:a16="http://schemas.microsoft.com/office/drawing/2014/main" id="{0C13788C-F8B6-AD23-3CCA-C4C8E58572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664" y="5759450"/>
            <a:ext cx="1489075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2" name="Picture 8">
            <a:extLst>
              <a:ext uri="{FF2B5EF4-FFF2-40B4-BE49-F238E27FC236}">
                <a16:creationId xmlns:a16="http://schemas.microsoft.com/office/drawing/2014/main" id="{7550190D-4962-03C1-43CB-722E121C6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1700" y="5757864"/>
            <a:ext cx="1454150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3" name="Picture 12">
            <a:extLst>
              <a:ext uri="{FF2B5EF4-FFF2-40B4-BE49-F238E27FC236}">
                <a16:creationId xmlns:a16="http://schemas.microsoft.com/office/drawing/2014/main" id="{278FCA08-651C-F5D6-F3C4-3E355184CB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4" y="1851025"/>
            <a:ext cx="47148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091004-25FE-D790-C79F-27258C094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BA268-68A9-49D3-937F-9D1ABF58DDDD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0C78A-4948-B9BD-86FA-6777260D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341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4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48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48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4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48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4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F640BD-DC6C-E16A-7C1C-4B644A3D15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638" y="1676400"/>
            <a:ext cx="9144000" cy="115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30E688-7B4B-B7A2-E2C3-00CF63B66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1" y="2819400"/>
            <a:ext cx="46767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DD2D5-A957-C35D-11F0-3313095D5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1" y="3352800"/>
            <a:ext cx="56292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6">
            <a:extLst>
              <a:ext uri="{FF2B5EF4-FFF2-40B4-BE49-F238E27FC236}">
                <a16:creationId xmlns:a16="http://schemas.microsoft.com/office/drawing/2014/main" id="{349D8ED8-33C8-E9B6-E80B-43DABE8EA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38100"/>
            <a:ext cx="835342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2868B-4B75-D32D-7C14-1DF876CD6F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564" y="4495800"/>
            <a:ext cx="86201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8A46E03-5C1E-D8E1-1A99-ECC95038B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888" y="5656263"/>
            <a:ext cx="86868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00585-691E-9B4B-8D40-B306B04DF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85246C-984B-4241-BA19-09D214EC041B}" type="datetime1">
              <a:rPr lang="en-US" smtClean="0"/>
              <a:t>7/12/2025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2388AA-C360-495C-A202-A7D51CA2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87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8">
            <a:extLst>
              <a:ext uri="{FF2B5EF4-FFF2-40B4-BE49-F238E27FC236}">
                <a16:creationId xmlns:a16="http://schemas.microsoft.com/office/drawing/2014/main" id="{85465E4B-9026-BB4E-0246-F80396784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76201"/>
            <a:ext cx="9144000" cy="102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BCF7B9-1CFC-28DE-3BBA-BB9B84DC8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487489"/>
            <a:ext cx="9144000" cy="198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617E51-B0DD-523F-A2FB-73853A894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3613150"/>
            <a:ext cx="9144000" cy="184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B8C1392-4F85-B33B-E9C4-0F19778D8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5638801"/>
            <a:ext cx="914400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B0B64D-E81C-69BA-B3AD-8AB1CA92E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6182E-AFC8-427E-A885-A6B3911CC216}" type="datetime1">
              <a:rPr lang="en-US" smtClean="0"/>
              <a:t>7/12/2025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F2AEF-EEFD-65F4-9CBD-D8FFF5FA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389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9801" y="3276601"/>
            <a:ext cx="5191125" cy="4095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209801" y="3810000"/>
            <a:ext cx="6715125" cy="4762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00400" y="4343400"/>
            <a:ext cx="5029200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066927" y="2133601"/>
            <a:ext cx="7229475" cy="1152525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13A8FA-1895-D6AB-53FD-66C5960C9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28D2F-C8A1-4E45-80B1-EAFF4CF3ED07}" type="datetime1">
              <a:rPr lang="en-US" smtClean="0"/>
              <a:t>7/12/2025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1CD18FA-E1F4-7063-397B-3ED5BADF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C5DFA5-2A47-0EBA-8E00-D24E145E2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2600" y="4953001"/>
            <a:ext cx="4923282" cy="7909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074629-0547-FA97-9190-E814E85CDB0A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463610" y="5410200"/>
            <a:ext cx="3534849" cy="6142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F95F28-7EA4-E167-A5C4-01A0A6F305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2601" y="276226"/>
            <a:ext cx="7743825" cy="162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97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F6FB96-EC2C-7089-6605-512D3664B1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52400"/>
            <a:ext cx="9144000" cy="31805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BC16AE-B7D6-24CE-FED5-B94068423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147" y="3941692"/>
            <a:ext cx="3107823" cy="4845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275188-764A-2CC3-8681-496E05EED0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1668" y="4695694"/>
            <a:ext cx="3213933" cy="17813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4069C0-3BC9-7BB2-4C95-9A261B2C6B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4860" y="5181600"/>
            <a:ext cx="5587940" cy="10455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D74E6B-8F4D-E659-9D65-11DB9CEDB9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1" y="1524000"/>
            <a:ext cx="1762125" cy="438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B9814EC-C606-64D2-1C92-710A50D092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1600200"/>
            <a:ext cx="1219200" cy="4000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1B3E3DF-6494-562F-6A95-F33851BFDA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2871" y="3429000"/>
            <a:ext cx="3293751" cy="164687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DF2F16E-64D8-D482-007C-6CA8C89B25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8642" y="3352801"/>
            <a:ext cx="2582758" cy="663725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A2B04A0-CC11-773D-96F3-A14FEDD8A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1F0B3-5E09-4D24-9690-752B6FE7883F}" type="datetime1">
              <a:rPr lang="en-US" smtClean="0"/>
              <a:t>7/12/2025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302907-1D62-5C77-036E-BD448446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1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13940"/>
            <a:ext cx="8763000" cy="824261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Periodicity of composite sinusoidal signals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1200" y="838199"/>
            <a:ext cx="6858000" cy="225254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396260-FC7B-594B-F711-D532C32D0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90B81-E4DB-42E3-8B43-333B63629CCE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2D8D2-9186-3846-FE39-E2D2383EA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98836-F6E6-4AA3-B018-AF680648C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219812"/>
            <a:ext cx="7696200" cy="2952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800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0200" y="2"/>
            <a:ext cx="8839200" cy="990599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Determine whether the following signals are periodic signals? If so, determine their fundamental periods.    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1" y="838200"/>
            <a:ext cx="8713659" cy="71182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620537" y="2788210"/>
            <a:ext cx="4671988" cy="7664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620538" y="3542651"/>
            <a:ext cx="5000625" cy="4095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646108" y="4019073"/>
            <a:ext cx="8820150" cy="1143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66553" y="5295769"/>
            <a:ext cx="8799706" cy="12954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09577" y="1518069"/>
            <a:ext cx="8044024" cy="13770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2B8EC-EB6A-1AE9-9791-B59A0850B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0B9CB-FECA-41F7-A3E5-62957FBA51B7}" type="datetime1">
              <a:rPr lang="en-US" smtClean="0"/>
              <a:t>7/12/2025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B9EA6BF-7257-8B9E-6108-992BE859A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87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603B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Exponential Signals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741" y="1177047"/>
            <a:ext cx="11313362" cy="504913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The Euler’s identity provides the relation of the sinusoids with the complex exponential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complex exponential can also be expressed in polar form as</a:t>
            </a:r>
          </a:p>
          <a:p>
            <a:pPr marL="0" indent="0">
              <a:buNone/>
            </a:pPr>
            <a:r>
              <a:rPr lang="en-US" dirty="0">
                <a:solidFill>
                  <a:srgbClr val="2603BD"/>
                </a:solidFill>
              </a:rPr>
              <a:t>where the notation            signifies the complex function of magnitude      at the angle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343401" y="1948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2411526"/>
              </p:ext>
            </p:extLst>
          </p:nvPr>
        </p:nvGraphicFramePr>
        <p:xfrm>
          <a:off x="3570792" y="1678181"/>
          <a:ext cx="317467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69449" imgH="241195" progId="Equation.DSMT4">
                  <p:embed/>
                </p:oleObj>
              </mc:Choice>
              <mc:Fallback>
                <p:oleObj name="Equation" r:id="rId2" imgW="1269449" imgH="241195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0792" y="1678181"/>
                        <a:ext cx="3174670" cy="609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4114801" y="264360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268940"/>
              </p:ext>
            </p:extLst>
          </p:nvPr>
        </p:nvGraphicFramePr>
        <p:xfrm>
          <a:off x="2894869" y="2318266"/>
          <a:ext cx="2717965" cy="1010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30300" imgH="419100" progId="Equation.DSMT4">
                  <p:embed/>
                </p:oleObj>
              </mc:Choice>
              <mc:Fallback>
                <p:oleObj name="Equation" r:id="rId4" imgW="1130300" imgH="419100" progId="Equation.DSMT4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869" y="2318266"/>
                        <a:ext cx="2717965" cy="10106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3790951" y="419355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4333406"/>
              </p:ext>
            </p:extLst>
          </p:nvPr>
        </p:nvGraphicFramePr>
        <p:xfrm>
          <a:off x="6246779" y="2334233"/>
          <a:ext cx="2600123" cy="1038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444500" progId="Equation.DSMT4">
                  <p:embed/>
                </p:oleObj>
              </mc:Choice>
              <mc:Fallback>
                <p:oleObj name="Equation" r:id="rId6" imgW="1104900" imgH="444500" progId="Equation.DSMT4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779" y="2334233"/>
                        <a:ext cx="2600123" cy="10385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4870688" y="442919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7885994"/>
              </p:ext>
            </p:extLst>
          </p:nvPr>
        </p:nvGraphicFramePr>
        <p:xfrm>
          <a:off x="9930519" y="3545821"/>
          <a:ext cx="1677141" cy="566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586" imgH="241195" progId="Equation.DSMT4">
                  <p:embed/>
                </p:oleObj>
              </mc:Choice>
              <mc:Fallback>
                <p:oleObj name="Equation" r:id="rId8" imgW="723586" imgH="241195" progId="Equation.DSMT4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0519" y="3545821"/>
                        <a:ext cx="1677141" cy="5664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1" y="-8465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464587"/>
              </p:ext>
            </p:extLst>
          </p:nvPr>
        </p:nvGraphicFramePr>
        <p:xfrm>
          <a:off x="3219000" y="4160213"/>
          <a:ext cx="895801" cy="436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5138" imgH="177569" progId="Equation.DSMT4">
                  <p:embed/>
                </p:oleObj>
              </mc:Choice>
              <mc:Fallback>
                <p:oleObj name="Equation" r:id="rId10" imgW="355138" imgH="177569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9000" y="4160213"/>
                        <a:ext cx="895801" cy="43601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6902629"/>
              </p:ext>
            </p:extLst>
          </p:nvPr>
        </p:nvGraphicFramePr>
        <p:xfrm>
          <a:off x="10540766" y="4058671"/>
          <a:ext cx="456646" cy="50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68" imgH="164957" progId="Equation.DSMT4">
                  <p:embed/>
                </p:oleObj>
              </mc:Choice>
              <mc:Fallback>
                <p:oleObj name="Equation" r:id="rId12" imgW="152268" imgH="164957" progId="Equation.DSMT4">
                  <p:embed/>
                  <p:pic>
                    <p:nvPicPr>
                      <p:cNvPr id="2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0766" y="4058671"/>
                        <a:ext cx="456646" cy="504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609360"/>
              </p:ext>
            </p:extLst>
          </p:nvPr>
        </p:nvGraphicFramePr>
        <p:xfrm>
          <a:off x="1749264" y="4565222"/>
          <a:ext cx="370165" cy="49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6725" imgH="177415" progId="Equation.DSMT4">
                  <p:embed/>
                </p:oleObj>
              </mc:Choice>
              <mc:Fallback>
                <p:oleObj name="Equation" r:id="rId14" imgW="126725" imgH="177415" progId="Equation.DSMT4">
                  <p:embed/>
                  <p:pic>
                    <p:nvPicPr>
                      <p:cNvPr id="2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9264" y="4565222"/>
                        <a:ext cx="370165" cy="49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501982C-55C3-1D3E-9192-2DD87C33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34BE0-63E7-4459-A2CF-0E5AE74B7E5D}" type="datetime1">
              <a:rPr lang="en-US" smtClean="0"/>
              <a:t>7/12/2025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5FEF26B-C3A1-587F-E1A9-3FEAEF62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746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28800" y="66421"/>
            <a:ext cx="8534400" cy="6622594"/>
          </a:xfrm>
          <a:prstGeom prst="rect">
            <a:avLst/>
          </a:prstGeom>
        </p:spPr>
      </p:pic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8610601" y="1828801"/>
          <a:ext cx="1677141" cy="566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586" imgH="241195" progId="Equation.DSMT4">
                  <p:embed/>
                </p:oleObj>
              </mc:Choice>
              <mc:Fallback>
                <p:oleObj name="Equation" r:id="rId3" imgW="723586" imgH="241195" progId="Equation.DSMT4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10601" y="1828801"/>
                        <a:ext cx="1677141" cy="5664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31C6FE-E659-7D58-697B-736976FC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F5C7E-6C10-40A0-9819-99020D60B707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7ECF0-3ACB-1C8E-93E0-89AA03657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00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01108-E886-CE2D-3209-0D424770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59353B-E1F6-4E7E-B9B5-0449495D1C53}" type="datetime1">
              <a:rPr lang="en-US" smtClean="0"/>
              <a:t>7/12/2025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782B0-A004-970B-FB80-ECC3A36E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456D168-4B6A-91D9-E961-55183B132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54813"/>
            <a:ext cx="6134100" cy="476250"/>
          </a:xfrm>
          <a:prstGeom prst="rect">
            <a:avLst/>
          </a:prstGeom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5CAB114-F117-8210-1762-196CA0924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110" y="631063"/>
            <a:ext cx="8569691" cy="23721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1BF8D99-E90B-4D18-8D55-BE7C70F88B2A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50720" y="3083785"/>
            <a:ext cx="7848600" cy="3115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4677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4038" y="2857500"/>
            <a:ext cx="1606685" cy="1143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2603BD"/>
                </a:solidFill>
                <a:latin typeface="Arial" pitchFamily="34" charset="0"/>
                <a:cs typeface="Arial" pitchFamily="34" charset="0"/>
              </a:rPr>
              <a:t>End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AB49C-B7CE-5040-E5D4-7ECE0E0F8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BBDBE-B21F-4A9E-ACBC-8E4F17923D04}" type="datetime1">
              <a:rPr lang="en-US" smtClean="0"/>
              <a:t>7/12/2025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65DC6F-E0B8-6F8B-556C-F6B2B3AB1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1B4054966B8914981DF84CE0611BBF3" ma:contentTypeVersion="13" ma:contentTypeDescription="Create a new document." ma:contentTypeScope="" ma:versionID="8a796047917fdd02fe75b75195f00977">
  <xsd:schema xmlns:xsd="http://www.w3.org/2001/XMLSchema" xmlns:xs="http://www.w3.org/2001/XMLSchema" xmlns:p="http://schemas.microsoft.com/office/2006/metadata/properties" xmlns:ns3="9df66832-8a96-40a9-b472-27b1b671652b" xmlns:ns4="3ef07bbe-7178-465e-b37e-c96ad76c7ba2" targetNamespace="http://schemas.microsoft.com/office/2006/metadata/properties" ma:root="true" ma:fieldsID="f3a2d852074f99ffe044f5cdbc6860e7" ns3:_="" ns4:_="">
    <xsd:import namespace="9df66832-8a96-40a9-b472-27b1b671652b"/>
    <xsd:import namespace="3ef07bbe-7178-465e-b37e-c96ad76c7b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f66832-8a96-40a9-b472-27b1b67165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07bbe-7178-465e-b37e-c96ad76c7ba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df66832-8a96-40a9-b472-27b1b671652b" xsi:nil="true"/>
  </documentManagement>
</p:properties>
</file>

<file path=customXml/itemProps1.xml><?xml version="1.0" encoding="utf-8"?>
<ds:datastoreItem xmlns:ds="http://schemas.openxmlformats.org/officeDocument/2006/customXml" ds:itemID="{30D4FFE4-B5DD-40DF-82C4-AC58AE0649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f66832-8a96-40a9-b472-27b1b671652b"/>
    <ds:schemaRef ds:uri="3ef07bbe-7178-465e-b37e-c96ad76c7b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A4D56B-9EDA-4F8D-84ED-5B5B230CC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3942E90-F73C-42DC-BE25-1F552216703B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9df66832-8a96-40a9-b472-27b1b671652b"/>
    <ds:schemaRef ds:uri="http://purl.org/dc/elements/1.1/"/>
    <ds:schemaRef ds:uri="3ef07bbe-7178-465e-b37e-c96ad76c7ba2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</TotalTime>
  <Words>138</Words>
  <Application>Microsoft Office PowerPoint</Application>
  <PresentationFormat>Widescreen</PresentationFormat>
  <Paragraphs>60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Equation</vt:lpstr>
      <vt:lpstr>Representation of basic elementary continuous time signals</vt:lpstr>
      <vt:lpstr>Sinusoidal signals</vt:lpstr>
      <vt:lpstr>Sinusoidal signals with Phase</vt:lpstr>
      <vt:lpstr>Trigonometrical Formulas</vt:lpstr>
      <vt:lpstr>PowerPoint Presentation</vt:lpstr>
      <vt:lpstr>PowerPoint Presentation</vt:lpstr>
      <vt:lpstr>PowerPoint Presentation</vt:lpstr>
      <vt:lpstr>PowerPoint Presentation</vt:lpstr>
      <vt:lpstr>Periodicity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Periodicity of composite sinusoidal signals</vt:lpstr>
      <vt:lpstr>PowerPoint Presentation</vt:lpstr>
      <vt:lpstr>Exponential Signals</vt:lpstr>
      <vt:lpstr>PowerPoint Presentation</vt:lpstr>
      <vt:lpstr>PowerPoint Presentation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MVGR</dc:creator>
  <cp:lastModifiedBy>D Sreenivasa Rao</cp:lastModifiedBy>
  <cp:revision>17</cp:revision>
  <dcterms:created xsi:type="dcterms:W3CDTF">2023-05-08T13:48:07Z</dcterms:created>
  <dcterms:modified xsi:type="dcterms:W3CDTF">2025-07-12T08:52:04Z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0x010100F1B4054966B8914981DF84CE0611BBF3</vt:lpwstr>
  </property>
</Properties>
</file>