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6"/>
  </p:notesMasterIdLst>
  <p:handoutMasterIdLst>
    <p:handoutMasterId r:id="rId37"/>
  </p:handoutMasterIdLst>
  <p:sldIdLst>
    <p:sldId id="478" r:id="rId5"/>
    <p:sldId id="384" r:id="rId6"/>
    <p:sldId id="286" r:id="rId7"/>
    <p:sldId id="287" r:id="rId8"/>
    <p:sldId id="447" r:id="rId9"/>
    <p:sldId id="412" r:id="rId10"/>
    <p:sldId id="411" r:id="rId11"/>
    <p:sldId id="468" r:id="rId12"/>
    <p:sldId id="470" r:id="rId13"/>
    <p:sldId id="413" r:id="rId14"/>
    <p:sldId id="448" r:id="rId15"/>
    <p:sldId id="414" r:id="rId16"/>
    <p:sldId id="449" r:id="rId17"/>
    <p:sldId id="415" r:id="rId18"/>
    <p:sldId id="416" r:id="rId19"/>
    <p:sldId id="450" r:id="rId20"/>
    <p:sldId id="486" r:id="rId21"/>
    <p:sldId id="460" r:id="rId22"/>
    <p:sldId id="482" r:id="rId23"/>
    <p:sldId id="481" r:id="rId24"/>
    <p:sldId id="472" r:id="rId25"/>
    <p:sldId id="483" r:id="rId26"/>
    <p:sldId id="485" r:id="rId27"/>
    <p:sldId id="484" r:id="rId28"/>
    <p:sldId id="420" r:id="rId29"/>
    <p:sldId id="421" r:id="rId30"/>
    <p:sldId id="465" r:id="rId31"/>
    <p:sldId id="467" r:id="rId32"/>
    <p:sldId id="473" r:id="rId33"/>
    <p:sldId id="474" r:id="rId34"/>
    <p:sldId id="42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348-B1BB-40BE-BC37-B6505557FC40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BEE7-B347-4821-A5F7-044B28532C5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AF45B-7555-4215-9448-43BC2DB4D1C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BB1C-AE34-4641-8F4F-47A3A8EDDB4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1FD4-4CD2-4872-9324-D20D77D661AA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74B8-D91F-4407-9070-09B8F95D25C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9DA3-AF82-4EF3-A863-0B8C86877600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FCDC-6C3F-46E5-888F-0BB5E6CC92C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6862-87C3-48BD-999D-08580D51070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1CBD-6F5B-4533-A098-D6D5870C769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C1904-BA18-4F54-A2B3-93F82875B94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E1099-F114-4993-A0F8-F61F7E4111F6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41.png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image" Target="../media/image4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8.wmf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41.png"/><Relationship Id="rId3" Type="http://schemas.openxmlformats.org/officeDocument/2006/relationships/image" Target="../media/image35.wmf"/><Relationship Id="rId7" Type="http://schemas.openxmlformats.org/officeDocument/2006/relationships/image" Target="../media/image44.wmf"/><Relationship Id="rId12" Type="http://schemas.openxmlformats.org/officeDocument/2006/relationships/image" Target="../media/image48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47.png"/><Relationship Id="rId5" Type="http://schemas.openxmlformats.org/officeDocument/2006/relationships/image" Target="../media/image36.wmf"/><Relationship Id="rId10" Type="http://schemas.openxmlformats.org/officeDocument/2006/relationships/image" Target="../media/image46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5.wmf"/><Relationship Id="rId1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58.wmf"/><Relationship Id="rId3" Type="http://schemas.openxmlformats.org/officeDocument/2006/relationships/image" Target="../media/image52.wmf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62.png"/><Relationship Id="rId2" Type="http://schemas.openxmlformats.org/officeDocument/2006/relationships/oleObject" Target="../embeddings/oleObject19.bin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11" Type="http://schemas.openxmlformats.org/officeDocument/2006/relationships/image" Target="../media/image57.wmf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60.png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65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68.png"/><Relationship Id="rId2" Type="http://schemas.openxmlformats.org/officeDocument/2006/relationships/oleObject" Target="../embeddings/oleObject24.bin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64.wmf"/><Relationship Id="rId5" Type="http://schemas.openxmlformats.org/officeDocument/2006/relationships/image" Target="../media/image63.wmf"/><Relationship Id="rId15" Type="http://schemas.openxmlformats.org/officeDocument/2006/relationships/image" Target="../media/image6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0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4.wmf"/><Relationship Id="rId7" Type="http://schemas.openxmlformats.org/officeDocument/2006/relationships/image" Target="../media/image88.png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9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3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3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55123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CDD9-8C4E-4233-9010-C7E079623BAA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DE9083-29D9-13C2-D4C9-4BB04C48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60" y="2498778"/>
            <a:ext cx="10192966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Continuous Time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D7C0-774D-63F5-803A-7F9DE03DE120}"/>
              </a:ext>
            </a:extLst>
          </p:cNvPr>
          <p:cNvSpPr txBox="1"/>
          <p:nvPr/>
        </p:nvSpPr>
        <p:spPr>
          <a:xfrm>
            <a:off x="2937754" y="459872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Session-7</a:t>
            </a:r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803BD"/>
                </a:solidFill>
              </a:rPr>
              <a:t>Continuous Time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1"/>
            <a:ext cx="8610600" cy="3962400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of Systems</a:t>
            </a:r>
          </a:p>
          <a:p>
            <a:pPr marL="514350" indent="-514350" algn="just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domain Analysis of LTI systems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(Convolution Integral)</a:t>
            </a: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Properties of LTI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DC54-A767-41DD-1677-49E0574C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02DC-2A06-430B-B68A-944EE408D012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4CF23-394C-5182-640E-D64ADC1A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990600"/>
          </a:xfrm>
        </p:spPr>
        <p:txBody>
          <a:bodyPr>
            <a:normAutofit/>
          </a:bodyPr>
          <a:lstStyle/>
          <a:p>
            <a:r>
              <a:rPr lang="en-US" sz="4800" dirty="0"/>
              <a:t>What is a ‘</a:t>
            </a:r>
            <a:r>
              <a:rPr lang="en-US" sz="4800" dirty="0">
                <a:solidFill>
                  <a:srgbClr val="FF0000"/>
                </a:solidFill>
              </a:rPr>
              <a:t>System</a:t>
            </a:r>
            <a:r>
              <a:rPr lang="en-US" sz="4800" dirty="0"/>
              <a:t>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066800"/>
            <a:ext cx="91440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>
                <a:solidFill>
                  <a:srgbClr val="2603BD"/>
                </a:solidFill>
              </a:rPr>
              <a:t>A System may be defined as a physical device that operates on a signal.</a:t>
            </a:r>
          </a:p>
          <a:p>
            <a:pPr>
              <a:buNone/>
            </a:pPr>
            <a:endParaRPr lang="en-US" dirty="0">
              <a:solidFill>
                <a:srgbClr val="2603BD"/>
              </a:solidFill>
            </a:endParaRP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4000" dirty="0">
                <a:solidFill>
                  <a:srgbClr val="C00000"/>
                </a:solidFill>
              </a:rPr>
              <a:t>Examples</a:t>
            </a:r>
            <a:r>
              <a:rPr lang="en-US" sz="4000" dirty="0">
                <a:solidFill>
                  <a:srgbClr val="2603BD"/>
                </a:solidFill>
              </a:rPr>
              <a:t>:</a:t>
            </a:r>
          </a:p>
          <a:p>
            <a:r>
              <a:rPr lang="en-US" sz="3600" dirty="0"/>
              <a:t>PA System (Public Address System)</a:t>
            </a:r>
          </a:p>
          <a:p>
            <a:r>
              <a:rPr lang="en-US" sz="3600" dirty="0"/>
              <a:t>Digital Computer</a:t>
            </a:r>
          </a:p>
          <a:p>
            <a:r>
              <a:rPr lang="en-US" sz="3600" dirty="0"/>
              <a:t>Mobile Phone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endParaRPr lang="en-US" dirty="0">
              <a:solidFill>
                <a:srgbClr val="2603BD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8321" y="2590800"/>
            <a:ext cx="540217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084C-85F9-CF7E-E498-B3EC01A6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056C-D86A-4ABC-BC5F-0177BA5D035B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AA02-B91B-599E-D635-7F20AE85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96366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between </a:t>
            </a:r>
            <a:r>
              <a:rPr lang="en-US" dirty="0">
                <a:solidFill>
                  <a:srgbClr val="C00000"/>
                </a:solidFill>
              </a:rPr>
              <a:t>Signal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066800"/>
            <a:ext cx="8382000" cy="54864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Signal: Physical quantity</a:t>
            </a:r>
            <a:endParaRPr lang="en-US" dirty="0">
              <a:solidFill>
                <a:srgbClr val="2603BD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39471D"/>
                </a:solidFill>
              </a:rPr>
              <a:t>System: </a:t>
            </a:r>
            <a:r>
              <a:rPr lang="en-US" dirty="0">
                <a:solidFill>
                  <a:srgbClr val="2603BD"/>
                </a:solidFill>
              </a:rPr>
              <a:t>Physical device</a:t>
            </a: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39471D"/>
                </a:solidFill>
              </a:rPr>
              <a:t>The </a:t>
            </a:r>
            <a:r>
              <a:rPr lang="en-US" dirty="0">
                <a:solidFill>
                  <a:srgbClr val="3803BD"/>
                </a:solidFill>
              </a:rPr>
              <a:t>input</a:t>
            </a:r>
            <a:r>
              <a:rPr lang="en-US" dirty="0">
                <a:solidFill>
                  <a:srgbClr val="39471D"/>
                </a:solidFill>
              </a:rPr>
              <a:t> signal is modified according to the characteristics of the system and gives some </a:t>
            </a:r>
            <a:r>
              <a:rPr lang="en-US" dirty="0">
                <a:solidFill>
                  <a:srgbClr val="3803BD"/>
                </a:solidFill>
              </a:rPr>
              <a:t>output</a:t>
            </a:r>
            <a:r>
              <a:rPr lang="en-US" dirty="0">
                <a:solidFill>
                  <a:srgbClr val="39471D"/>
                </a:solidFill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9800" y="3886200"/>
            <a:ext cx="8077200" cy="256386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40BFC-72F2-96BE-D863-439803B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8DB4-F97D-451E-9C62-A804B16CAB0F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C7A29-0003-B07E-3958-6005F943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Representation of systems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1429494"/>
            <a:ext cx="5181600" cy="2184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14800" y="3810000"/>
                <a:ext cx="39243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810000"/>
                <a:ext cx="39243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419601" y="48445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618038" y="4743450"/>
          <a:ext cx="26019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342720" progId="Equation.DSMT4">
                  <p:embed/>
                </p:oleObj>
              </mc:Choice>
              <mc:Fallback>
                <p:oleObj name="Equation" r:id="rId4" imgW="711000" imgH="34272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4743450"/>
                        <a:ext cx="2601912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FA4D1-111D-AC4C-31E5-EDCC4F1A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0F4B-B589-496E-92FD-F105ECBC821C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9AE2B-2719-3174-2667-FC00F57E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0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2746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393" y="647700"/>
            <a:ext cx="5149215" cy="192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47171"/>
            <a:ext cx="5013934" cy="15773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895601" y="28804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048000" y="2569852"/>
          <a:ext cx="3941030" cy="82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381000" progId="Equation.DSMT4">
                  <p:embed/>
                </p:oleObj>
              </mc:Choice>
              <mc:Fallback>
                <p:oleObj name="Equation" r:id="rId4" imgW="1828800" imgH="3810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69852"/>
                        <a:ext cx="3941030" cy="821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515817" y="49030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515817" y="5447797"/>
          <a:ext cx="3594595" cy="85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381000" progId="Equation.DSMT4">
                  <p:embed/>
                </p:oleObj>
              </mc:Choice>
              <mc:Fallback>
                <p:oleObj name="Equation" r:id="rId6" imgW="1574800" imgH="3810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817" y="5447797"/>
                        <a:ext cx="3594595" cy="8558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05334-6312-FEE7-0EBE-E8FA1393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C02A-5957-49B6-977D-DAE627C42826}" type="datetime1">
              <a:rPr lang="en-US" smtClean="0"/>
              <a:t>7/12/2025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F34549-9E4E-E39D-1B51-E781FEDD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743200"/>
            <a:ext cx="8229600" cy="106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of Systems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17B86-7F3C-2CA4-9C9C-7D1AF10F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0D4AD-D389-49F2-8C25-A76A71BAC688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0867B-3AF8-2FA3-1ECE-D358C563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1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EE3CD9-6C0A-4E21-A5AC-8AA8C127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59273"/>
            <a:ext cx="5686556" cy="13089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3D90A7-E79E-3318-CC9F-FCB86460FE17}"/>
              </a:ext>
            </a:extLst>
          </p:cNvPr>
          <p:cNvSpPr txBox="1"/>
          <p:nvPr/>
        </p:nvSpPr>
        <p:spPr>
          <a:xfrm flipH="1">
            <a:off x="1752600" y="178776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Input and Outputs of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5DD7B-059E-E7B5-EB39-B43F1FB79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128" y="2168200"/>
            <a:ext cx="833116" cy="548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C2713-1F78-9D26-4B35-FE9FDA810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237058"/>
            <a:ext cx="2286000" cy="451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2DDA03-29B1-568C-3DEB-711B040D1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841" y="2958580"/>
            <a:ext cx="4471797" cy="5468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8844B9-F4CC-9FE0-EF2A-89C3902CE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478" y="2970108"/>
            <a:ext cx="1957322" cy="4117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D244A6-D40F-AFEE-D716-EFF6FABB6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852" y="3697693"/>
            <a:ext cx="4806696" cy="4597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007C4D-5BF3-EE72-7DA6-842A214133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479" y="3715752"/>
            <a:ext cx="2154555" cy="3907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A46C27-95EB-0AF6-A994-9F796A5463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0162" y="4582914"/>
            <a:ext cx="894751" cy="5337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2829B8-6F63-EFCE-590D-92F7134EE8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601" y="4644097"/>
            <a:ext cx="2362200" cy="4099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6B8DD6-F755-62D9-E8F7-5E07456323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6129" y="5246317"/>
            <a:ext cx="4581144" cy="5264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6F90CC-2B2C-9BBF-A3F6-C0C79F6DB1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5589" y="5293303"/>
            <a:ext cx="2118608" cy="390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C0B5D7-3065-261E-B1A6-376345D313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8008" y="5968031"/>
            <a:ext cx="4355592" cy="4747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8A8843-8A2C-D36D-0166-4DEDF26EDA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1" y="6001884"/>
            <a:ext cx="2398395" cy="4070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69574E-B900-72A6-1D62-F24358F7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54564-E383-4816-A598-391676A4A600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4AC1EE-66EC-2B94-0537-1E29B8C5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2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445A9-A5AD-4A57-8468-93E22ECD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33454"/>
            <a:ext cx="4918286" cy="1132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66D983-04EF-4809-B263-12DAC5DD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536" y="2039316"/>
            <a:ext cx="2255520" cy="403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D31913-F24F-405B-810B-5E4BCC927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536" y="2605841"/>
            <a:ext cx="6962775" cy="876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9FDB12-3EA9-4F92-9698-79CA848CB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949" y="3807539"/>
            <a:ext cx="3647142" cy="536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C73C8-134A-468A-9BF1-39C94A3DF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854395"/>
            <a:ext cx="3886200" cy="471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8CCAE3-6392-4CEE-9E70-7A8A655DC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864" y="4542302"/>
            <a:ext cx="1850136" cy="475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0839AB-6804-4D95-B747-E7EA2E4907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0012" y="4538331"/>
            <a:ext cx="2311189" cy="4477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3B77A-477D-4154-9C7E-D1AC39DC7D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531" y="5275237"/>
            <a:ext cx="1767737" cy="424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1E45E6-788C-4803-8F11-2CA98ADD69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2226" y="5770904"/>
            <a:ext cx="6887549" cy="859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99A6C7-0088-8C74-8187-846975472720}"/>
              </a:ext>
            </a:extLst>
          </p:cNvPr>
          <p:cNvSpPr txBox="1"/>
          <p:nvPr/>
        </p:nvSpPr>
        <p:spPr>
          <a:xfrm>
            <a:off x="1621537" y="304801"/>
            <a:ext cx="8817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Understanding the meaning of input-output relation of a system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1C58B6-A1ED-232E-4BD2-DA6580A2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3C97-35C8-4592-996C-63092F27D23A}" type="datetime1">
              <a:rPr lang="en-US" smtClean="0"/>
              <a:t>7/12/2025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DE98FA0-B0C0-2768-5D18-966AC4A2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4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5457" y="189006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Systems with and without Memory (</a:t>
            </a:r>
            <a:r>
              <a:rPr lang="en-US" sz="40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or dynamic systems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5531" y="1436126"/>
            <a:ext cx="8610600" cy="1797644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system is said to be </a:t>
            </a:r>
            <a:r>
              <a:rPr lang="en-US" sz="39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memoryless or static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its output for at any instant of time ‘</a:t>
            </a:r>
            <a:r>
              <a:rPr lang="en-US" sz="35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depends on the input at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not on the 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 or future inputs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972279" y="3586182"/>
          <a:ext cx="2674320" cy="579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203112" progId="Equation.DSMT4">
                  <p:embed/>
                </p:oleObj>
              </mc:Choice>
              <mc:Fallback>
                <p:oleObj name="Equation" r:id="rId2" imgW="952087" imgH="203112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279" y="3586182"/>
                        <a:ext cx="2674320" cy="5794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62201" y="453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947896" y="4612439"/>
          <a:ext cx="35332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203200" progId="Equation.DSMT4">
                  <p:embed/>
                </p:oleObj>
              </mc:Choice>
              <mc:Fallback>
                <p:oleObj name="Equation" r:id="rId4" imgW="1244600" imgH="2032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96" y="4612439"/>
                        <a:ext cx="3533287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957039" y="5544286"/>
          <a:ext cx="2117700" cy="71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586" imgH="241195" progId="Equation.DSMT4">
                  <p:embed/>
                </p:oleObj>
              </mc:Choice>
              <mc:Fallback>
                <p:oleObj name="Equation" r:id="rId6" imgW="723586" imgH="241195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039" y="5544286"/>
                        <a:ext cx="2117700" cy="71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5741598" y="3492377"/>
            <a:ext cx="46217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or Memoryless</a:t>
            </a:r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5895487" y="4553483"/>
            <a:ext cx="43140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or Memory</a:t>
            </a:r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5988233" y="5633225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139C5-E907-7D7A-E54A-15C9599E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4FF4-C75B-435C-BF31-7AF546BDA1C5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A062F3-81EF-8E50-78FC-16E43E62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8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864" y="102410"/>
            <a:ext cx="8229600" cy="53266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or dynamic systems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199599" y="932134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endParaRPr lang="en-US" sz="3200" dirty="0"/>
          </a:p>
        </p:txBody>
      </p:sp>
      <p:sp>
        <p:nvSpPr>
          <p:cNvPr id="15" name="Rectangle 14"/>
          <p:cNvSpPr/>
          <p:nvPr/>
        </p:nvSpPr>
        <p:spPr>
          <a:xfrm>
            <a:off x="6073698" y="2768044"/>
            <a:ext cx="1210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endParaRPr lang="en-US" sz="32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248173" y="958741"/>
          <a:ext cx="374200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203112" progId="Equation.DSMT4">
                  <p:embed/>
                </p:oleObj>
              </mc:Choice>
              <mc:Fallback>
                <p:oleObj name="Equation" r:id="rId2" imgW="1447172" imgH="203112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173" y="958741"/>
                        <a:ext cx="374200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307892" y="1756171"/>
          <a:ext cx="1905000" cy="52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203112" progId="Equation.DSMT4">
                  <p:embed/>
                </p:oleObj>
              </mc:Choice>
              <mc:Fallback>
                <p:oleObj name="Equation" r:id="rId4" imgW="748975" imgH="203112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892" y="1756171"/>
                        <a:ext cx="1905000" cy="5269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953308" y="2735807"/>
          <a:ext cx="2614168" cy="532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03040" progId="Equation.DSMT4">
                  <p:embed/>
                </p:oleObj>
              </mc:Choice>
              <mc:Fallback>
                <p:oleObj name="Equation" r:id="rId6" imgW="1015920" imgH="20304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308" y="2735807"/>
                        <a:ext cx="2614168" cy="532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597428" y="3676939"/>
          <a:ext cx="2681868" cy="554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203112" progId="Equation.DSMT4">
                  <p:embed/>
                </p:oleObj>
              </mc:Choice>
              <mc:Fallback>
                <p:oleObj name="Equation" r:id="rId8" imgW="1002865" imgH="203112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428" y="3676939"/>
                        <a:ext cx="2681868" cy="5542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180807" y="4492977"/>
          <a:ext cx="2159170" cy="5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669" imgH="203112" progId="Equation.DSMT4">
                  <p:embed/>
                </p:oleObj>
              </mc:Choice>
              <mc:Fallback>
                <p:oleObj name="Equation" r:id="rId10" imgW="761669" imgH="203112" progId="Equation.DSMT4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807" y="4492977"/>
                        <a:ext cx="2159170" cy="584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5874093" y="4499076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endParaRPr lang="en-US" sz="3200" dirty="0"/>
          </a:p>
        </p:txBody>
      </p:sp>
      <p:sp>
        <p:nvSpPr>
          <p:cNvPr id="26" name="Rectangle 25"/>
          <p:cNvSpPr/>
          <p:nvPr/>
        </p:nvSpPr>
        <p:spPr>
          <a:xfrm>
            <a:off x="6073698" y="3713293"/>
            <a:ext cx="1210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B785DB-29B6-4490-840E-E30E71D662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3056" y="5422444"/>
            <a:ext cx="2926240" cy="93947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D8B7FD6-2CC4-4954-873B-59616879AB38}"/>
              </a:ext>
            </a:extLst>
          </p:cNvPr>
          <p:cNvSpPr/>
          <p:nvPr/>
        </p:nvSpPr>
        <p:spPr>
          <a:xfrm>
            <a:off x="5995463" y="1676978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endParaRPr lang="en-US" sz="3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8FAFB3-9EA1-435D-9312-A7D2E65860DE}"/>
              </a:ext>
            </a:extLst>
          </p:cNvPr>
          <p:cNvSpPr/>
          <p:nvPr/>
        </p:nvSpPr>
        <p:spPr>
          <a:xfrm>
            <a:off x="5995463" y="5633480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27CF76-6733-4698-9BBB-7D9976874C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914" y="4387133"/>
            <a:ext cx="1951550" cy="1298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BB8B9C-09F4-49CC-8938-DBD03BC11A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0290" y="1583718"/>
            <a:ext cx="1779655" cy="12000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D8696-DA92-26A4-E793-B6C63515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465A-14B3-412E-8F98-B10467DD9D3A}" type="datetime1">
              <a:rPr lang="en-US" smtClean="0"/>
              <a:t>7/12/2025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9EF20-FFDA-412B-A5DE-867EDCBA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8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5" grpId="0"/>
      <p:bldP spid="26" grpId="0"/>
      <p:bldP spid="28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1595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Causal versus Non-causal systems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(Non-anticipative and anticipative)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50136" y="1324730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rgbClr val="0C0C15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system is said to be </a:t>
            </a:r>
            <a:r>
              <a:rPr lang="en-US" sz="2700" i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causal</a:t>
            </a:r>
            <a:r>
              <a:rPr lang="en-US" sz="27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700" i="1" dirty="0">
                <a:solidFill>
                  <a:srgbClr val="0C0C15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0C0C15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the output at any time depends on values of the input at only the present and past times but</a:t>
            </a:r>
            <a:r>
              <a:rPr lang="en-US" sz="27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does not depend </a:t>
            </a:r>
            <a:r>
              <a:rPr lang="en-US" sz="27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the future inputs</a:t>
            </a:r>
            <a:r>
              <a:rPr lang="en-US" sz="2700" dirty="0">
                <a:solidFill>
                  <a:srgbClr val="0C0C15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58680" y="4267494"/>
          <a:ext cx="2289265" cy="496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203112" progId="Equation.DSMT4">
                  <p:embed/>
                </p:oleObj>
              </mc:Choice>
              <mc:Fallback>
                <p:oleObj name="Equation" r:id="rId2" imgW="952087" imgH="203112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680" y="4267494"/>
                        <a:ext cx="2289265" cy="496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903112" y="5112902"/>
          <a:ext cx="3200400" cy="532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03040" progId="Equation.DSMT4">
                  <p:embed/>
                </p:oleObj>
              </mc:Choice>
              <mc:Fallback>
                <p:oleObj name="Equation" r:id="rId4" imgW="1244520" imgH="20304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112" y="5112902"/>
                        <a:ext cx="3200400" cy="532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810000" y="5879758"/>
          <a:ext cx="2117700" cy="71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586" imgH="241195" progId="Equation.DSMT4">
                  <p:embed/>
                </p:oleObj>
              </mc:Choice>
              <mc:Fallback>
                <p:oleObj name="Equation" r:id="rId6" imgW="723586" imgH="241195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879758"/>
                        <a:ext cx="2117700" cy="71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544057" y="5960353"/>
            <a:ext cx="197540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E67221-CE15-4FF1-89A3-74C61D7307BC}"/>
              </a:ext>
            </a:extLst>
          </p:cNvPr>
          <p:cNvSpPr txBox="1"/>
          <p:nvPr/>
        </p:nvSpPr>
        <p:spPr>
          <a:xfrm>
            <a:off x="1865376" y="2866244"/>
            <a:ext cx="8534400" cy="105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tabLst>
                <a:tab pos="457200" algn="l"/>
              </a:tabLst>
            </a:pPr>
            <a:r>
              <a:rPr lang="en-US" sz="2800" dirty="0">
                <a:solidFill>
                  <a:srgbClr val="2603BD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Causal Systems are Real Time systems  and Physically Realizable 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C6FCD5-6B9D-482C-984A-6521C524E5EE}"/>
              </a:ext>
            </a:extLst>
          </p:cNvPr>
          <p:cNvSpPr/>
          <p:nvPr/>
        </p:nvSpPr>
        <p:spPr>
          <a:xfrm>
            <a:off x="6544057" y="4189574"/>
            <a:ext cx="197540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562CAB-A51A-415D-90CB-E8E4E8E28182}"/>
              </a:ext>
            </a:extLst>
          </p:cNvPr>
          <p:cNvSpPr/>
          <p:nvPr/>
        </p:nvSpPr>
        <p:spPr>
          <a:xfrm>
            <a:off x="6544057" y="5056612"/>
            <a:ext cx="197540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4D399-20F8-0D50-C327-47B7EA32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057D-EAC4-45F0-B26E-6E76F59B8702}" type="datetime1">
              <a:rPr lang="en-US" smtClean="0"/>
              <a:t>7/12/2025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43C91-961C-6D0D-FDBB-96475F17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5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270559"/>
            <a:ext cx="89154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 versus Non-causal systems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239694" y="866160"/>
          <a:ext cx="374200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203112" progId="Equation.DSMT4">
                  <p:embed/>
                </p:oleObj>
              </mc:Choice>
              <mc:Fallback>
                <p:oleObj name="Equation" r:id="rId2" imgW="1447172" imgH="203112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694" y="866160"/>
                        <a:ext cx="374200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517568" y="2284329"/>
          <a:ext cx="1905000" cy="52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203112" progId="Equation.DSMT4">
                  <p:embed/>
                </p:oleObj>
              </mc:Choice>
              <mc:Fallback>
                <p:oleObj name="Equation" r:id="rId4" imgW="748975" imgH="203112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568" y="2284329"/>
                        <a:ext cx="1905000" cy="5269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929268" y="3246418"/>
          <a:ext cx="2614168" cy="532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6000" imgH="203200" progId="Equation.DSMT4">
                  <p:embed/>
                </p:oleObj>
              </mc:Choice>
              <mc:Fallback>
                <p:oleObj name="Equation" r:id="rId6" imgW="1016000" imgH="2032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268" y="3246418"/>
                        <a:ext cx="2614168" cy="532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306566" y="4082046"/>
          <a:ext cx="1883166" cy="510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03040" progId="Equation.DSMT4">
                  <p:embed/>
                </p:oleObj>
              </mc:Choice>
              <mc:Fallback>
                <p:oleObj name="Equation" r:id="rId8" imgW="761760" imgH="203040" progId="Equation.DSMT4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566" y="4082046"/>
                        <a:ext cx="1883166" cy="510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5815912" y="4075448"/>
            <a:ext cx="24013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Non-causal</a:t>
            </a:r>
            <a:endParaRPr lang="en-US" sz="2800" dirty="0">
              <a:solidFill>
                <a:srgbClr val="2603BD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62704" y="853000"/>
            <a:ext cx="2005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Non-causal</a:t>
            </a:r>
            <a:endParaRPr lang="en-US" sz="2800" dirty="0">
              <a:solidFill>
                <a:srgbClr val="2603BD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880942" y="2288023"/>
            <a:ext cx="2005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Non-causal</a:t>
            </a:r>
            <a:endParaRPr lang="en-US" sz="2800" dirty="0">
              <a:solidFill>
                <a:srgbClr val="2603BD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2272" y="3291809"/>
            <a:ext cx="1975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64224" name="Picture 3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239370" y="4993812"/>
            <a:ext cx="2304066" cy="554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5981701" y="4993812"/>
            <a:ext cx="2005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Non-causal</a:t>
            </a:r>
            <a:endParaRPr lang="en-US" sz="2800" dirty="0">
              <a:solidFill>
                <a:srgbClr val="2603BD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782267-FAF1-486A-BE42-390341E83E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6400" y="1670043"/>
            <a:ext cx="3162300" cy="4095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BC7340-82E7-4527-9041-71ECBF811324}"/>
              </a:ext>
            </a:extLst>
          </p:cNvPr>
          <p:cNvSpPr/>
          <p:nvPr/>
        </p:nvSpPr>
        <p:spPr>
          <a:xfrm>
            <a:off x="6362703" y="1556397"/>
            <a:ext cx="1975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E69C35-8114-490E-9AD9-8BB6825C886F}"/>
              </a:ext>
            </a:extLst>
          </p:cNvPr>
          <p:cNvSpPr/>
          <p:nvPr/>
        </p:nvSpPr>
        <p:spPr>
          <a:xfrm>
            <a:off x="6028870" y="5933845"/>
            <a:ext cx="1975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363B58-096C-476B-BF72-1A97E7977F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0810" y="2203475"/>
            <a:ext cx="1799839" cy="11358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205DC9F-48D5-4514-9689-38B53BA210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5642" y="4016772"/>
            <a:ext cx="1707659" cy="1135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44FFB0-BDD8-4534-1466-EC517F10DB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4150" y="6005881"/>
            <a:ext cx="1905000" cy="45118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72AA5-1DC4-25DD-C8EB-07B2ADC1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9B20-702C-44F6-ACB6-5EEADB41EA43}" type="datetime1">
              <a:rPr lang="en-US" smtClean="0"/>
              <a:t>7/12/2025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16F5BB-D6C6-C46F-67BE-6E38FE71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24" grpId="0"/>
      <p:bldP spid="4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Linear versus nonlinear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762000"/>
            <a:ext cx="8991600" cy="4057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2201" y="4700968"/>
            <a:ext cx="5934075" cy="215703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AE346-2551-790D-EB41-4F80C165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3B01-9264-4350-A0CF-18764BA7A473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EC839-9E9B-2EDE-B4B0-F1BB4BE3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95800" y="187712"/>
          <a:ext cx="1826941" cy="505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203112" progId="Equation.DSMT4">
                  <p:embed/>
                </p:oleObj>
              </mc:Choice>
              <mc:Fallback>
                <p:oleObj name="Equation" r:id="rId2" imgW="748975" imgH="203112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7712"/>
                        <a:ext cx="1826941" cy="5053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03460" y="146374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for linearity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801" y="704106"/>
            <a:ext cx="6235629" cy="591903"/>
          </a:xfrm>
          <a:prstGeom prst="rect">
            <a:avLst/>
          </a:prstGeo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048001" y="130596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731888" y="1303822"/>
          <a:ext cx="2721278" cy="555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600" imgH="228600" progId="Equation.DSMT4">
                  <p:embed/>
                </p:oleObj>
              </mc:Choice>
              <mc:Fallback>
                <p:oleObj name="Equation" r:id="rId5" imgW="1117600" imgH="2286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888" y="1303822"/>
                        <a:ext cx="2721278" cy="555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5483977" y="1318777"/>
          <a:ext cx="998494" cy="54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100" imgH="228600" progId="Equation.DSMT4">
                  <p:embed/>
                </p:oleObj>
              </mc:Choice>
              <mc:Fallback>
                <p:oleObj name="Equation" r:id="rId7" imgW="419100" imgH="22860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977" y="1318777"/>
                        <a:ext cx="998494" cy="5446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821367" y="1896407"/>
            <a:ext cx="6467475" cy="598313"/>
          </a:xfrm>
          <a:prstGeom prst="rect">
            <a:avLst/>
          </a:prstGeom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783582" y="2519975"/>
          <a:ext cx="2617891" cy="513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68400" imgH="228600" progId="Equation.DSMT4">
                  <p:embed/>
                </p:oleObj>
              </mc:Choice>
              <mc:Fallback>
                <p:oleObj name="Equation" r:id="rId10" imgW="1168400" imgH="22860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582" y="2519975"/>
                        <a:ext cx="2617891" cy="5135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409269" y="2514806"/>
          <a:ext cx="1054262" cy="546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228501" progId="Equation.DSMT4">
                  <p:embed/>
                </p:oleObj>
              </mc:Choice>
              <mc:Fallback>
                <p:oleObj name="Equation" r:id="rId12" imgW="444307" imgH="228501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9269" y="2514806"/>
                        <a:ext cx="1054262" cy="5460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38326" y="3123827"/>
            <a:ext cx="6619875" cy="62561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03460" y="3832931"/>
            <a:ext cx="7388672" cy="5899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659405" y="4453008"/>
            <a:ext cx="5948445" cy="586265"/>
          </a:xfrm>
          <a:prstGeom prst="rect">
            <a:avLst/>
          </a:prstGeom>
        </p:spPr>
      </p:pic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406579" y="5375870"/>
            <a:ext cx="5657850" cy="11525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311CF-7AE6-B617-365C-8A79FF12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3747-EA31-43F1-A11D-51671DB38142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364925-9871-79BB-80A5-B4EC36D9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4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80559"/>
            <a:ext cx="8229600" cy="56429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 versus nonlinear systems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62201" y="453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205933" y="5021925"/>
          <a:ext cx="1905000" cy="52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203112" progId="Equation.DSMT4">
                  <p:embed/>
                </p:oleObj>
              </mc:Choice>
              <mc:Fallback>
                <p:oleObj name="Equation" r:id="rId2" imgW="748975" imgH="203112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933" y="5021925"/>
                        <a:ext cx="1905000" cy="5269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859682" y="4225548"/>
          <a:ext cx="2614168" cy="532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03040" progId="Equation.DSMT4">
                  <p:embed/>
                </p:oleObj>
              </mc:Choice>
              <mc:Fallback>
                <p:oleObj name="Equation" r:id="rId4" imgW="1015920" imgH="20304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682" y="4225548"/>
                        <a:ext cx="2614168" cy="532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817499" y="3474480"/>
          <a:ext cx="2681868" cy="554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865" imgH="203112" progId="Equation.DSMT4">
                  <p:embed/>
                </p:oleObj>
              </mc:Choice>
              <mc:Fallback>
                <p:oleObj name="Equation" r:id="rId6" imgW="1002865" imgH="203112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499" y="3474480"/>
                        <a:ext cx="2681868" cy="5542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811441" y="2551907"/>
            <a:ext cx="2074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  <a:endParaRPr lang="en-US" sz="3200" dirty="0">
              <a:solidFill>
                <a:srgbClr val="2603BD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68243" y="850189"/>
            <a:ext cx="19543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  <a:endParaRPr lang="en-US" sz="3000" dirty="0">
              <a:solidFill>
                <a:srgbClr val="2603BD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860320" y="1609522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en-US" sz="3200" dirty="0">
              <a:solidFill>
                <a:srgbClr val="2603BD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72231" y="4236082"/>
            <a:ext cx="1975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2825047" y="810391"/>
          <a:ext cx="2674320" cy="579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087" imgH="203112" progId="Equation.DSMT4">
                  <p:embed/>
                </p:oleObj>
              </mc:Choice>
              <mc:Fallback>
                <p:oleObj name="Equation" r:id="rId8" imgW="952087" imgH="203112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047" y="810391"/>
                        <a:ext cx="2674320" cy="5794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5860320" y="3500983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en-US" sz="3200" dirty="0">
              <a:solidFill>
                <a:srgbClr val="2603BD"/>
              </a:solidFill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445647" y="1630637"/>
          <a:ext cx="2053720" cy="61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669" imgH="203112" progId="Equation.DSMT4">
                  <p:embed/>
                </p:oleObj>
              </mc:Choice>
              <mc:Fallback>
                <p:oleObj name="Equation" r:id="rId10" imgW="761669" imgH="203112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647" y="1630637"/>
                        <a:ext cx="2053720" cy="616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264817" y="2459498"/>
          <a:ext cx="2134920" cy="64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4" imgH="228501" progId="Equation.DSMT4">
                  <p:embed/>
                </p:oleObj>
              </mc:Choice>
              <mc:Fallback>
                <p:oleObj name="Equation" r:id="rId12" imgW="774364" imgH="228501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817" y="2459498"/>
                        <a:ext cx="2134920" cy="6404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>
            <a:off x="5783175" y="5043733"/>
            <a:ext cx="1975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266281" name="Object 41"/>
          <p:cNvGraphicFramePr>
            <a:graphicFrameLocks noChangeAspect="1"/>
          </p:cNvGraphicFramePr>
          <p:nvPr/>
        </p:nvGraphicFramePr>
        <p:xfrm>
          <a:off x="3125929" y="5820607"/>
          <a:ext cx="2286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586" imgH="241195" progId="Equation.DSMT4">
                  <p:embed/>
                </p:oleObj>
              </mc:Choice>
              <mc:Fallback>
                <p:oleObj name="Equation" r:id="rId14" imgW="723586" imgH="241195" progId="Equation.DSMT4">
                  <p:embed/>
                  <p:pic>
                    <p:nvPicPr>
                      <p:cNvPr id="26628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929" y="5820607"/>
                        <a:ext cx="22860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>
            <a:off x="5834824" y="5921633"/>
            <a:ext cx="2074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  <a:endParaRPr lang="en-US" sz="3200" dirty="0">
              <a:solidFill>
                <a:srgbClr val="2603BD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8BD0A0-E6EA-46BE-B7E2-88E9C17D1C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38303" y="841541"/>
            <a:ext cx="1257300" cy="12287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68556C9-BB4F-49E0-B196-0196D1AF60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53401" y="2457453"/>
            <a:ext cx="2105025" cy="11049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5EC1A7-D3EB-0F12-BDD5-742D88EC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89EA-D0E4-4684-9936-F9156671778B}" type="datetime1">
              <a:rPr lang="en-US" smtClean="0"/>
              <a:t>7/12/2025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DE9A7F4-1415-8A6E-1873-C2207CD5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2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6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6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66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25" grpId="0"/>
      <p:bldP spid="32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55123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6E94-6D05-4203-97DB-6E5935B104B5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DE9083-29D9-13C2-D4C9-4BB04C48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60" y="2498778"/>
            <a:ext cx="10192966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Continuous Time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D7C0-774D-63F5-803A-7F9DE03DE120}"/>
              </a:ext>
            </a:extLst>
          </p:cNvPr>
          <p:cNvSpPr txBox="1"/>
          <p:nvPr/>
        </p:nvSpPr>
        <p:spPr>
          <a:xfrm>
            <a:off x="2937754" y="459872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Session-8</a:t>
            </a:r>
          </a:p>
        </p:txBody>
      </p:sp>
    </p:spTree>
    <p:extLst>
      <p:ext uri="{BB962C8B-B14F-4D97-AF65-F5344CB8AC3E}">
        <p14:creationId xmlns:p14="http://schemas.microsoft.com/office/powerpoint/2010/main" val="2947150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685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Time-Invariant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versus </a:t>
            </a:r>
            <a:r>
              <a:rPr lang="en-US" sz="3600" dirty="0">
                <a:solidFill>
                  <a:srgbClr val="058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Variant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2971800"/>
            <a:ext cx="8808388" cy="947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04976" y="4343400"/>
            <a:ext cx="8963025" cy="8772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76400" y="682378"/>
            <a:ext cx="8839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 relaxed system </a:t>
            </a:r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said to be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time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invariant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or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shift invariant, </a:t>
            </a:r>
            <a:r>
              <a:rPr lang="en-US" sz="2800" i="1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if  the system response does not change with time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4601" y="1991877"/>
            <a:ext cx="7499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For every input </a:t>
            </a:r>
            <a:r>
              <a:rPr lang="en-US" sz="28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and for every time shift ‘</a:t>
            </a:r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’.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7B16A-702E-7A8C-A0F2-C0146F59E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732" y="2524076"/>
            <a:ext cx="1056668" cy="6372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F0A2EA-A672-0E5E-DD66-E22395E58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732" y="3919539"/>
            <a:ext cx="999744" cy="538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40D888-D4AC-4B8A-1D34-31AA22BF1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477" y="5513789"/>
            <a:ext cx="5143515" cy="102464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ABFF44-4ECB-E1ED-AE97-61B039CD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520-E197-4F90-A7BD-CFFE42315A6C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38B01B-1047-8F3E-582E-92544278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2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69A9-593B-6222-54E2-CD6BB5F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720F-8A53-C4E1-6368-EDBF3879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77" y="0"/>
            <a:ext cx="9130847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4FE57-5B15-F637-D5A2-0CA5DBAB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94FC-5087-433D-ABC5-37FCF70AEA0C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0E9C2-C532-728A-731C-4D7F5354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0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DAF69-0889-EAAC-870B-F8963E5CE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32" y="66991"/>
            <a:ext cx="8458200" cy="593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76F1B-3439-7DB4-3560-8B61EEAB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833" y="660418"/>
            <a:ext cx="7050025" cy="562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FE9585-4C81-7D53-5D43-9B28717169C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97142" y="1808983"/>
            <a:ext cx="6512172" cy="76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0014DC-D51B-9972-8A6F-FD6576E21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576" y="1391753"/>
            <a:ext cx="4857750" cy="3935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A8B3B4-618C-0BB2-8271-83CE54A00A2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24574" y="4023256"/>
            <a:ext cx="6985314" cy="7510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D8E4DF-018C-59D5-7C3E-D59006945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814" y="2640310"/>
            <a:ext cx="7050026" cy="470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05DA12-41BC-F22D-BF1D-5AADE94C30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4689" y="3313276"/>
            <a:ext cx="5492115" cy="6417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E4DE20-D7EA-42FE-3FA5-4A75AB9C6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5806" y="4740546"/>
            <a:ext cx="5739384" cy="8151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B6EB65-EF65-5C83-FAF3-6F14AC50CA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5910" y="5844611"/>
            <a:ext cx="5739384" cy="8569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5333EDC-1A5A-164A-71D7-4DC0496CF3AA}"/>
              </a:ext>
            </a:extLst>
          </p:cNvPr>
          <p:cNvSpPr txBox="1"/>
          <p:nvPr/>
        </p:nvSpPr>
        <p:spPr>
          <a:xfrm>
            <a:off x="8753858" y="658640"/>
            <a:ext cx="1877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2 times input plus 3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93E47-D338-BED7-046D-4B7DAC95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91815-5341-437D-9A38-836FD1EF47E3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49B93-18FA-EDFB-1CE1-26A0CC40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152400"/>
            <a:ext cx="5899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</a:rPr>
              <a:t>Test this system for Time Invariance</a:t>
            </a:r>
            <a:endParaRPr lang="en-US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772401" y="185410"/>
          <a:ext cx="168812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203112" progId="Equation.DSMT4">
                  <p:embed/>
                </p:oleObj>
              </mc:Choice>
              <mc:Fallback>
                <p:oleObj name="Equation" r:id="rId2" imgW="761669" imgH="203112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185410"/>
                        <a:ext cx="168812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9619" y="732115"/>
            <a:ext cx="7381875" cy="428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66285" y="3177789"/>
            <a:ext cx="6753225" cy="962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44202" y="5081384"/>
            <a:ext cx="6829425" cy="866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3073" y="6190573"/>
            <a:ext cx="8094981" cy="6296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FA0A5-350A-2C9B-9517-004892A398F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88312" y="4230060"/>
            <a:ext cx="6985314" cy="751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9183C3-0B96-CD8B-F5EE-2190022014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374724"/>
            <a:ext cx="6753226" cy="1180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35AD4E-FCE0-B055-426F-7313BDE817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8866" y="2529423"/>
            <a:ext cx="6248400" cy="467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6ACF7-DBCA-6838-9D2A-05031CA5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93D6-89F6-4ED3-BE9A-71290367F9FC}" type="datetime1">
              <a:rPr lang="en-US" smtClean="0"/>
              <a:t>7/12/2025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D4670B-01BA-2D56-1196-318A4DCB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1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54" y="-21336"/>
            <a:ext cx="9130847" cy="669340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D82CA67-3F2F-D10C-C8D1-89618DD6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940CCFD-873D-60DB-84D0-0D2CABECD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12193"/>
          <a:ext cx="908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320" imgH="203040" progId="Equation.DSMT4">
                  <p:embed/>
                </p:oleObj>
              </mc:Choice>
              <mc:Fallback>
                <p:oleObj name="Equation" r:id="rId3" imgW="35532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940CCFD-873D-60DB-84D0-0D2CABECD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2193"/>
                        <a:ext cx="90805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484E7CD-6FB8-B85E-9D24-4104E0DD0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662782"/>
          <a:ext cx="908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320" imgH="203040" progId="Equation.DSMT4">
                  <p:embed/>
                </p:oleObj>
              </mc:Choice>
              <mc:Fallback>
                <p:oleObj name="Equation" r:id="rId3" imgW="35532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484E7CD-6FB8-B85E-9D24-4104E0DD0B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662782"/>
                        <a:ext cx="90805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64D5CFB4-EBB5-7020-A85B-E09A9F60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297" y="5011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3A0A74-9FA8-24FF-AFA7-C5F54C64A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2590800"/>
            <a:ext cx="2800350" cy="342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9484F1-3D96-2391-5182-D6929FF43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324" y="5053585"/>
            <a:ext cx="1114425" cy="4095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431677-767A-EF61-72B8-C665EAF26D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5755132"/>
            <a:ext cx="381000" cy="520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A58F53-E9E3-C882-F152-8410C05B40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340" y="6220968"/>
            <a:ext cx="1685925" cy="4000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086FBE-E1E9-670A-9B27-387B72F0FA42}"/>
              </a:ext>
            </a:extLst>
          </p:cNvPr>
          <p:cNvSpPr txBox="1"/>
          <p:nvPr/>
        </p:nvSpPr>
        <p:spPr>
          <a:xfrm>
            <a:off x="8223251" y="589403"/>
            <a:ext cx="24315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compressed the input by  2 times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12C77-F8B8-1ACF-F83B-9CA03202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212B-BCE5-450B-84C0-5A5EEA6FA884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CF869-5539-3D4D-71B0-970FF4F9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097"/>
            <a:ext cx="9130847" cy="6851903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D82CA67-3F2F-D10C-C8D1-89618DD6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4D5CFB4-EBB5-7020-A85B-E09A9F60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297" y="5011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431677-767A-EF61-72B8-C665EAF2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5880100"/>
            <a:ext cx="381000" cy="520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A58F53-E9E3-C882-F152-8410C05B4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340" y="6373368"/>
            <a:ext cx="1685925" cy="400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6A673-5AAD-61CD-11FA-F24F34912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1" y="2591815"/>
            <a:ext cx="3190875" cy="342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DE7768-339F-DA3F-D9F7-EBD957218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048000"/>
            <a:ext cx="264795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7F1F41-E3CC-4AA3-D866-A5A329165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526" y="5201412"/>
            <a:ext cx="1362075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669A85-827A-6CFA-F85D-E7383AEBA1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0" y="76201"/>
            <a:ext cx="1351932" cy="3809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0EAC7A-0D36-BD85-7563-3E56F3996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685800"/>
            <a:ext cx="1351932" cy="3809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16FA64-C0B0-AD04-C404-8E1782842B14}"/>
              </a:ext>
            </a:extLst>
          </p:cNvPr>
          <p:cNvSpPr txBox="1"/>
          <p:nvPr/>
        </p:nvSpPr>
        <p:spPr>
          <a:xfrm>
            <a:off x="7014028" y="974248"/>
            <a:ext cx="365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time reversal of input and shift right by 2 units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BAF70-2CC4-10C9-5A8A-AC8E981D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27A1-8BDF-4403-BBA5-8CCA8733B97B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92480-B144-0232-E468-9BC04FE2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69A9-593B-6222-54E2-CD6BB5F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720F-8A53-C4E1-6368-EDBF3879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77" y="0"/>
            <a:ext cx="9130847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292AD-5DF1-5573-A800-56C4CDD9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5E73-45CD-4A41-9AFA-BA4A68982AFB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E08F-E5E7-F931-B042-4B3F7D3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31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856" y="104034"/>
            <a:ext cx="9067800" cy="7921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Time-invariant versus time-variant systems</a:t>
            </a:r>
            <a:endParaRPr lang="en-US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93301" y="1267577"/>
            <a:ext cx="27646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Time-invariant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133600" y="1295810"/>
          <a:ext cx="240104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614" imgH="203112" progId="Equation.DSMT4">
                  <p:embed/>
                </p:oleObj>
              </mc:Choice>
              <mc:Fallback>
                <p:oleObj name="Equation" r:id="rId2" imgW="888614" imgH="203112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95810"/>
                        <a:ext cx="2401048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5205493" y="2452041"/>
            <a:ext cx="2445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232418" y="2423940"/>
          <a:ext cx="2203413" cy="596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203112" progId="Equation.DSMT4">
                  <p:embed/>
                </p:oleObj>
              </mc:Choice>
              <mc:Fallback>
                <p:oleObj name="Equation" r:id="rId4" imgW="761669" imgH="203112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418" y="2423940"/>
                        <a:ext cx="2203413" cy="596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4">
            <a:extLst>
              <a:ext uri="{FF2B5EF4-FFF2-40B4-BE49-F238E27FC236}">
                <a16:creationId xmlns:a16="http://schemas.microsoft.com/office/drawing/2014/main" id="{E3B6E7D5-5A1F-B019-0649-EDB5DA5E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335069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6DDEF50-4CF6-DF88-B12A-86925CB00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418" y="3429001"/>
          <a:ext cx="2660241" cy="498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203040" progId="Equation.DSMT4">
                  <p:embed/>
                </p:oleObj>
              </mc:Choice>
              <mc:Fallback>
                <p:oleObj name="Equation" r:id="rId6" imgW="1066680" imgH="2030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26DDEF50-4CF6-DF88-B12A-86925CB00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418" y="3429001"/>
                        <a:ext cx="2660241" cy="498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34B14C3B-3DF7-2954-6FF8-989359D4894F}"/>
              </a:ext>
            </a:extLst>
          </p:cNvPr>
          <p:cNvSpPr/>
          <p:nvPr/>
        </p:nvSpPr>
        <p:spPr>
          <a:xfrm>
            <a:off x="5330365" y="3344117"/>
            <a:ext cx="2445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B4105-E6B3-8763-FC05-BA8D57D0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6FC6-5D7F-4F5A-82DE-022D274A0378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59CC1-8B10-64E1-08B3-913EC859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7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Stable versus Unstable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639763"/>
            <a:ext cx="8763000" cy="54864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stable system is such that well-behaved outputs are obtained for well-behaved inputs. </a:t>
            </a:r>
          </a:p>
          <a:p>
            <a:pPr marL="0" indent="0">
              <a:buNone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system is said to be bounded input bounded output (BIBO) stable, if and only if every bounded input results in a bounded output.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429000" y="3276600"/>
          <a:ext cx="3200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3643" imgH="215806" progId="Equation.DSMT4">
                  <p:embed/>
                </p:oleObj>
              </mc:Choice>
              <mc:Fallback>
                <p:oleObj name="Equation" r:id="rId2" imgW="1053643" imgH="215806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76600"/>
                        <a:ext cx="32004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505200" y="4419601"/>
          <a:ext cx="3124200" cy="669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241195" progId="Equation.DSMT4">
                  <p:embed/>
                </p:oleObj>
              </mc:Choice>
              <mc:Fallback>
                <p:oleObj name="Equation" r:id="rId4" imgW="1079032" imgH="241195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19601"/>
                        <a:ext cx="3124200" cy="6694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2FEBC4-655C-9B03-77B4-67A17ACD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3CB9-C8DE-4B68-9FC7-FC4D8A5623F4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199801-6058-33EB-EBFC-CC368AC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61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0BFE9-E0CB-498C-8F3F-CACB2D21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7770861" cy="121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B921-01A9-486B-AA24-F7A173F2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18291"/>
            <a:ext cx="6827522" cy="108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4BF412-4FDE-424E-BA50-EDE2A09F2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824920"/>
            <a:ext cx="7620001" cy="1034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1FA21-2A05-4FDA-9A99-3E13D0540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1" y="5178793"/>
            <a:ext cx="9051901" cy="1034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BFF59-3813-4E6B-A7FF-924F50CAD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320" y="1670156"/>
            <a:ext cx="6050280" cy="53456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E8766-3FD1-AE01-EC86-E0BC8F8F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5365-29A8-4BDC-9BC6-8FBCEBA168BD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65C90-2CAC-44B3-2844-8A3A4806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4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0BFE9-E0CB-498C-8F3F-CACB2D21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8229601" cy="12911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416D8F-9ECF-4E7F-9E71-61F83733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1714640"/>
            <a:ext cx="7224409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61019-BA2D-4C6B-89DB-2E212AACB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789" y="2594129"/>
            <a:ext cx="7224409" cy="1129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DCA6C-9E2B-4788-B30E-6B4DE2B30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1" y="4125053"/>
            <a:ext cx="3966649" cy="502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56E3ED-5989-4CEE-934B-B01F1742E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693" y="5029200"/>
            <a:ext cx="6992603" cy="97155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9E6D10-5320-E845-AD8F-E1790983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397-09E1-4272-81FD-0F2F14CBDFEF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FEB76F-F670-E4F0-7139-3C15683E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4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EB3742-89FF-4A31-8F75-47B799F8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1001"/>
            <a:ext cx="8839200" cy="1093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D1A868-9724-4B59-8062-D5005A87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1886153"/>
            <a:ext cx="2476500" cy="55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AD8518-483B-4324-9186-EAB6A460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48" y="2648334"/>
            <a:ext cx="2009775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519B7-8C1C-4AE5-ABB0-BC6E3B956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1" y="2741688"/>
            <a:ext cx="1952625" cy="466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D5ABC-701C-43B8-90E1-DE8B3A741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80" y="2771705"/>
            <a:ext cx="2057400" cy="44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A3C42C-1BE9-42F5-81E3-0D18494D6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1" y="3620269"/>
            <a:ext cx="2390775" cy="619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3D723E-F6FB-473B-9B92-3AC20B32EF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5875" y="3621400"/>
            <a:ext cx="2000250" cy="514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D2CB57-33DA-49DD-B956-41D9A42B5B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1" y="4526469"/>
            <a:ext cx="1552575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7668A-36AF-4CB0-98B5-A27B792829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800" y="5285415"/>
            <a:ext cx="2609850" cy="5810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4AF4F-7AA9-3012-C05B-88E8DA2D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E556-1CD0-45B3-AB03-52D264FBEA36}" type="datetime1">
              <a:rPr lang="en-US" smtClean="0"/>
              <a:t>7/12/2025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789486-D2DB-54FA-71A8-E5BF8E5B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0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1D245B-111C-4AD4-AF90-5789379B6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76426"/>
            <a:ext cx="2286000" cy="50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9F36B3-3173-4174-994A-F88A68810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720340"/>
            <a:ext cx="1943100" cy="49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63AD87-7B77-4634-9403-365E04D44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61" y="3510915"/>
            <a:ext cx="168592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921C32-08AD-443C-B781-41C8DC5CE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710" y="4339591"/>
            <a:ext cx="1571625" cy="466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26D38-4246-4BF1-A6B9-9DE94C64C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722" y="5173980"/>
            <a:ext cx="2943225" cy="514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7B5F84-FE40-76C8-ABDA-CCAE72874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1" y="152401"/>
            <a:ext cx="7991475" cy="866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922B3B-D186-084E-9804-6237BCACE7EF}"/>
                  </a:ext>
                </a:extLst>
              </p:cNvPr>
              <p:cNvSpPr txBox="1"/>
              <p:nvPr/>
            </p:nvSpPr>
            <p:spPr>
              <a:xfrm>
                <a:off x="5196459" y="795767"/>
                <a:ext cx="4572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d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"/>
                              <m:endChr m:val=""/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d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−2)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922B3B-D186-084E-9804-6237BCACE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459" y="795767"/>
                <a:ext cx="45720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96A7B5-883E-7779-629B-DACF03EB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451B-7494-4E70-863C-415B883F46B1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998FBF-D6A5-6491-8425-DCA21A82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1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077" y="2857500"/>
            <a:ext cx="1404026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DE861-9E5C-B170-DA53-88C9E4EB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FD5C-406C-4DDC-BB7F-DC1379B0A9E9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C3100-F847-0790-BE44-5A137607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487</Words>
  <Application>Microsoft Office PowerPoint</Application>
  <PresentationFormat>Widescreen</PresentationFormat>
  <Paragraphs>145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Times New Roman</vt:lpstr>
      <vt:lpstr>Office Theme</vt:lpstr>
      <vt:lpstr>Equation</vt:lpstr>
      <vt:lpstr>Continuous Time Systems</vt:lpstr>
      <vt:lpstr>Continuous Time Systems</vt:lpstr>
      <vt:lpstr>What is a ‘System’?</vt:lpstr>
      <vt:lpstr>Relation between Signal and System</vt:lpstr>
      <vt:lpstr>Representation of systems</vt:lpstr>
      <vt:lpstr>Examples</vt:lpstr>
      <vt:lpstr>PowerPoint Presentation</vt:lpstr>
      <vt:lpstr>PowerPoint Presentation</vt:lpstr>
      <vt:lpstr>PowerPoint Presentation</vt:lpstr>
      <vt:lpstr> Systems with and without Memory (Static or dynamic systems)</vt:lpstr>
      <vt:lpstr>(Static or dynamic systems)</vt:lpstr>
      <vt:lpstr>2. Causal versus Non-causal systems (Non-anticipative and anticipative)</vt:lpstr>
      <vt:lpstr>Causal versus Non-causal systems</vt:lpstr>
      <vt:lpstr>3. Linear versus nonlinear systems</vt:lpstr>
      <vt:lpstr>PowerPoint Presentation</vt:lpstr>
      <vt:lpstr>Linear versus nonlinear systems</vt:lpstr>
      <vt:lpstr>Continuous Time Systems</vt:lpstr>
      <vt:lpstr>4. Time-Invariant versus Time Variant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Time-invariant versus time-variant systems</vt:lpstr>
      <vt:lpstr>5. Stable versus Unstable systems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13</cp:revision>
  <dcterms:created xsi:type="dcterms:W3CDTF">2023-05-08T13:48:07Z</dcterms:created>
  <dcterms:modified xsi:type="dcterms:W3CDTF">2025-07-12T08:55:20Z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