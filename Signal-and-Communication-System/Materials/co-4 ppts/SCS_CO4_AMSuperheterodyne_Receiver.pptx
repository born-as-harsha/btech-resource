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0"/>
  </p:notesMasterIdLst>
  <p:handoutMasterIdLst>
    <p:handoutMasterId r:id="rId21"/>
  </p:handoutMasterIdLst>
  <p:sldIdLst>
    <p:sldId id="332" r:id="rId5"/>
    <p:sldId id="422" r:id="rId6"/>
    <p:sldId id="468" r:id="rId7"/>
    <p:sldId id="421" r:id="rId8"/>
    <p:sldId id="427" r:id="rId9"/>
    <p:sldId id="462" r:id="rId10"/>
    <p:sldId id="469" r:id="rId11"/>
    <p:sldId id="459" r:id="rId12"/>
    <p:sldId id="456" r:id="rId13"/>
    <p:sldId id="457" r:id="rId14"/>
    <p:sldId id="458" r:id="rId15"/>
    <p:sldId id="460" r:id="rId16"/>
    <p:sldId id="429" r:id="rId17"/>
    <p:sldId id="430" r:id="rId18"/>
    <p:sldId id="44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TextBox 3">
            <a:extLst>
              <a:ext uri="{FF2B5EF4-FFF2-40B4-BE49-F238E27FC236}">
                <a16:creationId xmlns:a16="http://schemas.microsoft.com/office/drawing/2014/main" id="{A12F97AF-3BC9-6EED-E58E-57C094F9B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969" y="3136612"/>
            <a:ext cx="69517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dirty="0">
                <a:solidFill>
                  <a:srgbClr val="FF0000"/>
                </a:solidFill>
              </a:rPr>
              <a:t>AM and FM Transmitter and Receiver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1862328" y="511314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 Communication Systems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C8DA763-B03B-36A3-B49E-BCA1D20F1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895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AM Superheterodyne  Receivers</a:t>
            </a:r>
            <a:br>
              <a:rPr lang="en-US" altLang="en-US" dirty="0">
                <a:solidFill>
                  <a:srgbClr val="CC3300"/>
                </a:solidFill>
                <a:latin typeface="Comic Sans MS" panose="030F0702030302020204" pitchFamily="66" charset="0"/>
              </a:rPr>
            </a:b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6D56B-163B-8231-1DCF-2F4C6A62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F94A689-E6AF-CA76-B96F-3BBA1833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968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Heterodyning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304C2B8-1872-775B-17E5-8D8AEAE8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986088"/>
            <a:ext cx="9144000" cy="32004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Heterodyning is the generation of new frequencies by mixing two or more signals in a nonlinear device such as a vacuum tube, transistor, diode mixer.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Mixing of each two frequencies results in the creation of two new frequencies, one at the sum of the two frequencies mixed, and the other at their difference.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 low frequency produced in this manner is sometimes referred to as a beat frequency.</a:t>
            </a:r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739513E6-0F30-631F-0C13-45EB4CCC7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09600"/>
            <a:ext cx="7620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FD37EF-524E-7765-A365-6DEB7F85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88CB322-71F7-23F3-1CFA-FE4C03B0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868363"/>
          </a:xfrm>
        </p:spPr>
        <p:txBody>
          <a:bodyPr/>
          <a:lstStyle/>
          <a:p>
            <a:r>
              <a:rPr lang="en-US" altLang="en-US"/>
              <a:t>Superheterodyne Receiver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C8E99CD-3885-2799-70B7-5899CA7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550" y="1198563"/>
            <a:ext cx="8915400" cy="513556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basic selectivity problem in TRF systems led to the development and general usage of the superheterodyne receivers.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It was introduced in the early 1930s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basic receiver configuration is still dominant after all these years, an indication of its utility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superheterodyne receiver became popular because of its better selectivity, sensitivity and stability.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D19F57-0D8C-4C35-667D-4385533B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6710FACB-7F42-12DA-A941-F5C128957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3575050"/>
            <a:ext cx="8845550" cy="2846388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standard RF amplifier. It is basically a tuned amplifier that picks up the desired station.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Mixer, which accepts two inputs and produce sum and difference frequencies. The RF tuned circuit and LO tuned circuit are ganged such that the difference frequency 455 kHz is produced.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Mixer is also known as First Detector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616468B-00D9-6CDB-3C24-26D3A52A8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4400"/>
            <a:ext cx="914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4">
            <a:extLst>
              <a:ext uri="{FF2B5EF4-FFF2-40B4-BE49-F238E27FC236}">
                <a16:creationId xmlns:a16="http://schemas.microsoft.com/office/drawing/2014/main" id="{5FFD695D-577D-2227-C6E2-BB57A22F6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8601"/>
            <a:ext cx="48275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>
                <a:solidFill>
                  <a:srgbClr val="3200C0"/>
                </a:solidFill>
                <a:cs typeface="Arial" panose="020B0604020202020204" pitchFamily="34" charset="0"/>
              </a:rPr>
              <a:t>RF amplifier and Mixer</a:t>
            </a:r>
            <a:endParaRPr lang="en-US" altLang="en-US" sz="3600">
              <a:solidFill>
                <a:srgbClr val="320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18EC9-A985-5C89-5E6B-41F4369E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920F899-FB28-C50F-6246-AED5B681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3513"/>
            <a:ext cx="8229600" cy="792162"/>
          </a:xfrm>
        </p:spPr>
        <p:txBody>
          <a:bodyPr/>
          <a:lstStyle/>
          <a:p>
            <a:r>
              <a:rPr lang="en-US" altLang="en-US"/>
              <a:t>RF amplifier and Mixer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33DBD606-2EFB-6417-1615-6FD223E2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1" y="976313"/>
            <a:ext cx="8658225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FBFF9-980A-D543-1285-2B539E23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8B109-5981-5E38-0AAD-D0AED4EA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AAD81-8630-CDDE-21F2-1BD95A1669E4}"/>
              </a:ext>
            </a:extLst>
          </p:cNvPr>
          <p:cNvSpPr txBox="1"/>
          <p:nvPr/>
        </p:nvSpPr>
        <p:spPr>
          <a:xfrm>
            <a:off x="4181856" y="1942838"/>
            <a:ext cx="4852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Session-32</a:t>
            </a:r>
          </a:p>
          <a:p>
            <a:endParaRPr lang="en-US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frequency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5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E6C431C-90C7-3A46-EE49-BC3D33F0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944563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Example Frequency Conversion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6C779430-70F4-8906-CEAF-D426AA42E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1268413"/>
            <a:ext cx="8991600" cy="52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4">
            <a:extLst>
              <a:ext uri="{FF2B5EF4-FFF2-40B4-BE49-F238E27FC236}">
                <a16:creationId xmlns:a16="http://schemas.microsoft.com/office/drawing/2014/main" id="{B91CBFF7-D272-81AF-497F-1EC30480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289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FF0000"/>
                </a:solidFill>
              </a:rPr>
              <a:t>Carrier + 455 kHz (IF)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08BBA0-B22C-2806-159D-0CDFB200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DDA5766A-DB42-8AA5-E855-DFA7AECD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3194050"/>
            <a:ext cx="8845550" cy="35321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Intermediate Frequency (IF): </a:t>
            </a:r>
            <a:r>
              <a:rPr lang="en-US" altLang="en-US" sz="26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Selectivity is obtained</a:t>
            </a:r>
            <a:r>
              <a:rPr lang="en-US" altLang="en-US" sz="26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600">
                <a:latin typeface="Arial" panose="020B0604020202020204" pitchFamily="34" charset="0"/>
                <a:cs typeface="Arial" panose="020B0604020202020204" pitchFamily="34" charset="0"/>
              </a:rPr>
              <a:t>Fixed frequency 455 kHz is produced irrespective of RF tuning.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amplification at a fixed frequency This allows for a constant BW over the entire band of the receiver.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Since, the IF frequency is usually lower than the RF, voltage gain of the signal is more easily attained at the IF frequency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4A2EE6B2-290F-5167-FA26-FCA185FAE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85800"/>
            <a:ext cx="914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3">
            <a:extLst>
              <a:ext uri="{FF2B5EF4-FFF2-40B4-BE49-F238E27FC236}">
                <a16:creationId xmlns:a16="http://schemas.microsoft.com/office/drawing/2014/main" id="{F01E29BE-99F0-E1A4-F189-5516D5EE9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4" y="146051"/>
            <a:ext cx="61610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>
                <a:solidFill>
                  <a:srgbClr val="3200C0"/>
                </a:solidFill>
                <a:cs typeface="Arial" panose="020B0604020202020204" pitchFamily="34" charset="0"/>
              </a:rPr>
              <a:t>Intermediate Frequency (IF): </a:t>
            </a:r>
            <a:endParaRPr lang="en-US" altLang="en-US" sz="3600">
              <a:solidFill>
                <a:srgbClr val="320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1E9D9E-3509-9AAE-7608-8142DF96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3E93CD0-E3B3-901D-7E52-E6EAEF300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Detector and Audio amplifier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7BF0C701-BFB4-A256-DEF4-00AA0140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413" y="4094163"/>
            <a:ext cx="8915400" cy="24749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the IF amplifier stage is the detector, which extracts the intelligence from the radio signal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This signal is subsequently amplified by the audio amplifiers into the speaker</a:t>
            </a: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7FDE2C1F-2FFE-5FFA-81C0-046B5AE72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4400"/>
            <a:ext cx="9144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29488C-F28E-D081-7570-FAC913C5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450D3C9-621B-0B6B-A5B7-EDF5E245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Gain Control (</a:t>
            </a:r>
            <a: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AGC</a:t>
            </a: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C5344AB4-46C7-6414-5A03-9483BA7C2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413" y="3657601"/>
            <a:ext cx="8915400" cy="291147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automatic gain control (AGC) which allows relatively constant receiver output for widely variable received signals.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dc level proportional to the received signal’s strength is extracted from the detector stage and fed back to the IF amplifiers and sometimes to the mixer and/or the RF amplifier.</a:t>
            </a: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CFB6E372-F331-A0EA-28E2-6699D8A3C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92150"/>
            <a:ext cx="9144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E63086-F5DB-4465-0444-F3463923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>
            <a:extLst>
              <a:ext uri="{FF2B5EF4-FFF2-40B4-BE49-F238E27FC236}">
                <a16:creationId xmlns:a16="http://schemas.microsoft.com/office/drawing/2014/main" id="{93ACFA3A-65C6-DC5C-CF5C-4864EC6AE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304801"/>
            <a:ext cx="8229600" cy="944563"/>
          </a:xfrm>
        </p:spPr>
        <p:txBody>
          <a:bodyPr/>
          <a:lstStyle/>
          <a:p>
            <a:r>
              <a:rPr lang="en-US" altLang="en-US"/>
              <a:t>Image Frequency</a:t>
            </a:r>
          </a:p>
        </p:txBody>
      </p:sp>
      <p:sp>
        <p:nvSpPr>
          <p:cNvPr id="1028" name="Content Placeholder 2">
            <a:extLst>
              <a:ext uri="{FF2B5EF4-FFF2-40B4-BE49-F238E27FC236}">
                <a16:creationId xmlns:a16="http://schemas.microsoft.com/office/drawing/2014/main" id="{43A364AF-74F4-2AAB-AFAD-13BE9446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475" y="1524001"/>
            <a:ext cx="8915400" cy="4926013"/>
          </a:xfrm>
        </p:spPr>
        <p:txBody>
          <a:bodyPr/>
          <a:lstStyle/>
          <a:p>
            <a:pPr algn="just"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3200C0"/>
                </a:solidFill>
              </a:rPr>
              <a:t>An image frequency is any frequency other than the selected radio frequency carrier that, if allowed to enter a receiver and mix with the local oscillator, will produce a cross product frequency that is equal to the intermediate frequency. 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A647610B-108B-CA29-AF35-F7644043A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419600"/>
          <a:ext cx="5029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266400" progId="Equation.DSMT4">
                  <p:embed/>
                </p:oleObj>
              </mc:Choice>
              <mc:Fallback>
                <p:oleObj name="Equation" r:id="rId2" imgW="1993680" imgH="266400" progId="Equation.DSMT4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A647610B-108B-CA29-AF35-F7644043A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5029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62F39-8814-83D0-4A85-F403BB2D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2E94A3F-AF2E-C19B-4D8D-F3E672AC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6676"/>
            <a:ext cx="8229600" cy="868363"/>
          </a:xfrm>
        </p:spPr>
        <p:txBody>
          <a:bodyPr/>
          <a:lstStyle/>
          <a:p>
            <a:r>
              <a:rPr lang="en-US" altLang="en-US"/>
              <a:t>Example: Image Frequency</a:t>
            </a:r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402DD3C1-CF6F-43AD-7533-479480009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4" y="1322388"/>
            <a:ext cx="8599487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3">
            <a:extLst>
              <a:ext uri="{FF2B5EF4-FFF2-40B4-BE49-F238E27FC236}">
                <a16:creationId xmlns:a16="http://schemas.microsoft.com/office/drawing/2014/main" id="{A8B45154-3B4B-0736-B92C-7368CA518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95600"/>
            <a:ext cx="2947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4">
            <a:extLst>
              <a:ext uri="{FF2B5EF4-FFF2-40B4-BE49-F238E27FC236}">
                <a16:creationId xmlns:a16="http://schemas.microsoft.com/office/drawing/2014/main" id="{127C5CD6-11E0-1EE9-B041-E4DC8A40E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3" y="3124200"/>
            <a:ext cx="42084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4D880-6183-F1DE-EE5E-D306C89A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1">
            <a:extLst>
              <a:ext uri="{FF2B5EF4-FFF2-40B4-BE49-F238E27FC236}">
                <a16:creationId xmlns:a16="http://schemas.microsoft.com/office/drawing/2014/main" id="{D164F72D-3309-9B92-623B-D96D5EB7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0638"/>
            <a:ext cx="8229600" cy="1143001"/>
          </a:xfrm>
        </p:spPr>
        <p:txBody>
          <a:bodyPr/>
          <a:lstStyle/>
          <a:p>
            <a:r>
              <a:rPr lang="en-US" altLang="en-US"/>
              <a:t>Image Frequency Rejection Ratio</a:t>
            </a:r>
          </a:p>
        </p:txBody>
      </p:sp>
      <p:sp>
        <p:nvSpPr>
          <p:cNvPr id="2053" name="Content Placeholder 2">
            <a:extLst>
              <a:ext uri="{FF2B5EF4-FFF2-40B4-BE49-F238E27FC236}">
                <a16:creationId xmlns:a16="http://schemas.microsoft.com/office/drawing/2014/main" id="{6CE46FA1-8D9C-AB02-11AB-4CFFCEE05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738" y="990601"/>
            <a:ext cx="8915400" cy="5135563"/>
          </a:xfrm>
        </p:spPr>
        <p:txBody>
          <a:bodyPr/>
          <a:lstStyle/>
          <a:p>
            <a:pPr algn="just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IFRR is a numerical measure of the ability of a preselector to reject the image frequency. For a single-tuned preselector, the ratio of its gain at the desired RF to the gain at the image frequency is the IFRR.</a:t>
            </a:r>
          </a:p>
          <a:p>
            <a:r>
              <a:rPr lang="en-US" altLang="en-US" dirty="0"/>
              <a:t>Mathematically, IFRR is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where,                                                 and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Q is a quality factor of tuned circuit </a:t>
            </a: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6A309A6C-98DD-FA6E-0DBA-A0BFD24857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387725"/>
          <a:ext cx="361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279360" progId="Equation.DSMT4">
                  <p:embed/>
                </p:oleObj>
              </mc:Choice>
              <mc:Fallback>
                <p:oleObj name="Equation" r:id="rId2" imgW="1206360" imgH="279360" progId="Equation.DSMT4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6A309A6C-98DD-FA6E-0DBA-A0BFD2485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87725"/>
                        <a:ext cx="3619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486D256C-78AF-EA3A-ECC7-D4692A483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1" y="4343400"/>
          <a:ext cx="34639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507960" progId="Equation.DSMT4">
                  <p:embed/>
                </p:oleObj>
              </mc:Choice>
              <mc:Fallback>
                <p:oleObj name="Equation" r:id="rId4" imgW="1282680" imgH="507960" progId="Equation.DSMT4">
                  <p:embed/>
                  <p:pic>
                    <p:nvPicPr>
                      <p:cNvPr id="2051" name="Object 3">
                        <a:extLst>
                          <a:ext uri="{FF2B5EF4-FFF2-40B4-BE49-F238E27FC236}">
                            <a16:creationId xmlns:a16="http://schemas.microsoft.com/office/drawing/2014/main" id="{486D256C-78AF-EA3A-ECC7-D4692A483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4343400"/>
                        <a:ext cx="34639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8CBF1-D291-4139-832A-72414A72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7179A05B-FF4D-9E42-2FA0-EB040865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05" y="2857500"/>
            <a:ext cx="1472184" cy="1143000"/>
          </a:xfrm>
        </p:spPr>
        <p:txBody>
          <a:bodyPr/>
          <a:lstStyle/>
          <a:p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A6F273-1C50-A5BE-85D7-78B8BF33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522</Words>
  <Application>Microsoft Office PowerPoint</Application>
  <PresentationFormat>Widescreen</PresentationFormat>
  <Paragraphs>60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Wingdings</vt:lpstr>
      <vt:lpstr>Office Theme</vt:lpstr>
      <vt:lpstr>Equation</vt:lpstr>
      <vt:lpstr>PowerPoint Presentation</vt:lpstr>
      <vt:lpstr>AM Superheterodyne  Receivers </vt:lpstr>
      <vt:lpstr>Heterodyning</vt:lpstr>
      <vt:lpstr>Superheterodyne Receiver</vt:lpstr>
      <vt:lpstr>PowerPoint Presentation</vt:lpstr>
      <vt:lpstr>RF amplifier and Mixer</vt:lpstr>
      <vt:lpstr>PowerPoint Presentation</vt:lpstr>
      <vt:lpstr>Example Frequency Conversion</vt:lpstr>
      <vt:lpstr>PowerPoint Presentation</vt:lpstr>
      <vt:lpstr>Detector and Audio amplifier</vt:lpstr>
      <vt:lpstr>Automatic Gain Control (AGC)</vt:lpstr>
      <vt:lpstr>Image Frequency</vt:lpstr>
      <vt:lpstr>Example: Image Frequency</vt:lpstr>
      <vt:lpstr>Image Frequency Rejection Ratio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15</cp:revision>
  <dcterms:created xsi:type="dcterms:W3CDTF">2023-05-08T13:48:07Z</dcterms:created>
  <dcterms:modified xsi:type="dcterms:W3CDTF">2025-10-16T08:07:00Z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