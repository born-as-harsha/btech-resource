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4"/>
  </p:sldMasterIdLst>
  <p:notesMasterIdLst>
    <p:notesMasterId r:id="rId15"/>
  </p:notesMasterIdLst>
  <p:handoutMasterIdLst>
    <p:handoutMasterId r:id="rId16"/>
  </p:handoutMasterIdLst>
  <p:sldIdLst>
    <p:sldId id="332" r:id="rId5"/>
    <p:sldId id="470" r:id="rId6"/>
    <p:sldId id="464" r:id="rId7"/>
    <p:sldId id="465" r:id="rId8"/>
    <p:sldId id="466" r:id="rId9"/>
    <p:sldId id="467" r:id="rId10"/>
    <p:sldId id="425" r:id="rId11"/>
    <p:sldId id="455" r:id="rId12"/>
    <p:sldId id="423" r:id="rId13"/>
    <p:sldId id="44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09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9E9B36-2AB6-4AC3-A1C6-F7BB712AB803}" v="13" dt="2023-05-08T14:03:32.5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42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CDB74D4-5E76-4C47-E7AA-61E2C648C8D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962EDA-0A3B-5C3A-C8DF-7672C339CF9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5D750-AD1D-4C03-A026-1768137CC901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C80489-5F61-FA08-A147-AE43BE9C499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D387C-1469-6716-E148-98BDCB6976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566E6-FD90-4AE7-9488-620D46A96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391555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6BB4A-8EA9-40D4-95BF-21E04B247614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BDDA1-7BB7-447A-97DE-AE5425C8F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00788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>
            <a:extLst>
              <a:ext uri="{FF2B5EF4-FFF2-40B4-BE49-F238E27FC236}">
                <a16:creationId xmlns:a16="http://schemas.microsoft.com/office/drawing/2014/main" id="{DA825265-D0CA-CD2C-F63F-C62D771C56A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Notes Placeholder 2">
            <a:extLst>
              <a:ext uri="{FF2B5EF4-FFF2-40B4-BE49-F238E27FC236}">
                <a16:creationId xmlns:a16="http://schemas.microsoft.com/office/drawing/2014/main" id="{B2831099-6276-9969-85D2-29B6D932247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6084" name="Slide Number Placeholder 3">
            <a:extLst>
              <a:ext uri="{FF2B5EF4-FFF2-40B4-BE49-F238E27FC236}">
                <a16:creationId xmlns:a16="http://schemas.microsoft.com/office/drawing/2014/main" id="{286C5438-B070-C625-07F8-E9F835DD2A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94F86EC-06BE-4CF1-B578-9687628E0BB2}" type="slidenum">
              <a:rPr lang="en-US" altLang="en-US"/>
              <a:pPr/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>
            <a:extLst>
              <a:ext uri="{FF2B5EF4-FFF2-40B4-BE49-F238E27FC236}">
                <a16:creationId xmlns:a16="http://schemas.microsoft.com/office/drawing/2014/main" id="{9FC8A4E1-1E7B-C77C-332E-76F71BCDC6F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Notes Placeholder 2">
            <a:extLst>
              <a:ext uri="{FF2B5EF4-FFF2-40B4-BE49-F238E27FC236}">
                <a16:creationId xmlns:a16="http://schemas.microsoft.com/office/drawing/2014/main" id="{6F320B52-7E5C-77B5-F36E-9A1C7496A97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34820" name="Slide Number Placeholder 3">
            <a:extLst>
              <a:ext uri="{FF2B5EF4-FFF2-40B4-BE49-F238E27FC236}">
                <a16:creationId xmlns:a16="http://schemas.microsoft.com/office/drawing/2014/main" id="{B99FAD98-30FF-27B7-F822-EF61A0D215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FB38C89-D8C5-415C-BD8B-7BCFAFB11BBB}" type="slidenum">
              <a:rPr lang="en-US" altLang="en-US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32241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AED47-D61B-E309-5EB2-04BEA12A9E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12015A-4BD5-FB90-2194-40EC34F3C6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CA64A-8775-9B3D-9AE9-FD021694B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81261-2900-E08E-C669-3DFABF335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EC566-B985-EEED-64AD-AD1E74A84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776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6CA1A-1762-8CB7-50BB-A111D1295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22A42-2CDB-09CC-BE64-F16D5C826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ABE68-4EA6-9203-A5C9-B66C24AFE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AC3-7233-F0A8-8841-E703D8A9C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E67B6A-FEE3-4AC6-8E54-D5FACAB4F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550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38C2C-E2CF-99A3-4B76-ADF5001F7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EC2576-8EE8-91D2-5E72-FA94CB728A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034DF-70BD-585F-9DD0-E4C041783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EBFF7-3FE4-D642-3C34-C2AB78F74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8487C-E86A-5B42-AFD9-4459C3954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160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B7CD4-BDA6-3911-5E74-51628C7FA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B55A5-127A-FB1A-D6A8-2DB0C02502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972ADF-3BAF-8B6D-CE3D-0630A3BD8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CAF980-DB77-3853-4FE3-4F5B590D7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6C360-183F-64E6-626F-727D1D8C5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984E52-C247-AD53-8DB0-9ECE2061F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145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2011E-FDD8-C6F9-54EC-646022162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25621B-0845-07C4-189D-F7BBBB0E1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79B479-E026-29B4-BC5D-A2969FF33F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57F45F-1EF7-566D-CAC4-4C5D316E0F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046E26-E4BA-61B4-260D-FE06C29DDE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27DA7C-8C23-E683-8694-DF1F8F91F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BB2813-0E43-C0C5-55E0-B207BC180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E6E77F-AC73-4C85-9AF3-4E287B76D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669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EDFC9-9061-5F4F-63A1-3305678EE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6CD372-4898-7A0A-F18E-2955DE194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1026B0-5458-1CA3-28D7-348D05C70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D49DE8-CD82-8DB2-ECF2-2D40EF180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8561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01F90C-55A9-31B0-CBB0-BB754054D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FE083F-F5FA-7EDC-022C-F983177B2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4D4BC-94EA-DC9F-DE3D-52353BCFE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8714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E56F4-13D7-9DF0-566B-6B11FBCF0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662A4-F4B4-465C-1D29-3348E830F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831FD9-C665-610D-0289-9B7B8A5C29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6757DB-B89E-4A29-D0C5-6C71BF3D4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F85567-382F-8CF1-AD95-ABD0EA4CC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ECD8D5-E405-5DA9-B52B-41819F4EB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1239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09B87-55C2-9F19-3623-91B7F4C3B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5A6723-D58C-1102-D7AC-4EB5F54D0B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97D962-ECA6-E890-FA89-C9836AA22F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E0DDB2-6F1C-06B9-6100-0D082679E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786502-ED0C-6A23-60A8-C9EC1E679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67D0C5-413A-DA84-8A31-11018340B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3061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FD69A-3DC0-DB39-3334-A9BA5A403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1D3BDA-5093-5E89-269A-69491664FB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4D6DE-8E90-0D56-D28B-DE5724905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05BF5-4225-BB1D-1457-34DF8A62B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15106-45F8-64CE-C438-3456469AF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7427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AC22B9-DE1E-5F16-BBC3-3C3783BBBA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ACD89A-B728-0F81-7454-DC5E2A878E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58732-2337-1D9F-CEEA-43A1482A4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7DE17-567C-8524-BA24-E118292F3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F672A-C170-9AF8-1F51-A43D912BC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3916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2E7B62-8011-CCDC-959C-C770C92F8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CA46B4-B884-807D-D2D2-4536B041F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D281CC-4DF4-0090-E0ED-584BBD3B4D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F9F48-0658-B969-E15D-50A0133BC4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4D365-DD42-F8BB-FE9B-3A524593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ABCCC1-BF11-4F37-963E-1BCD5B23FD72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7" name="Picture 6" descr="Icon&#10;&#10;Description automatically generated with medium confidence">
            <a:extLst>
              <a:ext uri="{FF2B5EF4-FFF2-40B4-BE49-F238E27FC236}">
                <a16:creationId xmlns:a16="http://schemas.microsoft.com/office/drawing/2014/main" id="{FA6FD25C-E91B-3776-D178-4D9AF946F9A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B01E73-FD80-735E-7997-6704ACBA21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9" name="Picture 8" descr="Text&#10;&#10;Description automatically generated with medium confidence">
            <a:extLst>
              <a:ext uri="{FF2B5EF4-FFF2-40B4-BE49-F238E27FC236}">
                <a16:creationId xmlns:a16="http://schemas.microsoft.com/office/drawing/2014/main" id="{874DC773-DFA3-0B02-D75F-59F2159E3A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1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TextBox 3">
            <a:extLst>
              <a:ext uri="{FF2B5EF4-FFF2-40B4-BE49-F238E27FC236}">
                <a16:creationId xmlns:a16="http://schemas.microsoft.com/office/drawing/2014/main" id="{A12F97AF-3BC9-6EED-E58E-57C094F9B0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5481" y="3136612"/>
            <a:ext cx="695172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3200" dirty="0">
                <a:solidFill>
                  <a:srgbClr val="FF0000"/>
                </a:solidFill>
              </a:rPr>
              <a:t>AM and FM Transmitter and Receiver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7C63F9-A35B-8620-AFB6-E436A472F157}"/>
              </a:ext>
            </a:extLst>
          </p:cNvPr>
          <p:cNvSpPr txBox="1"/>
          <p:nvPr/>
        </p:nvSpPr>
        <p:spPr>
          <a:xfrm>
            <a:off x="1862328" y="511314"/>
            <a:ext cx="88270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40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Signals and  Communication Systems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A7A3EA5A-D0B6-2455-7416-5FEEB568F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1049" y="2857500"/>
            <a:ext cx="6336338" cy="1143000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sz="4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b="1" dirty="0">
                <a:solidFill>
                  <a:srgbClr val="FF0000"/>
                </a:solidFill>
              </a:rPr>
              <a:t>AM Receiver Characteristics</a:t>
            </a:r>
            <a:br>
              <a:rPr lang="en-US" altLang="en-US" b="1" dirty="0"/>
            </a:br>
            <a:b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2801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5B1C43FB-664C-82A8-51CE-C8272D368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Receiver Parameters</a:t>
            </a:r>
          </a:p>
        </p:txBody>
      </p:sp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BDAB802E-F717-D87C-89B3-42B22A4B33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Sensitivity</a:t>
            </a:r>
          </a:p>
          <a:p>
            <a:pPr>
              <a:lnSpc>
                <a:spcPct val="150000"/>
              </a:lnSpc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Selectivity</a:t>
            </a:r>
          </a:p>
          <a:p>
            <a:pPr>
              <a:lnSpc>
                <a:spcPct val="150000"/>
              </a:lnSpc>
            </a:pP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Dynamic Range</a:t>
            </a:r>
          </a:p>
          <a:p>
            <a:pPr>
              <a:lnSpc>
                <a:spcPct val="150000"/>
              </a:lnSpc>
            </a:pPr>
            <a:r>
              <a:rPr lang="en-US" altLang="en-US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Stability</a:t>
            </a:r>
          </a:p>
          <a:p>
            <a:pPr>
              <a:lnSpc>
                <a:spcPct val="150000"/>
              </a:lnSpc>
            </a:pP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Fidelity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FC432D7F-C0BA-A20C-2B29-0B10553BB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36526"/>
            <a:ext cx="8229600" cy="792163"/>
          </a:xfrm>
        </p:spPr>
        <p:txBody>
          <a:bodyPr/>
          <a:lstStyle/>
          <a:p>
            <a:r>
              <a:rPr lang="en-US" altLang="en-US"/>
              <a:t>Receiver Parameters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3304813B-A7E8-C98A-72C0-20EA346C5B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3388" y="990601"/>
            <a:ext cx="8686800" cy="5135563"/>
          </a:xfrm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/>
              <a:t> </a:t>
            </a:r>
            <a:r>
              <a:rPr lang="en-US" altLang="en-US" sz="30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Sensitivity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altLang="en-US" sz="300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Ability to recover weak signals and process them into readable data.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altLang="en-US" sz="3000">
                <a:latin typeface="Arial" panose="020B0604020202020204" pitchFamily="34" charset="0"/>
                <a:cs typeface="Arial" panose="020B0604020202020204" pitchFamily="34" charset="0"/>
              </a:rPr>
              <a:t> The most common way to express receiver sensitivity is to state the number of ac signal (micro volts) at the antenna, needed to produce a given signal-to-noise (S/N) ratio.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30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Selectivity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altLang="en-US" sz="3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Ability of a receiver to respond to a desired signal but not undesired ones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D45A1E10-5ADB-B56B-C5BE-135EDADC6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762000"/>
          </a:xfrm>
        </p:spPr>
        <p:txBody>
          <a:bodyPr/>
          <a:lstStyle/>
          <a:p>
            <a:r>
              <a:rPr lang="en-US" altLang="en-US"/>
              <a:t>Receiver Parameters</a:t>
            </a:r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9CD8C56B-A7EE-8C82-0E15-C67E2FDED2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2750" y="762001"/>
            <a:ext cx="8915400" cy="5364163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None/>
            </a:pPr>
            <a:r>
              <a:rPr lang="en-US" altLang="en-US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Dynamic Range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ability of a receiver to maintain a fairly constant output and to keep its sensitivity—in the presence of signals ranging from the very weak to the extremely strong.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expressed in dB and is typically over 100 dB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Stability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ability to remain tuned to a station once it has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been set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Fidelity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altLang="en-US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ability to preserve the exact shape of the information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536FA575-FD40-2865-1B03-5A532FC71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53975"/>
            <a:ext cx="8229600" cy="1143000"/>
          </a:xfrm>
        </p:spPr>
        <p:txBody>
          <a:bodyPr/>
          <a:lstStyle/>
          <a:p>
            <a:r>
              <a:rPr lang="en-US" altLang="en-US" sz="36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Carrier Frequency Requirements in a Radio Transmitter</a:t>
            </a:r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F0E9A275-9D18-5B6A-A07A-EA2515954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1638" y="1447801"/>
            <a:ext cx="8839200" cy="4678363"/>
          </a:xfrm>
        </p:spPr>
        <p:txBody>
          <a:bodyPr/>
          <a:lstStyle/>
          <a:p>
            <a:pPr marL="514350" indent="-514350" algn="just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altLang="en-US">
                <a:solidFill>
                  <a:srgbClr val="3200C0"/>
                </a:solidFill>
              </a:rPr>
              <a:t>Generated carrier frequency must be exactly at the specified value. The carrier frequency is determined by the master oscillator frequency.</a:t>
            </a:r>
          </a:p>
          <a:p>
            <a:pPr marL="514350" indent="-514350" algn="just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altLang="en-US"/>
              <a:t>Carrier frequency should be readily adjustable.</a:t>
            </a:r>
          </a:p>
          <a:p>
            <a:pPr marL="514350" indent="-514350" algn="just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altLang="en-US">
                <a:solidFill>
                  <a:srgbClr val="FF0000"/>
                </a:solidFill>
              </a:rPr>
              <a:t>Frequency drift and frequency scintillation should be extremely small.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C5F33719-543F-5452-9135-682743B73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28600"/>
            <a:ext cx="8229600" cy="762000"/>
          </a:xfrm>
        </p:spPr>
        <p:txBody>
          <a:bodyPr/>
          <a:lstStyle/>
          <a:p>
            <a:r>
              <a:rPr lang="en-US" altLang="en-US">
                <a:solidFill>
                  <a:srgbClr val="3200C0"/>
                </a:solidFill>
              </a:rPr>
              <a:t>Tuned Radio Frequency </a:t>
            </a:r>
            <a:r>
              <a:rPr lang="en-US" altLang="en-US">
                <a:solidFill>
                  <a:srgbClr val="FF0000"/>
                </a:solidFill>
              </a:rPr>
              <a:t>Receiver</a:t>
            </a:r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47491EC2-C0BF-D63D-CF61-1C6F3462CE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990600"/>
            <a:ext cx="9144000" cy="5867400"/>
          </a:xfrm>
        </p:spPr>
        <p:txBody>
          <a:bodyPr/>
          <a:lstStyle/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>
              <a:solidFill>
                <a:srgbClr val="C00000"/>
              </a:solidFill>
            </a:endParaRPr>
          </a:p>
          <a:p>
            <a:pPr>
              <a:spcBef>
                <a:spcPct val="0"/>
              </a:spcBef>
            </a:pPr>
            <a:r>
              <a:rPr lang="en-US" altLang="en-US">
                <a:solidFill>
                  <a:srgbClr val="C00000"/>
                </a:solidFill>
              </a:rPr>
              <a:t>TRF receivers were the first radio receivers for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>
                <a:solidFill>
                  <a:srgbClr val="C00000"/>
                </a:solidFill>
              </a:rPr>
              <a:t>     broadcast AM</a:t>
            </a:r>
          </a:p>
          <a:p>
            <a:pPr>
              <a:spcBef>
                <a:spcPct val="0"/>
              </a:spcBef>
            </a:pPr>
            <a:r>
              <a:rPr lang="en-US" altLang="en-US">
                <a:solidFill>
                  <a:srgbClr val="024614"/>
                </a:solidFill>
              </a:rPr>
              <a:t> These receivers generally had three stages of RF amplification</a:t>
            </a:r>
          </a:p>
          <a:p>
            <a:pPr>
              <a:spcBef>
                <a:spcPct val="0"/>
              </a:spcBef>
            </a:pPr>
            <a:r>
              <a:rPr lang="en-US" altLang="en-US">
                <a:solidFill>
                  <a:srgbClr val="3200C0"/>
                </a:solidFill>
              </a:rPr>
              <a:t>Each RF amplification stage was preceded by a separate variable-tuned circuit</a:t>
            </a:r>
          </a:p>
        </p:txBody>
      </p:sp>
      <p:pic>
        <p:nvPicPr>
          <p:cNvPr id="12292" name="Picture 3">
            <a:extLst>
              <a:ext uri="{FF2B5EF4-FFF2-40B4-BE49-F238E27FC236}">
                <a16:creationId xmlns:a16="http://schemas.microsoft.com/office/drawing/2014/main" id="{8D6F4EC2-7F04-8BA9-6BE7-F6B28B6E94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3851" y="1066800"/>
            <a:ext cx="8977313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5DD2FFB9-267C-013B-DFE0-47EEE0036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28600"/>
            <a:ext cx="8229600" cy="762000"/>
          </a:xfrm>
        </p:spPr>
        <p:txBody>
          <a:bodyPr/>
          <a:lstStyle/>
          <a:p>
            <a:r>
              <a:rPr lang="en-US" altLang="en-US">
                <a:solidFill>
                  <a:srgbClr val="3200C0"/>
                </a:solidFill>
              </a:rPr>
              <a:t>Tuned Radio Frequency </a:t>
            </a:r>
            <a:r>
              <a:rPr lang="en-US" altLang="en-US">
                <a:solidFill>
                  <a:srgbClr val="FF0000"/>
                </a:solidFill>
              </a:rPr>
              <a:t>Receiver</a:t>
            </a:r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F4FC5ABA-CA59-8865-E6C1-280E5EF68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990600"/>
            <a:ext cx="9144000" cy="5486400"/>
          </a:xfrm>
        </p:spPr>
        <p:txBody>
          <a:bodyPr/>
          <a:lstStyle/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r>
              <a:rPr lang="en-US" altLang="en-US">
                <a:solidFill>
                  <a:srgbClr val="FF0000"/>
                </a:solidFill>
              </a:rPr>
              <a:t>All three tuned are carefully adjusted to receive a required station. </a:t>
            </a:r>
          </a:p>
        </p:txBody>
      </p:sp>
      <p:pic>
        <p:nvPicPr>
          <p:cNvPr id="13316" name="Picture 3">
            <a:extLst>
              <a:ext uri="{FF2B5EF4-FFF2-40B4-BE49-F238E27FC236}">
                <a16:creationId xmlns:a16="http://schemas.microsoft.com/office/drawing/2014/main" id="{ACAE4FDF-CB54-B855-8CD4-9021336458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1" y="1066801"/>
            <a:ext cx="7294563" cy="179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7" name="Picture 3">
            <a:extLst>
              <a:ext uri="{FF2B5EF4-FFF2-40B4-BE49-F238E27FC236}">
                <a16:creationId xmlns:a16="http://schemas.microsoft.com/office/drawing/2014/main" id="{34074EF5-AE6F-3041-8422-5A1D8D3BB8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3808413"/>
            <a:ext cx="6057900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235B1763-5E9A-B6F8-2DE5-09EF0E6B8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49226"/>
            <a:ext cx="8229600" cy="792163"/>
          </a:xfrm>
        </p:spPr>
        <p:txBody>
          <a:bodyPr/>
          <a:lstStyle/>
          <a:p>
            <a:r>
              <a:rPr lang="en-US" altLang="en-US"/>
              <a:t>Advantages and Limitations</a:t>
            </a:r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7B458D50-4A64-A376-6DDF-9CB69DAC27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0" y="990601"/>
            <a:ext cx="8915400" cy="5135563"/>
          </a:xfrm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Advantages: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frequency conversion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Simple circuit</a:t>
            </a:r>
            <a:endParaRPr lang="tr-TR" altLang="en-US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Limitations: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Variation of BW over the tuning range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tr-TR" altLang="en-US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Difficult to design tunable RF stages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Insufficient adjacent-frequency rejection</a:t>
            </a:r>
          </a:p>
          <a:p>
            <a:pPr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tr-TR" altLang="en-US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Difficult to obtain high gain RF amplifiers</a:t>
            </a:r>
            <a:endParaRPr lang="en-US" altLang="en-US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tr-TR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is not often used.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>
            <a:extLst>
              <a:ext uri="{FF2B5EF4-FFF2-40B4-BE49-F238E27FC236}">
                <a16:creationId xmlns:a16="http://schemas.microsoft.com/office/drawing/2014/main" id="{7179A05B-FF4D-9E42-2FA0-EB0408652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205" y="2857500"/>
            <a:ext cx="1472184" cy="1143000"/>
          </a:xfrm>
        </p:spPr>
        <p:txBody>
          <a:bodyPr/>
          <a:lstStyle/>
          <a:p>
            <a:r>
              <a:rPr lang="en-US" altLang="en-US" sz="4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df66832-8a96-40a9-b472-27b1b671652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1B4054966B8914981DF84CE0611BBF3" ma:contentTypeVersion="13" ma:contentTypeDescription="Create a new document." ma:contentTypeScope="" ma:versionID="8a796047917fdd02fe75b75195f00977">
  <xsd:schema xmlns:xsd="http://www.w3.org/2001/XMLSchema" xmlns:xs="http://www.w3.org/2001/XMLSchema" xmlns:p="http://schemas.microsoft.com/office/2006/metadata/properties" xmlns:ns3="9df66832-8a96-40a9-b472-27b1b671652b" xmlns:ns4="3ef07bbe-7178-465e-b37e-c96ad76c7ba2" targetNamespace="http://schemas.microsoft.com/office/2006/metadata/properties" ma:root="true" ma:fieldsID="f3a2d852074f99ffe044f5cdbc6860e7" ns3:_="" ns4:_="">
    <xsd:import namespace="9df66832-8a96-40a9-b472-27b1b671652b"/>
    <xsd:import namespace="3ef07bbe-7178-465e-b37e-c96ad76c7ba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f66832-8a96-40a9-b472-27b1b67165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f07bbe-7178-465e-b37e-c96ad76c7ba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3942E90-F73C-42DC-BE25-1F552216703B}">
  <ds:schemaRefs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9df66832-8a96-40a9-b472-27b1b671652b"/>
    <ds:schemaRef ds:uri="http://purl.org/dc/elements/1.1/"/>
    <ds:schemaRef ds:uri="3ef07bbe-7178-465e-b37e-c96ad76c7ba2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44A4D56B-9EDA-4F8D-84ED-5B5B230CCC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0D4FFE4-B5DD-40DF-82C4-AC58AE0649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df66832-8a96-40a9-b472-27b1b671652b"/>
    <ds:schemaRef ds:uri="3ef07bbe-7178-465e-b37e-c96ad76c7ba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</TotalTime>
  <Words>307</Words>
  <Application>Microsoft Office PowerPoint</Application>
  <PresentationFormat>Widescreen</PresentationFormat>
  <Paragraphs>55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Wingdings</vt:lpstr>
      <vt:lpstr>Office Theme</vt:lpstr>
      <vt:lpstr>PowerPoint Presentation</vt:lpstr>
      <vt:lpstr>  AM Receiver Characteristics  </vt:lpstr>
      <vt:lpstr>Receiver Parameters</vt:lpstr>
      <vt:lpstr>Receiver Parameters</vt:lpstr>
      <vt:lpstr>Receiver Parameters</vt:lpstr>
      <vt:lpstr>Carrier Frequency Requirements in a Radio Transmitter</vt:lpstr>
      <vt:lpstr>Tuned Radio Frequency Receiver</vt:lpstr>
      <vt:lpstr>Tuned Radio Frequency Receiver</vt:lpstr>
      <vt:lpstr>Advantages and Limitations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MVGR</dc:creator>
  <cp:lastModifiedBy>D Sreenivasa Rao</cp:lastModifiedBy>
  <cp:revision>15</cp:revision>
  <dcterms:created xsi:type="dcterms:W3CDTF">2023-05-08T13:48:07Z</dcterms:created>
  <dcterms:modified xsi:type="dcterms:W3CDTF">2025-10-16T08:05:51Z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0x010100F1B4054966B8914981DF84CE0611BBF3</vt:lpwstr>
  </property>
</Properties>
</file>