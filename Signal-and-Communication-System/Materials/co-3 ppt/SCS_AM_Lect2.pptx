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32" r:id="rId2"/>
    <p:sldId id="346" r:id="rId3"/>
    <p:sldId id="348" r:id="rId4"/>
    <p:sldId id="465" r:id="rId5"/>
    <p:sldId id="509" r:id="rId6"/>
    <p:sldId id="508" r:id="rId7"/>
    <p:sldId id="507" r:id="rId8"/>
    <p:sldId id="506" r:id="rId9"/>
    <p:sldId id="486" r:id="rId10"/>
    <p:sldId id="427" r:id="rId11"/>
    <p:sldId id="455" r:id="rId12"/>
    <p:sldId id="503" r:id="rId13"/>
    <p:sldId id="467" r:id="rId14"/>
    <p:sldId id="504" r:id="rId15"/>
    <p:sldId id="505" r:id="rId16"/>
    <p:sldId id="459" r:id="rId17"/>
    <p:sldId id="447" r:id="rId18"/>
    <p:sldId id="451" r:id="rId19"/>
    <p:sldId id="377" r:id="rId20"/>
    <p:sldId id="378" r:id="rId21"/>
    <p:sldId id="453" r:id="rId22"/>
    <p:sldId id="510" r:id="rId23"/>
    <p:sldId id="476" r:id="rId24"/>
    <p:sldId id="477" r:id="rId25"/>
    <p:sldId id="478" r:id="rId26"/>
    <p:sldId id="485" r:id="rId27"/>
    <p:sldId id="479" r:id="rId28"/>
    <p:sldId id="480" r:id="rId29"/>
    <p:sldId id="481" r:id="rId30"/>
    <p:sldId id="483" r:id="rId31"/>
    <p:sldId id="51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DA42C-B01A-4620-B266-C76670F69EE1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8C42A-996E-4020-8007-995058B5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19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DBA64B8F-079E-5E80-7C2A-3E8D2C5E61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F6896815-AE8D-D717-633B-3D138CBD81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B7311EDA-A7C1-7231-2DD0-1B059F8E5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BDAA6D-D191-4CFD-9E12-DBBB423E31FF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3A39-8445-3263-2141-08EF36C43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1619F-D951-64CA-645A-24C265DE5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79A74-1AA9-293E-9CEF-BF429B1F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62FA-F351-43C4-98E7-5E826717056E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77F5-639A-915B-BD00-0CEACA42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63D5-F61A-999E-03B7-753456C5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8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839F-01D7-F7F6-85FB-0368E491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FBA7F-3903-5B64-AC68-1C29BD75D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C942B-94B5-7ED7-D51F-3D979D60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E40-22F7-4295-8586-10817464A023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52E6B-1DB9-D9EF-0E68-F2271483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C4925-F43D-EE09-02FE-7F7E23EB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E99B-6B89-885A-579C-4147209A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0CB91-7421-5A07-611F-97236339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36DE4-CACD-2BFB-22BB-B5D57C87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D8823-07A3-4806-A1EF-788D657E0AAA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1749-40E0-E96F-F73D-E1BACBD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C89A-5EC6-FF1F-2248-DCDD3B5F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A520-C29C-028F-8246-5EFED4E1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AEE8-8A48-9A94-977C-726CDF2C7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5A23A-C6A2-649F-7130-BDC7E1EA4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EA40-065D-1B1D-2B62-6370D1CD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58DC1-96C3-4641-BC7A-104226A0B455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078C3-7960-9520-1FCA-C443D43C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EBB5D-CF24-C362-6123-6881B128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7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D008-0A9D-81C2-D03D-5C88DAF4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2C430-B3D6-D976-CE7F-2C837B727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B6AF6-D8E6-B73E-1242-E50687E24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A5094-CA90-D878-CCF0-F3F2A8545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BDD34-7076-0D2D-4375-821704E5C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9CBB4-1A09-0D4D-CAEC-902AABCC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FDCF-719D-459F-BB59-B43BA3FE0FDA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187F7-2E6E-514A-781C-F0B78A9E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1CAE-E431-58FF-8159-59073C46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0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91C0-33FC-C753-7607-CB94DBD9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53FD7-CC93-B4AC-9F94-CA4252FC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86E98-1009-4632-AD82-A9C76F92F6B2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6525E-7C66-FC66-3B40-D0D455B7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6EC0A-18F9-CE1C-08D7-B29641D5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0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BC951-0794-0160-B659-25125882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BCD-A0C9-4B3D-93F9-D752387E7D46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81473-69EB-3EF7-1523-22193DD1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59792-A19E-EE45-AA02-B7FF43DD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5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A17A-5C83-D38B-4553-E458583B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B4B77-18C6-EEAF-713D-DEEF16DDA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18C5-A431-71A9-EBFD-328BDFFE4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C2C41-3B06-1D8A-5F97-F7295D92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6AB2-4E26-4D4F-870E-C69C40B00821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129E0-FEEA-027A-DC2B-1A119D04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4C3B6-9A96-B4F9-0B73-6B80D3CB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A724-EA6C-7B1F-456C-F7433A84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0A72A-647B-ECFC-F355-1C444B8B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33874-3F25-04E7-CD23-A2883B18C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FF0F3-EAF5-99E8-FC9D-03075F47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B10F-A402-44E0-B669-346173A73F67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02B3-B713-EF4C-852A-A478A1D1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D9597-E589-2FF7-B74A-4D5B0A70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2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1F65-2519-777F-7275-38555072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3FFF-7FEB-43DB-E4A2-B5CD94312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55AC4-6FF3-2433-0290-EA478771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66B3-C889-4645-9795-C6946C4CA497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E5072-F550-745D-4807-78C46210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35E4A-58E7-64F7-34A6-7F68CBEF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5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604E8-42E9-837C-A5F2-24EF9AAD0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91242-2568-87F3-66AE-01382531D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4A392-693C-DCCC-AE66-E98BA998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6DFF-AF42-4AED-B072-524A23853F33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CCADA-F29A-FF58-B645-CA256915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1E10-DDC6-73F9-AA16-3345C671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6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FF144-799C-B789-8F90-0DD34118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E1320-CECC-4972-F6A0-F150AE69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2221-F528-89F7-270B-C155DF549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3C42A-8096-4DA0-B013-72A096C7296A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A070-CB17-DC5D-61E0-9A89C417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CB20D-10E9-DEB0-F646-FF1C399E0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A2DBB-19CA-45B8-A974-092885E7A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2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wmf"/><Relationship Id="rId5" Type="http://schemas.openxmlformats.org/officeDocument/2006/relationships/image" Target="../media/image19.png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39.wmf"/><Relationship Id="rId3" Type="http://schemas.openxmlformats.org/officeDocument/2006/relationships/image" Target="../media/image27.png"/><Relationship Id="rId21" Type="http://schemas.openxmlformats.org/officeDocument/2006/relationships/oleObject" Target="../embeddings/oleObject16.bin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oleObject" Target="../embeddings/oleObject14.bin"/><Relationship Id="rId2" Type="http://schemas.openxmlformats.org/officeDocument/2006/relationships/image" Target="../media/image26.png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34.png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50.wmf"/><Relationship Id="rId5" Type="http://schemas.openxmlformats.org/officeDocument/2006/relationships/image" Target="../media/image47.wmf"/><Relationship Id="rId15" Type="http://schemas.openxmlformats.org/officeDocument/2006/relationships/image" Target="../media/image53.png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9.wmf"/><Relationship Id="rId1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2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2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76.wmf"/><Relationship Id="rId4" Type="http://schemas.openxmlformats.org/officeDocument/2006/relationships/oleObject" Target="../embeddings/oleObject35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84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ubtitle 2">
            <a:extLst>
              <a:ext uri="{FF2B5EF4-FFF2-40B4-BE49-F238E27FC236}">
                <a16:creationId xmlns:a16="http://schemas.microsoft.com/office/drawing/2014/main" id="{9C4EE349-ECAF-99CD-6260-306F7006D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3063240"/>
            <a:ext cx="11785600" cy="20086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05C818-561A-BE14-46A3-A5860CBA9561}"/>
              </a:ext>
            </a:extLst>
          </p:cNvPr>
          <p:cNvSpPr txBox="1">
            <a:spLocks/>
          </p:cNvSpPr>
          <p:nvPr/>
        </p:nvSpPr>
        <p:spPr>
          <a:xfrm>
            <a:off x="902208" y="619761"/>
            <a:ext cx="106680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3200C0"/>
                </a:solidFill>
                <a:latin typeface="Arial" charset="0"/>
                <a:cs typeface="Arial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18499D2-80CD-17B9-A2EF-D34BF25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19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5400" b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AMPLITUDE</a:t>
            </a:r>
            <a:r>
              <a:rPr lang="en-US" altLang="en-US" sz="5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5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3434B3FC-4E39-DE47-83A3-216DA488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Types of Amplitude Modulation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B562B6-39D9-00A6-379C-173C8346D26F}"/>
              </a:ext>
            </a:extLst>
          </p:cNvPr>
          <p:cNvSpPr/>
          <p:nvPr/>
        </p:nvSpPr>
        <p:spPr>
          <a:xfrm>
            <a:off x="1828800" y="3505200"/>
            <a:ext cx="2209800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cap="small" dirty="0">
                <a:solidFill>
                  <a:schemeClr val="tx1"/>
                </a:solidFill>
              </a:rPr>
              <a:t>Amplitude Modulation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EAE87F-C305-B6AA-7563-93643B08B0B6}"/>
              </a:ext>
            </a:extLst>
          </p:cNvPr>
          <p:cNvSpPr/>
          <p:nvPr/>
        </p:nvSpPr>
        <p:spPr>
          <a:xfrm>
            <a:off x="5105400" y="2209800"/>
            <a:ext cx="2209800" cy="12954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Non Linear 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DFF991-D945-B5DE-D1B8-CA874A659253}"/>
              </a:ext>
            </a:extLst>
          </p:cNvPr>
          <p:cNvSpPr/>
          <p:nvPr/>
        </p:nvSpPr>
        <p:spPr>
          <a:xfrm>
            <a:off x="5105400" y="4800600"/>
            <a:ext cx="2209800" cy="12954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Linear 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</a:rPr>
              <a:t>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98D16-08FD-8DA4-E764-85BC0F955633}"/>
              </a:ext>
            </a:extLst>
          </p:cNvPr>
          <p:cNvSpPr/>
          <p:nvPr/>
        </p:nvSpPr>
        <p:spPr>
          <a:xfrm>
            <a:off x="8229600" y="2624138"/>
            <a:ext cx="19050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</a:rPr>
              <a:t>AM DSB FC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C05EDE-670E-0A81-00BE-58748C220C74}"/>
              </a:ext>
            </a:extLst>
          </p:cNvPr>
          <p:cNvSpPr/>
          <p:nvPr/>
        </p:nvSpPr>
        <p:spPr>
          <a:xfrm>
            <a:off x="8229600" y="4419600"/>
            <a:ext cx="19050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</a:rPr>
              <a:t>AM DSB SC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468D05-FCEB-44CA-B176-5C7307A89FC1}"/>
              </a:ext>
            </a:extLst>
          </p:cNvPr>
          <p:cNvSpPr/>
          <p:nvPr/>
        </p:nvSpPr>
        <p:spPr>
          <a:xfrm>
            <a:off x="8229600" y="5181600"/>
            <a:ext cx="19050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</a:rPr>
              <a:t>SSB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E79CB-C42F-E642-0B61-446FA2CFB7C0}"/>
              </a:ext>
            </a:extLst>
          </p:cNvPr>
          <p:cNvSpPr/>
          <p:nvPr/>
        </p:nvSpPr>
        <p:spPr>
          <a:xfrm>
            <a:off x="8229600" y="5943600"/>
            <a:ext cx="19050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</a:rPr>
              <a:t>VSB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63CC15-75AE-FD58-F3CA-9F03ECDD9DFE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038600" y="2857500"/>
            <a:ext cx="1066800" cy="1295400"/>
          </a:xfrm>
          <a:prstGeom prst="straightConnector1">
            <a:avLst/>
          </a:prstGeom>
          <a:ln w="508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F3474B-F16E-3248-7742-AFC771442995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038600" y="4152900"/>
            <a:ext cx="1066800" cy="1295400"/>
          </a:xfrm>
          <a:prstGeom prst="straightConnector1">
            <a:avLst/>
          </a:prstGeom>
          <a:ln w="508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909051-064B-C047-6086-D1BCF5B9E524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315200" y="2852738"/>
            <a:ext cx="914400" cy="4762"/>
          </a:xfrm>
          <a:prstGeom prst="straightConnector1">
            <a:avLst/>
          </a:prstGeom>
          <a:ln w="5080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6B424-EEA3-E05C-1B7E-005C55247A60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7315200" y="4648200"/>
            <a:ext cx="914400" cy="800100"/>
          </a:xfrm>
          <a:prstGeom prst="straightConnector1">
            <a:avLst/>
          </a:prstGeom>
          <a:ln w="5080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2E649E-3C8B-C1F7-CBA5-8F2D537A9201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7315200" y="5410200"/>
            <a:ext cx="914400" cy="38100"/>
          </a:xfrm>
          <a:prstGeom prst="straightConnector1">
            <a:avLst/>
          </a:prstGeom>
          <a:ln w="5080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BAACCC-E011-F169-5479-364025D2160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7315200" y="5448300"/>
            <a:ext cx="914400" cy="723900"/>
          </a:xfrm>
          <a:prstGeom prst="straightConnector1">
            <a:avLst/>
          </a:prstGeom>
          <a:ln w="5080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0A43DE3-BCBF-8F59-13F8-0585EE22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92088"/>
            <a:ext cx="9144000" cy="94456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D1E72-121D-106E-9507-798F8CA93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1111250"/>
            <a:ext cx="11775439" cy="5257800"/>
          </a:xfrm>
        </p:spPr>
        <p:txBody>
          <a:bodyPr rtlCol="0">
            <a:normAutofit fontScale="77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The </a:t>
            </a:r>
            <a:r>
              <a:rPr lang="en-US" sz="3800" i="1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Amplitude Modulation </a:t>
            </a: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38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A.M.</a:t>
            </a: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is defined as a system of modulation in which the </a:t>
            </a:r>
            <a:r>
              <a:rPr lang="en-US" sz="38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amplitude of the carrier</a:t>
            </a: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is made proportional to the </a:t>
            </a:r>
            <a:r>
              <a:rPr lang="en-US" sz="38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instantaneous amplitude </a:t>
            </a: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of the </a:t>
            </a:r>
            <a:r>
              <a:rPr lang="en-US" sz="38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modulating voltage</a:t>
            </a:r>
            <a:r>
              <a:rPr lang="en-US" sz="3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lnSpc>
                <a:spcPct val="170000"/>
              </a:lnSpc>
              <a:buFont typeface="Arial" charset="0"/>
              <a:buNone/>
              <a:defRPr/>
            </a:pPr>
            <a:endParaRPr lang="en-US" sz="3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v"/>
              <a:defRPr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DSB C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:  </a:t>
            </a:r>
            <a:r>
              <a:rPr lang="en-US" sz="36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Double Side Band 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lang="en-US" sz="36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Carrier</a:t>
            </a:r>
            <a:endParaRPr lang="en-US" sz="3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v"/>
              <a:defRPr/>
            </a:pPr>
            <a:r>
              <a:rPr lang="en-US" sz="36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DSB FC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: Double Side Band with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Full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Carrier</a:t>
            </a:r>
          </a:p>
          <a:p>
            <a:pPr algn="just">
              <a:buFont typeface="Wingdings" pitchFamily="2" charset="2"/>
              <a:buChar char="v"/>
              <a:defRPr/>
            </a:pP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DSB LC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Double Side </a:t>
            </a:r>
            <a:r>
              <a:rPr lang="en-US" sz="36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Band 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lang="en-US" sz="36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Large Carrier</a:t>
            </a:r>
          </a:p>
          <a:p>
            <a:pPr algn="just">
              <a:buFont typeface="Wingdings" pitchFamily="2" charset="2"/>
              <a:buChar char="v"/>
              <a:defRPr/>
            </a:pP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DSB TC: 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Double Side Band </a:t>
            </a:r>
            <a:r>
              <a:rPr lang="en-US" sz="3600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Transmitted</a:t>
            </a:r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Carrier</a:t>
            </a:r>
          </a:p>
          <a:p>
            <a:pPr algn="just">
              <a:buFont typeface="Wingdings" pitchFamily="2" charset="2"/>
              <a:buChar char="ü"/>
              <a:defRPr/>
            </a:pPr>
            <a:endParaRPr lang="es-ES_tradnl" sz="3600" b="1" dirty="0">
              <a:solidFill>
                <a:srgbClr val="FF0000"/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7D64EF1-F085-973E-8F45-7364F235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Schematic </a:t>
            </a:r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 of AM</a:t>
            </a:r>
            <a:b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400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0BEC79E-5E24-5321-1A05-317CD5070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066801"/>
            <a:ext cx="9144000" cy="50593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/>
              <a:t>         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484" name="Rectangle 9">
            <a:extLst>
              <a:ext uri="{FF2B5EF4-FFF2-40B4-BE49-F238E27FC236}">
                <a16:creationId xmlns:a16="http://schemas.microsoft.com/office/drawing/2014/main" id="{CBDBFB42-2571-0FB6-5F0D-4295B1802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5" name="Rectangle 11">
            <a:extLst>
              <a:ext uri="{FF2B5EF4-FFF2-40B4-BE49-F238E27FC236}">
                <a16:creationId xmlns:a16="http://schemas.microsoft.com/office/drawing/2014/main" id="{5C45097A-113F-D8E4-0F36-0DCD4B261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86" name="Rectangle 13">
            <a:extLst>
              <a:ext uri="{FF2B5EF4-FFF2-40B4-BE49-F238E27FC236}">
                <a16:creationId xmlns:a16="http://schemas.microsoft.com/office/drawing/2014/main" id="{95B9EDA5-F1C5-040E-0A11-AA1B127C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2579C-E596-A8D1-756B-33971CB6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49" y="1443317"/>
            <a:ext cx="10345271" cy="43478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2917CC59-23EE-33A7-9298-94CC0735F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" y="1188721"/>
            <a:ext cx="914400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58FB8DAF-9E13-2796-0AC6-865AD21AD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59" y="942024"/>
            <a:ext cx="9001125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2">
            <a:extLst>
              <a:ext uri="{FF2B5EF4-FFF2-40B4-BE49-F238E27FC236}">
                <a16:creationId xmlns:a16="http://schemas.microsoft.com/office/drawing/2014/main" id="{F76958DC-6187-40FB-A54E-AB5B4C8D4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8138"/>
            <a:ext cx="9077325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>
            <a:extLst>
              <a:ext uri="{FF2B5EF4-FFF2-40B4-BE49-F238E27FC236}">
                <a16:creationId xmlns:a16="http://schemas.microsoft.com/office/drawing/2014/main" id="{2D105523-9BCB-52B7-ABA6-4675868FF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94" y="592139"/>
            <a:ext cx="8943975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>
            <a:extLst>
              <a:ext uri="{FF2B5EF4-FFF2-40B4-BE49-F238E27FC236}">
                <a16:creationId xmlns:a16="http://schemas.microsoft.com/office/drawing/2014/main" id="{2AC2CF09-7EA7-F612-D111-1667D4C0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905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Domain Description</a:t>
            </a:r>
            <a:r>
              <a:rPr lang="en-US" altLang="en-US" b="1" dirty="0"/>
              <a:t>: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030" name="Content Placeholder 2">
            <a:extLst>
              <a:ext uri="{FF2B5EF4-FFF2-40B4-BE49-F238E27FC236}">
                <a16:creationId xmlns:a16="http://schemas.microsoft.com/office/drawing/2014/main" id="{65369FB0-19DB-88EE-6D3C-1DE21171D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762001"/>
            <a:ext cx="11856720" cy="53641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form of an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wave as a function of time is represented by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33BC3948-22D2-703E-51A4-37EB8E5E0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2" name="Rectangle 11">
            <a:extLst>
              <a:ext uri="{FF2B5EF4-FFF2-40B4-BE49-F238E27FC236}">
                <a16:creationId xmlns:a16="http://schemas.microsoft.com/office/drawing/2014/main" id="{1E0ADF93-7EE5-C881-4A30-5F7E2F657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3" name="Rectangle 13">
            <a:extLst>
              <a:ext uri="{FF2B5EF4-FFF2-40B4-BE49-F238E27FC236}">
                <a16:creationId xmlns:a16="http://schemas.microsoft.com/office/drawing/2014/main" id="{061F571A-0AA7-138B-D2F1-366B26123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8" name="Object 11">
            <a:extLst>
              <a:ext uri="{FF2B5EF4-FFF2-40B4-BE49-F238E27FC236}">
                <a16:creationId xmlns:a16="http://schemas.microsoft.com/office/drawing/2014/main" id="{FB1DEE46-F5F9-BD4B-951D-BC1992CF2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378716"/>
              </p:ext>
            </p:extLst>
          </p:nvPr>
        </p:nvGraphicFramePr>
        <p:xfrm>
          <a:off x="913448" y="1506568"/>
          <a:ext cx="5410200" cy="193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672840" progId="Equation.DSMT4">
                  <p:embed/>
                </p:oleObj>
              </mc:Choice>
              <mc:Fallback>
                <p:oleObj name="Equation" r:id="rId2" imgW="1879560" imgH="672840" progId="Equation.DSMT4">
                  <p:embed/>
                  <p:pic>
                    <p:nvPicPr>
                      <p:cNvPr id="1028" name="Object 11">
                        <a:extLst>
                          <a:ext uri="{FF2B5EF4-FFF2-40B4-BE49-F238E27FC236}">
                            <a16:creationId xmlns:a16="http://schemas.microsoft.com/office/drawing/2014/main" id="{FB1DEE46-F5F9-BD4B-951D-BC1992CF20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448" y="1506568"/>
                        <a:ext cx="5410200" cy="1937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E17E0F4-8B0E-77C0-E9E6-DA3A9E67B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84223"/>
            <a:ext cx="10698480" cy="623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C32FB4-4D31-8790-76AB-747BE5F46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39" y="3879065"/>
            <a:ext cx="10901681" cy="14022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762A45C-F952-C0FE-2FCA-6E4B4C994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4169" y="1374919"/>
            <a:ext cx="4909671" cy="2063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itle 1">
            <a:extLst>
              <a:ext uri="{FF2B5EF4-FFF2-40B4-BE49-F238E27FC236}">
                <a16:creationId xmlns:a16="http://schemas.microsoft.com/office/drawing/2014/main" id="{DE09FAA7-15BA-6BED-97D4-E9C26303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341412"/>
            <a:ext cx="8229600" cy="639762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Case1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Tone 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b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5" name="Content Placeholder 2">
            <a:extLst>
              <a:ext uri="{FF2B5EF4-FFF2-40B4-BE49-F238E27FC236}">
                <a16:creationId xmlns:a16="http://schemas.microsoft.com/office/drawing/2014/main" id="{C2F6D07B-03FA-1AA1-6C22-0CFD43A0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685800"/>
            <a:ext cx="10332720" cy="61722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a message signal be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domain Representation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056" name="Rectangle 2">
            <a:extLst>
              <a:ext uri="{FF2B5EF4-FFF2-40B4-BE49-F238E27FC236}">
                <a16:creationId xmlns:a16="http://schemas.microsoft.com/office/drawing/2014/main" id="{3D2A575E-A32D-2373-7BF5-A4EDCC84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0" name="Object 1">
            <a:extLst>
              <a:ext uri="{FF2B5EF4-FFF2-40B4-BE49-F238E27FC236}">
                <a16:creationId xmlns:a16="http://schemas.microsoft.com/office/drawing/2014/main" id="{A8957F34-5B1B-2E72-7CF1-91CDB7E10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039855"/>
              </p:ext>
            </p:extLst>
          </p:nvPr>
        </p:nvGraphicFramePr>
        <p:xfrm>
          <a:off x="510539" y="2022475"/>
          <a:ext cx="1034663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8600" imgH="431800" progId="Equation.DSMT4">
                  <p:embed/>
                </p:oleObj>
              </mc:Choice>
              <mc:Fallback>
                <p:oleObj name="Equation" r:id="rId2" imgW="4038600" imgH="431800" progId="Equation.DSMT4">
                  <p:embed/>
                  <p:pic>
                    <p:nvPicPr>
                      <p:cNvPr id="2050" name="Object 1">
                        <a:extLst>
                          <a:ext uri="{FF2B5EF4-FFF2-40B4-BE49-F238E27FC236}">
                            <a16:creationId xmlns:a16="http://schemas.microsoft.com/office/drawing/2014/main" id="{A8957F34-5B1B-2E72-7CF1-91CDB7E10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39" y="2022475"/>
                        <a:ext cx="10346635" cy="1101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4">
            <a:extLst>
              <a:ext uri="{FF2B5EF4-FFF2-40B4-BE49-F238E27FC236}">
                <a16:creationId xmlns:a16="http://schemas.microsoft.com/office/drawing/2014/main" id="{95A3EBA7-4D3E-437F-078A-3CCC56FF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D06A2912-9CF6-C821-FD85-0B64C9F78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378131"/>
              </p:ext>
            </p:extLst>
          </p:nvPr>
        </p:nvGraphicFramePr>
        <p:xfrm>
          <a:off x="4495800" y="792162"/>
          <a:ext cx="320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227" imgH="215806" progId="Equation.DSMT4">
                  <p:embed/>
                </p:oleObj>
              </mc:Choice>
              <mc:Fallback>
                <p:oleObj name="Equation" r:id="rId4" imgW="1320227" imgH="215806" progId="Equation.DSMT4">
                  <p:embed/>
                  <p:pic>
                    <p:nvPicPr>
                      <p:cNvPr id="2051" name="Object 3">
                        <a:extLst>
                          <a:ext uri="{FF2B5EF4-FFF2-40B4-BE49-F238E27FC236}">
                            <a16:creationId xmlns:a16="http://schemas.microsoft.com/office/drawing/2014/main" id="{D06A2912-9CF6-C821-FD85-0B64C9F78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792162"/>
                        <a:ext cx="3200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Rectangle 6">
            <a:extLst>
              <a:ext uri="{FF2B5EF4-FFF2-40B4-BE49-F238E27FC236}">
                <a16:creationId xmlns:a16="http://schemas.microsoft.com/office/drawing/2014/main" id="{CAD78D7F-062B-2370-22A0-4E8DE9BC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2" name="Object 5">
            <a:extLst>
              <a:ext uri="{FF2B5EF4-FFF2-40B4-BE49-F238E27FC236}">
                <a16:creationId xmlns:a16="http://schemas.microsoft.com/office/drawing/2014/main" id="{E9B3514D-D94B-1729-B4B4-05840F609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375381"/>
              </p:ext>
            </p:extLst>
          </p:nvPr>
        </p:nvGraphicFramePr>
        <p:xfrm>
          <a:off x="707389" y="4277518"/>
          <a:ext cx="10683863" cy="1788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10000" imgH="635000" progId="Equation.DSMT4">
                  <p:embed/>
                </p:oleObj>
              </mc:Choice>
              <mc:Fallback>
                <p:oleObj name="Equation" r:id="rId6" imgW="3810000" imgH="635000" progId="Equation.DSMT4">
                  <p:embed/>
                  <p:pic>
                    <p:nvPicPr>
                      <p:cNvPr id="2052" name="Object 5">
                        <a:extLst>
                          <a:ext uri="{FF2B5EF4-FFF2-40B4-BE49-F238E27FC236}">
                            <a16:creationId xmlns:a16="http://schemas.microsoft.com/office/drawing/2014/main" id="{E9B3514D-D94B-1729-B4B4-05840F609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89" y="4277518"/>
                        <a:ext cx="10683863" cy="17883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8">
            <a:extLst>
              <a:ext uri="{FF2B5EF4-FFF2-40B4-BE49-F238E27FC236}">
                <a16:creationId xmlns:a16="http://schemas.microsoft.com/office/drawing/2014/main" id="{DD4D3AA7-DD0F-72A0-E1A3-22DEB6CFE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3" name="Object 8">
            <a:extLst>
              <a:ext uri="{FF2B5EF4-FFF2-40B4-BE49-F238E27FC236}">
                <a16:creationId xmlns:a16="http://schemas.microsoft.com/office/drawing/2014/main" id="{EEC91D6B-486A-E9F5-CF9B-47A05B037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347141"/>
              </p:ext>
            </p:extLst>
          </p:nvPr>
        </p:nvGraphicFramePr>
        <p:xfrm>
          <a:off x="2655570" y="3071178"/>
          <a:ext cx="2400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419040" progId="Equation.DSMT4">
                  <p:embed/>
                </p:oleObj>
              </mc:Choice>
              <mc:Fallback>
                <p:oleObj name="Equation" r:id="rId8" imgW="1015920" imgH="419040" progId="Equation.DSMT4">
                  <p:embed/>
                  <p:pic>
                    <p:nvPicPr>
                      <p:cNvPr id="2053" name="Object 8">
                        <a:extLst>
                          <a:ext uri="{FF2B5EF4-FFF2-40B4-BE49-F238E27FC236}">
                            <a16:creationId xmlns:a16="http://schemas.microsoft.com/office/drawing/2014/main" id="{EEC91D6B-486A-E9F5-CF9B-47A05B037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570" y="3071178"/>
                        <a:ext cx="2400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TextBox 13">
            <a:extLst>
              <a:ext uri="{FF2B5EF4-FFF2-40B4-BE49-F238E27FC236}">
                <a16:creationId xmlns:a16="http://schemas.microsoft.com/office/drawing/2014/main" id="{78993B12-A833-0E7C-4AB2-8C834B63C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170" y="3253741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where</a:t>
            </a:r>
          </a:p>
        </p:txBody>
      </p:sp>
      <p:sp>
        <p:nvSpPr>
          <p:cNvPr id="2061" name="TextBox 13">
            <a:extLst>
              <a:ext uri="{FF2B5EF4-FFF2-40B4-BE49-F238E27FC236}">
                <a16:creationId xmlns:a16="http://schemas.microsoft.com/office/drawing/2014/main" id="{099B1EC1-E97B-0289-F3FD-07C1F9894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990" y="3292794"/>
            <a:ext cx="464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</a:rPr>
              <a:t>Modulation index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itle 1">
            <a:extLst>
              <a:ext uri="{FF2B5EF4-FFF2-40B4-BE49-F238E27FC236}">
                <a16:creationId xmlns:a16="http://schemas.microsoft.com/office/drawing/2014/main" id="{73CA8403-786A-E3E1-626C-3FC0D480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" y="133350"/>
            <a:ext cx="11480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domain Representation</a:t>
            </a:r>
            <a:br>
              <a:rPr lang="en-US" altLang="en-US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dirty="0"/>
          </a:p>
        </p:txBody>
      </p:sp>
      <p:sp>
        <p:nvSpPr>
          <p:cNvPr id="3079" name="Rectangle 2">
            <a:extLst>
              <a:ext uri="{FF2B5EF4-FFF2-40B4-BE49-F238E27FC236}">
                <a16:creationId xmlns:a16="http://schemas.microsoft.com/office/drawing/2014/main" id="{F671FCD5-3335-106A-2756-AE39A556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48A318D7-5B31-367F-A08B-B5E6C0DB1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1" y="762000"/>
          <a:ext cx="77057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736560" progId="Equation.DSMT4">
                  <p:embed/>
                </p:oleObj>
              </mc:Choice>
              <mc:Fallback>
                <p:oleObj name="Equation" r:id="rId2" imgW="3238200" imgH="736560" progId="Equation.DSMT4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48A318D7-5B31-367F-A08B-B5E6C0DB1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77057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5">
            <a:extLst>
              <a:ext uri="{FF2B5EF4-FFF2-40B4-BE49-F238E27FC236}">
                <a16:creationId xmlns:a16="http://schemas.microsoft.com/office/drawing/2014/main" id="{26810FDF-79C0-7300-E70F-D18737A4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9EEEFF47-8E38-A1E4-B2D3-A615300DE8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590800"/>
          <a:ext cx="88392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6600" imgH="812800" progId="Equation.DSMT4">
                  <p:embed/>
                </p:oleObj>
              </mc:Choice>
              <mc:Fallback>
                <p:oleObj name="Equation" r:id="rId4" imgW="4546600" imgH="812800" progId="Equation.DSMT4">
                  <p:embed/>
                  <p:pic>
                    <p:nvPicPr>
                      <p:cNvPr id="3075" name="Object 4">
                        <a:extLst>
                          <a:ext uri="{FF2B5EF4-FFF2-40B4-BE49-F238E27FC236}">
                            <a16:creationId xmlns:a16="http://schemas.microsoft.com/office/drawing/2014/main" id="{9EEEFF47-8E38-A1E4-B2D3-A615300DE8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90800"/>
                        <a:ext cx="8839200" cy="157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7">
            <a:extLst>
              <a:ext uri="{FF2B5EF4-FFF2-40B4-BE49-F238E27FC236}">
                <a16:creationId xmlns:a16="http://schemas.microsoft.com/office/drawing/2014/main" id="{4F9DE1BC-2341-AC5A-D9EE-A4E2E6219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6" name="Object 6">
            <a:extLst>
              <a:ext uri="{FF2B5EF4-FFF2-40B4-BE49-F238E27FC236}">
                <a16:creationId xmlns:a16="http://schemas.microsoft.com/office/drawing/2014/main" id="{4E41A682-A518-9A98-071C-C7BCC3604E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2101" y="4191000"/>
          <a:ext cx="90598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8000" imgH="393700" progId="Equation.DSMT4">
                  <p:embed/>
                </p:oleObj>
              </mc:Choice>
              <mc:Fallback>
                <p:oleObj name="Equation" r:id="rId6" imgW="4318000" imgH="393700" progId="Equation.DSMT4">
                  <p:embed/>
                  <p:pic>
                    <p:nvPicPr>
                      <p:cNvPr id="3076" name="Object 6">
                        <a:extLst>
                          <a:ext uri="{FF2B5EF4-FFF2-40B4-BE49-F238E27FC236}">
                            <a16:creationId xmlns:a16="http://schemas.microsoft.com/office/drawing/2014/main" id="{4E41A682-A518-9A98-071C-C7BCC3604E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1" y="4191000"/>
                        <a:ext cx="90598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9">
            <a:extLst>
              <a:ext uri="{FF2B5EF4-FFF2-40B4-BE49-F238E27FC236}">
                <a16:creationId xmlns:a16="http://schemas.microsoft.com/office/drawing/2014/main" id="{53019961-35D6-C8B5-E689-E39526C87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7" name="Object 8">
            <a:extLst>
              <a:ext uri="{FF2B5EF4-FFF2-40B4-BE49-F238E27FC236}">
                <a16:creationId xmlns:a16="http://schemas.microsoft.com/office/drawing/2014/main" id="{66F99DAC-431A-7615-33DE-16095BEDB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181601"/>
          <a:ext cx="86868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75040" imgH="812520" progId="Equation.DSMT4">
                  <p:embed/>
                </p:oleObj>
              </mc:Choice>
              <mc:Fallback>
                <p:oleObj name="Equation" r:id="rId8" imgW="4775040" imgH="812520" progId="Equation.DSMT4">
                  <p:embed/>
                  <p:pic>
                    <p:nvPicPr>
                      <p:cNvPr id="3077" name="Object 8">
                        <a:extLst>
                          <a:ext uri="{FF2B5EF4-FFF2-40B4-BE49-F238E27FC236}">
                            <a16:creationId xmlns:a16="http://schemas.microsoft.com/office/drawing/2014/main" id="{66F99DAC-431A-7615-33DE-16095BEDB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181601"/>
                        <a:ext cx="8686800" cy="147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>
            <a:extLst>
              <a:ext uri="{FF2B5EF4-FFF2-40B4-BE49-F238E27FC236}">
                <a16:creationId xmlns:a16="http://schemas.microsoft.com/office/drawing/2014/main" id="{69FF97A2-4D82-7691-3A77-2BE00661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76"/>
            <a:ext cx="9144000" cy="868363"/>
          </a:xfrm>
        </p:spPr>
        <p:txBody>
          <a:bodyPr/>
          <a:lstStyle/>
          <a:p>
            <a:r>
              <a:rPr lang="en-US" altLang="en-US" dirty="0">
                <a:solidFill>
                  <a:srgbClr val="3200C0"/>
                </a:solidFill>
              </a:rPr>
              <a:t>Single Tone </a:t>
            </a:r>
            <a:r>
              <a:rPr lang="en-US" altLang="en-US" dirty="0"/>
              <a:t>Modulation</a:t>
            </a:r>
          </a:p>
        </p:txBody>
      </p:sp>
      <p:pic>
        <p:nvPicPr>
          <p:cNvPr id="4101" name="Picture 2">
            <a:extLst>
              <a:ext uri="{FF2B5EF4-FFF2-40B4-BE49-F238E27FC236}">
                <a16:creationId xmlns:a16="http://schemas.microsoft.com/office/drawing/2014/main" id="{CF750416-6C14-8D79-16E9-712F98B88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" y="896938"/>
            <a:ext cx="38052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3">
            <a:extLst>
              <a:ext uri="{FF2B5EF4-FFF2-40B4-BE49-F238E27FC236}">
                <a16:creationId xmlns:a16="http://schemas.microsoft.com/office/drawing/2014/main" id="{7C5DF206-9192-A1A0-1F5B-5C6CC5AF4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281" y="616744"/>
            <a:ext cx="43545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4">
            <a:extLst>
              <a:ext uri="{FF2B5EF4-FFF2-40B4-BE49-F238E27FC236}">
                <a16:creationId xmlns:a16="http://schemas.microsoft.com/office/drawing/2014/main" id="{0EE885FE-B93E-4785-86D7-B6E69D31B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98750"/>
            <a:ext cx="38100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5">
            <a:extLst>
              <a:ext uri="{FF2B5EF4-FFF2-40B4-BE49-F238E27FC236}">
                <a16:creationId xmlns:a16="http://schemas.microsoft.com/office/drawing/2014/main" id="{DCC4F7F3-AE96-366B-A004-E5321EC5B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511585"/>
            <a:ext cx="44418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6">
            <a:extLst>
              <a:ext uri="{FF2B5EF4-FFF2-40B4-BE49-F238E27FC236}">
                <a16:creationId xmlns:a16="http://schemas.microsoft.com/office/drawing/2014/main" id="{933C9425-6A77-179A-3243-FA4519AA5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84700"/>
            <a:ext cx="3733800" cy="19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7">
            <a:extLst>
              <a:ext uri="{FF2B5EF4-FFF2-40B4-BE49-F238E27FC236}">
                <a16:creationId xmlns:a16="http://schemas.microsoft.com/office/drawing/2014/main" id="{74A7B463-FFF7-565E-E98A-C47E445F2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869" y="4598193"/>
            <a:ext cx="5307013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8">
            <a:extLst>
              <a:ext uri="{FF2B5EF4-FFF2-40B4-BE49-F238E27FC236}">
                <a16:creationId xmlns:a16="http://schemas.microsoft.com/office/drawing/2014/main" id="{04AFD5A7-5A9F-4C51-2095-EC32913D7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49" y="1171178"/>
            <a:ext cx="990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8">
            <a:extLst>
              <a:ext uri="{FF2B5EF4-FFF2-40B4-BE49-F238E27FC236}">
                <a16:creationId xmlns:a16="http://schemas.microsoft.com/office/drawing/2014/main" id="{BBF0BBE5-DFEF-6A3B-B082-BB29EB2C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269" y="2521745"/>
            <a:ext cx="990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8">
            <a:extLst>
              <a:ext uri="{FF2B5EF4-FFF2-40B4-BE49-F238E27FC236}">
                <a16:creationId xmlns:a16="http://schemas.microsoft.com/office/drawing/2014/main" id="{A9411D9F-F6DA-DD3C-D154-A725B7702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269" y="4491832"/>
            <a:ext cx="990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98" name="Object 13">
            <a:extLst>
              <a:ext uri="{FF2B5EF4-FFF2-40B4-BE49-F238E27FC236}">
                <a16:creationId xmlns:a16="http://schemas.microsoft.com/office/drawing/2014/main" id="{FB06309A-E5FE-15CB-615B-E50CBF547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8576" y="4584700"/>
          <a:ext cx="1285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203040" progId="Equation.DSMT4">
                  <p:embed/>
                </p:oleObj>
              </mc:Choice>
              <mc:Fallback>
                <p:oleObj name="Equation" r:id="rId10" imgW="571320" imgH="203040" progId="Equation.DSMT4">
                  <p:embed/>
                  <p:pic>
                    <p:nvPicPr>
                      <p:cNvPr id="4098" name="Object 13">
                        <a:extLst>
                          <a:ext uri="{FF2B5EF4-FFF2-40B4-BE49-F238E27FC236}">
                            <a16:creationId xmlns:a16="http://schemas.microsoft.com/office/drawing/2014/main" id="{FB06309A-E5FE-15CB-615B-E50CBF547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6" y="4584700"/>
                        <a:ext cx="12858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>
            <a:extLst>
              <a:ext uri="{FF2B5EF4-FFF2-40B4-BE49-F238E27FC236}">
                <a16:creationId xmlns:a16="http://schemas.microsoft.com/office/drawing/2014/main" id="{3BDF498F-9949-C0C1-9BBF-8D988FEB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10223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Bandwidth</a:t>
            </a:r>
          </a:p>
        </p:txBody>
      </p:sp>
      <p:sp>
        <p:nvSpPr>
          <p:cNvPr id="5124" name="Content Placeholder 2">
            <a:extLst>
              <a:ext uri="{FF2B5EF4-FFF2-40B4-BE49-F238E27FC236}">
                <a16:creationId xmlns:a16="http://schemas.microsoft.com/office/drawing/2014/main" id="{5C09FA65-BA11-B288-BC12-1359B489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944881"/>
            <a:ext cx="11612880" cy="5181284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AM transmission bandwidth is defined as the frequency range occupied between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 upper sideband and lower sideband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AM transmission Band Width = USB – LSB =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which is the twice of the message signal frequency (or bandwidth).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D4E9A346-3BB0-D27D-9740-AC284BB88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6" name="Rectangle 4">
            <a:extLst>
              <a:ext uri="{FF2B5EF4-FFF2-40B4-BE49-F238E27FC236}">
                <a16:creationId xmlns:a16="http://schemas.microsoft.com/office/drawing/2014/main" id="{387A513C-DF4A-632F-A14B-7EF2A01E7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102007C4-6D08-195E-5631-7C01932FB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818922"/>
              </p:ext>
            </p:extLst>
          </p:nvPr>
        </p:nvGraphicFramePr>
        <p:xfrm>
          <a:off x="3561080" y="2904808"/>
          <a:ext cx="5176520" cy="661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3756" imgH="215806" progId="Equation.DSMT4">
                  <p:embed/>
                </p:oleObj>
              </mc:Choice>
              <mc:Fallback>
                <p:oleObj name="Equation" r:id="rId2" imgW="1713756" imgH="215806" progId="Equation.DSMT4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102007C4-6D08-195E-5631-7C01932FB7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080" y="2904808"/>
                        <a:ext cx="5176520" cy="661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5">
            <a:extLst>
              <a:ext uri="{FF2B5EF4-FFF2-40B4-BE49-F238E27FC236}">
                <a16:creationId xmlns:a16="http://schemas.microsoft.com/office/drawing/2014/main" id="{07D8A178-AE0E-5D38-A741-F65F19994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301750"/>
            <a:ext cx="73914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">
            <a:extLst>
              <a:ext uri="{FF2B5EF4-FFF2-40B4-BE49-F238E27FC236}">
                <a16:creationId xmlns:a16="http://schemas.microsoft.com/office/drawing/2014/main" id="{A3711D2B-A80F-55B9-E5AB-ECFB0370E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371601"/>
            <a:ext cx="81915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>
            <a:extLst>
              <a:ext uri="{FF2B5EF4-FFF2-40B4-BE49-F238E27FC236}">
                <a16:creationId xmlns:a16="http://schemas.microsoft.com/office/drawing/2014/main" id="{9DB925EA-E180-18DE-2419-A62050DAA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939" y="1371600"/>
            <a:ext cx="1222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7">
            <a:extLst>
              <a:ext uri="{FF2B5EF4-FFF2-40B4-BE49-F238E27FC236}">
                <a16:creationId xmlns:a16="http://schemas.microsoft.com/office/drawing/2014/main" id="{4A0FD0FF-2E36-DBE7-BAD0-57347FB5C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284789"/>
            <a:ext cx="81915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9">
            <a:extLst>
              <a:ext uri="{FF2B5EF4-FFF2-40B4-BE49-F238E27FC236}">
                <a16:creationId xmlns:a16="http://schemas.microsoft.com/office/drawing/2014/main" id="{28946A68-0DFC-9F70-EC10-F585F85B0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1" y="4800600"/>
            <a:ext cx="10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9">
            <a:extLst>
              <a:ext uri="{FF2B5EF4-FFF2-40B4-BE49-F238E27FC236}">
                <a16:creationId xmlns:a16="http://schemas.microsoft.com/office/drawing/2014/main" id="{841269BF-5DD3-8F1D-4964-EFD11762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1855788"/>
            <a:ext cx="123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9">
            <a:extLst>
              <a:ext uri="{FF2B5EF4-FFF2-40B4-BE49-F238E27FC236}">
                <a16:creationId xmlns:a16="http://schemas.microsoft.com/office/drawing/2014/main" id="{17EE7E08-5A22-F6D0-C6C9-001B420A2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4294188"/>
            <a:ext cx="53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7" name="Picture 11">
            <a:extLst>
              <a:ext uri="{FF2B5EF4-FFF2-40B4-BE49-F238E27FC236}">
                <a16:creationId xmlns:a16="http://schemas.microsoft.com/office/drawing/2014/main" id="{E5EC97C3-DF56-108F-2F5F-F9D28D344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1524001"/>
            <a:ext cx="314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9" name="Picture 13">
            <a:extLst>
              <a:ext uri="{FF2B5EF4-FFF2-40B4-BE49-F238E27FC236}">
                <a16:creationId xmlns:a16="http://schemas.microsoft.com/office/drawing/2014/main" id="{BFAB4DB2-54C2-B9F4-81AB-B9135B47D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1981200"/>
            <a:ext cx="37147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15">
            <a:extLst>
              <a:ext uri="{FF2B5EF4-FFF2-40B4-BE49-F238E27FC236}">
                <a16:creationId xmlns:a16="http://schemas.microsoft.com/office/drawing/2014/main" id="{B440CAD7-A23B-0E39-D7CB-45B6A131B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362200"/>
            <a:ext cx="1676400" cy="8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16">
            <a:extLst>
              <a:ext uri="{FF2B5EF4-FFF2-40B4-BE49-F238E27FC236}">
                <a16:creationId xmlns:a16="http://schemas.microsoft.com/office/drawing/2014/main" id="{E1F9CB43-FE56-41B7-1280-B36C5416C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0" y="4191000"/>
            <a:ext cx="1676400" cy="8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9">
            <a:extLst>
              <a:ext uri="{FF2B5EF4-FFF2-40B4-BE49-F238E27FC236}">
                <a16:creationId xmlns:a16="http://schemas.microsoft.com/office/drawing/2014/main" id="{EDB5FC6F-8B7E-6D6B-F1BC-882C4B6A2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2438400"/>
            <a:ext cx="920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3" name="Picture 9">
            <a:extLst>
              <a:ext uri="{FF2B5EF4-FFF2-40B4-BE49-F238E27FC236}">
                <a16:creationId xmlns:a16="http://schemas.microsoft.com/office/drawing/2014/main" id="{BBCB25F9-44C5-AC3F-D48B-D58FB177A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3352800"/>
            <a:ext cx="920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" name="Picture 17">
            <a:extLst>
              <a:ext uri="{FF2B5EF4-FFF2-40B4-BE49-F238E27FC236}">
                <a16:creationId xmlns:a16="http://schemas.microsoft.com/office/drawing/2014/main" id="{FA267FC2-97B7-A363-F8E5-3B45B8BF2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1447800"/>
            <a:ext cx="1730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5" name="Picture 17">
            <a:extLst>
              <a:ext uri="{FF2B5EF4-FFF2-40B4-BE49-F238E27FC236}">
                <a16:creationId xmlns:a16="http://schemas.microsoft.com/office/drawing/2014/main" id="{7E089A5F-2957-9B6C-1BD2-41832C68F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3352800"/>
            <a:ext cx="1730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54" name="Picture 18">
            <a:extLst>
              <a:ext uri="{FF2B5EF4-FFF2-40B4-BE49-F238E27FC236}">
                <a16:creationId xmlns:a16="http://schemas.microsoft.com/office/drawing/2014/main" id="{9FF36670-42DF-1AF3-F200-04298C1A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1" y="2209800"/>
            <a:ext cx="5238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55" name="Picture 19">
            <a:extLst>
              <a:ext uri="{FF2B5EF4-FFF2-40B4-BE49-F238E27FC236}">
                <a16:creationId xmlns:a16="http://schemas.microsoft.com/office/drawing/2014/main" id="{E8419E94-D9FE-2581-A70C-3D1CDE18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1" y="2743201"/>
            <a:ext cx="4667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Picture 6">
            <a:extLst>
              <a:ext uri="{FF2B5EF4-FFF2-40B4-BE49-F238E27FC236}">
                <a16:creationId xmlns:a16="http://schemas.microsoft.com/office/drawing/2014/main" id="{AC483E19-49A9-8C89-F696-D81170BDF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9" y="1828800"/>
            <a:ext cx="40957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20">
            <a:extLst>
              <a:ext uri="{FF2B5EF4-FFF2-40B4-BE49-F238E27FC236}">
                <a16:creationId xmlns:a16="http://schemas.microsoft.com/office/drawing/2014/main" id="{4BC490C4-7A9F-8DE8-C15F-8CF0D1137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371600"/>
            <a:ext cx="1771650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0" name="Picture 21">
            <a:extLst>
              <a:ext uri="{FF2B5EF4-FFF2-40B4-BE49-F238E27FC236}">
                <a16:creationId xmlns:a16="http://schemas.microsoft.com/office/drawing/2014/main" id="{FAF47D67-C644-8204-E18F-4615EAC37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371600"/>
            <a:ext cx="1771650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1" name="Picture 22">
            <a:extLst>
              <a:ext uri="{FF2B5EF4-FFF2-40B4-BE49-F238E27FC236}">
                <a16:creationId xmlns:a16="http://schemas.microsoft.com/office/drawing/2014/main" id="{269D1655-9A9D-7DDB-8E17-510BEB559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257800"/>
            <a:ext cx="1771650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2" name="Picture 23">
            <a:extLst>
              <a:ext uri="{FF2B5EF4-FFF2-40B4-BE49-F238E27FC236}">
                <a16:creationId xmlns:a16="http://schemas.microsoft.com/office/drawing/2014/main" id="{73B34098-AABB-67A7-B5C7-583A9EA0D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5257800"/>
            <a:ext cx="1771650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947FBB4-BFEB-BC64-1676-75B7B675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447800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Carrier Signal</a:t>
            </a:r>
          </a:p>
        </p:txBody>
      </p:sp>
      <p:graphicFrame>
        <p:nvGraphicFramePr>
          <p:cNvPr id="65560" name="Object 24">
            <a:extLst>
              <a:ext uri="{FF2B5EF4-FFF2-40B4-BE49-F238E27FC236}">
                <a16:creationId xmlns:a16="http://schemas.microsoft.com/office/drawing/2014/main" id="{DF439F36-C470-5B78-3A8B-7C3E8BEAD0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410200"/>
          <a:ext cx="25146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04840" imgH="444240" progId="Equation.DSMT4">
                  <p:embed/>
                </p:oleObj>
              </mc:Choice>
              <mc:Fallback>
                <p:oleObj name="Equation" r:id="rId13" imgW="1104840" imgH="444240" progId="Equation.DSMT4">
                  <p:embed/>
                  <p:pic>
                    <p:nvPicPr>
                      <p:cNvPr id="65560" name="Object 24">
                        <a:extLst>
                          <a:ext uri="{FF2B5EF4-FFF2-40B4-BE49-F238E27FC236}">
                            <a16:creationId xmlns:a16="http://schemas.microsoft.com/office/drawing/2014/main" id="{DF439F36-C470-5B78-3A8B-7C3E8BEAD0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410200"/>
                        <a:ext cx="251460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Object 25">
            <a:extLst>
              <a:ext uri="{FF2B5EF4-FFF2-40B4-BE49-F238E27FC236}">
                <a16:creationId xmlns:a16="http://schemas.microsoft.com/office/drawing/2014/main" id="{A9838F5B-A2AE-75A0-C6E7-1223AF98F2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51900" y="91440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28520" imgH="215640" progId="Equation.DSMT4">
                  <p:embed/>
                </p:oleObj>
              </mc:Choice>
              <mc:Fallback>
                <p:oleObj name="Equation" r:id="rId15" imgW="1028520" imgH="215640" progId="Equation.DSMT4">
                  <p:embed/>
                  <p:pic>
                    <p:nvPicPr>
                      <p:cNvPr id="65561" name="Object 25">
                        <a:extLst>
                          <a:ext uri="{FF2B5EF4-FFF2-40B4-BE49-F238E27FC236}">
                            <a16:creationId xmlns:a16="http://schemas.microsoft.com/office/drawing/2014/main" id="{A9838F5B-A2AE-75A0-C6E7-1223AF98F2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00" y="914400"/>
                        <a:ext cx="1816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Object 26">
            <a:extLst>
              <a:ext uri="{FF2B5EF4-FFF2-40B4-BE49-F238E27FC236}">
                <a16:creationId xmlns:a16="http://schemas.microsoft.com/office/drawing/2014/main" id="{A4C51D51-3835-D12D-B2B7-92ED5220E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0" y="4800600"/>
          <a:ext cx="1752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02960" imgH="228600" progId="Equation.DSMT4">
                  <p:embed/>
                </p:oleObj>
              </mc:Choice>
              <mc:Fallback>
                <p:oleObj name="Equation" r:id="rId17" imgW="1002960" imgH="228600" progId="Equation.DSMT4">
                  <p:embed/>
                  <p:pic>
                    <p:nvPicPr>
                      <p:cNvPr id="65562" name="Object 26">
                        <a:extLst>
                          <a:ext uri="{FF2B5EF4-FFF2-40B4-BE49-F238E27FC236}">
                            <a16:creationId xmlns:a16="http://schemas.microsoft.com/office/drawing/2014/main" id="{A4C51D51-3835-D12D-B2B7-92ED5220E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800600"/>
                        <a:ext cx="17526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A413A89-7CB0-C175-E1F9-A3A673343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371600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024614"/>
                </a:solidFill>
              </a:rPr>
              <a:t>Modulating Signal</a:t>
            </a:r>
          </a:p>
        </p:txBody>
      </p:sp>
      <p:sp>
        <p:nvSpPr>
          <p:cNvPr id="6175" name="TextBox 42">
            <a:extLst>
              <a:ext uri="{FF2B5EF4-FFF2-40B4-BE49-F238E27FC236}">
                <a16:creationId xmlns:a16="http://schemas.microsoft.com/office/drawing/2014/main" id="{8ACCEE2A-1BE9-C79A-0A46-EF8A5BD54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"/>
            <a:ext cx="388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AM Signal</a:t>
            </a:r>
          </a:p>
        </p:txBody>
      </p:sp>
      <p:graphicFrame>
        <p:nvGraphicFramePr>
          <p:cNvPr id="6149" name="Object 32">
            <a:extLst>
              <a:ext uri="{FF2B5EF4-FFF2-40B4-BE49-F238E27FC236}">
                <a16:creationId xmlns:a16="http://schemas.microsoft.com/office/drawing/2014/main" id="{6295F475-2618-7D0A-B7E0-C31DAC719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762000"/>
          <a:ext cx="2514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41120" imgH="215640" progId="Equation.DSMT4">
                  <p:embed/>
                </p:oleObj>
              </mc:Choice>
              <mc:Fallback>
                <p:oleObj name="Equation" r:id="rId19" imgW="1041120" imgH="215640" progId="Equation.DSMT4">
                  <p:embed/>
                  <p:pic>
                    <p:nvPicPr>
                      <p:cNvPr id="6149" name="Object 32">
                        <a:extLst>
                          <a:ext uri="{FF2B5EF4-FFF2-40B4-BE49-F238E27FC236}">
                            <a16:creationId xmlns:a16="http://schemas.microsoft.com/office/drawing/2014/main" id="{6295F475-2618-7D0A-B7E0-C31DAC719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762000"/>
                        <a:ext cx="2514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3">
            <a:extLst>
              <a:ext uri="{FF2B5EF4-FFF2-40B4-BE49-F238E27FC236}">
                <a16:creationId xmlns:a16="http://schemas.microsoft.com/office/drawing/2014/main" id="{BFB231FD-3204-F800-EE0D-01AD1F0631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181600"/>
          <a:ext cx="27432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57120" imgH="215640" progId="Equation.DSMT4">
                  <p:embed/>
                </p:oleObj>
              </mc:Choice>
              <mc:Fallback>
                <p:oleObj name="Equation" r:id="rId21" imgW="1257120" imgH="215640" progId="Equation.DSMT4">
                  <p:embed/>
                  <p:pic>
                    <p:nvPicPr>
                      <p:cNvPr id="6150" name="Object 33">
                        <a:extLst>
                          <a:ext uri="{FF2B5EF4-FFF2-40B4-BE49-F238E27FC236}">
                            <a16:creationId xmlns:a16="http://schemas.microsoft.com/office/drawing/2014/main" id="{BFB231FD-3204-F800-EE0D-01AD1F063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81600"/>
                        <a:ext cx="27432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655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655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655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96D90354-F73E-10E2-307E-22A0E852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9375"/>
            <a:ext cx="8229600" cy="914400"/>
          </a:xfrm>
        </p:spPr>
        <p:txBody>
          <a:bodyPr/>
          <a:lstStyle/>
          <a:p>
            <a:r>
              <a:rPr lang="en-US" altLang="en-US"/>
              <a:t>AM for various Modulation Indices</a:t>
            </a: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759BB8E6-E553-7F15-962C-1DA167A01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983615"/>
            <a:ext cx="8915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59349E-B5C8-5F9E-8515-240E55F2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129" y="4955613"/>
            <a:ext cx="1945341" cy="15906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220AF2-7E5F-1927-6C0B-4DEF8EBD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129" y="1243133"/>
            <a:ext cx="1945341" cy="14771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C6DC07-6014-58B1-166A-8FDB92B66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29" y="3166426"/>
            <a:ext cx="1977734" cy="16175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itle 1">
            <a:extLst>
              <a:ext uri="{FF2B5EF4-FFF2-40B4-BE49-F238E27FC236}">
                <a16:creationId xmlns:a16="http://schemas.microsoft.com/office/drawing/2014/main" id="{164EABD1-0880-DEE2-E4D1-FA24B1D6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-20638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Relations 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</a:t>
            </a:r>
          </a:p>
        </p:txBody>
      </p:sp>
      <p:sp>
        <p:nvSpPr>
          <p:cNvPr id="7177" name="Content Placeholder 2">
            <a:extLst>
              <a:ext uri="{FF2B5EF4-FFF2-40B4-BE49-F238E27FC236}">
                <a16:creationId xmlns:a16="http://schemas.microsoft.com/office/drawing/2014/main" id="{19BFC9B4-00C3-5605-77DB-CC671D1D5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01600"/>
            <a:ext cx="11988800" cy="6675120"/>
          </a:xfrm>
        </p:spPr>
        <p:txBody>
          <a:bodyPr/>
          <a:lstStyle/>
          <a:p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    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        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where      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total power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               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carrier power,                                    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sideband power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sideband power </a:t>
            </a:r>
          </a:p>
          <a:p>
            <a:endParaRPr lang="en-US" altLang="en-US" dirty="0"/>
          </a:p>
        </p:txBody>
      </p:sp>
      <p:sp>
        <p:nvSpPr>
          <p:cNvPr id="7178" name="Rectangle 2">
            <a:extLst>
              <a:ext uri="{FF2B5EF4-FFF2-40B4-BE49-F238E27FC236}">
                <a16:creationId xmlns:a16="http://schemas.microsoft.com/office/drawing/2014/main" id="{7A29C0A2-8EC6-7627-AD7C-ED25213D9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0" name="Object 1">
            <a:extLst>
              <a:ext uri="{FF2B5EF4-FFF2-40B4-BE49-F238E27FC236}">
                <a16:creationId xmlns:a16="http://schemas.microsoft.com/office/drawing/2014/main" id="{4AAB985F-678E-2CFA-75CE-1BDECEDEA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149046"/>
              </p:ext>
            </p:extLst>
          </p:nvPr>
        </p:nvGraphicFramePr>
        <p:xfrm>
          <a:off x="1427162" y="834072"/>
          <a:ext cx="3525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449" imgH="215806" progId="Equation.DSMT4">
                  <p:embed/>
                </p:oleObj>
              </mc:Choice>
              <mc:Fallback>
                <p:oleObj name="Equation" r:id="rId2" imgW="1269449" imgH="215806" progId="Equation.DSMT4">
                  <p:embed/>
                  <p:pic>
                    <p:nvPicPr>
                      <p:cNvPr id="7170" name="Object 1">
                        <a:extLst>
                          <a:ext uri="{FF2B5EF4-FFF2-40B4-BE49-F238E27FC236}">
                            <a16:creationId xmlns:a16="http://schemas.microsoft.com/office/drawing/2014/main" id="{4AAB985F-678E-2CFA-75CE-1BDECEDEA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2" y="834072"/>
                        <a:ext cx="352583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4">
            <a:extLst>
              <a:ext uri="{FF2B5EF4-FFF2-40B4-BE49-F238E27FC236}">
                <a16:creationId xmlns:a16="http://schemas.microsoft.com/office/drawing/2014/main" id="{54FCD2A0-978B-6436-80A5-CE2790E4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7F721F05-8176-385A-77F0-970D5C906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187656"/>
              </p:ext>
            </p:extLst>
          </p:nvPr>
        </p:nvGraphicFramePr>
        <p:xfrm>
          <a:off x="2357438" y="1524489"/>
          <a:ext cx="487362" cy="56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5" imgH="215619" progId="Equation.DSMT4">
                  <p:embed/>
                </p:oleObj>
              </mc:Choice>
              <mc:Fallback>
                <p:oleObj name="Equation" r:id="rId4" imgW="164885" imgH="215619" progId="Equation.DSMT4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7F721F05-8176-385A-77F0-970D5C906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1524489"/>
                        <a:ext cx="487362" cy="5685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Rectangle 6">
            <a:extLst>
              <a:ext uri="{FF2B5EF4-FFF2-40B4-BE49-F238E27FC236}">
                <a16:creationId xmlns:a16="http://schemas.microsoft.com/office/drawing/2014/main" id="{E84D94A1-5DCF-C1F9-9EA3-D653C6195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2" name="Object 5">
            <a:extLst>
              <a:ext uri="{FF2B5EF4-FFF2-40B4-BE49-F238E27FC236}">
                <a16:creationId xmlns:a16="http://schemas.microsoft.com/office/drawing/2014/main" id="{791800A6-54D6-EA5E-1D4B-029CE65F94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622864"/>
              </p:ext>
            </p:extLst>
          </p:nvPr>
        </p:nvGraphicFramePr>
        <p:xfrm>
          <a:off x="2357438" y="2141538"/>
          <a:ext cx="40015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335" imgH="215713" progId="Equation.DSMT4">
                  <p:embed/>
                </p:oleObj>
              </mc:Choice>
              <mc:Fallback>
                <p:oleObj name="Equation" r:id="rId6" imgW="190335" imgH="215713" progId="Equation.DSMT4">
                  <p:embed/>
                  <p:pic>
                    <p:nvPicPr>
                      <p:cNvPr id="7172" name="Object 5">
                        <a:extLst>
                          <a:ext uri="{FF2B5EF4-FFF2-40B4-BE49-F238E27FC236}">
                            <a16:creationId xmlns:a16="http://schemas.microsoft.com/office/drawing/2014/main" id="{791800A6-54D6-EA5E-1D4B-029CE65F9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2141538"/>
                        <a:ext cx="400152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8">
            <a:extLst>
              <a:ext uri="{FF2B5EF4-FFF2-40B4-BE49-F238E27FC236}">
                <a16:creationId xmlns:a16="http://schemas.microsoft.com/office/drawing/2014/main" id="{3177FB26-366C-107D-E871-56F75A4B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3" name="Object 7">
            <a:extLst>
              <a:ext uri="{FF2B5EF4-FFF2-40B4-BE49-F238E27FC236}">
                <a16:creationId xmlns:a16="http://schemas.microsoft.com/office/drawing/2014/main" id="{E096FAAB-41D9-2712-6B7E-71AE76ABA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879303"/>
              </p:ext>
            </p:extLst>
          </p:nvPr>
        </p:nvGraphicFramePr>
        <p:xfrm>
          <a:off x="2232024" y="2641442"/>
          <a:ext cx="7080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03112" progId="Equation.DSMT4">
                  <p:embed/>
                </p:oleObj>
              </mc:Choice>
              <mc:Fallback>
                <p:oleObj name="Equation" r:id="rId8" imgW="279279" imgH="203112" progId="Equation.DSMT4">
                  <p:embed/>
                  <p:pic>
                    <p:nvPicPr>
                      <p:cNvPr id="7173" name="Object 7">
                        <a:extLst>
                          <a:ext uri="{FF2B5EF4-FFF2-40B4-BE49-F238E27FC236}">
                            <a16:creationId xmlns:a16="http://schemas.microsoft.com/office/drawing/2014/main" id="{E096FAAB-41D9-2712-6B7E-71AE76ABA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4" y="2641442"/>
                        <a:ext cx="70802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0">
            <a:extLst>
              <a:ext uri="{FF2B5EF4-FFF2-40B4-BE49-F238E27FC236}">
                <a16:creationId xmlns:a16="http://schemas.microsoft.com/office/drawing/2014/main" id="{BF4A243A-73DE-77BE-878A-84F8D844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4" name="Object 9">
            <a:extLst>
              <a:ext uri="{FF2B5EF4-FFF2-40B4-BE49-F238E27FC236}">
                <a16:creationId xmlns:a16="http://schemas.microsoft.com/office/drawing/2014/main" id="{54E2A103-8EFB-1D2D-FA11-C0074235D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162218"/>
              </p:ext>
            </p:extLst>
          </p:nvPr>
        </p:nvGraphicFramePr>
        <p:xfrm>
          <a:off x="2192336" y="3097967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73" imgH="203112" progId="Equation.DSMT4">
                  <p:embed/>
                </p:oleObj>
              </mc:Choice>
              <mc:Fallback>
                <p:oleObj name="Equation" r:id="rId10" imgW="291973" imgH="203112" progId="Equation.DSMT4">
                  <p:embed/>
                  <p:pic>
                    <p:nvPicPr>
                      <p:cNvPr id="7174" name="Object 9">
                        <a:extLst>
                          <a:ext uri="{FF2B5EF4-FFF2-40B4-BE49-F238E27FC236}">
                            <a16:creationId xmlns:a16="http://schemas.microsoft.com/office/drawing/2014/main" id="{54E2A103-8EFB-1D2D-FA11-C0074235D9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6" y="3097967"/>
                        <a:ext cx="787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Rectangle 12">
            <a:extLst>
              <a:ext uri="{FF2B5EF4-FFF2-40B4-BE49-F238E27FC236}">
                <a16:creationId xmlns:a16="http://schemas.microsoft.com/office/drawing/2014/main" id="{12A10E92-6F33-70E2-4871-1B0937EB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5" name="Object 13">
            <a:extLst>
              <a:ext uri="{FF2B5EF4-FFF2-40B4-BE49-F238E27FC236}">
                <a16:creationId xmlns:a16="http://schemas.microsoft.com/office/drawing/2014/main" id="{29FDB19B-F35C-755E-8932-38D8EE0A3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430400"/>
              </p:ext>
            </p:extLst>
          </p:nvPr>
        </p:nvGraphicFramePr>
        <p:xfrm>
          <a:off x="408273" y="3877343"/>
          <a:ext cx="10613453" cy="186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19440" imgH="634680" progId="Equation.DSMT4">
                  <p:embed/>
                </p:oleObj>
              </mc:Choice>
              <mc:Fallback>
                <p:oleObj name="Equation" r:id="rId12" imgW="3619440" imgH="634680" progId="Equation.DSMT4">
                  <p:embed/>
                  <p:pic>
                    <p:nvPicPr>
                      <p:cNvPr id="7175" name="Object 13">
                        <a:extLst>
                          <a:ext uri="{FF2B5EF4-FFF2-40B4-BE49-F238E27FC236}">
                            <a16:creationId xmlns:a16="http://schemas.microsoft.com/office/drawing/2014/main" id="{29FDB19B-F35C-755E-8932-38D8EE0A3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73" y="3877343"/>
                        <a:ext cx="10613453" cy="1862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4" name="Picture 16">
            <a:extLst>
              <a:ext uri="{FF2B5EF4-FFF2-40B4-BE49-F238E27FC236}">
                <a16:creationId xmlns:a16="http://schemas.microsoft.com/office/drawing/2014/main" id="{E226D6D3-EBC1-A5EB-D47B-866A23462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948" y="101600"/>
            <a:ext cx="4859397" cy="310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5" name="Picture 17">
            <a:extLst>
              <a:ext uri="{FF2B5EF4-FFF2-40B4-BE49-F238E27FC236}">
                <a16:creationId xmlns:a16="http://schemas.microsoft.com/office/drawing/2014/main" id="{E19264DA-D956-9562-4214-444E6DF43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562601"/>
            <a:ext cx="8382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763C52CA-A314-5780-7331-FE6BA7400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5562600"/>
            <a:ext cx="6810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7" name="TextBox 19">
            <a:extLst>
              <a:ext uri="{FF2B5EF4-FFF2-40B4-BE49-F238E27FC236}">
                <a16:creationId xmlns:a16="http://schemas.microsoft.com/office/drawing/2014/main" id="{7AB03C29-2DEC-7FC0-17C4-E2CD96CF3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090" y="5518150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FF0000"/>
                </a:solidFill>
              </a:rPr>
              <a:t>Carrier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3422F0C-F2BD-18E6-72F5-E2CC9E9F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-9524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Relations in AM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4C2F230-1086-7129-1EB3-9FDC5ACA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990601"/>
            <a:ext cx="9144000" cy="5135563"/>
          </a:xfrm>
        </p:spPr>
        <p:txBody>
          <a:bodyPr/>
          <a:lstStyle/>
          <a:p>
            <a:endParaRPr lang="en-US" altLang="en-US"/>
          </a:p>
          <a:p>
            <a:pPr>
              <a:buFont typeface="Arial" panose="020B0604020202020204" pitchFamily="34" charset="0"/>
              <a:buNone/>
            </a:pPr>
            <a:r>
              <a:rPr lang="en-US" altLang="en-US"/>
              <a:t>         </a:t>
            </a: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42578DF0-F4A6-CADB-F449-4A8BBA760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6A1C48A2-2D04-FF98-47F0-E7A6B9197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420C47ED-1E57-65F7-FB7B-B18900B5F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1" name="Rectangle 8">
            <a:extLst>
              <a:ext uri="{FF2B5EF4-FFF2-40B4-BE49-F238E27FC236}">
                <a16:creationId xmlns:a16="http://schemas.microsoft.com/office/drawing/2014/main" id="{C278C015-A829-55DF-984C-8A01AFC9D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2" name="Rectangle 10">
            <a:extLst>
              <a:ext uri="{FF2B5EF4-FFF2-40B4-BE49-F238E27FC236}">
                <a16:creationId xmlns:a16="http://schemas.microsoft.com/office/drawing/2014/main" id="{FC529BCA-C8A3-67D2-8193-A7FB8F628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3" name="Rectangle 12">
            <a:extLst>
              <a:ext uri="{FF2B5EF4-FFF2-40B4-BE49-F238E27FC236}">
                <a16:creationId xmlns:a16="http://schemas.microsoft.com/office/drawing/2014/main" id="{8CD11ACA-D364-FCC1-7044-3BD65AB8D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6634" name="Picture 8">
            <a:extLst>
              <a:ext uri="{FF2B5EF4-FFF2-40B4-BE49-F238E27FC236}">
                <a16:creationId xmlns:a16="http://schemas.microsoft.com/office/drawing/2014/main" id="{BFDCF1D1-DD86-2061-BCD8-DA6FB1E0D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307" y="607820"/>
            <a:ext cx="9721533" cy="5901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Picture 9">
            <a:extLst>
              <a:ext uri="{FF2B5EF4-FFF2-40B4-BE49-F238E27FC236}">
                <a16:creationId xmlns:a16="http://schemas.microsoft.com/office/drawing/2014/main" id="{D16547AB-E727-DB6A-071F-DDD62A603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172200"/>
            <a:ext cx="8153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79402C6A-5138-1E27-8AFC-F964E639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Transmission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3200C0"/>
                </a:solidFill>
              </a:rPr>
              <a:t>Efficiency</a:t>
            </a:r>
            <a:r>
              <a:rPr lang="en-US" altLang="en-US" dirty="0"/>
              <a:t> of </a:t>
            </a:r>
            <a:r>
              <a:rPr lang="en-US" altLang="en-US" dirty="0">
                <a:solidFill>
                  <a:srgbClr val="FF0000"/>
                </a:solidFill>
              </a:rPr>
              <a:t>AM</a:t>
            </a: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E07404DA-D1F7-E988-DC00-2295AE4A8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1905000"/>
            <a:ext cx="54578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3">
            <a:extLst>
              <a:ext uri="{FF2B5EF4-FFF2-40B4-BE49-F238E27FC236}">
                <a16:creationId xmlns:a16="http://schemas.microsoft.com/office/drawing/2014/main" id="{01954FC9-764F-AACF-F853-F1CA7905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24000"/>
            <a:ext cx="15176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>
            <a:extLst>
              <a:ext uri="{FF2B5EF4-FFF2-40B4-BE49-F238E27FC236}">
                <a16:creationId xmlns:a16="http://schemas.microsoft.com/office/drawing/2014/main" id="{EA6F84B8-882A-8322-E9E4-E25E73AAB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6" y="4038600"/>
            <a:ext cx="88296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3">
            <a:extLst>
              <a:ext uri="{FF2B5EF4-FFF2-40B4-BE49-F238E27FC236}">
                <a16:creationId xmlns:a16="http://schemas.microsoft.com/office/drawing/2014/main" id="{44BC2762-2DE9-F451-9CE8-6BC427CFE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38200"/>
            <a:ext cx="4235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0AF7-1975-F860-293D-271B4EF2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    Carrier Power Vs Sideband Power</a:t>
            </a:r>
          </a:p>
        </p:txBody>
      </p:sp>
      <p:pic>
        <p:nvPicPr>
          <p:cNvPr id="4" name="Picture 9" descr="F05">
            <a:extLst>
              <a:ext uri="{FF2B5EF4-FFF2-40B4-BE49-F238E27FC236}">
                <a16:creationId xmlns:a16="http://schemas.microsoft.com/office/drawing/2014/main" id="{AFF38885-9AA7-7658-57A7-0A6434BB30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600200"/>
            <a:ext cx="6934200" cy="499745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itle 1">
            <a:extLst>
              <a:ext uri="{FF2B5EF4-FFF2-40B4-BE49-F238E27FC236}">
                <a16:creationId xmlns:a16="http://schemas.microsoft.com/office/drawing/2014/main" id="{651FF99A-2C99-2A1F-F628-2496C2AD5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20650"/>
            <a:ext cx="8229600" cy="792163"/>
          </a:xfrm>
        </p:spPr>
        <p:txBody>
          <a:bodyPr/>
          <a:lstStyle/>
          <a:p>
            <a:r>
              <a:rPr lang="en-US" altLang="en-US" dirty="0">
                <a:solidFill>
                  <a:srgbClr val="3200C0"/>
                </a:solidFill>
              </a:rPr>
              <a:t>Current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Calculations</a:t>
            </a:r>
          </a:p>
        </p:txBody>
      </p:sp>
      <p:sp>
        <p:nvSpPr>
          <p:cNvPr id="8198" name="Content Placeholder 2">
            <a:extLst>
              <a:ext uri="{FF2B5EF4-FFF2-40B4-BE49-F238E27FC236}">
                <a16:creationId xmlns:a16="http://schemas.microsoft.com/office/drawing/2014/main" id="{45502E68-4E8E-FC5F-311F-2DEAFA8B7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1143001"/>
            <a:ext cx="11714480" cy="4983163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Let      be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un-modulated current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       be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or modulated current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 an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 transmitter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both being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values. If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is the resistance,</a:t>
            </a:r>
          </a:p>
          <a:p>
            <a:endParaRPr lang="en-US" altLang="en-US" dirty="0"/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15DFA97B-F5A6-6B81-333E-51B356567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4" name="Object 1">
            <a:extLst>
              <a:ext uri="{FF2B5EF4-FFF2-40B4-BE49-F238E27FC236}">
                <a16:creationId xmlns:a16="http://schemas.microsoft.com/office/drawing/2014/main" id="{9B4F0F6C-2F5B-CE59-FB68-B847D5BC1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416889"/>
              </p:ext>
            </p:extLst>
          </p:nvPr>
        </p:nvGraphicFramePr>
        <p:xfrm>
          <a:off x="883920" y="1218129"/>
          <a:ext cx="5334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569" imgH="215619" progId="Equation.DSMT4">
                  <p:embed/>
                </p:oleObj>
              </mc:Choice>
              <mc:Fallback>
                <p:oleObj name="Equation" r:id="rId2" imgW="177569" imgH="215619" progId="Equation.DSMT4">
                  <p:embed/>
                  <p:pic>
                    <p:nvPicPr>
                      <p:cNvPr id="8194" name="Object 1">
                        <a:extLst>
                          <a:ext uri="{FF2B5EF4-FFF2-40B4-BE49-F238E27FC236}">
                            <a16:creationId xmlns:a16="http://schemas.microsoft.com/office/drawing/2014/main" id="{9B4F0F6C-2F5B-CE59-FB68-B847D5BC1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" y="1218129"/>
                        <a:ext cx="5334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Rectangle 4">
            <a:extLst>
              <a:ext uri="{FF2B5EF4-FFF2-40B4-BE49-F238E27FC236}">
                <a16:creationId xmlns:a16="http://schemas.microsoft.com/office/drawing/2014/main" id="{5A956B30-E386-D817-7FDF-132F31C4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27AEED6E-40FA-CDCE-9655-96C48E001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279774"/>
              </p:ext>
            </p:extLst>
          </p:nvPr>
        </p:nvGraphicFramePr>
        <p:xfrm>
          <a:off x="6113780" y="1316554"/>
          <a:ext cx="3810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215713" progId="Equation.DSMT4">
                  <p:embed/>
                </p:oleObj>
              </mc:Choice>
              <mc:Fallback>
                <p:oleObj name="Equation" r:id="rId4" imgW="152268" imgH="215713" progId="Equation.DSMT4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27AEED6E-40FA-CDCE-9655-96C48E0016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780" y="1316554"/>
                        <a:ext cx="3810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6">
            <a:extLst>
              <a:ext uri="{FF2B5EF4-FFF2-40B4-BE49-F238E27FC236}">
                <a16:creationId xmlns:a16="http://schemas.microsoft.com/office/drawing/2014/main" id="{2213BD97-5B05-1C26-439F-16BF1D8D8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6" name="Object 5">
            <a:extLst>
              <a:ext uri="{FF2B5EF4-FFF2-40B4-BE49-F238E27FC236}">
                <a16:creationId xmlns:a16="http://schemas.microsoft.com/office/drawing/2014/main" id="{2E0C8BD0-3093-F06E-9C13-4D7DEEF84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341076"/>
              </p:ext>
            </p:extLst>
          </p:nvPr>
        </p:nvGraphicFramePr>
        <p:xfrm>
          <a:off x="1616366" y="3271303"/>
          <a:ext cx="63309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482600" progId="Equation.DSMT4">
                  <p:embed/>
                </p:oleObj>
              </mc:Choice>
              <mc:Fallback>
                <p:oleObj name="Equation" r:id="rId6" imgW="2120900" imgH="482600" progId="Equation.DSMT4">
                  <p:embed/>
                  <p:pic>
                    <p:nvPicPr>
                      <p:cNvPr id="8196" name="Object 5">
                        <a:extLst>
                          <a:ext uri="{FF2B5EF4-FFF2-40B4-BE49-F238E27FC236}">
                            <a16:creationId xmlns:a16="http://schemas.microsoft.com/office/drawing/2014/main" id="{2E0C8BD0-3093-F06E-9C13-4D7DEEF841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366" y="3271303"/>
                        <a:ext cx="633095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5B9547F3-FDFB-6815-4271-DE49A3DB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Phasor Representation of AM</a:t>
            </a: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id="{43EA32DB-DAFC-DAFA-EC46-DDD2DBD3A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133600"/>
            <a:ext cx="8839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itle 1">
            <a:extLst>
              <a:ext uri="{FF2B5EF4-FFF2-40B4-BE49-F238E27FC236}">
                <a16:creationId xmlns:a16="http://schemas.microsoft.com/office/drawing/2014/main" id="{6C9EB8E4-9708-9914-37A4-5F6299C5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84298"/>
            <a:ext cx="9144000" cy="868363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Case2: </a:t>
            </a:r>
            <a:r>
              <a:rPr lang="en-US" altLang="en-US" sz="32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Multitone Modulation</a:t>
            </a:r>
          </a:p>
        </p:txBody>
      </p:sp>
      <p:sp>
        <p:nvSpPr>
          <p:cNvPr id="9221" name="Content Placeholder 2">
            <a:extLst>
              <a:ext uri="{FF2B5EF4-FFF2-40B4-BE49-F238E27FC236}">
                <a16:creationId xmlns:a16="http://schemas.microsoft.com/office/drawing/2014/main" id="{9A4C3928-0CDB-2ED3-4658-42D36EDCF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914401"/>
            <a:ext cx="11775440" cy="5211763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a message signal consists of three sinusoidal signals of different frequencies.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FB8CCF67-810E-94E1-30A2-6AE6E5CF3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1F0DEC86-2614-C04E-61A2-22B970AFFF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105406"/>
              </p:ext>
            </p:extLst>
          </p:nvPr>
        </p:nvGraphicFramePr>
        <p:xfrm>
          <a:off x="746761" y="2184263"/>
          <a:ext cx="10459719" cy="4555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1828800" progId="Equation.DSMT4">
                  <p:embed/>
                </p:oleObj>
              </mc:Choice>
              <mc:Fallback>
                <p:oleObj name="Equation" r:id="rId2" imgW="4394200" imgH="1828800" progId="Equation.DSMT4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1F0DEC86-2614-C04E-61A2-22B970AFF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1" y="2184263"/>
                        <a:ext cx="10459719" cy="45555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4">
            <a:extLst>
              <a:ext uri="{FF2B5EF4-FFF2-40B4-BE49-F238E27FC236}">
                <a16:creationId xmlns:a16="http://schemas.microsoft.com/office/drawing/2014/main" id="{01CDDA07-5031-E1BA-6DBC-1DEE0059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BF3A7EB3-FF55-D59B-DAF4-2D86D0328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312554"/>
              </p:ext>
            </p:extLst>
          </p:nvPr>
        </p:nvGraphicFramePr>
        <p:xfrm>
          <a:off x="2783840" y="1496300"/>
          <a:ext cx="7884160" cy="600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228600" progId="Equation.DSMT4">
                  <p:embed/>
                </p:oleObj>
              </mc:Choice>
              <mc:Fallback>
                <p:oleObj name="Equation" r:id="rId4" imgW="2997200" imgH="228600" progId="Equation.DSMT4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BF3A7EB3-FF55-D59B-DAF4-2D86D0328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840" y="1496300"/>
                        <a:ext cx="7884160" cy="6007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>
            <a:extLst>
              <a:ext uri="{FF2B5EF4-FFF2-40B4-BE49-F238E27FC236}">
                <a16:creationId xmlns:a16="http://schemas.microsoft.com/office/drawing/2014/main" id="{89D4D3A5-9E5A-1194-A7D1-F074175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-4446"/>
            <a:ext cx="9144000" cy="868363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Case2: </a:t>
            </a:r>
            <a:r>
              <a:rPr lang="en-US" altLang="en-US" sz="32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Multitone Modulation</a:t>
            </a: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E8C66093-8991-DE43-534E-7EE2AD81B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20" y="751841"/>
            <a:ext cx="11897360" cy="5689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</a:rPr>
              <a:t>The frequency domain representation </a:t>
            </a:r>
            <a:r>
              <a:rPr lang="en-US" altLang="en-US" dirty="0">
                <a:solidFill>
                  <a:srgbClr val="3200C0"/>
                </a:solidFill>
              </a:rPr>
              <a:t>Multitone modulation</a:t>
            </a:r>
            <a:r>
              <a:rPr lang="en-US" altLang="en-US" dirty="0">
                <a:solidFill>
                  <a:srgbClr val="FF0000"/>
                </a:solidFill>
              </a:rPr>
              <a:t> is expressed as</a:t>
            </a:r>
            <a:r>
              <a:rPr lang="en-US" altLang="en-US" dirty="0"/>
              <a:t> </a:t>
            </a: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A204D6FF-3029-D631-E0F8-619C929E4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6" name="Rectangle 4">
            <a:extLst>
              <a:ext uri="{FF2B5EF4-FFF2-40B4-BE49-F238E27FC236}">
                <a16:creationId xmlns:a16="http://schemas.microsoft.com/office/drawing/2014/main" id="{A29E256C-1783-ECB3-87D5-1448B91F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7" name="Rectangle 5">
            <a:extLst>
              <a:ext uri="{FF2B5EF4-FFF2-40B4-BE49-F238E27FC236}">
                <a16:creationId xmlns:a16="http://schemas.microsoft.com/office/drawing/2014/main" id="{E80199D8-8E8F-D297-F944-B9C16ED4F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5FA1774F-1042-2015-2CA9-F95BB8904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653135"/>
              </p:ext>
            </p:extLst>
          </p:nvPr>
        </p:nvGraphicFramePr>
        <p:xfrm>
          <a:off x="604202" y="1310639"/>
          <a:ext cx="11354117" cy="5282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10100" imgH="1625600" progId="Equation.DSMT4">
                  <p:embed/>
                </p:oleObj>
              </mc:Choice>
              <mc:Fallback>
                <p:oleObj name="Equation" r:id="rId2" imgW="4610100" imgH="1625600" progId="Equation.DSMT4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5FA1774F-1042-2015-2CA9-F95BB89041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" y="1310639"/>
                        <a:ext cx="11354117" cy="52826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75CD71B-46F9-AC76-0B21-90F86A01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123826"/>
            <a:ext cx="7162800" cy="557211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Case2: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Multitone Modulation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2CDF84E0-40A8-591A-BD9A-85EA335C1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681037"/>
            <a:ext cx="10383520" cy="5938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Title 1">
            <a:extLst>
              <a:ext uri="{FF2B5EF4-FFF2-40B4-BE49-F238E27FC236}">
                <a16:creationId xmlns:a16="http://schemas.microsoft.com/office/drawing/2014/main" id="{8F372E5D-B49F-7B2E-4292-B8BDA91A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70365"/>
            <a:ext cx="11033760" cy="767835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 Index 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en-US" sz="4000" dirty="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Multitone modulating signal</a:t>
            </a:r>
          </a:p>
        </p:txBody>
      </p:sp>
      <p:sp>
        <p:nvSpPr>
          <p:cNvPr id="11272" name="Content Placeholder 2">
            <a:extLst>
              <a:ext uri="{FF2B5EF4-FFF2-40B4-BE49-F238E27FC236}">
                <a16:creationId xmlns:a16="http://schemas.microsoft.com/office/drawing/2014/main" id="{994AA2D4-DC3B-F0D1-B7C6-D2E755DD9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6" y="838200"/>
            <a:ext cx="11710034" cy="5791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total magnitude of several sinusoidal modulating signals may be represented as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dividing by         on both sides of the equation, we get   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three sinusoidal signals                        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dirty="0"/>
              <a:t>                                </a:t>
            </a:r>
            <a:r>
              <a:rPr lang="en-US" altLang="en-US" dirty="0">
                <a:solidFill>
                  <a:srgbClr val="3200C0"/>
                </a:solidFill>
              </a:rPr>
              <a:t>  and</a:t>
            </a:r>
            <a:r>
              <a:rPr lang="en-US" altLang="en-US" dirty="0"/>
              <a:t>                                      </a:t>
            </a:r>
          </a:p>
          <a:p>
            <a:endParaRPr lang="en-US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general</a:t>
            </a:r>
          </a:p>
          <a:p>
            <a:endParaRPr lang="en-US" altLang="en-US" dirty="0"/>
          </a:p>
        </p:txBody>
      </p:sp>
      <p:sp>
        <p:nvSpPr>
          <p:cNvPr id="11273" name="Rectangle 2">
            <a:extLst>
              <a:ext uri="{FF2B5EF4-FFF2-40B4-BE49-F238E27FC236}">
                <a16:creationId xmlns:a16="http://schemas.microsoft.com/office/drawing/2014/main" id="{7EB48661-73B0-BF5B-AF2B-FCC405D5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66" name="Object 1">
            <a:extLst>
              <a:ext uri="{FF2B5EF4-FFF2-40B4-BE49-F238E27FC236}">
                <a16:creationId xmlns:a16="http://schemas.microsoft.com/office/drawing/2014/main" id="{887AC129-56F1-7B29-B8D0-00D177972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927441"/>
              </p:ext>
            </p:extLst>
          </p:nvPr>
        </p:nvGraphicFramePr>
        <p:xfrm>
          <a:off x="3342640" y="1225035"/>
          <a:ext cx="381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304800" progId="Equation.DSMT4">
                  <p:embed/>
                </p:oleObj>
              </mc:Choice>
              <mc:Fallback>
                <p:oleObj name="Equation" r:id="rId2" imgW="1524000" imgH="304800" progId="Equation.DSMT4">
                  <p:embed/>
                  <p:pic>
                    <p:nvPicPr>
                      <p:cNvPr id="11266" name="Object 1">
                        <a:extLst>
                          <a:ext uri="{FF2B5EF4-FFF2-40B4-BE49-F238E27FC236}">
                            <a16:creationId xmlns:a16="http://schemas.microsoft.com/office/drawing/2014/main" id="{887AC129-56F1-7B29-B8D0-00D177972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640" y="1225035"/>
                        <a:ext cx="38100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4">
            <a:extLst>
              <a:ext uri="{FF2B5EF4-FFF2-40B4-BE49-F238E27FC236}">
                <a16:creationId xmlns:a16="http://schemas.microsoft.com/office/drawing/2014/main" id="{06E38E32-AF02-2321-811E-679575AC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75" name="Rectangle 6">
            <a:extLst>
              <a:ext uri="{FF2B5EF4-FFF2-40B4-BE49-F238E27FC236}">
                <a16:creationId xmlns:a16="http://schemas.microsoft.com/office/drawing/2014/main" id="{A06A2618-EAD9-2941-02A9-47298FB36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E5F4A35A-D3FF-2B89-84E3-E90632D1F4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54139"/>
              </p:ext>
            </p:extLst>
          </p:nvPr>
        </p:nvGraphicFramePr>
        <p:xfrm>
          <a:off x="5090477" y="2799170"/>
          <a:ext cx="28289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6755" imgH="304668" progId="Equation.DSMT4">
                  <p:embed/>
                </p:oleObj>
              </mc:Choice>
              <mc:Fallback>
                <p:oleObj name="Equation" r:id="rId4" imgW="1256755" imgH="304668" progId="Equation.DSMT4">
                  <p:embed/>
                  <p:pic>
                    <p:nvPicPr>
                      <p:cNvPr id="11267" name="Object 5">
                        <a:extLst>
                          <a:ext uri="{FF2B5EF4-FFF2-40B4-BE49-F238E27FC236}">
                            <a16:creationId xmlns:a16="http://schemas.microsoft.com/office/drawing/2014/main" id="{E5F4A35A-D3FF-2B89-84E3-E90632D1F4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0477" y="2799170"/>
                        <a:ext cx="282892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8">
            <a:extLst>
              <a:ext uri="{FF2B5EF4-FFF2-40B4-BE49-F238E27FC236}">
                <a16:creationId xmlns:a16="http://schemas.microsoft.com/office/drawing/2014/main" id="{968F0C1E-0324-6900-B673-5BBBDDB91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68" name="Object 7">
            <a:extLst>
              <a:ext uri="{FF2B5EF4-FFF2-40B4-BE49-F238E27FC236}">
                <a16:creationId xmlns:a16="http://schemas.microsoft.com/office/drawing/2014/main" id="{4DC68507-B03C-218D-6FAC-1ABBC6D64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23189"/>
              </p:ext>
            </p:extLst>
          </p:nvPr>
        </p:nvGraphicFramePr>
        <p:xfrm>
          <a:off x="3833177" y="3948005"/>
          <a:ext cx="2514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6755" imgH="304668" progId="Equation.DSMT4">
                  <p:embed/>
                </p:oleObj>
              </mc:Choice>
              <mc:Fallback>
                <p:oleObj name="Equation" r:id="rId6" imgW="1256755" imgH="304668" progId="Equation.DSMT4">
                  <p:embed/>
                  <p:pic>
                    <p:nvPicPr>
                      <p:cNvPr id="11268" name="Object 7">
                        <a:extLst>
                          <a:ext uri="{FF2B5EF4-FFF2-40B4-BE49-F238E27FC236}">
                            <a16:creationId xmlns:a16="http://schemas.microsoft.com/office/drawing/2014/main" id="{4DC68507-B03C-218D-6FAC-1ABBC6D64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177" y="3948005"/>
                        <a:ext cx="2514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2">
            <a:extLst>
              <a:ext uri="{FF2B5EF4-FFF2-40B4-BE49-F238E27FC236}">
                <a16:creationId xmlns:a16="http://schemas.microsoft.com/office/drawing/2014/main" id="{334E28C5-7B6D-A4AE-5388-A17878239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864420"/>
              </p:ext>
            </p:extLst>
          </p:nvPr>
        </p:nvGraphicFramePr>
        <p:xfrm>
          <a:off x="1094740" y="5211139"/>
          <a:ext cx="8305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74760" imgH="571320" progId="Equation.DSMT4">
                  <p:embed/>
                </p:oleObj>
              </mc:Choice>
              <mc:Fallback>
                <p:oleObj name="Equation" r:id="rId8" imgW="3974760" imgH="571320" progId="Equation.DSMT4">
                  <p:embed/>
                  <p:pic>
                    <p:nvPicPr>
                      <p:cNvPr id="11269" name="Object 12">
                        <a:extLst>
                          <a:ext uri="{FF2B5EF4-FFF2-40B4-BE49-F238E27FC236}">
                            <a16:creationId xmlns:a16="http://schemas.microsoft.com/office/drawing/2014/main" id="{334E28C5-7B6D-A4AE-5388-A17878239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740" y="5211139"/>
                        <a:ext cx="83058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3">
            <a:extLst>
              <a:ext uri="{FF2B5EF4-FFF2-40B4-BE49-F238E27FC236}">
                <a16:creationId xmlns:a16="http://schemas.microsoft.com/office/drawing/2014/main" id="{27D9064E-D9D6-453C-0F3C-0EC05F33C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641324"/>
              </p:ext>
            </p:extLst>
          </p:nvPr>
        </p:nvGraphicFramePr>
        <p:xfrm>
          <a:off x="3051334" y="2043688"/>
          <a:ext cx="5826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15640" progId="Equation.DSMT4">
                  <p:embed/>
                </p:oleObj>
              </mc:Choice>
              <mc:Fallback>
                <p:oleObj name="Equation" r:id="rId10" imgW="203040" imgH="215640" progId="Equation.DSMT4">
                  <p:embed/>
                  <p:pic>
                    <p:nvPicPr>
                      <p:cNvPr id="11270" name="Object 13">
                        <a:extLst>
                          <a:ext uri="{FF2B5EF4-FFF2-40B4-BE49-F238E27FC236}">
                            <a16:creationId xmlns:a16="http://schemas.microsoft.com/office/drawing/2014/main" id="{27D9064E-D9D6-453C-0F3C-0EC05F33C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334" y="2043688"/>
                        <a:ext cx="58261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Title 1">
            <a:extLst>
              <a:ext uri="{FF2B5EF4-FFF2-40B4-BE49-F238E27FC236}">
                <a16:creationId xmlns:a16="http://schemas.microsoft.com/office/drawing/2014/main" id="{72179AFC-92A0-8C8A-37C1-D844B38D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71158"/>
            <a:ext cx="9144000" cy="944563"/>
          </a:xfrm>
        </p:spPr>
        <p:txBody>
          <a:bodyPr>
            <a:normAutofit/>
          </a:bodyPr>
          <a:lstStyle/>
          <a:p>
            <a:r>
              <a:rPr lang="en-US" altLang="en-US" sz="3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Case3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: Baseband </a:t>
            </a:r>
            <a:r>
              <a:rPr lang="en-US" altLang="en-US" sz="32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Modulation</a:t>
            </a: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3D5056BE-3D52-F7C6-30E1-96E1C7037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0" name="Object 1">
            <a:extLst>
              <a:ext uri="{FF2B5EF4-FFF2-40B4-BE49-F238E27FC236}">
                <a16:creationId xmlns:a16="http://schemas.microsoft.com/office/drawing/2014/main" id="{3BE2CC28-8B8D-FBCE-665E-B7210DCAFA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323104"/>
              </p:ext>
            </p:extLst>
          </p:nvPr>
        </p:nvGraphicFramePr>
        <p:xfrm>
          <a:off x="4034790" y="2209657"/>
          <a:ext cx="55689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215900" progId="Equation.DSMT4">
                  <p:embed/>
                </p:oleObj>
              </mc:Choice>
              <mc:Fallback>
                <p:oleObj name="Equation" r:id="rId2" imgW="1879600" imgH="215900" progId="Equation.DSMT4">
                  <p:embed/>
                  <p:pic>
                    <p:nvPicPr>
                      <p:cNvPr id="12290" name="Object 1">
                        <a:extLst>
                          <a:ext uri="{FF2B5EF4-FFF2-40B4-BE49-F238E27FC236}">
                            <a16:creationId xmlns:a16="http://schemas.microsoft.com/office/drawing/2014/main" id="{3BE2CC28-8B8D-FBCE-665E-B7210DCAF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790" y="2209657"/>
                        <a:ext cx="556895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Box 5">
            <a:extLst>
              <a:ext uri="{FF2B5EF4-FFF2-40B4-BE49-F238E27FC236}">
                <a16:creationId xmlns:a16="http://schemas.microsoft.com/office/drawing/2014/main" id="{37418160-AEE3-9C67-B660-59BD838DD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898385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Let a message signal           is band limited to ‘</a:t>
            </a:r>
            <a:r>
              <a:rPr lang="en-US" altLang="en-US" sz="2600">
                <a:solidFill>
                  <a:srgbClr val="3200C0"/>
                </a:solidFill>
              </a:rPr>
              <a:t>W</a:t>
            </a:r>
            <a:r>
              <a:rPr lang="en-US" altLang="en-US" sz="2800">
                <a:solidFill>
                  <a:srgbClr val="FF0000"/>
                </a:solidFill>
              </a:rPr>
              <a:t>’ Hz </a:t>
            </a:r>
          </a:p>
        </p:txBody>
      </p:sp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D91F342B-68FC-0880-36CE-DA329E25F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701396"/>
              </p:ext>
            </p:extLst>
          </p:nvPr>
        </p:nvGraphicFramePr>
        <p:xfrm>
          <a:off x="4034790" y="898385"/>
          <a:ext cx="9969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03040" progId="Equation.DSMT4">
                  <p:embed/>
                </p:oleObj>
              </mc:Choice>
              <mc:Fallback>
                <p:oleObj name="Equation" r:id="rId4" imgW="317160" imgH="20304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D91F342B-68FC-0880-36CE-DA329E25F4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790" y="898385"/>
                        <a:ext cx="9969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Box 7">
            <a:extLst>
              <a:ext uri="{FF2B5EF4-FFF2-40B4-BE49-F238E27FC236}">
                <a16:creationId xmlns:a16="http://schemas.microsoft.com/office/drawing/2014/main" id="{78DEB1C5-B30D-852A-EDDE-98FDD1466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" y="1554021"/>
            <a:ext cx="891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3200C0"/>
                </a:solidFill>
              </a:rPr>
              <a:t>Then  AM signal is represented in time domain by </a:t>
            </a:r>
          </a:p>
        </p:txBody>
      </p:sp>
      <p:sp>
        <p:nvSpPr>
          <p:cNvPr id="12297" name="Rectangle 5">
            <a:extLst>
              <a:ext uri="{FF2B5EF4-FFF2-40B4-BE49-F238E27FC236}">
                <a16:creationId xmlns:a16="http://schemas.microsoft.com/office/drawing/2014/main" id="{9CD38D3F-5D02-A90F-7F97-68C98EFE7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2" name="Object 6">
            <a:extLst>
              <a:ext uri="{FF2B5EF4-FFF2-40B4-BE49-F238E27FC236}">
                <a16:creationId xmlns:a16="http://schemas.microsoft.com/office/drawing/2014/main" id="{09B8C083-E235-49FA-AA12-C5E729B6D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867466"/>
              </p:ext>
            </p:extLst>
          </p:nvPr>
        </p:nvGraphicFramePr>
        <p:xfrm>
          <a:off x="1793240" y="3896797"/>
          <a:ext cx="6477000" cy="210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812520" progId="Equation.DSMT4">
                  <p:embed/>
                </p:oleObj>
              </mc:Choice>
              <mc:Fallback>
                <p:oleObj name="Equation" r:id="rId6" imgW="2501640" imgH="812520" progId="Equation.DSMT4">
                  <p:embed/>
                  <p:pic>
                    <p:nvPicPr>
                      <p:cNvPr id="12292" name="Object 6">
                        <a:extLst>
                          <a:ext uri="{FF2B5EF4-FFF2-40B4-BE49-F238E27FC236}">
                            <a16:creationId xmlns:a16="http://schemas.microsoft.com/office/drawing/2014/main" id="{09B8C083-E235-49FA-AA12-C5E729B6D1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240" y="3896797"/>
                        <a:ext cx="6477000" cy="210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Box 11">
            <a:extLst>
              <a:ext uri="{FF2B5EF4-FFF2-40B4-BE49-F238E27FC236}">
                <a16:creationId xmlns:a16="http://schemas.microsoft.com/office/drawing/2014/main" id="{7D84EE90-FE23-9722-0B53-C4390EE2E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3043381"/>
            <a:ext cx="10910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FF0000"/>
                </a:solidFill>
              </a:rPr>
              <a:t>Frequency domain representation of AM wave is given by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4827432-6ACB-105C-6096-1D3300F0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46037"/>
            <a:ext cx="8229600" cy="7921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36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 Signal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3BB8E39D-F051-4B22-2275-335C37ADB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344" y="726440"/>
            <a:ext cx="8755696" cy="590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3">
            <a:extLst>
              <a:ext uri="{FF2B5EF4-FFF2-40B4-BE49-F238E27FC236}">
                <a16:creationId xmlns:a16="http://schemas.microsoft.com/office/drawing/2014/main" id="{DF26FE9C-AAB1-C3B1-ED20-57D559D1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51539"/>
            <a:ext cx="9144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>
                <a:solidFill>
                  <a:srgbClr val="FF0000"/>
                </a:solidFill>
              </a:rPr>
              <a:t>Transmission Bandwidth </a:t>
            </a:r>
            <a:r>
              <a:rPr lang="en-US" altLang="en-US" sz="2800"/>
              <a:t>=</a:t>
            </a:r>
            <a:r>
              <a:rPr lang="en-US" altLang="en-US" sz="2800">
                <a:solidFill>
                  <a:srgbClr val="FF0000"/>
                </a:solidFill>
              </a:rPr>
              <a:t> </a:t>
            </a:r>
            <a:r>
              <a:rPr lang="en-US" altLang="en-US" sz="2800">
                <a:solidFill>
                  <a:srgbClr val="3200C0"/>
                </a:solidFill>
              </a:rPr>
              <a:t>USB-LSB</a:t>
            </a:r>
            <a:r>
              <a:rPr lang="en-US" altLang="en-US" sz="2800">
                <a:solidFill>
                  <a:srgbClr val="FF0000"/>
                </a:solidFill>
              </a:rPr>
              <a:t> </a:t>
            </a:r>
            <a:r>
              <a:rPr lang="en-US" altLang="en-US" sz="2800"/>
              <a:t>=</a:t>
            </a:r>
            <a:r>
              <a:rPr lang="en-US" altLang="en-US" sz="2800">
                <a:solidFill>
                  <a:srgbClr val="FF0000"/>
                </a:solidFill>
              </a:rPr>
              <a:t> 2</a:t>
            </a:r>
            <a:r>
              <a:rPr lang="en-US" altLang="en-US" sz="2800" i="1">
                <a:solidFill>
                  <a:srgbClr val="FF0000"/>
                </a:solidFill>
              </a:rPr>
              <a:t>W</a:t>
            </a:r>
          </a:p>
        </p:txBody>
      </p:sp>
      <p:pic>
        <p:nvPicPr>
          <p:cNvPr id="32771" name="Picture 5">
            <a:extLst>
              <a:ext uri="{FF2B5EF4-FFF2-40B4-BE49-F238E27FC236}">
                <a16:creationId xmlns:a16="http://schemas.microsoft.com/office/drawing/2014/main" id="{068BEF3B-47A6-D500-81B6-9C63767BB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17475"/>
            <a:ext cx="36766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5">
            <a:extLst>
              <a:ext uri="{FF2B5EF4-FFF2-40B4-BE49-F238E27FC236}">
                <a16:creationId xmlns:a16="http://schemas.microsoft.com/office/drawing/2014/main" id="{F903EFD0-54CF-9F33-A107-7E6E0E0F9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981201"/>
            <a:ext cx="841057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9AE5EF92-AAE3-3F25-CEEE-064CD271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1"/>
            <a:ext cx="8229600" cy="868363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854B-985F-A459-DCDB-53889C7FC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49679"/>
            <a:ext cx="11155680" cy="5267959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Arial" charset="0"/>
              <a:buAutoNum type="arabicPeriod"/>
              <a:defRPr/>
            </a:pP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itchFamily="34" charset="0"/>
              </a:rPr>
              <a:t>The amplitude of                  is always less than unity. That is                  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for all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itchFamily="34" charset="0"/>
                <a:cs typeface="Arial" pitchFamily="34" charset="0"/>
              </a:rPr>
              <a:t>.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If                    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envelope distortion 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is introduced.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2. </a:t>
            </a: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carrier</a:t>
            </a: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itchFamily="34" charset="0"/>
              </a:rPr>
              <a:t> frequency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          is much higher than that of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message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itchFamily="34" charset="0"/>
              </a:rPr>
              <a:t>frequency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W ,</a:t>
            </a:r>
            <a:endParaRPr lang="en-US" dirty="0">
              <a:solidFill>
                <a:srgbClr val="3200C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  Otherwise,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envelope</a:t>
            </a: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 cannot be visualized </a:t>
            </a: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itchFamily="34" charset="0"/>
              </a:rPr>
              <a:t>satisfactorily at the receiver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Arial" charset="0"/>
              <a:buNone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49AF9EEE-A5E3-D2B2-EEBC-E765970D9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74994"/>
              </p:ext>
            </p:extLst>
          </p:nvPr>
        </p:nvGraphicFramePr>
        <p:xfrm>
          <a:off x="3881121" y="1310639"/>
          <a:ext cx="129116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15640" progId="Equation.DSMT4">
                  <p:embed/>
                </p:oleObj>
              </mc:Choice>
              <mc:Fallback>
                <p:oleObj name="Equation" r:id="rId2" imgW="457200" imgH="215640" progId="Equation.DSMT4">
                  <p:embed/>
                  <p:pic>
                    <p:nvPicPr>
                      <p:cNvPr id="13314" name="Object 3">
                        <a:extLst>
                          <a:ext uri="{FF2B5EF4-FFF2-40B4-BE49-F238E27FC236}">
                            <a16:creationId xmlns:a16="http://schemas.microsoft.com/office/drawing/2014/main" id="{49AF9EEE-A5E3-D2B2-EEBC-E765970D99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121" y="1310639"/>
                        <a:ext cx="129116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20671F8A-3B2C-B51D-D0D4-8BBA2C4C6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827306"/>
              </p:ext>
            </p:extLst>
          </p:nvPr>
        </p:nvGraphicFramePr>
        <p:xfrm>
          <a:off x="4506384" y="3241038"/>
          <a:ext cx="5461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DSMT4">
                  <p:embed/>
                </p:oleObj>
              </mc:Choice>
              <mc:Fallback>
                <p:oleObj name="Equation" r:id="rId4" imgW="177480" imgH="215640" progId="Equation.DSMT4">
                  <p:embed/>
                  <p:pic>
                    <p:nvPicPr>
                      <p:cNvPr id="13315" name="Object 4">
                        <a:extLst>
                          <a:ext uri="{FF2B5EF4-FFF2-40B4-BE49-F238E27FC236}">
                            <a16:creationId xmlns:a16="http://schemas.microsoft.com/office/drawing/2014/main" id="{20671F8A-3B2C-B51D-D0D4-8BBA2C4C6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384" y="3241038"/>
                        <a:ext cx="5461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0">
            <a:extLst>
              <a:ext uri="{FF2B5EF4-FFF2-40B4-BE49-F238E27FC236}">
                <a16:creationId xmlns:a16="http://schemas.microsoft.com/office/drawing/2014/main" id="{59338535-F1BF-36A5-0BF8-263E262E2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963386"/>
              </p:ext>
            </p:extLst>
          </p:nvPr>
        </p:nvGraphicFramePr>
        <p:xfrm>
          <a:off x="3525838" y="3964783"/>
          <a:ext cx="16002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15640" progId="Equation.DSMT4">
                  <p:embed/>
                </p:oleObj>
              </mc:Choice>
              <mc:Fallback>
                <p:oleObj name="Equation" r:id="rId6" imgW="571320" imgH="215640" progId="Equation.DSMT4">
                  <p:embed/>
                  <p:pic>
                    <p:nvPicPr>
                      <p:cNvPr id="13316" name="Object 10">
                        <a:extLst>
                          <a:ext uri="{FF2B5EF4-FFF2-40B4-BE49-F238E27FC236}">
                            <a16:creationId xmlns:a16="http://schemas.microsoft.com/office/drawing/2014/main" id="{59338535-F1BF-36A5-0BF8-263E262E2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3964783"/>
                        <a:ext cx="16002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1">
            <a:extLst>
              <a:ext uri="{FF2B5EF4-FFF2-40B4-BE49-F238E27FC236}">
                <a16:creationId xmlns:a16="http://schemas.microsoft.com/office/drawing/2014/main" id="{61EE2547-157C-AA62-D17F-1B89D1E43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720141"/>
              </p:ext>
            </p:extLst>
          </p:nvPr>
        </p:nvGraphicFramePr>
        <p:xfrm>
          <a:off x="2611438" y="1981199"/>
          <a:ext cx="1714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320" imgH="203040" progId="Equation.DSMT4">
                  <p:embed/>
                </p:oleObj>
              </mc:Choice>
              <mc:Fallback>
                <p:oleObj name="Equation" r:id="rId8" imgW="571320" imgH="203040" progId="Equation.DSMT4">
                  <p:embed/>
                  <p:pic>
                    <p:nvPicPr>
                      <p:cNvPr id="13317" name="Object 11">
                        <a:extLst>
                          <a:ext uri="{FF2B5EF4-FFF2-40B4-BE49-F238E27FC236}">
                            <a16:creationId xmlns:a16="http://schemas.microsoft.com/office/drawing/2014/main" id="{61EE2547-157C-AA62-D17F-1B89D1E43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1981199"/>
                        <a:ext cx="1714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2">
            <a:extLst>
              <a:ext uri="{FF2B5EF4-FFF2-40B4-BE49-F238E27FC236}">
                <a16:creationId xmlns:a16="http://schemas.microsoft.com/office/drawing/2014/main" id="{48BDF443-DBED-B346-0FD2-F6D1D5F0F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138681"/>
              </p:ext>
            </p:extLst>
          </p:nvPr>
        </p:nvGraphicFramePr>
        <p:xfrm>
          <a:off x="1544638" y="2631438"/>
          <a:ext cx="1066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203040" progId="Equation.DSMT4">
                  <p:embed/>
                </p:oleObj>
              </mc:Choice>
              <mc:Fallback>
                <p:oleObj name="Equation" r:id="rId10" imgW="355320" imgH="203040" progId="Equation.DSMT4">
                  <p:embed/>
                  <p:pic>
                    <p:nvPicPr>
                      <p:cNvPr id="13318" name="Object 12">
                        <a:extLst>
                          <a:ext uri="{FF2B5EF4-FFF2-40B4-BE49-F238E27FC236}">
                            <a16:creationId xmlns:a16="http://schemas.microsoft.com/office/drawing/2014/main" id="{48BDF443-DBED-B346-0FD2-F6D1D5F0F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2631438"/>
                        <a:ext cx="1066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78D1A3C-171A-AF2D-44B8-6D1B0C9C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480" y="2857500"/>
            <a:ext cx="216916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465</Words>
  <Application>Microsoft Office PowerPoint</Application>
  <PresentationFormat>Widescreen</PresentationFormat>
  <Paragraphs>93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  <vt:lpstr>AMPLITUDE MODULATION</vt:lpstr>
      <vt:lpstr>Types of Amplitude Modulation</vt:lpstr>
      <vt:lpstr>Amplitude Modulation (AM)</vt:lpstr>
      <vt:lpstr>Block Schematic Diagram of AM </vt:lpstr>
      <vt:lpstr>PowerPoint Presentation</vt:lpstr>
      <vt:lpstr>PowerPoint Presentation</vt:lpstr>
      <vt:lpstr>PowerPoint Presentation</vt:lpstr>
      <vt:lpstr>PowerPoint Presentation</vt:lpstr>
      <vt:lpstr>Time Domain Description: </vt:lpstr>
      <vt:lpstr>Case1: Single Tone Modulation </vt:lpstr>
      <vt:lpstr>Frequency domain Representation </vt:lpstr>
      <vt:lpstr>Single Tone Modulation</vt:lpstr>
      <vt:lpstr>Transmission Bandwidth</vt:lpstr>
      <vt:lpstr>PowerPoint Presentation</vt:lpstr>
      <vt:lpstr>AM for various Modulation Indices</vt:lpstr>
      <vt:lpstr>Power Relations in AM</vt:lpstr>
      <vt:lpstr>Power Relations in AM</vt:lpstr>
      <vt:lpstr>Transmission Efficiency of AM</vt:lpstr>
      <vt:lpstr>    Carrier Power Vs Sideband Power</vt:lpstr>
      <vt:lpstr>Current Calculations</vt:lpstr>
      <vt:lpstr>Phasor Representation of AM</vt:lpstr>
      <vt:lpstr>Case2: Multitone Modulation</vt:lpstr>
      <vt:lpstr>Case2: Multitone Modulation</vt:lpstr>
      <vt:lpstr>Case2: Multitone Modulation</vt:lpstr>
      <vt:lpstr>Modulation Index for Multitone modulating signal</vt:lpstr>
      <vt:lpstr>Case3: Baseband Signal Modulation</vt:lpstr>
      <vt:lpstr>AM (Baseband Signal)</vt:lpstr>
      <vt:lpstr>PowerPoint Presentation</vt:lpstr>
      <vt:lpstr>Conditions for AM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Communications</dc:title>
  <dc:creator>MVGR</dc:creator>
  <cp:lastModifiedBy>D Sreenivasa Rao</cp:lastModifiedBy>
  <cp:revision>12</cp:revision>
  <dcterms:created xsi:type="dcterms:W3CDTF">2023-08-26T12:30:11Z</dcterms:created>
  <dcterms:modified xsi:type="dcterms:W3CDTF">2025-09-05T11:26:56Z</dcterms:modified>
</cp:coreProperties>
</file>