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332" r:id="rId2"/>
    <p:sldId id="469" r:id="rId3"/>
    <p:sldId id="461" r:id="rId4"/>
    <p:sldId id="339" r:id="rId5"/>
    <p:sldId id="336" r:id="rId6"/>
    <p:sldId id="326" r:id="rId7"/>
    <p:sldId id="341" r:id="rId8"/>
    <p:sldId id="405" r:id="rId9"/>
    <p:sldId id="406" r:id="rId10"/>
    <p:sldId id="397" r:id="rId11"/>
    <p:sldId id="408" r:id="rId12"/>
    <p:sldId id="407" r:id="rId13"/>
    <p:sldId id="399" r:id="rId14"/>
    <p:sldId id="403" r:id="rId15"/>
    <p:sldId id="416" r:id="rId16"/>
    <p:sldId id="419" r:id="rId17"/>
    <p:sldId id="470" r:id="rId18"/>
    <p:sldId id="395" r:id="rId19"/>
    <p:sldId id="421" r:id="rId20"/>
    <p:sldId id="422" r:id="rId21"/>
    <p:sldId id="423" r:id="rId22"/>
    <p:sldId id="424" r:id="rId23"/>
    <p:sldId id="321" r:id="rId24"/>
    <p:sldId id="322" r:id="rId25"/>
    <p:sldId id="385" r:id="rId26"/>
    <p:sldId id="427" r:id="rId27"/>
    <p:sldId id="4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200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DB483-7234-46EA-9470-26DC1D779667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C596D-4E27-4722-A17C-A58E7CA45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7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BFBE-6FC3-5A70-4F07-50531D13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854FB-091E-1754-428D-9B8130E49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C71B3-E61B-A6D3-B2F7-35B699FA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A49A3-9DA2-4D45-A446-CF90397183CE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E0C67-D343-B4D8-B64E-870DE001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2D176-E328-7666-65F7-3006303E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66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C2EF-DD2E-6329-1FBE-5F4116EC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65BFB-723C-F6DC-A834-DC2EC1C9C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BD302-B274-449C-B84B-7EBDD396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FD691-84FE-4E6F-8221-444318F94328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BA8E2-A1B0-86FC-26AC-01E240E2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3BB50-2AD7-CE5F-A119-CB991E89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7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D6F4-2925-DF46-3BB4-BC65E4708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9D617-EC28-8C8B-1BA8-B0C33E128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EAF22-FE77-5F4F-A503-91DFD815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C3A8B-02BA-4A76-BE1E-ADF22034DB53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7A079-C317-BD70-2040-D00A8A2E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E731B-04C8-C08F-B203-F54DBCB4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5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207C-3E3F-8B29-3989-86B8B4EE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E362-8FCA-820A-2D1E-3139868C9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5EAD4-D538-A9CB-B5E5-B34ADEEAF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6528C-6F59-4647-D403-39E3A993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8D89-587B-412B-9ABC-9CABB7C052D0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AA0C0-135E-FF9C-0CF5-04E08F00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C7062-1169-E84C-E474-C9E88953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7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A028-6DB4-5441-0191-EA039604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F28E3-B8CC-653E-B71E-7A6160CEF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84CDB-D5BB-C7E0-89C5-7FF0E5726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44BF9-267D-A8F7-62D8-0B69C7F3B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81FEC-8EBC-7604-DA1E-EA41DE9CA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9883B3-32D8-2FE4-CB23-10B8966E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57D5-0935-4A06-BE84-CA2FA0828D0E}" type="datetime1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91098-9692-8544-30BC-C11134CA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031B-3393-EAE8-E1F2-9ED6935B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37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098A-051C-D7ED-AFE8-B0B22F7F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EECE7-A6D9-18D3-5A25-ADEE4B7D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35D4A-919E-4FE9-BBD7-F23C1FF1891E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2DACF-8E7D-6313-984B-7BFDA04E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0D0EF-D6FF-B9CE-1EAD-22592541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29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711A37-2ED4-E1F9-3131-37463AC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8DCB-0B1D-4F01-A6FB-254D1E422BCF}" type="datetime1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3BD59-A84A-5D2A-048B-1943A840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C3F10-473D-14B5-B04F-C5DB4299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0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A5B1-6B7F-81DF-49F0-F550F313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0102F-63AA-3512-40A3-07C21EFED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CD8C0-5B2E-952C-BF8C-4D5861B16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60B9A-CEEA-F1F7-3FD6-5EB8532EA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8AED-3B9F-4E86-A315-F232ED2DDBEF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383C5-5428-E253-F86D-7164CB6A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7121B-AE5E-A274-887B-3E0B5ABD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3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9883-0E5E-A9A1-8102-137C32D9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4278B-58A8-F45C-78AF-0C79528C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148B0-CA76-289A-7161-6AC61525D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E2AA5-12F8-0992-5C21-F6A64FD6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AB05-AF91-4456-A91D-7E74DADEF310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7D6D-7233-CF70-E219-A7052EDC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EA033-79E0-0275-40E8-814815DC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69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A650-C1FD-ECBD-5983-1F434E87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1C594-38AA-B9F2-A254-CA06A19D1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4DD4-8F10-6323-D520-6C8719C6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B147-176B-498C-AE30-B838BCB21945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F8542-95F9-8A6D-3380-96860A97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D3FDF-9ACC-0EAF-792B-7C27D7BA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3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D1113B-AE1F-51DB-661B-02BA9667D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BDFE6-57DF-8510-50BC-BEC30D8F1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F9C03-401C-7677-DB17-57456CF9E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C2B7-8EE1-4A4C-AA42-464850FCF731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1FC40-32E9-4E14-33EF-9BDFFAD4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1C8D3-947C-167D-72F1-C974D951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89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484" y="198439"/>
            <a:ext cx="11529483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83633" y="1627188"/>
            <a:ext cx="11641667" cy="241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633" y="4192588"/>
            <a:ext cx="11641667" cy="241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240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A6027-D438-EB00-E5CF-8BD46C78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64048-E46C-7A43-F03D-B56DD8F6C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DBA4C-9C40-5F90-F9CC-91F0CDC5F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49D0E-471E-474B-BE74-F1046A807481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6F0B2-69A0-6A51-EB67-170E5B2EC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5DE01-E76D-8793-2D92-18236D44A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ACEFA-6086-4379-97E2-D23716C82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58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902208" y="619761"/>
            <a:ext cx="10668000" cy="147002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3200C0"/>
                </a:solidFill>
                <a:latin typeface="Arial" charset="0"/>
                <a:cs typeface="Arial" charset="0"/>
              </a:rPr>
              <a:t>Signals and Communication Systems (24EC2105)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099312" y="3308095"/>
            <a:ext cx="10668000" cy="84023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4400" dirty="0">
                <a:solidFill>
                  <a:srgbClr val="FF0000"/>
                </a:solidFill>
                <a:latin typeface="Arial" charset="0"/>
                <a:cs typeface="Arial" charset="0"/>
              </a:rPr>
              <a:t>Introduction to  Communication Systems</a:t>
            </a:r>
            <a:r>
              <a:rPr 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067560" y="27178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038726"/>
                </a:solidFill>
                <a:latin typeface="Arial" charset="0"/>
                <a:cs typeface="Arial" charset="0"/>
              </a:rPr>
              <a:t>Introduction </a:t>
            </a:r>
            <a:r>
              <a:rPr lang="en-US" sz="4000" dirty="0">
                <a:solidFill>
                  <a:srgbClr val="3200C0"/>
                </a:solidFill>
                <a:latin typeface="Arial" charset="0"/>
                <a:cs typeface="Arial" charset="0"/>
              </a:rPr>
              <a:t>to </a:t>
            </a:r>
            <a:br>
              <a:rPr lang="en-US" sz="4000" dirty="0">
                <a:solidFill>
                  <a:srgbClr val="038726"/>
                </a:solidFill>
                <a:latin typeface="Arial" charset="0"/>
                <a:cs typeface="Arial" charset="0"/>
              </a:rPr>
            </a:br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Analog Communications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67C5E-9424-D7E2-4797-92EB60DE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93507-C04B-45BD-A9D2-22E7116C2440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7AAC4-E10D-F53F-EC3A-BBB789CF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981200" y="228601"/>
            <a:ext cx="8229600" cy="7159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219201"/>
            <a:ext cx="11663680" cy="5410198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What is Communication?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Communication Engineering is one of areas of Electrical Engineering that is concerned with the transfer of information from one location to another location. 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Communication Systems </a:t>
            </a:r>
            <a:r>
              <a:rPr lang="en-US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use electrical / electronic energy to </a:t>
            </a: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transmit</a:t>
            </a:r>
            <a:r>
              <a:rPr lang="en-US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 information.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Electrical Energy can be transmitted</a:t>
            </a:r>
          </a:p>
          <a:p>
            <a:pPr marL="514350" indent="-514350">
              <a:buNone/>
              <a:defRPr/>
            </a:pP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      1. Directly over wire line</a:t>
            </a:r>
          </a:p>
          <a:p>
            <a:pPr marL="514350" indent="-514350">
              <a:buNone/>
              <a:defRPr/>
            </a:pP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2. Radiated into the atmosphere</a:t>
            </a: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, or</a:t>
            </a:r>
          </a:p>
          <a:p>
            <a:pPr marL="514350" indent="-514350">
              <a:buNone/>
              <a:defRPr/>
            </a:pP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3. Transmitted via Satellite.</a:t>
            </a:r>
          </a:p>
          <a:p>
            <a:pPr marL="514350" indent="-514350">
              <a:buNone/>
              <a:defRPr/>
            </a:pPr>
            <a:endParaRPr lang="en-US" dirty="0">
              <a:solidFill>
                <a:srgbClr val="3200C0"/>
              </a:solidFill>
            </a:endParaRPr>
          </a:p>
          <a:p>
            <a:pPr>
              <a:buFont typeface="Arial" pitchFamily="34" charset="0"/>
              <a:buNone/>
              <a:defRPr/>
            </a:pPr>
            <a:endParaRPr lang="en-US" dirty="0">
              <a:solidFill>
                <a:srgbClr val="3200C0"/>
              </a:solidFill>
            </a:endParaRPr>
          </a:p>
          <a:p>
            <a:pPr>
              <a:buFont typeface="Arial" pitchFamily="34" charset="0"/>
              <a:buNone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0EAFC-163A-4E0E-63CB-B9C167E89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3AAF-B219-48AD-B084-E9CB092B4C90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46D97-BB29-8D90-93ED-F89D75DF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Communication Systems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2362200" y="5334000"/>
            <a:ext cx="7003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0000FF"/>
              </a:buClr>
              <a:buSzPct val="95000"/>
              <a:buFont typeface="Wingdings" pitchFamily="2" charset="2"/>
              <a:buNone/>
            </a:pPr>
            <a:r>
              <a:rPr lang="en-US" sz="2800">
                <a:solidFill>
                  <a:srgbClr val="3200C0"/>
                </a:solidFill>
              </a:rPr>
              <a:t>A general model of all communication systems</a:t>
            </a:r>
            <a:r>
              <a:rPr lang="en-US"/>
              <a:t>.</a:t>
            </a:r>
          </a:p>
        </p:txBody>
      </p:sp>
      <p:pic>
        <p:nvPicPr>
          <p:cNvPr id="12292" name="Picture 5" descr="fre07042_010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89089" y="1752600"/>
            <a:ext cx="8924925" cy="3581400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1430E5-FD47-9D2A-0045-D6BD122D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6A760-FFD2-431B-805D-39602BC2EAA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805E2-B611-3A20-98A0-872F555B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981200" y="107950"/>
            <a:ext cx="8229600" cy="882650"/>
          </a:xfrm>
        </p:spPr>
        <p:txBody>
          <a:bodyPr/>
          <a:lstStyle/>
          <a:p>
            <a:r>
              <a:rPr lang="en-US">
                <a:solidFill>
                  <a:srgbClr val="3200C0"/>
                </a:solidFill>
              </a:rPr>
              <a:t>Applications of Commn. Systems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524000" y="1143000"/>
            <a:ext cx="9144000" cy="5715000"/>
          </a:xfrm>
        </p:spPr>
        <p:txBody>
          <a:bodyPr/>
          <a:lstStyle/>
          <a:p>
            <a:pPr marL="514350" indent="-514350">
              <a:buFont typeface="Calibri" pitchFamily="34" charset="0"/>
              <a:buAutoNum type="arabicPeriod"/>
            </a:pPr>
            <a:r>
              <a:rPr lang="en-US">
                <a:solidFill>
                  <a:srgbClr val="FF0000"/>
                </a:solidFill>
              </a:rPr>
              <a:t>Telephone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/>
              <a:t>Radio and </a:t>
            </a:r>
            <a:r>
              <a:rPr lang="en-US">
                <a:solidFill>
                  <a:srgbClr val="024614"/>
                </a:solidFill>
              </a:rPr>
              <a:t>Television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>
                <a:solidFill>
                  <a:srgbClr val="3200C0"/>
                </a:solidFill>
              </a:rPr>
              <a:t>Cable TV (Including HDTV)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/>
              <a:t>Wireless personal communications (</a:t>
            </a:r>
            <a:r>
              <a:rPr lang="en-US">
                <a:solidFill>
                  <a:srgbClr val="FF0000"/>
                </a:solidFill>
              </a:rPr>
              <a:t>Cellular phones, Beepers, Pagers et.,</a:t>
            </a:r>
            <a:r>
              <a:rPr lang="en-US"/>
              <a:t>)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>
                <a:solidFill>
                  <a:srgbClr val="3200C0"/>
                </a:solidFill>
              </a:rPr>
              <a:t>Internet.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/>
              <a:t>Computer Networks </a:t>
            </a:r>
            <a:r>
              <a:rPr lang="en-US">
                <a:solidFill>
                  <a:srgbClr val="FF0000"/>
                </a:solidFill>
              </a:rPr>
              <a:t>(</a:t>
            </a:r>
            <a:r>
              <a:rPr lang="en-US">
                <a:solidFill>
                  <a:srgbClr val="024614"/>
                </a:solidFill>
              </a:rPr>
              <a:t>LAN and WAN</a:t>
            </a:r>
            <a:r>
              <a:rPr lang="en-US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>
                <a:solidFill>
                  <a:srgbClr val="FF0000"/>
                </a:solidFill>
              </a:rPr>
              <a:t>Satellite / Deep space communication </a:t>
            </a:r>
            <a:r>
              <a:rPr lang="en-US">
                <a:solidFill>
                  <a:srgbClr val="3200C0"/>
                </a:solidFill>
              </a:rPr>
              <a:t>(</a:t>
            </a:r>
            <a:r>
              <a:rPr lang="en-US"/>
              <a:t>Telemetry</a:t>
            </a:r>
            <a:r>
              <a:rPr lang="en-US">
                <a:solidFill>
                  <a:srgbClr val="3200C0"/>
                </a:solidFill>
              </a:rPr>
              <a:t>)</a:t>
            </a:r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>
                <a:solidFill>
                  <a:srgbClr val="3200C0"/>
                </a:solidFill>
              </a:rPr>
              <a:t>Under water communications.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A0F99-AA34-FCAC-E2BE-097FC89A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73AA8-66FB-4AAC-A04E-E10625CC7B31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6C44-1FFF-1A48-89D1-FBD38A66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0500" y="47626"/>
            <a:ext cx="9207500" cy="681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CF543-FC0D-2169-EA66-CDAB301E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B3A6-A507-4DBF-8E5E-9C8AD16760A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7F570-8C51-C68D-8B27-8A0B36F3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524000" y="69851"/>
            <a:ext cx="9144000" cy="715963"/>
          </a:xfrm>
        </p:spPr>
        <p:txBody>
          <a:bodyPr/>
          <a:lstStyle/>
          <a:p>
            <a:r>
              <a:rPr lang="en-US">
                <a:solidFill>
                  <a:srgbClr val="3200C0"/>
                </a:solidFill>
                <a:latin typeface="Arial" charset="0"/>
                <a:cs typeface="Arial" charset="0"/>
              </a:rPr>
              <a:t>Basic</a:t>
            </a:r>
            <a:r>
              <a:rPr lang="en-US">
                <a:latin typeface="Arial" charset="0"/>
                <a:cs typeface="Arial" charset="0"/>
              </a:rPr>
              <a:t> 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Communication </a:t>
            </a:r>
            <a:r>
              <a:rPr lang="en-US">
                <a:latin typeface="Arial" charset="0"/>
                <a:cs typeface="Arial" charset="0"/>
              </a:rPr>
              <a:t>System</a:t>
            </a:r>
            <a:endParaRPr 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77520" y="5191759"/>
            <a:ext cx="11338560" cy="1596389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z="2200" b="1" dirty="0">
                <a:solidFill>
                  <a:srgbClr val="FF0000"/>
                </a:solidFill>
                <a:latin typeface="Arial" charset="0"/>
                <a:cs typeface="Arial" charset="0"/>
              </a:rPr>
              <a:t>Three basic elements: </a:t>
            </a:r>
          </a:p>
          <a:p>
            <a:pPr>
              <a:lnSpc>
                <a:spcPct val="110000"/>
              </a:lnSpc>
              <a:buFont typeface="Arial" charset="0"/>
              <a:buNone/>
            </a:pPr>
            <a:r>
              <a:rPr lang="en-US" sz="2200" b="1" dirty="0">
                <a:solidFill>
                  <a:srgbClr val="3200C0"/>
                </a:solidFill>
                <a:latin typeface="Arial" charset="0"/>
                <a:cs typeface="Arial" charset="0"/>
              </a:rPr>
              <a:t>Transmitter:</a:t>
            </a:r>
            <a:r>
              <a:rPr lang="en-US" sz="2200" b="1" dirty="0">
                <a:latin typeface="Arial" charset="0"/>
                <a:cs typeface="Arial" charset="0"/>
              </a:rPr>
              <a:t> </a:t>
            </a:r>
            <a:r>
              <a:rPr lang="en-US" sz="2200" b="1" dirty="0">
                <a:solidFill>
                  <a:srgbClr val="002060"/>
                </a:solidFill>
                <a:latin typeface="Arial" charset="0"/>
                <a:cs typeface="Arial" charset="0"/>
              </a:rPr>
              <a:t>Converts message into a form suitable for transmission.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Arial" charset="0"/>
              <a:buNone/>
            </a:pPr>
            <a:r>
              <a:rPr lang="en-US" sz="2200" b="1" dirty="0">
                <a:solidFill>
                  <a:srgbClr val="024614"/>
                </a:solidFill>
                <a:latin typeface="Arial" charset="0"/>
                <a:cs typeface="Arial" charset="0"/>
              </a:rPr>
              <a:t>Channel:      </a:t>
            </a:r>
            <a:r>
              <a:rPr lang="en-US" sz="2200" b="1" dirty="0">
                <a:solidFill>
                  <a:srgbClr val="FF0000"/>
                </a:solidFill>
                <a:latin typeface="Arial" charset="0"/>
                <a:cs typeface="Arial" charset="0"/>
              </a:rPr>
              <a:t>The physical medium, introduces distortion, noise, interference.</a:t>
            </a:r>
          </a:p>
          <a:p>
            <a:pPr>
              <a:lnSpc>
                <a:spcPct val="110000"/>
              </a:lnSpc>
              <a:buFont typeface="Arial" charset="0"/>
              <a:buNone/>
            </a:pPr>
            <a:r>
              <a:rPr lang="en-US" sz="2200" b="1" dirty="0">
                <a:latin typeface="Arial" charset="0"/>
                <a:cs typeface="Arial" charset="0"/>
              </a:rPr>
              <a:t>Receiver:     </a:t>
            </a:r>
            <a:r>
              <a:rPr lang="en-US" sz="2200" b="1" dirty="0">
                <a:solidFill>
                  <a:srgbClr val="024614"/>
                </a:solidFill>
                <a:latin typeface="Arial" charset="0"/>
                <a:cs typeface="Arial" charset="0"/>
              </a:rPr>
              <a:t>Reconstruct a recognizable form of the message.</a:t>
            </a:r>
            <a:endParaRPr lang="en-US" sz="2200" dirty="0">
              <a:solidFill>
                <a:srgbClr val="024614"/>
              </a:solidFill>
              <a:latin typeface="Arial" charset="0"/>
              <a:cs typeface="Arial" charset="0"/>
            </a:endParaRPr>
          </a:p>
          <a:p>
            <a:endParaRPr lang="en-US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990601"/>
            <a:ext cx="8191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838201"/>
            <a:ext cx="8769350" cy="4302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0DBEA-AA2F-B91C-46F0-7EA21BCD0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05791-4139-4A37-AC64-29F792B1425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386CB-3536-E6F4-170C-D7A8861B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2438400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Modulation </a:t>
            </a:r>
            <a:r>
              <a:rPr lang="en-US">
                <a:solidFill>
                  <a:srgbClr val="024614"/>
                </a:solidFill>
                <a:latin typeface="Arial" charset="0"/>
                <a:cs typeface="Arial" charset="0"/>
              </a:rPr>
              <a:t>and</a:t>
            </a:r>
            <a:r>
              <a:rPr lang="en-US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>
                <a:solidFill>
                  <a:srgbClr val="3200C0"/>
                </a:solidFill>
                <a:latin typeface="Arial" charset="0"/>
                <a:cs typeface="Arial" charset="0"/>
              </a:rPr>
              <a:t>Demodulation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FA79E-5775-02B1-B68F-A58E5EBF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EB5CE-763D-40B5-8BDE-CED98DD9B26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74A02-F684-B9E4-A506-35B48A89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685926" y="-83342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charset="0"/>
                <a:cs typeface="Arial" charset="0"/>
              </a:rPr>
              <a:t>Modulation and Demodulation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18435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" y="1296514"/>
            <a:ext cx="11861481" cy="4025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Box 3"/>
          <p:cNvSpPr txBox="1">
            <a:spLocks noChangeArrowheads="1"/>
          </p:cNvSpPr>
          <p:nvPr/>
        </p:nvSpPr>
        <p:spPr bwMode="auto">
          <a:xfrm>
            <a:off x="1685926" y="785020"/>
            <a:ext cx="2743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Transmitter</a:t>
            </a:r>
          </a:p>
        </p:txBody>
      </p:sp>
      <p:sp>
        <p:nvSpPr>
          <p:cNvPr id="18437" name="TextBox 4"/>
          <p:cNvSpPr txBox="1">
            <a:spLocks noChangeArrowheads="1"/>
          </p:cNvSpPr>
          <p:nvPr/>
        </p:nvSpPr>
        <p:spPr bwMode="auto">
          <a:xfrm>
            <a:off x="7172326" y="741683"/>
            <a:ext cx="2743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Receiver</a:t>
            </a:r>
          </a:p>
        </p:txBody>
      </p:sp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4641852" y="958907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3200C0"/>
                </a:solidFill>
              </a:rPr>
              <a:t>Channel</a:t>
            </a:r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auto">
          <a:xfrm>
            <a:off x="335120" y="5657481"/>
            <a:ext cx="112420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2005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 is a process that convert a message signal into a suitable form to transmit over a long distance through a communication channel.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A1677-99F7-D8FE-6508-A0919144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3E9-2BFC-47E1-8408-910C3CD45605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BCEB6-7310-44B9-65C0-33AD05BF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38726"/>
                </a:solidFill>
                <a:latin typeface="Arial" charset="0"/>
                <a:cs typeface="Arial" charset="0"/>
              </a:rPr>
              <a:t>Modulation</a:t>
            </a:r>
            <a:endParaRPr lang="en-US" sz="4000" dirty="0">
              <a:solidFill>
                <a:srgbClr val="038726"/>
              </a:solidFill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82879" y="609600"/>
            <a:ext cx="11826240" cy="5638800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3200C0"/>
                </a:solidFill>
                <a:latin typeface="Arial" charset="0"/>
                <a:cs typeface="Arial" charset="0"/>
              </a:rPr>
              <a:t>The purpose of modulation is to convert the signal into a suitable form to match the transmission medium.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charset="0"/>
                <a:cs typeface="Arial" charset="0"/>
              </a:rPr>
              <a:t>This is necessary because the message signal being a low frequency signal, that cannot be transmitted efficiently over the channel directly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.</a:t>
            </a:r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0690" y="2135447"/>
            <a:ext cx="8750617" cy="4407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4BF3F-1ED6-0015-806B-933C372E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8D3E4-394A-461A-BE57-38FFB56DE0F6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51CC1-B19C-BA00-4650-89BECC0E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981200" y="152401"/>
            <a:ext cx="8229600" cy="792163"/>
          </a:xfrm>
        </p:spPr>
        <p:txBody>
          <a:bodyPr/>
          <a:lstStyle/>
          <a:p>
            <a:r>
              <a:rPr lang="en-US" sz="4000">
                <a:solidFill>
                  <a:srgbClr val="3200C0"/>
                </a:solidFill>
                <a:latin typeface="Arial" charset="0"/>
                <a:cs typeface="Arial" charset="0"/>
              </a:rPr>
              <a:t>Need for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80" y="1143001"/>
            <a:ext cx="11694160" cy="5135563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There are various reasons why modulation is necessary in electronic communication systems.</a:t>
            </a:r>
          </a:p>
          <a:p>
            <a:pPr>
              <a:buFont typeface="Arial" charset="0"/>
              <a:buNone/>
              <a:defRPr/>
            </a:pPr>
            <a:endParaRPr lang="en-US" sz="27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Arial" charset="0"/>
              <a:buAutoNum type="alphaLcParenBoth"/>
              <a:defRPr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Ease of Radiation / Transmission: </a:t>
            </a:r>
            <a:r>
              <a:rPr lang="en-US" dirty="0">
                <a:latin typeface="Arial" pitchFamily="34" charset="0"/>
                <a:cs typeface="Arial" pitchFamily="34" charset="0"/>
              </a:rPr>
              <a:t>It is extremely difficult to radiate low frequency signals from an antenna in the form of electromagnetic energy.</a:t>
            </a:r>
          </a:p>
          <a:p>
            <a:pPr marL="514350" indent="-514350"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For efficient radiation of electromagnetic energy, the radiating antenna should be in the order of a fraction or more of the wavelength of the driving signals. </a:t>
            </a:r>
          </a:p>
          <a:p>
            <a:pPr marL="514350" indent="-514350"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024614"/>
                </a:solidFill>
                <a:latin typeface="Arial" pitchFamily="34" charset="0"/>
                <a:cs typeface="Arial" pitchFamily="34" charset="0"/>
              </a:rPr>
              <a:t>For many baseband signals, the wavelengths are too large for reasonable antenna dimensions.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B61AC8-5580-2D80-6C35-9FFB9D2E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55EB-A25C-4E56-9AD6-BE930677625C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B6031-F89D-A368-6371-8957AD2C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8"/>
            <a:ext cx="8229600" cy="538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9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Electromagnetic Spectrum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752601" y="4550527"/>
            <a:ext cx="746749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 dirty="0"/>
              <a:t>Frequency and wavelength</a:t>
            </a:r>
            <a:r>
              <a:rPr lang="en-US" sz="2200" b="1" dirty="0">
                <a:solidFill>
                  <a:srgbClr val="FF0000"/>
                </a:solidFill>
              </a:rPr>
              <a:t>. (a) </a:t>
            </a:r>
            <a:r>
              <a:rPr lang="en-US" sz="2200" b="1" dirty="0">
                <a:solidFill>
                  <a:srgbClr val="024614"/>
                </a:solidFill>
              </a:rPr>
              <a:t>One cycle</a:t>
            </a:r>
            <a:r>
              <a:rPr lang="en-US" sz="2200" b="1" dirty="0">
                <a:solidFill>
                  <a:srgbClr val="FF0000"/>
                </a:solidFill>
              </a:rPr>
              <a:t>. (b) </a:t>
            </a:r>
            <a:r>
              <a:rPr lang="en-US" sz="2200" b="1" dirty="0">
                <a:solidFill>
                  <a:srgbClr val="024614"/>
                </a:solidFill>
              </a:rPr>
              <a:t>One wavelength</a:t>
            </a:r>
            <a:r>
              <a:rPr lang="en-US" dirty="0"/>
              <a:t>.</a:t>
            </a:r>
          </a:p>
        </p:txBody>
      </p:sp>
      <p:pic>
        <p:nvPicPr>
          <p:cNvPr id="21508" name="Picture 4" descr="fre07042_011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64160" y="956532"/>
            <a:ext cx="11892855" cy="3593995"/>
          </a:xfrm>
          <a:noFill/>
        </p:spPr>
      </p:pic>
      <p:sp>
        <p:nvSpPr>
          <p:cNvPr id="21509" name="TextBox 4"/>
          <p:cNvSpPr txBox="1">
            <a:spLocks noChangeArrowheads="1"/>
          </p:cNvSpPr>
          <p:nvPr/>
        </p:nvSpPr>
        <p:spPr bwMode="auto">
          <a:xfrm>
            <a:off x="1595120" y="381713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    One Cycle</a:t>
            </a:r>
          </a:p>
        </p:txBody>
      </p:sp>
      <p:sp>
        <p:nvSpPr>
          <p:cNvPr id="21510" name="TextBox 5"/>
          <p:cNvSpPr txBox="1">
            <a:spLocks noChangeArrowheads="1"/>
          </p:cNvSpPr>
          <p:nvPr/>
        </p:nvSpPr>
        <p:spPr bwMode="auto">
          <a:xfrm>
            <a:off x="7091680" y="913641"/>
            <a:ext cx="1981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One wavelength</a:t>
            </a:r>
            <a:endParaRPr lang="en-US" dirty="0"/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264160" y="5129480"/>
            <a:ext cx="1166368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crests per second is called frequency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‘ </a:t>
            </a:r>
            <a:r>
              <a:rPr lang="en-US" sz="24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wave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distance between successive crests is called Wavelength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two are related by an equation </a:t>
            </a:r>
            <a:r>
              <a:rPr lang="en-US" sz="3200" i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i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</a:t>
            </a:r>
            <a:r>
              <a:rPr lang="el-GR" sz="2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2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2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 X 10</a:t>
            </a:r>
            <a:r>
              <a:rPr lang="en-US" sz="2400" baseline="30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  </a:t>
            </a:r>
            <a:r>
              <a:rPr lang="en-US" sz="24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velocity of light.</a:t>
            </a:r>
            <a:endParaRPr lang="en-US" sz="2400" i="1" dirty="0">
              <a:solidFill>
                <a:srgbClr val="02461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10D92-3ABE-22D4-346C-7D9D8448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820F-5E62-4BA9-ABF3-4EBD31B2D064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C628E-CA56-365B-9D17-F6013946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" y="44452"/>
            <a:ext cx="8229600" cy="868362"/>
          </a:xfrm>
        </p:spPr>
        <p:txBody>
          <a:bodyPr/>
          <a:lstStyle/>
          <a:p>
            <a:pPr eaLnBrk="1" hangingPunct="1"/>
            <a:r>
              <a:rPr lang="en-US" sz="3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Electromagnetic Spectrum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36750" y="1600200"/>
            <a:ext cx="8731250" cy="497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>
              <a:cs typeface="Times New Roman" pitchFamily="18" charset="0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52120" y="3582612"/>
            <a:ext cx="1083564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/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1"/>
            <a:r>
              <a:rPr 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wavelength of a signal if it’s frequency is 4MHz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16280" y="958544"/>
            <a:ext cx="8915400" cy="88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95000"/>
              <a:buFont typeface="Wingdings" pitchFamily="2" charset="2"/>
              <a:buNone/>
            </a:pPr>
            <a:r>
              <a:rPr lang="en-US" sz="27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Wavelength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700" dirty="0"/>
          </a:p>
        </p:txBody>
      </p:sp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1936750" y="1372241"/>
            <a:ext cx="8915400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Wavelength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sz="2800" i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 of light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frequency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 of light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× 10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meters/second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Therefore: </a:t>
            </a:r>
            <a:r>
              <a:rPr lang="el-GR" sz="2800" i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3 × 10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2535" name="Text Box 10"/>
          <p:cNvSpPr txBox="1">
            <a:spLocks noChangeArrowheads="1"/>
          </p:cNvSpPr>
          <p:nvPr/>
        </p:nvSpPr>
        <p:spPr bwMode="auto">
          <a:xfrm>
            <a:off x="817880" y="4919028"/>
            <a:ext cx="8915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95000"/>
              <a:buFont typeface="Wingdings" pitchFamily="2" charset="2"/>
              <a:buNone/>
            </a:pPr>
            <a:r>
              <a:rPr lang="el-GR" sz="2800" i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3 × 10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/ 4 MHz 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95000"/>
              <a:buFont typeface="Wingdings" pitchFamily="2" charset="2"/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 meters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(m)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19701-BCED-2415-BD51-658392C5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7D80-690B-4A2F-9BE1-F1D777E32328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3646D-EE90-689E-9666-73969296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>
          <a:xfrm>
            <a:off x="198121" y="43934"/>
            <a:ext cx="8647113" cy="762000"/>
          </a:xfrm>
        </p:spPr>
        <p:txBody>
          <a:bodyPr/>
          <a:lstStyle/>
          <a:p>
            <a:r>
              <a:rPr lang="en-US" sz="3600" dirty="0">
                <a:solidFill>
                  <a:srgbClr val="038726"/>
                </a:solidFill>
                <a:latin typeface="Arial" charset="0"/>
                <a:cs typeface="Arial" charset="0"/>
              </a:rPr>
              <a:t>Ease of Radiation</a:t>
            </a:r>
            <a:endParaRPr lang="en-US" sz="3600" dirty="0">
              <a:solidFill>
                <a:srgbClr val="038726"/>
              </a:solidFill>
            </a:endParaRPr>
          </a:p>
        </p:txBody>
      </p:sp>
      <p:sp>
        <p:nvSpPr>
          <p:cNvPr id="1030" name="TextBox 3"/>
          <p:cNvSpPr txBox="1">
            <a:spLocks noChangeArrowheads="1"/>
          </p:cNvSpPr>
          <p:nvPr/>
        </p:nvSpPr>
        <p:spPr bwMode="auto">
          <a:xfrm>
            <a:off x="543560" y="736343"/>
            <a:ext cx="11272520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Coupling of EM wave into space: </a:t>
            </a:r>
            <a:r>
              <a:rPr 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Antenna size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versus  </a:t>
            </a:r>
            <a:r>
              <a:rPr 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wavelength</a:t>
            </a: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solidFill>
                <a:srgbClr val="FF0000"/>
              </a:solidFill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3733800" y="1905000"/>
          <a:ext cx="3989388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7200" imgH="431800" progId="Equation.DSMT4">
                  <p:embed/>
                </p:oleObj>
              </mc:Choice>
              <mc:Fallback>
                <p:oleObj name="Equation" r:id="rId2" imgW="1727200" imgH="431800" progId="Equation.DSMT4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05000"/>
                        <a:ext cx="3989388" cy="992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11"/>
          <p:cNvSpPr>
            <a:spLocks noChangeArrowheads="1"/>
          </p:cNvSpPr>
          <p:nvPr/>
        </p:nvSpPr>
        <p:spPr bwMode="auto">
          <a:xfrm>
            <a:off x="1676400" y="2133600"/>
            <a:ext cx="19141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3200C0"/>
                </a:solidFill>
              </a:rPr>
              <a:t>For 100 Hz: </a:t>
            </a:r>
          </a:p>
        </p:txBody>
      </p:sp>
      <p:sp>
        <p:nvSpPr>
          <p:cNvPr id="1033" name="Rectangle 12"/>
          <p:cNvSpPr>
            <a:spLocks noChangeArrowheads="1"/>
          </p:cNvSpPr>
          <p:nvPr/>
        </p:nvSpPr>
        <p:spPr bwMode="auto">
          <a:xfrm>
            <a:off x="345633" y="1364744"/>
            <a:ext cx="56220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 signal: 100 Hz to 3000 Hz</a:t>
            </a:r>
          </a:p>
        </p:txBody>
      </p:sp>
      <p:sp>
        <p:nvSpPr>
          <p:cNvPr id="1034" name="Rectangle 13"/>
          <p:cNvSpPr>
            <a:spLocks noChangeArrowheads="1"/>
          </p:cNvSpPr>
          <p:nvPr/>
        </p:nvSpPr>
        <p:spPr bwMode="auto">
          <a:xfrm>
            <a:off x="1524001" y="3048000"/>
            <a:ext cx="19189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3200C0"/>
                </a:solidFill>
              </a:rPr>
              <a:t>For 3000 Hz</a:t>
            </a:r>
          </a:p>
        </p:txBody>
      </p:sp>
      <p:sp>
        <p:nvSpPr>
          <p:cNvPr id="1035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7" name="Object 7"/>
          <p:cNvGraphicFramePr>
            <a:graphicFrameLocks noChangeAspect="1"/>
          </p:cNvGraphicFramePr>
          <p:nvPr/>
        </p:nvGraphicFramePr>
        <p:xfrm>
          <a:off x="3886201" y="2819401"/>
          <a:ext cx="3630613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7589" imgH="431613" progId="Equation.DSMT4">
                  <p:embed/>
                </p:oleObj>
              </mc:Choice>
              <mc:Fallback>
                <p:oleObj name="Equation" r:id="rId4" imgW="1637589" imgH="431613" progId="Equation.DSMT4">
                  <p:embed/>
                  <p:pic>
                    <p:nvPicPr>
                      <p:cNvPr id="10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819401"/>
                        <a:ext cx="3630613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TextBox 16"/>
          <p:cNvSpPr txBox="1">
            <a:spLocks noChangeArrowheads="1"/>
          </p:cNvSpPr>
          <p:nvPr/>
        </p:nvSpPr>
        <p:spPr bwMode="auto">
          <a:xfrm>
            <a:off x="1234440" y="3854451"/>
            <a:ext cx="8382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Antenna size of this length Practically Impossible</a:t>
            </a:r>
          </a:p>
        </p:txBody>
      </p:sp>
      <p:sp>
        <p:nvSpPr>
          <p:cNvPr id="1037" name="TextBox 17"/>
          <p:cNvSpPr txBox="1">
            <a:spLocks noChangeArrowheads="1"/>
          </p:cNvSpPr>
          <p:nvPr/>
        </p:nvSpPr>
        <p:spPr bwMode="auto">
          <a:xfrm>
            <a:off x="613092" y="4572657"/>
            <a:ext cx="11578908" cy="195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With modulation by high frequency say for example 10 MHz carrier wave, the antenna size is nearly 3 meters for (          )  practically feasible.</a:t>
            </a:r>
          </a:p>
        </p:txBody>
      </p:sp>
      <p:sp>
        <p:nvSpPr>
          <p:cNvPr id="1038" name="Rectangle 13"/>
          <p:cNvSpPr>
            <a:spLocks noChangeArrowheads="1"/>
          </p:cNvSpPr>
          <p:nvPr/>
        </p:nvSpPr>
        <p:spPr bwMode="auto">
          <a:xfrm>
            <a:off x="16764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220756"/>
              </p:ext>
            </p:extLst>
          </p:nvPr>
        </p:nvGraphicFramePr>
        <p:xfrm>
          <a:off x="8049579" y="5441982"/>
          <a:ext cx="881061" cy="429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140" imgH="177723" progId="Equation.DSMT4">
                  <p:embed/>
                </p:oleObj>
              </mc:Choice>
              <mc:Fallback>
                <p:oleObj name="Equation" r:id="rId6" imgW="368140" imgH="177723" progId="Equation.DSMT4">
                  <p:embed/>
                  <p:pic>
                    <p:nvPicPr>
                      <p:cNvPr id="10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9579" y="5441982"/>
                        <a:ext cx="881061" cy="4295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9" name="Picture 16" descr="http://upload.wikimedia.org/wikibooks/en/1/1b/Yagi.g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877300" y="1442711"/>
            <a:ext cx="29718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/>
      <p:bldP spid="1033" grpId="0"/>
      <p:bldP spid="1034" grpId="0"/>
      <p:bldP spid="1036" grpId="0"/>
      <p:bldP spid="10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228600" y="213678"/>
            <a:ext cx="11963400" cy="649922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Arial" charset="0"/>
                <a:cs typeface="Arial" charset="0"/>
              </a:rPr>
              <a:t>(b) Multiplexing: </a:t>
            </a:r>
            <a:r>
              <a:rPr lang="en-US" sz="3200" dirty="0">
                <a:solidFill>
                  <a:srgbClr val="3200C0"/>
                </a:solidFill>
                <a:latin typeface="Arial" charset="0"/>
                <a:cs typeface="Arial" charset="0"/>
              </a:rPr>
              <a:t>Simultaneous Transmission of Multiple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863600"/>
            <a:ext cx="11734800" cy="4953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charset="0"/>
                <a:cs typeface="Arial" charset="0"/>
              </a:rPr>
              <a:t>Modulation allows multiple signals to be transmitted simultaneously between two points.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Modulation schemes enable one to multiplex a number of signals at the same time in a single channel without any interference themselves.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This multiplexing scheme is utilized in long distance telephony, data telemetry etc.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57D4E-1F73-7A94-F719-235747858983}"/>
              </a:ext>
            </a:extLst>
          </p:cNvPr>
          <p:cNvSpPr txBox="1">
            <a:spLocks/>
          </p:cNvSpPr>
          <p:nvPr/>
        </p:nvSpPr>
        <p:spPr>
          <a:xfrm>
            <a:off x="127000" y="3596641"/>
            <a:ext cx="8229600" cy="548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" charset="0"/>
                <a:cs typeface="Arial" charset="0"/>
              </a:rPr>
              <a:t>(c) Reduction of Noise: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E03662-46AD-D46B-FA63-3E7AC40E279D}"/>
              </a:ext>
            </a:extLst>
          </p:cNvPr>
          <p:cNvSpPr txBox="1">
            <a:spLocks/>
          </p:cNvSpPr>
          <p:nvPr/>
        </p:nvSpPr>
        <p:spPr>
          <a:xfrm>
            <a:off x="63500" y="4312603"/>
            <a:ext cx="12065000" cy="2697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The noise and other interference are two major limitations of any communication system.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charset="0"/>
                <a:cs typeface="Arial" charset="0"/>
              </a:rPr>
              <a:t>These effects cannot be eliminated completely.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However, certain modulation schemes can suppress the noise and interference to some extent.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5BF9E-4FB3-542E-8855-8250B19C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050-5BFC-43DC-AE7A-A18DA42A8867}" type="datetime1">
              <a:rPr lang="en-IN" smtClean="0"/>
              <a:t>05-09-2025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76B6-ED66-F96D-BDC0-75063E43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243840" y="381000"/>
            <a:ext cx="11805920" cy="60198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(d) Narrow banding</a:t>
            </a:r>
            <a:r>
              <a:rPr lang="en-US" dirty="0">
                <a:latin typeface="Arial" charset="0"/>
                <a:cs typeface="Arial" charset="0"/>
              </a:rPr>
              <a:t>: For example an audio range extends from say 50 Hz to 10</a:t>
            </a:r>
            <a:r>
              <a:rPr lang="en-US" baseline="30000" dirty="0">
                <a:latin typeface="Arial" charset="0"/>
                <a:cs typeface="Arial" charset="0"/>
              </a:rPr>
              <a:t>4</a:t>
            </a:r>
            <a:r>
              <a:rPr lang="en-US" dirty="0">
                <a:latin typeface="Arial" charset="0"/>
                <a:cs typeface="Arial" charset="0"/>
              </a:rPr>
              <a:t> Hz.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The ratio of the highest audio frequency to lowest is 200. Therefore the antenna size is either too short or too long.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Suppose that by modulation, the audio spectrum is translated into the range from (10</a:t>
            </a:r>
            <a:r>
              <a:rPr lang="en-US" baseline="30000" dirty="0">
                <a:solidFill>
                  <a:srgbClr val="3200C0"/>
                </a:solidFill>
                <a:latin typeface="Arial" charset="0"/>
                <a:cs typeface="Arial" charset="0"/>
              </a:rPr>
              <a:t>5</a:t>
            </a: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+50) to (10</a:t>
            </a:r>
            <a:r>
              <a:rPr lang="en-US" baseline="30000" dirty="0">
                <a:solidFill>
                  <a:srgbClr val="3200C0"/>
                </a:solidFill>
                <a:latin typeface="Arial" charset="0"/>
                <a:cs typeface="Arial" charset="0"/>
              </a:rPr>
              <a:t>5</a:t>
            </a: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+10</a:t>
            </a:r>
            <a:r>
              <a:rPr lang="en-US" baseline="30000" dirty="0">
                <a:solidFill>
                  <a:srgbClr val="3200C0"/>
                </a:solidFill>
                <a:latin typeface="Arial" charset="0"/>
                <a:cs typeface="Arial" charset="0"/>
              </a:rPr>
              <a:t>4</a:t>
            </a: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).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charset="0"/>
                <a:cs typeface="Arial" charset="0"/>
              </a:rPr>
              <a:t>Then the ratio of the highest frequency to lowest is 1.01.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38726"/>
                </a:solidFill>
                <a:latin typeface="Arial" charset="0"/>
                <a:cs typeface="Arial" charset="0"/>
              </a:rPr>
              <a:t>Hence the modulation is useful to process the wide range of signals. </a:t>
            </a:r>
          </a:p>
          <a:p>
            <a:pPr>
              <a:buFont typeface="Arial" charset="0"/>
              <a:buNone/>
            </a:pPr>
            <a:endParaRPr lang="en-US" dirty="0">
              <a:solidFill>
                <a:srgbClr val="3200C0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748C0-888B-E367-0882-9A8C3FAD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946F-18D9-4106-99C2-E3FD96EBDA9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DBC94-737B-663E-5BDF-6A1A9062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r>
              <a:rPr lang="en-US" sz="4000">
                <a:solidFill>
                  <a:srgbClr val="FF0000"/>
                </a:solidFill>
                <a:latin typeface="Arial" charset="0"/>
                <a:cs typeface="Arial" charset="0"/>
              </a:rPr>
              <a:t>Need for modulation…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35280" y="1219201"/>
            <a:ext cx="10180320" cy="4906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b="1" dirty="0">
                <a:latin typeface="Arial" charset="0"/>
                <a:cs typeface="Arial" charset="0"/>
              </a:rPr>
              <a:t>(e) Channel Matching: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Modulation</a:t>
            </a: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 is used to make sure that the message signal conforms to the limitations of its channel.</a:t>
            </a:r>
          </a:p>
          <a:p>
            <a:pPr>
              <a:buFont typeface="Arial" charset="0"/>
              <a:buNone/>
            </a:pPr>
            <a:r>
              <a:rPr lang="en-US" b="1" dirty="0">
                <a:latin typeface="Arial" charset="0"/>
                <a:cs typeface="Arial" charset="0"/>
              </a:rPr>
              <a:t>(f)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charset="0"/>
                <a:cs typeface="Arial" charset="0"/>
              </a:rPr>
              <a:t>Modulation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is used to place the signals at desired frequency band (translation) for signal processing purposes such as filtering, amplification, multiplications etc.</a:t>
            </a:r>
          </a:p>
          <a:p>
            <a:pPr>
              <a:buFont typeface="Arial" charset="0"/>
              <a:buNone/>
            </a:pPr>
            <a:r>
              <a:rPr lang="en-US" b="1" dirty="0">
                <a:latin typeface="Arial" charset="0"/>
                <a:cs typeface="Arial" charset="0"/>
              </a:rPr>
              <a:t>(g)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srgbClr val="024614"/>
                </a:solidFill>
                <a:latin typeface="Arial" charset="0"/>
                <a:cs typeface="Arial" charset="0"/>
              </a:rPr>
              <a:t>In digital communication, </a:t>
            </a:r>
            <a:r>
              <a:rPr lang="en-US" b="1" dirty="0">
                <a:solidFill>
                  <a:srgbClr val="FF0000"/>
                </a:solidFill>
                <a:latin typeface="Arial" charset="0"/>
                <a:cs typeface="Arial" charset="0"/>
              </a:rPr>
              <a:t>Modulation</a:t>
            </a:r>
            <a:r>
              <a:rPr lang="en-US" dirty="0">
                <a:solidFill>
                  <a:srgbClr val="024614"/>
                </a:solidFill>
                <a:latin typeface="Arial" charset="0"/>
                <a:cs typeface="Arial" charset="0"/>
              </a:rPr>
              <a:t> is used to map digital information sequence into waveforms</a:t>
            </a:r>
            <a:r>
              <a:rPr lang="en-US" dirty="0">
                <a:latin typeface="Arial" charset="0"/>
                <a:cs typeface="Arial" charset="0"/>
              </a:rPr>
              <a:t>. 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F0BD6-556B-9F40-FAD2-01664DFE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3C37-E1AD-4283-9271-49375020F26C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F2E17-77E0-4CC1-B8AD-94386383C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828800" y="0"/>
            <a:ext cx="8839200" cy="1143000"/>
          </a:xfrm>
        </p:spPr>
        <p:txBody>
          <a:bodyPr/>
          <a:lstStyle/>
          <a:p>
            <a:r>
              <a:rPr lang="en-US" sz="3600">
                <a:solidFill>
                  <a:srgbClr val="FF0000"/>
                </a:solidFill>
                <a:latin typeface="Arial" charset="0"/>
                <a:cs typeface="Arial" charset="0"/>
              </a:rPr>
              <a:t>Propagation of electromagnetic waves</a:t>
            </a:r>
          </a:p>
        </p:txBody>
      </p:sp>
      <p:pic>
        <p:nvPicPr>
          <p:cNvPr id="28676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1" y="1000760"/>
            <a:ext cx="86772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104C5-AB64-5773-5D5F-9F1C8773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72FC-AB52-4397-BB92-EDBF8BBC4C46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7ECD-B45A-8B61-A1FB-86610FF4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14960" y="46672"/>
            <a:ext cx="8229600" cy="9144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Arial" charset="0"/>
                <a:cs typeface="Arial" charset="0"/>
              </a:rPr>
              <a:t>Ground wave Propagation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" y="791528"/>
            <a:ext cx="11826239" cy="6043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0" name="TextBox 4"/>
          <p:cNvSpPr txBox="1">
            <a:spLocks noChangeArrowheads="1"/>
          </p:cNvSpPr>
          <p:nvPr/>
        </p:nvSpPr>
        <p:spPr bwMode="auto">
          <a:xfrm>
            <a:off x="492760" y="791528"/>
            <a:ext cx="3124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Below 2 MHz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F4311-8092-F5D7-E5FF-ED2AB33B3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9064-542E-4FDE-A374-245ECFD1B880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EFE13-FAFB-AA85-9442-CC101BBD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28448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Sky Wave Propagation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000" y="1295400"/>
            <a:ext cx="11236960" cy="527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4" name="TextBox 4"/>
          <p:cNvSpPr txBox="1">
            <a:spLocks noChangeArrowheads="1"/>
          </p:cNvSpPr>
          <p:nvPr/>
        </p:nvSpPr>
        <p:spPr bwMode="auto">
          <a:xfrm>
            <a:off x="762000" y="914400"/>
            <a:ext cx="2438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to 30 MHz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9FCF3-2F2C-EBCD-0F2E-A7A3466D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F9C2B-7BAF-44BD-A498-69E02D4D0F3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8E8C4-34CA-C901-1331-E47BEAC5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r>
              <a:rPr lang="en-US" sz="3600">
                <a:solidFill>
                  <a:srgbClr val="3200C0"/>
                </a:solidFill>
                <a:latin typeface="Arial" charset="0"/>
                <a:cs typeface="Arial" charset="0"/>
              </a:rPr>
              <a:t>Line of sight propagation </a:t>
            </a:r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6080" y="690880"/>
            <a:ext cx="11582400" cy="609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8" name="TextBox 4"/>
          <p:cNvSpPr txBox="1">
            <a:spLocks noChangeArrowheads="1"/>
          </p:cNvSpPr>
          <p:nvPr/>
        </p:nvSpPr>
        <p:spPr bwMode="auto">
          <a:xfrm>
            <a:off x="386080" y="838200"/>
            <a:ext cx="29667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 30 MHz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C65C7-4A44-B298-AE9A-C9912A70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9821-A0BA-48DC-B22C-BAD9DCF0B94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78B59-DDE4-FA61-0202-9167BE0A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305560" y="2382520"/>
            <a:ext cx="958088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The Electromagnetic Frequency Spectrum</a:t>
            </a:r>
            <a:endParaRPr lang="en-US" sz="4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4F4EB-7A23-1143-0AB0-4511A660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33ECD-2FC0-4AFF-8CD8-E9BB4C1167F0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27D4D-139E-5E0C-E945-BE7BF209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0"/>
            <a:ext cx="8647113" cy="838200"/>
          </a:xfrm>
        </p:spPr>
        <p:txBody>
          <a:bodyPr/>
          <a:lstStyle/>
          <a:p>
            <a:pPr eaLnBrk="1" hangingPunct="1"/>
            <a:r>
              <a:rPr lang="en-US" sz="39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3200" dirty="0">
                <a:solidFill>
                  <a:srgbClr val="038726"/>
                </a:solidFill>
                <a:latin typeface="Arial" charset="0"/>
                <a:cs typeface="Arial" charset="0"/>
              </a:rPr>
              <a:t>The Electromagnetic Frequency Spectrum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0030" y="685800"/>
            <a:ext cx="8731250" cy="609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/>
              <a:t>Frequency Ranges from 30 Hz to 300 GHz</a:t>
            </a:r>
          </a:p>
        </p:txBody>
      </p:sp>
      <p:graphicFrame>
        <p:nvGraphicFramePr>
          <p:cNvPr id="91203" name="Group 6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7973477"/>
              </p:ext>
            </p:extLst>
          </p:nvPr>
        </p:nvGraphicFramePr>
        <p:xfrm>
          <a:off x="472440" y="1295400"/>
          <a:ext cx="11353800" cy="5269407"/>
        </p:xfrm>
        <a:graphic>
          <a:graphicData uri="http://schemas.openxmlformats.org/drawingml/2006/table">
            <a:tbl>
              <a:tblPr/>
              <a:tblGrid>
                <a:gridCol w="554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8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Extremely Low Frequencies (ELF)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 Hz.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8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Voice Frequencies (VF)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3400 Hz.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1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</a:rPr>
                        <a:t>Very Low Frequencies (VLF)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include the higher end of the human hearing range up to about 20 kHz.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8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Low Frequencies (LF)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 kHz.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7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Medium Frequencies (MF)</a:t>
                      </a:r>
                    </a:p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3000 kHz </a:t>
                      </a:r>
                    </a:p>
                    <a:p>
                      <a:pPr marL="777875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 radio 535–1605 kHz.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0"/>
            <a:ext cx="8647113" cy="838200"/>
          </a:xfrm>
        </p:spPr>
        <p:txBody>
          <a:bodyPr/>
          <a:lstStyle/>
          <a:p>
            <a:pPr eaLnBrk="1" hangingPunct="1"/>
            <a:r>
              <a:rPr lang="en-US" sz="3900"/>
              <a:t> The Electromagnetic Spectrum</a:t>
            </a:r>
          </a:p>
        </p:txBody>
      </p:sp>
      <p:graphicFrame>
        <p:nvGraphicFramePr>
          <p:cNvPr id="92212" name="Group 5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0669013"/>
              </p:ext>
            </p:extLst>
          </p:nvPr>
        </p:nvGraphicFramePr>
        <p:xfrm>
          <a:off x="508000" y="601980"/>
          <a:ext cx="10596880" cy="3785616"/>
        </p:xfrm>
        <a:graphic>
          <a:graphicData uri="http://schemas.openxmlformats.org/drawingml/2006/table">
            <a:tbl>
              <a:tblPr/>
              <a:tblGrid>
                <a:gridCol w="795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High Frequencies (HF)</a:t>
                      </a:r>
                    </a:p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(short waves; VOA, BBC broadcasts; government and military two-way communication; amateur radio, CB.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3–30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Very High Frequencies (VHF)</a:t>
                      </a:r>
                    </a:p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FM radio broadcasting (88–108 MHz), television channels 2–13.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30–300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Ultra High Frequencies (UHF)</a:t>
                      </a:r>
                    </a:p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TV channels 14–67, cellular phones, military communication.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300–3000 MHz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8685597"/>
              </p:ext>
            </p:extLst>
          </p:nvPr>
        </p:nvGraphicFramePr>
        <p:xfrm>
          <a:off x="508000" y="4387596"/>
          <a:ext cx="10596880" cy="2197063"/>
        </p:xfrm>
        <a:graphic>
          <a:graphicData uri="http://schemas.openxmlformats.org/drawingml/2006/table">
            <a:tbl>
              <a:tblPr/>
              <a:tblGrid>
                <a:gridCol w="793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43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Microwaves and Super High Frequencies (SHF)</a:t>
                      </a:r>
                    </a:p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Satellite communication, radar, wireless LANs, microwave ovens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1–30 GHz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Extremely High Frequencies (EHF)</a:t>
                      </a:r>
                    </a:p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Satellite communication, computer data, radar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5763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30–300 GHz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838200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The Electromagnetic Spectrum</a:t>
            </a:r>
          </a:p>
        </p:txBody>
      </p:sp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762000"/>
            <a:ext cx="9228138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A6F47-C311-616B-FBA9-EF4FB64A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0367D-2FB9-4466-9AFE-5AAD95348629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F1BEA-E3FF-BBA8-68C2-89A67E71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914400"/>
          </a:xfrm>
        </p:spPr>
        <p:txBody>
          <a:bodyPr/>
          <a:lstStyle/>
          <a:p>
            <a:r>
              <a:rPr lang="en-US" sz="3200">
                <a:solidFill>
                  <a:srgbClr val="FF0000"/>
                </a:solidFill>
                <a:latin typeface="Arial" charset="0"/>
                <a:cs typeface="Arial" charset="0"/>
              </a:rPr>
              <a:t>Objectives of Communications System Design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97840" y="990601"/>
            <a:ext cx="11562080" cy="51355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Two primary resources in communications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charset="0"/>
                <a:cs typeface="Arial" charset="0"/>
              </a:rPr>
              <a:t>Transmitted power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Channel bandwidth </a:t>
            </a:r>
            <a:r>
              <a:rPr lang="en-US" dirty="0">
                <a:latin typeface="Arial" charset="0"/>
                <a:cs typeface="Arial" charset="0"/>
              </a:rPr>
              <a:t>(very expensive in the commercial market)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dirty="0">
                <a:solidFill>
                  <a:srgbClr val="3200C0"/>
                </a:solidFill>
                <a:latin typeface="Arial" charset="0"/>
                <a:cs typeface="Arial" charset="0"/>
              </a:rPr>
              <a:t>In certain scenarios, one resource may be more important than the other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charset="0"/>
                <a:cs typeface="Arial" charset="0"/>
              </a:rPr>
              <a:t>Power limited (e.g. deep-space communication)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Bandwidth limited </a:t>
            </a:r>
            <a:r>
              <a:rPr lang="en-US" dirty="0">
                <a:latin typeface="Arial" charset="0"/>
                <a:cs typeface="Arial" charset="0"/>
              </a:rPr>
              <a:t>(e.g. telephone circuit)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A0FDB-7585-8B04-71D8-3AD29623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4C67-AD70-4760-BADB-50D2559EC412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E4A2-049A-743D-5990-CC351747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5191760" y="2717800"/>
            <a:ext cx="1645920" cy="1143000"/>
          </a:xfrm>
        </p:spPr>
        <p:txBody>
          <a:bodyPr/>
          <a:lstStyle/>
          <a:p>
            <a:r>
              <a:rPr lang="en-US" sz="4000" dirty="0">
                <a:solidFill>
                  <a:srgbClr val="00B050"/>
                </a:solidFill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B916C-52CD-A7BD-6E3A-D1933BFA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DAAF-161C-4537-8A87-A840F4FC6777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B40A4-92D7-76F7-DDBE-FF35D9C4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CEFA-6086-4379-97E2-D23716C825D1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1122</Words>
  <Application>Microsoft Office PowerPoint</Application>
  <PresentationFormat>Widescreen</PresentationFormat>
  <Paragraphs>178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Signals and Communication Systems (24EC2105)</vt:lpstr>
      <vt:lpstr>Introduction to  Analog Communications</vt:lpstr>
      <vt:lpstr>Analog Communications</vt:lpstr>
      <vt:lpstr> Communication Systems</vt:lpstr>
      <vt:lpstr>Applications of Commn. Systems</vt:lpstr>
      <vt:lpstr>PowerPoint Presentation</vt:lpstr>
      <vt:lpstr>Basic Communication System</vt:lpstr>
      <vt:lpstr>Modulation and Demodulation</vt:lpstr>
      <vt:lpstr>Modulation and Demodulation</vt:lpstr>
      <vt:lpstr>Modulation</vt:lpstr>
      <vt:lpstr>Need for Modulation</vt:lpstr>
      <vt:lpstr> The Electromagnetic Spectrum</vt:lpstr>
      <vt:lpstr>The Electromagnetic Spectrum</vt:lpstr>
      <vt:lpstr>Ease of Radiation</vt:lpstr>
      <vt:lpstr>(b) Multiplexing: Simultaneous Transmission of Multiple Signals</vt:lpstr>
      <vt:lpstr>PowerPoint Presentation</vt:lpstr>
      <vt:lpstr>Need for modulation…</vt:lpstr>
      <vt:lpstr>Propagation of electromagnetic waves</vt:lpstr>
      <vt:lpstr>Ground wave Propagation</vt:lpstr>
      <vt:lpstr>Sky Wave Propagation</vt:lpstr>
      <vt:lpstr>Line of sight propagation </vt:lpstr>
      <vt:lpstr>The Electromagnetic Frequency Spectrum</vt:lpstr>
      <vt:lpstr> The Electromagnetic Frequency Spectrum</vt:lpstr>
      <vt:lpstr> The Electromagnetic Spectrum</vt:lpstr>
      <vt:lpstr>The Electromagnetic Spectrum</vt:lpstr>
      <vt:lpstr>Objectives of Communications System Design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Communication Systems</dc:title>
  <dc:creator>MVGR</dc:creator>
  <cp:lastModifiedBy>D Sreenivasa Rao</cp:lastModifiedBy>
  <cp:revision>11</cp:revision>
  <dcterms:created xsi:type="dcterms:W3CDTF">2023-08-26T12:05:12Z</dcterms:created>
  <dcterms:modified xsi:type="dcterms:W3CDTF">2025-09-05T11:27:29Z</dcterms:modified>
</cp:coreProperties>
</file>