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332" r:id="rId2"/>
    <p:sldId id="346" r:id="rId3"/>
    <p:sldId id="423" r:id="rId4"/>
    <p:sldId id="427" r:id="rId5"/>
    <p:sldId id="502" r:id="rId6"/>
    <p:sldId id="512" r:id="rId7"/>
    <p:sldId id="511" r:id="rId8"/>
    <p:sldId id="510" r:id="rId9"/>
    <p:sldId id="525" r:id="rId10"/>
    <p:sldId id="4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8FE0B-20FD-442C-A80E-1C00E7ABDEA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898AE-40C1-4BB9-8038-0C920A34D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9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E3BA-2D32-8B7C-D72B-8CBC19F10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30A3F-02D0-411C-F125-DA3A1AF09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70276-771A-EBE6-F944-7BE16255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95942-7CFD-4711-AF45-25FB1CCB5347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27E97-F1A3-D305-79D7-52C46FB4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606E4-A9FB-F1E2-8D9F-69612DFC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51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F99B-8B50-F863-F4DA-CC9CF95E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82521-84A2-4865-50EF-8E43BC39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D3242-35B6-FF52-5601-EE7B34A00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876CA-1A7A-4D9E-8688-8C0AFEF2DE14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8FD04-D7D9-1D5F-7D26-5B25DD8E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10396-B00B-FB34-4213-B0EBB80C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43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8996-2569-95DA-8243-15DCDE4F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6735C-B52C-A54F-E3CB-0BFC110C2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3FF1-9379-F928-7E24-E3D28766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B5504-0024-4D78-BFFD-41A8FCF5573C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A47FE-DA19-A73A-F81C-C7F8F88B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4792F-AAEF-5C1A-449C-371DC922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26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5C61-884B-4429-7424-61D7C5CF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A8C81-4B80-19CC-E7DB-47793D511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DA32E-C955-CB94-B214-58CA17241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152A4-2F62-6FCC-0690-0664EC72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3A49-4780-4A47-B1FC-7EE5E0DFC296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17CD7-78BB-B052-BC90-DD5F4896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CDBDD-0B69-8A84-D3D9-828D3102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50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FF75-DAB4-E9A4-FC58-AE6966E82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FCB9A-CA9C-E77D-FBB8-5ACF10A08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25DAD-C4B5-90E3-3DB0-03D2526CF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7D212-46BE-9A41-52CF-5F1D23C71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CEEA7-D48E-B8F9-D05F-24FC9C592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FFFD-6CC1-BAC6-F2FA-4494E291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65E2-4CFA-4452-AA13-1511A85A4189}" type="datetime1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B2C2E-8D64-9CD2-AD61-1FD75E5E6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6D41A0-C813-9696-E753-A38C9CAA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33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485C-D6C9-DCD6-67FD-8651C2CD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3FBA9-9846-EF26-E259-8B6779BB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8F41-788B-481C-8936-F7CA1930E09C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A0F42-556E-C8B2-69E1-D7D6E3ADF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E4299-7B04-C7E4-606F-F5CC9CFDD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28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33699-5861-2353-6730-FD57F17C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9F17-EAC6-4196-87BC-79AE7C3F1E2B}" type="datetime1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FB5DC-5CB5-3AAD-09D2-6BBD944D9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14EA5-B43D-BF9A-5F5B-ED078435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18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2311-D16F-B62B-B4BF-19D92FDA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0962-CF43-526C-4752-18272B9F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FD956-4B10-DF4C-8815-DD859FB86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B044C-BC05-ECAC-C3F3-FA31FA135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1D3EB-95B8-4F50-9941-34193E449BDC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439C4-C656-76CA-F21F-BCDAF9DC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4B095-E43D-FEBD-ABA0-5412F263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10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B43B-F7E0-3C38-2148-981687EF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440CD3-7790-A1F6-F950-2274F5596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A6120-C03F-0CE9-4A67-76ED57135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3BFB0-1E9D-7BA7-6E50-2763526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4FE01-FC35-4A1C-B232-9B25D1126A45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511FD-8D9E-354B-4F04-0F9898E21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0F80F-6FB6-8A3B-272F-0E64DB03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5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C858-3C09-6604-E6B7-F63DB949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A08C3-D998-F6C6-7240-DC45762CC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CB15-11B5-BEF1-48FE-2027668E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E9482-0724-4715-ADA6-EA2C172C8BE8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5C96A-E0D1-1C03-5412-1010223C8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09149-CC62-5619-285C-0F608F26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51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3BFE73-2938-3625-C96D-B4FC4655D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CFF83-D565-E96C-921F-AFCC7563A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66B0D-57A4-3BC7-A7D4-7FE0BD87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38344-D172-4CF0-B760-E81267BB4317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20478-0FC8-4312-0A92-1B803250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4290-5FDE-D4C0-3012-7BDFF3B9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12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C5A329-99F4-6B0C-68D7-FADB7579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4872C-3318-7D6E-C1D4-A2E916A79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9E967-0CB7-60B8-233A-E61ABFF3D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051A5-3904-41F0-B17A-C80E01A9DE2D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C3086-E0DE-AEEB-FC51-3478817E4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750E-98AD-75BD-F1BA-883C4CC3D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5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E726001-DFC8-9E79-DCF6-E82A58826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4161"/>
            <a:ext cx="11709400" cy="1470025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 </a:t>
            </a:r>
            <a:r>
              <a:rPr lang="en-US" altLang="en-US" sz="5400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SideBand</a:t>
            </a:r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Suppressed Carrier</a:t>
            </a:r>
            <a:br>
              <a:rPr lang="en-US" altLang="en-US" sz="5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4800" b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</a:t>
            </a:r>
            <a:r>
              <a:rPr lang="en-US" altLang="en-US" sz="4800" b="1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4800" b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SC)</a:t>
            </a:r>
          </a:p>
        </p:txBody>
      </p:sp>
      <p:sp>
        <p:nvSpPr>
          <p:cNvPr id="12291" name="Subtitle 2">
            <a:extLst>
              <a:ext uri="{FF2B5EF4-FFF2-40B4-BE49-F238E27FC236}">
                <a16:creationId xmlns:a16="http://schemas.microsoft.com/office/drawing/2014/main" id="{9E3948B3-74C6-4EC4-558D-67B0730CF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40" y="2413000"/>
            <a:ext cx="9144000" cy="3200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(24EC2105)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0BC7DD-12E7-6D6F-0F33-716989417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" y="2857500"/>
            <a:ext cx="11866880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5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 </a:t>
            </a:r>
            <a:r>
              <a:rPr lang="en-US" altLang="en-US" sz="53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</a:t>
            </a:r>
            <a:r>
              <a:rPr lang="en-US" altLang="en-US" sz="5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53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</a:t>
            </a:r>
            <a:r>
              <a:rPr lang="en-US" altLang="en-US" sz="5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5300" dirty="0">
                <a:latin typeface="Arial" panose="020B0604020202020204" pitchFamily="34" charset="0"/>
                <a:cs typeface="Arial" panose="020B0604020202020204" pitchFamily="34" charset="0"/>
              </a:rPr>
              <a:t>Suppressive </a:t>
            </a:r>
            <a:r>
              <a:rPr lang="en-US" altLang="en-US" sz="5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Carrier</a:t>
            </a:r>
            <a:br>
              <a:rPr lang="en-US" altLang="en-US" sz="6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6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60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</a:t>
            </a:r>
            <a:r>
              <a:rPr lang="en-US" altLang="en-US" sz="6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03BC40-9227-3246-2DCB-20D7A5B1D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91781-2D5C-4100-8223-DFF2909707FA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A2890-FBF7-531E-08DF-0048926B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83AF0DB8-B437-CFA8-2B51-1E059702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839200" cy="1143000"/>
          </a:xfrm>
        </p:spPr>
        <p:txBody>
          <a:bodyPr/>
          <a:lstStyle/>
          <a:p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Schematic </a:t>
            </a:r>
            <a:r>
              <a:rPr lang="en-US" altLang="en-US" sz="40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 of </a:t>
            </a:r>
            <a:r>
              <a:rPr lang="en-US" altLang="en-US" sz="40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</a:t>
            </a:r>
            <a:r>
              <a:rPr lang="en-US" altLang="en-US" sz="40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</a:p>
        </p:txBody>
      </p:sp>
      <p:sp>
        <p:nvSpPr>
          <p:cNvPr id="18435" name="Rectangle 9">
            <a:extLst>
              <a:ext uri="{FF2B5EF4-FFF2-40B4-BE49-F238E27FC236}">
                <a16:creationId xmlns:a16="http://schemas.microsoft.com/office/drawing/2014/main" id="{70D40C81-E8D0-2A62-3D19-5753E1C3A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6" name="Rectangle 11">
            <a:extLst>
              <a:ext uri="{FF2B5EF4-FFF2-40B4-BE49-F238E27FC236}">
                <a16:creationId xmlns:a16="http://schemas.microsoft.com/office/drawing/2014/main" id="{92B4DC73-2776-9F6F-E942-DE12426D3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7" name="Rectangle 13">
            <a:extLst>
              <a:ext uri="{FF2B5EF4-FFF2-40B4-BE49-F238E27FC236}">
                <a16:creationId xmlns:a16="http://schemas.microsoft.com/office/drawing/2014/main" id="{DF81CE13-6B3A-D407-B7BC-AB9EFFB8D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26632" name="Picture 8">
            <a:extLst>
              <a:ext uri="{FF2B5EF4-FFF2-40B4-BE49-F238E27FC236}">
                <a16:creationId xmlns:a16="http://schemas.microsoft.com/office/drawing/2014/main" id="{696F9367-4835-3686-6876-1188B8E471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67000" y="1066801"/>
            <a:ext cx="6864350" cy="2767013"/>
          </a:xfrm>
          <a:noFill/>
        </p:spPr>
      </p:pic>
      <p:pic>
        <p:nvPicPr>
          <p:cNvPr id="18439" name="Picture 7">
            <a:extLst>
              <a:ext uri="{FF2B5EF4-FFF2-40B4-BE49-F238E27FC236}">
                <a16:creationId xmlns:a16="http://schemas.microsoft.com/office/drawing/2014/main" id="{8E4F5940-FA5B-F34C-3680-121EBA433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114801"/>
            <a:ext cx="73152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C3C1C7-82C1-9FB9-EF50-F246CB9A3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FAAB-5AD1-4C2B-99EA-D8DA640C0F48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FB8A2-54AD-AE6C-E090-781E8E41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  <p:transition>
    <p:sndAc>
      <p:stSnd>
        <p:snd r:embed="rId2" name="voltag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>
            <a:extLst>
              <a:ext uri="{FF2B5EF4-FFF2-40B4-BE49-F238E27FC236}">
                <a16:creationId xmlns:a16="http://schemas.microsoft.com/office/drawing/2014/main" id="{13EAB861-A891-F002-9955-225BD9C4D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49225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Tone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-SC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1030" name="Content Placeholder 2">
            <a:extLst>
              <a:ext uri="{FF2B5EF4-FFF2-40B4-BE49-F238E27FC236}">
                <a16:creationId xmlns:a16="http://schemas.microsoft.com/office/drawing/2014/main" id="{6E2D8D4C-6B36-9FD6-CFCE-82FC9B778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" y="822841"/>
            <a:ext cx="11511280" cy="4144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Domain Description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a message signal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None/>
            </a:pP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DSB-SC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signal as a function of time is represented by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None/>
            </a:pPr>
            <a:endParaRPr lang="en-US" altLang="en-US" dirty="0">
              <a:solidFill>
                <a:srgbClr val="32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solidFill>
                <a:srgbClr val="32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solidFill>
                <a:srgbClr val="32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en-US" altLang="en-US" u="sng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Domain </a:t>
            </a:r>
            <a:r>
              <a:rPr lang="en-US" altLang="en-US" u="sng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</a:t>
            </a:r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7B10A915-8A0D-63DE-F789-6CEC42A26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32" name="Rectangle 11">
            <a:extLst>
              <a:ext uri="{FF2B5EF4-FFF2-40B4-BE49-F238E27FC236}">
                <a16:creationId xmlns:a16="http://schemas.microsoft.com/office/drawing/2014/main" id="{E89EB87A-915F-677C-E596-1B49EEB8B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33" name="Rectangle 13">
            <a:extLst>
              <a:ext uri="{FF2B5EF4-FFF2-40B4-BE49-F238E27FC236}">
                <a16:creationId xmlns:a16="http://schemas.microsoft.com/office/drawing/2014/main" id="{5EC57E2F-262C-C979-822A-E4B8890E3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34" name="Rectangle 11">
            <a:extLst>
              <a:ext uri="{FF2B5EF4-FFF2-40B4-BE49-F238E27FC236}">
                <a16:creationId xmlns:a16="http://schemas.microsoft.com/office/drawing/2014/main" id="{2124140B-71E8-F20E-36A4-1B7AA0D34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6" name="Object 10">
            <a:extLst>
              <a:ext uri="{FF2B5EF4-FFF2-40B4-BE49-F238E27FC236}">
                <a16:creationId xmlns:a16="http://schemas.microsoft.com/office/drawing/2014/main" id="{111293D8-3B64-3450-6DF1-EC409B403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633358"/>
              </p:ext>
            </p:extLst>
          </p:nvPr>
        </p:nvGraphicFramePr>
        <p:xfrm>
          <a:off x="8138160" y="919564"/>
          <a:ext cx="3454400" cy="571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215806" progId="Equation.DSMT4">
                  <p:embed/>
                </p:oleObj>
              </mc:Choice>
              <mc:Fallback>
                <p:oleObj name="Equation" r:id="rId2" imgW="1320227" imgH="215806" progId="Equation.DSMT4">
                  <p:embed/>
                  <p:pic>
                    <p:nvPicPr>
                      <p:cNvPr id="1026" name="Object 10">
                        <a:extLst>
                          <a:ext uri="{FF2B5EF4-FFF2-40B4-BE49-F238E27FC236}">
                            <a16:creationId xmlns:a16="http://schemas.microsoft.com/office/drawing/2014/main" id="{111293D8-3B64-3450-6DF1-EC409B403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8160" y="919564"/>
                        <a:ext cx="3454400" cy="5714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" name="Rectangle 13">
            <a:extLst>
              <a:ext uri="{FF2B5EF4-FFF2-40B4-BE49-F238E27FC236}">
                <a16:creationId xmlns:a16="http://schemas.microsoft.com/office/drawing/2014/main" id="{6E59DA91-1BCD-86CA-E13B-8B15ADE5B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7" name="Object 12">
            <a:extLst>
              <a:ext uri="{FF2B5EF4-FFF2-40B4-BE49-F238E27FC236}">
                <a16:creationId xmlns:a16="http://schemas.microsoft.com/office/drawing/2014/main" id="{30A98FAB-D5B4-4885-0927-BD74EDEA4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558948"/>
              </p:ext>
            </p:extLst>
          </p:nvPr>
        </p:nvGraphicFramePr>
        <p:xfrm>
          <a:off x="1445260" y="2242443"/>
          <a:ext cx="8915400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06800" imgH="635000" progId="Equation.DSMT4">
                  <p:embed/>
                </p:oleObj>
              </mc:Choice>
              <mc:Fallback>
                <p:oleObj name="Equation" r:id="rId4" imgW="3606800" imgH="635000" progId="Equation.DSMT4">
                  <p:embed/>
                  <p:pic>
                    <p:nvPicPr>
                      <p:cNvPr id="1027" name="Object 12">
                        <a:extLst>
                          <a:ext uri="{FF2B5EF4-FFF2-40B4-BE49-F238E27FC236}">
                            <a16:creationId xmlns:a16="http://schemas.microsoft.com/office/drawing/2014/main" id="{30A98FAB-D5B4-4885-0927-BD74EDEA49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260" y="2242443"/>
                        <a:ext cx="8915400" cy="157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14">
            <a:extLst>
              <a:ext uri="{FF2B5EF4-FFF2-40B4-BE49-F238E27FC236}">
                <a16:creationId xmlns:a16="http://schemas.microsoft.com/office/drawing/2014/main" id="{6D92613F-DEFB-0201-06B5-2653F6D23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535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37" name="Rectangle 16">
            <a:extLst>
              <a:ext uri="{FF2B5EF4-FFF2-40B4-BE49-F238E27FC236}">
                <a16:creationId xmlns:a16="http://schemas.microsoft.com/office/drawing/2014/main" id="{7DC0FCCD-6327-BDE4-0A33-B57DA310A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38" name="Rectangle 17">
            <a:extLst>
              <a:ext uri="{FF2B5EF4-FFF2-40B4-BE49-F238E27FC236}">
                <a16:creationId xmlns:a16="http://schemas.microsoft.com/office/drawing/2014/main" id="{A9F45100-CE9E-80F9-E877-A424F78C2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058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8" name="Object 18">
            <a:extLst>
              <a:ext uri="{FF2B5EF4-FFF2-40B4-BE49-F238E27FC236}">
                <a16:creationId xmlns:a16="http://schemas.microsoft.com/office/drawing/2014/main" id="{F310E213-C0E3-47D0-3D47-23CE6546A3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275458"/>
              </p:ext>
            </p:extLst>
          </p:nvPr>
        </p:nvGraphicFramePr>
        <p:xfrm>
          <a:off x="2895600" y="4619159"/>
          <a:ext cx="701040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85920" imgH="812520" progId="Equation.DSMT4">
                  <p:embed/>
                </p:oleObj>
              </mc:Choice>
              <mc:Fallback>
                <p:oleObj name="Equation" r:id="rId6" imgW="3085920" imgH="812520" progId="Equation.DSMT4">
                  <p:embed/>
                  <p:pic>
                    <p:nvPicPr>
                      <p:cNvPr id="1028" name="Object 18">
                        <a:extLst>
                          <a:ext uri="{FF2B5EF4-FFF2-40B4-BE49-F238E27FC236}">
                            <a16:creationId xmlns:a16="http://schemas.microsoft.com/office/drawing/2014/main" id="{F310E213-C0E3-47D0-3D47-23CE6546A3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619159"/>
                        <a:ext cx="701040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CA7B8-C746-6407-3058-097EA163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D864-8C99-4D12-959E-7F5DF9A823D9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9A75F-154E-A23B-CA7D-8CD1F466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ECFDF848-D5E0-04B8-DE8B-F700CE527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8" y="5558"/>
            <a:ext cx="10424160" cy="792162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Tone</a:t>
            </a: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</a:t>
            </a: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-SC </a:t>
            </a:r>
            <a:r>
              <a:rPr lang="en-US" altLang="en-US" sz="40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 and its Spectrum</a:t>
            </a:r>
            <a:endParaRPr lang="en-US" altLang="en-US" sz="4000" dirty="0"/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D8604FFF-93F2-EC9D-C186-C07B28EA5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603252"/>
            <a:ext cx="10424160" cy="58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4">
            <a:extLst>
              <a:ext uri="{FF2B5EF4-FFF2-40B4-BE49-F238E27FC236}">
                <a16:creationId xmlns:a16="http://schemas.microsoft.com/office/drawing/2014/main" id="{0D424380-2C8F-4D29-ED64-13D8D2E81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638" y="6248401"/>
            <a:ext cx="861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i="1">
                <a:solidFill>
                  <a:srgbClr val="024614"/>
                </a:solidFill>
              </a:rPr>
              <a:t>s</a:t>
            </a:r>
            <a:r>
              <a:rPr lang="en-US" altLang="en-US" sz="2400">
                <a:solidFill>
                  <a:srgbClr val="024614"/>
                </a:solidFill>
              </a:rPr>
              <a:t>(</a:t>
            </a:r>
            <a:r>
              <a:rPr lang="en-US" altLang="en-US" sz="2400" i="1">
                <a:solidFill>
                  <a:srgbClr val="024614"/>
                </a:solidFill>
              </a:rPr>
              <a:t>t</a:t>
            </a:r>
            <a:r>
              <a:rPr lang="en-US" altLang="en-US" sz="2400">
                <a:solidFill>
                  <a:srgbClr val="024614"/>
                </a:solidFill>
              </a:rPr>
              <a:t>) </a:t>
            </a:r>
            <a:r>
              <a:rPr lang="en-US" altLang="en-US" sz="2400">
                <a:solidFill>
                  <a:srgbClr val="FF0000"/>
                </a:solidFill>
              </a:rPr>
              <a:t>undergoes a phase reversal whenever </a:t>
            </a:r>
            <a:r>
              <a:rPr lang="en-US" altLang="en-US" sz="2400" i="1">
                <a:solidFill>
                  <a:srgbClr val="024614"/>
                </a:solidFill>
              </a:rPr>
              <a:t>m</a:t>
            </a:r>
            <a:r>
              <a:rPr lang="en-US" altLang="en-US" sz="2400">
                <a:solidFill>
                  <a:srgbClr val="024614"/>
                </a:solidFill>
              </a:rPr>
              <a:t>(</a:t>
            </a:r>
            <a:r>
              <a:rPr lang="en-US" altLang="en-US" sz="2400" i="1">
                <a:solidFill>
                  <a:srgbClr val="024614"/>
                </a:solidFill>
              </a:rPr>
              <a:t>t</a:t>
            </a:r>
            <a:r>
              <a:rPr lang="en-US" altLang="en-US" sz="2400">
                <a:solidFill>
                  <a:srgbClr val="024614"/>
                </a:solidFill>
              </a:rPr>
              <a:t>)</a:t>
            </a:r>
            <a:r>
              <a:rPr lang="en-US" altLang="en-US" sz="2400">
                <a:solidFill>
                  <a:srgbClr val="FF0000"/>
                </a:solidFill>
              </a:rPr>
              <a:t> crosses zero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592B27-DCF0-F170-4391-F5311D8B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5D34-73D6-4195-A99D-1A4A07437153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9684F-FA0F-02E5-CC63-99B48685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0DB19BB-0BC7-DB0E-90C4-4798AF68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-228599"/>
            <a:ext cx="9144000" cy="1143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 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Tone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-SC </a:t>
            </a:r>
            <a:r>
              <a:rPr lang="en-US" altLang="en-US" sz="36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  <a:endParaRPr lang="en-US" altLang="en-US" sz="3600" dirty="0"/>
          </a:p>
        </p:txBody>
      </p:sp>
      <p:pic>
        <p:nvPicPr>
          <p:cNvPr id="20484" name="Picture 5">
            <a:extLst>
              <a:ext uri="{FF2B5EF4-FFF2-40B4-BE49-F238E27FC236}">
                <a16:creationId xmlns:a16="http://schemas.microsoft.com/office/drawing/2014/main" id="{FFDD7079-5AF2-259F-0AFC-674009B6B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1" y="568960"/>
            <a:ext cx="10281919" cy="6198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99BF2F-1564-D541-F682-17BA3021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DD05-A6D5-4092-B30C-0108CD3A2074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8A2AA-3822-3B3E-CCF8-6582B207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itle 1">
            <a:extLst>
              <a:ext uri="{FF2B5EF4-FFF2-40B4-BE49-F238E27FC236}">
                <a16:creationId xmlns:a16="http://schemas.microsoft.com/office/drawing/2014/main" id="{10F28461-0D8F-EBD0-B9BB-653CFA0A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01601"/>
            <a:ext cx="9144000" cy="944563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Baseband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DSB-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</a:p>
        </p:txBody>
      </p:sp>
      <p:sp>
        <p:nvSpPr>
          <p:cNvPr id="2053" name="Content Placeholder 2">
            <a:extLst>
              <a:ext uri="{FF2B5EF4-FFF2-40B4-BE49-F238E27FC236}">
                <a16:creationId xmlns:a16="http://schemas.microsoft.com/office/drawing/2014/main" id="{8B95F88B-C503-A1BF-C531-7FA204D16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143001"/>
            <a:ext cx="11795760" cy="4983163"/>
          </a:xfrm>
        </p:spPr>
        <p:txBody>
          <a:bodyPr/>
          <a:lstStyle/>
          <a:p>
            <a:pPr algn="just">
              <a:buFont typeface="Arial" panose="020B0604020202020204" pitchFamily="34" charset="0"/>
              <a:buNone/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Let the 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 signal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assumed to be </a:t>
            </a:r>
            <a:r>
              <a:rPr lang="en-US" altLang="en-US" sz="32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 limited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‘</a:t>
            </a:r>
            <a:r>
              <a:rPr lang="en-US" altLang="en-US" sz="3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’  Hz. </a:t>
            </a:r>
          </a:p>
          <a:p>
            <a:pPr algn="just"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None/>
            </a:pPr>
            <a:r>
              <a:rPr lang="en-US" altLang="en-US" u="sng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altLang="en-US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Domain </a:t>
            </a:r>
            <a:r>
              <a:rPr lang="en-US" altLang="en-US" u="sng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standard form of a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DSB-SC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modulated signal as a function of time is represented by </a:t>
            </a:r>
          </a:p>
          <a:p>
            <a:pPr algn="just"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dirty="0">
              <a:solidFill>
                <a:srgbClr val="32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Domain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</p:txBody>
      </p:sp>
      <p:sp>
        <p:nvSpPr>
          <p:cNvPr id="2054" name="Rectangle 5">
            <a:extLst>
              <a:ext uri="{FF2B5EF4-FFF2-40B4-BE49-F238E27FC236}">
                <a16:creationId xmlns:a16="http://schemas.microsoft.com/office/drawing/2014/main" id="{1B27DEE5-AD19-6E72-A1BC-5575EF508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4C27C466-6913-7DC3-CF74-653D9E6DC4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329152"/>
              </p:ext>
            </p:extLst>
          </p:nvPr>
        </p:nvGraphicFramePr>
        <p:xfrm>
          <a:off x="2971801" y="3634582"/>
          <a:ext cx="44958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59866" imgH="215806" progId="Equation.DSMT4">
                  <p:embed/>
                </p:oleObj>
              </mc:Choice>
              <mc:Fallback>
                <p:oleObj name="Equation" r:id="rId2" imgW="1459866" imgH="215806" progId="Equation.DSMT4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4C27C466-6913-7DC3-CF74-653D9E6DC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634582"/>
                        <a:ext cx="4495800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7">
            <a:extLst>
              <a:ext uri="{FF2B5EF4-FFF2-40B4-BE49-F238E27FC236}">
                <a16:creationId xmlns:a16="http://schemas.microsoft.com/office/drawing/2014/main" id="{D33D1B9E-2433-7906-E853-AFD136AC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1" name="Object 6">
            <a:extLst>
              <a:ext uri="{FF2B5EF4-FFF2-40B4-BE49-F238E27FC236}">
                <a16:creationId xmlns:a16="http://schemas.microsoft.com/office/drawing/2014/main" id="{09C26A08-5A94-C6F3-0114-F61523589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1" y="5181600"/>
          <a:ext cx="52863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60600" imgH="393700" progId="Equation.DSMT4">
                  <p:embed/>
                </p:oleObj>
              </mc:Choice>
              <mc:Fallback>
                <p:oleObj name="Equation" r:id="rId4" imgW="2260600" imgH="393700" progId="Equation.DSMT4">
                  <p:embed/>
                  <p:pic>
                    <p:nvPicPr>
                      <p:cNvPr id="2051" name="Object 6">
                        <a:extLst>
                          <a:ext uri="{FF2B5EF4-FFF2-40B4-BE49-F238E27FC236}">
                            <a16:creationId xmlns:a16="http://schemas.microsoft.com/office/drawing/2014/main" id="{09C26A08-5A94-C6F3-0114-F615235897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5181600"/>
                        <a:ext cx="528637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01C71-751B-C18C-C182-6D2C55D8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E271-CF5E-49E1-BB77-A7CCA9FEA689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BF3EA-1DA7-A23D-A64B-CCB23672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CD2F8341-C4B9-D4E7-2C21-661916B5E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19" y="-71756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Baseband DSB-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  Spectrum</a:t>
            </a: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id="{A8AE2F3D-912A-953F-E3B1-577700EA7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5720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/>
              <a:t>z</a:t>
            </a:r>
            <a:endParaRPr lang="en-US" altLang="en-US"/>
          </a:p>
        </p:txBody>
      </p:sp>
      <p:pic>
        <p:nvPicPr>
          <p:cNvPr id="21508" name="Picture 5">
            <a:extLst>
              <a:ext uri="{FF2B5EF4-FFF2-40B4-BE49-F238E27FC236}">
                <a16:creationId xmlns:a16="http://schemas.microsoft.com/office/drawing/2014/main" id="{23193C82-99C3-97EB-EE28-2D5DDA7D1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604362"/>
            <a:ext cx="9519920" cy="6073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5">
            <a:extLst>
              <a:ext uri="{FF2B5EF4-FFF2-40B4-BE49-F238E27FC236}">
                <a16:creationId xmlns:a16="http://schemas.microsoft.com/office/drawing/2014/main" id="{AA8A0C0E-A7A4-F043-D885-AD8AE1CC9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6180139"/>
            <a:ext cx="6172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/>
              <a:t>Transmission Bandwidth of DSB-SC  is  2 W Hz</a:t>
            </a:r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F8285-EEFE-509F-FFC7-907C8BB6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CEF8-4AA6-48EB-990B-543D2D68072B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4CF2D-3348-AABA-2B3E-DAF4711D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38EAA38E-A993-27FA-224B-E5135F994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en-US" altLang="en-US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</a:t>
            </a:r>
            <a:r>
              <a:rPr lang="en-US" altLang="en-US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</a:t>
            </a:r>
            <a:r>
              <a:rPr lang="en-US" altLang="en-US">
                <a:solidFill>
                  <a:srgbClr val="0064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  <a:endParaRPr lang="en-US" altLang="en-US">
              <a:solidFill>
                <a:srgbClr val="024614"/>
              </a:solidFill>
            </a:endParaRP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FFAC129F-23C3-6747-D17C-6EA12DE42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143000"/>
            <a:ext cx="11744960" cy="41402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Carrier power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eliminated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so that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increased in compare with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AM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But the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Transmission Bandwidth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 same as standard AM, that is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times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 signal bandwidth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of DSB-SC modulated signal is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reversed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when the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modulating signal 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crosses zero 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Coherent detection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 needed for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DSB-SC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Obtaining the 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carrier phase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 biggest challenges in all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demodulators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F1D81-4872-7114-0CAE-BD194714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756-83A9-4DE5-8C48-793BEDC4E718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F4458-1EDF-51D1-6AE5-E388BDDD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A157ECB4-1617-66A1-B217-5D8019B8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320" y="2857500"/>
            <a:ext cx="1457960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C57AD-184B-CEB7-3925-79DA88D0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12228-A43D-4426-8C16-9CF499D046C0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F72DB-D62D-056B-B90E-9073683B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235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Equation</vt:lpstr>
      <vt:lpstr>Double SideBand Suppressed Carrier (DSB-SC)</vt:lpstr>
      <vt:lpstr>Double Side Band Suppressive Carrier DSB-SC</vt:lpstr>
      <vt:lpstr>Block Schematic Diagram of DSB-SC</vt:lpstr>
      <vt:lpstr>Single Tone DSB-SC Modulation  </vt:lpstr>
      <vt:lpstr>Single Tone DSB-SC Modulation and its Spectrum</vt:lpstr>
      <vt:lpstr>Multi Tone DSB-SC Modulation</vt:lpstr>
      <vt:lpstr>Baseband Signal DSB-SC Modulation</vt:lpstr>
      <vt:lpstr>Baseband DSB-SC  Spectrum</vt:lpstr>
      <vt:lpstr>Main Points of DSB-SC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Double SideBand Suppressed Carrier (DSB-SC)</dc:title>
  <dc:creator>MVGR</dc:creator>
  <cp:lastModifiedBy>D Sreenivasa Rao</cp:lastModifiedBy>
  <cp:revision>15</cp:revision>
  <dcterms:created xsi:type="dcterms:W3CDTF">2023-08-31T09:39:58Z</dcterms:created>
  <dcterms:modified xsi:type="dcterms:W3CDTF">2025-09-05T11:30:38Z</dcterms:modified>
</cp:coreProperties>
</file>