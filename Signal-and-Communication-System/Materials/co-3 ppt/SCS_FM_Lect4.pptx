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32" r:id="rId2"/>
    <p:sldId id="387" r:id="rId3"/>
    <p:sldId id="372" r:id="rId4"/>
    <p:sldId id="351" r:id="rId5"/>
    <p:sldId id="352" r:id="rId6"/>
    <p:sldId id="353" r:id="rId7"/>
    <p:sldId id="399" r:id="rId8"/>
    <p:sldId id="400" r:id="rId9"/>
    <p:sldId id="402" r:id="rId10"/>
    <p:sldId id="359" r:id="rId11"/>
    <p:sldId id="394" r:id="rId12"/>
    <p:sldId id="360" r:id="rId13"/>
    <p:sldId id="392" r:id="rId14"/>
    <p:sldId id="367" r:id="rId15"/>
    <p:sldId id="389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00C0"/>
    <a:srgbClr val="024614"/>
    <a:srgbClr val="0387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14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72074A-CA69-B7F2-4C09-851AC5C814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759DA-E7CF-B663-E804-4D651C54604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3FFCFA0C-663B-4437-9839-E8487A706B0A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919AA58-E71E-5D29-508C-098F8F209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BB8FEC4-0CB0-AAE6-1BDA-404AF9D736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D34BD-51B4-C919-08E5-75FBADEA59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09E30-0941-5E83-E2B7-5A87F96BD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BE63847-07B0-43A1-B671-0D23D02F95E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72F32-C849-FC78-C60F-76CA40CC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1BC01-4C8D-4DC2-9653-10E85580FDC4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89EAD-5736-C81C-9791-6E9F84FF7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D7CE7-9D8C-8A3F-BC31-627304C2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6BF80-71F8-4A70-AD40-B77BFE6908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6197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452A3-35C8-BC50-D53E-ACE280EF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C8ADE1-3A7F-4D49-9368-634925FD08A8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EF55C-E3E5-C88E-D687-71833544B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A0C4D-04BD-CD50-7262-B187F25E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9ED881-EA1E-4276-A48C-76276F9D7B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4798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99925-940B-EFD2-E08E-206B456BD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24020-51DB-42D3-BA5E-85E2024971A5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01D62-C456-D964-114F-599EA4F60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DD366-C2FB-DE36-35A4-99FFF97A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7D4B7B-BF78-4B96-8F7D-3E58FFA338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85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07AC6E3-23EA-B149-E3CE-E1D7A4572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DCEDB-C477-439D-BD6D-55800DC8302D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BBC0BF9-C61C-9089-2665-E63D1D45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E9B7116-9322-3620-B8DF-31953501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237C26-F8ED-46DC-8907-07A6A76E29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8583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D732362-4CD3-0305-3847-EBA871CF2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53EC1D-B839-404E-830D-5A5B28264C68}" type="datetime1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4EBA181-5960-52B3-6448-8005D783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B1811F7-FD39-4422-499A-096AD581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8415B2-30CF-48F6-90F5-F4BCFCC5D7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126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4E8896B-7DD3-A323-5F46-CC37E802E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EF001B-BC72-413C-B147-B1B040A9D4AC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FD52908-B262-37B5-27FA-109E57471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A1DC4BD-67E4-7D76-844F-3FF0E3C4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907F19-B8E8-462C-9C2F-967BA23D46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999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ECEF8DE-5C7F-8299-C8F5-4BC245E5B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F526A-121D-4FC1-BFFC-659EFB6C575A}" type="datetime1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245799C-D91F-D207-BC6A-0682F4956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D7AA605-B96B-22A5-8750-A1A6DFF9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381F2-7537-4ED2-8C38-7AD97B2FCE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63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2924F5A-68F0-3FA1-1F46-AB1B4582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9C37FB-3BFE-4A49-A6C2-DC903C7071CD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72C10E-FACF-745B-1919-5D72911F0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B4FC2A-FB6E-B98A-E270-25275EA6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8E8614-B6B6-47DB-AF6D-5011036202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246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2B1591E-9157-54D1-B996-5C0D8CB1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81E7D2-C5C9-4C1D-BE50-490C069FD79C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2AA242-87E4-9D20-875F-93CAEADF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9DB4AE6-509F-66DC-9BC0-8315CA03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4CD3CB-8731-4DF2-8CE3-11ED031894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369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D16E0-6B79-9021-CF29-2B170DBC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607F14-7F0A-41B7-ADC0-4898BDAD8174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7D040-DDF8-C6A0-BB2B-C57B91B21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777A2-831D-971A-91AF-E7ED450E6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5EAE-3389-41B8-BEF3-987E46A0C5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7283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CC308-CB08-63C6-F03F-20F074F3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DB478-0F16-4915-8913-CA771C6A3745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E1A59-62DD-93D2-608D-2CF8D8880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D6022-F0EE-7F44-48DD-956A531F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AC7F-8D80-4D53-B96F-95A972E0EB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305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Placeholder 1">
            <a:extLst>
              <a:ext uri="{FF2B5EF4-FFF2-40B4-BE49-F238E27FC236}">
                <a16:creationId xmlns:a16="http://schemas.microsoft.com/office/drawing/2014/main" id="{8A489123-0A7D-6C91-2678-66E8508D2AD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3315" name="Text Placeholder 2">
            <a:extLst>
              <a:ext uri="{FF2B5EF4-FFF2-40B4-BE49-F238E27FC236}">
                <a16:creationId xmlns:a16="http://schemas.microsoft.com/office/drawing/2014/main" id="{EC1A8E6F-2CD0-472E-3939-254BF347B4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71D9-0E7E-2674-321E-075CB4D69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0EA882-82A2-4099-BD32-841A2346F3DD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14052-E110-3733-1127-1FE937623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FB1E9-AB33-B2C4-CF0D-F37196DA9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8C3F0191-5D77-4D60-8F40-7CE156E3250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5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2.bin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3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C390378-42B2-5297-E936-E8FBEE8BF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470025"/>
          </a:xfrm>
        </p:spPr>
        <p:txBody>
          <a:bodyPr/>
          <a:lstStyle/>
          <a:p>
            <a:r>
              <a:rPr lang="en-US" altLang="en-US" sz="54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Analog Communications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F9269-27E2-AD10-18A4-A630E658E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3200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(24EC2105)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2">
            <a:extLst>
              <a:ext uri="{FF2B5EF4-FFF2-40B4-BE49-F238E27FC236}">
                <a16:creationId xmlns:a16="http://schemas.microsoft.com/office/drawing/2014/main" id="{B3FBE9E9-3305-9DC5-4162-11D853F33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4800"/>
            <a:ext cx="7086600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6" name="Object 10">
            <a:extLst>
              <a:ext uri="{FF2B5EF4-FFF2-40B4-BE49-F238E27FC236}">
                <a16:creationId xmlns:a16="http://schemas.microsoft.com/office/drawing/2014/main" id="{4889AB61-007F-04C8-3EF0-D908C3111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191000"/>
          <a:ext cx="620553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16868" imgH="253890" progId="Equation.DSMT4">
                  <p:embed/>
                </p:oleObj>
              </mc:Choice>
              <mc:Fallback>
                <p:oleObj name="Equation" r:id="rId3" imgW="1916868" imgH="25389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191000"/>
                        <a:ext cx="6205538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>
            <a:extLst>
              <a:ext uri="{FF2B5EF4-FFF2-40B4-BE49-F238E27FC236}">
                <a16:creationId xmlns:a16="http://schemas.microsoft.com/office/drawing/2014/main" id="{322869A1-CB23-4264-96C9-9BD69D3164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181600"/>
          <a:ext cx="788511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28900" imgH="381000" progId="Equation.DSMT4">
                  <p:embed/>
                </p:oleObj>
              </mc:Choice>
              <mc:Fallback>
                <p:oleObj name="Equation" r:id="rId5" imgW="2628900" imgH="38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81600"/>
                        <a:ext cx="788511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6CDFF6-D5C3-542A-AA4A-F8CB3E39C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3F75D1-2798-412B-BF48-136BECD69C82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44BAA-DAF4-D2E1-F1AC-CDD4E6EB0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1">
            <a:extLst>
              <a:ext uri="{FF2B5EF4-FFF2-40B4-BE49-F238E27FC236}">
                <a16:creationId xmlns:a16="http://schemas.microsoft.com/office/drawing/2014/main" id="{A2B5A9D2-662D-22F7-C118-977C57953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438400"/>
            <a:ext cx="8229600" cy="11430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Wideband FM</a:t>
            </a:r>
          </a:p>
        </p:txBody>
      </p:sp>
      <p:graphicFrame>
        <p:nvGraphicFramePr>
          <p:cNvPr id="2050" name="Object 3">
            <a:extLst>
              <a:ext uri="{FF2B5EF4-FFF2-40B4-BE49-F238E27FC236}">
                <a16:creationId xmlns:a16="http://schemas.microsoft.com/office/drawing/2014/main" id="{6F76DCEC-DCEB-2B39-B4EF-DAA1D22015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3657600"/>
          <a:ext cx="16764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114" imgH="253780" progId="Equation.DSMT4">
                  <p:embed/>
                </p:oleObj>
              </mc:Choice>
              <mc:Fallback>
                <p:oleObj name="Equation" r:id="rId2" imgW="444114" imgH="2537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657600"/>
                        <a:ext cx="16764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9801A-B80B-1EDF-7009-83D808FC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67467D-80C4-450C-8109-B110552E1969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4AE16-BEE2-8A01-E461-FB8E92AB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itle 1">
            <a:extLst>
              <a:ext uri="{FF2B5EF4-FFF2-40B4-BE49-F238E27FC236}">
                <a16:creationId xmlns:a16="http://schemas.microsoft.com/office/drawing/2014/main" id="{19AB6CAA-F546-30F8-DC17-96235DB4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67600" cy="914400"/>
          </a:xfrm>
        </p:spPr>
        <p:txBody>
          <a:bodyPr/>
          <a:lstStyle/>
          <a:p>
            <a:r>
              <a:rPr lang="en-US" altLang="en-US" sz="36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Single-tone Wideband FM </a:t>
            </a:r>
            <a:endParaRPr lang="en-US" altLang="en-US" sz="3600">
              <a:solidFill>
                <a:srgbClr val="3200C0"/>
              </a:solidFill>
            </a:endParaRPr>
          </a:p>
        </p:txBody>
      </p:sp>
      <p:sp>
        <p:nvSpPr>
          <p:cNvPr id="9226" name="Content Placeholder 2">
            <a:extLst>
              <a:ext uri="{FF2B5EF4-FFF2-40B4-BE49-F238E27FC236}">
                <a16:creationId xmlns:a16="http://schemas.microsoft.com/office/drawing/2014/main" id="{1B588C06-069F-CD15-9035-B3CE5D665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11763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>
              <a:buFont typeface="Arial" panose="020B0604020202020204" pitchFamily="34" charset="0"/>
              <a:buNone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Bessel function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of the first kind of </a:t>
            </a:r>
            <a:r>
              <a:rPr lang="en-US" altLang="en-US" sz="2800" i="1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th order with argument</a:t>
            </a:r>
            <a:r>
              <a:rPr lang="el-GR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β</a:t>
            </a:r>
            <a:r>
              <a:rPr lang="en-US" altLang="en-US" sz="2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  <a:endParaRPr lang="en-US" altLang="en-US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74" name="Object 4">
            <a:extLst>
              <a:ext uri="{FF2B5EF4-FFF2-40B4-BE49-F238E27FC236}">
                <a16:creationId xmlns:a16="http://schemas.microsoft.com/office/drawing/2014/main" id="{4920668E-7FCF-4C1E-E2C7-2E1113D983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1800" y="166688"/>
          <a:ext cx="1295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114" imgH="253780" progId="Equation.DSMT4">
                  <p:embed/>
                </p:oleObj>
              </mc:Choice>
              <mc:Fallback>
                <p:oleObj name="Equation" r:id="rId2" imgW="444114" imgH="2537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66688"/>
                        <a:ext cx="12954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Rectangle 6">
            <a:extLst>
              <a:ext uri="{FF2B5EF4-FFF2-40B4-BE49-F238E27FC236}">
                <a16:creationId xmlns:a16="http://schemas.microsoft.com/office/drawing/2014/main" id="{D715CAF5-CB9D-E365-7996-952C63621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9219" name="Object 5">
            <a:extLst>
              <a:ext uri="{FF2B5EF4-FFF2-40B4-BE49-F238E27FC236}">
                <a16:creationId xmlns:a16="http://schemas.microsoft.com/office/drawing/2014/main" id="{A77E036F-211F-C382-A092-6F6140CB8D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762000"/>
          <a:ext cx="538003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11400" imgH="304800" progId="Equation.DSMT4">
                  <p:embed/>
                </p:oleObj>
              </mc:Choice>
              <mc:Fallback>
                <p:oleObj name="Equation" r:id="rId4" imgW="2311400" imgH="304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762000"/>
                        <a:ext cx="5380038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Rectangle 8">
            <a:extLst>
              <a:ext uri="{FF2B5EF4-FFF2-40B4-BE49-F238E27FC236}">
                <a16:creationId xmlns:a16="http://schemas.microsoft.com/office/drawing/2014/main" id="{8DC85B9D-BBA4-DE44-801F-9CC039857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9220" name="Object 7">
            <a:extLst>
              <a:ext uri="{FF2B5EF4-FFF2-40B4-BE49-F238E27FC236}">
                <a16:creationId xmlns:a16="http://schemas.microsoft.com/office/drawing/2014/main" id="{F4E03D3B-5272-8419-8FBB-9848330C7C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1447800"/>
          <a:ext cx="86677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30700" imgH="304800" progId="Equation.DSMT4">
                  <p:embed/>
                </p:oleObj>
              </mc:Choice>
              <mc:Fallback>
                <p:oleObj name="Equation" r:id="rId6" imgW="4330700" imgH="304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447800"/>
                        <a:ext cx="86677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9" name="Rectangle 8">
            <a:extLst>
              <a:ext uri="{FF2B5EF4-FFF2-40B4-BE49-F238E27FC236}">
                <a16:creationId xmlns:a16="http://schemas.microsoft.com/office/drawing/2014/main" id="{3742AB54-6362-A5C9-1E95-1FF877798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362200"/>
            <a:ext cx="3779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</a:rPr>
              <a:t>an even, periodic function </a:t>
            </a:r>
          </a:p>
        </p:txBody>
      </p:sp>
      <p:sp>
        <p:nvSpPr>
          <p:cNvPr id="9230" name="Rectangle 9">
            <a:extLst>
              <a:ext uri="{FF2B5EF4-FFF2-40B4-BE49-F238E27FC236}">
                <a16:creationId xmlns:a16="http://schemas.microsoft.com/office/drawing/2014/main" id="{66AD74FD-9BA1-2236-4A70-F613F19C8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362200"/>
            <a:ext cx="3541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</a:rPr>
              <a:t>an odd periodic function </a:t>
            </a:r>
          </a:p>
        </p:txBody>
      </p:sp>
      <p:sp>
        <p:nvSpPr>
          <p:cNvPr id="3085" name="Rectangle 10">
            <a:extLst>
              <a:ext uri="{FF2B5EF4-FFF2-40B4-BE49-F238E27FC236}">
                <a16:creationId xmlns:a16="http://schemas.microsoft.com/office/drawing/2014/main" id="{93B5B805-C7B6-B9C9-7C4D-BA7C48ACB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33E443E8-8F4E-E9CB-AA1A-175B53E9F632}"/>
              </a:ext>
            </a:extLst>
          </p:cNvPr>
          <p:cNvSpPr/>
          <p:nvPr/>
        </p:nvSpPr>
        <p:spPr>
          <a:xfrm>
            <a:off x="2971800" y="1981200"/>
            <a:ext cx="2286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0146F250-83C5-F9F9-864E-059EDAC5A3B7}"/>
              </a:ext>
            </a:extLst>
          </p:cNvPr>
          <p:cNvSpPr/>
          <p:nvPr/>
        </p:nvSpPr>
        <p:spPr>
          <a:xfrm>
            <a:off x="7315200" y="1981200"/>
            <a:ext cx="228600" cy="3810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88" name="Rectangle 12">
            <a:extLst>
              <a:ext uri="{FF2B5EF4-FFF2-40B4-BE49-F238E27FC236}">
                <a16:creationId xmlns:a16="http://schemas.microsoft.com/office/drawing/2014/main" id="{DEDA0DB8-F69B-2CFD-294A-D3A86EBF9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89" name="Rectangle 18">
            <a:extLst>
              <a:ext uri="{FF2B5EF4-FFF2-40B4-BE49-F238E27FC236}">
                <a16:creationId xmlns:a16="http://schemas.microsoft.com/office/drawing/2014/main" id="{E0D4416C-AED9-D2FB-16C7-7B20F6CC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090" name="Rectangle 20">
            <a:extLst>
              <a:ext uri="{FF2B5EF4-FFF2-40B4-BE49-F238E27FC236}">
                <a16:creationId xmlns:a16="http://schemas.microsoft.com/office/drawing/2014/main" id="{402F8214-54D3-D0F0-AF10-480C679D1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91" name="Object 19">
            <a:extLst>
              <a:ext uri="{FF2B5EF4-FFF2-40B4-BE49-F238E27FC236}">
                <a16:creationId xmlns:a16="http://schemas.microsoft.com/office/drawing/2014/main" id="{F480F0B4-D9FC-FB45-313F-6B247F0073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2895600"/>
          <a:ext cx="82899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54400" imgH="508000" progId="Equation.DSMT4">
                  <p:embed/>
                </p:oleObj>
              </mc:Choice>
              <mc:Fallback>
                <p:oleObj name="Equation" r:id="rId8" imgW="3454400" imgH="508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895600"/>
                        <a:ext cx="828992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6">
            <a:extLst>
              <a:ext uri="{FF2B5EF4-FFF2-40B4-BE49-F238E27FC236}">
                <a16:creationId xmlns:a16="http://schemas.microsoft.com/office/drawing/2014/main" id="{696481AD-0994-D4C1-910F-B3A079790D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4241800"/>
          <a:ext cx="868680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73500" imgH="508000" progId="Equation.DSMT4">
                  <p:embed/>
                </p:oleObj>
              </mc:Choice>
              <mc:Fallback>
                <p:oleObj name="Equation" r:id="rId10" imgW="3873500" imgH="508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241800"/>
                        <a:ext cx="8686800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D33D96-DEA4-5B68-3524-92020A3EB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D50D1F-38A1-48CF-BCEF-681E5DFC66BF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29A97-8653-CF83-0DD9-F36DC0E5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9" grpId="0"/>
      <p:bldP spid="9230" grpId="0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>
            <a:extLst>
              <a:ext uri="{FF2B5EF4-FFF2-40B4-BE49-F238E27FC236}">
                <a16:creationId xmlns:a16="http://schemas.microsoft.com/office/drawing/2014/main" id="{B8930C65-08E5-D46D-5C4C-59BFE1F2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685800"/>
          </a:xfrm>
        </p:spPr>
        <p:txBody>
          <a:bodyPr/>
          <a:lstStyle/>
          <a:p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Wideband FM…</a:t>
            </a:r>
            <a:endParaRPr lang="en-US" altLang="en-US" sz="3600"/>
          </a:p>
        </p:txBody>
      </p:sp>
      <p:sp>
        <p:nvSpPr>
          <p:cNvPr id="4100" name="Rectangle 5">
            <a:extLst>
              <a:ext uri="{FF2B5EF4-FFF2-40B4-BE49-F238E27FC236}">
                <a16:creationId xmlns:a16="http://schemas.microsoft.com/office/drawing/2014/main" id="{6D0953DA-77BF-9B61-3532-665E6F3A6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01" name="Rectangle 9">
            <a:extLst>
              <a:ext uri="{FF2B5EF4-FFF2-40B4-BE49-F238E27FC236}">
                <a16:creationId xmlns:a16="http://schemas.microsoft.com/office/drawing/2014/main" id="{9AFEC59C-3A4A-8C1C-216A-2D4CF882C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42" name="Object 8">
            <a:extLst>
              <a:ext uri="{FF2B5EF4-FFF2-40B4-BE49-F238E27FC236}">
                <a16:creationId xmlns:a16="http://schemas.microsoft.com/office/drawing/2014/main" id="{15ED2F1E-DBFD-CD8D-9FCF-2F9B3DDF2D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838200"/>
          <a:ext cx="7654925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76600" imgH="1308100" progId="Equation.DSMT4">
                  <p:embed/>
                </p:oleObj>
              </mc:Choice>
              <mc:Fallback>
                <p:oleObj name="Equation" r:id="rId2" imgW="3276600" imgH="1308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838200"/>
                        <a:ext cx="7654925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2" name="Picture 7">
            <a:extLst>
              <a:ext uri="{FF2B5EF4-FFF2-40B4-BE49-F238E27FC236}">
                <a16:creationId xmlns:a16="http://schemas.microsoft.com/office/drawing/2014/main" id="{7A1C2A32-0253-2F6E-B0BE-820CF85FD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962400"/>
            <a:ext cx="6248400" cy="243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649F64-407D-1FB7-ED33-5D90EE16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830953-18CB-471D-8BC9-86E3E8E159CC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048EA-6F8B-2BC8-E443-82F401F2D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">
            <a:extLst>
              <a:ext uri="{FF2B5EF4-FFF2-40B4-BE49-F238E27FC236}">
                <a16:creationId xmlns:a16="http://schemas.microsoft.com/office/drawing/2014/main" id="{8024F764-A5A7-25C9-2538-4CD45C59D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4338" name="Object 4">
            <a:extLst>
              <a:ext uri="{FF2B5EF4-FFF2-40B4-BE49-F238E27FC236}">
                <a16:creationId xmlns:a16="http://schemas.microsoft.com/office/drawing/2014/main" id="{7F4B5782-920F-878F-5F1B-79D43F9E28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152400"/>
          <a:ext cx="510540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09800" imgH="533400" progId="Equation.DSMT4">
                  <p:embed/>
                </p:oleObj>
              </mc:Choice>
              <mc:Fallback>
                <p:oleObj name="Equation" r:id="rId2" imgW="2209800" imgH="533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52400"/>
                        <a:ext cx="5105400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7">
            <a:extLst>
              <a:ext uri="{FF2B5EF4-FFF2-40B4-BE49-F238E27FC236}">
                <a16:creationId xmlns:a16="http://schemas.microsoft.com/office/drawing/2014/main" id="{E8E275B3-DE93-0AAE-D34C-460935819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4339" name="Object 6">
            <a:extLst>
              <a:ext uri="{FF2B5EF4-FFF2-40B4-BE49-F238E27FC236}">
                <a16:creationId xmlns:a16="http://schemas.microsoft.com/office/drawing/2014/main" id="{5CA61D22-3F14-6919-E824-F85801E1E0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1371600"/>
          <a:ext cx="715327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14600" imgH="431800" progId="Equation.DSMT4">
                  <p:embed/>
                </p:oleObj>
              </mc:Choice>
              <mc:Fallback>
                <p:oleObj name="Equation" r:id="rId4" imgW="25146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371600"/>
                        <a:ext cx="715327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7">
            <a:extLst>
              <a:ext uri="{FF2B5EF4-FFF2-40B4-BE49-F238E27FC236}">
                <a16:creationId xmlns:a16="http://schemas.microsoft.com/office/drawing/2014/main" id="{864E625D-70CE-D12E-5DFF-D5D086FB6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000"/>
            <a:ext cx="3022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>
                <a:solidFill>
                  <a:srgbClr val="FF0000"/>
                </a:solidFill>
              </a:rPr>
              <a:t>Spectrum of WBFM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5130" name="Rectangle 9">
            <a:extLst>
              <a:ext uri="{FF2B5EF4-FFF2-40B4-BE49-F238E27FC236}">
                <a16:creationId xmlns:a16="http://schemas.microsoft.com/office/drawing/2014/main" id="{2790B0A5-D37B-A9A8-EC27-B9AA77C86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4340" name="Object 8">
            <a:extLst>
              <a:ext uri="{FF2B5EF4-FFF2-40B4-BE49-F238E27FC236}">
                <a16:creationId xmlns:a16="http://schemas.microsoft.com/office/drawing/2014/main" id="{DE079662-4DFF-2D47-C2F7-094793EFA6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4763" y="3276600"/>
          <a:ext cx="91487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87800" imgH="431800" progId="Equation.DSMT4">
                  <p:embed/>
                </p:oleObj>
              </mc:Choice>
              <mc:Fallback>
                <p:oleObj name="Equation" r:id="rId6" imgW="39878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4763" y="3276600"/>
                        <a:ext cx="914876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Rectangle 10">
            <a:extLst>
              <a:ext uri="{FF2B5EF4-FFF2-40B4-BE49-F238E27FC236}">
                <a16:creationId xmlns:a16="http://schemas.microsoft.com/office/drawing/2014/main" id="{72936BC4-F4A3-B2CA-11F5-8D5AB77B2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125" name="Object 9">
            <a:extLst>
              <a:ext uri="{FF2B5EF4-FFF2-40B4-BE49-F238E27FC236}">
                <a16:creationId xmlns:a16="http://schemas.microsoft.com/office/drawing/2014/main" id="{AFECB03B-20A7-54BC-D29A-923F55653B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4191000"/>
          <a:ext cx="16002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280" imgH="393529" progId="Equation.DSMT4">
                  <p:embed/>
                </p:oleObj>
              </mc:Choice>
              <mc:Fallback>
                <p:oleObj name="Equation" r:id="rId8" imgW="736280" imgH="39352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191000"/>
                        <a:ext cx="16002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Rectangle 10">
            <a:extLst>
              <a:ext uri="{FF2B5EF4-FFF2-40B4-BE49-F238E27FC236}">
                <a16:creationId xmlns:a16="http://schemas.microsoft.com/office/drawing/2014/main" id="{01342034-6799-76F7-99D8-DE69A5A81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419600"/>
            <a:ext cx="3813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3200C0"/>
                </a:solidFill>
              </a:rPr>
              <a:t>The carrier with amplitude </a:t>
            </a:r>
          </a:p>
        </p:txBody>
      </p:sp>
      <p:sp>
        <p:nvSpPr>
          <p:cNvPr id="5133" name="Rectangle 11">
            <a:extLst>
              <a:ext uri="{FF2B5EF4-FFF2-40B4-BE49-F238E27FC236}">
                <a16:creationId xmlns:a16="http://schemas.microsoft.com/office/drawing/2014/main" id="{717F4CC9-B0E2-6EE2-EADD-F87C365D1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5008563"/>
            <a:ext cx="89154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024614"/>
                </a:solidFill>
              </a:rPr>
              <a:t>A set of side frequencies specified simultaneously on the either side of the carrier at a frequency separation of </a:t>
            </a:r>
          </a:p>
        </p:txBody>
      </p:sp>
      <p:sp>
        <p:nvSpPr>
          <p:cNvPr id="5134" name="Rectangle 12">
            <a:extLst>
              <a:ext uri="{FF2B5EF4-FFF2-40B4-BE49-F238E27FC236}">
                <a16:creationId xmlns:a16="http://schemas.microsoft.com/office/drawing/2014/main" id="{C8BABC13-5D2E-B49B-E6E7-7FC124442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126" name="Object 11">
            <a:extLst>
              <a:ext uri="{FF2B5EF4-FFF2-40B4-BE49-F238E27FC236}">
                <a16:creationId xmlns:a16="http://schemas.microsoft.com/office/drawing/2014/main" id="{F7E8ED8A-CF8B-A421-FF0E-9C83FAF76F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5867400"/>
          <a:ext cx="27590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29810" imgH="215806" progId="Equation.DSMT4">
                  <p:embed/>
                </p:oleObj>
              </mc:Choice>
              <mc:Fallback>
                <p:oleObj name="Equation" r:id="rId10" imgW="1129810" imgH="215806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867400"/>
                        <a:ext cx="27590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43493C-0997-5E07-E0C9-17C4983CD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9770B4-A714-4F71-9837-ECF56637930D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6AF4A-219D-47FE-8328-803C841A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>
            <a:extLst>
              <a:ext uri="{FF2B5EF4-FFF2-40B4-BE49-F238E27FC236}">
                <a16:creationId xmlns:a16="http://schemas.microsoft.com/office/drawing/2014/main" id="{9EC6A29D-DBA7-B96D-4C0D-EE695A02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1200"/>
            <a:ext cx="9170988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F418F-7C26-CBA7-1A94-E77A92D8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163D4C-7852-4F6B-92BF-0E080324D671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F6D86-9EE8-B46F-E5F5-DD4D94D7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B57E-01B9-7E56-9BF6-002DAE18D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1925"/>
            <a:ext cx="8229600" cy="792162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Bandwidth of FM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F70CB-7203-54CD-1B2F-581B32614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295400"/>
            <a:ext cx="8763000" cy="4525963"/>
          </a:xfrm>
        </p:spPr>
        <p:txBody>
          <a:bodyPr/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20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Band width of NBFM.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Bandwidth of WBFM</a:t>
            </a:r>
            <a:endParaRPr lang="en-US" dirty="0">
              <a:solidFill>
                <a:srgbClr val="320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Band width of FM based on the frequency deviation.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Band width of FM based on the number of significant sidebands.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Band width of FM based on the Carson’s rule.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95099-EF42-353D-C642-3AEEFBB7E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74174C-0A1C-4240-931F-4E73BD6C76D3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E9A98-1960-2757-7F34-FBBA963DA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979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Title 1">
            <a:extLst>
              <a:ext uri="{FF2B5EF4-FFF2-40B4-BE49-F238E27FC236}">
                <a16:creationId xmlns:a16="http://schemas.microsoft.com/office/drawing/2014/main" id="{CEAEFEAF-BC9C-F7AC-E620-6A14E30A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2560" y="126048"/>
            <a:ext cx="9296400" cy="712148"/>
          </a:xfrm>
        </p:spPr>
        <p:txBody>
          <a:bodyPr/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20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Band width of NBFM</a:t>
            </a:r>
            <a:endParaRPr lang="en-US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8" name="Content Placeholder 2">
            <a:extLst>
              <a:ext uri="{FF2B5EF4-FFF2-40B4-BE49-F238E27FC236}">
                <a16:creationId xmlns:a16="http://schemas.microsoft.com/office/drawing/2014/main" id="{FA338ED7-DC25-CB4E-8638-095DD899E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844676"/>
            <a:ext cx="7614920" cy="1828800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Same as AM.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NBFM: 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B.W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i="1" dirty="0">
              <a:solidFill>
                <a:srgbClr val="3200C0"/>
              </a:solidFill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i="1" dirty="0">
              <a:solidFill>
                <a:srgbClr val="320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9" name="Rectangle 10">
            <a:extLst>
              <a:ext uri="{FF2B5EF4-FFF2-40B4-BE49-F238E27FC236}">
                <a16:creationId xmlns:a16="http://schemas.microsoft.com/office/drawing/2014/main" id="{C896688D-0A95-5FDB-75CC-E2F85AC14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259E9-F1FF-07C6-CBC6-522F93F0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03C689-23F6-4FEE-A837-36E627C61333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9AB09-88A2-471E-AA13-330D9DE9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1191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Title 1">
            <a:extLst>
              <a:ext uri="{FF2B5EF4-FFF2-40B4-BE49-F238E27FC236}">
                <a16:creationId xmlns:a16="http://schemas.microsoft.com/office/drawing/2014/main" id="{CEAEFEAF-BC9C-F7AC-E620-6A14E30A4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2560" y="126048"/>
            <a:ext cx="9296400" cy="1020763"/>
          </a:xfrm>
        </p:spPr>
        <p:txBody>
          <a:bodyPr/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1200"/>
              </a:spcAft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20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Band width of FM based on the frequency deviation.</a:t>
            </a:r>
            <a:endParaRPr lang="en-US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9" name="Rectangle 10">
            <a:extLst>
              <a:ext uri="{FF2B5EF4-FFF2-40B4-BE49-F238E27FC236}">
                <a16:creationId xmlns:a16="http://schemas.microsoft.com/office/drawing/2014/main" id="{C896688D-0A95-5FDB-75CC-E2F85AC14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8200" name="Picture 8">
            <a:extLst>
              <a:ext uri="{FF2B5EF4-FFF2-40B4-BE49-F238E27FC236}">
                <a16:creationId xmlns:a16="http://schemas.microsoft.com/office/drawing/2014/main" id="{3816B0B0-ABB8-E7BB-816F-4F517A786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20523"/>
            <a:ext cx="6248400" cy="2874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259E9-F1FF-07C6-CBC6-522F93F0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817E64-560A-4633-B5F1-73834B2ED676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9AB09-88A2-471E-AA13-330D9DE9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63BEC7-3058-EC4D-C5F6-1CF387C49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988565"/>
            <a:ext cx="7620000" cy="661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>
            <a:extLst>
              <a:ext uri="{FF2B5EF4-FFF2-40B4-BE49-F238E27FC236}">
                <a16:creationId xmlns:a16="http://schemas.microsoft.com/office/drawing/2014/main" id="{CA9CB965-A234-E3DB-69F7-32B8616D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40" y="226239"/>
            <a:ext cx="8229600" cy="1143000"/>
          </a:xfrm>
        </p:spPr>
        <p:txBody>
          <a:bodyPr/>
          <a:lstStyle/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3200C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Band width of FM based on the number of significant sidebands</a:t>
            </a:r>
            <a:endParaRPr lang="en-US" altLang="en-US" dirty="0"/>
          </a:p>
        </p:txBody>
      </p:sp>
      <p:sp>
        <p:nvSpPr>
          <p:cNvPr id="9220" name="Content Placeholder 2">
            <a:extLst>
              <a:ext uri="{FF2B5EF4-FFF2-40B4-BE49-F238E27FC236}">
                <a16:creationId xmlns:a16="http://schemas.microsoft.com/office/drawing/2014/main" id="{BC7AEEAA-173B-0CF3-9B61-3F83D3B9B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738312"/>
            <a:ext cx="9144000" cy="4983163"/>
          </a:xfrm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actual bandwidth required to pass all the significant sidebands</a:t>
            </a:r>
            <a:endParaRPr lang="en-US" altLang="en-US" dirty="0"/>
          </a:p>
        </p:txBody>
      </p:sp>
      <p:graphicFrame>
        <p:nvGraphicFramePr>
          <p:cNvPr id="9218" name="Object 9">
            <a:extLst>
              <a:ext uri="{FF2B5EF4-FFF2-40B4-BE49-F238E27FC236}">
                <a16:creationId xmlns:a16="http://schemas.microsoft.com/office/drawing/2014/main" id="{D8B1B691-4166-A91A-6EFF-FF55BE4998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552977"/>
              </p:ext>
            </p:extLst>
          </p:nvPr>
        </p:nvGraphicFramePr>
        <p:xfrm>
          <a:off x="3088640" y="5546377"/>
          <a:ext cx="25908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003" imgH="215806" progId="Equation.DSMT4">
                  <p:embed/>
                </p:oleObj>
              </mc:Choice>
              <mc:Fallback>
                <p:oleObj name="Equation" r:id="rId2" imgW="914003" imgH="215806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8640" y="5546377"/>
                        <a:ext cx="2590800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1" name="Picture 6">
            <a:extLst>
              <a:ext uri="{FF2B5EF4-FFF2-40B4-BE49-F238E27FC236}">
                <a16:creationId xmlns:a16="http://schemas.microsoft.com/office/drawing/2014/main" id="{8477D92F-18C3-0CEF-033E-C2C4B3178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" y="2688084"/>
            <a:ext cx="8923337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150FC-E98F-5F28-4FBF-C5E0E9644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045DD5E-35E1-4599-9736-6F77E89CE928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6747-E6CD-C4F0-079E-D8A2AFF8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>
            <a:extLst>
              <a:ext uri="{FF2B5EF4-FFF2-40B4-BE49-F238E27FC236}">
                <a16:creationId xmlns:a16="http://schemas.microsoft.com/office/drawing/2014/main" id="{20DF4335-BBB1-1A5D-8F7C-B7DF7C32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954505"/>
            <a:ext cx="2743200" cy="543005"/>
          </a:xfrm>
        </p:spPr>
        <p:txBody>
          <a:bodyPr/>
          <a:lstStyle/>
          <a:p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Carson</a:t>
            </a:r>
            <a:r>
              <a:rPr lang="en-US" altLang="en-US" sz="3000" b="1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en-US" sz="3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Rule</a:t>
            </a:r>
          </a:p>
        </p:txBody>
      </p:sp>
      <p:sp>
        <p:nvSpPr>
          <p:cNvPr id="10244" name="Content Placeholder 2">
            <a:extLst>
              <a:ext uri="{FF2B5EF4-FFF2-40B4-BE49-F238E27FC236}">
                <a16:creationId xmlns:a16="http://schemas.microsoft.com/office/drawing/2014/main" id="{064012E6-9E3D-298B-3A3B-738F40844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25804"/>
            <a:ext cx="8763000" cy="5211763"/>
          </a:xfrm>
        </p:spPr>
        <p:txBody>
          <a:bodyPr/>
          <a:lstStyle/>
          <a:p>
            <a:pPr algn="just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Carson rule state that the approximate bandwidth necessary to transmit an angle modulated wave as twice the sum of the frequency deviation and the highest modulating signal frequency.</a:t>
            </a:r>
          </a:p>
          <a:p>
            <a:pPr algn="just">
              <a:buFont typeface="Arial" panose="020B0604020202020204" pitchFamily="34" charset="0"/>
              <a:buNone/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Approximates the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98% </a:t>
            </a:r>
            <a:r>
              <a:rPr lang="en-US" altLang="en-US" sz="28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total power.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Carson’s BW 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is less than actual </a:t>
            </a:r>
            <a:r>
              <a:rPr lang="en-US" alt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Transmission BW.</a:t>
            </a:r>
          </a:p>
          <a:p>
            <a:pPr algn="just"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BB55416C-A9E4-0EB9-006D-F24B82B7E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42" name="Object 4">
            <a:extLst>
              <a:ext uri="{FF2B5EF4-FFF2-40B4-BE49-F238E27FC236}">
                <a16:creationId xmlns:a16="http://schemas.microsoft.com/office/drawing/2014/main" id="{5134D939-40CF-5D21-9A4F-7BC87B2183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603122"/>
              </p:ext>
            </p:extLst>
          </p:nvPr>
        </p:nvGraphicFramePr>
        <p:xfrm>
          <a:off x="194468" y="3384817"/>
          <a:ext cx="875506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13100" imgH="419100" progId="Equation.DSMT4">
                  <p:embed/>
                </p:oleObj>
              </mc:Choice>
              <mc:Fallback>
                <p:oleObj name="Equation" r:id="rId2" imgW="32131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" y="3384817"/>
                        <a:ext cx="875506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697885-222B-7416-E25D-DAB38EF0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86141C-E51D-4990-933E-1C4691A33067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CB840-2894-F76C-E5ED-3CD35A4E7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7A93D-1252-5E8A-5B8C-3639AED611FD}"/>
              </a:ext>
            </a:extLst>
          </p:cNvPr>
          <p:cNvSpPr txBox="1"/>
          <p:nvPr/>
        </p:nvSpPr>
        <p:spPr>
          <a:xfrm>
            <a:off x="228600" y="170082"/>
            <a:ext cx="9067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24614"/>
                </a:solidFill>
                <a:cs typeface="Arial" panose="020B0604020202020204" pitchFamily="34" charset="0"/>
              </a:rPr>
              <a:t>Band width of FM based on the Carson’s rule</a:t>
            </a:r>
            <a:endParaRPr lang="en-IN" sz="32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7" name="Title 1">
            <a:extLst>
              <a:ext uri="{FF2B5EF4-FFF2-40B4-BE49-F238E27FC236}">
                <a16:creationId xmlns:a16="http://schemas.microsoft.com/office/drawing/2014/main" id="{E452C16C-6FED-FDBB-CE6D-DA5CFDBCA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685800"/>
          </a:xfrm>
        </p:spPr>
        <p:txBody>
          <a:bodyPr/>
          <a:lstStyle/>
          <a:p>
            <a:r>
              <a:rPr lang="en-US" altLang="en-US" sz="3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 of the Modulation Index on Bandwidth</a:t>
            </a:r>
          </a:p>
        </p:txBody>
      </p:sp>
      <p:graphicFrame>
        <p:nvGraphicFramePr>
          <p:cNvPr id="12290" name="Object 4">
            <a:extLst>
              <a:ext uri="{FF2B5EF4-FFF2-40B4-BE49-F238E27FC236}">
                <a16:creationId xmlns:a16="http://schemas.microsoft.com/office/drawing/2014/main" id="{9361D56E-3DD5-64A7-A134-53B245FA30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990600"/>
          <a:ext cx="19050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725" imgH="418918" progId="Equation.DSMT4">
                  <p:embed/>
                </p:oleObj>
              </mc:Choice>
              <mc:Fallback>
                <p:oleObj name="Equation" r:id="rId2" imgW="634725" imgH="41891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90600"/>
                        <a:ext cx="19050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Rectangle 6">
            <a:extLst>
              <a:ext uri="{FF2B5EF4-FFF2-40B4-BE49-F238E27FC236}">
                <a16:creationId xmlns:a16="http://schemas.microsoft.com/office/drawing/2014/main" id="{02359D39-1A8D-982D-ADC4-5F8C50138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2291" name="Object 5">
            <a:extLst>
              <a:ext uri="{FF2B5EF4-FFF2-40B4-BE49-F238E27FC236}">
                <a16:creationId xmlns:a16="http://schemas.microsoft.com/office/drawing/2014/main" id="{7711461B-FD5D-6530-D9A3-CA7E531094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2438400"/>
          <a:ext cx="15240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3947" imgH="253890" progId="Equation.DSMT4">
                  <p:embed/>
                </p:oleObj>
              </mc:Choice>
              <mc:Fallback>
                <p:oleObj name="Equation" r:id="rId4" imgW="583947" imgH="25389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438400"/>
                        <a:ext cx="15240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Rectangle 8">
            <a:extLst>
              <a:ext uri="{FF2B5EF4-FFF2-40B4-BE49-F238E27FC236}">
                <a16:creationId xmlns:a16="http://schemas.microsoft.com/office/drawing/2014/main" id="{091F69F1-7699-EE14-9A32-551B09CD1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2292" name="Object 7">
            <a:extLst>
              <a:ext uri="{FF2B5EF4-FFF2-40B4-BE49-F238E27FC236}">
                <a16:creationId xmlns:a16="http://schemas.microsoft.com/office/drawing/2014/main" id="{C7BE9966-7F8E-6809-435E-4AF5A2826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438400"/>
          <a:ext cx="2997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600" imgH="228600" progId="Equation.DSMT4">
                  <p:embed/>
                </p:oleObj>
              </mc:Choice>
              <mc:Fallback>
                <p:oleObj name="Equation" r:id="rId6" imgW="11176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438400"/>
                        <a:ext cx="2997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9">
            <a:extLst>
              <a:ext uri="{FF2B5EF4-FFF2-40B4-BE49-F238E27FC236}">
                <a16:creationId xmlns:a16="http://schemas.microsoft.com/office/drawing/2014/main" id="{7BCACBFD-C27C-386A-90B4-4F6D6D7ED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3276600"/>
          <a:ext cx="35321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7532" imgH="253890" progId="Equation.DSMT4">
                  <p:embed/>
                </p:oleObj>
              </mc:Choice>
              <mc:Fallback>
                <p:oleObj name="Equation" r:id="rId8" imgW="1307532" imgH="25389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276600"/>
                        <a:ext cx="353218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0">
            <a:extLst>
              <a:ext uri="{FF2B5EF4-FFF2-40B4-BE49-F238E27FC236}">
                <a16:creationId xmlns:a16="http://schemas.microsoft.com/office/drawing/2014/main" id="{E6956064-5FCE-2979-059D-52BE82F01D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3276600"/>
          <a:ext cx="12192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44114" imgH="253780" progId="Equation.DSMT4">
                  <p:embed/>
                </p:oleObj>
              </mc:Choice>
              <mc:Fallback>
                <p:oleObj name="Equation" r:id="rId10" imgW="444114" imgH="2537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276600"/>
                        <a:ext cx="121920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11">
            <a:extLst>
              <a:ext uri="{FF2B5EF4-FFF2-40B4-BE49-F238E27FC236}">
                <a16:creationId xmlns:a16="http://schemas.microsoft.com/office/drawing/2014/main" id="{3F6819BC-1769-51CB-541C-ED62EB8345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5562600"/>
          <a:ext cx="55546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57400" imgH="254000" progId="Equation.DSMT4">
                  <p:embed/>
                </p:oleObj>
              </mc:Choice>
              <mc:Fallback>
                <p:oleObj name="Equation" r:id="rId12" imgW="2057400" imgH="254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562600"/>
                        <a:ext cx="55546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Rectangle 11">
            <a:extLst>
              <a:ext uri="{FF2B5EF4-FFF2-40B4-BE49-F238E27FC236}">
                <a16:creationId xmlns:a16="http://schemas.microsoft.com/office/drawing/2014/main" id="{42073DFF-F518-D0FF-293A-C01786869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76800"/>
            <a:ext cx="3505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dirty="0">
                <a:solidFill>
                  <a:srgbClr val="FF0000"/>
                </a:solidFill>
              </a:rPr>
              <a:t>The Carson’s rule </a:t>
            </a:r>
          </a:p>
        </p:txBody>
      </p:sp>
      <p:graphicFrame>
        <p:nvGraphicFramePr>
          <p:cNvPr id="12296" name="Object 8">
            <a:extLst>
              <a:ext uri="{FF2B5EF4-FFF2-40B4-BE49-F238E27FC236}">
                <a16:creationId xmlns:a16="http://schemas.microsoft.com/office/drawing/2014/main" id="{8DEA7DE6-D95B-89A7-FBAF-D9F6DC3E72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4114800"/>
          <a:ext cx="25908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14003" imgH="215806" progId="Equation.DSMT4">
                  <p:embed/>
                </p:oleObj>
              </mc:Choice>
              <mc:Fallback>
                <p:oleObj name="Equation" r:id="rId14" imgW="914003" imgH="21580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114800"/>
                        <a:ext cx="2590800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3B022B-E580-7E28-7323-61EC27A79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D7A9CC-F227-4145-9521-0FD2526CF9A3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D0089-D175-C1D7-1D90-CBA049DD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C975EEDB-23D2-C665-0A10-C0010EECE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28600"/>
            <a:ext cx="9144000" cy="1143000"/>
          </a:xfrm>
        </p:spPr>
        <p:txBody>
          <a:bodyPr/>
          <a:lstStyle/>
          <a:p>
            <a:r>
              <a:rPr lang="en-US" altLang="en-US" sz="3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Power of an Angle Modulated Wave</a:t>
            </a:r>
          </a:p>
        </p:txBody>
      </p:sp>
      <p:pic>
        <p:nvPicPr>
          <p:cNvPr id="26627" name="Picture 4">
            <a:extLst>
              <a:ext uri="{FF2B5EF4-FFF2-40B4-BE49-F238E27FC236}">
                <a16:creationId xmlns:a16="http://schemas.microsoft.com/office/drawing/2014/main" id="{01A15452-A8CD-555D-933C-1F9E3FB37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41" y="1143000"/>
            <a:ext cx="878691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5D4E29-D748-98B4-8D99-99A8EAA6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63AEC12-1017-4718-B2D3-DCC038E6AE3E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7D89A-A7C7-1CC0-5371-BC706D1C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22A47216-437A-46B0-A160-12B415CA5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0"/>
            <a:ext cx="8229600" cy="11430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WBFM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BE5C14-DBDA-7D45-CD03-961FB002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A4BF06-D964-4C79-868A-3F8794E921EB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119FF-985F-6CB4-F217-12C12F613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ED881-EA1E-4276-A48C-76276F9D7BC3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2043</TotalTime>
  <Words>269</Words>
  <Application>Microsoft Office PowerPoint</Application>
  <PresentationFormat>On-screen Show (4:3)</PresentationFormat>
  <Paragraphs>71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Equation</vt:lpstr>
      <vt:lpstr>Analog Communications</vt:lpstr>
      <vt:lpstr>PowerPoint Presentation</vt:lpstr>
      <vt:lpstr>Wideband FM</vt:lpstr>
      <vt:lpstr>Single-tone Wideband FM </vt:lpstr>
      <vt:lpstr>Wideband FM…</vt:lpstr>
      <vt:lpstr>PowerPoint Presentation</vt:lpstr>
      <vt:lpstr>PowerPoint Presentation</vt:lpstr>
      <vt:lpstr>Bandwidth of FM</vt:lpstr>
      <vt:lpstr>Band width of NBFM</vt:lpstr>
      <vt:lpstr>Band width of FM based on the frequency deviation.</vt:lpstr>
      <vt:lpstr>Band width of FM based on the number of significant sidebands</vt:lpstr>
      <vt:lpstr>Carson’s Rule</vt:lpstr>
      <vt:lpstr>Effect of the Modulation Index on Bandwidth</vt:lpstr>
      <vt:lpstr>Average Power of an Angle Modulated Wave</vt:lpstr>
      <vt:lpstr>End WBFM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D Sreenivasa Rao</cp:lastModifiedBy>
  <cp:revision>289</cp:revision>
  <dcterms:created xsi:type="dcterms:W3CDTF">2006-08-16T00:00:00Z</dcterms:created>
  <dcterms:modified xsi:type="dcterms:W3CDTF">2025-09-20T09:55:45Z</dcterms:modified>
</cp:coreProperties>
</file>