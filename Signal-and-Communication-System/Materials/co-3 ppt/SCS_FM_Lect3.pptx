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332" r:id="rId2"/>
    <p:sldId id="401" r:id="rId3"/>
    <p:sldId id="394" r:id="rId4"/>
    <p:sldId id="393" r:id="rId5"/>
    <p:sldId id="371" r:id="rId6"/>
    <p:sldId id="345" r:id="rId7"/>
    <p:sldId id="347" r:id="rId8"/>
    <p:sldId id="380" r:id="rId9"/>
    <p:sldId id="383" r:id="rId10"/>
    <p:sldId id="382" r:id="rId11"/>
    <p:sldId id="400" r:id="rId12"/>
    <p:sldId id="372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00C0"/>
    <a:srgbClr val="038726"/>
    <a:srgbClr val="025618"/>
    <a:srgbClr val="0246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88" autoAdjust="0"/>
  </p:normalViewPr>
  <p:slideViewPr>
    <p:cSldViewPr>
      <p:cViewPr varScale="1">
        <p:scale>
          <a:sx n="79" d="100"/>
          <a:sy n="79" d="100"/>
        </p:scale>
        <p:origin x="11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0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A57D98-ECCB-B059-CF42-E27A6CCC01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431BB-9574-6261-14CB-76ABED8112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5CC687F-AAD1-44E7-8E46-C693EAC36019}" type="datetimeFigureOut">
              <a:rPr lang="en-US"/>
              <a:pPr>
                <a:defRPr/>
              </a:pPr>
              <a:t>9/20/2025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422058A-7642-8B40-CB5D-E39AA83B5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2D858C0-9B68-BF0E-5437-15F95A566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43BC9-8116-5C38-BF87-602529943F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094C7-82B0-730B-2A63-A17FB43F1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2FD3995-519C-4273-A717-711E05A62F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65F59-A808-E0A1-09E5-AD69D3DAD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806D0-9D25-4463-87BE-D4F298203934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2F103-9940-54E2-28A2-7E5511393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A8275-C180-CD32-E17C-7F1715BE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356D3-2F07-42B3-9987-3AA098174B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90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E6F-B06E-4BF9-2371-D3F81D31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B2530-D088-4173-A101-EB46E97DBF2A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A602D-3BE5-3B0D-6F68-0BE1ED0B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4B1C-2C01-7965-F71D-67BC1733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76990-D4C1-4396-A72A-7CFEA48290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9617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936AB-135B-B5E3-8D73-5EC0E287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ACF1-C77B-468E-BA52-08FD5A6E2B97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A7643-5715-62AE-3747-3119DF68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7238-5D58-BF6D-EBD4-015A6526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301F13-AB09-4022-8483-3C880A1EFB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51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2FFF84-4294-3B5B-B7F4-E29C651B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3BD8D-C3AC-462E-8698-2482716B003C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B4C455-13B6-842D-BC29-1E8ACFC1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F716A79-A563-0A1B-ADB8-13FA5BED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602AE1-887B-47B7-A78C-AE80929E86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2821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3D4EF8-80A9-323C-C7C9-DA8A62D0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4A4A63-A73B-4DF5-84FB-DCC676936E72}" type="datetime1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864B8AD-5E91-0F9E-87A9-AB30EEE1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497839-FE35-883E-9A61-E69F04A4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22F93D-5229-4DFB-A1C9-7ECD35CDBE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02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56B2C9-D9DE-AB82-863F-B1FDDBC3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6BB0C-4EC9-4D65-9530-8342A71D76D9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2C9182-BBFF-1FF6-BB21-1BE99218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A2EB23-9B65-47E6-4003-C16950FDC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5A3C8-46E6-4077-B3AC-F16A97FC22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83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12E496F-5646-621D-18E9-7E5ECBA8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80628-7DD0-46BC-B2ED-47029311CEAB}" type="datetime1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F948698-537C-D54C-22D9-0BD6A654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48CC54-C518-A22F-C041-C66E9798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869F5-62E9-4FB3-8C2B-A298386101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06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A9D3442-7F3F-8BAA-7486-15C045FBE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5AA7C-ED3F-418C-8728-89E51EFDF27E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6B05BE0-2FCD-EAF5-C864-74309945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7E139D-74FA-0601-2A03-1B19531D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3EC15-4DCB-4749-9EE3-5A1EB36ED8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34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D1EA46-0352-F467-E7CA-914E1BDC8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E5792-8601-455B-B658-28FE235A5D74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DFBF9B-3460-C970-987D-2ADBD2A5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320F3D-9012-91E2-AE6E-D70F0DC9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F53B67-2F1F-4979-AF51-6BA0ACA3C4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0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92547-9F82-025B-FFB7-E0CFA7D0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302CD-5CEA-413E-86C2-A678718FEAE6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7773-08C7-3D97-9C85-48AB20A8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75F5A-DF28-4F3B-DDAF-73713C5E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D4E2E5-E4B7-4288-B26D-F40DA73E80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332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5641-5B4D-D856-4295-BCBDF635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4D15D-1C53-41A3-9AA4-D4C0FBB268D5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94980-EB1E-AB81-0C04-BD0D0654A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853CC-CF21-69DF-78E3-48D0EBDCC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02CA0B-8C1D-45A3-96EF-8C6FAC1885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2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D860A97-680C-DA4F-F093-AFBE373031D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8FAB6DD-E84D-59F9-54F5-F628F57585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A6488-78E3-484C-9B80-E7B925577E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5A199CED-D650-41AB-B180-643662BFE066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35ADE-9FD6-5F5C-BCD7-91E39818B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M. Venu Gopala Rao, Professor of ECE, KLEF Deemed to be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E1F94-34A3-8397-2B12-926DD4A83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F718C42-E982-4B7F-9508-2D740258BC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E11BF34D-24A1-C268-9B8E-5EAC7DD93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/>
          <a:lstStyle/>
          <a:p>
            <a:r>
              <a:rPr lang="en-US" altLang="en-US" sz="54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Communications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97FB0-D732-8FE7-5199-8A8DA187C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432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AD60-0A0C-DE29-2272-7186C555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590800"/>
            <a:ext cx="8229600" cy="1143000"/>
          </a:xfrm>
        </p:spPr>
        <p:txBody>
          <a:bodyPr/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Modulation </a:t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based on </a:t>
            </a:r>
            <a:b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Modulation index</a:t>
            </a:r>
            <a:endParaRPr lang="en-IN" sz="4000" dirty="0">
              <a:solidFill>
                <a:srgbClr val="320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42D41-5C02-FC5F-C5C3-36CC9A18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AD5247-5591-4D42-B2A7-52BDEB854318}" type="datetime1">
              <a:rPr lang="en-US" smtClean="0"/>
              <a:t>9/20/2025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29AB7-AF7F-012D-7456-76C7AAAE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13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3D2C47DA-81A1-9904-126B-CCA5B2103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7086600" cy="370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1507" name="Object 10">
            <a:extLst>
              <a:ext uri="{FF2B5EF4-FFF2-40B4-BE49-F238E27FC236}">
                <a16:creationId xmlns:a16="http://schemas.microsoft.com/office/drawing/2014/main" id="{DB9E5871-EAFA-693E-C93F-FDC203DB4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191000"/>
          <a:ext cx="620553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16868" imgH="253890" progId="Equation.DSMT4">
                  <p:embed/>
                </p:oleObj>
              </mc:Choice>
              <mc:Fallback>
                <p:oleObj name="Equation" r:id="rId3" imgW="1916868" imgH="253890" progId="Equation.DSMT4">
                  <p:embed/>
                  <p:pic>
                    <p:nvPicPr>
                      <p:cNvPr id="21507" name="Object 10">
                        <a:extLst>
                          <a:ext uri="{FF2B5EF4-FFF2-40B4-BE49-F238E27FC236}">
                            <a16:creationId xmlns:a16="http://schemas.microsoft.com/office/drawing/2014/main" id="{DB9E5871-EAFA-693E-C93F-FDC203DB4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191000"/>
                        <a:ext cx="620553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5">
            <a:extLst>
              <a:ext uri="{FF2B5EF4-FFF2-40B4-BE49-F238E27FC236}">
                <a16:creationId xmlns:a16="http://schemas.microsoft.com/office/drawing/2014/main" id="{D354011F-30F3-2784-E37F-293B7349B6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5181600"/>
          <a:ext cx="78851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8900" imgH="381000" progId="Equation.DSMT4">
                  <p:embed/>
                </p:oleObj>
              </mc:Choice>
              <mc:Fallback>
                <p:oleObj name="Equation" r:id="rId5" imgW="2628900" imgH="381000" progId="Equation.DSMT4">
                  <p:embed/>
                  <p:pic>
                    <p:nvPicPr>
                      <p:cNvPr id="21508" name="Object 5">
                        <a:extLst>
                          <a:ext uri="{FF2B5EF4-FFF2-40B4-BE49-F238E27FC236}">
                            <a16:creationId xmlns:a16="http://schemas.microsoft.com/office/drawing/2014/main" id="{D354011F-30F3-2784-E37F-293B7349B6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78851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8CC0D-ADE5-7F5D-F997-196B1780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0E5ADDD-E59A-4913-B844-974A17E2130E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77059-6B01-2674-798A-EFC747B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A5DAEFD8-B558-507E-0341-267D2C33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Narrowband F.M</a:t>
            </a:r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6D5B0-C87B-8231-AE95-C1760EC2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F790D5C-BB90-45D0-9ACD-C072DE4DCB8E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15717-0DBA-6936-17C9-888D7DB9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825B12C-2B8C-6870-B84B-2281B267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240" y="112713"/>
            <a:ext cx="9144000" cy="474662"/>
          </a:xfrm>
        </p:spPr>
        <p:txBody>
          <a:bodyPr/>
          <a:lstStyle/>
          <a:p>
            <a:r>
              <a:rPr lang="en-US" altLang="en-US" sz="3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 Band </a:t>
            </a:r>
            <a:r>
              <a:rPr lang="en-US" altLang="en-US" sz="3100" dirty="0">
                <a:latin typeface="Arial" panose="020B0604020202020204" pitchFamily="34" charset="0"/>
                <a:cs typeface="Arial" panose="020B0604020202020204" pitchFamily="34" charset="0"/>
              </a:rPr>
              <a:t>Frequency Modulation (Single Tone) 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AE29DD47-30F9-5F6B-B9A2-60532EF3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066800"/>
            <a:ext cx="8958262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</a:rPr>
              <a:t>The time domain expression for NBFM is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  <a:p>
            <a:pPr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038726"/>
                </a:solidFill>
              </a:rPr>
              <a:t>The frequency spectrum</a:t>
            </a:r>
            <a:r>
              <a:rPr lang="en-US" altLang="en-US" dirty="0"/>
              <a:t> of </a:t>
            </a:r>
            <a:r>
              <a:rPr lang="en-US" altLang="en-US" i="1" dirty="0">
                <a:solidFill>
                  <a:srgbClr val="FF0000"/>
                </a:solidFill>
              </a:rPr>
              <a:t>Narrow Band Frequency Modulation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is represented by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15BCCACB-CA82-F153-A6B2-6A2E652EC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6629" name="Object 4">
            <a:extLst>
              <a:ext uri="{FF2B5EF4-FFF2-40B4-BE49-F238E27FC236}">
                <a16:creationId xmlns:a16="http://schemas.microsoft.com/office/drawing/2014/main" id="{FDB3BEE6-1CB6-A59C-8A78-67AD1960AC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9933231"/>
              </p:ext>
            </p:extLst>
          </p:nvPr>
        </p:nvGraphicFramePr>
        <p:xfrm>
          <a:off x="185737" y="3996992"/>
          <a:ext cx="8501063" cy="1814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16500" imgH="863600" progId="Equation.DSMT4">
                  <p:embed/>
                </p:oleObj>
              </mc:Choice>
              <mc:Fallback>
                <p:oleObj name="Equation" r:id="rId2" imgW="5016500" imgH="86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" y="3996992"/>
                        <a:ext cx="8501063" cy="1814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630" name="Picture 7">
            <a:extLst>
              <a:ext uri="{FF2B5EF4-FFF2-40B4-BE49-F238E27FC236}">
                <a16:creationId xmlns:a16="http://schemas.microsoft.com/office/drawing/2014/main" id="{CDD6DF8E-E266-CE83-6D5C-D6A5D7CE2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8" y="1676400"/>
            <a:ext cx="89757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1B97E-E17B-F159-9B21-15B2209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B19463-5EF2-4335-9C9C-8E78E16DA7D6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58D91-E0D8-E9F1-6763-06670F96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B916B005-7045-852E-AB49-59B684B8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Spectrum of </a:t>
            </a:r>
            <a:r>
              <a:rPr lang="en-US" altLang="en-US" sz="40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4000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NBFM</a:t>
            </a:r>
          </a:p>
        </p:txBody>
      </p:sp>
      <p:pic>
        <p:nvPicPr>
          <p:cNvPr id="27651" name="Picture 4">
            <a:extLst>
              <a:ext uri="{FF2B5EF4-FFF2-40B4-BE49-F238E27FC236}">
                <a16:creationId xmlns:a16="http://schemas.microsoft.com/office/drawing/2014/main" id="{CD0835F3-A0D0-7FEB-DC0D-153189570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66800"/>
            <a:ext cx="680085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5">
            <a:extLst>
              <a:ext uri="{FF2B5EF4-FFF2-40B4-BE49-F238E27FC236}">
                <a16:creationId xmlns:a16="http://schemas.microsoft.com/office/drawing/2014/main" id="{109F0F29-183A-715D-12B7-548954A1B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62400"/>
            <a:ext cx="68929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8816A-8AD5-6B55-EAD3-40697917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8B11FE-30D0-409B-847D-3AE5DEF2A06C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5ED3-7507-383C-4B9F-70B9803A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BE90AD-FEBE-AD10-46E2-10894A31AFAF}"/>
              </a:ext>
            </a:extLst>
          </p:cNvPr>
          <p:cNvSpPr txBox="1"/>
          <p:nvPr/>
        </p:nvSpPr>
        <p:spPr>
          <a:xfrm>
            <a:off x="15240" y="126239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Spectrum of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200C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A9A33D-C77F-A23D-8FF8-59A24F7DFFA2}"/>
              </a:ext>
            </a:extLst>
          </p:cNvPr>
          <p:cNvSpPr txBox="1"/>
          <p:nvPr/>
        </p:nvSpPr>
        <p:spPr>
          <a:xfrm>
            <a:off x="67945" y="3725555"/>
            <a:ext cx="4627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Spectrum of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24614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NBFM</a:t>
            </a:r>
            <a:endParaRPr lang="en-IN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C465C2DE-C99F-22F5-708E-6DF3FCE3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Phasor Diagrams</a:t>
            </a:r>
          </a:p>
        </p:txBody>
      </p:sp>
      <p:pic>
        <p:nvPicPr>
          <p:cNvPr id="28675" name="Picture 4">
            <a:extLst>
              <a:ext uri="{FF2B5EF4-FFF2-40B4-BE49-F238E27FC236}">
                <a16:creationId xmlns:a16="http://schemas.microsoft.com/office/drawing/2014/main" id="{396F9EFA-B3DB-B100-EABF-7B1050E8E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85800"/>
            <a:ext cx="6324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5">
            <a:extLst>
              <a:ext uri="{FF2B5EF4-FFF2-40B4-BE49-F238E27FC236}">
                <a16:creationId xmlns:a16="http://schemas.microsoft.com/office/drawing/2014/main" id="{AA000B35-2C9F-9822-E794-3816EB5A9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733800"/>
            <a:ext cx="6248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E9E219-B708-5B06-D6C3-46EA236D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15E3B7-6858-4C8E-8CF5-05DD7C256FB8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337A-DE7A-0815-FC78-853D50CD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809F9510-EAB3-74DF-A877-C937CFADF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550"/>
            <a:ext cx="8229600" cy="792163"/>
          </a:xfrm>
        </p:spPr>
        <p:txBody>
          <a:bodyPr/>
          <a:lstStyle/>
          <a:p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Bandwidth of NBFM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E425D34F-99FD-2B23-8677-1733E108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8307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FF0000"/>
                </a:solidFill>
              </a:rPr>
              <a:t>The time domain expression for NBFM is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>
                <a:solidFill>
                  <a:srgbClr val="3200C0"/>
                </a:solidFill>
              </a:rPr>
              <a:t>It resembles the AM signal and hence bandwidth is twice of the message signal frequency</a:t>
            </a:r>
          </a:p>
          <a:p>
            <a:endParaRPr lang="en-US" altLang="en-US"/>
          </a:p>
        </p:txBody>
      </p:sp>
      <p:pic>
        <p:nvPicPr>
          <p:cNvPr id="29700" name="Picture 7">
            <a:extLst>
              <a:ext uri="{FF2B5EF4-FFF2-40B4-BE49-F238E27FC236}">
                <a16:creationId xmlns:a16="http://schemas.microsoft.com/office/drawing/2014/main" id="{16A94658-8113-E35C-13D9-8D02ACD75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2071688"/>
            <a:ext cx="89757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9C793-334B-E599-CE4E-9A803CD0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48206-D42A-48B7-8834-E7BD756DC4B8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F96D0-067F-3725-D8FA-F754705F5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9E0D9348-C489-A9A4-2D7A-087A690A5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863"/>
            <a:ext cx="8229600" cy="868362"/>
          </a:xfrm>
        </p:spPr>
        <p:txBody>
          <a:bodyPr/>
          <a:lstStyle/>
          <a:p>
            <a:r>
              <a:rPr lang="en-US" altLang="en-US" sz="40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NBPM </a:t>
            </a:r>
            <a:r>
              <a:rPr lang="en-US" altLang="en-US" sz="400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altLang="en-US" sz="4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 Band Signal</a:t>
            </a:r>
            <a:endParaRPr lang="en-US" altLang="en-US" sz="40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E145D70-B1AE-63BB-FDEC-362507E30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9393" name="Object 1">
            <a:extLst>
              <a:ext uri="{FF2B5EF4-FFF2-40B4-BE49-F238E27FC236}">
                <a16:creationId xmlns:a16="http://schemas.microsoft.com/office/drawing/2014/main" id="{E412876F-A406-FC45-2BC5-0FC9C23443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838200"/>
          <a:ext cx="48529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300" imgH="241300" progId="Equation.DSMT4">
                  <p:embed/>
                </p:oleObj>
              </mc:Choice>
              <mc:Fallback>
                <p:oleObj name="Equation" r:id="rId2" imgW="18923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838200"/>
                        <a:ext cx="4852988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 4">
            <a:extLst>
              <a:ext uri="{FF2B5EF4-FFF2-40B4-BE49-F238E27FC236}">
                <a16:creationId xmlns:a16="http://schemas.microsoft.com/office/drawing/2014/main" id="{3BB1126B-78E6-FD47-0FD1-BE4134846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9395" name="Object 3">
            <a:extLst>
              <a:ext uri="{FF2B5EF4-FFF2-40B4-BE49-F238E27FC236}">
                <a16:creationId xmlns:a16="http://schemas.microsoft.com/office/drawing/2014/main" id="{34EA66E3-7863-3580-3744-2245A797D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447800"/>
          <a:ext cx="8915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94100" imgH="279400" progId="Equation.DSMT4">
                  <p:embed/>
                </p:oleObj>
              </mc:Choice>
              <mc:Fallback>
                <p:oleObj name="Equation" r:id="rId4" imgW="3594100" imgH="279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447800"/>
                        <a:ext cx="89154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Rectangle 6">
            <a:extLst>
              <a:ext uri="{FF2B5EF4-FFF2-40B4-BE49-F238E27FC236}">
                <a16:creationId xmlns:a16="http://schemas.microsoft.com/office/drawing/2014/main" id="{A2B8ABC9-389D-84C2-0881-858AC06E9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9397" name="Object 5">
            <a:extLst>
              <a:ext uri="{FF2B5EF4-FFF2-40B4-BE49-F238E27FC236}">
                <a16:creationId xmlns:a16="http://schemas.microsoft.com/office/drawing/2014/main" id="{B429832F-D18B-6AC2-B48F-9916A9FDFC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2286000"/>
          <a:ext cx="18573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500" imgH="241300" progId="Equation.DSMT4">
                  <p:embed/>
                </p:oleObj>
              </mc:Choice>
              <mc:Fallback>
                <p:oleObj name="Equation" r:id="rId6" imgW="8255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286000"/>
                        <a:ext cx="18573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8876D65-DFD5-91A6-0479-1E97F8C04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2314575"/>
            <a:ext cx="609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For</a:t>
            </a:r>
          </a:p>
        </p:txBody>
      </p:sp>
      <p:sp>
        <p:nvSpPr>
          <p:cNvPr id="33802" name="Rectangle 8">
            <a:extLst>
              <a:ext uri="{FF2B5EF4-FFF2-40B4-BE49-F238E27FC236}">
                <a16:creationId xmlns:a16="http://schemas.microsoft.com/office/drawing/2014/main" id="{C268AB2D-ECC0-0BB4-3A9A-B2810CA54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9399" name="Object 7">
            <a:extLst>
              <a:ext uri="{FF2B5EF4-FFF2-40B4-BE49-F238E27FC236}">
                <a16:creationId xmlns:a16="http://schemas.microsoft.com/office/drawing/2014/main" id="{8B223073-5AE7-65E8-4686-8A5C8F288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2286000"/>
          <a:ext cx="2311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17115" imgH="253890" progId="Equation.DSMT4">
                  <p:embed/>
                </p:oleObj>
              </mc:Choice>
              <mc:Fallback>
                <p:oleObj name="Equation" r:id="rId8" imgW="1117115" imgH="25389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2311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Rectangle 10">
            <a:extLst>
              <a:ext uri="{FF2B5EF4-FFF2-40B4-BE49-F238E27FC236}">
                <a16:creationId xmlns:a16="http://schemas.microsoft.com/office/drawing/2014/main" id="{AD9E945F-7CB5-B15F-9A1A-01A5973A9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9401" name="Object 9">
            <a:extLst>
              <a:ext uri="{FF2B5EF4-FFF2-40B4-BE49-F238E27FC236}">
                <a16:creationId xmlns:a16="http://schemas.microsoft.com/office/drawing/2014/main" id="{838C3500-C04A-558A-F43D-538D1F73D8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0563" y="2238375"/>
          <a:ext cx="32400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62100" imgH="254000" progId="Equation.DSMT4">
                  <p:embed/>
                </p:oleObj>
              </mc:Choice>
              <mc:Fallback>
                <p:oleObj name="Equation" r:id="rId10" imgW="15621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563" y="2238375"/>
                        <a:ext cx="32400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FDD2F89-1EA2-1FA0-8A05-CD84BAC0F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286000"/>
            <a:ext cx="6413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and</a:t>
            </a:r>
          </a:p>
        </p:txBody>
      </p:sp>
      <p:sp>
        <p:nvSpPr>
          <p:cNvPr id="33807" name="Rectangle 12">
            <a:extLst>
              <a:ext uri="{FF2B5EF4-FFF2-40B4-BE49-F238E27FC236}">
                <a16:creationId xmlns:a16="http://schemas.microsoft.com/office/drawing/2014/main" id="{D98088CC-D366-3E44-8611-7B1397B21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59403" name="Object 11">
            <a:extLst>
              <a:ext uri="{FF2B5EF4-FFF2-40B4-BE49-F238E27FC236}">
                <a16:creationId xmlns:a16="http://schemas.microsoft.com/office/drawing/2014/main" id="{BE18517B-5ABD-992E-3190-F24D690265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2971800"/>
          <a:ext cx="6961188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65400" imgH="508000" progId="Equation.DSMT4">
                  <p:embed/>
                </p:oleObj>
              </mc:Choice>
              <mc:Fallback>
                <p:oleObj name="Equation" r:id="rId12" imgW="2565400" imgH="50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971800"/>
                        <a:ext cx="6961188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5" name="Object 13">
            <a:extLst>
              <a:ext uri="{FF2B5EF4-FFF2-40B4-BE49-F238E27FC236}">
                <a16:creationId xmlns:a16="http://schemas.microsoft.com/office/drawing/2014/main" id="{6426B2B5-C81A-193B-6C67-8C90CE3BD7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343400"/>
          <a:ext cx="7650163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63900" imgH="812800" progId="Equation.DSMT4">
                  <p:embed/>
                </p:oleObj>
              </mc:Choice>
              <mc:Fallback>
                <p:oleObj name="Equation" r:id="rId14" imgW="3263900" imgH="812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343400"/>
                        <a:ext cx="7650163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7BB1809-CE7F-EF1C-1938-BFBC00644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86000"/>
            <a:ext cx="249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,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2E5910-E527-10A0-005C-9C7E57A1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F80E5F-40BA-4EA3-A57E-89FF3F8D1AC1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9887-752D-19CB-6F9F-69C8F8FF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5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C06A9C4-8C9B-39EA-D7C8-06B4E365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92163"/>
          </a:xfrm>
        </p:spPr>
        <p:txBody>
          <a:bodyPr/>
          <a:lstStyle/>
          <a:p>
            <a:r>
              <a:rPr lang="en-US" altLang="en-US">
                <a:solidFill>
                  <a:srgbClr val="0256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FBCEA-50F4-CD5F-B9E5-630145461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8915400" cy="5059363"/>
          </a:xfrm>
        </p:spPr>
        <p:txBody>
          <a:bodyPr/>
          <a:lstStyle/>
          <a:p>
            <a:pPr algn="just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Similarities:</a:t>
            </a:r>
            <a:endParaRPr lang="en-US" altLang="en-US" sz="280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have the same modulated bandwidth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where </a:t>
            </a:r>
            <a:r>
              <a:rPr lang="en-US" altLang="en-US" sz="2800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highest modulating signal frequency. </a:t>
            </a:r>
          </a:p>
          <a:p>
            <a:pPr algn="just"/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sideband spectrum for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 </a:t>
            </a:r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shift 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r>
              <a:rPr lang="en-US" altLang="en-US" sz="2800" b="1" baseline="300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respect to the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carrier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whereas that of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in-phase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carrier</a:t>
            </a:r>
            <a:r>
              <a:rPr lang="en-US" altLang="en-US" sz="2800">
                <a:solidFill>
                  <a:srgbClr val="038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sz="2800" b="1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Differences:</a:t>
            </a:r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an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signal, the oscillation frequency is constant and the amplitude varies with time, whereas in an 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FM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signal, the </a:t>
            </a:r>
            <a:r>
              <a:rPr lang="en-US" altLang="en-US" sz="2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amplitude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800">
                <a:solidFill>
                  <a:srgbClr val="02561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stays constant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varies with time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ACAB1-FE1C-967D-BB59-69E2B70A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6B2981-6FC1-4359-8D53-14544A190054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FA48E-4657-4AD2-579F-011A483B7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1">
            <a:extLst>
              <a:ext uri="{FF2B5EF4-FFF2-40B4-BE49-F238E27FC236}">
                <a16:creationId xmlns:a16="http://schemas.microsoft.com/office/drawing/2014/main" id="{1C51EBF5-F969-65D2-CAAC-81A850098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" y="1023937"/>
            <a:ext cx="91440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99170-CC8A-7303-4567-FB3D48A8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5FADCB-BD4F-4D7A-81EF-754896C1A8A1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CA1EA-2836-39A7-9A0F-9A9BBE98F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1B52CADD-5603-DBA8-0681-DF485EE9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A2641-31E7-2C25-CF1A-65A6D287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FDAB65-D6C9-4EF3-AB1F-1D14AD3DD110}" type="datetime1">
              <a:rPr lang="en-US" smtClean="0"/>
              <a:t>9/20/2025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4203A-5E87-676D-9963-6DFCA3C5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76990-D4C1-4396-A72A-7CFEA4829075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198</Words>
  <Application>Microsoft Office PowerPoint</Application>
  <PresentationFormat>On-screen Show (4:3)</PresentationFormat>
  <Paragraphs>51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Office Theme</vt:lpstr>
      <vt:lpstr>Equation</vt:lpstr>
      <vt:lpstr>Analog Communications</vt:lpstr>
      <vt:lpstr>Frequency Modulation  based on  Modulation index</vt:lpstr>
      <vt:lpstr>PowerPoint Presentation</vt:lpstr>
      <vt:lpstr>Narrowband F.M</vt:lpstr>
      <vt:lpstr>Narrow Band Frequency Modulation (Single Tone) </vt:lpstr>
      <vt:lpstr>Spectrum of AM and NBFM</vt:lpstr>
      <vt:lpstr>Phasor Diagrams</vt:lpstr>
      <vt:lpstr>Bandwidth of NBFM</vt:lpstr>
      <vt:lpstr>NBPM for Base Band Signal</vt:lpstr>
      <vt:lpstr>Comparison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D Sreenivasa Rao</cp:lastModifiedBy>
  <cp:revision>270</cp:revision>
  <dcterms:created xsi:type="dcterms:W3CDTF">2006-08-16T00:00:00Z</dcterms:created>
  <dcterms:modified xsi:type="dcterms:W3CDTF">2025-09-20T09:53:09Z</dcterms:modified>
</cp:coreProperties>
</file>