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332" r:id="rId2"/>
    <p:sldId id="396" r:id="rId3"/>
    <p:sldId id="335" r:id="rId4"/>
    <p:sldId id="388" r:id="rId5"/>
    <p:sldId id="389" r:id="rId6"/>
    <p:sldId id="308" r:id="rId7"/>
    <p:sldId id="390" r:id="rId8"/>
    <p:sldId id="349" r:id="rId9"/>
    <p:sldId id="350" r:id="rId10"/>
    <p:sldId id="377" r:id="rId11"/>
    <p:sldId id="340" r:id="rId12"/>
    <p:sldId id="376" r:id="rId13"/>
    <p:sldId id="375" r:id="rId14"/>
    <p:sldId id="372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8726"/>
    <a:srgbClr val="3200C0"/>
    <a:srgbClr val="025618"/>
    <a:srgbClr val="0246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88" autoAdjust="0"/>
  </p:normalViewPr>
  <p:slideViewPr>
    <p:cSldViewPr>
      <p:cViewPr varScale="1">
        <p:scale>
          <a:sx n="60" d="100"/>
          <a:sy n="60" d="100"/>
        </p:scale>
        <p:origin x="168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04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A57D98-ECCB-B059-CF42-E27A6CCC01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431BB-9574-6261-14CB-76ABED81120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85CC687F-AAD1-44E7-8E46-C693EAC36019}" type="datetimeFigureOut">
              <a:rPr lang="en-US"/>
              <a:pPr>
                <a:defRPr/>
              </a:pPr>
              <a:t>9/16/2025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422058A-7642-8B40-CB5D-E39AA83B52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2D858C0-9B68-BF0E-5437-15F95A566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43BC9-8116-5C38-BF87-602529943F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094C7-82B0-730B-2A63-A17FB43F1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B2FD3995-519C-4273-A717-711E05A62F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65F59-A808-E0A1-09E5-AD69D3DAD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21A81E-ADC7-46EA-96E7-F54B0A3E2E03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2F103-9940-54E2-28A2-7E5511393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A8275-C180-CD32-E17C-7F1715BE2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4356D3-2F07-42B3-9987-3AA098174B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890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E6F-B06E-4BF9-2371-D3F81D31B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EFC5FC-A3F2-4D03-AED8-1ED24648BC10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A602D-3BE5-3B0D-6F68-0BE1ED0B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4B1C-2C01-7965-F71D-67BC1733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76990-D4C1-4396-A72A-7CFEA48290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9617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936AB-135B-B5E3-8D73-5EC0E287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5D93EF-7652-4517-9CFC-B3817D2D39BD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A7643-5715-62AE-3747-3119DF68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67238-5D58-BF6D-EBD4-015A6526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301F13-AB09-4022-8483-3C880A1EFB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0513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92FFF84-4294-3B5B-B7F4-E29C651B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3CD7E-C8F1-4CAA-98BB-4393CF1DAC9E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5B4C455-13B6-842D-BC29-1E8ACFC1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F716A79-A563-0A1B-ADB8-13FA5BED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602AE1-887B-47B7-A78C-AE80929E86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2821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93D4EF8-80A9-323C-C7C9-DA8A62D05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B2F3C-1FAA-4A9F-AA44-2DDB4C6B2327}" type="datetime1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864B8AD-5E91-0F9E-87A9-AB30EEE1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5497839-FE35-883E-9A61-E69F04A45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22F93D-5229-4DFB-A1C9-7ECD35CDBE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6020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956B2C9-D9DE-AB82-863F-B1FDDBC37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1FEC9F-EED7-4DDC-97CA-CC311495BB72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2C9182-BBFF-1FF6-BB21-1BE99218C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A2EB23-9B65-47E6-4003-C16950FD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F5A3C8-46E6-4077-B3AC-F16A97FC22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883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12E496F-5646-621D-18E9-7E5ECBA84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ABD78-DAFE-4116-B95D-9AC7B5558E7E}" type="datetime1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F948698-537C-D54C-22D9-0BD6A654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C48CC54-C518-A22F-C041-C66E9798C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D869F5-62E9-4FB3-8C2B-A298386101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606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A9D3442-7F3F-8BAA-7486-15C045FBE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082E6-0A6B-4BB0-828B-F5A6942B254C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6B05BE0-2FCD-EAF5-C864-743099455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27E139D-74FA-0601-2A03-1B19531DA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23EC15-4DCB-4749-9EE3-5A1EB36ED8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34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BD1EA46-0352-F467-E7CA-914E1BDC8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02599-4634-4D51-99AE-39D5EC95A455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DFBF9B-3460-C970-987D-2ADBD2A51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320F3D-9012-91E2-AE6E-D70F0DC9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F53B67-2F1F-4979-AF51-6BA0ACA3C4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607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92547-9F82-025B-FFB7-E0CFA7D0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0E4BCE-755E-488F-952B-E092D7DBA32C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E7773-08C7-3D97-9C85-48AB20A81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75F5A-DF28-4F3B-DDAF-73713C5EC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D4E2E5-E4B7-4288-B26D-F40DA73E80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3322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75641-5B4D-D856-4295-BCBDF635E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507BC0-A84A-46BC-8840-17FA1A21EFC9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94980-EB1E-AB81-0C04-BD0D0654A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853CC-CF21-69DF-78E3-48D0EBDCC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02CA0B-8C1D-45A3-96EF-8C6FAC1885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922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D860A97-680C-DA4F-F093-AFBE373031D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8FAB6DD-E84D-59F9-54F5-F628F57585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A6488-78E3-484C-9B80-E7B925577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2A4F49-EFB2-4F22-919E-CB1B5149985E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35ADE-9FD6-5F5C-BCD7-91E39818B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E1F94-34A3-8397-2B12-926DD4A83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F718C42-E982-4B7F-9508-2D740258BC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wmf"/><Relationship Id="rId7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1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5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19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23.png"/><Relationship Id="rId5" Type="http://schemas.openxmlformats.org/officeDocument/2006/relationships/image" Target="../media/image20.wmf"/><Relationship Id="rId10" Type="http://schemas.openxmlformats.org/officeDocument/2006/relationships/image" Target="../media/image22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1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E11BF34D-24A1-C268-9B8E-5EAC7DD93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1470025"/>
          </a:xfrm>
        </p:spPr>
        <p:txBody>
          <a:bodyPr/>
          <a:lstStyle/>
          <a:p>
            <a:r>
              <a:rPr lang="en-US" altLang="en-US" sz="5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Analog Communications</a:t>
            </a:r>
          </a:p>
        </p:txBody>
      </p:sp>
      <p:sp>
        <p:nvSpPr>
          <p:cNvPr id="3075" name="Subtitle 2">
            <a:extLst>
              <a:ext uri="{FF2B5EF4-FFF2-40B4-BE49-F238E27FC236}">
                <a16:creationId xmlns:a16="http://schemas.microsoft.com/office/drawing/2014/main" id="{CC655250-664A-BAFA-3250-76AE55594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3200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 and Communication Systems (24EC2105)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80B3FBE-E43B-47E5-8345-D4719F368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71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5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Angle </a:t>
            </a:r>
            <a:r>
              <a:rPr lang="en-US" altLang="en-US" sz="54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633D11-0319-45D8-E326-DC704E958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47BC06-FB7C-4A59-8F6E-CF17F2FC289F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19B3E-99BD-80B3-637E-2CCDF6E1E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F5A3C8-46E6-4077-B3AC-F16A97FC22FD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D1F4A1E7-19A9-F662-F5B2-22014E7A3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5963"/>
          </a:xfrm>
        </p:spPr>
        <p:txBody>
          <a:bodyPr/>
          <a:lstStyle/>
          <a:p>
            <a:r>
              <a:rPr lang="en-US" altLang="en-US">
                <a:solidFill>
                  <a:srgbClr val="C00000"/>
                </a:solidFill>
              </a:rPr>
              <a:t>Angle Modulation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F3031-D19C-FFBF-FC98-F3B3B1EB7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059363"/>
          </a:xfrm>
        </p:spPr>
        <p:txBody>
          <a:bodyPr/>
          <a:lstStyle/>
          <a:p>
            <a:pPr marL="514350" indent="-514350">
              <a:buFont typeface="Arial" panose="020B0604020202020204" pitchFamily="34" charset="0"/>
              <a:buNone/>
              <a:defRPr/>
            </a:pPr>
            <a:r>
              <a:rPr lang="en-US" sz="3000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The phase angle of the carrier wave is varied  in accordance with the amplitude of modulating signal is referred to as 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‘Angle Modulation’</a:t>
            </a:r>
            <a:r>
              <a:rPr lang="en-US" sz="3000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 marL="514350" indent="-514350">
              <a:buFont typeface="Arial" panose="020B0604020202020204" pitchFamily="34" charset="0"/>
              <a:buNone/>
              <a:defRPr/>
            </a:pPr>
            <a:endParaRPr lang="en-US" sz="3000" dirty="0">
              <a:solidFill>
                <a:srgbClr val="3200C0"/>
              </a:solidFill>
              <a:latin typeface="Arial" pitchFamily="34" charset="0"/>
              <a:cs typeface="Arial" pitchFamily="34" charset="0"/>
            </a:endParaRPr>
          </a:p>
          <a:p>
            <a:pPr marL="514350" indent="-514350">
              <a:buFont typeface="Arial" panose="020B0604020202020204" pitchFamily="34" charset="0"/>
              <a:buNone/>
              <a:defRPr/>
            </a:pPr>
            <a:endParaRPr lang="en-US" sz="3000" dirty="0">
              <a:solidFill>
                <a:srgbClr val="3200C0"/>
              </a:solidFill>
              <a:latin typeface="Arial" pitchFamily="34" charset="0"/>
              <a:cs typeface="Arial" pitchFamily="34" charset="0"/>
            </a:endParaRPr>
          </a:p>
          <a:p>
            <a:pPr marL="514350" indent="-514350">
              <a:buFont typeface="Arial" panose="020B0604020202020204" pitchFamily="34" charset="0"/>
              <a:buNone/>
              <a:defRPr/>
            </a:pPr>
            <a:r>
              <a:rPr lang="en-US" sz="3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PM: 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The phase of carrier wave is varied in accordance with the amplitude of message signal.</a:t>
            </a:r>
          </a:p>
          <a:p>
            <a:pPr marL="514350" indent="-514350">
              <a:buFont typeface="Arial" panose="020B0604020202020204" pitchFamily="34" charset="0"/>
              <a:buNone/>
              <a:defRPr/>
            </a:pPr>
            <a:r>
              <a:rPr lang="en-US" sz="3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FM: </a:t>
            </a:r>
            <a:r>
              <a:rPr lang="en-US" sz="3000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The frequency of the carrier wave is varied in </a:t>
            </a:r>
          </a:p>
          <a:p>
            <a:pPr marL="514350" indent="-514350">
              <a:buFont typeface="Arial" panose="020B0604020202020204" pitchFamily="34" charset="0"/>
              <a:buNone/>
              <a:defRPr/>
            </a:pPr>
            <a:r>
              <a:rPr lang="en-US" sz="3000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         accordance with the amplitude of the  </a:t>
            </a:r>
          </a:p>
          <a:p>
            <a:pPr marL="514350" indent="-514350">
              <a:buFont typeface="Arial" panose="020B0604020202020204" pitchFamily="34" charset="0"/>
              <a:buNone/>
              <a:defRPr/>
            </a:pPr>
            <a:r>
              <a:rPr lang="en-US" sz="3000" dirty="0">
                <a:solidFill>
                  <a:srgbClr val="3200C0"/>
                </a:solidFill>
                <a:latin typeface="Arial" pitchFamily="34" charset="0"/>
                <a:cs typeface="Arial" pitchFamily="34" charset="0"/>
              </a:rPr>
              <a:t>         modulating signal</a:t>
            </a:r>
          </a:p>
          <a:p>
            <a:pPr marL="514350" indent="-514350"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3200C0"/>
              </a:solidFill>
            </a:endParaRPr>
          </a:p>
          <a:p>
            <a:pPr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3200C0"/>
              </a:solidFill>
            </a:endParaRPr>
          </a:p>
          <a:p>
            <a:pPr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pic>
        <p:nvPicPr>
          <p:cNvPr id="5124" name="Picture 6">
            <a:extLst>
              <a:ext uri="{FF2B5EF4-FFF2-40B4-BE49-F238E27FC236}">
                <a16:creationId xmlns:a16="http://schemas.microsoft.com/office/drawing/2014/main" id="{9C0B39EE-0B95-B465-443E-BC0A09AA3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514600"/>
            <a:ext cx="5943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1E5A89-21EC-6A8F-932E-04C7EB7E0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A490D2-334F-48EF-9FCB-7F934511F161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2AFD8-24FB-4A9E-2437-4140AE91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24120D3-93B4-0300-B681-2FF1D1DEE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03188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/>
              <a:t> </a:t>
            </a:r>
            <a:r>
              <a:rPr lang="en-US" altLang="en-US" sz="36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angle </a:t>
            </a:r>
            <a:r>
              <a:rPr lang="en-US" altLang="en-US" sz="360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en-US" sz="3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Instantaneous Frequency</a:t>
            </a:r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id="{9AF94D10-1F1C-E5E9-E9E4-03B72A991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148" name="Rectangle 9">
            <a:extLst>
              <a:ext uri="{FF2B5EF4-FFF2-40B4-BE49-F238E27FC236}">
                <a16:creationId xmlns:a16="http://schemas.microsoft.com/office/drawing/2014/main" id="{B107B253-CC59-622C-998D-40D6B5D98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1026" name="Object 8">
            <a:extLst>
              <a:ext uri="{FF2B5EF4-FFF2-40B4-BE49-F238E27FC236}">
                <a16:creationId xmlns:a16="http://schemas.microsoft.com/office/drawing/2014/main" id="{B202F7F0-9941-4D67-1AA5-BB7FF6CB8A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0675" y="4264025"/>
          <a:ext cx="26765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393700" progId="Equation.DSMT4">
                  <p:embed/>
                </p:oleObj>
              </mc:Choice>
              <mc:Fallback>
                <p:oleObj name="Equation" r:id="rId2" imgW="914400" imgH="393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675" y="4264025"/>
                        <a:ext cx="267652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Rectangle 11">
            <a:extLst>
              <a:ext uri="{FF2B5EF4-FFF2-40B4-BE49-F238E27FC236}">
                <a16:creationId xmlns:a16="http://schemas.microsoft.com/office/drawing/2014/main" id="{63E63E20-AF15-84BA-8528-44078B392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1027" name="Object 10">
            <a:extLst>
              <a:ext uri="{FF2B5EF4-FFF2-40B4-BE49-F238E27FC236}">
                <a16:creationId xmlns:a16="http://schemas.microsoft.com/office/drawing/2014/main" id="{32336C2C-B54B-EC8E-8286-B539E9C823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0838" y="5599113"/>
          <a:ext cx="36957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70000" imgH="330200" progId="Equation.DSMT4">
                  <p:embed/>
                </p:oleObj>
              </mc:Choice>
              <mc:Fallback>
                <p:oleObj name="Equation" r:id="rId4" imgW="1270000" imgH="330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5599113"/>
                        <a:ext cx="369570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E60A1B98-1C13-9EA6-FF4D-BCBCEBA6791F}"/>
              </a:ext>
            </a:extLst>
          </p:cNvPr>
          <p:cNvSpPr txBox="1">
            <a:spLocks/>
          </p:cNvSpPr>
          <p:nvPr/>
        </p:nvSpPr>
        <p:spPr bwMode="auto">
          <a:xfrm>
            <a:off x="377825" y="3132138"/>
            <a:ext cx="71628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None/>
              <a:defRPr/>
            </a:pPr>
            <a:endParaRPr lang="en-US" sz="3200" dirty="0">
              <a:solidFill>
                <a:srgbClr val="3200C0"/>
              </a:solidFill>
              <a:latin typeface="+mn-lt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None/>
              <a:defRPr/>
            </a:pPr>
            <a:r>
              <a:rPr lang="en-US" sz="3600" dirty="0">
                <a:solidFill>
                  <a:srgbClr val="038726"/>
                </a:solidFill>
                <a:cs typeface="Arial" pitchFamily="34" charset="0"/>
              </a:rPr>
              <a:t>Then the instantaneous frequency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211F3B-B799-7462-A0D0-E47E92E3D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11275"/>
            <a:ext cx="3429000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7198E7-DFC9-7AD9-9EA9-4702B5E2C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" y="2146300"/>
            <a:ext cx="8040688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A93BD4-17FD-AD24-A29F-4DEB65E76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103563"/>
            <a:ext cx="491966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C82E9E-0658-5240-72E2-72583509E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4424363"/>
            <a:ext cx="3686175" cy="95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2AB54B-6E55-00DB-B778-CE29B4479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D13386-30F3-4EF0-85FE-9AF1D016CB72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203BD-D389-B047-C625-4A26CF74D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45FF5D08-2172-FD2A-88C2-028279324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971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Modulation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2B336D-B81F-6905-66ED-80C84E121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D4507D-6412-469F-A903-EABFD762BEFB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69DCA-62E8-030B-2C89-81CD3FC0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3D12FF96-9956-1A80-F3FA-1BB8AD892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Phase Modulation</a:t>
            </a:r>
          </a:p>
        </p:txBody>
      </p:sp>
      <p:sp>
        <p:nvSpPr>
          <p:cNvPr id="2056" name="Content Placeholder 2">
            <a:extLst>
              <a:ext uri="{FF2B5EF4-FFF2-40B4-BE49-F238E27FC236}">
                <a16:creationId xmlns:a16="http://schemas.microsoft.com/office/drawing/2014/main" id="{C6C68CC9-EA25-6199-DA01-4234B5446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364163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/>
              <a:t>The phase of carrier wave is varied in accordance with the amplitude of message signal. </a:t>
            </a:r>
            <a:r>
              <a:rPr lang="en-US" altLang="en-US">
                <a:solidFill>
                  <a:srgbClr val="3200C0"/>
                </a:solidFill>
              </a:rPr>
              <a:t>Assume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>
              <a:solidFill>
                <a:srgbClr val="3200C0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/>
              <a:t>Where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Kp</a:t>
            </a:r>
            <a:r>
              <a:rPr lang="en-US" altLang="en-US"/>
              <a:t> is </a:t>
            </a:r>
            <a:r>
              <a:rPr lang="en-US" altLang="en-US">
                <a:solidFill>
                  <a:srgbClr val="3200C0"/>
                </a:solidFill>
              </a:rPr>
              <a:t>phase modulation sensitivity constant</a:t>
            </a:r>
            <a:r>
              <a:rPr lang="en-US" altLang="en-US"/>
              <a:t>.</a:t>
            </a:r>
          </a:p>
          <a:p>
            <a:pPr>
              <a:spcBef>
                <a:spcPct val="0"/>
              </a:spcBef>
            </a:pPr>
            <a:r>
              <a:rPr lang="en-US" altLang="en-US">
                <a:solidFill>
                  <a:srgbClr val="FF0000"/>
                </a:solidFill>
              </a:rPr>
              <a:t>Then the resulting Phase Modulated wave is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/>
              <a:t> </a:t>
            </a:r>
          </a:p>
          <a:p>
            <a:pPr>
              <a:spcBef>
                <a:spcPct val="0"/>
              </a:spcBef>
            </a:pPr>
            <a:r>
              <a:rPr lang="en-US" altLang="en-US">
                <a:solidFill>
                  <a:srgbClr val="C00000"/>
                </a:solidFill>
              </a:rPr>
              <a:t>In this case the instantaneous angular frequency is given by 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/>
              <a:t>    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>
                <a:solidFill>
                  <a:srgbClr val="7030A0"/>
                </a:solidFill>
              </a:rPr>
              <a:t>Hence in PM the instantaneous angular frequency  varies linearly with the derivative of the modulating signal.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>
              <a:solidFill>
                <a:srgbClr val="3200C0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/>
              <a:t> </a:t>
            </a:r>
          </a:p>
        </p:txBody>
      </p:sp>
      <p:sp>
        <p:nvSpPr>
          <p:cNvPr id="8196" name="Rectangle 5">
            <a:extLst>
              <a:ext uri="{FF2B5EF4-FFF2-40B4-BE49-F238E27FC236}">
                <a16:creationId xmlns:a16="http://schemas.microsoft.com/office/drawing/2014/main" id="{0FB73DDE-1F5F-F2E1-0296-5E03019EF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050" name="Object 4">
            <a:extLst>
              <a:ext uri="{FF2B5EF4-FFF2-40B4-BE49-F238E27FC236}">
                <a16:creationId xmlns:a16="http://schemas.microsoft.com/office/drawing/2014/main" id="{A5BBDBC3-E61F-1151-06D3-0605BC077A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72350" y="1247775"/>
          <a:ext cx="11430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228600" progId="Equation.DSMT4">
                  <p:embed/>
                </p:oleObj>
              </mc:Choice>
              <mc:Fallback>
                <p:oleObj name="Equation" r:id="rId2" imgW="4191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2350" y="1247775"/>
                        <a:ext cx="1143000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Rectangle 7">
            <a:extLst>
              <a:ext uri="{FF2B5EF4-FFF2-40B4-BE49-F238E27FC236}">
                <a16:creationId xmlns:a16="http://schemas.microsoft.com/office/drawing/2014/main" id="{7859D3F5-B8B3-5CB1-DD7F-2D78DE08D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051" name="Object 6">
            <a:extLst>
              <a:ext uri="{FF2B5EF4-FFF2-40B4-BE49-F238E27FC236}">
                <a16:creationId xmlns:a16="http://schemas.microsoft.com/office/drawing/2014/main" id="{6753609C-13BD-FBA2-3868-68580AA0AE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1752600"/>
          <a:ext cx="29718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9200" imgH="241300" progId="Equation.DSMT4">
                  <p:embed/>
                </p:oleObj>
              </mc:Choice>
              <mc:Fallback>
                <p:oleObj name="Equation" r:id="rId4" imgW="1219200" imgH="241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752600"/>
                        <a:ext cx="29718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0" name="Rectangle 9">
            <a:extLst>
              <a:ext uri="{FF2B5EF4-FFF2-40B4-BE49-F238E27FC236}">
                <a16:creationId xmlns:a16="http://schemas.microsoft.com/office/drawing/2014/main" id="{835EE828-0A1C-E43F-9152-155E90609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201" name="Rectangle 11">
            <a:extLst>
              <a:ext uri="{FF2B5EF4-FFF2-40B4-BE49-F238E27FC236}">
                <a16:creationId xmlns:a16="http://schemas.microsoft.com/office/drawing/2014/main" id="{338A97E7-F0CB-9544-FC02-B98C470A8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053" name="Object 10">
            <a:extLst>
              <a:ext uri="{FF2B5EF4-FFF2-40B4-BE49-F238E27FC236}">
                <a16:creationId xmlns:a16="http://schemas.microsoft.com/office/drawing/2014/main" id="{A60EF73C-C733-887D-E3C1-10115CBDA7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3200400"/>
          <a:ext cx="50546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16868" imgH="253890" progId="Equation.DSMT4">
                  <p:embed/>
                </p:oleObj>
              </mc:Choice>
              <mc:Fallback>
                <p:oleObj name="Equation" r:id="rId6" imgW="1916868" imgH="25389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200400"/>
                        <a:ext cx="505460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2">
            <a:extLst>
              <a:ext uri="{FF2B5EF4-FFF2-40B4-BE49-F238E27FC236}">
                <a16:creationId xmlns:a16="http://schemas.microsoft.com/office/drawing/2014/main" id="{A6B13B9E-8816-6A87-E319-4D6A473E5C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81188" y="4267200"/>
          <a:ext cx="697865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86100" imgH="406400" progId="Equation.DSMT4">
                  <p:embed/>
                </p:oleObj>
              </mc:Choice>
              <mc:Fallback>
                <p:oleObj name="Equation" r:id="rId8" imgW="3086100" imgH="4064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188" y="4267200"/>
                        <a:ext cx="6978650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076927-AA6A-71BC-B6FE-F64F50434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3D23C47-0EFD-497E-911A-C3705D14DD86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40779-D1E2-8E8D-B3BC-196CCB87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0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20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5AB3885C-0CE7-242F-8A84-82C79FDF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19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 Modulation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2EC934-5F04-5EDD-5D19-FEB637B08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8E472B-6F36-467C-947F-8B45974E94C7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8B1F7-02AC-CB58-EFEF-A1581D75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7C129BBC-9502-1888-7A22-9DFB2973F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Frequency Modulation</a:t>
            </a:r>
          </a:p>
        </p:txBody>
      </p:sp>
      <p:sp>
        <p:nvSpPr>
          <p:cNvPr id="67587" name="Content Placeholder 2">
            <a:extLst>
              <a:ext uri="{FF2B5EF4-FFF2-40B4-BE49-F238E27FC236}">
                <a16:creationId xmlns:a16="http://schemas.microsoft.com/office/drawing/2014/main" id="{19C3893B-CE47-5433-F869-9CC4BBC3B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364163"/>
          </a:xfrm>
        </p:spPr>
        <p:txBody>
          <a:bodyPr/>
          <a:lstStyle/>
          <a:p>
            <a:pPr eaLnBrk="1" hangingPunct="1">
              <a:spcBef>
                <a:spcPts val="0"/>
              </a:spcBef>
              <a:buFont typeface="Arial" charset="0"/>
              <a:buNone/>
              <a:defRPr/>
            </a:pPr>
            <a:r>
              <a:rPr lang="en-US" dirty="0"/>
              <a:t>The frequency of carrier wave is varied in accordance with the amplitude of message signal.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The instantaneous angular frequency is given by</a:t>
            </a:r>
            <a:endParaRPr lang="en-US" dirty="0">
              <a:solidFill>
                <a:srgbClr val="3200C0"/>
              </a:solidFill>
            </a:endParaRPr>
          </a:p>
          <a:p>
            <a:pPr eaLnBrk="1" hangingPunct="1">
              <a:spcBef>
                <a:spcPts val="0"/>
              </a:spcBef>
              <a:buFont typeface="Arial" charset="0"/>
              <a:buNone/>
              <a:defRPr/>
            </a:pPr>
            <a:r>
              <a:rPr lang="en-US" dirty="0">
                <a:solidFill>
                  <a:srgbClr val="3200C0"/>
                </a:solidFill>
              </a:rPr>
              <a:t>						or </a:t>
            </a:r>
          </a:p>
          <a:p>
            <a:pPr eaLnBrk="1" hangingPunct="1">
              <a:spcBef>
                <a:spcPts val="0"/>
              </a:spcBef>
              <a:buFont typeface="Arial" charset="0"/>
              <a:buNone/>
              <a:defRPr/>
            </a:pPr>
            <a:r>
              <a:rPr lang="en-US" dirty="0"/>
              <a:t>where      is </a:t>
            </a:r>
            <a:r>
              <a:rPr lang="en-US" dirty="0">
                <a:solidFill>
                  <a:srgbClr val="3200C0"/>
                </a:solidFill>
              </a:rPr>
              <a:t>frequency modulation sensitivity constant</a:t>
            </a:r>
          </a:p>
          <a:p>
            <a:pPr eaLnBrk="1" hangingPunct="1">
              <a:spcBef>
                <a:spcPts val="0"/>
              </a:spcBef>
              <a:buFont typeface="Arial" charset="0"/>
              <a:buNone/>
              <a:defRPr/>
            </a:pPr>
            <a:endParaRPr lang="en-US" dirty="0">
              <a:solidFill>
                <a:srgbClr val="3200C0"/>
              </a:solidFill>
            </a:endParaRPr>
          </a:p>
          <a:p>
            <a:pPr marL="0" eaLnBrk="1" hangingPunct="1">
              <a:spcBef>
                <a:spcPts val="0"/>
              </a:spcBef>
              <a:buFont typeface="Arial" charset="0"/>
              <a:buNone/>
              <a:defRPr/>
            </a:pPr>
            <a:endParaRPr lang="en-US" dirty="0"/>
          </a:p>
          <a:p>
            <a:pPr marL="0">
              <a:lnSpc>
                <a:spcPct val="150000"/>
              </a:lnSpc>
              <a:spcBef>
                <a:spcPts val="0"/>
              </a:spcBef>
              <a:buFont typeface="Arial" charset="0"/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  Then the resulting Frequency Modulated wave is</a:t>
            </a:r>
          </a:p>
          <a:p>
            <a:pPr marL="0">
              <a:spcBef>
                <a:spcPts val="0"/>
              </a:spcBef>
              <a:buFont typeface="Arial" charset="0"/>
              <a:buChar char="•"/>
              <a:defRPr/>
            </a:pPr>
            <a:endParaRPr lang="en-US" dirty="0">
              <a:solidFill>
                <a:srgbClr val="FF0000"/>
              </a:solidFill>
            </a:endParaRPr>
          </a:p>
          <a:p>
            <a:pPr marL="0">
              <a:spcBef>
                <a:spcPts val="0"/>
              </a:spcBef>
              <a:buFont typeface="Arial" charset="0"/>
              <a:buChar char="•"/>
              <a:defRPr/>
            </a:pPr>
            <a:endParaRPr lang="en-US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buFont typeface="Arial" charset="0"/>
              <a:buNone/>
              <a:defRPr/>
            </a:pPr>
            <a:r>
              <a:rPr lang="en-US" dirty="0"/>
              <a:t> </a:t>
            </a:r>
          </a:p>
          <a:p>
            <a:pPr>
              <a:spcBef>
                <a:spcPts val="0"/>
              </a:spcBef>
              <a:buFont typeface="Arial" charset="0"/>
              <a:buNone/>
              <a:defRPr/>
            </a:pPr>
            <a:endParaRPr lang="en-US" dirty="0"/>
          </a:p>
          <a:p>
            <a:pPr eaLnBrk="1" hangingPunct="1">
              <a:buFont typeface="Arial" charset="0"/>
              <a:buNone/>
              <a:defRPr/>
            </a:pPr>
            <a:endParaRPr lang="en-US" dirty="0">
              <a:solidFill>
                <a:srgbClr val="3200C0"/>
              </a:solidFill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dirty="0"/>
              <a:t> </a:t>
            </a:r>
          </a:p>
        </p:txBody>
      </p:sp>
      <p:sp>
        <p:nvSpPr>
          <p:cNvPr id="10244" name="Rectangle 5">
            <a:extLst>
              <a:ext uri="{FF2B5EF4-FFF2-40B4-BE49-F238E27FC236}">
                <a16:creationId xmlns:a16="http://schemas.microsoft.com/office/drawing/2014/main" id="{0596BBB2-F067-D41F-58B3-83FF498A1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245" name="Rectangle 7">
            <a:extLst>
              <a:ext uri="{FF2B5EF4-FFF2-40B4-BE49-F238E27FC236}">
                <a16:creationId xmlns:a16="http://schemas.microsoft.com/office/drawing/2014/main" id="{F41D0C83-8D44-7AB6-038B-5E0130DEA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246" name="Rectangle 9">
            <a:extLst>
              <a:ext uri="{FF2B5EF4-FFF2-40B4-BE49-F238E27FC236}">
                <a16:creationId xmlns:a16="http://schemas.microsoft.com/office/drawing/2014/main" id="{F2B07C61-0EF8-9389-693D-F8E79A805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247" name="Rectangle 11">
            <a:extLst>
              <a:ext uri="{FF2B5EF4-FFF2-40B4-BE49-F238E27FC236}">
                <a16:creationId xmlns:a16="http://schemas.microsoft.com/office/drawing/2014/main" id="{8B3D0AC4-E5BD-C9AC-6BB8-1C081CC82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3615B1E4-7A00-CE7B-8E6A-1126B788D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10249" name="Object 7">
            <a:extLst>
              <a:ext uri="{FF2B5EF4-FFF2-40B4-BE49-F238E27FC236}">
                <a16:creationId xmlns:a16="http://schemas.microsoft.com/office/drawing/2014/main" id="{558AE7CA-182B-1D10-36C1-F9EC1A5FC7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2438400"/>
          <a:ext cx="38274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5100" imgH="254000" progId="Equation.DSMT4">
                  <p:embed/>
                </p:oleObj>
              </mc:Choice>
              <mc:Fallback>
                <p:oleObj name="Equation" r:id="rId2" imgW="1435100" imgH="254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438400"/>
                        <a:ext cx="382746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Rectangle 10">
            <a:extLst>
              <a:ext uri="{FF2B5EF4-FFF2-40B4-BE49-F238E27FC236}">
                <a16:creationId xmlns:a16="http://schemas.microsoft.com/office/drawing/2014/main" id="{3C3F5D80-C068-DC0B-2626-69DB924C7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10251" name="Object 9">
            <a:extLst>
              <a:ext uri="{FF2B5EF4-FFF2-40B4-BE49-F238E27FC236}">
                <a16:creationId xmlns:a16="http://schemas.microsoft.com/office/drawing/2014/main" id="{BA42D800-BBFD-C346-560F-4C4EF48A8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0" y="2535238"/>
          <a:ext cx="28130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70000" imgH="254000" progId="Equation.DSMT4">
                  <p:embed/>
                </p:oleObj>
              </mc:Choice>
              <mc:Fallback>
                <p:oleObj name="Equation" r:id="rId4" imgW="1270000" imgH="254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535238"/>
                        <a:ext cx="28130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Rectangle 12">
            <a:extLst>
              <a:ext uri="{FF2B5EF4-FFF2-40B4-BE49-F238E27FC236}">
                <a16:creationId xmlns:a16="http://schemas.microsoft.com/office/drawing/2014/main" id="{6566DC02-9276-4382-B995-8BDCB56F3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10253" name="Object 11">
            <a:extLst>
              <a:ext uri="{FF2B5EF4-FFF2-40B4-BE49-F238E27FC236}">
                <a16:creationId xmlns:a16="http://schemas.microsoft.com/office/drawing/2014/main" id="{4193B26C-9ED2-2EE3-94E4-CDA6B68A3C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2971800"/>
          <a:ext cx="5334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994" imgH="254110" progId="Equation.DSMT4">
                  <p:embed/>
                </p:oleObj>
              </mc:Choice>
              <mc:Fallback>
                <p:oleObj name="Equation" r:id="rId6" imgW="215994" imgH="25411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971800"/>
                        <a:ext cx="53340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4" name="Rectangle 14">
            <a:extLst>
              <a:ext uri="{FF2B5EF4-FFF2-40B4-BE49-F238E27FC236}">
                <a16:creationId xmlns:a16="http://schemas.microsoft.com/office/drawing/2014/main" id="{793E9F3E-4CCD-04A3-74B9-68E6A3FCB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255" name="Rectangle 17">
            <a:extLst>
              <a:ext uri="{FF2B5EF4-FFF2-40B4-BE49-F238E27FC236}">
                <a16:creationId xmlns:a16="http://schemas.microsoft.com/office/drawing/2014/main" id="{E41CBF72-7505-ADE5-C6F5-5A6C9E858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10256" name="Object 16">
            <a:extLst>
              <a:ext uri="{FF2B5EF4-FFF2-40B4-BE49-F238E27FC236}">
                <a16:creationId xmlns:a16="http://schemas.microsoft.com/office/drawing/2014/main" id="{2569DE2B-2770-BAB4-D8F5-EF823DD867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5334000"/>
          <a:ext cx="63087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28900" imgH="381000" progId="Equation.DSMT4">
                  <p:embed/>
                </p:oleObj>
              </mc:Choice>
              <mc:Fallback>
                <p:oleObj name="Equation" r:id="rId8" imgW="2628900" imgH="3810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334000"/>
                        <a:ext cx="63087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7" name="Object 18">
            <a:extLst>
              <a:ext uri="{FF2B5EF4-FFF2-40B4-BE49-F238E27FC236}">
                <a16:creationId xmlns:a16="http://schemas.microsoft.com/office/drawing/2014/main" id="{2B606C12-8452-40F6-305B-AA5EA4A95E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13" y="3581400"/>
          <a:ext cx="8915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21200" imgH="330200" progId="Equation.DSMT4">
                  <p:embed/>
                </p:oleObj>
              </mc:Choice>
              <mc:Fallback>
                <p:oleObj name="Equation" r:id="rId10" imgW="4521200" imgH="3302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3" y="3581400"/>
                        <a:ext cx="8915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4CBE51-E9CD-4651-FCE0-F4FA23E58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4C42A0-7EFB-41D5-9D96-7B64A85DC256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628B5-1F53-087B-F5D5-F63A2EAD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C285547D-A974-4B5B-927C-A467AD65E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AM, PM and FM Waveforms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D67A73BB-A782-1561-5BBB-EF62AFBAD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6543F826-B7AD-8DDC-9BCF-4F2141375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90600"/>
            <a:ext cx="8296275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FFCC0B-33F3-78D9-B1AF-48D0D5D28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707D1C-03CA-4148-A586-C1CF52A28B32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9FD6B-FDF0-698F-8802-3F28CBBE3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C53EF0B2-97B1-5F09-9FCE-58584B0CB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68363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PM and FM Waveforms</a:t>
            </a:r>
            <a:endParaRPr lang="en-US" altLang="en-US"/>
          </a:p>
        </p:txBody>
      </p:sp>
      <p:pic>
        <p:nvPicPr>
          <p:cNvPr id="12291" name="Picture 2">
            <a:extLst>
              <a:ext uri="{FF2B5EF4-FFF2-40B4-BE49-F238E27FC236}">
                <a16:creationId xmlns:a16="http://schemas.microsoft.com/office/drawing/2014/main" id="{0915A2A0-A1C5-74BB-2509-D83076B16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09600"/>
            <a:ext cx="8905875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F88B92-C9D6-BAD2-9A2C-EC7BF571C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57D845-2EFD-4685-A5DC-050CA020387B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F1746-55C2-E941-9084-893ED5CC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5E74F854-5F96-5AA1-5800-47F35CBAE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between PM and FM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3CFCC810-C0DA-4192-CFBA-C8C3FC5D7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364163"/>
          </a:xfrm>
        </p:spPr>
        <p:txBody>
          <a:bodyPr/>
          <a:lstStyle/>
          <a:p>
            <a:pPr eaLnBrk="1" hangingPunct="1"/>
            <a:r>
              <a:rPr lang="en-US" altLang="en-US" sz="2700">
                <a:latin typeface="Arial" panose="020B0604020202020204" pitchFamily="34" charset="0"/>
                <a:cs typeface="Arial" panose="020B0604020202020204" pitchFamily="34" charset="0"/>
              </a:rPr>
              <a:t>Equations          and             show that in both PM and FM, the angle of a carrier is varied in proportion to some measure of </a:t>
            </a:r>
            <a:r>
              <a:rPr lang="en-US" altLang="en-US" sz="27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7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7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7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eaLnBrk="1" hangingPunct="1"/>
            <a:endParaRPr lang="en-US" altLang="en-US" sz="27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700">
                <a:solidFill>
                  <a:srgbClr val="0246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PM : Directly proportional to </a:t>
            </a:r>
            <a:r>
              <a:rPr lang="en-US" altLang="en-US" sz="2700" i="1">
                <a:solidFill>
                  <a:srgbClr val="0246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700">
                <a:solidFill>
                  <a:srgbClr val="0246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700" i="1">
                <a:solidFill>
                  <a:srgbClr val="0246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700">
                <a:solidFill>
                  <a:srgbClr val="0246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en-US" altLang="en-US" sz="2700">
                <a:solidFill>
                  <a:srgbClr val="32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FM : Directly proportional to integral of </a:t>
            </a:r>
            <a:r>
              <a:rPr lang="en-US" altLang="en-US" sz="2700" i="1">
                <a:solidFill>
                  <a:srgbClr val="32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700">
                <a:solidFill>
                  <a:srgbClr val="32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700" i="1">
                <a:solidFill>
                  <a:srgbClr val="32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700">
                <a:solidFill>
                  <a:srgbClr val="32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3316" name="Object 1">
            <a:extLst>
              <a:ext uri="{FF2B5EF4-FFF2-40B4-BE49-F238E27FC236}">
                <a16:creationId xmlns:a16="http://schemas.microsoft.com/office/drawing/2014/main" id="{DA16C7C9-34B6-7551-580E-D4DBBC9558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9488" y="700088"/>
          <a:ext cx="117792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13" imgH="215806" progId="Equation.DSMT4">
                  <p:embed/>
                </p:oleObj>
              </mc:Choice>
              <mc:Fallback>
                <p:oleObj name="Equation" r:id="rId2" imgW="431613" imgH="215806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488" y="700088"/>
                        <a:ext cx="1177925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2">
            <a:extLst>
              <a:ext uri="{FF2B5EF4-FFF2-40B4-BE49-F238E27FC236}">
                <a16:creationId xmlns:a16="http://schemas.microsoft.com/office/drawing/2014/main" id="{B45CEF61-A7C4-C331-412D-E122C1093B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8188" y="747713"/>
          <a:ext cx="84613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13" imgH="215806" progId="Equation.DSMT4">
                  <p:embed/>
                </p:oleObj>
              </mc:Choice>
              <mc:Fallback>
                <p:oleObj name="Equation" r:id="rId4" imgW="431613" imgH="215806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188" y="747713"/>
                        <a:ext cx="846137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Rectangle 4">
            <a:extLst>
              <a:ext uri="{FF2B5EF4-FFF2-40B4-BE49-F238E27FC236}">
                <a16:creationId xmlns:a16="http://schemas.microsoft.com/office/drawing/2014/main" id="{AF218B68-DDB4-3E26-21B4-11A11CBE7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13319" name="Object 3">
            <a:extLst>
              <a:ext uri="{FF2B5EF4-FFF2-40B4-BE49-F238E27FC236}">
                <a16:creationId xmlns:a16="http://schemas.microsoft.com/office/drawing/2014/main" id="{2A8C6E17-D7D0-F49E-32AD-82784559FD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600200"/>
          <a:ext cx="407193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16868" imgH="253890" progId="Equation.DSMT4">
                  <p:embed/>
                </p:oleObj>
              </mc:Choice>
              <mc:Fallback>
                <p:oleObj name="Equation" r:id="rId6" imgW="1916868" imgH="25389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600200"/>
                        <a:ext cx="4071938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5">
            <a:extLst>
              <a:ext uri="{FF2B5EF4-FFF2-40B4-BE49-F238E27FC236}">
                <a16:creationId xmlns:a16="http://schemas.microsoft.com/office/drawing/2014/main" id="{5B158628-630C-C468-5A40-07EFE24C09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2043113"/>
          <a:ext cx="5638800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28900" imgH="381000" progId="Equation.DSMT4">
                  <p:embed/>
                </p:oleObj>
              </mc:Choice>
              <mc:Fallback>
                <p:oleObj name="Equation" r:id="rId8" imgW="2628900" imgH="381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043113"/>
                        <a:ext cx="5638800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321" name="Picture 7">
            <a:extLst>
              <a:ext uri="{FF2B5EF4-FFF2-40B4-BE49-F238E27FC236}">
                <a16:creationId xmlns:a16="http://schemas.microsoft.com/office/drawing/2014/main" id="{EC99DC23-56DC-2388-F822-C2B338140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546475"/>
            <a:ext cx="8767762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2" name="Picture 8">
            <a:extLst>
              <a:ext uri="{FF2B5EF4-FFF2-40B4-BE49-F238E27FC236}">
                <a16:creationId xmlns:a16="http://schemas.microsoft.com/office/drawing/2014/main" id="{5C6F41F4-F156-F2FA-115A-9E80F75E7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" y="5008563"/>
            <a:ext cx="8694738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DF5939-D56D-6980-441B-1013A8FF4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44C59A-C156-4395-AC93-E1626EC1A2D0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E5E8E-B2F0-FE40-8BE4-FDE799AE5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2CC327B-3CF9-4D6B-8C2B-BC40088EC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Example1 </a:t>
            </a:r>
          </a:p>
        </p:txBody>
      </p:sp>
      <p:pic>
        <p:nvPicPr>
          <p:cNvPr id="14339" name="Picture 6" descr="La05F04">
            <a:extLst>
              <a:ext uri="{FF2B5EF4-FFF2-40B4-BE49-F238E27FC236}">
                <a16:creationId xmlns:a16="http://schemas.microsoft.com/office/drawing/2014/main" id="{133A54DC-C880-3B95-6E01-44F1EA396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5000"/>
            <a:ext cx="8840788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FD727D-DFD7-0B8F-9E76-5EAE37A5E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083B29-6460-42FE-A5CD-D7E228BC32EF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05C9E-C154-A6B4-74FD-8FDC8FE16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612242A6-6FB3-C6B7-3D75-42547AFA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2</a:t>
            </a:r>
          </a:p>
        </p:txBody>
      </p:sp>
      <p:pic>
        <p:nvPicPr>
          <p:cNvPr id="15363" name="Picture 6" descr="La05F05">
            <a:extLst>
              <a:ext uri="{FF2B5EF4-FFF2-40B4-BE49-F238E27FC236}">
                <a16:creationId xmlns:a16="http://schemas.microsoft.com/office/drawing/2014/main" id="{B17AC3F4-01A4-F56B-6E1D-ADFDA85A8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590800"/>
            <a:ext cx="8847138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EA6C9F-3AEC-0FFC-FC28-E6EE32472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8F9EF6-D5BF-4BAC-93C4-F0C626C51C80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8FEED-2E43-1664-4AF0-BD840AE5E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1B52CADD-5603-DBA8-0681-DF485EE99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895600"/>
            <a:ext cx="8229600" cy="1143000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A2641-31E7-2C25-CF1A-65A6D287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26A70D-AEA1-4E04-A047-55046CAA12A9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4203A-5E87-676D-9963-6DFCA3C5A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297</Words>
  <Application>Microsoft Office PowerPoint</Application>
  <PresentationFormat>On-screen Show (4:3)</PresentationFormat>
  <Paragraphs>78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Equation</vt:lpstr>
      <vt:lpstr>Analog Communications</vt:lpstr>
      <vt:lpstr>Angle Modulation</vt:lpstr>
      <vt:lpstr>Angle Modulation</vt:lpstr>
      <vt:lpstr> Phase angle and Instantaneous Frequency</vt:lpstr>
      <vt:lpstr>Phase Modulation</vt:lpstr>
      <vt:lpstr>Phase Modulation</vt:lpstr>
      <vt:lpstr>Frequency Modulation</vt:lpstr>
      <vt:lpstr>Frequency Modulation</vt:lpstr>
      <vt:lpstr>AM, PM and FM Waveforms</vt:lpstr>
      <vt:lpstr>PM and FM Waveforms</vt:lpstr>
      <vt:lpstr>Relationship between PM and FM</vt:lpstr>
      <vt:lpstr>Example1 </vt:lpstr>
      <vt:lpstr>Example 2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D Sreenivasa Rao</cp:lastModifiedBy>
  <cp:revision>268</cp:revision>
  <dcterms:created xsi:type="dcterms:W3CDTF">2006-08-16T00:00:00Z</dcterms:created>
  <dcterms:modified xsi:type="dcterms:W3CDTF">2025-09-16T07:14:26Z</dcterms:modified>
</cp:coreProperties>
</file>