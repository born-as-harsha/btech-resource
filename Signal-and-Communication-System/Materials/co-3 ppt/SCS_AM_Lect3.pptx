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517" r:id="rId2"/>
    <p:sldId id="442" r:id="rId3"/>
    <p:sldId id="487" r:id="rId4"/>
    <p:sldId id="488" r:id="rId5"/>
    <p:sldId id="489" r:id="rId6"/>
    <p:sldId id="490" r:id="rId7"/>
    <p:sldId id="493" r:id="rId8"/>
    <p:sldId id="499" r:id="rId9"/>
    <p:sldId id="492" r:id="rId10"/>
    <p:sldId id="495" r:id="rId11"/>
    <p:sldId id="512" r:id="rId12"/>
    <p:sldId id="513" r:id="rId13"/>
    <p:sldId id="51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DA42C-B01A-4620-B266-C76670F69EE1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8C42A-996E-4020-8007-995058B5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19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83A39-8445-3263-2141-08EF36C43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1619F-D951-64CA-645A-24C265DE5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79A74-1AA9-293E-9CEF-BF429B1F4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96E6D-B8C4-4EF7-A53E-123513C932AE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277F5-639A-915B-BD00-0CEACA42E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E63D5-F61A-999E-03B7-753456C5C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188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7839F-01D7-F7F6-85FB-0368E491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FBA7F-3903-5B64-AC68-1C29BD75D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C942B-94B5-7ED7-D51F-3D979D60C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4C094-806E-47D2-B78B-5707FB7F2C98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52E6B-1DB9-D9EF-0E68-F2271483B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C4925-F43D-EE09-02FE-7F7E23EB1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2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BE99B-6B89-885A-579C-4147209A5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0CB91-7421-5A07-611F-97236339C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36DE4-CACD-2BFB-22BB-B5D57C87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B335-A1EC-4DA6-AB8F-923B5CE8F114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91749-40E0-E96F-F73D-E1BACBD2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4C89A-5EC6-FF1F-2248-DCDD3B5FF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788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BA520-C29C-028F-8246-5EFED4E17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3AEE8-8A48-9A94-977C-726CDF2C7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5A23A-C6A2-649F-7130-BDC7E1EA4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EA40-065D-1B1D-2B62-6370D1CDF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6F7D8-BC4F-4080-B1FD-4FC18C15827C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078C3-7960-9520-1FCA-C443D43C7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EBB5D-CF24-C362-6123-6881B128B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17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D008-0A9D-81C2-D03D-5C88DAF42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2C430-B3D6-D976-CE7F-2C837B727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B6AF6-D8E6-B73E-1242-E50687E24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A5094-CA90-D878-CCF0-F3F2A8545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6BDD34-7076-0D2D-4375-821704E5C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B9CBB4-1A09-0D4D-CAEC-902AABCC1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B727C-3463-4A0D-B027-B690209623F4}" type="datetime1">
              <a:rPr lang="en-IN" smtClean="0"/>
              <a:t>05-09-2025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7187F7-2E6E-514A-781C-F0B78A9EB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41CAE-E431-58FF-8159-59073C465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504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91C0-33FC-C753-7607-CB94DBD9E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D53FD7-CC93-B4AC-9F94-CA4252FC2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371AE-C039-4EA1-942F-466439BBBAEF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6525E-7C66-FC66-3B40-D0D455B77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6EC0A-18F9-CE1C-08D7-B29641D54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00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2BC951-0794-0160-B659-251258827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50746-8ED4-4DA5-80F7-064FED0ABDD2}" type="datetime1">
              <a:rPr lang="en-IN" smtClean="0"/>
              <a:t>05-09-2025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081473-69EB-3EF7-1523-22193DD19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59792-A19E-EE45-AA02-B7FF43DD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857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A17A-5C83-D38B-4553-E458583B6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B4B77-18C6-EEAF-713D-DEEF16DDA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E18C5-A431-71A9-EBFD-328BDFFE4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C2C41-3B06-1D8A-5F97-F7295D927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6B3D-D885-4BE3-9D3F-65CC2E0EC052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129E0-FEEA-027A-DC2B-1A119D04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4C3B6-9A96-B4F9-0B73-6B80D3CB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502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5A724-EA6C-7B1F-456C-F7433A842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F0A72A-647B-ECFC-F355-1C444B8BC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33874-3F25-04E7-CD23-A2883B18C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FF0F3-EAF5-99E8-FC9D-03075F472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36D5C-6CF4-4A9E-9FFB-8034BA76BA38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402B3-B713-EF4C-852A-A478A1D10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D9597-E589-2FF7-B74A-4D5B0A707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52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31F65-2519-777F-7275-385550722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33FFF-7FEB-43DB-E4A2-B5CD94312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55AC4-6FF3-2433-0290-EA478771D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20DDF-DD88-48AA-9977-75BA3D1BA75F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E5072-F550-745D-4807-78C462102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35E4A-58E7-64F7-34A6-7F68CBEF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85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3604E8-42E9-837C-A5F2-24EF9AAD0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91242-2568-87F3-66AE-01382531D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4A392-693C-DCCC-AE66-E98BA998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1E7D-3F91-4859-8D77-3C4684F8EC9D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CCADA-F29A-FF58-B645-CA2569153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01E10-DDC6-73F9-AA16-3345C671D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668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5FF144-799C-B789-8F90-0DD341180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E1320-CECC-4972-F6A0-F150AE694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02221-F528-89F7-270B-C155DF5497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763CE-420F-482B-AB79-1D973FDAE6CA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3A070-CB17-DC5D-61E0-9A89C417E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CB20D-10E9-DEB0-F646-FF1C399E0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226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9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2.wmf"/><Relationship Id="rId7" Type="http://schemas.openxmlformats.org/officeDocument/2006/relationships/oleObject" Target="../embeddings/oleObject12.bin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6.wmf"/><Relationship Id="rId4" Type="http://schemas.openxmlformats.org/officeDocument/2006/relationships/image" Target="../media/image13.png"/><Relationship Id="rId9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png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11" Type="http://schemas.openxmlformats.org/officeDocument/2006/relationships/image" Target="../media/image28.png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1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12" Type="http://schemas.openxmlformats.org/officeDocument/2006/relationships/image" Target="../media/image34.png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33.wmf"/><Relationship Id="rId5" Type="http://schemas.openxmlformats.org/officeDocument/2006/relationships/image" Target="../media/image30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32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Subtitle 2">
            <a:extLst>
              <a:ext uri="{FF2B5EF4-FFF2-40B4-BE49-F238E27FC236}">
                <a16:creationId xmlns:a16="http://schemas.microsoft.com/office/drawing/2014/main" id="{9C4EE349-ECAF-99CD-6260-306F7006D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" y="3063240"/>
            <a:ext cx="11785600" cy="200863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en-US" sz="4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Analog Communications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</a:t>
            </a:r>
            <a:endParaRPr lang="en-US" altLang="en-US" sz="32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05C818-561A-BE14-46A3-A5860CBA9561}"/>
              </a:ext>
            </a:extLst>
          </p:cNvPr>
          <p:cNvSpPr txBox="1">
            <a:spLocks/>
          </p:cNvSpPr>
          <p:nvPr/>
        </p:nvSpPr>
        <p:spPr>
          <a:xfrm>
            <a:off x="902208" y="619761"/>
            <a:ext cx="10668000" cy="14700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3200C0"/>
                </a:solidFill>
                <a:latin typeface="Arial" charset="0"/>
                <a:cs typeface="Arial" charset="0"/>
              </a:rPr>
              <a:t>Signals and Communication Systems (24EC2105)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8B6246C2-015C-3D12-2EFE-A8B16A33F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200" y="2286000"/>
            <a:ext cx="9052560" cy="1143000"/>
          </a:xfrm>
        </p:spPr>
        <p:txBody>
          <a:bodyPr>
            <a:normAutofit/>
          </a:bodyPr>
          <a:lstStyle/>
          <a:p>
            <a:r>
              <a:rPr lang="en-US" altLang="en-US" sz="48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4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sz="4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Generation </a:t>
            </a:r>
            <a:r>
              <a:rPr lang="en-US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(A</a:t>
            </a:r>
            <a:r>
              <a:rPr lang="en-US" altLang="en-US" sz="4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8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Modulators</a:t>
            </a:r>
            <a:r>
              <a:rPr lang="en-US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sz="4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9D793F-0077-CDBE-F7F2-19EFAE8EB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5ECD-9673-449F-888E-846B0478F1B4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75A15-BD5B-4695-9713-45124D60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itle 1">
            <a:extLst>
              <a:ext uri="{FF2B5EF4-FFF2-40B4-BE49-F238E27FC236}">
                <a16:creationId xmlns:a16="http://schemas.microsoft.com/office/drawing/2014/main" id="{778B17A6-596A-984D-3FFE-102B2F26B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1"/>
            <a:ext cx="7848600" cy="792163"/>
          </a:xfrm>
        </p:spPr>
        <p:txBody>
          <a:bodyPr/>
          <a:lstStyle/>
          <a:p>
            <a:pPr algn="l"/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Square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-Law </a:t>
            </a:r>
            <a:r>
              <a:rPr lang="en-US" altLang="en-US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Modulator</a:t>
            </a:r>
          </a:p>
        </p:txBody>
      </p:sp>
      <p:pic>
        <p:nvPicPr>
          <p:cNvPr id="1030" name="Picture 3">
            <a:extLst>
              <a:ext uri="{FF2B5EF4-FFF2-40B4-BE49-F238E27FC236}">
                <a16:creationId xmlns:a16="http://schemas.microsoft.com/office/drawing/2014/main" id="{B9E3EE02-F27A-65B9-0824-F35FB5E84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990600"/>
            <a:ext cx="7696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4">
            <a:extLst>
              <a:ext uri="{FF2B5EF4-FFF2-40B4-BE49-F238E27FC236}">
                <a16:creationId xmlns:a16="http://schemas.microsoft.com/office/drawing/2014/main" id="{A6327349-61E8-693D-02C2-296D30CD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267200"/>
            <a:ext cx="876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/>
              <a:t>The </a:t>
            </a:r>
            <a:r>
              <a:rPr lang="en-US" altLang="en-US" sz="3200">
                <a:solidFill>
                  <a:srgbClr val="3200C0"/>
                </a:solidFill>
              </a:rPr>
              <a:t>diode</a:t>
            </a:r>
            <a:r>
              <a:rPr lang="en-US" altLang="en-US" sz="3200"/>
              <a:t>-</a:t>
            </a:r>
            <a:r>
              <a:rPr lang="en-US" altLang="en-US" sz="3200">
                <a:solidFill>
                  <a:srgbClr val="FF0000"/>
                </a:solidFill>
              </a:rPr>
              <a:t>resistor </a:t>
            </a:r>
            <a:r>
              <a:rPr lang="en-US" altLang="en-US" sz="3200"/>
              <a:t>equation is given by</a:t>
            </a:r>
          </a:p>
        </p:txBody>
      </p:sp>
      <p:sp>
        <p:nvSpPr>
          <p:cNvPr id="1032" name="Rectangle 2">
            <a:extLst>
              <a:ext uri="{FF2B5EF4-FFF2-40B4-BE49-F238E27FC236}">
                <a16:creationId xmlns:a16="http://schemas.microsoft.com/office/drawing/2014/main" id="{6B8795BA-87EF-D0DF-1838-B6A3563D7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26" name="Object 1">
            <a:extLst>
              <a:ext uri="{FF2B5EF4-FFF2-40B4-BE49-F238E27FC236}">
                <a16:creationId xmlns:a16="http://schemas.microsoft.com/office/drawing/2014/main" id="{6E49AA0A-F267-A78D-919B-FEB7CB3E7F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4876800"/>
          <a:ext cx="4572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72561" imgH="266584" progId="Equation.DSMT4">
                  <p:embed/>
                </p:oleObj>
              </mc:Choice>
              <mc:Fallback>
                <p:oleObj name="Equation" r:id="rId3" imgW="1472561" imgH="266584" progId="Equation.DSMT4">
                  <p:embed/>
                  <p:pic>
                    <p:nvPicPr>
                      <p:cNvPr id="1026" name="Object 1">
                        <a:extLst>
                          <a:ext uri="{FF2B5EF4-FFF2-40B4-BE49-F238E27FC236}">
                            <a16:creationId xmlns:a16="http://schemas.microsoft.com/office/drawing/2014/main" id="{6E49AA0A-F267-A78D-919B-FEB7CB3E7F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876800"/>
                        <a:ext cx="45720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4">
            <a:extLst>
              <a:ext uri="{FF2B5EF4-FFF2-40B4-BE49-F238E27FC236}">
                <a16:creationId xmlns:a16="http://schemas.microsoft.com/office/drawing/2014/main" id="{139EF310-13CA-9B28-8088-5A29D82CAE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5791200"/>
          <a:ext cx="685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5028" imgH="228501" progId="Equation.DSMT4">
                  <p:embed/>
                </p:oleObj>
              </mc:Choice>
              <mc:Fallback>
                <p:oleObj name="Equation" r:id="rId5" imgW="165028" imgH="228501" progId="Equation.DSMT4">
                  <p:embed/>
                  <p:pic>
                    <p:nvPicPr>
                      <p:cNvPr id="1027" name="Object 4">
                        <a:extLst>
                          <a:ext uri="{FF2B5EF4-FFF2-40B4-BE49-F238E27FC236}">
                            <a16:creationId xmlns:a16="http://schemas.microsoft.com/office/drawing/2014/main" id="{139EF310-13CA-9B28-8088-5A29D82CAE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791200"/>
                        <a:ext cx="6858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3">
            <a:extLst>
              <a:ext uri="{FF2B5EF4-FFF2-40B4-BE49-F238E27FC236}">
                <a16:creationId xmlns:a16="http://schemas.microsoft.com/office/drawing/2014/main" id="{44D0E289-85BE-3FC0-5D07-0910381F2E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5791200"/>
          <a:ext cx="685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0500" imgH="228600" progId="Equation.DSMT4">
                  <p:embed/>
                </p:oleObj>
              </mc:Choice>
              <mc:Fallback>
                <p:oleObj name="Equation" r:id="rId7" imgW="190500" imgH="228600" progId="Equation.DSMT4">
                  <p:embed/>
                  <p:pic>
                    <p:nvPicPr>
                      <p:cNvPr id="1028" name="Object 3">
                        <a:extLst>
                          <a:ext uri="{FF2B5EF4-FFF2-40B4-BE49-F238E27FC236}">
                            <a16:creationId xmlns:a16="http://schemas.microsoft.com/office/drawing/2014/main" id="{44D0E289-85BE-3FC0-5D07-0910381F2E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791200"/>
                        <a:ext cx="6858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Rectangle 7">
            <a:extLst>
              <a:ext uri="{FF2B5EF4-FFF2-40B4-BE49-F238E27FC236}">
                <a16:creationId xmlns:a16="http://schemas.microsoft.com/office/drawing/2014/main" id="{AFC88679-08D4-E5D9-54EE-90926DA43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5867401"/>
            <a:ext cx="5992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olidFill>
                  <a:srgbClr val="024614"/>
                </a:solidFill>
                <a:cs typeface="Times New Roman" panose="02020603050405020304" pitchFamily="18" charset="0"/>
              </a:rPr>
              <a:t>Where       and         are constants</a:t>
            </a:r>
            <a:r>
              <a:rPr lang="en-US" altLang="en-US" sz="2800">
                <a:cs typeface="Times New Roman" panose="02020603050405020304" pitchFamily="18" charset="0"/>
              </a:rPr>
              <a:t>.</a:t>
            </a:r>
            <a:r>
              <a:rPr lang="en-US" altLang="en-US" sz="2800"/>
              <a:t> 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205AB1B9-EAB4-BB15-196C-64181722B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9DDC39-6DF8-AA51-A3E2-6D80BFA4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A8BC-D743-401B-BC64-E83D8D760489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389D8-7237-E218-D79A-E5C515FD1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Title 1">
            <a:extLst>
              <a:ext uri="{FF2B5EF4-FFF2-40B4-BE49-F238E27FC236}">
                <a16:creationId xmlns:a16="http://schemas.microsoft.com/office/drawing/2014/main" id="{A50E4377-478F-F372-62B6-5076EFC59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Square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-Law </a:t>
            </a:r>
            <a:r>
              <a:rPr lang="en-US" altLang="en-US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Modulator …</a:t>
            </a:r>
            <a:endParaRPr lang="en-US" altLang="en-US"/>
          </a:p>
        </p:txBody>
      </p:sp>
      <p:sp>
        <p:nvSpPr>
          <p:cNvPr id="2055" name="Content Placeholder 2">
            <a:extLst>
              <a:ext uri="{FF2B5EF4-FFF2-40B4-BE49-F238E27FC236}">
                <a16:creationId xmlns:a16="http://schemas.microsoft.com/office/drawing/2014/main" id="{D6F997F9-8EF2-8214-FB90-BC3741819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838201"/>
            <a:ext cx="9144000" cy="5287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The output of the non-linear device (diode)</a:t>
            </a:r>
          </a:p>
          <a:p>
            <a:endParaRPr lang="en-US" altLang="en-US"/>
          </a:p>
        </p:txBody>
      </p:sp>
      <p:sp>
        <p:nvSpPr>
          <p:cNvPr id="2056" name="Rectangle 2">
            <a:extLst>
              <a:ext uri="{FF2B5EF4-FFF2-40B4-BE49-F238E27FC236}">
                <a16:creationId xmlns:a16="http://schemas.microsoft.com/office/drawing/2014/main" id="{B3E9794A-B801-B715-3DD5-1CD45C9CA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050" name="Object 1">
            <a:extLst>
              <a:ext uri="{FF2B5EF4-FFF2-40B4-BE49-F238E27FC236}">
                <a16:creationId xmlns:a16="http://schemas.microsoft.com/office/drawing/2014/main" id="{51EA2FB7-65F3-029B-4E3C-45A2D17536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1" y="1524000"/>
          <a:ext cx="37957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2561" imgH="266584" progId="Equation.DSMT4">
                  <p:embed/>
                </p:oleObj>
              </mc:Choice>
              <mc:Fallback>
                <p:oleObj name="Equation" r:id="rId2" imgW="1472561" imgH="266584" progId="Equation.DSMT4">
                  <p:embed/>
                  <p:pic>
                    <p:nvPicPr>
                      <p:cNvPr id="2050" name="Object 1">
                        <a:extLst>
                          <a:ext uri="{FF2B5EF4-FFF2-40B4-BE49-F238E27FC236}">
                            <a16:creationId xmlns:a16="http://schemas.microsoft.com/office/drawing/2014/main" id="{51EA2FB7-65F3-029B-4E3C-45A2D17536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1524000"/>
                        <a:ext cx="3795713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7" name="Rectangle 5">
            <a:extLst>
              <a:ext uri="{FF2B5EF4-FFF2-40B4-BE49-F238E27FC236}">
                <a16:creationId xmlns:a16="http://schemas.microsoft.com/office/drawing/2014/main" id="{C7EED3CE-FAB3-6357-5293-2FF6EEEBC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1600200"/>
            <a:ext cx="1295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/>
              <a:t>where</a:t>
            </a:r>
          </a:p>
        </p:txBody>
      </p:sp>
      <p:sp>
        <p:nvSpPr>
          <p:cNvPr id="2058" name="Rectangle 4">
            <a:extLst>
              <a:ext uri="{FF2B5EF4-FFF2-40B4-BE49-F238E27FC236}">
                <a16:creationId xmlns:a16="http://schemas.microsoft.com/office/drawing/2014/main" id="{45CA7FFE-4C77-B02E-6C17-DAADE131D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051" name="Object 3">
            <a:extLst>
              <a:ext uri="{FF2B5EF4-FFF2-40B4-BE49-F238E27FC236}">
                <a16:creationId xmlns:a16="http://schemas.microsoft.com/office/drawing/2014/main" id="{1181BCA2-A046-B90B-C5EE-DA35613FD3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81825" y="1612900"/>
          <a:ext cx="35052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85900" imgH="228600" progId="Equation.DSMT4">
                  <p:embed/>
                </p:oleObj>
              </mc:Choice>
              <mc:Fallback>
                <p:oleObj name="Equation" r:id="rId4" imgW="1485900" imgH="228600" progId="Equation.DSMT4">
                  <p:embed/>
                  <p:pic>
                    <p:nvPicPr>
                      <p:cNvPr id="2051" name="Object 3">
                        <a:extLst>
                          <a:ext uri="{FF2B5EF4-FFF2-40B4-BE49-F238E27FC236}">
                            <a16:creationId xmlns:a16="http://schemas.microsoft.com/office/drawing/2014/main" id="{1181BCA2-A046-B90B-C5EE-DA35613FD3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1825" y="1612900"/>
                        <a:ext cx="35052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" name="Rectangle 6">
            <a:extLst>
              <a:ext uri="{FF2B5EF4-FFF2-40B4-BE49-F238E27FC236}">
                <a16:creationId xmlns:a16="http://schemas.microsoft.com/office/drawing/2014/main" id="{52DF5FC6-A94C-ECCE-AA6A-2D711BA0B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052" name="Object 5">
            <a:extLst>
              <a:ext uri="{FF2B5EF4-FFF2-40B4-BE49-F238E27FC236}">
                <a16:creationId xmlns:a16="http://schemas.microsoft.com/office/drawing/2014/main" id="{232F8B80-9EBA-DE36-7A7D-FD3616551D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5288" y="2495550"/>
          <a:ext cx="8869362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254500" imgH="787400" progId="Equation.DSMT4">
                  <p:embed/>
                </p:oleObj>
              </mc:Choice>
              <mc:Fallback>
                <p:oleObj name="Equation" r:id="rId6" imgW="4254500" imgH="787400" progId="Equation.DSMT4">
                  <p:embed/>
                  <p:pic>
                    <p:nvPicPr>
                      <p:cNvPr id="2052" name="Object 5">
                        <a:extLst>
                          <a:ext uri="{FF2B5EF4-FFF2-40B4-BE49-F238E27FC236}">
                            <a16:creationId xmlns:a16="http://schemas.microsoft.com/office/drawing/2014/main" id="{232F8B80-9EBA-DE36-7A7D-FD3616551D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288" y="2495550"/>
                        <a:ext cx="8869362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0" name="Rectangle 8">
            <a:extLst>
              <a:ext uri="{FF2B5EF4-FFF2-40B4-BE49-F238E27FC236}">
                <a16:creationId xmlns:a16="http://schemas.microsoft.com/office/drawing/2014/main" id="{B92447E8-998A-FEF3-2EFD-AE75894EF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0" y="4419600"/>
            <a:ext cx="908050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600">
                <a:cs typeface="Times New Roman" panose="02020603050405020304" pitchFamily="18" charset="0"/>
              </a:rPr>
              <a:t>The </a:t>
            </a:r>
            <a:r>
              <a:rPr lang="en-US" altLang="en-US" sz="2600">
                <a:solidFill>
                  <a:srgbClr val="FF0000"/>
                </a:solidFill>
                <a:cs typeface="Times New Roman" panose="02020603050405020304" pitchFamily="18" charset="0"/>
              </a:rPr>
              <a:t>first term </a:t>
            </a:r>
            <a:r>
              <a:rPr lang="en-US" altLang="en-US" sz="2600">
                <a:cs typeface="Times New Roman" panose="02020603050405020304" pitchFamily="18" charset="0"/>
              </a:rPr>
              <a:t>is the desired AM wave with amplitude sensitivity </a:t>
            </a:r>
          </a:p>
          <a:p>
            <a:pPr>
              <a:lnSpc>
                <a:spcPct val="150000"/>
              </a:lnSpc>
            </a:pPr>
            <a:endParaRPr lang="en-US" altLang="en-US" sz="2600"/>
          </a:p>
          <a:p>
            <a:r>
              <a:rPr lang="en-US" altLang="en-US" sz="2600"/>
              <a:t>Remaining unwanted three terms are removed by </a:t>
            </a:r>
            <a:r>
              <a:rPr lang="en-US" altLang="en-US" sz="2600">
                <a:solidFill>
                  <a:srgbClr val="FF0000"/>
                </a:solidFill>
              </a:rPr>
              <a:t>appropriate  filtering</a:t>
            </a:r>
            <a:r>
              <a:rPr lang="en-US" altLang="en-US" sz="2600"/>
              <a:t>.</a:t>
            </a:r>
          </a:p>
        </p:txBody>
      </p:sp>
      <p:graphicFrame>
        <p:nvGraphicFramePr>
          <p:cNvPr id="2053" name="Object 7">
            <a:extLst>
              <a:ext uri="{FF2B5EF4-FFF2-40B4-BE49-F238E27FC236}">
                <a16:creationId xmlns:a16="http://schemas.microsoft.com/office/drawing/2014/main" id="{E329D1B5-644F-6BA1-1E3D-81EC3E043B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1" y="4800600"/>
          <a:ext cx="14525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9336" imgH="444307" progId="Equation.DSMT4">
                  <p:embed/>
                </p:oleObj>
              </mc:Choice>
              <mc:Fallback>
                <p:oleObj name="Equation" r:id="rId8" imgW="609336" imgH="444307" progId="Equation.DSMT4">
                  <p:embed/>
                  <p:pic>
                    <p:nvPicPr>
                      <p:cNvPr id="2053" name="Object 7">
                        <a:extLst>
                          <a:ext uri="{FF2B5EF4-FFF2-40B4-BE49-F238E27FC236}">
                            <a16:creationId xmlns:a16="http://schemas.microsoft.com/office/drawing/2014/main" id="{E329D1B5-644F-6BA1-1E3D-81EC3E043B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1" y="4800600"/>
                        <a:ext cx="1452563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1" name="Rectangle 9">
            <a:extLst>
              <a:ext uri="{FF2B5EF4-FFF2-40B4-BE49-F238E27FC236}">
                <a16:creationId xmlns:a16="http://schemas.microsoft.com/office/drawing/2014/main" id="{6338A2E9-06F0-A79D-DF43-F338DC7CF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9177"/>
            <a:ext cx="2712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>
                <a:cs typeface="Times New Roman" panose="02020603050405020304" pitchFamily="18" charset="0"/>
              </a:rPr>
              <a:t>. </a:t>
            </a:r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BB8AA1-D986-DF7A-051D-053E1559C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3B4B-76E7-4D7A-A04B-1E10A683063A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3D16-6AB8-FF6D-268C-56C69B0CD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Title 1">
            <a:extLst>
              <a:ext uri="{FF2B5EF4-FFF2-40B4-BE49-F238E27FC236}">
                <a16:creationId xmlns:a16="http://schemas.microsoft.com/office/drawing/2014/main" id="{371C1A4F-89D5-A750-517D-FF0770B36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/>
          <a:lstStyle/>
          <a:p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altLang="en-US" sz="4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Switching</a:t>
            </a:r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Modulator</a:t>
            </a:r>
          </a:p>
        </p:txBody>
      </p:sp>
      <p:sp>
        <p:nvSpPr>
          <p:cNvPr id="3078" name="Content Placeholder 2">
            <a:extLst>
              <a:ext uri="{FF2B5EF4-FFF2-40B4-BE49-F238E27FC236}">
                <a16:creationId xmlns:a16="http://schemas.microsoft.com/office/drawing/2014/main" id="{DB0165EE-6C85-E77E-CEFB-1A4E1B35B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143001"/>
            <a:ext cx="9144000" cy="4983163"/>
          </a:xfrm>
        </p:spPr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>
              <a:buFont typeface="Arial" panose="020B0604020202020204" pitchFamily="34" charset="0"/>
              <a:buNone/>
            </a:pPr>
            <a:endParaRPr lang="en-US" altLang="en-US"/>
          </a:p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/>
              <a:t>The input voltage to the diode ,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                                                       where                        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Then</a:t>
            </a:r>
          </a:p>
          <a:p>
            <a:endParaRPr lang="en-US" altLang="en-US"/>
          </a:p>
        </p:txBody>
      </p:sp>
      <p:pic>
        <p:nvPicPr>
          <p:cNvPr id="3079" name="Picture 4">
            <a:extLst>
              <a:ext uri="{FF2B5EF4-FFF2-40B4-BE49-F238E27FC236}">
                <a16:creationId xmlns:a16="http://schemas.microsoft.com/office/drawing/2014/main" id="{BF0966B9-EA38-00CC-1E55-568806B79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914400"/>
            <a:ext cx="71628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0" name="Rectangle 2">
            <a:extLst>
              <a:ext uri="{FF2B5EF4-FFF2-40B4-BE49-F238E27FC236}">
                <a16:creationId xmlns:a16="http://schemas.microsoft.com/office/drawing/2014/main" id="{0D58DC6E-B5DB-26EC-35FD-5E8E1DF73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74" name="Object 1">
            <a:extLst>
              <a:ext uri="{FF2B5EF4-FFF2-40B4-BE49-F238E27FC236}">
                <a16:creationId xmlns:a16="http://schemas.microsoft.com/office/drawing/2014/main" id="{03B496E8-FFE8-F6BF-F64A-C1F395D0AF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4038" y="4038601"/>
          <a:ext cx="457200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85900" imgH="228600" progId="Equation.DSMT4">
                  <p:embed/>
                </p:oleObj>
              </mc:Choice>
              <mc:Fallback>
                <p:oleObj name="Equation" r:id="rId3" imgW="1485900" imgH="228600" progId="Equation.DSMT4">
                  <p:embed/>
                  <p:pic>
                    <p:nvPicPr>
                      <p:cNvPr id="3074" name="Object 1">
                        <a:extLst>
                          <a:ext uri="{FF2B5EF4-FFF2-40B4-BE49-F238E27FC236}">
                            <a16:creationId xmlns:a16="http://schemas.microsoft.com/office/drawing/2014/main" id="{03B496E8-FFE8-F6BF-F64A-C1F395D0AF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4038601"/>
                        <a:ext cx="4572000" cy="703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Rectangle 4">
            <a:extLst>
              <a:ext uri="{FF2B5EF4-FFF2-40B4-BE49-F238E27FC236}">
                <a16:creationId xmlns:a16="http://schemas.microsoft.com/office/drawing/2014/main" id="{224EE027-30E6-C4D8-64A3-33D6B3C7C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75" name="Object 3">
            <a:extLst>
              <a:ext uri="{FF2B5EF4-FFF2-40B4-BE49-F238E27FC236}">
                <a16:creationId xmlns:a16="http://schemas.microsoft.com/office/drawing/2014/main" id="{951F58A0-AC3F-F9FA-A63C-BC0219028D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4267200"/>
          <a:ext cx="21097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63225" imgH="215806" progId="Equation.DSMT4">
                  <p:embed/>
                </p:oleObj>
              </mc:Choice>
              <mc:Fallback>
                <p:oleObj name="Equation" r:id="rId5" imgW="863225" imgH="215806" progId="Equation.DSMT4">
                  <p:embed/>
                  <p:pic>
                    <p:nvPicPr>
                      <p:cNvPr id="3075" name="Object 3">
                        <a:extLst>
                          <a:ext uri="{FF2B5EF4-FFF2-40B4-BE49-F238E27FC236}">
                            <a16:creationId xmlns:a16="http://schemas.microsoft.com/office/drawing/2014/main" id="{951F58A0-AC3F-F9FA-A63C-BC0219028D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267200"/>
                        <a:ext cx="2109788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Rectangle 6">
            <a:extLst>
              <a:ext uri="{FF2B5EF4-FFF2-40B4-BE49-F238E27FC236}">
                <a16:creationId xmlns:a16="http://schemas.microsoft.com/office/drawing/2014/main" id="{C30738E2-0029-9940-FC9E-1E17C0D55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76" name="Object 5">
            <a:extLst>
              <a:ext uri="{FF2B5EF4-FFF2-40B4-BE49-F238E27FC236}">
                <a16:creationId xmlns:a16="http://schemas.microsoft.com/office/drawing/2014/main" id="{549AC521-E41B-8EF5-ECB7-50E31DED6B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5105400"/>
          <a:ext cx="3810000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60500" imgH="457200" progId="Equation.DSMT4">
                  <p:embed/>
                </p:oleObj>
              </mc:Choice>
              <mc:Fallback>
                <p:oleObj name="Equation" r:id="rId7" imgW="1460500" imgH="457200" progId="Equation.DSMT4">
                  <p:embed/>
                  <p:pic>
                    <p:nvPicPr>
                      <p:cNvPr id="3076" name="Object 5">
                        <a:extLst>
                          <a:ext uri="{FF2B5EF4-FFF2-40B4-BE49-F238E27FC236}">
                            <a16:creationId xmlns:a16="http://schemas.microsoft.com/office/drawing/2014/main" id="{549AC521-E41B-8EF5-ECB7-50E31DED6B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105400"/>
                        <a:ext cx="3810000" cy="1195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31B6A-070B-0E9F-88FD-04A5E4666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52B8A-AF21-49A0-86A4-9764335D748F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DDFA9-DB65-EE15-589B-CD1C61C5A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2">
            <a:extLst>
              <a:ext uri="{FF2B5EF4-FFF2-40B4-BE49-F238E27FC236}">
                <a16:creationId xmlns:a16="http://schemas.microsoft.com/office/drawing/2014/main" id="{AABC42B5-53F7-4B92-9069-B41731735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098" name="Object 1">
            <a:extLst>
              <a:ext uri="{FF2B5EF4-FFF2-40B4-BE49-F238E27FC236}">
                <a16:creationId xmlns:a16="http://schemas.microsoft.com/office/drawing/2014/main" id="{32AE8780-8561-DB32-D032-95BC2BFE51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388" y="457200"/>
          <a:ext cx="5257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500" imgH="254000" progId="Equation.DSMT4">
                  <p:embed/>
                </p:oleObj>
              </mc:Choice>
              <mc:Fallback>
                <p:oleObj name="Equation" r:id="rId2" imgW="1968500" imgH="254000" progId="Equation.DSMT4">
                  <p:embed/>
                  <p:pic>
                    <p:nvPicPr>
                      <p:cNvPr id="4098" name="Object 1">
                        <a:extLst>
                          <a:ext uri="{FF2B5EF4-FFF2-40B4-BE49-F238E27FC236}">
                            <a16:creationId xmlns:a16="http://schemas.microsoft.com/office/drawing/2014/main" id="{32AE8780-8561-DB32-D032-95BC2BFE51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457200"/>
                        <a:ext cx="52578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3" name="Picture 5">
            <a:extLst>
              <a:ext uri="{FF2B5EF4-FFF2-40B4-BE49-F238E27FC236}">
                <a16:creationId xmlns:a16="http://schemas.microsoft.com/office/drawing/2014/main" id="{D9A2B649-151B-BCD4-BCF1-6B6E265CF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35814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4" name="Rectangle 4">
            <a:extLst>
              <a:ext uri="{FF2B5EF4-FFF2-40B4-BE49-F238E27FC236}">
                <a16:creationId xmlns:a16="http://schemas.microsoft.com/office/drawing/2014/main" id="{5DA7EBD3-78D9-1454-65CA-E348CDA44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099" name="Object 3">
            <a:extLst>
              <a:ext uri="{FF2B5EF4-FFF2-40B4-BE49-F238E27FC236}">
                <a16:creationId xmlns:a16="http://schemas.microsoft.com/office/drawing/2014/main" id="{EB0804E7-0844-87C9-32D4-6035472D5F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2913" y="1860550"/>
          <a:ext cx="80835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51200" imgH="431800" progId="Equation.DSMT4">
                  <p:embed/>
                </p:oleObj>
              </mc:Choice>
              <mc:Fallback>
                <p:oleObj name="Equation" r:id="rId5" imgW="3251200" imgH="431800" progId="Equation.DSMT4">
                  <p:embed/>
                  <p:pic>
                    <p:nvPicPr>
                      <p:cNvPr id="4099" name="Object 3">
                        <a:extLst>
                          <a:ext uri="{FF2B5EF4-FFF2-40B4-BE49-F238E27FC236}">
                            <a16:creationId xmlns:a16="http://schemas.microsoft.com/office/drawing/2014/main" id="{EB0804E7-0844-87C9-32D4-6035472D5F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913" y="1860550"/>
                        <a:ext cx="8083550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5" name="Rectangle 6">
            <a:extLst>
              <a:ext uri="{FF2B5EF4-FFF2-40B4-BE49-F238E27FC236}">
                <a16:creationId xmlns:a16="http://schemas.microsoft.com/office/drawing/2014/main" id="{BF0E25FC-7694-CACB-E3DC-614082D66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100" name="Object 5">
            <a:extLst>
              <a:ext uri="{FF2B5EF4-FFF2-40B4-BE49-F238E27FC236}">
                <a16:creationId xmlns:a16="http://schemas.microsoft.com/office/drawing/2014/main" id="{9B8F34C0-75A2-A349-A8BA-B0FE84A2BC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9588" y="3200400"/>
          <a:ext cx="8736012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94000" imgH="660400" progId="Equation.DSMT4">
                  <p:embed/>
                </p:oleObj>
              </mc:Choice>
              <mc:Fallback>
                <p:oleObj name="Equation" r:id="rId7" imgW="2794000" imgH="660400" progId="Equation.DSMT4">
                  <p:embed/>
                  <p:pic>
                    <p:nvPicPr>
                      <p:cNvPr id="4100" name="Object 5">
                        <a:extLst>
                          <a:ext uri="{FF2B5EF4-FFF2-40B4-BE49-F238E27FC236}">
                            <a16:creationId xmlns:a16="http://schemas.microsoft.com/office/drawing/2014/main" id="{9B8F34C0-75A2-A349-A8BA-B0FE84A2BC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588" y="3200400"/>
                        <a:ext cx="8736012" cy="205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Rectangle 10">
            <a:extLst>
              <a:ext uri="{FF2B5EF4-FFF2-40B4-BE49-F238E27FC236}">
                <a16:creationId xmlns:a16="http://schemas.microsoft.com/office/drawing/2014/main" id="{4645B2D3-5CDE-957E-94AD-1BC16FA9A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486401"/>
            <a:ext cx="4800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olidFill>
                  <a:srgbClr val="FF0000"/>
                </a:solidFill>
              </a:rPr>
              <a:t>The desired components </a:t>
            </a:r>
          </a:p>
        </p:txBody>
      </p:sp>
      <p:sp>
        <p:nvSpPr>
          <p:cNvPr id="4107" name="Rectangle 8">
            <a:extLst>
              <a:ext uri="{FF2B5EF4-FFF2-40B4-BE49-F238E27FC236}">
                <a16:creationId xmlns:a16="http://schemas.microsoft.com/office/drawing/2014/main" id="{37EDCB35-041A-3765-41EE-C855CE447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101" name="Object 7">
            <a:extLst>
              <a:ext uri="{FF2B5EF4-FFF2-40B4-BE49-F238E27FC236}">
                <a16:creationId xmlns:a16="http://schemas.microsoft.com/office/drawing/2014/main" id="{2CB2FD60-9923-0F96-1E09-2FC1B704D8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5499101"/>
          <a:ext cx="4191000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75673" imgH="393529" progId="Equation.DSMT4">
                  <p:embed/>
                </p:oleObj>
              </mc:Choice>
              <mc:Fallback>
                <p:oleObj name="Equation" r:id="rId9" imgW="1675673" imgH="393529" progId="Equation.DSMT4">
                  <p:embed/>
                  <p:pic>
                    <p:nvPicPr>
                      <p:cNvPr id="4101" name="Object 7">
                        <a:extLst>
                          <a:ext uri="{FF2B5EF4-FFF2-40B4-BE49-F238E27FC236}">
                            <a16:creationId xmlns:a16="http://schemas.microsoft.com/office/drawing/2014/main" id="{2CB2FD60-9923-0F96-1E09-2FC1B704D8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499101"/>
                        <a:ext cx="4191000" cy="976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19CA4B-330D-EB76-7A47-9A9E5BC76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E2637-E87E-4C7D-AFF5-52201D4C3680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72192-F5A6-32A7-139C-461A6EC37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D0B78C5A-7097-BAF8-BCE7-573CB76B6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25908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Detectors /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Demodulators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B46FD7-DA6F-3340-EF24-B7C643739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D526-058B-4A11-B6B4-153CEB436DDB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E5755-B74B-0524-3F82-EFA564504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4E990893-FD64-3A0C-83DE-AF408908E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990600"/>
          </a:xfrm>
        </p:spPr>
        <p:txBody>
          <a:bodyPr/>
          <a:lstStyle/>
          <a:p>
            <a:r>
              <a:rPr lang="en-US" altLang="en-US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Square-</a:t>
            </a:r>
            <a:r>
              <a:rPr lang="en-US" altLang="en-US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Law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Detector</a:t>
            </a:r>
            <a:endParaRPr lang="en-US" altLang="en-US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A58713FB-A740-8E95-5546-03408AD66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16388" name="Picture 2">
            <a:extLst>
              <a:ext uri="{FF2B5EF4-FFF2-40B4-BE49-F238E27FC236}">
                <a16:creationId xmlns:a16="http://schemas.microsoft.com/office/drawing/2014/main" id="{6E67380E-2557-3385-18EA-796E2C614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6" y="885826"/>
            <a:ext cx="9039225" cy="597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881466-4ADB-5438-6813-F56246390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CDDA-38EF-4621-AAEF-B4A409A7B59B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68656-419E-E276-7F70-310779397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1">
            <a:extLst>
              <a:ext uri="{FF2B5EF4-FFF2-40B4-BE49-F238E27FC236}">
                <a16:creationId xmlns:a16="http://schemas.microsoft.com/office/drawing/2014/main" id="{E86069B2-1A77-D033-06B0-30542EF9D8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7700" y="381000"/>
          <a:ext cx="87503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14520" imgH="634680" progId="Equation.DSMT4">
                  <p:embed/>
                </p:oleObj>
              </mc:Choice>
              <mc:Fallback>
                <p:oleObj name="Equation" r:id="rId2" imgW="3314520" imgH="634680" progId="Equation.DSMT4">
                  <p:embed/>
                  <p:pic>
                    <p:nvPicPr>
                      <p:cNvPr id="5122" name="Object 1">
                        <a:extLst>
                          <a:ext uri="{FF2B5EF4-FFF2-40B4-BE49-F238E27FC236}">
                            <a16:creationId xmlns:a16="http://schemas.microsoft.com/office/drawing/2014/main" id="{E86069B2-1A77-D033-06B0-30542EF9D8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381000"/>
                        <a:ext cx="87503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3" name="Picture 4">
            <a:extLst>
              <a:ext uri="{FF2B5EF4-FFF2-40B4-BE49-F238E27FC236}">
                <a16:creationId xmlns:a16="http://schemas.microsoft.com/office/drawing/2014/main" id="{A01963CB-8A88-C061-C40D-2F88FB7F1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6" y="2133600"/>
            <a:ext cx="8924925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5">
            <a:extLst>
              <a:ext uri="{FF2B5EF4-FFF2-40B4-BE49-F238E27FC236}">
                <a16:creationId xmlns:a16="http://schemas.microsoft.com/office/drawing/2014/main" id="{92290250-AB66-F564-DD8F-05136B723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3200400"/>
            <a:ext cx="20478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TextBox 5">
            <a:extLst>
              <a:ext uri="{FF2B5EF4-FFF2-40B4-BE49-F238E27FC236}">
                <a16:creationId xmlns:a16="http://schemas.microsoft.com/office/drawing/2014/main" id="{3429B93D-EB82-3121-9F16-C755AEDAD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276601"/>
            <a:ext cx="800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solidFill>
                  <a:srgbClr val="FF0000"/>
                </a:solidFill>
              </a:rPr>
              <a:t>The term                            distort the message signal.</a:t>
            </a:r>
          </a:p>
        </p:txBody>
      </p:sp>
      <p:sp>
        <p:nvSpPr>
          <p:cNvPr id="5126" name="TextBox 6">
            <a:extLst>
              <a:ext uri="{FF2B5EF4-FFF2-40B4-BE49-F238E27FC236}">
                <a16:creationId xmlns:a16="http://schemas.microsoft.com/office/drawing/2014/main" id="{9733A34E-DAB3-BD6B-7395-A3DFB4C05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4191000"/>
            <a:ext cx="83058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solidFill>
                  <a:srgbClr val="3200C0"/>
                </a:solidFill>
              </a:rPr>
              <a:t>To avoid the distortion</a:t>
            </a:r>
          </a:p>
          <a:p>
            <a:endParaRPr lang="en-US" altLang="en-US" sz="2400" b="1">
              <a:solidFill>
                <a:srgbClr val="3200C0"/>
              </a:solidFill>
            </a:endParaRPr>
          </a:p>
          <a:p>
            <a:endParaRPr lang="en-US" altLang="en-US" sz="2400" b="1">
              <a:solidFill>
                <a:srgbClr val="3200C0"/>
              </a:solidFill>
            </a:endParaRPr>
          </a:p>
          <a:p>
            <a:r>
              <a:rPr lang="en-US" altLang="en-US" sz="2400" b="1">
                <a:solidFill>
                  <a:srgbClr val="3200C0"/>
                </a:solidFill>
              </a:rPr>
              <a:t>    </a:t>
            </a:r>
          </a:p>
        </p:txBody>
      </p:sp>
      <p:pic>
        <p:nvPicPr>
          <p:cNvPr id="5127" name="Picture 6">
            <a:extLst>
              <a:ext uri="{FF2B5EF4-FFF2-40B4-BE49-F238E27FC236}">
                <a16:creationId xmlns:a16="http://schemas.microsoft.com/office/drawing/2014/main" id="{B68D2E73-33E9-EFBC-DDC7-41C7C7CC7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810000"/>
            <a:ext cx="4038600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7">
            <a:extLst>
              <a:ext uri="{FF2B5EF4-FFF2-40B4-BE49-F238E27FC236}">
                <a16:creationId xmlns:a16="http://schemas.microsoft.com/office/drawing/2014/main" id="{400F56FC-370D-DEB9-E44D-20F554F2B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5334001"/>
            <a:ext cx="2362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FAE9D-1F41-C57D-37AC-E1603C9BA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C4618-59DE-4B33-8DDF-6CDF184C57F7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34327-C67D-EE69-DE56-74D42B6A7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Title 1">
            <a:extLst>
              <a:ext uri="{FF2B5EF4-FFF2-40B4-BE49-F238E27FC236}">
                <a16:creationId xmlns:a16="http://schemas.microsoft.com/office/drawing/2014/main" id="{8ED974A3-DCB5-1017-9805-77C2E5631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70" y="-30163"/>
            <a:ext cx="8229600" cy="792163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Envelope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Detector</a:t>
            </a:r>
          </a:p>
        </p:txBody>
      </p:sp>
      <p:pic>
        <p:nvPicPr>
          <p:cNvPr id="7175" name="Picture 4">
            <a:extLst>
              <a:ext uri="{FF2B5EF4-FFF2-40B4-BE49-F238E27FC236}">
                <a16:creationId xmlns:a16="http://schemas.microsoft.com/office/drawing/2014/main" id="{21F9C90B-1131-E852-D619-0D53490E0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807720"/>
            <a:ext cx="44196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Rectangle 5">
            <a:extLst>
              <a:ext uri="{FF2B5EF4-FFF2-40B4-BE49-F238E27FC236}">
                <a16:creationId xmlns:a16="http://schemas.microsoft.com/office/drawing/2014/main" id="{A73C832A-D655-C6AA-F7E4-F51586414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0" name="Object 4">
            <a:extLst>
              <a:ext uri="{FF2B5EF4-FFF2-40B4-BE49-F238E27FC236}">
                <a16:creationId xmlns:a16="http://schemas.microsoft.com/office/drawing/2014/main" id="{B385E7B3-BF9C-A39C-92ED-C6351AAA4D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21651" y="5791200"/>
          <a:ext cx="22336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0300" imgH="419100" progId="Equation.DSMT4">
                  <p:embed/>
                </p:oleObj>
              </mc:Choice>
              <mc:Fallback>
                <p:oleObj name="Equation" r:id="rId3" imgW="1130300" imgH="419100" progId="Equation.DSMT4">
                  <p:embed/>
                  <p:pic>
                    <p:nvPicPr>
                      <p:cNvPr id="7170" name="Object 4">
                        <a:extLst>
                          <a:ext uri="{FF2B5EF4-FFF2-40B4-BE49-F238E27FC236}">
                            <a16:creationId xmlns:a16="http://schemas.microsoft.com/office/drawing/2014/main" id="{B385E7B3-BF9C-A39C-92ED-C6351AAA4D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1651" y="5791200"/>
                        <a:ext cx="2233613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Rectangle 7">
            <a:extLst>
              <a:ext uri="{FF2B5EF4-FFF2-40B4-BE49-F238E27FC236}">
                <a16:creationId xmlns:a16="http://schemas.microsoft.com/office/drawing/2014/main" id="{2E749E3C-56D2-1506-0272-370E8C23A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1" name="Object 6">
            <a:extLst>
              <a:ext uri="{FF2B5EF4-FFF2-40B4-BE49-F238E27FC236}">
                <a16:creationId xmlns:a16="http://schemas.microsoft.com/office/drawing/2014/main" id="{162AEB33-5A60-8107-B9EC-144376CBA7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10600" y="1676400"/>
          <a:ext cx="15811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23586" imgH="418918" progId="Equation.DSMT4">
                  <p:embed/>
                </p:oleObj>
              </mc:Choice>
              <mc:Fallback>
                <p:oleObj name="Equation" r:id="rId5" imgW="723586" imgH="418918" progId="Equation.DSMT4">
                  <p:embed/>
                  <p:pic>
                    <p:nvPicPr>
                      <p:cNvPr id="7171" name="Object 6">
                        <a:extLst>
                          <a:ext uri="{FF2B5EF4-FFF2-40B4-BE49-F238E27FC236}">
                            <a16:creationId xmlns:a16="http://schemas.microsoft.com/office/drawing/2014/main" id="{162AEB33-5A60-8107-B9EC-144376CBA7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1676400"/>
                        <a:ext cx="158115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Rectangle 9">
            <a:extLst>
              <a:ext uri="{FF2B5EF4-FFF2-40B4-BE49-F238E27FC236}">
                <a16:creationId xmlns:a16="http://schemas.microsoft.com/office/drawing/2014/main" id="{33100A87-A8E1-71BE-AA9A-80DB69F70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2" name="Object 8">
            <a:extLst>
              <a:ext uri="{FF2B5EF4-FFF2-40B4-BE49-F238E27FC236}">
                <a16:creationId xmlns:a16="http://schemas.microsoft.com/office/drawing/2014/main" id="{A87F46F2-EF89-056D-5D66-9EB78676C8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914400"/>
          <a:ext cx="6096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7087" imgH="215619" progId="Equation.DSMT4">
                  <p:embed/>
                </p:oleObj>
              </mc:Choice>
              <mc:Fallback>
                <p:oleObj name="Equation" r:id="rId7" imgW="317087" imgH="215619" progId="Equation.DSMT4">
                  <p:embed/>
                  <p:pic>
                    <p:nvPicPr>
                      <p:cNvPr id="7172" name="Object 8">
                        <a:extLst>
                          <a:ext uri="{FF2B5EF4-FFF2-40B4-BE49-F238E27FC236}">
                            <a16:creationId xmlns:a16="http://schemas.microsoft.com/office/drawing/2014/main" id="{A87F46F2-EF89-056D-5D66-9EB78676C8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914400"/>
                        <a:ext cx="609600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TextBox 13">
            <a:extLst>
              <a:ext uri="{FF2B5EF4-FFF2-40B4-BE49-F238E27FC236}">
                <a16:creationId xmlns:a16="http://schemas.microsoft.com/office/drawing/2014/main" id="{F2F6342F-F272-CE0D-C1C8-73351DBD7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914401"/>
            <a:ext cx="2895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         </a:t>
            </a:r>
            <a:r>
              <a:rPr lang="en-US" altLang="en-US" b="1" dirty="0">
                <a:solidFill>
                  <a:srgbClr val="3200C0"/>
                </a:solidFill>
              </a:rPr>
              <a:t>must be short</a:t>
            </a:r>
            <a:r>
              <a:rPr lang="en-US" altLang="en-US" b="1" i="1" dirty="0">
                <a:solidFill>
                  <a:srgbClr val="3200C0"/>
                </a:solidFill>
              </a:rPr>
              <a:t>.</a:t>
            </a:r>
          </a:p>
          <a:p>
            <a:r>
              <a:rPr lang="en-US" altLang="en-US" b="1" i="1" dirty="0">
                <a:solidFill>
                  <a:srgbClr val="3200C0"/>
                </a:solidFill>
              </a:rPr>
              <a:t> C</a:t>
            </a:r>
            <a:r>
              <a:rPr lang="en-US" altLang="en-US" b="1" dirty="0">
                <a:solidFill>
                  <a:srgbClr val="3200C0"/>
                </a:solidFill>
              </a:rPr>
              <a:t> charges rapidly and follows applied voltage</a:t>
            </a:r>
          </a:p>
        </p:txBody>
      </p:sp>
      <p:sp>
        <p:nvSpPr>
          <p:cNvPr id="7180" name="Rectangle 14">
            <a:extLst>
              <a:ext uri="{FF2B5EF4-FFF2-40B4-BE49-F238E27FC236}">
                <a16:creationId xmlns:a16="http://schemas.microsoft.com/office/drawing/2014/main" id="{CBF0EDC8-1918-4EEA-0D9F-61CF2EF75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943601"/>
            <a:ext cx="6400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be long enough to ensure that the capacitor discharges slowly through the load resistor</a:t>
            </a:r>
          </a:p>
        </p:txBody>
      </p:sp>
      <p:sp>
        <p:nvSpPr>
          <p:cNvPr id="7181" name="Rectangle 11">
            <a:extLst>
              <a:ext uri="{FF2B5EF4-FFF2-40B4-BE49-F238E27FC236}">
                <a16:creationId xmlns:a16="http://schemas.microsoft.com/office/drawing/2014/main" id="{7E3356D9-7D01-7D47-403A-1E9DA7DF6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3" name="Object 10">
            <a:extLst>
              <a:ext uri="{FF2B5EF4-FFF2-40B4-BE49-F238E27FC236}">
                <a16:creationId xmlns:a16="http://schemas.microsoft.com/office/drawing/2014/main" id="{E953D80E-0ADA-8BF9-5766-A735DD6496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3376" y="5975350"/>
          <a:ext cx="5556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30200" imgH="228600" progId="Equation.DSMT4">
                  <p:embed/>
                </p:oleObj>
              </mc:Choice>
              <mc:Fallback>
                <p:oleObj name="Equation" r:id="rId9" imgW="330200" imgH="228600" progId="Equation.DSMT4">
                  <p:embed/>
                  <p:pic>
                    <p:nvPicPr>
                      <p:cNvPr id="7173" name="Object 10">
                        <a:extLst>
                          <a:ext uri="{FF2B5EF4-FFF2-40B4-BE49-F238E27FC236}">
                            <a16:creationId xmlns:a16="http://schemas.microsoft.com/office/drawing/2014/main" id="{E953D80E-0ADA-8BF9-5766-A735DD6496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76" y="5975350"/>
                        <a:ext cx="55562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82" name="Picture 14">
            <a:extLst>
              <a:ext uri="{FF2B5EF4-FFF2-40B4-BE49-F238E27FC236}">
                <a16:creationId xmlns:a16="http://schemas.microsoft.com/office/drawing/2014/main" id="{E3147869-F2ED-8261-3F93-C14287F1E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438400"/>
            <a:ext cx="64770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BCD4D-FD89-7D46-B8C6-9670E009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E312D-2E2D-4A2D-B947-2021B5C5A4DC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0A8B1-C178-63E9-3AD7-3DF165866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Title 1">
            <a:extLst>
              <a:ext uri="{FF2B5EF4-FFF2-40B4-BE49-F238E27FC236}">
                <a16:creationId xmlns:a16="http://schemas.microsoft.com/office/drawing/2014/main" id="{8E07A3B6-6C11-7DE4-1F4E-8FD138D17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50" y="-99060"/>
            <a:ext cx="4758109" cy="91440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Points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rgbClr val="0387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E61640DA-A8C3-C637-47FA-EFC2F7113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80" y="914400"/>
            <a:ext cx="11480800" cy="5638800"/>
          </a:xfrm>
        </p:spPr>
        <p:txBody>
          <a:bodyPr/>
          <a:lstStyle/>
          <a:p>
            <a:pPr marL="514350" indent="-514350">
              <a:lnSpc>
                <a:spcPct val="100000"/>
              </a:lnSpc>
              <a:buFont typeface="Arial" charset="0"/>
              <a:buAutoNum type="arabicPeriod"/>
              <a:defRPr/>
            </a:pPr>
            <a:r>
              <a:rPr lang="en-US" sz="3200" dirty="0"/>
              <a:t>(a) </a:t>
            </a:r>
          </a:p>
          <a:p>
            <a:pPr marL="514350" indent="-514350">
              <a:buNone/>
              <a:defRPr/>
            </a:pPr>
            <a:r>
              <a:rPr lang="en-US" sz="3200" dirty="0"/>
              <a:t>      (b) </a:t>
            </a:r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For distortion less reception</a:t>
            </a:r>
          </a:p>
          <a:p>
            <a:pPr>
              <a:buFont typeface="Arial" charset="0"/>
              <a:buNone/>
              <a:defRPr/>
            </a:pPr>
            <a:r>
              <a:rPr lang="en-US" sz="3200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2. The total power in AM is</a:t>
            </a:r>
          </a:p>
          <a:p>
            <a:pPr>
              <a:lnSpc>
                <a:spcPct val="150000"/>
              </a:lnSpc>
              <a:buFont typeface="Arial" charset="0"/>
              <a:buNone/>
              <a:defRPr/>
            </a:pPr>
            <a:endParaRPr lang="en-US" sz="3200" dirty="0"/>
          </a:p>
          <a:p>
            <a:pPr>
              <a:buFont typeface="Arial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3. The max power in AM wave is,                              </a:t>
            </a:r>
          </a:p>
          <a:p>
            <a:pPr>
              <a:buFont typeface="Arial" charset="0"/>
              <a:buNone/>
              <a:defRPr/>
            </a:pPr>
            <a:r>
              <a:rPr lang="en-US" sz="3200" dirty="0"/>
              <a:t>                        </a:t>
            </a:r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when</a:t>
            </a:r>
            <a:r>
              <a:rPr lang="en-US" sz="3200" dirty="0"/>
              <a:t>              </a:t>
            </a:r>
            <a:r>
              <a:rPr lang="en-US" dirty="0"/>
              <a:t>.</a:t>
            </a:r>
          </a:p>
          <a:p>
            <a:pPr>
              <a:buFont typeface="Arial" charset="0"/>
              <a:buNone/>
              <a:defRPr/>
            </a:pPr>
            <a:endParaRPr lang="en-US" dirty="0"/>
          </a:p>
        </p:txBody>
      </p:sp>
      <p:sp>
        <p:nvSpPr>
          <p:cNvPr id="8201" name="Rectangle 2">
            <a:extLst>
              <a:ext uri="{FF2B5EF4-FFF2-40B4-BE49-F238E27FC236}">
                <a16:creationId xmlns:a16="http://schemas.microsoft.com/office/drawing/2014/main" id="{FC85AECE-486F-1C0D-2112-9A45751A6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194" name="Object 1">
            <a:extLst>
              <a:ext uri="{FF2B5EF4-FFF2-40B4-BE49-F238E27FC236}">
                <a16:creationId xmlns:a16="http://schemas.microsoft.com/office/drawing/2014/main" id="{18FA5DA5-AEA5-545A-1567-E1E7195472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261127"/>
              </p:ext>
            </p:extLst>
          </p:nvPr>
        </p:nvGraphicFramePr>
        <p:xfrm>
          <a:off x="1731167" y="815340"/>
          <a:ext cx="17891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252" imgH="215806" progId="Equation.DSMT4">
                  <p:embed/>
                </p:oleObj>
              </mc:Choice>
              <mc:Fallback>
                <p:oleObj name="Equation" r:id="rId2" imgW="571252" imgH="215806" progId="Equation.DSMT4">
                  <p:embed/>
                  <p:pic>
                    <p:nvPicPr>
                      <p:cNvPr id="8194" name="Object 1">
                        <a:extLst>
                          <a:ext uri="{FF2B5EF4-FFF2-40B4-BE49-F238E27FC236}">
                            <a16:creationId xmlns:a16="http://schemas.microsoft.com/office/drawing/2014/main" id="{18FA5DA5-AEA5-545A-1567-E1E7195472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1167" y="815340"/>
                        <a:ext cx="1789113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Rectangle 4">
            <a:extLst>
              <a:ext uri="{FF2B5EF4-FFF2-40B4-BE49-F238E27FC236}">
                <a16:creationId xmlns:a16="http://schemas.microsoft.com/office/drawing/2014/main" id="{51CD3AC0-B91A-2DCE-2EC1-CED1001BC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195" name="Object 3">
            <a:extLst>
              <a:ext uri="{FF2B5EF4-FFF2-40B4-BE49-F238E27FC236}">
                <a16:creationId xmlns:a16="http://schemas.microsoft.com/office/drawing/2014/main" id="{690A6366-5E60-49BB-5F17-745776C01C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70956"/>
              </p:ext>
            </p:extLst>
          </p:nvPr>
        </p:nvGraphicFramePr>
        <p:xfrm>
          <a:off x="6824744" y="1469390"/>
          <a:ext cx="18700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1252" imgH="203112" progId="Equation.DSMT4">
                  <p:embed/>
                </p:oleObj>
              </mc:Choice>
              <mc:Fallback>
                <p:oleObj name="Equation" r:id="rId4" imgW="571252" imgH="203112" progId="Equation.DSMT4">
                  <p:embed/>
                  <p:pic>
                    <p:nvPicPr>
                      <p:cNvPr id="8195" name="Object 3">
                        <a:extLst>
                          <a:ext uri="{FF2B5EF4-FFF2-40B4-BE49-F238E27FC236}">
                            <a16:creationId xmlns:a16="http://schemas.microsoft.com/office/drawing/2014/main" id="{690A6366-5E60-49BB-5F17-745776C01C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4744" y="1469390"/>
                        <a:ext cx="187007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3" name="Rectangle 6">
            <a:extLst>
              <a:ext uri="{FF2B5EF4-FFF2-40B4-BE49-F238E27FC236}">
                <a16:creationId xmlns:a16="http://schemas.microsoft.com/office/drawing/2014/main" id="{F23C784E-8061-3A12-ECC9-793E660A6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196" name="Object 5">
            <a:extLst>
              <a:ext uri="{FF2B5EF4-FFF2-40B4-BE49-F238E27FC236}">
                <a16:creationId xmlns:a16="http://schemas.microsoft.com/office/drawing/2014/main" id="{9023188B-D559-DA4B-8E7B-D2F9CAE0E8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827784"/>
              </p:ext>
            </p:extLst>
          </p:nvPr>
        </p:nvGraphicFramePr>
        <p:xfrm>
          <a:off x="5497594" y="2200910"/>
          <a:ext cx="26543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54100" imgH="482600" progId="Equation.DSMT4">
                  <p:embed/>
                </p:oleObj>
              </mc:Choice>
              <mc:Fallback>
                <p:oleObj name="Equation" r:id="rId6" imgW="1054100" imgH="482600" progId="Equation.DSMT4">
                  <p:embed/>
                  <p:pic>
                    <p:nvPicPr>
                      <p:cNvPr id="8196" name="Object 5">
                        <a:extLst>
                          <a:ext uri="{FF2B5EF4-FFF2-40B4-BE49-F238E27FC236}">
                            <a16:creationId xmlns:a16="http://schemas.microsoft.com/office/drawing/2014/main" id="{9023188B-D559-DA4B-8E7B-D2F9CAE0E8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7594" y="2200910"/>
                        <a:ext cx="2654300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4" name="Rectangle 8">
            <a:extLst>
              <a:ext uri="{FF2B5EF4-FFF2-40B4-BE49-F238E27FC236}">
                <a16:creationId xmlns:a16="http://schemas.microsoft.com/office/drawing/2014/main" id="{B49D97C7-8AF5-2F64-C056-C57FEE7B4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197" name="Object 7">
            <a:extLst>
              <a:ext uri="{FF2B5EF4-FFF2-40B4-BE49-F238E27FC236}">
                <a16:creationId xmlns:a16="http://schemas.microsoft.com/office/drawing/2014/main" id="{E667E977-CCD8-DDFD-3549-67DAD28817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896771"/>
              </p:ext>
            </p:extLst>
          </p:nvPr>
        </p:nvGraphicFramePr>
        <p:xfrm>
          <a:off x="6421121" y="3504565"/>
          <a:ext cx="21177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08" imgH="215806" progId="Equation.DSMT4">
                  <p:embed/>
                </p:oleObj>
              </mc:Choice>
              <mc:Fallback>
                <p:oleObj name="Equation" r:id="rId8" imgW="672808" imgH="215806" progId="Equation.DSMT4">
                  <p:embed/>
                  <p:pic>
                    <p:nvPicPr>
                      <p:cNvPr id="8197" name="Object 7">
                        <a:extLst>
                          <a:ext uri="{FF2B5EF4-FFF2-40B4-BE49-F238E27FC236}">
                            <a16:creationId xmlns:a16="http://schemas.microsoft.com/office/drawing/2014/main" id="{E667E977-CCD8-DDFD-3549-67DAD28817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1121" y="3504565"/>
                        <a:ext cx="211772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5" name="Rectangle 10">
            <a:extLst>
              <a:ext uri="{FF2B5EF4-FFF2-40B4-BE49-F238E27FC236}">
                <a16:creationId xmlns:a16="http://schemas.microsoft.com/office/drawing/2014/main" id="{CFA99C35-A911-161B-A2C3-0F203C54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198" name="Object 9">
            <a:extLst>
              <a:ext uri="{FF2B5EF4-FFF2-40B4-BE49-F238E27FC236}">
                <a16:creationId xmlns:a16="http://schemas.microsoft.com/office/drawing/2014/main" id="{3D2CC2CE-5C95-65AC-2158-5915AE8CE5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732420"/>
              </p:ext>
            </p:extLst>
          </p:nvPr>
        </p:nvGraphicFramePr>
        <p:xfrm>
          <a:off x="3729146" y="4018280"/>
          <a:ext cx="11541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5292" imgH="203024" progId="Equation.DSMT4">
                  <p:embed/>
                </p:oleObj>
              </mc:Choice>
              <mc:Fallback>
                <p:oleObj name="Equation" r:id="rId10" imgW="355292" imgH="203024" progId="Equation.DSMT4">
                  <p:embed/>
                  <p:pic>
                    <p:nvPicPr>
                      <p:cNvPr id="8198" name="Object 9">
                        <a:extLst>
                          <a:ext uri="{FF2B5EF4-FFF2-40B4-BE49-F238E27FC236}">
                            <a16:creationId xmlns:a16="http://schemas.microsoft.com/office/drawing/2014/main" id="{3D2CC2CE-5C95-65AC-2158-5915AE8CE5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9146" y="4018280"/>
                        <a:ext cx="1154113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206" name="Picture 12">
            <a:extLst>
              <a:ext uri="{FF2B5EF4-FFF2-40B4-BE49-F238E27FC236}">
                <a16:creationId xmlns:a16="http://schemas.microsoft.com/office/drawing/2014/main" id="{25ABF949-B079-A199-5478-BF824EDAD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1" y="4999990"/>
            <a:ext cx="9063038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2E5A33-9148-E8B6-CCB3-F455C35EC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EA91-9FBF-42E4-BC0F-CF3809937EAA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20326-31EF-AF1D-5A07-0F9D5AF6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40678B4F-73A1-2C31-F6C2-90A5E8D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1" y="23382"/>
            <a:ext cx="8229600" cy="868362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Points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rgbClr val="0387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pic>
        <p:nvPicPr>
          <p:cNvPr id="20483" name="Picture 4">
            <a:extLst>
              <a:ext uri="{FF2B5EF4-FFF2-40B4-BE49-F238E27FC236}">
                <a16:creationId xmlns:a16="http://schemas.microsoft.com/office/drawing/2014/main" id="{5D367ADD-2B43-F3ED-3DF9-8277DD2A7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719024"/>
            <a:ext cx="11023599" cy="5966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9A6874-2CEE-1706-4E1D-9B132E65A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9FACC-5BD5-423F-8E3C-76E130888BDD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C073D-D0C3-753A-B8C4-C8EB08707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C78D1A3C-171A-AF2D-44B8-6D1B0C9C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480" y="2857500"/>
            <a:ext cx="2169160" cy="11430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79D04A-C3E7-C1E1-9DBE-483178B5A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020AC-22F1-47F7-AC41-69B7CA60D54C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D67CF-6A1C-E8AF-BD2A-00542A2FA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198</Words>
  <Application>Microsoft Office PowerPoint</Application>
  <PresentationFormat>Widescreen</PresentationFormat>
  <Paragraphs>67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Equation</vt:lpstr>
      <vt:lpstr>PowerPoint Presentation</vt:lpstr>
      <vt:lpstr>AM Generation (AM Modulators)</vt:lpstr>
      <vt:lpstr>1. Square-Law Modulator</vt:lpstr>
      <vt:lpstr>Square-Law Modulator …</vt:lpstr>
      <vt:lpstr>2. Switching Modulator</vt:lpstr>
      <vt:lpstr>PowerPoint Presentation</vt:lpstr>
      <vt:lpstr>AM Detectors / Demodulators</vt:lpstr>
      <vt:lpstr>1. Square-Law Detector</vt:lpstr>
      <vt:lpstr>PowerPoint Presentation</vt:lpstr>
      <vt:lpstr>Envelope Detector</vt:lpstr>
      <vt:lpstr>Main Points of AM</vt:lpstr>
      <vt:lpstr>Main Points of AM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Analog Communications</dc:title>
  <dc:creator>MVGR</dc:creator>
  <cp:lastModifiedBy>D Sreenivasa Rao</cp:lastModifiedBy>
  <cp:revision>11</cp:revision>
  <dcterms:created xsi:type="dcterms:W3CDTF">2023-08-26T12:30:11Z</dcterms:created>
  <dcterms:modified xsi:type="dcterms:W3CDTF">2025-09-05T11:29:24Z</dcterms:modified>
</cp:coreProperties>
</file>