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32" r:id="rId2"/>
    <p:sldId id="509" r:id="rId3"/>
    <p:sldId id="520" r:id="rId4"/>
    <p:sldId id="507" r:id="rId5"/>
    <p:sldId id="531" r:id="rId6"/>
    <p:sldId id="535" r:id="rId7"/>
    <p:sldId id="526" r:id="rId8"/>
    <p:sldId id="534" r:id="rId9"/>
    <p:sldId id="527" r:id="rId10"/>
    <p:sldId id="536" r:id="rId11"/>
    <p:sldId id="528" r:id="rId12"/>
    <p:sldId id="529" r:id="rId13"/>
    <p:sldId id="533" r:id="rId14"/>
    <p:sldId id="525" r:id="rId15"/>
    <p:sldId id="49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8FE0B-20FD-442C-A80E-1C00E7ABDEA0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898AE-40C1-4BB9-8038-0C920A34D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9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E3BA-2D32-8B7C-D72B-8CBC19F10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230A3F-02D0-411C-F125-DA3A1AF09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70276-771A-EBE6-F944-7BE16255E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78982-F480-45CC-B479-25ECBD93B145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27E97-F1A3-D305-79D7-52C46FB4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606E4-A9FB-F1E2-8D9F-69612DFC6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517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F99B-8B50-F863-F4DA-CC9CF95E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82521-84A2-4865-50EF-8E43BC39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D3242-35B6-FF52-5601-EE7B34A00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68124-CADE-4C7B-A45E-52000C67BAF0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8FD04-D7D9-1D5F-7D26-5B25DD8E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10396-B00B-FB34-4213-B0EBB80C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436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8996-2569-95DA-8243-15DCDE4FB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6735C-B52C-A54F-E3CB-0BFC110C2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E3FF1-9379-F928-7E24-E3D28766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DEAD3-D4BF-4C78-BCBB-72D667F0F8F0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A47FE-DA19-A73A-F81C-C7F8F88B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4792F-AAEF-5C1A-449C-371DC922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26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5C61-884B-4429-7424-61D7C5CF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A8C81-4B80-19CC-E7DB-47793D511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DA32E-C955-CB94-B214-58CA172415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152A4-2F62-6FCC-0690-0664EC72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2626B-8450-4530-874B-FC687856BEFD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17CD7-78BB-B052-BC90-DD5F4896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CDBDD-0B69-8A84-D3D9-828D3102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50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AFF75-DAB4-E9A4-FC58-AE6966E82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FCB9A-CA9C-E77D-FBB8-5ACF10A08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25DAD-C4B5-90E3-3DB0-03D2526CF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7D212-46BE-9A41-52CF-5F1D23C71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CEEA7-D48E-B8F9-D05F-24FC9C592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FFFD-6CC1-BAC6-F2FA-4494E291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169A-29E7-43C5-968D-85C390F41CC7}" type="datetime1">
              <a:rPr lang="en-IN" smtClean="0"/>
              <a:t>05-09-2025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B2C2E-8D64-9CD2-AD61-1FD75E5E6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6D41A0-C813-9696-E753-A38C9CAA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338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4485C-D6C9-DCD6-67FD-8651C2CD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3FBA9-9846-EF26-E259-8B6779BB6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F86DC-3BFF-46FB-BD13-02270E249DA3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A0F42-556E-C8B2-69E1-D7D6E3ADF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E4299-7B04-C7E4-606F-F5CC9CFDD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28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E33699-5861-2353-6730-FD57F17C6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9894-AD0E-4F4D-87CD-22BF8BDEB609}" type="datetime1">
              <a:rPr lang="en-IN" smtClean="0"/>
              <a:t>05-09-2025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9FB5DC-5CB5-3AAD-09D2-6BBD944D9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14EA5-B43D-BF9A-5F5B-ED078435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18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22311-D16F-B62B-B4BF-19D92FDA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0962-CF43-526C-4752-18272B9F0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FD956-4B10-DF4C-8815-DD859FB86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B044C-BC05-ECAC-C3F3-FA31FA135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BE8B-02D6-4E53-A1A2-2FD876621006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439C4-C656-76CA-F21F-BCDAF9DC2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4B095-E43D-FEBD-ABA0-5412F263E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10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3B43B-F7E0-3C38-2148-981687EFF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440CD3-7790-A1F6-F950-2274F5596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A6120-C03F-0CE9-4A67-76ED57135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3BFB0-1E9D-7BA7-6E50-2763526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BC03C-CEFA-4D2E-A7A8-68F2AAB1A1EF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511FD-8D9E-354B-4F04-0F9898E21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0F80F-6FB6-8A3B-272F-0E64DB03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25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C858-3C09-6604-E6B7-F63DB949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A08C3-D998-F6C6-7240-DC45762CC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CB15-11B5-BEF1-48FE-2027668E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05AFE-ABBC-4E52-90AE-0B3AEF8BFD58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5C96A-E0D1-1C03-5412-1010223C8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09149-CC62-5619-285C-0F608F26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51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3BFE73-2938-3625-C96D-B4FC4655D8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CFF83-D565-E96C-921F-AFCC7563A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66B0D-57A4-3BC7-A7D4-7FE0BD87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2AB1B-500A-44FF-8F0F-377D1ECDE909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20478-0FC8-4312-0A92-1B803250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84290-5FDE-D4C0-3012-7BDFF3B90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120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C5A329-99F4-6B0C-68D7-FADB7579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4872C-3318-7D6E-C1D4-A2E916A79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9E967-0CB7-60B8-233A-E61ABFF3D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7D19BC-C7F9-46AD-9139-2E9CE6786F9D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C3086-E0DE-AEEB-FC51-3478817E4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Rao, Professor of ECE, KLEF Deemed to be University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C750E-98AD-75BD-F1BA-883C4CC3D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55290-AAC6-44E1-B7C2-EA68208CD9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5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png"/><Relationship Id="rId5" Type="http://schemas.openxmlformats.org/officeDocument/2006/relationships/image" Target="../media/image13.wmf"/><Relationship Id="rId10" Type="http://schemas.openxmlformats.org/officeDocument/2006/relationships/image" Target="../media/image16.wmf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wmf"/><Relationship Id="rId7" Type="http://schemas.openxmlformats.org/officeDocument/2006/relationships/image" Target="../media/image9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2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3.wmf"/><Relationship Id="rId10" Type="http://schemas.openxmlformats.org/officeDocument/2006/relationships/image" Target="../media/image26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E726001-DFC8-9E79-DCF6-E82A58826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4161"/>
            <a:ext cx="11709400" cy="1470025"/>
          </a:xfrm>
        </p:spPr>
        <p:txBody>
          <a:bodyPr>
            <a:normAutofit fontScale="90000"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Double Side Band Suppressed Carrier</a:t>
            </a:r>
            <a:br>
              <a:rPr lang="en-US" altLang="en-US" sz="5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4800" b="1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4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</a:t>
            </a:r>
            <a:r>
              <a:rPr lang="en-US" altLang="en-US" sz="4800" b="1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4800" b="1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SC)</a:t>
            </a:r>
          </a:p>
        </p:txBody>
      </p:sp>
      <p:sp>
        <p:nvSpPr>
          <p:cNvPr id="12291" name="Subtitle 2">
            <a:extLst>
              <a:ext uri="{FF2B5EF4-FFF2-40B4-BE49-F238E27FC236}">
                <a16:creationId xmlns:a16="http://schemas.microsoft.com/office/drawing/2014/main" id="{9E3948B3-74C6-4EC4-558D-67B0730CF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240" y="2413000"/>
            <a:ext cx="9144000" cy="3200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(24EC2105)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082E9F89-8E93-4189-ECFA-C080CCBA1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2707640"/>
            <a:ext cx="9875520" cy="1143000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DSB-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Generation and detection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9326D3-42DC-8CB2-074D-1BE515F0E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C4ED7-15AD-414C-8E36-B7A8C5AD1A7F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860F0-5FF8-B469-A0D2-70E1A1615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5">
            <a:extLst>
              <a:ext uri="{FF2B5EF4-FFF2-40B4-BE49-F238E27FC236}">
                <a16:creationId xmlns:a16="http://schemas.microsoft.com/office/drawing/2014/main" id="{5CC007F5-4333-BBBB-BCF3-8B826BD17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938" y="4032250"/>
            <a:ext cx="90551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1">
            <a:extLst>
              <a:ext uri="{FF2B5EF4-FFF2-40B4-BE49-F238E27FC236}">
                <a16:creationId xmlns:a16="http://schemas.microsoft.com/office/drawing/2014/main" id="{E65C477A-19AC-9221-689F-D7583A75E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990601"/>
            <a:ext cx="76104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2">
            <a:extLst>
              <a:ext uri="{FF2B5EF4-FFF2-40B4-BE49-F238E27FC236}">
                <a16:creationId xmlns:a16="http://schemas.microsoft.com/office/drawing/2014/main" id="{140406BA-79C3-00BD-D07B-4111510CE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981201"/>
            <a:ext cx="73152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Rectangle 5">
            <a:extLst>
              <a:ext uri="{FF2B5EF4-FFF2-40B4-BE49-F238E27FC236}">
                <a16:creationId xmlns:a16="http://schemas.microsoft.com/office/drawing/2014/main" id="{FEBD579E-7564-A7AA-A572-76E75D026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28601"/>
            <a:ext cx="4724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>
                <a:solidFill>
                  <a:srgbClr val="FF0000"/>
                </a:solidFill>
                <a:cs typeface="Arial" panose="020B0604020202020204" pitchFamily="34" charset="0"/>
              </a:rPr>
              <a:t>1. Multiplier</a:t>
            </a:r>
            <a:r>
              <a:rPr lang="en-US" altLang="en-US" sz="3600">
                <a:cs typeface="Arial" panose="020B0604020202020204" pitchFamily="34" charset="0"/>
              </a:rPr>
              <a:t> </a:t>
            </a:r>
            <a:r>
              <a:rPr lang="en-US" altLang="en-US" sz="3600">
                <a:solidFill>
                  <a:srgbClr val="3200C0"/>
                </a:solidFill>
                <a:cs typeface="Arial" panose="020B0604020202020204" pitchFamily="34" charset="0"/>
              </a:rPr>
              <a:t>Modulator</a:t>
            </a:r>
            <a:endParaRPr lang="en-US" altLang="en-US" sz="36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4C2EF-826B-458A-4807-82F5E8228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777D-4D1E-4F2F-A538-35C85066B138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AFF03-1EF7-4962-D139-9E32F4A1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itle 1">
            <a:extLst>
              <a:ext uri="{FF2B5EF4-FFF2-40B4-BE49-F238E27FC236}">
                <a16:creationId xmlns:a16="http://schemas.microsoft.com/office/drawing/2014/main" id="{FD017D8E-D92A-FE4D-6487-B6DBF4E1A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914400"/>
          </a:xfrm>
        </p:spPr>
        <p:txBody>
          <a:bodyPr/>
          <a:lstStyle/>
          <a:p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Balanced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Modulator </a:t>
            </a:r>
          </a:p>
        </p:txBody>
      </p:sp>
      <p:pic>
        <p:nvPicPr>
          <p:cNvPr id="4102" name="Picture 4">
            <a:extLst>
              <a:ext uri="{FF2B5EF4-FFF2-40B4-BE49-F238E27FC236}">
                <a16:creationId xmlns:a16="http://schemas.microsoft.com/office/drawing/2014/main" id="{EA14BD79-9DFB-FA4D-2C4A-91AD658AA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990601"/>
            <a:ext cx="5715000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3" name="Rectangle 6">
            <a:extLst>
              <a:ext uri="{FF2B5EF4-FFF2-40B4-BE49-F238E27FC236}">
                <a16:creationId xmlns:a16="http://schemas.microsoft.com/office/drawing/2014/main" id="{4E468854-7633-A966-3B9C-C008521DF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098" name="Object 5">
            <a:extLst>
              <a:ext uri="{FF2B5EF4-FFF2-40B4-BE49-F238E27FC236}">
                <a16:creationId xmlns:a16="http://schemas.microsoft.com/office/drawing/2014/main" id="{F762B04B-C215-5116-6FFE-3A9C6F65F5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1" y="4419600"/>
          <a:ext cx="58007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30400" imgH="228600" progId="Equation.DSMT4">
                  <p:embed/>
                </p:oleObj>
              </mc:Choice>
              <mc:Fallback>
                <p:oleObj name="Equation" r:id="rId3" imgW="1930400" imgH="228600" progId="Equation.DSMT4">
                  <p:embed/>
                  <p:pic>
                    <p:nvPicPr>
                      <p:cNvPr id="4098" name="Object 5">
                        <a:extLst>
                          <a:ext uri="{FF2B5EF4-FFF2-40B4-BE49-F238E27FC236}">
                            <a16:creationId xmlns:a16="http://schemas.microsoft.com/office/drawing/2014/main" id="{F762B04B-C215-5116-6FFE-3A9C6F65F5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4419600"/>
                        <a:ext cx="580072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8">
            <a:extLst>
              <a:ext uri="{FF2B5EF4-FFF2-40B4-BE49-F238E27FC236}">
                <a16:creationId xmlns:a16="http://schemas.microsoft.com/office/drawing/2014/main" id="{FFFEBADF-4644-C552-86FD-04E84D948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099" name="Object 7">
            <a:extLst>
              <a:ext uri="{FF2B5EF4-FFF2-40B4-BE49-F238E27FC236}">
                <a16:creationId xmlns:a16="http://schemas.microsoft.com/office/drawing/2014/main" id="{8C12530D-4C00-F7D8-7DA8-37096665F3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2638" y="5192714"/>
          <a:ext cx="52625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43100" imgH="228600" progId="Equation.DSMT4">
                  <p:embed/>
                </p:oleObj>
              </mc:Choice>
              <mc:Fallback>
                <p:oleObj name="Equation" r:id="rId5" imgW="1943100" imgH="228600" progId="Equation.DSMT4">
                  <p:embed/>
                  <p:pic>
                    <p:nvPicPr>
                      <p:cNvPr id="4099" name="Object 7">
                        <a:extLst>
                          <a:ext uri="{FF2B5EF4-FFF2-40B4-BE49-F238E27FC236}">
                            <a16:creationId xmlns:a16="http://schemas.microsoft.com/office/drawing/2014/main" id="{8C12530D-4C00-F7D8-7DA8-37096665F3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5192714"/>
                        <a:ext cx="5262562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Rectangle 10">
            <a:extLst>
              <a:ext uri="{FF2B5EF4-FFF2-40B4-BE49-F238E27FC236}">
                <a16:creationId xmlns:a16="http://schemas.microsoft.com/office/drawing/2014/main" id="{9EE30C06-CB88-4B91-1B80-81A016C2B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100" name="Object 13">
            <a:extLst>
              <a:ext uri="{FF2B5EF4-FFF2-40B4-BE49-F238E27FC236}">
                <a16:creationId xmlns:a16="http://schemas.microsoft.com/office/drawing/2014/main" id="{940E3682-CE92-8C6F-DDCB-EC99F47196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5867400"/>
          <a:ext cx="7848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16120" imgH="228600" progId="Equation.DSMT4">
                  <p:embed/>
                </p:oleObj>
              </mc:Choice>
              <mc:Fallback>
                <p:oleObj name="Equation" r:id="rId7" imgW="2616120" imgH="228600" progId="Equation.DSMT4">
                  <p:embed/>
                  <p:pic>
                    <p:nvPicPr>
                      <p:cNvPr id="4100" name="Object 13">
                        <a:extLst>
                          <a:ext uri="{FF2B5EF4-FFF2-40B4-BE49-F238E27FC236}">
                            <a16:creationId xmlns:a16="http://schemas.microsoft.com/office/drawing/2014/main" id="{940E3682-CE92-8C6F-DDCB-EC99F47196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867400"/>
                        <a:ext cx="78486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TextBox 12">
            <a:extLst>
              <a:ext uri="{FF2B5EF4-FFF2-40B4-BE49-F238E27FC236}">
                <a16:creationId xmlns:a16="http://schemas.microsoft.com/office/drawing/2014/main" id="{4EC47EDA-6BD9-B152-BD85-778FBCC75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1828800"/>
            <a:ext cx="533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4107" name="TextBox 13">
            <a:extLst>
              <a:ext uri="{FF2B5EF4-FFF2-40B4-BE49-F238E27FC236}">
                <a16:creationId xmlns:a16="http://schemas.microsoft.com/office/drawing/2014/main" id="{AB70F511-1C8F-169A-F0A6-1C8001912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0450" y="2819400"/>
            <a:ext cx="533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D61161-69CD-8618-250D-CF3536B9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3F0BE-3D29-4656-A6CE-64FC1F88500E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159D7-2CAD-643F-9830-A8932632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DAF086A6-BDEA-F782-FB9F-D2AD25C2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819400"/>
            <a:ext cx="8229600" cy="1143000"/>
          </a:xfrm>
        </p:spPr>
        <p:txBody>
          <a:bodyPr/>
          <a:lstStyle/>
          <a:p>
            <a:r>
              <a:rPr lang="en-US" altLang="en-US" sz="4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en-US" sz="480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480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altLang="en-US" sz="480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 sz="480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480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n-US" altLang="en-US" sz="4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Demodulation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75F39-2108-5884-AB88-77259CE8C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DDC6C-31C0-4569-ACEB-AD9EE28CAC95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F669B-91EA-4696-E741-4794A67BC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7">
            <a:extLst>
              <a:ext uri="{FF2B5EF4-FFF2-40B4-BE49-F238E27FC236}">
                <a16:creationId xmlns:a16="http://schemas.microsoft.com/office/drawing/2014/main" id="{720D556A-7A1D-44C1-56A8-D1A8DB812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640" y="848361"/>
            <a:ext cx="6324600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3">
            <a:extLst>
              <a:ext uri="{FF2B5EF4-FFF2-40B4-BE49-F238E27FC236}">
                <a16:creationId xmlns:a16="http://schemas.microsoft.com/office/drawing/2014/main" id="{742EA3F1-89A6-6C3C-0BEF-018077146D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84015" y="4104639"/>
            <a:ext cx="6648450" cy="2362200"/>
          </a:xfr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CF1664-BFF6-AE57-28AA-FB525EC6F33B}"/>
              </a:ext>
            </a:extLst>
          </p:cNvPr>
          <p:cNvSpPr txBox="1"/>
          <p:nvPr/>
        </p:nvSpPr>
        <p:spPr>
          <a:xfrm>
            <a:off x="518160" y="1747520"/>
            <a:ext cx="441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DSB-SC Modulation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7F104-4FA6-8104-005F-2C8B001BD42D}"/>
              </a:ext>
            </a:extLst>
          </p:cNvPr>
          <p:cNvSpPr txBox="1"/>
          <p:nvPr/>
        </p:nvSpPr>
        <p:spPr>
          <a:xfrm>
            <a:off x="589280" y="4587261"/>
            <a:ext cx="441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Demodulation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A555C-86E5-95B5-2B2C-9298469B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4E27-3F0F-4007-8375-F2C8B35E75FA}" type="datetime1">
              <a:rPr lang="en-IN" smtClean="0"/>
              <a:t>05-09-2025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AFF8C-EE38-17EB-8CA4-29770A86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50DF936D-6AFB-5FC7-97C6-E21FB9515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0" y="0"/>
            <a:ext cx="6543040" cy="792163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Coherent/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Synchronous </a:t>
            </a:r>
            <a:r>
              <a:rPr lang="en-US" altLang="en-US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</a:p>
        </p:txBody>
      </p:sp>
      <p:pic>
        <p:nvPicPr>
          <p:cNvPr id="29699" name="Picture 3">
            <a:extLst>
              <a:ext uri="{FF2B5EF4-FFF2-40B4-BE49-F238E27FC236}">
                <a16:creationId xmlns:a16="http://schemas.microsoft.com/office/drawing/2014/main" id="{31D17053-A7F8-0F97-180E-0BB7F0305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73" y="616903"/>
            <a:ext cx="6400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Box 5">
            <a:extLst>
              <a:ext uri="{FF2B5EF4-FFF2-40B4-BE49-F238E27FC236}">
                <a16:creationId xmlns:a16="http://schemas.microsoft.com/office/drawing/2014/main" id="{69BE2DD0-40F5-E986-C00F-6D09B6FEE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870" y="1849756"/>
            <a:ext cx="717661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The </a:t>
            </a:r>
            <a:r>
              <a:rPr lang="en-US" altLang="en-US" sz="2400" b="1" dirty="0">
                <a:solidFill>
                  <a:srgbClr val="1600BC"/>
                </a:solidFill>
                <a:cs typeface="Arial" panose="020B0604020202020204" pitchFamily="34" charset="0"/>
              </a:rPr>
              <a:t>Local oscillator</a:t>
            </a:r>
            <a:r>
              <a:rPr lang="en-US" alt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 frequency </a:t>
            </a:r>
            <a:r>
              <a:rPr lang="en-US" altLang="en-US" sz="2400" b="1" dirty="0">
                <a:solidFill>
                  <a:srgbClr val="00642D"/>
                </a:solidFill>
                <a:cs typeface="Arial" panose="020B0604020202020204" pitchFamily="34" charset="0"/>
              </a:rPr>
              <a:t>and</a:t>
            </a:r>
            <a:r>
              <a:rPr lang="en-US" alt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 phase </a:t>
            </a:r>
            <a:r>
              <a:rPr lang="en-US" altLang="en-US" sz="2400" b="1" dirty="0">
                <a:cs typeface="Arial" panose="020B0604020202020204" pitchFamily="34" charset="0"/>
              </a:rPr>
              <a:t>is assumed </a:t>
            </a:r>
            <a:r>
              <a:rPr lang="en-US" altLang="en-US" sz="2400" b="1" dirty="0">
                <a:solidFill>
                  <a:srgbClr val="00642D"/>
                </a:solidFill>
                <a:cs typeface="Arial" panose="020B0604020202020204" pitchFamily="34" charset="0"/>
              </a:rPr>
              <a:t>to be </a:t>
            </a:r>
            <a:r>
              <a:rPr lang="en-US" altLang="en-US" sz="2300" b="1" dirty="0">
                <a:solidFill>
                  <a:srgbClr val="FF0000"/>
                </a:solidFill>
                <a:cs typeface="Arial" panose="020B0604020202020204" pitchFamily="34" charset="0"/>
              </a:rPr>
              <a:t>synchronized</a:t>
            </a:r>
            <a:r>
              <a:rPr lang="en-US" alt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400" b="1" dirty="0">
                <a:cs typeface="Arial" panose="020B0604020202020204" pitchFamily="34" charset="0"/>
              </a:rPr>
              <a:t>with transmitted carrier</a:t>
            </a:r>
          </a:p>
        </p:txBody>
      </p:sp>
      <p:pic>
        <p:nvPicPr>
          <p:cNvPr id="29701" name="Picture 6">
            <a:extLst>
              <a:ext uri="{FF2B5EF4-FFF2-40B4-BE49-F238E27FC236}">
                <a16:creationId xmlns:a16="http://schemas.microsoft.com/office/drawing/2014/main" id="{9901A573-46A1-5CA4-C500-4C3E348EF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53" y="3121026"/>
            <a:ext cx="8331516" cy="3622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630BE0-8CD8-1CEC-EA54-2B0CD5B9C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C229-013E-4643-800C-C4777532DA12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C5A3D-02A2-F6C5-14B3-B18D5065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E75868A7-00F9-4D1D-4AC9-5FB079FD8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2332037"/>
            <a:ext cx="11755120" cy="4525963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Any discrepancy in the frequency and phase of local carrier give rise to a distortion in the detector output.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the following two situations.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local oscillator has an ideal frequency, but arbitrary phase difference measured with respect to the carrier is referred to as ‘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Error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local oscillator has identical phase but a difference frequency with respect to carrier is referred to as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error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’.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12B61-2F15-7BC6-E5FC-0BD3BD8E4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689685"/>
            <a:ext cx="5072828" cy="857690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4EEEC3F6-D83F-6C23-C6F4-700A28278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428" y="122237"/>
            <a:ext cx="64008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8B25A4-1DC5-D0FC-416E-63FA097A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51D78-7808-4A80-88BA-40641ECD0A6E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EF1E6-AD3A-6C7D-D6D1-DF864925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Title 1">
            <a:extLst>
              <a:ext uri="{FF2B5EF4-FFF2-40B4-BE49-F238E27FC236}">
                <a16:creationId xmlns:a16="http://schemas.microsoft.com/office/drawing/2014/main" id="{6294EBD9-D75F-0553-432F-946912AE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" y="68263"/>
            <a:ext cx="8229600" cy="792163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</a:p>
        </p:txBody>
      </p:sp>
      <p:sp>
        <p:nvSpPr>
          <p:cNvPr id="7175" name="Content Placeholder 2">
            <a:extLst>
              <a:ext uri="{FF2B5EF4-FFF2-40B4-BE49-F238E27FC236}">
                <a16:creationId xmlns:a16="http://schemas.microsoft.com/office/drawing/2014/main" id="{9CF09381-2BA1-9005-A43A-599422F16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920234"/>
            <a:ext cx="6610667" cy="5205930"/>
          </a:xfrm>
        </p:spPr>
        <p:txBody>
          <a:bodyPr/>
          <a:lstStyle/>
          <a:p>
            <a:pPr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carrier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is                       where      being the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difference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between the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oscillator signal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and the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carrier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at the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transmitter.</a:t>
            </a:r>
          </a:p>
        </p:txBody>
      </p:sp>
      <p:sp>
        <p:nvSpPr>
          <p:cNvPr id="7176" name="Rectangle 2">
            <a:extLst>
              <a:ext uri="{FF2B5EF4-FFF2-40B4-BE49-F238E27FC236}">
                <a16:creationId xmlns:a16="http://schemas.microsoft.com/office/drawing/2014/main" id="{D1E0A235-7FE9-6C72-8320-A21BEE85F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0" name="Object 2">
            <a:extLst>
              <a:ext uri="{FF2B5EF4-FFF2-40B4-BE49-F238E27FC236}">
                <a16:creationId xmlns:a16="http://schemas.microsoft.com/office/drawing/2014/main" id="{DB4339F4-B8FC-1F2E-4E18-5466DBF26C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230124"/>
              </p:ext>
            </p:extLst>
          </p:nvPr>
        </p:nvGraphicFramePr>
        <p:xfrm>
          <a:off x="2834641" y="930931"/>
          <a:ext cx="20605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447" imgH="203112" progId="Equation.DSMT4">
                  <p:embed/>
                </p:oleObj>
              </mc:Choice>
              <mc:Fallback>
                <p:oleObj name="Equation" r:id="rId2" imgW="812447" imgH="203112" progId="Equation.DSMT4">
                  <p:embed/>
                  <p:pic>
                    <p:nvPicPr>
                      <p:cNvPr id="7170" name="Object 2">
                        <a:extLst>
                          <a:ext uri="{FF2B5EF4-FFF2-40B4-BE49-F238E27FC236}">
                            <a16:creationId xmlns:a16="http://schemas.microsoft.com/office/drawing/2014/main" id="{DB4339F4-B8FC-1F2E-4E18-5466DBF26C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4641" y="930931"/>
                        <a:ext cx="206057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7" name="Rectangle 3">
            <a:extLst>
              <a:ext uri="{FF2B5EF4-FFF2-40B4-BE49-F238E27FC236}">
                <a16:creationId xmlns:a16="http://schemas.microsoft.com/office/drawing/2014/main" id="{0B5CC872-102A-3088-69B3-6D40CA154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82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78" name="Rectangle 5">
            <a:extLst>
              <a:ext uri="{FF2B5EF4-FFF2-40B4-BE49-F238E27FC236}">
                <a16:creationId xmlns:a16="http://schemas.microsoft.com/office/drawing/2014/main" id="{A1917E50-8E78-D31F-AADD-041B5CDF7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1" name="Object 3">
            <a:extLst>
              <a:ext uri="{FF2B5EF4-FFF2-40B4-BE49-F238E27FC236}">
                <a16:creationId xmlns:a16="http://schemas.microsoft.com/office/drawing/2014/main" id="{B69D4074-E101-B355-7A8C-D7586DF42C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850800"/>
              </p:ext>
            </p:extLst>
          </p:nvPr>
        </p:nvGraphicFramePr>
        <p:xfrm>
          <a:off x="8361680" y="2081331"/>
          <a:ext cx="2273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392" imgH="215806" progId="Equation.DSMT4">
                  <p:embed/>
                </p:oleObj>
              </mc:Choice>
              <mc:Fallback>
                <p:oleObj name="Equation" r:id="rId4" imgW="939392" imgH="215806" progId="Equation.DSMT4">
                  <p:embed/>
                  <p:pic>
                    <p:nvPicPr>
                      <p:cNvPr id="7171" name="Object 3">
                        <a:extLst>
                          <a:ext uri="{FF2B5EF4-FFF2-40B4-BE49-F238E27FC236}">
                            <a16:creationId xmlns:a16="http://schemas.microsoft.com/office/drawing/2014/main" id="{B69D4074-E101-B355-7A8C-D7586DF42C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1680" y="2081331"/>
                        <a:ext cx="22733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Rectangle 6">
            <a:extLst>
              <a:ext uri="{FF2B5EF4-FFF2-40B4-BE49-F238E27FC236}">
                <a16:creationId xmlns:a16="http://schemas.microsoft.com/office/drawing/2014/main" id="{78678E75-3C8F-73D2-DDC4-FFC925D2C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4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80" name="Rectangle 8">
            <a:extLst>
              <a:ext uri="{FF2B5EF4-FFF2-40B4-BE49-F238E27FC236}">
                <a16:creationId xmlns:a16="http://schemas.microsoft.com/office/drawing/2014/main" id="{6E40D5E4-88F4-4889-F5A3-62B99714E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2" name="Object 4">
            <a:extLst>
              <a:ext uri="{FF2B5EF4-FFF2-40B4-BE49-F238E27FC236}">
                <a16:creationId xmlns:a16="http://schemas.microsoft.com/office/drawing/2014/main" id="{09F445F4-F881-86C7-9122-6314718417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503249"/>
              </p:ext>
            </p:extLst>
          </p:nvPr>
        </p:nvGraphicFramePr>
        <p:xfrm>
          <a:off x="6096000" y="930931"/>
          <a:ext cx="381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835" imgH="202936" progId="Equation.DSMT4">
                  <p:embed/>
                </p:oleObj>
              </mc:Choice>
              <mc:Fallback>
                <p:oleObj name="Equation" r:id="rId6" imgW="126835" imgH="202936" progId="Equation.DSMT4">
                  <p:embed/>
                  <p:pic>
                    <p:nvPicPr>
                      <p:cNvPr id="7172" name="Object 4">
                        <a:extLst>
                          <a:ext uri="{FF2B5EF4-FFF2-40B4-BE49-F238E27FC236}">
                            <a16:creationId xmlns:a16="http://schemas.microsoft.com/office/drawing/2014/main" id="{09F445F4-F881-86C7-9122-6314718417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930931"/>
                        <a:ext cx="3810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Rectangle 9">
            <a:extLst>
              <a:ext uri="{FF2B5EF4-FFF2-40B4-BE49-F238E27FC236}">
                <a16:creationId xmlns:a16="http://schemas.microsoft.com/office/drawing/2014/main" id="{037F3A36-3DC6-CBA9-53B4-8BB791877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8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82" name="Rectangle 11">
            <a:extLst>
              <a:ext uri="{FF2B5EF4-FFF2-40B4-BE49-F238E27FC236}">
                <a16:creationId xmlns:a16="http://schemas.microsoft.com/office/drawing/2014/main" id="{84C1C911-F585-7263-C0E5-6B5159F6F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7183" name="Picture 12">
            <a:extLst>
              <a:ext uri="{FF2B5EF4-FFF2-40B4-BE49-F238E27FC236}">
                <a16:creationId xmlns:a16="http://schemas.microsoft.com/office/drawing/2014/main" id="{FF1E9D4A-0B41-F9FD-18A3-A74F78B41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41" y="2884308"/>
            <a:ext cx="9334589" cy="2717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4" name="Rectangle 14">
            <a:extLst>
              <a:ext uri="{FF2B5EF4-FFF2-40B4-BE49-F238E27FC236}">
                <a16:creationId xmlns:a16="http://schemas.microsoft.com/office/drawing/2014/main" id="{F90FBDC0-A730-A333-5B53-5C917C628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3" name="Object 5">
            <a:extLst>
              <a:ext uri="{FF2B5EF4-FFF2-40B4-BE49-F238E27FC236}">
                <a16:creationId xmlns:a16="http://schemas.microsoft.com/office/drawing/2014/main" id="{1DF1DE06-7FCB-53AC-C8CA-7C332327F3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375341"/>
              </p:ext>
            </p:extLst>
          </p:nvPr>
        </p:nvGraphicFramePr>
        <p:xfrm>
          <a:off x="2368392" y="5623720"/>
          <a:ext cx="350520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58310" imgH="393529" progId="Equation.DSMT4">
                  <p:embed/>
                </p:oleObj>
              </mc:Choice>
              <mc:Fallback>
                <p:oleObj name="Equation" r:id="rId9" imgW="1358310" imgH="393529" progId="Equation.DSMT4">
                  <p:embed/>
                  <p:pic>
                    <p:nvPicPr>
                      <p:cNvPr id="7173" name="Object 5">
                        <a:extLst>
                          <a:ext uri="{FF2B5EF4-FFF2-40B4-BE49-F238E27FC236}">
                            <a16:creationId xmlns:a16="http://schemas.microsoft.com/office/drawing/2014/main" id="{1DF1DE06-7FCB-53AC-C8CA-7C332327F3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392" y="5623720"/>
                        <a:ext cx="3505200" cy="1004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85" name="Picture 3">
            <a:extLst>
              <a:ext uri="{FF2B5EF4-FFF2-40B4-BE49-F238E27FC236}">
                <a16:creationId xmlns:a16="http://schemas.microsoft.com/office/drawing/2014/main" id="{533B3BAC-10F7-4DF1-4D6E-D0FF1F028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020" y="133790"/>
            <a:ext cx="5555119" cy="2060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89B942-358D-D791-2D5F-1A30AE4DC079}"/>
              </a:ext>
            </a:extLst>
          </p:cNvPr>
          <p:cNvSpPr txBox="1"/>
          <p:nvPr/>
        </p:nvSpPr>
        <p:spPr>
          <a:xfrm>
            <a:off x="548640" y="5871808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After LPF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B9CD62-87F2-400F-CF3F-74B16B5C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3FB-4070-445D-B3CA-D82BF3906F31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CF059-9443-6BD8-0F6A-6AA68589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Title 1">
            <a:extLst>
              <a:ext uri="{FF2B5EF4-FFF2-40B4-BE49-F238E27FC236}">
                <a16:creationId xmlns:a16="http://schemas.microsoft.com/office/drawing/2014/main" id="{6294EBD9-D75F-0553-432F-946912AE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" y="68263"/>
            <a:ext cx="8229600" cy="792163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</a:p>
        </p:txBody>
      </p:sp>
      <p:sp>
        <p:nvSpPr>
          <p:cNvPr id="7176" name="Rectangle 2">
            <a:extLst>
              <a:ext uri="{FF2B5EF4-FFF2-40B4-BE49-F238E27FC236}">
                <a16:creationId xmlns:a16="http://schemas.microsoft.com/office/drawing/2014/main" id="{D1E0A235-7FE9-6C72-8320-A21BEE85F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77" name="Rectangle 3">
            <a:extLst>
              <a:ext uri="{FF2B5EF4-FFF2-40B4-BE49-F238E27FC236}">
                <a16:creationId xmlns:a16="http://schemas.microsoft.com/office/drawing/2014/main" id="{0B5CC872-102A-3088-69B3-6D40CA154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82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78" name="Rectangle 5">
            <a:extLst>
              <a:ext uri="{FF2B5EF4-FFF2-40B4-BE49-F238E27FC236}">
                <a16:creationId xmlns:a16="http://schemas.microsoft.com/office/drawing/2014/main" id="{A1917E50-8E78-D31F-AADD-041B5CDF7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1" name="Object 3">
            <a:extLst>
              <a:ext uri="{FF2B5EF4-FFF2-40B4-BE49-F238E27FC236}">
                <a16:creationId xmlns:a16="http://schemas.microsoft.com/office/drawing/2014/main" id="{B69D4074-E101-B355-7A8C-D7586DF42C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1680" y="2081331"/>
          <a:ext cx="22733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9392" imgH="215806" progId="Equation.DSMT4">
                  <p:embed/>
                </p:oleObj>
              </mc:Choice>
              <mc:Fallback>
                <p:oleObj name="Equation" r:id="rId2" imgW="939392" imgH="215806" progId="Equation.DSMT4">
                  <p:embed/>
                  <p:pic>
                    <p:nvPicPr>
                      <p:cNvPr id="7171" name="Object 3">
                        <a:extLst>
                          <a:ext uri="{FF2B5EF4-FFF2-40B4-BE49-F238E27FC236}">
                            <a16:creationId xmlns:a16="http://schemas.microsoft.com/office/drawing/2014/main" id="{B69D4074-E101-B355-7A8C-D7586DF42C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1680" y="2081331"/>
                        <a:ext cx="22733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Rectangle 6">
            <a:extLst>
              <a:ext uri="{FF2B5EF4-FFF2-40B4-BE49-F238E27FC236}">
                <a16:creationId xmlns:a16="http://schemas.microsoft.com/office/drawing/2014/main" id="{78678E75-3C8F-73D2-DDC4-FFC925D2C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44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80" name="Rectangle 8">
            <a:extLst>
              <a:ext uri="{FF2B5EF4-FFF2-40B4-BE49-F238E27FC236}">
                <a16:creationId xmlns:a16="http://schemas.microsoft.com/office/drawing/2014/main" id="{6E40D5E4-88F4-4889-F5A3-62B99714E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81" name="Rectangle 9">
            <a:extLst>
              <a:ext uri="{FF2B5EF4-FFF2-40B4-BE49-F238E27FC236}">
                <a16:creationId xmlns:a16="http://schemas.microsoft.com/office/drawing/2014/main" id="{037F3A36-3DC6-CBA9-53B4-8BB791877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48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82" name="Rectangle 11">
            <a:extLst>
              <a:ext uri="{FF2B5EF4-FFF2-40B4-BE49-F238E27FC236}">
                <a16:creationId xmlns:a16="http://schemas.microsoft.com/office/drawing/2014/main" id="{84C1C911-F585-7263-C0E5-6B5159F6F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7183" name="Picture 12">
            <a:extLst>
              <a:ext uri="{FF2B5EF4-FFF2-40B4-BE49-F238E27FC236}">
                <a16:creationId xmlns:a16="http://schemas.microsoft.com/office/drawing/2014/main" id="{FF1E9D4A-0B41-F9FD-18A3-A74F78B41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41" y="2884308"/>
            <a:ext cx="9334589" cy="2717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4" name="Rectangle 14">
            <a:extLst>
              <a:ext uri="{FF2B5EF4-FFF2-40B4-BE49-F238E27FC236}">
                <a16:creationId xmlns:a16="http://schemas.microsoft.com/office/drawing/2014/main" id="{F90FBDC0-A730-A333-5B53-5C917C628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7173" name="Object 5">
            <a:extLst>
              <a:ext uri="{FF2B5EF4-FFF2-40B4-BE49-F238E27FC236}">
                <a16:creationId xmlns:a16="http://schemas.microsoft.com/office/drawing/2014/main" id="{1DF1DE06-7FCB-53AC-C8CA-7C332327F3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582975"/>
              </p:ext>
            </p:extLst>
          </p:nvPr>
        </p:nvGraphicFramePr>
        <p:xfrm>
          <a:off x="2083912" y="5600196"/>
          <a:ext cx="350520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310" imgH="393529" progId="Equation.DSMT4">
                  <p:embed/>
                </p:oleObj>
              </mc:Choice>
              <mc:Fallback>
                <p:oleObj name="Equation" r:id="rId5" imgW="1358310" imgH="393529" progId="Equation.DSMT4">
                  <p:embed/>
                  <p:pic>
                    <p:nvPicPr>
                      <p:cNvPr id="7173" name="Object 5">
                        <a:extLst>
                          <a:ext uri="{FF2B5EF4-FFF2-40B4-BE49-F238E27FC236}">
                            <a16:creationId xmlns:a16="http://schemas.microsoft.com/office/drawing/2014/main" id="{1DF1DE06-7FCB-53AC-C8CA-7C332327F3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3912" y="5600196"/>
                        <a:ext cx="3505200" cy="1004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85" name="Picture 3">
            <a:extLst>
              <a:ext uri="{FF2B5EF4-FFF2-40B4-BE49-F238E27FC236}">
                <a16:creationId xmlns:a16="http://schemas.microsoft.com/office/drawing/2014/main" id="{533B3BAC-10F7-4DF1-4D6E-D0FF1F028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020" y="133790"/>
            <a:ext cx="5555119" cy="2060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89B942-358D-D791-2D5F-1A30AE4DC079}"/>
              </a:ext>
            </a:extLst>
          </p:cNvPr>
          <p:cNvSpPr txBox="1"/>
          <p:nvPr/>
        </p:nvSpPr>
        <p:spPr>
          <a:xfrm>
            <a:off x="548640" y="5871808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After LPF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09808A-7B18-E08D-4BCF-1DF59F8D56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080" y="809394"/>
            <a:ext cx="5963920" cy="17300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9EA5D-E693-28C8-75C0-ABBBA81AA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6C9A0-7618-4FE4-8C5B-5431DAA5A63A}" type="datetime1">
              <a:rPr lang="en-IN" smtClean="0"/>
              <a:t>05-09-2025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C74B5-92EA-D6BC-E333-86FFDAF93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886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Title 1">
            <a:extLst>
              <a:ext uri="{FF2B5EF4-FFF2-40B4-BE49-F238E27FC236}">
                <a16:creationId xmlns:a16="http://schemas.microsoft.com/office/drawing/2014/main" id="{54A71911-AA29-8C0D-559C-50C5F1E70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11125"/>
            <a:ext cx="8229600" cy="762000"/>
          </a:xfrm>
        </p:spPr>
        <p:txBody>
          <a:bodyPr/>
          <a:lstStyle/>
          <a:p>
            <a:r>
              <a:rPr lang="en-US" altLang="en-US" dirty="0">
                <a:solidFill>
                  <a:srgbClr val="002060"/>
                </a:solidFill>
              </a:rPr>
              <a:t>Phase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rgbClr val="FF0000"/>
                </a:solidFill>
              </a:rPr>
              <a:t>Error</a:t>
            </a:r>
            <a:endParaRPr lang="en-US" altLang="en-US" dirty="0"/>
          </a:p>
        </p:txBody>
      </p:sp>
      <p:sp>
        <p:nvSpPr>
          <p:cNvPr id="8199" name="Content Placeholder 2">
            <a:extLst>
              <a:ext uri="{FF2B5EF4-FFF2-40B4-BE49-F238E27FC236}">
                <a16:creationId xmlns:a16="http://schemas.microsoft.com/office/drawing/2014/main" id="{69BEEEC4-B1E5-2C51-0955-7DB4B277F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" y="1188720"/>
            <a:ext cx="11673840" cy="452628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demodulator output 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proportional to            </a:t>
            </a:r>
            <a:r>
              <a:rPr lang="en-US" dirty="0">
                <a:solidFill>
                  <a:srgbClr val="1600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undistorted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when the phase error          </a:t>
            </a:r>
            <a:r>
              <a:rPr lang="en-US" dirty="0">
                <a:solidFill>
                  <a:srgbClr val="1600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constant.</a:t>
            </a:r>
          </a:p>
          <a:p>
            <a:pPr>
              <a:buFont typeface="Wingdings" pitchFamily="2" charset="2"/>
              <a:buChar char="Ø"/>
              <a:defRPr/>
            </a:pPr>
            <a:endParaRPr lang="en-US" dirty="0">
              <a:solidFill>
                <a:srgbClr val="1600B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Ø"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solidFill>
                  <a:srgbClr val="1600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demodulated output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maximum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when                   </a:t>
            </a:r>
          </a:p>
          <a:p>
            <a:pPr>
              <a:buFont typeface="Wingdings" pitchFamily="2" charset="2"/>
              <a:buChar char="Ø"/>
              <a:defRPr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buFont typeface="Wingdings" pitchFamily="2" charset="2"/>
              <a:buChar char="Ø"/>
              <a:defRPr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Minimum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when               .  This results in </a:t>
            </a:r>
            <a:r>
              <a:rPr lang="en-US" dirty="0">
                <a:solidFill>
                  <a:srgbClr val="1600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distortion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US" dirty="0">
                <a:solidFill>
                  <a:srgbClr val="1600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demodulated output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Arial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Necessary arrangement should be made at the receiver end to maintain the local oscillator in perfect synchronism, in both frequency and phase with the transmitted carrier wave.</a:t>
            </a:r>
          </a:p>
        </p:txBody>
      </p:sp>
      <p:sp>
        <p:nvSpPr>
          <p:cNvPr id="8200" name="Rectangle 2">
            <a:extLst>
              <a:ext uri="{FF2B5EF4-FFF2-40B4-BE49-F238E27FC236}">
                <a16:creationId xmlns:a16="http://schemas.microsoft.com/office/drawing/2014/main" id="{634477E5-3433-BB6F-C592-5C0A4C9C4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DBFBC69C-0513-E799-1906-97A753ABE1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331067"/>
              </p:ext>
            </p:extLst>
          </p:nvPr>
        </p:nvGraphicFramePr>
        <p:xfrm>
          <a:off x="8168640" y="1207394"/>
          <a:ext cx="800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225" imgH="203024" progId="Equation.DSMT4">
                  <p:embed/>
                </p:oleObj>
              </mc:Choice>
              <mc:Fallback>
                <p:oleObj name="Equation" r:id="rId2" imgW="317225" imgH="203024" progId="Equation.DSMT4">
                  <p:embed/>
                  <p:pic>
                    <p:nvPicPr>
                      <p:cNvPr id="8194" name="Object 2">
                        <a:extLst>
                          <a:ext uri="{FF2B5EF4-FFF2-40B4-BE49-F238E27FC236}">
                            <a16:creationId xmlns:a16="http://schemas.microsoft.com/office/drawing/2014/main" id="{DBFBC69C-0513-E799-1906-97A753ABE1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8640" y="1207394"/>
                        <a:ext cx="800100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Rectangle 4">
            <a:extLst>
              <a:ext uri="{FF2B5EF4-FFF2-40B4-BE49-F238E27FC236}">
                <a16:creationId xmlns:a16="http://schemas.microsoft.com/office/drawing/2014/main" id="{30BF1036-6A16-E16D-61DF-68E9095D7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DE185984-2B36-E5C0-02EE-23F7B7BF08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8492129"/>
              </p:ext>
            </p:extLst>
          </p:nvPr>
        </p:nvGraphicFramePr>
        <p:xfrm>
          <a:off x="4074161" y="1645544"/>
          <a:ext cx="9429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292" imgH="203024" progId="Equation.DSMT4">
                  <p:embed/>
                </p:oleObj>
              </mc:Choice>
              <mc:Fallback>
                <p:oleObj name="Equation" r:id="rId4" imgW="355292" imgH="203024" progId="Equation.DSMT4">
                  <p:embed/>
                  <p:pic>
                    <p:nvPicPr>
                      <p:cNvPr id="8195" name="Object 3">
                        <a:extLst>
                          <a:ext uri="{FF2B5EF4-FFF2-40B4-BE49-F238E27FC236}">
                            <a16:creationId xmlns:a16="http://schemas.microsoft.com/office/drawing/2014/main" id="{DE185984-2B36-E5C0-02EE-23F7B7BF08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4161" y="1645544"/>
                        <a:ext cx="942975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Rectangle 6">
            <a:extLst>
              <a:ext uri="{FF2B5EF4-FFF2-40B4-BE49-F238E27FC236}">
                <a16:creationId xmlns:a16="http://schemas.microsoft.com/office/drawing/2014/main" id="{DC189ABA-CA30-3285-8095-33D614EA4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00491D9D-E664-7D56-25C6-9F8C6A1D02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27543"/>
              </p:ext>
            </p:extLst>
          </p:nvPr>
        </p:nvGraphicFramePr>
        <p:xfrm>
          <a:off x="7564438" y="2542541"/>
          <a:ext cx="9207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292" imgH="203024" progId="Equation.DSMT4">
                  <p:embed/>
                </p:oleObj>
              </mc:Choice>
              <mc:Fallback>
                <p:oleObj name="Equation" r:id="rId6" imgW="355292" imgH="203024" progId="Equation.DSMT4">
                  <p:embed/>
                  <p:pic>
                    <p:nvPicPr>
                      <p:cNvPr id="8196" name="Object 4">
                        <a:extLst>
                          <a:ext uri="{FF2B5EF4-FFF2-40B4-BE49-F238E27FC236}">
                            <a16:creationId xmlns:a16="http://schemas.microsoft.com/office/drawing/2014/main" id="{00491D9D-E664-7D56-25C6-9F8C6A1D02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4438" y="2542541"/>
                        <a:ext cx="92075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Rectangle 8">
            <a:extLst>
              <a:ext uri="{FF2B5EF4-FFF2-40B4-BE49-F238E27FC236}">
                <a16:creationId xmlns:a16="http://schemas.microsoft.com/office/drawing/2014/main" id="{943755B3-2858-B17D-8505-FC346384C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197" name="Object 5">
            <a:extLst>
              <a:ext uri="{FF2B5EF4-FFF2-40B4-BE49-F238E27FC236}">
                <a16:creationId xmlns:a16="http://schemas.microsoft.com/office/drawing/2014/main" id="{2B8AE83F-4802-69C2-9141-2EEC7D1094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091126"/>
              </p:ext>
            </p:extLst>
          </p:nvPr>
        </p:nvGraphicFramePr>
        <p:xfrm>
          <a:off x="4227196" y="3345181"/>
          <a:ext cx="12954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780" imgH="393529" progId="Equation.DSMT4">
                  <p:embed/>
                </p:oleObj>
              </mc:Choice>
              <mc:Fallback>
                <p:oleObj name="Equation" r:id="rId8" imgW="507780" imgH="393529" progId="Equation.DSMT4">
                  <p:embed/>
                  <p:pic>
                    <p:nvPicPr>
                      <p:cNvPr id="8197" name="Object 5">
                        <a:extLst>
                          <a:ext uri="{FF2B5EF4-FFF2-40B4-BE49-F238E27FC236}">
                            <a16:creationId xmlns:a16="http://schemas.microsoft.com/office/drawing/2014/main" id="{2B8AE83F-4802-69C2-9141-2EEC7D1094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7196" y="3345181"/>
                        <a:ext cx="1295400" cy="1001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14237C-A527-6DB7-6E5A-CBC8D709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14D30-3D8B-4251-A5FC-A48974820C78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CC74-C324-0086-BCED-BDE3E3EB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Title 1">
            <a:extLst>
              <a:ext uri="{FF2B5EF4-FFF2-40B4-BE49-F238E27FC236}">
                <a16:creationId xmlns:a16="http://schemas.microsoft.com/office/drawing/2014/main" id="{70284EC7-E0E6-02E3-746B-1E37E594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" y="-10278"/>
            <a:ext cx="8229600" cy="838200"/>
          </a:xfrm>
        </p:spPr>
        <p:txBody>
          <a:bodyPr>
            <a:normAutofit/>
          </a:bodyPr>
          <a:lstStyle/>
          <a:p>
            <a:pPr algn="l"/>
            <a:r>
              <a:rPr lang="en-US" altLang="en-US" sz="3600" dirty="0">
                <a:solidFill>
                  <a:srgbClr val="1600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Frequency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</a:p>
        </p:txBody>
      </p:sp>
      <p:sp>
        <p:nvSpPr>
          <p:cNvPr id="9226" name="Rectangle 2">
            <a:extLst>
              <a:ext uri="{FF2B5EF4-FFF2-40B4-BE49-F238E27FC236}">
                <a16:creationId xmlns:a16="http://schemas.microsoft.com/office/drawing/2014/main" id="{83663F18-DF46-2D47-F94E-D4FEF8819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940BCD7B-4188-3540-90EC-AE4EEE8BED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55458"/>
              </p:ext>
            </p:extLst>
          </p:nvPr>
        </p:nvGraphicFramePr>
        <p:xfrm>
          <a:off x="5564030" y="55564"/>
          <a:ext cx="264953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447" imgH="203112" progId="Equation.DSMT4">
                  <p:embed/>
                </p:oleObj>
              </mc:Choice>
              <mc:Fallback>
                <p:oleObj name="Equation" r:id="rId2" imgW="812447" imgH="203112" progId="Equation.DSMT4">
                  <p:embed/>
                  <p:pic>
                    <p:nvPicPr>
                      <p:cNvPr id="9218" name="Object 2">
                        <a:extLst>
                          <a:ext uri="{FF2B5EF4-FFF2-40B4-BE49-F238E27FC236}">
                            <a16:creationId xmlns:a16="http://schemas.microsoft.com/office/drawing/2014/main" id="{940BCD7B-4188-3540-90EC-AE4EEE8BED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4030" y="55564"/>
                        <a:ext cx="2649537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Rectangle 4">
            <a:extLst>
              <a:ext uri="{FF2B5EF4-FFF2-40B4-BE49-F238E27FC236}">
                <a16:creationId xmlns:a16="http://schemas.microsoft.com/office/drawing/2014/main" id="{94D57386-E90F-00B6-47DA-92A370F3B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28" name="Rectangle 6">
            <a:extLst>
              <a:ext uri="{FF2B5EF4-FFF2-40B4-BE49-F238E27FC236}">
                <a16:creationId xmlns:a16="http://schemas.microsoft.com/office/drawing/2014/main" id="{7E0FAB37-3DA1-FE23-8036-19B6B2C5D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229" name="Rectangle 8">
            <a:extLst>
              <a:ext uri="{FF2B5EF4-FFF2-40B4-BE49-F238E27FC236}">
                <a16:creationId xmlns:a16="http://schemas.microsoft.com/office/drawing/2014/main" id="{E0368BCB-8E30-7049-A9A0-603D95F11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9221" name="Object 5">
            <a:extLst>
              <a:ext uri="{FF2B5EF4-FFF2-40B4-BE49-F238E27FC236}">
                <a16:creationId xmlns:a16="http://schemas.microsoft.com/office/drawing/2014/main" id="{8BC4C05A-D0AD-98A1-15C1-9326C50B6F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984064"/>
              </p:ext>
            </p:extLst>
          </p:nvPr>
        </p:nvGraphicFramePr>
        <p:xfrm>
          <a:off x="179070" y="1885177"/>
          <a:ext cx="8888412" cy="212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92600" imgH="1028700" progId="Equation.DSMT4">
                  <p:embed/>
                </p:oleObj>
              </mc:Choice>
              <mc:Fallback>
                <p:oleObj name="Equation" r:id="rId4" imgW="4292600" imgH="1028700" progId="Equation.DSMT4">
                  <p:embed/>
                  <p:pic>
                    <p:nvPicPr>
                      <p:cNvPr id="9221" name="Object 5">
                        <a:extLst>
                          <a:ext uri="{FF2B5EF4-FFF2-40B4-BE49-F238E27FC236}">
                            <a16:creationId xmlns:a16="http://schemas.microsoft.com/office/drawing/2014/main" id="{8BC4C05A-D0AD-98A1-15C1-9326C50B6F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" y="1885177"/>
                        <a:ext cx="8888412" cy="2128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0" name="Rectangle 10">
            <a:extLst>
              <a:ext uri="{FF2B5EF4-FFF2-40B4-BE49-F238E27FC236}">
                <a16:creationId xmlns:a16="http://schemas.microsoft.com/office/drawing/2014/main" id="{B6ACA053-B7E2-91F4-4033-9CBB0BB77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9222" name="Object 6">
            <a:extLst>
              <a:ext uri="{FF2B5EF4-FFF2-40B4-BE49-F238E27FC236}">
                <a16:creationId xmlns:a16="http://schemas.microsoft.com/office/drawing/2014/main" id="{BB494BC5-58F5-A0B3-C4AE-CFD37FE562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291388"/>
              </p:ext>
            </p:extLst>
          </p:nvPr>
        </p:nvGraphicFramePr>
        <p:xfrm>
          <a:off x="2065179" y="4384446"/>
          <a:ext cx="37909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600" imgH="393700" progId="Equation.DSMT4">
                  <p:embed/>
                </p:oleObj>
              </mc:Choice>
              <mc:Fallback>
                <p:oleObj name="Equation" r:id="rId6" imgW="1625600" imgH="393700" progId="Equation.DSMT4">
                  <p:embed/>
                  <p:pic>
                    <p:nvPicPr>
                      <p:cNvPr id="9222" name="Object 6">
                        <a:extLst>
                          <a:ext uri="{FF2B5EF4-FFF2-40B4-BE49-F238E27FC236}">
                            <a16:creationId xmlns:a16="http://schemas.microsoft.com/office/drawing/2014/main" id="{BB494BC5-58F5-A0B3-C4AE-CFD37FE562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179" y="4384446"/>
                        <a:ext cx="379095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D400EA8-2224-6FED-08C8-86467C378C01}"/>
              </a:ext>
            </a:extLst>
          </p:cNvPr>
          <p:cNvSpPr txBox="1"/>
          <p:nvPr/>
        </p:nvSpPr>
        <p:spPr>
          <a:xfrm>
            <a:off x="390208" y="4610814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After LPF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A4C9F-BAC2-860A-5625-EF766BA756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872264"/>
            <a:ext cx="8408670" cy="913035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8FE16B46-5E9C-81EC-9044-83A3AB484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999" y="2829512"/>
            <a:ext cx="4801770" cy="178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FC9ADC-05B1-018C-FFA2-9C1AAA7DB9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909" y="5525214"/>
            <a:ext cx="7602411" cy="94630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3A020-5750-E351-9513-C88C38F73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26205-6E08-4005-BCB5-C443563D8111}" type="datetime1">
              <a:rPr lang="en-IN" smtClean="0"/>
              <a:t>05-09-2025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D4CDE-FD89-1540-4CCD-53D372D2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719D7063-6FFF-8937-660A-A566E5C25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120" y="244733"/>
            <a:ext cx="3159760" cy="762000"/>
          </a:xfrm>
        </p:spPr>
        <p:txBody>
          <a:bodyPr>
            <a:normAutofit/>
          </a:bodyPr>
          <a:lstStyle/>
          <a:p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F28C3276-EDC8-16D9-AE37-EC52F2D29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120" y="1006733"/>
            <a:ext cx="11226800" cy="199135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Necessary arrangement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should be made at the receiver end to maintain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local oscillator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altLang="en-US" dirty="0">
                <a:solidFill>
                  <a:srgbClr val="0064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perfect synchronism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in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frequency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dirty="0">
                <a:solidFill>
                  <a:srgbClr val="1600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with the transmitted carrier wave.</a:t>
            </a: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0C4A0CB1-C27D-7CE6-EECB-9AB362D11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1749" name="Rectangle 4">
            <a:extLst>
              <a:ext uri="{FF2B5EF4-FFF2-40B4-BE49-F238E27FC236}">
                <a16:creationId xmlns:a16="http://schemas.microsoft.com/office/drawing/2014/main" id="{B072DFAF-5FAE-8B5D-1AFF-20D0418F8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3059B8A0-EB5E-6523-1738-401651AC5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31751" name="Rectangle 8">
            <a:extLst>
              <a:ext uri="{FF2B5EF4-FFF2-40B4-BE49-F238E27FC236}">
                <a16:creationId xmlns:a16="http://schemas.microsoft.com/office/drawing/2014/main" id="{8862788C-8276-D7D2-740D-7911A573F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AE9F2B-7798-06E7-D7CF-EB5BF92E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B1A6-B0F4-4FE3-A178-FCFF64E529AA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3CF92-E971-F5BB-AD0E-E526FDA1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38EAA38E-A993-27FA-224B-E5135F994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altLang="en-US">
                <a:solidFill>
                  <a:srgbClr val="1600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Points</a:t>
            </a:r>
            <a:r>
              <a:rPr lang="en-US" altLang="en-US">
                <a:solidFill>
                  <a:srgbClr val="1600B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</a:t>
            </a:r>
            <a:r>
              <a:rPr lang="en-US" altLang="en-US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</a:t>
            </a:r>
            <a:r>
              <a:rPr lang="en-US" altLang="en-US">
                <a:solidFill>
                  <a:srgbClr val="00642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altLang="en-US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</a:t>
            </a:r>
            <a:endParaRPr lang="en-US" altLang="en-US">
              <a:solidFill>
                <a:srgbClr val="024614"/>
              </a:solidFill>
            </a:endParaRP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FFAC129F-23C3-6747-D17C-6EA12DE42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640" y="1143000"/>
            <a:ext cx="11744960" cy="414020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Carrier power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eliminated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so that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 increased in compare with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AM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But the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Transmission Bandwidth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is same as standard AM, that is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times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 signal bandwidth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of DSB-SC modulated signal is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reversed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when the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modulating signal </a:t>
            </a: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crosses zero 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Coherent detection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is needed for </a:t>
            </a:r>
            <a:r>
              <a:rPr lang="en-US" altLang="en-US" dirty="0">
                <a:solidFill>
                  <a:srgbClr val="02461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DSB-SC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: Obtaining the  </a:t>
            </a:r>
            <a:r>
              <a:rPr lang="en-US" altLang="en-US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carrier phase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is biggest challenges in all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demodulators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F1D81-4872-7114-0CAE-BD1947144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5ECD3-CDE7-4F2C-8AA6-C7101D4DCCCD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F4458-1EDF-51D1-6AE5-E388BDDD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A157ECB4-1617-66A1-B217-5D8019B8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320" y="2857500"/>
            <a:ext cx="1457960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C57AD-184B-CEB7-3925-79DA88D0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26D75-4AF3-4767-ACF0-5A20DC7B12A3}" type="datetime1">
              <a:rPr lang="en-IN" smtClean="0"/>
              <a:t>05-09-2025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F72DB-D62D-056B-B90E-9073683B2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55290-AAC6-44E1-B7C2-EA68208CD949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363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Equation</vt:lpstr>
      <vt:lpstr>Double Side Band Suppressed Carrier (DSB-SC)</vt:lpstr>
      <vt:lpstr>DSB-SC Generation and detection  </vt:lpstr>
      <vt:lpstr>PowerPoint Presentation</vt:lpstr>
      <vt:lpstr>Balanced Modulator </vt:lpstr>
      <vt:lpstr>DSB-SC Demodulation</vt:lpstr>
      <vt:lpstr>PowerPoint Presentation</vt:lpstr>
      <vt:lpstr>Coherent/Synchronous Detection</vt:lpstr>
      <vt:lpstr>PowerPoint Presentation</vt:lpstr>
      <vt:lpstr>Phase Error</vt:lpstr>
      <vt:lpstr>Phase Error</vt:lpstr>
      <vt:lpstr>Phase Error</vt:lpstr>
      <vt:lpstr>     Frequency Error</vt:lpstr>
      <vt:lpstr>Conclusions</vt:lpstr>
      <vt:lpstr>Main Points of DSB-SC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Double SideBand Suppressed Carrier (DSB-SC)</dc:title>
  <dc:creator>MVGR</dc:creator>
  <cp:lastModifiedBy>D Sreenivasa Rao</cp:lastModifiedBy>
  <cp:revision>16</cp:revision>
  <dcterms:created xsi:type="dcterms:W3CDTF">2023-08-31T09:39:58Z</dcterms:created>
  <dcterms:modified xsi:type="dcterms:W3CDTF">2025-09-05T11:32:06Z</dcterms:modified>
</cp:coreProperties>
</file>