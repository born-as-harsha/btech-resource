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71" r:id="rId3"/>
    <p:sldId id="300" r:id="rId5"/>
    <p:sldId id="288" r:id="rId6"/>
    <p:sldId id="258" r:id="rId7"/>
    <p:sldId id="316" r:id="rId8"/>
    <p:sldId id="314" r:id="rId9"/>
    <p:sldId id="313" r:id="rId10"/>
    <p:sldId id="310" r:id="rId11"/>
    <p:sldId id="287" r:id="rId12"/>
    <p:sldId id="301" r:id="rId13"/>
    <p:sldId id="311" r:id="rId14"/>
    <p:sldId id="315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Analog electronic Circuit Design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24ec2104 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Operational amplifier (Op-Amp)</a:t>
            </a:r>
            <a:endParaRPr lang="en-US" sz="3200" b="1" cap="all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-basics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  <a:endParaRPr lang="en-US" sz="36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85748" y="637745"/>
            <a:ext cx="10731286" cy="8819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The aim of this session is to emphasize the significance of Operational Amplifier and to understand the basics of Op-Amp.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053596" y="1630041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85749" y="2241406"/>
            <a:ext cx="10731286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Specify the importance/necessity of the Operational Amplifier (Op-Amp).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Describe the function of each block of the Op-Amp block diagram.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Understand the Pin diagram and schematic symbol of the Op-Amp.</a:t>
            </a:r>
            <a:endParaRPr lang="en-GB" sz="1600" dirty="0"/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315974" y="396995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4400" y="4518510"/>
            <a:ext cx="10702634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Explain the basic working principle of Op-Amp.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Summarize the functioning of each block of Op-Amp internal diagram.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Identify the Pin configuration and importance of IC741.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152440" y="895789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Significance/Necessity of Op-Amp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199271" y="2015553"/>
            <a:ext cx="9793454" cy="3450613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Operational Amplifier, usually known as Op-Amp is a differential amplifier widely used in Electronic Circuits. It can be used to build circuits for mathematical operations, buffers, wave generators,  amplifiers, etc. Op-amp is a basic building block in many important analog electronic circuits because of the following reasons: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Its characteristics are near to the ideal one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is very easy to design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provides high reliability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They work at different levels quite close to the theoretical performance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can be available in small packages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Reduced cost and stable performance against temperature variations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130" y="3167297"/>
            <a:ext cx="4620270" cy="15591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2862488" y="85780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INTRODUCTION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854" y="2015732"/>
            <a:ext cx="7819030" cy="3450613"/>
          </a:xfrm>
        </p:spPr>
        <p:txBody>
          <a:bodyPr/>
          <a:lstStyle/>
          <a:p>
            <a:pPr algn="just"/>
            <a:r>
              <a:rPr lang="en-IN" dirty="0"/>
              <a:t>An Op-Amp is a direct coupled high gain amplifier consisting of one or more differential amplifiers and usually followed by a level translator and an output stage (push-pull or push-pull complementary symmetry pair).</a:t>
            </a:r>
            <a:endParaRPr lang="en-IN" dirty="0"/>
          </a:p>
          <a:p>
            <a:pPr algn="just"/>
            <a:r>
              <a:rPr lang="en-IN" dirty="0"/>
              <a:t>It is designed for performing mathematical operations like addition, subtraction, integration,  and multiplication- hence the name Op-Amp.</a:t>
            </a:r>
            <a:endParaRPr lang="en-IN" dirty="0"/>
          </a:p>
          <a:p>
            <a:pPr algn="just"/>
            <a:r>
              <a:rPr lang="en-IN" dirty="0"/>
              <a:t>By including the external feedback components, Op-Amp can be used in various applications which include, ac/dc amplifiers, active filters, oscillators, comparators, regulators, etc.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0610" y="2788919"/>
            <a:ext cx="2645518" cy="1280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033469" y="884861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Block Diagram of Op-Amp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7631" y="2662816"/>
            <a:ext cx="11074132" cy="2539786"/>
            <a:chOff x="397631" y="2662816"/>
            <a:chExt cx="11074132" cy="2539786"/>
          </a:xfrm>
        </p:grpSpPr>
        <p:grpSp>
          <p:nvGrpSpPr>
            <p:cNvPr id="3" name="Group 2"/>
            <p:cNvGrpSpPr/>
            <p:nvPr/>
          </p:nvGrpSpPr>
          <p:grpSpPr>
            <a:xfrm>
              <a:off x="397631" y="2662816"/>
              <a:ext cx="11074132" cy="1610643"/>
              <a:chOff x="397631" y="2662816"/>
              <a:chExt cx="11074132" cy="161064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848131" y="2784977"/>
                <a:ext cx="9185852" cy="1241643"/>
                <a:chOff x="642793" y="2757267"/>
                <a:chExt cx="9185852" cy="1241643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1451579" y="2757268"/>
                  <a:ext cx="1390095" cy="123795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Input Stage</a:t>
                  </a:r>
                  <a:endParaRPr lang="en-IN" dirty="0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538684" y="2757267"/>
                  <a:ext cx="1390095" cy="123795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Intermediate Stage</a:t>
                  </a:r>
                  <a:endParaRPr lang="en-IN" dirty="0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5644309" y="2760953"/>
                  <a:ext cx="1390095" cy="123795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Level Shifting Stage</a:t>
                  </a:r>
                  <a:endParaRPr lang="en-IN" dirty="0"/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7741540" y="2757267"/>
                  <a:ext cx="1390095" cy="123795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Output Stage</a:t>
                  </a:r>
                  <a:endParaRPr lang="en-IN" dirty="0"/>
                </a:p>
              </p:txBody>
            </p: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642793" y="3075709"/>
                  <a:ext cx="808786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/>
                <p:cNvCxnSpPr/>
                <p:nvPr/>
              </p:nvCxnSpPr>
              <p:spPr>
                <a:xfrm>
                  <a:off x="642793" y="3768436"/>
                  <a:ext cx="808786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2841674" y="3075709"/>
                  <a:ext cx="697010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/>
                <p:nvPr/>
              </p:nvCxnSpPr>
              <p:spPr>
                <a:xfrm>
                  <a:off x="2841674" y="3726872"/>
                  <a:ext cx="697010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/>
                <p:nvPr/>
              </p:nvCxnSpPr>
              <p:spPr>
                <a:xfrm>
                  <a:off x="4928779" y="3376245"/>
                  <a:ext cx="697010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/>
                <p:cNvCxnSpPr/>
                <p:nvPr/>
              </p:nvCxnSpPr>
              <p:spPr>
                <a:xfrm>
                  <a:off x="7034404" y="3376245"/>
                  <a:ext cx="697010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/>
                <p:cNvCxnSpPr/>
                <p:nvPr/>
              </p:nvCxnSpPr>
              <p:spPr>
                <a:xfrm>
                  <a:off x="9131635" y="3376245"/>
                  <a:ext cx="697010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/>
              <p:cNvSpPr txBox="1"/>
              <p:nvPr/>
            </p:nvSpPr>
            <p:spPr>
              <a:xfrm>
                <a:off x="405587" y="2662816"/>
                <a:ext cx="15437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Inverting Input</a:t>
                </a:r>
                <a:endParaRPr lang="en-IN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97631" y="3904127"/>
                <a:ext cx="2040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Non-Inverting Input</a:t>
                </a:r>
                <a:endParaRPr lang="en-IN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0596202" y="3552358"/>
                <a:ext cx="8755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Output</a:t>
                </a:r>
                <a:endParaRPr lang="en-IN" dirty="0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2252524" y="4212432"/>
              <a:ext cx="20356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Dual-Input</a:t>
              </a:r>
              <a:endParaRPr lang="en-IN" dirty="0"/>
            </a:p>
            <a:p>
              <a:pPr algn="ctr"/>
              <a:r>
                <a:rPr lang="en-IN" dirty="0"/>
                <a:t>balanced-output </a:t>
              </a:r>
              <a:endParaRPr lang="en-IN" dirty="0"/>
            </a:p>
            <a:p>
              <a:pPr algn="ctr"/>
              <a:r>
                <a:rPr lang="en-IN" dirty="0"/>
                <a:t>differential amplifier</a:t>
              </a:r>
              <a:endParaRPr lang="en-IN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446937" y="4192596"/>
              <a:ext cx="20356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Dual-Input</a:t>
              </a:r>
              <a:endParaRPr lang="en-IN" dirty="0"/>
            </a:p>
            <a:p>
              <a:pPr algn="ctr"/>
              <a:r>
                <a:rPr lang="en-IN" dirty="0"/>
                <a:t>unbalanced-output </a:t>
              </a:r>
              <a:endParaRPr lang="en-IN" dirty="0"/>
            </a:p>
            <a:p>
              <a:pPr algn="ctr"/>
              <a:r>
                <a:rPr lang="en-IN" dirty="0"/>
                <a:t>differential amplifier</a:t>
              </a:r>
              <a:endParaRPr lang="en-IN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11651" y="4279272"/>
              <a:ext cx="227453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Like Emitter follower </a:t>
              </a:r>
              <a:endParaRPr lang="en-IN" dirty="0"/>
            </a:p>
            <a:p>
              <a:pPr algn="ctr"/>
              <a:r>
                <a:rPr lang="en-IN" dirty="0"/>
                <a:t>using constant current</a:t>
              </a:r>
              <a:endParaRPr lang="en-IN" dirty="0"/>
            </a:p>
            <a:p>
              <a:pPr algn="ctr"/>
              <a:r>
                <a:rPr lang="en-IN" dirty="0"/>
                <a:t>source</a:t>
              </a:r>
              <a:endParaRPr lang="en-IN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880641" y="4273459"/>
              <a:ext cx="21071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Complementary </a:t>
              </a:r>
              <a:endParaRPr lang="en-IN" dirty="0"/>
            </a:p>
            <a:p>
              <a:pPr algn="ctr"/>
              <a:r>
                <a:rPr lang="en-IN" dirty="0"/>
                <a:t>Symmetry Push-pull </a:t>
              </a:r>
              <a:endParaRPr lang="en-IN" dirty="0"/>
            </a:p>
            <a:p>
              <a:pPr algn="ctr"/>
              <a:r>
                <a:rPr lang="en-IN" dirty="0"/>
                <a:t>Amplifier</a:t>
              </a:r>
              <a:endParaRPr lang="en-IN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995352" y="95779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Block Diagram of Op-Amp- Description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The input stage is a dual-input, balanced output differential amplifier which usually provides most of the voltage gain of the amplifier.</a:t>
            </a:r>
            <a:endParaRPr lang="en-IN" dirty="0"/>
          </a:p>
          <a:p>
            <a:pPr algn="just"/>
            <a:r>
              <a:rPr lang="en-IN" dirty="0"/>
              <a:t> The intermediate stage is a dual-input, unbalanced (single-ended) output differential amplifier. DC voltage will be above the ground potential because of direct coupling.</a:t>
            </a:r>
            <a:endParaRPr lang="en-IN" dirty="0"/>
          </a:p>
          <a:p>
            <a:pPr algn="just"/>
            <a:r>
              <a:rPr lang="en-IN" dirty="0"/>
              <a:t>Level translator is used after the intermediate stage to shift the DC level at the output of the intermediate stage to zero volts with respect to ground.</a:t>
            </a:r>
            <a:endParaRPr lang="en-IN" dirty="0"/>
          </a:p>
          <a:p>
            <a:pPr algn="just"/>
            <a:r>
              <a:rPr lang="en-IN" dirty="0"/>
              <a:t>The output stage is a push-pull complementary amplifier that increases the output voltage swing and raises the current supplying capability of the Op-Amp along with low output resistance.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16" name="Rounded Rectangle 17"/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400" dirty="0"/>
              <a:t>Schematic Symbol of Op-Amp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64023" y="2189020"/>
            <a:ext cx="7092448" cy="3247802"/>
            <a:chOff x="364023" y="2189020"/>
            <a:chExt cx="7092448" cy="3247802"/>
          </a:xfrm>
        </p:grpSpPr>
        <p:grpSp>
          <p:nvGrpSpPr>
            <p:cNvPr id="6" name="Group 5"/>
            <p:cNvGrpSpPr/>
            <p:nvPr/>
          </p:nvGrpSpPr>
          <p:grpSpPr>
            <a:xfrm>
              <a:off x="364023" y="2189020"/>
              <a:ext cx="7092448" cy="3247802"/>
              <a:chOff x="1707914" y="2105893"/>
              <a:chExt cx="7092448" cy="3247802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707914" y="2105893"/>
                <a:ext cx="7092448" cy="3247802"/>
                <a:chOff x="405587" y="2022766"/>
                <a:chExt cx="7092448" cy="3247802"/>
              </a:xfrm>
            </p:grpSpPr>
            <p:sp>
              <p:nvSpPr>
                <p:cNvPr id="12" name="Isosceles Triangle 11"/>
                <p:cNvSpPr/>
                <p:nvPr/>
              </p:nvSpPr>
              <p:spPr>
                <a:xfrm rot="5400000">
                  <a:off x="3103430" y="2559625"/>
                  <a:ext cx="2763962" cy="2112819"/>
                </a:xfrm>
                <a:prstGeom prst="triangl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4000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1690255" y="3034146"/>
                  <a:ext cx="1766452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1690255" y="4419600"/>
                  <a:ext cx="1766452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/>
                <p:nvPr/>
              </p:nvCxnSpPr>
              <p:spPr>
                <a:xfrm flipV="1">
                  <a:off x="4599709" y="2022766"/>
                  <a:ext cx="0" cy="962891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4599709" y="4252261"/>
                  <a:ext cx="0" cy="101830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/>
                <p:cNvCxnSpPr/>
                <p:nvPr/>
              </p:nvCxnSpPr>
              <p:spPr>
                <a:xfrm>
                  <a:off x="5541821" y="3616034"/>
                  <a:ext cx="1766452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/>
                <p:cNvSpPr txBox="1"/>
                <p:nvPr/>
              </p:nvSpPr>
              <p:spPr>
                <a:xfrm>
                  <a:off x="405587" y="2662816"/>
                  <a:ext cx="15437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Inverting Input</a:t>
                  </a:r>
                  <a:endParaRPr lang="en-IN" dirty="0"/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679701" y="4573284"/>
                  <a:ext cx="20406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Non-Inverting Input</a:t>
                  </a:r>
                  <a:endParaRPr lang="en-IN" dirty="0"/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6622474" y="3751302"/>
                  <a:ext cx="875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dirty="0"/>
                    <a:t>Output</a:t>
                  </a:r>
                  <a:endParaRPr lang="en-IN" dirty="0"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3519056" y="4157990"/>
                  <a:ext cx="39466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2800" b="1" dirty="0"/>
                    <a:t>+</a:t>
                  </a:r>
                  <a:endParaRPr lang="en-IN" sz="2800" b="1" dirty="0"/>
                </a:p>
              </p:txBody>
            </p: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3519056" y="3032148"/>
                  <a:ext cx="22167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/>
                <p:cNvSpPr txBox="1"/>
                <p:nvPr/>
              </p:nvSpPr>
              <p:spPr>
                <a:xfrm>
                  <a:off x="4682840" y="2180896"/>
                  <a:ext cx="8755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/>
                    <a:t>+V</a:t>
                  </a:r>
                  <a:r>
                    <a:rPr lang="en-IN" baseline="-25000" dirty="0"/>
                    <a:t>CC</a:t>
                  </a:r>
                  <a:endParaRPr lang="en-IN" baseline="-25000" dirty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4699535" y="4866507"/>
                  <a:ext cx="8755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/>
                    <a:t>-V</a:t>
                  </a:r>
                  <a:r>
                    <a:rPr lang="en-IN" baseline="-25000" dirty="0"/>
                    <a:t>EE</a:t>
                  </a:r>
                  <a:endParaRPr lang="en-IN" baseline="-25000" dirty="0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8085600" y="3167390"/>
                <a:ext cx="4764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800" b="1" i="1" dirty="0"/>
                  <a:t>v</a:t>
                </a:r>
                <a:r>
                  <a:rPr lang="en-IN" sz="2800" b="1" i="1" baseline="-25000" dirty="0"/>
                  <a:t>0</a:t>
                </a:r>
                <a:endParaRPr lang="en-IN" sz="2800" b="1" baseline="-25000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550967" y="2947329"/>
                <a:ext cx="4764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800" b="1" i="1" dirty="0"/>
                  <a:t>v</a:t>
                </a:r>
                <a:r>
                  <a:rPr lang="en-IN" sz="2800" b="1" i="1" baseline="-25000" dirty="0"/>
                  <a:t>2</a:t>
                </a:r>
                <a:endParaRPr lang="en-IN" sz="2800" b="1" baseline="-25000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557114" y="4056350"/>
                <a:ext cx="4764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800" b="1" i="1" dirty="0"/>
                  <a:t>v</a:t>
                </a:r>
                <a:r>
                  <a:rPr lang="en-IN" sz="2800" b="1" i="1" baseline="-25000" dirty="0"/>
                  <a:t>1</a:t>
                </a:r>
                <a:endParaRPr lang="en-IN" sz="2800" b="1" baseline="-25000" dirty="0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4560989" y="3525220"/>
              <a:ext cx="4651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/>
                <a:t>A</a:t>
              </a:r>
              <a:endParaRPr lang="en-IN" sz="2800" b="1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804148" y="2077374"/>
            <a:ext cx="4387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An ac signal (dc voltage) applied at non-inverting input produces in-phase (same polarity) signal at the output.</a:t>
            </a:r>
            <a:endParaRPr lang="en-IN" dirty="0">
              <a:solidFill>
                <a:schemeClr val="accent2"/>
              </a:solidFill>
            </a:endParaRPr>
          </a:p>
          <a:p>
            <a:endParaRPr lang="en-IN" dirty="0">
              <a:solidFill>
                <a:schemeClr val="accent2"/>
              </a:solidFill>
            </a:endParaRPr>
          </a:p>
          <a:p>
            <a:r>
              <a:rPr lang="en-IN" dirty="0">
                <a:solidFill>
                  <a:schemeClr val="accent2"/>
                </a:solidFill>
              </a:rPr>
              <a:t>An ac signal (dc voltage) applied at inverting input produces a 180º out-of-phase (opposite polarity) signal at the output.</a:t>
            </a:r>
            <a:endParaRPr lang="en-IN" dirty="0">
              <a:solidFill>
                <a:schemeClr val="accent2"/>
              </a:solidFill>
            </a:endParaRPr>
          </a:p>
          <a:p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01509" y="4646399"/>
            <a:ext cx="4205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C00000"/>
                </a:solidFill>
              </a:rPr>
              <a:t>V</a:t>
            </a:r>
            <a:r>
              <a:rPr lang="en-IN" baseline="-25000" dirty="0">
                <a:solidFill>
                  <a:srgbClr val="C00000"/>
                </a:solidFill>
              </a:rPr>
              <a:t>1</a:t>
            </a:r>
            <a:r>
              <a:rPr lang="en-IN" dirty="0">
                <a:solidFill>
                  <a:srgbClr val="C00000"/>
                </a:solidFill>
              </a:rPr>
              <a:t>= voltage at non-inverting input 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i="1" dirty="0">
                <a:solidFill>
                  <a:srgbClr val="C00000"/>
                </a:solidFill>
              </a:rPr>
              <a:t>V</a:t>
            </a:r>
            <a:r>
              <a:rPr lang="en-IN" baseline="-25000" dirty="0">
                <a:solidFill>
                  <a:srgbClr val="C00000"/>
                </a:solidFill>
              </a:rPr>
              <a:t>2</a:t>
            </a:r>
            <a:r>
              <a:rPr lang="en-IN" dirty="0">
                <a:solidFill>
                  <a:srgbClr val="C00000"/>
                </a:solidFill>
              </a:rPr>
              <a:t>=voltage at the inverting input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i="1" dirty="0">
                <a:solidFill>
                  <a:srgbClr val="C00000"/>
                </a:solidFill>
              </a:rPr>
              <a:t>V</a:t>
            </a:r>
            <a:r>
              <a:rPr lang="en-IN" baseline="-25000" dirty="0">
                <a:solidFill>
                  <a:srgbClr val="C00000"/>
                </a:solidFill>
              </a:rPr>
              <a:t>0</a:t>
            </a:r>
            <a:r>
              <a:rPr lang="en-IN" dirty="0">
                <a:solidFill>
                  <a:srgbClr val="C00000"/>
                </a:solidFill>
              </a:rPr>
              <a:t>=Output voltage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A= large signal voltage gain (specified in the datasheet)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2995352" y="110178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Pin Diagram of IC741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80" y="2015732"/>
            <a:ext cx="6065898" cy="3651330"/>
          </a:xfrm>
        </p:spPr>
        <p:txBody>
          <a:bodyPr>
            <a:normAutofit fontScale="92500" lnSpcReduction="20000"/>
          </a:bodyPr>
          <a:lstStyle/>
          <a:p>
            <a:r>
              <a:rPr lang="en-IN" sz="1800" dirty="0"/>
              <a:t>Op-Amps are available in Integrated Circuit (IC) form.  </a:t>
            </a:r>
            <a:endParaRPr lang="en-IN" sz="1800" dirty="0"/>
          </a:p>
          <a:p>
            <a:r>
              <a:rPr lang="en-IN" sz="1800" dirty="0"/>
              <a:t>General purpose Op-Amp is IC 741 or IC 351 and can be used for applications like integrator, differentiator, summing amplifier, etc.</a:t>
            </a:r>
            <a:endParaRPr lang="en-IN" sz="1800" dirty="0"/>
          </a:p>
          <a:p>
            <a:r>
              <a:rPr lang="en-IN" sz="1800" dirty="0"/>
              <a:t>µA741- Fairchild; LM741- National Semiconductor; N5741-Signetics</a:t>
            </a:r>
            <a:endParaRPr lang="en-IN" sz="1800" dirty="0"/>
          </a:p>
          <a:p>
            <a:r>
              <a:rPr lang="en-IN" sz="1800" dirty="0"/>
              <a:t>IC741Cis a commercial-grade Op-Amp with operating temperature range as 0º to 70º/75ºC.</a:t>
            </a:r>
            <a:endParaRPr lang="en-IN" sz="1800" dirty="0"/>
          </a:p>
          <a:p>
            <a:r>
              <a:rPr lang="en-IN" sz="1800" dirty="0"/>
              <a:t>Supply voltages of </a:t>
            </a:r>
            <a:r>
              <a:rPr lang="en-IN" sz="1800"/>
              <a:t>Op-Amp are ± 15 V.</a:t>
            </a:r>
            <a:endParaRPr lang="en-IN" sz="1800" dirty="0"/>
          </a:p>
          <a:p>
            <a:r>
              <a:rPr lang="en-IN" sz="1800" dirty="0"/>
              <a:t>Special purpose IC like LM380 Op-Amp can be used only for audio power applications.</a:t>
            </a:r>
            <a:endParaRPr lang="en-IN" sz="18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8" b="6360"/>
          <a:stretch>
            <a:fillRect/>
          </a:stretch>
        </p:blipFill>
        <p:spPr bwMode="auto">
          <a:xfrm>
            <a:off x="7517478" y="2406955"/>
            <a:ext cx="4500350" cy="276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436914" y="2234519"/>
            <a:ext cx="9647854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Operational Amplifier (Op-Amp) is a basic building block in Analog electronic circuits. 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session covered the necessity and basic working principle of Op-Amp with the help of block diagram approach. 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The pin configuration of IC 741 has been discussed along with the schematic symbol of Op-Amp.</a:t>
            </a:r>
            <a:endParaRPr lang="en-GB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dirty="0"/>
              <a:t>Operational Amplifier is used in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Amplifiers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Integrator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Subtractor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All the above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26828" y="37475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GB" dirty="0"/>
              <a:t>Level Shifter stage is needed in Op-Amp for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009895" y="4486010"/>
            <a:ext cx="684563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>
                <a:solidFill>
                  <a:schemeClr val="bg1"/>
                </a:solidFill>
              </a:rPr>
              <a:t>shifting the DC level to zero introduced by the intermediate stage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introducing DC level to the output of intermediate stage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to improve the signal amplitude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None of the above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3.	The output of the Op-Amp will be _______ with Input signal applied at Non-Inverting terminal..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442464" y="1905217"/>
            <a:ext cx="506917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</a:rPr>
              <a:t>270 degrees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GB" sz="1600" dirty="0">
                <a:solidFill>
                  <a:schemeClr val="bg1"/>
                </a:solidFill>
              </a:rPr>
              <a:t>180 </a:t>
            </a:r>
            <a:r>
              <a:rPr lang="en-GB" sz="1600" dirty="0" err="1">
                <a:solidFill>
                  <a:schemeClr val="bg1"/>
                </a:solidFill>
              </a:rPr>
              <a:t>degress</a:t>
            </a:r>
            <a:r>
              <a:rPr lang="en-GB" sz="1600" dirty="0">
                <a:solidFill>
                  <a:schemeClr val="bg1"/>
                </a:solidFill>
              </a:rPr>
              <a:t> out-of-phase</a:t>
            </a:r>
            <a:endParaRPr lang="en-GB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chemeClr val="bg1"/>
                </a:solidFill>
              </a:rPr>
              <a:t>In-phase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GB" sz="1600" dirty="0">
                <a:solidFill>
                  <a:schemeClr val="bg1"/>
                </a:solidFill>
              </a:rPr>
              <a:t>None of the above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09895" y="371852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4.	IC741 is a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162295" y="4530587"/>
            <a:ext cx="534934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General purpose Linear IC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Special Purpose Op-Amp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Both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chemeClr val="bg1"/>
                </a:solidFill>
              </a:rPr>
              <a:t>None of the above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ANSWERS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380930" y="1967920"/>
            <a:ext cx="9694506" cy="2778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Illustrate the significance of each block and discuss the basic working principle of Op-Amp.</a:t>
            </a:r>
            <a:endParaRPr lang="en-US" b="1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Sketch the schematic symbol of Op-Amp.</a:t>
            </a:r>
            <a:endParaRPr lang="en-US" b="1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Show the pin diagram of IC741 and discuss the importance of each pin..</a:t>
            </a:r>
            <a:endParaRPr lang="en-US" b="1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IN" b="1" dirty="0"/>
              <a:t>List the applications of Op-Amp in electronics</a:t>
            </a:r>
            <a:endParaRPr lang="en-US" b="1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Op-Amps and Linear Integrated Circuit; 4th Ed., </a:t>
            </a:r>
            <a:r>
              <a:rPr lang="en-GB" dirty="0" err="1"/>
              <a:t>Gayakwad</a:t>
            </a:r>
            <a:r>
              <a:rPr lang="en-GB" dirty="0"/>
              <a:t>, Ramakant A.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 algn="l">
              <a:buFont typeface="+mj-lt"/>
              <a:buAutoNum type="arabicPeriod"/>
            </a:pPr>
            <a:r>
              <a:rPr lang="en-US" dirty="0"/>
              <a:t>1. 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https://electronicsforyou.in/introduction-to-op-amp</a:t>
            </a: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/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AECD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0</TotalTime>
  <Words>5228</Words>
  <Application>WPS Presentation</Application>
  <PresentationFormat>Widescreen</PresentationFormat>
  <Paragraphs>207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Cambria</vt:lpstr>
      <vt:lpstr>Times New Roman</vt:lpstr>
      <vt:lpstr>Söhne</vt:lpstr>
      <vt:lpstr>Gill Sans MT</vt:lpstr>
      <vt:lpstr>Microsoft YaHei</vt:lpstr>
      <vt:lpstr>Arial Unicode MS</vt:lpstr>
      <vt:lpstr>Gallery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Subba Reddy Vasipalli</dc:creator>
  <cp:lastModifiedBy>Uday Kiran</cp:lastModifiedBy>
  <cp:revision>33</cp:revision>
  <dcterms:created xsi:type="dcterms:W3CDTF">2023-05-11T04:21:00Z</dcterms:created>
  <dcterms:modified xsi:type="dcterms:W3CDTF">2025-09-08T03:37:46Z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46C124780707441C8F65986A7C5B3391_13</vt:lpwstr>
  </property>
  <property fmtid="{D5CDD505-2E9C-101B-9397-08002B2CF9AE}" pid="3" name="KSOProductBuildVer">
    <vt:lpwstr>1033-12.2.0.22222</vt:lpwstr>
  </property>
</Properties>
</file>