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24"/>
  </p:notesMasterIdLst>
  <p:handoutMasterIdLst>
    <p:handoutMasterId r:id="rId25"/>
  </p:handoutMasterIdLst>
  <p:sldIdLst>
    <p:sldId id="271" r:id="rId3"/>
    <p:sldId id="308" r:id="rId4"/>
    <p:sldId id="30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421" r:id="rId14"/>
    <p:sldId id="272" r:id="rId15"/>
    <p:sldId id="273" r:id="rId16"/>
    <p:sldId id="419" r:id="rId17"/>
    <p:sldId id="301" r:id="rId18"/>
    <p:sldId id="328" r:id="rId19"/>
    <p:sldId id="315" r:id="rId20"/>
    <p:sldId id="302" r:id="rId21"/>
    <p:sldId id="303" r:id="rId22"/>
    <p:sldId id="42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9655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0814" y="465200"/>
            <a:ext cx="931037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688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5641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481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9115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57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3886" y="190322"/>
            <a:ext cx="9844227" cy="970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10650"/>
            <a:ext cx="10819765" cy="4433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85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23ec2104</a:t>
            </a:r>
            <a:endParaRPr lang="en-US" sz="24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STABILITY FACTOR OF BJT BIAS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- 06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  <a:sym typeface="BioRhyme ExtraBold"/>
              </a:rPr>
              <a:t>ODD SEM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Stability Factor</a:t>
            </a:r>
          </a:p>
          <a:p>
            <a:r>
              <a:rPr lang="en-IN" sz="2400" dirty="0"/>
              <a:t>Stability Factor for Fixed Bias</a:t>
            </a:r>
          </a:p>
          <a:p>
            <a:r>
              <a:rPr lang="en-IN" sz="2400" dirty="0"/>
              <a:t>Stability Factor for Collector Feedback Bias</a:t>
            </a:r>
          </a:p>
          <a:p>
            <a:r>
              <a:rPr lang="en-IN" sz="2400" dirty="0"/>
              <a:t>Stability Factor for Voltage Divider Bias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658894"/>
            <a:ext cx="11215640" cy="4248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To compare stability of various biasing circuits for BJT</a:t>
            </a:r>
            <a:endParaRPr lang="en-US" sz="14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533835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2023900"/>
            <a:ext cx="11224971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latin typeface="Poppins"/>
                <a:cs typeface="Poppins"/>
              </a:rPr>
              <a:t>This</a:t>
            </a:r>
            <a:r>
              <a:rPr lang="en-US" sz="1400" b="0" i="0" dirty="0">
                <a:effectLst/>
                <a:latin typeface="Poppins"/>
                <a:cs typeface="Poppins"/>
              </a:rPr>
              <a:t> </a:t>
            </a:r>
            <a:r>
              <a:rPr lang="en-US" sz="1400" dirty="0">
                <a:latin typeface="Poppins"/>
                <a:cs typeface="Poppins"/>
              </a:rPr>
              <a:t>Session</a:t>
            </a:r>
            <a:r>
              <a:rPr lang="en-US" sz="14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Demonstrate stability factor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Compare stability of various biasing circuits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4" y="3523536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399" y="4028757"/>
            <a:ext cx="11196319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400" dirty="0">
                <a:latin typeface="Arial"/>
                <a:cs typeface="Arial"/>
              </a:rPr>
              <a:t>session</a:t>
            </a:r>
            <a:r>
              <a:rPr lang="en-US" sz="14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Derive stability factor for BJT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Select biasing circuit based on stability factor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6245" y="1212086"/>
            <a:ext cx="4105469" cy="390982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lang="en-US" sz="2471" spc="-4" dirty="0">
                <a:latin typeface="Arial"/>
                <a:cs typeface="Arial"/>
              </a:rPr>
              <a:t>REVISIT </a:t>
            </a:r>
            <a:r>
              <a:rPr sz="2471" spc="-4" dirty="0">
                <a:latin typeface="Arial"/>
                <a:cs typeface="Arial"/>
              </a:rPr>
              <a:t>Biasing</a:t>
            </a:r>
            <a:r>
              <a:rPr sz="2471" spc="-35" dirty="0">
                <a:latin typeface="Arial"/>
                <a:cs typeface="Arial"/>
              </a:rPr>
              <a:t> </a:t>
            </a:r>
            <a:r>
              <a:rPr sz="2471" spc="-4" dirty="0">
                <a:latin typeface="Arial"/>
                <a:cs typeface="Arial"/>
              </a:rPr>
              <a:t>of</a:t>
            </a:r>
            <a:r>
              <a:rPr sz="2471" spc="-18" dirty="0">
                <a:latin typeface="Arial"/>
                <a:cs typeface="Arial"/>
              </a:rPr>
              <a:t> </a:t>
            </a:r>
            <a:r>
              <a:rPr sz="2471" spc="-4" dirty="0">
                <a:latin typeface="Arial"/>
                <a:cs typeface="Arial"/>
              </a:rPr>
              <a:t>BJT</a:t>
            </a:r>
            <a:endParaRPr sz="247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148" y="2097897"/>
            <a:ext cx="11933852" cy="3966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0858" marR="71721">
              <a:spcBef>
                <a:spcPts val="88"/>
              </a:spcBef>
              <a:buFont typeface="MS UI Gothic"/>
              <a:buChar char="➢"/>
              <a:tabLst>
                <a:tab pos="316023" algn="l"/>
              </a:tabLst>
            </a:pPr>
            <a:r>
              <a:rPr sz="1400" b="1" spc="-4" dirty="0">
                <a:latin typeface="Arial"/>
                <a:cs typeface="Arial"/>
              </a:rPr>
              <a:t>Biasing refers</a:t>
            </a:r>
            <a:r>
              <a:rPr sz="1400" b="1" spc="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9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application</a:t>
            </a:r>
            <a:r>
              <a:rPr sz="1400" b="1" dirty="0">
                <a:latin typeface="Arial"/>
                <a:cs typeface="Arial"/>
              </a:rPr>
              <a:t> of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D.C.</a:t>
            </a:r>
            <a:r>
              <a:rPr sz="1400" b="1" spc="9" dirty="0">
                <a:latin typeface="Arial"/>
                <a:cs typeface="Arial"/>
              </a:rPr>
              <a:t> </a:t>
            </a:r>
            <a:r>
              <a:rPr sz="1400" b="1" spc="-9" dirty="0">
                <a:latin typeface="Arial"/>
                <a:cs typeface="Arial"/>
              </a:rPr>
              <a:t>voltages</a:t>
            </a:r>
            <a:r>
              <a:rPr sz="1400" b="1" spc="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 </a:t>
            </a:r>
            <a:r>
              <a:rPr sz="1400" b="1" spc="-4" dirty="0">
                <a:latin typeface="Arial"/>
                <a:cs typeface="Arial"/>
              </a:rPr>
              <a:t>setup</a:t>
            </a:r>
            <a:r>
              <a:rPr sz="1400" b="1" spc="9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operating </a:t>
            </a:r>
            <a:r>
              <a:rPr sz="1400" b="1" dirty="0">
                <a:latin typeface="Arial"/>
                <a:cs typeface="Arial"/>
              </a:rPr>
              <a:t> point in </a:t>
            </a:r>
            <a:r>
              <a:rPr sz="1400" b="1" spc="-4" dirty="0">
                <a:latin typeface="Arial"/>
                <a:cs typeface="Arial"/>
              </a:rPr>
              <a:t>such a </a:t>
            </a:r>
            <a:r>
              <a:rPr sz="1400" b="1" spc="9" dirty="0">
                <a:latin typeface="Arial"/>
                <a:cs typeface="Arial"/>
              </a:rPr>
              <a:t>way </a:t>
            </a:r>
            <a:r>
              <a:rPr sz="1400" b="1" spc="-4" dirty="0">
                <a:latin typeface="Arial"/>
                <a:cs typeface="Arial"/>
              </a:rPr>
              <a:t>that </a:t>
            </a:r>
            <a:r>
              <a:rPr sz="1400" b="1" dirty="0">
                <a:latin typeface="Arial"/>
                <a:cs typeface="Arial"/>
              </a:rPr>
              <a:t>output </a:t>
            </a:r>
            <a:r>
              <a:rPr sz="1400" b="1" spc="-4" dirty="0">
                <a:latin typeface="Arial"/>
                <a:cs typeface="Arial"/>
              </a:rPr>
              <a:t>signal </a:t>
            </a:r>
            <a:r>
              <a:rPr sz="1400" b="1" dirty="0">
                <a:latin typeface="Arial"/>
                <a:cs typeface="Arial"/>
              </a:rPr>
              <a:t>is </a:t>
            </a:r>
            <a:r>
              <a:rPr sz="1400" b="1" spc="-4" dirty="0">
                <a:latin typeface="Arial"/>
                <a:cs typeface="Arial"/>
              </a:rPr>
              <a:t>undistorted throughout </a:t>
            </a:r>
            <a:r>
              <a:rPr sz="1400" b="1" dirty="0">
                <a:latin typeface="Arial"/>
                <a:cs typeface="Arial"/>
              </a:rPr>
              <a:t>the </a:t>
            </a:r>
            <a:r>
              <a:rPr sz="1400" b="1" spc="4" dirty="0">
                <a:latin typeface="Arial"/>
                <a:cs typeface="Arial"/>
              </a:rPr>
              <a:t>whole </a:t>
            </a:r>
            <a:r>
              <a:rPr sz="1400" b="1" spc="-432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operation.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26"/>
              </a:spcBef>
              <a:buFont typeface="MS UI Gothic"/>
              <a:buChar char="➢"/>
            </a:pPr>
            <a:endParaRPr sz="1400" dirty="0">
              <a:latin typeface="Arial"/>
              <a:cs typeface="Arial"/>
            </a:endParaRPr>
          </a:p>
          <a:p>
            <a:pPr marL="100858" marR="453862">
              <a:buFont typeface="MS UI Gothic"/>
              <a:buChar char="➢"/>
              <a:tabLst>
                <a:tab pos="308178" algn="l"/>
              </a:tabLst>
            </a:pPr>
            <a:r>
              <a:rPr sz="1400" b="1" spc="-13" dirty="0">
                <a:latin typeface="Arial"/>
                <a:cs typeface="Arial"/>
              </a:rPr>
              <a:t>Also</a:t>
            </a:r>
            <a:r>
              <a:rPr sz="1400" b="1" spc="4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once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selected</a:t>
            </a:r>
            <a:r>
              <a:rPr sz="1400" b="1" spc="18" dirty="0">
                <a:latin typeface="Arial"/>
                <a:cs typeface="Arial"/>
              </a:rPr>
              <a:t> </a:t>
            </a:r>
            <a:r>
              <a:rPr sz="1400" b="1" spc="-18" dirty="0">
                <a:latin typeface="Arial"/>
                <a:cs typeface="Arial"/>
              </a:rPr>
              <a:t>properly,</a:t>
            </a:r>
            <a:r>
              <a:rPr sz="1400" b="1" spc="4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4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Q</a:t>
            </a:r>
            <a:r>
              <a:rPr sz="1400" b="1" spc="-4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point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should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not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shift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because</a:t>
            </a:r>
            <a:r>
              <a:rPr sz="1400" b="1" spc="9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 </a:t>
            </a:r>
            <a:r>
              <a:rPr sz="1400" b="1" spc="-427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change</a:t>
            </a:r>
            <a:r>
              <a:rPr sz="1400" b="1" spc="-18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</a:t>
            </a:r>
            <a:r>
              <a:rPr sz="1400" b="1" baseline="-20833" dirty="0">
                <a:latin typeface="Arial"/>
                <a:cs typeface="Arial"/>
              </a:rPr>
              <a:t>C</a:t>
            </a:r>
            <a:r>
              <a:rPr sz="1400" b="1" spc="205" baseline="-2083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due</a:t>
            </a:r>
            <a:r>
              <a:rPr sz="1400" b="1" spc="-4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31"/>
              </a:spcBef>
            </a:pPr>
            <a:endParaRPr sz="1400" dirty="0">
              <a:latin typeface="Arial"/>
              <a:cs typeface="Arial"/>
            </a:endParaRPr>
          </a:p>
          <a:p>
            <a:pPr marL="401752" indent="-301454">
              <a:buFont typeface="Arial"/>
              <a:buAutoNum type="romanLcParenBoth"/>
              <a:tabLst>
                <a:tab pos="402313" algn="l"/>
                <a:tab pos="637088" algn="l"/>
              </a:tabLst>
            </a:pPr>
            <a:r>
              <a:rPr sz="1400" spc="75" dirty="0">
                <a:latin typeface="Microsoft Sans Serif"/>
                <a:cs typeface="Microsoft Sans Serif"/>
              </a:rPr>
              <a:t>β	</a:t>
            </a:r>
            <a:r>
              <a:rPr sz="1400" b="1" spc="-9" dirty="0">
                <a:latin typeface="Arial"/>
                <a:cs typeface="Arial"/>
              </a:rPr>
              <a:t>variation</a:t>
            </a:r>
            <a:r>
              <a:rPr sz="1400" b="1" spc="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due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r>
              <a:rPr sz="1400" b="1" spc="-4" dirty="0">
                <a:latin typeface="Arial"/>
                <a:cs typeface="Arial"/>
              </a:rPr>
              <a:t> replacement</a:t>
            </a:r>
            <a:r>
              <a:rPr sz="1400" b="1" spc="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 the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transistor</a:t>
            </a:r>
            <a:r>
              <a:rPr sz="1400" b="1" spc="9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same</a:t>
            </a:r>
            <a:r>
              <a:rPr sz="1400" b="1" spc="9" dirty="0">
                <a:latin typeface="Arial"/>
                <a:cs typeface="Arial"/>
              </a:rPr>
              <a:t> </a:t>
            </a:r>
            <a:r>
              <a:rPr sz="1400" b="1" spc="-9" dirty="0">
                <a:latin typeface="Arial"/>
                <a:cs typeface="Arial"/>
              </a:rPr>
              <a:t>type</a:t>
            </a:r>
            <a:endParaRPr sz="1400" dirty="0">
              <a:latin typeface="Arial"/>
              <a:cs typeface="Arial"/>
            </a:endParaRPr>
          </a:p>
          <a:p>
            <a:pPr marL="401752" indent="-301454">
              <a:buAutoNum type="romanLcParenBoth"/>
              <a:tabLst>
                <a:tab pos="402313" algn="l"/>
              </a:tabLst>
            </a:pPr>
            <a:r>
              <a:rPr sz="1400" b="1" spc="-13" dirty="0">
                <a:latin typeface="Arial"/>
                <a:cs typeface="Arial"/>
              </a:rPr>
              <a:t>Temperature</a:t>
            </a:r>
            <a:r>
              <a:rPr sz="1400" b="1" spc="-22" dirty="0">
                <a:latin typeface="Arial"/>
                <a:cs typeface="Arial"/>
              </a:rPr>
              <a:t> </a:t>
            </a:r>
            <a:r>
              <a:rPr sz="1400" b="1" spc="-9" dirty="0">
                <a:latin typeface="Arial"/>
                <a:cs typeface="Arial"/>
              </a:rPr>
              <a:t>variation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18"/>
              </a:spcBef>
            </a:pPr>
            <a:endParaRPr sz="1400" dirty="0">
              <a:latin typeface="Arial"/>
              <a:cs typeface="Arial"/>
            </a:endParaRPr>
          </a:p>
          <a:p>
            <a:pPr marL="100858"/>
            <a:r>
              <a:rPr sz="1400" b="1" u="heavy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Stabilization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1400" dirty="0">
              <a:latin typeface="Arial"/>
              <a:cs typeface="Arial"/>
            </a:endParaRPr>
          </a:p>
          <a:p>
            <a:pPr marL="100858" marR="377658">
              <a:buSzPct val="94444"/>
              <a:buFont typeface="MS UI Gothic"/>
              <a:buChar char="➢"/>
              <a:tabLst>
                <a:tab pos="261671" algn="l"/>
              </a:tabLst>
            </a:pPr>
            <a:r>
              <a:rPr sz="1400" b="1" dirty="0">
                <a:latin typeface="Arial"/>
                <a:cs typeface="Arial"/>
              </a:rPr>
              <a:t>The </a:t>
            </a:r>
            <a:r>
              <a:rPr sz="1400" b="1" spc="-4" dirty="0">
                <a:latin typeface="Arial"/>
                <a:cs typeface="Arial"/>
              </a:rPr>
              <a:t>process </a:t>
            </a:r>
            <a:r>
              <a:rPr sz="1400" b="1" dirty="0">
                <a:latin typeface="Arial"/>
                <a:cs typeface="Arial"/>
              </a:rPr>
              <a:t>of </a:t>
            </a:r>
            <a:r>
              <a:rPr sz="1400" b="1" spc="-4" dirty="0">
                <a:latin typeface="Arial"/>
                <a:cs typeface="Arial"/>
              </a:rPr>
              <a:t>making operating </a:t>
            </a:r>
            <a:r>
              <a:rPr sz="1400" b="1" dirty="0">
                <a:latin typeface="Arial"/>
                <a:cs typeface="Arial"/>
              </a:rPr>
              <a:t>point </a:t>
            </a:r>
            <a:r>
              <a:rPr sz="1400" b="1" spc="-4" dirty="0">
                <a:latin typeface="Arial"/>
                <a:cs typeface="Arial"/>
              </a:rPr>
              <a:t>independent </a:t>
            </a:r>
            <a:r>
              <a:rPr sz="1400" b="1" dirty="0">
                <a:latin typeface="Arial"/>
                <a:cs typeface="Arial"/>
              </a:rPr>
              <a:t>of </a:t>
            </a:r>
            <a:r>
              <a:rPr sz="1400" b="1" spc="-4" dirty="0">
                <a:latin typeface="Arial"/>
                <a:cs typeface="Arial"/>
              </a:rPr>
              <a:t>temperature 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changes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or</a:t>
            </a:r>
            <a:r>
              <a:rPr sz="1400" b="1" spc="4" dirty="0">
                <a:latin typeface="Arial"/>
                <a:cs typeface="Arial"/>
              </a:rPr>
              <a:t> </a:t>
            </a:r>
            <a:r>
              <a:rPr sz="1400" b="1" spc="-9" dirty="0">
                <a:latin typeface="Arial"/>
                <a:cs typeface="Arial"/>
              </a:rPr>
              <a:t>variation</a:t>
            </a:r>
            <a:r>
              <a:rPr sz="1400" b="1" spc="31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</a:t>
            </a:r>
            <a:r>
              <a:rPr sz="1400" b="1" spc="4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transistor</a:t>
            </a:r>
            <a:r>
              <a:rPr sz="1400" b="1" spc="18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parameters</a:t>
            </a:r>
            <a:r>
              <a:rPr sz="1400" b="1" spc="22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4" dirty="0">
                <a:latin typeface="Arial"/>
                <a:cs typeface="Arial"/>
              </a:rPr>
              <a:t> </a:t>
            </a:r>
            <a:r>
              <a:rPr sz="1400" b="1" spc="4" dirty="0">
                <a:latin typeface="Arial"/>
                <a:cs typeface="Arial"/>
              </a:rPr>
              <a:t>known</a:t>
            </a:r>
            <a:r>
              <a:rPr sz="1400" b="1" spc="-44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as</a:t>
            </a:r>
            <a:r>
              <a:rPr sz="1400" b="1" spc="4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stabilization.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31"/>
              </a:spcBef>
              <a:buFont typeface="MS UI Gothic"/>
              <a:buChar char="➢"/>
            </a:pPr>
            <a:endParaRPr sz="1400" dirty="0">
              <a:latin typeface="Arial"/>
              <a:cs typeface="Arial"/>
            </a:endParaRPr>
          </a:p>
          <a:p>
            <a:pPr marL="316023" indent="-215725">
              <a:buSzPct val="94444"/>
              <a:buFont typeface="MS UI Gothic"/>
              <a:buChar char="➢"/>
              <a:tabLst>
                <a:tab pos="316023" algn="l"/>
              </a:tabLst>
            </a:pPr>
            <a:r>
              <a:rPr sz="1400" b="1" spc="-4" dirty="0">
                <a:latin typeface="Arial"/>
                <a:cs typeface="Arial"/>
              </a:rPr>
              <a:t>Stabilization</a:t>
            </a:r>
            <a:r>
              <a:rPr sz="1400" b="1" spc="-22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operating </a:t>
            </a:r>
            <a:r>
              <a:rPr sz="1400" b="1" dirty="0">
                <a:latin typeface="Arial"/>
                <a:cs typeface="Arial"/>
              </a:rPr>
              <a:t>point</a:t>
            </a:r>
            <a:r>
              <a:rPr sz="1400" b="1" spc="-18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4" dirty="0">
                <a:latin typeface="Arial"/>
                <a:cs typeface="Arial"/>
              </a:rPr>
              <a:t> necessary</a:t>
            </a:r>
            <a:r>
              <a:rPr sz="1400" b="1" spc="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due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to</a:t>
            </a:r>
            <a:endParaRPr sz="1400" dirty="0">
              <a:latin typeface="Arial"/>
              <a:cs typeface="Arial"/>
            </a:endParaRPr>
          </a:p>
          <a:p>
            <a:pPr marL="334513" indent="-234776">
              <a:buFont typeface="MS UI Gothic"/>
              <a:buChar char="❖"/>
              <a:tabLst>
                <a:tab pos="335074" algn="l"/>
              </a:tabLst>
            </a:pPr>
            <a:r>
              <a:rPr sz="1400" b="1" spc="-13" dirty="0">
                <a:latin typeface="Arial"/>
                <a:cs typeface="Arial"/>
              </a:rPr>
              <a:t>Temperature</a:t>
            </a:r>
            <a:r>
              <a:rPr sz="1400" b="1" spc="-9" dirty="0">
                <a:latin typeface="Arial"/>
                <a:cs typeface="Arial"/>
              </a:rPr>
              <a:t> </a:t>
            </a:r>
            <a:r>
              <a:rPr sz="1400" b="1" spc="-4" dirty="0">
                <a:latin typeface="Arial"/>
                <a:cs typeface="Arial"/>
              </a:rPr>
              <a:t>dependence</a:t>
            </a:r>
            <a:r>
              <a:rPr sz="1400" b="1" spc="-26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13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</a:t>
            </a:r>
            <a:r>
              <a:rPr sz="1400" b="1" baseline="-20833" dirty="0">
                <a:latin typeface="Arial"/>
                <a:cs typeface="Arial"/>
              </a:rPr>
              <a:t>C</a:t>
            </a:r>
            <a:endParaRPr sz="1400" baseline="-20833" dirty="0">
              <a:latin typeface="Arial"/>
              <a:cs typeface="Arial"/>
            </a:endParaRPr>
          </a:p>
          <a:p>
            <a:pPr marL="334513" indent="-234776">
              <a:buFont typeface="MS UI Gothic"/>
              <a:buChar char="❖"/>
              <a:tabLst>
                <a:tab pos="335074" algn="l"/>
              </a:tabLst>
            </a:pPr>
            <a:r>
              <a:rPr sz="1400" b="1" spc="-4" dirty="0">
                <a:latin typeface="Arial"/>
                <a:cs typeface="Arial"/>
              </a:rPr>
              <a:t>Individual</a:t>
            </a:r>
            <a:r>
              <a:rPr sz="1400" b="1" spc="-22" dirty="0">
                <a:latin typeface="Arial"/>
                <a:cs typeface="Arial"/>
              </a:rPr>
              <a:t> </a:t>
            </a:r>
            <a:r>
              <a:rPr sz="1400" b="1" spc="-9" dirty="0">
                <a:latin typeface="Arial"/>
                <a:cs typeface="Arial"/>
              </a:rPr>
              <a:t>variations</a:t>
            </a:r>
            <a:endParaRPr sz="1400" dirty="0">
              <a:latin typeface="Arial"/>
              <a:cs typeface="Arial"/>
            </a:endParaRPr>
          </a:p>
          <a:p>
            <a:pPr marL="334513" indent="-234776">
              <a:buFont typeface="MS UI Gothic"/>
              <a:buChar char="❖"/>
              <a:tabLst>
                <a:tab pos="335074" algn="l"/>
              </a:tabLst>
            </a:pPr>
            <a:r>
              <a:rPr sz="1400" b="1" spc="-4" dirty="0">
                <a:latin typeface="Arial"/>
                <a:cs typeface="Arial"/>
              </a:rPr>
              <a:t>Thermal</a:t>
            </a:r>
            <a:r>
              <a:rPr sz="1400" b="1" spc="-22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runaway</a:t>
            </a:r>
            <a:endParaRPr sz="1400" dirty="0">
              <a:latin typeface="Arial"/>
              <a:cs typeface="Arial"/>
            </a:endParaRPr>
          </a:p>
          <a:p>
            <a:pPr marR="91892" algn="r">
              <a:spcBef>
                <a:spcPts val="618"/>
              </a:spcBef>
            </a:pPr>
            <a:r>
              <a:rPr sz="1400" dirty="0">
                <a:latin typeface="Arial MT"/>
                <a:cs typeface="Arial MT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068" y="736597"/>
            <a:ext cx="3144010" cy="503758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Stabilization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678" y="1950145"/>
            <a:ext cx="5458385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b="1" spc="-13" dirty="0">
                <a:solidFill>
                  <a:srgbClr val="0000FF"/>
                </a:solidFill>
                <a:latin typeface="Arial"/>
                <a:cs typeface="Arial"/>
              </a:rPr>
              <a:t>Temperature</a:t>
            </a:r>
            <a:r>
              <a:rPr sz="1765" b="1" spc="-4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dependence</a:t>
            </a:r>
            <a:r>
              <a:rPr sz="1765" b="1" spc="-1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765" b="1" spc="-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spc="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721" b="1" spc="6" baseline="-21367" dirty="0">
                <a:solidFill>
                  <a:srgbClr val="0000FF"/>
                </a:solidFill>
                <a:latin typeface="Arial"/>
                <a:cs typeface="Arial"/>
              </a:rPr>
              <a:t>C </a:t>
            </a:r>
            <a:r>
              <a:rPr sz="1721" b="1" spc="258" baseline="-2136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00FF"/>
                </a:solidFill>
                <a:latin typeface="Arial"/>
                <a:cs typeface="Arial"/>
              </a:rPr>
              <a:t>&amp;</a:t>
            </a:r>
            <a:r>
              <a:rPr sz="1765" b="1" spc="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Thermal</a:t>
            </a:r>
            <a:r>
              <a:rPr sz="1765" b="1" spc="-3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spc="4" dirty="0">
                <a:solidFill>
                  <a:srgbClr val="0000FF"/>
                </a:solidFill>
                <a:latin typeface="Arial"/>
                <a:cs typeface="Arial"/>
              </a:rPr>
              <a:t>runaway</a:t>
            </a:r>
            <a:endParaRPr sz="176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646" y="2355620"/>
            <a:ext cx="2166657" cy="294953"/>
          </a:xfrm>
          <a:prstGeom prst="rect">
            <a:avLst/>
          </a:prstGeom>
          <a:solidFill>
            <a:srgbClr val="CCFFFF"/>
          </a:solidFill>
        </p:spPr>
        <p:txBody>
          <a:bodyPr vert="horz" wrap="square" lIns="0" tIns="0" rIns="0" bIns="0" rtlCol="0">
            <a:spAutoFit/>
          </a:bodyPr>
          <a:lstStyle/>
          <a:p>
            <a:pPr marL="44266">
              <a:lnSpc>
                <a:spcPts val="2334"/>
              </a:lnSpc>
            </a:pPr>
            <a:r>
              <a:rPr sz="1897" i="1" spc="115" dirty="0">
                <a:latin typeface="Times New Roman"/>
                <a:cs typeface="Times New Roman"/>
              </a:rPr>
              <a:t>I</a:t>
            </a:r>
            <a:r>
              <a:rPr sz="1655" i="1" spc="19" baseline="-24444" dirty="0">
                <a:latin typeface="Times New Roman"/>
                <a:cs typeface="Times New Roman"/>
              </a:rPr>
              <a:t>C</a:t>
            </a:r>
            <a:r>
              <a:rPr sz="1655" i="1" baseline="-24444" dirty="0">
                <a:latin typeface="Times New Roman"/>
                <a:cs typeface="Times New Roman"/>
              </a:rPr>
              <a:t> </a:t>
            </a:r>
            <a:r>
              <a:rPr sz="1655" i="1" spc="152" baseline="-24444" dirty="0">
                <a:latin typeface="Times New Roman"/>
                <a:cs typeface="Times New Roman"/>
              </a:rPr>
              <a:t> </a:t>
            </a:r>
            <a:r>
              <a:rPr sz="1897" spc="18" dirty="0">
                <a:latin typeface="Symbol"/>
                <a:cs typeface="Symbol"/>
              </a:rPr>
              <a:t></a:t>
            </a:r>
            <a:r>
              <a:rPr sz="1897" dirty="0">
                <a:latin typeface="Times New Roman"/>
                <a:cs typeface="Times New Roman"/>
              </a:rPr>
              <a:t> </a:t>
            </a:r>
            <a:r>
              <a:rPr sz="2030" spc="4" dirty="0">
                <a:latin typeface="Symbol"/>
                <a:cs typeface="Symbol"/>
              </a:rPr>
              <a:t></a:t>
            </a:r>
            <a:r>
              <a:rPr sz="1897" spc="106" dirty="0">
                <a:latin typeface="Times New Roman"/>
                <a:cs typeface="Times New Roman"/>
              </a:rPr>
              <a:t>I</a:t>
            </a:r>
            <a:r>
              <a:rPr sz="1655" spc="19" baseline="-24444" dirty="0">
                <a:latin typeface="Times New Roman"/>
                <a:cs typeface="Times New Roman"/>
              </a:rPr>
              <a:t>B</a:t>
            </a:r>
            <a:r>
              <a:rPr sz="1655" baseline="-24444" dirty="0">
                <a:latin typeface="Times New Roman"/>
                <a:cs typeface="Times New Roman"/>
              </a:rPr>
              <a:t> </a:t>
            </a:r>
            <a:r>
              <a:rPr sz="1655" spc="-86" baseline="-24444" dirty="0">
                <a:latin typeface="Times New Roman"/>
                <a:cs typeface="Times New Roman"/>
              </a:rPr>
              <a:t> </a:t>
            </a:r>
            <a:r>
              <a:rPr sz="1897" spc="18" dirty="0">
                <a:latin typeface="Symbol"/>
                <a:cs typeface="Symbol"/>
              </a:rPr>
              <a:t></a:t>
            </a:r>
            <a:r>
              <a:rPr sz="1897" spc="-150" dirty="0">
                <a:latin typeface="Times New Roman"/>
                <a:cs typeface="Times New Roman"/>
              </a:rPr>
              <a:t> </a:t>
            </a:r>
            <a:r>
              <a:rPr sz="1897" spc="93" dirty="0">
                <a:latin typeface="Times New Roman"/>
                <a:cs typeface="Times New Roman"/>
              </a:rPr>
              <a:t>(</a:t>
            </a:r>
            <a:r>
              <a:rPr sz="2030" spc="-57" dirty="0">
                <a:latin typeface="Symbol"/>
                <a:cs typeface="Symbol"/>
              </a:rPr>
              <a:t></a:t>
            </a:r>
            <a:r>
              <a:rPr sz="2030" spc="62" dirty="0">
                <a:latin typeface="Times New Roman"/>
                <a:cs typeface="Times New Roman"/>
              </a:rPr>
              <a:t> </a:t>
            </a:r>
            <a:r>
              <a:rPr sz="1897" spc="163" dirty="0">
                <a:latin typeface="Symbol"/>
                <a:cs typeface="Symbol"/>
              </a:rPr>
              <a:t></a:t>
            </a:r>
            <a:r>
              <a:rPr sz="1897" spc="-141" dirty="0">
                <a:latin typeface="Times New Roman"/>
                <a:cs typeface="Times New Roman"/>
              </a:rPr>
              <a:t>1</a:t>
            </a:r>
            <a:r>
              <a:rPr sz="1897" spc="53" dirty="0">
                <a:latin typeface="Times New Roman"/>
                <a:cs typeface="Times New Roman"/>
              </a:rPr>
              <a:t>)</a:t>
            </a:r>
            <a:r>
              <a:rPr sz="1897" spc="84" dirty="0">
                <a:latin typeface="Times New Roman"/>
                <a:cs typeface="Times New Roman"/>
              </a:rPr>
              <a:t>I</a:t>
            </a:r>
            <a:r>
              <a:rPr sz="1655" spc="19" baseline="-24444" dirty="0">
                <a:latin typeface="Times New Roman"/>
                <a:cs typeface="Times New Roman"/>
              </a:rPr>
              <a:t>CBO</a:t>
            </a:r>
            <a:endParaRPr sz="1655" baseline="-24444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6064" y="5937770"/>
            <a:ext cx="110378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dirty="0">
                <a:latin typeface="Arial MT"/>
                <a:cs typeface="Arial MT"/>
              </a:rPr>
              <a:t>3</a:t>
            </a:r>
            <a:endParaRPr sz="1235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664" y="2726821"/>
            <a:ext cx="11915192" cy="28247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6032" marR="49309">
              <a:spcBef>
                <a:spcPts val="88"/>
              </a:spcBef>
              <a:buFont typeface="MS UI Gothic"/>
              <a:buChar char="➢"/>
              <a:tabLst>
                <a:tab pos="271197" algn="l"/>
              </a:tabLst>
            </a:pPr>
            <a:r>
              <a:rPr sz="1588" b="1" spc="-4" dirty="0">
                <a:latin typeface="Arial"/>
                <a:cs typeface="Arial"/>
              </a:rPr>
              <a:t>I</a:t>
            </a:r>
            <a:r>
              <a:rPr sz="1588" b="1" spc="-6" baseline="-20833" dirty="0">
                <a:latin typeface="Arial"/>
                <a:cs typeface="Arial"/>
              </a:rPr>
              <a:t>CBO</a:t>
            </a:r>
            <a:r>
              <a:rPr sz="1588" b="1" spc="212" baseline="-2083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" dirty="0">
                <a:latin typeface="Arial"/>
                <a:cs typeface="Arial"/>
              </a:rPr>
              <a:t>strong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function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temperature.</a:t>
            </a:r>
            <a:r>
              <a:rPr sz="1588" b="1" spc="-35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</a:t>
            </a:r>
            <a:r>
              <a:rPr sz="1588" b="1" spc="-75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rise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</a:t>
            </a:r>
            <a:r>
              <a:rPr sz="1588" b="1" spc="-4" dirty="0">
                <a:latin typeface="Arial"/>
                <a:cs typeface="Arial"/>
              </a:rPr>
              <a:t> 10</a:t>
            </a:r>
            <a:r>
              <a:rPr sz="1588" b="1" spc="-6" baseline="25462" dirty="0">
                <a:latin typeface="Arial"/>
                <a:cs typeface="Arial"/>
              </a:rPr>
              <a:t>o</a:t>
            </a:r>
            <a:r>
              <a:rPr sz="1588" b="1" spc="-4" dirty="0">
                <a:latin typeface="Arial"/>
                <a:cs typeface="Arial"/>
              </a:rPr>
              <a:t>C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doubles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 </a:t>
            </a:r>
            <a:r>
              <a:rPr sz="1588" b="1" spc="-4" dirty="0">
                <a:latin typeface="Arial"/>
                <a:cs typeface="Arial"/>
              </a:rPr>
              <a:t>I</a:t>
            </a:r>
            <a:r>
              <a:rPr sz="1588" b="1" spc="-6" baseline="-20833" dirty="0">
                <a:latin typeface="Arial"/>
                <a:cs typeface="Arial"/>
              </a:rPr>
              <a:t>CBO</a:t>
            </a:r>
            <a:r>
              <a:rPr sz="1588" b="1" spc="218" baseline="-2083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and </a:t>
            </a: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C </a:t>
            </a:r>
            <a:r>
              <a:rPr sz="1588" b="1" spc="-416" baseline="-20833" dirty="0">
                <a:latin typeface="Arial"/>
                <a:cs typeface="Arial"/>
              </a:rPr>
              <a:t> </a:t>
            </a:r>
            <a:r>
              <a:rPr sz="1588" b="1" spc="4" dirty="0">
                <a:latin typeface="Arial"/>
                <a:cs typeface="Arial"/>
              </a:rPr>
              <a:t>will</a:t>
            </a:r>
            <a:r>
              <a:rPr sz="1588" b="1" spc="-5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increase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( </a:t>
            </a:r>
            <a:r>
              <a:rPr sz="1588" spc="18" dirty="0">
                <a:latin typeface="Microsoft Sans Serif"/>
                <a:cs typeface="Microsoft Sans Serif"/>
              </a:rPr>
              <a:t>β</a:t>
            </a:r>
            <a:r>
              <a:rPr sz="1588" b="1" spc="18" dirty="0">
                <a:latin typeface="Arial"/>
                <a:cs typeface="Arial"/>
              </a:rPr>
              <a:t>+1)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times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I</a:t>
            </a:r>
            <a:r>
              <a:rPr sz="1588" b="1" spc="-6" baseline="-20833" dirty="0">
                <a:latin typeface="Arial"/>
                <a:cs typeface="Arial"/>
              </a:rPr>
              <a:t>CBO</a:t>
            </a:r>
            <a:endParaRPr sz="1588" baseline="-20833" dirty="0">
              <a:latin typeface="Arial"/>
              <a:cs typeface="Arial"/>
            </a:endParaRPr>
          </a:p>
          <a:p>
            <a:pPr marL="56032" marR="250465">
              <a:spcBef>
                <a:spcPts val="1271"/>
              </a:spcBef>
              <a:buFont typeface="MS UI Gothic"/>
              <a:buChar char="➢"/>
              <a:tabLst>
                <a:tab pos="309299" algn="l"/>
              </a:tabLst>
            </a:pP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flow of</a:t>
            </a:r>
            <a:r>
              <a:rPr sz="1588" b="1" spc="-4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C</a:t>
            </a:r>
            <a:r>
              <a:rPr sz="1588" b="1" spc="205" baseline="-2083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produce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heat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within</a:t>
            </a:r>
            <a:r>
              <a:rPr sz="1588" b="1" spc="-35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transistor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and raises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 </a:t>
            </a:r>
            <a:r>
              <a:rPr sz="1588" b="1" spc="-4" dirty="0">
                <a:latin typeface="Arial"/>
                <a:cs typeface="Arial"/>
              </a:rPr>
              <a:t>transistor </a:t>
            </a:r>
            <a:r>
              <a:rPr sz="1588" b="1" spc="-427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temperature further and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therefore,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further increase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in</a:t>
            </a:r>
            <a:r>
              <a:rPr sz="1588" b="1" spc="-4" dirty="0">
                <a:latin typeface="Arial"/>
                <a:cs typeface="Arial"/>
              </a:rPr>
              <a:t> I</a:t>
            </a:r>
            <a:r>
              <a:rPr sz="1588" b="1" spc="-6" baseline="-20833" dirty="0">
                <a:latin typeface="Arial"/>
                <a:cs typeface="Arial"/>
              </a:rPr>
              <a:t>CBO</a:t>
            </a:r>
            <a:endParaRPr sz="1588" baseline="-20833" dirty="0">
              <a:latin typeface="Arial"/>
              <a:cs typeface="Arial"/>
            </a:endParaRPr>
          </a:p>
          <a:p>
            <a:pPr marL="56032" marR="530067">
              <a:spcBef>
                <a:spcPts val="1271"/>
              </a:spcBef>
              <a:buFont typeface="MS UI Gothic"/>
              <a:buChar char="➢"/>
              <a:tabLst>
                <a:tab pos="309299" algn="l"/>
              </a:tabLst>
            </a:pPr>
            <a:r>
              <a:rPr sz="1588" b="1" dirty="0">
                <a:latin typeface="Arial"/>
                <a:cs typeface="Arial"/>
              </a:rPr>
              <a:t>This </a:t>
            </a:r>
            <a:r>
              <a:rPr sz="1588" b="1" spc="-4" dirty="0">
                <a:latin typeface="Arial"/>
                <a:cs typeface="Arial"/>
              </a:rPr>
              <a:t>effect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9" dirty="0">
                <a:latin typeface="Arial"/>
                <a:cs typeface="Arial"/>
              </a:rPr>
              <a:t>cumulative </a:t>
            </a:r>
            <a:r>
              <a:rPr sz="1588" b="1" spc="-4" dirty="0">
                <a:latin typeface="Arial"/>
                <a:cs typeface="Arial"/>
              </a:rPr>
              <a:t>and </a:t>
            </a:r>
            <a:r>
              <a:rPr sz="1588" b="1" dirty="0">
                <a:latin typeface="Arial"/>
                <a:cs typeface="Arial"/>
              </a:rPr>
              <a:t>in </a:t>
            </a:r>
            <a:r>
              <a:rPr sz="1588" b="1" spc="-4" dirty="0">
                <a:latin typeface="Arial"/>
                <a:cs typeface="Arial"/>
              </a:rPr>
              <a:t>few seconds, </a:t>
            </a:r>
            <a:r>
              <a:rPr sz="1588" b="1" dirty="0">
                <a:latin typeface="Arial"/>
                <a:cs typeface="Arial"/>
              </a:rPr>
              <a:t>the I</a:t>
            </a:r>
            <a:r>
              <a:rPr sz="1588" b="1" baseline="-20833" dirty="0">
                <a:latin typeface="Arial"/>
                <a:cs typeface="Arial"/>
              </a:rPr>
              <a:t>C</a:t>
            </a:r>
            <a:r>
              <a:rPr sz="1588" b="1" spc="6" baseline="-2083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may become large </a:t>
            </a:r>
            <a:r>
              <a:rPr sz="1588" b="1" spc="-432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enough</a:t>
            </a:r>
            <a:r>
              <a:rPr sz="1588" b="1" spc="-31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to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burn </a:t>
            </a:r>
            <a:r>
              <a:rPr sz="1588" b="1" dirty="0">
                <a:latin typeface="Arial"/>
                <a:cs typeface="Arial"/>
              </a:rPr>
              <a:t>out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13" dirty="0">
                <a:latin typeface="Arial"/>
                <a:cs typeface="Arial"/>
              </a:rPr>
              <a:t> transistor.</a:t>
            </a:r>
            <a:endParaRPr sz="1588" dirty="0">
              <a:latin typeface="Arial"/>
              <a:cs typeface="Arial"/>
            </a:endParaRPr>
          </a:p>
          <a:p>
            <a:pPr>
              <a:spcBef>
                <a:spcPts val="26"/>
              </a:spcBef>
              <a:buFont typeface="MS UI Gothic"/>
              <a:buChar char="➢"/>
            </a:pPr>
            <a:endParaRPr sz="1632" dirty="0">
              <a:latin typeface="Arial"/>
              <a:cs typeface="Arial"/>
            </a:endParaRPr>
          </a:p>
          <a:p>
            <a:pPr marL="56032" marR="677992">
              <a:buClr>
                <a:srgbClr val="000000"/>
              </a:buClr>
              <a:buFont typeface="MS UI Gothic"/>
              <a:buChar char="➢"/>
              <a:tabLst>
                <a:tab pos="271197" algn="l"/>
              </a:tabLst>
            </a:pP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The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self destruction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of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an unstablized transistor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is </a:t>
            </a:r>
            <a:r>
              <a:rPr sz="1588" b="1" spc="4" dirty="0">
                <a:solidFill>
                  <a:srgbClr val="007F00"/>
                </a:solidFill>
                <a:latin typeface="Arial"/>
                <a:cs typeface="Arial"/>
              </a:rPr>
              <a:t>known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as thermal </a:t>
            </a:r>
            <a:r>
              <a:rPr sz="1588" b="1" spc="-432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18" dirty="0">
                <a:solidFill>
                  <a:srgbClr val="007F00"/>
                </a:solidFill>
                <a:latin typeface="Arial"/>
                <a:cs typeface="Arial"/>
              </a:rPr>
              <a:t>runaway.</a:t>
            </a:r>
            <a:endParaRPr sz="1588" dirty="0">
              <a:latin typeface="Arial"/>
              <a:cs typeface="Arial"/>
            </a:endParaRPr>
          </a:p>
          <a:p>
            <a:pPr marL="56032">
              <a:spcBef>
                <a:spcPts val="944"/>
              </a:spcBef>
            </a:pPr>
            <a:r>
              <a:rPr sz="2118" b="1" u="heavy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Stability</a:t>
            </a:r>
            <a:r>
              <a:rPr sz="2118" b="1" u="heavy" spc="-7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2118" b="1" u="heavy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Factor</a:t>
            </a:r>
            <a:endParaRPr sz="2118" dirty="0">
              <a:latin typeface="Arial"/>
              <a:cs typeface="Arial"/>
            </a:endParaRPr>
          </a:p>
          <a:p>
            <a:pPr marL="56032" marR="49869">
              <a:spcBef>
                <a:spcPts val="644"/>
              </a:spcBef>
              <a:buFont typeface="MS UI Gothic"/>
              <a:buChar char="➢"/>
              <a:tabLst>
                <a:tab pos="252706" algn="l"/>
                <a:tab pos="5246314" algn="l"/>
              </a:tabLst>
            </a:pP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rate</a:t>
            </a:r>
            <a:r>
              <a:rPr sz="1588" b="1" spc="18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change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collector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current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C</a:t>
            </a:r>
            <a:r>
              <a:rPr sz="1588" b="1" spc="218" baseline="-20833" dirty="0">
                <a:latin typeface="Arial"/>
                <a:cs typeface="Arial"/>
              </a:rPr>
              <a:t> </a:t>
            </a:r>
            <a:r>
              <a:rPr sz="1588" b="1" spc="9" dirty="0">
                <a:latin typeface="Arial"/>
                <a:cs typeface="Arial"/>
              </a:rPr>
              <a:t>with</a:t>
            </a:r>
            <a:r>
              <a:rPr sz="1588" b="1" spc="-4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respect	</a:t>
            </a:r>
            <a:r>
              <a:rPr sz="1588" b="1" dirty="0">
                <a:latin typeface="Arial"/>
                <a:cs typeface="Arial"/>
              </a:rPr>
              <a:t>to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22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collector</a:t>
            </a:r>
            <a:r>
              <a:rPr sz="1588" b="1" spc="-26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leakage </a:t>
            </a:r>
            <a:r>
              <a:rPr sz="1588" b="1" spc="-427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current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I</a:t>
            </a:r>
            <a:r>
              <a:rPr sz="1588" b="1" spc="-6" baseline="-20833" dirty="0">
                <a:latin typeface="Arial"/>
                <a:cs typeface="Arial"/>
              </a:rPr>
              <a:t>CBO</a:t>
            </a:r>
            <a:r>
              <a:rPr sz="1588" b="1" spc="218" baseline="-2083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called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stability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spc="-18" dirty="0">
                <a:latin typeface="Arial"/>
                <a:cs typeface="Arial"/>
              </a:rPr>
              <a:t>factor,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denoted </a:t>
            </a:r>
            <a:r>
              <a:rPr sz="1588" b="1" dirty="0">
                <a:latin typeface="Arial"/>
                <a:cs typeface="Arial"/>
              </a:rPr>
              <a:t>by</a:t>
            </a:r>
            <a:r>
              <a:rPr sz="1588" b="1" spc="-4" dirty="0">
                <a:latin typeface="Arial"/>
                <a:cs typeface="Arial"/>
              </a:rPr>
              <a:t> S.</a:t>
            </a:r>
            <a:endParaRPr sz="1588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84061" y="5522138"/>
            <a:ext cx="1078343" cy="500040"/>
            <a:chOff x="3258101" y="4833252"/>
            <a:chExt cx="1381125" cy="792480"/>
          </a:xfrm>
        </p:grpSpPr>
        <p:sp>
          <p:nvSpPr>
            <p:cNvPr id="9" name="object 9"/>
            <p:cNvSpPr/>
            <p:nvPr/>
          </p:nvSpPr>
          <p:spPr>
            <a:xfrm>
              <a:off x="3258101" y="4833252"/>
              <a:ext cx="1381125" cy="792480"/>
            </a:xfrm>
            <a:custGeom>
              <a:avLst/>
              <a:gdLst/>
              <a:ahLst/>
              <a:cxnLst/>
              <a:rect l="l" t="t" r="r" b="b"/>
              <a:pathLst>
                <a:path w="1381125" h="792479">
                  <a:moveTo>
                    <a:pt x="1380743" y="792479"/>
                  </a:moveTo>
                  <a:lnTo>
                    <a:pt x="1380743" y="0"/>
                  </a:lnTo>
                  <a:lnTo>
                    <a:pt x="0" y="0"/>
                  </a:lnTo>
                  <a:lnTo>
                    <a:pt x="0" y="792479"/>
                  </a:lnTo>
                  <a:lnTo>
                    <a:pt x="1380743" y="792479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4750" y="5317249"/>
              <a:ext cx="634365" cy="0"/>
            </a:xfrm>
            <a:custGeom>
              <a:avLst/>
              <a:gdLst/>
              <a:ahLst/>
              <a:cxnLst/>
              <a:rect l="l" t="t" r="r" b="b"/>
              <a:pathLst>
                <a:path w="634364">
                  <a:moveTo>
                    <a:pt x="0" y="0"/>
                  </a:moveTo>
                  <a:lnTo>
                    <a:pt x="633983" y="0"/>
                  </a:lnTo>
                </a:path>
              </a:pathLst>
            </a:custGeom>
            <a:ln w="116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44579" y="5597032"/>
            <a:ext cx="107576" cy="185002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>
              <a:spcBef>
                <a:spcPts val="119"/>
              </a:spcBef>
            </a:pPr>
            <a:r>
              <a:rPr sz="1103" i="1" spc="18" dirty="0">
                <a:latin typeface="Times New Roman"/>
                <a:cs typeface="Times New Roman"/>
              </a:rPr>
              <a:t>C</a:t>
            </a:r>
            <a:endParaRPr sz="1103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4292" y="5809841"/>
            <a:ext cx="559734" cy="31011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2912" i="1" spc="33" baseline="13888" dirty="0">
                <a:latin typeface="Times New Roman"/>
                <a:cs typeface="Times New Roman"/>
              </a:rPr>
              <a:t>dI</a:t>
            </a:r>
            <a:r>
              <a:rPr sz="1103" i="1" spc="22" dirty="0">
                <a:latin typeface="Times New Roman"/>
                <a:cs typeface="Times New Roman"/>
              </a:rPr>
              <a:t>CBO</a:t>
            </a:r>
            <a:endParaRPr sz="1103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46124" y="5472789"/>
            <a:ext cx="217393" cy="309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941" i="1" dirty="0">
                <a:latin typeface="Times New Roman"/>
                <a:cs typeface="Times New Roman"/>
              </a:rPr>
              <a:t>dI</a:t>
            </a:r>
            <a:endParaRPr sz="1941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2102" y="5618805"/>
            <a:ext cx="1148043" cy="3099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  <a:tabLst>
                <a:tab pos="1053969" algn="l"/>
              </a:tabLst>
            </a:pPr>
            <a:r>
              <a:rPr sz="1941" i="1" dirty="0">
                <a:latin typeface="Times New Roman"/>
                <a:cs typeface="Times New Roman"/>
              </a:rPr>
              <a:t>S</a:t>
            </a:r>
            <a:r>
              <a:rPr sz="1941" i="1" spc="115" dirty="0">
                <a:latin typeface="Times New Roman"/>
                <a:cs typeface="Times New Roman"/>
              </a:rPr>
              <a:t> </a:t>
            </a:r>
            <a:r>
              <a:rPr sz="1941" dirty="0">
                <a:latin typeface="Symbol"/>
                <a:cs typeface="Symbol"/>
              </a:rPr>
              <a:t></a:t>
            </a:r>
            <a:r>
              <a:rPr sz="1941" spc="-53" dirty="0">
                <a:latin typeface="Times New Roman"/>
                <a:cs typeface="Times New Roman"/>
              </a:rPr>
              <a:t> </a:t>
            </a:r>
            <a:r>
              <a:rPr sz="1941" dirty="0">
                <a:latin typeface="Times New Roman"/>
                <a:cs typeface="Times New Roman"/>
              </a:rPr>
              <a:t>(	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57280" y="5656717"/>
            <a:ext cx="706377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588" b="1" dirty="0">
                <a:latin typeface="Arial"/>
                <a:cs typeface="Arial"/>
              </a:rPr>
              <a:t>Lower</a:t>
            </a:r>
            <a:r>
              <a:rPr sz="1588" b="1" spc="-5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spc="-9" dirty="0">
                <a:latin typeface="Arial"/>
                <a:cs typeface="Arial"/>
              </a:rPr>
              <a:t>value</a:t>
            </a:r>
            <a:r>
              <a:rPr sz="1588" b="1" spc="22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S,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better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27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stability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13" dirty="0">
                <a:latin typeface="Arial"/>
                <a:cs typeface="Arial"/>
              </a:rPr>
              <a:t>transistor.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3058" y="694759"/>
            <a:ext cx="4444705" cy="503758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Stability</a:t>
            </a:r>
            <a:r>
              <a:rPr spc="-88" dirty="0"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pc="-4" dirty="0"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Factor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817" y="3937317"/>
            <a:ext cx="7497296" cy="5000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 marR="26896">
              <a:spcBef>
                <a:spcPts val="88"/>
              </a:spcBef>
              <a:buFont typeface="MS UI Gothic"/>
              <a:buChar char="➢"/>
              <a:tabLst>
                <a:tab pos="230293" algn="l"/>
                <a:tab pos="5223901" algn="l"/>
              </a:tabLst>
            </a:pP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rate</a:t>
            </a:r>
            <a:r>
              <a:rPr sz="1588" b="1" spc="18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of </a:t>
            </a:r>
            <a:r>
              <a:rPr sz="1588" b="1" spc="-4" dirty="0">
                <a:latin typeface="Arial"/>
                <a:cs typeface="Arial"/>
              </a:rPr>
              <a:t>change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collector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current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C</a:t>
            </a:r>
            <a:r>
              <a:rPr sz="1588" b="1" spc="218" baseline="-20833" dirty="0">
                <a:latin typeface="Arial"/>
                <a:cs typeface="Arial"/>
              </a:rPr>
              <a:t> </a:t>
            </a:r>
            <a:r>
              <a:rPr sz="1588" b="1" spc="9" dirty="0">
                <a:latin typeface="Arial"/>
                <a:cs typeface="Arial"/>
              </a:rPr>
              <a:t>with</a:t>
            </a:r>
            <a:r>
              <a:rPr sz="1588" b="1" spc="-4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respect	</a:t>
            </a:r>
            <a:r>
              <a:rPr sz="1588" b="1" dirty="0">
                <a:latin typeface="Arial"/>
                <a:cs typeface="Arial"/>
              </a:rPr>
              <a:t>to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22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collector</a:t>
            </a:r>
            <a:r>
              <a:rPr sz="1588" b="1" spc="-26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leakage </a:t>
            </a:r>
            <a:r>
              <a:rPr sz="1588" b="1" spc="-432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current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I</a:t>
            </a:r>
            <a:r>
              <a:rPr sz="1588" b="1" spc="-6" baseline="-20833" dirty="0">
                <a:latin typeface="Arial"/>
                <a:cs typeface="Arial"/>
              </a:rPr>
              <a:t>CBO</a:t>
            </a:r>
            <a:r>
              <a:rPr sz="1588" b="1" spc="224" baseline="-2083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at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constant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spc="75" dirty="0">
                <a:latin typeface="Microsoft Sans Serif"/>
                <a:cs typeface="Microsoft Sans Serif"/>
              </a:rPr>
              <a:t>β</a:t>
            </a:r>
            <a:r>
              <a:rPr sz="1588" spc="31" dirty="0">
                <a:latin typeface="Microsoft Sans Serif"/>
                <a:cs typeface="Microsoft Sans Serif"/>
              </a:rPr>
              <a:t> </a:t>
            </a:r>
            <a:r>
              <a:rPr sz="1588" b="1" spc="-4" dirty="0">
                <a:latin typeface="Arial"/>
                <a:cs typeface="Arial"/>
              </a:rPr>
              <a:t>and</a:t>
            </a:r>
            <a:r>
              <a:rPr sz="1588" b="1" dirty="0">
                <a:latin typeface="Arial"/>
                <a:cs typeface="Arial"/>
              </a:rPr>
              <a:t> I</a:t>
            </a:r>
            <a:r>
              <a:rPr sz="1588" b="1" baseline="-20833" dirty="0">
                <a:latin typeface="Arial"/>
                <a:cs typeface="Arial"/>
              </a:rPr>
              <a:t>B</a:t>
            </a:r>
            <a:r>
              <a:rPr sz="1588" b="1" spc="205" baseline="-2083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" dirty="0">
                <a:latin typeface="Arial"/>
                <a:cs typeface="Arial"/>
              </a:rPr>
              <a:t>called stability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18" dirty="0">
                <a:latin typeface="Arial"/>
                <a:cs typeface="Arial"/>
              </a:rPr>
              <a:t>factor,</a:t>
            </a:r>
            <a:r>
              <a:rPr sz="1588" b="1" spc="-4" dirty="0">
                <a:latin typeface="Arial"/>
                <a:cs typeface="Arial"/>
              </a:rPr>
              <a:t> denoted</a:t>
            </a:r>
            <a:r>
              <a:rPr sz="1588" b="1" dirty="0">
                <a:latin typeface="Arial"/>
                <a:cs typeface="Arial"/>
              </a:rPr>
              <a:t> by</a:t>
            </a:r>
            <a:r>
              <a:rPr sz="1588" b="1" spc="-4" dirty="0">
                <a:latin typeface="Arial"/>
                <a:cs typeface="Arial"/>
              </a:rPr>
              <a:t> S.</a:t>
            </a:r>
            <a:endParaRPr sz="1588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3171" y="2084294"/>
            <a:ext cx="2166657" cy="294953"/>
          </a:xfrm>
          <a:prstGeom prst="rect">
            <a:avLst/>
          </a:prstGeom>
          <a:solidFill>
            <a:srgbClr val="CCFFFF"/>
          </a:solidFill>
        </p:spPr>
        <p:txBody>
          <a:bodyPr vert="horz" wrap="square" lIns="0" tIns="0" rIns="0" bIns="0" rtlCol="0">
            <a:spAutoFit/>
          </a:bodyPr>
          <a:lstStyle/>
          <a:p>
            <a:pPr marL="44266">
              <a:lnSpc>
                <a:spcPts val="2334"/>
              </a:lnSpc>
            </a:pPr>
            <a:r>
              <a:rPr sz="1897" i="1" spc="115" dirty="0">
                <a:latin typeface="Times New Roman"/>
                <a:cs typeface="Times New Roman"/>
              </a:rPr>
              <a:t>I</a:t>
            </a:r>
            <a:r>
              <a:rPr sz="1655" i="1" spc="19" baseline="-24444" dirty="0">
                <a:latin typeface="Times New Roman"/>
                <a:cs typeface="Times New Roman"/>
              </a:rPr>
              <a:t>C</a:t>
            </a:r>
            <a:r>
              <a:rPr sz="1655" i="1" baseline="-24444" dirty="0">
                <a:latin typeface="Times New Roman"/>
                <a:cs typeface="Times New Roman"/>
              </a:rPr>
              <a:t> </a:t>
            </a:r>
            <a:r>
              <a:rPr sz="1655" i="1" spc="152" baseline="-24444" dirty="0">
                <a:latin typeface="Times New Roman"/>
                <a:cs typeface="Times New Roman"/>
              </a:rPr>
              <a:t> </a:t>
            </a:r>
            <a:r>
              <a:rPr sz="1897" spc="18" dirty="0">
                <a:latin typeface="Symbol"/>
                <a:cs typeface="Symbol"/>
              </a:rPr>
              <a:t></a:t>
            </a:r>
            <a:r>
              <a:rPr sz="1897" dirty="0">
                <a:latin typeface="Times New Roman"/>
                <a:cs typeface="Times New Roman"/>
              </a:rPr>
              <a:t> </a:t>
            </a:r>
            <a:r>
              <a:rPr sz="2030" spc="4" dirty="0">
                <a:latin typeface="Symbol"/>
                <a:cs typeface="Symbol"/>
              </a:rPr>
              <a:t></a:t>
            </a:r>
            <a:r>
              <a:rPr sz="1897" spc="106" dirty="0">
                <a:latin typeface="Times New Roman"/>
                <a:cs typeface="Times New Roman"/>
              </a:rPr>
              <a:t>I</a:t>
            </a:r>
            <a:r>
              <a:rPr sz="1655" spc="19" baseline="-24444" dirty="0">
                <a:latin typeface="Times New Roman"/>
                <a:cs typeface="Times New Roman"/>
              </a:rPr>
              <a:t>B</a:t>
            </a:r>
            <a:r>
              <a:rPr sz="1655" baseline="-24444" dirty="0">
                <a:latin typeface="Times New Roman"/>
                <a:cs typeface="Times New Roman"/>
              </a:rPr>
              <a:t> </a:t>
            </a:r>
            <a:r>
              <a:rPr sz="1655" spc="-86" baseline="-24444" dirty="0">
                <a:latin typeface="Times New Roman"/>
                <a:cs typeface="Times New Roman"/>
              </a:rPr>
              <a:t> </a:t>
            </a:r>
            <a:r>
              <a:rPr sz="1897" spc="18" dirty="0">
                <a:latin typeface="Symbol"/>
                <a:cs typeface="Symbol"/>
              </a:rPr>
              <a:t></a:t>
            </a:r>
            <a:r>
              <a:rPr sz="1897" spc="-150" dirty="0">
                <a:latin typeface="Times New Roman"/>
                <a:cs typeface="Times New Roman"/>
              </a:rPr>
              <a:t> </a:t>
            </a:r>
            <a:r>
              <a:rPr sz="1897" spc="93" dirty="0">
                <a:latin typeface="Times New Roman"/>
                <a:cs typeface="Times New Roman"/>
              </a:rPr>
              <a:t>(</a:t>
            </a:r>
            <a:r>
              <a:rPr sz="2030" spc="-57" dirty="0">
                <a:latin typeface="Symbol"/>
                <a:cs typeface="Symbol"/>
              </a:rPr>
              <a:t></a:t>
            </a:r>
            <a:r>
              <a:rPr sz="2030" spc="62" dirty="0">
                <a:latin typeface="Times New Roman"/>
                <a:cs typeface="Times New Roman"/>
              </a:rPr>
              <a:t> </a:t>
            </a:r>
            <a:r>
              <a:rPr sz="1897" spc="163" dirty="0">
                <a:latin typeface="Symbol"/>
                <a:cs typeface="Symbol"/>
              </a:rPr>
              <a:t></a:t>
            </a:r>
            <a:r>
              <a:rPr sz="1897" spc="-141" dirty="0">
                <a:latin typeface="Times New Roman"/>
                <a:cs typeface="Times New Roman"/>
              </a:rPr>
              <a:t>1</a:t>
            </a:r>
            <a:r>
              <a:rPr sz="1897" spc="53" dirty="0">
                <a:latin typeface="Times New Roman"/>
                <a:cs typeface="Times New Roman"/>
              </a:rPr>
              <a:t>)</a:t>
            </a:r>
            <a:r>
              <a:rPr sz="1897" spc="84" dirty="0">
                <a:latin typeface="Times New Roman"/>
                <a:cs typeface="Times New Roman"/>
              </a:rPr>
              <a:t>I</a:t>
            </a:r>
            <a:r>
              <a:rPr sz="1655" spc="19" baseline="-24444" dirty="0">
                <a:latin typeface="Times New Roman"/>
                <a:cs typeface="Times New Roman"/>
              </a:rPr>
              <a:t>CBO</a:t>
            </a:r>
            <a:endParaRPr sz="1655" baseline="-24444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1003" y="2108049"/>
            <a:ext cx="26894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latin typeface="Arial"/>
                <a:cs typeface="Arial"/>
              </a:rPr>
              <a:t>(</a:t>
            </a:r>
            <a:r>
              <a:rPr sz="1588" b="1" spc="-9" dirty="0">
                <a:latin typeface="Arial"/>
                <a:cs typeface="Arial"/>
              </a:rPr>
              <a:t>1</a:t>
            </a:r>
            <a:r>
              <a:rPr sz="1588" b="1" dirty="0">
                <a:latin typeface="Arial"/>
                <a:cs typeface="Arial"/>
              </a:rPr>
              <a:t>)</a:t>
            </a:r>
            <a:endParaRPr sz="15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2295" y="2618828"/>
            <a:ext cx="329396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b="1" spc="-4" dirty="0">
                <a:latin typeface="Arial"/>
                <a:cs typeface="Arial"/>
              </a:rPr>
              <a:t>Differentiating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equation (1)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26" dirty="0">
                <a:latin typeface="Arial"/>
                <a:cs typeface="Arial"/>
              </a:rPr>
              <a:t>w.r.t</a:t>
            </a:r>
            <a:r>
              <a:rPr sz="1588" b="1" spc="-40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C</a:t>
            </a:r>
            <a:endParaRPr sz="1588" baseline="-20833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1465" y="3160059"/>
            <a:ext cx="2353235" cy="268941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0" y="0"/>
                </a:moveTo>
                <a:lnTo>
                  <a:pt x="0" y="304799"/>
                </a:lnTo>
                <a:lnTo>
                  <a:pt x="2667000" y="304799"/>
                </a:lnTo>
                <a:lnTo>
                  <a:pt x="2667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4803737" y="3287398"/>
            <a:ext cx="280707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CBO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25353" y="3160059"/>
            <a:ext cx="1831601" cy="268941"/>
          </a:xfrm>
          <a:custGeom>
            <a:avLst/>
            <a:gdLst/>
            <a:ahLst/>
            <a:cxnLst/>
            <a:rect l="l" t="t" r="r" b="b"/>
            <a:pathLst>
              <a:path w="2075815" h="304800">
                <a:moveTo>
                  <a:pt x="0" y="0"/>
                </a:moveTo>
                <a:lnTo>
                  <a:pt x="0" y="304799"/>
                </a:lnTo>
                <a:lnTo>
                  <a:pt x="2075688" y="304799"/>
                </a:lnTo>
                <a:lnTo>
                  <a:pt x="2075688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3357282" y="3137779"/>
            <a:ext cx="3176307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2413">
              <a:spcBef>
                <a:spcPts val="84"/>
              </a:spcBef>
              <a:tabLst>
                <a:tab pos="1250083" algn="l"/>
                <a:tab pos="2845886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d</a:t>
            </a:r>
            <a:r>
              <a:rPr sz="1765" spc="-4" dirty="0">
                <a:latin typeface="Times New Roman"/>
                <a:cs typeface="Times New Roman"/>
              </a:rPr>
              <a:t>I	dI	</a:t>
            </a:r>
            <a:r>
              <a:rPr sz="1765" i="1" spc="26" dirty="0">
                <a:latin typeface="Times New Roman"/>
                <a:cs typeface="Times New Roman"/>
              </a:rPr>
              <a:t>d</a:t>
            </a:r>
            <a:r>
              <a:rPr sz="1765" spc="26" dirty="0">
                <a:latin typeface="Times New Roman"/>
                <a:cs typeface="Times New Roman"/>
              </a:rPr>
              <a:t>I</a:t>
            </a:r>
            <a:r>
              <a:rPr sz="1522" spc="39" baseline="-24154" dirty="0">
                <a:latin typeface="Times New Roman"/>
                <a:cs typeface="Times New Roman"/>
              </a:rPr>
              <a:t>B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3484" y="3125020"/>
            <a:ext cx="594472" cy="29702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>
              <a:spcBef>
                <a:spcPts val="93"/>
              </a:spcBef>
            </a:pPr>
            <a:r>
              <a:rPr sz="1765" u="sng" spc="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1853" u="sng" spc="4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</a:t>
            </a:r>
            <a:r>
              <a:rPr sz="1853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65" u="sng" spc="-4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1765" u="sng" spc="-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1)</a:t>
            </a:r>
            <a:endParaRPr sz="1765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78588" y="2891118"/>
            <a:ext cx="1882588" cy="537882"/>
            <a:chOff x="7162800" y="3276600"/>
            <a:chExt cx="2133600" cy="609600"/>
          </a:xfrm>
        </p:grpSpPr>
        <p:sp>
          <p:nvSpPr>
            <p:cNvPr id="13" name="object 13"/>
            <p:cNvSpPr/>
            <p:nvPr/>
          </p:nvSpPr>
          <p:spPr>
            <a:xfrm>
              <a:off x="7162800" y="3276600"/>
              <a:ext cx="2133600" cy="609600"/>
            </a:xfrm>
            <a:custGeom>
              <a:avLst/>
              <a:gdLst/>
              <a:ahLst/>
              <a:cxnLst/>
              <a:rect l="l" t="t" r="r" b="b"/>
              <a:pathLst>
                <a:path w="2133600" h="609600">
                  <a:moveTo>
                    <a:pt x="0" y="0"/>
                  </a:moveTo>
                  <a:lnTo>
                    <a:pt x="0" y="609599"/>
                  </a:lnTo>
                  <a:lnTo>
                    <a:pt x="2133600" y="609599"/>
                  </a:lnTo>
                  <a:lnTo>
                    <a:pt x="2133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7766272" y="3613394"/>
              <a:ext cx="1457325" cy="0"/>
            </a:xfrm>
            <a:custGeom>
              <a:avLst/>
              <a:gdLst/>
              <a:ahLst/>
              <a:cxnLst/>
              <a:rect l="l" t="t" r="r" b="b"/>
              <a:pathLst>
                <a:path w="1457325">
                  <a:moveTo>
                    <a:pt x="0" y="0"/>
                  </a:moveTo>
                  <a:lnTo>
                    <a:pt x="1456953" y="0"/>
                  </a:lnTo>
                </a:path>
              </a:pathLst>
            </a:custGeom>
            <a:ln w="1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08860" y="3298114"/>
            <a:ext cx="98612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B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43953" y="3148468"/>
            <a:ext cx="239246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</a:pPr>
            <a:r>
              <a:rPr sz="1765" i="1" spc="-4" dirty="0">
                <a:latin typeface="Times New Roman"/>
                <a:cs typeface="Times New Roman"/>
              </a:rPr>
              <a:t>d</a:t>
            </a:r>
            <a:r>
              <a:rPr sz="1765" i="1" spc="-119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I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57171" y="2858695"/>
            <a:ext cx="778809" cy="29758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  <a:tabLst>
                <a:tab pos="372055" algn="l"/>
              </a:tabLst>
            </a:pPr>
            <a:r>
              <a:rPr sz="1765" spc="-4" dirty="0">
                <a:latin typeface="Times New Roman"/>
                <a:cs typeface="Times New Roman"/>
              </a:rPr>
              <a:t>(</a:t>
            </a:r>
            <a:r>
              <a:rPr sz="1765" spc="-119" dirty="0">
                <a:latin typeface="Times New Roman"/>
                <a:cs typeface="Times New Roman"/>
              </a:rPr>
              <a:t> </a:t>
            </a:r>
            <a:r>
              <a:rPr sz="1853" spc="-49" dirty="0">
                <a:latin typeface="Symbol"/>
                <a:cs typeface="Symbol"/>
              </a:rPr>
              <a:t></a:t>
            </a:r>
            <a:r>
              <a:rPr sz="1853" spc="-49" dirty="0">
                <a:latin typeface="Times New Roman"/>
                <a:cs typeface="Times New Roman"/>
              </a:rPr>
              <a:t>	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26" dirty="0">
                <a:latin typeface="Times New Roman"/>
                <a:cs typeface="Times New Roman"/>
              </a:rPr>
              <a:t> </a:t>
            </a:r>
            <a:r>
              <a:rPr sz="1765" spc="62" dirty="0">
                <a:latin typeface="Times New Roman"/>
                <a:cs typeface="Times New Roman"/>
              </a:rPr>
              <a:t>1)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29684" y="3009964"/>
            <a:ext cx="372596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  <a:tabLst>
                <a:tab pos="237577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S	</a:t>
            </a:r>
            <a:r>
              <a:rPr sz="1765" spc="-4" dirty="0">
                <a:latin typeface="Symbol"/>
                <a:cs typeface="Symbol"/>
              </a:rPr>
              <a:t></a:t>
            </a:r>
            <a:endParaRPr sz="1765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46064" y="5937770"/>
            <a:ext cx="110378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dirty="0">
                <a:latin typeface="Arial MT"/>
                <a:cs typeface="Arial MT"/>
              </a:rPr>
              <a:t>4</a:t>
            </a:r>
            <a:endParaRPr sz="1235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01465" y="3428999"/>
            <a:ext cx="2353235" cy="364751"/>
            <a:chOff x="1295393" y="3886199"/>
            <a:chExt cx="2667000" cy="413384"/>
          </a:xfrm>
        </p:grpSpPr>
        <p:sp>
          <p:nvSpPr>
            <p:cNvPr id="22" name="object 22"/>
            <p:cNvSpPr/>
            <p:nvPr/>
          </p:nvSpPr>
          <p:spPr>
            <a:xfrm>
              <a:off x="1295393" y="3886199"/>
              <a:ext cx="2667000" cy="413384"/>
            </a:xfrm>
            <a:custGeom>
              <a:avLst/>
              <a:gdLst/>
              <a:ahLst/>
              <a:cxnLst/>
              <a:rect l="l" t="t" r="r" b="b"/>
              <a:pathLst>
                <a:path w="2667000" h="413385">
                  <a:moveTo>
                    <a:pt x="2667000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667000" y="413004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1932422" y="3918190"/>
              <a:ext cx="1975485" cy="0"/>
            </a:xfrm>
            <a:custGeom>
              <a:avLst/>
              <a:gdLst/>
              <a:ahLst/>
              <a:cxnLst/>
              <a:rect l="l" t="t" r="r" b="b"/>
              <a:pathLst>
                <a:path w="1975485">
                  <a:moveTo>
                    <a:pt x="0" y="0"/>
                  </a:moveTo>
                  <a:lnTo>
                    <a:pt x="376425" y="0"/>
                  </a:lnTo>
                </a:path>
                <a:path w="1975485">
                  <a:moveTo>
                    <a:pt x="1395986" y="0"/>
                  </a:moveTo>
                  <a:lnTo>
                    <a:pt x="1975108" y="0"/>
                  </a:lnTo>
                </a:path>
              </a:pathLst>
            </a:custGeom>
            <a:ln w="10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88471" y="3278905"/>
            <a:ext cx="1818715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2413">
              <a:spcBef>
                <a:spcPts val="84"/>
              </a:spcBef>
              <a:tabLst>
                <a:tab pos="491404" algn="l"/>
                <a:tab pos="788375" algn="l"/>
                <a:tab pos="1463566" algn="l"/>
              </a:tabLst>
            </a:pPr>
            <a:r>
              <a:rPr sz="1765" spc="-4" dirty="0">
                <a:latin typeface="Times New Roman"/>
                <a:cs typeface="Times New Roman"/>
              </a:rPr>
              <a:t>1</a:t>
            </a:r>
            <a:r>
              <a:rPr sz="1765" spc="-247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</a:t>
            </a:r>
            <a:r>
              <a:rPr sz="1765" spc="-4" dirty="0">
                <a:latin typeface="Times New Roman"/>
                <a:cs typeface="Times New Roman"/>
              </a:rPr>
              <a:t>	(	</a:t>
            </a:r>
            <a:r>
              <a:rPr sz="1522" spc="13" baseline="36231" dirty="0">
                <a:latin typeface="Times New Roman"/>
                <a:cs typeface="Times New Roman"/>
              </a:rPr>
              <a:t>B</a:t>
            </a:r>
            <a:r>
              <a:rPr sz="1522" spc="112" baseline="36231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)</a:t>
            </a:r>
            <a:r>
              <a:rPr sz="1765" spc="-137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-150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(	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-4" dirty="0">
                <a:latin typeface="Times New Roman"/>
                <a:cs typeface="Times New Roman"/>
              </a:rPr>
              <a:t>1)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57281" y="3453717"/>
            <a:ext cx="338418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2413">
              <a:spcBef>
                <a:spcPts val="84"/>
              </a:spcBef>
            </a:pPr>
            <a:r>
              <a:rPr sz="1765" i="1" spc="22" dirty="0">
                <a:latin typeface="Times New Roman"/>
                <a:cs typeface="Times New Roman"/>
              </a:rPr>
              <a:t>d</a:t>
            </a:r>
            <a:r>
              <a:rPr sz="1765" spc="22" dirty="0">
                <a:latin typeface="Times New Roman"/>
                <a:cs typeface="Times New Roman"/>
              </a:rPr>
              <a:t>I</a:t>
            </a:r>
            <a:r>
              <a:rPr sz="1522" spc="33" baseline="-24154" dirty="0">
                <a:latin typeface="Times New Roman"/>
                <a:cs typeface="Times New Roman"/>
              </a:rPr>
              <a:t>C</a:t>
            </a:r>
            <a:endParaRPr sz="1522" baseline="-24154" dirty="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25353" y="3428999"/>
            <a:ext cx="1831601" cy="364751"/>
            <a:chOff x="4495800" y="3886199"/>
            <a:chExt cx="2075814" cy="413384"/>
          </a:xfrm>
        </p:grpSpPr>
        <p:sp>
          <p:nvSpPr>
            <p:cNvPr id="27" name="object 27"/>
            <p:cNvSpPr/>
            <p:nvPr/>
          </p:nvSpPr>
          <p:spPr>
            <a:xfrm>
              <a:off x="4495800" y="3886199"/>
              <a:ext cx="2075814" cy="413384"/>
            </a:xfrm>
            <a:custGeom>
              <a:avLst/>
              <a:gdLst/>
              <a:ahLst/>
              <a:cxnLst/>
              <a:rect l="l" t="t" r="r" b="b"/>
              <a:pathLst>
                <a:path w="2075815" h="413385">
                  <a:moveTo>
                    <a:pt x="2075688" y="0"/>
                  </a:moveTo>
                  <a:lnTo>
                    <a:pt x="0" y="0"/>
                  </a:lnTo>
                  <a:lnTo>
                    <a:pt x="0" y="413004"/>
                  </a:lnTo>
                  <a:lnTo>
                    <a:pt x="2075688" y="413004"/>
                  </a:lnTo>
                  <a:lnTo>
                    <a:pt x="207568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132834" y="3918190"/>
              <a:ext cx="376555" cy="0"/>
            </a:xfrm>
            <a:custGeom>
              <a:avLst/>
              <a:gdLst/>
              <a:ahLst/>
              <a:cxnLst/>
              <a:rect l="l" t="t" r="r" b="b"/>
              <a:pathLst>
                <a:path w="376554">
                  <a:moveTo>
                    <a:pt x="0" y="0"/>
                  </a:moveTo>
                  <a:lnTo>
                    <a:pt x="376425" y="0"/>
                  </a:lnTo>
                </a:path>
              </a:pathLst>
            </a:custGeom>
            <a:ln w="1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052083" y="3453717"/>
            <a:ext cx="123265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</a:pPr>
            <a:r>
              <a:rPr sz="1765" i="1" spc="-4" dirty="0">
                <a:latin typeface="Times New Roman"/>
                <a:cs typeface="Times New Roman"/>
              </a:rPr>
              <a:t>S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65231" y="3453717"/>
            <a:ext cx="1865779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  <a:tabLst>
                <a:tab pos="1538089" algn="l"/>
              </a:tabLst>
            </a:pPr>
            <a:r>
              <a:rPr sz="1765" spc="22" dirty="0">
                <a:latin typeface="Times New Roman"/>
                <a:cs typeface="Times New Roman"/>
              </a:rPr>
              <a:t>dI</a:t>
            </a:r>
            <a:r>
              <a:rPr sz="1522" spc="33" baseline="-24154" dirty="0">
                <a:latin typeface="Times New Roman"/>
                <a:cs typeface="Times New Roman"/>
              </a:rPr>
              <a:t>C	</a:t>
            </a:r>
            <a:r>
              <a:rPr sz="1765" i="1" spc="22" dirty="0">
                <a:latin typeface="Times New Roman"/>
                <a:cs typeface="Times New Roman"/>
              </a:rPr>
              <a:t>d</a:t>
            </a:r>
            <a:r>
              <a:rPr sz="1765" spc="22" dirty="0">
                <a:latin typeface="Times New Roman"/>
                <a:cs typeface="Times New Roman"/>
              </a:rPr>
              <a:t>I</a:t>
            </a:r>
            <a:r>
              <a:rPr sz="1522" spc="33" baseline="-24154" dirty="0">
                <a:latin typeface="Times New Roman"/>
                <a:cs typeface="Times New Roman"/>
              </a:rPr>
              <a:t>C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34764" y="3278905"/>
            <a:ext cx="1143000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  <a:tabLst>
                <a:tab pos="468991" algn="l"/>
                <a:tab pos="896518" algn="l"/>
              </a:tabLst>
            </a:pPr>
            <a:r>
              <a:rPr sz="1765" spc="-4" dirty="0">
                <a:latin typeface="Times New Roman"/>
                <a:cs typeface="Times New Roman"/>
              </a:rPr>
              <a:t>1</a:t>
            </a:r>
            <a:r>
              <a:rPr sz="1765" spc="-247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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4" dirty="0">
                <a:latin typeface="Times New Roman"/>
                <a:cs typeface="Times New Roman"/>
              </a:rPr>
              <a:t>(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4" dirty="0">
                <a:latin typeface="Times New Roman"/>
                <a:cs typeface="Times New Roman"/>
              </a:rPr>
              <a:t>)</a:t>
            </a:r>
            <a:r>
              <a:rPr sz="1765" spc="-150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</a:t>
            </a:r>
            <a:endParaRPr sz="1765">
              <a:latin typeface="Symbol"/>
              <a:cs typeface="Symbo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978588" y="3428999"/>
            <a:ext cx="1882588" cy="375397"/>
            <a:chOff x="7162800" y="3886199"/>
            <a:chExt cx="2133600" cy="425450"/>
          </a:xfrm>
        </p:grpSpPr>
        <p:sp>
          <p:nvSpPr>
            <p:cNvPr id="33" name="object 33"/>
            <p:cNvSpPr/>
            <p:nvPr/>
          </p:nvSpPr>
          <p:spPr>
            <a:xfrm>
              <a:off x="7162800" y="3886199"/>
              <a:ext cx="2133600" cy="425450"/>
            </a:xfrm>
            <a:custGeom>
              <a:avLst/>
              <a:gdLst/>
              <a:ahLst/>
              <a:cxnLst/>
              <a:rect l="l" t="t" r="r" b="b"/>
              <a:pathLst>
                <a:path w="2133600" h="425450">
                  <a:moveTo>
                    <a:pt x="2133600" y="0"/>
                  </a:moveTo>
                  <a:lnTo>
                    <a:pt x="0" y="0"/>
                  </a:lnTo>
                  <a:lnTo>
                    <a:pt x="0" y="425196"/>
                  </a:lnTo>
                  <a:lnTo>
                    <a:pt x="2133600" y="425196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572464" y="3925815"/>
              <a:ext cx="503555" cy="0"/>
            </a:xfrm>
            <a:custGeom>
              <a:avLst/>
              <a:gdLst/>
              <a:ahLst/>
              <a:cxnLst/>
              <a:rect l="l" t="t" r="r" b="b"/>
              <a:pathLst>
                <a:path w="503554">
                  <a:moveTo>
                    <a:pt x="0" y="0"/>
                  </a:moveTo>
                  <a:lnTo>
                    <a:pt x="502928" y="0"/>
                  </a:lnTo>
                </a:path>
              </a:pathLst>
            </a:custGeom>
            <a:ln w="5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978588" y="3428999"/>
            <a:ext cx="1882588" cy="3100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261111" algn="r">
              <a:spcBef>
                <a:spcPts val="300"/>
              </a:spcBef>
            </a:pPr>
            <a:r>
              <a:rPr sz="1765" i="1" spc="-4" dirty="0">
                <a:latin typeface="Times New Roman"/>
                <a:cs typeface="Times New Roman"/>
              </a:rPr>
              <a:t>d</a:t>
            </a:r>
            <a:r>
              <a:rPr sz="1765" i="1" spc="-119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I</a:t>
            </a:r>
            <a:r>
              <a:rPr sz="1765" spc="-172" dirty="0">
                <a:latin typeface="Times New Roman"/>
                <a:cs typeface="Times New Roman"/>
              </a:rPr>
              <a:t> </a:t>
            </a:r>
            <a:r>
              <a:rPr sz="1522" spc="13" baseline="-24154" dirty="0">
                <a:latin typeface="Times New Roman"/>
                <a:cs typeface="Times New Roman"/>
              </a:rPr>
              <a:t>C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98986" y="3285628"/>
            <a:ext cx="1267946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  <a:tabLst>
                <a:tab pos="610193" algn="l"/>
                <a:tab pos="1181723" algn="l"/>
              </a:tabLst>
            </a:pPr>
            <a:r>
              <a:rPr sz="1765" spc="-4" dirty="0">
                <a:latin typeface="Times New Roman"/>
                <a:cs typeface="Times New Roman"/>
              </a:rPr>
              <a:t>1</a:t>
            </a:r>
            <a:r>
              <a:rPr sz="1765" spc="62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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4" dirty="0">
                <a:latin typeface="Times New Roman"/>
                <a:cs typeface="Times New Roman"/>
              </a:rPr>
              <a:t>(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765" spc="-4" dirty="0">
                <a:latin typeface="Times New Roman"/>
                <a:cs typeface="Times New Roman"/>
              </a:rPr>
              <a:t>)</a:t>
            </a:r>
            <a:endParaRPr sz="1765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6234" y="4973875"/>
            <a:ext cx="3518647" cy="107032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spc="-4" dirty="0">
                <a:solidFill>
                  <a:srgbClr val="0000FF"/>
                </a:solidFill>
                <a:latin typeface="Arial"/>
                <a:cs typeface="Arial"/>
              </a:rPr>
              <a:t>Different</a:t>
            </a:r>
            <a:r>
              <a:rPr sz="2118" b="1" spc="-3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18" b="1" spc="-4" dirty="0">
                <a:solidFill>
                  <a:srgbClr val="0000FF"/>
                </a:solidFill>
                <a:latin typeface="Arial"/>
                <a:cs typeface="Arial"/>
              </a:rPr>
              <a:t>biasing</a:t>
            </a:r>
            <a:r>
              <a:rPr sz="2118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18" b="1" spc="-4" dirty="0">
                <a:solidFill>
                  <a:srgbClr val="0000FF"/>
                </a:solidFill>
                <a:latin typeface="Arial"/>
                <a:cs typeface="Arial"/>
              </a:rPr>
              <a:t>schemes</a:t>
            </a:r>
            <a:endParaRPr sz="2118" dirty="0">
              <a:latin typeface="Arial"/>
              <a:cs typeface="Arial"/>
            </a:endParaRPr>
          </a:p>
          <a:p>
            <a:pPr marL="312100" indent="-246543">
              <a:spcBef>
                <a:spcPts val="9"/>
              </a:spcBef>
              <a:buAutoNum type="romanLcParenBoth"/>
              <a:tabLst>
                <a:tab pos="312661" algn="l"/>
              </a:tabLst>
            </a:pPr>
            <a:r>
              <a:rPr sz="1588" b="1" spc="-4" dirty="0">
                <a:latin typeface="Arial"/>
                <a:cs typeface="Arial"/>
              </a:rPr>
              <a:t>Fixed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bias (base resistor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biasing)</a:t>
            </a:r>
            <a:endParaRPr sz="1588" dirty="0">
              <a:latin typeface="Arial"/>
              <a:cs typeface="Arial"/>
            </a:endParaRPr>
          </a:p>
          <a:p>
            <a:pPr marL="312100" indent="-301454">
              <a:buAutoNum type="romanLcParenBoth"/>
              <a:tabLst>
                <a:tab pos="312661" algn="l"/>
              </a:tabLst>
            </a:pPr>
            <a:r>
              <a:rPr sz="1588" b="1" spc="-4" dirty="0">
                <a:latin typeface="Arial"/>
                <a:cs typeface="Arial"/>
              </a:rPr>
              <a:t>Collector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lang="en-US" sz="1588" b="1" spc="-4" dirty="0">
                <a:latin typeface="Arial"/>
                <a:cs typeface="Arial"/>
              </a:rPr>
              <a:t>Feedback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bias</a:t>
            </a:r>
            <a:endParaRPr sz="1588" dirty="0">
              <a:latin typeface="Arial"/>
              <a:cs typeface="Arial"/>
            </a:endParaRPr>
          </a:p>
          <a:p>
            <a:pPr marL="368693" indent="-358047">
              <a:buAutoNum type="romanLcParenBoth"/>
              <a:tabLst>
                <a:tab pos="369254" algn="l"/>
              </a:tabLst>
            </a:pPr>
            <a:r>
              <a:rPr sz="1588" b="1" spc="-18" dirty="0">
                <a:latin typeface="Arial"/>
                <a:cs typeface="Arial"/>
              </a:rPr>
              <a:t>Voltage</a:t>
            </a:r>
            <a:r>
              <a:rPr sz="1588" b="1" spc="-31" dirty="0">
                <a:latin typeface="Arial"/>
                <a:cs typeface="Arial"/>
              </a:rPr>
              <a:t> </a:t>
            </a:r>
            <a:r>
              <a:rPr sz="1588" b="1" spc="-9" dirty="0">
                <a:latin typeface="Arial"/>
                <a:cs typeface="Arial"/>
              </a:rPr>
              <a:t>divider</a:t>
            </a:r>
            <a:r>
              <a:rPr sz="1588" b="1" spc="-4" dirty="0">
                <a:latin typeface="Arial"/>
                <a:cs typeface="Arial"/>
              </a:rPr>
              <a:t> bias</a:t>
            </a:r>
            <a:endParaRPr sz="158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211" y="1129278"/>
            <a:ext cx="5613625" cy="390982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lang="en-US" sz="2471" spc="-4" dirty="0">
                <a:latin typeface="Arial"/>
                <a:cs typeface="Arial"/>
              </a:rPr>
              <a:t>Stability factor for </a:t>
            </a:r>
            <a:r>
              <a:rPr sz="2471" spc="-4" dirty="0">
                <a:latin typeface="Arial"/>
                <a:cs typeface="Arial"/>
              </a:rPr>
              <a:t>Fixed</a:t>
            </a:r>
            <a:r>
              <a:rPr sz="2471" spc="-62" dirty="0">
                <a:latin typeface="Arial"/>
                <a:cs typeface="Arial"/>
              </a:rPr>
              <a:t> </a:t>
            </a:r>
            <a:r>
              <a:rPr sz="2471" spc="-4" dirty="0">
                <a:latin typeface="Arial"/>
                <a:cs typeface="Arial"/>
              </a:rPr>
              <a:t>Bias</a:t>
            </a:r>
            <a:endParaRPr sz="2471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639371" y="5863124"/>
            <a:ext cx="110378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dirty="0">
                <a:latin typeface="Arial MT"/>
                <a:cs typeface="Arial MT"/>
              </a:rPr>
              <a:t>5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4682544" y="2710173"/>
            <a:ext cx="4203887" cy="178276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55770" marR="166416" indent="-122711">
              <a:spcBef>
                <a:spcPts val="88"/>
              </a:spcBef>
            </a:pPr>
            <a:r>
              <a:rPr sz="1765" b="1" dirty="0">
                <a:latin typeface="Arial"/>
                <a:cs typeface="Arial"/>
              </a:rPr>
              <a:t>Using KVL </a:t>
            </a:r>
            <a:r>
              <a:rPr sz="1765" b="1" spc="-4" dirty="0">
                <a:latin typeface="Arial"/>
                <a:cs typeface="Arial"/>
              </a:rPr>
              <a:t>in </a:t>
            </a:r>
            <a:r>
              <a:rPr sz="1765" b="1" dirty="0">
                <a:latin typeface="Arial"/>
                <a:cs typeface="Arial"/>
              </a:rPr>
              <a:t>the </a:t>
            </a:r>
            <a:r>
              <a:rPr sz="1765" b="1" spc="-4" dirty="0">
                <a:latin typeface="Arial"/>
                <a:cs typeface="Arial"/>
              </a:rPr>
              <a:t>base-emitter loop </a:t>
            </a:r>
            <a:r>
              <a:rPr sz="1765" b="1" dirty="0">
                <a:latin typeface="Arial"/>
                <a:cs typeface="Arial"/>
              </a:rPr>
              <a:t> </a:t>
            </a:r>
            <a:r>
              <a:rPr sz="1765" b="1" spc="9" dirty="0">
                <a:latin typeface="Arial"/>
                <a:cs typeface="Arial"/>
              </a:rPr>
              <a:t>V</a:t>
            </a:r>
            <a:r>
              <a:rPr sz="1721" b="1" spc="13" baseline="-21367" dirty="0">
                <a:latin typeface="Arial"/>
                <a:cs typeface="Arial"/>
              </a:rPr>
              <a:t>CC</a:t>
            </a:r>
            <a:r>
              <a:rPr sz="1721" b="1" spc="244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–</a:t>
            </a:r>
            <a:r>
              <a:rPr sz="1765" b="1" spc="-9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I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r>
              <a:rPr sz="1765" b="1" spc="4" dirty="0">
                <a:latin typeface="Arial"/>
                <a:cs typeface="Arial"/>
              </a:rPr>
              <a:t>R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r>
              <a:rPr sz="1721" b="1" spc="244" baseline="-21367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–V</a:t>
            </a:r>
            <a:r>
              <a:rPr sz="1721" b="1" spc="6" baseline="-21367" dirty="0">
                <a:latin typeface="Arial"/>
                <a:cs typeface="Arial"/>
              </a:rPr>
              <a:t>BE</a:t>
            </a:r>
            <a:r>
              <a:rPr sz="1721" b="1" spc="251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=</a:t>
            </a:r>
            <a:r>
              <a:rPr sz="1765" b="1" spc="-13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0</a:t>
            </a:r>
            <a:r>
              <a:rPr sz="1765" b="1" spc="-13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;</a:t>
            </a:r>
            <a:r>
              <a:rPr sz="1765" b="1" spc="-13" dirty="0">
                <a:latin typeface="Arial"/>
                <a:cs typeface="Arial"/>
              </a:rPr>
              <a:t> </a:t>
            </a:r>
            <a:r>
              <a:rPr sz="1765" b="1" spc="4" dirty="0">
                <a:solidFill>
                  <a:srgbClr val="007F00"/>
                </a:solidFill>
                <a:latin typeface="Arial"/>
                <a:cs typeface="Arial"/>
              </a:rPr>
              <a:t>I</a:t>
            </a:r>
            <a:r>
              <a:rPr sz="1721" b="1" spc="6" baseline="-21367" dirty="0">
                <a:solidFill>
                  <a:srgbClr val="007F00"/>
                </a:solidFill>
                <a:latin typeface="Arial"/>
                <a:cs typeface="Arial"/>
              </a:rPr>
              <a:t>B</a:t>
            </a:r>
            <a:r>
              <a:rPr sz="1721" b="1" spc="244" baseline="-21367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=</a:t>
            </a:r>
            <a:r>
              <a:rPr sz="1765" b="1" spc="-9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spc="4" dirty="0">
                <a:solidFill>
                  <a:srgbClr val="007F00"/>
                </a:solidFill>
                <a:latin typeface="Arial"/>
                <a:cs typeface="Arial"/>
              </a:rPr>
              <a:t>(V</a:t>
            </a:r>
            <a:r>
              <a:rPr sz="1721" b="1" spc="6" baseline="-21367" dirty="0">
                <a:solidFill>
                  <a:srgbClr val="007F00"/>
                </a:solidFill>
                <a:latin typeface="Arial"/>
                <a:cs typeface="Arial"/>
              </a:rPr>
              <a:t>CC</a:t>
            </a:r>
            <a:r>
              <a:rPr sz="1765" b="1" spc="4" dirty="0">
                <a:solidFill>
                  <a:srgbClr val="007F00"/>
                </a:solidFill>
                <a:latin typeface="Arial"/>
                <a:cs typeface="Arial"/>
              </a:rPr>
              <a:t>-V</a:t>
            </a:r>
            <a:r>
              <a:rPr sz="1721" b="1" spc="6" baseline="-21367" dirty="0">
                <a:solidFill>
                  <a:srgbClr val="007F00"/>
                </a:solidFill>
                <a:latin typeface="Arial"/>
                <a:cs typeface="Arial"/>
              </a:rPr>
              <a:t>BE</a:t>
            </a:r>
            <a:r>
              <a:rPr sz="1765" b="1" spc="4" dirty="0">
                <a:solidFill>
                  <a:srgbClr val="007F00"/>
                </a:solidFill>
                <a:latin typeface="Arial"/>
                <a:cs typeface="Arial"/>
              </a:rPr>
              <a:t>)/R</a:t>
            </a:r>
            <a:r>
              <a:rPr sz="1721" b="1" spc="6" baseline="-21367" dirty="0">
                <a:solidFill>
                  <a:srgbClr val="007F00"/>
                </a:solidFill>
                <a:latin typeface="Arial"/>
                <a:cs typeface="Arial"/>
              </a:rPr>
              <a:t>B</a:t>
            </a:r>
            <a:endParaRPr sz="1721" baseline="-21367" dirty="0">
              <a:latin typeface="Arial"/>
              <a:cs typeface="Arial"/>
            </a:endParaRPr>
          </a:p>
          <a:p>
            <a:pPr marL="326669">
              <a:spcBef>
                <a:spcPts val="1407"/>
              </a:spcBef>
            </a:pPr>
            <a:r>
              <a:rPr sz="2118" spc="-4" dirty="0">
                <a:latin typeface="Arial MT"/>
                <a:cs typeface="Arial MT"/>
              </a:rPr>
              <a:t>I</a:t>
            </a:r>
            <a:r>
              <a:rPr sz="2118" spc="-6" baseline="-20833" dirty="0">
                <a:latin typeface="Arial MT"/>
                <a:cs typeface="Arial MT"/>
              </a:rPr>
              <a:t>C</a:t>
            </a:r>
            <a:r>
              <a:rPr sz="2118" spc="244" baseline="-20833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=</a:t>
            </a:r>
            <a:r>
              <a:rPr sz="2118" spc="-13" dirty="0">
                <a:latin typeface="Arial MT"/>
                <a:cs typeface="Arial MT"/>
              </a:rPr>
              <a:t> </a:t>
            </a:r>
            <a:r>
              <a:rPr sz="2118" spc="4" dirty="0">
                <a:latin typeface="Microsoft Sans Serif"/>
                <a:cs typeface="Microsoft Sans Serif"/>
              </a:rPr>
              <a:t>β</a:t>
            </a:r>
            <a:r>
              <a:rPr sz="2118" spc="4" dirty="0">
                <a:latin typeface="Arial MT"/>
                <a:cs typeface="Arial MT"/>
              </a:rPr>
              <a:t>I</a:t>
            </a:r>
            <a:r>
              <a:rPr sz="2118" spc="6" baseline="-20833" dirty="0">
                <a:latin typeface="Arial MT"/>
                <a:cs typeface="Arial MT"/>
              </a:rPr>
              <a:t>B</a:t>
            </a:r>
            <a:r>
              <a:rPr sz="2118" spc="4" dirty="0">
                <a:latin typeface="Arial MT"/>
                <a:cs typeface="Arial MT"/>
              </a:rPr>
              <a:t>=</a:t>
            </a:r>
            <a:r>
              <a:rPr sz="2118" spc="-35" dirty="0">
                <a:latin typeface="Arial MT"/>
                <a:cs typeface="Arial MT"/>
              </a:rPr>
              <a:t> </a:t>
            </a:r>
            <a:r>
              <a:rPr sz="1765" spc="4" dirty="0">
                <a:latin typeface="Microsoft Sans Serif"/>
                <a:cs typeface="Microsoft Sans Serif"/>
              </a:rPr>
              <a:t>β</a:t>
            </a:r>
            <a:r>
              <a:rPr sz="1765" b="1" spc="4" dirty="0">
                <a:latin typeface="Arial"/>
                <a:cs typeface="Arial"/>
              </a:rPr>
              <a:t>(V</a:t>
            </a:r>
            <a:r>
              <a:rPr sz="1721" b="1" spc="6" baseline="-21367" dirty="0">
                <a:latin typeface="Arial"/>
                <a:cs typeface="Arial"/>
              </a:rPr>
              <a:t>CC</a:t>
            </a:r>
            <a:r>
              <a:rPr sz="1765" b="1" spc="4" dirty="0">
                <a:latin typeface="Arial"/>
                <a:cs typeface="Arial"/>
              </a:rPr>
              <a:t>-V</a:t>
            </a:r>
            <a:r>
              <a:rPr sz="1721" b="1" spc="6" baseline="-21367" dirty="0">
                <a:latin typeface="Arial"/>
                <a:cs typeface="Arial"/>
              </a:rPr>
              <a:t>BE</a:t>
            </a:r>
            <a:r>
              <a:rPr sz="1765" b="1" spc="4" dirty="0">
                <a:latin typeface="Arial"/>
                <a:cs typeface="Arial"/>
              </a:rPr>
              <a:t>)/R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endParaRPr sz="1721" baseline="-21367" dirty="0">
              <a:latin typeface="Arial"/>
              <a:cs typeface="Arial"/>
            </a:endParaRPr>
          </a:p>
          <a:p>
            <a:pPr marL="33619" marR="26896">
              <a:spcBef>
                <a:spcPts val="1421"/>
              </a:spcBef>
            </a:pPr>
            <a:r>
              <a:rPr sz="1765" b="1" dirty="0">
                <a:latin typeface="Arial"/>
                <a:cs typeface="Arial"/>
              </a:rPr>
              <a:t>Using</a:t>
            </a:r>
            <a:r>
              <a:rPr sz="1765" b="1" spc="-31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KVL</a:t>
            </a:r>
            <a:r>
              <a:rPr sz="1765" b="1" spc="-31" dirty="0">
                <a:latin typeface="Arial"/>
                <a:cs typeface="Arial"/>
              </a:rPr>
              <a:t> </a:t>
            </a:r>
            <a:r>
              <a:rPr sz="1765" b="1" spc="-4" dirty="0">
                <a:latin typeface="Arial"/>
                <a:cs typeface="Arial"/>
              </a:rPr>
              <a:t>in</a:t>
            </a:r>
            <a:r>
              <a:rPr sz="1765" b="1" spc="-22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the</a:t>
            </a:r>
            <a:r>
              <a:rPr sz="1765" b="1" spc="-18" dirty="0">
                <a:latin typeface="Arial"/>
                <a:cs typeface="Arial"/>
              </a:rPr>
              <a:t> </a:t>
            </a:r>
            <a:r>
              <a:rPr sz="1765" b="1" spc="-4" dirty="0">
                <a:latin typeface="Arial"/>
                <a:cs typeface="Arial"/>
              </a:rPr>
              <a:t>collector-emitter</a:t>
            </a:r>
            <a:r>
              <a:rPr sz="1765" b="1" spc="-57" dirty="0">
                <a:latin typeface="Arial"/>
                <a:cs typeface="Arial"/>
              </a:rPr>
              <a:t> </a:t>
            </a:r>
            <a:r>
              <a:rPr sz="1765" b="1" spc="-4" dirty="0">
                <a:latin typeface="Arial"/>
                <a:cs typeface="Arial"/>
              </a:rPr>
              <a:t>loop </a:t>
            </a:r>
            <a:r>
              <a:rPr sz="1765" b="1" spc="-476" dirty="0">
                <a:latin typeface="Arial"/>
                <a:cs typeface="Arial"/>
              </a:rPr>
              <a:t> </a:t>
            </a:r>
            <a:r>
              <a:rPr sz="1765" b="1" spc="9" dirty="0">
                <a:latin typeface="Arial"/>
                <a:cs typeface="Arial"/>
              </a:rPr>
              <a:t>V</a:t>
            </a:r>
            <a:r>
              <a:rPr sz="1721" b="1" spc="13" baseline="-21367" dirty="0">
                <a:latin typeface="Arial"/>
                <a:cs typeface="Arial"/>
              </a:rPr>
              <a:t>CC</a:t>
            </a:r>
            <a:r>
              <a:rPr sz="1721" b="1" spc="244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–</a:t>
            </a:r>
            <a:r>
              <a:rPr sz="1765" b="1" spc="-13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I</a:t>
            </a:r>
            <a:r>
              <a:rPr sz="1721" b="1" spc="6" baseline="-21367" dirty="0">
                <a:latin typeface="Arial"/>
                <a:cs typeface="Arial"/>
              </a:rPr>
              <a:t>C</a:t>
            </a:r>
            <a:r>
              <a:rPr sz="1765" b="1" spc="4" dirty="0">
                <a:latin typeface="Arial"/>
                <a:cs typeface="Arial"/>
              </a:rPr>
              <a:t>R</a:t>
            </a:r>
            <a:r>
              <a:rPr sz="1721" b="1" spc="6" baseline="-21367" dirty="0">
                <a:latin typeface="Arial"/>
                <a:cs typeface="Arial"/>
              </a:rPr>
              <a:t>C</a:t>
            </a:r>
            <a:r>
              <a:rPr sz="1721" b="1" spc="244" baseline="-21367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–V</a:t>
            </a:r>
            <a:r>
              <a:rPr sz="1721" b="1" spc="6" baseline="-21367" dirty="0">
                <a:latin typeface="Arial"/>
                <a:cs typeface="Arial"/>
              </a:rPr>
              <a:t>CE</a:t>
            </a:r>
            <a:r>
              <a:rPr sz="1721" b="1" spc="244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=</a:t>
            </a:r>
            <a:r>
              <a:rPr sz="1765" b="1" spc="-9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0;</a:t>
            </a:r>
            <a:r>
              <a:rPr sz="1765" b="1" spc="-13" dirty="0">
                <a:latin typeface="Arial"/>
                <a:cs typeface="Arial"/>
              </a:rPr>
              <a:t> </a:t>
            </a:r>
            <a:r>
              <a:rPr sz="1765" b="1" spc="9" dirty="0">
                <a:solidFill>
                  <a:srgbClr val="007F00"/>
                </a:solidFill>
                <a:latin typeface="Arial"/>
                <a:cs typeface="Arial"/>
              </a:rPr>
              <a:t>V</a:t>
            </a:r>
            <a:r>
              <a:rPr sz="1721" b="1" spc="13" baseline="-21367" dirty="0">
                <a:solidFill>
                  <a:srgbClr val="007F00"/>
                </a:solidFill>
                <a:latin typeface="Arial"/>
                <a:cs typeface="Arial"/>
              </a:rPr>
              <a:t>CE</a:t>
            </a:r>
            <a:r>
              <a:rPr sz="1721" b="1" spc="244" baseline="-21367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=</a:t>
            </a:r>
            <a:r>
              <a:rPr sz="1765" b="1" spc="-9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spc="9" dirty="0">
                <a:solidFill>
                  <a:srgbClr val="007F00"/>
                </a:solidFill>
                <a:latin typeface="Arial"/>
                <a:cs typeface="Arial"/>
              </a:rPr>
              <a:t>V</a:t>
            </a:r>
            <a:r>
              <a:rPr sz="1721" b="1" spc="13" baseline="-21367" dirty="0">
                <a:solidFill>
                  <a:srgbClr val="007F00"/>
                </a:solidFill>
                <a:latin typeface="Arial"/>
                <a:cs typeface="Arial"/>
              </a:rPr>
              <a:t>CC</a:t>
            </a:r>
            <a:r>
              <a:rPr sz="1721" b="1" spc="26" baseline="-21367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-</a:t>
            </a:r>
            <a:r>
              <a:rPr sz="1765" b="1" spc="-13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spc="4" dirty="0">
                <a:solidFill>
                  <a:srgbClr val="007F00"/>
                </a:solidFill>
                <a:latin typeface="Arial"/>
                <a:cs typeface="Arial"/>
              </a:rPr>
              <a:t>I</a:t>
            </a:r>
            <a:r>
              <a:rPr sz="1721" b="1" spc="6" baseline="-21367" dirty="0">
                <a:solidFill>
                  <a:srgbClr val="007F00"/>
                </a:solidFill>
                <a:latin typeface="Arial"/>
                <a:cs typeface="Arial"/>
              </a:rPr>
              <a:t>C</a:t>
            </a:r>
            <a:r>
              <a:rPr sz="1765" b="1" spc="4" dirty="0">
                <a:solidFill>
                  <a:srgbClr val="007F00"/>
                </a:solidFill>
                <a:latin typeface="Arial"/>
                <a:cs typeface="Arial"/>
              </a:rPr>
              <a:t>R</a:t>
            </a:r>
            <a:r>
              <a:rPr sz="1721" b="1" spc="6" baseline="-21367" dirty="0">
                <a:solidFill>
                  <a:srgbClr val="007F00"/>
                </a:solidFill>
                <a:latin typeface="Arial"/>
                <a:cs typeface="Arial"/>
              </a:rPr>
              <a:t>C</a:t>
            </a:r>
            <a:endParaRPr sz="1721" baseline="-21367" dirty="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195842" y="3675672"/>
            <a:ext cx="1610846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Q(V</a:t>
            </a:r>
            <a:r>
              <a:rPr sz="1721" b="1" baseline="-21367" dirty="0">
                <a:solidFill>
                  <a:srgbClr val="007F00"/>
                </a:solidFill>
                <a:latin typeface="Arial"/>
                <a:cs typeface="Arial"/>
              </a:rPr>
              <a:t>CE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,I</a:t>
            </a:r>
            <a:r>
              <a:rPr sz="1721" b="1" baseline="-21367" dirty="0">
                <a:solidFill>
                  <a:srgbClr val="007F00"/>
                </a:solidFill>
                <a:latin typeface="Arial"/>
                <a:cs typeface="Arial"/>
              </a:rPr>
              <a:t>C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)</a:t>
            </a:r>
            <a:r>
              <a:rPr sz="1765" b="1" spc="-49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007F00"/>
                </a:solidFill>
                <a:latin typeface="Arial"/>
                <a:cs typeface="Arial"/>
              </a:rPr>
              <a:t>is</a:t>
            </a:r>
            <a:r>
              <a:rPr sz="1765" b="1" spc="-31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set</a:t>
            </a:r>
            <a:endParaRPr sz="1765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7717551" y="3440800"/>
            <a:ext cx="2447365" cy="257175"/>
            <a:chOff x="4255008" y="5760720"/>
            <a:chExt cx="2773680" cy="291465"/>
          </a:xfrm>
        </p:grpSpPr>
        <p:sp>
          <p:nvSpPr>
            <p:cNvPr id="83" name="object 83"/>
            <p:cNvSpPr/>
            <p:nvPr/>
          </p:nvSpPr>
          <p:spPr>
            <a:xfrm>
              <a:off x="4267199" y="5791199"/>
              <a:ext cx="2743200" cy="228600"/>
            </a:xfrm>
            <a:custGeom>
              <a:avLst/>
              <a:gdLst/>
              <a:ahLst/>
              <a:cxnLst/>
              <a:rect l="l" t="t" r="r" b="b"/>
              <a:pathLst>
                <a:path w="2743200" h="228600">
                  <a:moveTo>
                    <a:pt x="2743199" y="114299"/>
                  </a:moveTo>
                  <a:lnTo>
                    <a:pt x="2628899" y="0"/>
                  </a:lnTo>
                  <a:lnTo>
                    <a:pt x="2628899" y="57911"/>
                  </a:lnTo>
                  <a:lnTo>
                    <a:pt x="0" y="57911"/>
                  </a:lnTo>
                  <a:lnTo>
                    <a:pt x="0" y="172211"/>
                  </a:lnTo>
                  <a:lnTo>
                    <a:pt x="2628899" y="172211"/>
                  </a:lnTo>
                  <a:lnTo>
                    <a:pt x="2628899" y="228599"/>
                  </a:lnTo>
                  <a:lnTo>
                    <a:pt x="2743199" y="114299"/>
                  </a:lnTo>
                  <a:close/>
                </a:path>
              </a:pathLst>
            </a:custGeom>
            <a:solidFill>
              <a:srgbClr val="BAE0E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4255008" y="5760720"/>
              <a:ext cx="2773680" cy="291465"/>
            </a:xfrm>
            <a:custGeom>
              <a:avLst/>
              <a:gdLst/>
              <a:ahLst/>
              <a:cxnLst/>
              <a:rect l="l" t="t" r="r" b="b"/>
              <a:pathLst>
                <a:path w="2773679" h="291464">
                  <a:moveTo>
                    <a:pt x="2641092" y="76200"/>
                  </a:moveTo>
                  <a:lnTo>
                    <a:pt x="0" y="76200"/>
                  </a:lnTo>
                  <a:lnTo>
                    <a:pt x="0" y="214884"/>
                  </a:lnTo>
                  <a:lnTo>
                    <a:pt x="12192" y="214884"/>
                  </a:lnTo>
                  <a:lnTo>
                    <a:pt x="12192" y="100584"/>
                  </a:lnTo>
                  <a:lnTo>
                    <a:pt x="25908" y="88392"/>
                  </a:lnTo>
                  <a:lnTo>
                    <a:pt x="25908" y="100584"/>
                  </a:lnTo>
                  <a:lnTo>
                    <a:pt x="2628900" y="100584"/>
                  </a:lnTo>
                  <a:lnTo>
                    <a:pt x="2628900" y="88392"/>
                  </a:lnTo>
                  <a:lnTo>
                    <a:pt x="2641092" y="76200"/>
                  </a:lnTo>
                  <a:close/>
                </a:path>
                <a:path w="2773679" h="291464">
                  <a:moveTo>
                    <a:pt x="25908" y="100584"/>
                  </a:moveTo>
                  <a:lnTo>
                    <a:pt x="25908" y="88392"/>
                  </a:lnTo>
                  <a:lnTo>
                    <a:pt x="12192" y="100584"/>
                  </a:lnTo>
                  <a:lnTo>
                    <a:pt x="25908" y="100584"/>
                  </a:lnTo>
                  <a:close/>
                </a:path>
                <a:path w="2773679" h="291464">
                  <a:moveTo>
                    <a:pt x="25908" y="190500"/>
                  </a:moveTo>
                  <a:lnTo>
                    <a:pt x="25908" y="100584"/>
                  </a:lnTo>
                  <a:lnTo>
                    <a:pt x="12192" y="100584"/>
                  </a:lnTo>
                  <a:lnTo>
                    <a:pt x="12192" y="190500"/>
                  </a:lnTo>
                  <a:lnTo>
                    <a:pt x="25908" y="190500"/>
                  </a:lnTo>
                  <a:close/>
                </a:path>
                <a:path w="2773679" h="291464">
                  <a:moveTo>
                    <a:pt x="2654808" y="230124"/>
                  </a:moveTo>
                  <a:lnTo>
                    <a:pt x="2654808" y="190500"/>
                  </a:lnTo>
                  <a:lnTo>
                    <a:pt x="12192" y="190500"/>
                  </a:lnTo>
                  <a:lnTo>
                    <a:pt x="25908" y="202692"/>
                  </a:lnTo>
                  <a:lnTo>
                    <a:pt x="25908" y="214884"/>
                  </a:lnTo>
                  <a:lnTo>
                    <a:pt x="2628900" y="214884"/>
                  </a:lnTo>
                  <a:lnTo>
                    <a:pt x="2628900" y="202692"/>
                  </a:lnTo>
                  <a:lnTo>
                    <a:pt x="2641092" y="214884"/>
                  </a:lnTo>
                  <a:lnTo>
                    <a:pt x="2641092" y="243840"/>
                  </a:lnTo>
                  <a:lnTo>
                    <a:pt x="2654808" y="230124"/>
                  </a:lnTo>
                  <a:close/>
                </a:path>
                <a:path w="2773679" h="291464">
                  <a:moveTo>
                    <a:pt x="25908" y="214884"/>
                  </a:moveTo>
                  <a:lnTo>
                    <a:pt x="25908" y="202692"/>
                  </a:lnTo>
                  <a:lnTo>
                    <a:pt x="12192" y="190500"/>
                  </a:lnTo>
                  <a:lnTo>
                    <a:pt x="12192" y="214884"/>
                  </a:lnTo>
                  <a:lnTo>
                    <a:pt x="25908" y="214884"/>
                  </a:lnTo>
                  <a:close/>
                </a:path>
                <a:path w="2773679" h="291464">
                  <a:moveTo>
                    <a:pt x="2773680" y="144780"/>
                  </a:moveTo>
                  <a:lnTo>
                    <a:pt x="2628900" y="0"/>
                  </a:lnTo>
                  <a:lnTo>
                    <a:pt x="2628900" y="76200"/>
                  </a:lnTo>
                  <a:lnTo>
                    <a:pt x="2633472" y="76200"/>
                  </a:lnTo>
                  <a:lnTo>
                    <a:pt x="2633472" y="39624"/>
                  </a:lnTo>
                  <a:lnTo>
                    <a:pt x="2654808" y="30480"/>
                  </a:lnTo>
                  <a:lnTo>
                    <a:pt x="2654808" y="60960"/>
                  </a:lnTo>
                  <a:lnTo>
                    <a:pt x="2739390" y="145542"/>
                  </a:lnTo>
                  <a:lnTo>
                    <a:pt x="2747772" y="137160"/>
                  </a:lnTo>
                  <a:lnTo>
                    <a:pt x="2747772" y="170960"/>
                  </a:lnTo>
                  <a:lnTo>
                    <a:pt x="2773680" y="144780"/>
                  </a:lnTo>
                  <a:close/>
                </a:path>
                <a:path w="2773679" h="291464">
                  <a:moveTo>
                    <a:pt x="2641092" y="100584"/>
                  </a:moveTo>
                  <a:lnTo>
                    <a:pt x="2641092" y="76200"/>
                  </a:lnTo>
                  <a:lnTo>
                    <a:pt x="2628900" y="88392"/>
                  </a:lnTo>
                  <a:lnTo>
                    <a:pt x="2628900" y="100584"/>
                  </a:lnTo>
                  <a:lnTo>
                    <a:pt x="2641092" y="100584"/>
                  </a:lnTo>
                  <a:close/>
                </a:path>
                <a:path w="2773679" h="291464">
                  <a:moveTo>
                    <a:pt x="2641092" y="214884"/>
                  </a:moveTo>
                  <a:lnTo>
                    <a:pt x="2628900" y="202692"/>
                  </a:lnTo>
                  <a:lnTo>
                    <a:pt x="2628900" y="214884"/>
                  </a:lnTo>
                  <a:lnTo>
                    <a:pt x="2641092" y="214884"/>
                  </a:lnTo>
                  <a:close/>
                </a:path>
                <a:path w="2773679" h="291464">
                  <a:moveTo>
                    <a:pt x="2641092" y="243840"/>
                  </a:moveTo>
                  <a:lnTo>
                    <a:pt x="2641092" y="214884"/>
                  </a:lnTo>
                  <a:lnTo>
                    <a:pt x="2628900" y="214884"/>
                  </a:lnTo>
                  <a:lnTo>
                    <a:pt x="2628900" y="291084"/>
                  </a:lnTo>
                  <a:lnTo>
                    <a:pt x="2633472" y="286463"/>
                  </a:lnTo>
                  <a:lnTo>
                    <a:pt x="2633472" y="251460"/>
                  </a:lnTo>
                  <a:lnTo>
                    <a:pt x="2641092" y="243840"/>
                  </a:lnTo>
                  <a:close/>
                </a:path>
                <a:path w="2773679" h="291464">
                  <a:moveTo>
                    <a:pt x="2654808" y="60960"/>
                  </a:moveTo>
                  <a:lnTo>
                    <a:pt x="2654808" y="30480"/>
                  </a:lnTo>
                  <a:lnTo>
                    <a:pt x="2633472" y="39624"/>
                  </a:lnTo>
                  <a:lnTo>
                    <a:pt x="2654808" y="60960"/>
                  </a:lnTo>
                  <a:close/>
                </a:path>
                <a:path w="2773679" h="291464">
                  <a:moveTo>
                    <a:pt x="2654808" y="100584"/>
                  </a:moveTo>
                  <a:lnTo>
                    <a:pt x="2654808" y="60960"/>
                  </a:lnTo>
                  <a:lnTo>
                    <a:pt x="2633472" y="39624"/>
                  </a:lnTo>
                  <a:lnTo>
                    <a:pt x="2633472" y="76200"/>
                  </a:lnTo>
                  <a:lnTo>
                    <a:pt x="2641092" y="76200"/>
                  </a:lnTo>
                  <a:lnTo>
                    <a:pt x="2641092" y="100584"/>
                  </a:lnTo>
                  <a:lnTo>
                    <a:pt x="2654808" y="100584"/>
                  </a:lnTo>
                  <a:close/>
                </a:path>
                <a:path w="2773679" h="291464">
                  <a:moveTo>
                    <a:pt x="2747772" y="170960"/>
                  </a:moveTo>
                  <a:lnTo>
                    <a:pt x="2747772" y="153924"/>
                  </a:lnTo>
                  <a:lnTo>
                    <a:pt x="2739390" y="145542"/>
                  </a:lnTo>
                  <a:lnTo>
                    <a:pt x="2633472" y="251460"/>
                  </a:lnTo>
                  <a:lnTo>
                    <a:pt x="2654808" y="259080"/>
                  </a:lnTo>
                  <a:lnTo>
                    <a:pt x="2654808" y="264903"/>
                  </a:lnTo>
                  <a:lnTo>
                    <a:pt x="2747772" y="170960"/>
                  </a:lnTo>
                  <a:close/>
                </a:path>
                <a:path w="2773679" h="291464">
                  <a:moveTo>
                    <a:pt x="2654808" y="264903"/>
                  </a:moveTo>
                  <a:lnTo>
                    <a:pt x="2654808" y="259080"/>
                  </a:lnTo>
                  <a:lnTo>
                    <a:pt x="2633472" y="251460"/>
                  </a:lnTo>
                  <a:lnTo>
                    <a:pt x="2633472" y="286463"/>
                  </a:lnTo>
                  <a:lnTo>
                    <a:pt x="2654808" y="264903"/>
                  </a:lnTo>
                  <a:close/>
                </a:path>
                <a:path w="2773679" h="291464">
                  <a:moveTo>
                    <a:pt x="2747772" y="153924"/>
                  </a:moveTo>
                  <a:lnTo>
                    <a:pt x="2747772" y="137160"/>
                  </a:lnTo>
                  <a:lnTo>
                    <a:pt x="2739390" y="145542"/>
                  </a:lnTo>
                  <a:lnTo>
                    <a:pt x="2747772" y="153924"/>
                  </a:lnTo>
                  <a:close/>
                </a:path>
              </a:pathLst>
            </a:custGeom>
            <a:solidFill>
              <a:srgbClr val="88A3A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8391249" y="3955822"/>
            <a:ext cx="2073649" cy="495300"/>
            <a:chOff x="5018532" y="6344412"/>
            <a:chExt cx="2350135" cy="561340"/>
          </a:xfrm>
        </p:grpSpPr>
        <p:sp>
          <p:nvSpPr>
            <p:cNvPr id="86" name="object 86"/>
            <p:cNvSpPr/>
            <p:nvPr/>
          </p:nvSpPr>
          <p:spPr>
            <a:xfrm>
              <a:off x="5032247" y="6371844"/>
              <a:ext cx="2318385" cy="518159"/>
            </a:xfrm>
            <a:custGeom>
              <a:avLst/>
              <a:gdLst/>
              <a:ahLst/>
              <a:cxnLst/>
              <a:rect l="l" t="t" r="r" b="b"/>
              <a:pathLst>
                <a:path w="2318384" h="518159">
                  <a:moveTo>
                    <a:pt x="2318003" y="91439"/>
                  </a:moveTo>
                  <a:lnTo>
                    <a:pt x="2191511" y="0"/>
                  </a:lnTo>
                  <a:lnTo>
                    <a:pt x="2200655" y="54863"/>
                  </a:lnTo>
                  <a:lnTo>
                    <a:pt x="0" y="409955"/>
                  </a:lnTo>
                  <a:lnTo>
                    <a:pt x="18287" y="518159"/>
                  </a:lnTo>
                  <a:lnTo>
                    <a:pt x="2217419" y="164591"/>
                  </a:lnTo>
                  <a:lnTo>
                    <a:pt x="2226563" y="217931"/>
                  </a:lnTo>
                  <a:lnTo>
                    <a:pt x="2318003" y="91439"/>
                  </a:lnTo>
                  <a:close/>
                </a:path>
              </a:pathLst>
            </a:custGeom>
            <a:solidFill>
              <a:srgbClr val="BAE0E3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5018532" y="6344412"/>
              <a:ext cx="2350135" cy="561340"/>
            </a:xfrm>
            <a:custGeom>
              <a:avLst/>
              <a:gdLst/>
              <a:ahLst/>
              <a:cxnLst/>
              <a:rect l="l" t="t" r="r" b="b"/>
              <a:pathLst>
                <a:path w="2350134" h="561340">
                  <a:moveTo>
                    <a:pt x="2211324" y="95667"/>
                  </a:moveTo>
                  <a:lnTo>
                    <a:pt x="2211324" y="70104"/>
                  </a:lnTo>
                  <a:lnTo>
                    <a:pt x="2202180" y="85344"/>
                  </a:lnTo>
                  <a:lnTo>
                    <a:pt x="2200023" y="71926"/>
                  </a:lnTo>
                  <a:lnTo>
                    <a:pt x="0" y="426720"/>
                  </a:lnTo>
                  <a:lnTo>
                    <a:pt x="16764" y="532093"/>
                  </a:lnTo>
                  <a:lnTo>
                    <a:pt x="16764" y="449580"/>
                  </a:lnTo>
                  <a:lnTo>
                    <a:pt x="27432" y="434340"/>
                  </a:lnTo>
                  <a:lnTo>
                    <a:pt x="29447" y="447534"/>
                  </a:lnTo>
                  <a:lnTo>
                    <a:pt x="2211324" y="95667"/>
                  </a:lnTo>
                  <a:close/>
                </a:path>
                <a:path w="2350134" h="561340">
                  <a:moveTo>
                    <a:pt x="29447" y="447534"/>
                  </a:moveTo>
                  <a:lnTo>
                    <a:pt x="27432" y="434340"/>
                  </a:lnTo>
                  <a:lnTo>
                    <a:pt x="16764" y="449580"/>
                  </a:lnTo>
                  <a:lnTo>
                    <a:pt x="29447" y="447534"/>
                  </a:lnTo>
                  <a:close/>
                </a:path>
                <a:path w="2350134" h="561340">
                  <a:moveTo>
                    <a:pt x="42275" y="531497"/>
                  </a:moveTo>
                  <a:lnTo>
                    <a:pt x="29447" y="447534"/>
                  </a:lnTo>
                  <a:lnTo>
                    <a:pt x="16764" y="449580"/>
                  </a:lnTo>
                  <a:lnTo>
                    <a:pt x="16764" y="532093"/>
                  </a:lnTo>
                  <a:lnTo>
                    <a:pt x="21336" y="560832"/>
                  </a:lnTo>
                  <a:lnTo>
                    <a:pt x="30480" y="559358"/>
                  </a:lnTo>
                  <a:lnTo>
                    <a:pt x="30480" y="533400"/>
                  </a:lnTo>
                  <a:lnTo>
                    <a:pt x="42275" y="531497"/>
                  </a:lnTo>
                  <a:close/>
                </a:path>
                <a:path w="2350134" h="561340">
                  <a:moveTo>
                    <a:pt x="44196" y="544068"/>
                  </a:moveTo>
                  <a:lnTo>
                    <a:pt x="42275" y="531497"/>
                  </a:lnTo>
                  <a:lnTo>
                    <a:pt x="30480" y="533400"/>
                  </a:lnTo>
                  <a:lnTo>
                    <a:pt x="44196" y="544068"/>
                  </a:lnTo>
                  <a:close/>
                </a:path>
                <a:path w="2350134" h="561340">
                  <a:moveTo>
                    <a:pt x="44196" y="557147"/>
                  </a:moveTo>
                  <a:lnTo>
                    <a:pt x="44196" y="544068"/>
                  </a:lnTo>
                  <a:lnTo>
                    <a:pt x="30480" y="533400"/>
                  </a:lnTo>
                  <a:lnTo>
                    <a:pt x="30480" y="559358"/>
                  </a:lnTo>
                  <a:lnTo>
                    <a:pt x="44196" y="557147"/>
                  </a:lnTo>
                  <a:close/>
                </a:path>
                <a:path w="2350134" h="561340">
                  <a:moveTo>
                    <a:pt x="2247752" y="214173"/>
                  </a:moveTo>
                  <a:lnTo>
                    <a:pt x="2241804" y="176784"/>
                  </a:lnTo>
                  <a:lnTo>
                    <a:pt x="42275" y="531497"/>
                  </a:lnTo>
                  <a:lnTo>
                    <a:pt x="44196" y="544068"/>
                  </a:lnTo>
                  <a:lnTo>
                    <a:pt x="44196" y="557147"/>
                  </a:lnTo>
                  <a:lnTo>
                    <a:pt x="2218944" y="206672"/>
                  </a:lnTo>
                  <a:lnTo>
                    <a:pt x="2218944" y="193548"/>
                  </a:lnTo>
                  <a:lnTo>
                    <a:pt x="2234184" y="204216"/>
                  </a:lnTo>
                  <a:lnTo>
                    <a:pt x="2234184" y="232943"/>
                  </a:lnTo>
                  <a:lnTo>
                    <a:pt x="2247752" y="214173"/>
                  </a:lnTo>
                  <a:close/>
                </a:path>
                <a:path w="2350134" h="561340">
                  <a:moveTo>
                    <a:pt x="2350008" y="117348"/>
                  </a:moveTo>
                  <a:lnTo>
                    <a:pt x="2188464" y="0"/>
                  </a:lnTo>
                  <a:lnTo>
                    <a:pt x="2197608" y="56896"/>
                  </a:lnTo>
                  <a:lnTo>
                    <a:pt x="2197608" y="38100"/>
                  </a:lnTo>
                  <a:lnTo>
                    <a:pt x="2217420" y="25908"/>
                  </a:lnTo>
                  <a:lnTo>
                    <a:pt x="2222186" y="55867"/>
                  </a:lnTo>
                  <a:lnTo>
                    <a:pt x="2314138" y="122339"/>
                  </a:lnTo>
                  <a:lnTo>
                    <a:pt x="2321052" y="112776"/>
                  </a:lnTo>
                  <a:lnTo>
                    <a:pt x="2324100" y="129540"/>
                  </a:lnTo>
                  <a:lnTo>
                    <a:pt x="2324100" y="153013"/>
                  </a:lnTo>
                  <a:lnTo>
                    <a:pt x="2350008" y="117348"/>
                  </a:lnTo>
                  <a:close/>
                </a:path>
                <a:path w="2350134" h="561340">
                  <a:moveTo>
                    <a:pt x="2222186" y="55867"/>
                  </a:moveTo>
                  <a:lnTo>
                    <a:pt x="2217420" y="25908"/>
                  </a:lnTo>
                  <a:lnTo>
                    <a:pt x="2197608" y="38100"/>
                  </a:lnTo>
                  <a:lnTo>
                    <a:pt x="2222186" y="55867"/>
                  </a:lnTo>
                  <a:close/>
                </a:path>
                <a:path w="2350134" h="561340">
                  <a:moveTo>
                    <a:pt x="2228088" y="92964"/>
                  </a:moveTo>
                  <a:lnTo>
                    <a:pt x="2222186" y="55867"/>
                  </a:lnTo>
                  <a:lnTo>
                    <a:pt x="2197608" y="38100"/>
                  </a:lnTo>
                  <a:lnTo>
                    <a:pt x="2197608" y="56896"/>
                  </a:lnTo>
                  <a:lnTo>
                    <a:pt x="2200023" y="71926"/>
                  </a:lnTo>
                  <a:lnTo>
                    <a:pt x="2211324" y="70104"/>
                  </a:lnTo>
                  <a:lnTo>
                    <a:pt x="2211324" y="95667"/>
                  </a:lnTo>
                  <a:lnTo>
                    <a:pt x="2228088" y="92964"/>
                  </a:lnTo>
                  <a:close/>
                </a:path>
                <a:path w="2350134" h="561340">
                  <a:moveTo>
                    <a:pt x="2211324" y="70104"/>
                  </a:moveTo>
                  <a:lnTo>
                    <a:pt x="2200023" y="71926"/>
                  </a:lnTo>
                  <a:lnTo>
                    <a:pt x="2202180" y="85344"/>
                  </a:lnTo>
                  <a:lnTo>
                    <a:pt x="2211324" y="70104"/>
                  </a:lnTo>
                  <a:close/>
                </a:path>
                <a:path w="2350134" h="561340">
                  <a:moveTo>
                    <a:pt x="2234184" y="204216"/>
                  </a:moveTo>
                  <a:lnTo>
                    <a:pt x="2218944" y="193548"/>
                  </a:lnTo>
                  <a:lnTo>
                    <a:pt x="2221000" y="206340"/>
                  </a:lnTo>
                  <a:lnTo>
                    <a:pt x="2234184" y="204216"/>
                  </a:lnTo>
                  <a:close/>
                </a:path>
                <a:path w="2350134" h="561340">
                  <a:moveTo>
                    <a:pt x="2221000" y="206340"/>
                  </a:moveTo>
                  <a:lnTo>
                    <a:pt x="2218944" y="193548"/>
                  </a:lnTo>
                  <a:lnTo>
                    <a:pt x="2218944" y="206672"/>
                  </a:lnTo>
                  <a:lnTo>
                    <a:pt x="2221000" y="206340"/>
                  </a:lnTo>
                  <a:close/>
                </a:path>
                <a:path w="2350134" h="561340">
                  <a:moveTo>
                    <a:pt x="2234184" y="232943"/>
                  </a:moveTo>
                  <a:lnTo>
                    <a:pt x="2234184" y="204216"/>
                  </a:lnTo>
                  <a:lnTo>
                    <a:pt x="2221000" y="206340"/>
                  </a:lnTo>
                  <a:lnTo>
                    <a:pt x="2229612" y="259926"/>
                  </a:lnTo>
                  <a:lnTo>
                    <a:pt x="2229612" y="239268"/>
                  </a:lnTo>
                  <a:lnTo>
                    <a:pt x="2234184" y="232943"/>
                  </a:lnTo>
                  <a:close/>
                </a:path>
                <a:path w="2350134" h="561340">
                  <a:moveTo>
                    <a:pt x="2252472" y="243840"/>
                  </a:moveTo>
                  <a:lnTo>
                    <a:pt x="2247752" y="214173"/>
                  </a:lnTo>
                  <a:lnTo>
                    <a:pt x="2229612" y="239268"/>
                  </a:lnTo>
                  <a:lnTo>
                    <a:pt x="2252472" y="243840"/>
                  </a:lnTo>
                  <a:close/>
                </a:path>
                <a:path w="2350134" h="561340">
                  <a:moveTo>
                    <a:pt x="2252472" y="251618"/>
                  </a:moveTo>
                  <a:lnTo>
                    <a:pt x="2252472" y="243840"/>
                  </a:lnTo>
                  <a:lnTo>
                    <a:pt x="2229612" y="239268"/>
                  </a:lnTo>
                  <a:lnTo>
                    <a:pt x="2229612" y="259926"/>
                  </a:lnTo>
                  <a:lnTo>
                    <a:pt x="2232660" y="278892"/>
                  </a:lnTo>
                  <a:lnTo>
                    <a:pt x="2252472" y="251618"/>
                  </a:lnTo>
                  <a:close/>
                </a:path>
                <a:path w="2350134" h="561340">
                  <a:moveTo>
                    <a:pt x="2324100" y="153013"/>
                  </a:moveTo>
                  <a:lnTo>
                    <a:pt x="2324100" y="129540"/>
                  </a:lnTo>
                  <a:lnTo>
                    <a:pt x="2314138" y="122339"/>
                  </a:lnTo>
                  <a:lnTo>
                    <a:pt x="2247752" y="214173"/>
                  </a:lnTo>
                  <a:lnTo>
                    <a:pt x="2252472" y="243840"/>
                  </a:lnTo>
                  <a:lnTo>
                    <a:pt x="2252472" y="251618"/>
                  </a:lnTo>
                  <a:lnTo>
                    <a:pt x="2324100" y="153013"/>
                  </a:lnTo>
                  <a:close/>
                </a:path>
                <a:path w="2350134" h="561340">
                  <a:moveTo>
                    <a:pt x="2324100" y="129540"/>
                  </a:moveTo>
                  <a:lnTo>
                    <a:pt x="2321052" y="112776"/>
                  </a:lnTo>
                  <a:lnTo>
                    <a:pt x="2314138" y="122339"/>
                  </a:lnTo>
                  <a:lnTo>
                    <a:pt x="2324100" y="129540"/>
                  </a:lnTo>
                  <a:close/>
                </a:path>
              </a:pathLst>
            </a:custGeom>
            <a:solidFill>
              <a:srgbClr val="88A3A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0A26BFA0-77A2-6FF6-94D6-AC03EE925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38" y="2069853"/>
            <a:ext cx="1716495" cy="229235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41DC105-57E5-2285-1C43-C0E36A59D453}"/>
              </a:ext>
            </a:extLst>
          </p:cNvPr>
          <p:cNvSpPr txBox="1"/>
          <p:nvPr/>
        </p:nvSpPr>
        <p:spPr>
          <a:xfrm>
            <a:off x="488418" y="4454403"/>
            <a:ext cx="1716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6.1.  Fixed Bias</a:t>
            </a:r>
            <a:endParaRPr lang="en-I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14812" y="6770006"/>
            <a:ext cx="2749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>
              <a:lnSpc>
                <a:spcPts val="1465"/>
              </a:lnSpc>
            </a:pPr>
            <a:fld id="{81D60167-4931-47E6-BA6A-407CBD079E47}" type="slidenum">
              <a:rPr lang="en-IN" smtClean="0"/>
              <a:pPr marL="136525">
                <a:lnSpc>
                  <a:spcPts val="1465"/>
                </a:lnSpc>
              </a:pPr>
              <a:t>8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438539" y="1926679"/>
            <a:ext cx="11597951" cy="40399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66679">
              <a:spcBef>
                <a:spcPts val="88"/>
              </a:spcBef>
            </a:pPr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Advantages:</a:t>
            </a:r>
            <a:endParaRPr sz="1765" dirty="0">
              <a:latin typeface="Arial"/>
              <a:cs typeface="Arial"/>
            </a:endParaRPr>
          </a:p>
          <a:p>
            <a:pPr marL="66679" marR="49309">
              <a:spcBef>
                <a:spcPts val="9"/>
              </a:spcBef>
              <a:buFont typeface="MS UI Gothic"/>
              <a:buChar char="➢"/>
              <a:tabLst>
                <a:tab pos="282403" algn="l"/>
              </a:tabLst>
            </a:pPr>
            <a:r>
              <a:rPr sz="1588" b="1" spc="-4" dirty="0">
                <a:latin typeface="Arial"/>
                <a:cs typeface="Arial"/>
              </a:rPr>
              <a:t>Operating </a:t>
            </a:r>
            <a:r>
              <a:rPr sz="1588" b="1" dirty="0">
                <a:latin typeface="Arial"/>
                <a:cs typeface="Arial"/>
              </a:rPr>
              <a:t>point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can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be</a:t>
            </a:r>
            <a:r>
              <a:rPr sz="1588" b="1" spc="-4" dirty="0">
                <a:latin typeface="Arial"/>
                <a:cs typeface="Arial"/>
              </a:rPr>
              <a:t> shifted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easily </a:t>
            </a:r>
            <a:r>
              <a:rPr sz="1588" b="1" dirty="0">
                <a:latin typeface="Arial"/>
                <a:cs typeface="Arial"/>
              </a:rPr>
              <a:t>anywhere</a:t>
            </a:r>
            <a:r>
              <a:rPr sz="1588" b="1" spc="-22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in the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spc="-9" dirty="0">
                <a:latin typeface="Arial"/>
                <a:cs typeface="Arial"/>
              </a:rPr>
              <a:t>active</a:t>
            </a:r>
            <a:r>
              <a:rPr sz="1588" b="1" spc="4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region </a:t>
            </a:r>
            <a:r>
              <a:rPr sz="1588" b="1" dirty="0">
                <a:latin typeface="Arial"/>
                <a:cs typeface="Arial"/>
              </a:rPr>
              <a:t>by</a:t>
            </a:r>
            <a:r>
              <a:rPr sz="1588" b="1" spc="-4" dirty="0">
                <a:latin typeface="Arial"/>
                <a:cs typeface="Arial"/>
              </a:rPr>
              <a:t> merely </a:t>
            </a:r>
            <a:r>
              <a:rPr sz="1588" b="1" spc="-427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changing</a:t>
            </a:r>
            <a:r>
              <a:rPr sz="1588" b="1" spc="-31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the</a:t>
            </a:r>
            <a:r>
              <a:rPr sz="1588" b="1" spc="-4" dirty="0">
                <a:latin typeface="Arial"/>
                <a:cs typeface="Arial"/>
              </a:rPr>
              <a:t> base resistor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(R</a:t>
            </a:r>
            <a:r>
              <a:rPr sz="1588" b="1" spc="-6" baseline="-20833" dirty="0">
                <a:latin typeface="Arial"/>
                <a:cs typeface="Arial"/>
              </a:rPr>
              <a:t>B</a:t>
            </a:r>
            <a:r>
              <a:rPr sz="1588" b="1" spc="-4" dirty="0">
                <a:latin typeface="Arial"/>
                <a:cs typeface="Arial"/>
              </a:rPr>
              <a:t>).</a:t>
            </a:r>
            <a:endParaRPr sz="1588" dirty="0">
              <a:latin typeface="Arial"/>
              <a:cs typeface="Arial"/>
            </a:endParaRPr>
          </a:p>
          <a:p>
            <a:pPr marL="275679" indent="-209000">
              <a:buFont typeface="MS UI Gothic"/>
              <a:buChar char="➢"/>
              <a:tabLst>
                <a:tab pos="275679" algn="l"/>
              </a:tabLst>
            </a:pPr>
            <a:r>
              <a:rPr sz="1588" b="1" spc="-4" dirty="0">
                <a:latin typeface="Arial"/>
                <a:cs typeface="Arial"/>
              </a:rPr>
              <a:t>A</a:t>
            </a:r>
            <a:r>
              <a:rPr sz="1588" b="1" spc="-75" dirty="0">
                <a:latin typeface="Arial"/>
                <a:cs typeface="Arial"/>
              </a:rPr>
              <a:t> </a:t>
            </a:r>
            <a:r>
              <a:rPr sz="1588" b="1" spc="-13" dirty="0">
                <a:latin typeface="Arial"/>
                <a:cs typeface="Arial"/>
              </a:rPr>
              <a:t>very</a:t>
            </a:r>
            <a:r>
              <a:rPr sz="1588" b="1" spc="3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small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number</a:t>
            </a:r>
            <a:r>
              <a:rPr sz="1588" b="1" dirty="0">
                <a:latin typeface="Arial"/>
                <a:cs typeface="Arial"/>
              </a:rPr>
              <a:t> of </a:t>
            </a:r>
            <a:r>
              <a:rPr sz="1588" b="1" spc="-4" dirty="0">
                <a:latin typeface="Arial"/>
                <a:cs typeface="Arial"/>
              </a:rPr>
              <a:t>components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are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required</a:t>
            </a:r>
            <a:r>
              <a:rPr sz="1588" spc="-4" dirty="0">
                <a:latin typeface="Arial MT"/>
                <a:cs typeface="Arial MT"/>
              </a:rPr>
              <a:t>.</a:t>
            </a:r>
            <a:endParaRPr sz="1588" dirty="0">
              <a:latin typeface="Arial MT"/>
              <a:cs typeface="Arial MT"/>
            </a:endParaRPr>
          </a:p>
          <a:p>
            <a:pPr>
              <a:spcBef>
                <a:spcPts val="31"/>
              </a:spcBef>
              <a:buFont typeface="MS UI Gothic"/>
              <a:buChar char="➢"/>
            </a:pPr>
            <a:endParaRPr sz="1809" dirty="0">
              <a:latin typeface="Arial MT"/>
              <a:cs typeface="Arial MT"/>
            </a:endParaRPr>
          </a:p>
          <a:p>
            <a:pPr marL="67239"/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Disadvantages:</a:t>
            </a:r>
            <a:endParaRPr sz="1765" dirty="0">
              <a:latin typeface="Arial"/>
              <a:cs typeface="Arial"/>
            </a:endParaRPr>
          </a:p>
          <a:p>
            <a:pPr marL="282403" indent="-215164">
              <a:spcBef>
                <a:spcPts val="9"/>
              </a:spcBef>
              <a:buFont typeface="MS UI Gothic"/>
              <a:buChar char="➢"/>
              <a:tabLst>
                <a:tab pos="282403" algn="l"/>
              </a:tabLst>
            </a:pPr>
            <a:r>
              <a:rPr sz="1588" b="1" spc="-4" dirty="0">
                <a:latin typeface="Arial"/>
                <a:cs typeface="Arial"/>
              </a:rPr>
              <a:t>Poor</a:t>
            </a:r>
            <a:r>
              <a:rPr sz="1588" b="1" spc="-26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stabilization</a:t>
            </a:r>
            <a:endParaRPr sz="1588" dirty="0">
              <a:latin typeface="Arial"/>
              <a:cs typeface="Arial"/>
            </a:endParaRPr>
          </a:p>
          <a:p>
            <a:pPr marL="67239" marR="611313">
              <a:buFont typeface="MS UI Gothic"/>
              <a:buChar char="➢"/>
              <a:tabLst>
                <a:tab pos="282403" algn="l"/>
              </a:tabLst>
            </a:pPr>
            <a:r>
              <a:rPr sz="1588" b="1" spc="-4" dirty="0">
                <a:latin typeface="Arial"/>
                <a:cs typeface="Arial"/>
              </a:rPr>
              <a:t>High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stability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4" dirty="0">
                <a:latin typeface="Arial"/>
                <a:cs typeface="Arial"/>
              </a:rPr>
              <a:t>factor(S=</a:t>
            </a:r>
            <a:r>
              <a:rPr sz="1588" spc="4" dirty="0">
                <a:latin typeface="Microsoft Sans Serif"/>
                <a:cs typeface="Microsoft Sans Serif"/>
              </a:rPr>
              <a:t>β</a:t>
            </a:r>
            <a:r>
              <a:rPr sz="1588" b="1" spc="4" dirty="0">
                <a:latin typeface="Arial"/>
                <a:cs typeface="Arial"/>
              </a:rPr>
              <a:t>+1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because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B</a:t>
            </a:r>
            <a:r>
              <a:rPr sz="1588" b="1" spc="218" baseline="-2083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" dirty="0">
                <a:latin typeface="Arial"/>
                <a:cs typeface="Arial"/>
              </a:rPr>
              <a:t>constant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so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dI</a:t>
            </a:r>
            <a:r>
              <a:rPr sz="1588" b="1" spc="-6" baseline="-20833" dirty="0">
                <a:latin typeface="Arial"/>
                <a:cs typeface="Arial"/>
              </a:rPr>
              <a:t>B</a:t>
            </a:r>
            <a:r>
              <a:rPr sz="1588" b="1" spc="-4" dirty="0">
                <a:latin typeface="Arial"/>
                <a:cs typeface="Arial"/>
              </a:rPr>
              <a:t>/dI</a:t>
            </a:r>
            <a:r>
              <a:rPr sz="1588" b="1" spc="-6" baseline="-20833" dirty="0">
                <a:latin typeface="Arial"/>
                <a:cs typeface="Arial"/>
              </a:rPr>
              <a:t>C</a:t>
            </a:r>
            <a:r>
              <a:rPr sz="1588" b="1" spc="191" baseline="-2083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=0</a:t>
            </a:r>
            <a:r>
              <a:rPr sz="1588" b="1" dirty="0">
                <a:latin typeface="Arial"/>
                <a:cs typeface="Arial"/>
              </a:rPr>
              <a:t> ), </a:t>
            </a:r>
            <a:r>
              <a:rPr sz="1588" b="1" spc="-4" dirty="0">
                <a:latin typeface="Arial"/>
                <a:cs typeface="Arial"/>
              </a:rPr>
              <a:t>hence </a:t>
            </a:r>
            <a:r>
              <a:rPr sz="1588" b="1" spc="-432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prone</a:t>
            </a:r>
            <a:r>
              <a:rPr sz="1588" b="1" spc="-26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to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thermal</a:t>
            </a:r>
            <a:r>
              <a:rPr sz="1588" b="1" spc="4" dirty="0">
                <a:latin typeface="Arial"/>
                <a:cs typeface="Arial"/>
              </a:rPr>
              <a:t> runaway</a:t>
            </a:r>
            <a:endParaRPr sz="1588" dirty="0">
              <a:latin typeface="Arial"/>
              <a:cs typeface="Arial"/>
            </a:endParaRPr>
          </a:p>
          <a:p>
            <a:pPr>
              <a:spcBef>
                <a:spcPts val="18"/>
              </a:spcBef>
              <a:buFont typeface="MS UI Gothic"/>
              <a:buChar char="➢"/>
            </a:pPr>
            <a:endParaRPr sz="1632" dirty="0">
              <a:latin typeface="Arial"/>
              <a:cs typeface="Arial"/>
            </a:endParaRPr>
          </a:p>
          <a:p>
            <a:pPr marL="67239">
              <a:spcBef>
                <a:spcPts val="4"/>
              </a:spcBef>
            </a:pPr>
            <a:r>
              <a:rPr sz="1765" b="1" dirty="0">
                <a:solidFill>
                  <a:srgbClr val="0000FF"/>
                </a:solidFill>
                <a:latin typeface="Arial"/>
                <a:cs typeface="Arial"/>
              </a:rPr>
              <a:t>Usage:</a:t>
            </a:r>
            <a:endParaRPr sz="1765" dirty="0">
              <a:latin typeface="Arial"/>
              <a:cs typeface="Arial"/>
            </a:endParaRPr>
          </a:p>
          <a:p>
            <a:pPr marL="67239" marR="652777" algn="just">
              <a:spcBef>
                <a:spcPts val="4"/>
              </a:spcBef>
              <a:buFont typeface="MS UI Gothic"/>
              <a:buChar char="➢"/>
              <a:tabLst>
                <a:tab pos="282403" algn="l"/>
              </a:tabLst>
            </a:pPr>
            <a:r>
              <a:rPr sz="1588" b="1" spc="-4" dirty="0">
                <a:latin typeface="Arial"/>
                <a:cs typeface="Arial"/>
              </a:rPr>
              <a:t>Due </a:t>
            </a:r>
            <a:r>
              <a:rPr sz="1588" b="1" dirty="0">
                <a:latin typeface="Arial"/>
                <a:cs typeface="Arial"/>
              </a:rPr>
              <a:t>to the </a:t>
            </a:r>
            <a:r>
              <a:rPr sz="1588" b="1" spc="-9" dirty="0">
                <a:latin typeface="Arial"/>
                <a:cs typeface="Arial"/>
              </a:rPr>
              <a:t>above </a:t>
            </a:r>
            <a:r>
              <a:rPr sz="1588" b="1" spc="-4" dirty="0">
                <a:latin typeface="Arial"/>
                <a:cs typeface="Arial"/>
              </a:rPr>
              <a:t>inherent </a:t>
            </a:r>
            <a:r>
              <a:rPr sz="1588" b="1" dirty="0">
                <a:latin typeface="Arial"/>
                <a:cs typeface="Arial"/>
              </a:rPr>
              <a:t>drawbacks, </a:t>
            </a:r>
            <a:r>
              <a:rPr sz="1588" b="1" spc="-4" dirty="0">
                <a:latin typeface="Arial"/>
                <a:cs typeface="Arial"/>
              </a:rPr>
              <a:t>fixed bias </a:t>
            </a:r>
            <a:r>
              <a:rPr sz="1588" b="1" dirty="0">
                <a:latin typeface="Arial"/>
                <a:cs typeface="Arial"/>
              </a:rPr>
              <a:t>is </a:t>
            </a:r>
            <a:r>
              <a:rPr sz="1588" b="1" spc="-4" dirty="0">
                <a:latin typeface="Arial"/>
                <a:cs typeface="Arial"/>
              </a:rPr>
              <a:t>rarely used </a:t>
            </a:r>
            <a:r>
              <a:rPr sz="1588" b="1" dirty="0">
                <a:latin typeface="Arial"/>
                <a:cs typeface="Arial"/>
              </a:rPr>
              <a:t>in </a:t>
            </a:r>
            <a:r>
              <a:rPr sz="1588" b="1" spc="-4" dirty="0">
                <a:latin typeface="Arial"/>
                <a:cs typeface="Arial"/>
              </a:rPr>
              <a:t>linear </a:t>
            </a:r>
            <a:r>
              <a:rPr sz="1588" b="1" spc="-432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circuits (i.e., those circuits </a:t>
            </a:r>
            <a:r>
              <a:rPr sz="1588" b="1" spc="4" dirty="0">
                <a:latin typeface="Arial"/>
                <a:cs typeface="Arial"/>
              </a:rPr>
              <a:t>which </a:t>
            </a:r>
            <a:r>
              <a:rPr sz="1588" b="1" spc="-4" dirty="0">
                <a:latin typeface="Arial"/>
                <a:cs typeface="Arial"/>
              </a:rPr>
              <a:t>use </a:t>
            </a:r>
            <a:r>
              <a:rPr sz="1588" b="1" dirty="0">
                <a:latin typeface="Arial"/>
                <a:cs typeface="Arial"/>
              </a:rPr>
              <a:t>the </a:t>
            </a:r>
            <a:r>
              <a:rPr sz="1588" b="1" spc="-4" dirty="0">
                <a:latin typeface="Arial"/>
                <a:cs typeface="Arial"/>
              </a:rPr>
              <a:t>transistor as a current source). 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Instead,</a:t>
            </a:r>
            <a:r>
              <a:rPr sz="1588" b="1" spc="-18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it</a:t>
            </a:r>
            <a:r>
              <a:rPr sz="1588" b="1" spc="4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often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used </a:t>
            </a:r>
            <a:r>
              <a:rPr sz="1588" b="1" dirty="0">
                <a:latin typeface="Arial"/>
                <a:cs typeface="Arial"/>
              </a:rPr>
              <a:t>in </a:t>
            </a:r>
            <a:r>
              <a:rPr sz="1588" b="1" spc="-4" dirty="0">
                <a:latin typeface="Arial"/>
                <a:cs typeface="Arial"/>
              </a:rPr>
              <a:t>circuits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4" dirty="0">
                <a:latin typeface="Arial"/>
                <a:cs typeface="Arial"/>
              </a:rPr>
              <a:t>where</a:t>
            </a:r>
            <a:r>
              <a:rPr sz="1588" b="1" spc="-44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transistor</a:t>
            </a:r>
            <a:r>
              <a:rPr sz="1588" b="1" spc="1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is</a:t>
            </a:r>
            <a:r>
              <a:rPr sz="1588" b="1" spc="-1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used</a:t>
            </a:r>
            <a:r>
              <a:rPr sz="1588" b="1" spc="9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as</a:t>
            </a:r>
            <a:r>
              <a:rPr sz="1588" b="1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a </a:t>
            </a:r>
            <a:r>
              <a:rPr sz="1588" b="1" spc="4" dirty="0">
                <a:latin typeface="Arial"/>
                <a:cs typeface="Arial"/>
              </a:rPr>
              <a:t>switch</a:t>
            </a:r>
            <a:r>
              <a:rPr sz="1588" spc="4" dirty="0">
                <a:latin typeface="Arial MT"/>
                <a:cs typeface="Arial MT"/>
              </a:rPr>
              <a:t>.</a:t>
            </a:r>
            <a:endParaRPr sz="1588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88" dirty="0">
              <a:latin typeface="Arial MT"/>
              <a:cs typeface="Arial MT"/>
            </a:endParaRPr>
          </a:p>
          <a:p>
            <a:pPr marL="133917">
              <a:spcBef>
                <a:spcPts val="1350"/>
              </a:spcBef>
            </a:pP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How</a:t>
            </a:r>
            <a:r>
              <a:rPr sz="1588" b="1" spc="-18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the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Q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point</a:t>
            </a:r>
            <a:r>
              <a:rPr sz="1588" b="1" spc="-9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is</a:t>
            </a:r>
            <a:r>
              <a:rPr sz="1588" b="1" spc="-13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affected</a:t>
            </a:r>
            <a:r>
              <a:rPr sz="1588" b="1" spc="18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by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 changes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in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 V</a:t>
            </a:r>
            <a:r>
              <a:rPr sz="1588" b="1" spc="-6" baseline="-20833" dirty="0">
                <a:solidFill>
                  <a:srgbClr val="007F00"/>
                </a:solidFill>
                <a:latin typeface="Arial"/>
                <a:cs typeface="Arial"/>
              </a:rPr>
              <a:t>BE</a:t>
            </a:r>
            <a:r>
              <a:rPr sz="1588" b="1" spc="218" baseline="-20833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and I</a:t>
            </a:r>
            <a:r>
              <a:rPr sz="1588" b="1" spc="-6" baseline="-20833" dirty="0">
                <a:solidFill>
                  <a:srgbClr val="007F00"/>
                </a:solidFill>
                <a:latin typeface="Arial"/>
                <a:cs typeface="Arial"/>
              </a:rPr>
              <a:t>CBO</a:t>
            </a:r>
            <a:r>
              <a:rPr sz="1588" b="1" spc="212" baseline="-20833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in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 fixed</a:t>
            </a:r>
            <a:r>
              <a:rPr sz="1588" b="1" spc="4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bias?</a:t>
            </a:r>
            <a:endParaRPr sz="1588" dirty="0">
              <a:latin typeface="Arial"/>
              <a:cs typeface="Arial"/>
            </a:endParaRPr>
          </a:p>
          <a:p>
            <a:pPr>
              <a:spcBef>
                <a:spcPts val="49"/>
              </a:spcBef>
            </a:pPr>
            <a:endParaRPr sz="1985" dirty="0">
              <a:latin typeface="Arial"/>
              <a:cs typeface="Arial"/>
            </a:endParaRPr>
          </a:p>
          <a:p>
            <a:pPr marL="470112">
              <a:tabLst>
                <a:tab pos="2420039" algn="l"/>
              </a:tabLst>
            </a:pPr>
            <a:r>
              <a:rPr sz="1588" b="1" dirty="0">
                <a:latin typeface="Arial"/>
                <a:cs typeface="Arial"/>
              </a:rPr>
              <a:t>I</a:t>
            </a:r>
            <a:r>
              <a:rPr sz="1588" b="1" baseline="-20833" dirty="0">
                <a:latin typeface="Arial"/>
                <a:cs typeface="Arial"/>
              </a:rPr>
              <a:t>B</a:t>
            </a:r>
            <a:r>
              <a:rPr sz="1588" b="1" spc="191" baseline="-20833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= </a:t>
            </a:r>
            <a:r>
              <a:rPr sz="1588" b="1" spc="-4" dirty="0">
                <a:latin typeface="Arial"/>
                <a:cs typeface="Arial"/>
              </a:rPr>
              <a:t>(V</a:t>
            </a:r>
            <a:r>
              <a:rPr sz="1588" b="1" spc="-6" baseline="-20833" dirty="0">
                <a:latin typeface="Arial"/>
                <a:cs typeface="Arial"/>
              </a:rPr>
              <a:t>CC</a:t>
            </a:r>
            <a:r>
              <a:rPr sz="1588" b="1" spc="-4" dirty="0">
                <a:latin typeface="Arial"/>
                <a:cs typeface="Arial"/>
              </a:rPr>
              <a:t>-V</a:t>
            </a:r>
            <a:r>
              <a:rPr sz="1588" b="1" spc="-6" baseline="-20833" dirty="0">
                <a:latin typeface="Arial"/>
                <a:cs typeface="Arial"/>
              </a:rPr>
              <a:t>BE</a:t>
            </a:r>
            <a:r>
              <a:rPr sz="1588" b="1" spc="-4" dirty="0">
                <a:latin typeface="Arial"/>
                <a:cs typeface="Arial"/>
              </a:rPr>
              <a:t>)/R</a:t>
            </a:r>
            <a:r>
              <a:rPr sz="1588" b="1" spc="-6" baseline="-20833" dirty="0">
                <a:latin typeface="Arial"/>
                <a:cs typeface="Arial"/>
              </a:rPr>
              <a:t>B	</a:t>
            </a:r>
            <a:r>
              <a:rPr sz="1588" dirty="0">
                <a:latin typeface="Arial MT"/>
                <a:cs typeface="Arial MT"/>
              </a:rPr>
              <a:t>I</a:t>
            </a:r>
            <a:r>
              <a:rPr sz="1588" baseline="-20833" dirty="0">
                <a:latin typeface="Arial MT"/>
                <a:cs typeface="Arial MT"/>
              </a:rPr>
              <a:t>C</a:t>
            </a:r>
            <a:r>
              <a:rPr sz="1588" spc="146" baseline="-2083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=</a:t>
            </a:r>
            <a:r>
              <a:rPr sz="1588" spc="-31" dirty="0">
                <a:latin typeface="Arial MT"/>
                <a:cs typeface="Arial MT"/>
              </a:rPr>
              <a:t> </a:t>
            </a:r>
            <a:r>
              <a:rPr sz="1588" spc="4" dirty="0">
                <a:latin typeface="Microsoft Sans Serif"/>
                <a:cs typeface="Microsoft Sans Serif"/>
              </a:rPr>
              <a:t>β</a:t>
            </a:r>
            <a:r>
              <a:rPr sz="1588" spc="4" dirty="0">
                <a:latin typeface="Arial MT"/>
                <a:cs typeface="Arial MT"/>
              </a:rPr>
              <a:t>I</a:t>
            </a:r>
            <a:r>
              <a:rPr sz="1588" spc="6" baseline="-20833" dirty="0">
                <a:latin typeface="Arial MT"/>
                <a:cs typeface="Arial MT"/>
              </a:rPr>
              <a:t>B</a:t>
            </a:r>
            <a:endParaRPr sz="1588" baseline="-20833" dirty="0">
              <a:latin typeface="Arial MT"/>
              <a:cs typeface="Arial M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4198176-9F6C-5974-8854-2CB83D7F6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4211" y="1129278"/>
            <a:ext cx="5613625" cy="390982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lang="en-US" sz="2471" spc="-4" dirty="0">
                <a:latin typeface="Arial"/>
                <a:cs typeface="Arial"/>
              </a:rPr>
              <a:t>Stability factor for </a:t>
            </a:r>
            <a:r>
              <a:rPr sz="2471" spc="-4" dirty="0">
                <a:latin typeface="Arial"/>
                <a:cs typeface="Arial"/>
              </a:rPr>
              <a:t>Fixed</a:t>
            </a:r>
            <a:r>
              <a:rPr sz="2471" spc="-62" dirty="0">
                <a:latin typeface="Arial"/>
                <a:cs typeface="Arial"/>
              </a:rPr>
              <a:t> </a:t>
            </a:r>
            <a:r>
              <a:rPr sz="2471" spc="-4" dirty="0">
                <a:latin typeface="Arial"/>
                <a:cs typeface="Arial"/>
              </a:rPr>
              <a:t>Bias</a:t>
            </a:r>
            <a:endParaRPr sz="247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6612064" y="2305939"/>
            <a:ext cx="222604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b="1" spc="9" dirty="0">
                <a:latin typeface="Arial"/>
                <a:cs typeface="Arial"/>
              </a:rPr>
              <a:t>V</a:t>
            </a:r>
            <a:r>
              <a:rPr sz="1721" b="1" spc="13" baseline="-21367" dirty="0">
                <a:latin typeface="Arial"/>
                <a:cs typeface="Arial"/>
              </a:rPr>
              <a:t>CC</a:t>
            </a:r>
            <a:r>
              <a:rPr sz="1721" b="1" spc="224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=</a:t>
            </a:r>
            <a:r>
              <a:rPr sz="1765" b="1" spc="-31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(I</a:t>
            </a:r>
            <a:r>
              <a:rPr sz="1721" b="1" spc="6" baseline="-21367" dirty="0">
                <a:latin typeface="Arial"/>
                <a:cs typeface="Arial"/>
              </a:rPr>
              <a:t>C</a:t>
            </a:r>
            <a:r>
              <a:rPr sz="1765" b="1" spc="4" dirty="0">
                <a:latin typeface="Arial"/>
                <a:cs typeface="Arial"/>
              </a:rPr>
              <a:t>+I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r>
              <a:rPr sz="1765" b="1" spc="4" dirty="0">
                <a:latin typeface="Arial"/>
                <a:cs typeface="Arial"/>
              </a:rPr>
              <a:t>)R</a:t>
            </a:r>
            <a:r>
              <a:rPr sz="1721" b="1" spc="6" baseline="-21367" dirty="0">
                <a:latin typeface="Arial"/>
                <a:cs typeface="Arial"/>
              </a:rPr>
              <a:t>C </a:t>
            </a:r>
            <a:r>
              <a:rPr sz="1721" b="1" spc="199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+</a:t>
            </a:r>
            <a:r>
              <a:rPr sz="1765" b="1" spc="-22" dirty="0">
                <a:latin typeface="Arial"/>
                <a:cs typeface="Arial"/>
              </a:rPr>
              <a:t> </a:t>
            </a:r>
            <a:r>
              <a:rPr sz="1765" b="1" spc="9" dirty="0">
                <a:latin typeface="Arial"/>
                <a:cs typeface="Arial"/>
              </a:rPr>
              <a:t>V</a:t>
            </a:r>
            <a:r>
              <a:rPr sz="1721" b="1" spc="13" baseline="-21367" dirty="0">
                <a:latin typeface="Arial"/>
                <a:cs typeface="Arial"/>
              </a:rPr>
              <a:t>CE</a:t>
            </a:r>
            <a:endParaRPr sz="1721" baseline="-213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6832" y="2305939"/>
            <a:ext cx="298076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b="1" dirty="0">
                <a:latin typeface="Arial"/>
                <a:cs typeface="Arial"/>
              </a:rPr>
              <a:t>(1)</a:t>
            </a:r>
            <a:endParaRPr sz="176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2069" y="2898955"/>
            <a:ext cx="424143" cy="28286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647" b="1" spc="13" baseline="13888" dirty="0">
                <a:latin typeface="Arial"/>
                <a:cs typeface="Arial"/>
              </a:rPr>
              <a:t>V</a:t>
            </a:r>
            <a:r>
              <a:rPr sz="1147" b="1" spc="9" dirty="0">
                <a:latin typeface="Arial"/>
                <a:cs typeface="Arial"/>
              </a:rPr>
              <a:t>CE</a:t>
            </a:r>
            <a:endParaRPr sz="114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60753" y="2843821"/>
            <a:ext cx="3212726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>
              <a:spcBef>
                <a:spcPts val="88"/>
              </a:spcBef>
              <a:tabLst>
                <a:tab pos="2903599" algn="l"/>
              </a:tabLst>
            </a:pPr>
            <a:r>
              <a:rPr sz="1765" b="1" dirty="0">
                <a:latin typeface="Arial"/>
                <a:cs typeface="Arial"/>
              </a:rPr>
              <a:t>=</a:t>
            </a:r>
            <a:r>
              <a:rPr sz="1765" b="1" spc="-18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I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r>
              <a:rPr sz="1765" b="1" spc="4" dirty="0">
                <a:latin typeface="Arial"/>
                <a:cs typeface="Arial"/>
              </a:rPr>
              <a:t>R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r>
              <a:rPr sz="1721" b="1" spc="251" baseline="-21367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+</a:t>
            </a:r>
            <a:r>
              <a:rPr sz="1765" b="1" spc="-4" dirty="0">
                <a:latin typeface="Arial"/>
                <a:cs typeface="Arial"/>
              </a:rPr>
              <a:t> </a:t>
            </a:r>
            <a:r>
              <a:rPr sz="1765" b="1" spc="9" dirty="0">
                <a:latin typeface="Arial"/>
                <a:cs typeface="Arial"/>
              </a:rPr>
              <a:t>V</a:t>
            </a:r>
            <a:r>
              <a:rPr sz="1721" b="1" spc="13" baseline="-21367" dirty="0">
                <a:latin typeface="Arial"/>
                <a:cs typeface="Arial"/>
              </a:rPr>
              <a:t>BE	</a:t>
            </a:r>
            <a:r>
              <a:rPr sz="1765" b="1" dirty="0">
                <a:latin typeface="Arial"/>
                <a:cs typeface="Arial"/>
              </a:rPr>
              <a:t>(2)</a:t>
            </a:r>
            <a:endParaRPr sz="176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0863" y="3291608"/>
            <a:ext cx="417139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>
              <a:spcBef>
                <a:spcPts val="88"/>
              </a:spcBef>
              <a:tabLst>
                <a:tab pos="1586838" algn="l"/>
              </a:tabLst>
            </a:pPr>
            <a:r>
              <a:rPr sz="1765" dirty="0">
                <a:latin typeface="Arial MT"/>
                <a:cs typeface="Arial MT"/>
              </a:rPr>
              <a:t>Since,</a:t>
            </a:r>
            <a:r>
              <a:rPr sz="1765" spc="-31" dirty="0">
                <a:latin typeface="Arial MT"/>
                <a:cs typeface="Arial MT"/>
              </a:rPr>
              <a:t> </a:t>
            </a:r>
            <a:r>
              <a:rPr sz="1765" spc="4" dirty="0">
                <a:latin typeface="Arial MT"/>
                <a:cs typeface="Arial MT"/>
              </a:rPr>
              <a:t>I</a:t>
            </a:r>
            <a:r>
              <a:rPr sz="1721" spc="6" baseline="-21367" dirty="0">
                <a:latin typeface="Arial MT"/>
                <a:cs typeface="Arial MT"/>
              </a:rPr>
              <a:t>C</a:t>
            </a:r>
            <a:r>
              <a:rPr sz="1721" spc="251" baseline="-21367" dirty="0">
                <a:latin typeface="Arial MT"/>
                <a:cs typeface="Arial MT"/>
              </a:rPr>
              <a:t> </a:t>
            </a:r>
            <a:r>
              <a:rPr sz="1765" dirty="0">
                <a:latin typeface="Arial MT"/>
                <a:cs typeface="Arial MT"/>
              </a:rPr>
              <a:t>=</a:t>
            </a:r>
            <a:r>
              <a:rPr sz="1765" spc="-4" dirty="0">
                <a:latin typeface="Arial MT"/>
                <a:cs typeface="Arial MT"/>
              </a:rPr>
              <a:t> </a:t>
            </a:r>
            <a:r>
              <a:rPr sz="1765" spc="9" dirty="0">
                <a:latin typeface="Microsoft Sans Serif"/>
                <a:cs typeface="Microsoft Sans Serif"/>
              </a:rPr>
              <a:t>β</a:t>
            </a:r>
            <a:r>
              <a:rPr sz="1765" spc="9" dirty="0">
                <a:latin typeface="Arial MT"/>
                <a:cs typeface="Arial MT"/>
              </a:rPr>
              <a:t>I</a:t>
            </a:r>
            <a:r>
              <a:rPr sz="1721" spc="13" baseline="-21367" dirty="0">
                <a:latin typeface="Arial MT"/>
                <a:cs typeface="Arial MT"/>
              </a:rPr>
              <a:t>B	</a:t>
            </a:r>
            <a:r>
              <a:rPr sz="1765" dirty="0">
                <a:latin typeface="Arial MT"/>
                <a:cs typeface="Arial MT"/>
              </a:rPr>
              <a:t>so</a:t>
            </a:r>
            <a:r>
              <a:rPr sz="1765" spc="-18" dirty="0">
                <a:latin typeface="Arial MT"/>
                <a:cs typeface="Arial MT"/>
              </a:rPr>
              <a:t> </a:t>
            </a:r>
            <a:r>
              <a:rPr sz="1765" spc="-4" dirty="0">
                <a:latin typeface="Arial MT"/>
                <a:cs typeface="Arial MT"/>
              </a:rPr>
              <a:t>from</a:t>
            </a:r>
            <a:r>
              <a:rPr sz="1765" spc="-31" dirty="0">
                <a:latin typeface="Arial MT"/>
                <a:cs typeface="Arial MT"/>
              </a:rPr>
              <a:t> </a:t>
            </a:r>
            <a:r>
              <a:rPr sz="1765" spc="-4" dirty="0">
                <a:latin typeface="Arial MT"/>
                <a:cs typeface="Arial MT"/>
              </a:rPr>
              <a:t>equation</a:t>
            </a:r>
            <a:r>
              <a:rPr sz="1765" spc="-31" dirty="0">
                <a:latin typeface="Arial MT"/>
                <a:cs typeface="Arial MT"/>
              </a:rPr>
              <a:t> </a:t>
            </a:r>
            <a:r>
              <a:rPr sz="1765" dirty="0">
                <a:latin typeface="Arial MT"/>
                <a:cs typeface="Arial MT"/>
              </a:rPr>
              <a:t>(1)</a:t>
            </a:r>
            <a:r>
              <a:rPr sz="1765" spc="-26" dirty="0">
                <a:latin typeface="Arial MT"/>
                <a:cs typeface="Arial MT"/>
              </a:rPr>
              <a:t> </a:t>
            </a:r>
            <a:r>
              <a:rPr sz="1765" dirty="0">
                <a:latin typeface="Arial MT"/>
                <a:cs typeface="Arial MT"/>
              </a:rPr>
              <a:t>&amp; (2)</a:t>
            </a:r>
            <a:endParaRPr sz="1765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24140" y="3744304"/>
            <a:ext cx="2469216" cy="632012"/>
            <a:chOff x="1066793" y="6019800"/>
            <a:chExt cx="2798445" cy="716280"/>
          </a:xfrm>
        </p:grpSpPr>
        <p:sp>
          <p:nvSpPr>
            <p:cNvPr id="16" name="object 16"/>
            <p:cNvSpPr/>
            <p:nvPr/>
          </p:nvSpPr>
          <p:spPr>
            <a:xfrm>
              <a:off x="1066793" y="6019800"/>
              <a:ext cx="2798445" cy="716280"/>
            </a:xfrm>
            <a:custGeom>
              <a:avLst/>
              <a:gdLst/>
              <a:ahLst/>
              <a:cxnLst/>
              <a:rect l="l" t="t" r="r" b="b"/>
              <a:pathLst>
                <a:path w="2798445" h="716279">
                  <a:moveTo>
                    <a:pt x="2798063" y="716279"/>
                  </a:moveTo>
                  <a:lnTo>
                    <a:pt x="2798063" y="0"/>
                  </a:lnTo>
                  <a:lnTo>
                    <a:pt x="0" y="0"/>
                  </a:lnTo>
                  <a:lnTo>
                    <a:pt x="0" y="716279"/>
                  </a:lnTo>
                  <a:lnTo>
                    <a:pt x="2798063" y="716279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3932" y="6356589"/>
              <a:ext cx="2013585" cy="0"/>
            </a:xfrm>
            <a:custGeom>
              <a:avLst/>
              <a:gdLst/>
              <a:ahLst/>
              <a:cxnLst/>
              <a:rect l="l" t="t" r="r" b="b"/>
              <a:pathLst>
                <a:path w="2013585">
                  <a:moveTo>
                    <a:pt x="0" y="0"/>
                  </a:moveTo>
                  <a:lnTo>
                    <a:pt x="2013196" y="0"/>
                  </a:lnTo>
                </a:path>
              </a:pathLst>
            </a:custGeom>
            <a:ln w="1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30702" y="4202294"/>
            <a:ext cx="98612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xfrm>
            <a:off x="8814812" y="6770006"/>
            <a:ext cx="2749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>
              <a:lnSpc>
                <a:spcPts val="1465"/>
              </a:lnSpc>
            </a:pPr>
            <a:fld id="{81D60167-4931-47E6-BA6A-407CBD079E47}" type="slidenum">
              <a:rPr lang="en-IN" smtClean="0"/>
              <a:pPr marL="136525">
                <a:lnSpc>
                  <a:spcPts val="1465"/>
                </a:lnSpc>
              </a:pPr>
              <a:t>9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7737594" y="4202294"/>
            <a:ext cx="9132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B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11913" y="3891667"/>
            <a:ext cx="869576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  <a:tabLst>
                <a:tab pos="698724" algn="l"/>
              </a:tabLst>
            </a:pPr>
            <a:r>
              <a:rPr sz="1015" i="1" spc="4" dirty="0">
                <a:latin typeface="Times New Roman"/>
                <a:cs typeface="Times New Roman"/>
              </a:rPr>
              <a:t>CC	</a:t>
            </a:r>
            <a:r>
              <a:rPr sz="1015" i="1" dirty="0">
                <a:latin typeface="Times New Roman"/>
                <a:cs typeface="Times New Roman"/>
              </a:rPr>
              <a:t>B</a:t>
            </a:r>
            <a:r>
              <a:rPr sz="1015" i="1" spc="4" dirty="0">
                <a:latin typeface="Times New Roman"/>
                <a:cs typeface="Times New Roman"/>
              </a:rPr>
              <a:t>E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81377" y="4030172"/>
            <a:ext cx="9132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B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56043" y="4041486"/>
            <a:ext cx="1552015" cy="29702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>
              <a:spcBef>
                <a:spcPts val="93"/>
              </a:spcBef>
              <a:tabLst>
                <a:tab pos="372055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R	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296" dirty="0">
                <a:latin typeface="Times New Roman"/>
                <a:cs typeface="Times New Roman"/>
              </a:rPr>
              <a:t> </a:t>
            </a:r>
            <a:r>
              <a:rPr sz="1765" spc="4" dirty="0">
                <a:latin typeface="Times New Roman"/>
                <a:cs typeface="Times New Roman"/>
              </a:rPr>
              <a:t>(1</a:t>
            </a:r>
            <a:r>
              <a:rPr sz="1765" spc="66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371" dirty="0">
                <a:latin typeface="Times New Roman"/>
                <a:cs typeface="Times New Roman"/>
              </a:rPr>
              <a:t> </a:t>
            </a:r>
            <a:r>
              <a:rPr sz="1853" spc="-53" dirty="0">
                <a:latin typeface="Symbol"/>
                <a:cs typeface="Symbol"/>
              </a:rPr>
              <a:t></a:t>
            </a:r>
            <a:r>
              <a:rPr sz="1853" spc="202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)</a:t>
            </a:r>
            <a:r>
              <a:rPr sz="1765" spc="-93" dirty="0">
                <a:latin typeface="Times New Roman"/>
                <a:cs typeface="Times New Roman"/>
              </a:rPr>
              <a:t> </a:t>
            </a:r>
            <a:r>
              <a:rPr sz="1765" i="1" spc="-4" dirty="0">
                <a:latin typeface="Times New Roman"/>
                <a:cs typeface="Times New Roman"/>
              </a:rPr>
              <a:t>R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41122" y="3742246"/>
            <a:ext cx="836519" cy="28179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>
              <a:spcBef>
                <a:spcPts val="79"/>
              </a:spcBef>
              <a:tabLst>
                <a:tab pos="497007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V	</a:t>
            </a:r>
            <a:r>
              <a:rPr sz="1765" spc="-4" dirty="0">
                <a:latin typeface="Symbol"/>
                <a:cs typeface="Symbol"/>
              </a:rPr>
              <a:t></a:t>
            </a:r>
            <a:r>
              <a:rPr sz="1765" spc="18" dirty="0">
                <a:latin typeface="Times New Roman"/>
                <a:cs typeface="Times New Roman"/>
              </a:rPr>
              <a:t> </a:t>
            </a:r>
            <a:r>
              <a:rPr sz="1765" i="1" spc="-4" dirty="0">
                <a:latin typeface="Times New Roman"/>
                <a:cs typeface="Times New Roman"/>
              </a:rPr>
              <a:t>V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56301" y="3882095"/>
            <a:ext cx="459441" cy="28179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>
              <a:spcBef>
                <a:spcPts val="79"/>
              </a:spcBef>
              <a:tabLst>
                <a:tab pos="324988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I	</a:t>
            </a:r>
            <a:r>
              <a:rPr sz="1765" spc="-4" dirty="0">
                <a:latin typeface="Symbol"/>
                <a:cs typeface="Symbol"/>
              </a:rPr>
              <a:t></a:t>
            </a:r>
            <a:endParaRPr sz="1765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95623" y="4050022"/>
            <a:ext cx="461122" cy="191233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>
              <a:spcBef>
                <a:spcPts val="115"/>
              </a:spcBef>
              <a:tabLst>
                <a:tab pos="341798" algn="l"/>
              </a:tabLst>
            </a:pPr>
            <a:r>
              <a:rPr sz="1147" b="1" spc="13" dirty="0">
                <a:solidFill>
                  <a:srgbClr val="007F00"/>
                </a:solidFill>
                <a:latin typeface="Arial"/>
                <a:cs typeface="Arial"/>
              </a:rPr>
              <a:t>C</a:t>
            </a:r>
            <a:r>
              <a:rPr sz="1147" b="1" spc="18" dirty="0">
                <a:solidFill>
                  <a:srgbClr val="007F00"/>
                </a:solidFill>
                <a:latin typeface="Arial"/>
                <a:cs typeface="Arial"/>
              </a:rPr>
              <a:t>E</a:t>
            </a:r>
            <a:r>
              <a:rPr sz="1147" b="1" dirty="0">
                <a:solidFill>
                  <a:srgbClr val="007F00"/>
                </a:solidFill>
                <a:latin typeface="Arial"/>
                <a:cs typeface="Arial"/>
              </a:rPr>
              <a:t>	</a:t>
            </a:r>
            <a:r>
              <a:rPr sz="1147" b="1" spc="18" dirty="0">
                <a:solidFill>
                  <a:srgbClr val="007F00"/>
                </a:solidFill>
                <a:latin typeface="Arial"/>
                <a:cs typeface="Arial"/>
              </a:rPr>
              <a:t>C</a:t>
            </a:r>
            <a:endParaRPr sz="114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990846" y="3937247"/>
            <a:ext cx="1566022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17477" algn="l"/>
              </a:tabLst>
            </a:pP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Q(V	</a:t>
            </a:r>
            <a:r>
              <a:rPr sz="1765" b="1" spc="-4" dirty="0">
                <a:solidFill>
                  <a:srgbClr val="007F00"/>
                </a:solidFill>
                <a:latin typeface="Arial"/>
                <a:cs typeface="Arial"/>
              </a:rPr>
              <a:t>,I</a:t>
            </a:r>
            <a:r>
              <a:rPr sz="1765" b="1" spc="313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)</a:t>
            </a:r>
            <a:r>
              <a:rPr sz="1765" b="1" spc="-49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spc="-4" dirty="0">
                <a:solidFill>
                  <a:srgbClr val="007F00"/>
                </a:solidFill>
                <a:latin typeface="Arial"/>
                <a:cs typeface="Arial"/>
              </a:rPr>
              <a:t>is</a:t>
            </a:r>
            <a:r>
              <a:rPr sz="1765" b="1" spc="-35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7F00"/>
                </a:solidFill>
                <a:latin typeface="Arial"/>
                <a:cs typeface="Arial"/>
              </a:rPr>
              <a:t>set</a:t>
            </a:r>
            <a:endParaRPr sz="1765" dirty="0">
              <a:latin typeface="Arial"/>
              <a:cs typeface="Arial"/>
            </a:endParaRPr>
          </a:p>
        </p:txBody>
      </p:sp>
      <p:sp>
        <p:nvSpPr>
          <p:cNvPr id="30" name="object 2">
            <a:extLst>
              <a:ext uri="{FF2B5EF4-FFF2-40B4-BE49-F238E27FC236}">
                <a16:creationId xmlns:a16="http://schemas.microsoft.com/office/drawing/2014/main" id="{B794EB47-7246-FCB5-75FC-28791E62AB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4210" y="1129278"/>
            <a:ext cx="8375487" cy="390982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lang="en-US" sz="2471" spc="-4" dirty="0">
                <a:latin typeface="Arial"/>
                <a:cs typeface="Arial"/>
              </a:rPr>
              <a:t>Stability factor for Collector feedback</a:t>
            </a:r>
            <a:r>
              <a:rPr sz="2471" spc="-62" dirty="0">
                <a:latin typeface="Arial"/>
                <a:cs typeface="Arial"/>
              </a:rPr>
              <a:t> </a:t>
            </a:r>
            <a:r>
              <a:rPr sz="2471" spc="-4" dirty="0">
                <a:latin typeface="Arial"/>
                <a:cs typeface="Arial"/>
              </a:rPr>
              <a:t>Bias</a:t>
            </a:r>
            <a:endParaRPr sz="2471" dirty="0">
              <a:latin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9A85B3-338C-C6BF-D3FC-C2A4769F8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45" y="2050934"/>
            <a:ext cx="2149618" cy="2481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C62BB-72D6-8376-BFF3-1D34226DEC3A}"/>
              </a:ext>
            </a:extLst>
          </p:cNvPr>
          <p:cNvSpPr txBox="1"/>
          <p:nvPr/>
        </p:nvSpPr>
        <p:spPr>
          <a:xfrm>
            <a:off x="892988" y="4532282"/>
            <a:ext cx="274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5.2.  Collector Feedback Bias</a:t>
            </a:r>
            <a:endParaRPr lang="en-I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976" y="1766647"/>
            <a:ext cx="12192000" cy="366898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Advantages:</a:t>
            </a:r>
            <a:endParaRPr sz="1765" dirty="0">
              <a:latin typeface="Arial"/>
              <a:cs typeface="Arial"/>
            </a:endParaRPr>
          </a:p>
          <a:p>
            <a:pPr marL="237577" indent="-215164">
              <a:spcBef>
                <a:spcPts val="9"/>
              </a:spcBef>
              <a:buFont typeface="MS UI Gothic"/>
              <a:buChar char="➢"/>
              <a:tabLst>
                <a:tab pos="237577" algn="l"/>
              </a:tabLst>
            </a:pPr>
            <a:r>
              <a:rPr sz="1588" spc="-4" dirty="0">
                <a:latin typeface="Arial MT"/>
                <a:cs typeface="Arial MT"/>
              </a:rPr>
              <a:t>Better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stabilization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compared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to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fixed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bias</a:t>
            </a:r>
            <a:endParaRPr sz="1588" dirty="0">
              <a:latin typeface="Arial MT"/>
              <a:cs typeface="Arial MT"/>
            </a:endParaRPr>
          </a:p>
          <a:p>
            <a:pPr>
              <a:spcBef>
                <a:spcPts val="31"/>
              </a:spcBef>
              <a:buFont typeface="MS UI Gothic"/>
              <a:buChar char="➢"/>
            </a:pPr>
            <a:endParaRPr sz="1809" dirty="0">
              <a:latin typeface="Arial MT"/>
              <a:cs typeface="Arial MT"/>
            </a:endParaRPr>
          </a:p>
          <a:p>
            <a:pPr marL="22413"/>
            <a:r>
              <a:rPr sz="1765" b="1" spc="-4" dirty="0">
                <a:solidFill>
                  <a:srgbClr val="0000FF"/>
                </a:solidFill>
                <a:latin typeface="Arial"/>
                <a:cs typeface="Arial"/>
              </a:rPr>
              <a:t>Disadvantages:</a:t>
            </a:r>
            <a:endParaRPr sz="1765" dirty="0">
              <a:latin typeface="Arial"/>
              <a:cs typeface="Arial"/>
            </a:endParaRPr>
          </a:p>
          <a:p>
            <a:pPr marL="233095" indent="-211242">
              <a:spcBef>
                <a:spcPts val="9"/>
              </a:spcBef>
              <a:buFont typeface="MS UI Gothic"/>
              <a:buChar char="➢"/>
              <a:tabLst>
                <a:tab pos="233655" algn="l"/>
              </a:tabLst>
            </a:pPr>
            <a:r>
              <a:rPr sz="1588" dirty="0">
                <a:latin typeface="Arial MT"/>
                <a:cs typeface="Arial MT"/>
              </a:rPr>
              <a:t>This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circuit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provides</a:t>
            </a:r>
            <a:r>
              <a:rPr sz="1588" spc="26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negative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feedback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which</a:t>
            </a:r>
            <a:r>
              <a:rPr sz="1588" spc="4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reduces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gain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of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amplifier.</a:t>
            </a:r>
            <a:endParaRPr sz="1588" dirty="0">
              <a:latin typeface="Arial MT"/>
              <a:cs typeface="Arial MT"/>
            </a:endParaRPr>
          </a:p>
          <a:p>
            <a:pPr>
              <a:spcBef>
                <a:spcPts val="18"/>
              </a:spcBef>
              <a:buFont typeface="MS UI Gothic"/>
              <a:buChar char="➢"/>
            </a:pPr>
            <a:endParaRPr sz="1632" dirty="0">
              <a:latin typeface="Arial MT"/>
              <a:cs typeface="Arial MT"/>
            </a:endParaRPr>
          </a:p>
          <a:p>
            <a:pPr marL="22413">
              <a:spcBef>
                <a:spcPts val="4"/>
              </a:spcBef>
            </a:pPr>
            <a:r>
              <a:rPr sz="1765" b="1" dirty="0">
                <a:solidFill>
                  <a:srgbClr val="0000FF"/>
                </a:solidFill>
                <a:latin typeface="Arial"/>
                <a:cs typeface="Arial"/>
              </a:rPr>
              <a:t>Usage:</a:t>
            </a:r>
            <a:endParaRPr sz="1765" dirty="0">
              <a:latin typeface="Arial"/>
              <a:cs typeface="Arial"/>
            </a:endParaRPr>
          </a:p>
          <a:p>
            <a:pPr marL="22413" marR="15689">
              <a:spcBef>
                <a:spcPts val="4"/>
              </a:spcBef>
              <a:buFont typeface="MS UI Gothic"/>
              <a:buChar char="➢"/>
              <a:tabLst>
                <a:tab pos="237577" algn="l"/>
              </a:tabLst>
            </a:pPr>
            <a:r>
              <a:rPr sz="1588" dirty="0">
                <a:latin typeface="Arial MT"/>
                <a:cs typeface="Arial MT"/>
              </a:rPr>
              <a:t>The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feedback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also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decreases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input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impedance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of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amplifier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as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seen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from 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base,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which</a:t>
            </a:r>
            <a:r>
              <a:rPr sz="1588" spc="31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can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advantageous.</a:t>
            </a:r>
            <a:r>
              <a:rPr sz="1588" spc="26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Due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to</a:t>
            </a:r>
            <a:r>
              <a:rPr sz="1588" spc="-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gain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reduction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from feedback,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this </a:t>
            </a:r>
            <a:r>
              <a:rPr sz="1588" spc="-427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biasing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form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is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used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only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when</a:t>
            </a:r>
            <a:r>
              <a:rPr sz="1588" spc="40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the </a:t>
            </a:r>
            <a:r>
              <a:rPr sz="1588" spc="-9" dirty="0">
                <a:latin typeface="Arial MT"/>
                <a:cs typeface="Arial MT"/>
              </a:rPr>
              <a:t>trade-off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for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stability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is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warranted.</a:t>
            </a:r>
            <a:endParaRPr sz="1588" dirty="0">
              <a:latin typeface="Arial MT"/>
              <a:cs typeface="Arial MT"/>
            </a:endParaRPr>
          </a:p>
          <a:p>
            <a:pPr>
              <a:spcBef>
                <a:spcPts val="26"/>
              </a:spcBef>
            </a:pPr>
            <a:endParaRPr sz="1412" dirty="0">
              <a:latin typeface="Arial MT"/>
              <a:cs typeface="Arial MT"/>
            </a:endParaRPr>
          </a:p>
          <a:p>
            <a:pPr marL="156330" algn="just">
              <a:spcBef>
                <a:spcPts val="4"/>
              </a:spcBef>
            </a:pP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How</a:t>
            </a:r>
            <a:r>
              <a:rPr sz="1588" b="1" spc="-18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the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bias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stability</a:t>
            </a:r>
            <a:r>
              <a:rPr sz="1588" b="1" spc="-13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is </a:t>
            </a:r>
            <a:r>
              <a:rPr sz="1588" b="1" spc="-9" dirty="0">
                <a:solidFill>
                  <a:srgbClr val="007F00"/>
                </a:solidFill>
                <a:latin typeface="Arial"/>
                <a:cs typeface="Arial"/>
              </a:rPr>
              <a:t>improved</a:t>
            </a:r>
            <a:r>
              <a:rPr sz="1588" b="1" spc="31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in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 collector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base</a:t>
            </a:r>
            <a:r>
              <a:rPr sz="1588" b="1" dirty="0">
                <a:solidFill>
                  <a:srgbClr val="007F00"/>
                </a:solidFill>
                <a:latin typeface="Arial"/>
                <a:cs typeface="Arial"/>
              </a:rPr>
              <a:t> </a:t>
            </a:r>
            <a:r>
              <a:rPr sz="1588" b="1" spc="-4" dirty="0">
                <a:solidFill>
                  <a:srgbClr val="007F00"/>
                </a:solidFill>
                <a:latin typeface="Arial"/>
                <a:cs typeface="Arial"/>
              </a:rPr>
              <a:t>bias?</a:t>
            </a:r>
            <a:endParaRPr sz="1588" dirty="0">
              <a:latin typeface="Arial"/>
              <a:cs typeface="Arial"/>
            </a:endParaRPr>
          </a:p>
          <a:p>
            <a:pPr marL="156330" marR="219647" algn="just"/>
            <a:r>
              <a:rPr sz="1588" dirty="0">
                <a:latin typeface="Arial MT"/>
                <a:cs typeface="Arial MT"/>
              </a:rPr>
              <a:t>If I</a:t>
            </a:r>
            <a:r>
              <a:rPr sz="1588" baseline="-20833" dirty="0">
                <a:latin typeface="Arial MT"/>
                <a:cs typeface="Arial MT"/>
              </a:rPr>
              <a:t>C</a:t>
            </a:r>
            <a:r>
              <a:rPr sz="1588" spc="436" baseline="-2083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becomes larger than design value, it causes an increase voltage</a:t>
            </a:r>
            <a:r>
              <a:rPr sz="1588" spc="43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drop 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across R</a:t>
            </a:r>
            <a:r>
              <a:rPr sz="1588" spc="-6" baseline="-20833" dirty="0">
                <a:latin typeface="Arial MT"/>
                <a:cs typeface="Arial MT"/>
              </a:rPr>
              <a:t>C </a:t>
            </a:r>
            <a:r>
              <a:rPr sz="1588" spc="-4" dirty="0">
                <a:latin typeface="Arial MT"/>
                <a:cs typeface="Arial MT"/>
              </a:rPr>
              <a:t>hence smaller </a:t>
            </a:r>
            <a:r>
              <a:rPr sz="1588" dirty="0">
                <a:latin typeface="Arial MT"/>
                <a:cs typeface="Arial MT"/>
              </a:rPr>
              <a:t>value </a:t>
            </a:r>
            <a:r>
              <a:rPr sz="1588" spc="-4" dirty="0">
                <a:latin typeface="Arial MT"/>
                <a:cs typeface="Arial MT"/>
              </a:rPr>
              <a:t>of V</a:t>
            </a:r>
            <a:r>
              <a:rPr sz="1588" spc="-6" baseline="-20833" dirty="0">
                <a:latin typeface="Arial MT"/>
                <a:cs typeface="Arial MT"/>
              </a:rPr>
              <a:t>CE </a:t>
            </a:r>
            <a:r>
              <a:rPr sz="1588" spc="-9" dirty="0">
                <a:latin typeface="Arial MT"/>
                <a:cs typeface="Arial MT"/>
              </a:rPr>
              <a:t>which </a:t>
            </a:r>
            <a:r>
              <a:rPr sz="1588" spc="-4" dirty="0">
                <a:latin typeface="Arial MT"/>
                <a:cs typeface="Arial MT"/>
              </a:rPr>
              <a:t>in turn causes </a:t>
            </a:r>
            <a:r>
              <a:rPr sz="1588" dirty="0">
                <a:latin typeface="Arial MT"/>
                <a:cs typeface="Arial MT"/>
              </a:rPr>
              <a:t>I</a:t>
            </a:r>
            <a:r>
              <a:rPr sz="1588" baseline="-20833" dirty="0">
                <a:latin typeface="Arial MT"/>
                <a:cs typeface="Arial MT"/>
              </a:rPr>
              <a:t>B </a:t>
            </a:r>
            <a:r>
              <a:rPr sz="1588" dirty="0">
                <a:latin typeface="Arial MT"/>
                <a:cs typeface="Arial MT"/>
              </a:rPr>
              <a:t>to </a:t>
            </a:r>
            <a:r>
              <a:rPr sz="1588" spc="-4" dirty="0">
                <a:latin typeface="Arial MT"/>
                <a:cs typeface="Arial MT"/>
              </a:rPr>
              <a:t>be smaller than 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its design value. Since </a:t>
            </a:r>
            <a:r>
              <a:rPr sz="1588" dirty="0">
                <a:latin typeface="Arial MT"/>
                <a:cs typeface="Arial MT"/>
              </a:rPr>
              <a:t>I</a:t>
            </a:r>
            <a:r>
              <a:rPr sz="1588" baseline="-20833" dirty="0">
                <a:latin typeface="Arial MT"/>
                <a:cs typeface="Arial MT"/>
              </a:rPr>
              <a:t>C</a:t>
            </a:r>
            <a:r>
              <a:rPr sz="1588" spc="6" baseline="-2083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= </a:t>
            </a:r>
            <a:r>
              <a:rPr sz="1588" spc="4" dirty="0">
                <a:latin typeface="Microsoft Sans Serif"/>
                <a:cs typeface="Microsoft Sans Serif"/>
              </a:rPr>
              <a:t>β</a:t>
            </a:r>
            <a:r>
              <a:rPr sz="1588" spc="4" dirty="0">
                <a:latin typeface="Arial MT"/>
                <a:cs typeface="Arial MT"/>
              </a:rPr>
              <a:t>I</a:t>
            </a:r>
            <a:r>
              <a:rPr sz="1588" spc="6" baseline="-20833" dirty="0">
                <a:latin typeface="Arial MT"/>
                <a:cs typeface="Arial MT"/>
              </a:rPr>
              <a:t>B</a:t>
            </a:r>
            <a:r>
              <a:rPr sz="1588" spc="13" baseline="-2083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thus </a:t>
            </a:r>
            <a:r>
              <a:rPr sz="1588" dirty="0">
                <a:latin typeface="Arial MT"/>
                <a:cs typeface="Arial MT"/>
              </a:rPr>
              <a:t>I</a:t>
            </a:r>
            <a:r>
              <a:rPr sz="1588" baseline="-20833" dirty="0">
                <a:latin typeface="Arial MT"/>
                <a:cs typeface="Arial MT"/>
              </a:rPr>
              <a:t>C</a:t>
            </a:r>
            <a:r>
              <a:rPr sz="1588" spc="6" baseline="-20833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will </a:t>
            </a:r>
            <a:r>
              <a:rPr sz="1588" spc="-4" dirty="0">
                <a:latin typeface="Arial MT"/>
                <a:cs typeface="Arial MT"/>
              </a:rPr>
              <a:t>also tend </a:t>
            </a:r>
            <a:r>
              <a:rPr sz="1588" dirty="0">
                <a:latin typeface="Arial MT"/>
                <a:cs typeface="Arial MT"/>
              </a:rPr>
              <a:t>to </a:t>
            </a:r>
            <a:r>
              <a:rPr sz="1588" spc="-4" dirty="0">
                <a:latin typeface="Arial MT"/>
                <a:cs typeface="Arial MT"/>
              </a:rPr>
              <a:t>be reduced towards its 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original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value.</a:t>
            </a:r>
            <a:endParaRPr sz="1588" dirty="0">
              <a:latin typeface="Arial MT"/>
              <a:cs typeface="Arial MT"/>
            </a:endParaRPr>
          </a:p>
          <a:p>
            <a:pPr marL="223569" algn="just">
              <a:spcBef>
                <a:spcPts val="1059"/>
              </a:spcBef>
            </a:pPr>
            <a:r>
              <a:rPr sz="1588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For</a:t>
            </a:r>
            <a:r>
              <a:rPr sz="1588" b="1" u="heavy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588" b="1" u="heavy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bais Stabilization</a:t>
            </a:r>
            <a:r>
              <a:rPr sz="1588" b="1" u="heavy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 </a:t>
            </a:r>
            <a:r>
              <a:rPr sz="1588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: </a:t>
            </a:r>
            <a:r>
              <a:rPr sz="1588" b="1" spc="-4" dirty="0">
                <a:latin typeface="Arial"/>
                <a:cs typeface="Arial"/>
              </a:rPr>
              <a:t>R</a:t>
            </a:r>
            <a:r>
              <a:rPr sz="1588" b="1" spc="-6" baseline="-20833" dirty="0">
                <a:latin typeface="Arial"/>
                <a:cs typeface="Arial"/>
              </a:rPr>
              <a:t>B</a:t>
            </a:r>
            <a:r>
              <a:rPr sz="1588" b="1" spc="-4" dirty="0">
                <a:latin typeface="Arial"/>
                <a:cs typeface="Arial"/>
              </a:rPr>
              <a:t>&lt;&lt;</a:t>
            </a:r>
            <a:r>
              <a:rPr sz="1588" b="1" spc="-9" dirty="0">
                <a:latin typeface="Arial"/>
                <a:cs typeface="Arial"/>
              </a:rPr>
              <a:t> </a:t>
            </a:r>
            <a:r>
              <a:rPr sz="1588" spc="22" dirty="0">
                <a:latin typeface="Microsoft Sans Serif"/>
                <a:cs typeface="Microsoft Sans Serif"/>
              </a:rPr>
              <a:t>β</a:t>
            </a:r>
            <a:r>
              <a:rPr sz="1588" b="1" spc="22" dirty="0">
                <a:latin typeface="Arial"/>
                <a:cs typeface="Arial"/>
              </a:rPr>
              <a:t>R</a:t>
            </a:r>
            <a:r>
              <a:rPr sz="1588" b="1" spc="33" baseline="-20833" dirty="0">
                <a:latin typeface="Arial"/>
                <a:cs typeface="Arial"/>
              </a:rPr>
              <a:t>C</a:t>
            </a:r>
            <a:endParaRPr sz="1588" baseline="-20833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46064" y="5937770"/>
            <a:ext cx="110378" cy="2013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235" dirty="0">
                <a:latin typeface="Arial MT"/>
                <a:cs typeface="Arial MT"/>
              </a:rPr>
              <a:t>8</a:t>
            </a:r>
            <a:endParaRPr sz="1235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34229" y="5513294"/>
            <a:ext cx="2876550" cy="632012"/>
            <a:chOff x="1219193" y="6248400"/>
            <a:chExt cx="3260090" cy="716280"/>
          </a:xfrm>
        </p:grpSpPr>
        <p:sp>
          <p:nvSpPr>
            <p:cNvPr id="6" name="object 6"/>
            <p:cNvSpPr/>
            <p:nvPr/>
          </p:nvSpPr>
          <p:spPr>
            <a:xfrm>
              <a:off x="1219193" y="6248400"/>
              <a:ext cx="3260090" cy="716280"/>
            </a:xfrm>
            <a:custGeom>
              <a:avLst/>
              <a:gdLst/>
              <a:ahLst/>
              <a:cxnLst/>
              <a:rect l="l" t="t" r="r" b="b"/>
              <a:pathLst>
                <a:path w="3260090" h="716279">
                  <a:moveTo>
                    <a:pt x="3259835" y="716279"/>
                  </a:moveTo>
                  <a:lnTo>
                    <a:pt x="3259835" y="0"/>
                  </a:lnTo>
                  <a:lnTo>
                    <a:pt x="0" y="0"/>
                  </a:lnTo>
                  <a:lnTo>
                    <a:pt x="0" y="716279"/>
                  </a:lnTo>
                  <a:lnTo>
                    <a:pt x="3259835" y="716279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279894" y="6585193"/>
              <a:ext cx="2013585" cy="0"/>
            </a:xfrm>
            <a:custGeom>
              <a:avLst/>
              <a:gdLst/>
              <a:ahLst/>
              <a:cxnLst/>
              <a:rect l="l" t="t" r="r" b="b"/>
              <a:pathLst>
                <a:path w="2013585">
                  <a:moveTo>
                    <a:pt x="0" y="0"/>
                  </a:moveTo>
                  <a:lnTo>
                    <a:pt x="2013196" y="0"/>
                  </a:lnTo>
                </a:path>
              </a:pathLst>
            </a:custGeom>
            <a:ln w="1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75728" y="5952883"/>
            <a:ext cx="98612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2618" y="5952883"/>
            <a:ext cx="9132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B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3673" y="5780761"/>
            <a:ext cx="98612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3735" y="5549313"/>
            <a:ext cx="401731" cy="281733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22413">
              <a:spcBef>
                <a:spcPts val="79"/>
              </a:spcBef>
            </a:pPr>
            <a:r>
              <a:rPr sz="2647" i="1" spc="-6" baseline="13888" dirty="0">
                <a:latin typeface="Times New Roman"/>
                <a:cs typeface="Times New Roman"/>
              </a:rPr>
              <a:t>V</a:t>
            </a:r>
            <a:r>
              <a:rPr sz="2647" i="1" spc="-258" baseline="13888" dirty="0">
                <a:latin typeface="Times New Roman"/>
                <a:cs typeface="Times New Roman"/>
              </a:rPr>
              <a:t> </a:t>
            </a:r>
            <a:r>
              <a:rPr sz="1015" i="1" spc="4" dirty="0">
                <a:latin typeface="Times New Roman"/>
                <a:cs typeface="Times New Roman"/>
              </a:rPr>
              <a:t>CC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78657" y="5792075"/>
            <a:ext cx="1902199" cy="29702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2413">
              <a:spcBef>
                <a:spcPts val="93"/>
              </a:spcBef>
              <a:tabLst>
                <a:tab pos="394468" algn="l"/>
                <a:tab pos="1782391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R	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318" dirty="0">
                <a:latin typeface="Times New Roman"/>
                <a:cs typeface="Times New Roman"/>
              </a:rPr>
              <a:t> </a:t>
            </a:r>
            <a:r>
              <a:rPr sz="1765" spc="4" dirty="0">
                <a:latin typeface="Times New Roman"/>
                <a:cs typeface="Times New Roman"/>
              </a:rPr>
              <a:t>(1</a:t>
            </a:r>
            <a:r>
              <a:rPr sz="1765" spc="75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Symbol"/>
                <a:cs typeface="Symbol"/>
              </a:rPr>
              <a:t></a:t>
            </a:r>
            <a:r>
              <a:rPr sz="1765" spc="397" dirty="0">
                <a:latin typeface="Times New Roman"/>
                <a:cs typeface="Times New Roman"/>
              </a:rPr>
              <a:t> </a:t>
            </a:r>
            <a:r>
              <a:rPr sz="1853" spc="-53" dirty="0">
                <a:latin typeface="Symbol"/>
                <a:cs typeface="Symbol"/>
              </a:rPr>
              <a:t></a:t>
            </a:r>
            <a:r>
              <a:rPr sz="1853" spc="221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)</a:t>
            </a:r>
            <a:r>
              <a:rPr sz="1765" spc="-88" dirty="0">
                <a:latin typeface="Times New Roman"/>
                <a:cs typeface="Times New Roman"/>
              </a:rPr>
              <a:t> </a:t>
            </a:r>
            <a:r>
              <a:rPr sz="1765" i="1" spc="-4" dirty="0">
                <a:latin typeface="Times New Roman"/>
                <a:cs typeface="Times New Roman"/>
              </a:rPr>
              <a:t>R	</a:t>
            </a:r>
            <a:r>
              <a:rPr sz="2647" spc="-6" baseline="43055" dirty="0">
                <a:latin typeface="Times New Roman"/>
                <a:cs typeface="Times New Roman"/>
              </a:rPr>
              <a:t>]</a:t>
            </a:r>
            <a:endParaRPr sz="2647" baseline="4305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61284" y="5492835"/>
            <a:ext cx="587749" cy="28179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212923" indent="-191070">
              <a:spcBef>
                <a:spcPts val="79"/>
              </a:spcBef>
              <a:buFont typeface="Symbol"/>
              <a:buChar char=""/>
              <a:tabLst>
                <a:tab pos="213483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V</a:t>
            </a:r>
            <a:r>
              <a:rPr sz="1765" i="1" spc="-88" dirty="0">
                <a:latin typeface="Times New Roman"/>
                <a:cs typeface="Times New Roman"/>
              </a:rPr>
              <a:t> </a:t>
            </a:r>
            <a:r>
              <a:rPr sz="1522" i="1" baseline="-24154" dirty="0">
                <a:latin typeface="Times New Roman"/>
                <a:cs typeface="Times New Roman"/>
              </a:rPr>
              <a:t>B</a:t>
            </a:r>
            <a:r>
              <a:rPr sz="1522" i="1" spc="6" baseline="-24154" dirty="0">
                <a:latin typeface="Times New Roman"/>
                <a:cs typeface="Times New Roman"/>
              </a:rPr>
              <a:t>E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9353" y="5619952"/>
            <a:ext cx="852207" cy="29702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>
              <a:spcBef>
                <a:spcPts val="93"/>
              </a:spcBef>
              <a:tabLst>
                <a:tab pos="331712" algn="l"/>
                <a:tab pos="575453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I	</a:t>
            </a:r>
            <a:r>
              <a:rPr sz="1765" spc="-4" dirty="0">
                <a:latin typeface="Symbol"/>
                <a:cs typeface="Symbol"/>
              </a:rPr>
              <a:t></a:t>
            </a:r>
            <a:r>
              <a:rPr sz="1765" spc="-4" dirty="0">
                <a:latin typeface="Times New Roman"/>
                <a:cs typeface="Times New Roman"/>
              </a:rPr>
              <a:t>	</a:t>
            </a:r>
            <a:r>
              <a:rPr sz="1853" spc="-53" dirty="0">
                <a:latin typeface="Symbol"/>
                <a:cs typeface="Symbol"/>
              </a:rPr>
              <a:t></a:t>
            </a:r>
            <a:r>
              <a:rPr sz="1853" spc="-4" dirty="0">
                <a:latin typeface="Times New Roman"/>
                <a:cs typeface="Times New Roman"/>
              </a:rPr>
              <a:t> </a:t>
            </a:r>
            <a:r>
              <a:rPr sz="1765" spc="-4" dirty="0">
                <a:latin typeface="Times New Roman"/>
                <a:cs typeface="Times New Roman"/>
              </a:rPr>
              <a:t>[</a:t>
            </a:r>
            <a:endParaRPr sz="1765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37294" y="5446059"/>
            <a:ext cx="1833282" cy="632012"/>
            <a:chOff x="6096000" y="6172200"/>
            <a:chExt cx="2077720" cy="716280"/>
          </a:xfrm>
        </p:grpSpPr>
        <p:sp>
          <p:nvSpPr>
            <p:cNvPr id="16" name="object 16"/>
            <p:cNvSpPr/>
            <p:nvPr/>
          </p:nvSpPr>
          <p:spPr>
            <a:xfrm>
              <a:off x="6096000" y="6172200"/>
              <a:ext cx="2077720" cy="716280"/>
            </a:xfrm>
            <a:custGeom>
              <a:avLst/>
              <a:gdLst/>
              <a:ahLst/>
              <a:cxnLst/>
              <a:rect l="l" t="t" r="r" b="b"/>
              <a:pathLst>
                <a:path w="2077720" h="716279">
                  <a:moveTo>
                    <a:pt x="2077211" y="716279"/>
                  </a:moveTo>
                  <a:lnTo>
                    <a:pt x="2077211" y="0"/>
                  </a:lnTo>
                  <a:lnTo>
                    <a:pt x="0" y="0"/>
                  </a:lnTo>
                  <a:lnTo>
                    <a:pt x="0" y="716279"/>
                  </a:lnTo>
                  <a:lnTo>
                    <a:pt x="2077211" y="716279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10732" y="6508996"/>
              <a:ext cx="1282065" cy="0"/>
            </a:xfrm>
            <a:custGeom>
              <a:avLst/>
              <a:gdLst/>
              <a:ahLst/>
              <a:cxnLst/>
              <a:rect l="l" t="t" r="r" b="b"/>
              <a:pathLst>
                <a:path w="1282065">
                  <a:moveTo>
                    <a:pt x="0" y="0"/>
                  </a:moveTo>
                  <a:lnTo>
                    <a:pt x="1281687" y="0"/>
                  </a:lnTo>
                </a:path>
              </a:pathLst>
            </a:custGeom>
            <a:ln w="1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48870" y="5885648"/>
            <a:ext cx="98612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30669" y="5575021"/>
            <a:ext cx="871257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  <a:tabLst>
                <a:tab pos="700405" algn="l"/>
              </a:tabLst>
            </a:pPr>
            <a:r>
              <a:rPr sz="1015" i="1" spc="4" dirty="0">
                <a:latin typeface="Times New Roman"/>
                <a:cs typeface="Times New Roman"/>
              </a:rPr>
              <a:t>CC	</a:t>
            </a:r>
            <a:r>
              <a:rPr sz="1015" i="1" dirty="0">
                <a:latin typeface="Times New Roman"/>
                <a:cs typeface="Times New Roman"/>
              </a:rPr>
              <a:t>B</a:t>
            </a:r>
            <a:r>
              <a:rPr sz="1015" i="1" spc="4" dirty="0">
                <a:latin typeface="Times New Roman"/>
                <a:cs typeface="Times New Roman"/>
              </a:rPr>
              <a:t>E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6725" y="5713525"/>
            <a:ext cx="98612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78093" y="5737571"/>
            <a:ext cx="147918" cy="28179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>
              <a:spcBef>
                <a:spcPts val="79"/>
              </a:spcBef>
            </a:pPr>
            <a:r>
              <a:rPr sz="1765" i="1" spc="-4" dirty="0">
                <a:latin typeface="Times New Roman"/>
                <a:cs typeface="Times New Roman"/>
              </a:rPr>
              <a:t>R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9889" y="5425600"/>
            <a:ext cx="837640" cy="28179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>
              <a:spcBef>
                <a:spcPts val="79"/>
              </a:spcBef>
              <a:tabLst>
                <a:tab pos="498688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V	</a:t>
            </a:r>
            <a:r>
              <a:rPr sz="1765" spc="-4" dirty="0">
                <a:latin typeface="Symbol"/>
                <a:cs typeface="Symbol"/>
              </a:rPr>
              <a:t></a:t>
            </a:r>
            <a:r>
              <a:rPr sz="1765" spc="18" dirty="0">
                <a:latin typeface="Times New Roman"/>
                <a:cs typeface="Times New Roman"/>
              </a:rPr>
              <a:t> </a:t>
            </a:r>
            <a:r>
              <a:rPr sz="1765" i="1" spc="-4" dirty="0">
                <a:latin typeface="Times New Roman"/>
                <a:cs typeface="Times New Roman"/>
              </a:rPr>
              <a:t>V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2420" y="5565449"/>
            <a:ext cx="466165" cy="28179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>
              <a:spcBef>
                <a:spcPts val="79"/>
              </a:spcBef>
              <a:tabLst>
                <a:tab pos="331712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I	</a:t>
            </a:r>
            <a:r>
              <a:rPr sz="1765" spc="-4" dirty="0">
                <a:latin typeface="Symbol"/>
                <a:cs typeface="Symbol"/>
              </a:rPr>
              <a:t></a:t>
            </a:r>
            <a:endParaRPr sz="1765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39651" y="5670174"/>
            <a:ext cx="126290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b="1" spc="-4" dirty="0">
                <a:latin typeface="Arial"/>
                <a:cs typeface="Arial"/>
              </a:rPr>
              <a:t>If</a:t>
            </a:r>
            <a:r>
              <a:rPr sz="1765" b="1" spc="-49" dirty="0">
                <a:latin typeface="Arial"/>
                <a:cs typeface="Arial"/>
              </a:rPr>
              <a:t> </a:t>
            </a:r>
            <a:r>
              <a:rPr sz="1765" b="1" spc="4" dirty="0">
                <a:latin typeface="Arial"/>
                <a:cs typeface="Arial"/>
              </a:rPr>
              <a:t>R</a:t>
            </a:r>
            <a:r>
              <a:rPr sz="1721" b="1" spc="6" baseline="-21367" dirty="0">
                <a:latin typeface="Arial"/>
                <a:cs typeface="Arial"/>
              </a:rPr>
              <a:t>B</a:t>
            </a:r>
            <a:r>
              <a:rPr sz="1765" b="1" spc="4" dirty="0">
                <a:latin typeface="Arial"/>
                <a:cs typeface="Arial"/>
              </a:rPr>
              <a:t>&lt;&lt;</a:t>
            </a:r>
            <a:r>
              <a:rPr sz="1765" b="1" spc="-57" dirty="0">
                <a:latin typeface="Arial"/>
                <a:cs typeface="Arial"/>
              </a:rPr>
              <a:t> </a:t>
            </a:r>
            <a:r>
              <a:rPr sz="1765" spc="35" dirty="0">
                <a:latin typeface="Microsoft Sans Serif"/>
                <a:cs typeface="Microsoft Sans Serif"/>
              </a:rPr>
              <a:t>β</a:t>
            </a:r>
            <a:r>
              <a:rPr sz="1765" b="1" spc="35" dirty="0">
                <a:latin typeface="Arial"/>
                <a:cs typeface="Arial"/>
              </a:rPr>
              <a:t>R</a:t>
            </a:r>
            <a:r>
              <a:rPr sz="1721" b="1" spc="53" baseline="-21367" dirty="0">
                <a:latin typeface="Arial"/>
                <a:cs typeface="Arial"/>
              </a:rPr>
              <a:t>C</a:t>
            </a:r>
            <a:endParaRPr sz="1721" baseline="-21367">
              <a:latin typeface="Arial"/>
              <a:cs typeface="Arial"/>
            </a:endParaRP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C3CC7D99-6E71-5AEE-D373-B21FADAEF4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4210" y="1129278"/>
            <a:ext cx="8375487" cy="390982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lang="en-US" sz="2471" spc="-4" dirty="0">
                <a:latin typeface="Arial"/>
                <a:cs typeface="Arial"/>
              </a:rPr>
              <a:t>Stability factor for Collector feedback</a:t>
            </a:r>
            <a:r>
              <a:rPr sz="2471" spc="-62" dirty="0">
                <a:latin typeface="Arial"/>
                <a:cs typeface="Arial"/>
              </a:rPr>
              <a:t> </a:t>
            </a:r>
            <a:r>
              <a:rPr sz="2471" spc="-4" dirty="0">
                <a:latin typeface="Arial"/>
                <a:cs typeface="Arial"/>
              </a:rPr>
              <a:t>Bias</a:t>
            </a:r>
            <a:endParaRPr sz="247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9439" y="1193377"/>
            <a:ext cx="9315388" cy="503758"/>
          </a:xfrm>
          <a:prstGeom prst="rect">
            <a:avLst/>
          </a:prstGeom>
        </p:spPr>
        <p:txBody>
          <a:bodyPr vert="horz" wrap="square" lIns="0" tIns="11206" rIns="0" bIns="0" rtlCol="0" anchor="t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Stability</a:t>
            </a:r>
            <a:r>
              <a:rPr spc="-49" dirty="0"/>
              <a:t> </a:t>
            </a:r>
            <a:r>
              <a:rPr spc="-4" dirty="0"/>
              <a:t>factor</a:t>
            </a:r>
            <a:r>
              <a:rPr dirty="0"/>
              <a:t> </a:t>
            </a:r>
            <a:r>
              <a:rPr spc="-4" dirty="0"/>
              <a:t>for</a:t>
            </a:r>
            <a:r>
              <a:rPr spc="-9" dirty="0"/>
              <a:t> </a:t>
            </a:r>
            <a:r>
              <a:rPr spc="-13" dirty="0"/>
              <a:t>Voltage</a:t>
            </a:r>
            <a:r>
              <a:rPr spc="-26" dirty="0"/>
              <a:t> </a:t>
            </a:r>
            <a:r>
              <a:rPr spc="-4" dirty="0"/>
              <a:t>Divider</a:t>
            </a:r>
            <a:r>
              <a:rPr spc="4" dirty="0"/>
              <a:t> </a:t>
            </a:r>
            <a:r>
              <a:rPr spc="-4" dirty="0"/>
              <a:t>Bias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120033" y="2543735"/>
            <a:ext cx="1743075" cy="29368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94992" indent="-161373">
              <a:spcBef>
                <a:spcPts val="119"/>
              </a:spcBef>
              <a:buFont typeface="Symbol"/>
              <a:buChar char=""/>
              <a:tabLst>
                <a:tab pos="194992" algn="l"/>
              </a:tabLst>
            </a:pPr>
            <a:r>
              <a:rPr sz="1809" spc="-168" dirty="0">
                <a:latin typeface="Times New Roman"/>
                <a:cs typeface="Times New Roman"/>
              </a:rPr>
              <a:t>V</a:t>
            </a:r>
            <a:r>
              <a:rPr sz="1588" spc="13" baseline="-25462" dirty="0">
                <a:latin typeface="Times New Roman"/>
                <a:cs typeface="Times New Roman"/>
              </a:rPr>
              <a:t>BE</a:t>
            </a:r>
            <a:r>
              <a:rPr sz="1588" baseline="-25462" dirty="0">
                <a:latin typeface="Times New Roman"/>
                <a:cs typeface="Times New Roman"/>
              </a:rPr>
              <a:t> </a:t>
            </a:r>
            <a:r>
              <a:rPr sz="1588" spc="-199" baseline="-25462" dirty="0">
                <a:latin typeface="Times New Roman"/>
                <a:cs typeface="Times New Roman"/>
              </a:rPr>
              <a:t> </a:t>
            </a:r>
            <a:r>
              <a:rPr sz="1809" spc="243" dirty="0">
                <a:latin typeface="Symbol"/>
                <a:cs typeface="Symbol"/>
              </a:rPr>
              <a:t></a:t>
            </a:r>
            <a:r>
              <a:rPr sz="1809" spc="26" dirty="0">
                <a:latin typeface="Times New Roman"/>
                <a:cs typeface="Times New Roman"/>
              </a:rPr>
              <a:t>(</a:t>
            </a:r>
            <a:r>
              <a:rPr sz="1809" spc="40" dirty="0">
                <a:latin typeface="Times New Roman"/>
                <a:cs typeface="Times New Roman"/>
              </a:rPr>
              <a:t>I</a:t>
            </a:r>
            <a:r>
              <a:rPr sz="1588" spc="13" baseline="-25462" dirty="0">
                <a:latin typeface="Times New Roman"/>
                <a:cs typeface="Times New Roman"/>
              </a:rPr>
              <a:t>B</a:t>
            </a:r>
            <a:r>
              <a:rPr sz="1588" baseline="-25462" dirty="0">
                <a:latin typeface="Times New Roman"/>
                <a:cs typeface="Times New Roman"/>
              </a:rPr>
              <a:t> </a:t>
            </a:r>
            <a:r>
              <a:rPr sz="1588" spc="-191" baseline="-25462" dirty="0">
                <a:latin typeface="Times New Roman"/>
                <a:cs typeface="Times New Roman"/>
              </a:rPr>
              <a:t> </a:t>
            </a:r>
            <a:r>
              <a:rPr sz="1809" spc="18" dirty="0">
                <a:latin typeface="Symbol"/>
                <a:cs typeface="Symbol"/>
              </a:rPr>
              <a:t></a:t>
            </a:r>
            <a:r>
              <a:rPr sz="1809" spc="-176" dirty="0">
                <a:latin typeface="Times New Roman"/>
                <a:cs typeface="Times New Roman"/>
              </a:rPr>
              <a:t> </a:t>
            </a:r>
            <a:r>
              <a:rPr sz="1809" spc="18" dirty="0">
                <a:latin typeface="Times New Roman"/>
                <a:cs typeface="Times New Roman"/>
              </a:rPr>
              <a:t>I</a:t>
            </a:r>
            <a:r>
              <a:rPr sz="1588" spc="13" baseline="-25462" dirty="0">
                <a:latin typeface="Times New Roman"/>
                <a:cs typeface="Times New Roman"/>
              </a:rPr>
              <a:t>C</a:t>
            </a:r>
            <a:r>
              <a:rPr sz="1588" spc="-172" baseline="-25462" dirty="0">
                <a:latin typeface="Times New Roman"/>
                <a:cs typeface="Times New Roman"/>
              </a:rPr>
              <a:t> </a:t>
            </a:r>
            <a:r>
              <a:rPr sz="1809" spc="4" dirty="0">
                <a:latin typeface="Times New Roman"/>
                <a:cs typeface="Times New Roman"/>
              </a:rPr>
              <a:t>)</a:t>
            </a:r>
            <a:r>
              <a:rPr sz="1809" spc="93" dirty="0">
                <a:latin typeface="Times New Roman"/>
                <a:cs typeface="Times New Roman"/>
              </a:rPr>
              <a:t>R</a:t>
            </a:r>
            <a:r>
              <a:rPr sz="1588" spc="13" baseline="-25462" dirty="0">
                <a:latin typeface="Times New Roman"/>
                <a:cs typeface="Times New Roman"/>
              </a:rPr>
              <a:t>E</a:t>
            </a:r>
            <a:endParaRPr sz="1588" baseline="-25462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25431" y="2602902"/>
            <a:ext cx="1104340" cy="293557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2713" spc="-86" baseline="14905" dirty="0">
                <a:latin typeface="Times New Roman"/>
                <a:cs typeface="Times New Roman"/>
              </a:rPr>
              <a:t>V</a:t>
            </a:r>
            <a:r>
              <a:rPr sz="1059" spc="-57" dirty="0">
                <a:latin typeface="Times New Roman"/>
                <a:cs typeface="Times New Roman"/>
              </a:rPr>
              <a:t>Th</a:t>
            </a:r>
            <a:r>
              <a:rPr sz="1059" spc="75" dirty="0">
                <a:latin typeface="Times New Roman"/>
                <a:cs typeface="Times New Roman"/>
              </a:rPr>
              <a:t> </a:t>
            </a:r>
            <a:r>
              <a:rPr sz="2713" spc="26" baseline="14905" dirty="0">
                <a:latin typeface="Symbol"/>
                <a:cs typeface="Symbol"/>
              </a:rPr>
              <a:t></a:t>
            </a:r>
            <a:r>
              <a:rPr sz="2713" spc="-172" baseline="14905" dirty="0">
                <a:latin typeface="Times New Roman"/>
                <a:cs typeface="Times New Roman"/>
              </a:rPr>
              <a:t> </a:t>
            </a:r>
            <a:r>
              <a:rPr sz="2713" spc="53" baseline="14905" dirty="0">
                <a:latin typeface="Times New Roman"/>
                <a:cs typeface="Times New Roman"/>
              </a:rPr>
              <a:t>I</a:t>
            </a:r>
            <a:r>
              <a:rPr sz="1059" spc="35" dirty="0">
                <a:latin typeface="Times New Roman"/>
                <a:cs typeface="Times New Roman"/>
              </a:rPr>
              <a:t>B</a:t>
            </a:r>
            <a:r>
              <a:rPr sz="2713" spc="53" baseline="14905" dirty="0">
                <a:latin typeface="Times New Roman"/>
                <a:cs typeface="Times New Roman"/>
              </a:rPr>
              <a:t>R</a:t>
            </a:r>
            <a:r>
              <a:rPr sz="1059" spc="35" dirty="0">
                <a:latin typeface="Times New Roman"/>
                <a:cs typeface="Times New Roman"/>
              </a:rPr>
              <a:t>Th</a:t>
            </a:r>
            <a:endParaRPr sz="1059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826889" y="3322763"/>
            <a:ext cx="1288676" cy="0"/>
          </a:xfrm>
          <a:custGeom>
            <a:avLst/>
            <a:gdLst/>
            <a:ahLst/>
            <a:cxnLst/>
            <a:rect l="l" t="t" r="r" b="b"/>
            <a:pathLst>
              <a:path w="1460500">
                <a:moveTo>
                  <a:pt x="0" y="0"/>
                </a:moveTo>
                <a:lnTo>
                  <a:pt x="368800" y="0"/>
                </a:lnTo>
              </a:path>
              <a:path w="1460500">
                <a:moveTo>
                  <a:pt x="1092699" y="0"/>
                </a:moveTo>
                <a:lnTo>
                  <a:pt x="1459984" y="0"/>
                </a:lnTo>
              </a:path>
            </a:pathLst>
          </a:custGeom>
          <a:ln w="10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 txBox="1"/>
          <p:nvPr/>
        </p:nvSpPr>
        <p:spPr>
          <a:xfrm>
            <a:off x="7336543" y="3294122"/>
            <a:ext cx="102534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015" i="1" spc="4" dirty="0">
                <a:latin typeface="Times New Roman"/>
                <a:cs typeface="Times New Roman"/>
              </a:rPr>
              <a:t>E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16011" y="3143924"/>
            <a:ext cx="24709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7" dirty="0">
                <a:latin typeface="Times New Roman"/>
                <a:cs typeface="Times New Roman"/>
              </a:rPr>
              <a:t>)</a:t>
            </a:r>
            <a:r>
              <a:rPr sz="1765" i="1" spc="-4" dirty="0">
                <a:latin typeface="Times New Roman"/>
                <a:cs typeface="Times New Roman"/>
              </a:rPr>
              <a:t>R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794626" y="3005420"/>
            <a:ext cx="21067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i="1" dirty="0">
                <a:latin typeface="Times New Roman"/>
                <a:cs typeface="Times New Roman"/>
              </a:rPr>
              <a:t>d</a:t>
            </a:r>
            <a:r>
              <a:rPr sz="1765" dirty="0">
                <a:latin typeface="Times New Roman"/>
                <a:cs typeface="Times New Roman"/>
              </a:rPr>
              <a:t>I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831817" y="3005420"/>
            <a:ext cx="21067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i="1" dirty="0">
                <a:latin typeface="Times New Roman"/>
                <a:cs typeface="Times New Roman"/>
              </a:rPr>
              <a:t>d</a:t>
            </a:r>
            <a:r>
              <a:rPr sz="1765" dirty="0">
                <a:latin typeface="Times New Roman"/>
                <a:cs typeface="Times New Roman"/>
              </a:rPr>
              <a:t>I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89608" y="3154231"/>
            <a:ext cx="10981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B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026797" y="3154231"/>
            <a:ext cx="10981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B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53203" y="3143924"/>
            <a:ext cx="6045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dirty="0">
                <a:latin typeface="Times New Roman"/>
                <a:cs typeface="Times New Roman"/>
              </a:rPr>
              <a:t>)</a:t>
            </a:r>
            <a:r>
              <a:rPr sz="1765" spc="-15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spc="-146" dirty="0">
                <a:latin typeface="Times New Roman"/>
                <a:cs typeface="Times New Roman"/>
              </a:rPr>
              <a:t> (</a:t>
            </a:r>
            <a:r>
              <a:rPr sz="1765" spc="132" dirty="0">
                <a:latin typeface="Times New Roman"/>
                <a:cs typeface="Times New Roman"/>
              </a:rPr>
              <a:t>1</a:t>
            </a:r>
            <a:r>
              <a:rPr sz="1765" dirty="0">
                <a:latin typeface="Symbol"/>
                <a:cs typeface="Symbol"/>
              </a:rPr>
              <a:t></a:t>
            </a:r>
            <a:endParaRPr sz="1765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89983" y="3143924"/>
            <a:ext cx="7620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dirty="0">
                <a:latin typeface="Times New Roman"/>
                <a:cs typeface="Times New Roman"/>
              </a:rPr>
              <a:t>0</a:t>
            </a:r>
            <a:r>
              <a:rPr sz="1765" spc="-119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</a:t>
            </a:r>
            <a:r>
              <a:rPr sz="1765" spc="26" dirty="0">
                <a:latin typeface="Times New Roman"/>
                <a:cs typeface="Times New Roman"/>
              </a:rPr>
              <a:t> </a:t>
            </a:r>
            <a:r>
              <a:rPr sz="1765" i="1" spc="-132" dirty="0">
                <a:latin typeface="Times New Roman"/>
                <a:cs typeface="Times New Roman"/>
              </a:rPr>
              <a:t>R</a:t>
            </a:r>
            <a:r>
              <a:rPr sz="1522" i="1" baseline="-24154" dirty="0">
                <a:latin typeface="Times New Roman"/>
                <a:cs typeface="Times New Roman"/>
              </a:rPr>
              <a:t>T</a:t>
            </a:r>
            <a:r>
              <a:rPr sz="1522" i="1" spc="6" baseline="-24154" dirty="0">
                <a:latin typeface="Times New Roman"/>
                <a:cs typeface="Times New Roman"/>
              </a:rPr>
              <a:t>h</a:t>
            </a:r>
            <a:r>
              <a:rPr sz="1522" i="1" spc="-92" baseline="-2415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(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154571" y="3121054"/>
            <a:ext cx="1479176" cy="0"/>
          </a:xfrm>
          <a:custGeom>
            <a:avLst/>
            <a:gdLst/>
            <a:ahLst/>
            <a:cxnLst/>
            <a:rect l="l" t="t" r="r" b="b"/>
            <a:pathLst>
              <a:path w="1676400">
                <a:moveTo>
                  <a:pt x="0" y="0"/>
                </a:moveTo>
                <a:lnTo>
                  <a:pt x="368800" y="0"/>
                </a:lnTo>
              </a:path>
              <a:path w="1676400">
                <a:moveTo>
                  <a:pt x="809239" y="0"/>
                </a:moveTo>
                <a:lnTo>
                  <a:pt x="1676399" y="0"/>
                </a:lnTo>
              </a:path>
            </a:pathLst>
          </a:custGeom>
          <a:ln w="10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5" name="object 65"/>
          <p:cNvSpPr txBox="1"/>
          <p:nvPr/>
        </p:nvSpPr>
        <p:spPr>
          <a:xfrm>
            <a:off x="9103934" y="2804224"/>
            <a:ext cx="280707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>
              <a:spcBef>
                <a:spcPts val="84"/>
              </a:spcBef>
            </a:pPr>
            <a:r>
              <a:rPr sz="1765" i="1" spc="-13" dirty="0">
                <a:latin typeface="Times New Roman"/>
                <a:cs typeface="Times New Roman"/>
              </a:rPr>
              <a:t>R</a:t>
            </a:r>
            <a:r>
              <a:rPr sz="1522" i="1" spc="-19" baseline="-24154" dirty="0">
                <a:latin typeface="Times New Roman"/>
                <a:cs typeface="Times New Roman"/>
              </a:rPr>
              <a:t>E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857854" y="3115686"/>
            <a:ext cx="77152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i="1" spc="-35" dirty="0">
                <a:latin typeface="Times New Roman"/>
                <a:cs typeface="Times New Roman"/>
              </a:rPr>
              <a:t>R</a:t>
            </a:r>
            <a:r>
              <a:rPr sz="1522" i="1" spc="-53" baseline="-24154" dirty="0">
                <a:latin typeface="Times New Roman"/>
                <a:cs typeface="Times New Roman"/>
              </a:rPr>
              <a:t>Th</a:t>
            </a:r>
            <a:r>
              <a:rPr sz="1522" i="1" spc="265" baseline="-2415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spc="-97" dirty="0">
                <a:latin typeface="Times New Roman"/>
                <a:cs typeface="Times New Roman"/>
              </a:rPr>
              <a:t> </a:t>
            </a:r>
            <a:r>
              <a:rPr sz="1765" i="1" spc="-13" dirty="0">
                <a:latin typeface="Times New Roman"/>
                <a:cs typeface="Times New Roman"/>
              </a:rPr>
              <a:t>R</a:t>
            </a:r>
            <a:r>
              <a:rPr sz="1522" i="1" spc="-19" baseline="-24154" dirty="0">
                <a:latin typeface="Times New Roman"/>
                <a:cs typeface="Times New Roman"/>
              </a:rPr>
              <a:t>E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529293" y="2942219"/>
            <a:ext cx="32104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dirty="0">
                <a:latin typeface="Symbol"/>
                <a:cs typeface="Symbol"/>
              </a:rPr>
              <a:t></a:t>
            </a:r>
            <a:r>
              <a:rPr sz="1765" spc="-110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</a:t>
            </a:r>
            <a:endParaRPr sz="1765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351795" y="3264497"/>
            <a:ext cx="10981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159505" y="3115686"/>
            <a:ext cx="20898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i="1" spc="-9" dirty="0">
                <a:latin typeface="Times New Roman"/>
                <a:cs typeface="Times New Roman"/>
              </a:rPr>
              <a:t>d</a:t>
            </a:r>
            <a:r>
              <a:rPr sz="1765" dirty="0">
                <a:latin typeface="Times New Roman"/>
                <a:cs typeface="Times New Roman"/>
              </a:rPr>
              <a:t>I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137093" y="2803714"/>
            <a:ext cx="34962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765" i="1" spc="22" dirty="0">
                <a:latin typeface="Times New Roman"/>
                <a:cs typeface="Times New Roman"/>
              </a:rPr>
              <a:t>d</a:t>
            </a:r>
            <a:r>
              <a:rPr sz="1765" spc="22" dirty="0">
                <a:latin typeface="Times New Roman"/>
                <a:cs typeface="Times New Roman"/>
              </a:rPr>
              <a:t>I</a:t>
            </a:r>
            <a:r>
              <a:rPr sz="1522" spc="33" baseline="-24154" dirty="0">
                <a:latin typeface="Times New Roman"/>
                <a:cs typeface="Times New Roman"/>
              </a:rPr>
              <a:t>B</a:t>
            </a:r>
            <a:endParaRPr sz="1522" baseline="-24154">
              <a:latin typeface="Times New Roman"/>
              <a:cs typeface="Times New Roman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8456064" y="3442170"/>
            <a:ext cx="2977403" cy="1194547"/>
            <a:chOff x="4572000" y="3962399"/>
            <a:chExt cx="3374390" cy="1353820"/>
          </a:xfrm>
        </p:grpSpPr>
        <p:sp>
          <p:nvSpPr>
            <p:cNvPr id="74" name="object 74"/>
            <p:cNvSpPr/>
            <p:nvPr/>
          </p:nvSpPr>
          <p:spPr>
            <a:xfrm>
              <a:off x="4572000" y="3962399"/>
              <a:ext cx="3374390" cy="1353820"/>
            </a:xfrm>
            <a:custGeom>
              <a:avLst/>
              <a:gdLst/>
              <a:ahLst/>
              <a:cxnLst/>
              <a:rect l="l" t="t" r="r" b="b"/>
              <a:pathLst>
                <a:path w="3374390" h="1353820">
                  <a:moveTo>
                    <a:pt x="3374135" y="1353311"/>
                  </a:moveTo>
                  <a:lnTo>
                    <a:pt x="3374135" y="0"/>
                  </a:lnTo>
                  <a:lnTo>
                    <a:pt x="0" y="0"/>
                  </a:lnTo>
                  <a:lnTo>
                    <a:pt x="0" y="1353311"/>
                  </a:lnTo>
                  <a:lnTo>
                    <a:pt x="3374135" y="1353311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6950940" y="4291580"/>
              <a:ext cx="879475" cy="660400"/>
            </a:xfrm>
            <a:custGeom>
              <a:avLst/>
              <a:gdLst/>
              <a:ahLst/>
              <a:cxnLst/>
              <a:rect l="l" t="t" r="r" b="b"/>
              <a:pathLst>
                <a:path w="879475" h="660400">
                  <a:moveTo>
                    <a:pt x="0" y="0"/>
                  </a:moveTo>
                  <a:lnTo>
                    <a:pt x="484631" y="0"/>
                  </a:lnTo>
                </a:path>
                <a:path w="879475" h="660400">
                  <a:moveTo>
                    <a:pt x="394715" y="659891"/>
                  </a:moveTo>
                  <a:lnTo>
                    <a:pt x="879347" y="659891"/>
                  </a:lnTo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794626" y="3317392"/>
            <a:ext cx="21067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i="1" dirty="0">
                <a:latin typeface="Times New Roman"/>
                <a:cs typeface="Times New Roman"/>
              </a:rPr>
              <a:t>d</a:t>
            </a:r>
            <a:r>
              <a:rPr sz="1765" dirty="0">
                <a:latin typeface="Times New Roman"/>
                <a:cs typeface="Times New Roman"/>
              </a:rPr>
              <a:t>I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831817" y="3317392"/>
            <a:ext cx="21067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i="1" dirty="0">
                <a:latin typeface="Times New Roman"/>
                <a:cs typeface="Times New Roman"/>
              </a:rPr>
              <a:t>d</a:t>
            </a:r>
            <a:r>
              <a:rPr sz="1765" dirty="0">
                <a:latin typeface="Times New Roman"/>
                <a:cs typeface="Times New Roman"/>
              </a:rPr>
              <a:t>I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986919" y="3466202"/>
            <a:ext cx="10981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024108" y="3466202"/>
            <a:ext cx="109818" cy="168643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015" spc="9" dirty="0">
                <a:latin typeface="Times New Roman"/>
                <a:cs typeface="Times New Roman"/>
              </a:rPr>
              <a:t>C</a:t>
            </a:r>
            <a:endParaRPr sz="1015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025437" y="3899647"/>
            <a:ext cx="3256989" cy="633693"/>
            <a:chOff x="685793" y="4419600"/>
            <a:chExt cx="3691254" cy="718185"/>
          </a:xfrm>
        </p:grpSpPr>
        <p:sp>
          <p:nvSpPr>
            <p:cNvPr id="81" name="object 81"/>
            <p:cNvSpPr/>
            <p:nvPr/>
          </p:nvSpPr>
          <p:spPr>
            <a:xfrm>
              <a:off x="685793" y="4419600"/>
              <a:ext cx="3691254" cy="718185"/>
            </a:xfrm>
            <a:custGeom>
              <a:avLst/>
              <a:gdLst/>
              <a:ahLst/>
              <a:cxnLst/>
              <a:rect l="l" t="t" r="r" b="b"/>
              <a:pathLst>
                <a:path w="3691254" h="718185">
                  <a:moveTo>
                    <a:pt x="3691127" y="717803"/>
                  </a:moveTo>
                  <a:lnTo>
                    <a:pt x="3691127" y="0"/>
                  </a:lnTo>
                  <a:lnTo>
                    <a:pt x="0" y="0"/>
                  </a:lnTo>
                  <a:lnTo>
                    <a:pt x="0" y="717803"/>
                  </a:lnTo>
                  <a:lnTo>
                    <a:pt x="3691127" y="717803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2223511" y="4756401"/>
              <a:ext cx="2083435" cy="0"/>
            </a:xfrm>
            <a:custGeom>
              <a:avLst/>
              <a:gdLst/>
              <a:ahLst/>
              <a:cxnLst/>
              <a:rect l="l" t="t" r="r" b="b"/>
              <a:pathLst>
                <a:path w="2083435">
                  <a:moveTo>
                    <a:pt x="0" y="0"/>
                  </a:moveTo>
                  <a:lnTo>
                    <a:pt x="2083295" y="0"/>
                  </a:lnTo>
                </a:path>
              </a:pathLst>
            </a:custGeom>
            <a:ln w="10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5076544" y="4005729"/>
            <a:ext cx="1250576" cy="29758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  <a:tabLst>
                <a:tab pos="237577" algn="l"/>
                <a:tab pos="844407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S	</a:t>
            </a:r>
            <a:r>
              <a:rPr sz="1765" dirty="0">
                <a:latin typeface="Symbol"/>
                <a:cs typeface="Symbol"/>
              </a:rPr>
              <a:t></a:t>
            </a:r>
            <a:r>
              <a:rPr sz="1765" spc="427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(</a:t>
            </a:r>
            <a:r>
              <a:rPr sz="1765" spc="-132" dirty="0">
                <a:latin typeface="Times New Roman"/>
                <a:cs typeface="Times New Roman"/>
              </a:rPr>
              <a:t> </a:t>
            </a:r>
            <a:r>
              <a:rPr sz="1853" spc="-49" dirty="0">
                <a:latin typeface="Symbol"/>
                <a:cs typeface="Symbol"/>
              </a:rPr>
              <a:t></a:t>
            </a:r>
            <a:r>
              <a:rPr sz="1853" spc="-49" dirty="0">
                <a:latin typeface="Times New Roman"/>
                <a:cs typeface="Times New Roman"/>
              </a:rPr>
              <a:t>	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spc="18" dirty="0">
                <a:latin typeface="Times New Roman"/>
                <a:cs typeface="Times New Roman"/>
              </a:rPr>
              <a:t> </a:t>
            </a:r>
            <a:r>
              <a:rPr sz="1765" spc="66" dirty="0">
                <a:latin typeface="Times New Roman"/>
                <a:cs typeface="Times New Roman"/>
              </a:rPr>
              <a:t>1)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098133" y="4201588"/>
            <a:ext cx="149599" cy="169208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>
              <a:spcBef>
                <a:spcPts val="101"/>
              </a:spcBef>
            </a:pPr>
            <a:r>
              <a:rPr sz="1015" i="1" dirty="0">
                <a:latin typeface="Times New Roman"/>
                <a:cs typeface="Times New Roman"/>
              </a:rPr>
              <a:t>T</a:t>
            </a:r>
            <a:r>
              <a:rPr sz="1015" i="1" spc="4" dirty="0">
                <a:latin typeface="Times New Roman"/>
                <a:cs typeface="Times New Roman"/>
              </a:rPr>
              <a:t>h</a:t>
            </a:r>
            <a:endParaRPr sz="1015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937215" y="4361103"/>
            <a:ext cx="317687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2413">
              <a:spcBef>
                <a:spcPts val="84"/>
              </a:spcBef>
            </a:pPr>
            <a:r>
              <a:rPr sz="1765" i="1" dirty="0">
                <a:latin typeface="Times New Roman"/>
                <a:cs typeface="Times New Roman"/>
              </a:rPr>
              <a:t>R</a:t>
            </a:r>
            <a:r>
              <a:rPr sz="1765" i="1" spc="-93" dirty="0">
                <a:latin typeface="Times New Roman"/>
                <a:cs typeface="Times New Roman"/>
              </a:rPr>
              <a:t> </a:t>
            </a:r>
            <a:r>
              <a:rPr sz="1522" i="1" spc="13" baseline="-24154" dirty="0">
                <a:latin typeface="Times New Roman"/>
                <a:cs typeface="Times New Roman"/>
              </a:rPr>
              <a:t>E</a:t>
            </a:r>
            <a:endParaRPr sz="1522" baseline="-24154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812572" y="3928613"/>
            <a:ext cx="1553696" cy="410557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>
              <a:lnSpc>
                <a:spcPts val="1085"/>
              </a:lnSpc>
              <a:spcBef>
                <a:spcPts val="101"/>
              </a:spcBef>
              <a:tabLst>
                <a:tab pos="980007" algn="l"/>
                <a:tab pos="1542012" algn="l"/>
              </a:tabLst>
            </a:pPr>
            <a:r>
              <a:rPr sz="1015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015" i="1" u="sng" spc="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	</a:t>
            </a:r>
            <a:endParaRPr sz="1015">
              <a:latin typeface="Times New Roman"/>
              <a:cs typeface="Times New Roman"/>
            </a:endParaRPr>
          </a:p>
          <a:p>
            <a:pPr marR="289127" algn="r">
              <a:lnSpc>
                <a:spcPts val="1985"/>
              </a:lnSpc>
            </a:pPr>
            <a:r>
              <a:rPr sz="1765" i="1" dirty="0">
                <a:latin typeface="Times New Roman"/>
                <a:cs typeface="Times New Roman"/>
              </a:rPr>
              <a:t>R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0611348" y="3778846"/>
            <a:ext cx="148478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</a:pPr>
            <a:r>
              <a:rPr sz="1765" i="1" dirty="0">
                <a:latin typeface="Times New Roman"/>
                <a:cs typeface="Times New Roman"/>
              </a:rPr>
              <a:t>R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201211" y="4190326"/>
            <a:ext cx="606799" cy="28236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>
              <a:spcBef>
                <a:spcPts val="84"/>
              </a:spcBef>
            </a:pPr>
            <a:r>
              <a:rPr sz="1765" dirty="0">
                <a:latin typeface="Symbol"/>
                <a:cs typeface="Symbol"/>
              </a:rPr>
              <a:t></a:t>
            </a:r>
            <a:r>
              <a:rPr sz="1765" spc="57" dirty="0">
                <a:latin typeface="Times New Roman"/>
                <a:cs typeface="Times New Roman"/>
              </a:rPr>
              <a:t> 1)</a:t>
            </a:r>
            <a:r>
              <a:rPr sz="1765" spc="137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</a:t>
            </a:r>
            <a:endParaRPr sz="1765">
              <a:latin typeface="Symbol"/>
              <a:cs typeface="Symbo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38505" y="3470908"/>
            <a:ext cx="1067360" cy="42208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1373" algn="ctr">
              <a:lnSpc>
                <a:spcPts val="1597"/>
              </a:lnSpc>
              <a:spcBef>
                <a:spcPts val="84"/>
              </a:spcBef>
            </a:pPr>
            <a:r>
              <a:rPr sz="1765" i="1" dirty="0">
                <a:latin typeface="Times New Roman"/>
                <a:cs typeface="Times New Roman"/>
              </a:rPr>
              <a:t>R</a:t>
            </a:r>
            <a:endParaRPr sz="1765">
              <a:latin typeface="Times New Roman"/>
              <a:cs typeface="Times New Roman"/>
            </a:endParaRPr>
          </a:p>
          <a:p>
            <a:pPr marL="33619">
              <a:lnSpc>
                <a:spcPts val="1597"/>
              </a:lnSpc>
              <a:tabLst>
                <a:tab pos="711051" algn="l"/>
              </a:tabLst>
            </a:pPr>
            <a:r>
              <a:rPr sz="1765" spc="4" dirty="0">
                <a:latin typeface="Times New Roman"/>
                <a:cs typeface="Times New Roman"/>
              </a:rPr>
              <a:t>(1</a:t>
            </a:r>
            <a:r>
              <a:rPr sz="1765" spc="62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dirty="0">
                <a:latin typeface="Times New Roman"/>
                <a:cs typeface="Times New Roman"/>
              </a:rPr>
              <a:t>	</a:t>
            </a:r>
            <a:r>
              <a:rPr sz="1522" i="1" spc="6" baseline="36231" dirty="0">
                <a:latin typeface="Times New Roman"/>
                <a:cs typeface="Times New Roman"/>
              </a:rPr>
              <a:t>Th  </a:t>
            </a:r>
            <a:r>
              <a:rPr sz="1522" i="1" spc="33" baseline="36231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)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379561" y="3850620"/>
            <a:ext cx="3720353" cy="635397"/>
          </a:xfrm>
          <a:prstGeom prst="rect">
            <a:avLst/>
          </a:prstGeom>
        </p:spPr>
        <p:txBody>
          <a:bodyPr vert="horz" wrap="square" lIns="0" tIns="39781" rIns="0" bIns="0" rtlCol="0">
            <a:spAutoFit/>
          </a:bodyPr>
          <a:lstStyle/>
          <a:p>
            <a:pPr marL="313221">
              <a:spcBef>
                <a:spcPts val="313"/>
              </a:spcBef>
              <a:tabLst>
                <a:tab pos="866820" algn="l"/>
              </a:tabLst>
            </a:pPr>
            <a:r>
              <a:rPr sz="1765" dirty="0">
                <a:latin typeface="Times New Roman"/>
                <a:cs typeface="Times New Roman"/>
              </a:rPr>
              <a:t>(</a:t>
            </a:r>
            <a:r>
              <a:rPr sz="1765" spc="-88" dirty="0">
                <a:latin typeface="Times New Roman"/>
                <a:cs typeface="Times New Roman"/>
              </a:rPr>
              <a:t> </a:t>
            </a:r>
            <a:r>
              <a:rPr sz="1765" i="1" spc="75" dirty="0">
                <a:latin typeface="Times New Roman"/>
                <a:cs typeface="Times New Roman"/>
              </a:rPr>
              <a:t>R</a:t>
            </a:r>
            <a:r>
              <a:rPr sz="1522" i="1" spc="112" baseline="-24154" dirty="0">
                <a:latin typeface="Times New Roman"/>
                <a:cs typeface="Times New Roman"/>
              </a:rPr>
              <a:t>Th	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spc="397" dirty="0">
                <a:latin typeface="Times New Roman"/>
                <a:cs typeface="Times New Roman"/>
              </a:rPr>
              <a:t> </a:t>
            </a:r>
            <a:r>
              <a:rPr sz="1765" i="1" spc="-4" dirty="0">
                <a:latin typeface="Times New Roman"/>
                <a:cs typeface="Times New Roman"/>
              </a:rPr>
              <a:t>R</a:t>
            </a:r>
            <a:r>
              <a:rPr sz="1765" i="1" spc="-101" dirty="0">
                <a:latin typeface="Times New Roman"/>
                <a:cs typeface="Times New Roman"/>
              </a:rPr>
              <a:t> </a:t>
            </a:r>
            <a:r>
              <a:rPr sz="1522" i="1" spc="6" baseline="-24154" dirty="0">
                <a:latin typeface="Times New Roman"/>
                <a:cs typeface="Times New Roman"/>
              </a:rPr>
              <a:t>E</a:t>
            </a:r>
            <a:r>
              <a:rPr sz="1522" i="1" spc="26" baseline="-2415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)</a:t>
            </a:r>
            <a:endParaRPr sz="1765">
              <a:latin typeface="Times New Roman"/>
              <a:cs typeface="Times New Roman"/>
            </a:endParaRPr>
          </a:p>
          <a:p>
            <a:pPr marL="33619">
              <a:spcBef>
                <a:spcPts val="251"/>
              </a:spcBef>
              <a:tabLst>
                <a:tab pos="736826" algn="l"/>
                <a:tab pos="3448794" algn="l"/>
              </a:tabLst>
            </a:pPr>
            <a:r>
              <a:rPr sz="1765" i="1" spc="-4" dirty="0">
                <a:latin typeface="Times New Roman"/>
                <a:cs typeface="Times New Roman"/>
              </a:rPr>
              <a:t>R</a:t>
            </a:r>
            <a:r>
              <a:rPr sz="1765" i="1" spc="-93" dirty="0">
                <a:latin typeface="Times New Roman"/>
                <a:cs typeface="Times New Roman"/>
              </a:rPr>
              <a:t> </a:t>
            </a:r>
            <a:r>
              <a:rPr sz="1522" i="1" spc="6" baseline="-24154" dirty="0">
                <a:latin typeface="Times New Roman"/>
                <a:cs typeface="Times New Roman"/>
              </a:rPr>
              <a:t>E</a:t>
            </a:r>
            <a:r>
              <a:rPr sz="1522" i="1" baseline="-24154" dirty="0">
                <a:latin typeface="Times New Roman"/>
                <a:cs typeface="Times New Roman"/>
              </a:rPr>
              <a:t> </a:t>
            </a:r>
            <a:r>
              <a:rPr sz="1522" i="1" spc="53" baseline="-24154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(</a:t>
            </a:r>
            <a:r>
              <a:rPr sz="1765" spc="-124" dirty="0">
                <a:latin typeface="Times New Roman"/>
                <a:cs typeface="Times New Roman"/>
              </a:rPr>
              <a:t> </a:t>
            </a:r>
            <a:r>
              <a:rPr sz="1853" spc="-49" dirty="0">
                <a:latin typeface="Symbol"/>
                <a:cs typeface="Symbol"/>
              </a:rPr>
              <a:t></a:t>
            </a:r>
            <a:r>
              <a:rPr sz="1853" dirty="0">
                <a:latin typeface="Times New Roman"/>
                <a:cs typeface="Times New Roman"/>
              </a:rPr>
              <a:t>	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spc="88" dirty="0">
                <a:latin typeface="Times New Roman"/>
                <a:cs typeface="Times New Roman"/>
              </a:rPr>
              <a:t> </a:t>
            </a:r>
            <a:r>
              <a:rPr sz="1765" spc="132" dirty="0">
                <a:latin typeface="Times New Roman"/>
                <a:cs typeface="Times New Roman"/>
              </a:rPr>
              <a:t>1</a:t>
            </a:r>
            <a:r>
              <a:rPr sz="1765" dirty="0">
                <a:latin typeface="Times New Roman"/>
                <a:cs typeface="Times New Roman"/>
              </a:rPr>
              <a:t>)</a:t>
            </a:r>
            <a:r>
              <a:rPr sz="1765" spc="163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dirty="0">
                <a:latin typeface="Times New Roman"/>
                <a:cs typeface="Times New Roman"/>
              </a:rPr>
              <a:t> </a:t>
            </a:r>
            <a:r>
              <a:rPr sz="1765" spc="-13" dirty="0">
                <a:latin typeface="Times New Roman"/>
                <a:cs typeface="Times New Roman"/>
              </a:rPr>
              <a:t> </a:t>
            </a:r>
            <a:r>
              <a:rPr sz="1765" i="1" spc="216" dirty="0">
                <a:latin typeface="Times New Roman"/>
                <a:cs typeface="Times New Roman"/>
              </a:rPr>
              <a:t>R</a:t>
            </a:r>
            <a:r>
              <a:rPr sz="1522" i="1" baseline="-24154" dirty="0">
                <a:latin typeface="Times New Roman"/>
                <a:cs typeface="Times New Roman"/>
              </a:rPr>
              <a:t>T</a:t>
            </a:r>
            <a:r>
              <a:rPr sz="1522" i="1" spc="6" baseline="-24154" dirty="0">
                <a:latin typeface="Times New Roman"/>
                <a:cs typeface="Times New Roman"/>
              </a:rPr>
              <a:t>h</a:t>
            </a:r>
            <a:r>
              <a:rPr sz="1522" i="1" baseline="-24154" dirty="0">
                <a:latin typeface="Times New Roman"/>
                <a:cs typeface="Times New Roman"/>
              </a:rPr>
              <a:t>	</a:t>
            </a:r>
            <a:r>
              <a:rPr sz="1765" dirty="0">
                <a:latin typeface="Times New Roman"/>
                <a:cs typeface="Times New Roman"/>
              </a:rPr>
              <a:t>(</a:t>
            </a:r>
            <a:r>
              <a:rPr sz="1765" spc="-132" dirty="0">
                <a:latin typeface="Times New Roman"/>
                <a:cs typeface="Times New Roman"/>
              </a:rPr>
              <a:t> </a:t>
            </a:r>
            <a:r>
              <a:rPr sz="1853" spc="-49" dirty="0">
                <a:latin typeface="Symbol"/>
                <a:cs typeface="Symbol"/>
              </a:rPr>
              <a:t></a:t>
            </a:r>
            <a:endParaRPr sz="1853">
              <a:latin typeface="Symbol"/>
              <a:cs typeface="Symbo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505539" y="3901883"/>
            <a:ext cx="1250576" cy="297589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>
              <a:spcBef>
                <a:spcPts val="97"/>
              </a:spcBef>
              <a:tabLst>
                <a:tab pos="237577" algn="l"/>
                <a:tab pos="844407" algn="l"/>
              </a:tabLst>
            </a:pPr>
            <a:r>
              <a:rPr sz="1765" i="1" dirty="0">
                <a:latin typeface="Times New Roman"/>
                <a:cs typeface="Times New Roman"/>
              </a:rPr>
              <a:t>S	</a:t>
            </a:r>
            <a:r>
              <a:rPr sz="1765" dirty="0">
                <a:latin typeface="Symbol"/>
                <a:cs typeface="Symbol"/>
              </a:rPr>
              <a:t></a:t>
            </a:r>
            <a:r>
              <a:rPr sz="1765" spc="427" dirty="0">
                <a:latin typeface="Times New Roman"/>
                <a:cs typeface="Times New Roman"/>
              </a:rPr>
              <a:t> </a:t>
            </a:r>
            <a:r>
              <a:rPr sz="1765" dirty="0">
                <a:latin typeface="Times New Roman"/>
                <a:cs typeface="Times New Roman"/>
              </a:rPr>
              <a:t>(</a:t>
            </a:r>
            <a:r>
              <a:rPr sz="1765" spc="-132" dirty="0">
                <a:latin typeface="Times New Roman"/>
                <a:cs typeface="Times New Roman"/>
              </a:rPr>
              <a:t> </a:t>
            </a:r>
            <a:r>
              <a:rPr sz="1853" spc="-49" dirty="0">
                <a:latin typeface="Symbol"/>
                <a:cs typeface="Symbol"/>
              </a:rPr>
              <a:t></a:t>
            </a:r>
            <a:r>
              <a:rPr sz="1853" spc="-49" dirty="0">
                <a:latin typeface="Times New Roman"/>
                <a:cs typeface="Times New Roman"/>
              </a:rPr>
              <a:t>	</a:t>
            </a:r>
            <a:r>
              <a:rPr sz="1765" dirty="0">
                <a:latin typeface="Symbol"/>
                <a:cs typeface="Symbol"/>
              </a:rPr>
              <a:t></a:t>
            </a:r>
            <a:r>
              <a:rPr sz="1765" spc="18" dirty="0">
                <a:latin typeface="Times New Roman"/>
                <a:cs typeface="Times New Roman"/>
              </a:rPr>
              <a:t> </a:t>
            </a:r>
            <a:r>
              <a:rPr sz="1765" spc="66" dirty="0">
                <a:latin typeface="Times New Roman"/>
                <a:cs typeface="Times New Roman"/>
              </a:rPr>
              <a:t>1)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139738" y="4730225"/>
            <a:ext cx="6719607" cy="5000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 marR="26896">
              <a:spcBef>
                <a:spcPts val="88"/>
              </a:spcBef>
              <a:buFont typeface="MS UI Gothic"/>
              <a:buChar char="➢"/>
              <a:tabLst>
                <a:tab pos="248784" algn="l"/>
              </a:tabLst>
            </a:pPr>
            <a:r>
              <a:rPr sz="1588" spc="-4" dirty="0">
                <a:latin typeface="Arial MT"/>
                <a:cs typeface="Arial MT"/>
              </a:rPr>
              <a:t>For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18" dirty="0">
                <a:latin typeface="Arial MT"/>
                <a:cs typeface="Arial MT"/>
              </a:rPr>
              <a:t>stability,</a:t>
            </a:r>
            <a:r>
              <a:rPr sz="1588" spc="40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S</a:t>
            </a:r>
            <a:r>
              <a:rPr sz="1588" spc="-4" dirty="0">
                <a:latin typeface="Arial MT"/>
                <a:cs typeface="Arial MT"/>
              </a:rPr>
              <a:t> should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be small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which</a:t>
            </a:r>
            <a:r>
              <a:rPr sz="1588" spc="4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can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be achieved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by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making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R</a:t>
            </a:r>
            <a:r>
              <a:rPr sz="1588" spc="-13" baseline="-20833" dirty="0">
                <a:latin typeface="Arial MT"/>
                <a:cs typeface="Arial MT"/>
              </a:rPr>
              <a:t>Th</a:t>
            </a:r>
            <a:r>
              <a:rPr sz="1588" spc="-9" dirty="0">
                <a:latin typeface="Arial MT"/>
                <a:cs typeface="Arial MT"/>
              </a:rPr>
              <a:t>/R</a:t>
            </a:r>
            <a:r>
              <a:rPr sz="1588" spc="-13" baseline="-20833" dirty="0">
                <a:latin typeface="Arial MT"/>
                <a:cs typeface="Arial MT"/>
              </a:rPr>
              <a:t>E </a:t>
            </a:r>
            <a:r>
              <a:rPr sz="1588" spc="-424" baseline="-2083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small.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For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very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small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R</a:t>
            </a:r>
            <a:r>
              <a:rPr sz="1588" spc="-13" baseline="-20833" dirty="0">
                <a:latin typeface="Arial MT"/>
                <a:cs typeface="Arial MT"/>
              </a:rPr>
              <a:t>Th</a:t>
            </a:r>
            <a:r>
              <a:rPr sz="1588" spc="-9" dirty="0">
                <a:latin typeface="Arial MT"/>
                <a:cs typeface="Arial MT"/>
              </a:rPr>
              <a:t>/R</a:t>
            </a:r>
            <a:r>
              <a:rPr sz="1588" spc="-13" baseline="-20833" dirty="0">
                <a:latin typeface="Arial MT"/>
                <a:cs typeface="Arial MT"/>
              </a:rPr>
              <a:t>E</a:t>
            </a:r>
            <a:r>
              <a:rPr sz="1588" spc="26" baseline="-2083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;</a:t>
            </a:r>
            <a:r>
              <a:rPr sz="1588" spc="291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S =</a:t>
            </a:r>
            <a:r>
              <a:rPr sz="1588" spc="-4" dirty="0">
                <a:latin typeface="Arial MT"/>
                <a:cs typeface="Arial MT"/>
              </a:rPr>
              <a:t> 1 (ideal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case)</a:t>
            </a:r>
            <a:endParaRPr sz="1588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645384" y="5506120"/>
            <a:ext cx="3669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spc="-19" baseline="13888" dirty="0">
                <a:latin typeface="Arial MT"/>
                <a:cs typeface="Arial MT"/>
              </a:rPr>
              <a:t>R</a:t>
            </a:r>
            <a:r>
              <a:rPr sz="1059" spc="-13" dirty="0">
                <a:latin typeface="Arial MT"/>
                <a:cs typeface="Arial MT"/>
              </a:rPr>
              <a:t>Th</a:t>
            </a:r>
            <a:endParaRPr sz="1059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128532" y="5456366"/>
            <a:ext cx="7052422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59990" indent="-215164">
              <a:spcBef>
                <a:spcPts val="88"/>
              </a:spcBef>
              <a:buFont typeface="MS UI Gothic"/>
              <a:buChar char="➢"/>
              <a:tabLst>
                <a:tab pos="259990" algn="l"/>
                <a:tab pos="3943000" algn="l"/>
              </a:tabLst>
            </a:pPr>
            <a:r>
              <a:rPr sz="1588" spc="-4" dirty="0">
                <a:latin typeface="Arial MT"/>
                <a:cs typeface="Arial MT"/>
              </a:rPr>
              <a:t>For very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small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R</a:t>
            </a:r>
            <a:r>
              <a:rPr sz="1588" spc="-13" baseline="-20833" dirty="0">
                <a:latin typeface="Arial MT"/>
                <a:cs typeface="Arial MT"/>
              </a:rPr>
              <a:t>Th</a:t>
            </a:r>
            <a:r>
              <a:rPr sz="1588" spc="-9" dirty="0">
                <a:latin typeface="Arial MT"/>
                <a:cs typeface="Arial MT"/>
              </a:rPr>
              <a:t>/R</a:t>
            </a:r>
            <a:r>
              <a:rPr sz="1588" spc="-13" baseline="-20833" dirty="0">
                <a:latin typeface="Arial MT"/>
                <a:cs typeface="Arial MT"/>
              </a:rPr>
              <a:t>E</a:t>
            </a:r>
            <a:r>
              <a:rPr sz="1588" baseline="-20833" dirty="0">
                <a:latin typeface="Arial MT"/>
                <a:cs typeface="Arial MT"/>
              </a:rPr>
              <a:t> </a:t>
            </a:r>
            <a:r>
              <a:rPr sz="1588" dirty="0">
                <a:latin typeface="Arial MT"/>
                <a:cs typeface="Arial MT"/>
              </a:rPr>
              <a:t>:</a:t>
            </a:r>
            <a:r>
              <a:rPr sz="1588" spc="4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R</a:t>
            </a:r>
            <a:r>
              <a:rPr sz="1588" spc="-6" baseline="-20833" dirty="0">
                <a:latin typeface="Arial MT"/>
                <a:cs typeface="Arial MT"/>
              </a:rPr>
              <a:t>2	</a:t>
            </a:r>
            <a:r>
              <a:rPr sz="1588" spc="-4" dirty="0">
                <a:latin typeface="Arial MT"/>
                <a:cs typeface="Arial MT"/>
              </a:rPr>
              <a:t>current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9" dirty="0">
                <a:latin typeface="Arial MT"/>
                <a:cs typeface="Arial MT"/>
              </a:rPr>
              <a:t>drawan</a:t>
            </a:r>
            <a:r>
              <a:rPr sz="1588" spc="31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by R</a:t>
            </a:r>
            <a:r>
              <a:rPr sz="1588" spc="-6" baseline="-20833" dirty="0">
                <a:latin typeface="Arial MT"/>
                <a:cs typeface="Arial MT"/>
              </a:rPr>
              <a:t>2</a:t>
            </a:r>
            <a:r>
              <a:rPr sz="1588" spc="205" baseline="-20833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will</a:t>
            </a:r>
            <a:r>
              <a:rPr sz="1588" spc="35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be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large.</a:t>
            </a:r>
            <a:endParaRPr sz="1588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354442" y="5698413"/>
            <a:ext cx="658737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>
              <a:spcBef>
                <a:spcPts val="88"/>
              </a:spcBef>
              <a:tabLst>
                <a:tab pos="1343657" algn="l"/>
              </a:tabLst>
            </a:pPr>
            <a:r>
              <a:rPr sz="1588" spc="-4" dirty="0">
                <a:latin typeface="Arial MT"/>
                <a:cs typeface="Arial MT"/>
              </a:rPr>
              <a:t>R</a:t>
            </a:r>
            <a:r>
              <a:rPr sz="1588" spc="-6" baseline="-20833" dirty="0">
                <a:latin typeface="Arial MT"/>
                <a:cs typeface="Arial MT"/>
              </a:rPr>
              <a:t>E	</a:t>
            </a:r>
            <a:r>
              <a:rPr sz="1588" spc="-4" dirty="0">
                <a:latin typeface="Arial MT"/>
                <a:cs typeface="Arial MT"/>
              </a:rPr>
              <a:t>Large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V</a:t>
            </a:r>
            <a:r>
              <a:rPr sz="1588" spc="-6" baseline="-20833" dirty="0">
                <a:latin typeface="Arial MT"/>
                <a:cs typeface="Arial MT"/>
              </a:rPr>
              <a:t>cc</a:t>
            </a:r>
            <a:r>
              <a:rPr sz="1588" spc="218" baseline="-2083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required.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Hence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comproise</a:t>
            </a:r>
            <a:r>
              <a:rPr sz="1588" spc="1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is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made</a:t>
            </a:r>
            <a:r>
              <a:rPr sz="1588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in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selection.</a:t>
            </a:r>
            <a:endParaRPr sz="1588">
              <a:latin typeface="Arial MT"/>
              <a:cs typeface="Arial MT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640454" y="5513294"/>
            <a:ext cx="151840" cy="268941"/>
          </a:xfrm>
          <a:custGeom>
            <a:avLst/>
            <a:gdLst/>
            <a:ahLst/>
            <a:cxnLst/>
            <a:rect l="l" t="t" r="r" b="b"/>
            <a:pathLst>
              <a:path w="172085" h="304800">
                <a:moveTo>
                  <a:pt x="66429" y="197112"/>
                </a:moveTo>
                <a:lnTo>
                  <a:pt x="35552" y="143256"/>
                </a:lnTo>
                <a:lnTo>
                  <a:pt x="30861" y="137564"/>
                </a:lnTo>
                <a:lnTo>
                  <a:pt x="24312" y="134302"/>
                </a:lnTo>
                <a:lnTo>
                  <a:pt x="16906" y="133611"/>
                </a:lnTo>
                <a:lnTo>
                  <a:pt x="9644" y="135636"/>
                </a:lnTo>
                <a:lnTo>
                  <a:pt x="3952" y="140970"/>
                </a:lnTo>
                <a:lnTo>
                  <a:pt x="690" y="147447"/>
                </a:lnTo>
                <a:lnTo>
                  <a:pt x="0" y="154495"/>
                </a:lnTo>
                <a:lnTo>
                  <a:pt x="2024" y="161544"/>
                </a:lnTo>
                <a:lnTo>
                  <a:pt x="66032" y="272965"/>
                </a:lnTo>
                <a:lnTo>
                  <a:pt x="66032" y="266700"/>
                </a:lnTo>
                <a:lnTo>
                  <a:pt x="66429" y="197112"/>
                </a:lnTo>
                <a:close/>
              </a:path>
              <a:path w="172085" h="304800">
                <a:moveTo>
                  <a:pt x="85265" y="229966"/>
                </a:moveTo>
                <a:lnTo>
                  <a:pt x="66429" y="197112"/>
                </a:lnTo>
                <a:lnTo>
                  <a:pt x="66032" y="266700"/>
                </a:lnTo>
                <a:lnTo>
                  <a:pt x="69080" y="266700"/>
                </a:lnTo>
                <a:lnTo>
                  <a:pt x="69080" y="257556"/>
                </a:lnTo>
                <a:lnTo>
                  <a:pt x="85265" y="229966"/>
                </a:lnTo>
                <a:close/>
              </a:path>
              <a:path w="172085" h="304800">
                <a:moveTo>
                  <a:pt x="171688" y="155805"/>
                </a:moveTo>
                <a:lnTo>
                  <a:pt x="170997" y="148399"/>
                </a:lnTo>
                <a:lnTo>
                  <a:pt x="167735" y="141851"/>
                </a:lnTo>
                <a:lnTo>
                  <a:pt x="162044" y="137160"/>
                </a:lnTo>
                <a:lnTo>
                  <a:pt x="154781" y="134254"/>
                </a:lnTo>
                <a:lnTo>
                  <a:pt x="147375" y="134493"/>
                </a:lnTo>
                <a:lnTo>
                  <a:pt x="140827" y="137588"/>
                </a:lnTo>
                <a:lnTo>
                  <a:pt x="136136" y="143256"/>
                </a:lnTo>
                <a:lnTo>
                  <a:pt x="104531" y="197126"/>
                </a:lnTo>
                <a:lnTo>
                  <a:pt x="104132" y="266700"/>
                </a:lnTo>
                <a:lnTo>
                  <a:pt x="66032" y="266700"/>
                </a:lnTo>
                <a:lnTo>
                  <a:pt x="66032" y="272965"/>
                </a:lnTo>
                <a:lnTo>
                  <a:pt x="84320" y="304800"/>
                </a:lnTo>
                <a:lnTo>
                  <a:pt x="169664" y="163068"/>
                </a:lnTo>
                <a:lnTo>
                  <a:pt x="171688" y="155805"/>
                </a:lnTo>
                <a:close/>
              </a:path>
              <a:path w="172085" h="304800">
                <a:moveTo>
                  <a:pt x="105656" y="1524"/>
                </a:moveTo>
                <a:lnTo>
                  <a:pt x="67556" y="0"/>
                </a:lnTo>
                <a:lnTo>
                  <a:pt x="66429" y="197112"/>
                </a:lnTo>
                <a:lnTo>
                  <a:pt x="85265" y="229966"/>
                </a:lnTo>
                <a:lnTo>
                  <a:pt x="104531" y="197126"/>
                </a:lnTo>
                <a:lnTo>
                  <a:pt x="105656" y="1524"/>
                </a:lnTo>
                <a:close/>
              </a:path>
              <a:path w="172085" h="304800">
                <a:moveTo>
                  <a:pt x="101084" y="257556"/>
                </a:moveTo>
                <a:lnTo>
                  <a:pt x="85265" y="229966"/>
                </a:lnTo>
                <a:lnTo>
                  <a:pt x="69080" y="257556"/>
                </a:lnTo>
                <a:lnTo>
                  <a:pt x="101084" y="257556"/>
                </a:lnTo>
                <a:close/>
              </a:path>
              <a:path w="172085" h="304800">
                <a:moveTo>
                  <a:pt x="101084" y="266700"/>
                </a:moveTo>
                <a:lnTo>
                  <a:pt x="101084" y="257556"/>
                </a:lnTo>
                <a:lnTo>
                  <a:pt x="69080" y="257556"/>
                </a:lnTo>
                <a:lnTo>
                  <a:pt x="69080" y="266700"/>
                </a:lnTo>
                <a:lnTo>
                  <a:pt x="101084" y="266700"/>
                </a:lnTo>
                <a:close/>
              </a:path>
              <a:path w="172085" h="304800">
                <a:moveTo>
                  <a:pt x="104531" y="197126"/>
                </a:moveTo>
                <a:lnTo>
                  <a:pt x="85265" y="229966"/>
                </a:lnTo>
                <a:lnTo>
                  <a:pt x="101084" y="257556"/>
                </a:lnTo>
                <a:lnTo>
                  <a:pt x="101084" y="266700"/>
                </a:lnTo>
                <a:lnTo>
                  <a:pt x="104132" y="266700"/>
                </a:lnTo>
                <a:lnTo>
                  <a:pt x="104531" y="197126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7" name="object 97"/>
          <p:cNvSpPr/>
          <p:nvPr/>
        </p:nvSpPr>
        <p:spPr>
          <a:xfrm>
            <a:off x="7849326" y="5572020"/>
            <a:ext cx="739588" cy="151840"/>
          </a:xfrm>
          <a:custGeom>
            <a:avLst/>
            <a:gdLst/>
            <a:ahLst/>
            <a:cxnLst/>
            <a:rect l="l" t="t" r="r" b="b"/>
            <a:pathLst>
              <a:path w="838200" h="172085">
                <a:moveTo>
                  <a:pt x="762381" y="85844"/>
                </a:moveTo>
                <a:lnTo>
                  <a:pt x="728841" y="66167"/>
                </a:lnTo>
                <a:lnTo>
                  <a:pt x="0" y="67556"/>
                </a:lnTo>
                <a:lnTo>
                  <a:pt x="0" y="105656"/>
                </a:lnTo>
                <a:lnTo>
                  <a:pt x="730983" y="104263"/>
                </a:lnTo>
                <a:lnTo>
                  <a:pt x="762381" y="85844"/>
                </a:lnTo>
                <a:close/>
              </a:path>
              <a:path w="838200" h="172085">
                <a:moveTo>
                  <a:pt x="838200" y="85844"/>
                </a:moveTo>
                <a:lnTo>
                  <a:pt x="694944" y="2024"/>
                </a:lnTo>
                <a:lnTo>
                  <a:pt x="687895" y="0"/>
                </a:lnTo>
                <a:lnTo>
                  <a:pt x="680847" y="690"/>
                </a:lnTo>
                <a:lnTo>
                  <a:pt x="674370" y="3952"/>
                </a:lnTo>
                <a:lnTo>
                  <a:pt x="669036" y="9644"/>
                </a:lnTo>
                <a:lnTo>
                  <a:pt x="667011" y="16906"/>
                </a:lnTo>
                <a:lnTo>
                  <a:pt x="667702" y="24312"/>
                </a:lnTo>
                <a:lnTo>
                  <a:pt x="670964" y="30861"/>
                </a:lnTo>
                <a:lnTo>
                  <a:pt x="676656" y="35552"/>
                </a:lnTo>
                <a:lnTo>
                  <a:pt x="728841" y="66167"/>
                </a:lnTo>
                <a:lnTo>
                  <a:pt x="800100" y="66032"/>
                </a:lnTo>
                <a:lnTo>
                  <a:pt x="800100" y="108376"/>
                </a:lnTo>
                <a:lnTo>
                  <a:pt x="838200" y="85844"/>
                </a:lnTo>
                <a:close/>
              </a:path>
              <a:path w="838200" h="172085">
                <a:moveTo>
                  <a:pt x="800100" y="108376"/>
                </a:moveTo>
                <a:lnTo>
                  <a:pt x="800100" y="104132"/>
                </a:lnTo>
                <a:lnTo>
                  <a:pt x="730983" y="104263"/>
                </a:lnTo>
                <a:lnTo>
                  <a:pt x="676656" y="136136"/>
                </a:lnTo>
                <a:lnTo>
                  <a:pt x="670964" y="140827"/>
                </a:lnTo>
                <a:lnTo>
                  <a:pt x="667702" y="147375"/>
                </a:lnTo>
                <a:lnTo>
                  <a:pt x="667011" y="154781"/>
                </a:lnTo>
                <a:lnTo>
                  <a:pt x="669036" y="162044"/>
                </a:lnTo>
                <a:lnTo>
                  <a:pt x="674608" y="167735"/>
                </a:lnTo>
                <a:lnTo>
                  <a:pt x="681609" y="170997"/>
                </a:lnTo>
                <a:lnTo>
                  <a:pt x="689181" y="171688"/>
                </a:lnTo>
                <a:lnTo>
                  <a:pt x="696468" y="169664"/>
                </a:lnTo>
                <a:lnTo>
                  <a:pt x="800100" y="108376"/>
                </a:lnTo>
                <a:close/>
              </a:path>
              <a:path w="838200" h="172085">
                <a:moveTo>
                  <a:pt x="800100" y="104132"/>
                </a:moveTo>
                <a:lnTo>
                  <a:pt x="800100" y="66032"/>
                </a:lnTo>
                <a:lnTo>
                  <a:pt x="728841" y="66167"/>
                </a:lnTo>
                <a:lnTo>
                  <a:pt x="762381" y="85844"/>
                </a:lnTo>
                <a:lnTo>
                  <a:pt x="790956" y="69080"/>
                </a:lnTo>
                <a:lnTo>
                  <a:pt x="790956" y="104149"/>
                </a:lnTo>
                <a:lnTo>
                  <a:pt x="800100" y="104132"/>
                </a:lnTo>
                <a:close/>
              </a:path>
              <a:path w="838200" h="172085">
                <a:moveTo>
                  <a:pt x="790956" y="104149"/>
                </a:moveTo>
                <a:lnTo>
                  <a:pt x="790956" y="102608"/>
                </a:lnTo>
                <a:lnTo>
                  <a:pt x="762381" y="85844"/>
                </a:lnTo>
                <a:lnTo>
                  <a:pt x="730983" y="104263"/>
                </a:lnTo>
                <a:lnTo>
                  <a:pt x="790956" y="104149"/>
                </a:lnTo>
                <a:close/>
              </a:path>
              <a:path w="838200" h="172085">
                <a:moveTo>
                  <a:pt x="790956" y="102608"/>
                </a:moveTo>
                <a:lnTo>
                  <a:pt x="790956" y="69080"/>
                </a:lnTo>
                <a:lnTo>
                  <a:pt x="762381" y="85844"/>
                </a:lnTo>
                <a:lnTo>
                  <a:pt x="790956" y="102608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8" name="object 98"/>
          <p:cNvSpPr/>
          <p:nvPr/>
        </p:nvSpPr>
        <p:spPr>
          <a:xfrm>
            <a:off x="5623390" y="5715000"/>
            <a:ext cx="151840" cy="270622"/>
          </a:xfrm>
          <a:custGeom>
            <a:avLst/>
            <a:gdLst/>
            <a:ahLst/>
            <a:cxnLst/>
            <a:rect l="l" t="t" r="r" b="b"/>
            <a:pathLst>
              <a:path w="172084" h="306704">
                <a:moveTo>
                  <a:pt x="171694" y="150518"/>
                </a:moveTo>
                <a:lnTo>
                  <a:pt x="169670" y="143256"/>
                </a:lnTo>
                <a:lnTo>
                  <a:pt x="87368" y="0"/>
                </a:lnTo>
                <a:lnTo>
                  <a:pt x="2024" y="143256"/>
                </a:lnTo>
                <a:lnTo>
                  <a:pt x="0" y="150304"/>
                </a:lnTo>
                <a:lnTo>
                  <a:pt x="690" y="157353"/>
                </a:lnTo>
                <a:lnTo>
                  <a:pt x="3952" y="163830"/>
                </a:lnTo>
                <a:lnTo>
                  <a:pt x="9644" y="169164"/>
                </a:lnTo>
                <a:lnTo>
                  <a:pt x="16692" y="171188"/>
                </a:lnTo>
                <a:lnTo>
                  <a:pt x="23741" y="170497"/>
                </a:lnTo>
                <a:lnTo>
                  <a:pt x="30218" y="167235"/>
                </a:lnTo>
                <a:lnTo>
                  <a:pt x="35552" y="161544"/>
                </a:lnTo>
                <a:lnTo>
                  <a:pt x="67154" y="108394"/>
                </a:lnTo>
                <a:lnTo>
                  <a:pt x="67556" y="38100"/>
                </a:lnTo>
                <a:lnTo>
                  <a:pt x="105656" y="38100"/>
                </a:lnTo>
                <a:lnTo>
                  <a:pt x="105656" y="109196"/>
                </a:lnTo>
                <a:lnTo>
                  <a:pt x="136136" y="163068"/>
                </a:lnTo>
                <a:lnTo>
                  <a:pt x="140827" y="168735"/>
                </a:lnTo>
                <a:lnTo>
                  <a:pt x="147376" y="171831"/>
                </a:lnTo>
                <a:lnTo>
                  <a:pt x="154783" y="172069"/>
                </a:lnTo>
                <a:lnTo>
                  <a:pt x="162050" y="169164"/>
                </a:lnTo>
                <a:lnTo>
                  <a:pt x="167741" y="164472"/>
                </a:lnTo>
                <a:lnTo>
                  <a:pt x="171003" y="157924"/>
                </a:lnTo>
                <a:lnTo>
                  <a:pt x="171694" y="150518"/>
                </a:lnTo>
                <a:close/>
              </a:path>
              <a:path w="172084" h="306704">
                <a:moveTo>
                  <a:pt x="105256" y="108489"/>
                </a:moveTo>
                <a:lnTo>
                  <a:pt x="86650" y="75605"/>
                </a:lnTo>
                <a:lnTo>
                  <a:pt x="67154" y="108394"/>
                </a:lnTo>
                <a:lnTo>
                  <a:pt x="66032" y="304800"/>
                </a:lnTo>
                <a:lnTo>
                  <a:pt x="104132" y="306324"/>
                </a:lnTo>
                <a:lnTo>
                  <a:pt x="105256" y="108489"/>
                </a:lnTo>
                <a:close/>
              </a:path>
              <a:path w="172084" h="306704">
                <a:moveTo>
                  <a:pt x="105656" y="38100"/>
                </a:moveTo>
                <a:lnTo>
                  <a:pt x="67556" y="38100"/>
                </a:lnTo>
                <a:lnTo>
                  <a:pt x="67154" y="108394"/>
                </a:lnTo>
                <a:lnTo>
                  <a:pt x="70604" y="102592"/>
                </a:lnTo>
                <a:lnTo>
                  <a:pt x="70604" y="47244"/>
                </a:lnTo>
                <a:lnTo>
                  <a:pt x="102608" y="48768"/>
                </a:lnTo>
                <a:lnTo>
                  <a:pt x="102608" y="103809"/>
                </a:lnTo>
                <a:lnTo>
                  <a:pt x="105256" y="108489"/>
                </a:lnTo>
                <a:lnTo>
                  <a:pt x="105656" y="38100"/>
                </a:lnTo>
                <a:close/>
              </a:path>
              <a:path w="172084" h="306704">
                <a:moveTo>
                  <a:pt x="102608" y="48768"/>
                </a:moveTo>
                <a:lnTo>
                  <a:pt x="70604" y="47244"/>
                </a:lnTo>
                <a:lnTo>
                  <a:pt x="86650" y="75605"/>
                </a:lnTo>
                <a:lnTo>
                  <a:pt x="102608" y="48768"/>
                </a:lnTo>
                <a:close/>
              </a:path>
              <a:path w="172084" h="306704">
                <a:moveTo>
                  <a:pt x="86650" y="75605"/>
                </a:moveTo>
                <a:lnTo>
                  <a:pt x="70604" y="47244"/>
                </a:lnTo>
                <a:lnTo>
                  <a:pt x="70604" y="102592"/>
                </a:lnTo>
                <a:lnTo>
                  <a:pt x="86650" y="75605"/>
                </a:lnTo>
                <a:close/>
              </a:path>
              <a:path w="172084" h="306704">
                <a:moveTo>
                  <a:pt x="102608" y="103809"/>
                </a:moveTo>
                <a:lnTo>
                  <a:pt x="102608" y="48768"/>
                </a:lnTo>
                <a:lnTo>
                  <a:pt x="86650" y="75605"/>
                </a:lnTo>
                <a:lnTo>
                  <a:pt x="102608" y="103809"/>
                </a:lnTo>
                <a:close/>
              </a:path>
              <a:path w="172084" h="306704">
                <a:moveTo>
                  <a:pt x="105656" y="109196"/>
                </a:moveTo>
                <a:lnTo>
                  <a:pt x="105656" y="38100"/>
                </a:lnTo>
                <a:lnTo>
                  <a:pt x="105256" y="108489"/>
                </a:lnTo>
                <a:lnTo>
                  <a:pt x="105656" y="109196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9" name="object 99"/>
          <p:cNvSpPr/>
          <p:nvPr/>
        </p:nvSpPr>
        <p:spPr>
          <a:xfrm>
            <a:off x="5900847" y="5775071"/>
            <a:ext cx="739588" cy="151279"/>
          </a:xfrm>
          <a:custGeom>
            <a:avLst/>
            <a:gdLst/>
            <a:ahLst/>
            <a:cxnLst/>
            <a:rect l="l" t="t" r="r" b="b"/>
            <a:pathLst>
              <a:path w="838200" h="171450">
                <a:moveTo>
                  <a:pt x="761842" y="85265"/>
                </a:moveTo>
                <a:lnTo>
                  <a:pt x="728294" y="66032"/>
                </a:lnTo>
                <a:lnTo>
                  <a:pt x="0" y="66032"/>
                </a:lnTo>
                <a:lnTo>
                  <a:pt x="0" y="104132"/>
                </a:lnTo>
                <a:lnTo>
                  <a:pt x="729684" y="104132"/>
                </a:lnTo>
                <a:lnTo>
                  <a:pt x="761842" y="85265"/>
                </a:lnTo>
                <a:close/>
              </a:path>
              <a:path w="838200" h="171450">
                <a:moveTo>
                  <a:pt x="838200" y="84320"/>
                </a:moveTo>
                <a:lnTo>
                  <a:pt x="694944" y="2024"/>
                </a:lnTo>
                <a:lnTo>
                  <a:pt x="687681" y="0"/>
                </a:lnTo>
                <a:lnTo>
                  <a:pt x="680275" y="690"/>
                </a:lnTo>
                <a:lnTo>
                  <a:pt x="673727" y="3952"/>
                </a:lnTo>
                <a:lnTo>
                  <a:pt x="669036" y="9644"/>
                </a:lnTo>
                <a:lnTo>
                  <a:pt x="666130" y="16049"/>
                </a:lnTo>
                <a:lnTo>
                  <a:pt x="666369" y="23169"/>
                </a:lnTo>
                <a:lnTo>
                  <a:pt x="669464" y="30003"/>
                </a:lnTo>
                <a:lnTo>
                  <a:pt x="675132" y="35552"/>
                </a:lnTo>
                <a:lnTo>
                  <a:pt x="728294" y="66032"/>
                </a:lnTo>
                <a:lnTo>
                  <a:pt x="800100" y="66032"/>
                </a:lnTo>
                <a:lnTo>
                  <a:pt x="800100" y="106612"/>
                </a:lnTo>
                <a:lnTo>
                  <a:pt x="838200" y="84320"/>
                </a:lnTo>
                <a:close/>
              </a:path>
              <a:path w="838200" h="171450">
                <a:moveTo>
                  <a:pt x="800100" y="106612"/>
                </a:moveTo>
                <a:lnTo>
                  <a:pt x="800100" y="104132"/>
                </a:lnTo>
                <a:lnTo>
                  <a:pt x="729684" y="104132"/>
                </a:lnTo>
                <a:lnTo>
                  <a:pt x="675132" y="136136"/>
                </a:lnTo>
                <a:lnTo>
                  <a:pt x="669464" y="140827"/>
                </a:lnTo>
                <a:lnTo>
                  <a:pt x="666369" y="147375"/>
                </a:lnTo>
                <a:lnTo>
                  <a:pt x="666130" y="154781"/>
                </a:lnTo>
                <a:lnTo>
                  <a:pt x="669036" y="162044"/>
                </a:lnTo>
                <a:lnTo>
                  <a:pt x="673727" y="167711"/>
                </a:lnTo>
                <a:lnTo>
                  <a:pt x="680275" y="170807"/>
                </a:lnTo>
                <a:lnTo>
                  <a:pt x="687681" y="171045"/>
                </a:lnTo>
                <a:lnTo>
                  <a:pt x="694944" y="168140"/>
                </a:lnTo>
                <a:lnTo>
                  <a:pt x="800100" y="106612"/>
                </a:lnTo>
                <a:close/>
              </a:path>
              <a:path w="838200" h="171450">
                <a:moveTo>
                  <a:pt x="800100" y="104132"/>
                </a:moveTo>
                <a:lnTo>
                  <a:pt x="800100" y="66032"/>
                </a:lnTo>
                <a:lnTo>
                  <a:pt x="728294" y="66032"/>
                </a:lnTo>
                <a:lnTo>
                  <a:pt x="761842" y="85265"/>
                </a:lnTo>
                <a:lnTo>
                  <a:pt x="789432" y="69080"/>
                </a:lnTo>
                <a:lnTo>
                  <a:pt x="789432" y="104132"/>
                </a:lnTo>
                <a:lnTo>
                  <a:pt x="800100" y="104132"/>
                </a:lnTo>
                <a:close/>
              </a:path>
              <a:path w="838200" h="171450">
                <a:moveTo>
                  <a:pt x="789432" y="104132"/>
                </a:moveTo>
                <a:lnTo>
                  <a:pt x="789432" y="101084"/>
                </a:lnTo>
                <a:lnTo>
                  <a:pt x="761842" y="85265"/>
                </a:lnTo>
                <a:lnTo>
                  <a:pt x="729684" y="104132"/>
                </a:lnTo>
                <a:lnTo>
                  <a:pt x="789432" y="104132"/>
                </a:lnTo>
                <a:close/>
              </a:path>
              <a:path w="838200" h="171450">
                <a:moveTo>
                  <a:pt x="789432" y="101084"/>
                </a:moveTo>
                <a:lnTo>
                  <a:pt x="789432" y="69080"/>
                </a:lnTo>
                <a:lnTo>
                  <a:pt x="761842" y="85265"/>
                </a:lnTo>
                <a:lnTo>
                  <a:pt x="789432" y="101084"/>
                </a:lnTo>
                <a:close/>
              </a:path>
            </a:pathLst>
          </a:custGeom>
          <a:solidFill>
            <a:srgbClr val="007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0" name="object 100"/>
          <p:cNvSpPr txBox="1">
            <a:spLocks noGrp="1"/>
          </p:cNvSpPr>
          <p:nvPr>
            <p:ph type="sldNum" sz="quarter" idx="7"/>
          </p:nvPr>
        </p:nvSpPr>
        <p:spPr>
          <a:xfrm>
            <a:off x="8814812" y="6770006"/>
            <a:ext cx="274954" cy="203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>
              <a:lnSpc>
                <a:spcPts val="1465"/>
              </a:lnSpc>
            </a:pPr>
            <a:fld id="{81D60167-4931-47E6-BA6A-407CBD079E47}" type="slidenum">
              <a:rPr lang="en-IN" smtClean="0"/>
              <a:pPr marL="136525">
                <a:lnSpc>
                  <a:spcPts val="1465"/>
                </a:lnSpc>
              </a:pPr>
              <a:t>11</a:t>
            </a:fld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C301F-37F0-147F-0CEF-A2E74023AD3B}"/>
              </a:ext>
            </a:extLst>
          </p:cNvPr>
          <p:cNvSpPr txBox="1"/>
          <p:nvPr/>
        </p:nvSpPr>
        <p:spPr>
          <a:xfrm>
            <a:off x="423124" y="5349233"/>
            <a:ext cx="2777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Fig. 6.3. Voltage divider bias for BJT</a:t>
            </a:r>
            <a:endParaRPr lang="en-IN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B39BA52-83DB-8F47-FBB3-89BB8CBF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81" y="1970995"/>
            <a:ext cx="2287188" cy="3378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6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Transistor</a:t>
            </a:r>
            <a:r>
              <a:rPr spc="-110" dirty="0"/>
              <a:t> </a:t>
            </a:r>
            <a:r>
              <a:rPr dirty="0"/>
              <a:t>Breakdown</a:t>
            </a:r>
            <a:r>
              <a:rPr spc="-130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spc="-45" dirty="0"/>
              <a:t>Temperature</a:t>
            </a:r>
            <a:r>
              <a:rPr spc="-145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884" y="1289303"/>
            <a:ext cx="8043841" cy="48881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6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Transistor</a:t>
            </a:r>
            <a:r>
              <a:rPr spc="-110" dirty="0"/>
              <a:t> </a:t>
            </a:r>
            <a:r>
              <a:rPr dirty="0"/>
              <a:t>Breakdown</a:t>
            </a:r>
            <a:r>
              <a:rPr spc="-130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spc="-45" dirty="0"/>
              <a:t>Temperature</a:t>
            </a:r>
            <a:r>
              <a:rPr spc="-145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31" y="1388742"/>
            <a:ext cx="6859682" cy="46368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86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Transistor</a:t>
            </a:r>
            <a:r>
              <a:rPr spc="-110" dirty="0"/>
              <a:t> </a:t>
            </a:r>
            <a:r>
              <a:rPr dirty="0"/>
              <a:t>Breakdown</a:t>
            </a:r>
            <a:r>
              <a:rPr spc="-130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spc="-45" dirty="0"/>
              <a:t>Temperature</a:t>
            </a:r>
            <a:r>
              <a:rPr spc="-145" dirty="0"/>
              <a:t> </a:t>
            </a:r>
            <a:r>
              <a:rPr spc="-10" dirty="0"/>
              <a:t>Effects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683" y="1299002"/>
            <a:ext cx="5190548" cy="42232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2880" y="1443939"/>
            <a:ext cx="44869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Typical</a:t>
            </a:r>
            <a:r>
              <a:rPr kumimoji="0" sz="2400" b="0" i="0" u="none" strike="noStrike" kern="0" cap="none" spc="2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dependence</a:t>
            </a:r>
            <a:r>
              <a:rPr kumimoji="0" sz="2400" b="0" i="0" u="none" strike="noStrike" kern="0" cap="none" spc="2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400" b="0" i="0" u="none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β</a:t>
            </a:r>
            <a:r>
              <a:rPr kumimoji="0" sz="2400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sz="2400" b="0" i="0" u="none" strike="noStrike" kern="0" cap="none" spc="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IC</a:t>
            </a:r>
            <a:r>
              <a:rPr kumimoji="0" sz="2400" b="0" i="1" u="none" strike="noStrike" kern="0" cap="none" spc="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490855" algn="l"/>
                <a:tab pos="2216785" algn="l"/>
                <a:tab pos="2609850" algn="l"/>
                <a:tab pos="3088640" algn="l"/>
              </a:tabLst>
              <a:defRPr/>
            </a:pP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temperature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integrated-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3190" y="2175713"/>
            <a:ext cx="327787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30275" algn="l"/>
                <a:tab pos="2079625" algn="l"/>
              </a:tabLst>
              <a:defRPr/>
            </a:pP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npn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silcon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transistor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0965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640715" algn="l"/>
                <a:tab pos="2037080" algn="l"/>
                <a:tab pos="3110230" algn="l"/>
              </a:tabLst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operation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around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2880" y="2175713"/>
            <a:ext cx="11379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circuit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intended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6.1. </a:t>
            </a:r>
            <a:r>
              <a:rPr lang="en-US" dirty="0"/>
              <a:t>Compare the stability factors for fixed bias, collector feedback bias and voltage divider bias for BJT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 1+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fixed bias.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1 could be achieved with collector feed back bias at the cost of reducing 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draw more base current which causes less battery life for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S=1 could be achieved with voltage divide bias at increase input current or increase supply voltage.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Problems</a:t>
            </a:r>
          </a:p>
        </p:txBody>
      </p:sp>
    </p:spTree>
    <p:extLst>
      <p:ext uri="{BB962C8B-B14F-4D97-AF65-F5344CB8AC3E}">
        <p14:creationId xmlns:p14="http://schemas.microsoft.com/office/powerpoint/2010/main" val="207151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/>
              <a:t>Which Bias more thermally stable?</a:t>
            </a:r>
            <a:endParaRPr lang="en-US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Emitter Bias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Base Bias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Collector feedback Bias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Voltage divider bias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831771"/>
            <a:ext cx="12192000" cy="546046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dirty="0"/>
              <a:t>Which of the following bias is less effected by temperature variation?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divider bias</a:t>
            </a: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US" dirty="0"/>
              <a:t>Collector feedback bias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3. Which of the following is ideal stability factor for BJT?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1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1+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1600" baseline="-250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zero</a:t>
            </a:r>
            <a:endParaRPr lang="en-US" sz="1600" baseline="-250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788229"/>
            <a:ext cx="12192000" cy="589588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4. Which of the following is the smallest realizable stability factor?</a:t>
            </a:r>
            <a:endParaRPr lang="en-IN" dirty="0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1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1+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baseline="-250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zero</a:t>
            </a:r>
            <a:endParaRPr lang="en-US" baseline="-25000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979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2616-E55E-DAB7-B0A0-D8540B2F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ACF-481C-7213-C089-BDAC243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7DA82E-43B9-32C7-5D30-307DE1BBBD76}"/>
              </a:ext>
            </a:extLst>
          </p:cNvPr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2572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23" y="2146654"/>
            <a:ext cx="11643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Obtain the expression for stability factor of BJT with respect to reverse saturation current.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Obtain the stability factor for Fixed bias of BJT.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Obtain the stability factor for Collector feedback bias of BJT.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Obtain the stability factor for voltage divider bias of BJT.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Compare stability of fixed bias and voltage divider bias.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Robert L. </a:t>
            </a:r>
            <a:r>
              <a:rPr lang="en-IN" dirty="0" err="1"/>
              <a:t>Boylestad</a:t>
            </a:r>
            <a:r>
              <a:rPr lang="en-IN" dirty="0"/>
              <a:t> and Louis </a:t>
            </a:r>
            <a:r>
              <a:rPr lang="en-IN" dirty="0" err="1"/>
              <a:t>Nashelsky</a:t>
            </a:r>
            <a:r>
              <a:rPr lang="en-IN" dirty="0"/>
              <a:t> - “Electronic Devices and Circuit Theory”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1780855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3200" b="1" dirty="0"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cs typeface="Poppins" pitchFamily="2" charset="77"/>
                </a:rPr>
                <a:t>Team – </a:t>
              </a:r>
              <a:r>
                <a:rPr lang="en-US" sz="2000" b="1" cap="all" dirty="0">
                  <a:ln/>
                  <a:solidFill>
                    <a:schemeClr val="bg1"/>
                  </a:solidFill>
                  <a:cs typeface="Poppins" panose="00000500000000000000" pitchFamily="2" charset="0"/>
                  <a:sym typeface="BioRhyme ExtraBold"/>
                </a:rPr>
                <a:t>Analog electronic Circuit Design</a:t>
              </a:r>
              <a:endParaRPr lang="en-US" sz="2000" dirty="0">
                <a:solidFill>
                  <a:schemeClr val="bg1"/>
                </a:solidFill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641EAF-9950-CBC7-0185-84F0EED5A950}"/>
              </a:ext>
            </a:extLst>
          </p:cNvPr>
          <p:cNvSpPr txBox="1"/>
          <p:nvPr/>
        </p:nvSpPr>
        <p:spPr>
          <a:xfrm>
            <a:off x="-6221" y="5763439"/>
            <a:ext cx="6102220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2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Prepared by – Dr. M. Siva Kumar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2523</TotalTime>
  <Words>1453</Words>
  <Application>Microsoft Office PowerPoint</Application>
  <PresentationFormat>Widescreen</PresentationFormat>
  <Paragraphs>257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MS UI Gothic</vt:lpstr>
      <vt:lpstr>Arial</vt:lpstr>
      <vt:lpstr>Arial MT</vt:lpstr>
      <vt:lpstr>BioRhyme ExtraBold</vt:lpstr>
      <vt:lpstr>Calibri</vt:lpstr>
      <vt:lpstr>Gill Sans MT</vt:lpstr>
      <vt:lpstr>Microsoft Sans Serif</vt:lpstr>
      <vt:lpstr>Poppins</vt:lpstr>
      <vt:lpstr>Symbol</vt:lpstr>
      <vt:lpstr>Times New Roman</vt:lpstr>
      <vt:lpstr>Gallery</vt:lpstr>
      <vt:lpstr>Office Theme</vt:lpstr>
      <vt:lpstr>PowerPoint Presentation</vt:lpstr>
      <vt:lpstr>Session content</vt:lpstr>
      <vt:lpstr>PowerPoint Presentation</vt:lpstr>
      <vt:lpstr>REVISIT Biasing of BJT</vt:lpstr>
      <vt:lpstr>Stabilization</vt:lpstr>
      <vt:lpstr>Stability Factor</vt:lpstr>
      <vt:lpstr>Stability factor for Fixed Bias</vt:lpstr>
      <vt:lpstr>Stability factor for Fixed Bias</vt:lpstr>
      <vt:lpstr>Stability factor for Collector feedback Bias</vt:lpstr>
      <vt:lpstr>Stability factor for Collector feedback Bias</vt:lpstr>
      <vt:lpstr>Stability factor for Voltage Divider Bias</vt:lpstr>
      <vt:lpstr>Transistor Breakdown and Temperature Effects</vt:lpstr>
      <vt:lpstr>Transistor Breakdown and Temperature Effects</vt:lpstr>
      <vt:lpstr>Transistor Breakdown and Temperature Effects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CO-4: Feedback &amp; Oscillator Circuits</dc:title>
  <dc:creator>shruti suman</dc:creator>
  <cp:lastModifiedBy>GORLA VENKATA GANESH</cp:lastModifiedBy>
  <cp:revision>171</cp:revision>
  <dcterms:created xsi:type="dcterms:W3CDTF">2023-05-04T05:19:29Z</dcterms:created>
  <dcterms:modified xsi:type="dcterms:W3CDTF">2025-07-03T09:47:25Z</dcterms:modified>
</cp:coreProperties>
</file>