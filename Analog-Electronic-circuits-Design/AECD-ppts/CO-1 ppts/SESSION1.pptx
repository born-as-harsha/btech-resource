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notesMasterIdLst>
    <p:notesMasterId r:id="rId24"/>
  </p:notesMasterIdLst>
  <p:sldIdLst>
    <p:sldId id="271" r:id="rId3"/>
    <p:sldId id="308" r:id="rId4"/>
    <p:sldId id="300" r:id="rId5"/>
    <p:sldId id="342" r:id="rId6"/>
    <p:sldId id="256" r:id="rId7"/>
    <p:sldId id="257" r:id="rId8"/>
    <p:sldId id="258" r:id="rId9"/>
    <p:sldId id="259" r:id="rId10"/>
    <p:sldId id="425" r:id="rId11"/>
    <p:sldId id="426" r:id="rId12"/>
    <p:sldId id="385" r:id="rId13"/>
    <p:sldId id="406" r:id="rId14"/>
    <p:sldId id="387" r:id="rId15"/>
    <p:sldId id="408" r:id="rId16"/>
    <p:sldId id="409" r:id="rId17"/>
    <p:sldId id="281" r:id="rId18"/>
    <p:sldId id="418" r:id="rId19"/>
    <p:sldId id="419" r:id="rId20"/>
    <p:sldId id="420" r:id="rId21"/>
    <p:sldId id="302" r:id="rId22"/>
    <p:sldId id="424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FACFDC-54F9-487F-9D0B-06DBA134F0D5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05D05-EF87-46EF-A808-2008B20E3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6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39584F69-52A1-50F8-D672-559BCB7EAB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05C8CD-07C3-4FF6-93F4-C04D4291116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0DD390B4-993F-7E19-3B0C-C316FEA79A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A22445AB-DE87-AB88-40DD-477D182F41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" panose="02020603050405020304" pitchFamily="18" charset="0"/>
              </a:rPr>
              <a:t>sedr42021_0503.jpg</a:t>
            </a:r>
          </a:p>
        </p:txBody>
      </p:sp>
    </p:spTree>
    <p:extLst>
      <p:ext uri="{BB962C8B-B14F-4D97-AF65-F5344CB8AC3E}">
        <p14:creationId xmlns:p14="http://schemas.microsoft.com/office/powerpoint/2010/main" val="392982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5596" y="465200"/>
            <a:ext cx="10620806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4083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230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246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50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0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579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084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295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18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074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367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568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05982" y="118999"/>
            <a:ext cx="780034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81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29226" y="2820599"/>
            <a:ext cx="7948938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Analog electronic Circuit Design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23ec2104</a:t>
            </a:r>
            <a:endParaRPr lang="en-US" sz="24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BJT CONSTRUCTION AND OPERATION</a:t>
            </a:r>
            <a:endParaRPr lang="en-US" sz="32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cs typeface="Poppins" pitchFamily="2" charset="77"/>
              </a:rPr>
              <a:t>Department of ECE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099973" y="5511484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- 01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476;p16">
            <a:extLst>
              <a:ext uri="{FF2B5EF4-FFF2-40B4-BE49-F238E27FC236}">
                <a16:creationId xmlns:a16="http://schemas.microsoft.com/office/drawing/2014/main" id="{BD962D83-B115-FC20-1289-5B661BED384C}"/>
              </a:ext>
            </a:extLst>
          </p:cNvPr>
          <p:cNvSpPr txBox="1"/>
          <p:nvPr/>
        </p:nvSpPr>
        <p:spPr>
          <a:xfrm>
            <a:off x="7099973" y="859631"/>
            <a:ext cx="247777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AY-2025-2026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  <a:sym typeface="BioRhyme ExtraBold"/>
              </a:rPr>
              <a:t>ODD SEM</a:t>
            </a:r>
            <a:endParaRPr lang="en-US" sz="32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39A5-5633-E116-AFEC-1DF4CABB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Session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3C4F1-2803-C707-E9AA-178504830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Si vs Ge, </a:t>
            </a:r>
            <a:r>
              <a:rPr lang="en-IN" sz="2400" dirty="0" err="1"/>
              <a:t>npn</a:t>
            </a:r>
            <a:r>
              <a:rPr lang="en-IN" sz="2400" dirty="0"/>
              <a:t> vs </a:t>
            </a:r>
            <a:r>
              <a:rPr lang="en-IN" sz="2400" dirty="0" err="1"/>
              <a:t>pnp</a:t>
            </a:r>
            <a:endParaRPr lang="en-IN" sz="2400" dirty="0"/>
          </a:p>
          <a:p>
            <a:r>
              <a:rPr lang="en-IN" sz="2400" dirty="0"/>
              <a:t>Unbiased BJT</a:t>
            </a:r>
          </a:p>
          <a:p>
            <a:r>
              <a:rPr lang="en-IN" sz="2400" dirty="0"/>
              <a:t>Biased BJT</a:t>
            </a:r>
          </a:p>
          <a:p>
            <a:r>
              <a:rPr lang="en-IN" sz="2400" dirty="0"/>
              <a:t>BJT Currents</a:t>
            </a:r>
            <a:endParaRPr lang="en-IN" dirty="0"/>
          </a:p>
          <a:p>
            <a:endParaRPr lang="en-IN" dirty="0"/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3BD68-38B6-EBC9-FAD4-A45D129C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ABCCC1-BF11-4F37-963E-1BCD5B23FD72}" type="slidenum">
              <a:rPr kumimoji="0" lang="en-IN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2200" b="0" i="0" u="none" strike="noStrike" kern="1200" cap="none" spc="0" normalizeH="0" baseline="0" noProof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019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1" y="1352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895079" y="658894"/>
            <a:ext cx="11215640" cy="4248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To understand construction and operation of Bi-polar Junction Transistor</a:t>
            </a:r>
            <a:endParaRPr lang="en-US" sz="14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053596" y="1533835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885748" y="2023900"/>
            <a:ext cx="11224971" cy="116955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400" dirty="0">
                <a:latin typeface="Poppins"/>
                <a:cs typeface="Poppins"/>
              </a:rPr>
              <a:t>This</a:t>
            </a:r>
            <a:r>
              <a:rPr lang="en-US" sz="1400" b="0" i="0" dirty="0">
                <a:effectLst/>
                <a:latin typeface="Poppins"/>
                <a:cs typeface="Poppins"/>
              </a:rPr>
              <a:t> </a:t>
            </a:r>
            <a:r>
              <a:rPr lang="en-US" sz="1400" dirty="0">
                <a:latin typeface="Poppins"/>
                <a:cs typeface="Poppins"/>
              </a:rPr>
              <a:t>Session</a:t>
            </a:r>
            <a:r>
              <a:rPr lang="en-US" sz="14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Understand the physical structure and biasing of BJT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Understand current generation mechanism of BJT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Understand operating modes of BJT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44592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315974" y="3523536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8652" y="4846140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914399" y="4028757"/>
            <a:ext cx="11196319" cy="116955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4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400" dirty="0">
                <a:latin typeface="Arial"/>
                <a:cs typeface="Arial"/>
              </a:rPr>
              <a:t>session</a:t>
            </a:r>
            <a:r>
              <a:rPr lang="en-US" sz="14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Demonstrate regions of n-p-n BJT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Formulate BJT current equation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Identify various modes of operation of BJT</a:t>
            </a: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39A5-5633-E116-AFEC-1DF4CABB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IN" dirty="0" err="1"/>
              <a:t>hy</a:t>
            </a:r>
            <a:r>
              <a:rPr lang="en-IN" dirty="0"/>
              <a:t> </a:t>
            </a:r>
            <a:r>
              <a:rPr lang="en-IN" dirty="0" err="1"/>
              <a:t>bjt</a:t>
            </a:r>
            <a:r>
              <a:rPr lang="en-IN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3C4F1-2803-C707-E9AA-178504830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47" y="1971597"/>
            <a:ext cx="9603275" cy="1421826"/>
          </a:xfrm>
        </p:spPr>
        <p:txBody>
          <a:bodyPr>
            <a:normAutofit fontScale="92500" lnSpcReduction="20000"/>
          </a:bodyPr>
          <a:lstStyle/>
          <a:p>
            <a:r>
              <a:rPr lang="en-IN" sz="2400" dirty="0"/>
              <a:t>Completely Controlled Device</a:t>
            </a:r>
          </a:p>
          <a:p>
            <a:r>
              <a:rPr lang="en-IN" sz="2400" dirty="0"/>
              <a:t>Current Source</a:t>
            </a:r>
          </a:p>
          <a:p>
            <a:r>
              <a:rPr lang="en-IN" sz="2400" dirty="0"/>
              <a:t>Amplifier</a:t>
            </a:r>
          </a:p>
          <a:p>
            <a:endParaRPr lang="en-IN" sz="2400" dirty="0"/>
          </a:p>
          <a:p>
            <a:endParaRPr lang="en-IN" dirty="0"/>
          </a:p>
          <a:p>
            <a:endParaRPr lang="en-IN" dirty="0"/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3BD68-38B6-EBC9-FAD4-A45D129C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ABCCC1-BF11-4F37-963E-1BCD5B23FD72}" type="slidenum">
              <a:rPr kumimoji="0" lang="en-IN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2200" b="0" i="0" u="none" strike="noStrike" kern="1200" cap="none" spc="0" normalizeH="0" baseline="0" noProof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456E4E-A45A-D559-CF95-1CC3003BA6D6}"/>
              </a:ext>
            </a:extLst>
          </p:cNvPr>
          <p:cNvSpPr txBox="1"/>
          <p:nvPr/>
        </p:nvSpPr>
        <p:spPr>
          <a:xfrm>
            <a:off x="3523654" y="2009289"/>
            <a:ext cx="2977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Si vs 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EC30AC-87B9-D88D-6775-3C4368B4C895}"/>
              </a:ext>
            </a:extLst>
          </p:cNvPr>
          <p:cNvSpPr txBox="1"/>
          <p:nvPr/>
        </p:nvSpPr>
        <p:spPr>
          <a:xfrm>
            <a:off x="8213094" y="2009289"/>
            <a:ext cx="2977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000" cap="none" spc="0" normalizeH="0" baseline="0" noProof="0" dirty="0" err="1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npn</a:t>
            </a:r>
            <a:r>
              <a:rPr kumimoji="0" lang="en-IN" sz="18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vs </a:t>
            </a:r>
            <a:r>
              <a:rPr kumimoji="0" lang="en-IN" sz="1800" b="1" i="0" u="none" strike="noStrike" kern="1000" cap="none" spc="0" normalizeH="0" baseline="0" noProof="0" dirty="0" err="1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pnp</a:t>
            </a:r>
            <a:r>
              <a:rPr kumimoji="0" lang="en-IN" sz="18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F53A13-4575-E65D-753D-CA8579F08592}"/>
              </a:ext>
            </a:extLst>
          </p:cNvPr>
          <p:cNvSpPr txBox="1">
            <a:spLocks/>
          </p:cNvSpPr>
          <p:nvPr/>
        </p:nvSpPr>
        <p:spPr>
          <a:xfrm>
            <a:off x="4426115" y="2378621"/>
            <a:ext cx="4582217" cy="17911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Give your thoughts on energy band gaps and ease of availability for Silicon and Germanium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EEA37A-FCE2-6DF3-4EF0-A9BCCBFF772A}"/>
              </a:ext>
            </a:extLst>
          </p:cNvPr>
          <p:cNvSpPr txBox="1">
            <a:spLocks/>
          </p:cNvSpPr>
          <p:nvPr/>
        </p:nvSpPr>
        <p:spPr>
          <a:xfrm>
            <a:off x="9122499" y="2269279"/>
            <a:ext cx="3069502" cy="179115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Electrons are lighter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Holes are heavier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Give your thoughts on which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devices can be faster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711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07507" y="118999"/>
            <a:ext cx="77851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spc="-25" dirty="0">
                <a:latin typeface="Calibri"/>
                <a:cs typeface="Calibri"/>
              </a:rPr>
              <a:t>BJT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713231"/>
            <a:ext cx="5858256" cy="54620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21139" y="1356360"/>
            <a:ext cx="5559964" cy="44996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BJT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9307" y="729183"/>
            <a:ext cx="306324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Operation</a:t>
            </a:r>
            <a:r>
              <a:rPr sz="24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Modes</a:t>
            </a:r>
            <a:r>
              <a:rPr sz="24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BJT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alibri"/>
                <a:cs typeface="Calibri"/>
              </a:rPr>
              <a:t>*Active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mode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*Saturation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mode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*Cutoff</a:t>
            </a:r>
            <a:r>
              <a:rPr sz="2400" b="1" spc="-114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mode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2" y="2499360"/>
            <a:ext cx="4684776" cy="34869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9359" y="2465831"/>
            <a:ext cx="4928615" cy="37063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36464" y="856488"/>
            <a:ext cx="6528816" cy="128625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76007" y="6235395"/>
            <a:ext cx="32988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Active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Mode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Operation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PNP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BJT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7679" y="6164376"/>
            <a:ext cx="4767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Active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Mode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Operation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BJT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Transistor(NPN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BJT)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BJT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9307" y="729183"/>
            <a:ext cx="306324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Operation</a:t>
            </a:r>
            <a:r>
              <a:rPr sz="24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Modes</a:t>
            </a:r>
            <a:r>
              <a:rPr sz="24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BJT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alibri"/>
                <a:cs typeface="Calibri"/>
              </a:rPr>
              <a:t>*Active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mode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*Saturation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mode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*Cutoff</a:t>
            </a:r>
            <a:r>
              <a:rPr sz="2400" b="1" spc="-114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mode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6464" y="856488"/>
            <a:ext cx="6528816" cy="12862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87679" y="6164376"/>
            <a:ext cx="2907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Cut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off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Mode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Operation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BJT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7616" y="2286000"/>
            <a:ext cx="4572000" cy="378256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96128" y="2356104"/>
            <a:ext cx="6214872" cy="3002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BJT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9307" y="729183"/>
            <a:ext cx="306324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Operation</a:t>
            </a:r>
            <a:r>
              <a:rPr sz="24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Modes</a:t>
            </a:r>
            <a:r>
              <a:rPr sz="24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BJT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alibri"/>
                <a:cs typeface="Calibri"/>
              </a:rPr>
              <a:t>*Active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mode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*Saturation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mode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*Cutoff</a:t>
            </a:r>
            <a:r>
              <a:rPr sz="2400" b="1" spc="-114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mode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6464" y="856488"/>
            <a:ext cx="6528816" cy="12862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87679" y="6164376"/>
            <a:ext cx="325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Saturation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Mode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Operation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BJT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255" y="2286000"/>
            <a:ext cx="4572000" cy="37155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79591" y="2429255"/>
            <a:ext cx="5215127" cy="36515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Unbiased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bjt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9B5572-39EC-E5F0-F5A6-067392768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" y="2184578"/>
            <a:ext cx="3184767" cy="34716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652579-B7F2-455F-D8BC-6D3CDA1D3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768" y="2170498"/>
            <a:ext cx="3647339" cy="34672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891121-EBCD-AECC-F489-F8ADBF7F2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798" y="2706955"/>
            <a:ext cx="1751561" cy="2173470"/>
          </a:xfrm>
          <a:prstGeom prst="rect">
            <a:avLst/>
          </a:prstGeom>
        </p:spPr>
      </p:pic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1EACD536-F6B8-3DEF-579A-DAF5723BD291}"/>
              </a:ext>
            </a:extLst>
          </p:cNvPr>
          <p:cNvSpPr/>
          <p:nvPr/>
        </p:nvSpPr>
        <p:spPr>
          <a:xfrm>
            <a:off x="7167655" y="3920419"/>
            <a:ext cx="170433" cy="10263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8269C1-E9AB-E0B1-4AE0-8FB843A6ED64}"/>
              </a:ext>
            </a:extLst>
          </p:cNvPr>
          <p:cNvSpPr txBox="1"/>
          <p:nvPr/>
        </p:nvSpPr>
        <p:spPr>
          <a:xfrm>
            <a:off x="-93478" y="1801166"/>
            <a:ext cx="2659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Open Circuited </a:t>
            </a:r>
            <a:r>
              <a:rPr kumimoji="0" lang="en-IN" sz="1800" b="1" i="0" u="none" strike="noStrike" kern="1000" cap="none" spc="0" normalizeH="0" baseline="0" noProof="0" dirty="0" err="1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npn</a:t>
            </a:r>
            <a:r>
              <a:rPr kumimoji="0" lang="en-IN" sz="18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BJT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ECE1FD-B6A6-5F70-40FA-AA1F3458852B}"/>
              </a:ext>
            </a:extLst>
          </p:cNvPr>
          <p:cNvSpPr txBox="1"/>
          <p:nvPr/>
        </p:nvSpPr>
        <p:spPr>
          <a:xfrm>
            <a:off x="2737231" y="1819126"/>
            <a:ext cx="2977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Depletion Regions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BE8AF2-F21C-D05C-6398-33EB4903867D}"/>
              </a:ext>
            </a:extLst>
          </p:cNvPr>
          <p:cNvSpPr txBox="1"/>
          <p:nvPr/>
        </p:nvSpPr>
        <p:spPr>
          <a:xfrm>
            <a:off x="6896041" y="1832680"/>
            <a:ext cx="2977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Diode Equivalent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9CF6F-486B-C310-1AD4-B488B993B27F}"/>
              </a:ext>
            </a:extLst>
          </p:cNvPr>
          <p:cNvSpPr txBox="1"/>
          <p:nvPr/>
        </p:nvSpPr>
        <p:spPr>
          <a:xfrm>
            <a:off x="-18273" y="5668867"/>
            <a:ext cx="32355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1.1. Open circuited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npn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BJT 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EBCD20-8189-D21E-0039-BA489C00BD96}"/>
              </a:ext>
            </a:extLst>
          </p:cNvPr>
          <p:cNvSpPr txBox="1"/>
          <p:nvPr/>
        </p:nvSpPr>
        <p:spPr>
          <a:xfrm>
            <a:off x="3217282" y="5654455"/>
            <a:ext cx="4035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1.2. Depletion regions at B-E and B-C junctions of open circuited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npn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BJT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B1EB8-81B7-6F0D-890E-B6EBDB6BF3A6}"/>
              </a:ext>
            </a:extLst>
          </p:cNvPr>
          <p:cNvSpPr txBox="1"/>
          <p:nvPr/>
        </p:nvSpPr>
        <p:spPr>
          <a:xfrm>
            <a:off x="7252873" y="5218243"/>
            <a:ext cx="2121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1.3. Equivalent diode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representation of BJT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F81853-AB22-72DF-8D4A-28ECC0883169}"/>
              </a:ext>
            </a:extLst>
          </p:cNvPr>
          <p:cNvSpPr txBox="1"/>
          <p:nvPr/>
        </p:nvSpPr>
        <p:spPr>
          <a:xfrm>
            <a:off x="9276359" y="2094300"/>
            <a:ext cx="2977855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 BJT consists of three regions and two junctions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Emitter, base, collector for the regions of BJT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Volume wise C&gt;E&gt;&gt;B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Doping wise E&gt;C&gt;&gt;B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Two depletion regions as shown in Fig. 1.2 exists in open circuited BJT.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 depletion voltages differ as doping concentration varies from emitter and collector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 diode equivalent circuit notation is seen from Fig. 1.3 which depicts </a:t>
            </a:r>
            <a:r>
              <a:rPr kumimoji="0" lang="en-IN" sz="1400" b="1" i="0" u="none" strike="noStrike" kern="1000" cap="none" spc="0" normalizeH="0" baseline="0" noProof="0" dirty="0" err="1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npn</a:t>
            </a: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BJT as two diodes between Base-emitter and base-collector regions</a:t>
            </a:r>
          </a:p>
        </p:txBody>
      </p:sp>
    </p:spTree>
    <p:extLst>
      <p:ext uri="{BB962C8B-B14F-4D97-AF65-F5344CB8AC3E}">
        <p14:creationId xmlns:p14="http://schemas.microsoft.com/office/powerpoint/2010/main" val="1613121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IASED BJT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697BB6-321E-027B-B598-732F6A0AA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8" y="2613265"/>
            <a:ext cx="3572271" cy="22199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4EBA4D-47AB-6CC9-7E1E-BD99D1450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951" y="2683245"/>
            <a:ext cx="3830075" cy="21500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85C132-B88A-EF76-A179-94916A841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9050" y="2659151"/>
            <a:ext cx="3808396" cy="21282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468AE62-F88F-B981-2509-649C768CFE85}"/>
              </a:ext>
            </a:extLst>
          </p:cNvPr>
          <p:cNvSpPr txBox="1"/>
          <p:nvPr/>
        </p:nvSpPr>
        <p:spPr>
          <a:xfrm>
            <a:off x="110578" y="1845988"/>
            <a:ext cx="297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Provide proper External voltages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A109CD-C159-C572-D1BF-152257A31622}"/>
              </a:ext>
            </a:extLst>
          </p:cNvPr>
          <p:cNvSpPr txBox="1"/>
          <p:nvPr/>
        </p:nvSpPr>
        <p:spPr>
          <a:xfrm>
            <a:off x="4002951" y="1864194"/>
            <a:ext cx="297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Free electrons in Emitter injected into Base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1DEAA5-882D-4D2F-8945-8C76B00BF97F}"/>
              </a:ext>
            </a:extLst>
          </p:cNvPr>
          <p:cNvSpPr txBox="1"/>
          <p:nvPr/>
        </p:nvSpPr>
        <p:spPr>
          <a:xfrm>
            <a:off x="8776793" y="1864194"/>
            <a:ext cx="297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Electrons transported from Base to Collector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2B6768-DA84-A493-63A0-9453C2C20A59}"/>
              </a:ext>
            </a:extLst>
          </p:cNvPr>
          <p:cNvSpPr txBox="1"/>
          <p:nvPr/>
        </p:nvSpPr>
        <p:spPr>
          <a:xfrm>
            <a:off x="-41455" y="5380929"/>
            <a:ext cx="37243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External voltages are provided such that B-E is FB and B-C is reverse biased.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D0DF6B-C241-DB28-00FB-E52A3038B886}"/>
              </a:ext>
            </a:extLst>
          </p:cNvPr>
          <p:cNvSpPr txBox="1"/>
          <p:nvPr/>
        </p:nvSpPr>
        <p:spPr>
          <a:xfrm>
            <a:off x="110578" y="4874441"/>
            <a:ext cx="3724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1.4. Supplying external voltages to B-E and C-E terminals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60258E-1E88-86CC-D300-9209F1561214}"/>
              </a:ext>
            </a:extLst>
          </p:cNvPr>
          <p:cNvSpPr txBox="1"/>
          <p:nvPr/>
        </p:nvSpPr>
        <p:spPr>
          <a:xfrm>
            <a:off x="3945460" y="4857709"/>
            <a:ext cx="3724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1.5. Forward biased BE junctions injects electrons in to base region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05F24B-B931-FFF2-C593-9F511CAE0F0A}"/>
              </a:ext>
            </a:extLst>
          </p:cNvPr>
          <p:cNvSpPr txBox="1"/>
          <p:nvPr/>
        </p:nvSpPr>
        <p:spPr>
          <a:xfrm>
            <a:off x="3945460" y="5380929"/>
            <a:ext cx="29778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 forward biased PN junction injects free electrons in to base region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8F0503-D655-848E-A826-3BAFC8F1348D}"/>
              </a:ext>
            </a:extLst>
          </p:cNvPr>
          <p:cNvSpPr txBox="1"/>
          <p:nvPr/>
        </p:nvSpPr>
        <p:spPr>
          <a:xfrm>
            <a:off x="8361522" y="5348935"/>
            <a:ext cx="38083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As the base region is very small electrons are transported in to collector region through the reversed biased B-C junction at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F2C7B-8CE6-3E37-D9F6-A9322258D740}"/>
              </a:ext>
            </a:extLst>
          </p:cNvPr>
          <p:cNvSpPr txBox="1"/>
          <p:nvPr/>
        </p:nvSpPr>
        <p:spPr>
          <a:xfrm>
            <a:off x="8189050" y="4833257"/>
            <a:ext cx="3724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1.6. Reverse biased BC junction transports electrons in to collector region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6169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Line 1026">
            <a:extLst>
              <a:ext uri="{FF2B5EF4-FFF2-40B4-BE49-F238E27FC236}">
                <a16:creationId xmlns:a16="http://schemas.microsoft.com/office/drawing/2014/main" id="{8F4A58DA-61C6-16E5-8B03-B65FB26EAE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1922" y="2962438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15" name="Line 1027">
            <a:extLst>
              <a:ext uri="{FF2B5EF4-FFF2-40B4-BE49-F238E27FC236}">
                <a16:creationId xmlns:a16="http://schemas.microsoft.com/office/drawing/2014/main" id="{69600D3B-0ED9-6853-9966-4867CB0939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8122" y="4105438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16" name="Line 1028">
            <a:extLst>
              <a:ext uri="{FF2B5EF4-FFF2-40B4-BE49-F238E27FC236}">
                <a16:creationId xmlns:a16="http://schemas.microsoft.com/office/drawing/2014/main" id="{DAB8AFF6-95DF-B406-4E6A-6BEB62EBAF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8722" y="410543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17" name="Line 1029">
            <a:extLst>
              <a:ext uri="{FF2B5EF4-FFF2-40B4-BE49-F238E27FC236}">
                <a16:creationId xmlns:a16="http://schemas.microsoft.com/office/drawing/2014/main" id="{FF9C83A1-A77F-4E1F-1172-D743EC04367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8722" y="4867438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18" name="Line 1030">
            <a:extLst>
              <a:ext uri="{FF2B5EF4-FFF2-40B4-BE49-F238E27FC236}">
                <a16:creationId xmlns:a16="http://schemas.microsoft.com/office/drawing/2014/main" id="{C94B6080-C6D4-2859-5B51-9D7B8BD8C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6522" y="410543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19" name="Line 1031">
            <a:extLst>
              <a:ext uri="{FF2B5EF4-FFF2-40B4-BE49-F238E27FC236}">
                <a16:creationId xmlns:a16="http://schemas.microsoft.com/office/drawing/2014/main" id="{1669B6A5-D05A-7106-77B9-1A391BE651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6522" y="410543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13320" name="Group 1032">
            <a:extLst>
              <a:ext uri="{FF2B5EF4-FFF2-40B4-BE49-F238E27FC236}">
                <a16:creationId xmlns:a16="http://schemas.microsoft.com/office/drawing/2014/main" id="{0FD3A317-1F5D-A762-4DE6-CEA35AE3E8C5}"/>
              </a:ext>
            </a:extLst>
          </p:cNvPr>
          <p:cNvGrpSpPr>
            <a:grpSpLocks/>
          </p:cNvGrpSpPr>
          <p:nvPr/>
        </p:nvGrpSpPr>
        <p:grpSpPr bwMode="auto">
          <a:xfrm>
            <a:off x="4986323" y="2824326"/>
            <a:ext cx="461963" cy="1293812"/>
            <a:chOff x="3453" y="1353"/>
            <a:chExt cx="291" cy="809"/>
          </a:xfrm>
        </p:grpSpPr>
        <p:sp>
          <p:nvSpPr>
            <p:cNvPr id="13396" name="Oval 1033">
              <a:extLst>
                <a:ext uri="{FF2B5EF4-FFF2-40B4-BE49-F238E27FC236}">
                  <a16:creationId xmlns:a16="http://schemas.microsoft.com/office/drawing/2014/main" id="{50A74C0C-B34A-71C4-713A-06D33CE5E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3" y="1353"/>
              <a:ext cx="192" cy="174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3397" name="Line 1034">
              <a:extLst>
                <a:ext uri="{FF2B5EF4-FFF2-40B4-BE49-F238E27FC236}">
                  <a16:creationId xmlns:a16="http://schemas.microsoft.com/office/drawing/2014/main" id="{DDE3BDB7-9DFF-7A6C-2B56-BB7773AE76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444"/>
              <a:ext cx="192" cy="718"/>
            </a:xfrm>
            <a:prstGeom prst="line">
              <a:avLst/>
            </a:prstGeom>
            <a:noFill/>
            <a:ln w="15875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13321" name="Line 1035">
            <a:extLst>
              <a:ext uri="{FF2B5EF4-FFF2-40B4-BE49-F238E27FC236}">
                <a16:creationId xmlns:a16="http://schemas.microsoft.com/office/drawing/2014/main" id="{E908B712-D20B-DBF4-3BD8-911E88375B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48122" y="3876838"/>
            <a:ext cx="990600" cy="152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22" name="Line 1036">
            <a:extLst>
              <a:ext uri="{FF2B5EF4-FFF2-40B4-BE49-F238E27FC236}">
                <a16:creationId xmlns:a16="http://schemas.microsoft.com/office/drawing/2014/main" id="{D1973435-0D5A-72C4-43BB-181656A214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19322" y="296243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23" name="Line 1037">
            <a:extLst>
              <a:ext uri="{FF2B5EF4-FFF2-40B4-BE49-F238E27FC236}">
                <a16:creationId xmlns:a16="http://schemas.microsoft.com/office/drawing/2014/main" id="{C82F92CF-878A-6949-9B41-080827128C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43322" y="3800638"/>
            <a:ext cx="152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24" name="Line 1038">
            <a:extLst>
              <a:ext uri="{FF2B5EF4-FFF2-40B4-BE49-F238E27FC236}">
                <a16:creationId xmlns:a16="http://schemas.microsoft.com/office/drawing/2014/main" id="{11EB13C5-21E3-0539-55E1-B00A858DAC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8122" y="3800638"/>
            <a:ext cx="0" cy="76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25" name="Line 1039">
            <a:extLst>
              <a:ext uri="{FF2B5EF4-FFF2-40B4-BE49-F238E27FC236}">
                <a16:creationId xmlns:a16="http://schemas.microsoft.com/office/drawing/2014/main" id="{684BC0DE-6944-BCDD-265A-0B426F9395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48122" y="3800638"/>
            <a:ext cx="990600" cy="76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26" name="Line 1040">
            <a:extLst>
              <a:ext uri="{FF2B5EF4-FFF2-40B4-BE49-F238E27FC236}">
                <a16:creationId xmlns:a16="http://schemas.microsoft.com/office/drawing/2014/main" id="{290EC900-F721-A959-B4AD-E7F49EC4C9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8722" y="38006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13327" name="Group 1041">
            <a:extLst>
              <a:ext uri="{FF2B5EF4-FFF2-40B4-BE49-F238E27FC236}">
                <a16:creationId xmlns:a16="http://schemas.microsoft.com/office/drawing/2014/main" id="{0AC557A7-57E6-D5CC-6DB7-E4A622243451}"/>
              </a:ext>
            </a:extLst>
          </p:cNvPr>
          <p:cNvGrpSpPr>
            <a:grpSpLocks/>
          </p:cNvGrpSpPr>
          <p:nvPr/>
        </p:nvGrpSpPr>
        <p:grpSpPr bwMode="auto">
          <a:xfrm>
            <a:off x="1576373" y="2202026"/>
            <a:ext cx="627063" cy="1676400"/>
            <a:chOff x="1305" y="997"/>
            <a:chExt cx="395" cy="1056"/>
          </a:xfrm>
        </p:grpSpPr>
        <p:sp>
          <p:nvSpPr>
            <p:cNvPr id="13377" name="Line 1042">
              <a:extLst>
                <a:ext uri="{FF2B5EF4-FFF2-40B4-BE49-F238E27FC236}">
                  <a16:creationId xmlns:a16="http://schemas.microsoft.com/office/drawing/2014/main" id="{D1B0D1E9-DC61-8D34-B927-579BCF970CF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93" y="1877"/>
              <a:ext cx="0" cy="8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78" name="Line 1043">
              <a:extLst>
                <a:ext uri="{FF2B5EF4-FFF2-40B4-BE49-F238E27FC236}">
                  <a16:creationId xmlns:a16="http://schemas.microsoft.com/office/drawing/2014/main" id="{2246645F-52DF-2406-A783-07E8E4081E7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623" y="1261"/>
              <a:ext cx="0" cy="79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79" name="Line 1044">
              <a:extLst>
                <a:ext uri="{FF2B5EF4-FFF2-40B4-BE49-F238E27FC236}">
                  <a16:creationId xmlns:a16="http://schemas.microsoft.com/office/drawing/2014/main" id="{20F060D3-A860-07F1-07A7-0C296025833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93" y="1261"/>
              <a:ext cx="0" cy="79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80" name="Line 1045">
              <a:extLst>
                <a:ext uri="{FF2B5EF4-FFF2-40B4-BE49-F238E27FC236}">
                  <a16:creationId xmlns:a16="http://schemas.microsoft.com/office/drawing/2014/main" id="{60DFD547-6F45-C8B3-237E-30F6C43875A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622" y="1261"/>
              <a:ext cx="77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81" name="Line 1046">
              <a:extLst>
                <a:ext uri="{FF2B5EF4-FFF2-40B4-BE49-F238E27FC236}">
                  <a16:creationId xmlns:a16="http://schemas.microsoft.com/office/drawing/2014/main" id="{0AC0DA0A-6238-9726-97AF-B4DC3476AA7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15" y="1261"/>
              <a:ext cx="77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82" name="Line 1047">
              <a:extLst>
                <a:ext uri="{FF2B5EF4-FFF2-40B4-BE49-F238E27FC236}">
                  <a16:creationId xmlns:a16="http://schemas.microsoft.com/office/drawing/2014/main" id="{DA25DDB8-13DD-C6BF-9679-37009AC1C2D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700" y="997"/>
              <a:ext cx="0" cy="26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83" name="Line 1048">
              <a:extLst>
                <a:ext uri="{FF2B5EF4-FFF2-40B4-BE49-F238E27FC236}">
                  <a16:creationId xmlns:a16="http://schemas.microsoft.com/office/drawing/2014/main" id="{F0C4E5E8-150C-65B8-3986-11EE435451A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05" y="997"/>
              <a:ext cx="0" cy="26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84" name="Line 1049">
              <a:extLst>
                <a:ext uri="{FF2B5EF4-FFF2-40B4-BE49-F238E27FC236}">
                  <a16:creationId xmlns:a16="http://schemas.microsoft.com/office/drawing/2014/main" id="{BF15C30F-CDD8-91D1-BCFF-CAD483612AB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93" y="2053"/>
              <a:ext cx="23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85" name="Line 1050">
              <a:extLst>
                <a:ext uri="{FF2B5EF4-FFF2-40B4-BE49-F238E27FC236}">
                  <a16:creationId xmlns:a16="http://schemas.microsoft.com/office/drawing/2014/main" id="{51DE4CA7-D118-0974-DBE9-3A9213D98A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622" y="997"/>
              <a:ext cx="77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86" name="Line 1051">
              <a:extLst>
                <a:ext uri="{FF2B5EF4-FFF2-40B4-BE49-F238E27FC236}">
                  <a16:creationId xmlns:a16="http://schemas.microsoft.com/office/drawing/2014/main" id="{44780D76-C9C7-AEE6-4D61-9FA5A61306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05" y="997"/>
              <a:ext cx="165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87" name="Line 1052">
              <a:extLst>
                <a:ext uri="{FF2B5EF4-FFF2-40B4-BE49-F238E27FC236}">
                  <a16:creationId xmlns:a16="http://schemas.microsoft.com/office/drawing/2014/main" id="{098F6FBF-A9E5-FE5A-AA32-C989C26CD8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45" y="997"/>
              <a:ext cx="77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88" name="Line 1053">
              <a:extLst>
                <a:ext uri="{FF2B5EF4-FFF2-40B4-BE49-F238E27FC236}">
                  <a16:creationId xmlns:a16="http://schemas.microsoft.com/office/drawing/2014/main" id="{A5028B6E-37E9-40B7-DF3B-A10E8862199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46" y="1085"/>
              <a:ext cx="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89" name="Line 1054">
              <a:extLst>
                <a:ext uri="{FF2B5EF4-FFF2-40B4-BE49-F238E27FC236}">
                  <a16:creationId xmlns:a16="http://schemas.microsoft.com/office/drawing/2014/main" id="{3FA2F791-EE72-96D4-052C-81E4C55B27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46" y="997"/>
              <a:ext cx="0" cy="8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90" name="Line 1055">
              <a:extLst>
                <a:ext uri="{FF2B5EF4-FFF2-40B4-BE49-F238E27FC236}">
                  <a16:creationId xmlns:a16="http://schemas.microsoft.com/office/drawing/2014/main" id="{03AB3643-E2FB-D94E-1DD5-393DA93BACB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470" y="1085"/>
              <a:ext cx="7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91" name="Line 1056">
              <a:extLst>
                <a:ext uri="{FF2B5EF4-FFF2-40B4-BE49-F238E27FC236}">
                  <a16:creationId xmlns:a16="http://schemas.microsoft.com/office/drawing/2014/main" id="{45F8741C-71CB-5EC4-8091-96117F2FD5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470" y="997"/>
              <a:ext cx="0" cy="8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92" name="Line 1057">
              <a:extLst>
                <a:ext uri="{FF2B5EF4-FFF2-40B4-BE49-F238E27FC236}">
                  <a16:creationId xmlns:a16="http://schemas.microsoft.com/office/drawing/2014/main" id="{185BC348-4465-19E4-6373-E216BF5976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93" y="1525"/>
              <a:ext cx="230" cy="17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93" name="Line 1058">
              <a:extLst>
                <a:ext uri="{FF2B5EF4-FFF2-40B4-BE49-F238E27FC236}">
                  <a16:creationId xmlns:a16="http://schemas.microsoft.com/office/drawing/2014/main" id="{9A562AF3-AF66-6992-D3E5-FE799E50ED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93" y="1349"/>
              <a:ext cx="230" cy="17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94" name="Line 1059">
              <a:extLst>
                <a:ext uri="{FF2B5EF4-FFF2-40B4-BE49-F238E27FC236}">
                  <a16:creationId xmlns:a16="http://schemas.microsoft.com/office/drawing/2014/main" id="{43AF400A-E7C3-5781-6722-6963660D115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93" y="1701"/>
              <a:ext cx="230" cy="17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95" name="Line 1060">
              <a:extLst>
                <a:ext uri="{FF2B5EF4-FFF2-40B4-BE49-F238E27FC236}">
                  <a16:creationId xmlns:a16="http://schemas.microsoft.com/office/drawing/2014/main" id="{59068398-9278-9255-2507-AD35CFEC10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93" y="1877"/>
              <a:ext cx="230" cy="17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13328" name="Line 1061">
            <a:extLst>
              <a:ext uri="{FF2B5EF4-FFF2-40B4-BE49-F238E27FC236}">
                <a16:creationId xmlns:a16="http://schemas.microsoft.com/office/drawing/2014/main" id="{8C15FFFD-B38A-A2E1-D403-D1D53C76F1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22" y="3953038"/>
            <a:ext cx="0" cy="152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29" name="Line 1062">
            <a:extLst>
              <a:ext uri="{FF2B5EF4-FFF2-40B4-BE49-F238E27FC236}">
                <a16:creationId xmlns:a16="http://schemas.microsoft.com/office/drawing/2014/main" id="{644E0EC4-81DA-4071-8DA8-A90D7C150C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22" y="3800638"/>
            <a:ext cx="0" cy="76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30" name="Line 1063">
            <a:extLst>
              <a:ext uri="{FF2B5EF4-FFF2-40B4-BE49-F238E27FC236}">
                <a16:creationId xmlns:a16="http://schemas.microsoft.com/office/drawing/2014/main" id="{58E66B10-CC65-7CEC-A02C-C337F3FE9B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8723" y="3724438"/>
            <a:ext cx="142875" cy="76200"/>
          </a:xfrm>
          <a:prstGeom prst="line">
            <a:avLst/>
          </a:prstGeom>
          <a:noFill/>
          <a:ln w="57150" cap="rnd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31" name="Line 1064">
            <a:extLst>
              <a:ext uri="{FF2B5EF4-FFF2-40B4-BE49-F238E27FC236}">
                <a16:creationId xmlns:a16="http://schemas.microsoft.com/office/drawing/2014/main" id="{3162CFCC-4EFB-69CE-F573-F394B3E972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8723" y="3814926"/>
            <a:ext cx="157163" cy="61912"/>
          </a:xfrm>
          <a:prstGeom prst="line">
            <a:avLst/>
          </a:prstGeom>
          <a:noFill/>
          <a:ln w="57150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13332" name="Group 1065">
            <a:extLst>
              <a:ext uri="{FF2B5EF4-FFF2-40B4-BE49-F238E27FC236}">
                <a16:creationId xmlns:a16="http://schemas.microsoft.com/office/drawing/2014/main" id="{1239891F-FD3C-ADF2-77BE-5A1588F01A80}"/>
              </a:ext>
            </a:extLst>
          </p:cNvPr>
          <p:cNvGrpSpPr>
            <a:grpSpLocks/>
          </p:cNvGrpSpPr>
          <p:nvPr/>
        </p:nvGrpSpPr>
        <p:grpSpPr bwMode="auto">
          <a:xfrm>
            <a:off x="3690922" y="3800638"/>
            <a:ext cx="457200" cy="76200"/>
            <a:chOff x="1440" y="1968"/>
            <a:chExt cx="288" cy="48"/>
          </a:xfrm>
        </p:grpSpPr>
        <p:sp>
          <p:nvSpPr>
            <p:cNvPr id="13374" name="Line 1066">
              <a:extLst>
                <a:ext uri="{FF2B5EF4-FFF2-40B4-BE49-F238E27FC236}">
                  <a16:creationId xmlns:a16="http://schemas.microsoft.com/office/drawing/2014/main" id="{53152499-C723-B000-2023-B528520769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968"/>
              <a:ext cx="9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75" name="Line 1067">
              <a:extLst>
                <a:ext uri="{FF2B5EF4-FFF2-40B4-BE49-F238E27FC236}">
                  <a16:creationId xmlns:a16="http://schemas.microsoft.com/office/drawing/2014/main" id="{D83BCFD7-BE66-1F06-7D94-95F7F67139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0" y="1968"/>
              <a:ext cx="9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76" name="Line 1068">
              <a:extLst>
                <a:ext uri="{FF2B5EF4-FFF2-40B4-BE49-F238E27FC236}">
                  <a16:creationId xmlns:a16="http://schemas.microsoft.com/office/drawing/2014/main" id="{BEA84BF6-7DEB-7AB0-5C90-7B0D139FB6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016"/>
              <a:ext cx="288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13333" name="Line 1069">
            <a:extLst>
              <a:ext uri="{FF2B5EF4-FFF2-40B4-BE49-F238E27FC236}">
                <a16:creationId xmlns:a16="http://schemas.microsoft.com/office/drawing/2014/main" id="{AAC683FD-A635-8549-548C-6F0AD79157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4322" y="3876838"/>
            <a:ext cx="762000" cy="0"/>
          </a:xfrm>
          <a:prstGeom prst="line">
            <a:avLst/>
          </a:prstGeom>
          <a:noFill/>
          <a:ln w="38100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34" name="Line 1070">
            <a:extLst>
              <a:ext uri="{FF2B5EF4-FFF2-40B4-BE49-F238E27FC236}">
                <a16:creationId xmlns:a16="http://schemas.microsoft.com/office/drawing/2014/main" id="{F572F1AB-AABC-12A6-FBCE-39ECAFD3BA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8122" y="3953038"/>
            <a:ext cx="457200" cy="0"/>
          </a:xfrm>
          <a:prstGeom prst="line">
            <a:avLst/>
          </a:prstGeom>
          <a:noFill/>
          <a:ln w="38100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35" name="Line 1071">
            <a:extLst>
              <a:ext uri="{FF2B5EF4-FFF2-40B4-BE49-F238E27FC236}">
                <a16:creationId xmlns:a16="http://schemas.microsoft.com/office/drawing/2014/main" id="{CF21F4BE-3A61-C3FF-7E33-76B06E6090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22" y="3953038"/>
            <a:ext cx="228600" cy="0"/>
          </a:xfrm>
          <a:prstGeom prst="line">
            <a:avLst/>
          </a:prstGeom>
          <a:noFill/>
          <a:ln w="38100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36" name="Line 1072">
            <a:extLst>
              <a:ext uri="{FF2B5EF4-FFF2-40B4-BE49-F238E27FC236}">
                <a16:creationId xmlns:a16="http://schemas.microsoft.com/office/drawing/2014/main" id="{C2186C9C-5DCE-CCD7-672B-DC5C883B28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22" y="4029238"/>
            <a:ext cx="228600" cy="0"/>
          </a:xfrm>
          <a:prstGeom prst="line">
            <a:avLst/>
          </a:prstGeom>
          <a:noFill/>
          <a:ln w="38100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37" name="Freeform 1073">
            <a:extLst>
              <a:ext uri="{FF2B5EF4-FFF2-40B4-BE49-F238E27FC236}">
                <a16:creationId xmlns:a16="http://schemas.microsoft.com/office/drawing/2014/main" id="{782B89D2-05C2-EBB6-A787-AB61A00349CF}"/>
              </a:ext>
            </a:extLst>
          </p:cNvPr>
          <p:cNvSpPr>
            <a:spLocks/>
          </p:cNvSpPr>
          <p:nvPr/>
        </p:nvSpPr>
        <p:spPr bwMode="auto">
          <a:xfrm>
            <a:off x="4529122" y="3343438"/>
            <a:ext cx="1371600" cy="1003300"/>
          </a:xfrm>
          <a:custGeom>
            <a:avLst/>
            <a:gdLst>
              <a:gd name="T0" fmla="*/ 0 w 864"/>
              <a:gd name="T1" fmla="*/ 0 h 632"/>
              <a:gd name="T2" fmla="*/ 2147483647 w 864"/>
              <a:gd name="T3" fmla="*/ 2147483647 h 632"/>
              <a:gd name="T4" fmla="*/ 2147483647 w 864"/>
              <a:gd name="T5" fmla="*/ 2147483647 h 632"/>
              <a:gd name="T6" fmla="*/ 2147483647 w 864"/>
              <a:gd name="T7" fmla="*/ 2147483647 h 63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632"/>
              <a:gd name="T14" fmla="*/ 864 w 864"/>
              <a:gd name="T15" fmla="*/ 632 h 6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632">
                <a:moveTo>
                  <a:pt x="0" y="0"/>
                </a:moveTo>
                <a:cubicBezTo>
                  <a:pt x="52" y="72"/>
                  <a:pt x="104" y="144"/>
                  <a:pt x="192" y="240"/>
                </a:cubicBezTo>
                <a:cubicBezTo>
                  <a:pt x="280" y="336"/>
                  <a:pt x="416" y="520"/>
                  <a:pt x="528" y="576"/>
                </a:cubicBezTo>
                <a:cubicBezTo>
                  <a:pt x="640" y="632"/>
                  <a:pt x="752" y="604"/>
                  <a:pt x="864" y="576"/>
                </a:cubicBezTo>
              </a:path>
            </a:pathLst>
          </a:custGeom>
          <a:noFill/>
          <a:ln w="38100">
            <a:solidFill>
              <a:srgbClr val="00FF0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</a:endParaRPr>
          </a:p>
        </p:txBody>
      </p:sp>
      <p:sp>
        <p:nvSpPr>
          <p:cNvPr id="13338" name="Freeform 1074">
            <a:extLst>
              <a:ext uri="{FF2B5EF4-FFF2-40B4-BE49-F238E27FC236}">
                <a16:creationId xmlns:a16="http://schemas.microsoft.com/office/drawing/2014/main" id="{8E43D3B6-3223-8C61-90EE-0965506DE061}"/>
              </a:ext>
            </a:extLst>
          </p:cNvPr>
          <p:cNvSpPr>
            <a:spLocks/>
          </p:cNvSpPr>
          <p:nvPr/>
        </p:nvSpPr>
        <p:spPr bwMode="auto">
          <a:xfrm>
            <a:off x="4910122" y="3343438"/>
            <a:ext cx="914400" cy="914400"/>
          </a:xfrm>
          <a:custGeom>
            <a:avLst/>
            <a:gdLst>
              <a:gd name="T0" fmla="*/ 0 w 576"/>
              <a:gd name="T1" fmla="*/ 0 h 576"/>
              <a:gd name="T2" fmla="*/ 2147483647 w 576"/>
              <a:gd name="T3" fmla="*/ 2147483647 h 576"/>
              <a:gd name="T4" fmla="*/ 2147483647 w 576"/>
              <a:gd name="T5" fmla="*/ 2147483647 h 576"/>
              <a:gd name="T6" fmla="*/ 2147483647 w 576"/>
              <a:gd name="T7" fmla="*/ 2147483647 h 576"/>
              <a:gd name="T8" fmla="*/ 2147483647 w 576"/>
              <a:gd name="T9" fmla="*/ 2147483647 h 5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"/>
              <a:gd name="T16" fmla="*/ 0 h 576"/>
              <a:gd name="T17" fmla="*/ 576 w 576"/>
              <a:gd name="T18" fmla="*/ 576 h 5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" h="576">
                <a:moveTo>
                  <a:pt x="0" y="0"/>
                </a:moveTo>
                <a:cubicBezTo>
                  <a:pt x="92" y="172"/>
                  <a:pt x="184" y="344"/>
                  <a:pt x="240" y="432"/>
                </a:cubicBezTo>
                <a:cubicBezTo>
                  <a:pt x="296" y="520"/>
                  <a:pt x="296" y="504"/>
                  <a:pt x="336" y="528"/>
                </a:cubicBezTo>
                <a:cubicBezTo>
                  <a:pt x="376" y="552"/>
                  <a:pt x="440" y="576"/>
                  <a:pt x="480" y="576"/>
                </a:cubicBezTo>
                <a:cubicBezTo>
                  <a:pt x="520" y="576"/>
                  <a:pt x="552" y="536"/>
                  <a:pt x="576" y="528"/>
                </a:cubicBezTo>
              </a:path>
            </a:pathLst>
          </a:custGeom>
          <a:noFill/>
          <a:ln w="38100">
            <a:solidFill>
              <a:srgbClr val="00FF0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</a:endParaRPr>
          </a:p>
        </p:txBody>
      </p:sp>
      <p:sp>
        <p:nvSpPr>
          <p:cNvPr id="13339" name="Line 1075">
            <a:extLst>
              <a:ext uri="{FF2B5EF4-FFF2-40B4-BE49-F238E27FC236}">
                <a16:creationId xmlns:a16="http://schemas.microsoft.com/office/drawing/2014/main" id="{7DBD4F18-5624-39D4-3D79-60BFAC623B5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8722" y="3800638"/>
            <a:ext cx="0" cy="76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40" name="Line 1076">
            <a:extLst>
              <a:ext uri="{FF2B5EF4-FFF2-40B4-BE49-F238E27FC236}">
                <a16:creationId xmlns:a16="http://schemas.microsoft.com/office/drawing/2014/main" id="{B18D8352-2B22-2110-9B8C-149C64CC5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8122" y="4029238"/>
            <a:ext cx="0" cy="76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13341" name="Group 1077">
            <a:extLst>
              <a:ext uri="{FF2B5EF4-FFF2-40B4-BE49-F238E27FC236}">
                <a16:creationId xmlns:a16="http://schemas.microsoft.com/office/drawing/2014/main" id="{8D76A81E-4990-B959-56D2-928A99208D22}"/>
              </a:ext>
            </a:extLst>
          </p:cNvPr>
          <p:cNvGrpSpPr>
            <a:grpSpLocks/>
          </p:cNvGrpSpPr>
          <p:nvPr/>
        </p:nvGrpSpPr>
        <p:grpSpPr bwMode="auto">
          <a:xfrm>
            <a:off x="3840147" y="3965738"/>
            <a:ext cx="381000" cy="914400"/>
            <a:chOff x="960" y="2736"/>
            <a:chExt cx="240" cy="576"/>
          </a:xfrm>
        </p:grpSpPr>
        <p:sp>
          <p:nvSpPr>
            <p:cNvPr id="13355" name="Line 1078">
              <a:extLst>
                <a:ext uri="{FF2B5EF4-FFF2-40B4-BE49-F238E27FC236}">
                  <a16:creationId xmlns:a16="http://schemas.microsoft.com/office/drawing/2014/main" id="{6C6642D8-3243-BB91-88FD-B507E4FFE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784"/>
              <a:ext cx="0" cy="48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56" name="Line 1079">
              <a:extLst>
                <a:ext uri="{FF2B5EF4-FFF2-40B4-BE49-F238E27FC236}">
                  <a16:creationId xmlns:a16="http://schemas.microsoft.com/office/drawing/2014/main" id="{141FAD7B-4180-FEDB-5109-D83918AC1C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36"/>
              <a:ext cx="0" cy="432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57" name="Line 1080">
              <a:extLst>
                <a:ext uri="{FF2B5EF4-FFF2-40B4-BE49-F238E27FC236}">
                  <a16:creationId xmlns:a16="http://schemas.microsoft.com/office/drawing/2014/main" id="{D6FE1482-E5D0-F86E-3336-56B0C7D2C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736"/>
              <a:ext cx="0" cy="432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58" name="Line 1081">
              <a:extLst>
                <a:ext uri="{FF2B5EF4-FFF2-40B4-BE49-F238E27FC236}">
                  <a16:creationId xmlns:a16="http://schemas.microsoft.com/office/drawing/2014/main" id="{18F51EC6-E8D1-6ED9-C8CA-4602AA19E3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168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59" name="Line 1082">
              <a:extLst>
                <a:ext uri="{FF2B5EF4-FFF2-40B4-BE49-F238E27FC236}">
                  <a16:creationId xmlns:a16="http://schemas.microsoft.com/office/drawing/2014/main" id="{A455E36F-D0FD-01DE-4AD2-C57122BE3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168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60" name="Line 1083">
              <a:extLst>
                <a:ext uri="{FF2B5EF4-FFF2-40B4-BE49-F238E27FC236}">
                  <a16:creationId xmlns:a16="http://schemas.microsoft.com/office/drawing/2014/main" id="{EF73AD80-8D4D-1DB3-66EC-30D7CB063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168"/>
              <a:ext cx="0" cy="144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61" name="Line 1084">
              <a:extLst>
                <a:ext uri="{FF2B5EF4-FFF2-40B4-BE49-F238E27FC236}">
                  <a16:creationId xmlns:a16="http://schemas.microsoft.com/office/drawing/2014/main" id="{9F7C3E37-F336-457D-8C76-9FF9749EF8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168"/>
              <a:ext cx="0" cy="144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62" name="Line 1085">
              <a:extLst>
                <a:ext uri="{FF2B5EF4-FFF2-40B4-BE49-F238E27FC236}">
                  <a16:creationId xmlns:a16="http://schemas.microsoft.com/office/drawing/2014/main" id="{E126F50E-8E81-F383-EBB3-AE91024E7F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36"/>
              <a:ext cx="144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63" name="Line 1086">
              <a:extLst>
                <a:ext uri="{FF2B5EF4-FFF2-40B4-BE49-F238E27FC236}">
                  <a16:creationId xmlns:a16="http://schemas.microsoft.com/office/drawing/2014/main" id="{A800BE94-1583-A71C-6F95-E5EA724FA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312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64" name="Line 1087">
              <a:extLst>
                <a:ext uri="{FF2B5EF4-FFF2-40B4-BE49-F238E27FC236}">
                  <a16:creationId xmlns:a16="http://schemas.microsoft.com/office/drawing/2014/main" id="{A56642FC-CABF-8F54-AA40-7C462DAB0F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4" y="3312"/>
              <a:ext cx="96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65" name="Line 1088">
              <a:extLst>
                <a:ext uri="{FF2B5EF4-FFF2-40B4-BE49-F238E27FC236}">
                  <a16:creationId xmlns:a16="http://schemas.microsoft.com/office/drawing/2014/main" id="{396B023D-BA1E-CB1A-FFD1-075411F52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312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66" name="Line 1089">
              <a:extLst>
                <a:ext uri="{FF2B5EF4-FFF2-40B4-BE49-F238E27FC236}">
                  <a16:creationId xmlns:a16="http://schemas.microsoft.com/office/drawing/2014/main" id="{8884A086-3B00-183E-E9A7-E103854740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264"/>
              <a:ext cx="0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67" name="Line 1090">
              <a:extLst>
                <a:ext uri="{FF2B5EF4-FFF2-40B4-BE49-F238E27FC236}">
                  <a16:creationId xmlns:a16="http://schemas.microsoft.com/office/drawing/2014/main" id="{EE5C5A4B-E9B9-CBBF-73D7-D306FE5970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264"/>
              <a:ext cx="0" cy="48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68" name="Line 1091">
              <a:extLst>
                <a:ext uri="{FF2B5EF4-FFF2-40B4-BE49-F238E27FC236}">
                  <a16:creationId xmlns:a16="http://schemas.microsoft.com/office/drawing/2014/main" id="{D075210A-1E47-00E4-7FD9-B1E878BFEE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264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69" name="Line 1092">
              <a:extLst>
                <a:ext uri="{FF2B5EF4-FFF2-40B4-BE49-F238E27FC236}">
                  <a16:creationId xmlns:a16="http://schemas.microsoft.com/office/drawing/2014/main" id="{5BC83FC1-6CB1-4308-7D69-044932D46D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264"/>
              <a:ext cx="0" cy="48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70" name="Line 1093">
              <a:extLst>
                <a:ext uri="{FF2B5EF4-FFF2-40B4-BE49-F238E27FC236}">
                  <a16:creationId xmlns:a16="http://schemas.microsoft.com/office/drawing/2014/main" id="{669358A5-8823-C0E3-E313-4346E2FFF5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928"/>
              <a:ext cx="144" cy="96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71" name="Line 1094">
              <a:extLst>
                <a:ext uri="{FF2B5EF4-FFF2-40B4-BE49-F238E27FC236}">
                  <a16:creationId xmlns:a16="http://schemas.microsoft.com/office/drawing/2014/main" id="{C8019432-3A09-9D57-C0D0-B12DF1357C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3024"/>
              <a:ext cx="144" cy="96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72" name="Line 1095">
              <a:extLst>
                <a:ext uri="{FF2B5EF4-FFF2-40B4-BE49-F238E27FC236}">
                  <a16:creationId xmlns:a16="http://schemas.microsoft.com/office/drawing/2014/main" id="{B562142B-431F-8C52-AF13-08795C5DEE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832"/>
              <a:ext cx="144" cy="96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373" name="Line 1096">
              <a:extLst>
                <a:ext uri="{FF2B5EF4-FFF2-40B4-BE49-F238E27FC236}">
                  <a16:creationId xmlns:a16="http://schemas.microsoft.com/office/drawing/2014/main" id="{04941BCA-1EFB-E6D9-B1F4-7C5EB60E76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736"/>
              <a:ext cx="144" cy="96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13342" name="Line 1097">
            <a:extLst>
              <a:ext uri="{FF2B5EF4-FFF2-40B4-BE49-F238E27FC236}">
                <a16:creationId xmlns:a16="http://schemas.microsoft.com/office/drawing/2014/main" id="{FBD9ECB6-03C2-DEA1-9385-8B8EEB5FD6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9122" y="4105438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43" name="Line 1098">
            <a:extLst>
              <a:ext uri="{FF2B5EF4-FFF2-40B4-BE49-F238E27FC236}">
                <a16:creationId xmlns:a16="http://schemas.microsoft.com/office/drawing/2014/main" id="{C3ECE0CD-7E50-C338-2BB0-43516ED3C4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76435" y="2962438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44" name="Line 1099">
            <a:extLst>
              <a:ext uri="{FF2B5EF4-FFF2-40B4-BE49-F238E27FC236}">
                <a16:creationId xmlns:a16="http://schemas.microsoft.com/office/drawing/2014/main" id="{FFBC3BAE-90F6-7D71-F42E-E5D8B3B122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4198" y="2956088"/>
            <a:ext cx="10255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45" name="Line 1100">
            <a:extLst>
              <a:ext uri="{FF2B5EF4-FFF2-40B4-BE49-F238E27FC236}">
                <a16:creationId xmlns:a16="http://schemas.microsoft.com/office/drawing/2014/main" id="{CB2590E2-E748-3411-6980-97AD9384F1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286" y="4108613"/>
            <a:ext cx="1519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46" name="Line 1101">
            <a:extLst>
              <a:ext uri="{FF2B5EF4-FFF2-40B4-BE49-F238E27FC236}">
                <a16:creationId xmlns:a16="http://schemas.microsoft.com/office/drawing/2014/main" id="{02716C5F-09E1-B2B6-CDA3-C0E9959CCDA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5523" y="3229138"/>
            <a:ext cx="1444625" cy="0"/>
          </a:xfrm>
          <a:prstGeom prst="line">
            <a:avLst/>
          </a:prstGeom>
          <a:noFill/>
          <a:ln w="38100">
            <a:solidFill>
              <a:srgbClr val="99330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47" name="Line 1102">
            <a:extLst>
              <a:ext uri="{FF2B5EF4-FFF2-40B4-BE49-F238E27FC236}">
                <a16:creationId xmlns:a16="http://schemas.microsoft.com/office/drawing/2014/main" id="{14A8BEDB-7860-0C16-0F07-03288D09FF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0761" y="3572038"/>
            <a:ext cx="1444625" cy="0"/>
          </a:xfrm>
          <a:prstGeom prst="line">
            <a:avLst/>
          </a:prstGeom>
          <a:noFill/>
          <a:ln w="38100">
            <a:solidFill>
              <a:srgbClr val="99330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48" name="Line 1103">
            <a:extLst>
              <a:ext uri="{FF2B5EF4-FFF2-40B4-BE49-F238E27FC236}">
                <a16:creationId xmlns:a16="http://schemas.microsoft.com/office/drawing/2014/main" id="{C256AB4E-8E55-00C4-220C-B409734E2F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160" y="3229138"/>
            <a:ext cx="1198562" cy="0"/>
          </a:xfrm>
          <a:prstGeom prst="line">
            <a:avLst/>
          </a:prstGeom>
          <a:noFill/>
          <a:ln w="38100">
            <a:solidFill>
              <a:srgbClr val="80008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49" name="Line 1104">
            <a:extLst>
              <a:ext uri="{FF2B5EF4-FFF2-40B4-BE49-F238E27FC236}">
                <a16:creationId xmlns:a16="http://schemas.microsoft.com/office/drawing/2014/main" id="{BFA4B0E8-550E-FF7E-80B2-04F8D42F32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948" y="3572038"/>
            <a:ext cx="1198563" cy="0"/>
          </a:xfrm>
          <a:prstGeom prst="line">
            <a:avLst/>
          </a:prstGeom>
          <a:noFill/>
          <a:ln w="38100">
            <a:solidFill>
              <a:srgbClr val="80008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50" name="Line 1105">
            <a:extLst>
              <a:ext uri="{FF2B5EF4-FFF2-40B4-BE49-F238E27FC236}">
                <a16:creationId xmlns:a16="http://schemas.microsoft.com/office/drawing/2014/main" id="{554279A8-9E14-8A5E-7BAE-0687111D50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75310" y="3233901"/>
            <a:ext cx="1198562" cy="0"/>
          </a:xfrm>
          <a:prstGeom prst="line">
            <a:avLst/>
          </a:prstGeom>
          <a:noFill/>
          <a:ln w="38100">
            <a:solidFill>
              <a:srgbClr val="99CC0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51" name="Line 1106">
            <a:extLst>
              <a:ext uri="{FF2B5EF4-FFF2-40B4-BE49-F238E27FC236}">
                <a16:creationId xmlns:a16="http://schemas.microsoft.com/office/drawing/2014/main" id="{5CBC259C-4C59-790A-C71E-AAB3793FBA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75310" y="3672051"/>
            <a:ext cx="1198562" cy="0"/>
          </a:xfrm>
          <a:prstGeom prst="line">
            <a:avLst/>
          </a:prstGeom>
          <a:noFill/>
          <a:ln w="38100">
            <a:solidFill>
              <a:srgbClr val="99CC0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52" name="Line 1107">
            <a:extLst>
              <a:ext uri="{FF2B5EF4-FFF2-40B4-BE49-F238E27FC236}">
                <a16:creationId xmlns:a16="http://schemas.microsoft.com/office/drawing/2014/main" id="{4B4A9C3F-5C09-2E59-CE62-BFE1F8E0D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6072" y="2962438"/>
            <a:ext cx="0" cy="77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53" name="Line 1108">
            <a:extLst>
              <a:ext uri="{FF2B5EF4-FFF2-40B4-BE49-F238E27FC236}">
                <a16:creationId xmlns:a16="http://schemas.microsoft.com/office/drawing/2014/main" id="{BB47D520-3C05-9937-14D2-B147D3947E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1197" y="2962438"/>
            <a:ext cx="0" cy="77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354" name="Rectangle 1109">
            <a:extLst>
              <a:ext uri="{FF2B5EF4-FFF2-40B4-BE49-F238E27FC236}">
                <a16:creationId xmlns:a16="http://schemas.microsoft.com/office/drawing/2014/main" id="{336595EB-2654-4D4B-F7DA-97BEB5A3D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7" y="937803"/>
            <a:ext cx="8382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Analogy with Transistor :Fluid-jet operated Valve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056BB5-14D6-C45D-E99F-3B8BE7BA66FA}"/>
              </a:ext>
            </a:extLst>
          </p:cNvPr>
          <p:cNvSpPr txBox="1"/>
          <p:nvPr/>
        </p:nvSpPr>
        <p:spPr>
          <a:xfrm>
            <a:off x="308497" y="5442440"/>
            <a:ext cx="7062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1.6. Depicting BJT operation analogous to fluid-jet operated valve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251F50-46E4-1765-EE46-DA652775CDC4}"/>
              </a:ext>
            </a:extLst>
          </p:cNvPr>
          <p:cNvSpPr txBox="1"/>
          <p:nvPr/>
        </p:nvSpPr>
        <p:spPr>
          <a:xfrm>
            <a:off x="8529947" y="1791439"/>
            <a:ext cx="297785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 fluid jet operated valve is shown with two valves.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First valve sets up the flow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Second valve control the flow 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First valve position determine the volume of jet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Second valve determine its rate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This operation is analogous to BJT in the following manner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V</a:t>
            </a:r>
            <a:r>
              <a:rPr kumimoji="0" lang="en-IN" sz="1400" b="1" i="0" u="none" strike="noStrike" kern="1000" cap="none" spc="0" normalizeH="0" baseline="-2500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CE</a:t>
            </a: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sets up the drift for charge carriers from emitter to collector and V</a:t>
            </a:r>
            <a:r>
              <a:rPr kumimoji="0" lang="en-IN" sz="1400" b="1" i="0" u="none" strike="noStrike" kern="1000" cap="none" spc="0" normalizeH="0" baseline="-2500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BE</a:t>
            </a: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sets up diffusion of charge carriers in to collector region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3" descr="c:\ch05_conv\sedr42021_0503.jpg">
            <a:extLst>
              <a:ext uri="{FF2B5EF4-FFF2-40B4-BE49-F238E27FC236}">
                <a16:creationId xmlns:a16="http://schemas.microsoft.com/office/drawing/2014/main" id="{28753804-7F9E-AE0C-2B54-504BA89B6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70" y="1864194"/>
            <a:ext cx="6253163" cy="357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8D9983-5F95-33F3-5179-D35B555EC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Total CURRENT in B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IASED BJT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1A2E4-BD0E-C582-AE91-18D1B0AD54E5}"/>
              </a:ext>
            </a:extLst>
          </p:cNvPr>
          <p:cNvSpPr txBox="1"/>
          <p:nvPr/>
        </p:nvSpPr>
        <p:spPr>
          <a:xfrm>
            <a:off x="165570" y="5582399"/>
            <a:ext cx="247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1.6. Currents in Biased BJT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EC902-C562-1172-0CB4-98DDD6DE6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7636" y="1959752"/>
            <a:ext cx="1571127" cy="16455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29696A-4015-4FD2-2EE9-2159DE10F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947" y="1864194"/>
            <a:ext cx="1535944" cy="1715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996185-2087-04BA-D491-01A7A84018BF}"/>
              </a:ext>
            </a:extLst>
          </p:cNvPr>
          <p:cNvSpPr txBox="1"/>
          <p:nvPr/>
        </p:nvSpPr>
        <p:spPr>
          <a:xfrm>
            <a:off x="6431409" y="3649337"/>
            <a:ext cx="21610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1.7. Circuit symbol and flow of electrons in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npn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BJT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888439-5703-C2D5-EB3B-62EE11038B1B}"/>
              </a:ext>
            </a:extLst>
          </p:cNvPr>
          <p:cNvSpPr txBox="1"/>
          <p:nvPr/>
        </p:nvSpPr>
        <p:spPr>
          <a:xfrm>
            <a:off x="8893760" y="3700817"/>
            <a:ext cx="21610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1.8. Conventional current directions in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npn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BJT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4813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B6B56926-B3B7-3982-2676-C621AFF092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1200" y="2397966"/>
            <a:ext cx="5410200" cy="3698033"/>
          </a:xfrm>
        </p:spPr>
        <p:txBody>
          <a:bodyPr/>
          <a:lstStyle/>
          <a:p>
            <a:r>
              <a:rPr lang="en-US" altLang="en-US" dirty="0"/>
              <a:t>I</a:t>
            </a:r>
            <a:r>
              <a:rPr lang="en-US" altLang="en-US" baseline="-25000" dirty="0"/>
              <a:t>E</a:t>
            </a:r>
            <a:r>
              <a:rPr lang="en-US" altLang="en-US" dirty="0"/>
              <a:t> – Largest emitter current</a:t>
            </a:r>
          </a:p>
          <a:p>
            <a:endParaRPr lang="en-US" altLang="en-US" dirty="0"/>
          </a:p>
          <a:p>
            <a:r>
              <a:rPr lang="en-US" altLang="en-US" dirty="0"/>
              <a:t>Emitter electrons flow to the collector, I</a:t>
            </a:r>
            <a:r>
              <a:rPr lang="en-US" altLang="en-US" baseline="-25000" dirty="0"/>
              <a:t>C</a:t>
            </a:r>
            <a:r>
              <a:rPr lang="en-US" altLang="en-US" dirty="0"/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</a:t>
            </a:r>
            <a:r>
              <a:rPr lang="en-US" altLang="en-US" dirty="0"/>
              <a:t>I</a:t>
            </a:r>
            <a:r>
              <a:rPr lang="en-US" altLang="en-US" baseline="-25000" dirty="0"/>
              <a:t>E</a:t>
            </a:r>
          </a:p>
          <a:p>
            <a:endParaRPr lang="en-US" altLang="en-US" baseline="-25000" dirty="0"/>
          </a:p>
          <a:p>
            <a:r>
              <a:rPr lang="en-US" altLang="en-US" dirty="0"/>
              <a:t>I</a:t>
            </a:r>
            <a:r>
              <a:rPr lang="en-US" altLang="en-US" baseline="-25000" dirty="0"/>
              <a:t>B</a:t>
            </a:r>
            <a:r>
              <a:rPr lang="en-US" altLang="en-US" dirty="0"/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0.01 I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endParaRPr lang="en-US" altLang="en-US" dirty="0"/>
          </a:p>
          <a:p>
            <a:r>
              <a:rPr lang="en-US" altLang="en-US" dirty="0"/>
              <a:t>KCL, I</a:t>
            </a:r>
            <a:r>
              <a:rPr lang="en-US" altLang="en-US" baseline="-25000" dirty="0"/>
              <a:t>E</a:t>
            </a:r>
            <a:r>
              <a:rPr lang="en-US" altLang="en-US" dirty="0"/>
              <a:t> = I</a:t>
            </a:r>
            <a:r>
              <a:rPr lang="en-US" altLang="en-US" baseline="-25000" dirty="0"/>
              <a:t>C</a:t>
            </a:r>
            <a:r>
              <a:rPr lang="en-US" altLang="en-US" dirty="0"/>
              <a:t> + I</a:t>
            </a:r>
            <a:r>
              <a:rPr lang="en-US" altLang="en-US" baseline="-25000" dirty="0"/>
              <a:t>B</a:t>
            </a:r>
            <a:endParaRPr lang="en-US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baseline="-25000" dirty="0"/>
          </a:p>
        </p:txBody>
      </p:sp>
      <p:pic>
        <p:nvPicPr>
          <p:cNvPr id="17412" name="Picture 2">
            <a:extLst>
              <a:ext uri="{FF2B5EF4-FFF2-40B4-BE49-F238E27FC236}">
                <a16:creationId xmlns:a16="http://schemas.microsoft.com/office/drawing/2014/main" id="{17607C79-A1B4-5EFC-DA4C-664E684F1B9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15336" y="1943879"/>
            <a:ext cx="1416698" cy="2559196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0F89CA-B145-8854-1025-CFEA1EC27C4A}"/>
              </a:ext>
            </a:extLst>
          </p:cNvPr>
          <p:cNvSpPr txBox="1">
            <a:spLocks/>
          </p:cNvSpPr>
          <p:nvPr/>
        </p:nvSpPr>
        <p:spPr>
          <a:xfrm>
            <a:off x="1449217" y="804889"/>
            <a:ext cx="9605635" cy="10593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BJT CURRENTS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60E4A2-762C-0E10-59FE-04DFA9E1363A}"/>
              </a:ext>
            </a:extLst>
          </p:cNvPr>
          <p:cNvSpPr txBox="1"/>
          <p:nvPr/>
        </p:nvSpPr>
        <p:spPr>
          <a:xfrm>
            <a:off x="7540821" y="4582760"/>
            <a:ext cx="21610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1.9. Conventional currents and voltages directions in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npn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BJT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536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>
            <a:extLst>
              <a:ext uri="{FF2B5EF4-FFF2-40B4-BE49-F238E27FC236}">
                <a16:creationId xmlns:a16="http://schemas.microsoft.com/office/drawing/2014/main" id="{D156809D-F387-EEF2-5609-6C21AB6E6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123" y="1165615"/>
            <a:ext cx="30051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BJT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 and 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748297A5-7578-43B7-D3F4-E7A2469DC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53" y="1822581"/>
            <a:ext cx="11793893" cy="4257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From Fig. 1. 9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en-US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E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= I</a:t>
            </a:r>
            <a:r>
              <a:rPr kumimoji="0" lang="en-US" altLang="en-US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B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+ I</a:t>
            </a:r>
            <a:r>
              <a:rPr kumimoji="0" lang="en-US" altLang="en-US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C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0" i="1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Define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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 = I</a:t>
            </a:r>
            <a:r>
              <a:rPr kumimoji="0" lang="en-US" altLang="en-US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C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/ I</a:t>
            </a:r>
            <a:r>
              <a:rPr kumimoji="0" lang="en-US" altLang="en-US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E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DC alpha is slightly less than 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Low power transistor </a:t>
            </a:r>
            <a:r>
              <a:rPr kumimoji="0" lang="el-G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α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dc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&gt; 0.99 and High power                					transistor </a:t>
            </a:r>
            <a:r>
              <a:rPr kumimoji="0" lang="el-G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α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dc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&gt; 0.95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Define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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 = I</a:t>
            </a:r>
            <a:r>
              <a:rPr kumimoji="0" lang="en-US" altLang="en-US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C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/ I</a:t>
            </a:r>
            <a:r>
              <a:rPr kumimoji="0" lang="en-US" altLang="en-US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B 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- known as a current gain </a:t>
            </a:r>
          </a:p>
        </p:txBody>
      </p:sp>
    </p:spTree>
    <p:extLst>
      <p:ext uri="{BB962C8B-B14F-4D97-AF65-F5344CB8AC3E}">
        <p14:creationId xmlns:p14="http://schemas.microsoft.com/office/powerpoint/2010/main" val="53767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>
            <a:extLst>
              <a:ext uri="{FF2B5EF4-FFF2-40B4-BE49-F238E27FC236}">
                <a16:creationId xmlns:a16="http://schemas.microsoft.com/office/drawing/2014/main" id="{D156809D-F387-EEF2-5609-6C21AB6E6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123" y="1165615"/>
            <a:ext cx="30051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BJT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 and 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5316085A-0AE6-4B54-D345-7755C1425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049" y="1871688"/>
            <a:ext cx="7583488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0" i="1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Then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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 = I</a:t>
            </a:r>
            <a:r>
              <a:rPr kumimoji="0" lang="en-US" altLang="en-US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C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/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(I</a:t>
            </a:r>
            <a:r>
              <a:rPr kumimoji="0" lang="en-US" altLang="en-US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E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–I</a:t>
            </a:r>
            <a:r>
              <a:rPr kumimoji="0" lang="en-US" altLang="en-US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C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) =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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/(1-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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Assignment – Derive </a:t>
            </a:r>
            <a:r>
              <a:rPr kumimoji="0" lang="en-US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 = </a:t>
            </a:r>
            <a:r>
              <a:rPr kumimoji="0" lang="en-US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/(1+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</a:t>
            </a:r>
            <a:r>
              <a:rPr kumimoji="0" lang="en-US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Then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en-US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C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=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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 I</a:t>
            </a:r>
            <a:r>
              <a:rPr kumimoji="0" lang="en-US" altLang="en-US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E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    &amp;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 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en-US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B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=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1-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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) I</a:t>
            </a:r>
            <a:r>
              <a:rPr kumimoji="0" lang="en-US" altLang="en-US" sz="2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E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85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" y="776360"/>
            <a:ext cx="121107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1.1 A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BJT has a collector current of 10 mA and base current of 40 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What is the current gain of the transistor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Solution: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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 = I</a:t>
            </a:r>
            <a:r>
              <a:rPr kumimoji="0" lang="en-US" altLang="en-US" sz="1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/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I</a:t>
            </a:r>
            <a:r>
              <a:rPr kumimoji="0" lang="en-US" altLang="en-US" sz="1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 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                  = 10 mA/40 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= 250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71755273-CAD4-785B-D787-1F3FCA75717E}"/>
              </a:ext>
            </a:extLst>
          </p:cNvPr>
          <p:cNvSpPr/>
          <p:nvPr/>
        </p:nvSpPr>
        <p:spPr>
          <a:xfrm>
            <a:off x="2707336" y="134747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Example Problems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7CE6C7-B960-E999-C693-FDF3DC344F01}"/>
              </a:ext>
            </a:extLst>
          </p:cNvPr>
          <p:cNvSpPr/>
          <p:nvPr/>
        </p:nvSpPr>
        <p:spPr>
          <a:xfrm>
            <a:off x="0" y="4327314"/>
            <a:ext cx="121107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1. 3 A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BJT has current gain of 175. If the base current is 0.1 mA, what is the emitter current?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Solution: From above problem, I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17.5 mA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Now,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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 = 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/(1+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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) implies 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 = 0.004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And 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</a:t>
            </a:r>
            <a:r>
              <a:rPr kumimoji="0" lang="en-US" altLang="en-US" sz="1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=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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 I</a:t>
            </a:r>
            <a:r>
              <a:rPr kumimoji="0" lang="en-US" altLang="en-US" sz="1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implies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I</a:t>
            </a:r>
            <a:r>
              <a:rPr kumimoji="0" lang="en-US" altLang="en-US" sz="1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= I</a:t>
            </a:r>
            <a:r>
              <a:rPr kumimoji="0" lang="en-US" altLang="en-US" sz="1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/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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 = 17.5 mA/0.994 = 17.6 mA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7A1A61-6B72-3374-AC46-B465A56A14D2}"/>
              </a:ext>
            </a:extLst>
          </p:cNvPr>
          <p:cNvSpPr/>
          <p:nvPr/>
        </p:nvSpPr>
        <p:spPr>
          <a:xfrm>
            <a:off x="152400" y="2704237"/>
            <a:ext cx="121107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1.2 A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BJT has current gain of 175. If the base current is 0.1 mA, what is the collector current?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Solution: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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 = I</a:t>
            </a:r>
            <a:r>
              <a:rPr kumimoji="0" lang="en-US" altLang="en-US" sz="1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/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I</a:t>
            </a:r>
            <a:r>
              <a:rPr kumimoji="0" lang="en-US" altLang="en-US" sz="1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 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Therefore,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I</a:t>
            </a:r>
            <a:r>
              <a:rPr kumimoji="0" lang="en-US" altLang="en-US" sz="1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=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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dc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</a:t>
            </a:r>
            <a:r>
              <a:rPr kumimoji="0" lang="en-US" altLang="en-US" sz="1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 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                  = 175 * 0.1 mA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= 17.5 mA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9549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0" y="1093156"/>
            <a:ext cx="12192000" cy="601860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BJT is modelled as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0" y="1695016"/>
            <a:ext cx="12192000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Voltage controlled voltage source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Current controlled voltage source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Current controlled current source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Voltage controlled current source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0" y="3831771"/>
            <a:ext cx="12192000" cy="546046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What is the current in BJT in cut-off region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0" y="4377817"/>
            <a:ext cx="1219199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&lt; 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Zero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3724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0" y="1093156"/>
            <a:ext cx="12192000" cy="601860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3. Which mode does BJT operate if B-E and B-C junctions are forward biased?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0" y="1695016"/>
            <a:ext cx="12192000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Saturation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Active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Cut-off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0" y="3788229"/>
            <a:ext cx="12192000" cy="589588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4. Which parameter shall be constant to plot input characteristics?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0" y="4377817"/>
            <a:ext cx="1219199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V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V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70479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62616-E55E-DAB7-B0A0-D8540B2F6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C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</a:t>
            </a:r>
          </a:p>
          <a:p>
            <a:pPr marL="0" indent="0">
              <a:buNone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A2ACF-481C-7213-C089-BDAC24390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ABCCC1-BF11-4F37-963E-1BCD5B23FD72}" type="slidenum">
              <a:rPr kumimoji="0" lang="en-IN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2200" b="0" i="0" u="none" strike="noStrike" kern="1200" cap="none" spc="0" normalizeH="0" baseline="0" noProof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F67DA82E-43B9-32C7-5D30-307DE1BBBD76}"/>
              </a:ext>
            </a:extLst>
          </p:cNvPr>
          <p:cNvSpPr/>
          <p:nvPr/>
        </p:nvSpPr>
        <p:spPr>
          <a:xfrm>
            <a:off x="3390635" y="118550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234863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116761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623" y="2146654"/>
            <a:ext cx="116431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Describe the regions and p-n junctions of bi-polar junction transistor.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Discuss the current mechanisms in BJT.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Obtain the expression for total current in BJT.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Draw the symbol of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npn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BJT and identify conventional current directions.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Derive the analogy between electron flow in BJT and jet flow in valve operated tube.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Obtain the relations between various current gains in BJT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574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18EFB-41ED-1A92-3082-97741E936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6E1DC3B4-0F38-F28A-3FC1-7ADE596CD0B7}"/>
              </a:ext>
            </a:extLst>
          </p:cNvPr>
          <p:cNvSpPr/>
          <p:nvPr/>
        </p:nvSpPr>
        <p:spPr>
          <a:xfrm>
            <a:off x="2124128" y="1172223"/>
            <a:ext cx="794374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REFERENCES FOR FURTHER LEARNING OF THE SESSION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17AD8B-925A-D096-09DA-AB754B090453}"/>
              </a:ext>
            </a:extLst>
          </p:cNvPr>
          <p:cNvSpPr txBox="1"/>
          <p:nvPr/>
        </p:nvSpPr>
        <p:spPr>
          <a:xfrm>
            <a:off x="1534940" y="2100679"/>
            <a:ext cx="9608234" cy="12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Reference Books: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Albert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Malvino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, David Bate, “Electronic Principles”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Robert L.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Boylestad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and Louis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Nashelsky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- “Electronic Devices and Circuit Theory”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5" name="Picture 2" descr="KL Deemed to be University Logo">
            <a:extLst>
              <a:ext uri="{FF2B5EF4-FFF2-40B4-BE49-F238E27FC236}">
                <a16:creationId xmlns:a16="http://schemas.microsoft.com/office/drawing/2014/main" id="{9D87F9B3-CF39-2B1F-1CD7-C15A75EA4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330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1098</Words>
  <Application>Microsoft Office PowerPoint</Application>
  <PresentationFormat>Widescreen</PresentationFormat>
  <Paragraphs>191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Arial</vt:lpstr>
      <vt:lpstr>BioRhyme ExtraBold</vt:lpstr>
      <vt:lpstr>Calibri</vt:lpstr>
      <vt:lpstr>Gill Sans MT</vt:lpstr>
      <vt:lpstr>Poppins</vt:lpstr>
      <vt:lpstr>Times</vt:lpstr>
      <vt:lpstr>Times New Roman</vt:lpstr>
      <vt:lpstr>Office Theme</vt:lpstr>
      <vt:lpstr>Gallery</vt:lpstr>
      <vt:lpstr>PowerPoint Presentation</vt:lpstr>
      <vt:lpstr>Session content</vt:lpstr>
      <vt:lpstr>PowerPoint Presentation</vt:lpstr>
      <vt:lpstr>Why bjt?</vt:lpstr>
      <vt:lpstr>PowerPoint Presentation</vt:lpstr>
      <vt:lpstr>BJT</vt:lpstr>
      <vt:lpstr>BJT</vt:lpstr>
      <vt:lpstr>BJT</vt:lpstr>
      <vt:lpstr>Unbiased bjt</vt:lpstr>
      <vt:lpstr>BIASED BJT</vt:lpstr>
      <vt:lpstr>PowerPoint Presentation</vt:lpstr>
      <vt:lpstr>Total CURRENT in BIASED BJT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GORLA VENKATA GANESH</cp:lastModifiedBy>
  <cp:revision>12</cp:revision>
  <dcterms:created xsi:type="dcterms:W3CDTF">2025-07-03T09:08:04Z</dcterms:created>
  <dcterms:modified xsi:type="dcterms:W3CDTF">2025-07-03T09:30:21Z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2025-07-03T00:00:00Z</vt:filetime>
  </property>
  <property fmtid="{D5CDD505-2E9C-101B-9397-08002B2CF9AE}" pid="3" name="LastSaved">
    <vt:filetime>2025-07-03T00:00:00Z</vt:filetime>
  </property>
  <property fmtid="{D5CDD505-2E9C-101B-9397-08002B2CF9AE}" pid="4" name="Producer">
    <vt:lpwstr>iLovePDF</vt:lpwstr>
  </property>
</Properties>
</file>