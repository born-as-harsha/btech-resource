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30"/>
  </p:notesMasterIdLst>
  <p:sldIdLst>
    <p:sldId id="281" r:id="rId3"/>
    <p:sldId id="308" r:id="rId4"/>
    <p:sldId id="30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DE7F7-2020-4392-A7DE-3478B4DD796E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7C250-5C30-4A7A-A110-9F88509C9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81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30750" y="465200"/>
            <a:ext cx="3730498" cy="971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246623" y="3868292"/>
            <a:ext cx="5937250" cy="13074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56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396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250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3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767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568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94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460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710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770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6125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6487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3678" y="465200"/>
            <a:ext cx="10124643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5844" y="1600276"/>
            <a:ext cx="7319645" cy="1978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85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28.png"/><Relationship Id="rId7" Type="http://schemas.openxmlformats.org/officeDocument/2006/relationships/image" Target="../media/image32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g"/><Relationship Id="rId5" Type="http://schemas.openxmlformats.org/officeDocument/2006/relationships/image" Target="../media/image48.jpg"/><Relationship Id="rId4" Type="http://schemas.openxmlformats.org/officeDocument/2006/relationships/image" Target="../media/image47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35.png"/><Relationship Id="rId3" Type="http://schemas.openxmlformats.org/officeDocument/2006/relationships/image" Target="../media/image49.jpg"/><Relationship Id="rId7" Type="http://schemas.openxmlformats.org/officeDocument/2006/relationships/image" Target="../media/image33.jpg"/><Relationship Id="rId12" Type="http://schemas.openxmlformats.org/officeDocument/2006/relationships/image" Target="../media/image28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g"/><Relationship Id="rId11" Type="http://schemas.openxmlformats.org/officeDocument/2006/relationships/image" Target="../media/image53.jpg"/><Relationship Id="rId5" Type="http://schemas.openxmlformats.org/officeDocument/2006/relationships/image" Target="../media/image50.png"/><Relationship Id="rId10" Type="http://schemas.openxmlformats.org/officeDocument/2006/relationships/image" Target="../media/image32.jpg"/><Relationship Id="rId4" Type="http://schemas.openxmlformats.org/officeDocument/2006/relationships/image" Target="../media/image24.jp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jp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jp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4.jp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jp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79.jpg"/><Relationship Id="rId4" Type="http://schemas.openxmlformats.org/officeDocument/2006/relationships/image" Target="../media/image33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29226" y="2820599"/>
            <a:ext cx="7948938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Analog electronic Circuit Design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23ec2104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Gill Sans MT" panose="020B0502020104020203"/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ill Sans MT" panose="020B0502020104020203"/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</a:rPr>
              <a:t>Small-Signal Operation and Models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l Sans MT" panose="020B0502020104020203"/>
              <a:ea typeface="+mn-ea"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itchFamily="2" charset="77"/>
              </a:rPr>
              <a:t>Department of ECE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099973" y="551148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Calibri"/>
                <a:cs typeface="Poppins" panose="00000500000000000000" pitchFamily="2" charset="0"/>
                <a:sym typeface="Calibri"/>
              </a:rPr>
              <a:t>Session - 07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Google Shape;476;p16">
            <a:extLst>
              <a:ext uri="{FF2B5EF4-FFF2-40B4-BE49-F238E27FC236}">
                <a16:creationId xmlns:a16="http://schemas.microsoft.com/office/drawing/2014/main" id="{BD962D83-B115-FC20-1289-5B661BED384C}"/>
              </a:ext>
            </a:extLst>
          </p:cNvPr>
          <p:cNvSpPr txBox="1"/>
          <p:nvPr/>
        </p:nvSpPr>
        <p:spPr>
          <a:xfrm>
            <a:off x="7099973" y="859631"/>
            <a:ext cx="247777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AY-2025-2026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ODD SEM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l Sans MT" panose="020B0502020104020203"/>
              <a:ea typeface="+mn-ea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39A5-5633-E116-AFEC-1DF4CABB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Session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3C4F1-2803-C707-E9AA-178504830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60375" indent="-447675">
              <a:lnSpc>
                <a:spcPct val="100000"/>
              </a:lnSpc>
              <a:spcBef>
                <a:spcPts val="775"/>
              </a:spcBef>
              <a:buFont typeface="Wingdings"/>
              <a:buChar char=""/>
              <a:tabLst>
                <a:tab pos="460375" algn="l"/>
              </a:tabLst>
            </a:pPr>
            <a:r>
              <a:rPr lang="en-US" sz="2400" b="1" spc="-45" dirty="0">
                <a:latin typeface="Calibri"/>
                <a:cs typeface="Calibri"/>
              </a:rPr>
              <a:t>Trans-</a:t>
            </a:r>
            <a:r>
              <a:rPr lang="en-US" sz="2400" b="1" spc="-10" dirty="0">
                <a:latin typeface="Calibri"/>
                <a:cs typeface="Calibri"/>
              </a:rPr>
              <a:t>conductance</a:t>
            </a:r>
            <a:endParaRPr lang="en-US" sz="24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675"/>
              </a:spcBef>
              <a:buFont typeface="Wingdings"/>
              <a:buChar char=""/>
              <a:tabLst>
                <a:tab pos="469900" algn="l"/>
              </a:tabLst>
            </a:pPr>
            <a:r>
              <a:rPr lang="en-US" sz="2400" b="1" dirty="0">
                <a:latin typeface="Calibri"/>
                <a:cs typeface="Calibri"/>
              </a:rPr>
              <a:t>Input</a:t>
            </a:r>
            <a:r>
              <a:rPr lang="en-US" sz="2400" b="1" spc="-5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Resistance</a:t>
            </a:r>
            <a:r>
              <a:rPr lang="en-US" sz="2400" b="1" spc="-6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at</a:t>
            </a:r>
            <a:r>
              <a:rPr lang="en-US" sz="2400" b="1" spc="-8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the</a:t>
            </a:r>
            <a:r>
              <a:rPr lang="en-US" sz="2400" b="1" spc="-55" dirty="0">
                <a:latin typeface="Calibri"/>
                <a:cs typeface="Calibri"/>
              </a:rPr>
              <a:t> </a:t>
            </a:r>
            <a:r>
              <a:rPr lang="en-US" sz="2400" b="1" spc="-20" dirty="0">
                <a:latin typeface="Calibri"/>
                <a:cs typeface="Calibri"/>
              </a:rPr>
              <a:t>Base</a:t>
            </a:r>
            <a:endParaRPr lang="en-US" sz="24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675"/>
              </a:spcBef>
              <a:buFont typeface="Wingdings"/>
              <a:buChar char=""/>
              <a:tabLst>
                <a:tab pos="469900" algn="l"/>
              </a:tabLst>
            </a:pPr>
            <a:r>
              <a:rPr lang="en-US" sz="2400" b="1" dirty="0">
                <a:latin typeface="Calibri"/>
                <a:cs typeface="Calibri"/>
              </a:rPr>
              <a:t>Input</a:t>
            </a:r>
            <a:r>
              <a:rPr lang="en-US" sz="2400" b="1" spc="-5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Resistance</a:t>
            </a:r>
            <a:r>
              <a:rPr lang="en-US" sz="2400" b="1" spc="-6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at</a:t>
            </a:r>
            <a:r>
              <a:rPr lang="en-US" sz="2400" b="1" spc="-8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the</a:t>
            </a:r>
            <a:r>
              <a:rPr lang="en-US" sz="2400" b="1" spc="-55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Emitter</a:t>
            </a:r>
            <a:endParaRPr lang="en-US" sz="24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670"/>
              </a:spcBef>
              <a:buFont typeface="Wingdings"/>
              <a:buChar char=""/>
              <a:tabLst>
                <a:tab pos="469900" algn="l"/>
              </a:tabLst>
            </a:pPr>
            <a:r>
              <a:rPr lang="en-US" sz="2400" b="1" spc="-20" dirty="0">
                <a:latin typeface="Calibri"/>
                <a:cs typeface="Calibri"/>
              </a:rPr>
              <a:t>Voltage</a:t>
            </a:r>
            <a:r>
              <a:rPr lang="en-US" sz="2400" b="1" spc="-95" dirty="0">
                <a:latin typeface="Calibri"/>
                <a:cs typeface="Calibri"/>
              </a:rPr>
              <a:t> </a:t>
            </a:r>
            <a:r>
              <a:rPr lang="en-US" sz="2400" b="1" spc="-20" dirty="0">
                <a:latin typeface="Calibri"/>
                <a:cs typeface="Calibri"/>
              </a:rPr>
              <a:t>Gain</a:t>
            </a:r>
            <a:endParaRPr lang="en-US" sz="24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675"/>
              </a:spcBef>
              <a:buFont typeface="Wingdings"/>
              <a:buChar char=""/>
              <a:tabLst>
                <a:tab pos="469900" algn="l"/>
              </a:tabLst>
            </a:pPr>
            <a:r>
              <a:rPr lang="en-US" sz="2400" b="1" dirty="0">
                <a:latin typeface="Calibri"/>
                <a:cs typeface="Calibri"/>
              </a:rPr>
              <a:t>Separating</a:t>
            </a:r>
            <a:r>
              <a:rPr lang="en-US" sz="2400" b="1" spc="-6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the</a:t>
            </a:r>
            <a:r>
              <a:rPr lang="en-US" sz="2400" b="1" spc="-5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Signal</a:t>
            </a:r>
            <a:r>
              <a:rPr lang="en-US" sz="2400" b="1" spc="-3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and</a:t>
            </a:r>
            <a:r>
              <a:rPr lang="en-US" sz="2400" b="1" spc="-5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the</a:t>
            </a:r>
            <a:r>
              <a:rPr lang="en-US" sz="2400" b="1" spc="-3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DC</a:t>
            </a:r>
            <a:r>
              <a:rPr lang="en-US" sz="2400" b="1" spc="-35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Quantities</a:t>
            </a:r>
            <a:endParaRPr lang="en-US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  <a:buFont typeface="Wingdings"/>
              <a:buChar char=""/>
            </a:pPr>
            <a:endParaRPr lang="en-US" sz="24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lang="en-US" sz="2400" b="1" spc="-10" dirty="0">
                <a:solidFill>
                  <a:srgbClr val="FF0000"/>
                </a:solidFill>
                <a:latin typeface="Calibri"/>
                <a:cs typeface="Calibri"/>
              </a:rPr>
              <a:t>Hybrid-</a:t>
            </a:r>
            <a:r>
              <a:rPr lang="en-US" sz="2400" b="1" dirty="0">
                <a:solidFill>
                  <a:srgbClr val="FF0000"/>
                </a:solidFill>
                <a:latin typeface="Calibri"/>
                <a:cs typeface="Calibri"/>
              </a:rPr>
              <a:t>π</a:t>
            </a:r>
            <a:r>
              <a:rPr lang="en-US" sz="24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400" b="1" spc="-1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endParaRPr lang="en-US" sz="2400" dirty="0">
              <a:latin typeface="Calibri"/>
              <a:cs typeface="Calibri"/>
            </a:endParaRPr>
          </a:p>
          <a:p>
            <a:pPr marL="460375" indent="-447675">
              <a:lnSpc>
                <a:spcPct val="100000"/>
              </a:lnSpc>
              <a:spcBef>
                <a:spcPts val="670"/>
              </a:spcBef>
              <a:buFont typeface="Wingdings"/>
              <a:buChar char=""/>
              <a:tabLst>
                <a:tab pos="460375" algn="l"/>
              </a:tabLst>
            </a:pPr>
            <a:r>
              <a:rPr lang="en-US" sz="2400" b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lang="en-US" sz="24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400" b="1" spc="-2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3BD68-38B6-EBC9-FAD4-A45D129C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ABCCC1-BF11-4F37-963E-1BCD5B23FD72}" type="slidenum">
              <a:rPr kumimoji="0" lang="en-IN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2200" b="0" i="0" u="none" strike="noStrike" kern="1200" cap="none" spc="0" normalizeH="0" baseline="0" noProof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01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1352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895079" y="533400"/>
            <a:ext cx="11215640" cy="79419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1200" dirty="0">
                <a:solidFill>
                  <a:prstClr val="black"/>
                </a:solidFill>
                <a:latin typeface="Gill Sans MT" panose="020B0502020104020203"/>
                <a:ea typeface="+mn-ea"/>
                <a:cs typeface="+mn-cs"/>
              </a:rPr>
              <a:t>To understand and analyze the small-signal behavior of Bipolar Junction Transistors (BJTs) using equivalent models for AC signal analysis.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053594" y="1432883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885748" y="1905000"/>
            <a:ext cx="11224971" cy="17567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algn="l" defTabSz="457200" rtl="0">
              <a:lnSpc>
                <a:spcPct val="200000"/>
              </a:lnSpc>
            </a:pPr>
            <a:r>
              <a:rPr lang="en-US" sz="1400" kern="1200" dirty="0">
                <a:solidFill>
                  <a:prstClr val="black"/>
                </a:solidFill>
                <a:latin typeface="Poppins"/>
                <a:ea typeface="+mn-ea"/>
                <a:cs typeface="Poppins"/>
              </a:rPr>
              <a:t>The </a:t>
            </a:r>
            <a:r>
              <a:rPr lang="en-US" sz="1400" dirty="0">
                <a:latin typeface="Poppins"/>
                <a:cs typeface="Poppins"/>
              </a:rPr>
              <a:t>Session</a:t>
            </a:r>
            <a:r>
              <a:rPr lang="en-US" sz="14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Poppins"/>
                <a:ea typeface="+mn-ea"/>
                <a:cs typeface="Poppins"/>
              </a:rPr>
              <a:t>Define small-signal operation in BJTs and its purpose.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Poppins"/>
                <a:ea typeface="+mn-ea"/>
                <a:cs typeface="Poppins"/>
              </a:rPr>
              <a:t>Explain the significance of small-signal models in amplifier analysis.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Poppins"/>
                <a:ea typeface="+mn-ea"/>
                <a:cs typeface="Poppins"/>
              </a:rPr>
              <a:t>Describe the components of Hybrid-π and T-models.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4592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315972" y="3770314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8652" y="4846140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936523" y="4269563"/>
            <a:ext cx="11196319" cy="17505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At the end of this session, learners will be able to: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Apply small-signal models for analyzing BJT amplifier circuits.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Derive and use small-signal parameters from DC operating points.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Choose the appropriate model (Hybrid-π or T-model) for different applications.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88060">
              <a:lnSpc>
                <a:spcPct val="100000"/>
              </a:lnSpc>
              <a:spcBef>
                <a:spcPts val="90"/>
              </a:spcBef>
            </a:pPr>
            <a:r>
              <a:rPr b="1" spc="-20" dirty="0">
                <a:latin typeface="Calibri"/>
                <a:cs typeface="Calibri"/>
              </a:rPr>
              <a:t>Small-</a:t>
            </a:r>
            <a:r>
              <a:rPr b="1" dirty="0">
                <a:latin typeface="Calibri"/>
                <a:cs typeface="Calibri"/>
              </a:rPr>
              <a:t>Signal</a:t>
            </a:r>
            <a:r>
              <a:rPr b="1" spc="-114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Operation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9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Models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71885" y="1203960"/>
            <a:ext cx="8184515" cy="5233670"/>
            <a:chOff x="1971885" y="1203960"/>
            <a:chExt cx="8184515" cy="52336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1885" y="1592507"/>
              <a:ext cx="3903741" cy="467571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22847" y="1671447"/>
              <a:ext cx="4132954" cy="46774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79720" y="1213104"/>
              <a:ext cx="2072639" cy="16459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375147" y="1208532"/>
              <a:ext cx="2082164" cy="1655445"/>
            </a:xfrm>
            <a:custGeom>
              <a:avLst/>
              <a:gdLst/>
              <a:ahLst/>
              <a:cxnLst/>
              <a:rect l="l" t="t" r="r" b="b"/>
              <a:pathLst>
                <a:path w="2082165" h="1655445">
                  <a:moveTo>
                    <a:pt x="0" y="1655064"/>
                  </a:moveTo>
                  <a:lnTo>
                    <a:pt x="2081783" y="1655064"/>
                  </a:lnTo>
                  <a:lnTo>
                    <a:pt x="2081783" y="0"/>
                  </a:lnTo>
                  <a:lnTo>
                    <a:pt x="0" y="0"/>
                  </a:lnTo>
                  <a:lnTo>
                    <a:pt x="0" y="1655064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96383" y="5330951"/>
              <a:ext cx="2426208" cy="10972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591811" y="5326380"/>
              <a:ext cx="2435860" cy="1106805"/>
            </a:xfrm>
            <a:custGeom>
              <a:avLst/>
              <a:gdLst/>
              <a:ahLst/>
              <a:cxnLst/>
              <a:rect l="l" t="t" r="r" b="b"/>
              <a:pathLst>
                <a:path w="2435859" h="1106804">
                  <a:moveTo>
                    <a:pt x="0" y="1106424"/>
                  </a:moveTo>
                  <a:lnTo>
                    <a:pt x="2435351" y="1106424"/>
                  </a:lnTo>
                  <a:lnTo>
                    <a:pt x="2435351" y="0"/>
                  </a:lnTo>
                  <a:lnTo>
                    <a:pt x="0" y="0"/>
                  </a:lnTo>
                  <a:lnTo>
                    <a:pt x="0" y="1106424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0983" y="342250"/>
            <a:ext cx="4195445" cy="139382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b="1" spc="-30" dirty="0">
                <a:latin typeface="Calibri"/>
                <a:cs typeface="Calibri"/>
              </a:rPr>
              <a:t>Transconductance</a:t>
            </a:r>
          </a:p>
          <a:p>
            <a:pPr marL="341630">
              <a:lnSpc>
                <a:spcPct val="100000"/>
              </a:lnSpc>
              <a:spcBef>
                <a:spcPts val="695"/>
              </a:spcBef>
            </a:pPr>
            <a:r>
              <a:rPr sz="3200" i="1" dirty="0">
                <a:latin typeface="Calibri"/>
                <a:cs typeface="Calibri"/>
              </a:rPr>
              <a:t>vBE</a:t>
            </a:r>
            <a:r>
              <a:rPr sz="3200" i="1" spc="-1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=</a:t>
            </a:r>
            <a:r>
              <a:rPr sz="3200" i="1" spc="-2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VBE</a:t>
            </a:r>
            <a:r>
              <a:rPr sz="3200" i="1" spc="-2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+</a:t>
            </a:r>
            <a:r>
              <a:rPr sz="3200" i="1" spc="-5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Calibri"/>
                <a:cs typeface="Calibri"/>
              </a:rPr>
              <a:t>vbe-</a:t>
            </a:r>
            <a:r>
              <a:rPr sz="3200" i="1" dirty="0">
                <a:latin typeface="Calibri"/>
                <a:cs typeface="Calibri"/>
              </a:rPr>
              <a:t>----</a:t>
            </a:r>
            <a:r>
              <a:rPr sz="3200" i="1" spc="-25" dirty="0">
                <a:latin typeface="Calibri"/>
                <a:cs typeface="Calibri"/>
              </a:rPr>
              <a:t>(1)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71472" y="1847088"/>
            <a:ext cx="4340860" cy="1447800"/>
            <a:chOff x="1871472" y="1847088"/>
            <a:chExt cx="4340860" cy="1447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3342" y="2005832"/>
              <a:ext cx="3923104" cy="108044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76044" y="1851660"/>
              <a:ext cx="4331335" cy="1438910"/>
            </a:xfrm>
            <a:custGeom>
              <a:avLst/>
              <a:gdLst/>
              <a:ahLst/>
              <a:cxnLst/>
              <a:rect l="l" t="t" r="r" b="b"/>
              <a:pathLst>
                <a:path w="4331335" h="1438910">
                  <a:moveTo>
                    <a:pt x="0" y="1438656"/>
                  </a:moveTo>
                  <a:lnTo>
                    <a:pt x="4331208" y="1438656"/>
                  </a:lnTo>
                  <a:lnTo>
                    <a:pt x="4331208" y="0"/>
                  </a:lnTo>
                  <a:lnTo>
                    <a:pt x="0" y="0"/>
                  </a:lnTo>
                  <a:lnTo>
                    <a:pt x="0" y="1438656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156959" y="1349102"/>
            <a:ext cx="3889375" cy="5018405"/>
            <a:chOff x="6156959" y="1349102"/>
            <a:chExt cx="3889375" cy="501840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9055" y="1349102"/>
              <a:ext cx="3406854" cy="40808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7924" y="5554540"/>
              <a:ext cx="2140471" cy="75631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161531" y="5423916"/>
              <a:ext cx="2606040" cy="939165"/>
            </a:xfrm>
            <a:custGeom>
              <a:avLst/>
              <a:gdLst/>
              <a:ahLst/>
              <a:cxnLst/>
              <a:rect l="l" t="t" r="r" b="b"/>
              <a:pathLst>
                <a:path w="2606040" h="939164">
                  <a:moveTo>
                    <a:pt x="0" y="938784"/>
                  </a:moveTo>
                  <a:lnTo>
                    <a:pt x="2606040" y="938784"/>
                  </a:lnTo>
                  <a:lnTo>
                    <a:pt x="2606040" y="0"/>
                  </a:lnTo>
                  <a:lnTo>
                    <a:pt x="0" y="0"/>
                  </a:lnTo>
                  <a:lnTo>
                    <a:pt x="0" y="938784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301239" y="3419855"/>
            <a:ext cx="2783205" cy="948055"/>
            <a:chOff x="2301239" y="3419855"/>
            <a:chExt cx="2783205" cy="94805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0336" y="3692105"/>
              <a:ext cx="1977168" cy="5963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05811" y="3424427"/>
              <a:ext cx="2773680" cy="939165"/>
            </a:xfrm>
            <a:custGeom>
              <a:avLst/>
              <a:gdLst/>
              <a:ahLst/>
              <a:cxnLst/>
              <a:rect l="l" t="t" r="r" b="b"/>
              <a:pathLst>
                <a:path w="2773679" h="939164">
                  <a:moveTo>
                    <a:pt x="0" y="938784"/>
                  </a:moveTo>
                  <a:lnTo>
                    <a:pt x="2773680" y="938784"/>
                  </a:lnTo>
                  <a:lnTo>
                    <a:pt x="2773680" y="0"/>
                  </a:lnTo>
                  <a:lnTo>
                    <a:pt x="0" y="0"/>
                  </a:lnTo>
                  <a:lnTo>
                    <a:pt x="0" y="938784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881883" y="4430267"/>
            <a:ext cx="1643380" cy="46355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20"/>
              </a:spcBef>
              <a:tabLst>
                <a:tab pos="904875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vbe</a:t>
            </a:r>
            <a:r>
              <a:rPr sz="2400" i="1" dirty="0">
                <a:latin typeface="Calibri"/>
                <a:cs typeface="Calibri"/>
              </a:rPr>
              <a:t>	˂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VT,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17997" y="3588511"/>
            <a:ext cx="843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Calibri"/>
                <a:cs typeface="Calibri"/>
              </a:rPr>
              <a:t>----</a:t>
            </a:r>
            <a:r>
              <a:rPr sz="2400" b="1" i="1" spc="-10" dirty="0">
                <a:latin typeface="Calibri"/>
                <a:cs typeface="Calibri"/>
              </a:rPr>
              <a:t>-</a:t>
            </a:r>
            <a:r>
              <a:rPr sz="2400" b="1" i="1" spc="-25" dirty="0">
                <a:latin typeface="Calibri"/>
                <a:cs typeface="Calibri"/>
              </a:rPr>
              <a:t>(2)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05392" y="5661152"/>
            <a:ext cx="843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0" dirty="0">
                <a:latin typeface="Calibri"/>
                <a:cs typeface="Calibri"/>
              </a:rPr>
              <a:t>-----</a:t>
            </a:r>
            <a:r>
              <a:rPr sz="2400" b="1" i="1" spc="-25" dirty="0">
                <a:latin typeface="Calibri"/>
                <a:cs typeface="Calibri"/>
              </a:rPr>
              <a:t>(3)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95871" y="356615"/>
            <a:ext cx="3889247" cy="82296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4000" y="5285232"/>
            <a:ext cx="4389120" cy="8567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09650">
              <a:lnSpc>
                <a:spcPct val="100000"/>
              </a:lnSpc>
              <a:spcBef>
                <a:spcPts val="90"/>
              </a:spcBef>
            </a:pPr>
            <a:r>
              <a:rPr b="1" spc="-30" dirty="0">
                <a:latin typeface="Calibri"/>
                <a:cs typeface="Calibri"/>
              </a:rPr>
              <a:t>Transconductance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57983" y="3563111"/>
            <a:ext cx="2612390" cy="948055"/>
            <a:chOff x="2157983" y="3563111"/>
            <a:chExt cx="2612390" cy="9480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8652" y="3698308"/>
              <a:ext cx="2137959" cy="75631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62555" y="3567683"/>
              <a:ext cx="2603500" cy="939165"/>
            </a:xfrm>
            <a:custGeom>
              <a:avLst/>
              <a:gdLst/>
              <a:ahLst/>
              <a:cxnLst/>
              <a:rect l="l" t="t" r="r" b="b"/>
              <a:pathLst>
                <a:path w="2603500" h="939164">
                  <a:moveTo>
                    <a:pt x="0" y="938783"/>
                  </a:moveTo>
                  <a:lnTo>
                    <a:pt x="2602992" y="938783"/>
                  </a:lnTo>
                  <a:lnTo>
                    <a:pt x="2602992" y="0"/>
                  </a:lnTo>
                  <a:lnTo>
                    <a:pt x="0" y="0"/>
                  </a:lnTo>
                  <a:lnTo>
                    <a:pt x="0" y="938783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7104" y="1213103"/>
            <a:ext cx="4389120" cy="85672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738883" y="2144267"/>
            <a:ext cx="8071484" cy="1201420"/>
          </a:xfrm>
          <a:custGeom>
            <a:avLst/>
            <a:gdLst/>
            <a:ahLst/>
            <a:cxnLst/>
            <a:rect l="l" t="t" r="r" b="b"/>
            <a:pathLst>
              <a:path w="8071484" h="1201420">
                <a:moveTo>
                  <a:pt x="0" y="1200912"/>
                </a:moveTo>
                <a:lnTo>
                  <a:pt x="8071104" y="1200912"/>
                </a:lnTo>
                <a:lnTo>
                  <a:pt x="8071104" y="0"/>
                </a:lnTo>
                <a:lnTo>
                  <a:pt x="0" y="0"/>
                </a:lnTo>
                <a:lnTo>
                  <a:pt x="0" y="1200912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084064" y="3846576"/>
            <a:ext cx="881380" cy="307975"/>
            <a:chOff x="5084064" y="3846576"/>
            <a:chExt cx="881380" cy="307975"/>
          </a:xfrm>
        </p:grpSpPr>
        <p:sp>
          <p:nvSpPr>
            <p:cNvPr id="9" name="object 9"/>
            <p:cNvSpPr/>
            <p:nvPr/>
          </p:nvSpPr>
          <p:spPr>
            <a:xfrm>
              <a:off x="5096256" y="3858768"/>
              <a:ext cx="856615" cy="283845"/>
            </a:xfrm>
            <a:custGeom>
              <a:avLst/>
              <a:gdLst/>
              <a:ahLst/>
              <a:cxnLst/>
              <a:rect l="l" t="t" r="r" b="b"/>
              <a:pathLst>
                <a:path w="856614" h="283845">
                  <a:moveTo>
                    <a:pt x="714756" y="0"/>
                  </a:moveTo>
                  <a:lnTo>
                    <a:pt x="714756" y="70865"/>
                  </a:lnTo>
                  <a:lnTo>
                    <a:pt x="0" y="70865"/>
                  </a:lnTo>
                  <a:lnTo>
                    <a:pt x="0" y="212597"/>
                  </a:lnTo>
                  <a:lnTo>
                    <a:pt x="714756" y="212597"/>
                  </a:lnTo>
                  <a:lnTo>
                    <a:pt x="714756" y="283463"/>
                  </a:lnTo>
                  <a:lnTo>
                    <a:pt x="856488" y="141731"/>
                  </a:lnTo>
                  <a:lnTo>
                    <a:pt x="71475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96256" y="3858768"/>
              <a:ext cx="856615" cy="283845"/>
            </a:xfrm>
            <a:custGeom>
              <a:avLst/>
              <a:gdLst/>
              <a:ahLst/>
              <a:cxnLst/>
              <a:rect l="l" t="t" r="r" b="b"/>
              <a:pathLst>
                <a:path w="856614" h="283845">
                  <a:moveTo>
                    <a:pt x="0" y="70865"/>
                  </a:moveTo>
                  <a:lnTo>
                    <a:pt x="714756" y="70865"/>
                  </a:lnTo>
                  <a:lnTo>
                    <a:pt x="714756" y="0"/>
                  </a:lnTo>
                  <a:lnTo>
                    <a:pt x="856488" y="141731"/>
                  </a:lnTo>
                  <a:lnTo>
                    <a:pt x="714756" y="283463"/>
                  </a:lnTo>
                  <a:lnTo>
                    <a:pt x="714756" y="212597"/>
                  </a:lnTo>
                  <a:lnTo>
                    <a:pt x="0" y="212597"/>
                  </a:lnTo>
                  <a:lnTo>
                    <a:pt x="0" y="70865"/>
                  </a:lnTo>
                  <a:close/>
                </a:path>
              </a:pathLst>
            </a:custGeom>
            <a:ln w="24384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013703" y="3489959"/>
            <a:ext cx="2947670" cy="1091565"/>
            <a:chOff x="6013703" y="3489959"/>
            <a:chExt cx="2947670" cy="109156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08616" y="3677919"/>
              <a:ext cx="2143264" cy="76890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018275" y="3494531"/>
              <a:ext cx="2938780" cy="1082040"/>
            </a:xfrm>
            <a:custGeom>
              <a:avLst/>
              <a:gdLst/>
              <a:ahLst/>
              <a:cxnLst/>
              <a:rect l="l" t="t" r="r" b="b"/>
              <a:pathLst>
                <a:path w="2938779" h="1082039">
                  <a:moveTo>
                    <a:pt x="0" y="1082039"/>
                  </a:moveTo>
                  <a:lnTo>
                    <a:pt x="2938272" y="1082039"/>
                  </a:lnTo>
                  <a:lnTo>
                    <a:pt x="2938272" y="0"/>
                  </a:lnTo>
                  <a:lnTo>
                    <a:pt x="0" y="0"/>
                  </a:lnTo>
                  <a:lnTo>
                    <a:pt x="0" y="1082039"/>
                  </a:lnTo>
                  <a:close/>
                </a:path>
              </a:pathLst>
            </a:custGeom>
            <a:ln w="914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29435" y="1515871"/>
            <a:ext cx="8190865" cy="383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90830" algn="r">
              <a:lnSpc>
                <a:spcPct val="100000"/>
              </a:lnSpc>
              <a:spcBef>
                <a:spcPts val="100"/>
              </a:spcBef>
            </a:pPr>
            <a:r>
              <a:rPr sz="2400" b="1" i="1" spc="-10" dirty="0">
                <a:latin typeface="Calibri"/>
                <a:cs typeface="Calibri"/>
              </a:rPr>
              <a:t>----</a:t>
            </a:r>
            <a:r>
              <a:rPr sz="2400" b="1" i="1" dirty="0">
                <a:latin typeface="Calibri"/>
                <a:cs typeface="Calibri"/>
              </a:rPr>
              <a:t>-</a:t>
            </a:r>
            <a:r>
              <a:rPr sz="2400" b="1" i="1" spc="-25" dirty="0">
                <a:latin typeface="Calibri"/>
                <a:cs typeface="Calibri"/>
              </a:rPr>
              <a:t>(3)</a:t>
            </a:r>
            <a:endParaRPr sz="2400">
              <a:latin typeface="Calibri"/>
              <a:cs typeface="Calibri"/>
            </a:endParaRPr>
          </a:p>
          <a:p>
            <a:pPr marR="291465" algn="just">
              <a:lnSpc>
                <a:spcPct val="100000"/>
              </a:lnSpc>
              <a:spcBef>
                <a:spcPts val="2185"/>
              </a:spcBef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15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approximation,</a:t>
            </a:r>
            <a:r>
              <a:rPr sz="2400" spc="1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15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valid</a:t>
            </a:r>
            <a:r>
              <a:rPr sz="2400" spc="1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1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135" dirty="0">
                <a:latin typeface="Calibri"/>
                <a:cs typeface="Calibri"/>
              </a:rPr>
              <a:t>  </a:t>
            </a:r>
            <a:r>
              <a:rPr sz="2400" i="1" dirty="0">
                <a:latin typeface="Calibri"/>
                <a:cs typeface="Calibri"/>
              </a:rPr>
              <a:t>vbe</a:t>
            </a:r>
            <a:r>
              <a:rPr sz="2400" i="1" spc="165" dirty="0">
                <a:latin typeface="Calibri"/>
                <a:cs typeface="Calibri"/>
              </a:rPr>
              <a:t>  </a:t>
            </a:r>
            <a:r>
              <a:rPr sz="2400" i="1" dirty="0">
                <a:latin typeface="Calibri"/>
                <a:cs typeface="Calibri"/>
              </a:rPr>
              <a:t>less</a:t>
            </a:r>
            <a:r>
              <a:rPr sz="2400" i="1" spc="145" dirty="0">
                <a:latin typeface="Calibri"/>
                <a:cs typeface="Calibri"/>
              </a:rPr>
              <a:t>  </a:t>
            </a:r>
            <a:r>
              <a:rPr sz="2400" i="1" spc="-20" dirty="0">
                <a:latin typeface="Calibri"/>
                <a:cs typeface="Calibri"/>
              </a:rPr>
              <a:t>than </a:t>
            </a:r>
            <a:r>
              <a:rPr sz="2400" i="1" dirty="0">
                <a:latin typeface="Calibri"/>
                <a:cs typeface="Calibri"/>
              </a:rPr>
              <a:t>approximately</a:t>
            </a:r>
            <a:r>
              <a:rPr sz="2400" i="1" spc="254" dirty="0">
                <a:latin typeface="Calibri"/>
                <a:cs typeface="Calibri"/>
              </a:rPr>
              <a:t>  </a:t>
            </a:r>
            <a:r>
              <a:rPr sz="2400" i="1" dirty="0">
                <a:latin typeface="Calibri"/>
                <a:cs typeface="Calibri"/>
              </a:rPr>
              <a:t>10</a:t>
            </a:r>
            <a:r>
              <a:rPr sz="2400" i="1" spc="250" dirty="0">
                <a:latin typeface="Calibri"/>
                <a:cs typeface="Calibri"/>
              </a:rPr>
              <a:t>  </a:t>
            </a:r>
            <a:r>
              <a:rPr sz="2400" i="1" dirty="0">
                <a:latin typeface="Calibri"/>
                <a:cs typeface="Calibri"/>
              </a:rPr>
              <a:t>mV,</a:t>
            </a:r>
            <a:r>
              <a:rPr sz="2400" i="1" spc="235" dirty="0">
                <a:latin typeface="Calibri"/>
                <a:cs typeface="Calibri"/>
              </a:rPr>
              <a:t>  </a:t>
            </a:r>
            <a:r>
              <a:rPr sz="2400" i="1" dirty="0">
                <a:latin typeface="Calibri"/>
                <a:cs typeface="Calibri"/>
              </a:rPr>
              <a:t>is</a:t>
            </a:r>
            <a:r>
              <a:rPr sz="2400" i="1" spc="250" dirty="0">
                <a:latin typeface="Calibri"/>
                <a:cs typeface="Calibri"/>
              </a:rPr>
              <a:t>  </a:t>
            </a:r>
            <a:r>
              <a:rPr sz="2400" i="1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eferred</a:t>
            </a:r>
            <a:r>
              <a:rPr sz="2400" spc="2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2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50" dirty="0">
                <a:latin typeface="Calibri"/>
                <a:cs typeface="Calibri"/>
              </a:rPr>
              <a:t>  </a:t>
            </a:r>
            <a:r>
              <a:rPr sz="2400" b="1" spc="-10" dirty="0">
                <a:latin typeface="Calibri"/>
                <a:cs typeface="Calibri"/>
              </a:rPr>
              <a:t>small-signal approximation.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24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2400" b="1" i="1" spc="-10" dirty="0">
                <a:latin typeface="Calibri"/>
                <a:cs typeface="Calibri"/>
              </a:rPr>
              <a:t>----</a:t>
            </a:r>
            <a:r>
              <a:rPr sz="2400" b="1" i="1" dirty="0">
                <a:latin typeface="Calibri"/>
                <a:cs typeface="Calibri"/>
              </a:rPr>
              <a:t>-</a:t>
            </a:r>
            <a:r>
              <a:rPr sz="2400" b="1" i="1" spc="-25" dirty="0">
                <a:latin typeface="Calibri"/>
                <a:cs typeface="Calibri"/>
              </a:rPr>
              <a:t>(4)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2400">
              <a:latin typeface="Calibri"/>
              <a:cs typeface="Calibri"/>
            </a:endParaRPr>
          </a:p>
          <a:p>
            <a:pPr marL="213995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Thus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collector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current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composed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dc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bias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</a:t>
            </a:r>
            <a:endParaRPr sz="2400">
              <a:latin typeface="Calibri"/>
              <a:cs typeface="Calibri"/>
            </a:endParaRPr>
          </a:p>
          <a:p>
            <a:pPr marL="213995">
              <a:lnSpc>
                <a:spcPct val="100000"/>
              </a:lnSpc>
              <a:spcBef>
                <a:spcPts val="5"/>
              </a:spcBef>
            </a:pPr>
            <a:r>
              <a:rPr sz="2400" i="1" dirty="0">
                <a:latin typeface="Calibri"/>
                <a:cs typeface="Calibri"/>
              </a:rPr>
              <a:t>IC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and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signal</a:t>
            </a:r>
            <a:r>
              <a:rPr sz="2400" i="1" spc="-1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component </a:t>
            </a:r>
            <a:r>
              <a:rPr sz="2400" i="1" dirty="0">
                <a:latin typeface="Calibri"/>
                <a:cs typeface="Calibri"/>
              </a:rPr>
              <a:t>ic</a:t>
            </a:r>
            <a:r>
              <a:rPr sz="2400" i="1" spc="-50" dirty="0">
                <a:latin typeface="Calibri"/>
                <a:cs typeface="Calibri"/>
              </a:rPr>
              <a:t> ,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14088" y="5419344"/>
            <a:ext cx="2517775" cy="1247140"/>
            <a:chOff x="4514088" y="5419344"/>
            <a:chExt cx="2517775" cy="124714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3232" y="5428488"/>
              <a:ext cx="2142308" cy="12283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518660" y="5423916"/>
              <a:ext cx="2508885" cy="1237615"/>
            </a:xfrm>
            <a:custGeom>
              <a:avLst/>
              <a:gdLst/>
              <a:ahLst/>
              <a:cxnLst/>
              <a:rect l="l" t="t" r="r" b="b"/>
              <a:pathLst>
                <a:path w="2508884" h="1237615">
                  <a:moveTo>
                    <a:pt x="0" y="1237488"/>
                  </a:moveTo>
                  <a:lnTo>
                    <a:pt x="2508504" y="1237488"/>
                  </a:lnTo>
                  <a:lnTo>
                    <a:pt x="2508504" y="0"/>
                  </a:lnTo>
                  <a:lnTo>
                    <a:pt x="0" y="0"/>
                  </a:lnTo>
                  <a:lnTo>
                    <a:pt x="0" y="1237488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78785">
              <a:lnSpc>
                <a:spcPct val="100000"/>
              </a:lnSpc>
              <a:spcBef>
                <a:spcPts val="90"/>
              </a:spcBef>
            </a:pPr>
            <a:r>
              <a:rPr b="1" spc="-35" dirty="0">
                <a:latin typeface="Calibri"/>
                <a:cs typeface="Calibri"/>
              </a:rPr>
              <a:t>Transconductance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3732" y="2661869"/>
            <a:ext cx="89141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equation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relates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signal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collector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corresponding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base–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emitter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signal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voltage.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rewritten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27703" y="1203960"/>
            <a:ext cx="2520950" cy="1247140"/>
            <a:chOff x="3727703" y="1203960"/>
            <a:chExt cx="2520950" cy="12471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6847" y="1213104"/>
              <a:ext cx="2144921" cy="12283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32275" y="1208532"/>
              <a:ext cx="2512060" cy="1237615"/>
            </a:xfrm>
            <a:custGeom>
              <a:avLst/>
              <a:gdLst/>
              <a:ahLst/>
              <a:cxnLst/>
              <a:rect l="l" t="t" r="r" b="b"/>
              <a:pathLst>
                <a:path w="2512060" h="1237614">
                  <a:moveTo>
                    <a:pt x="0" y="1237488"/>
                  </a:moveTo>
                  <a:lnTo>
                    <a:pt x="2511552" y="1237488"/>
                  </a:lnTo>
                  <a:lnTo>
                    <a:pt x="2511552" y="0"/>
                  </a:lnTo>
                  <a:lnTo>
                    <a:pt x="0" y="0"/>
                  </a:lnTo>
                  <a:lnTo>
                    <a:pt x="0" y="1237488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944111" y="3419855"/>
            <a:ext cx="2731135" cy="923925"/>
            <a:chOff x="3944111" y="3419855"/>
            <a:chExt cx="2731135" cy="92392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3255" y="3614693"/>
              <a:ext cx="2225821" cy="58029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948683" y="3424427"/>
              <a:ext cx="2722245" cy="914400"/>
            </a:xfrm>
            <a:custGeom>
              <a:avLst/>
              <a:gdLst/>
              <a:ahLst/>
              <a:cxnLst/>
              <a:rect l="l" t="t" r="r" b="b"/>
              <a:pathLst>
                <a:path w="2722245" h="914400">
                  <a:moveTo>
                    <a:pt x="0" y="914400"/>
                  </a:moveTo>
                  <a:lnTo>
                    <a:pt x="2721864" y="914400"/>
                  </a:lnTo>
                  <a:lnTo>
                    <a:pt x="2721864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013447" y="3276600"/>
            <a:ext cx="2447925" cy="1091565"/>
            <a:chOff x="7013447" y="3276600"/>
            <a:chExt cx="2447925" cy="109156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26248" y="3285744"/>
              <a:ext cx="1639747" cy="107289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018019" y="3281172"/>
              <a:ext cx="2438400" cy="1082040"/>
            </a:xfrm>
            <a:custGeom>
              <a:avLst/>
              <a:gdLst/>
              <a:ahLst/>
              <a:cxnLst/>
              <a:rect l="l" t="t" r="r" b="b"/>
              <a:pathLst>
                <a:path w="2438400" h="1082039">
                  <a:moveTo>
                    <a:pt x="0" y="1082039"/>
                  </a:moveTo>
                  <a:lnTo>
                    <a:pt x="2438400" y="1082039"/>
                  </a:lnTo>
                  <a:lnTo>
                    <a:pt x="2438400" y="0"/>
                  </a:lnTo>
                  <a:lnTo>
                    <a:pt x="0" y="0"/>
                  </a:lnTo>
                  <a:lnTo>
                    <a:pt x="0" y="1082039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371088" y="4492752"/>
            <a:ext cx="2974975" cy="1231900"/>
            <a:chOff x="3371088" y="4492752"/>
            <a:chExt cx="2974975" cy="123190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21020" y="4501896"/>
              <a:ext cx="2393405" cy="98454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75660" y="4497324"/>
              <a:ext cx="2966085" cy="1222375"/>
            </a:xfrm>
            <a:custGeom>
              <a:avLst/>
              <a:gdLst/>
              <a:ahLst/>
              <a:cxnLst/>
              <a:rect l="l" t="t" r="r" b="b"/>
              <a:pathLst>
                <a:path w="2966085" h="1222375">
                  <a:moveTo>
                    <a:pt x="0" y="1222248"/>
                  </a:moveTo>
                  <a:lnTo>
                    <a:pt x="2965704" y="1222248"/>
                  </a:lnTo>
                  <a:lnTo>
                    <a:pt x="2965704" y="0"/>
                  </a:lnTo>
                  <a:lnTo>
                    <a:pt x="0" y="0"/>
                  </a:lnTo>
                  <a:lnTo>
                    <a:pt x="0" y="1222248"/>
                  </a:lnTo>
                  <a:close/>
                </a:path>
              </a:pathLst>
            </a:custGeom>
            <a:ln w="914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78785">
              <a:lnSpc>
                <a:spcPct val="100000"/>
              </a:lnSpc>
              <a:spcBef>
                <a:spcPts val="90"/>
              </a:spcBef>
            </a:pPr>
            <a:r>
              <a:rPr b="1" spc="-35" dirty="0">
                <a:latin typeface="Calibri"/>
                <a:cs typeface="Calibri"/>
              </a:rPr>
              <a:t>Transconductance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25908" y="1297077"/>
            <a:ext cx="7362825" cy="5122545"/>
            <a:chOff x="2625908" y="1297077"/>
            <a:chExt cx="7362825" cy="51225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5908" y="1297077"/>
              <a:ext cx="6520842" cy="51223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22591" y="4785360"/>
              <a:ext cx="2956559" cy="12161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018020" y="4780787"/>
              <a:ext cx="2966085" cy="1225550"/>
            </a:xfrm>
            <a:custGeom>
              <a:avLst/>
              <a:gdLst/>
              <a:ahLst/>
              <a:cxnLst/>
              <a:rect l="l" t="t" r="r" b="b"/>
              <a:pathLst>
                <a:path w="2966084" h="1225550">
                  <a:moveTo>
                    <a:pt x="0" y="1225296"/>
                  </a:moveTo>
                  <a:lnTo>
                    <a:pt x="2965704" y="1225296"/>
                  </a:lnTo>
                  <a:lnTo>
                    <a:pt x="2965704" y="0"/>
                  </a:lnTo>
                  <a:lnTo>
                    <a:pt x="0" y="0"/>
                  </a:lnTo>
                  <a:lnTo>
                    <a:pt x="0" y="1225296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0520" y="465200"/>
            <a:ext cx="640905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Input</a:t>
            </a:r>
            <a:r>
              <a:rPr spc="-70" dirty="0"/>
              <a:t> </a:t>
            </a:r>
            <a:r>
              <a:rPr spc="-20" dirty="0"/>
              <a:t>Resistance</a:t>
            </a:r>
            <a:r>
              <a:rPr spc="-80" dirty="0"/>
              <a:t> </a:t>
            </a:r>
            <a:r>
              <a:rPr dirty="0"/>
              <a:t>at</a:t>
            </a:r>
            <a:r>
              <a:rPr spc="-10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spc="-20" dirty="0"/>
              <a:t>Base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8744" y="1613771"/>
            <a:ext cx="2527924" cy="61531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8102" y="2946723"/>
            <a:ext cx="1606731" cy="32170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097523" y="1418844"/>
            <a:ext cx="0" cy="4940935"/>
          </a:xfrm>
          <a:custGeom>
            <a:avLst/>
            <a:gdLst/>
            <a:ahLst/>
            <a:cxnLst/>
            <a:rect l="l" t="t" r="r" b="b"/>
            <a:pathLst>
              <a:path h="4940935">
                <a:moveTo>
                  <a:pt x="0" y="0"/>
                </a:moveTo>
                <a:lnTo>
                  <a:pt x="0" y="4940312"/>
                </a:lnTo>
              </a:path>
            </a:pathLst>
          </a:custGeom>
          <a:ln w="57912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45739" y="2447925"/>
            <a:ext cx="5213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Thus,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2258" y="3591559"/>
            <a:ext cx="4701540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51435">
              <a:lnSpc>
                <a:spcPct val="100000"/>
              </a:lnSpc>
              <a:spcBef>
                <a:spcPts val="90"/>
              </a:spcBef>
              <a:tabLst>
                <a:tab pos="853440" algn="l"/>
                <a:tab pos="1192530" algn="l"/>
                <a:tab pos="1484630" algn="l"/>
                <a:tab pos="2195195" algn="l"/>
                <a:tab pos="2734945" algn="l"/>
                <a:tab pos="3079115" algn="l"/>
                <a:tab pos="3609975" algn="l"/>
                <a:tab pos="4082415" algn="l"/>
              </a:tabLst>
            </a:pPr>
            <a:r>
              <a:rPr sz="2000" spc="-10" dirty="0">
                <a:latin typeface="Calibri"/>
                <a:cs typeface="Calibri"/>
              </a:rPr>
              <a:t>where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i="1" spc="-25" dirty="0">
                <a:latin typeface="Calibri"/>
                <a:cs typeface="Calibri"/>
              </a:rPr>
              <a:t>IB</a:t>
            </a:r>
            <a:r>
              <a:rPr sz="2000" i="1" dirty="0">
                <a:latin typeface="Calibri"/>
                <a:cs typeface="Calibri"/>
              </a:rPr>
              <a:t>	</a:t>
            </a:r>
            <a:r>
              <a:rPr sz="2000" i="1" spc="-25" dirty="0">
                <a:latin typeface="Calibri"/>
                <a:cs typeface="Calibri"/>
              </a:rPr>
              <a:t>is</a:t>
            </a:r>
            <a:r>
              <a:rPr sz="2000" i="1" dirty="0">
                <a:latin typeface="Calibri"/>
                <a:cs typeface="Calibri"/>
              </a:rPr>
              <a:t>	</a:t>
            </a:r>
            <a:r>
              <a:rPr sz="2000" i="1" spc="-10" dirty="0">
                <a:latin typeface="Calibri"/>
                <a:cs typeface="Calibri"/>
              </a:rPr>
              <a:t>equal</a:t>
            </a:r>
            <a:r>
              <a:rPr sz="2000" i="1" dirty="0">
                <a:latin typeface="Calibri"/>
                <a:cs typeface="Calibri"/>
              </a:rPr>
              <a:t>	</a:t>
            </a:r>
            <a:r>
              <a:rPr sz="2000" i="1" spc="-20" dirty="0">
                <a:latin typeface="Calibri"/>
                <a:cs typeface="Calibri"/>
              </a:rPr>
              <a:t>Ic/β</a:t>
            </a:r>
            <a:r>
              <a:rPr sz="2000" i="1" dirty="0">
                <a:latin typeface="Calibri"/>
                <a:cs typeface="Calibri"/>
              </a:rPr>
              <a:t>	</a:t>
            </a:r>
            <a:r>
              <a:rPr sz="2000" i="1" spc="-25" dirty="0">
                <a:latin typeface="Calibri"/>
                <a:cs typeface="Calibri"/>
              </a:rPr>
              <a:t>to</a:t>
            </a:r>
            <a:r>
              <a:rPr sz="2000" i="1" dirty="0">
                <a:latin typeface="Calibri"/>
                <a:cs typeface="Calibri"/>
              </a:rPr>
              <a:t>	</a:t>
            </a:r>
            <a:r>
              <a:rPr sz="2000" i="1" spc="-25" dirty="0">
                <a:latin typeface="Calibri"/>
                <a:cs typeface="Calibri"/>
              </a:rPr>
              <a:t>and</a:t>
            </a:r>
            <a:r>
              <a:rPr sz="2000" i="1" dirty="0">
                <a:latin typeface="Calibri"/>
                <a:cs typeface="Calibri"/>
              </a:rPr>
              <a:t>	</a:t>
            </a:r>
            <a:r>
              <a:rPr sz="2000" i="1" spc="-25" dirty="0">
                <a:latin typeface="Calibri"/>
                <a:cs typeface="Calibri"/>
              </a:rPr>
              <a:t>the</a:t>
            </a:r>
            <a:r>
              <a:rPr sz="2000" i="1" dirty="0">
                <a:latin typeface="Calibri"/>
                <a:cs typeface="Calibri"/>
              </a:rPr>
              <a:t>	</a:t>
            </a:r>
            <a:r>
              <a:rPr sz="2000" i="1" spc="-10" dirty="0">
                <a:latin typeface="Calibri"/>
                <a:cs typeface="Calibri"/>
              </a:rPr>
              <a:t>signal </a:t>
            </a:r>
            <a:r>
              <a:rPr sz="2000" i="1" dirty="0">
                <a:latin typeface="Calibri"/>
                <a:cs typeface="Calibri"/>
              </a:rPr>
              <a:t>component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ib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is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given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spc="-25" dirty="0">
                <a:latin typeface="Calibri"/>
                <a:cs typeface="Calibri"/>
              </a:rPr>
              <a:t>by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93848" y="4285488"/>
            <a:ext cx="1779524" cy="88237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673732" y="5163388"/>
            <a:ext cx="351282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Calibri"/>
                <a:cs typeface="Calibri"/>
              </a:rPr>
              <a:t>Substituting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IC/VT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gm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gives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10071" y="5693236"/>
            <a:ext cx="1458431" cy="72895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461505" y="1015060"/>
            <a:ext cx="45580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9455" algn="l"/>
                <a:tab pos="2408555" algn="l"/>
                <a:tab pos="3302000" algn="l"/>
              </a:tabLst>
            </a:pP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small-signal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input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resistance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61505" y="1381505"/>
            <a:ext cx="4556125" cy="118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999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emitter,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looking </a:t>
            </a:r>
            <a:r>
              <a:rPr sz="2400" i="1" dirty="0">
                <a:latin typeface="Calibri"/>
                <a:cs typeface="Calibri"/>
              </a:rPr>
              <a:t>into</a:t>
            </a:r>
            <a:r>
              <a:rPr sz="2400" i="1" spc="18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the</a:t>
            </a:r>
            <a:r>
              <a:rPr sz="2400" i="1" spc="18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base,</a:t>
            </a:r>
            <a:r>
              <a:rPr sz="2400" i="1" spc="19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is</a:t>
            </a:r>
            <a:r>
              <a:rPr sz="2400" i="1" spc="17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denoted</a:t>
            </a:r>
            <a:r>
              <a:rPr sz="2400" i="1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rπ</a:t>
            </a:r>
            <a:r>
              <a:rPr sz="2800" b="1" i="1" spc="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and </a:t>
            </a:r>
            <a:r>
              <a:rPr sz="2400" i="1" dirty="0">
                <a:latin typeface="Calibri"/>
                <a:cs typeface="Calibri"/>
              </a:rPr>
              <a:t>is</a:t>
            </a:r>
            <a:r>
              <a:rPr sz="2400" i="1" spc="-7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defined</a:t>
            </a:r>
            <a:r>
              <a:rPr sz="2400" i="1" spc="-25" dirty="0">
                <a:latin typeface="Calibri"/>
                <a:cs typeface="Calibri"/>
              </a:rPr>
              <a:t> as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66110" y="2770140"/>
            <a:ext cx="1246113" cy="73122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33885" y="3715511"/>
            <a:ext cx="1448093" cy="99809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75634" y="4991811"/>
            <a:ext cx="1199961" cy="79979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462643" y="3945458"/>
            <a:ext cx="155956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079500" algn="l"/>
              </a:tabLst>
            </a:pPr>
            <a:r>
              <a:rPr sz="2400" spc="-10" dirty="0">
                <a:latin typeface="Calibri"/>
                <a:cs typeface="Calibri"/>
              </a:rPr>
              <a:t>Substitute </a:t>
            </a:r>
            <a:r>
              <a:rPr sz="2400" spc="-25" dirty="0">
                <a:latin typeface="Calibri"/>
                <a:cs typeface="Calibri"/>
              </a:rPr>
              <a:t>gm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Replace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Ic/β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IB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9266" y="465200"/>
            <a:ext cx="717042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1" dirty="0">
                <a:latin typeface="Calibri"/>
                <a:cs typeface="Calibri"/>
              </a:rPr>
              <a:t>Input</a:t>
            </a:r>
            <a:r>
              <a:rPr b="1" spc="-114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Resistance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at</a:t>
            </a:r>
            <a:r>
              <a:rPr b="1" spc="-10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the</a:t>
            </a:r>
            <a:r>
              <a:rPr b="1" spc="-10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Emitter</a:t>
            </a:r>
          </a:p>
        </p:txBody>
      </p:sp>
      <p:sp>
        <p:nvSpPr>
          <p:cNvPr id="3" name="object 3"/>
          <p:cNvSpPr/>
          <p:nvPr/>
        </p:nvSpPr>
        <p:spPr>
          <a:xfrm>
            <a:off x="5811011" y="1357883"/>
            <a:ext cx="0" cy="4940935"/>
          </a:xfrm>
          <a:custGeom>
            <a:avLst/>
            <a:gdLst/>
            <a:ahLst/>
            <a:cxnLst/>
            <a:rect l="l" t="t" r="r" b="b"/>
            <a:pathLst>
              <a:path h="4940935">
                <a:moveTo>
                  <a:pt x="0" y="0"/>
                </a:moveTo>
                <a:lnTo>
                  <a:pt x="0" y="4940325"/>
                </a:lnTo>
              </a:path>
            </a:pathLst>
          </a:custGeom>
          <a:ln w="57912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7125" y="1582015"/>
            <a:ext cx="2321722" cy="6608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16735" y="2375992"/>
            <a:ext cx="57594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Calibri"/>
                <a:cs typeface="Calibri"/>
              </a:rPr>
              <a:t>Thus,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72279" y="3012018"/>
            <a:ext cx="1569203" cy="29573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87855" y="3659581"/>
            <a:ext cx="42691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where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IE</a:t>
            </a:r>
            <a:r>
              <a:rPr sz="2400" i="1" spc="114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is</a:t>
            </a:r>
            <a:r>
              <a:rPr sz="2400" i="1" spc="114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equal</a:t>
            </a:r>
            <a:r>
              <a:rPr sz="2400" i="1" spc="114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to</a:t>
            </a:r>
            <a:r>
              <a:rPr sz="2400" i="1" spc="11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IC</a:t>
            </a:r>
            <a:r>
              <a:rPr sz="2400" i="1" spc="10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/α</a:t>
            </a:r>
            <a:r>
              <a:rPr sz="2400" i="1" spc="1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and</a:t>
            </a:r>
            <a:r>
              <a:rPr sz="2400" i="1" spc="105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i="1" dirty="0">
                <a:latin typeface="Calibri"/>
                <a:cs typeface="Calibri"/>
              </a:rPr>
              <a:t>signal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current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ie</a:t>
            </a:r>
            <a:r>
              <a:rPr sz="2400" i="1" spc="-6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is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given</a:t>
            </a:r>
            <a:r>
              <a:rPr sz="2400" i="1" spc="-60" dirty="0">
                <a:latin typeface="Calibri"/>
                <a:cs typeface="Calibri"/>
              </a:rPr>
              <a:t> </a:t>
            </a:r>
            <a:r>
              <a:rPr sz="2400" i="1" spc="-35" dirty="0"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2277" y="4591062"/>
            <a:ext cx="3064729" cy="63451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104001" y="1015060"/>
            <a:ext cx="42748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5290" algn="l"/>
                <a:tab pos="1009650" algn="l"/>
                <a:tab pos="2122170" algn="l"/>
                <a:tab pos="2768600" algn="l"/>
              </a:tabLst>
            </a:pPr>
            <a:r>
              <a:rPr sz="2400" spc="-25" dirty="0">
                <a:latin typeface="Calibri"/>
                <a:cs typeface="Calibri"/>
              </a:rPr>
              <a:t>If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denote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small-signal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04001" y="1381505"/>
            <a:ext cx="42741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resistance</a:t>
            </a:r>
            <a:r>
              <a:rPr sz="2400" b="1" spc="480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490" dirty="0">
                <a:latin typeface="Calibri"/>
                <a:cs typeface="Calibri"/>
              </a:rPr>
              <a:t>  </a:t>
            </a:r>
            <a:r>
              <a:rPr sz="2400" b="1" dirty="0">
                <a:latin typeface="Calibri"/>
                <a:cs typeface="Calibri"/>
              </a:rPr>
              <a:t>base</a:t>
            </a:r>
            <a:r>
              <a:rPr sz="2400" b="1" spc="490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b="1" dirty="0">
                <a:latin typeface="Calibri"/>
                <a:cs typeface="Calibri"/>
              </a:rPr>
              <a:t>emitter</a:t>
            </a:r>
            <a:r>
              <a:rPr sz="2400" b="1" spc="56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looking</a:t>
            </a:r>
            <a:r>
              <a:rPr sz="2400" i="1" spc="56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into</a:t>
            </a:r>
            <a:r>
              <a:rPr sz="2400" i="1" spc="56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the</a:t>
            </a:r>
            <a:r>
              <a:rPr sz="2400" i="1" spc="57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emitter </a:t>
            </a:r>
            <a:r>
              <a:rPr sz="2400" i="1" dirty="0">
                <a:latin typeface="Calibri"/>
                <a:cs typeface="Calibri"/>
              </a:rPr>
              <a:t>by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re</a:t>
            </a:r>
            <a:r>
              <a:rPr sz="2400" i="1" dirty="0">
                <a:latin typeface="Calibri"/>
                <a:cs typeface="Calibri"/>
              </a:rPr>
              <a:t>,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it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can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be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defined</a:t>
            </a:r>
            <a:r>
              <a:rPr sz="2400" i="1" spc="-15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165847" y="2429255"/>
            <a:ext cx="2359660" cy="1856739"/>
            <a:chOff x="7165847" y="2429255"/>
            <a:chExt cx="2359660" cy="1856739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3799" y="2429255"/>
              <a:ext cx="1981200" cy="9997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65847" y="3358895"/>
              <a:ext cx="1716024" cy="926591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81674" y="4401793"/>
            <a:ext cx="1625034" cy="6041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87805">
              <a:lnSpc>
                <a:spcPct val="100000"/>
              </a:lnSpc>
              <a:spcBef>
                <a:spcPts val="90"/>
              </a:spcBef>
            </a:pPr>
            <a:r>
              <a:rPr b="1" dirty="0">
                <a:latin typeface="Calibri"/>
                <a:cs typeface="Calibri"/>
              </a:rPr>
              <a:t>Input</a:t>
            </a:r>
            <a:r>
              <a:rPr b="1" spc="-114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Resistance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at</a:t>
            </a:r>
            <a:r>
              <a:rPr b="1" spc="-10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the</a:t>
            </a:r>
            <a:r>
              <a:rPr b="1" spc="-10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Emitter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7855" y="1518919"/>
            <a:ext cx="4201795" cy="939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relationship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rπ</a:t>
            </a:r>
            <a:r>
              <a:rPr sz="2000" b="1" i="1" spc="6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7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re</a:t>
            </a:r>
            <a:r>
              <a:rPr sz="2000" b="1" i="1" spc="95" dirty="0">
                <a:latin typeface="Calibri"/>
                <a:cs typeface="Calibri"/>
              </a:rPr>
              <a:t> </a:t>
            </a:r>
            <a:r>
              <a:rPr sz="2000" i="1" spc="-25" dirty="0">
                <a:latin typeface="Calibri"/>
                <a:cs typeface="Calibri"/>
              </a:rPr>
              <a:t>can </a:t>
            </a:r>
            <a:r>
              <a:rPr sz="2000" i="1" dirty="0">
                <a:latin typeface="Calibri"/>
                <a:cs typeface="Calibri"/>
              </a:rPr>
              <a:t>be</a:t>
            </a:r>
            <a:r>
              <a:rPr sz="2000" i="1" spc="27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found</a:t>
            </a:r>
            <a:r>
              <a:rPr sz="2000" i="1" spc="254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by</a:t>
            </a:r>
            <a:r>
              <a:rPr sz="2000" i="1" spc="26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combining</a:t>
            </a:r>
            <a:r>
              <a:rPr sz="2000" i="1" spc="29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their</a:t>
            </a:r>
            <a:r>
              <a:rPr sz="2000" i="1" spc="26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respective definitions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11011" y="1357883"/>
            <a:ext cx="0" cy="4940935"/>
          </a:xfrm>
          <a:custGeom>
            <a:avLst/>
            <a:gdLst/>
            <a:ahLst/>
            <a:cxnLst/>
            <a:rect l="l" t="t" r="r" b="b"/>
            <a:pathLst>
              <a:path h="4940935">
                <a:moveTo>
                  <a:pt x="0" y="0"/>
                </a:moveTo>
                <a:lnTo>
                  <a:pt x="0" y="4940325"/>
                </a:lnTo>
              </a:path>
            </a:pathLst>
          </a:custGeom>
          <a:ln w="57912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014727" y="2490216"/>
            <a:ext cx="2767965" cy="805180"/>
            <a:chOff x="2014727" y="2490216"/>
            <a:chExt cx="2767965" cy="8051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3134" y="2695956"/>
              <a:ext cx="2392244" cy="32170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19299" y="2494788"/>
              <a:ext cx="2758440" cy="795655"/>
            </a:xfrm>
            <a:custGeom>
              <a:avLst/>
              <a:gdLst/>
              <a:ahLst/>
              <a:cxnLst/>
              <a:rect l="l" t="t" r="r" b="b"/>
              <a:pathLst>
                <a:path w="2758440" h="795654">
                  <a:moveTo>
                    <a:pt x="0" y="795527"/>
                  </a:moveTo>
                  <a:lnTo>
                    <a:pt x="2758440" y="795527"/>
                  </a:lnTo>
                  <a:lnTo>
                    <a:pt x="2758440" y="0"/>
                  </a:lnTo>
                  <a:lnTo>
                    <a:pt x="0" y="0"/>
                  </a:lnTo>
                  <a:lnTo>
                    <a:pt x="0" y="795527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73732" y="3305682"/>
            <a:ext cx="57594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latin typeface="Calibri"/>
                <a:cs typeface="Calibri"/>
              </a:rPr>
              <a:t>Thus,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41448" y="3706367"/>
            <a:ext cx="2112645" cy="661670"/>
            <a:chOff x="2441448" y="3706367"/>
            <a:chExt cx="2112645" cy="66167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0592" y="3715511"/>
              <a:ext cx="1794836" cy="49356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446020" y="3710939"/>
              <a:ext cx="2103120" cy="652780"/>
            </a:xfrm>
            <a:custGeom>
              <a:avLst/>
              <a:gdLst/>
              <a:ahLst/>
              <a:cxnLst/>
              <a:rect l="l" t="t" r="r" b="b"/>
              <a:pathLst>
                <a:path w="2103120" h="652779">
                  <a:moveTo>
                    <a:pt x="0" y="652272"/>
                  </a:moveTo>
                  <a:lnTo>
                    <a:pt x="2103120" y="652272"/>
                  </a:lnTo>
                  <a:lnTo>
                    <a:pt x="2103120" y="0"/>
                  </a:lnTo>
                  <a:lnTo>
                    <a:pt x="0" y="0"/>
                  </a:lnTo>
                  <a:lnTo>
                    <a:pt x="0" y="652272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02486" y="4377689"/>
            <a:ext cx="128460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yields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14600" y="4776215"/>
            <a:ext cx="2496820" cy="805180"/>
            <a:chOff x="2514600" y="4776215"/>
            <a:chExt cx="2496820" cy="80518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2957" y="4925161"/>
              <a:ext cx="2094104" cy="43687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519172" y="4780787"/>
              <a:ext cx="2487295" cy="795655"/>
            </a:xfrm>
            <a:custGeom>
              <a:avLst/>
              <a:gdLst/>
              <a:ahLst/>
              <a:cxnLst/>
              <a:rect l="l" t="t" r="r" b="b"/>
              <a:pathLst>
                <a:path w="2487295" h="795654">
                  <a:moveTo>
                    <a:pt x="0" y="795528"/>
                  </a:moveTo>
                  <a:lnTo>
                    <a:pt x="2487168" y="795528"/>
                  </a:lnTo>
                  <a:lnTo>
                    <a:pt x="2487168" y="0"/>
                  </a:lnTo>
                  <a:lnTo>
                    <a:pt x="0" y="0"/>
                  </a:lnTo>
                  <a:lnTo>
                    <a:pt x="0" y="795528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309359" y="1072896"/>
            <a:ext cx="3429000" cy="5285740"/>
            <a:chOff x="6309359" y="1072896"/>
            <a:chExt cx="3429000" cy="528574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9359" y="1072896"/>
              <a:ext cx="3428999" cy="28072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5871" y="3858768"/>
              <a:ext cx="2712720" cy="24993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91560">
              <a:lnSpc>
                <a:spcPct val="100000"/>
              </a:lnSpc>
              <a:spcBef>
                <a:spcPts val="90"/>
              </a:spcBef>
            </a:pPr>
            <a:r>
              <a:rPr b="1" spc="-30" dirty="0">
                <a:latin typeface="Calibri"/>
                <a:cs typeface="Calibri"/>
              </a:rPr>
              <a:t>Voltage</a:t>
            </a:r>
            <a:r>
              <a:rPr b="1" spc="-210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Gain</a:t>
            </a:r>
          </a:p>
        </p:txBody>
      </p:sp>
      <p:sp>
        <p:nvSpPr>
          <p:cNvPr id="3" name="object 3"/>
          <p:cNvSpPr/>
          <p:nvPr/>
        </p:nvSpPr>
        <p:spPr>
          <a:xfrm>
            <a:off x="5811011" y="1357883"/>
            <a:ext cx="0" cy="4940935"/>
          </a:xfrm>
          <a:custGeom>
            <a:avLst/>
            <a:gdLst/>
            <a:ahLst/>
            <a:cxnLst/>
            <a:rect l="l" t="t" r="r" b="b"/>
            <a:pathLst>
              <a:path h="4940935">
                <a:moveTo>
                  <a:pt x="0" y="0"/>
                </a:moveTo>
                <a:lnTo>
                  <a:pt x="0" y="4940325"/>
                </a:lnTo>
              </a:path>
            </a:pathLst>
          </a:custGeom>
          <a:ln w="57912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371600" y="1420367"/>
            <a:ext cx="4060190" cy="2304415"/>
            <a:chOff x="1371600" y="1420367"/>
            <a:chExt cx="4060190" cy="23044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0072" y="1558300"/>
              <a:ext cx="3317049" cy="19318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76172" y="1424939"/>
              <a:ext cx="4051300" cy="2295525"/>
            </a:xfrm>
            <a:custGeom>
              <a:avLst/>
              <a:gdLst/>
              <a:ahLst/>
              <a:cxnLst/>
              <a:rect l="l" t="t" r="r" b="b"/>
              <a:pathLst>
                <a:path w="4051300" h="2295525">
                  <a:moveTo>
                    <a:pt x="0" y="2295144"/>
                  </a:moveTo>
                  <a:lnTo>
                    <a:pt x="4050791" y="2295144"/>
                  </a:lnTo>
                  <a:lnTo>
                    <a:pt x="4050791" y="0"/>
                  </a:lnTo>
                  <a:lnTo>
                    <a:pt x="0" y="0"/>
                  </a:lnTo>
                  <a:lnTo>
                    <a:pt x="0" y="2295144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30858" y="3877436"/>
            <a:ext cx="3845560" cy="939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Calibri"/>
                <a:cs typeface="Calibri"/>
              </a:rPr>
              <a:t>Here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quantity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VCE</a:t>
            </a:r>
            <a:r>
              <a:rPr sz="2000" i="1" spc="1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is</a:t>
            </a:r>
            <a:r>
              <a:rPr sz="2000" i="1" spc="1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the</a:t>
            </a:r>
            <a:r>
              <a:rPr sz="2000" i="1" spc="114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dc</a:t>
            </a:r>
            <a:r>
              <a:rPr sz="2000" i="1" spc="165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bias </a:t>
            </a:r>
            <a:r>
              <a:rPr sz="2000" i="1" dirty="0">
                <a:latin typeface="Calibri"/>
                <a:cs typeface="Calibri"/>
              </a:rPr>
              <a:t>voltage</a:t>
            </a:r>
            <a:r>
              <a:rPr sz="2000" i="1" spc="170" dirty="0"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at</a:t>
            </a:r>
            <a:r>
              <a:rPr sz="2000" i="1" spc="180" dirty="0"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the</a:t>
            </a:r>
            <a:r>
              <a:rPr sz="2000" i="1" spc="175" dirty="0"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collector,</a:t>
            </a:r>
            <a:r>
              <a:rPr sz="2000" i="1" spc="185" dirty="0"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180" dirty="0">
                <a:latin typeface="Calibri"/>
                <a:cs typeface="Calibri"/>
              </a:rPr>
              <a:t>  </a:t>
            </a:r>
            <a:r>
              <a:rPr sz="2000" i="1" spc="-25" dirty="0">
                <a:latin typeface="Calibri"/>
                <a:cs typeface="Calibri"/>
              </a:rPr>
              <a:t>the </a:t>
            </a:r>
            <a:r>
              <a:rPr sz="2000" i="1" dirty="0">
                <a:latin typeface="Calibri"/>
                <a:cs typeface="Calibri"/>
              </a:rPr>
              <a:t>signal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voltage</a:t>
            </a:r>
            <a:r>
              <a:rPr sz="2000" i="1" spc="-7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is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given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spc="-25" dirty="0">
                <a:latin typeface="Calibri"/>
                <a:cs typeface="Calibri"/>
              </a:rPr>
              <a:t>by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14855" y="4992623"/>
            <a:ext cx="3926204" cy="518159"/>
            <a:chOff x="1514855" y="4992623"/>
            <a:chExt cx="3926204" cy="518159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2153" y="5001767"/>
              <a:ext cx="3703825" cy="4998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519427" y="4997195"/>
              <a:ext cx="3916679" cy="509270"/>
            </a:xfrm>
            <a:custGeom>
              <a:avLst/>
              <a:gdLst/>
              <a:ahLst/>
              <a:cxnLst/>
              <a:rect l="l" t="t" r="r" b="b"/>
              <a:pathLst>
                <a:path w="3916679" h="509270">
                  <a:moveTo>
                    <a:pt x="0" y="509015"/>
                  </a:moveTo>
                  <a:lnTo>
                    <a:pt x="3916679" y="509015"/>
                  </a:lnTo>
                  <a:lnTo>
                    <a:pt x="3916679" y="0"/>
                  </a:lnTo>
                  <a:lnTo>
                    <a:pt x="0" y="0"/>
                  </a:lnTo>
                  <a:lnTo>
                    <a:pt x="0" y="509015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584447" y="5635752"/>
            <a:ext cx="2021205" cy="518159"/>
            <a:chOff x="3584447" y="5635752"/>
            <a:chExt cx="2021205" cy="518159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3591" y="5644896"/>
              <a:ext cx="2002536" cy="4998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589019" y="5640324"/>
              <a:ext cx="2011680" cy="509270"/>
            </a:xfrm>
            <a:custGeom>
              <a:avLst/>
              <a:gdLst/>
              <a:ahLst/>
              <a:cxnLst/>
              <a:rect l="l" t="t" r="r" b="b"/>
              <a:pathLst>
                <a:path w="2011679" h="509270">
                  <a:moveTo>
                    <a:pt x="0" y="509016"/>
                  </a:moveTo>
                  <a:lnTo>
                    <a:pt x="2011679" y="509016"/>
                  </a:lnTo>
                  <a:lnTo>
                    <a:pt x="2011679" y="0"/>
                  </a:lnTo>
                  <a:lnTo>
                    <a:pt x="0" y="0"/>
                  </a:lnTo>
                  <a:lnTo>
                    <a:pt x="0" y="509016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32753" y="1518919"/>
            <a:ext cx="442849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Calibri"/>
                <a:cs typeface="Calibri"/>
              </a:rPr>
              <a:t>Thus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voltage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gain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amplifier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Av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spc="-25" dirty="0"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977128" y="2133600"/>
            <a:ext cx="3416935" cy="1091565"/>
            <a:chOff x="5977128" y="2133600"/>
            <a:chExt cx="3416935" cy="109156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8106" y="2142744"/>
              <a:ext cx="3074851" cy="99192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981700" y="2138172"/>
              <a:ext cx="3408045" cy="1082040"/>
            </a:xfrm>
            <a:custGeom>
              <a:avLst/>
              <a:gdLst/>
              <a:ahLst/>
              <a:cxnLst/>
              <a:rect l="l" t="t" r="r" b="b"/>
              <a:pathLst>
                <a:path w="3408045" h="1082039">
                  <a:moveTo>
                    <a:pt x="0" y="1082039"/>
                  </a:moveTo>
                  <a:lnTo>
                    <a:pt x="3407663" y="1082039"/>
                  </a:lnTo>
                  <a:lnTo>
                    <a:pt x="3407663" y="0"/>
                  </a:lnTo>
                  <a:lnTo>
                    <a:pt x="0" y="0"/>
                  </a:lnTo>
                  <a:lnTo>
                    <a:pt x="0" y="1082039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086600" y="3419855"/>
            <a:ext cx="2746375" cy="1161415"/>
            <a:chOff x="7086600" y="3419855"/>
            <a:chExt cx="2746375" cy="116141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56212" y="3428999"/>
              <a:ext cx="2086087" cy="112294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091172" y="3424427"/>
              <a:ext cx="2737485" cy="1152525"/>
            </a:xfrm>
            <a:custGeom>
              <a:avLst/>
              <a:gdLst/>
              <a:ahLst/>
              <a:cxnLst/>
              <a:rect l="l" t="t" r="r" b="b"/>
              <a:pathLst>
                <a:path w="2737484" h="1152525">
                  <a:moveTo>
                    <a:pt x="0" y="1152144"/>
                  </a:moveTo>
                  <a:lnTo>
                    <a:pt x="2737104" y="1152144"/>
                  </a:lnTo>
                  <a:lnTo>
                    <a:pt x="2737104" y="0"/>
                  </a:lnTo>
                  <a:lnTo>
                    <a:pt x="0" y="0"/>
                  </a:lnTo>
                  <a:lnTo>
                    <a:pt x="0" y="1152144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06345">
              <a:lnSpc>
                <a:spcPct val="100000"/>
              </a:lnSpc>
              <a:spcBef>
                <a:spcPts val="90"/>
              </a:spcBef>
            </a:pPr>
            <a:r>
              <a:rPr dirty="0"/>
              <a:t>Small</a:t>
            </a:r>
            <a:r>
              <a:rPr spc="-70" dirty="0"/>
              <a:t> </a:t>
            </a:r>
            <a:r>
              <a:rPr dirty="0"/>
              <a:t>Signal</a:t>
            </a:r>
            <a:r>
              <a:rPr spc="-70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80103" y="1712976"/>
            <a:ext cx="1725295" cy="649605"/>
          </a:xfrm>
          <a:prstGeom prst="rect">
            <a:avLst/>
          </a:prstGeom>
          <a:ln w="24383">
            <a:solidFill>
              <a:srgbClr val="C0504D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59"/>
              </a:spcBef>
            </a:pP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Resistance</a:t>
            </a:r>
            <a:endParaRPr sz="1800">
              <a:latin typeface="Calibri"/>
              <a:cs typeface="Calibri"/>
            </a:endParaRPr>
          </a:p>
          <a:p>
            <a:pPr marL="54610"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Base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65976" y="1712976"/>
            <a:ext cx="1777364" cy="649605"/>
          </a:xfrm>
          <a:prstGeom prst="rect">
            <a:avLst/>
          </a:prstGeom>
          <a:ln w="24384">
            <a:solidFill>
              <a:srgbClr val="C0504D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marR="46355" algn="ctr">
              <a:lnSpc>
                <a:spcPct val="100000"/>
              </a:lnSpc>
              <a:spcBef>
                <a:spcPts val="259"/>
              </a:spcBef>
            </a:pP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Resistance</a:t>
            </a:r>
            <a:endParaRPr sz="1800">
              <a:latin typeface="Calibri"/>
              <a:cs typeface="Calibri"/>
            </a:endParaRPr>
          </a:p>
          <a:p>
            <a:pPr marL="3810"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Emitter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7383" y="1712976"/>
            <a:ext cx="1932939" cy="372110"/>
          </a:xfrm>
          <a:prstGeom prst="rect">
            <a:avLst/>
          </a:prstGeom>
          <a:ln w="24384">
            <a:solidFill>
              <a:srgbClr val="C0504D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59"/>
              </a:spcBef>
            </a:pPr>
            <a:r>
              <a:rPr sz="1800" spc="-10" dirty="0">
                <a:latin typeface="Calibri"/>
                <a:cs typeface="Calibri"/>
              </a:rPr>
              <a:t>Transconductance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79992" y="1712976"/>
            <a:ext cx="1371600" cy="372110"/>
          </a:xfrm>
          <a:prstGeom prst="rect">
            <a:avLst/>
          </a:prstGeom>
          <a:ln w="24384">
            <a:solidFill>
              <a:srgbClr val="C0504D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259"/>
              </a:spcBef>
            </a:pPr>
            <a:r>
              <a:rPr sz="1800" spc="-10" dirty="0">
                <a:latin typeface="Calibri"/>
                <a:cs typeface="Calibri"/>
              </a:rPr>
              <a:t>Voltage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Gain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567928" y="1431036"/>
            <a:ext cx="2539365" cy="4940935"/>
            <a:chOff x="8567928" y="1431036"/>
            <a:chExt cx="2539365" cy="4940935"/>
          </a:xfrm>
        </p:grpSpPr>
        <p:sp>
          <p:nvSpPr>
            <p:cNvPr id="8" name="object 8"/>
            <p:cNvSpPr/>
            <p:nvPr/>
          </p:nvSpPr>
          <p:spPr>
            <a:xfrm>
              <a:off x="8596884" y="1431036"/>
              <a:ext cx="0" cy="4940935"/>
            </a:xfrm>
            <a:custGeom>
              <a:avLst/>
              <a:gdLst/>
              <a:ahLst/>
              <a:cxnLst/>
              <a:rect l="l" t="t" r="r" b="b"/>
              <a:pathLst>
                <a:path h="4940935">
                  <a:moveTo>
                    <a:pt x="0" y="0"/>
                  </a:moveTo>
                  <a:lnTo>
                    <a:pt x="0" y="4940325"/>
                  </a:lnTo>
                </a:path>
              </a:pathLst>
            </a:custGeom>
            <a:ln w="57912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6788" y="2471927"/>
              <a:ext cx="2115166" cy="82002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660892" y="2467355"/>
              <a:ext cx="2346960" cy="896619"/>
            </a:xfrm>
            <a:custGeom>
              <a:avLst/>
              <a:gdLst/>
              <a:ahLst/>
              <a:cxnLst/>
              <a:rect l="l" t="t" r="r" b="b"/>
              <a:pathLst>
                <a:path w="2346959" h="896620">
                  <a:moveTo>
                    <a:pt x="0" y="896112"/>
                  </a:moveTo>
                  <a:lnTo>
                    <a:pt x="2346959" y="896112"/>
                  </a:lnTo>
                  <a:lnTo>
                    <a:pt x="2346959" y="0"/>
                  </a:lnTo>
                  <a:lnTo>
                    <a:pt x="0" y="0"/>
                  </a:lnTo>
                  <a:lnTo>
                    <a:pt x="0" y="896112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12218" y="3642359"/>
              <a:ext cx="1694508" cy="91333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877300" y="3637787"/>
              <a:ext cx="2225040" cy="939165"/>
            </a:xfrm>
            <a:custGeom>
              <a:avLst/>
              <a:gdLst/>
              <a:ahLst/>
              <a:cxnLst/>
              <a:rect l="l" t="t" r="r" b="b"/>
              <a:pathLst>
                <a:path w="2225040" h="939164">
                  <a:moveTo>
                    <a:pt x="0" y="938784"/>
                  </a:moveTo>
                  <a:lnTo>
                    <a:pt x="2225040" y="938784"/>
                  </a:lnTo>
                  <a:lnTo>
                    <a:pt x="2225040" y="0"/>
                  </a:lnTo>
                  <a:lnTo>
                    <a:pt x="0" y="0"/>
                  </a:lnTo>
                  <a:lnTo>
                    <a:pt x="0" y="938784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158239" y="4919471"/>
            <a:ext cx="2304415" cy="1122045"/>
            <a:chOff x="1158239" y="4919471"/>
            <a:chExt cx="2304415" cy="112204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6241" y="4928615"/>
              <a:ext cx="1850571" cy="89549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62811" y="4924043"/>
              <a:ext cx="2295525" cy="1112520"/>
            </a:xfrm>
            <a:custGeom>
              <a:avLst/>
              <a:gdLst/>
              <a:ahLst/>
              <a:cxnLst/>
              <a:rect l="l" t="t" r="r" b="b"/>
              <a:pathLst>
                <a:path w="2295525" h="1112520">
                  <a:moveTo>
                    <a:pt x="0" y="1112519"/>
                  </a:moveTo>
                  <a:lnTo>
                    <a:pt x="2295143" y="1112519"/>
                  </a:lnTo>
                  <a:lnTo>
                    <a:pt x="2295143" y="0"/>
                  </a:lnTo>
                  <a:lnTo>
                    <a:pt x="0" y="0"/>
                  </a:lnTo>
                  <a:lnTo>
                    <a:pt x="0" y="1112519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441703" y="3706367"/>
            <a:ext cx="1460500" cy="944880"/>
            <a:chOff x="1441703" y="3706367"/>
            <a:chExt cx="1460500" cy="94488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0847" y="3764279"/>
              <a:ext cx="1417268" cy="80467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446275" y="3710939"/>
              <a:ext cx="1450975" cy="935990"/>
            </a:xfrm>
            <a:custGeom>
              <a:avLst/>
              <a:gdLst/>
              <a:ahLst/>
              <a:cxnLst/>
              <a:rect l="l" t="t" r="r" b="b"/>
              <a:pathLst>
                <a:path w="1450975" h="935989">
                  <a:moveTo>
                    <a:pt x="0" y="935736"/>
                  </a:moveTo>
                  <a:lnTo>
                    <a:pt x="1450848" y="935736"/>
                  </a:lnTo>
                  <a:lnTo>
                    <a:pt x="1450848" y="0"/>
                  </a:lnTo>
                  <a:lnTo>
                    <a:pt x="0" y="0"/>
                  </a:lnTo>
                  <a:lnTo>
                    <a:pt x="0" y="935736"/>
                  </a:lnTo>
                  <a:close/>
                </a:path>
              </a:pathLst>
            </a:custGeom>
            <a:ln w="914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158239" y="1431036"/>
            <a:ext cx="2466340" cy="4940935"/>
            <a:chOff x="1158239" y="1431036"/>
            <a:chExt cx="2466340" cy="4940935"/>
          </a:xfrm>
        </p:grpSpPr>
        <p:sp>
          <p:nvSpPr>
            <p:cNvPr id="20" name="object 20"/>
            <p:cNvSpPr/>
            <p:nvPr/>
          </p:nvSpPr>
          <p:spPr>
            <a:xfrm>
              <a:off x="3595116" y="1431036"/>
              <a:ext cx="0" cy="4940935"/>
            </a:xfrm>
            <a:custGeom>
              <a:avLst/>
              <a:gdLst/>
              <a:ahLst/>
              <a:cxnLst/>
              <a:rect l="l" t="t" r="r" b="b"/>
              <a:pathLst>
                <a:path h="4940935">
                  <a:moveTo>
                    <a:pt x="0" y="0"/>
                  </a:moveTo>
                  <a:lnTo>
                    <a:pt x="0" y="4940325"/>
                  </a:lnTo>
                </a:path>
              </a:pathLst>
            </a:custGeom>
            <a:ln w="57912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7383" y="2286000"/>
              <a:ext cx="2426207" cy="107289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162811" y="2281427"/>
              <a:ext cx="2435860" cy="1082040"/>
            </a:xfrm>
            <a:custGeom>
              <a:avLst/>
              <a:gdLst/>
              <a:ahLst/>
              <a:cxnLst/>
              <a:rect l="l" t="t" r="r" b="b"/>
              <a:pathLst>
                <a:path w="2435860" h="1082039">
                  <a:moveTo>
                    <a:pt x="0" y="1082039"/>
                  </a:moveTo>
                  <a:lnTo>
                    <a:pt x="2435352" y="1082039"/>
                  </a:lnTo>
                  <a:lnTo>
                    <a:pt x="2435352" y="0"/>
                  </a:lnTo>
                  <a:lnTo>
                    <a:pt x="0" y="0"/>
                  </a:lnTo>
                  <a:lnTo>
                    <a:pt x="0" y="1082039"/>
                  </a:lnTo>
                  <a:close/>
                </a:path>
              </a:pathLst>
            </a:custGeom>
            <a:ln w="914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76658" y="3492195"/>
            <a:ext cx="1199961" cy="79979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44725" y="3468046"/>
            <a:ext cx="1040592" cy="68921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62598" y="4330726"/>
            <a:ext cx="1701315" cy="633342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3880974" y="1431036"/>
            <a:ext cx="4259580" cy="4940935"/>
            <a:chOff x="3880974" y="1431036"/>
            <a:chExt cx="4259580" cy="4940935"/>
          </a:xfrm>
        </p:grpSpPr>
        <p:sp>
          <p:nvSpPr>
            <p:cNvPr id="27" name="object 27"/>
            <p:cNvSpPr/>
            <p:nvPr/>
          </p:nvSpPr>
          <p:spPr>
            <a:xfrm>
              <a:off x="6097523" y="1431036"/>
              <a:ext cx="0" cy="4940935"/>
            </a:xfrm>
            <a:custGeom>
              <a:avLst/>
              <a:gdLst/>
              <a:ahLst/>
              <a:cxnLst/>
              <a:rect l="l" t="t" r="r" b="b"/>
              <a:pathLst>
                <a:path h="4940935">
                  <a:moveTo>
                    <a:pt x="0" y="0"/>
                  </a:moveTo>
                  <a:lnTo>
                    <a:pt x="0" y="4940325"/>
                  </a:lnTo>
                </a:path>
              </a:pathLst>
            </a:custGeom>
            <a:ln w="57912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05013" y="4376928"/>
              <a:ext cx="1448093" cy="99809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79847" y="5428488"/>
              <a:ext cx="2481072" cy="78638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875275" y="5423915"/>
              <a:ext cx="2490470" cy="795655"/>
            </a:xfrm>
            <a:custGeom>
              <a:avLst/>
              <a:gdLst/>
              <a:ahLst/>
              <a:cxnLst/>
              <a:rect l="l" t="t" r="r" b="b"/>
              <a:pathLst>
                <a:path w="2490470" h="795654">
                  <a:moveTo>
                    <a:pt x="0" y="795528"/>
                  </a:moveTo>
                  <a:lnTo>
                    <a:pt x="2490216" y="795528"/>
                  </a:lnTo>
                  <a:lnTo>
                    <a:pt x="2490216" y="0"/>
                  </a:lnTo>
                  <a:lnTo>
                    <a:pt x="0" y="0"/>
                  </a:lnTo>
                  <a:lnTo>
                    <a:pt x="0" y="795528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80974" y="2733363"/>
              <a:ext cx="1606731" cy="32170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71255" y="2798658"/>
              <a:ext cx="1569203" cy="29573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1" spc="-20" dirty="0">
                <a:latin typeface="Calibri"/>
                <a:cs typeface="Calibri"/>
              </a:rPr>
              <a:t>Separating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the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Signal</a:t>
            </a:r>
            <a:r>
              <a:rPr b="1" spc="-10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the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DC</a:t>
            </a:r>
            <a:r>
              <a:rPr b="1" spc="-11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Quantities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5269" y="1522258"/>
            <a:ext cx="3903741" cy="467284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75503" y="1509775"/>
            <a:ext cx="5629910" cy="34397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1270" algn="just">
              <a:lnSpc>
                <a:spcPct val="100000"/>
              </a:lnSpc>
              <a:spcBef>
                <a:spcPts val="90"/>
              </a:spcBef>
              <a:buSzPct val="96875"/>
              <a:buFont typeface="Wingdings"/>
              <a:buChar char=""/>
              <a:tabLst>
                <a:tab pos="374650" algn="l"/>
              </a:tabLst>
            </a:pPr>
            <a:r>
              <a:rPr sz="3200" dirty="0">
                <a:latin typeface="Calibri"/>
                <a:cs typeface="Calibri"/>
              </a:rPr>
              <a:t>	Every</a:t>
            </a:r>
            <a:r>
              <a:rPr sz="3200" spc="18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current</a:t>
            </a:r>
            <a:r>
              <a:rPr sz="3200" spc="19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9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voltage</a:t>
            </a:r>
            <a:r>
              <a:rPr sz="3200" spc="190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in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6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amplifier</a:t>
            </a:r>
            <a:r>
              <a:rPr sz="3200" spc="6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circuit</a:t>
            </a:r>
            <a:r>
              <a:rPr sz="3200" spc="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7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Fig.(a)</a:t>
            </a:r>
            <a:r>
              <a:rPr sz="3200" spc="69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is </a:t>
            </a:r>
            <a:r>
              <a:rPr sz="3200" dirty="0">
                <a:latin typeface="Calibri"/>
                <a:cs typeface="Calibri"/>
              </a:rPr>
              <a:t>composed</a:t>
            </a:r>
            <a:r>
              <a:rPr sz="3200" spc="25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2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two</a:t>
            </a:r>
            <a:r>
              <a:rPr sz="3200" spc="25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components:</a:t>
            </a:r>
            <a:r>
              <a:rPr sz="3200" spc="26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a </a:t>
            </a:r>
            <a:r>
              <a:rPr sz="3200" dirty="0">
                <a:latin typeface="Calibri"/>
                <a:cs typeface="Calibri"/>
              </a:rPr>
              <a:t>dc</a:t>
            </a:r>
            <a:r>
              <a:rPr sz="3200" spc="76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component</a:t>
            </a:r>
            <a:r>
              <a:rPr sz="3200" spc="78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76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770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signal component</a:t>
            </a:r>
            <a:endParaRPr sz="3200">
              <a:latin typeface="Calibri"/>
              <a:cs typeface="Calibri"/>
            </a:endParaRPr>
          </a:p>
          <a:p>
            <a:pPr marL="12700" marR="8255" indent="-1905" algn="just">
              <a:lnSpc>
                <a:spcPct val="100000"/>
              </a:lnSpc>
              <a:spcBef>
                <a:spcPts val="10"/>
              </a:spcBef>
              <a:buSzPct val="96875"/>
              <a:buFont typeface="Wingdings"/>
              <a:buChar char=""/>
              <a:tabLst>
                <a:tab pos="374650" algn="l"/>
              </a:tabLst>
            </a:pPr>
            <a:r>
              <a:rPr sz="3200" dirty="0">
                <a:latin typeface="Calibri"/>
                <a:cs typeface="Calibri"/>
              </a:rPr>
              <a:t>	For</a:t>
            </a:r>
            <a:r>
              <a:rPr sz="3200" spc="3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instance,</a:t>
            </a:r>
            <a:r>
              <a:rPr sz="3200" spc="38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vBE</a:t>
            </a:r>
            <a:r>
              <a:rPr sz="3200" i="1" spc="39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=</a:t>
            </a:r>
            <a:r>
              <a:rPr sz="3200" i="1" spc="38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VBE</a:t>
            </a:r>
            <a:r>
              <a:rPr sz="3200" i="1" spc="39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+</a:t>
            </a:r>
            <a:r>
              <a:rPr sz="3200" i="1" spc="38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Calibri"/>
                <a:cs typeface="Calibri"/>
              </a:rPr>
              <a:t>vbe, </a:t>
            </a:r>
            <a:r>
              <a:rPr sz="3200" i="1" dirty="0">
                <a:latin typeface="Calibri"/>
                <a:cs typeface="Calibri"/>
              </a:rPr>
              <a:t>iC</a:t>
            </a:r>
            <a:r>
              <a:rPr sz="3200" i="1" spc="-2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=</a:t>
            </a:r>
            <a:r>
              <a:rPr sz="3200" i="1" spc="-2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IC</a:t>
            </a:r>
            <a:r>
              <a:rPr sz="3200" i="1" spc="-4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+</a:t>
            </a:r>
            <a:r>
              <a:rPr sz="3200" i="1" spc="-2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ic,</a:t>
            </a:r>
            <a:r>
              <a:rPr sz="3200" i="1" spc="-1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and</a:t>
            </a:r>
            <a:r>
              <a:rPr sz="3200" i="1" spc="3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so</a:t>
            </a:r>
            <a:r>
              <a:rPr sz="3200" i="1" spc="-45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Calibri"/>
                <a:cs typeface="Calibri"/>
              </a:rPr>
              <a:t>on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1" spc="-20" dirty="0">
                <a:latin typeface="Calibri"/>
                <a:cs typeface="Calibri"/>
              </a:rPr>
              <a:t>Separating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the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Signal</a:t>
            </a:r>
            <a:r>
              <a:rPr b="1" spc="-10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the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DC</a:t>
            </a:r>
            <a:r>
              <a:rPr b="1" spc="-11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Quantities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75503" y="1509775"/>
            <a:ext cx="5627370" cy="2463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575" dirty="0">
                <a:latin typeface="Calibri"/>
                <a:cs typeface="Calibri"/>
              </a:rPr>
              <a:t>    </a:t>
            </a:r>
            <a:r>
              <a:rPr sz="3200" dirty="0">
                <a:latin typeface="Calibri"/>
                <a:cs typeface="Calibri"/>
              </a:rPr>
              <a:t>dc</a:t>
            </a:r>
            <a:r>
              <a:rPr sz="3200" spc="570" dirty="0">
                <a:latin typeface="Calibri"/>
                <a:cs typeface="Calibri"/>
              </a:rPr>
              <a:t>    </a:t>
            </a:r>
            <a:r>
              <a:rPr sz="3200" dirty="0">
                <a:latin typeface="Calibri"/>
                <a:cs typeface="Calibri"/>
              </a:rPr>
              <a:t>components</a:t>
            </a:r>
            <a:r>
              <a:rPr sz="3200" spc="580" dirty="0">
                <a:latin typeface="Calibri"/>
                <a:cs typeface="Calibri"/>
              </a:rPr>
              <a:t>    </a:t>
            </a:r>
            <a:r>
              <a:rPr sz="3200" spc="-25" dirty="0">
                <a:latin typeface="Calibri"/>
                <a:cs typeface="Calibri"/>
              </a:rPr>
              <a:t>are </a:t>
            </a:r>
            <a:r>
              <a:rPr sz="3200" dirty="0">
                <a:latin typeface="Calibri"/>
                <a:cs typeface="Calibri"/>
              </a:rPr>
              <a:t>determined</a:t>
            </a:r>
            <a:r>
              <a:rPr sz="3200" spc="13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14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13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dc</a:t>
            </a:r>
            <a:r>
              <a:rPr sz="3200" spc="125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circuit </a:t>
            </a:r>
            <a:r>
              <a:rPr sz="3200" dirty="0">
                <a:latin typeface="Calibri"/>
                <a:cs typeface="Calibri"/>
              </a:rPr>
              <a:t>given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Fig.</a:t>
            </a:r>
            <a:r>
              <a:rPr sz="3200" spc="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6.36(b)</a:t>
            </a:r>
            <a:r>
              <a:rPr sz="3200" spc="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1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relationships</a:t>
            </a:r>
            <a:r>
              <a:rPr sz="3200" spc="68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imposed</a:t>
            </a:r>
            <a:r>
              <a:rPr sz="3200" spc="67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660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transistor.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616" y="1143000"/>
            <a:ext cx="4407408" cy="503529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370576" y="3992879"/>
            <a:ext cx="2091055" cy="1661160"/>
            <a:chOff x="5370576" y="3992879"/>
            <a:chExt cx="2091055" cy="166116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9720" y="4133453"/>
              <a:ext cx="1973942" cy="13142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375148" y="3997451"/>
              <a:ext cx="2082164" cy="1652270"/>
            </a:xfrm>
            <a:custGeom>
              <a:avLst/>
              <a:gdLst/>
              <a:ahLst/>
              <a:cxnLst/>
              <a:rect l="l" t="t" r="r" b="b"/>
              <a:pathLst>
                <a:path w="2082165" h="1652270">
                  <a:moveTo>
                    <a:pt x="0" y="1652016"/>
                  </a:moveTo>
                  <a:lnTo>
                    <a:pt x="2081783" y="1652016"/>
                  </a:lnTo>
                  <a:lnTo>
                    <a:pt x="2081783" y="0"/>
                  </a:lnTo>
                  <a:lnTo>
                    <a:pt x="0" y="0"/>
                  </a:lnTo>
                  <a:lnTo>
                    <a:pt x="0" y="1652016"/>
                  </a:lnTo>
                  <a:close/>
                </a:path>
              </a:pathLst>
            </a:custGeom>
            <a:ln w="914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372856" y="4276344"/>
            <a:ext cx="2447925" cy="1115695"/>
            <a:chOff x="8372856" y="4276344"/>
            <a:chExt cx="2447925" cy="111569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2000" y="4402531"/>
              <a:ext cx="2224378" cy="93634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377428" y="4280916"/>
              <a:ext cx="2438400" cy="1106805"/>
            </a:xfrm>
            <a:custGeom>
              <a:avLst/>
              <a:gdLst/>
              <a:ahLst/>
              <a:cxnLst/>
              <a:rect l="l" t="t" r="r" b="b"/>
              <a:pathLst>
                <a:path w="2438400" h="1106804">
                  <a:moveTo>
                    <a:pt x="0" y="1106424"/>
                  </a:moveTo>
                  <a:lnTo>
                    <a:pt x="2438400" y="1106424"/>
                  </a:lnTo>
                  <a:lnTo>
                    <a:pt x="2438400" y="0"/>
                  </a:lnTo>
                  <a:lnTo>
                    <a:pt x="0" y="0"/>
                  </a:lnTo>
                  <a:lnTo>
                    <a:pt x="0" y="1106424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1" spc="-20" dirty="0">
                <a:latin typeface="Calibri"/>
                <a:cs typeface="Calibri"/>
              </a:rPr>
              <a:t>Separating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the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Signal</a:t>
            </a:r>
            <a:r>
              <a:rPr b="1" spc="-10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the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DC</a:t>
            </a:r>
            <a:r>
              <a:rPr b="1" spc="-11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Quantities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75503" y="1509775"/>
            <a:ext cx="2461260" cy="1487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1270">
              <a:lnSpc>
                <a:spcPct val="100000"/>
              </a:lnSpc>
              <a:spcBef>
                <a:spcPts val="90"/>
              </a:spcBef>
              <a:buSzPct val="96875"/>
              <a:buFont typeface="Wingdings"/>
              <a:buChar char=""/>
              <a:tabLst>
                <a:tab pos="374650" algn="l"/>
                <a:tab pos="1396365" algn="l"/>
                <a:tab pos="1936114" algn="l"/>
              </a:tabLst>
            </a:pPr>
            <a:r>
              <a:rPr sz="3200" spc="-25" dirty="0">
                <a:latin typeface="Calibri"/>
                <a:cs typeface="Calibri"/>
              </a:rPr>
              <a:t>	On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the representation </a:t>
            </a:r>
            <a:r>
              <a:rPr sz="3200" spc="-10" dirty="0">
                <a:latin typeface="Calibri"/>
                <a:cs typeface="Calibri"/>
              </a:rPr>
              <a:t>operation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of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4161" y="1509775"/>
            <a:ext cx="3146425" cy="1487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4655" marR="5080" indent="-402590">
              <a:lnSpc>
                <a:spcPct val="100000"/>
              </a:lnSpc>
              <a:spcBef>
                <a:spcPts val="90"/>
              </a:spcBef>
              <a:tabLst>
                <a:tab pos="1460500" algn="l"/>
                <a:tab pos="2938780" algn="l"/>
              </a:tabLst>
            </a:pPr>
            <a:r>
              <a:rPr sz="3200" spc="-10" dirty="0">
                <a:latin typeface="Calibri"/>
                <a:cs typeface="Calibri"/>
              </a:rPr>
              <a:t>other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hand,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50" dirty="0">
                <a:latin typeface="Calibri"/>
                <a:cs typeface="Calibri"/>
              </a:rPr>
              <a:t>a </a:t>
            </a:r>
            <a:r>
              <a:rPr sz="3200" spc="-25" dirty="0">
                <a:latin typeface="Calibri"/>
                <a:cs typeface="Calibri"/>
              </a:rPr>
              <a:t>of</a:t>
            </a:r>
            <a:endParaRPr sz="3200">
              <a:latin typeface="Calibri"/>
              <a:cs typeface="Calibri"/>
            </a:endParaRPr>
          </a:p>
          <a:p>
            <a:pPr marL="106680">
              <a:lnSpc>
                <a:spcPct val="100000"/>
              </a:lnSpc>
              <a:spcBef>
                <a:spcPts val="5"/>
              </a:spcBef>
            </a:pPr>
            <a:r>
              <a:rPr sz="3200" spc="-25" dirty="0">
                <a:latin typeface="Calibri"/>
                <a:cs typeface="Calibri"/>
              </a:rPr>
              <a:t>the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14535" y="1997151"/>
            <a:ext cx="218884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22250">
              <a:lnSpc>
                <a:spcPct val="100000"/>
              </a:lnSpc>
              <a:spcBef>
                <a:spcPts val="95"/>
              </a:spcBef>
              <a:tabLst>
                <a:tab pos="871855" algn="l"/>
                <a:tab pos="1225550" algn="l"/>
                <a:tab pos="1758950" algn="l"/>
              </a:tabLst>
            </a:pPr>
            <a:r>
              <a:rPr sz="3200" spc="-2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		</a:t>
            </a:r>
            <a:r>
              <a:rPr sz="3200" spc="-10" dirty="0">
                <a:latin typeface="Calibri"/>
                <a:cs typeface="Calibri"/>
              </a:rPr>
              <a:t>signal </a:t>
            </a:r>
            <a:r>
              <a:rPr sz="3200" spc="-25" dirty="0">
                <a:latin typeface="Calibri"/>
                <a:cs typeface="Calibri"/>
              </a:rPr>
              <a:t>BJT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can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be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75503" y="2973146"/>
            <a:ext cx="5627370" cy="3439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latin typeface="Calibri"/>
                <a:cs typeface="Calibri"/>
              </a:rPr>
              <a:t>obtained</a:t>
            </a:r>
            <a:r>
              <a:rPr sz="3200" spc="16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eliminating</a:t>
            </a:r>
            <a:r>
              <a:rPr sz="3200" spc="16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dc </a:t>
            </a:r>
            <a:r>
              <a:rPr sz="3200" dirty="0">
                <a:latin typeface="Calibri"/>
                <a:cs typeface="Calibri"/>
              </a:rPr>
              <a:t>sources,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shown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Fig.</a:t>
            </a:r>
            <a:endParaRPr sz="3200">
              <a:latin typeface="Calibri"/>
              <a:cs typeface="Calibri"/>
            </a:endParaRPr>
          </a:p>
          <a:p>
            <a:pPr marL="12700" marR="5715" indent="-1905" algn="just">
              <a:lnSpc>
                <a:spcPct val="100000"/>
              </a:lnSpc>
              <a:buSzPct val="96875"/>
              <a:buFont typeface="Wingdings"/>
              <a:buChar char=""/>
              <a:tabLst>
                <a:tab pos="374650" algn="l"/>
              </a:tabLst>
            </a:pPr>
            <a:r>
              <a:rPr sz="3200" dirty="0">
                <a:latin typeface="Calibri"/>
                <a:cs typeface="Calibri"/>
              </a:rPr>
              <a:t>	Expressions</a:t>
            </a:r>
            <a:r>
              <a:rPr sz="3200" spc="63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64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635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current </a:t>
            </a:r>
            <a:r>
              <a:rPr sz="3200" dirty="0">
                <a:latin typeface="Calibri"/>
                <a:cs typeface="Calibri"/>
              </a:rPr>
              <a:t>elements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3200" b="1" i="1" dirty="0">
                <a:solidFill>
                  <a:srgbClr val="FF0000"/>
                </a:solidFill>
                <a:latin typeface="Calibri"/>
                <a:cs typeface="Calibri"/>
              </a:rPr>
              <a:t>ic,</a:t>
            </a:r>
            <a:r>
              <a:rPr sz="3200" b="1" i="1" spc="4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i="1" dirty="0">
                <a:solidFill>
                  <a:srgbClr val="FF0000"/>
                </a:solidFill>
                <a:latin typeface="Calibri"/>
                <a:cs typeface="Calibri"/>
              </a:rPr>
              <a:t>ib,</a:t>
            </a:r>
            <a:r>
              <a:rPr sz="3200" b="1" i="1" spc="4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3200" b="1" i="1" spc="4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i="1" dirty="0">
                <a:solidFill>
                  <a:srgbClr val="FF0000"/>
                </a:solidFill>
                <a:latin typeface="Calibri"/>
                <a:cs typeface="Calibri"/>
              </a:rPr>
              <a:t>ie)</a:t>
            </a:r>
            <a:r>
              <a:rPr sz="3200" b="1" i="1" spc="4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obtained </a:t>
            </a:r>
            <a:r>
              <a:rPr sz="3200" dirty="0">
                <a:latin typeface="Calibri"/>
                <a:cs typeface="Calibri"/>
              </a:rPr>
              <a:t>when</a:t>
            </a:r>
            <a:r>
              <a:rPr sz="3200" spc="63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645" dirty="0">
                <a:latin typeface="Calibri"/>
                <a:cs typeface="Calibri"/>
              </a:rPr>
              <a:t> 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small</a:t>
            </a:r>
            <a:r>
              <a:rPr sz="3200" b="1" spc="640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signal</a:t>
            </a:r>
            <a:r>
              <a:rPr sz="3200" b="1" spc="640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3200" b="1" i="1" dirty="0">
                <a:solidFill>
                  <a:srgbClr val="FF0000"/>
                </a:solidFill>
                <a:latin typeface="Calibri"/>
                <a:cs typeface="Calibri"/>
              </a:rPr>
              <a:t>vbe</a:t>
            </a:r>
            <a:r>
              <a:rPr sz="3200" b="1" i="1" spc="630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3200" i="1" spc="-25" dirty="0">
                <a:latin typeface="Calibri"/>
                <a:cs typeface="Calibri"/>
              </a:rPr>
              <a:t>is </a:t>
            </a:r>
            <a:r>
              <a:rPr sz="3200" i="1" spc="-10" dirty="0">
                <a:latin typeface="Calibri"/>
                <a:cs typeface="Calibri"/>
              </a:rPr>
              <a:t>applied.</a:t>
            </a:r>
            <a:endParaRPr sz="3200">
              <a:latin typeface="Calibri"/>
              <a:cs typeface="Calibri"/>
            </a:endParaRPr>
          </a:p>
          <a:p>
            <a:pPr marL="374650" indent="-363855" algn="just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"/>
              <a:tabLst>
                <a:tab pos="374650" algn="l"/>
              </a:tabLst>
            </a:pPr>
            <a:r>
              <a:rPr sz="3200" spc="-10" dirty="0">
                <a:latin typeface="Calibri"/>
                <a:cs typeface="Calibri"/>
              </a:rPr>
              <a:t>Small-</a:t>
            </a:r>
            <a:r>
              <a:rPr sz="3200" dirty="0">
                <a:latin typeface="Calibri"/>
                <a:cs typeface="Calibri"/>
              </a:rPr>
              <a:t>Signal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Circuit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Model.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1755" y="1760595"/>
            <a:ext cx="4304577" cy="41756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894" y="800176"/>
            <a:ext cx="3729354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b="1" dirty="0">
                <a:latin typeface="Calibri"/>
                <a:cs typeface="Calibri"/>
              </a:rPr>
              <a:t>HYBRID</a:t>
            </a:r>
            <a:r>
              <a:rPr sz="4000" b="1" spc="-55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π</a:t>
            </a:r>
            <a:r>
              <a:rPr sz="4000" b="1" spc="-4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MODEL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24127" y="1356360"/>
            <a:ext cx="9939655" cy="4429125"/>
            <a:chOff x="1024127" y="1356360"/>
            <a:chExt cx="9939655" cy="44291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9743" y="1365504"/>
              <a:ext cx="6153911" cy="4419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4127" y="1356360"/>
              <a:ext cx="4142232" cy="435864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173581" y="5798007"/>
            <a:ext cx="10560685" cy="880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34695" algn="l"/>
                <a:tab pos="1793239" algn="l"/>
                <a:tab pos="3469640" algn="l"/>
                <a:tab pos="4091940" algn="l"/>
                <a:tab pos="4713605" algn="l"/>
                <a:tab pos="5165090" algn="l"/>
                <a:tab pos="5475605" algn="l"/>
                <a:tab pos="6701155" algn="l"/>
                <a:tab pos="8350884" algn="l"/>
                <a:tab pos="9573260" algn="l"/>
              </a:tabLst>
            </a:pPr>
            <a:r>
              <a:rPr sz="2800" spc="-20" dirty="0">
                <a:latin typeface="Calibri"/>
                <a:cs typeface="Calibri"/>
              </a:rPr>
              <a:t>This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model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represents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BJT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voltage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controlled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current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source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explicitly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includes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</a:t>
            </a:r>
            <a:r>
              <a:rPr sz="2800" spc="-10" dirty="0">
                <a:latin typeface="Calibri"/>
                <a:cs typeface="Calibri"/>
              </a:rPr>
              <a:t> resistance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looking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rπ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4894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10"/>
              </a:spcBef>
            </a:pPr>
            <a:r>
              <a:rPr sz="4000" b="1" dirty="0">
                <a:latin typeface="Calibri"/>
                <a:cs typeface="Calibri"/>
              </a:rPr>
              <a:t>HYBRID</a:t>
            </a:r>
            <a:r>
              <a:rPr sz="4000" b="1" spc="-55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π</a:t>
            </a:r>
            <a:r>
              <a:rPr sz="4000" b="1" spc="-4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MODEL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383" y="1356360"/>
            <a:ext cx="6364223" cy="4572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90256" y="1652777"/>
            <a:ext cx="217551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dirty="0">
                <a:latin typeface="Calibri"/>
                <a:cs typeface="Calibri"/>
              </a:rPr>
              <a:t>In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this</a:t>
            </a:r>
            <a:r>
              <a:rPr sz="3200" spc="-20" dirty="0">
                <a:latin typeface="Calibri"/>
                <a:cs typeface="Calibri"/>
              </a:rPr>
              <a:t> model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016240" y="2346960"/>
            <a:ext cx="2517775" cy="1853564"/>
            <a:chOff x="8016240" y="2346960"/>
            <a:chExt cx="2517775" cy="1853564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9232" y="2464039"/>
              <a:ext cx="1941948" cy="167299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020812" y="2351532"/>
              <a:ext cx="2508885" cy="1844039"/>
            </a:xfrm>
            <a:custGeom>
              <a:avLst/>
              <a:gdLst/>
              <a:ahLst/>
              <a:cxnLst/>
              <a:rect l="l" t="t" r="r" b="b"/>
              <a:pathLst>
                <a:path w="2508884" h="1844039">
                  <a:moveTo>
                    <a:pt x="0" y="1844039"/>
                  </a:moveTo>
                  <a:lnTo>
                    <a:pt x="2508504" y="1844039"/>
                  </a:lnTo>
                  <a:lnTo>
                    <a:pt x="2508504" y="0"/>
                  </a:lnTo>
                  <a:lnTo>
                    <a:pt x="0" y="0"/>
                  </a:lnTo>
                  <a:lnTo>
                    <a:pt x="0" y="1844039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894" y="800176"/>
            <a:ext cx="3729354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b="1" dirty="0">
                <a:latin typeface="Calibri"/>
                <a:cs typeface="Calibri"/>
              </a:rPr>
              <a:t>HYBRID</a:t>
            </a:r>
            <a:r>
              <a:rPr sz="4000" b="1" spc="-55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π</a:t>
            </a:r>
            <a:r>
              <a:rPr sz="4000" b="1" spc="-4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MODEL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8769" y="2025102"/>
            <a:ext cx="4822575" cy="371207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32753" y="1294841"/>
            <a:ext cx="217551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latin typeface="Calibri"/>
                <a:cs typeface="Calibri"/>
              </a:rPr>
              <a:t>In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this</a:t>
            </a:r>
            <a:r>
              <a:rPr sz="3200" spc="-10" dirty="0">
                <a:latin typeface="Calibri"/>
                <a:cs typeface="Calibri"/>
              </a:rPr>
              <a:t> model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b="1" spc="-10" dirty="0">
                <a:latin typeface="Calibri"/>
                <a:cs typeface="Calibri"/>
              </a:rPr>
              <a:t>Ie=ic+ib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57088" y="2276855"/>
            <a:ext cx="5501640" cy="3447415"/>
            <a:chOff x="5657088" y="2276855"/>
            <a:chExt cx="5501640" cy="344741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6232" y="2285999"/>
              <a:ext cx="5276088" cy="3429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61660" y="2281427"/>
              <a:ext cx="5285740" cy="3438525"/>
            </a:xfrm>
            <a:custGeom>
              <a:avLst/>
              <a:gdLst/>
              <a:ahLst/>
              <a:cxnLst/>
              <a:rect l="l" t="t" r="r" b="b"/>
              <a:pathLst>
                <a:path w="5285740" h="3438525">
                  <a:moveTo>
                    <a:pt x="0" y="3438144"/>
                  </a:moveTo>
                  <a:lnTo>
                    <a:pt x="5285232" y="3438144"/>
                  </a:lnTo>
                  <a:lnTo>
                    <a:pt x="5285232" y="0"/>
                  </a:lnTo>
                  <a:lnTo>
                    <a:pt x="0" y="0"/>
                  </a:lnTo>
                  <a:lnTo>
                    <a:pt x="0" y="3438144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95103" y="3358895"/>
              <a:ext cx="1563624" cy="5120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894" y="800176"/>
            <a:ext cx="3729354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b="1" dirty="0">
                <a:latin typeface="Calibri"/>
                <a:cs typeface="Calibri"/>
              </a:rPr>
              <a:t>HYBRID</a:t>
            </a:r>
            <a:r>
              <a:rPr sz="4000" b="1" spc="-55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π</a:t>
            </a:r>
            <a:r>
              <a:rPr sz="4000" b="1" spc="-4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MODEL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3581" y="1366774"/>
            <a:ext cx="5057775" cy="2463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0"/>
              </a:spcBef>
            </a:pPr>
            <a:r>
              <a:rPr sz="3200" dirty="0">
                <a:latin typeface="Calibri"/>
                <a:cs typeface="Calibri"/>
              </a:rPr>
              <a:t>Slightly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different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model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be </a:t>
            </a:r>
            <a:r>
              <a:rPr sz="3200" dirty="0">
                <a:latin typeface="Calibri"/>
                <a:cs typeface="Calibri"/>
              </a:rPr>
              <a:t>obtained</a:t>
            </a:r>
            <a:r>
              <a:rPr sz="3200" spc="3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34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expressing</a:t>
            </a:r>
            <a:r>
              <a:rPr sz="3200" spc="350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b="1" dirty="0">
                <a:latin typeface="Calibri"/>
                <a:cs typeface="Calibri"/>
              </a:rPr>
              <a:t>current</a:t>
            </a:r>
            <a:r>
              <a:rPr sz="3200" b="1" spc="760" dirty="0">
                <a:latin typeface="Calibri"/>
                <a:cs typeface="Calibri"/>
              </a:rPr>
              <a:t> 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765" dirty="0">
                <a:latin typeface="Calibri"/>
                <a:cs typeface="Calibri"/>
              </a:rPr>
              <a:t> 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785" dirty="0">
                <a:latin typeface="Calibri"/>
                <a:cs typeface="Calibri"/>
              </a:rPr>
              <a:t>  </a:t>
            </a:r>
            <a:r>
              <a:rPr sz="3200" b="1" spc="-10" dirty="0">
                <a:latin typeface="Calibri"/>
                <a:cs typeface="Calibri"/>
              </a:rPr>
              <a:t>controlled </a:t>
            </a:r>
            <a:r>
              <a:rPr sz="3200" b="1" dirty="0">
                <a:latin typeface="Calibri"/>
                <a:cs typeface="Calibri"/>
              </a:rPr>
              <a:t>source</a:t>
            </a:r>
            <a:r>
              <a:rPr sz="3200" b="1" spc="80" dirty="0"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sz="3200" b="1" i="1" dirty="0">
                <a:solidFill>
                  <a:srgbClr val="FF0000"/>
                </a:solidFill>
                <a:latin typeface="Calibri"/>
                <a:cs typeface="Calibri"/>
              </a:rPr>
              <a:t>g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3200" b="1" i="1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3200" b="1" i="1" dirty="0">
                <a:solidFill>
                  <a:srgbClr val="FF0000"/>
                </a:solidFill>
                <a:latin typeface="Calibri"/>
                <a:cs typeface="Calibri"/>
              </a:rPr>
              <a:t>)</a:t>
            </a:r>
            <a:r>
              <a:rPr sz="3200" b="1" i="1" spc="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interms</a:t>
            </a:r>
            <a:r>
              <a:rPr sz="3200" i="1" spc="7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of</a:t>
            </a:r>
            <a:r>
              <a:rPr sz="3200" i="1" spc="75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Calibri"/>
                <a:cs typeface="Calibri"/>
              </a:rPr>
              <a:t>base </a:t>
            </a:r>
            <a:r>
              <a:rPr sz="3200" i="1" dirty="0">
                <a:latin typeface="Calibri"/>
                <a:cs typeface="Calibri"/>
              </a:rPr>
              <a:t>current</a:t>
            </a:r>
            <a:r>
              <a:rPr sz="3200" i="1" spc="-100" dirty="0">
                <a:latin typeface="Calibri"/>
                <a:cs typeface="Calibri"/>
              </a:rPr>
              <a:t> </a:t>
            </a:r>
            <a:r>
              <a:rPr sz="3200" b="1" i="1" spc="-3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400" b="1" i="1" spc="-35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4141137"/>
            <a:ext cx="4315178" cy="11129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73581" y="5572150"/>
            <a:ext cx="435292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0" dirty="0">
                <a:latin typeface="Calibri"/>
                <a:cs typeface="Calibri"/>
              </a:rPr>
              <a:t>Equivalent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circuit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model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is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5871" y="1660193"/>
            <a:ext cx="3853508" cy="275122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178041" y="4368241"/>
            <a:ext cx="173990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43965" algn="l"/>
              </a:tabLst>
            </a:pPr>
            <a:r>
              <a:rPr sz="2800" spc="-20" dirty="0">
                <a:latin typeface="Calibri"/>
                <a:cs typeface="Calibri"/>
              </a:rPr>
              <a:t>Here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28101" y="4368241"/>
            <a:ext cx="216217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932939" algn="l"/>
              </a:tabLst>
            </a:pPr>
            <a:r>
              <a:rPr sz="2800" spc="-10" dirty="0">
                <a:latin typeface="Calibri"/>
                <a:cs typeface="Calibri"/>
              </a:rPr>
              <a:t>transistor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8041" y="4795520"/>
            <a:ext cx="2983230" cy="880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085339" algn="l"/>
                <a:tab pos="2716530" algn="l"/>
              </a:tabLst>
            </a:pPr>
            <a:r>
              <a:rPr sz="2800" spc="-10" dirty="0">
                <a:latin typeface="Calibri"/>
                <a:cs typeface="Calibri"/>
              </a:rPr>
              <a:t>represented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887220" algn="l"/>
              </a:tabLst>
            </a:pP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controlled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current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72981" y="4795520"/>
            <a:ext cx="1221740" cy="880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5"/>
              </a:spcBef>
            </a:pP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current- source</a:t>
            </a:r>
            <a:r>
              <a:rPr sz="2800" spc="-10" dirty="0">
                <a:latin typeface="Calibri"/>
                <a:cs typeface="Calibri"/>
              </a:rPr>
              <a:t>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78041" y="5648959"/>
            <a:ext cx="4412615" cy="880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latin typeface="Calibri"/>
                <a:cs typeface="Calibri"/>
              </a:rPr>
              <a:t>with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control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current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being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b="1" i="1" spc="-25" dirty="0">
                <a:latin typeface="Calibri"/>
                <a:cs typeface="Calibri"/>
              </a:rPr>
              <a:t>ib</a:t>
            </a:r>
            <a:r>
              <a:rPr sz="2800" i="1" spc="-25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894" y="800176"/>
            <a:ext cx="3729354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b="1" dirty="0">
                <a:latin typeface="Calibri"/>
                <a:cs typeface="Calibri"/>
              </a:rPr>
              <a:t>HYBRID</a:t>
            </a:r>
            <a:r>
              <a:rPr sz="4000" b="1" spc="-55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π</a:t>
            </a:r>
            <a:r>
              <a:rPr sz="4000" b="1" spc="-4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MODEL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1856232"/>
            <a:ext cx="100736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894" y="800176"/>
            <a:ext cx="3729354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b="1" dirty="0">
                <a:latin typeface="Calibri"/>
                <a:cs typeface="Calibri"/>
              </a:rPr>
              <a:t>HYBRID</a:t>
            </a:r>
            <a:r>
              <a:rPr sz="4000" b="1" spc="-55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π</a:t>
            </a:r>
            <a:r>
              <a:rPr sz="4000" b="1" spc="-4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MODEL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616" y="1642872"/>
            <a:ext cx="10869168" cy="421538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31434" y="465200"/>
            <a:ext cx="193167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1" dirty="0">
                <a:latin typeface="Calibri"/>
                <a:cs typeface="Calibri"/>
              </a:rPr>
              <a:t>T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0616" y="856488"/>
            <a:ext cx="2072639" cy="59740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952744" y="1072896"/>
            <a:ext cx="4794885" cy="2871470"/>
            <a:chOff x="5952744" y="1072896"/>
            <a:chExt cx="4794885" cy="28714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2744" y="1072896"/>
              <a:ext cx="4794504" cy="10698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0" y="2072640"/>
              <a:ext cx="4255008" cy="9997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39256" y="2993136"/>
              <a:ext cx="2785872" cy="950976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44163" y="5001767"/>
            <a:ext cx="3373302" cy="109516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175250" y="3868292"/>
            <a:ext cx="5775960" cy="1307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current</a:t>
            </a:r>
            <a:r>
              <a:rPr sz="2800" spc="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controlled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source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3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3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expressed</a:t>
            </a:r>
            <a:r>
              <a:rPr sz="2800" spc="3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3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terms</a:t>
            </a:r>
            <a:r>
              <a:rPr sz="2800" spc="3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6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emitter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current.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7654" y="1642872"/>
            <a:ext cx="3266021" cy="477242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167371" y="644651"/>
            <a:ext cx="1597660" cy="585470"/>
          </a:xfrm>
          <a:prstGeom prst="rect">
            <a:avLst/>
          </a:prstGeom>
          <a:ln w="9144">
            <a:solidFill>
              <a:srgbClr val="4F81BC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50"/>
              </a:spcBef>
            </a:pPr>
            <a:r>
              <a:rPr sz="3200" b="1" spc="-10" dirty="0">
                <a:latin typeface="Calibri"/>
                <a:cs typeface="Calibri"/>
              </a:rPr>
              <a:t>Ie=ic+ib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53500" y="644651"/>
            <a:ext cx="1508760" cy="585470"/>
          </a:xfrm>
          <a:prstGeom prst="rect">
            <a:avLst/>
          </a:prstGeom>
          <a:ln w="9144">
            <a:solidFill>
              <a:srgbClr val="4F81BC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50"/>
              </a:spcBef>
            </a:pPr>
            <a:r>
              <a:rPr sz="3200" b="1" spc="-20" dirty="0">
                <a:latin typeface="Calibri"/>
                <a:cs typeface="Calibri"/>
              </a:rPr>
              <a:t>ib=ie-</a:t>
            </a:r>
            <a:r>
              <a:rPr sz="3200" b="1" spc="-25" dirty="0">
                <a:latin typeface="Calibri"/>
                <a:cs typeface="Calibri"/>
              </a:rPr>
              <a:t>ic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13130">
              <a:lnSpc>
                <a:spcPct val="100000"/>
              </a:lnSpc>
              <a:spcBef>
                <a:spcPts val="90"/>
              </a:spcBef>
            </a:pPr>
            <a:r>
              <a:rPr b="1" dirty="0">
                <a:latin typeface="Calibri"/>
                <a:cs typeface="Calibri"/>
              </a:rPr>
              <a:t>T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0616" y="856488"/>
            <a:ext cx="2072639" cy="59740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952744" y="1072896"/>
            <a:ext cx="4794885" cy="2856230"/>
            <a:chOff x="5952744" y="1072896"/>
            <a:chExt cx="4794885" cy="285623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2744" y="1072896"/>
              <a:ext cx="4794504" cy="10698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0" y="2072640"/>
              <a:ext cx="4255008" cy="9997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39256" y="2980944"/>
              <a:ext cx="2785872" cy="947927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44163" y="4858511"/>
            <a:ext cx="3373302" cy="109516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The</a:t>
            </a:r>
            <a:r>
              <a:rPr sz="2800" spc="75" dirty="0"/>
              <a:t> </a:t>
            </a:r>
            <a:r>
              <a:rPr sz="2800" dirty="0"/>
              <a:t>current</a:t>
            </a:r>
            <a:r>
              <a:rPr sz="2800" spc="85" dirty="0"/>
              <a:t> </a:t>
            </a:r>
            <a:r>
              <a:rPr sz="2800" dirty="0"/>
              <a:t>of</a:t>
            </a:r>
            <a:r>
              <a:rPr sz="2800" spc="90" dirty="0"/>
              <a:t> </a:t>
            </a:r>
            <a:r>
              <a:rPr sz="2800" dirty="0"/>
              <a:t>the</a:t>
            </a:r>
            <a:r>
              <a:rPr sz="2800" spc="100" dirty="0"/>
              <a:t> </a:t>
            </a:r>
            <a:r>
              <a:rPr sz="2800" dirty="0"/>
              <a:t>controlled</a:t>
            </a:r>
            <a:r>
              <a:rPr sz="2800" spc="60" dirty="0"/>
              <a:t> </a:t>
            </a:r>
            <a:r>
              <a:rPr sz="2800" dirty="0"/>
              <a:t>source</a:t>
            </a:r>
            <a:r>
              <a:rPr sz="2800" spc="85" dirty="0"/>
              <a:t> </a:t>
            </a:r>
            <a:r>
              <a:rPr sz="2800" spc="-25" dirty="0"/>
              <a:t>can </a:t>
            </a:r>
            <a:r>
              <a:rPr sz="2800" dirty="0"/>
              <a:t>be</a:t>
            </a:r>
            <a:r>
              <a:rPr sz="2800" spc="85" dirty="0"/>
              <a:t>  </a:t>
            </a:r>
            <a:r>
              <a:rPr sz="2800" dirty="0"/>
              <a:t>expressed</a:t>
            </a:r>
            <a:r>
              <a:rPr sz="2800" spc="85" dirty="0"/>
              <a:t>  </a:t>
            </a:r>
            <a:r>
              <a:rPr sz="2800" dirty="0"/>
              <a:t>in</a:t>
            </a:r>
            <a:r>
              <a:rPr sz="2800" spc="85" dirty="0"/>
              <a:t>  </a:t>
            </a:r>
            <a:r>
              <a:rPr sz="2800" dirty="0"/>
              <a:t>terms</a:t>
            </a:r>
            <a:r>
              <a:rPr sz="2800" spc="95" dirty="0"/>
              <a:t>  </a:t>
            </a:r>
            <a:r>
              <a:rPr sz="2800" dirty="0"/>
              <a:t>of</a:t>
            </a:r>
            <a:r>
              <a:rPr sz="2800" spc="95" dirty="0"/>
              <a:t>  </a:t>
            </a:r>
            <a:r>
              <a:rPr sz="2800" dirty="0"/>
              <a:t>the</a:t>
            </a:r>
            <a:r>
              <a:rPr sz="2800" spc="85" dirty="0"/>
              <a:t>  </a:t>
            </a:r>
            <a:r>
              <a:rPr sz="2800" spc="-10" dirty="0"/>
              <a:t>emitter current.</a:t>
            </a:r>
            <a:endParaRPr sz="2800"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82288" y="1786127"/>
            <a:ext cx="2694214" cy="42862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10354">
              <a:lnSpc>
                <a:spcPct val="100000"/>
              </a:lnSpc>
              <a:spcBef>
                <a:spcPts val="90"/>
              </a:spcBef>
            </a:pPr>
            <a:r>
              <a:rPr b="1" dirty="0">
                <a:latin typeface="Calibri"/>
                <a:cs typeface="Calibri"/>
              </a:rPr>
              <a:t>T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7232" y="1429511"/>
            <a:ext cx="3502152" cy="4953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3848" y="499872"/>
            <a:ext cx="2139696" cy="7863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66103" y="1356360"/>
            <a:ext cx="3785615" cy="49347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14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90"/>
              </a:spcBef>
            </a:pPr>
            <a:r>
              <a:rPr sz="3200" b="1" spc="-25" dirty="0">
                <a:latin typeface="Calibri"/>
                <a:cs typeface="Calibri"/>
              </a:rPr>
              <a:t>APPLICATION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SMALL</a:t>
            </a:r>
            <a:r>
              <a:rPr sz="3200" b="1" spc="-7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SIGNAL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spc="-30" dirty="0">
                <a:latin typeface="Calibri"/>
                <a:cs typeface="Calibri"/>
              </a:rPr>
              <a:t>EQUIVALENT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CIRCUIT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609420"/>
            <a:ext cx="10190480" cy="203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5080" indent="-51562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27685" algn="l"/>
                <a:tab pos="7509509" algn="l"/>
              </a:tabLst>
            </a:pPr>
            <a:r>
              <a:rPr sz="3000" b="1" dirty="0">
                <a:latin typeface="Calibri"/>
                <a:cs typeface="Calibri"/>
              </a:rPr>
              <a:t>Eliminate</a:t>
            </a:r>
            <a:r>
              <a:rPr sz="3000" b="1" spc="27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the</a:t>
            </a:r>
            <a:r>
              <a:rPr sz="3000" b="1" spc="2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signal</a:t>
            </a:r>
            <a:r>
              <a:rPr sz="3000" b="1" spc="27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source</a:t>
            </a:r>
            <a:r>
              <a:rPr sz="3000" b="1" spc="2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and</a:t>
            </a:r>
            <a:r>
              <a:rPr sz="3000" b="1" spc="26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determine</a:t>
            </a:r>
            <a:r>
              <a:rPr sz="3000" b="1" dirty="0">
                <a:latin typeface="Calibri"/>
                <a:cs typeface="Calibri"/>
              </a:rPr>
              <a:t>	the</a:t>
            </a:r>
            <a:r>
              <a:rPr sz="3000" b="1" spc="29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dc</a:t>
            </a:r>
            <a:r>
              <a:rPr sz="3000" b="1" spc="29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operating </a:t>
            </a:r>
            <a:r>
              <a:rPr sz="3000" b="1" dirty="0">
                <a:latin typeface="Calibri"/>
                <a:cs typeface="Calibri"/>
              </a:rPr>
              <a:t>point</a:t>
            </a:r>
            <a:r>
              <a:rPr sz="3000" b="1" spc="-5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of</a:t>
            </a:r>
            <a:r>
              <a:rPr sz="3000" b="1" spc="-3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the</a:t>
            </a:r>
            <a:r>
              <a:rPr sz="3000" b="1" spc="-2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BJT</a:t>
            </a:r>
            <a:r>
              <a:rPr sz="3000" b="1" spc="-2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and</a:t>
            </a:r>
            <a:r>
              <a:rPr sz="3000" b="1" spc="-7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in</a:t>
            </a:r>
            <a:r>
              <a:rPr sz="3000" b="1" spc="-2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particular</a:t>
            </a:r>
            <a:r>
              <a:rPr sz="3000" b="1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dc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collector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current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i="1" spc="-25" dirty="0">
                <a:latin typeface="Calibri"/>
                <a:cs typeface="Calibri"/>
              </a:rPr>
              <a:t>I</a:t>
            </a:r>
            <a:r>
              <a:rPr sz="2800" i="1" spc="-25" dirty="0">
                <a:latin typeface="Calibri"/>
                <a:cs typeface="Calibri"/>
              </a:rPr>
              <a:t>C</a:t>
            </a:r>
            <a:r>
              <a:rPr sz="3000" i="1" spc="-25" dirty="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5"/>
              </a:spcBef>
              <a:buFont typeface="Calibri"/>
              <a:buAutoNum type="arabicPeriod"/>
            </a:pPr>
            <a:endParaRPr sz="3000">
              <a:latin typeface="Calibri"/>
              <a:cs typeface="Calibri"/>
            </a:endParaRPr>
          </a:p>
          <a:p>
            <a:pPr marL="392430" indent="-379730">
              <a:lnSpc>
                <a:spcPct val="100000"/>
              </a:lnSpc>
              <a:buAutoNum type="arabicPeriod"/>
              <a:tabLst>
                <a:tab pos="392430" algn="l"/>
              </a:tabLst>
            </a:pPr>
            <a:r>
              <a:rPr sz="3000" b="1" dirty="0">
                <a:latin typeface="Calibri"/>
                <a:cs typeface="Calibri"/>
              </a:rPr>
              <a:t>Calculate</a:t>
            </a:r>
            <a:r>
              <a:rPr sz="3000" b="1" spc="-8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the</a:t>
            </a:r>
            <a:r>
              <a:rPr sz="3000" b="1" spc="-3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values</a:t>
            </a:r>
            <a:r>
              <a:rPr sz="3000" b="1" spc="-5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of</a:t>
            </a:r>
            <a:r>
              <a:rPr sz="3000" b="1" spc="-3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the</a:t>
            </a:r>
            <a:r>
              <a:rPr sz="3000" b="1" spc="-3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small-signal</a:t>
            </a:r>
            <a:r>
              <a:rPr sz="3000" b="1" spc="-9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model</a:t>
            </a:r>
            <a:r>
              <a:rPr sz="3000" b="1" spc="-7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parameters: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4811648"/>
            <a:ext cx="1018984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 algn="just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Calibri"/>
                <a:cs typeface="Calibri"/>
              </a:rPr>
              <a:t>3.</a:t>
            </a:r>
            <a:r>
              <a:rPr sz="3000" b="1" spc="16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Eliminate</a:t>
            </a:r>
            <a:r>
              <a:rPr sz="3000" b="1" spc="17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the</a:t>
            </a:r>
            <a:r>
              <a:rPr sz="3000" b="1" spc="17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dc</a:t>
            </a:r>
            <a:r>
              <a:rPr sz="3000" b="1" spc="1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sources</a:t>
            </a:r>
            <a:r>
              <a:rPr sz="3000" b="1" spc="17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by</a:t>
            </a:r>
            <a:r>
              <a:rPr sz="3000" b="1" spc="17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replacing</a:t>
            </a:r>
            <a:r>
              <a:rPr sz="3000" b="1" spc="1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each</a:t>
            </a:r>
            <a:r>
              <a:rPr sz="3000" b="1" spc="1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dc</a:t>
            </a:r>
            <a:r>
              <a:rPr sz="3000" b="1" spc="1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voltage</a:t>
            </a:r>
            <a:r>
              <a:rPr sz="3000" b="1" spc="17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source </a:t>
            </a:r>
            <a:r>
              <a:rPr sz="3000" b="1" dirty="0">
                <a:latin typeface="Calibri"/>
                <a:cs typeface="Calibri"/>
              </a:rPr>
              <a:t>with</a:t>
            </a:r>
            <a:r>
              <a:rPr sz="3000" b="1" spc="2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</a:t>
            </a:r>
            <a:r>
              <a:rPr sz="3000" b="1" spc="28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short</a:t>
            </a:r>
            <a:r>
              <a:rPr sz="3000" b="1" spc="2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circuit</a:t>
            </a:r>
            <a:r>
              <a:rPr sz="3000" b="1" spc="28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and</a:t>
            </a:r>
            <a:r>
              <a:rPr sz="3000" b="1" spc="27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each</a:t>
            </a:r>
            <a:r>
              <a:rPr sz="3000" b="1" spc="2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dc</a:t>
            </a:r>
            <a:r>
              <a:rPr sz="3000" spc="2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current</a:t>
            </a:r>
            <a:r>
              <a:rPr sz="3000" spc="2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source</a:t>
            </a:r>
            <a:r>
              <a:rPr sz="3000" spc="2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2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</a:t>
            </a:r>
            <a:r>
              <a:rPr sz="3000" spc="28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open </a:t>
            </a:r>
            <a:r>
              <a:rPr sz="3000" spc="-10" dirty="0">
                <a:latin typeface="Calibri"/>
                <a:cs typeface="Calibri"/>
              </a:rPr>
              <a:t>circuit.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00728" y="2648711"/>
            <a:ext cx="2661285" cy="576580"/>
            <a:chOff x="4300728" y="2648711"/>
            <a:chExt cx="2661285" cy="5765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9872" y="2713634"/>
              <a:ext cx="2642616" cy="3625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305300" y="2653283"/>
              <a:ext cx="2651760" cy="567055"/>
            </a:xfrm>
            <a:custGeom>
              <a:avLst/>
              <a:gdLst/>
              <a:ahLst/>
              <a:cxnLst/>
              <a:rect l="l" t="t" r="r" b="b"/>
              <a:pathLst>
                <a:path w="2651759" h="567055">
                  <a:moveTo>
                    <a:pt x="0" y="566927"/>
                  </a:moveTo>
                  <a:lnTo>
                    <a:pt x="2651759" y="566927"/>
                  </a:lnTo>
                  <a:lnTo>
                    <a:pt x="2651759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298447" y="3706367"/>
            <a:ext cx="2447925" cy="1091565"/>
            <a:chOff x="1298447" y="3706367"/>
            <a:chExt cx="2447925" cy="109156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1248" y="3715511"/>
              <a:ext cx="1639747" cy="107289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03019" y="3710939"/>
              <a:ext cx="2438400" cy="1082040"/>
            </a:xfrm>
            <a:custGeom>
              <a:avLst/>
              <a:gdLst/>
              <a:ahLst/>
              <a:cxnLst/>
              <a:rect l="l" t="t" r="r" b="b"/>
              <a:pathLst>
                <a:path w="2438400" h="1082039">
                  <a:moveTo>
                    <a:pt x="0" y="1082040"/>
                  </a:moveTo>
                  <a:lnTo>
                    <a:pt x="2438400" y="1082040"/>
                  </a:lnTo>
                  <a:lnTo>
                    <a:pt x="2438400" y="0"/>
                  </a:lnTo>
                  <a:lnTo>
                    <a:pt x="0" y="0"/>
                  </a:lnTo>
                  <a:lnTo>
                    <a:pt x="0" y="1082040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76658" y="3848811"/>
            <a:ext cx="1199961" cy="79979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522976" y="3642359"/>
            <a:ext cx="5572125" cy="1073150"/>
            <a:chOff x="5522976" y="3642359"/>
            <a:chExt cx="5572125" cy="107315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2976" y="3642359"/>
              <a:ext cx="1859279" cy="105460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81744" y="3642359"/>
              <a:ext cx="1712976" cy="9296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82255" y="3858767"/>
              <a:ext cx="2240279" cy="8564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14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90"/>
              </a:spcBef>
            </a:pPr>
            <a:r>
              <a:rPr sz="3200" b="1" spc="-25" dirty="0">
                <a:latin typeface="Calibri"/>
                <a:cs typeface="Calibri"/>
              </a:rPr>
              <a:t>APPLICATION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SMALL</a:t>
            </a:r>
            <a:r>
              <a:rPr sz="3200" b="1" spc="-7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SIGNAL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spc="-30" dirty="0">
                <a:latin typeface="Calibri"/>
                <a:cs typeface="Calibri"/>
              </a:rPr>
              <a:t>EQUIVALENT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CIRCUIT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223899"/>
            <a:ext cx="10192385" cy="36347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5080" indent="-344805" algn="just">
              <a:lnSpc>
                <a:spcPct val="100000"/>
              </a:lnSpc>
              <a:spcBef>
                <a:spcPts val="90"/>
              </a:spcBef>
              <a:buAutoNum type="arabicPeriod" startAt="4"/>
              <a:tabLst>
                <a:tab pos="356870" algn="l"/>
                <a:tab pos="487680" algn="l"/>
              </a:tabLst>
            </a:pPr>
            <a:r>
              <a:rPr sz="3200" b="1" dirty="0">
                <a:latin typeface="Calibri"/>
                <a:cs typeface="Calibri"/>
              </a:rPr>
              <a:t>	Replace</a:t>
            </a:r>
            <a:r>
              <a:rPr sz="3200" b="1" spc="5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5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BJT</a:t>
            </a:r>
            <a:r>
              <a:rPr sz="3200" b="1" spc="509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with</a:t>
            </a:r>
            <a:r>
              <a:rPr sz="3200" b="1" spc="4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one</a:t>
            </a:r>
            <a:r>
              <a:rPr sz="3200" b="1" spc="50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52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its</a:t>
            </a:r>
            <a:r>
              <a:rPr sz="3200" b="1" spc="52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small-</a:t>
            </a:r>
            <a:r>
              <a:rPr sz="3200" b="1" dirty="0">
                <a:latin typeface="Calibri"/>
                <a:cs typeface="Calibri"/>
              </a:rPr>
              <a:t>signal</a:t>
            </a:r>
            <a:r>
              <a:rPr sz="3200" b="1" spc="50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equivalent </a:t>
            </a:r>
            <a:r>
              <a:rPr sz="3200" b="1" dirty="0">
                <a:latin typeface="Calibri"/>
                <a:cs typeface="Calibri"/>
              </a:rPr>
              <a:t>circuit</a:t>
            </a:r>
            <a:r>
              <a:rPr sz="3200" b="1" spc="5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models.</a:t>
            </a:r>
            <a:r>
              <a:rPr sz="3200" b="1" spc="5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Although</a:t>
            </a:r>
            <a:r>
              <a:rPr sz="3200" b="1" spc="5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any</a:t>
            </a:r>
            <a:r>
              <a:rPr sz="3200" b="1" spc="5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5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5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models</a:t>
            </a:r>
            <a:r>
              <a:rPr sz="3200" spc="5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58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be </a:t>
            </a:r>
            <a:r>
              <a:rPr sz="3200" dirty="0">
                <a:latin typeface="Calibri"/>
                <a:cs typeface="Calibri"/>
              </a:rPr>
              <a:t>used,</a:t>
            </a:r>
            <a:r>
              <a:rPr sz="3200" spc="3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3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might</a:t>
            </a:r>
            <a:r>
              <a:rPr sz="3200" spc="4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3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more</a:t>
            </a:r>
            <a:r>
              <a:rPr sz="3200" spc="4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convenient</a:t>
            </a:r>
            <a:r>
              <a:rPr sz="3200" spc="4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than</a:t>
            </a:r>
            <a:r>
              <a:rPr sz="3200" spc="4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3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others</a:t>
            </a:r>
            <a:r>
              <a:rPr sz="3200" spc="3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for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particular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circuit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analyzed.</a:t>
            </a:r>
            <a:endParaRPr sz="3200">
              <a:latin typeface="Calibri"/>
              <a:cs typeface="Calibri"/>
            </a:endParaRPr>
          </a:p>
          <a:p>
            <a:pPr marL="3063240" lvl="1" indent="-184150">
              <a:lnSpc>
                <a:spcPts val="1510"/>
              </a:lnSpc>
              <a:buSzPct val="94444"/>
              <a:buFont typeface="Wingdings"/>
              <a:buChar char=""/>
              <a:tabLst>
                <a:tab pos="3063240" algn="l"/>
              </a:tabLst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Hybrid-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π</a:t>
            </a:r>
            <a:r>
              <a:rPr sz="18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endParaRPr sz="1800">
              <a:latin typeface="Calibri"/>
              <a:cs typeface="Calibri"/>
            </a:endParaRPr>
          </a:p>
          <a:p>
            <a:pPr marL="3167380" lvl="1" indent="-283210">
              <a:lnSpc>
                <a:spcPct val="100000"/>
              </a:lnSpc>
              <a:spcBef>
                <a:spcPts val="5"/>
              </a:spcBef>
              <a:buSzPct val="94444"/>
              <a:buFont typeface="Wingdings"/>
              <a:buChar char=""/>
              <a:tabLst>
                <a:tab pos="3167380" algn="l"/>
              </a:tabLst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8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endParaRPr sz="1800">
              <a:latin typeface="Calibri"/>
              <a:cs typeface="Calibri"/>
            </a:endParaRPr>
          </a:p>
          <a:p>
            <a:pPr marL="3063875" lvl="1" indent="-184150">
              <a:lnSpc>
                <a:spcPts val="1935"/>
              </a:lnSpc>
              <a:buSzPct val="94444"/>
              <a:buFont typeface="Wingdings"/>
              <a:buChar char=""/>
              <a:tabLst>
                <a:tab pos="3063875" algn="l"/>
              </a:tabLst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Hybrid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 Model</a:t>
            </a:r>
            <a:endParaRPr sz="1800">
              <a:latin typeface="Calibri"/>
              <a:cs typeface="Calibri"/>
            </a:endParaRPr>
          </a:p>
          <a:p>
            <a:pPr marL="481330" marR="12700" indent="-481330" algn="r">
              <a:lnSpc>
                <a:spcPts val="3615"/>
              </a:lnSpc>
              <a:buAutoNum type="arabicPeriod" startAt="4"/>
              <a:tabLst>
                <a:tab pos="481330" algn="l"/>
                <a:tab pos="1963420" algn="l"/>
                <a:tab pos="2691765" algn="l"/>
                <a:tab pos="4331970" algn="l"/>
                <a:tab pos="5536565" algn="l"/>
                <a:tab pos="6063615" algn="l"/>
                <a:tab pos="7987665" algn="l"/>
                <a:tab pos="8719185" algn="l"/>
              </a:tabLst>
            </a:pPr>
            <a:r>
              <a:rPr sz="3200" b="1" spc="-10" dirty="0">
                <a:latin typeface="Calibri"/>
                <a:cs typeface="Calibri"/>
              </a:rPr>
              <a:t>Analyze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25" dirty="0">
                <a:latin typeface="Calibri"/>
                <a:cs typeface="Calibri"/>
              </a:rPr>
              <a:t>the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10" dirty="0">
                <a:latin typeface="Calibri"/>
                <a:cs typeface="Calibri"/>
              </a:rPr>
              <a:t>resulting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10" dirty="0">
                <a:latin typeface="Calibri"/>
                <a:cs typeface="Calibri"/>
              </a:rPr>
              <a:t>circuit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25" dirty="0">
                <a:latin typeface="Calibri"/>
                <a:cs typeface="Calibri"/>
              </a:rPr>
              <a:t>to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10" dirty="0">
                <a:latin typeface="Calibri"/>
                <a:cs typeface="Calibri"/>
              </a:rPr>
              <a:t>determine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25" dirty="0">
                <a:latin typeface="Calibri"/>
                <a:cs typeface="Calibri"/>
              </a:rPr>
              <a:t>the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10" dirty="0">
                <a:latin typeface="Calibri"/>
                <a:cs typeface="Calibri"/>
              </a:rPr>
              <a:t>required</a:t>
            </a:r>
            <a:endParaRPr sz="3200">
              <a:latin typeface="Calibri"/>
              <a:cs typeface="Calibri"/>
            </a:endParaRPr>
          </a:p>
          <a:p>
            <a:pPr marR="29209" algn="r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quantities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(e.g.,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voltage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gain,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input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and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output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resistance).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71088" y="5205984"/>
            <a:ext cx="1518285" cy="1097280"/>
            <a:chOff x="3371088" y="5205984"/>
            <a:chExt cx="1518285" cy="10972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0232" y="5245100"/>
              <a:ext cx="1499615" cy="9291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375660" y="5210556"/>
              <a:ext cx="1508760" cy="1088390"/>
            </a:xfrm>
            <a:custGeom>
              <a:avLst/>
              <a:gdLst/>
              <a:ahLst/>
              <a:cxnLst/>
              <a:rect l="l" t="t" r="r" b="b"/>
              <a:pathLst>
                <a:path w="1508760" h="1088389">
                  <a:moveTo>
                    <a:pt x="0" y="1088136"/>
                  </a:moveTo>
                  <a:lnTo>
                    <a:pt x="1508760" y="1088136"/>
                  </a:lnTo>
                  <a:lnTo>
                    <a:pt x="1508760" y="0"/>
                  </a:lnTo>
                  <a:lnTo>
                    <a:pt x="0" y="0"/>
                  </a:lnTo>
                  <a:lnTo>
                    <a:pt x="0" y="1088136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513832" y="5419344"/>
            <a:ext cx="1493520" cy="518159"/>
            <a:chOff x="5513832" y="5419344"/>
            <a:chExt cx="1493520" cy="51815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2976" y="5478475"/>
              <a:ext cx="1475231" cy="32491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518404" y="5423916"/>
              <a:ext cx="1484630" cy="509270"/>
            </a:xfrm>
            <a:custGeom>
              <a:avLst/>
              <a:gdLst/>
              <a:ahLst/>
              <a:cxnLst/>
              <a:rect l="l" t="t" r="r" b="b"/>
              <a:pathLst>
                <a:path w="1484629" h="509270">
                  <a:moveTo>
                    <a:pt x="0" y="509016"/>
                  </a:moveTo>
                  <a:lnTo>
                    <a:pt x="1484376" y="509016"/>
                  </a:lnTo>
                  <a:lnTo>
                    <a:pt x="1484376" y="0"/>
                  </a:lnTo>
                  <a:lnTo>
                    <a:pt x="0" y="0"/>
                  </a:lnTo>
                  <a:lnTo>
                    <a:pt x="0" y="509016"/>
                  </a:lnTo>
                  <a:close/>
                </a:path>
              </a:pathLst>
            </a:custGeom>
            <a:ln w="914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906</Words>
  <Application>Microsoft Office PowerPoint</Application>
  <PresentationFormat>Widescreen</PresentationFormat>
  <Paragraphs>127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Aptos</vt:lpstr>
      <vt:lpstr>Arial</vt:lpstr>
      <vt:lpstr>Calibri</vt:lpstr>
      <vt:lpstr>Gill Sans MT</vt:lpstr>
      <vt:lpstr>Poppins</vt:lpstr>
      <vt:lpstr>Wingdings</vt:lpstr>
      <vt:lpstr>Office Theme</vt:lpstr>
      <vt:lpstr>Gallery</vt:lpstr>
      <vt:lpstr>PowerPoint Presentation</vt:lpstr>
      <vt:lpstr>Session content</vt:lpstr>
      <vt:lpstr>PowerPoint Presentation</vt:lpstr>
      <vt:lpstr>Small-Signal Operation and Models</vt:lpstr>
      <vt:lpstr>Transconductance vBE = VBE + vbe-----(1)</vt:lpstr>
      <vt:lpstr>Transconductance</vt:lpstr>
      <vt:lpstr>Transconductance</vt:lpstr>
      <vt:lpstr>Transconductance</vt:lpstr>
      <vt:lpstr>Input Resistance at the Base</vt:lpstr>
      <vt:lpstr>Input Resistance at the Emitter</vt:lpstr>
      <vt:lpstr>Input Resistance at the Emitter</vt:lpstr>
      <vt:lpstr>Voltage Gain</vt:lpstr>
      <vt:lpstr>Small Signal Operation</vt:lpstr>
      <vt:lpstr>Separating the Signal and the DC Quantities</vt:lpstr>
      <vt:lpstr>Separating the Signal and the DC Quantities</vt:lpstr>
      <vt:lpstr>Separating the Signal and the DC Quantities</vt:lpstr>
      <vt:lpstr>HYBRID π MODEL</vt:lpstr>
      <vt:lpstr>HYBRID π MODEL</vt:lpstr>
      <vt:lpstr>HYBRID π MODEL</vt:lpstr>
      <vt:lpstr>HYBRID π MODEL</vt:lpstr>
      <vt:lpstr>HYBRID π MODEL</vt:lpstr>
      <vt:lpstr>HYBRID π MODEL</vt:lpstr>
      <vt:lpstr>T Model</vt:lpstr>
      <vt:lpstr>T Model</vt:lpstr>
      <vt:lpstr>T Model</vt:lpstr>
      <vt:lpstr>APPLICATION OF THE SMALL SIGNAL EQUIVALENT CIRCUIT</vt:lpstr>
      <vt:lpstr>APPLICATION OF THE SMALL SIGNAL EQUIVALENT CIRCUIT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GORLA VENKATA GANESH</cp:lastModifiedBy>
  <cp:revision>6</cp:revision>
  <dcterms:created xsi:type="dcterms:W3CDTF">2025-07-03T09:48:17Z</dcterms:created>
  <dcterms:modified xsi:type="dcterms:W3CDTF">2025-07-04T04:25:31Z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2025-07-03T00:00:00Z</vt:filetime>
  </property>
  <property fmtid="{D5CDD505-2E9C-101B-9397-08002B2CF9AE}" pid="3" name="LastSaved">
    <vt:filetime>2025-07-03T00:00:00Z</vt:filetime>
  </property>
  <property fmtid="{D5CDD505-2E9C-101B-9397-08002B2CF9AE}" pid="4" name="Producer">
    <vt:lpwstr>iLovePDF</vt:lpwstr>
  </property>
</Properties>
</file>