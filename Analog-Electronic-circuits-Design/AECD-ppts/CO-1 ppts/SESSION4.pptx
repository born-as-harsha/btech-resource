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9"/>
  </p:notesMasterIdLst>
  <p:sldIdLst>
    <p:sldId id="418" r:id="rId3"/>
    <p:sldId id="419" r:id="rId4"/>
    <p:sldId id="420" r:id="rId5"/>
    <p:sldId id="256" r:id="rId6"/>
    <p:sldId id="257" r:id="rId7"/>
    <p:sldId id="258" r:id="rId8"/>
    <p:sldId id="259" r:id="rId9"/>
    <p:sldId id="260" r:id="rId10"/>
    <p:sldId id="421" r:id="rId11"/>
    <p:sldId id="261" r:id="rId12"/>
    <p:sldId id="262" r:id="rId13"/>
    <p:sldId id="422" r:id="rId14"/>
    <p:sldId id="340" r:id="rId15"/>
    <p:sldId id="283" r:id="rId16"/>
    <p:sldId id="268" r:id="rId17"/>
    <p:sldId id="269" r:id="rId18"/>
    <p:sldId id="270" r:id="rId19"/>
    <p:sldId id="414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79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BF16C-2EFC-4D95-BF9E-D77F0CC196B6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4170B-FC8F-45CA-B24A-64FC788F0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2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0814" y="465200"/>
            <a:ext cx="931037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3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69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99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14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18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856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780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895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672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344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349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645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3886" y="190322"/>
            <a:ext cx="9844227" cy="970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10650"/>
            <a:ext cx="10819765" cy="4433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9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24ec2104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ill Sans MT" panose="020B0502020104020203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ill Sans MT" panose="020B0502020104020203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BJT biasing circuits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Session - 04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ODD SEM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General Biasing Circuits</a:t>
            </a:r>
          </a:p>
          <a:p>
            <a:r>
              <a:rPr lang="en-IN" sz="2400" dirty="0"/>
              <a:t>Fixed Bias</a:t>
            </a:r>
          </a:p>
          <a:p>
            <a:r>
              <a:rPr lang="en-IN" sz="2400" dirty="0"/>
              <a:t>Emitter Feedback Bias</a:t>
            </a:r>
          </a:p>
          <a:p>
            <a:r>
              <a:rPr lang="en-IN" sz="2400" dirty="0"/>
              <a:t>Collector Feedback Bias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254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658894"/>
            <a:ext cx="11215640" cy="4248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demonstrate Biasing of BJT to desired Q-point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533835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2023900"/>
            <a:ext cx="11224971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This Session is designed to: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Demonstrate BJT biasing circuits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BJT desired operating point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4" y="3523536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14399" y="4028757"/>
            <a:ext cx="11196319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 the end of this session, you should be able to: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BJT biasing circuits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Select biasing circuit for given application</a:t>
            </a:r>
          </a:p>
        </p:txBody>
      </p:sp>
    </p:spTree>
    <p:extLst>
      <p:ext uri="{BB962C8B-B14F-4D97-AF65-F5344CB8AC3E}">
        <p14:creationId xmlns:p14="http://schemas.microsoft.com/office/powerpoint/2010/main" val="343847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Biasing</a:t>
            </a:r>
            <a:r>
              <a:rPr sz="4400" b="0" spc="-8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in</a:t>
            </a:r>
            <a:r>
              <a:rPr sz="4400" b="0" spc="-9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BJT</a:t>
            </a:r>
            <a:r>
              <a:rPr sz="4400" b="0" spc="-5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Amplifier</a:t>
            </a:r>
            <a:r>
              <a:rPr sz="4400" b="0" spc="-50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Circuits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10650"/>
            <a:ext cx="9011285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Fixed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Bias(Base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Bias)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Self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Bias/Voltage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Divider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Bias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Circuits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Biasing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Using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Collector-to-</a:t>
            </a:r>
            <a:r>
              <a:rPr sz="3200" b="1" dirty="0">
                <a:latin typeface="Calibri"/>
                <a:cs typeface="Calibri"/>
              </a:rPr>
              <a:t>Base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Feedback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Resistor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Biasing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Constant-</a:t>
            </a:r>
            <a:r>
              <a:rPr sz="3200" dirty="0">
                <a:latin typeface="Calibri"/>
                <a:cs typeface="Calibri"/>
              </a:rPr>
              <a:t>Current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Source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Biasing</a:t>
            </a:r>
            <a:r>
              <a:rPr sz="4400" b="0" spc="-8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in</a:t>
            </a:r>
            <a:r>
              <a:rPr sz="4400" b="0" spc="-9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BJT</a:t>
            </a:r>
            <a:r>
              <a:rPr sz="4400" b="0" spc="-5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Amplifier</a:t>
            </a:r>
            <a:r>
              <a:rPr sz="4400" b="0" spc="-50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Circuits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6735" y="5385308"/>
            <a:ext cx="8488680" cy="631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235" indent="-343535">
              <a:lnSpc>
                <a:spcPts val="2375"/>
              </a:lnSpc>
              <a:spcBef>
                <a:spcPts val="110"/>
              </a:spcBef>
              <a:buFont typeface="Wingdings"/>
              <a:buChar char=""/>
              <a:tabLst>
                <a:tab pos="35623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biasing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establishing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constant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dc</a:t>
            </a:r>
            <a:r>
              <a:rPr sz="2200" b="1" spc="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current</a:t>
            </a:r>
            <a:r>
              <a:rPr sz="2200" b="1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35687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collector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BJT.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7591" y="1213103"/>
            <a:ext cx="9504045" cy="4133215"/>
            <a:chOff x="1307591" y="1213103"/>
            <a:chExt cx="9504045" cy="4133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103" y="1213103"/>
              <a:ext cx="5788152" cy="41330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1" y="1286255"/>
              <a:ext cx="3782567" cy="34716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686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5"/>
              </a:spcBef>
            </a:pPr>
            <a:r>
              <a:rPr sz="4400" b="0" dirty="0">
                <a:latin typeface="Calibri"/>
                <a:cs typeface="Calibri"/>
              </a:rPr>
              <a:t>Biasing</a:t>
            </a:r>
            <a:r>
              <a:rPr sz="4400" b="0" spc="-8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in</a:t>
            </a:r>
            <a:r>
              <a:rPr sz="4400" b="0" spc="-8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BJT</a:t>
            </a:r>
            <a:r>
              <a:rPr sz="4400" b="0" spc="-6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Amplifier</a:t>
            </a:r>
            <a:r>
              <a:rPr sz="4400" b="0" spc="-60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Circuits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6482" y="5224094"/>
            <a:ext cx="10205720" cy="109791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760"/>
              </a:spcBef>
              <a:buFont typeface="Wingdings"/>
              <a:buChar char="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This</a:t>
            </a:r>
            <a:r>
              <a:rPr sz="2700" spc="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current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has</a:t>
            </a:r>
            <a:r>
              <a:rPr sz="2700" spc="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5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calculable,</a:t>
            </a:r>
            <a:r>
              <a:rPr sz="2700" b="1" spc="4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predictable,</a:t>
            </a:r>
            <a:r>
              <a:rPr sz="2700" b="1" spc="5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4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insensitive</a:t>
            </a:r>
            <a:r>
              <a:rPr sz="2700" b="1" spc="45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to 	</a:t>
            </a:r>
            <a:r>
              <a:rPr sz="2700" dirty="0">
                <a:latin typeface="Calibri"/>
                <a:cs typeface="Calibri"/>
              </a:rPr>
              <a:t>variations</a:t>
            </a:r>
            <a:r>
              <a:rPr sz="2700" spc="11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temperature</a:t>
            </a:r>
            <a:r>
              <a:rPr sz="2700" spc="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large</a:t>
            </a:r>
            <a:r>
              <a:rPr sz="2700" spc="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variations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value</a:t>
            </a:r>
            <a:r>
              <a:rPr sz="2700" spc="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β 	</a:t>
            </a:r>
            <a:r>
              <a:rPr sz="2700" spc="-10" dirty="0">
                <a:latin typeface="Calibri"/>
                <a:cs typeface="Calibri"/>
              </a:rPr>
              <a:t>encountered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among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transistors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same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type.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232" y="1213103"/>
            <a:ext cx="5715000" cy="40843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9344" y="1149088"/>
            <a:ext cx="3619500" cy="3733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Biasing</a:t>
            </a:r>
            <a:r>
              <a:rPr sz="4400" b="0" spc="-8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in</a:t>
            </a:r>
            <a:r>
              <a:rPr sz="4400" b="0" spc="-9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BJT</a:t>
            </a:r>
            <a:r>
              <a:rPr sz="4400" b="0" spc="-5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Amplifier</a:t>
            </a:r>
            <a:r>
              <a:rPr sz="4400" b="0" spc="-50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Circuits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4886" y="1366774"/>
            <a:ext cx="3690620" cy="3927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6075" algn="just">
              <a:lnSpc>
                <a:spcPct val="100000"/>
              </a:lnSpc>
              <a:spcBef>
                <a:spcPts val="90"/>
              </a:spcBef>
              <a:buSzPct val="96875"/>
              <a:buFont typeface="Wingdings"/>
              <a:buChar char=""/>
              <a:tabLst>
                <a:tab pos="356870" algn="l"/>
                <a:tab pos="374015" algn="l"/>
              </a:tabLst>
            </a:pPr>
            <a:r>
              <a:rPr sz="3200" dirty="0">
                <a:latin typeface="Calibri"/>
                <a:cs typeface="Calibri"/>
              </a:rPr>
              <a:t>	Another</a:t>
            </a:r>
            <a:r>
              <a:rPr sz="3200" spc="31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important </a:t>
            </a:r>
            <a:r>
              <a:rPr sz="3200" dirty="0">
                <a:latin typeface="Calibri"/>
                <a:cs typeface="Calibri"/>
              </a:rPr>
              <a:t>consideration</a:t>
            </a:r>
            <a:r>
              <a:rPr sz="3200" spc="705" dirty="0">
                <a:latin typeface="Calibri"/>
                <a:cs typeface="Calibri"/>
              </a:rPr>
              <a:t>    </a:t>
            </a:r>
            <a:r>
              <a:rPr sz="3200" spc="-25" dirty="0">
                <a:latin typeface="Calibri"/>
                <a:cs typeface="Calibri"/>
              </a:rPr>
              <a:t>in</a:t>
            </a:r>
            <a:endParaRPr sz="3200">
              <a:latin typeface="Calibri"/>
              <a:cs typeface="Calibri"/>
            </a:endParaRPr>
          </a:p>
          <a:p>
            <a:pPr marL="356870" marR="6350" algn="just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bias</a:t>
            </a:r>
            <a:r>
              <a:rPr sz="3200" spc="570" dirty="0">
                <a:latin typeface="Calibri"/>
                <a:cs typeface="Calibri"/>
              </a:rPr>
              <a:t>    </a:t>
            </a: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570" dirty="0">
                <a:latin typeface="Calibri"/>
                <a:cs typeface="Calibri"/>
              </a:rPr>
              <a:t>   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b="1" dirty="0">
                <a:latin typeface="Calibri"/>
                <a:cs typeface="Calibri"/>
              </a:rPr>
              <a:t>locating</a:t>
            </a:r>
            <a:r>
              <a:rPr sz="3200" b="1" spc="1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1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dc</a:t>
            </a:r>
            <a:r>
              <a:rPr sz="3200" b="1" spc="13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bias </a:t>
            </a:r>
            <a:r>
              <a:rPr sz="3200" b="1" dirty="0">
                <a:latin typeface="Calibri"/>
                <a:cs typeface="Calibri"/>
              </a:rPr>
              <a:t>point</a:t>
            </a:r>
            <a:r>
              <a:rPr sz="3200" b="1" spc="3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3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37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iC–vCE </a:t>
            </a:r>
            <a:r>
              <a:rPr sz="3200" i="1" dirty="0">
                <a:latin typeface="Calibri"/>
                <a:cs typeface="Calibri"/>
              </a:rPr>
              <a:t>plane</a:t>
            </a:r>
            <a:r>
              <a:rPr sz="3200" i="1" spc="160" dirty="0">
                <a:latin typeface="Calibri"/>
                <a:cs typeface="Calibri"/>
              </a:rPr>
              <a:t>  </a:t>
            </a:r>
            <a:r>
              <a:rPr sz="3200" i="1" dirty="0">
                <a:latin typeface="Calibri"/>
                <a:cs typeface="Calibri"/>
              </a:rPr>
              <a:t>to</a:t>
            </a:r>
            <a:r>
              <a:rPr sz="3200" i="1" spc="165" dirty="0">
                <a:latin typeface="Calibri"/>
                <a:cs typeface="Calibri"/>
              </a:rPr>
              <a:t>  </a:t>
            </a:r>
            <a:r>
              <a:rPr sz="3200" i="1" dirty="0">
                <a:latin typeface="Calibri"/>
                <a:cs typeface="Calibri"/>
              </a:rPr>
              <a:t>allow</a:t>
            </a:r>
            <a:r>
              <a:rPr sz="3200" i="1" spc="165" dirty="0">
                <a:latin typeface="Calibri"/>
                <a:cs typeface="Calibri"/>
              </a:rPr>
              <a:t>  </a:t>
            </a:r>
            <a:r>
              <a:rPr sz="3200" i="1" spc="-25" dirty="0">
                <a:latin typeface="Calibri"/>
                <a:cs typeface="Calibri"/>
              </a:rPr>
              <a:t>for </a:t>
            </a:r>
            <a:r>
              <a:rPr sz="3200" i="1" dirty="0">
                <a:latin typeface="Calibri"/>
                <a:cs typeface="Calibri"/>
              </a:rPr>
              <a:t>maximum</a:t>
            </a:r>
            <a:r>
              <a:rPr sz="3200" i="1" spc="635" dirty="0">
                <a:latin typeface="Calibri"/>
                <a:cs typeface="Calibri"/>
              </a:rPr>
              <a:t>   </a:t>
            </a:r>
            <a:r>
              <a:rPr sz="3200" spc="-10" dirty="0">
                <a:latin typeface="Calibri"/>
                <a:cs typeface="Calibri"/>
              </a:rPr>
              <a:t>output </a:t>
            </a:r>
            <a:r>
              <a:rPr sz="3200" dirty="0">
                <a:latin typeface="Calibri"/>
                <a:cs typeface="Calibri"/>
              </a:rPr>
              <a:t>signal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swing.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356360"/>
            <a:ext cx="6501384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126" y="332943"/>
            <a:ext cx="458216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dirty="0">
                <a:latin typeface="Calibri"/>
                <a:cs typeface="Calibri"/>
              </a:rPr>
              <a:t>Fixed</a:t>
            </a:r>
            <a:r>
              <a:rPr sz="4400" b="0" spc="-17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Bias/Base</a:t>
            </a:r>
            <a:r>
              <a:rPr sz="4400" b="0" spc="-18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17807" y="1317916"/>
            <a:ext cx="6434455" cy="3568700"/>
            <a:chOff x="1417807" y="1317916"/>
            <a:chExt cx="6434455" cy="3568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807" y="1317916"/>
              <a:ext cx="6433840" cy="35683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99010" y="4267697"/>
              <a:ext cx="1474470" cy="0"/>
            </a:xfrm>
            <a:custGeom>
              <a:avLst/>
              <a:gdLst/>
              <a:ahLst/>
              <a:cxnLst/>
              <a:rect l="l" t="t" r="r" b="b"/>
              <a:pathLst>
                <a:path w="1474470">
                  <a:moveTo>
                    <a:pt x="0" y="0"/>
                  </a:moveTo>
                  <a:lnTo>
                    <a:pt x="1474446" y="0"/>
                  </a:lnTo>
                </a:path>
              </a:pathLst>
            </a:custGeom>
            <a:ln w="12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16735" y="5092446"/>
            <a:ext cx="79203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Two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obvious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schemes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biasing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BJT: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(a)</a:t>
            </a:r>
            <a:r>
              <a:rPr sz="1800" b="1" spc="1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by</a:t>
            </a:r>
            <a:r>
              <a:rPr sz="1800" b="1" spc="2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fixing</a:t>
            </a:r>
            <a:r>
              <a:rPr sz="1800" b="1" spc="2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VBE;</a:t>
            </a:r>
            <a:r>
              <a:rPr sz="1800" b="1" i="1" spc="204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(b)</a:t>
            </a:r>
            <a:r>
              <a:rPr sz="1800" b="1" i="1" spc="19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by</a:t>
            </a:r>
            <a:r>
              <a:rPr sz="1800" b="1" i="1" spc="19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fixing</a:t>
            </a:r>
            <a:r>
              <a:rPr sz="1800" b="1" i="1" spc="2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IB.</a:t>
            </a:r>
            <a:r>
              <a:rPr sz="1800" b="1" i="1" spc="200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Both </a:t>
            </a:r>
            <a:r>
              <a:rPr sz="1800" b="1" i="1" dirty="0">
                <a:latin typeface="Calibri"/>
                <a:cs typeface="Calibri"/>
              </a:rPr>
              <a:t>result</a:t>
            </a:r>
            <a:r>
              <a:rPr sz="1800" b="1" i="1" spc="1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wide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variations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IC</a:t>
            </a:r>
            <a:r>
              <a:rPr sz="1800" i="1" spc="1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1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hence</a:t>
            </a:r>
            <a:r>
              <a:rPr sz="1800" i="1" spc="1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</a:t>
            </a:r>
            <a:r>
              <a:rPr sz="1800" i="1" spc="1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VCE</a:t>
            </a:r>
            <a:r>
              <a:rPr sz="1800" i="1" spc="1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1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therefore</a:t>
            </a:r>
            <a:r>
              <a:rPr sz="1800" i="1" spc="1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are</a:t>
            </a:r>
            <a:r>
              <a:rPr sz="1800" i="1" spc="1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considered</a:t>
            </a:r>
            <a:r>
              <a:rPr sz="1800" i="1" spc="1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12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be </a:t>
            </a:r>
            <a:r>
              <a:rPr sz="1800" i="1" spc="-10" dirty="0">
                <a:latin typeface="Calibri"/>
                <a:cs typeface="Calibri"/>
              </a:rPr>
              <a:t>“bad.”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Neither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scheme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recommended.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7974" y="4210707"/>
            <a:ext cx="318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i="1" spc="145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9881" y="4504590"/>
            <a:ext cx="131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i="1" spc="25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5632" y="3757098"/>
            <a:ext cx="1779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600" spc="172" baseline="-20833" dirty="0">
                <a:latin typeface="Symbol"/>
                <a:cs typeface="Symbol"/>
              </a:rPr>
              <a:t></a:t>
            </a:r>
            <a:r>
              <a:rPr sz="3600" spc="-300" baseline="-20833" dirty="0">
                <a:latin typeface="Times New Roman"/>
                <a:cs typeface="Times New Roman"/>
              </a:rPr>
              <a:t> </a:t>
            </a:r>
            <a:r>
              <a:rPr sz="5400" i="1" spc="292" baseline="2314" dirty="0">
                <a:latin typeface="Times New Roman"/>
                <a:cs typeface="Times New Roman"/>
              </a:rPr>
              <a:t>V</a:t>
            </a:r>
            <a:r>
              <a:rPr sz="5400" i="1" spc="-652" baseline="23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CC</a:t>
            </a:r>
            <a:r>
              <a:rPr sz="1400" i="1" spc="240" dirty="0">
                <a:latin typeface="Times New Roman"/>
                <a:cs typeface="Times New Roman"/>
              </a:rPr>
              <a:t> </a:t>
            </a:r>
            <a:r>
              <a:rPr sz="3600" spc="240" baseline="20833" dirty="0">
                <a:latin typeface="Symbol"/>
                <a:cs typeface="Symbol"/>
              </a:rPr>
              <a:t></a:t>
            </a:r>
            <a:r>
              <a:rPr sz="5400" i="1" spc="240" baseline="2314" dirty="0">
                <a:latin typeface="Times New Roman"/>
                <a:cs typeface="Times New Roman"/>
              </a:rPr>
              <a:t>V</a:t>
            </a:r>
            <a:r>
              <a:rPr sz="5400" i="1" spc="-525" baseline="2314" dirty="0">
                <a:latin typeface="Times New Roman"/>
                <a:cs typeface="Times New Roman"/>
              </a:rPr>
              <a:t> </a:t>
            </a:r>
            <a:r>
              <a:rPr sz="1400" i="1" spc="70" dirty="0">
                <a:latin typeface="Times New Roman"/>
                <a:cs typeface="Times New Roman"/>
              </a:rPr>
              <a:t>BE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9698" y="4229110"/>
            <a:ext cx="142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25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5585" y="4025764"/>
            <a:ext cx="123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20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23132" y="3771900"/>
            <a:ext cx="2243455" cy="984885"/>
          </a:xfrm>
          <a:custGeom>
            <a:avLst/>
            <a:gdLst/>
            <a:ahLst/>
            <a:cxnLst/>
            <a:rect l="l" t="t" r="r" b="b"/>
            <a:pathLst>
              <a:path w="2243454" h="984885">
                <a:moveTo>
                  <a:pt x="0" y="984504"/>
                </a:moveTo>
                <a:lnTo>
                  <a:pt x="2243328" y="984504"/>
                </a:lnTo>
                <a:lnTo>
                  <a:pt x="2243328" y="0"/>
                </a:lnTo>
                <a:lnTo>
                  <a:pt x="0" y="0"/>
                </a:lnTo>
                <a:lnTo>
                  <a:pt x="0" y="98450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470407" y="2691676"/>
            <a:ext cx="2032635" cy="576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3600" spc="382" baseline="20833" dirty="0">
                <a:latin typeface="Symbol"/>
                <a:cs typeface="Symbol"/>
              </a:rPr>
              <a:t></a:t>
            </a:r>
            <a:r>
              <a:rPr sz="5400" i="1" spc="382" baseline="2314" dirty="0">
                <a:latin typeface="Times New Roman"/>
                <a:cs typeface="Times New Roman"/>
              </a:rPr>
              <a:t>V</a:t>
            </a:r>
            <a:r>
              <a:rPr sz="1400" i="1" spc="254" dirty="0">
                <a:latin typeface="Times New Roman"/>
                <a:cs typeface="Times New Roman"/>
              </a:rPr>
              <a:t>CC</a:t>
            </a:r>
            <a:r>
              <a:rPr sz="1400" i="1" spc="170" dirty="0">
                <a:latin typeface="Times New Roman"/>
                <a:cs typeface="Times New Roman"/>
              </a:rPr>
              <a:t> </a:t>
            </a:r>
            <a:r>
              <a:rPr sz="3600" spc="254" baseline="20833" dirty="0">
                <a:latin typeface="Symbol"/>
                <a:cs typeface="Symbol"/>
              </a:rPr>
              <a:t></a:t>
            </a:r>
            <a:r>
              <a:rPr sz="3600" spc="-225" baseline="20833" dirty="0">
                <a:latin typeface="Times New Roman"/>
                <a:cs typeface="Times New Roman"/>
              </a:rPr>
              <a:t> </a:t>
            </a:r>
            <a:r>
              <a:rPr sz="5400" i="1" spc="405" baseline="2314" dirty="0">
                <a:latin typeface="Times New Roman"/>
                <a:cs typeface="Times New Roman"/>
              </a:rPr>
              <a:t>I</a:t>
            </a:r>
            <a:r>
              <a:rPr sz="1400" i="1" spc="270" dirty="0">
                <a:latin typeface="Times New Roman"/>
                <a:cs typeface="Times New Roman"/>
              </a:rPr>
              <a:t>C</a:t>
            </a:r>
            <a:r>
              <a:rPr sz="1400" i="1" spc="165" dirty="0">
                <a:latin typeface="Times New Roman"/>
                <a:cs typeface="Times New Roman"/>
              </a:rPr>
              <a:t> </a:t>
            </a:r>
            <a:r>
              <a:rPr sz="5400" i="1" spc="150" baseline="2314" dirty="0">
                <a:latin typeface="Times New Roman"/>
                <a:cs typeface="Times New Roman"/>
              </a:rPr>
              <a:t>R</a:t>
            </a:r>
            <a:r>
              <a:rPr sz="1400" i="1" spc="100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05588" y="2804400"/>
            <a:ext cx="50736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Times New Roman"/>
                <a:cs typeface="Times New Roman"/>
              </a:rPr>
              <a:t>CE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854442" y="2118603"/>
            <a:ext cx="2701290" cy="1128395"/>
            <a:chOff x="7854442" y="2118603"/>
            <a:chExt cx="2701290" cy="1128395"/>
          </a:xfrm>
        </p:grpSpPr>
        <p:sp>
          <p:nvSpPr>
            <p:cNvPr id="16" name="object 16"/>
            <p:cNvSpPr/>
            <p:nvPr/>
          </p:nvSpPr>
          <p:spPr>
            <a:xfrm>
              <a:off x="7868412" y="2702051"/>
              <a:ext cx="2673350" cy="530860"/>
            </a:xfrm>
            <a:custGeom>
              <a:avLst/>
              <a:gdLst/>
              <a:ahLst/>
              <a:cxnLst/>
              <a:rect l="l" t="t" r="r" b="b"/>
              <a:pathLst>
                <a:path w="2673350" h="530860">
                  <a:moveTo>
                    <a:pt x="0" y="530351"/>
                  </a:moveTo>
                  <a:lnTo>
                    <a:pt x="2673096" y="530351"/>
                  </a:lnTo>
                  <a:lnTo>
                    <a:pt x="2673096" y="0"/>
                  </a:lnTo>
                  <a:lnTo>
                    <a:pt x="0" y="0"/>
                  </a:lnTo>
                  <a:lnTo>
                    <a:pt x="0" y="530351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00261" y="2124953"/>
              <a:ext cx="1473200" cy="0"/>
            </a:xfrm>
            <a:custGeom>
              <a:avLst/>
              <a:gdLst/>
              <a:ahLst/>
              <a:cxnLst/>
              <a:rect l="l" t="t" r="r" b="b"/>
              <a:pathLst>
                <a:path w="1473200">
                  <a:moveTo>
                    <a:pt x="0" y="0"/>
                  </a:moveTo>
                  <a:lnTo>
                    <a:pt x="1473081" y="0"/>
                  </a:lnTo>
                </a:path>
              </a:pathLst>
            </a:custGeom>
            <a:ln w="12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68540" y="986027"/>
            <a:ext cx="1460500" cy="506095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ts val="3160"/>
              </a:lnSpc>
            </a:pPr>
            <a:r>
              <a:rPr sz="5250" i="1" spc="419" baseline="-11904" dirty="0">
                <a:latin typeface="Times New Roman"/>
                <a:cs typeface="Times New Roman"/>
              </a:rPr>
              <a:t>I</a:t>
            </a:r>
            <a:r>
              <a:rPr sz="2025" i="1" spc="419" baseline="-34979" dirty="0">
                <a:latin typeface="Times New Roman"/>
                <a:cs typeface="Times New Roman"/>
              </a:rPr>
              <a:t>C</a:t>
            </a:r>
            <a:r>
              <a:rPr sz="2025" i="1" spc="525" baseline="-34979" dirty="0">
                <a:latin typeface="Times New Roman"/>
                <a:cs typeface="Times New Roman"/>
              </a:rPr>
              <a:t>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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5250" i="1" spc="172" baseline="-11904" dirty="0">
                <a:latin typeface="Times New Roman"/>
                <a:cs typeface="Times New Roman"/>
              </a:rPr>
              <a:t>I</a:t>
            </a:r>
            <a:r>
              <a:rPr sz="5250" i="1" spc="-652" baseline="-11904" dirty="0">
                <a:latin typeface="Times New Roman"/>
                <a:cs typeface="Times New Roman"/>
              </a:rPr>
              <a:t> </a:t>
            </a:r>
            <a:r>
              <a:rPr sz="2025" i="1" spc="60" baseline="-34979" dirty="0">
                <a:latin typeface="Times New Roman"/>
                <a:cs typeface="Times New Roman"/>
              </a:rPr>
              <a:t>B</a:t>
            </a:r>
            <a:endParaRPr sz="2025" baseline="-3497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26354" y="2361846"/>
            <a:ext cx="1422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i="1" spc="2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17233" y="1614354"/>
            <a:ext cx="1755139" cy="102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3945"/>
              </a:lnSpc>
              <a:spcBef>
                <a:spcPts val="100"/>
              </a:spcBef>
            </a:pPr>
            <a:r>
              <a:rPr sz="3600" spc="172" baseline="-20833" dirty="0">
                <a:latin typeface="Symbol"/>
                <a:cs typeface="Symbol"/>
              </a:rPr>
              <a:t></a:t>
            </a:r>
            <a:r>
              <a:rPr sz="3600" spc="-292" baseline="-20833" dirty="0">
                <a:latin typeface="Times New Roman"/>
                <a:cs typeface="Times New Roman"/>
              </a:rPr>
              <a:t> </a:t>
            </a:r>
            <a:r>
              <a:rPr sz="5400" i="1" spc="292" baseline="2314" dirty="0">
                <a:latin typeface="Times New Roman"/>
                <a:cs typeface="Times New Roman"/>
              </a:rPr>
              <a:t>V</a:t>
            </a:r>
            <a:r>
              <a:rPr sz="5400" i="1" spc="-660" baseline="23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CC</a:t>
            </a:r>
            <a:r>
              <a:rPr sz="1400" i="1" spc="235" dirty="0">
                <a:latin typeface="Times New Roman"/>
                <a:cs typeface="Times New Roman"/>
              </a:rPr>
              <a:t> </a:t>
            </a:r>
            <a:r>
              <a:rPr sz="3600" spc="240" baseline="20833" dirty="0">
                <a:latin typeface="Symbol"/>
                <a:cs typeface="Symbol"/>
              </a:rPr>
              <a:t></a:t>
            </a:r>
            <a:r>
              <a:rPr sz="5400" i="1" spc="240" baseline="2314" dirty="0">
                <a:latin typeface="Times New Roman"/>
                <a:cs typeface="Times New Roman"/>
              </a:rPr>
              <a:t>V</a:t>
            </a:r>
            <a:r>
              <a:rPr sz="5400" i="1" spc="-652" baseline="2314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CE</a:t>
            </a:r>
            <a:endParaRPr sz="1400">
              <a:latin typeface="Times New Roman"/>
              <a:cs typeface="Times New Roman"/>
            </a:endParaRPr>
          </a:p>
          <a:p>
            <a:pPr marL="168275" algn="ctr">
              <a:lnSpc>
                <a:spcPts val="3945"/>
              </a:lnSpc>
            </a:pPr>
            <a:r>
              <a:rPr sz="3600" i="1" spc="145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08371" y="2086366"/>
            <a:ext cx="1422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2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87669" y="1883020"/>
            <a:ext cx="123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20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25283" y="1629155"/>
            <a:ext cx="2240280" cy="984885"/>
          </a:xfrm>
          <a:custGeom>
            <a:avLst/>
            <a:gdLst/>
            <a:ahLst/>
            <a:cxnLst/>
            <a:rect l="l" t="t" r="r" b="b"/>
            <a:pathLst>
              <a:path w="2240279" h="984885">
                <a:moveTo>
                  <a:pt x="0" y="984503"/>
                </a:moveTo>
                <a:lnTo>
                  <a:pt x="2240279" y="984503"/>
                </a:lnTo>
                <a:lnTo>
                  <a:pt x="2240279" y="0"/>
                </a:lnTo>
                <a:lnTo>
                  <a:pt x="0" y="0"/>
                </a:lnTo>
                <a:lnTo>
                  <a:pt x="0" y="984503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189216" y="3874248"/>
            <a:ext cx="50800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Times New Roman"/>
                <a:cs typeface="Times New Roman"/>
              </a:rPr>
              <a:t>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94219" y="3771900"/>
            <a:ext cx="2222500" cy="1247140"/>
          </a:xfrm>
          <a:custGeom>
            <a:avLst/>
            <a:gdLst/>
            <a:ahLst/>
            <a:cxnLst/>
            <a:rect l="l" t="t" r="r" b="b"/>
            <a:pathLst>
              <a:path w="2222500" h="1247139">
                <a:moveTo>
                  <a:pt x="57911" y="530351"/>
                </a:moveTo>
                <a:lnTo>
                  <a:pt x="2221991" y="530351"/>
                </a:lnTo>
                <a:lnTo>
                  <a:pt x="2221991" y="0"/>
                </a:lnTo>
                <a:lnTo>
                  <a:pt x="57911" y="0"/>
                </a:lnTo>
                <a:lnTo>
                  <a:pt x="57911" y="530351"/>
                </a:lnTo>
                <a:close/>
              </a:path>
              <a:path w="2222500" h="1247139">
                <a:moveTo>
                  <a:pt x="0" y="1246632"/>
                </a:moveTo>
                <a:lnTo>
                  <a:pt x="2136648" y="1246632"/>
                </a:lnTo>
                <a:lnTo>
                  <a:pt x="2136648" y="716280"/>
                </a:lnTo>
                <a:lnTo>
                  <a:pt x="0" y="716280"/>
                </a:lnTo>
                <a:lnTo>
                  <a:pt x="0" y="124663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688672" y="4360765"/>
            <a:ext cx="2992755" cy="576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239010" algn="l"/>
              </a:tabLst>
            </a:pPr>
            <a:r>
              <a:rPr sz="2400" spc="375" dirty="0">
                <a:latin typeface="Symbol"/>
                <a:cs typeface="Symbol"/>
              </a:rPr>
              <a:t></a:t>
            </a:r>
            <a:r>
              <a:rPr sz="5400" i="1" spc="562" baseline="-11574" dirty="0">
                <a:latin typeface="Times New Roman"/>
                <a:cs typeface="Times New Roman"/>
              </a:rPr>
              <a:t>V</a:t>
            </a:r>
            <a:r>
              <a:rPr sz="2100" i="1" spc="562" baseline="-35714" dirty="0">
                <a:latin typeface="Times New Roman"/>
                <a:cs typeface="Times New Roman"/>
              </a:rPr>
              <a:t>B</a:t>
            </a:r>
            <a:r>
              <a:rPr sz="2100" i="1" spc="157" baseline="-35714" dirty="0">
                <a:latin typeface="Times New Roman"/>
                <a:cs typeface="Times New Roman"/>
              </a:rPr>
              <a:t> </a:t>
            </a:r>
            <a:r>
              <a:rPr sz="2400" spc="300" dirty="0">
                <a:latin typeface="Symbol"/>
                <a:cs typeface="Symbol"/>
              </a:rPr>
              <a:t></a:t>
            </a:r>
            <a:r>
              <a:rPr sz="5400" i="1" spc="450" baseline="-11574" dirty="0">
                <a:latin typeface="Times New Roman"/>
                <a:cs typeface="Times New Roman"/>
              </a:rPr>
              <a:t>V</a:t>
            </a:r>
            <a:r>
              <a:rPr sz="2100" i="1" spc="450" baseline="-35714" dirty="0">
                <a:latin typeface="Times New Roman"/>
                <a:cs typeface="Times New Roman"/>
              </a:rPr>
              <a:t>E</a:t>
            </a:r>
            <a:r>
              <a:rPr sz="2100" i="1" baseline="-35714" dirty="0">
                <a:latin typeface="Times New Roman"/>
                <a:cs typeface="Times New Roman"/>
              </a:rPr>
              <a:t>	</a:t>
            </a:r>
            <a:r>
              <a:rPr sz="2400" spc="355" dirty="0">
                <a:latin typeface="Symbol"/>
                <a:cs typeface="Symbol"/>
              </a:rPr>
              <a:t></a:t>
            </a:r>
            <a:r>
              <a:rPr sz="5400" i="1" spc="532" baseline="-11574" dirty="0">
                <a:latin typeface="Times New Roman"/>
                <a:cs typeface="Times New Roman"/>
              </a:rPr>
              <a:t>V</a:t>
            </a:r>
            <a:r>
              <a:rPr sz="2100" i="1" spc="532" baseline="-35714" dirty="0">
                <a:latin typeface="Times New Roman"/>
                <a:cs typeface="Times New Roman"/>
              </a:rPr>
              <a:t>B</a:t>
            </a:r>
            <a:endParaRPr sz="2100" baseline="-35714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19083" y="4590528"/>
            <a:ext cx="273875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238375" algn="l"/>
              </a:tabLst>
            </a:pPr>
            <a:r>
              <a:rPr sz="3600" spc="-37" baseline="13888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Times New Roman"/>
                <a:cs typeface="Times New Roman"/>
              </a:rPr>
              <a:t>BE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3600" spc="-37" baseline="13888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Times New Roman"/>
                <a:cs typeface="Times New Roman"/>
              </a:rPr>
              <a:t>BE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294876" y="4488179"/>
            <a:ext cx="1408430" cy="530860"/>
          </a:xfrm>
          <a:custGeom>
            <a:avLst/>
            <a:gdLst/>
            <a:ahLst/>
            <a:cxnLst/>
            <a:rect l="l" t="t" r="r" b="b"/>
            <a:pathLst>
              <a:path w="1408429" h="530860">
                <a:moveTo>
                  <a:pt x="0" y="530352"/>
                </a:moveTo>
                <a:lnTo>
                  <a:pt x="1408176" y="530352"/>
                </a:lnTo>
                <a:lnTo>
                  <a:pt x="1408176" y="0"/>
                </a:lnTo>
                <a:lnTo>
                  <a:pt x="0" y="0"/>
                </a:lnTo>
                <a:lnTo>
                  <a:pt x="0" y="53035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744185" y="3644485"/>
            <a:ext cx="3057525" cy="576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305050" algn="l"/>
              </a:tabLst>
            </a:pPr>
            <a:r>
              <a:rPr sz="2400" spc="340" dirty="0">
                <a:latin typeface="Symbol"/>
                <a:cs typeface="Symbol"/>
              </a:rPr>
              <a:t></a:t>
            </a:r>
            <a:r>
              <a:rPr sz="5400" i="1" spc="509" baseline="-11574" dirty="0">
                <a:latin typeface="Times New Roman"/>
                <a:cs typeface="Times New Roman"/>
              </a:rPr>
              <a:t>V</a:t>
            </a:r>
            <a:r>
              <a:rPr sz="2100" i="1" spc="509" baseline="-35714" dirty="0">
                <a:latin typeface="Times New Roman"/>
                <a:cs typeface="Times New Roman"/>
              </a:rPr>
              <a:t>C</a:t>
            </a:r>
            <a:r>
              <a:rPr sz="2100" i="1" spc="225" baseline="-35714" dirty="0">
                <a:latin typeface="Times New Roman"/>
                <a:cs typeface="Times New Roman"/>
              </a:rPr>
              <a:t> </a:t>
            </a:r>
            <a:r>
              <a:rPr sz="2400" spc="295" dirty="0">
                <a:latin typeface="Symbol"/>
                <a:cs typeface="Symbol"/>
              </a:rPr>
              <a:t></a:t>
            </a:r>
            <a:r>
              <a:rPr sz="5400" i="1" spc="442" baseline="-11574" dirty="0">
                <a:latin typeface="Times New Roman"/>
                <a:cs typeface="Times New Roman"/>
              </a:rPr>
              <a:t>V</a:t>
            </a:r>
            <a:r>
              <a:rPr sz="2100" i="1" spc="442" baseline="-35714" dirty="0">
                <a:latin typeface="Times New Roman"/>
                <a:cs typeface="Times New Roman"/>
              </a:rPr>
              <a:t>E</a:t>
            </a:r>
            <a:r>
              <a:rPr sz="2100" i="1" baseline="-35714" dirty="0">
                <a:latin typeface="Times New Roman"/>
                <a:cs typeface="Times New Roman"/>
              </a:rPr>
              <a:t>	</a:t>
            </a:r>
            <a:r>
              <a:rPr sz="2400" spc="325" dirty="0">
                <a:latin typeface="Symbol"/>
                <a:cs typeface="Symbol"/>
              </a:rPr>
              <a:t></a:t>
            </a:r>
            <a:r>
              <a:rPr sz="5400" i="1" spc="487" baseline="-11574" dirty="0">
                <a:latin typeface="Times New Roman"/>
                <a:cs typeface="Times New Roman"/>
              </a:rPr>
              <a:t>V</a:t>
            </a:r>
            <a:r>
              <a:rPr sz="2100" i="1" spc="487" baseline="-35714" dirty="0">
                <a:latin typeface="Times New Roman"/>
                <a:cs typeface="Times New Roman"/>
              </a:rPr>
              <a:t>C</a:t>
            </a:r>
            <a:endParaRPr sz="2100" baseline="-3571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54169" y="3874248"/>
            <a:ext cx="50990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Times New Roman"/>
                <a:cs typeface="Times New Roman"/>
              </a:rPr>
              <a:t>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416795" y="3771900"/>
            <a:ext cx="1408430" cy="530860"/>
          </a:xfrm>
          <a:custGeom>
            <a:avLst/>
            <a:gdLst/>
            <a:ahLst/>
            <a:cxnLst/>
            <a:rect l="l" t="t" r="r" b="b"/>
            <a:pathLst>
              <a:path w="1408429" h="530860">
                <a:moveTo>
                  <a:pt x="0" y="530351"/>
                </a:moveTo>
                <a:lnTo>
                  <a:pt x="1408176" y="530351"/>
                </a:lnTo>
                <a:lnTo>
                  <a:pt x="1408176" y="0"/>
                </a:lnTo>
                <a:lnTo>
                  <a:pt x="0" y="0"/>
                </a:lnTo>
                <a:lnTo>
                  <a:pt x="0" y="530351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963918" y="3272407"/>
            <a:ext cx="944244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Times New Roman"/>
                <a:cs typeface="Times New Roman"/>
              </a:rPr>
              <a:t>V</a:t>
            </a:r>
            <a:r>
              <a:rPr sz="2100" baseline="-23809" dirty="0">
                <a:latin typeface="Times New Roman"/>
                <a:cs typeface="Times New Roman"/>
              </a:rPr>
              <a:t>E</a:t>
            </a:r>
            <a:r>
              <a:rPr sz="2100" spc="150" baseline="-23809" dirty="0">
                <a:latin typeface="Times New Roman"/>
                <a:cs typeface="Times New Roman"/>
              </a:rPr>
              <a:t>  </a:t>
            </a:r>
            <a:r>
              <a:rPr sz="2400" spc="140" dirty="0">
                <a:latin typeface="Symbol"/>
                <a:cs typeface="Symbol"/>
              </a:rPr>
              <a:t>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938771" y="3272028"/>
            <a:ext cx="972819" cy="457200"/>
          </a:xfrm>
          <a:custGeom>
            <a:avLst/>
            <a:gdLst/>
            <a:ahLst/>
            <a:cxnLst/>
            <a:rect l="l" t="t" r="r" b="b"/>
            <a:pathLst>
              <a:path w="972820" h="457200">
                <a:moveTo>
                  <a:pt x="0" y="457200"/>
                </a:moveTo>
                <a:lnTo>
                  <a:pt x="972312" y="457200"/>
                </a:lnTo>
                <a:lnTo>
                  <a:pt x="97231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General biasing circuits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EA20B-A4DF-6F62-9BFC-B57D05A06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87" y="2345950"/>
            <a:ext cx="10948694" cy="2386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E3AAC0-78CA-8743-8898-4D3ECF554DCA}"/>
              </a:ext>
            </a:extLst>
          </p:cNvPr>
          <p:cNvSpPr txBox="1"/>
          <p:nvPr/>
        </p:nvSpPr>
        <p:spPr>
          <a:xfrm>
            <a:off x="777687" y="4429365"/>
            <a:ext cx="391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4.1. Base bias for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24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264033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Fixed</a:t>
            </a:r>
            <a:r>
              <a:rPr sz="4400" b="0" spc="-16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Bias/Base</a:t>
            </a:r>
            <a:r>
              <a:rPr sz="4400" b="0" spc="-18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6870" marR="6985" indent="-344805" algn="just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/>
              <a:t>First,</a:t>
            </a:r>
            <a:r>
              <a:rPr spc="155" dirty="0"/>
              <a:t> </a:t>
            </a:r>
            <a:r>
              <a:rPr dirty="0"/>
              <a:t>attempting</a:t>
            </a:r>
            <a:r>
              <a:rPr spc="140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bias</a:t>
            </a:r>
            <a:r>
              <a:rPr spc="160" dirty="0"/>
              <a:t> </a:t>
            </a:r>
            <a:r>
              <a:rPr dirty="0"/>
              <a:t>the</a:t>
            </a:r>
            <a:r>
              <a:rPr spc="185" dirty="0"/>
              <a:t> </a:t>
            </a:r>
            <a:r>
              <a:rPr dirty="0"/>
              <a:t>BJT</a:t>
            </a:r>
            <a:r>
              <a:rPr spc="180" dirty="0"/>
              <a:t> </a:t>
            </a:r>
            <a:r>
              <a:rPr dirty="0"/>
              <a:t>by</a:t>
            </a:r>
            <a:r>
              <a:rPr spc="160" dirty="0"/>
              <a:t> </a:t>
            </a:r>
            <a:r>
              <a:rPr dirty="0"/>
              <a:t>fixing</a:t>
            </a:r>
            <a:r>
              <a:rPr spc="165" dirty="0"/>
              <a:t> </a:t>
            </a:r>
            <a:r>
              <a:rPr dirty="0"/>
              <a:t>the</a:t>
            </a:r>
            <a:r>
              <a:rPr spc="175" dirty="0"/>
              <a:t> </a:t>
            </a:r>
            <a:r>
              <a:rPr dirty="0"/>
              <a:t>voltage</a:t>
            </a:r>
            <a:r>
              <a:rPr spc="165" dirty="0"/>
              <a:t> </a:t>
            </a:r>
            <a:r>
              <a:rPr i="1" dirty="0">
                <a:latin typeface="Calibri"/>
                <a:cs typeface="Calibri"/>
              </a:rPr>
              <a:t>VBE</a:t>
            </a:r>
            <a:r>
              <a:rPr i="1" spc="1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by,</a:t>
            </a:r>
            <a:r>
              <a:rPr i="1" spc="150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for </a:t>
            </a:r>
            <a:r>
              <a:rPr dirty="0"/>
              <a:t>instance,</a:t>
            </a:r>
            <a:r>
              <a:rPr spc="185" dirty="0"/>
              <a:t> </a:t>
            </a:r>
            <a:r>
              <a:rPr dirty="0"/>
              <a:t>using</a:t>
            </a:r>
            <a:r>
              <a:rPr spc="200" dirty="0"/>
              <a:t> </a:t>
            </a:r>
            <a:r>
              <a:rPr dirty="0"/>
              <a:t>a</a:t>
            </a:r>
            <a:r>
              <a:rPr spc="200" dirty="0"/>
              <a:t> </a:t>
            </a:r>
            <a:r>
              <a:rPr dirty="0"/>
              <a:t>voltage</a:t>
            </a:r>
            <a:r>
              <a:rPr spc="204" dirty="0"/>
              <a:t> </a:t>
            </a:r>
            <a:r>
              <a:rPr dirty="0"/>
              <a:t>divider</a:t>
            </a:r>
            <a:r>
              <a:rPr spc="200" dirty="0"/>
              <a:t> </a:t>
            </a:r>
            <a:r>
              <a:rPr dirty="0"/>
              <a:t>across</a:t>
            </a:r>
            <a:r>
              <a:rPr spc="195" dirty="0"/>
              <a:t> </a:t>
            </a:r>
            <a:r>
              <a:rPr dirty="0"/>
              <a:t>the</a:t>
            </a:r>
            <a:r>
              <a:rPr spc="200" dirty="0"/>
              <a:t> </a:t>
            </a:r>
            <a:r>
              <a:rPr dirty="0"/>
              <a:t>power</a:t>
            </a:r>
            <a:r>
              <a:rPr spc="190" dirty="0"/>
              <a:t> </a:t>
            </a:r>
            <a:r>
              <a:rPr dirty="0"/>
              <a:t>supply</a:t>
            </a:r>
            <a:r>
              <a:rPr spc="200" dirty="0"/>
              <a:t> </a:t>
            </a:r>
            <a:r>
              <a:rPr i="1" dirty="0">
                <a:latin typeface="Calibri"/>
                <a:cs typeface="Calibri"/>
              </a:rPr>
              <a:t>VCC,</a:t>
            </a:r>
            <a:r>
              <a:rPr i="1" spc="195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is </a:t>
            </a:r>
            <a:r>
              <a:rPr i="1" dirty="0">
                <a:latin typeface="Calibri"/>
                <a:cs typeface="Calibri"/>
              </a:rPr>
              <a:t>not</a:t>
            </a:r>
            <a:r>
              <a:rPr i="1" spc="-30" dirty="0">
                <a:latin typeface="Calibri"/>
                <a:cs typeface="Calibri"/>
              </a:rPr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viable</a:t>
            </a:r>
            <a:r>
              <a:rPr spc="-35" dirty="0"/>
              <a:t> </a:t>
            </a:r>
            <a:r>
              <a:rPr spc="-10" dirty="0"/>
              <a:t>approach:</a:t>
            </a:r>
          </a:p>
          <a:p>
            <a:pPr marL="356870" marR="6350" indent="-344805" algn="just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b="0" dirty="0">
                <a:latin typeface="Calibri"/>
                <a:cs typeface="Calibri"/>
              </a:rPr>
              <a:t>The</a:t>
            </a:r>
            <a:r>
              <a:rPr b="0" spc="6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very</a:t>
            </a:r>
            <a:r>
              <a:rPr b="0" spc="6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sharp</a:t>
            </a:r>
            <a:r>
              <a:rPr b="0" spc="6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exponential</a:t>
            </a:r>
            <a:r>
              <a:rPr b="0" spc="6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relationship</a:t>
            </a:r>
            <a:r>
              <a:rPr b="0" spc="6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iC–vBE</a:t>
            </a:r>
            <a:r>
              <a:rPr i="1" spc="62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means</a:t>
            </a:r>
            <a:r>
              <a:rPr b="0" i="1" spc="61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that</a:t>
            </a:r>
            <a:r>
              <a:rPr b="0" i="1" spc="620" dirty="0">
                <a:latin typeface="Calibri"/>
                <a:cs typeface="Calibri"/>
              </a:rPr>
              <a:t> </a:t>
            </a:r>
            <a:r>
              <a:rPr b="0" i="1" spc="-25" dirty="0">
                <a:latin typeface="Calibri"/>
                <a:cs typeface="Calibri"/>
              </a:rPr>
              <a:t>any </a:t>
            </a:r>
            <a:r>
              <a:rPr b="0" i="1" dirty="0">
                <a:latin typeface="Calibri"/>
                <a:cs typeface="Calibri"/>
              </a:rPr>
              <a:t>small</a:t>
            </a:r>
            <a:r>
              <a:rPr b="0" i="1" spc="21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and</a:t>
            </a:r>
            <a:r>
              <a:rPr b="0" i="1" spc="1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inevitable</a:t>
            </a:r>
            <a:r>
              <a:rPr b="0" spc="2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differences</a:t>
            </a:r>
            <a:r>
              <a:rPr b="0" spc="20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22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VBE</a:t>
            </a:r>
            <a:r>
              <a:rPr b="0" i="1" spc="204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from</a:t>
            </a:r>
            <a:r>
              <a:rPr b="0" i="1" spc="21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the</a:t>
            </a:r>
            <a:r>
              <a:rPr b="0" i="1" spc="21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desired</a:t>
            </a:r>
            <a:r>
              <a:rPr b="0" i="1" spc="18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value</a:t>
            </a:r>
            <a:r>
              <a:rPr b="0" i="1" spc="210" dirty="0">
                <a:latin typeface="Calibri"/>
                <a:cs typeface="Calibri"/>
              </a:rPr>
              <a:t> </a:t>
            </a:r>
            <a:r>
              <a:rPr b="0" i="1" spc="-20" dirty="0">
                <a:latin typeface="Calibri"/>
                <a:cs typeface="Calibri"/>
              </a:rPr>
              <a:t>will </a:t>
            </a:r>
            <a:r>
              <a:rPr b="0" i="1" dirty="0">
                <a:latin typeface="Calibri"/>
                <a:cs typeface="Calibri"/>
              </a:rPr>
              <a:t>result</a:t>
            </a:r>
            <a:r>
              <a:rPr b="0" i="1" spc="-5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in</a:t>
            </a:r>
            <a:r>
              <a:rPr b="0" i="1" spc="-5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large</a:t>
            </a:r>
            <a:r>
              <a:rPr b="0" i="1" spc="-3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differences</a:t>
            </a:r>
            <a:r>
              <a:rPr b="0" i="1" spc="-2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in</a:t>
            </a:r>
            <a:r>
              <a:rPr b="0" i="1" spc="-4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IC</a:t>
            </a:r>
            <a:r>
              <a:rPr b="0" i="1" spc="-3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and</a:t>
            </a:r>
            <a:r>
              <a:rPr b="0" i="1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i="1" spc="-20" dirty="0">
                <a:latin typeface="Calibri"/>
                <a:cs typeface="Calibri"/>
              </a:rPr>
              <a:t>VCE.</a:t>
            </a:r>
          </a:p>
          <a:p>
            <a:pPr marL="356870" marR="5715" indent="-344805" algn="just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356870" algn="l"/>
              </a:tabLst>
            </a:pPr>
            <a:r>
              <a:rPr b="0" i="1" dirty="0">
                <a:latin typeface="Calibri"/>
                <a:cs typeface="Calibri"/>
              </a:rPr>
              <a:t>Second,</a:t>
            </a:r>
            <a:r>
              <a:rPr b="0" i="1" spc="44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biasing</a:t>
            </a:r>
            <a:r>
              <a:rPr b="0" i="1" spc="44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the</a:t>
            </a:r>
            <a:r>
              <a:rPr b="0" i="1" spc="44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BJT</a:t>
            </a:r>
            <a:r>
              <a:rPr b="0" i="1" spc="47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by</a:t>
            </a:r>
            <a:r>
              <a:rPr b="0" i="1" spc="44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establishing</a:t>
            </a:r>
            <a:r>
              <a:rPr b="0" i="1" spc="41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a</a:t>
            </a:r>
            <a:r>
              <a:rPr b="0" i="1" spc="434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constant</a:t>
            </a:r>
            <a:r>
              <a:rPr b="0" i="1" spc="43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current</a:t>
            </a:r>
            <a:r>
              <a:rPr b="0" i="1" spc="45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in</a:t>
            </a:r>
            <a:r>
              <a:rPr b="0" i="1" spc="440" dirty="0">
                <a:latin typeface="Calibri"/>
                <a:cs typeface="Calibri"/>
              </a:rPr>
              <a:t> </a:t>
            </a:r>
            <a:r>
              <a:rPr b="0" i="1" spc="-25" dirty="0">
                <a:latin typeface="Calibri"/>
                <a:cs typeface="Calibri"/>
              </a:rPr>
              <a:t>the </a:t>
            </a:r>
            <a:r>
              <a:rPr b="0" i="1" dirty="0">
                <a:latin typeface="Calibri"/>
                <a:cs typeface="Calibri"/>
              </a:rPr>
              <a:t>base,</a:t>
            </a:r>
            <a:r>
              <a:rPr b="0" dirty="0">
                <a:latin typeface="Calibri"/>
                <a:cs typeface="Calibri"/>
              </a:rPr>
              <a:t>where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also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not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recommended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approach.</a:t>
            </a:r>
          </a:p>
          <a:p>
            <a:pPr marL="356870" marR="5080" indent="-344805" algn="just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b="0" dirty="0">
                <a:latin typeface="Calibri"/>
                <a:cs typeface="Calibri"/>
              </a:rPr>
              <a:t>Here</a:t>
            </a:r>
            <a:r>
              <a:rPr b="0" spc="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typically</a:t>
            </a:r>
            <a:r>
              <a:rPr b="0" spc="1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large</a:t>
            </a:r>
            <a:r>
              <a:rPr b="0" spc="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variations</a:t>
            </a:r>
            <a:r>
              <a:rPr b="0" spc="1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1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value</a:t>
            </a:r>
            <a:r>
              <a:rPr b="0" spc="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1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β</a:t>
            </a:r>
            <a:r>
              <a:rPr b="0" spc="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among</a:t>
            </a:r>
            <a:r>
              <a:rPr b="0" spc="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units</a:t>
            </a:r>
            <a:r>
              <a:rPr b="0" spc="14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of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same</a:t>
            </a:r>
            <a:r>
              <a:rPr b="0" spc="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device</a:t>
            </a:r>
            <a:r>
              <a:rPr b="0" spc="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type</a:t>
            </a:r>
            <a:r>
              <a:rPr b="0" spc="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will</a:t>
            </a:r>
            <a:r>
              <a:rPr b="0" spc="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result</a:t>
            </a:r>
            <a:r>
              <a:rPr b="0" spc="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correspondingly</a:t>
            </a:r>
            <a:r>
              <a:rPr b="0" spc="55" dirty="0">
                <a:latin typeface="Calibri"/>
                <a:cs typeface="Calibri"/>
              </a:rPr>
              <a:t> </a:t>
            </a:r>
            <a:r>
              <a:rPr dirty="0"/>
              <a:t>large</a:t>
            </a:r>
            <a:r>
              <a:rPr spc="35" dirty="0"/>
              <a:t> </a:t>
            </a:r>
            <a:r>
              <a:rPr spc="-10" dirty="0"/>
              <a:t>variations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IC</a:t>
            </a:r>
            <a:r>
              <a:rPr b="0" i="1" spc="-2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and</a:t>
            </a:r>
            <a:r>
              <a:rPr b="0" i="1" spc="-20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hence</a:t>
            </a:r>
            <a:r>
              <a:rPr b="0" i="1" spc="15" dirty="0">
                <a:latin typeface="Calibri"/>
                <a:cs typeface="Calibri"/>
              </a:rPr>
              <a:t> </a:t>
            </a:r>
            <a:r>
              <a:rPr b="0" i="1" dirty="0">
                <a:latin typeface="Calibri"/>
                <a:cs typeface="Calibri"/>
              </a:rPr>
              <a:t>in</a:t>
            </a:r>
            <a:r>
              <a:rPr b="0" i="1" spc="-40" dirty="0">
                <a:latin typeface="Calibri"/>
                <a:cs typeface="Calibri"/>
              </a:rPr>
              <a:t> </a:t>
            </a:r>
            <a:r>
              <a:rPr b="0" i="1" spc="-20" dirty="0">
                <a:latin typeface="Calibri"/>
                <a:cs typeface="Calibri"/>
              </a:rPr>
              <a:t>VCE.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08" rIns="0" bIns="0" rtlCol="0">
            <a:spAutoFit/>
          </a:bodyPr>
          <a:lstStyle/>
          <a:p>
            <a:pPr marL="264033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Fixed</a:t>
            </a:r>
            <a:r>
              <a:rPr sz="4400" b="0" spc="-16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Bias/Base</a:t>
            </a:r>
            <a:r>
              <a:rPr sz="4400" b="0" spc="-185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Bias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07591" y="1213103"/>
            <a:ext cx="8860790" cy="4859020"/>
            <a:chOff x="1307591" y="1213103"/>
            <a:chExt cx="8860790" cy="4859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7591" y="3142488"/>
              <a:ext cx="8860536" cy="29291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743" y="1213103"/>
              <a:ext cx="8601456" cy="19354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General biasing circuits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D271FC-6231-1A9F-0616-355D60A9B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03" y="2247894"/>
            <a:ext cx="10913464" cy="24795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4076AC-7441-ABBF-EC23-B0801B688715}"/>
              </a:ext>
            </a:extLst>
          </p:cNvPr>
          <p:cNvSpPr txBox="1"/>
          <p:nvPr/>
        </p:nvSpPr>
        <p:spPr>
          <a:xfrm>
            <a:off x="777687" y="4429365"/>
            <a:ext cx="391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4.2. Emitter bias for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224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General biasing circuits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0624A4-1D1D-B43C-BEDF-2856497B3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76" y="2170068"/>
            <a:ext cx="10685447" cy="30644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CA0D03-13AA-CA4D-3635-5B3D79F7EC74}"/>
              </a:ext>
            </a:extLst>
          </p:cNvPr>
          <p:cNvSpPr txBox="1"/>
          <p:nvPr/>
        </p:nvSpPr>
        <p:spPr>
          <a:xfrm>
            <a:off x="753276" y="5014540"/>
            <a:ext cx="391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4.3.  Two supply emitter bias for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41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FIXED BIAS  and EMITTER FEED BACK BIAS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3787753-71F4-D807-8E2B-66812169B65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31793" y="2431219"/>
            <a:ext cx="1805144" cy="1692912"/>
          </a:xfrm>
        </p:spPr>
        <p:txBody>
          <a:bodyPr>
            <a:noAutofit/>
          </a:bodyPr>
          <a:lstStyle/>
          <a:p>
            <a:pPr algn="just"/>
            <a:r>
              <a:rPr lang="en-US" altLang="en-US" sz="1800" dirty="0"/>
              <a:t>Design</a:t>
            </a:r>
          </a:p>
          <a:p>
            <a:pPr marL="0" indent="0" algn="just">
              <a:buNone/>
            </a:pPr>
            <a:r>
              <a:rPr lang="en-US" altLang="en-US" sz="1800" dirty="0"/>
              <a:t>Large R</a:t>
            </a:r>
            <a:r>
              <a:rPr lang="en-US" altLang="en-US" sz="1800" baseline="-25000" dirty="0"/>
              <a:t>E</a:t>
            </a:r>
            <a:r>
              <a:rPr lang="en-US" altLang="en-US" sz="1800" dirty="0"/>
              <a:t> value to swap out variations in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endParaRPr lang="en-US" altLang="en-US" sz="18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6EEF18D-2B6E-359A-0988-7D1FFE0EB852}"/>
              </a:ext>
            </a:extLst>
          </p:cNvPr>
          <p:cNvSpPr txBox="1">
            <a:spLocks noChangeArrowheads="1"/>
          </p:cNvSpPr>
          <p:nvPr/>
        </p:nvSpPr>
        <p:spPr>
          <a:xfrm>
            <a:off x="4061474" y="2313193"/>
            <a:ext cx="2149618" cy="503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Circuit Equations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080C74E-3656-2DF8-450D-D4270C52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0" y="2340440"/>
            <a:ext cx="1716495" cy="22923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EB0D2FD-6AE3-2838-C8BE-B354D5212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300" y="2326817"/>
            <a:ext cx="1805174" cy="230597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2940F5D-4FE8-1F57-2EBC-BCD277A31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618" y="2718969"/>
            <a:ext cx="2028115" cy="1624863"/>
          </a:xfrm>
          <a:prstGeom prst="rect">
            <a:avLst/>
          </a:prstGeom>
        </p:spPr>
      </p:pic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8F5E4A9-109E-10BD-9201-A43A718C5347}"/>
              </a:ext>
            </a:extLst>
          </p:cNvPr>
          <p:cNvSpPr txBox="1">
            <a:spLocks noChangeArrowheads="1"/>
          </p:cNvSpPr>
          <p:nvPr/>
        </p:nvSpPr>
        <p:spPr>
          <a:xfrm>
            <a:off x="166620" y="5000228"/>
            <a:ext cx="1784416" cy="503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No Q-point Stabilization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0E33FE4-1161-E063-E09D-B66AE817C3E2}"/>
              </a:ext>
            </a:extLst>
          </p:cNvPr>
          <p:cNvSpPr txBox="1">
            <a:spLocks noChangeArrowheads="1"/>
          </p:cNvSpPr>
          <p:nvPr/>
        </p:nvSpPr>
        <p:spPr>
          <a:xfrm>
            <a:off x="1764572" y="4951200"/>
            <a:ext cx="2672667" cy="503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First attempt for Q-Point stabilization using Emitter resistance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CA18594-4926-4DD2-B14E-7583DA5E89A3}"/>
              </a:ext>
            </a:extLst>
          </p:cNvPr>
          <p:cNvSpPr txBox="1">
            <a:spLocks noChangeArrowheads="1"/>
          </p:cNvSpPr>
          <p:nvPr/>
        </p:nvSpPr>
        <p:spPr>
          <a:xfrm>
            <a:off x="-235" y="1836725"/>
            <a:ext cx="1288013" cy="503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Fixed Bias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6A2A0D02-63CF-F273-DA35-946C926CD0C5}"/>
              </a:ext>
            </a:extLst>
          </p:cNvPr>
          <p:cNvSpPr txBox="1">
            <a:spLocks noChangeArrowheads="1"/>
          </p:cNvSpPr>
          <p:nvPr/>
        </p:nvSpPr>
        <p:spPr>
          <a:xfrm>
            <a:off x="1837156" y="1864194"/>
            <a:ext cx="2672667" cy="503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Emitter Feedback Bias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0440943-C7BF-C095-936C-BF3FC3585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295" y="2062065"/>
            <a:ext cx="4144705" cy="1869261"/>
          </a:xfrm>
          <a:prstGeom prst="rect">
            <a:avLst/>
          </a:prstGeom>
        </p:spPr>
      </p:pic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8A244F1-0CFB-8864-FE8C-3325D1A7F389}"/>
              </a:ext>
            </a:extLst>
          </p:cNvPr>
          <p:cNvSpPr txBox="1">
            <a:spLocks noChangeArrowheads="1"/>
          </p:cNvSpPr>
          <p:nvPr/>
        </p:nvSpPr>
        <p:spPr>
          <a:xfrm>
            <a:off x="8337702" y="5039234"/>
            <a:ext cx="3786378" cy="831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Large change in collector current for 3:1 change in current gain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ABF5B-AB56-06E9-67E9-D180AB5973DD}"/>
              </a:ext>
            </a:extLst>
          </p:cNvPr>
          <p:cNvSpPr txBox="1"/>
          <p:nvPr/>
        </p:nvSpPr>
        <p:spPr>
          <a:xfrm>
            <a:off x="0" y="4724990"/>
            <a:ext cx="1716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4.4.  Fixed Bias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FD0DA5-CEBD-5086-7432-C3E90C5D1385}"/>
              </a:ext>
            </a:extLst>
          </p:cNvPr>
          <p:cNvSpPr txBox="1"/>
          <p:nvPr/>
        </p:nvSpPr>
        <p:spPr>
          <a:xfrm>
            <a:off x="1999113" y="4714704"/>
            <a:ext cx="2472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4.5.  Emitter Feedback Bias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3FF1F-55D8-CECF-4CF2-9915EFB16621}"/>
              </a:ext>
            </a:extLst>
          </p:cNvPr>
          <p:cNvSpPr txBox="1"/>
          <p:nvPr/>
        </p:nvSpPr>
        <p:spPr>
          <a:xfrm>
            <a:off x="7971052" y="3970242"/>
            <a:ext cx="4153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4.6.  Depicting Limitations of Emitter Feedback Bias – Variation in Q-point for change in </a:t>
            </a: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DC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820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3149" y="190322"/>
            <a:ext cx="904621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Biasing</a:t>
            </a:r>
            <a:r>
              <a:rPr spc="-25" dirty="0"/>
              <a:t> </a:t>
            </a:r>
            <a:r>
              <a:rPr dirty="0"/>
              <a:t>Using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Collector-</a:t>
            </a:r>
            <a:r>
              <a:rPr spc="-25" dirty="0"/>
              <a:t>to-</a:t>
            </a:r>
            <a:r>
              <a:rPr dirty="0"/>
              <a:t>Base</a:t>
            </a:r>
            <a:r>
              <a:rPr spc="-10" dirty="0"/>
              <a:t> Feedback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8115" y="800176"/>
            <a:ext cx="171450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spc="-10" dirty="0">
                <a:latin typeface="Calibri"/>
                <a:cs typeface="Calibri"/>
              </a:rPr>
              <a:t>Resistor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1169" y="1499616"/>
            <a:ext cx="6735445" cy="4282440"/>
            <a:chOff x="1851169" y="1499616"/>
            <a:chExt cx="6735445" cy="4282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1169" y="1618753"/>
              <a:ext cx="2069023" cy="41539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3255" y="1499616"/>
              <a:ext cx="4632959" cy="42821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45614" y="5807151"/>
            <a:ext cx="5937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AutoNum type="alphaLcParenBoth"/>
              <a:tabLst>
                <a:tab pos="332740" algn="l"/>
              </a:tabLst>
            </a:pP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CE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transistor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amplifier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biased</a:t>
            </a:r>
            <a:r>
              <a:rPr sz="1800" b="1" spc="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by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feedback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resistor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RB.</a:t>
            </a:r>
            <a:endParaRPr sz="1800">
              <a:latin typeface="Calibri"/>
              <a:cs typeface="Calibri"/>
            </a:endParaRPr>
          </a:p>
          <a:p>
            <a:pPr marL="328930" indent="-316230">
              <a:lnSpc>
                <a:spcPct val="100000"/>
              </a:lnSpc>
              <a:buAutoNum type="alphaLcParenBoth"/>
              <a:tabLst>
                <a:tab pos="328930" algn="l"/>
              </a:tabLst>
            </a:pPr>
            <a:r>
              <a:rPr sz="1800" b="1" i="1" dirty="0">
                <a:latin typeface="Calibri"/>
                <a:cs typeface="Calibri"/>
              </a:rPr>
              <a:t>Analysis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circuit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(a).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7507" y="804163"/>
            <a:ext cx="814069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8125" indent="-227329">
              <a:lnSpc>
                <a:spcPct val="100000"/>
              </a:lnSpc>
              <a:spcBef>
                <a:spcPts val="90"/>
              </a:spcBef>
              <a:buSzPct val="95000"/>
              <a:buFont typeface="Wingdings"/>
              <a:buChar char=""/>
              <a:tabLst>
                <a:tab pos="238125" algn="l"/>
              </a:tabLst>
            </a:pPr>
            <a:r>
              <a:rPr sz="2000" spc="-2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resistor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3769" y="804163"/>
            <a:ext cx="208661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890" algn="r">
              <a:lnSpc>
                <a:spcPct val="100000"/>
              </a:lnSpc>
              <a:spcBef>
                <a:spcPts val="90"/>
              </a:spcBef>
              <a:tabLst>
                <a:tab pos="853440" algn="l"/>
                <a:tab pos="1935480" algn="l"/>
              </a:tabLst>
            </a:pPr>
            <a:r>
              <a:rPr sz="2000" spc="-10" dirty="0">
                <a:latin typeface="Calibri"/>
                <a:cs typeface="Calibri"/>
              </a:rPr>
              <a:t>circuit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employs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tabLst>
                <a:tab pos="664210" algn="l"/>
              </a:tabLst>
            </a:pPr>
            <a:r>
              <a:rPr sz="2000" b="1" i="1" spc="-25" dirty="0">
                <a:latin typeface="Calibri"/>
                <a:cs typeface="Calibri"/>
              </a:rPr>
              <a:t>RB</a:t>
            </a:r>
            <a:r>
              <a:rPr sz="2000" b="1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connected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7507" y="1414018"/>
            <a:ext cx="2914650" cy="1854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2000" i="1" dirty="0">
                <a:latin typeface="Calibri"/>
                <a:cs typeface="Calibri"/>
              </a:rPr>
              <a:t>between</a:t>
            </a:r>
            <a:r>
              <a:rPr sz="2000" i="1" spc="49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25" dirty="0">
                <a:latin typeface="Calibri"/>
                <a:cs typeface="Calibri"/>
              </a:rPr>
              <a:t>  </a:t>
            </a:r>
            <a:r>
              <a:rPr sz="2000" b="1" i="1" dirty="0">
                <a:latin typeface="Calibri"/>
                <a:cs typeface="Calibri"/>
              </a:rPr>
              <a:t>collecto</a:t>
            </a:r>
            <a:r>
              <a:rPr sz="2000" i="1" dirty="0">
                <a:latin typeface="Calibri"/>
                <a:cs typeface="Calibri"/>
              </a:rPr>
              <a:t>r</a:t>
            </a:r>
            <a:r>
              <a:rPr sz="2000" i="1" spc="4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base</a:t>
            </a:r>
            <a:r>
              <a:rPr sz="2000" spc="-2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 marR="6350" indent="-1905" algn="just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"/>
              <a:tabLst>
                <a:tab pos="238125" algn="l"/>
              </a:tabLst>
            </a:pPr>
            <a:r>
              <a:rPr sz="2000" dirty="0">
                <a:latin typeface="Calibri"/>
                <a:cs typeface="Calibri"/>
              </a:rPr>
              <a:t>	Resistor</a:t>
            </a:r>
            <a:r>
              <a:rPr sz="2000" spc="430" dirty="0">
                <a:latin typeface="Calibri"/>
                <a:cs typeface="Calibri"/>
              </a:rPr>
              <a:t>   </a:t>
            </a:r>
            <a:r>
              <a:rPr sz="2000" i="1" dirty="0">
                <a:latin typeface="Calibri"/>
                <a:cs typeface="Calibri"/>
              </a:rPr>
              <a:t>RB</a:t>
            </a:r>
            <a:r>
              <a:rPr sz="2000" i="1" spc="425" dirty="0">
                <a:latin typeface="Calibri"/>
                <a:cs typeface="Calibri"/>
              </a:rPr>
              <a:t>   </a:t>
            </a:r>
            <a:r>
              <a:rPr sz="2000" i="1" spc="-10" dirty="0">
                <a:latin typeface="Calibri"/>
                <a:cs typeface="Calibri"/>
              </a:rPr>
              <a:t>provides </a:t>
            </a:r>
            <a:r>
              <a:rPr sz="2000" b="1" i="1" dirty="0">
                <a:latin typeface="Calibri"/>
                <a:cs typeface="Calibri"/>
              </a:rPr>
              <a:t>negative</a:t>
            </a:r>
            <a:r>
              <a:rPr sz="2000" b="1" i="1" spc="185" dirty="0">
                <a:latin typeface="Calibri"/>
                <a:cs typeface="Calibri"/>
              </a:rPr>
              <a:t>  </a:t>
            </a:r>
            <a:r>
              <a:rPr sz="2000" b="1" i="1" dirty="0">
                <a:latin typeface="Calibri"/>
                <a:cs typeface="Calibri"/>
              </a:rPr>
              <a:t>feedback</a:t>
            </a:r>
            <a:r>
              <a:rPr sz="2000" i="1" dirty="0">
                <a:latin typeface="Calibri"/>
                <a:cs typeface="Calibri"/>
              </a:rPr>
              <a:t>,</a:t>
            </a:r>
            <a:r>
              <a:rPr sz="2000" i="1" spc="185" dirty="0">
                <a:latin typeface="Calibri"/>
                <a:cs typeface="Calibri"/>
              </a:rPr>
              <a:t>  </a:t>
            </a:r>
            <a:r>
              <a:rPr sz="2000" i="1" spc="-20" dirty="0">
                <a:latin typeface="Calibri"/>
                <a:cs typeface="Calibri"/>
              </a:rPr>
              <a:t>which </a:t>
            </a:r>
            <a:r>
              <a:rPr sz="2000" i="1" dirty="0">
                <a:latin typeface="Calibri"/>
                <a:cs typeface="Calibri"/>
              </a:rPr>
              <a:t>helps</a:t>
            </a:r>
            <a:r>
              <a:rPr sz="2000" i="1" spc="49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25" dirty="0">
                <a:latin typeface="Calibri"/>
                <a:cs typeface="Calibri"/>
              </a:rPr>
              <a:t>  </a:t>
            </a:r>
            <a:r>
              <a:rPr sz="2000" b="1" i="1" dirty="0">
                <a:latin typeface="Calibri"/>
                <a:cs typeface="Calibri"/>
              </a:rPr>
              <a:t>stabilize</a:t>
            </a:r>
            <a:r>
              <a:rPr sz="2000" b="1" i="1" spc="30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30" dirty="0">
                <a:latin typeface="Calibri"/>
                <a:cs typeface="Calibri"/>
              </a:rPr>
              <a:t>  </a:t>
            </a:r>
            <a:r>
              <a:rPr sz="2000" b="1" i="1" spc="-20" dirty="0">
                <a:latin typeface="Calibri"/>
                <a:cs typeface="Calibri"/>
              </a:rPr>
              <a:t>bias </a:t>
            </a:r>
            <a:r>
              <a:rPr sz="2000" b="1" dirty="0">
                <a:latin typeface="Calibri"/>
                <a:cs typeface="Calibri"/>
              </a:rPr>
              <a:t>point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BJT.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04066" y="4803522"/>
            <a:ext cx="694690" cy="0"/>
          </a:xfrm>
          <a:custGeom>
            <a:avLst/>
            <a:gdLst/>
            <a:ahLst/>
            <a:cxnLst/>
            <a:rect l="l" t="t" r="r" b="b"/>
            <a:pathLst>
              <a:path w="694690">
                <a:moveTo>
                  <a:pt x="0" y="0"/>
                </a:moveTo>
                <a:lnTo>
                  <a:pt x="694563" y="0"/>
                </a:lnTo>
              </a:path>
            </a:pathLst>
          </a:custGeom>
          <a:ln w="121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52533" y="4804847"/>
            <a:ext cx="669290" cy="230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14"/>
              </a:lnSpc>
            </a:pPr>
            <a:r>
              <a:rPr sz="5175" i="1" spc="630" baseline="2415" dirty="0">
                <a:latin typeface="Times New Roman"/>
                <a:cs typeface="Times New Roman"/>
              </a:rPr>
              <a:t>V</a:t>
            </a:r>
            <a:r>
              <a:rPr sz="5175" i="1" spc="-434" baseline="2415" dirty="0">
                <a:latin typeface="Times New Roman"/>
                <a:cs typeface="Times New Roman"/>
              </a:rPr>
              <a:t> </a:t>
            </a:r>
            <a:r>
              <a:rPr sz="1350" i="1" spc="165" dirty="0">
                <a:latin typeface="Times New Roman"/>
                <a:cs typeface="Times New Roman"/>
              </a:rPr>
              <a:t>BE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32316" y="4519895"/>
            <a:ext cx="37401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450" i="1" spc="229" dirty="0">
                <a:latin typeface="Times New Roman"/>
                <a:cs typeface="Times New Roman"/>
              </a:rPr>
              <a:t>I</a:t>
            </a:r>
            <a:r>
              <a:rPr sz="3450" i="1" spc="-405" dirty="0">
                <a:latin typeface="Times New Roman"/>
                <a:cs typeface="Times New Roman"/>
              </a:rPr>
              <a:t> </a:t>
            </a:r>
            <a:r>
              <a:rPr sz="2025" i="1" spc="172" baseline="-4115" dirty="0">
                <a:latin typeface="Times New Roman"/>
                <a:cs typeface="Times New Roman"/>
              </a:rPr>
              <a:t>E</a:t>
            </a:r>
            <a:endParaRPr sz="2025" baseline="-411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8786" y="4571461"/>
            <a:ext cx="2070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spc="200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24738" y="4766286"/>
            <a:ext cx="15049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50" spc="130" dirty="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15724" y="4766286"/>
            <a:ext cx="15049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50" spc="130" dirty="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63523" y="4766286"/>
            <a:ext cx="27241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50" spc="90" dirty="0">
                <a:latin typeface="Times New Roman"/>
                <a:cs typeface="Times New Roman"/>
              </a:rPr>
              <a:t>CC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52377" y="4571461"/>
            <a:ext cx="220408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92125" algn="l"/>
                <a:tab pos="1504950" algn="l"/>
                <a:tab pos="1997075" algn="l"/>
              </a:tabLst>
            </a:pPr>
            <a:r>
              <a:rPr sz="2300" spc="254" dirty="0">
                <a:latin typeface="Times New Roman"/>
                <a:cs typeface="Times New Roman"/>
              </a:rPr>
              <a:t>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200" dirty="0">
                <a:latin typeface="Symbol"/>
                <a:cs typeface="Symbol"/>
              </a:rPr>
              <a:t>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254" dirty="0">
                <a:latin typeface="Times New Roman"/>
                <a:cs typeface="Times New Roman"/>
              </a:rPr>
              <a:t>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200" dirty="0">
                <a:latin typeface="Symbol"/>
                <a:cs typeface="Symbol"/>
              </a:rPr>
              <a:t>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7809" y="4571461"/>
            <a:ext cx="26797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spc="280" dirty="0">
                <a:latin typeface="Times New Roman"/>
                <a:cs typeface="Times New Roman"/>
              </a:rPr>
              <a:t>V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23386" y="3642641"/>
            <a:ext cx="3291204" cy="1211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625"/>
              </a:spcBef>
            </a:pPr>
            <a:r>
              <a:rPr sz="2300" spc="250" dirty="0">
                <a:latin typeface="Symbol"/>
                <a:cs typeface="Symbol"/>
              </a:rPr>
              <a:t>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5175" i="1" spc="345" baseline="-12077" dirty="0">
                <a:latin typeface="Times New Roman"/>
                <a:cs typeface="Times New Roman"/>
              </a:rPr>
              <a:t>I</a:t>
            </a:r>
            <a:r>
              <a:rPr sz="5175" i="1" spc="-607" baseline="-12077" dirty="0">
                <a:latin typeface="Times New Roman"/>
                <a:cs typeface="Times New Roman"/>
              </a:rPr>
              <a:t> </a:t>
            </a:r>
            <a:r>
              <a:rPr sz="2025" i="1" spc="247" baseline="-34979" dirty="0">
                <a:latin typeface="Times New Roman"/>
                <a:cs typeface="Times New Roman"/>
              </a:rPr>
              <a:t>E</a:t>
            </a:r>
            <a:r>
              <a:rPr sz="2025" i="1" spc="187" baseline="-34979" dirty="0">
                <a:latin typeface="Times New Roman"/>
                <a:cs typeface="Times New Roman"/>
              </a:rPr>
              <a:t> </a:t>
            </a:r>
            <a:r>
              <a:rPr sz="2300" spc="350" dirty="0">
                <a:latin typeface="Times New Roman"/>
                <a:cs typeface="Times New Roman"/>
              </a:rPr>
              <a:t>R</a:t>
            </a:r>
            <a:r>
              <a:rPr sz="2025" spc="525" baseline="-24691" dirty="0">
                <a:latin typeface="Times New Roman"/>
                <a:cs typeface="Times New Roman"/>
              </a:rPr>
              <a:t>C</a:t>
            </a:r>
            <a:r>
              <a:rPr sz="2025" spc="577" baseline="-24691" dirty="0">
                <a:latin typeface="Times New Roman"/>
                <a:cs typeface="Times New Roman"/>
              </a:rPr>
              <a:t> </a:t>
            </a:r>
            <a:r>
              <a:rPr sz="2300" spc="250" dirty="0">
                <a:latin typeface="Symbol"/>
                <a:cs typeface="Symbol"/>
              </a:rPr>
              <a:t>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5175" i="1" spc="345" baseline="-12077" dirty="0">
                <a:latin typeface="Times New Roman"/>
                <a:cs typeface="Times New Roman"/>
              </a:rPr>
              <a:t>I</a:t>
            </a:r>
            <a:r>
              <a:rPr sz="5175" i="1" spc="-600" baseline="-12077" dirty="0">
                <a:latin typeface="Times New Roman"/>
                <a:cs typeface="Times New Roman"/>
              </a:rPr>
              <a:t> </a:t>
            </a:r>
            <a:r>
              <a:rPr sz="2025" i="1" spc="247" baseline="-34979" dirty="0">
                <a:latin typeface="Times New Roman"/>
                <a:cs typeface="Times New Roman"/>
              </a:rPr>
              <a:t>B</a:t>
            </a:r>
            <a:r>
              <a:rPr sz="2025" i="1" spc="120" baseline="-34979" dirty="0">
                <a:latin typeface="Times New Roman"/>
                <a:cs typeface="Times New Roman"/>
              </a:rPr>
              <a:t> </a:t>
            </a:r>
            <a:r>
              <a:rPr sz="2300" spc="365" dirty="0">
                <a:latin typeface="Times New Roman"/>
                <a:cs typeface="Times New Roman"/>
              </a:rPr>
              <a:t>R</a:t>
            </a:r>
            <a:r>
              <a:rPr sz="2025" spc="547" baseline="-24691" dirty="0">
                <a:latin typeface="Times New Roman"/>
                <a:cs typeface="Times New Roman"/>
              </a:rPr>
              <a:t>B</a:t>
            </a:r>
            <a:r>
              <a:rPr sz="2025" spc="517" baseline="-24691" dirty="0">
                <a:latin typeface="Times New Roman"/>
                <a:cs typeface="Times New Roman"/>
              </a:rPr>
              <a:t> </a:t>
            </a:r>
            <a:r>
              <a:rPr sz="2300" spc="370" dirty="0">
                <a:latin typeface="Symbol"/>
                <a:cs typeface="Symbol"/>
              </a:rPr>
              <a:t></a:t>
            </a:r>
            <a:r>
              <a:rPr sz="5175" i="1" spc="555" baseline="-11272" dirty="0">
                <a:latin typeface="Times New Roman"/>
                <a:cs typeface="Times New Roman"/>
              </a:rPr>
              <a:t>V</a:t>
            </a:r>
            <a:r>
              <a:rPr sz="5175" i="1" spc="-427" baseline="-11272" dirty="0">
                <a:latin typeface="Times New Roman"/>
                <a:cs typeface="Times New Roman"/>
              </a:rPr>
              <a:t> </a:t>
            </a:r>
            <a:r>
              <a:rPr sz="2025" i="1" spc="247" baseline="-37037" dirty="0">
                <a:latin typeface="Times New Roman"/>
                <a:cs typeface="Times New Roman"/>
              </a:rPr>
              <a:t>BE</a:t>
            </a:r>
            <a:endParaRPr sz="2025" baseline="-37037">
              <a:latin typeface="Times New Roman"/>
              <a:cs typeface="Times New Roman"/>
            </a:endParaRPr>
          </a:p>
          <a:p>
            <a:pPr marL="372110" algn="ctr">
              <a:lnSpc>
                <a:spcPct val="100000"/>
              </a:lnSpc>
              <a:spcBef>
                <a:spcPts val="530"/>
              </a:spcBef>
            </a:pPr>
            <a:r>
              <a:rPr sz="3450" i="1" spc="229" dirty="0">
                <a:latin typeface="Times New Roman"/>
                <a:cs typeface="Times New Roman"/>
              </a:rPr>
              <a:t>I</a:t>
            </a:r>
            <a:r>
              <a:rPr sz="3450" i="1" spc="-405" dirty="0">
                <a:latin typeface="Times New Roman"/>
                <a:cs typeface="Times New Roman"/>
              </a:rPr>
              <a:t> </a:t>
            </a:r>
            <a:r>
              <a:rPr sz="2025" i="1" spc="172" baseline="-4115" dirty="0">
                <a:latin typeface="Times New Roman"/>
                <a:cs typeface="Times New Roman"/>
              </a:rPr>
              <a:t>E</a:t>
            </a:r>
            <a:endParaRPr sz="2025" baseline="-411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12408" y="3928425"/>
            <a:ext cx="54864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450" spc="120" baseline="14492" dirty="0">
                <a:latin typeface="Times New Roman"/>
                <a:cs typeface="Times New Roman"/>
              </a:rPr>
              <a:t>V</a:t>
            </a:r>
            <a:r>
              <a:rPr sz="1350" spc="80" dirty="0">
                <a:latin typeface="Times New Roman"/>
                <a:cs typeface="Times New Roman"/>
              </a:rPr>
              <a:t>CC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32644" y="4776622"/>
            <a:ext cx="69659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450" spc="175" dirty="0">
                <a:latin typeface="Symbol"/>
                <a:cs typeface="Symbol"/>
              </a:rPr>
              <a:t></a:t>
            </a:r>
            <a:r>
              <a:rPr sz="2450" spc="150" dirty="0">
                <a:latin typeface="Times New Roman"/>
                <a:cs typeface="Times New Roman"/>
              </a:rPr>
              <a:t> </a:t>
            </a:r>
            <a:r>
              <a:rPr sz="2300" spc="300" dirty="0">
                <a:latin typeface="Symbol"/>
                <a:cs typeface="Symbol"/>
              </a:rPr>
              <a:t></a:t>
            </a:r>
            <a:r>
              <a:rPr sz="2300" spc="300" dirty="0"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71844" y="3845052"/>
            <a:ext cx="4325620" cy="1384300"/>
          </a:xfrm>
          <a:custGeom>
            <a:avLst/>
            <a:gdLst/>
            <a:ahLst/>
            <a:cxnLst/>
            <a:rect l="l" t="t" r="r" b="b"/>
            <a:pathLst>
              <a:path w="4325620" h="1384300">
                <a:moveTo>
                  <a:pt x="0" y="1383792"/>
                </a:moveTo>
                <a:lnTo>
                  <a:pt x="4325111" y="1383792"/>
                </a:lnTo>
                <a:lnTo>
                  <a:pt x="4325111" y="0"/>
                </a:lnTo>
                <a:lnTo>
                  <a:pt x="0" y="0"/>
                </a:lnTo>
                <a:lnTo>
                  <a:pt x="0" y="138379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149" y="190322"/>
            <a:ext cx="9046210" cy="1246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677285" marR="5080" indent="-366522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Biasing</a:t>
            </a:r>
            <a:r>
              <a:rPr sz="4000" b="1" spc="-2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Using</a:t>
            </a:r>
            <a:r>
              <a:rPr sz="4000" b="1" spc="-1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</a:t>
            </a:r>
            <a:r>
              <a:rPr sz="4000" b="1" spc="-2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Collector-</a:t>
            </a:r>
            <a:r>
              <a:rPr sz="4000" b="1" spc="-25" dirty="0">
                <a:latin typeface="Calibri"/>
                <a:cs typeface="Calibri"/>
              </a:rPr>
              <a:t>to-</a:t>
            </a:r>
            <a:r>
              <a:rPr sz="4000" b="1" dirty="0">
                <a:latin typeface="Calibri"/>
                <a:cs typeface="Calibri"/>
              </a:rPr>
              <a:t>Base</a:t>
            </a:r>
            <a:r>
              <a:rPr sz="4000" b="1" spc="-10" dirty="0">
                <a:latin typeface="Calibri"/>
                <a:cs typeface="Calibri"/>
              </a:rPr>
              <a:t> Feedback Resistor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51169" y="1499616"/>
            <a:ext cx="8839835" cy="4282440"/>
            <a:chOff x="1851169" y="1499616"/>
            <a:chExt cx="8839835" cy="4282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1169" y="1618753"/>
              <a:ext cx="2069023" cy="41539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3255" y="1499616"/>
              <a:ext cx="4632959" cy="42821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24273" y="2596390"/>
              <a:ext cx="919480" cy="0"/>
            </a:xfrm>
            <a:custGeom>
              <a:avLst/>
              <a:gdLst/>
              <a:ahLst/>
              <a:cxnLst/>
              <a:rect l="l" t="t" r="r" b="b"/>
              <a:pathLst>
                <a:path w="919479">
                  <a:moveTo>
                    <a:pt x="0" y="0"/>
                  </a:moveTo>
                  <a:lnTo>
                    <a:pt x="919254" y="0"/>
                  </a:lnTo>
                </a:path>
              </a:pathLst>
            </a:custGeom>
            <a:ln w="7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27832" y="2111754"/>
              <a:ext cx="2154555" cy="0"/>
            </a:xfrm>
            <a:custGeom>
              <a:avLst/>
              <a:gdLst/>
              <a:ahLst/>
              <a:cxnLst/>
              <a:rect l="l" t="t" r="r" b="b"/>
              <a:pathLst>
                <a:path w="2154554">
                  <a:moveTo>
                    <a:pt x="0" y="0"/>
                  </a:moveTo>
                  <a:lnTo>
                    <a:pt x="2154508" y="0"/>
                  </a:lnTo>
                </a:path>
              </a:pathLst>
            </a:custGeom>
            <a:ln w="16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45614" y="5807151"/>
            <a:ext cx="5937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AutoNum type="alphaLcParenBoth"/>
              <a:tabLst>
                <a:tab pos="332740" algn="l"/>
              </a:tabLst>
            </a:pP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CE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transistor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amplifier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biased</a:t>
            </a:r>
            <a:r>
              <a:rPr sz="1800" b="1" spc="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by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feedback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resistor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RB.</a:t>
            </a:r>
            <a:endParaRPr sz="1800">
              <a:latin typeface="Calibri"/>
              <a:cs typeface="Calibri"/>
            </a:endParaRPr>
          </a:p>
          <a:p>
            <a:pPr marL="328930" indent="-316230">
              <a:lnSpc>
                <a:spcPct val="100000"/>
              </a:lnSpc>
              <a:buAutoNum type="alphaLcParenBoth"/>
              <a:tabLst>
                <a:tab pos="328930" algn="l"/>
              </a:tabLst>
            </a:pPr>
            <a:r>
              <a:rPr sz="1800" b="1" i="1" dirty="0">
                <a:latin typeface="Calibri"/>
                <a:cs typeface="Calibri"/>
              </a:rPr>
              <a:t>Analysis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circuit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(a).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1642" y="2055983"/>
            <a:ext cx="32321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050" spc="335" dirty="0">
                <a:latin typeface="Times New Roman"/>
                <a:cs typeface="Times New Roman"/>
              </a:rPr>
              <a:t>R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64908" y="1807916"/>
            <a:ext cx="167640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050" spc="150" dirty="0">
                <a:latin typeface="Times New Roman"/>
                <a:cs typeface="Times New Roman"/>
              </a:rPr>
              <a:t>I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39524" y="2066341"/>
            <a:ext cx="17843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750" spc="175" dirty="0"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48327" y="2313646"/>
            <a:ext cx="530860" cy="765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25"/>
              </a:spcBef>
            </a:pPr>
            <a:r>
              <a:rPr sz="1750" spc="204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3050" spc="395" dirty="0">
                <a:latin typeface="Symbol"/>
                <a:cs typeface="Symbol"/>
              </a:rPr>
              <a:t></a:t>
            </a:r>
            <a:r>
              <a:rPr sz="3050" spc="395" dirty="0">
                <a:latin typeface="Times New Roman"/>
                <a:cs typeface="Times New Roman"/>
              </a:rPr>
              <a:t>1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32896" y="2263478"/>
            <a:ext cx="1522730" cy="5264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847090" algn="l"/>
              </a:tabLst>
            </a:pPr>
            <a:r>
              <a:rPr sz="3050" spc="340" dirty="0">
                <a:latin typeface="Times New Roman"/>
                <a:cs typeface="Times New Roman"/>
              </a:rPr>
              <a:t>R</a:t>
            </a:r>
            <a:r>
              <a:rPr sz="2625" spc="509" baseline="-23809" dirty="0">
                <a:latin typeface="Times New Roman"/>
                <a:cs typeface="Times New Roman"/>
              </a:rPr>
              <a:t>CE</a:t>
            </a:r>
            <a:r>
              <a:rPr sz="2625" baseline="-23809" dirty="0">
                <a:latin typeface="Times New Roman"/>
                <a:cs typeface="Times New Roman"/>
              </a:rPr>
              <a:t>	</a:t>
            </a:r>
            <a:r>
              <a:rPr sz="3050" spc="315" dirty="0">
                <a:latin typeface="Symbol"/>
                <a:cs typeface="Symbol"/>
              </a:rPr>
              <a:t></a:t>
            </a:r>
            <a:r>
              <a:rPr sz="3050" spc="229" dirty="0">
                <a:latin typeface="Times New Roman"/>
                <a:cs typeface="Times New Roman"/>
              </a:rPr>
              <a:t> </a:t>
            </a:r>
            <a:r>
              <a:rPr sz="4875" spc="225" baseline="-40170" dirty="0">
                <a:latin typeface="Symbol"/>
                <a:cs typeface="Symbol"/>
              </a:rPr>
              <a:t></a:t>
            </a:r>
            <a:endParaRPr sz="4875" baseline="-40170">
              <a:latin typeface="Symbol"/>
              <a:cs typeface="Symbo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137476" y="1466498"/>
            <a:ext cx="2526030" cy="723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4575" b="0" spc="472" baseline="-20947" dirty="0">
                <a:latin typeface="Symbol"/>
                <a:cs typeface="Symbol"/>
              </a:rPr>
              <a:t></a:t>
            </a:r>
            <a:r>
              <a:rPr sz="4575" b="0" spc="150" baseline="-20947" dirty="0">
                <a:latin typeface="Times New Roman"/>
                <a:cs typeface="Times New Roman"/>
              </a:rPr>
              <a:t> </a:t>
            </a:r>
            <a:r>
              <a:rPr sz="6825" b="0" i="1" spc="832" baseline="2442" dirty="0">
                <a:latin typeface="Times New Roman"/>
                <a:cs typeface="Times New Roman"/>
              </a:rPr>
              <a:t>V</a:t>
            </a:r>
            <a:r>
              <a:rPr sz="6825" b="0" i="1" spc="-712" baseline="2442" dirty="0">
                <a:latin typeface="Times New Roman"/>
                <a:cs typeface="Times New Roman"/>
              </a:rPr>
              <a:t> </a:t>
            </a:r>
            <a:r>
              <a:rPr sz="1750" b="0" i="1" spc="220" dirty="0">
                <a:latin typeface="Times New Roman"/>
                <a:cs typeface="Times New Roman"/>
              </a:rPr>
              <a:t>CC</a:t>
            </a:r>
            <a:r>
              <a:rPr sz="1750" b="0" i="1" spc="355" dirty="0">
                <a:latin typeface="Times New Roman"/>
                <a:cs typeface="Times New Roman"/>
              </a:rPr>
              <a:t> </a:t>
            </a:r>
            <a:r>
              <a:rPr sz="4575" b="0" spc="690" baseline="20947" dirty="0">
                <a:latin typeface="Symbol"/>
                <a:cs typeface="Symbol"/>
              </a:rPr>
              <a:t></a:t>
            </a:r>
            <a:r>
              <a:rPr sz="6825" b="0" i="1" spc="690" baseline="2442" dirty="0">
                <a:latin typeface="Times New Roman"/>
                <a:cs typeface="Times New Roman"/>
              </a:rPr>
              <a:t>V</a:t>
            </a:r>
            <a:r>
              <a:rPr sz="6825" b="0" i="1" spc="-525" baseline="2442" dirty="0">
                <a:latin typeface="Times New Roman"/>
                <a:cs typeface="Times New Roman"/>
              </a:rPr>
              <a:t> </a:t>
            </a:r>
            <a:r>
              <a:rPr sz="1750" b="0" i="1" spc="254" dirty="0">
                <a:latin typeface="Times New Roman"/>
                <a:cs typeface="Times New Roman"/>
              </a:rPr>
              <a:t>BE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67930" y="1471930"/>
            <a:ext cx="3234690" cy="3164205"/>
            <a:chOff x="7567930" y="1471930"/>
            <a:chExt cx="3234690" cy="3164205"/>
          </a:xfrm>
        </p:grpSpPr>
        <p:sp>
          <p:nvSpPr>
            <p:cNvPr id="16" name="object 16"/>
            <p:cNvSpPr/>
            <p:nvPr/>
          </p:nvSpPr>
          <p:spPr>
            <a:xfrm>
              <a:off x="7581900" y="1485900"/>
              <a:ext cx="3206750" cy="1670685"/>
            </a:xfrm>
            <a:custGeom>
              <a:avLst/>
              <a:gdLst/>
              <a:ahLst/>
              <a:cxnLst/>
              <a:rect l="l" t="t" r="r" b="b"/>
              <a:pathLst>
                <a:path w="3206750" h="1670685">
                  <a:moveTo>
                    <a:pt x="0" y="1670303"/>
                  </a:moveTo>
                  <a:lnTo>
                    <a:pt x="3206496" y="1670303"/>
                  </a:lnTo>
                  <a:lnTo>
                    <a:pt x="3206496" y="0"/>
                  </a:lnTo>
                  <a:lnTo>
                    <a:pt x="0" y="0"/>
                  </a:lnTo>
                  <a:lnTo>
                    <a:pt x="0" y="1670303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37029" y="4627436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0" y="0"/>
                  </a:moveTo>
                  <a:lnTo>
                    <a:pt x="926471" y="0"/>
                  </a:lnTo>
                </a:path>
              </a:pathLst>
            </a:custGeom>
            <a:ln w="15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867675" y="4127468"/>
            <a:ext cx="69151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3050" spc="365" dirty="0">
                <a:latin typeface="Symbol"/>
                <a:cs typeface="Symbol"/>
              </a:rPr>
              <a:t></a:t>
            </a:r>
            <a:r>
              <a:rPr sz="3050" spc="270" dirty="0">
                <a:latin typeface="Times New Roman"/>
                <a:cs typeface="Times New Roman"/>
              </a:rPr>
              <a:t> </a:t>
            </a:r>
            <a:r>
              <a:rPr sz="6900" i="1" spc="405" baseline="-12077" dirty="0">
                <a:latin typeface="Times New Roman"/>
                <a:cs typeface="Times New Roman"/>
              </a:rPr>
              <a:t>I</a:t>
            </a:r>
            <a:endParaRPr sz="6900" baseline="-12077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57483" y="3963451"/>
            <a:ext cx="1269365" cy="1161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>
              <a:lnSpc>
                <a:spcPts val="5250"/>
              </a:lnSpc>
              <a:spcBef>
                <a:spcPts val="95"/>
              </a:spcBef>
            </a:pPr>
            <a:r>
              <a:rPr sz="4600" i="1" spc="425" dirty="0">
                <a:latin typeface="Times New Roman"/>
                <a:cs typeface="Times New Roman"/>
              </a:rPr>
              <a:t>R</a:t>
            </a:r>
            <a:r>
              <a:rPr sz="2625" i="1" spc="637" baseline="-4761" dirty="0">
                <a:latin typeface="Times New Roman"/>
                <a:cs typeface="Times New Roman"/>
              </a:rPr>
              <a:t>B</a:t>
            </a:r>
            <a:endParaRPr sz="2625" baseline="-4761">
              <a:latin typeface="Times New Roman"/>
              <a:cs typeface="Times New Roman"/>
            </a:endParaRPr>
          </a:p>
          <a:p>
            <a:pPr marL="25400">
              <a:lnSpc>
                <a:spcPts val="3690"/>
              </a:lnSpc>
            </a:pPr>
            <a:r>
              <a:rPr sz="2625" i="1" spc="367" baseline="39682" dirty="0">
                <a:latin typeface="Times New Roman"/>
                <a:cs typeface="Times New Roman"/>
              </a:rPr>
              <a:t>E</a:t>
            </a:r>
            <a:r>
              <a:rPr sz="2625" i="1" spc="67" baseline="39682" dirty="0">
                <a:latin typeface="Times New Roman"/>
                <a:cs typeface="Times New Roman"/>
              </a:rPr>
              <a:t>  </a:t>
            </a:r>
            <a:r>
              <a:rPr sz="3300" spc="215" dirty="0">
                <a:latin typeface="Symbol"/>
                <a:cs typeface="Symbol"/>
              </a:rPr>
              <a:t></a:t>
            </a:r>
            <a:r>
              <a:rPr sz="3300" spc="200" dirty="0">
                <a:latin typeface="Times New Roman"/>
                <a:cs typeface="Times New Roman"/>
              </a:rPr>
              <a:t> </a:t>
            </a:r>
            <a:r>
              <a:rPr sz="3050" spc="430" dirty="0">
                <a:latin typeface="Symbol"/>
                <a:cs typeface="Symbol"/>
              </a:rPr>
              <a:t></a:t>
            </a:r>
            <a:r>
              <a:rPr sz="3050" spc="430" dirty="0">
                <a:latin typeface="Times New Roman"/>
                <a:cs typeface="Times New Roman"/>
              </a:rPr>
              <a:t>1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11261" y="4629387"/>
            <a:ext cx="18161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750" i="1" spc="195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8172" y="4254474"/>
            <a:ext cx="245745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600" i="1" spc="590" dirty="0">
                <a:latin typeface="Times New Roman"/>
                <a:cs typeface="Times New Roman"/>
              </a:rPr>
              <a:t>V</a:t>
            </a:r>
            <a:r>
              <a:rPr sz="4600" i="1" spc="-520" dirty="0">
                <a:latin typeface="Times New Roman"/>
                <a:cs typeface="Times New Roman"/>
              </a:rPr>
              <a:t> </a:t>
            </a:r>
            <a:r>
              <a:rPr sz="2625" i="1" spc="330" baseline="-4761" dirty="0">
                <a:latin typeface="Times New Roman"/>
                <a:cs typeface="Times New Roman"/>
              </a:rPr>
              <a:t>CB</a:t>
            </a:r>
            <a:r>
              <a:rPr sz="2625" i="1" spc="44" baseline="-4761" dirty="0">
                <a:latin typeface="Times New Roman"/>
                <a:cs typeface="Times New Roman"/>
              </a:rPr>
              <a:t>  </a:t>
            </a:r>
            <a:r>
              <a:rPr sz="4575" spc="547" baseline="18214" dirty="0">
                <a:latin typeface="Symbol"/>
                <a:cs typeface="Symbol"/>
              </a:rPr>
              <a:t></a:t>
            </a:r>
            <a:r>
              <a:rPr sz="4575" spc="419" baseline="18214" dirty="0">
                <a:latin typeface="Times New Roman"/>
                <a:cs typeface="Times New Roman"/>
              </a:rPr>
              <a:t> </a:t>
            </a:r>
            <a:r>
              <a:rPr sz="4600" i="1" spc="320" dirty="0">
                <a:latin typeface="Times New Roman"/>
                <a:cs typeface="Times New Roman"/>
              </a:rPr>
              <a:t>I</a:t>
            </a:r>
            <a:r>
              <a:rPr sz="4600" i="1" spc="-545" dirty="0">
                <a:latin typeface="Times New Roman"/>
                <a:cs typeface="Times New Roman"/>
              </a:rPr>
              <a:t> </a:t>
            </a:r>
            <a:r>
              <a:rPr sz="2625" i="1" spc="367" baseline="-4761" dirty="0">
                <a:latin typeface="Times New Roman"/>
                <a:cs typeface="Times New Roman"/>
              </a:rPr>
              <a:t>B</a:t>
            </a:r>
            <a:r>
              <a:rPr sz="2625" i="1" spc="209" baseline="-4761" dirty="0">
                <a:latin typeface="Times New Roman"/>
                <a:cs typeface="Times New Roman"/>
              </a:rPr>
              <a:t> </a:t>
            </a:r>
            <a:r>
              <a:rPr sz="4600" i="1" spc="540" dirty="0">
                <a:latin typeface="Times New Roman"/>
                <a:cs typeface="Times New Roman"/>
              </a:rPr>
              <a:t>R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31635" y="4030979"/>
            <a:ext cx="4624070" cy="1152525"/>
          </a:xfrm>
          <a:custGeom>
            <a:avLst/>
            <a:gdLst/>
            <a:ahLst/>
            <a:cxnLst/>
            <a:rect l="l" t="t" r="r" b="b"/>
            <a:pathLst>
              <a:path w="4624070" h="1152525">
                <a:moveTo>
                  <a:pt x="0" y="1152144"/>
                </a:moveTo>
                <a:lnTo>
                  <a:pt x="4623816" y="1152144"/>
                </a:lnTo>
                <a:lnTo>
                  <a:pt x="4623816" y="0"/>
                </a:lnTo>
                <a:lnTo>
                  <a:pt x="0" y="0"/>
                </a:lnTo>
                <a:lnTo>
                  <a:pt x="0" y="115214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z="4400" dirty="0"/>
              <a:t>Biasing</a:t>
            </a:r>
            <a:r>
              <a:rPr sz="4400" spc="-105" dirty="0"/>
              <a:t> </a:t>
            </a:r>
            <a:r>
              <a:rPr sz="4400" dirty="0"/>
              <a:t>Using</a:t>
            </a:r>
            <a:r>
              <a:rPr sz="4400" spc="-120" dirty="0"/>
              <a:t> </a:t>
            </a:r>
            <a:r>
              <a:rPr sz="4400" dirty="0"/>
              <a:t>a</a:t>
            </a:r>
            <a:r>
              <a:rPr sz="4400" spc="-85" dirty="0"/>
              <a:t> </a:t>
            </a:r>
            <a:r>
              <a:rPr sz="4400" spc="-50" dirty="0"/>
              <a:t>Constant-</a:t>
            </a:r>
            <a:r>
              <a:rPr sz="4400" dirty="0"/>
              <a:t>Current</a:t>
            </a:r>
            <a:r>
              <a:rPr sz="4400" spc="-5" dirty="0"/>
              <a:t> </a:t>
            </a:r>
            <a:r>
              <a:rPr sz="4400" spc="-10" dirty="0"/>
              <a:t>Source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591" y="1143000"/>
            <a:ext cx="2859024" cy="46573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236720" y="1286255"/>
            <a:ext cx="6638925" cy="4498975"/>
            <a:chOff x="4236720" y="1286255"/>
            <a:chExt cx="6638925" cy="44989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6720" y="1642871"/>
              <a:ext cx="3551716" cy="41422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5744" y="1286255"/>
              <a:ext cx="3502152" cy="8564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5848" y="3285744"/>
              <a:ext cx="3709415" cy="78638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460872" y="1304290"/>
            <a:ext cx="141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Current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Mirror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Collector FEED BACK BIAS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3787753-71F4-D807-8E2B-66812169B65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609573" y="2386627"/>
            <a:ext cx="3130695" cy="610365"/>
          </a:xfrm>
        </p:spPr>
        <p:txBody>
          <a:bodyPr>
            <a:noAutofit/>
          </a:bodyPr>
          <a:lstStyle/>
          <a:p>
            <a:r>
              <a:rPr lang="en-US" altLang="en-US" sz="1800" dirty="0"/>
              <a:t>Design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6EEF18D-2B6E-359A-0988-7D1FFE0EB852}"/>
              </a:ext>
            </a:extLst>
          </p:cNvPr>
          <p:cNvSpPr txBox="1">
            <a:spLocks noChangeArrowheads="1"/>
          </p:cNvSpPr>
          <p:nvPr/>
        </p:nvSpPr>
        <p:spPr>
          <a:xfrm>
            <a:off x="2956498" y="2309039"/>
            <a:ext cx="2149618" cy="503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Circuit Equations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0E33FE4-1161-E063-E09D-B66AE817C3E2}"/>
              </a:ext>
            </a:extLst>
          </p:cNvPr>
          <p:cNvSpPr txBox="1">
            <a:spLocks noChangeArrowheads="1"/>
          </p:cNvSpPr>
          <p:nvPr/>
        </p:nvSpPr>
        <p:spPr>
          <a:xfrm>
            <a:off x="-123921" y="5130995"/>
            <a:ext cx="3146276" cy="503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Better Q-Point stabilization using Collector feedback resistance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CA18594-4926-4DD2-B14E-7583DA5E89A3}"/>
              </a:ext>
            </a:extLst>
          </p:cNvPr>
          <p:cNvSpPr txBox="1">
            <a:spLocks noChangeArrowheads="1"/>
          </p:cNvSpPr>
          <p:nvPr/>
        </p:nvSpPr>
        <p:spPr>
          <a:xfrm>
            <a:off x="-5183" y="1882027"/>
            <a:ext cx="2805374" cy="503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Collector Feedback Bias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8A244F1-0CFB-8864-FE8C-3325D1A7F389}"/>
              </a:ext>
            </a:extLst>
          </p:cNvPr>
          <p:cNvSpPr txBox="1">
            <a:spLocks noChangeArrowheads="1"/>
          </p:cNvSpPr>
          <p:nvPr/>
        </p:nvSpPr>
        <p:spPr>
          <a:xfrm>
            <a:off x="8233635" y="5064602"/>
            <a:ext cx="3786378" cy="831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Q point is less sensitive to changes in current gain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536BE-0E81-1400-3BBD-23C8A30B0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5" y="2291462"/>
            <a:ext cx="2149618" cy="24813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F5D9FF-2F49-AC72-18B0-97E6880FF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694" y="1941793"/>
            <a:ext cx="3932261" cy="1912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E485AD-F37F-98B6-D862-DB0803273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504" y="2741841"/>
            <a:ext cx="2705228" cy="19127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4AD3F3-9A5D-4338-DBA2-555465F5A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807" y="2898186"/>
            <a:ext cx="1287268" cy="5037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A22E41-D0C8-84AD-7CD3-477C1015ACBF}"/>
              </a:ext>
            </a:extLst>
          </p:cNvPr>
          <p:cNvSpPr txBox="1"/>
          <p:nvPr/>
        </p:nvSpPr>
        <p:spPr>
          <a:xfrm>
            <a:off x="53233" y="4823639"/>
            <a:ext cx="274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4.7.  Collector Feedback Bias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A48D6-B558-D61C-F7A5-BDC40FD12E7B}"/>
              </a:ext>
            </a:extLst>
          </p:cNvPr>
          <p:cNvSpPr txBox="1"/>
          <p:nvPr/>
        </p:nvSpPr>
        <p:spPr>
          <a:xfrm>
            <a:off x="8050310" y="3861009"/>
            <a:ext cx="4153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4.8. Q-point for change in </a:t>
            </a: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DC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959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4.1  Calculate the Emitter resistance for Emitter bias as shown in Fig. 4.9 which could drive an LED of 21 mA Fig. 4.9.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 Considering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~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21 mA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KVL in input loop gives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Now, R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(15-0.7)/(21 mA) = 680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Ω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Example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AF12B-6480-1A97-4A1A-01F87F5CD8E1}"/>
              </a:ext>
            </a:extLst>
          </p:cNvPr>
          <p:cNvSpPr txBox="1"/>
          <p:nvPr/>
        </p:nvSpPr>
        <p:spPr>
          <a:xfrm>
            <a:off x="3748751" y="3063594"/>
            <a:ext cx="3133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4.9. Emitter bias for LED driving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5C2AA-265A-936C-8CFC-2BEB4F521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193" y="1182316"/>
            <a:ext cx="3133179" cy="18715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4.2. Identify the application of the Base Biased BJT circuit shown in Fig. 4.10.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Example Problems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C2066-BA69-3839-E79B-227E9603C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917" y="1237200"/>
            <a:ext cx="3711262" cy="2499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966167-9CAB-8699-9687-8AE9841D2570}"/>
              </a:ext>
            </a:extLst>
          </p:cNvPr>
          <p:cNvSpPr txBox="1"/>
          <p:nvPr/>
        </p:nvSpPr>
        <p:spPr>
          <a:xfrm>
            <a:off x="4691142" y="3810840"/>
            <a:ext cx="3133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4.10. Base bias for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1A1095-E47E-CBDB-5629-AA2A205C8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1" y="4376521"/>
            <a:ext cx="12011097" cy="124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51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Which Bias is suitable for Digital circuits?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Emitter Bias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Base Bias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Collector feedback Bias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Emitter feedback Bias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831771"/>
            <a:ext cx="12192000" cy="546046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Which of the following bias is less effected by Beta variation?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Emitter feedback bias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Collector feedback bias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1413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3. Which of the following biasing is suitable for IC driver application? 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Emitter Bias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Base Bias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Collector feedback Bias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Emitter feedback Bias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788229"/>
            <a:ext cx="12192000" cy="589588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4. Operating point of the BJT does not depend on temperature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False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True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310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2616-E55E-DAB7-B0A0-D8540B2F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A2ACF-481C-7213-C089-BDAC243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67DA82E-43B9-32C7-5D30-307DE1BBBD76}"/>
              </a:ext>
            </a:extLst>
          </p:cNvPr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60706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23" y="2146654"/>
            <a:ext cx="11643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the operation of Base bias. Sketch circuit obtain operating point. 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the operation of Emitter bias. Sketch circuit obtain operating point. 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the operation of two-supply bias. Sketch circuit obtain operating point. 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the operation of Fixed bias. Sketch circuit obtain operating point. 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the operation of Collector feedback bias. Sketch circuit obtain operating point.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075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REFERENCES FOR FURTHER LEARNING OF THE SESSION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 Books: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Albert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Malvino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David Bate, “Electronic Principles”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Robert L.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Boylestad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and Louis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Nashelsky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- “Electronic Devices and Circuit Theory”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178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1780855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itchFamily="2" charset="77"/>
                </a:rPr>
                <a:t>THANK YOU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itchFamily="2" charset="77"/>
                </a:rPr>
                <a:t>Team – </a:t>
              </a:r>
              <a:r>
                <a:rPr kumimoji="0" lang="en-US" sz="2000" b="1" i="0" u="none" strike="noStrike" kern="1200" cap="all" spc="0" normalizeH="0" baseline="0" noProof="0" dirty="0">
                  <a:ln/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anose="00000500000000000000" pitchFamily="2" charset="0"/>
                  <a:sym typeface="BioRhyme ExtraBold"/>
                </a:rPr>
                <a:t>Analog electronic Circuit Design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641EAF-9950-CBC7-0185-84F0EED5A950}"/>
              </a:ext>
            </a:extLst>
          </p:cNvPr>
          <p:cNvSpPr txBox="1"/>
          <p:nvPr/>
        </p:nvSpPr>
        <p:spPr>
          <a:xfrm>
            <a:off x="-6221" y="5763439"/>
            <a:ext cx="6102220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2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Prepared by – Mr. S. Ravi Teja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1067</Words>
  <Application>Microsoft Office PowerPoint</Application>
  <PresentationFormat>Widescreen</PresentationFormat>
  <Paragraphs>208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Aptos</vt:lpstr>
      <vt:lpstr>Arial</vt:lpstr>
      <vt:lpstr>Arial MT</vt:lpstr>
      <vt:lpstr>Calibri</vt:lpstr>
      <vt:lpstr>Gill Sans MT</vt:lpstr>
      <vt:lpstr>Poppins</vt:lpstr>
      <vt:lpstr>Symbol</vt:lpstr>
      <vt:lpstr>Times New Roman</vt:lpstr>
      <vt:lpstr>Wingdings</vt:lpstr>
      <vt:lpstr>Office Theme</vt:lpstr>
      <vt:lpstr>Gallery</vt:lpstr>
      <vt:lpstr>PowerPoint Presentation</vt:lpstr>
      <vt:lpstr>Session content</vt:lpstr>
      <vt:lpstr>PowerPoint Presentation</vt:lpstr>
      <vt:lpstr>Biasing in BJT Amplifier Circuits</vt:lpstr>
      <vt:lpstr>Biasing in BJT Amplifier Circuits</vt:lpstr>
      <vt:lpstr>Biasing in BJT Amplifier Circuits</vt:lpstr>
      <vt:lpstr>Biasing in BJT Amplifier Circuits</vt:lpstr>
      <vt:lpstr>Fixed Bias/Base Bias</vt:lpstr>
      <vt:lpstr>General biasing circuits</vt:lpstr>
      <vt:lpstr>Fixed Bias/Base Bias</vt:lpstr>
      <vt:lpstr>Fixed Bias/Base Bias</vt:lpstr>
      <vt:lpstr>General biasing circuits</vt:lpstr>
      <vt:lpstr>General biasing circuits</vt:lpstr>
      <vt:lpstr>FIXED BIAS  and EMITTER FEED BACK BIAS</vt:lpstr>
      <vt:lpstr>Biasing Using a Collector-to-Base Feedback</vt:lpstr>
      <vt:lpstr> V CC V BE</vt:lpstr>
      <vt:lpstr>Biasing Using a Constant-Current Source</vt:lpstr>
      <vt:lpstr>Collector FEED BACK BIAS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syam sundar pillalamarri</cp:lastModifiedBy>
  <cp:revision>12</cp:revision>
  <dcterms:created xsi:type="dcterms:W3CDTF">2025-07-03T09:32:48Z</dcterms:created>
  <dcterms:modified xsi:type="dcterms:W3CDTF">2025-07-28T06:33:56Z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LastSaved">
    <vt:filetime>2025-07-03T00:00:00Z</vt:filetime>
  </property>
  <property fmtid="{D5CDD505-2E9C-101B-9397-08002B2CF9AE}" pid="4" name="Producer">
    <vt:lpwstr>iLovePDF</vt:lpwstr>
  </property>
</Properties>
</file>