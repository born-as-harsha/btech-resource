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58" r:id="rId5"/>
    <p:sldId id="265" r:id="rId6"/>
    <p:sldId id="260" r:id="rId7"/>
    <p:sldId id="261" r:id="rId8"/>
    <p:sldId id="262" r:id="rId9"/>
    <p:sldId id="263" r:id="rId10"/>
    <p:sldId id="264" r:id="rId11"/>
    <p:sldId id="266" r:id="rId12"/>
    <p:sldId id="284" r:id="rId13"/>
    <p:sldId id="267" r:id="rId14"/>
    <p:sldId id="268" r:id="rId15"/>
    <p:sldId id="269" r:id="rId16"/>
    <p:sldId id="270" r:id="rId17"/>
    <p:sldId id="271" r:id="rId18"/>
    <p:sldId id="273" r:id="rId19"/>
    <p:sldId id="282" r:id="rId20"/>
    <p:sldId id="274" r:id="rId21"/>
    <p:sldId id="275" r:id="rId22"/>
    <p:sldId id="276" r:id="rId23"/>
    <p:sldId id="277" r:id="rId24"/>
    <p:sldId id="278" r:id="rId25"/>
    <p:sldId id="280" r:id="rId26"/>
    <p:sldId id="281" r:id="rId27"/>
    <p:sldId id="283" r:id="rId28"/>
    <p:sldId id="294" r:id="rId29"/>
    <p:sldId id="285" r:id="rId30"/>
    <p:sldId id="286" r:id="rId31"/>
    <p:sldId id="287" r:id="rId32"/>
    <p:sldId id="288" r:id="rId33"/>
    <p:sldId id="289" r:id="rId34"/>
    <p:sldId id="290" r:id="rId35"/>
    <p:sldId id="291" r:id="rId36"/>
    <p:sldId id="292" r:id="rId37"/>
    <p:sldId id="293" r:id="rId38"/>
    <p:sldId id="295" r:id="rId39"/>
    <p:sldId id="296" r:id="rId40"/>
    <p:sldId id="300" r:id="rId41"/>
    <p:sldId id="297" r:id="rId42"/>
    <p:sldId id="298" r:id="rId43"/>
    <p:sldId id="299" r:id="rId44"/>
    <p:sldId id="301"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962" y="2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ther SR" userId="9d314b7d33b10da3" providerId="LiveId" clId="{35533214-93BF-4F13-B9C4-3269CE025997}"/>
    <pc:docChg chg="modSld">
      <pc:chgData name="Srither SR" userId="9d314b7d33b10da3" providerId="LiveId" clId="{35533214-93BF-4F13-B9C4-3269CE025997}" dt="2025-10-30T00:00:42.647" v="0" actId="14100"/>
      <pc:docMkLst>
        <pc:docMk/>
      </pc:docMkLst>
      <pc:sldChg chg="modSp mod">
        <pc:chgData name="Srither SR" userId="9d314b7d33b10da3" providerId="LiveId" clId="{35533214-93BF-4F13-B9C4-3269CE025997}" dt="2025-10-30T00:00:42.647" v="0" actId="14100"/>
        <pc:sldMkLst>
          <pc:docMk/>
          <pc:sldMk cId="0" sldId="290"/>
        </pc:sldMkLst>
        <pc:picChg chg="mod">
          <ac:chgData name="Srither SR" userId="9d314b7d33b10da3" providerId="LiveId" clId="{35533214-93BF-4F13-B9C4-3269CE025997}" dt="2025-10-30T00:00:42.647" v="0" actId="14100"/>
          <ac:picMkLst>
            <pc:docMk/>
            <pc:sldMk cId="0" sldId="290"/>
            <ac:picMk id="41986"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media" Target="file:///F:\2022-23\SEM%201\PPTs\Oscillators\MIT%20Physics%20Demo%20--%20Spray%20Paint%20Oscillator.mp4" TargetMode="External"/><Relationship Id="rId7" Type="http://schemas.openxmlformats.org/officeDocument/2006/relationships/image" Target="../media/image3.jpeg"/><Relationship Id="rId2" Type="http://schemas.openxmlformats.org/officeDocument/2006/relationships/video" Target="file:///F:\2022-23\SEM%201\PPTs\Oscillators\pendulum%20sinusoidal%20curve%20animation.mp4" TargetMode="External"/><Relationship Id="rId1" Type="http://schemas.microsoft.com/office/2007/relationships/media" Target="file:///F:\2022-23\SEM%201\PPTs\Oscillators\pendulum%20sinusoidal%20curve%20animation.mp4" TargetMode="External"/><Relationship Id="rId6" Type="http://schemas.openxmlformats.org/officeDocument/2006/relationships/image" Target="../media/image4.png"/><Relationship Id="rId5" Type="http://schemas.openxmlformats.org/officeDocument/2006/relationships/slideLayout" Target="../slideLayouts/slideLayout2.xml"/><Relationship Id="rId4" Type="http://schemas.openxmlformats.org/officeDocument/2006/relationships/video" Target="file:///F:\2022-23\SEM%201\PPTs\Oscillators\MIT%20Physics%20Demo%20--%20Spray%20Paint%20Oscillator.mp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2.png"/><Relationship Id="rId3" Type="http://schemas.openxmlformats.org/officeDocument/2006/relationships/image" Target="../media/image6.png"/><Relationship Id="rId7" Type="http://schemas.openxmlformats.org/officeDocument/2006/relationships/image" Target="../media/image8.wmf"/><Relationship Id="rId12" Type="http://schemas.openxmlformats.org/officeDocument/2006/relationships/image" Target="../media/image11.wmf"/><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oleObject" Target="../embeddings/oleObject2.bin"/><Relationship Id="rId11" Type="http://schemas.openxmlformats.org/officeDocument/2006/relationships/oleObject" Target="../embeddings/oleObject4.bin"/><Relationship Id="rId5" Type="http://schemas.openxmlformats.org/officeDocument/2006/relationships/image" Target="../media/image7.wmf"/><Relationship Id="rId10" Type="http://schemas.openxmlformats.org/officeDocument/2006/relationships/image" Target="../media/image10.jpeg"/><Relationship Id="rId4" Type="http://schemas.openxmlformats.org/officeDocument/2006/relationships/oleObject" Target="../embeddings/oleObject1.bin"/><Relationship Id="rId9" Type="http://schemas.openxmlformats.org/officeDocument/2006/relationships/image" Target="../media/image9.wmf"/></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6.bin"/><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21.wmf"/><Relationship Id="rId7" Type="http://schemas.openxmlformats.org/officeDocument/2006/relationships/oleObject" Target="../embeddings/oleObject9.bin"/><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22.wmf"/><Relationship Id="rId4" Type="http://schemas.openxmlformats.org/officeDocument/2006/relationships/oleObject" Target="../embeddings/oleObject8.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25.wmf"/><Relationship Id="rId4" Type="http://schemas.openxmlformats.org/officeDocument/2006/relationships/oleObject" Target="../embeddings/oleObject11.bin"/><Relationship Id="rId9" Type="http://schemas.openxmlformats.org/officeDocument/2006/relationships/image" Target="../media/image27.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wmf"/><Relationship Id="rId7" Type="http://schemas.openxmlformats.org/officeDocument/2006/relationships/image" Target="../media/image33.wmf"/><Relationship Id="rId2"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32.wmf"/><Relationship Id="rId4" Type="http://schemas.openxmlformats.org/officeDocument/2006/relationships/oleObject" Target="../embeddings/oleObject15.bin"/></Relationships>
</file>

<file path=ppt/slides/_rels/slide25.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oleObject" Target="../embeddings/oleObject18.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image" Target="../media/image42.png"/><Relationship Id="rId7" Type="http://schemas.openxmlformats.org/officeDocument/2006/relationships/oleObject" Target="../embeddings/oleObject19.bin"/><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3" Type="http://schemas.openxmlformats.org/officeDocument/2006/relationships/image" Target="../media/image51.wmf"/><Relationship Id="rId7" Type="http://schemas.openxmlformats.org/officeDocument/2006/relationships/image" Target="../media/image53.wmf"/><Relationship Id="rId2" Type="http://schemas.openxmlformats.org/officeDocument/2006/relationships/oleObject" Target="../embeddings/oleObject20.bin"/><Relationship Id="rId1" Type="http://schemas.openxmlformats.org/officeDocument/2006/relationships/slideLayout" Target="../slideLayouts/slideLayout2.xml"/><Relationship Id="rId6" Type="http://schemas.openxmlformats.org/officeDocument/2006/relationships/oleObject" Target="../embeddings/oleObject22.bin"/><Relationship Id="rId5" Type="http://schemas.openxmlformats.org/officeDocument/2006/relationships/image" Target="../media/image52.wmf"/><Relationship Id="rId4" Type="http://schemas.openxmlformats.org/officeDocument/2006/relationships/oleObject" Target="../embeddings/oleObject21.bin"/></Relationships>
</file>

<file path=ppt/slides/_rels/slide3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36.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65.wmf"/><Relationship Id="rId7" Type="http://schemas.openxmlformats.org/officeDocument/2006/relationships/image" Target="../media/image67.wmf"/><Relationship Id="rId2" Type="http://schemas.openxmlformats.org/officeDocument/2006/relationships/oleObject" Target="../embeddings/oleObject23.bin"/><Relationship Id="rId1" Type="http://schemas.openxmlformats.org/officeDocument/2006/relationships/slideLayout" Target="../slideLayouts/slideLayout2.xml"/><Relationship Id="rId6" Type="http://schemas.openxmlformats.org/officeDocument/2006/relationships/oleObject" Target="../embeddings/oleObject25.bin"/><Relationship Id="rId5" Type="http://schemas.openxmlformats.org/officeDocument/2006/relationships/image" Target="../media/image66.wmf"/><Relationship Id="rId4" Type="http://schemas.openxmlformats.org/officeDocument/2006/relationships/oleObject" Target="../embeddings/oleObject24.bin"/><Relationship Id="rId9" Type="http://schemas.openxmlformats.org/officeDocument/2006/relationships/image" Target="../media/image68.wmf"/></Relationships>
</file>

<file path=ppt/slides/_rels/slide38.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slideLayout" Target="../slideLayouts/slideLayout2.xml"/><Relationship Id="rId1" Type="http://schemas.openxmlformats.org/officeDocument/2006/relationships/video" Target="https://www.youtube.com/embed/fPKdDCiJDok?feature=oembed"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oleObject" Target="../embeddings/oleObject27.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19200"/>
            <a:ext cx="7772400" cy="1470025"/>
          </a:xfrm>
        </p:spPr>
        <p:txBody>
          <a:bodyPr>
            <a:normAutofit/>
          </a:bodyPr>
          <a:lstStyle/>
          <a:p>
            <a:r>
              <a:rPr lang="en-US" sz="5400" b="1" dirty="0">
                <a:solidFill>
                  <a:srgbClr val="FF0000"/>
                </a:solidFill>
                <a:latin typeface="Algerian" pitchFamily="82" charset="0"/>
              </a:rPr>
              <a:t>Oscillators</a:t>
            </a:r>
          </a:p>
        </p:txBody>
      </p:sp>
      <p:sp>
        <p:nvSpPr>
          <p:cNvPr id="3" name="Subtitle 2"/>
          <p:cNvSpPr>
            <a:spLocks noGrp="1"/>
          </p:cNvSpPr>
          <p:nvPr>
            <p:ph type="subTitle" idx="1"/>
          </p:nvPr>
        </p:nvSpPr>
        <p:spPr>
          <a:xfrm>
            <a:off x="1371600" y="3200400"/>
            <a:ext cx="6400800" cy="2133600"/>
          </a:xfrm>
        </p:spPr>
        <p:txBody>
          <a:bodyPr>
            <a:noAutofit/>
          </a:bodyPr>
          <a:lstStyle/>
          <a:p>
            <a:r>
              <a:rPr lang="en-US" sz="2800" b="1" u="sng" dirty="0">
                <a:solidFill>
                  <a:srgbClr val="002060"/>
                </a:solidFill>
                <a:latin typeface="Algerian" pitchFamily="82" charset="0"/>
              </a:rPr>
              <a:t>CO-4</a:t>
            </a:r>
          </a:p>
          <a:p>
            <a:pPr algn="r"/>
            <a:r>
              <a:rPr lang="en-US" sz="2800" b="1" dirty="0">
                <a:solidFill>
                  <a:srgbClr val="002060"/>
                </a:solidFill>
                <a:latin typeface="Algerian" pitchFamily="82" charset="0"/>
              </a:rPr>
              <a:t>SESSIONS: 20 TYPE B 50 MIN</a:t>
            </a:r>
          </a:p>
          <a:p>
            <a:pPr algn="r"/>
            <a:r>
              <a:rPr lang="en-US" sz="2800" b="1" dirty="0">
                <a:solidFill>
                  <a:srgbClr val="002060"/>
                </a:solidFill>
                <a:latin typeface="Algerian" pitchFamily="82" charset="0"/>
              </a:rPr>
              <a:t>21 TYPE C 100 MIN</a:t>
            </a:r>
          </a:p>
          <a:p>
            <a:pPr algn="r"/>
            <a:r>
              <a:rPr lang="en-US" sz="2800" b="1" dirty="0">
                <a:solidFill>
                  <a:srgbClr val="002060"/>
                </a:solidFill>
                <a:latin typeface="Algerian" pitchFamily="82" charset="0"/>
              </a:rPr>
              <a:t>22 TYPE C 100 MIN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4"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slide(fromBottom)">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slide(fromBottom)">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slide(fromBottom)">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slide(fromBottom)">
                                      <p:cBhvr>
                                        <p:cTn id="2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solidFill>
                  <a:srgbClr val="FF0000"/>
                </a:solidFill>
                <a:latin typeface="Algerian" pitchFamily="82" charset="0"/>
              </a:rPr>
              <a:t>Objectives</a:t>
            </a:r>
          </a:p>
        </p:txBody>
      </p:sp>
      <p:sp>
        <p:nvSpPr>
          <p:cNvPr id="4" name="Text Box 4"/>
          <p:cNvSpPr txBox="1">
            <a:spLocks noChangeArrowheads="1"/>
          </p:cNvSpPr>
          <p:nvPr/>
        </p:nvSpPr>
        <p:spPr bwMode="auto">
          <a:xfrm>
            <a:off x="381000" y="1654175"/>
            <a:ext cx="8458200" cy="4161460"/>
          </a:xfrm>
          <a:prstGeom prst="rect">
            <a:avLst/>
          </a:prstGeom>
          <a:noFill/>
          <a:ln w="9525">
            <a:noFill/>
            <a:miter lim="800000"/>
            <a:headEnd/>
            <a:tailEnd/>
          </a:ln>
        </p:spPr>
        <p:txBody>
          <a:bodyPr wrap="square">
            <a:spAutoFit/>
          </a:bodyPr>
          <a:lstStyle/>
          <a:p>
            <a:pPr marL="342900" indent="-342900" algn="just">
              <a:lnSpc>
                <a:spcPct val="150000"/>
              </a:lnSpc>
              <a:buFont typeface="Wingdings" pitchFamily="2" charset="2"/>
              <a:buChar char="v"/>
            </a:pPr>
            <a:r>
              <a:rPr lang="en-US" altLang="en-US" sz="3600" dirty="0">
                <a:solidFill>
                  <a:srgbClr val="002060"/>
                </a:solidFill>
              </a:rPr>
              <a:t>Describe the basic concept of an oscillator</a:t>
            </a:r>
          </a:p>
          <a:p>
            <a:pPr marL="342900" indent="-342900" algn="just">
              <a:lnSpc>
                <a:spcPct val="150000"/>
              </a:lnSpc>
              <a:buFont typeface="Wingdings" pitchFamily="2" charset="2"/>
              <a:buChar char="v"/>
            </a:pPr>
            <a:r>
              <a:rPr lang="en-US" altLang="en-US" sz="3600" dirty="0">
                <a:solidFill>
                  <a:srgbClr val="002060"/>
                </a:solidFill>
              </a:rPr>
              <a:t>Discuss the basic principles of operation of an oscillator</a:t>
            </a:r>
          </a:p>
          <a:p>
            <a:pPr marL="342900" indent="-342900" algn="just">
              <a:lnSpc>
                <a:spcPct val="150000"/>
              </a:lnSpc>
              <a:buFont typeface="Wingdings" pitchFamily="2" charset="2"/>
              <a:buChar char="v"/>
            </a:pPr>
            <a:r>
              <a:rPr lang="en-US" altLang="en-US" sz="3600" dirty="0">
                <a:solidFill>
                  <a:srgbClr val="002060"/>
                </a:solidFill>
              </a:rPr>
              <a:t>Design and Analyze the operation of RC, LC and crystal oscillators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05"/>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 calcmode="lin" valueType="num">
                                      <p:cBhvr>
                                        <p:cTn id="9" dur="500" fill="hold"/>
                                        <p:tgtEl>
                                          <p:spTgt spid="2"/>
                                        </p:tgtEl>
                                        <p:attrNameLst>
                                          <p:attrName>ppt_x</p:attrName>
                                        </p:attrNameLst>
                                      </p:cBhvr>
                                      <p:tavLst>
                                        <p:tav tm="0">
                                          <p:val>
                                            <p:strVal val="#ppt_x-.2"/>
                                          </p:val>
                                        </p:tav>
                                        <p:tav tm="100000">
                                          <p:val>
                                            <p:strVal val="#ppt_x"/>
                                          </p:val>
                                        </p:tav>
                                      </p:tavLst>
                                    </p:anim>
                                    <p:anim calcmode="lin" valueType="num">
                                      <p:cBhvr>
                                        <p:cTn id="10" dur="500" fill="hold"/>
                                        <p:tgtEl>
                                          <p:spTgt spid="2"/>
                                        </p:tgtEl>
                                        <p:attrNameLst>
                                          <p:attrName>ppt_y</p:attrName>
                                        </p:attrNameLst>
                                      </p:cBhvr>
                                      <p:tavLst>
                                        <p:tav tm="0">
                                          <p:val>
                                            <p:strVal val="#ppt_y"/>
                                          </p:val>
                                        </p:tav>
                                        <p:tav tm="100000">
                                          <p:val>
                                            <p:strVal val="#ppt_y"/>
                                          </p:val>
                                        </p:tav>
                                      </p:tavLst>
                                    </p:anim>
                                    <p:animEffect transition="in" filter="fad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54" presetClass="entr" presetSubtype="0" accel="100000" fill="hold" nodeType="click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 calcmode="lin" valueType="num">
                                      <p:cBhvr>
                                        <p:cTn id="16" dur="500" fill="hold"/>
                                        <p:tgtEl>
                                          <p:spTgt spid="4">
                                            <p:txEl>
                                              <p:pRg st="0" end="0"/>
                                            </p:txEl>
                                          </p:spTgt>
                                        </p:tgtEl>
                                        <p:attrNameLst>
                                          <p:attrName>ppt_w</p:attrName>
                                        </p:attrNameLst>
                                      </p:cBhvr>
                                      <p:tavLst>
                                        <p:tav tm="0">
                                          <p:val>
                                            <p:strVal val="#ppt_w*0.05"/>
                                          </p:val>
                                        </p:tav>
                                        <p:tav tm="100000">
                                          <p:val>
                                            <p:strVal val="#ppt_w"/>
                                          </p:val>
                                        </p:tav>
                                      </p:tavLst>
                                    </p:anim>
                                    <p:anim calcmode="lin" valueType="num">
                                      <p:cBhvr>
                                        <p:cTn id="17" dur="500" fill="hold"/>
                                        <p:tgtEl>
                                          <p:spTgt spid="4">
                                            <p:txEl>
                                              <p:pRg st="0" end="0"/>
                                            </p:txEl>
                                          </p:spTgt>
                                        </p:tgtEl>
                                        <p:attrNameLst>
                                          <p:attrName>ppt_h</p:attrName>
                                        </p:attrNameLst>
                                      </p:cBhvr>
                                      <p:tavLst>
                                        <p:tav tm="0">
                                          <p:val>
                                            <p:strVal val="#ppt_h"/>
                                          </p:val>
                                        </p:tav>
                                        <p:tav tm="100000">
                                          <p:val>
                                            <p:strVal val="#ppt_h"/>
                                          </p:val>
                                        </p:tav>
                                      </p:tavLst>
                                    </p:anim>
                                    <p:anim calcmode="lin" valueType="num">
                                      <p:cBhvr>
                                        <p:cTn id="18" dur="500" fill="hold"/>
                                        <p:tgtEl>
                                          <p:spTgt spid="4">
                                            <p:txEl>
                                              <p:pRg st="0" end="0"/>
                                            </p:txEl>
                                          </p:spTgt>
                                        </p:tgtEl>
                                        <p:attrNameLst>
                                          <p:attrName>ppt_x</p:attrName>
                                        </p:attrNameLst>
                                      </p:cBhvr>
                                      <p:tavLst>
                                        <p:tav tm="0">
                                          <p:val>
                                            <p:strVal val="#ppt_x-.2"/>
                                          </p:val>
                                        </p:tav>
                                        <p:tav tm="100000">
                                          <p:val>
                                            <p:strVal val="#ppt_x"/>
                                          </p:val>
                                        </p:tav>
                                      </p:tavLst>
                                    </p:anim>
                                    <p:anim calcmode="lin" valueType="num">
                                      <p:cBhvr>
                                        <p:cTn id="19" dur="500" fill="hold"/>
                                        <p:tgtEl>
                                          <p:spTgt spid="4">
                                            <p:txEl>
                                              <p:pRg st="0" end="0"/>
                                            </p:txEl>
                                          </p:spTgt>
                                        </p:tgtEl>
                                        <p:attrNameLst>
                                          <p:attrName>ppt_y</p:attrName>
                                        </p:attrNameLst>
                                      </p:cBhvr>
                                      <p:tavLst>
                                        <p:tav tm="0">
                                          <p:val>
                                            <p:strVal val="#ppt_y"/>
                                          </p:val>
                                        </p:tav>
                                        <p:tav tm="100000">
                                          <p:val>
                                            <p:strVal val="#ppt_y"/>
                                          </p:val>
                                        </p:tav>
                                      </p:tavLst>
                                    </p:anim>
                                    <p:animEffect transition="in" filter="fade">
                                      <p:cBhvr>
                                        <p:cTn id="20" dur="500"/>
                                        <p:tgtEl>
                                          <p:spTgt spid="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4" presetClass="entr" presetSubtype="0" accel="10000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 calcmode="lin" valueType="num">
                                      <p:cBhvr>
                                        <p:cTn id="25" dur="500" fill="hold"/>
                                        <p:tgtEl>
                                          <p:spTgt spid="4">
                                            <p:txEl>
                                              <p:pRg st="1" end="1"/>
                                            </p:txEl>
                                          </p:spTgt>
                                        </p:tgtEl>
                                        <p:attrNameLst>
                                          <p:attrName>ppt_w</p:attrName>
                                        </p:attrNameLst>
                                      </p:cBhvr>
                                      <p:tavLst>
                                        <p:tav tm="0">
                                          <p:val>
                                            <p:strVal val="#ppt_w*0.05"/>
                                          </p:val>
                                        </p:tav>
                                        <p:tav tm="100000">
                                          <p:val>
                                            <p:strVal val="#ppt_w"/>
                                          </p:val>
                                        </p:tav>
                                      </p:tavLst>
                                    </p:anim>
                                    <p:anim calcmode="lin" valueType="num">
                                      <p:cBhvr>
                                        <p:cTn id="26" dur="500" fill="hold"/>
                                        <p:tgtEl>
                                          <p:spTgt spid="4">
                                            <p:txEl>
                                              <p:pRg st="1" end="1"/>
                                            </p:txEl>
                                          </p:spTgt>
                                        </p:tgtEl>
                                        <p:attrNameLst>
                                          <p:attrName>ppt_h</p:attrName>
                                        </p:attrNameLst>
                                      </p:cBhvr>
                                      <p:tavLst>
                                        <p:tav tm="0">
                                          <p:val>
                                            <p:strVal val="#ppt_h"/>
                                          </p:val>
                                        </p:tav>
                                        <p:tav tm="100000">
                                          <p:val>
                                            <p:strVal val="#ppt_h"/>
                                          </p:val>
                                        </p:tav>
                                      </p:tavLst>
                                    </p:anim>
                                    <p:anim calcmode="lin" valueType="num">
                                      <p:cBhvr>
                                        <p:cTn id="27" dur="500" fill="hold"/>
                                        <p:tgtEl>
                                          <p:spTgt spid="4">
                                            <p:txEl>
                                              <p:pRg st="1" end="1"/>
                                            </p:txEl>
                                          </p:spTgt>
                                        </p:tgtEl>
                                        <p:attrNameLst>
                                          <p:attrName>ppt_x</p:attrName>
                                        </p:attrNameLst>
                                      </p:cBhvr>
                                      <p:tavLst>
                                        <p:tav tm="0">
                                          <p:val>
                                            <p:strVal val="#ppt_x-.2"/>
                                          </p:val>
                                        </p:tav>
                                        <p:tav tm="100000">
                                          <p:val>
                                            <p:strVal val="#ppt_x"/>
                                          </p:val>
                                        </p:tav>
                                      </p:tavLst>
                                    </p:anim>
                                    <p:anim calcmode="lin" valueType="num">
                                      <p:cBhvr>
                                        <p:cTn id="28" dur="500" fill="hold"/>
                                        <p:tgtEl>
                                          <p:spTgt spid="4">
                                            <p:txEl>
                                              <p:pRg st="1" end="1"/>
                                            </p:txEl>
                                          </p:spTgt>
                                        </p:tgtEl>
                                        <p:attrNameLst>
                                          <p:attrName>ppt_y</p:attrName>
                                        </p:attrNameLst>
                                      </p:cBhvr>
                                      <p:tavLst>
                                        <p:tav tm="0">
                                          <p:val>
                                            <p:strVal val="#ppt_y"/>
                                          </p:val>
                                        </p:tav>
                                        <p:tav tm="100000">
                                          <p:val>
                                            <p:strVal val="#ppt_y"/>
                                          </p:val>
                                        </p:tav>
                                      </p:tavLst>
                                    </p:anim>
                                    <p:animEffect transition="in" filter="fade">
                                      <p:cBhvr>
                                        <p:cTn id="29" dur="500"/>
                                        <p:tgtEl>
                                          <p:spTgt spid="4">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54" presetClass="entr" presetSubtype="0" accel="100000" fill="hold" nodeType="clickEffect">
                                  <p:stCondLst>
                                    <p:cond delay="0"/>
                                  </p:stCondLst>
                                  <p:childTnLst>
                                    <p:set>
                                      <p:cBhvr>
                                        <p:cTn id="33" dur="1" fill="hold">
                                          <p:stCondLst>
                                            <p:cond delay="0"/>
                                          </p:stCondLst>
                                        </p:cTn>
                                        <p:tgtEl>
                                          <p:spTgt spid="4">
                                            <p:txEl>
                                              <p:pRg st="2" end="2"/>
                                            </p:txEl>
                                          </p:spTgt>
                                        </p:tgtEl>
                                        <p:attrNameLst>
                                          <p:attrName>style.visibility</p:attrName>
                                        </p:attrNameLst>
                                      </p:cBhvr>
                                      <p:to>
                                        <p:strVal val="visible"/>
                                      </p:to>
                                    </p:set>
                                    <p:anim calcmode="lin" valueType="num">
                                      <p:cBhvr>
                                        <p:cTn id="34" dur="500" fill="hold"/>
                                        <p:tgtEl>
                                          <p:spTgt spid="4">
                                            <p:txEl>
                                              <p:pRg st="2" end="2"/>
                                            </p:txEl>
                                          </p:spTgt>
                                        </p:tgtEl>
                                        <p:attrNameLst>
                                          <p:attrName>ppt_w</p:attrName>
                                        </p:attrNameLst>
                                      </p:cBhvr>
                                      <p:tavLst>
                                        <p:tav tm="0">
                                          <p:val>
                                            <p:strVal val="#ppt_w*0.05"/>
                                          </p:val>
                                        </p:tav>
                                        <p:tav tm="100000">
                                          <p:val>
                                            <p:strVal val="#ppt_w"/>
                                          </p:val>
                                        </p:tav>
                                      </p:tavLst>
                                    </p:anim>
                                    <p:anim calcmode="lin" valueType="num">
                                      <p:cBhvr>
                                        <p:cTn id="35" dur="500" fill="hold"/>
                                        <p:tgtEl>
                                          <p:spTgt spid="4">
                                            <p:txEl>
                                              <p:pRg st="2" end="2"/>
                                            </p:txEl>
                                          </p:spTgt>
                                        </p:tgtEl>
                                        <p:attrNameLst>
                                          <p:attrName>ppt_h</p:attrName>
                                        </p:attrNameLst>
                                      </p:cBhvr>
                                      <p:tavLst>
                                        <p:tav tm="0">
                                          <p:val>
                                            <p:strVal val="#ppt_h"/>
                                          </p:val>
                                        </p:tav>
                                        <p:tav tm="100000">
                                          <p:val>
                                            <p:strVal val="#ppt_h"/>
                                          </p:val>
                                        </p:tav>
                                      </p:tavLst>
                                    </p:anim>
                                    <p:anim calcmode="lin" valueType="num">
                                      <p:cBhvr>
                                        <p:cTn id="36" dur="500" fill="hold"/>
                                        <p:tgtEl>
                                          <p:spTgt spid="4">
                                            <p:txEl>
                                              <p:pRg st="2" end="2"/>
                                            </p:txEl>
                                          </p:spTgt>
                                        </p:tgtEl>
                                        <p:attrNameLst>
                                          <p:attrName>ppt_x</p:attrName>
                                        </p:attrNameLst>
                                      </p:cBhvr>
                                      <p:tavLst>
                                        <p:tav tm="0">
                                          <p:val>
                                            <p:strVal val="#ppt_x-.2"/>
                                          </p:val>
                                        </p:tav>
                                        <p:tav tm="100000">
                                          <p:val>
                                            <p:strVal val="#ppt_x"/>
                                          </p:val>
                                        </p:tav>
                                      </p:tavLst>
                                    </p:anim>
                                    <p:anim calcmode="lin" valueType="num">
                                      <p:cBhvr>
                                        <p:cTn id="37" dur="500" fill="hold"/>
                                        <p:tgtEl>
                                          <p:spTgt spid="4">
                                            <p:txEl>
                                              <p:pRg st="2" end="2"/>
                                            </p:txEl>
                                          </p:spTgt>
                                        </p:tgtEl>
                                        <p:attrNameLst>
                                          <p:attrName>ppt_y</p:attrName>
                                        </p:attrNameLst>
                                      </p:cBhvr>
                                      <p:tavLst>
                                        <p:tav tm="0">
                                          <p:val>
                                            <p:strVal val="#ppt_y"/>
                                          </p:val>
                                        </p:tav>
                                        <p:tav tm="100000">
                                          <p:val>
                                            <p:strVal val="#ppt_y"/>
                                          </p:val>
                                        </p:tav>
                                      </p:tavLst>
                                    </p:anim>
                                    <p:animEffect transition="in" filter="fade">
                                      <p:cBhvr>
                                        <p:cTn id="38"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rgbClr val="FF0000"/>
                </a:solidFill>
                <a:latin typeface="Algerian" pitchFamily="82" charset="0"/>
              </a:rPr>
              <a:t>OSCILLATOR</a:t>
            </a:r>
          </a:p>
        </p:txBody>
      </p:sp>
      <p:sp>
        <p:nvSpPr>
          <p:cNvPr id="4" name="Content Placeholder 2"/>
          <p:cNvSpPr>
            <a:spLocks noGrp="1"/>
          </p:cNvSpPr>
          <p:nvPr>
            <p:ph idx="1"/>
          </p:nvPr>
        </p:nvSpPr>
        <p:spPr>
          <a:xfrm>
            <a:off x="457200" y="1265237"/>
            <a:ext cx="8229600" cy="5059363"/>
          </a:xfrm>
        </p:spPr>
        <p:txBody>
          <a:bodyPr>
            <a:normAutofit fontScale="92500"/>
          </a:bodyPr>
          <a:lstStyle/>
          <a:p>
            <a:pPr algn="just" eaLnBrk="1" hangingPunct="1"/>
            <a:r>
              <a:rPr lang="en-US" b="0" dirty="0">
                <a:solidFill>
                  <a:srgbClr val="002060"/>
                </a:solidFill>
              </a:rPr>
              <a:t> </a:t>
            </a:r>
            <a:r>
              <a:rPr lang="en-US" altLang="en-US" b="0" dirty="0">
                <a:solidFill>
                  <a:srgbClr val="002060"/>
                </a:solidFill>
              </a:rPr>
              <a:t>Oscillator is an electronic circuit that generates a periodic waveform on its output without an external signal source. It is used to convert dc to ac.</a:t>
            </a:r>
            <a:endParaRPr lang="en-US" b="0" dirty="0">
              <a:solidFill>
                <a:srgbClr val="002060"/>
              </a:solidFill>
            </a:endParaRPr>
          </a:p>
          <a:p>
            <a:pPr algn="just" eaLnBrk="1" hangingPunct="1"/>
            <a:r>
              <a:rPr lang="en-US" altLang="en-US" b="0" dirty="0">
                <a:solidFill>
                  <a:srgbClr val="002060"/>
                </a:solidFill>
              </a:rPr>
              <a:t> Oscillators are circuits that produce a continuous signal of some type without the need of an input. </a:t>
            </a:r>
          </a:p>
          <a:p>
            <a:pPr algn="just" eaLnBrk="1" hangingPunct="1"/>
            <a:r>
              <a:rPr lang="en-US" altLang="en-US" b="0" dirty="0">
                <a:solidFill>
                  <a:srgbClr val="002060"/>
                </a:solidFill>
              </a:rPr>
              <a:t> These signals serve a variety of purposes. </a:t>
            </a:r>
          </a:p>
          <a:p>
            <a:pPr algn="just" eaLnBrk="1" hangingPunct="1"/>
            <a:r>
              <a:rPr lang="en-US" altLang="en-US" b="0" dirty="0">
                <a:solidFill>
                  <a:srgbClr val="002060"/>
                </a:solidFill>
              </a:rPr>
              <a:t> Communications systems, digital systems (including computers), and test equipment make use of oscillators</a:t>
            </a:r>
            <a:endParaRPr lang="en-US" b="0"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edg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left)">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wipe(left)">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wipe(right)">
                                      <p:cBhvr>
                                        <p:cTn id="2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0" y="2819400"/>
            <a:ext cx="8229600" cy="3810000"/>
          </a:xfrm>
        </p:spPr>
        <p:txBody>
          <a:bodyPr>
            <a:normAutofit/>
          </a:bodyPr>
          <a:lstStyle/>
          <a:p>
            <a:pPr>
              <a:buNone/>
            </a:pPr>
            <a:r>
              <a:rPr lang="en-US" sz="3200" b="1" u="sng" dirty="0">
                <a:solidFill>
                  <a:srgbClr val="C00000"/>
                </a:solidFill>
                <a:effectLst>
                  <a:outerShdw blurRad="38100" dist="38100" dir="2700000" algn="tl">
                    <a:srgbClr val="000000">
                      <a:alpha val="43137"/>
                    </a:srgbClr>
                  </a:outerShdw>
                </a:effectLst>
              </a:rPr>
              <a:t>Need of an oscillator</a:t>
            </a:r>
          </a:p>
          <a:p>
            <a:pPr marL="793750" lvl="1" indent="-393700" fontAlgn="base">
              <a:spcBef>
                <a:spcPts val="672"/>
              </a:spcBef>
            </a:pPr>
            <a:r>
              <a:rPr lang="en-US" sz="2600" dirty="0">
                <a:solidFill>
                  <a:srgbClr val="002060"/>
                </a:solidFill>
                <a:effectLst>
                  <a:outerShdw blurRad="50800" dist="38100" algn="tr" rotWithShape="0">
                    <a:prstClr val="black">
                      <a:alpha val="40000"/>
                    </a:prstClr>
                  </a:outerShdw>
                </a:effectLst>
              </a:rPr>
              <a:t>To test performance of electronic circuits, it is called   signal generator.</a:t>
            </a:r>
            <a:endParaRPr lang="en-US" sz="2600" dirty="0">
              <a:solidFill>
                <a:srgbClr val="002060"/>
              </a:solidFill>
            </a:endParaRPr>
          </a:p>
          <a:p>
            <a:pPr marL="400050" lvl="1" indent="393700" fontAlgn="base">
              <a:spcBef>
                <a:spcPts val="672"/>
              </a:spcBef>
              <a:tabLst>
                <a:tab pos="793750" algn="l"/>
              </a:tabLst>
            </a:pPr>
            <a:r>
              <a:rPr lang="en-US" sz="2600" dirty="0">
                <a:solidFill>
                  <a:srgbClr val="002060"/>
                </a:solidFill>
                <a:effectLst>
                  <a:outerShdw blurRad="50800" dist="38100" algn="tr" rotWithShape="0">
                    <a:prstClr val="black">
                      <a:alpha val="40000"/>
                    </a:prstClr>
                  </a:outerShdw>
                </a:effectLst>
              </a:rPr>
              <a:t>It can produce square, pulse, triangular, or </a:t>
            </a:r>
            <a:r>
              <a:rPr lang="en-US" sz="2600" dirty="0" err="1">
                <a:solidFill>
                  <a:srgbClr val="002060"/>
                </a:solidFill>
                <a:effectLst>
                  <a:outerShdw blurRad="50800" dist="38100" algn="tr" rotWithShape="0">
                    <a:prstClr val="black">
                      <a:alpha val="40000"/>
                    </a:prstClr>
                  </a:outerShdw>
                </a:effectLst>
              </a:rPr>
              <a:t>sawtooth</a:t>
            </a:r>
            <a:r>
              <a:rPr lang="en-US" sz="2600" dirty="0">
                <a:solidFill>
                  <a:srgbClr val="002060"/>
                </a:solidFill>
                <a:effectLst>
                  <a:outerShdw blurRad="50800" dist="38100" algn="tr" rotWithShape="0">
                    <a:prstClr val="black">
                      <a:alpha val="40000"/>
                    </a:prstClr>
                  </a:outerShdw>
                </a:effectLst>
              </a:rPr>
              <a:t> 	</a:t>
            </a:r>
            <a:r>
              <a:rPr lang="en-US" sz="2600" dirty="0" err="1">
                <a:solidFill>
                  <a:srgbClr val="002060"/>
                </a:solidFill>
                <a:effectLst>
                  <a:outerShdw blurRad="50800" dist="38100" algn="tr" rotWithShape="0">
                    <a:prstClr val="black">
                      <a:alpha val="40000"/>
                    </a:prstClr>
                  </a:outerShdw>
                </a:effectLst>
              </a:rPr>
              <a:t>waveshape</a:t>
            </a:r>
            <a:r>
              <a:rPr lang="en-US" sz="2600" dirty="0">
                <a:solidFill>
                  <a:srgbClr val="002060"/>
                </a:solidFill>
                <a:effectLst>
                  <a:outerShdw blurRad="50800" dist="38100" algn="tr" rotWithShape="0">
                    <a:prstClr val="black">
                      <a:alpha val="40000"/>
                    </a:prstClr>
                  </a:outerShdw>
                </a:effectLst>
              </a:rPr>
              <a:t>. </a:t>
            </a:r>
            <a:endParaRPr lang="en-US" sz="2600" dirty="0">
              <a:solidFill>
                <a:srgbClr val="002060"/>
              </a:solidFill>
            </a:endParaRPr>
          </a:p>
          <a:p>
            <a:pPr marL="400050" lvl="1" indent="0" fontAlgn="base">
              <a:spcBef>
                <a:spcPts val="672"/>
              </a:spcBef>
            </a:pPr>
            <a:r>
              <a:rPr lang="en-US" sz="2600" dirty="0">
                <a:solidFill>
                  <a:srgbClr val="002060"/>
                </a:solidFill>
                <a:effectLst>
                  <a:outerShdw blurRad="50800" dist="38100" algn="tr" rotWithShape="0">
                    <a:prstClr val="black">
                      <a:alpha val="40000"/>
                    </a:prstClr>
                  </a:outerShdw>
                </a:effectLst>
              </a:rPr>
              <a:t>   High frequency oscillator are used in broadcasting.</a:t>
            </a:r>
            <a:endParaRPr lang="en-US" sz="2600" dirty="0">
              <a:solidFill>
                <a:srgbClr val="002060"/>
              </a:solidFill>
            </a:endParaRPr>
          </a:p>
          <a:p>
            <a:pPr marL="400050" lvl="1" indent="0" fontAlgn="base">
              <a:spcBef>
                <a:spcPts val="672"/>
              </a:spcBef>
            </a:pPr>
            <a:r>
              <a:rPr lang="en-US" sz="2600" dirty="0">
                <a:solidFill>
                  <a:srgbClr val="002060"/>
                </a:solidFill>
                <a:effectLst>
                  <a:outerShdw blurRad="50800" dist="38100" algn="tr" rotWithShape="0">
                    <a:prstClr val="black">
                      <a:alpha val="40000"/>
                    </a:prstClr>
                  </a:outerShdw>
                </a:effectLst>
              </a:rPr>
              <a:t>   Microwave oven uses an oscillator.</a:t>
            </a:r>
            <a:endParaRPr lang="en-US" sz="2600" dirty="0">
              <a:solidFill>
                <a:srgbClr val="002060"/>
              </a:solidFill>
            </a:endParaRPr>
          </a:p>
          <a:p>
            <a:pPr marL="400050" lvl="1" indent="0" fontAlgn="base">
              <a:spcBef>
                <a:spcPts val="672"/>
              </a:spcBef>
            </a:pPr>
            <a:r>
              <a:rPr lang="en-US" sz="2600" dirty="0">
                <a:solidFill>
                  <a:srgbClr val="002060"/>
                </a:solidFill>
                <a:effectLst>
                  <a:outerShdw blurRad="50800" dist="38100" algn="tr" rotWithShape="0">
                    <a:prstClr val="black">
                      <a:alpha val="40000"/>
                    </a:prstClr>
                  </a:outerShdw>
                </a:effectLst>
              </a:rPr>
              <a:t>   Used for induction heating and dielectric heating. </a:t>
            </a:r>
            <a:endParaRPr lang="en-US" sz="2600" dirty="0">
              <a:solidFill>
                <a:srgbClr val="002060"/>
              </a:solidFill>
            </a:endParaRPr>
          </a:p>
        </p:txBody>
      </p:sp>
      <p:grpSp>
        <p:nvGrpSpPr>
          <p:cNvPr id="6" name="Group 9"/>
          <p:cNvGrpSpPr>
            <a:grpSpLocks/>
          </p:cNvGrpSpPr>
          <p:nvPr/>
        </p:nvGrpSpPr>
        <p:grpSpPr bwMode="auto">
          <a:xfrm>
            <a:off x="762000" y="152400"/>
            <a:ext cx="7620000" cy="2482850"/>
            <a:chOff x="1524000" y="3460750"/>
            <a:chExt cx="7620000" cy="2482850"/>
          </a:xfrm>
          <a:blipFill>
            <a:blip r:embed="rId2"/>
            <a:tile tx="0" ty="0" sx="100000" sy="100000" flip="none" algn="tl"/>
          </a:blipFill>
        </p:grpSpPr>
        <p:pic>
          <p:nvPicPr>
            <p:cNvPr id="7" name="Picture 7"/>
            <p:cNvPicPr>
              <a:picLocks noChangeAspect="1" noChangeArrowheads="1"/>
            </p:cNvPicPr>
            <p:nvPr/>
          </p:nvPicPr>
          <p:blipFill>
            <a:blip r:embed="rId3">
              <a:clrChange>
                <a:clrFrom>
                  <a:srgbClr val="FFFFFF"/>
                </a:clrFrom>
                <a:clrTo>
                  <a:srgbClr val="FFFFFF">
                    <a:alpha val="0"/>
                  </a:srgbClr>
                </a:clrTo>
              </a:clrChange>
              <a:lum bright="-12000" contrast="28000"/>
            </a:blip>
            <a:srcRect l="2296" t="28564" r="2216" b="31361"/>
            <a:stretch>
              <a:fillRect/>
            </a:stretch>
          </p:blipFill>
          <p:spPr bwMode="auto">
            <a:xfrm>
              <a:off x="1524000" y="3581400"/>
              <a:ext cx="7391400" cy="2362200"/>
            </a:xfrm>
            <a:prstGeom prst="rect">
              <a:avLst/>
            </a:prstGeom>
            <a:grpFill/>
            <a:ln w="9525">
              <a:noFill/>
              <a:miter lim="800000"/>
              <a:headEnd/>
              <a:tailEnd/>
            </a:ln>
          </p:spPr>
        </p:pic>
        <p:sp>
          <p:nvSpPr>
            <p:cNvPr id="8" name="Text Box 8"/>
            <p:cNvSpPr txBox="1">
              <a:spLocks noChangeArrowheads="1"/>
            </p:cNvSpPr>
            <p:nvPr/>
          </p:nvSpPr>
          <p:spPr bwMode="auto">
            <a:xfrm>
              <a:off x="7361238" y="3460750"/>
              <a:ext cx="1612900" cy="366713"/>
            </a:xfrm>
            <a:prstGeom prst="rect">
              <a:avLst/>
            </a:prstGeom>
            <a:blipFill>
              <a:blip r:embed="rId4"/>
              <a:tile tx="0" ty="0" sx="100000" sy="100000" flip="none" algn="tl"/>
            </a:blipFill>
            <a:ln w="9525">
              <a:noFill/>
              <a:miter lim="800000"/>
              <a:headEnd/>
              <a:tailEnd/>
            </a:ln>
          </p:spPr>
          <p:txBody>
            <a:bodyPr>
              <a:spAutoFit/>
            </a:bodyPr>
            <a:lstStyle/>
            <a:p>
              <a:pPr>
                <a:spcBef>
                  <a:spcPct val="50000"/>
                </a:spcBef>
              </a:pPr>
              <a:r>
                <a:rPr lang="en-US" b="1" dirty="0">
                  <a:solidFill>
                    <a:schemeClr val="bg1"/>
                  </a:solidFill>
                  <a:latin typeface="Corbel" pitchFamily="34" charset="0"/>
                </a:rPr>
                <a:t>Sine wave</a:t>
              </a:r>
            </a:p>
          </p:txBody>
        </p:sp>
        <p:sp>
          <p:nvSpPr>
            <p:cNvPr id="9" name="Text Box 9"/>
            <p:cNvSpPr txBox="1">
              <a:spLocks noChangeArrowheads="1"/>
            </p:cNvSpPr>
            <p:nvPr/>
          </p:nvSpPr>
          <p:spPr bwMode="auto">
            <a:xfrm>
              <a:off x="7318375" y="4343400"/>
              <a:ext cx="1617663" cy="366713"/>
            </a:xfrm>
            <a:prstGeom prst="rect">
              <a:avLst/>
            </a:prstGeom>
            <a:blipFill>
              <a:blip r:embed="rId4"/>
              <a:tile tx="0" ty="0" sx="100000" sy="100000" flip="none" algn="tl"/>
            </a:blipFill>
            <a:ln w="9525">
              <a:noFill/>
              <a:miter lim="800000"/>
              <a:headEnd/>
              <a:tailEnd/>
            </a:ln>
          </p:spPr>
          <p:txBody>
            <a:bodyPr>
              <a:spAutoFit/>
            </a:bodyPr>
            <a:lstStyle/>
            <a:p>
              <a:pPr>
                <a:spcBef>
                  <a:spcPct val="50000"/>
                </a:spcBef>
              </a:pPr>
              <a:r>
                <a:rPr lang="en-US" b="1" dirty="0">
                  <a:solidFill>
                    <a:schemeClr val="bg1"/>
                  </a:solidFill>
                  <a:latin typeface="Corbel" pitchFamily="34" charset="0"/>
                </a:rPr>
                <a:t>Square wave</a:t>
              </a:r>
            </a:p>
          </p:txBody>
        </p:sp>
        <p:sp>
          <p:nvSpPr>
            <p:cNvPr id="10" name="Text Box 10"/>
            <p:cNvSpPr txBox="1">
              <a:spLocks noChangeArrowheads="1"/>
            </p:cNvSpPr>
            <p:nvPr/>
          </p:nvSpPr>
          <p:spPr bwMode="auto">
            <a:xfrm>
              <a:off x="7288213" y="5105400"/>
              <a:ext cx="1855787" cy="369332"/>
            </a:xfrm>
            <a:prstGeom prst="rect">
              <a:avLst/>
            </a:prstGeom>
            <a:blipFill>
              <a:blip r:embed="rId4"/>
              <a:tile tx="0" ty="0" sx="100000" sy="100000" flip="none" algn="tl"/>
            </a:blipFill>
            <a:ln w="9525">
              <a:noFill/>
              <a:miter lim="800000"/>
              <a:headEnd/>
              <a:tailEnd/>
            </a:ln>
          </p:spPr>
          <p:txBody>
            <a:bodyPr>
              <a:spAutoFit/>
            </a:bodyPr>
            <a:lstStyle/>
            <a:p>
              <a:pPr>
                <a:spcBef>
                  <a:spcPct val="50000"/>
                </a:spcBef>
              </a:pPr>
              <a:r>
                <a:rPr lang="en-US" b="1" dirty="0" err="1">
                  <a:solidFill>
                    <a:schemeClr val="bg1"/>
                  </a:solidFill>
                  <a:latin typeface="Corbel" pitchFamily="34" charset="0"/>
                </a:rPr>
                <a:t>Sawtooth</a:t>
              </a:r>
              <a:r>
                <a:rPr lang="en-US" b="1" dirty="0">
                  <a:solidFill>
                    <a:schemeClr val="bg1"/>
                  </a:solidFill>
                  <a:latin typeface="Corbel" pitchFamily="34" charset="0"/>
                </a:rPr>
                <a:t> wave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linds(horizont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linds(horizontal)">
                                      <p:cBhvr>
                                        <p:cTn id="17" dur="500"/>
                                        <p:tgtEl>
                                          <p:spTgt spid="5">
                                            <p:txEl>
                                              <p:pRg st="1" end="1"/>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blinds(horizontal)">
                                      <p:cBhvr>
                                        <p:cTn id="20" dur="500"/>
                                        <p:tgtEl>
                                          <p:spTgt spid="5">
                                            <p:txEl>
                                              <p:pRg st="2" end="2"/>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blinds(horizontal)">
                                      <p:cBhvr>
                                        <p:cTn id="23" dur="500"/>
                                        <p:tgtEl>
                                          <p:spTgt spid="5">
                                            <p:txEl>
                                              <p:pRg st="3" end="3"/>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blinds(horizontal)">
                                      <p:cBhvr>
                                        <p:cTn id="26" dur="500"/>
                                        <p:tgtEl>
                                          <p:spTgt spid="5">
                                            <p:txEl>
                                              <p:pRg st="4" end="4"/>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Effect transition="in" filter="blinds(horizontal)">
                                      <p:cBhvr>
                                        <p:cTn id="29"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2"/>
          <p:cNvSpPr>
            <a:spLocks noGrp="1" noChangeArrowheads="1"/>
          </p:cNvSpPr>
          <p:nvPr>
            <p:ph type="title"/>
          </p:nvPr>
        </p:nvSpPr>
        <p:spPr/>
        <p:txBody>
          <a:bodyPr/>
          <a:lstStyle/>
          <a:p>
            <a:r>
              <a:rPr lang="en-US" altLang="zh-TW" b="1" u="sng" dirty="0">
                <a:solidFill>
                  <a:srgbClr val="FF0000"/>
                </a:solidFill>
                <a:latin typeface="Algerian" pitchFamily="82" charset="0"/>
              </a:rPr>
              <a:t>Application of Oscillators</a:t>
            </a:r>
          </a:p>
        </p:txBody>
      </p:sp>
      <p:sp>
        <p:nvSpPr>
          <p:cNvPr id="44038" name="Rectangle 3"/>
          <p:cNvSpPr>
            <a:spLocks noGrp="1" noChangeArrowheads="1"/>
          </p:cNvSpPr>
          <p:nvPr>
            <p:ph type="body" idx="1"/>
          </p:nvPr>
        </p:nvSpPr>
        <p:spPr>
          <a:xfrm>
            <a:off x="457200" y="1600200"/>
            <a:ext cx="8229600" cy="4419600"/>
          </a:xfrm>
        </p:spPr>
        <p:txBody>
          <a:bodyPr>
            <a:noAutofit/>
          </a:bodyPr>
          <a:lstStyle/>
          <a:p>
            <a:pPr algn="just">
              <a:lnSpc>
                <a:spcPct val="160000"/>
              </a:lnSpc>
              <a:spcBef>
                <a:spcPts val="0"/>
              </a:spcBef>
            </a:pPr>
            <a:r>
              <a:rPr lang="en-US" altLang="zh-TW" dirty="0">
                <a:solidFill>
                  <a:srgbClr val="002060"/>
                </a:solidFill>
              </a:rPr>
              <a:t>Oscillators are used to generate signals, e.g.</a:t>
            </a:r>
          </a:p>
          <a:p>
            <a:pPr lvl="1" algn="just">
              <a:lnSpc>
                <a:spcPct val="160000"/>
              </a:lnSpc>
              <a:spcBef>
                <a:spcPts val="0"/>
              </a:spcBef>
            </a:pPr>
            <a:r>
              <a:rPr lang="en-US" altLang="zh-TW" dirty="0">
                <a:solidFill>
                  <a:srgbClr val="002060"/>
                </a:solidFill>
                <a:ea typeface="新細明體" pitchFamily="18" charset="-120"/>
              </a:rPr>
              <a:t>Used as a local oscillator to transform the RF signals to IF signals in a receiver</a:t>
            </a:r>
          </a:p>
          <a:p>
            <a:pPr lvl="1" algn="just">
              <a:lnSpc>
                <a:spcPct val="160000"/>
              </a:lnSpc>
              <a:spcBef>
                <a:spcPts val="0"/>
              </a:spcBef>
            </a:pPr>
            <a:r>
              <a:rPr lang="en-US" altLang="zh-TW" dirty="0">
                <a:solidFill>
                  <a:srgbClr val="002060"/>
                </a:solidFill>
                <a:ea typeface="新細明體" pitchFamily="18" charset="-120"/>
              </a:rPr>
              <a:t>Used to generate RF carrier in a transmitter</a:t>
            </a:r>
          </a:p>
          <a:p>
            <a:pPr lvl="1" algn="just">
              <a:lnSpc>
                <a:spcPct val="160000"/>
              </a:lnSpc>
              <a:spcBef>
                <a:spcPts val="0"/>
              </a:spcBef>
            </a:pPr>
            <a:r>
              <a:rPr lang="en-US" altLang="zh-TW" dirty="0">
                <a:solidFill>
                  <a:srgbClr val="002060"/>
                </a:solidFill>
                <a:ea typeface="新細明體" pitchFamily="18" charset="-120"/>
              </a:rPr>
              <a:t>Used to generate clocks in digital systems</a:t>
            </a:r>
          </a:p>
          <a:p>
            <a:pPr lvl="1" algn="just">
              <a:lnSpc>
                <a:spcPct val="160000"/>
              </a:lnSpc>
              <a:spcBef>
                <a:spcPts val="0"/>
              </a:spcBef>
            </a:pPr>
            <a:r>
              <a:rPr lang="en-US" altLang="zh-TW" dirty="0">
                <a:solidFill>
                  <a:srgbClr val="002060"/>
                </a:solidFill>
                <a:ea typeface="新細明體" pitchFamily="18" charset="-120"/>
              </a:rPr>
              <a:t>Used as sweep circuits in TV sets and CRO.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037"/>
                                        </p:tgtEl>
                                        <p:attrNameLst>
                                          <p:attrName>style.visibility</p:attrName>
                                        </p:attrNameLst>
                                      </p:cBhvr>
                                      <p:to>
                                        <p:strVal val="visible"/>
                                      </p:to>
                                    </p:set>
                                    <p:animEffect transition="in" filter="dissolve">
                                      <p:cBhvr>
                                        <p:cTn id="7" dur="500"/>
                                        <p:tgtEl>
                                          <p:spTgt spid="44037"/>
                                        </p:tgtEl>
                                      </p:cBhvr>
                                    </p:animEffect>
                                  </p:childTnLst>
                                </p:cTn>
                              </p:par>
                            </p:childTnLst>
                          </p:cTn>
                        </p:par>
                      </p:childTnLst>
                    </p:cTn>
                  </p:par>
                  <p:par>
                    <p:cTn id="8" fill="hold">
                      <p:stCondLst>
                        <p:cond delay="indefinite"/>
                      </p:stCondLst>
                      <p:childTnLst>
                        <p:par>
                          <p:cTn id="9" fill="hold">
                            <p:stCondLst>
                              <p:cond delay="0"/>
                            </p:stCondLst>
                            <p:childTnLst>
                              <p:par>
                                <p:cTn id="10" presetID="40" presetClass="entr" presetSubtype="0" fill="hold" nodeType="clickEffect">
                                  <p:stCondLst>
                                    <p:cond delay="0"/>
                                  </p:stCondLst>
                                  <p:iterate type="lt">
                                    <p:tmPct val="10000"/>
                                  </p:iterate>
                                  <p:childTnLst>
                                    <p:set>
                                      <p:cBhvr>
                                        <p:cTn id="11" dur="1" fill="hold">
                                          <p:stCondLst>
                                            <p:cond delay="0"/>
                                          </p:stCondLst>
                                        </p:cTn>
                                        <p:tgtEl>
                                          <p:spTgt spid="44038">
                                            <p:txEl>
                                              <p:pRg st="0" end="0"/>
                                            </p:txEl>
                                          </p:spTgt>
                                        </p:tgtEl>
                                        <p:attrNameLst>
                                          <p:attrName>style.visibility</p:attrName>
                                        </p:attrNameLst>
                                      </p:cBhvr>
                                      <p:to>
                                        <p:strVal val="visible"/>
                                      </p:to>
                                    </p:set>
                                    <p:animEffect transition="in" filter="fade">
                                      <p:cBhvr>
                                        <p:cTn id="12" dur="1000"/>
                                        <p:tgtEl>
                                          <p:spTgt spid="44038">
                                            <p:txEl>
                                              <p:pRg st="0" end="0"/>
                                            </p:txEl>
                                          </p:spTgt>
                                        </p:tgtEl>
                                      </p:cBhvr>
                                    </p:animEffect>
                                    <p:anim calcmode="lin" valueType="num">
                                      <p:cBhvr>
                                        <p:cTn id="13" dur="1000" fill="hold"/>
                                        <p:tgtEl>
                                          <p:spTgt spid="44038">
                                            <p:txEl>
                                              <p:pRg st="0" end="0"/>
                                            </p:txEl>
                                          </p:spTgt>
                                        </p:tgtEl>
                                        <p:attrNameLst>
                                          <p:attrName>ppt_x</p:attrName>
                                        </p:attrNameLst>
                                      </p:cBhvr>
                                      <p:tavLst>
                                        <p:tav tm="0">
                                          <p:val>
                                            <p:strVal val="#ppt_x-.1"/>
                                          </p:val>
                                        </p:tav>
                                        <p:tav tm="100000">
                                          <p:val>
                                            <p:strVal val="#ppt_x"/>
                                          </p:val>
                                        </p:tav>
                                      </p:tavLst>
                                    </p:anim>
                                    <p:anim calcmode="lin" valueType="num">
                                      <p:cBhvr>
                                        <p:cTn id="14" dur="1000" fill="hold"/>
                                        <p:tgtEl>
                                          <p:spTgt spid="4403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4" presetClass="entr" presetSubtype="0" accel="100000" fill="hold" nodeType="clickEffect">
                                  <p:stCondLst>
                                    <p:cond delay="0"/>
                                  </p:stCondLst>
                                  <p:childTnLst>
                                    <p:set>
                                      <p:cBhvr>
                                        <p:cTn id="18" dur="1" fill="hold">
                                          <p:stCondLst>
                                            <p:cond delay="0"/>
                                          </p:stCondLst>
                                        </p:cTn>
                                        <p:tgtEl>
                                          <p:spTgt spid="44038">
                                            <p:txEl>
                                              <p:pRg st="1" end="1"/>
                                            </p:txEl>
                                          </p:spTgt>
                                        </p:tgtEl>
                                        <p:attrNameLst>
                                          <p:attrName>style.visibility</p:attrName>
                                        </p:attrNameLst>
                                      </p:cBhvr>
                                      <p:to>
                                        <p:strVal val="visible"/>
                                      </p:to>
                                    </p:set>
                                    <p:anim calcmode="lin" valueType="num">
                                      <p:cBhvr>
                                        <p:cTn id="19" dur="500" fill="hold"/>
                                        <p:tgtEl>
                                          <p:spTgt spid="44038">
                                            <p:txEl>
                                              <p:pRg st="1" end="1"/>
                                            </p:txEl>
                                          </p:spTgt>
                                        </p:tgtEl>
                                        <p:attrNameLst>
                                          <p:attrName>ppt_w</p:attrName>
                                        </p:attrNameLst>
                                      </p:cBhvr>
                                      <p:tavLst>
                                        <p:tav tm="0">
                                          <p:val>
                                            <p:strVal val="#ppt_w*0.05"/>
                                          </p:val>
                                        </p:tav>
                                        <p:tav tm="100000">
                                          <p:val>
                                            <p:strVal val="#ppt_w"/>
                                          </p:val>
                                        </p:tav>
                                      </p:tavLst>
                                    </p:anim>
                                    <p:anim calcmode="lin" valueType="num">
                                      <p:cBhvr>
                                        <p:cTn id="20" dur="500" fill="hold"/>
                                        <p:tgtEl>
                                          <p:spTgt spid="44038">
                                            <p:txEl>
                                              <p:pRg st="1" end="1"/>
                                            </p:txEl>
                                          </p:spTgt>
                                        </p:tgtEl>
                                        <p:attrNameLst>
                                          <p:attrName>ppt_h</p:attrName>
                                        </p:attrNameLst>
                                      </p:cBhvr>
                                      <p:tavLst>
                                        <p:tav tm="0">
                                          <p:val>
                                            <p:strVal val="#ppt_h"/>
                                          </p:val>
                                        </p:tav>
                                        <p:tav tm="100000">
                                          <p:val>
                                            <p:strVal val="#ppt_h"/>
                                          </p:val>
                                        </p:tav>
                                      </p:tavLst>
                                    </p:anim>
                                    <p:anim calcmode="lin" valueType="num">
                                      <p:cBhvr>
                                        <p:cTn id="21" dur="500" fill="hold"/>
                                        <p:tgtEl>
                                          <p:spTgt spid="44038">
                                            <p:txEl>
                                              <p:pRg st="1" end="1"/>
                                            </p:txEl>
                                          </p:spTgt>
                                        </p:tgtEl>
                                        <p:attrNameLst>
                                          <p:attrName>ppt_x</p:attrName>
                                        </p:attrNameLst>
                                      </p:cBhvr>
                                      <p:tavLst>
                                        <p:tav tm="0">
                                          <p:val>
                                            <p:strVal val="#ppt_x-.2"/>
                                          </p:val>
                                        </p:tav>
                                        <p:tav tm="100000">
                                          <p:val>
                                            <p:strVal val="#ppt_x"/>
                                          </p:val>
                                        </p:tav>
                                      </p:tavLst>
                                    </p:anim>
                                    <p:anim calcmode="lin" valueType="num">
                                      <p:cBhvr>
                                        <p:cTn id="22" dur="500" fill="hold"/>
                                        <p:tgtEl>
                                          <p:spTgt spid="44038">
                                            <p:txEl>
                                              <p:pRg st="1" end="1"/>
                                            </p:txEl>
                                          </p:spTgt>
                                        </p:tgtEl>
                                        <p:attrNameLst>
                                          <p:attrName>ppt_y</p:attrName>
                                        </p:attrNameLst>
                                      </p:cBhvr>
                                      <p:tavLst>
                                        <p:tav tm="0">
                                          <p:val>
                                            <p:strVal val="#ppt_y"/>
                                          </p:val>
                                        </p:tav>
                                        <p:tav tm="100000">
                                          <p:val>
                                            <p:strVal val="#ppt_y"/>
                                          </p:val>
                                        </p:tav>
                                      </p:tavLst>
                                    </p:anim>
                                    <p:animEffect transition="in" filter="fade">
                                      <p:cBhvr>
                                        <p:cTn id="23" dur="500"/>
                                        <p:tgtEl>
                                          <p:spTgt spid="44038">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4" presetClass="entr" presetSubtype="0" accel="100000" fill="hold" nodeType="clickEffect">
                                  <p:stCondLst>
                                    <p:cond delay="0"/>
                                  </p:stCondLst>
                                  <p:childTnLst>
                                    <p:set>
                                      <p:cBhvr>
                                        <p:cTn id="27" dur="1" fill="hold">
                                          <p:stCondLst>
                                            <p:cond delay="0"/>
                                          </p:stCondLst>
                                        </p:cTn>
                                        <p:tgtEl>
                                          <p:spTgt spid="44038">
                                            <p:txEl>
                                              <p:pRg st="2" end="2"/>
                                            </p:txEl>
                                          </p:spTgt>
                                        </p:tgtEl>
                                        <p:attrNameLst>
                                          <p:attrName>style.visibility</p:attrName>
                                        </p:attrNameLst>
                                      </p:cBhvr>
                                      <p:to>
                                        <p:strVal val="visible"/>
                                      </p:to>
                                    </p:set>
                                    <p:anim calcmode="lin" valueType="num">
                                      <p:cBhvr>
                                        <p:cTn id="28" dur="500" fill="hold"/>
                                        <p:tgtEl>
                                          <p:spTgt spid="44038">
                                            <p:txEl>
                                              <p:pRg st="2" end="2"/>
                                            </p:txEl>
                                          </p:spTgt>
                                        </p:tgtEl>
                                        <p:attrNameLst>
                                          <p:attrName>ppt_w</p:attrName>
                                        </p:attrNameLst>
                                      </p:cBhvr>
                                      <p:tavLst>
                                        <p:tav tm="0">
                                          <p:val>
                                            <p:strVal val="#ppt_w*0.05"/>
                                          </p:val>
                                        </p:tav>
                                        <p:tav tm="100000">
                                          <p:val>
                                            <p:strVal val="#ppt_w"/>
                                          </p:val>
                                        </p:tav>
                                      </p:tavLst>
                                    </p:anim>
                                    <p:anim calcmode="lin" valueType="num">
                                      <p:cBhvr>
                                        <p:cTn id="29" dur="500" fill="hold"/>
                                        <p:tgtEl>
                                          <p:spTgt spid="44038">
                                            <p:txEl>
                                              <p:pRg st="2" end="2"/>
                                            </p:txEl>
                                          </p:spTgt>
                                        </p:tgtEl>
                                        <p:attrNameLst>
                                          <p:attrName>ppt_h</p:attrName>
                                        </p:attrNameLst>
                                      </p:cBhvr>
                                      <p:tavLst>
                                        <p:tav tm="0">
                                          <p:val>
                                            <p:strVal val="#ppt_h"/>
                                          </p:val>
                                        </p:tav>
                                        <p:tav tm="100000">
                                          <p:val>
                                            <p:strVal val="#ppt_h"/>
                                          </p:val>
                                        </p:tav>
                                      </p:tavLst>
                                    </p:anim>
                                    <p:anim calcmode="lin" valueType="num">
                                      <p:cBhvr>
                                        <p:cTn id="30" dur="500" fill="hold"/>
                                        <p:tgtEl>
                                          <p:spTgt spid="44038">
                                            <p:txEl>
                                              <p:pRg st="2" end="2"/>
                                            </p:txEl>
                                          </p:spTgt>
                                        </p:tgtEl>
                                        <p:attrNameLst>
                                          <p:attrName>ppt_x</p:attrName>
                                        </p:attrNameLst>
                                      </p:cBhvr>
                                      <p:tavLst>
                                        <p:tav tm="0">
                                          <p:val>
                                            <p:strVal val="#ppt_x-.2"/>
                                          </p:val>
                                        </p:tav>
                                        <p:tav tm="100000">
                                          <p:val>
                                            <p:strVal val="#ppt_x"/>
                                          </p:val>
                                        </p:tav>
                                      </p:tavLst>
                                    </p:anim>
                                    <p:anim calcmode="lin" valueType="num">
                                      <p:cBhvr>
                                        <p:cTn id="31" dur="500" fill="hold"/>
                                        <p:tgtEl>
                                          <p:spTgt spid="44038">
                                            <p:txEl>
                                              <p:pRg st="2" end="2"/>
                                            </p:txEl>
                                          </p:spTgt>
                                        </p:tgtEl>
                                        <p:attrNameLst>
                                          <p:attrName>ppt_y</p:attrName>
                                        </p:attrNameLst>
                                      </p:cBhvr>
                                      <p:tavLst>
                                        <p:tav tm="0">
                                          <p:val>
                                            <p:strVal val="#ppt_y"/>
                                          </p:val>
                                        </p:tav>
                                        <p:tav tm="100000">
                                          <p:val>
                                            <p:strVal val="#ppt_y"/>
                                          </p:val>
                                        </p:tav>
                                      </p:tavLst>
                                    </p:anim>
                                    <p:animEffect transition="in" filter="fade">
                                      <p:cBhvr>
                                        <p:cTn id="32" dur="500"/>
                                        <p:tgtEl>
                                          <p:spTgt spid="44038">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4" presetClass="entr" presetSubtype="0" accel="100000" fill="hold" nodeType="clickEffect">
                                  <p:stCondLst>
                                    <p:cond delay="0"/>
                                  </p:stCondLst>
                                  <p:childTnLst>
                                    <p:set>
                                      <p:cBhvr>
                                        <p:cTn id="36" dur="1" fill="hold">
                                          <p:stCondLst>
                                            <p:cond delay="0"/>
                                          </p:stCondLst>
                                        </p:cTn>
                                        <p:tgtEl>
                                          <p:spTgt spid="44038">
                                            <p:txEl>
                                              <p:pRg st="3" end="3"/>
                                            </p:txEl>
                                          </p:spTgt>
                                        </p:tgtEl>
                                        <p:attrNameLst>
                                          <p:attrName>style.visibility</p:attrName>
                                        </p:attrNameLst>
                                      </p:cBhvr>
                                      <p:to>
                                        <p:strVal val="visible"/>
                                      </p:to>
                                    </p:set>
                                    <p:anim calcmode="lin" valueType="num">
                                      <p:cBhvr>
                                        <p:cTn id="37" dur="500" fill="hold"/>
                                        <p:tgtEl>
                                          <p:spTgt spid="44038">
                                            <p:txEl>
                                              <p:pRg st="3" end="3"/>
                                            </p:txEl>
                                          </p:spTgt>
                                        </p:tgtEl>
                                        <p:attrNameLst>
                                          <p:attrName>ppt_w</p:attrName>
                                        </p:attrNameLst>
                                      </p:cBhvr>
                                      <p:tavLst>
                                        <p:tav tm="0">
                                          <p:val>
                                            <p:strVal val="#ppt_w*0.05"/>
                                          </p:val>
                                        </p:tav>
                                        <p:tav tm="100000">
                                          <p:val>
                                            <p:strVal val="#ppt_w"/>
                                          </p:val>
                                        </p:tav>
                                      </p:tavLst>
                                    </p:anim>
                                    <p:anim calcmode="lin" valueType="num">
                                      <p:cBhvr>
                                        <p:cTn id="38" dur="500" fill="hold"/>
                                        <p:tgtEl>
                                          <p:spTgt spid="44038">
                                            <p:txEl>
                                              <p:pRg st="3" end="3"/>
                                            </p:txEl>
                                          </p:spTgt>
                                        </p:tgtEl>
                                        <p:attrNameLst>
                                          <p:attrName>ppt_h</p:attrName>
                                        </p:attrNameLst>
                                      </p:cBhvr>
                                      <p:tavLst>
                                        <p:tav tm="0">
                                          <p:val>
                                            <p:strVal val="#ppt_h"/>
                                          </p:val>
                                        </p:tav>
                                        <p:tav tm="100000">
                                          <p:val>
                                            <p:strVal val="#ppt_h"/>
                                          </p:val>
                                        </p:tav>
                                      </p:tavLst>
                                    </p:anim>
                                    <p:anim calcmode="lin" valueType="num">
                                      <p:cBhvr>
                                        <p:cTn id="39" dur="500" fill="hold"/>
                                        <p:tgtEl>
                                          <p:spTgt spid="44038">
                                            <p:txEl>
                                              <p:pRg st="3" end="3"/>
                                            </p:txEl>
                                          </p:spTgt>
                                        </p:tgtEl>
                                        <p:attrNameLst>
                                          <p:attrName>ppt_x</p:attrName>
                                        </p:attrNameLst>
                                      </p:cBhvr>
                                      <p:tavLst>
                                        <p:tav tm="0">
                                          <p:val>
                                            <p:strVal val="#ppt_x-.2"/>
                                          </p:val>
                                        </p:tav>
                                        <p:tav tm="100000">
                                          <p:val>
                                            <p:strVal val="#ppt_x"/>
                                          </p:val>
                                        </p:tav>
                                      </p:tavLst>
                                    </p:anim>
                                    <p:anim calcmode="lin" valueType="num">
                                      <p:cBhvr>
                                        <p:cTn id="40" dur="500" fill="hold"/>
                                        <p:tgtEl>
                                          <p:spTgt spid="44038">
                                            <p:txEl>
                                              <p:pRg st="3" end="3"/>
                                            </p:txEl>
                                          </p:spTgt>
                                        </p:tgtEl>
                                        <p:attrNameLst>
                                          <p:attrName>ppt_y</p:attrName>
                                        </p:attrNameLst>
                                      </p:cBhvr>
                                      <p:tavLst>
                                        <p:tav tm="0">
                                          <p:val>
                                            <p:strVal val="#ppt_y"/>
                                          </p:val>
                                        </p:tav>
                                        <p:tav tm="100000">
                                          <p:val>
                                            <p:strVal val="#ppt_y"/>
                                          </p:val>
                                        </p:tav>
                                      </p:tavLst>
                                    </p:anim>
                                    <p:animEffect transition="in" filter="fade">
                                      <p:cBhvr>
                                        <p:cTn id="41" dur="500"/>
                                        <p:tgtEl>
                                          <p:spTgt spid="44038">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4" presetClass="entr" presetSubtype="0" accel="100000" fill="hold" nodeType="clickEffect">
                                  <p:stCondLst>
                                    <p:cond delay="0"/>
                                  </p:stCondLst>
                                  <p:childTnLst>
                                    <p:set>
                                      <p:cBhvr>
                                        <p:cTn id="45" dur="1" fill="hold">
                                          <p:stCondLst>
                                            <p:cond delay="0"/>
                                          </p:stCondLst>
                                        </p:cTn>
                                        <p:tgtEl>
                                          <p:spTgt spid="44038">
                                            <p:txEl>
                                              <p:pRg st="4" end="4"/>
                                            </p:txEl>
                                          </p:spTgt>
                                        </p:tgtEl>
                                        <p:attrNameLst>
                                          <p:attrName>style.visibility</p:attrName>
                                        </p:attrNameLst>
                                      </p:cBhvr>
                                      <p:to>
                                        <p:strVal val="visible"/>
                                      </p:to>
                                    </p:set>
                                    <p:anim calcmode="lin" valueType="num">
                                      <p:cBhvr>
                                        <p:cTn id="46" dur="500" fill="hold"/>
                                        <p:tgtEl>
                                          <p:spTgt spid="44038">
                                            <p:txEl>
                                              <p:pRg st="4" end="4"/>
                                            </p:txEl>
                                          </p:spTgt>
                                        </p:tgtEl>
                                        <p:attrNameLst>
                                          <p:attrName>ppt_w</p:attrName>
                                        </p:attrNameLst>
                                      </p:cBhvr>
                                      <p:tavLst>
                                        <p:tav tm="0">
                                          <p:val>
                                            <p:strVal val="#ppt_w*0.05"/>
                                          </p:val>
                                        </p:tav>
                                        <p:tav tm="100000">
                                          <p:val>
                                            <p:strVal val="#ppt_w"/>
                                          </p:val>
                                        </p:tav>
                                      </p:tavLst>
                                    </p:anim>
                                    <p:anim calcmode="lin" valueType="num">
                                      <p:cBhvr>
                                        <p:cTn id="47" dur="500" fill="hold"/>
                                        <p:tgtEl>
                                          <p:spTgt spid="44038">
                                            <p:txEl>
                                              <p:pRg st="4" end="4"/>
                                            </p:txEl>
                                          </p:spTgt>
                                        </p:tgtEl>
                                        <p:attrNameLst>
                                          <p:attrName>ppt_h</p:attrName>
                                        </p:attrNameLst>
                                      </p:cBhvr>
                                      <p:tavLst>
                                        <p:tav tm="0">
                                          <p:val>
                                            <p:strVal val="#ppt_h"/>
                                          </p:val>
                                        </p:tav>
                                        <p:tav tm="100000">
                                          <p:val>
                                            <p:strVal val="#ppt_h"/>
                                          </p:val>
                                        </p:tav>
                                      </p:tavLst>
                                    </p:anim>
                                    <p:anim calcmode="lin" valueType="num">
                                      <p:cBhvr>
                                        <p:cTn id="48" dur="500" fill="hold"/>
                                        <p:tgtEl>
                                          <p:spTgt spid="44038">
                                            <p:txEl>
                                              <p:pRg st="4" end="4"/>
                                            </p:txEl>
                                          </p:spTgt>
                                        </p:tgtEl>
                                        <p:attrNameLst>
                                          <p:attrName>ppt_x</p:attrName>
                                        </p:attrNameLst>
                                      </p:cBhvr>
                                      <p:tavLst>
                                        <p:tav tm="0">
                                          <p:val>
                                            <p:strVal val="#ppt_x-.2"/>
                                          </p:val>
                                        </p:tav>
                                        <p:tav tm="100000">
                                          <p:val>
                                            <p:strVal val="#ppt_x"/>
                                          </p:val>
                                        </p:tav>
                                      </p:tavLst>
                                    </p:anim>
                                    <p:anim calcmode="lin" valueType="num">
                                      <p:cBhvr>
                                        <p:cTn id="49" dur="500" fill="hold"/>
                                        <p:tgtEl>
                                          <p:spTgt spid="44038">
                                            <p:txEl>
                                              <p:pRg st="4" end="4"/>
                                            </p:txEl>
                                          </p:spTgt>
                                        </p:tgtEl>
                                        <p:attrNameLst>
                                          <p:attrName>ppt_y</p:attrName>
                                        </p:attrNameLst>
                                      </p:cBhvr>
                                      <p:tavLst>
                                        <p:tav tm="0">
                                          <p:val>
                                            <p:strVal val="#ppt_y"/>
                                          </p:val>
                                        </p:tav>
                                        <p:tav tm="100000">
                                          <p:val>
                                            <p:strVal val="#ppt_y"/>
                                          </p:val>
                                        </p:tav>
                                      </p:tavLst>
                                    </p:anim>
                                    <p:animEffect transition="in" filter="fade">
                                      <p:cBhvr>
                                        <p:cTn id="50" dur="500"/>
                                        <p:tgtEl>
                                          <p:spTgt spid="4403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endulum sinusoidal curve animation.mp4">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6"/>
          <a:stretch>
            <a:fillRect/>
          </a:stretch>
        </p:blipFill>
        <p:spPr>
          <a:xfrm>
            <a:off x="685800" y="762000"/>
            <a:ext cx="3048000" cy="2286000"/>
          </a:xfrm>
          <a:prstGeom prst="rect">
            <a:avLst/>
          </a:prstGeom>
        </p:spPr>
      </p:pic>
      <p:pic>
        <p:nvPicPr>
          <p:cNvPr id="6" name="MIT Physics Demo -- Spray Paint Oscillator.mp4">
            <a:hlinkClick r:id="" action="ppaction://media"/>
          </p:cNvPr>
          <p:cNvPicPr>
            <a:picLocks noChangeAspect="1"/>
          </p:cNvPicPr>
          <p:nvPr>
            <a:videoFile r:link="rId4"/>
            <p:extLst>
              <p:ext uri="{DAA4B4D4-6D71-4841-9C94-3DE7FCFB9230}">
                <p14:media xmlns:p14="http://schemas.microsoft.com/office/powerpoint/2010/main" r:link="rId3"/>
              </p:ext>
            </p:extLst>
          </p:nvPr>
        </p:nvPicPr>
        <p:blipFill>
          <a:blip r:embed="rId6"/>
          <a:stretch>
            <a:fillRect/>
          </a:stretch>
        </p:blipFill>
        <p:spPr>
          <a:xfrm>
            <a:off x="5029200" y="762000"/>
            <a:ext cx="3048000" cy="2286000"/>
          </a:xfrm>
          <a:prstGeom prst="rect">
            <a:avLst/>
          </a:prstGeom>
        </p:spPr>
      </p:pic>
      <p:sp>
        <p:nvSpPr>
          <p:cNvPr id="7" name="TextBox 6"/>
          <p:cNvSpPr txBox="1"/>
          <p:nvPr/>
        </p:nvSpPr>
        <p:spPr>
          <a:xfrm>
            <a:off x="381000" y="3429000"/>
            <a:ext cx="3886200" cy="646331"/>
          </a:xfrm>
          <a:prstGeom prst="rect">
            <a:avLst/>
          </a:prstGeom>
          <a:blipFill>
            <a:blip r:embed="rId7"/>
            <a:tile tx="0" ty="0" sx="100000" sy="100000" flip="none" algn="tl"/>
          </a:blipFill>
        </p:spPr>
        <p:txBody>
          <a:bodyPr wrap="square" rtlCol="0">
            <a:spAutoFit/>
          </a:bodyPr>
          <a:lstStyle/>
          <a:p>
            <a:r>
              <a:rPr lang="en-US" b="1" dirty="0">
                <a:solidFill>
                  <a:schemeClr val="bg1"/>
                </a:solidFill>
              </a:rPr>
              <a:t>Video 1:</a:t>
            </a:r>
          </a:p>
          <a:p>
            <a:r>
              <a:rPr lang="en-US" b="1" dirty="0">
                <a:solidFill>
                  <a:schemeClr val="bg1"/>
                </a:solidFill>
              </a:rPr>
              <a:t>pendulum sinusoidal curve animation</a:t>
            </a:r>
          </a:p>
        </p:txBody>
      </p:sp>
      <p:sp>
        <p:nvSpPr>
          <p:cNvPr id="8" name="TextBox 7"/>
          <p:cNvSpPr txBox="1"/>
          <p:nvPr/>
        </p:nvSpPr>
        <p:spPr>
          <a:xfrm>
            <a:off x="4648200" y="3429000"/>
            <a:ext cx="4191000" cy="646331"/>
          </a:xfrm>
          <a:prstGeom prst="rect">
            <a:avLst/>
          </a:prstGeom>
          <a:blipFill>
            <a:blip r:embed="rId7"/>
            <a:tile tx="0" ty="0" sx="100000" sy="100000" flip="none" algn="tl"/>
          </a:blipFill>
        </p:spPr>
        <p:txBody>
          <a:bodyPr wrap="square" rtlCol="0">
            <a:spAutoFit/>
          </a:bodyPr>
          <a:lstStyle/>
          <a:p>
            <a:r>
              <a:rPr lang="en-US" b="1" dirty="0">
                <a:solidFill>
                  <a:schemeClr val="bg1"/>
                </a:solidFill>
              </a:rPr>
              <a:t>Video 2:</a:t>
            </a:r>
          </a:p>
          <a:p>
            <a:r>
              <a:rPr lang="en-US" b="1" dirty="0">
                <a:solidFill>
                  <a:schemeClr val="bg1"/>
                </a:solidFill>
              </a:rPr>
              <a:t>MIT Physics Demo -- Spray Paint Oscillator</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p:cTn id="7" fill="hold" display="0">
                  <p:stCondLst>
                    <p:cond delay="indefinite"/>
                  </p:stCondLst>
                  <p:endCondLst>
                    <p:cond evt="onNext" delay="0">
                      <p:tgtEl>
                        <p:sldTgt/>
                      </p:tgtEl>
                    </p:cond>
                    <p:cond evt="onPrev" delay="0">
                      <p:tgtEl>
                        <p:sldTgt/>
                      </p:tgtEl>
                    </p:cond>
                  </p:endCondLst>
                </p:cTn>
                <p:tgtEl>
                  <p:spTgt spid="4"/>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p:cTn id="13" fill="hold" display="0">
                  <p:stCondLst>
                    <p:cond delay="indefinite"/>
                  </p:stCondLst>
                  <p:endCondLst>
                    <p:cond evt="onNext" delay="0">
                      <p:tgtEl>
                        <p:sldTgt/>
                      </p:tgtEl>
                    </p:cond>
                    <p:cond evt="onPrev" delay="0">
                      <p:tgtEl>
                        <p:sldTgt/>
                      </p:tgtEl>
                    </p:cond>
                  </p:endCondLst>
                </p:cTn>
                <p:tgtEl>
                  <p:spTgt spid="6"/>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228600" y="228600"/>
            <a:ext cx="8686800" cy="1143000"/>
          </a:xfrm>
        </p:spPr>
        <p:txBody>
          <a:bodyPr>
            <a:noAutofit/>
          </a:bodyPr>
          <a:lstStyle/>
          <a:p>
            <a:r>
              <a:rPr lang="en-US" sz="3200" b="1" dirty="0">
                <a:solidFill>
                  <a:srgbClr val="FF0000"/>
                </a:solidFill>
                <a:latin typeface="Algerian" pitchFamily="82" charset="0"/>
              </a:rPr>
              <a:t>How does the oscillation get started?</a:t>
            </a:r>
          </a:p>
        </p:txBody>
      </p:sp>
      <p:sp>
        <p:nvSpPr>
          <p:cNvPr id="5" name="Rectangle 4"/>
          <p:cNvSpPr/>
          <p:nvPr/>
        </p:nvSpPr>
        <p:spPr>
          <a:xfrm>
            <a:off x="457200" y="1219200"/>
            <a:ext cx="8229600" cy="2308324"/>
          </a:xfrm>
          <a:prstGeom prst="rect">
            <a:avLst/>
          </a:prstGeom>
        </p:spPr>
        <p:txBody>
          <a:bodyPr wrap="square">
            <a:spAutoFit/>
          </a:bodyPr>
          <a:lstStyle/>
          <a:p>
            <a:pPr algn="just">
              <a:lnSpc>
                <a:spcPct val="200000"/>
              </a:lnSpc>
              <a:buFont typeface="Wingdings" pitchFamily="2" charset="2"/>
              <a:buChar char="q"/>
            </a:pPr>
            <a:r>
              <a:rPr lang="en-US" sz="2400" dirty="0">
                <a:solidFill>
                  <a:srgbClr val="002060"/>
                </a:solidFill>
                <a:latin typeface="Times New Roman" pitchFamily="18" charset="0"/>
                <a:cs typeface="Times New Roman" pitchFamily="18" charset="0"/>
              </a:rPr>
              <a:t> Noise signals and the transients associated with the circuit turning on provide the initial source signal that initiate the oscillation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p:cNvPicPr>
            <a:picLocks noChangeAspect="1" noChangeArrowheads="1"/>
          </p:cNvPicPr>
          <p:nvPr/>
        </p:nvPicPr>
        <p:blipFill>
          <a:blip r:embed="rId2"/>
          <a:srcRect t="9639"/>
          <a:stretch>
            <a:fillRect/>
          </a:stretch>
        </p:blipFill>
        <p:spPr bwMode="auto">
          <a:xfrm>
            <a:off x="762000" y="2743200"/>
            <a:ext cx="7172325" cy="2857500"/>
          </a:xfrm>
          <a:prstGeom prst="rect">
            <a:avLst/>
          </a:prstGeom>
          <a:noFill/>
          <a:ln w="9525">
            <a:noFill/>
            <a:miter lim="800000"/>
            <a:headEnd/>
            <a:tailEnd/>
          </a:ln>
          <a:effectLst/>
        </p:spPr>
      </p:pic>
      <p:sp>
        <p:nvSpPr>
          <p:cNvPr id="2" name="Title 1"/>
          <p:cNvSpPr>
            <a:spLocks noGrp="1"/>
          </p:cNvSpPr>
          <p:nvPr>
            <p:ph type="title"/>
          </p:nvPr>
        </p:nvSpPr>
        <p:spPr>
          <a:xfrm>
            <a:off x="457200" y="0"/>
            <a:ext cx="8229600" cy="1143000"/>
          </a:xfrm>
        </p:spPr>
        <p:txBody>
          <a:bodyPr/>
          <a:lstStyle/>
          <a:p>
            <a:r>
              <a:rPr lang="en-US" dirty="0"/>
              <a:t>Amplifier Vs Oscillator</a:t>
            </a:r>
          </a:p>
        </p:txBody>
      </p:sp>
      <p:pic>
        <p:nvPicPr>
          <p:cNvPr id="12" name="Picture 11" descr="download.png"/>
          <p:cNvPicPr>
            <a:picLocks noChangeAspect="1"/>
          </p:cNvPicPr>
          <p:nvPr/>
        </p:nvPicPr>
        <p:blipFill>
          <a:blip r:embed="rId3" cstate="print"/>
          <a:stretch>
            <a:fillRect/>
          </a:stretch>
        </p:blipFill>
        <p:spPr>
          <a:xfrm>
            <a:off x="609600" y="3429000"/>
            <a:ext cx="1456450" cy="990600"/>
          </a:xfrm>
          <a:prstGeom prst="rect">
            <a:avLst/>
          </a:prstGeom>
        </p:spPr>
      </p:pic>
      <p:pic>
        <p:nvPicPr>
          <p:cNvPr id="13" name="Picture 12" descr="download.png"/>
          <p:cNvPicPr>
            <a:picLocks noChangeAspect="1"/>
          </p:cNvPicPr>
          <p:nvPr/>
        </p:nvPicPr>
        <p:blipFill>
          <a:blip r:embed="rId3" cstate="print">
            <a:lum contrast="1000"/>
          </a:blip>
          <a:stretch>
            <a:fillRect/>
          </a:stretch>
        </p:blipFill>
        <p:spPr>
          <a:xfrm>
            <a:off x="2133600" y="5105400"/>
            <a:ext cx="1456450" cy="228600"/>
          </a:xfrm>
          <a:prstGeom prst="rect">
            <a:avLst/>
          </a:prstGeom>
        </p:spPr>
      </p:pic>
      <p:pic>
        <p:nvPicPr>
          <p:cNvPr id="14" name="Picture 13" descr="download.png"/>
          <p:cNvPicPr>
            <a:picLocks noChangeAspect="1"/>
          </p:cNvPicPr>
          <p:nvPr/>
        </p:nvPicPr>
        <p:blipFill>
          <a:blip r:embed="rId3" cstate="print"/>
          <a:stretch>
            <a:fillRect/>
          </a:stretch>
        </p:blipFill>
        <p:spPr>
          <a:xfrm>
            <a:off x="7687550" y="3124200"/>
            <a:ext cx="1456450" cy="762000"/>
          </a:xfrm>
          <a:prstGeom prst="rect">
            <a:avLst/>
          </a:prstGeom>
        </p:spPr>
      </p:pic>
      <p:graphicFrame>
        <p:nvGraphicFramePr>
          <p:cNvPr id="18" name="Object 17"/>
          <p:cNvGraphicFramePr>
            <a:graphicFrameLocks noChangeAspect="1"/>
          </p:cNvGraphicFramePr>
          <p:nvPr/>
        </p:nvGraphicFramePr>
        <p:xfrm>
          <a:off x="4083050" y="1914525"/>
          <a:ext cx="114300" cy="177800"/>
        </p:xfrm>
        <a:graphic>
          <a:graphicData uri="http://schemas.openxmlformats.org/presentationml/2006/ole">
            <mc:AlternateContent xmlns:mc="http://schemas.openxmlformats.org/markup-compatibility/2006">
              <mc:Choice xmlns:v="urn:schemas-microsoft-com:vml" Requires="v">
                <p:oleObj name="Equation" r:id="rId4" imgW="114102" imgH="177492" progId="">
                  <p:embed/>
                </p:oleObj>
              </mc:Choice>
              <mc:Fallback>
                <p:oleObj name="Equation" r:id="rId4" imgW="114102" imgH="177492" progId="">
                  <p:embed/>
                  <p:pic>
                    <p:nvPicPr>
                      <p:cNvPr id="18"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3050" y="1914525"/>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9" name="Object 5"/>
          <p:cNvGraphicFramePr>
            <a:graphicFrameLocks noChangeAspect="1"/>
          </p:cNvGraphicFramePr>
          <p:nvPr/>
        </p:nvGraphicFramePr>
        <p:xfrm>
          <a:off x="3810000" y="1219200"/>
          <a:ext cx="2306637" cy="1441450"/>
        </p:xfrm>
        <a:graphic>
          <a:graphicData uri="http://schemas.openxmlformats.org/presentationml/2006/ole">
            <mc:AlternateContent xmlns:mc="http://schemas.openxmlformats.org/markup-compatibility/2006">
              <mc:Choice xmlns:v="urn:schemas-microsoft-com:vml" Requires="v">
                <p:oleObj name="Equation" r:id="rId6" imgW="888614" imgH="634725" progId="">
                  <p:embed/>
                </p:oleObj>
              </mc:Choice>
              <mc:Fallback>
                <p:oleObj name="Equation" r:id="rId6" imgW="888614" imgH="634725" progId="">
                  <p:embed/>
                  <p:pic>
                    <p:nvPicPr>
                      <p:cNvPr id="1029"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0" y="1219200"/>
                        <a:ext cx="2306637" cy="1441450"/>
                      </a:xfrm>
                      <a:prstGeom prst="rect">
                        <a:avLst/>
                      </a:prstGeom>
                      <a:solidFill>
                        <a:schemeClr val="bg1"/>
                      </a:solidFill>
                    </p:spPr>
                  </p:pic>
                </p:oleObj>
              </mc:Fallback>
            </mc:AlternateContent>
          </a:graphicData>
        </a:graphic>
      </p:graphicFrame>
      <p:grpSp>
        <p:nvGrpSpPr>
          <p:cNvPr id="3" name="Group 28"/>
          <p:cNvGrpSpPr/>
          <p:nvPr/>
        </p:nvGrpSpPr>
        <p:grpSpPr>
          <a:xfrm>
            <a:off x="2819400" y="990600"/>
            <a:ext cx="6324600" cy="2851359"/>
            <a:chOff x="2819400" y="1084210"/>
            <a:chExt cx="6324600" cy="2851359"/>
          </a:xfrm>
        </p:grpSpPr>
        <p:graphicFrame>
          <p:nvGraphicFramePr>
            <p:cNvPr id="24" name="Object 6"/>
            <p:cNvGraphicFramePr>
              <a:graphicFrameLocks noChangeAspect="1"/>
            </p:cNvGraphicFramePr>
            <p:nvPr/>
          </p:nvGraphicFramePr>
          <p:xfrm>
            <a:off x="2819400" y="1084210"/>
            <a:ext cx="3581400" cy="1672013"/>
          </p:xfrm>
          <a:graphic>
            <a:graphicData uri="http://schemas.openxmlformats.org/presentationml/2006/ole">
              <mc:AlternateContent xmlns:mc="http://schemas.openxmlformats.org/markup-compatibility/2006">
                <mc:Choice xmlns:v="urn:schemas-microsoft-com:vml" Requires="v">
                  <p:oleObj name="Equation" r:id="rId8" imgW="1409088" imgH="634725" progId="">
                    <p:embed/>
                  </p:oleObj>
                </mc:Choice>
                <mc:Fallback>
                  <p:oleObj name="Equation" r:id="rId8" imgW="1409088" imgH="634725" progId="">
                    <p:embed/>
                    <p:pic>
                      <p:nvPicPr>
                        <p:cNvPr id="24"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19400" y="1084210"/>
                          <a:ext cx="3581400" cy="1672013"/>
                        </a:xfrm>
                        <a:prstGeom prst="rect">
                          <a:avLst/>
                        </a:prstGeom>
                        <a:solidFill>
                          <a:schemeClr val="bg1"/>
                        </a:solidFill>
                      </p:spPr>
                    </p:pic>
                  </p:oleObj>
                </mc:Fallback>
              </mc:AlternateContent>
            </a:graphicData>
          </a:graphic>
        </p:graphicFrame>
        <p:pic>
          <p:nvPicPr>
            <p:cNvPr id="26" name="Picture 25" descr="Picture2.jpg"/>
            <p:cNvPicPr>
              <a:picLocks noChangeAspect="1"/>
            </p:cNvPicPr>
            <p:nvPr/>
          </p:nvPicPr>
          <p:blipFill>
            <a:blip r:embed="rId10" cstate="print"/>
            <a:stretch>
              <a:fillRect/>
            </a:stretch>
          </p:blipFill>
          <p:spPr>
            <a:xfrm>
              <a:off x="7303008" y="1752600"/>
              <a:ext cx="1840992" cy="2182969"/>
            </a:xfrm>
            <a:prstGeom prst="rect">
              <a:avLst/>
            </a:prstGeom>
          </p:spPr>
        </p:pic>
      </p:grpSp>
      <p:grpSp>
        <p:nvGrpSpPr>
          <p:cNvPr id="4" name="Group 29"/>
          <p:cNvGrpSpPr/>
          <p:nvPr/>
        </p:nvGrpSpPr>
        <p:grpSpPr>
          <a:xfrm>
            <a:off x="381000" y="762000"/>
            <a:ext cx="8763000" cy="3352800"/>
            <a:chOff x="609600" y="1143000"/>
            <a:chExt cx="8763000" cy="3352800"/>
          </a:xfrm>
        </p:grpSpPr>
        <p:grpSp>
          <p:nvGrpSpPr>
            <p:cNvPr id="5" name="Group 16"/>
            <p:cNvGrpSpPr/>
            <p:nvPr/>
          </p:nvGrpSpPr>
          <p:grpSpPr>
            <a:xfrm>
              <a:off x="609600" y="1371600"/>
              <a:ext cx="4191000" cy="3124200"/>
              <a:chOff x="685800" y="1219200"/>
              <a:chExt cx="4191000" cy="3124200"/>
            </a:xfrm>
          </p:grpSpPr>
          <p:sp>
            <p:nvSpPr>
              <p:cNvPr id="34" name="Rectangle 33"/>
              <p:cNvSpPr/>
              <p:nvPr/>
            </p:nvSpPr>
            <p:spPr>
              <a:xfrm>
                <a:off x="685800" y="2895600"/>
                <a:ext cx="1905000" cy="1447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Times New Roman" pitchFamily="18" charset="0"/>
                    <a:cs typeface="Times New Roman" pitchFamily="18" charset="0"/>
                  </a:rPr>
                  <a:t>X</a:t>
                </a:r>
                <a:r>
                  <a:rPr lang="en-US" sz="3600" baseline="-25000" dirty="0">
                    <a:solidFill>
                      <a:schemeClr val="tx1"/>
                    </a:solidFill>
                    <a:latin typeface="Times New Roman" pitchFamily="18" charset="0"/>
                    <a:cs typeface="Times New Roman" pitchFamily="18" charset="0"/>
                  </a:rPr>
                  <a:t>s</a:t>
                </a:r>
                <a:r>
                  <a:rPr lang="en-US" sz="3600" dirty="0">
                    <a:solidFill>
                      <a:schemeClr val="tx1"/>
                    </a:solidFill>
                    <a:latin typeface="Times New Roman" pitchFamily="18" charset="0"/>
                    <a:cs typeface="Times New Roman" pitchFamily="18" charset="0"/>
                  </a:rPr>
                  <a:t> =0</a:t>
                </a:r>
              </a:p>
            </p:txBody>
          </p:sp>
          <p:sp>
            <p:nvSpPr>
              <p:cNvPr id="35" name="Rectangle 34"/>
              <p:cNvSpPr/>
              <p:nvPr/>
            </p:nvSpPr>
            <p:spPr>
              <a:xfrm>
                <a:off x="2971800" y="1219200"/>
                <a:ext cx="1905000" cy="1447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latin typeface="Times New Roman" pitchFamily="18" charset="0"/>
                  <a:cs typeface="Times New Roman" pitchFamily="18" charset="0"/>
                </a:endParaRPr>
              </a:p>
            </p:txBody>
          </p:sp>
        </p:grpSp>
        <p:graphicFrame>
          <p:nvGraphicFramePr>
            <p:cNvPr id="32" name="Object 6"/>
            <p:cNvGraphicFramePr>
              <a:graphicFrameLocks noChangeAspect="1"/>
            </p:cNvGraphicFramePr>
            <p:nvPr/>
          </p:nvGraphicFramePr>
          <p:xfrm>
            <a:off x="3290888" y="1198563"/>
            <a:ext cx="3414712" cy="1697037"/>
          </p:xfrm>
          <a:graphic>
            <a:graphicData uri="http://schemas.openxmlformats.org/presentationml/2006/ole">
              <mc:AlternateContent xmlns:mc="http://schemas.openxmlformats.org/markup-compatibility/2006">
                <mc:Choice xmlns:v="urn:schemas-microsoft-com:vml" Requires="v">
                  <p:oleObj name="Equation" r:id="rId11" imgW="1218671" imgH="710891" progId="">
                    <p:embed/>
                  </p:oleObj>
                </mc:Choice>
                <mc:Fallback>
                  <p:oleObj name="Equation" r:id="rId11" imgW="1218671" imgH="710891" progId="">
                    <p:embed/>
                    <p:pic>
                      <p:nvPicPr>
                        <p:cNvPr id="32"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90888" y="1198563"/>
                          <a:ext cx="3414712" cy="1697037"/>
                        </a:xfrm>
                        <a:prstGeom prst="rect">
                          <a:avLst/>
                        </a:prstGeom>
                        <a:solidFill>
                          <a:schemeClr val="bg1"/>
                        </a:solidFill>
                      </p:spPr>
                    </p:pic>
                  </p:oleObj>
                </mc:Fallback>
              </mc:AlternateContent>
            </a:graphicData>
          </a:graphic>
        </p:graphicFrame>
        <p:pic>
          <p:nvPicPr>
            <p:cNvPr id="33" name="Picture 32" descr="download.png"/>
            <p:cNvPicPr>
              <a:picLocks noChangeAspect="1"/>
            </p:cNvPicPr>
            <p:nvPr/>
          </p:nvPicPr>
          <p:blipFill>
            <a:blip r:embed="rId3" cstate="print"/>
            <a:stretch>
              <a:fillRect/>
            </a:stretch>
          </p:blipFill>
          <p:spPr>
            <a:xfrm>
              <a:off x="7620000" y="1143000"/>
              <a:ext cx="1752600" cy="2590800"/>
            </a:xfrm>
            <a:prstGeom prst="rect">
              <a:avLst/>
            </a:prstGeom>
          </p:spPr>
        </p:pic>
      </p:grpSp>
      <p:sp>
        <p:nvSpPr>
          <p:cNvPr id="36" name="Rectangle 35"/>
          <p:cNvSpPr/>
          <p:nvPr/>
        </p:nvSpPr>
        <p:spPr>
          <a:xfrm>
            <a:off x="0" y="5505271"/>
            <a:ext cx="9144000" cy="1200329"/>
          </a:xfrm>
          <a:prstGeom prst="rect">
            <a:avLst/>
          </a:prstGeom>
        </p:spPr>
        <p:txBody>
          <a:bodyPr wrap="square">
            <a:spAutoFit/>
          </a:bodyPr>
          <a:lstStyle/>
          <a:p>
            <a:pPr algn="just"/>
            <a:r>
              <a:rPr lang="en-US" sz="2400"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Generate periodic AC Output signal without any input signal by using only the DC supply voltage as an input.</a:t>
            </a:r>
          </a:p>
          <a:p>
            <a:pPr algn="just"/>
            <a:r>
              <a:rPr lang="en-US" sz="2400"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Uses only positive feedback.</a:t>
            </a:r>
          </a:p>
        </p:txBody>
      </p:sp>
      <p:pic>
        <p:nvPicPr>
          <p:cNvPr id="1026" name="Picture 2"/>
          <p:cNvPicPr>
            <a:picLocks noChangeAspect="1" noChangeArrowheads="1"/>
          </p:cNvPicPr>
          <p:nvPr/>
        </p:nvPicPr>
        <p:blipFill>
          <a:blip r:embed="rId13" cstate="print"/>
          <a:srcRect t="6818" r="37983" b="6818"/>
          <a:stretch>
            <a:fillRect/>
          </a:stretch>
        </p:blipFill>
        <p:spPr bwMode="auto">
          <a:xfrm>
            <a:off x="762000" y="2590800"/>
            <a:ext cx="7086600" cy="2971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9" presetClass="entr" presetSubtype="0"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dissolve">
                                      <p:cBhvr>
                                        <p:cTn id="10" dur="500"/>
                                        <p:tgtEl>
                                          <p:spTgt spid="102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6">
                                            <p:txEl>
                                              <p:pRg st="0" end="0"/>
                                            </p:txEl>
                                          </p:spTgt>
                                        </p:tgtEl>
                                        <p:attrNameLst>
                                          <p:attrName>style.visibility</p:attrName>
                                        </p:attrNameLst>
                                      </p:cBhvr>
                                      <p:to>
                                        <p:strVal val="visible"/>
                                      </p:to>
                                    </p:set>
                                    <p:animEffect transition="in" filter="blinds(horizontal)">
                                      <p:cBhvr>
                                        <p:cTn id="20" dur="500"/>
                                        <p:tgtEl>
                                          <p:spTgt spid="36">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6">
                                            <p:txEl>
                                              <p:pRg st="1" end="1"/>
                                            </p:txEl>
                                          </p:spTgt>
                                        </p:tgtEl>
                                        <p:attrNameLst>
                                          <p:attrName>style.visibility</p:attrName>
                                        </p:attrNameLst>
                                      </p:cBhvr>
                                      <p:to>
                                        <p:strVal val="visible"/>
                                      </p:to>
                                    </p:set>
                                    <p:animEffect transition="in" filter="blinds(horizontal)">
                                      <p:cBhvr>
                                        <p:cTn id="25" dur="500"/>
                                        <p:tgtEl>
                                          <p:spTgt spid="3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458200" cy="1143000"/>
          </a:xfrm>
        </p:spPr>
        <p:txBody>
          <a:bodyPr>
            <a:normAutofit fontScale="90000"/>
          </a:bodyPr>
          <a:lstStyle/>
          <a:p>
            <a:r>
              <a:rPr lang="en-US" dirty="0">
                <a:solidFill>
                  <a:srgbClr val="FF0000"/>
                </a:solidFill>
                <a:latin typeface="Algerian" pitchFamily="82" charset="0"/>
              </a:rPr>
              <a:t>How to generate +</a:t>
            </a:r>
            <a:r>
              <a:rPr lang="en-US" dirty="0" err="1">
                <a:solidFill>
                  <a:srgbClr val="FF0000"/>
                </a:solidFill>
                <a:latin typeface="Algerian" pitchFamily="82" charset="0"/>
              </a:rPr>
              <a:t>ve</a:t>
            </a:r>
            <a:r>
              <a:rPr lang="en-US" dirty="0">
                <a:solidFill>
                  <a:srgbClr val="FF0000"/>
                </a:solidFill>
                <a:latin typeface="Algerian" pitchFamily="82" charset="0"/>
              </a:rPr>
              <a:t> feedback? </a:t>
            </a:r>
          </a:p>
        </p:txBody>
      </p:sp>
      <p:pic>
        <p:nvPicPr>
          <p:cNvPr id="5122" name="Picture 2"/>
          <p:cNvPicPr>
            <a:picLocks noChangeAspect="1" noChangeArrowheads="1"/>
          </p:cNvPicPr>
          <p:nvPr/>
        </p:nvPicPr>
        <p:blipFill>
          <a:blip r:embed="rId2" cstate="print"/>
          <a:srcRect l="50833" t="3659" r="3333"/>
          <a:stretch>
            <a:fillRect/>
          </a:stretch>
        </p:blipFill>
        <p:spPr bwMode="auto">
          <a:xfrm>
            <a:off x="1371600" y="1447800"/>
            <a:ext cx="6324600" cy="4542213"/>
          </a:xfrm>
          <a:prstGeom prst="rect">
            <a:avLst/>
          </a:prstGeom>
          <a:noFill/>
          <a:ln w="9525">
            <a:noFill/>
            <a:miter lim="800000"/>
            <a:headEnd/>
            <a:tailEnd/>
          </a:ln>
        </p:spPr>
      </p:pic>
      <p:sp>
        <p:nvSpPr>
          <p:cNvPr id="7" name="Oval 6"/>
          <p:cNvSpPr/>
          <p:nvPr/>
        </p:nvSpPr>
        <p:spPr>
          <a:xfrm>
            <a:off x="4953000" y="2133600"/>
            <a:ext cx="1828800" cy="1828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752600" y="4191000"/>
            <a:ext cx="1828800" cy="1828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600200" y="2133600"/>
            <a:ext cx="1828800" cy="1828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3"/>
          <p:cNvPicPr>
            <a:picLocks noChangeAspect="1" noChangeArrowheads="1"/>
          </p:cNvPicPr>
          <p:nvPr/>
        </p:nvPicPr>
        <p:blipFill>
          <a:blip r:embed="rId2" cstate="print"/>
          <a:srcRect r="49279"/>
          <a:stretch>
            <a:fillRect/>
          </a:stretch>
        </p:blipFill>
        <p:spPr bwMode="auto">
          <a:xfrm>
            <a:off x="609600" y="1447800"/>
            <a:ext cx="7239000" cy="4648200"/>
          </a:xfrm>
          <a:prstGeom prst="rect">
            <a:avLst/>
          </a:prstGeom>
          <a:noFill/>
          <a:ln w="9525">
            <a:noFill/>
            <a:miter lim="800000"/>
            <a:headEnd/>
            <a:tailEnd/>
          </a:ln>
        </p:spPr>
      </p:pic>
      <p:sp>
        <p:nvSpPr>
          <p:cNvPr id="12" name="Oval 11"/>
          <p:cNvSpPr/>
          <p:nvPr/>
        </p:nvSpPr>
        <p:spPr>
          <a:xfrm>
            <a:off x="1905000" y="4343400"/>
            <a:ext cx="1828800" cy="1828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800600" y="2209800"/>
            <a:ext cx="1828800" cy="1828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1676400" y="2209800"/>
            <a:ext cx="1828800" cy="1828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horizontal)">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linds(horizontal)">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blinds(horizontal)">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Barkhausen</a:t>
            </a:r>
            <a:r>
              <a:rPr lang="en-US" dirty="0"/>
              <a:t> Criterion</a:t>
            </a:r>
          </a:p>
        </p:txBody>
      </p:sp>
      <p:grpSp>
        <p:nvGrpSpPr>
          <p:cNvPr id="3" name="Group 9"/>
          <p:cNvGrpSpPr/>
          <p:nvPr/>
        </p:nvGrpSpPr>
        <p:grpSpPr>
          <a:xfrm>
            <a:off x="381000" y="1219200"/>
            <a:ext cx="8610600" cy="2895600"/>
            <a:chOff x="0" y="1209675"/>
            <a:chExt cx="8610600" cy="2895600"/>
          </a:xfrm>
        </p:grpSpPr>
        <p:graphicFrame>
          <p:nvGraphicFramePr>
            <p:cNvPr id="4099" name="Object 3"/>
            <p:cNvGraphicFramePr>
              <a:graphicFrameLocks noChangeAspect="1"/>
            </p:cNvGraphicFramePr>
            <p:nvPr/>
          </p:nvGraphicFramePr>
          <p:xfrm>
            <a:off x="0" y="1371600"/>
            <a:ext cx="5403850" cy="2733675"/>
          </p:xfrm>
          <a:graphic>
            <a:graphicData uri="http://schemas.openxmlformats.org/presentationml/2006/ole">
              <mc:AlternateContent xmlns:mc="http://schemas.openxmlformats.org/markup-compatibility/2006">
                <mc:Choice xmlns:v="urn:schemas-microsoft-com:vml" Requires="v">
                  <p:oleObj name="Equation" r:id="rId2" imgW="1955800" imgH="952500" progId="">
                    <p:embed/>
                  </p:oleObj>
                </mc:Choice>
                <mc:Fallback>
                  <p:oleObj name="Equation" r:id="rId2" imgW="1955800" imgH="952500" progId="">
                    <p:embed/>
                    <p:pic>
                      <p:nvPicPr>
                        <p:cNvPr id="409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71600"/>
                          <a:ext cx="5403850" cy="273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101" name="Picture 5"/>
            <p:cNvPicPr>
              <a:picLocks noChangeAspect="1" noChangeArrowheads="1"/>
            </p:cNvPicPr>
            <p:nvPr/>
          </p:nvPicPr>
          <p:blipFill>
            <a:blip r:embed="rId4" cstate="print"/>
            <a:srcRect l="59023" t="7595" r="8897" b="11392"/>
            <a:stretch>
              <a:fillRect/>
            </a:stretch>
          </p:blipFill>
          <p:spPr bwMode="auto">
            <a:xfrm>
              <a:off x="5715000" y="1209675"/>
              <a:ext cx="2895600" cy="2286000"/>
            </a:xfrm>
            <a:prstGeom prst="rect">
              <a:avLst/>
            </a:prstGeom>
            <a:noFill/>
            <a:ln w="9525">
              <a:noFill/>
              <a:miter lim="800000"/>
              <a:headEnd/>
              <a:tailEnd/>
            </a:ln>
          </p:spPr>
        </p:pic>
      </p:grpSp>
      <p:grpSp>
        <p:nvGrpSpPr>
          <p:cNvPr id="4" name="Group 8"/>
          <p:cNvGrpSpPr/>
          <p:nvPr/>
        </p:nvGrpSpPr>
        <p:grpSpPr>
          <a:xfrm>
            <a:off x="304800" y="3543300"/>
            <a:ext cx="8763000" cy="3009900"/>
            <a:chOff x="304800" y="3352800"/>
            <a:chExt cx="8763000" cy="3009900"/>
          </a:xfrm>
        </p:grpSpPr>
        <p:pic>
          <p:nvPicPr>
            <p:cNvPr id="4100" name="Picture 4"/>
            <p:cNvPicPr>
              <a:picLocks noChangeAspect="1" noChangeArrowheads="1"/>
            </p:cNvPicPr>
            <p:nvPr/>
          </p:nvPicPr>
          <p:blipFill>
            <a:blip r:embed="rId4" cstate="print"/>
            <a:srcRect l="10902" r="45990"/>
            <a:stretch>
              <a:fillRect/>
            </a:stretch>
          </p:blipFill>
          <p:spPr bwMode="auto">
            <a:xfrm>
              <a:off x="5791200" y="3352800"/>
              <a:ext cx="3276600" cy="3009900"/>
            </a:xfrm>
            <a:prstGeom prst="rect">
              <a:avLst/>
            </a:prstGeom>
            <a:noFill/>
            <a:ln w="9525">
              <a:noFill/>
              <a:miter lim="800000"/>
              <a:headEnd/>
              <a:tailEnd/>
            </a:ln>
          </p:spPr>
        </p:pic>
        <p:graphicFrame>
          <p:nvGraphicFramePr>
            <p:cNvPr id="4102" name="Object 6"/>
            <p:cNvGraphicFramePr>
              <a:graphicFrameLocks noChangeAspect="1"/>
            </p:cNvGraphicFramePr>
            <p:nvPr/>
          </p:nvGraphicFramePr>
          <p:xfrm>
            <a:off x="304800" y="4689475"/>
            <a:ext cx="4384675" cy="982663"/>
          </p:xfrm>
          <a:graphic>
            <a:graphicData uri="http://schemas.openxmlformats.org/presentationml/2006/ole">
              <mc:AlternateContent xmlns:mc="http://schemas.openxmlformats.org/markup-compatibility/2006">
                <mc:Choice xmlns:v="urn:schemas-microsoft-com:vml" Requires="v">
                  <p:oleObj name="Equation" r:id="rId5" imgW="1041400" imgH="368300" progId="">
                    <p:embed/>
                  </p:oleObj>
                </mc:Choice>
                <mc:Fallback>
                  <p:oleObj name="Equation" r:id="rId5" imgW="1041400" imgH="368300" progId="">
                    <p:embed/>
                    <p:pic>
                      <p:nvPicPr>
                        <p:cNvPr id="410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4689475"/>
                          <a:ext cx="4384675" cy="982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lgerian" pitchFamily="82" charset="0"/>
              </a:rPr>
              <a:t>Condition for Stability</a:t>
            </a:r>
          </a:p>
        </p:txBody>
      </p:sp>
      <p:sp>
        <p:nvSpPr>
          <p:cNvPr id="3" name="Content Placeholder 2"/>
          <p:cNvSpPr>
            <a:spLocks noGrp="1"/>
          </p:cNvSpPr>
          <p:nvPr>
            <p:ph idx="1"/>
          </p:nvPr>
        </p:nvSpPr>
        <p:spPr/>
        <p:txBody>
          <a:bodyPr>
            <a:normAutofit/>
          </a:bodyPr>
          <a:lstStyle/>
          <a:p>
            <a:pPr marL="0" indent="0">
              <a:buNone/>
            </a:pPr>
            <a:r>
              <a:rPr lang="en-US" sz="2800" dirty="0"/>
              <a:t> For good frequency stability, the phase shift must be made a strong function of frequency at resonance that is, the </a:t>
            </a:r>
            <a:r>
              <a:rPr lang="en-US" sz="2800" i="1" dirty="0">
                <a:solidFill>
                  <a:srgbClr val="FF0000"/>
                </a:solidFill>
                <a:effectLst>
                  <a:outerShdw blurRad="38100" dist="38100" dir="2700000" algn="tl">
                    <a:srgbClr val="000000">
                      <a:alpha val="43137"/>
                    </a:srgbClr>
                  </a:outerShdw>
                </a:effectLst>
              </a:rPr>
              <a:t>Q factor should be high</a:t>
            </a:r>
            <a:r>
              <a:rPr lang="en-US" sz="2800" i="1" dirty="0"/>
              <a:t>.</a:t>
            </a:r>
          </a:p>
          <a:p>
            <a:pPr marL="0" indent="0">
              <a:buNone/>
            </a:pPr>
            <a:endParaRPr lang="en-US" sz="2800" i="1" dirty="0"/>
          </a:p>
          <a:p>
            <a:pPr algn="just"/>
            <a:r>
              <a:rPr lang="en-US" sz="2800" dirty="0"/>
              <a:t>For good stability, the change in the gain with a change in the amplitude of output voltage </a:t>
            </a:r>
            <a:r>
              <a:rPr lang="en-US" sz="2800" i="1" dirty="0" err="1">
                <a:solidFill>
                  <a:srgbClr val="FF0000"/>
                </a:solidFill>
                <a:effectLst>
                  <a:outerShdw blurRad="38100" dist="38100" dir="2700000" algn="tl">
                    <a:srgbClr val="000000">
                      <a:alpha val="43137"/>
                    </a:srgbClr>
                  </a:outerShdw>
                </a:effectLst>
              </a:rPr>
              <a:t>v</a:t>
            </a:r>
            <a:r>
              <a:rPr lang="en-US" sz="2800" i="1" baseline="-25000" dirty="0" err="1">
                <a:solidFill>
                  <a:srgbClr val="FF0000"/>
                </a:solidFill>
                <a:effectLst>
                  <a:outerShdw blurRad="38100" dist="38100" dir="2700000" algn="tl">
                    <a:srgbClr val="000000">
                      <a:alpha val="43137"/>
                    </a:srgbClr>
                  </a:outerShdw>
                </a:effectLst>
              </a:rPr>
              <a:t>o</a:t>
            </a:r>
            <a:r>
              <a:rPr lang="en-US" sz="2800" i="1" dirty="0">
                <a:solidFill>
                  <a:srgbClr val="FF0000"/>
                </a:solidFill>
                <a:effectLst>
                  <a:outerShdw blurRad="38100" dist="38100" dir="2700000" algn="tl">
                    <a:srgbClr val="000000">
                      <a:alpha val="43137"/>
                    </a:srgbClr>
                  </a:outerShdw>
                </a:effectLst>
              </a:rPr>
              <a:t> should </a:t>
            </a:r>
            <a:r>
              <a:rPr lang="en-US" sz="2800" dirty="0">
                <a:solidFill>
                  <a:srgbClr val="FF0000"/>
                </a:solidFill>
                <a:effectLst>
                  <a:outerShdw blurRad="38100" dist="38100" dir="2700000" algn="tl">
                    <a:srgbClr val="000000">
                      <a:alpha val="43137"/>
                    </a:srgbClr>
                  </a:outerShdw>
                </a:effectLst>
              </a:rPr>
              <a:t>be made large</a:t>
            </a:r>
            <a:r>
              <a:rPr lang="en-US" sz="2800" dirty="0"/>
              <a:t>; an </a:t>
            </a:r>
            <a:r>
              <a:rPr lang="en-US" sz="2800" u="sng" dirty="0"/>
              <a:t>increase in amplitude must result in a decrease in gain.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ext Box 4"/>
          <p:cNvSpPr txBox="1">
            <a:spLocks noChangeArrowheads="1"/>
          </p:cNvSpPr>
          <p:nvPr/>
        </p:nvSpPr>
        <p:spPr bwMode="auto">
          <a:xfrm>
            <a:off x="152400" y="304800"/>
            <a:ext cx="8772525" cy="1190625"/>
          </a:xfrm>
          <a:prstGeom prst="rect">
            <a:avLst/>
          </a:prstGeom>
          <a:noFill/>
          <a:ln w="9525">
            <a:noFill/>
            <a:miter lim="800000"/>
            <a:headEnd/>
            <a:tailEnd/>
          </a:ln>
        </p:spPr>
        <p:txBody>
          <a:bodyPr>
            <a:spAutoFit/>
          </a:bodyPr>
          <a:lstStyle/>
          <a:p>
            <a:pPr algn="ctr"/>
            <a:r>
              <a:rPr lang="en-US" sz="3600" b="1" u="sng" dirty="0">
                <a:solidFill>
                  <a:srgbClr val="FF0000"/>
                </a:solidFill>
                <a:latin typeface="Algerian" pitchFamily="82" charset="0"/>
              </a:rPr>
              <a:t>Factors determining the frequency of oscillation</a:t>
            </a:r>
          </a:p>
        </p:txBody>
      </p:sp>
      <p:sp>
        <p:nvSpPr>
          <p:cNvPr id="33797" name="Text Box 9"/>
          <p:cNvSpPr txBox="1">
            <a:spLocks noChangeArrowheads="1"/>
          </p:cNvSpPr>
          <p:nvPr/>
        </p:nvSpPr>
        <p:spPr bwMode="auto">
          <a:xfrm>
            <a:off x="381000" y="1676400"/>
            <a:ext cx="8516937" cy="4294188"/>
          </a:xfrm>
          <a:prstGeom prst="rect">
            <a:avLst/>
          </a:prstGeom>
          <a:noFill/>
          <a:ln w="9525">
            <a:noFill/>
            <a:miter lim="800000"/>
            <a:headEnd/>
            <a:tailEnd/>
          </a:ln>
        </p:spPr>
        <p:txBody>
          <a:bodyPr>
            <a:spAutoFit/>
          </a:bodyPr>
          <a:lstStyle/>
          <a:p>
            <a:pPr marL="342900" indent="-342900" algn="just">
              <a:spcAft>
                <a:spcPct val="25000"/>
              </a:spcAft>
              <a:buFont typeface="Wingdings" pitchFamily="2" charset="2"/>
              <a:buChar char="v"/>
            </a:pPr>
            <a:r>
              <a:rPr lang="en-US" sz="2800" dirty="0">
                <a:solidFill>
                  <a:srgbClr val="002060"/>
                </a:solidFill>
              </a:rPr>
              <a:t>Oscillators can be classified into many types depending on the feedback components, amplifiers and circuit topologies used.</a:t>
            </a:r>
          </a:p>
          <a:p>
            <a:pPr marL="342900" indent="-342900" algn="just">
              <a:spcAft>
                <a:spcPct val="25000"/>
              </a:spcAft>
              <a:buFont typeface="Wingdings" pitchFamily="2" charset="2"/>
              <a:buChar char="v"/>
            </a:pPr>
            <a:r>
              <a:rPr lang="en-US" sz="2800" dirty="0">
                <a:solidFill>
                  <a:srgbClr val="002060"/>
                </a:solidFill>
              </a:rPr>
              <a:t>RC components generate a sinusoidal waveform at a few Hz to kHz range.</a:t>
            </a:r>
          </a:p>
          <a:p>
            <a:pPr marL="342900" indent="-342900" algn="just">
              <a:spcAft>
                <a:spcPct val="25000"/>
              </a:spcAft>
              <a:buFont typeface="Wingdings" pitchFamily="2" charset="2"/>
              <a:buChar char="v"/>
            </a:pPr>
            <a:r>
              <a:rPr lang="en-US" sz="2800" dirty="0">
                <a:solidFill>
                  <a:srgbClr val="002060"/>
                </a:solidFill>
              </a:rPr>
              <a:t>LC components generate a sine wave at frequencies of 100 kHz to 100 </a:t>
            </a:r>
            <a:r>
              <a:rPr lang="en-US" sz="2800" dirty="0" err="1">
                <a:solidFill>
                  <a:srgbClr val="002060"/>
                </a:solidFill>
              </a:rPr>
              <a:t>MHz.</a:t>
            </a:r>
            <a:endParaRPr lang="en-US" sz="2800" dirty="0">
              <a:solidFill>
                <a:srgbClr val="002060"/>
              </a:solidFill>
            </a:endParaRPr>
          </a:p>
          <a:p>
            <a:pPr marL="342900" indent="-342900" algn="just">
              <a:spcAft>
                <a:spcPct val="25000"/>
              </a:spcAft>
              <a:buFont typeface="Wingdings" pitchFamily="2" charset="2"/>
              <a:buChar char="v"/>
            </a:pPr>
            <a:r>
              <a:rPr lang="en-US" sz="2800" dirty="0">
                <a:solidFill>
                  <a:srgbClr val="002060"/>
                </a:solidFill>
              </a:rPr>
              <a:t>Crystals generate a square or sine wave over a wide </a:t>
            </a:r>
            <a:r>
              <a:rPr lang="en-US" sz="2800" dirty="0" err="1">
                <a:solidFill>
                  <a:srgbClr val="002060"/>
                </a:solidFill>
              </a:rPr>
              <a:t>range,i.e</a:t>
            </a:r>
            <a:r>
              <a:rPr lang="en-US" sz="2800" dirty="0">
                <a:solidFill>
                  <a:srgbClr val="002060"/>
                </a:solidFill>
              </a:rPr>
              <a:t>. about 10 kHz to 30 </a:t>
            </a:r>
            <a:r>
              <a:rPr lang="en-US" sz="2800" dirty="0" err="1">
                <a:solidFill>
                  <a:srgbClr val="002060"/>
                </a:solidFill>
              </a:rPr>
              <a:t>MHz.</a:t>
            </a:r>
            <a:endParaRPr lang="en-US" sz="2800" dirty="0">
              <a:solidFill>
                <a:srgbClr val="00206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a:t>
            </a:r>
          </a:p>
        </p:txBody>
      </p:sp>
      <p:sp>
        <p:nvSpPr>
          <p:cNvPr id="3" name="Content Placeholder 2"/>
          <p:cNvSpPr>
            <a:spLocks noGrp="1"/>
          </p:cNvSpPr>
          <p:nvPr>
            <p:ph idx="1"/>
          </p:nvPr>
        </p:nvSpPr>
        <p:spPr/>
        <p:txBody>
          <a:bodyPr numCol="2">
            <a:normAutofit/>
          </a:bodyPr>
          <a:lstStyle/>
          <a:p>
            <a:pPr marL="457200" indent="-457200">
              <a:buFont typeface="+mj-lt"/>
              <a:buAutoNum type="arabicPeriod"/>
            </a:pPr>
            <a:r>
              <a:rPr lang="en-US" dirty="0">
                <a:solidFill>
                  <a:srgbClr val="FF0000"/>
                </a:solidFill>
                <a:effectLst>
                  <a:outerShdw blurRad="38100" dist="38100" dir="2700000" algn="tl">
                    <a:srgbClr val="000000">
                      <a:alpha val="43137"/>
                    </a:srgbClr>
                  </a:outerShdw>
                </a:effectLst>
              </a:rPr>
              <a:t>Sinusoidal </a:t>
            </a:r>
            <a:r>
              <a:rPr lang="en-US" sz="2000" dirty="0">
                <a:solidFill>
                  <a:srgbClr val="FF0000"/>
                </a:solidFill>
                <a:effectLst>
                  <a:outerShdw blurRad="38100" dist="38100" dir="2700000" algn="tl">
                    <a:srgbClr val="000000">
                      <a:alpha val="43137"/>
                    </a:srgbClr>
                  </a:outerShdw>
                </a:effectLst>
              </a:rPr>
              <a:t>(Radio frequency)</a:t>
            </a:r>
          </a:p>
          <a:p>
            <a:pPr marL="857250" lvl="1" indent="-457200"/>
            <a:r>
              <a:rPr lang="en-US" dirty="0">
                <a:solidFill>
                  <a:srgbClr val="002060"/>
                </a:solidFill>
                <a:effectLst>
                  <a:outerShdw blurRad="38100" dist="38100" dir="2700000" algn="tl">
                    <a:srgbClr val="000000">
                      <a:alpha val="43137"/>
                    </a:srgbClr>
                  </a:outerShdw>
                </a:effectLst>
              </a:rPr>
              <a:t>LC </a:t>
            </a:r>
          </a:p>
          <a:p>
            <a:pPr marL="1257300" lvl="2" indent="-457200"/>
            <a:r>
              <a:rPr lang="en-US" dirty="0" err="1">
                <a:solidFill>
                  <a:srgbClr val="002060"/>
                </a:solidFill>
                <a:effectLst>
                  <a:outerShdw blurRad="38100" dist="38100" dir="2700000" algn="tl">
                    <a:srgbClr val="000000">
                      <a:alpha val="43137"/>
                    </a:srgbClr>
                  </a:outerShdw>
                </a:effectLst>
              </a:rPr>
              <a:t>Hatley</a:t>
            </a:r>
            <a:endParaRPr lang="en-US" dirty="0">
              <a:solidFill>
                <a:srgbClr val="002060"/>
              </a:solidFill>
              <a:effectLst>
                <a:outerShdw blurRad="38100" dist="38100" dir="2700000" algn="tl">
                  <a:srgbClr val="000000">
                    <a:alpha val="43137"/>
                  </a:srgbClr>
                </a:outerShdw>
              </a:effectLst>
            </a:endParaRPr>
          </a:p>
          <a:p>
            <a:pPr marL="1257300" lvl="2" indent="-457200"/>
            <a:r>
              <a:rPr lang="en-US" dirty="0" err="1">
                <a:solidFill>
                  <a:srgbClr val="002060"/>
                </a:solidFill>
                <a:effectLst>
                  <a:outerShdw blurRad="38100" dist="38100" dir="2700000" algn="tl">
                    <a:srgbClr val="000000">
                      <a:alpha val="43137"/>
                    </a:srgbClr>
                  </a:outerShdw>
                </a:effectLst>
              </a:rPr>
              <a:t>Colpitt</a:t>
            </a:r>
            <a:endParaRPr lang="en-US" dirty="0">
              <a:solidFill>
                <a:srgbClr val="002060"/>
              </a:solidFill>
              <a:effectLst>
                <a:outerShdw blurRad="38100" dist="38100" dir="2700000" algn="tl">
                  <a:srgbClr val="000000">
                    <a:alpha val="43137"/>
                  </a:srgbClr>
                </a:outerShdw>
              </a:effectLst>
            </a:endParaRPr>
          </a:p>
          <a:p>
            <a:pPr marL="857250" lvl="1" indent="-457200"/>
            <a:r>
              <a:rPr lang="en-US" dirty="0">
                <a:solidFill>
                  <a:srgbClr val="002060"/>
                </a:solidFill>
                <a:effectLst>
                  <a:outerShdw blurRad="38100" dist="38100" dir="2700000" algn="tl">
                    <a:srgbClr val="000000">
                      <a:alpha val="43137"/>
                    </a:srgbClr>
                  </a:outerShdw>
                </a:effectLst>
              </a:rPr>
              <a:t>RC </a:t>
            </a:r>
            <a:r>
              <a:rPr lang="en-US" sz="2000" dirty="0">
                <a:solidFill>
                  <a:srgbClr val="002060"/>
                </a:solidFill>
                <a:effectLst>
                  <a:outerShdw blurRad="38100" dist="38100" dir="2700000" algn="tl">
                    <a:srgbClr val="000000">
                      <a:alpha val="43137"/>
                    </a:srgbClr>
                  </a:outerShdw>
                </a:effectLst>
              </a:rPr>
              <a:t>(Audio frequency)</a:t>
            </a:r>
          </a:p>
          <a:p>
            <a:pPr marL="1257300" lvl="2" indent="-457200"/>
            <a:r>
              <a:rPr lang="en-US" dirty="0" err="1">
                <a:solidFill>
                  <a:srgbClr val="002060"/>
                </a:solidFill>
                <a:effectLst>
                  <a:outerShdw blurRad="38100" dist="38100" dir="2700000" algn="tl">
                    <a:srgbClr val="000000">
                      <a:alpha val="43137"/>
                    </a:srgbClr>
                  </a:outerShdw>
                </a:effectLst>
              </a:rPr>
              <a:t>Wein</a:t>
            </a:r>
            <a:r>
              <a:rPr lang="en-US" dirty="0">
                <a:solidFill>
                  <a:srgbClr val="002060"/>
                </a:solidFill>
                <a:effectLst>
                  <a:outerShdw blurRad="38100" dist="38100" dir="2700000" algn="tl">
                    <a:srgbClr val="000000">
                      <a:alpha val="43137"/>
                    </a:srgbClr>
                  </a:outerShdw>
                </a:effectLst>
              </a:rPr>
              <a:t> bridge</a:t>
            </a:r>
          </a:p>
          <a:p>
            <a:pPr marL="1257300" lvl="2" indent="-457200"/>
            <a:r>
              <a:rPr lang="en-US" dirty="0">
                <a:solidFill>
                  <a:srgbClr val="002060"/>
                </a:solidFill>
                <a:effectLst>
                  <a:outerShdw blurRad="38100" dist="38100" dir="2700000" algn="tl">
                    <a:srgbClr val="000000">
                      <a:alpha val="43137"/>
                    </a:srgbClr>
                  </a:outerShdw>
                </a:effectLst>
              </a:rPr>
              <a:t>Phase shift </a:t>
            </a:r>
          </a:p>
          <a:p>
            <a:pPr marL="857250" lvl="1" indent="-457200"/>
            <a:r>
              <a:rPr lang="en-US" dirty="0"/>
              <a:t>Crystal</a:t>
            </a:r>
          </a:p>
          <a:p>
            <a:pPr marL="857250" lvl="1" indent="-457200"/>
            <a:endParaRPr lang="en-US" dirty="0"/>
          </a:p>
          <a:p>
            <a:pPr marL="857250" lvl="1" indent="-457200"/>
            <a:endParaRPr lang="en-US" dirty="0"/>
          </a:p>
          <a:p>
            <a:pPr marL="457200" indent="-457200">
              <a:buFont typeface="+mj-lt"/>
              <a:buAutoNum type="arabicPeriod"/>
            </a:pPr>
            <a:r>
              <a:rPr lang="en-US" dirty="0">
                <a:solidFill>
                  <a:srgbClr val="FF0000"/>
                </a:solidFill>
                <a:effectLst>
                  <a:outerShdw blurRad="38100" dist="38100" dir="2700000" algn="tl">
                    <a:srgbClr val="000000">
                      <a:alpha val="43137"/>
                    </a:srgbClr>
                  </a:outerShdw>
                </a:effectLst>
              </a:rPr>
              <a:t>Non sinusoidal</a:t>
            </a:r>
          </a:p>
          <a:p>
            <a:pPr marL="857250" lvl="1" indent="-457200"/>
            <a:r>
              <a:rPr lang="en-US" dirty="0">
                <a:solidFill>
                  <a:srgbClr val="002060"/>
                </a:solidFill>
                <a:effectLst>
                  <a:outerShdw blurRad="38100" dist="38100" dir="2700000" algn="tl">
                    <a:srgbClr val="000000">
                      <a:alpha val="43137"/>
                    </a:srgbClr>
                  </a:outerShdw>
                </a:effectLst>
              </a:rPr>
              <a:t>Multi vibrators</a:t>
            </a:r>
          </a:p>
          <a:p>
            <a:pPr marL="1257300" lvl="2" indent="-457200"/>
            <a:r>
              <a:rPr lang="en-US" dirty="0" err="1">
                <a:solidFill>
                  <a:srgbClr val="002060"/>
                </a:solidFill>
                <a:effectLst>
                  <a:outerShdw blurRad="38100" dist="38100" dir="2700000" algn="tl">
                    <a:srgbClr val="000000">
                      <a:alpha val="43137"/>
                    </a:srgbClr>
                  </a:outerShdw>
                </a:effectLst>
              </a:rPr>
              <a:t>Astable</a:t>
            </a:r>
            <a:endParaRPr lang="en-US" dirty="0">
              <a:solidFill>
                <a:srgbClr val="002060"/>
              </a:solidFill>
              <a:effectLst>
                <a:outerShdw blurRad="38100" dist="38100" dir="2700000" algn="tl">
                  <a:srgbClr val="000000">
                    <a:alpha val="43137"/>
                  </a:srgbClr>
                </a:outerShdw>
              </a:effectLst>
            </a:endParaRPr>
          </a:p>
          <a:p>
            <a:pPr marL="1257300" lvl="2" indent="-457200"/>
            <a:r>
              <a:rPr lang="en-US" dirty="0">
                <a:solidFill>
                  <a:srgbClr val="002060"/>
                </a:solidFill>
                <a:effectLst>
                  <a:outerShdw blurRad="38100" dist="38100" dir="2700000" algn="tl">
                    <a:srgbClr val="000000">
                      <a:alpha val="43137"/>
                    </a:srgbClr>
                  </a:outerShdw>
                </a:effectLst>
              </a:rPr>
              <a:t>Mono stable</a:t>
            </a:r>
          </a:p>
          <a:p>
            <a:pPr marL="1257300" lvl="2" indent="-457200"/>
            <a:r>
              <a:rPr lang="en-US" dirty="0" err="1">
                <a:solidFill>
                  <a:srgbClr val="002060"/>
                </a:solidFill>
                <a:effectLst>
                  <a:outerShdw blurRad="38100" dist="38100" dir="2700000" algn="tl">
                    <a:srgbClr val="000000">
                      <a:alpha val="43137"/>
                    </a:srgbClr>
                  </a:outerShdw>
                </a:effectLst>
              </a:rPr>
              <a:t>Bistable</a:t>
            </a:r>
            <a:endParaRPr lang="en-US" dirty="0">
              <a:solidFill>
                <a:srgbClr val="002060"/>
              </a:solidFill>
              <a:effectLst>
                <a:outerShdw blurRad="38100" dist="38100" dir="2700000" algn="tl">
                  <a:srgbClr val="000000">
                    <a:alpha val="43137"/>
                  </a:srgbClr>
                </a:outerShdw>
              </a:effectLst>
            </a:endParaRPr>
          </a:p>
          <a:p>
            <a:pPr marL="857250" lvl="1" indent="-457200"/>
            <a:r>
              <a:rPr lang="en-US" dirty="0"/>
              <a:t>Relaxation oscillators</a:t>
            </a:r>
          </a:p>
        </p:txBody>
      </p:sp>
      <p:pic>
        <p:nvPicPr>
          <p:cNvPr id="5" name="Picture 4" descr="download.png"/>
          <p:cNvPicPr>
            <a:picLocks noChangeAspect="1"/>
          </p:cNvPicPr>
          <p:nvPr/>
        </p:nvPicPr>
        <p:blipFill>
          <a:blip r:embed="rId2" cstate="print"/>
          <a:stretch>
            <a:fillRect/>
          </a:stretch>
        </p:blipFill>
        <p:spPr>
          <a:xfrm>
            <a:off x="2895600" y="2133600"/>
            <a:ext cx="1694523" cy="1152525"/>
          </a:xfrm>
          <a:prstGeom prst="rect">
            <a:avLst/>
          </a:prstGeom>
        </p:spPr>
      </p:pic>
      <p:pic>
        <p:nvPicPr>
          <p:cNvPr id="3076" name="Picture 4"/>
          <p:cNvPicPr>
            <a:picLocks noChangeAspect="1" noChangeArrowheads="1"/>
          </p:cNvPicPr>
          <p:nvPr/>
        </p:nvPicPr>
        <p:blipFill>
          <a:blip r:embed="rId3" cstate="print"/>
          <a:srcRect/>
          <a:stretch>
            <a:fillRect/>
          </a:stretch>
        </p:blipFill>
        <p:spPr bwMode="auto">
          <a:xfrm>
            <a:off x="7343775" y="1905000"/>
            <a:ext cx="1800225" cy="552450"/>
          </a:xfrm>
          <a:prstGeom prst="rect">
            <a:avLst/>
          </a:prstGeom>
          <a:noFill/>
          <a:ln w="9525">
            <a:noFill/>
            <a:miter lim="800000"/>
            <a:headEnd/>
            <a:tailEnd/>
          </a:ln>
        </p:spPr>
      </p:pic>
      <p:pic>
        <p:nvPicPr>
          <p:cNvPr id="3077" name="Picture 5"/>
          <p:cNvPicPr>
            <a:picLocks noChangeAspect="1" noChangeArrowheads="1"/>
          </p:cNvPicPr>
          <p:nvPr/>
        </p:nvPicPr>
        <p:blipFill>
          <a:blip r:embed="rId4" cstate="print"/>
          <a:srcRect/>
          <a:stretch>
            <a:fillRect/>
          </a:stretch>
        </p:blipFill>
        <p:spPr bwMode="auto">
          <a:xfrm>
            <a:off x="7543800" y="4191000"/>
            <a:ext cx="1295400" cy="533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Effect transition="in" filter="blinds(horizontal)">
                                      <p:cBhvr>
                                        <p:cTn id="7" dur="500"/>
                                        <p:tgtEl>
                                          <p:spTgt spid="3">
                                            <p:txEl>
                                              <p:pRg st="1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linds(horizontal)">
                                      <p:cBhvr>
                                        <p:cTn id="12" dur="500"/>
                                        <p:tgtEl>
                                          <p:spTgt spid="3">
                                            <p:txEl>
                                              <p:pRg st="4" end="4"/>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blinds(horizontal)">
                                      <p:cBhvr>
                                        <p:cTn id="15" dur="500"/>
                                        <p:tgtEl>
                                          <p:spTgt spid="3">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blinds(horizontal)">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blinds(horizontal)">
                                      <p:cBhvr>
                                        <p:cTn id="23" dur="500"/>
                                        <p:tgtEl>
                                          <p:spTgt spid="3">
                                            <p:txEl>
                                              <p:pRg st="1" end="1"/>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blinds(horizontal)">
                                      <p:cBhvr>
                                        <p:cTn id="26" dur="500"/>
                                        <p:tgtEl>
                                          <p:spTgt spid="3">
                                            <p:txEl>
                                              <p:pRg st="2" end="2"/>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blinds(horizontal)">
                                      <p:cBhvr>
                                        <p:cTn id="29" dur="500"/>
                                        <p:tgtEl>
                                          <p:spTgt spid="3">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
                                            <p:txEl>
                                              <p:pRg st="11" end="11"/>
                                            </p:txEl>
                                          </p:spTgt>
                                        </p:tgtEl>
                                        <p:attrNameLst>
                                          <p:attrName>style.visibility</p:attrName>
                                        </p:attrNameLst>
                                      </p:cBhvr>
                                      <p:to>
                                        <p:strVal val="visible"/>
                                      </p:to>
                                    </p:set>
                                    <p:animEffect transition="in" filter="blinds(horizontal)">
                                      <p:cBhvr>
                                        <p:cTn id="34" dur="500"/>
                                        <p:tgtEl>
                                          <p:spTgt spid="3">
                                            <p:txEl>
                                              <p:pRg st="11" end="11"/>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animEffect transition="in" filter="blinds(horizontal)">
                                      <p:cBhvr>
                                        <p:cTn id="37" dur="500"/>
                                        <p:tgtEl>
                                          <p:spTgt spid="3">
                                            <p:txEl>
                                              <p:pRg st="12" end="12"/>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3">
                                            <p:txEl>
                                              <p:pRg st="13" end="13"/>
                                            </p:txEl>
                                          </p:spTgt>
                                        </p:tgtEl>
                                        <p:attrNameLst>
                                          <p:attrName>style.visibility</p:attrName>
                                        </p:attrNameLst>
                                      </p:cBhvr>
                                      <p:to>
                                        <p:strVal val="visible"/>
                                      </p:to>
                                    </p:set>
                                    <p:animEffect transition="in" filter="blinds(horizontal)">
                                      <p:cBhvr>
                                        <p:cTn id="40" dur="500"/>
                                        <p:tgtEl>
                                          <p:spTgt spid="3">
                                            <p:txEl>
                                              <p:pRg st="13" end="13"/>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animEffect transition="in" filter="blinds(horizontal)">
                                      <p:cBhvr>
                                        <p:cTn id="43" dur="500"/>
                                        <p:tgtEl>
                                          <p:spTgt spid="3">
                                            <p:txEl>
                                              <p:pRg st="14" end="1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3">
                                            <p:txEl>
                                              <p:pRg st="15" end="15"/>
                                            </p:txEl>
                                          </p:spTgt>
                                        </p:tgtEl>
                                        <p:attrNameLst>
                                          <p:attrName>style.visibility</p:attrName>
                                        </p:attrNameLst>
                                      </p:cBhvr>
                                      <p:to>
                                        <p:strVal val="visible"/>
                                      </p:to>
                                    </p:set>
                                    <p:animEffect transition="in" filter="blinds(horizontal)">
                                      <p:cBhvr>
                                        <p:cTn id="48"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 C Oscillators</a:t>
            </a:r>
          </a:p>
        </p:txBody>
      </p:sp>
      <p:sp>
        <p:nvSpPr>
          <p:cNvPr id="3" name="Content Placeholder 2"/>
          <p:cNvSpPr>
            <a:spLocks noGrp="1"/>
          </p:cNvSpPr>
          <p:nvPr>
            <p:ph idx="1"/>
          </p:nvPr>
        </p:nvSpPr>
        <p:spPr/>
        <p:txBody>
          <a:bodyPr/>
          <a:lstStyle/>
          <a:p>
            <a:r>
              <a:rPr lang="en-US" sz="4000" dirty="0">
                <a:solidFill>
                  <a:srgbClr val="FF0000"/>
                </a:solidFill>
                <a:effectLst>
                  <a:outerShdw blurRad="38100" dist="38100" dir="2700000" algn="tl">
                    <a:srgbClr val="000000">
                      <a:alpha val="43137"/>
                    </a:srgbClr>
                  </a:outerShdw>
                </a:effectLst>
              </a:rPr>
              <a:t>Wien Bridge</a:t>
            </a:r>
          </a:p>
          <a:p>
            <a:pPr>
              <a:buNone/>
            </a:pPr>
            <a:endParaRPr lang="en-US" sz="4000" dirty="0"/>
          </a:p>
          <a:p>
            <a:r>
              <a:rPr lang="en-US" sz="4000" dirty="0">
                <a:solidFill>
                  <a:srgbClr val="FF0000"/>
                </a:solidFill>
                <a:effectLst>
                  <a:outerShdw blurRad="38100" dist="38100" dir="2700000" algn="tl">
                    <a:srgbClr val="000000">
                      <a:alpha val="43137"/>
                    </a:srgbClr>
                  </a:outerShdw>
                </a:effectLst>
              </a:rPr>
              <a:t>R C Phase shift Oscillator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rgbClr val="FF0000"/>
                </a:solidFill>
                <a:latin typeface="Algerian" pitchFamily="82" charset="0"/>
              </a:rPr>
              <a:t>Wien Bridge oscillator</a:t>
            </a:r>
          </a:p>
        </p:txBody>
      </p:sp>
      <p:pic>
        <p:nvPicPr>
          <p:cNvPr id="33794" name="Picture 2"/>
          <p:cNvPicPr>
            <a:picLocks noChangeAspect="1" noChangeArrowheads="1"/>
          </p:cNvPicPr>
          <p:nvPr/>
        </p:nvPicPr>
        <p:blipFill>
          <a:blip r:embed="rId2" cstate="print"/>
          <a:srcRect/>
          <a:stretch>
            <a:fillRect/>
          </a:stretch>
        </p:blipFill>
        <p:spPr bwMode="auto">
          <a:xfrm>
            <a:off x="4495800" y="1524000"/>
            <a:ext cx="4648200" cy="4495800"/>
          </a:xfrm>
          <a:prstGeom prst="rect">
            <a:avLst/>
          </a:prstGeom>
          <a:noFill/>
          <a:ln w="9525">
            <a:noFill/>
            <a:miter lim="800000"/>
            <a:headEnd/>
            <a:tailEnd/>
          </a:ln>
        </p:spPr>
      </p:pic>
      <p:grpSp>
        <p:nvGrpSpPr>
          <p:cNvPr id="4" name="Group 4"/>
          <p:cNvGrpSpPr/>
          <p:nvPr/>
        </p:nvGrpSpPr>
        <p:grpSpPr>
          <a:xfrm>
            <a:off x="228600" y="1752600"/>
            <a:ext cx="4267200" cy="4332287"/>
            <a:chOff x="4876800" y="2133600"/>
            <a:chExt cx="4267200" cy="4332287"/>
          </a:xfrm>
        </p:grpSpPr>
        <p:pic>
          <p:nvPicPr>
            <p:cNvPr id="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b="1694"/>
            <a:stretch>
              <a:fillRect/>
            </a:stretch>
          </p:blipFill>
          <p:spPr bwMode="auto">
            <a:xfrm>
              <a:off x="4876800" y="2133600"/>
              <a:ext cx="4267200" cy="433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val 6"/>
            <p:cNvSpPr/>
            <p:nvPr/>
          </p:nvSpPr>
          <p:spPr>
            <a:xfrm>
              <a:off x="6477000" y="3352800"/>
              <a:ext cx="4572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Wien Bridge oscillator</a:t>
            </a:r>
            <a:br>
              <a:rPr lang="en-US" dirty="0"/>
            </a:br>
            <a:r>
              <a:rPr lang="en-US" sz="2700" dirty="0">
                <a:solidFill>
                  <a:srgbClr val="0070C0"/>
                </a:solidFill>
              </a:rPr>
              <a:t>(</a:t>
            </a:r>
            <a:r>
              <a:rPr lang="pl-PL" sz="2700" dirty="0">
                <a:solidFill>
                  <a:srgbClr val="0070C0"/>
                </a:solidFill>
              </a:rPr>
              <a:t>20 Hz to 20 kHz</a:t>
            </a:r>
            <a:r>
              <a:rPr lang="en-US" sz="2700" dirty="0">
                <a:solidFill>
                  <a:srgbClr val="0070C0"/>
                </a:solidFill>
              </a:rPr>
              <a:t>)</a:t>
            </a:r>
          </a:p>
        </p:txBody>
      </p:sp>
      <p:sp>
        <p:nvSpPr>
          <p:cNvPr id="5" name="Rectangle 4"/>
          <p:cNvSpPr/>
          <p:nvPr/>
        </p:nvSpPr>
        <p:spPr>
          <a:xfrm>
            <a:off x="0" y="1752600"/>
            <a:ext cx="9144000" cy="461665"/>
          </a:xfrm>
          <a:prstGeom prst="rect">
            <a:avLst/>
          </a:prstGeom>
        </p:spPr>
        <p:txBody>
          <a:bodyPr wrap="square">
            <a:spAutoFit/>
          </a:bodyPr>
          <a:lstStyle/>
          <a:p>
            <a:pPr algn="just"/>
            <a:r>
              <a:rPr lang="en-US" altLang="en-US" sz="2400"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Low frequency R C  audio oscillator. </a:t>
            </a:r>
          </a:p>
        </p:txBody>
      </p:sp>
      <p:graphicFrame>
        <p:nvGraphicFramePr>
          <p:cNvPr id="11" name="Object 10"/>
          <p:cNvGraphicFramePr>
            <a:graphicFrameLocks noChangeAspect="1"/>
          </p:cNvGraphicFramePr>
          <p:nvPr/>
        </p:nvGraphicFramePr>
        <p:xfrm>
          <a:off x="838200" y="3733800"/>
          <a:ext cx="990600" cy="180975"/>
        </p:xfrm>
        <a:graphic>
          <a:graphicData uri="http://schemas.openxmlformats.org/presentationml/2006/ole">
            <mc:AlternateContent xmlns:mc="http://schemas.openxmlformats.org/markup-compatibility/2006">
              <mc:Choice xmlns:v="urn:schemas-microsoft-com:vml" Requires="v">
                <p:oleObj name="Equation" r:id="rId2" imgW="438364" imgH="657546" progId="">
                  <p:embed/>
                </p:oleObj>
              </mc:Choice>
              <mc:Fallback>
                <p:oleObj name="Equation" r:id="rId2" imgW="438364" imgH="657546" progId="">
                  <p:embed/>
                  <p:pic>
                    <p:nvPicPr>
                      <p:cNvPr id="11"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733800"/>
                        <a:ext cx="990600" cy="180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p:cNvGraphicFramePr>
            <a:graphicFrameLocks noChangeAspect="1"/>
          </p:cNvGraphicFramePr>
          <p:nvPr/>
        </p:nvGraphicFramePr>
        <p:xfrm>
          <a:off x="381000" y="3581400"/>
          <a:ext cx="3757613" cy="1752600"/>
        </p:xfrm>
        <a:graphic>
          <a:graphicData uri="http://schemas.openxmlformats.org/presentationml/2006/ole">
            <mc:AlternateContent xmlns:mc="http://schemas.openxmlformats.org/markup-compatibility/2006">
              <mc:Choice xmlns:v="urn:schemas-microsoft-com:vml" Requires="v">
                <p:oleObj name="Equation" r:id="rId4" imgW="1459866" imgH="850531" progId="">
                  <p:embed/>
                </p:oleObj>
              </mc:Choice>
              <mc:Fallback>
                <p:oleObj name="Equation" r:id="rId4" imgW="1459866" imgH="850531" progId="">
                  <p:embed/>
                  <p:pic>
                    <p:nvPicPr>
                      <p:cNvPr id="12"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3581400"/>
                        <a:ext cx="3757613" cy="175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12"/>
          <p:cNvGrpSpPr/>
          <p:nvPr/>
        </p:nvGrpSpPr>
        <p:grpSpPr>
          <a:xfrm>
            <a:off x="4876800" y="2220913"/>
            <a:ext cx="4267200" cy="4332287"/>
            <a:chOff x="4876800" y="2133600"/>
            <a:chExt cx="4267200" cy="4332287"/>
          </a:xfrm>
        </p:grpSpPr>
        <p:pic>
          <p:nvPicPr>
            <p:cNvPr id="14"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b="1694"/>
            <a:stretch>
              <a:fillRect/>
            </a:stretch>
          </p:blipFill>
          <p:spPr bwMode="auto">
            <a:xfrm>
              <a:off x="4876800" y="2133600"/>
              <a:ext cx="4267200" cy="433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Oval 15"/>
            <p:cNvSpPr/>
            <p:nvPr/>
          </p:nvSpPr>
          <p:spPr>
            <a:xfrm>
              <a:off x="6477000" y="3352800"/>
              <a:ext cx="457200" cy="4572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18"/>
          <p:cNvGrpSpPr/>
          <p:nvPr/>
        </p:nvGrpSpPr>
        <p:grpSpPr>
          <a:xfrm>
            <a:off x="0" y="3124200"/>
            <a:ext cx="8534400" cy="2438400"/>
            <a:chOff x="0" y="3124200"/>
            <a:chExt cx="8534400" cy="2438400"/>
          </a:xfrm>
        </p:grpSpPr>
        <p:sp>
          <p:nvSpPr>
            <p:cNvPr id="8" name="Rectangle 7"/>
            <p:cNvSpPr/>
            <p:nvPr/>
          </p:nvSpPr>
          <p:spPr>
            <a:xfrm>
              <a:off x="0" y="3124200"/>
              <a:ext cx="4865434" cy="461665"/>
            </a:xfrm>
            <a:prstGeom prst="rect">
              <a:avLst/>
            </a:prstGeom>
          </p:spPr>
          <p:txBody>
            <a:bodyPr wrap="none">
              <a:spAutoFit/>
            </a:bodyPr>
            <a:lstStyle/>
            <a:p>
              <a:pPr algn="just"/>
              <a:r>
                <a:rPr lang="en-US" sz="2400" dirty="0">
                  <a:effectLst>
                    <a:outerShdw blurRad="38100" dist="38100" dir="2700000" algn="tl">
                      <a:srgbClr val="000000">
                        <a:alpha val="43137"/>
                      </a:srgbClr>
                    </a:outerShdw>
                  </a:effectLst>
                  <a:latin typeface="Times New Roman" pitchFamily="18" charset="0"/>
                  <a:cs typeface="Times New Roman" pitchFamily="18" charset="0"/>
                </a:rPr>
                <a:t>Uses Lead- Lag network in Feedback </a:t>
              </a:r>
            </a:p>
          </p:txBody>
        </p:sp>
        <p:sp>
          <p:nvSpPr>
            <p:cNvPr id="17" name="Rectangle 16"/>
            <p:cNvSpPr/>
            <p:nvPr/>
          </p:nvSpPr>
          <p:spPr>
            <a:xfrm>
              <a:off x="7010400" y="4953000"/>
              <a:ext cx="15240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Times New Roman" pitchFamily="18" charset="0"/>
                  <a:cs typeface="Times New Roman" pitchFamily="18" charset="0"/>
                </a:rPr>
                <a:t>Lead Circuit</a:t>
              </a:r>
            </a:p>
          </p:txBody>
        </p:sp>
        <p:sp>
          <p:nvSpPr>
            <p:cNvPr id="18" name="Rectangle 17"/>
            <p:cNvSpPr/>
            <p:nvPr/>
          </p:nvSpPr>
          <p:spPr>
            <a:xfrm>
              <a:off x="5486400" y="4572000"/>
              <a:ext cx="15240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Times New Roman" pitchFamily="18" charset="0"/>
                  <a:cs typeface="Times New Roman" pitchFamily="18" charset="0"/>
                </a:rPr>
                <a:t>Lag Circuit</a:t>
              </a:r>
            </a:p>
          </p:txBody>
        </p:sp>
      </p:grpSp>
      <p:graphicFrame>
        <p:nvGraphicFramePr>
          <p:cNvPr id="6148" name="Object 4"/>
          <p:cNvGraphicFramePr>
            <a:graphicFrameLocks noChangeAspect="1"/>
          </p:cNvGraphicFramePr>
          <p:nvPr/>
        </p:nvGraphicFramePr>
        <p:xfrm>
          <a:off x="685800" y="5638800"/>
          <a:ext cx="1404938" cy="674687"/>
        </p:xfrm>
        <a:graphic>
          <a:graphicData uri="http://schemas.openxmlformats.org/presentationml/2006/ole">
            <mc:AlternateContent xmlns:mc="http://schemas.openxmlformats.org/markup-compatibility/2006">
              <mc:Choice xmlns:v="urn:schemas-microsoft-com:vml" Requires="v">
                <p:oleObj name="Equation" r:id="rId7" imgW="545863" imgH="380835" progId="">
                  <p:embed/>
                </p:oleObj>
              </mc:Choice>
              <mc:Fallback>
                <p:oleObj name="Equation" r:id="rId7" imgW="545863" imgH="380835" progId="">
                  <p:embed/>
                  <p:pic>
                    <p:nvPicPr>
                      <p:cNvPr id="6148"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5638800"/>
                        <a:ext cx="1404938" cy="674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148"/>
                                        </p:tgtEl>
                                        <p:attrNameLst>
                                          <p:attrName>style.visibility</p:attrName>
                                        </p:attrNameLst>
                                      </p:cBhvr>
                                      <p:to>
                                        <p:strVal val="visible"/>
                                      </p:to>
                                    </p:set>
                                    <p:animEffect transition="in" filter="blinds(horizontal)">
                                      <p:cBhvr>
                                        <p:cTn id="22"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67000"/>
            <a:ext cx="8229600" cy="2925763"/>
          </a:xfrm>
        </p:spPr>
        <p:txBody>
          <a:bodyPr>
            <a:normAutofit fontScale="77500" lnSpcReduction="20000"/>
          </a:bodyPr>
          <a:lstStyle/>
          <a:p>
            <a:pPr marL="0" indent="0" algn="just">
              <a:buNone/>
            </a:pPr>
            <a:r>
              <a:rPr lang="en-US" altLang="en-US" dirty="0"/>
              <a:t>But  at the frequency of oscillation, </a:t>
            </a:r>
            <a:r>
              <a:rPr lang="en-US" altLang="en-US" i="1" dirty="0"/>
              <a:t>T</a:t>
            </a:r>
            <a:r>
              <a:rPr lang="en-US" altLang="en-US" dirty="0"/>
              <a:t>(</a:t>
            </a:r>
            <a:r>
              <a:rPr lang="en-US" altLang="en-US" i="1" dirty="0"/>
              <a:t>j</a:t>
            </a:r>
            <a:r>
              <a:rPr lang="en-US" altLang="en-US" i="1" dirty="0">
                <a:sym typeface="Symbol" panose="05050102010706020507" pitchFamily="18" charset="2"/>
              </a:rPr>
              <a:t></a:t>
            </a:r>
            <a:r>
              <a:rPr lang="en-US" altLang="en-US" dirty="0">
                <a:sym typeface="Symbol" panose="05050102010706020507" pitchFamily="18" charset="2"/>
              </a:rPr>
              <a:t>) must be real (</a:t>
            </a:r>
            <a:r>
              <a:rPr lang="en-US" altLang="en-US" dirty="0">
                <a:solidFill>
                  <a:srgbClr val="FF0000"/>
                </a:solidFill>
                <a:sym typeface="Symbol" panose="05050102010706020507" pitchFamily="18" charset="2"/>
              </a:rPr>
              <a:t>for zero phase condition</a:t>
            </a:r>
            <a:r>
              <a:rPr lang="en-US" altLang="en-US" dirty="0">
                <a:sym typeface="Symbol" panose="05050102010706020507" pitchFamily="18" charset="2"/>
              </a:rPr>
              <a:t>), the imaginary component must be zero;</a:t>
            </a:r>
          </a:p>
          <a:p>
            <a:pPr>
              <a:buNone/>
            </a:pPr>
            <a:endParaRPr lang="en-US" altLang="en-US" dirty="0">
              <a:sym typeface="Symbol" panose="05050102010706020507" pitchFamily="18" charset="2"/>
            </a:endParaRPr>
          </a:p>
          <a:p>
            <a:pPr>
              <a:buNone/>
            </a:pPr>
            <a:endParaRPr lang="en-US" altLang="en-US" dirty="0">
              <a:sym typeface="Symbol" panose="05050102010706020507" pitchFamily="18" charset="2"/>
            </a:endParaRPr>
          </a:p>
          <a:p>
            <a:pPr>
              <a:buNone/>
            </a:pPr>
            <a:endParaRPr lang="en-US" altLang="en-US" dirty="0">
              <a:sym typeface="Symbol" panose="05050102010706020507" pitchFamily="18" charset="2"/>
            </a:endParaRPr>
          </a:p>
          <a:p>
            <a:pPr>
              <a:buNone/>
            </a:pPr>
            <a:endParaRPr lang="en-US" altLang="en-US" dirty="0">
              <a:sym typeface="Symbol" panose="05050102010706020507" pitchFamily="18" charset="2"/>
            </a:endParaRPr>
          </a:p>
          <a:p>
            <a:pPr>
              <a:buNone/>
            </a:pPr>
            <a:r>
              <a:rPr lang="en-US" altLang="en-US" dirty="0">
                <a:sym typeface="Symbol" panose="05050102010706020507" pitchFamily="18" charset="2"/>
              </a:rPr>
              <a:t>   </a:t>
            </a:r>
          </a:p>
          <a:p>
            <a:endParaRPr lang="en-US" dirty="0"/>
          </a:p>
        </p:txBody>
      </p:sp>
      <p:graphicFrame>
        <p:nvGraphicFramePr>
          <p:cNvPr id="7170" name="Object 2"/>
          <p:cNvGraphicFramePr>
            <a:graphicFrameLocks noChangeAspect="1"/>
          </p:cNvGraphicFramePr>
          <p:nvPr/>
        </p:nvGraphicFramePr>
        <p:xfrm>
          <a:off x="1219200" y="3581400"/>
          <a:ext cx="6042025" cy="901700"/>
        </p:xfrm>
        <a:graphic>
          <a:graphicData uri="http://schemas.openxmlformats.org/presentationml/2006/ole">
            <mc:AlternateContent xmlns:mc="http://schemas.openxmlformats.org/markup-compatibility/2006">
              <mc:Choice xmlns:v="urn:schemas-microsoft-com:vml" Requires="v">
                <p:oleObj name="Equation" r:id="rId2" imgW="2438400" imgH="368300" progId="">
                  <p:embed/>
                </p:oleObj>
              </mc:Choice>
              <mc:Fallback>
                <p:oleObj name="Equation" r:id="rId2" imgW="2438400" imgH="368300" progId="">
                  <p:embed/>
                  <p:pic>
                    <p:nvPicPr>
                      <p:cNvPr id="717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581400"/>
                        <a:ext cx="6042025" cy="901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1" name="Object 3"/>
          <p:cNvGraphicFramePr>
            <a:graphicFrameLocks noChangeAspect="1"/>
          </p:cNvGraphicFramePr>
          <p:nvPr/>
        </p:nvGraphicFramePr>
        <p:xfrm>
          <a:off x="1284288" y="1371600"/>
          <a:ext cx="6346825" cy="1123950"/>
        </p:xfrm>
        <a:graphic>
          <a:graphicData uri="http://schemas.openxmlformats.org/presentationml/2006/ole">
            <mc:AlternateContent xmlns:mc="http://schemas.openxmlformats.org/markup-compatibility/2006">
              <mc:Choice xmlns:v="urn:schemas-microsoft-com:vml" Requires="v">
                <p:oleObj name="Equation" r:id="rId4" imgW="2222500" imgH="406400" progId="">
                  <p:embed/>
                </p:oleObj>
              </mc:Choice>
              <mc:Fallback>
                <p:oleObj name="Equation" r:id="rId4" imgW="2222500" imgH="406400" progId="">
                  <p:embed/>
                  <p:pic>
                    <p:nvPicPr>
                      <p:cNvPr id="717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4288" y="1371600"/>
                        <a:ext cx="6346825" cy="1123950"/>
                      </a:xfrm>
                      <a:prstGeom prst="rect">
                        <a:avLst/>
                      </a:prstGeom>
                      <a:solidFill>
                        <a:schemeClr val="bg1"/>
                      </a:solidFill>
                    </p:spPr>
                  </p:pic>
                </p:oleObj>
              </mc:Fallback>
            </mc:AlternateContent>
          </a:graphicData>
        </a:graphic>
      </p:graphicFrame>
      <p:graphicFrame>
        <p:nvGraphicFramePr>
          <p:cNvPr id="7172" name="Object 4"/>
          <p:cNvGraphicFramePr>
            <a:graphicFrameLocks noChangeAspect="1"/>
          </p:cNvGraphicFramePr>
          <p:nvPr/>
        </p:nvGraphicFramePr>
        <p:xfrm>
          <a:off x="2057400" y="5410200"/>
          <a:ext cx="4135437" cy="1087437"/>
        </p:xfrm>
        <a:graphic>
          <a:graphicData uri="http://schemas.openxmlformats.org/presentationml/2006/ole">
            <mc:AlternateContent xmlns:mc="http://schemas.openxmlformats.org/markup-compatibility/2006">
              <mc:Choice xmlns:v="urn:schemas-microsoft-com:vml" Requires="v">
                <p:oleObj name="Equation" r:id="rId6" imgW="1473200" imgH="393700" progId="">
                  <p:embed/>
                </p:oleObj>
              </mc:Choice>
              <mc:Fallback>
                <p:oleObj name="Equation" r:id="rId6" imgW="1473200" imgH="393700" progId="">
                  <p:embed/>
                  <p:pic>
                    <p:nvPicPr>
                      <p:cNvPr id="7172"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7400" y="5410200"/>
                        <a:ext cx="4135437" cy="1087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3" name="Object 5"/>
          <p:cNvGraphicFramePr>
            <a:graphicFrameLocks noChangeAspect="1"/>
          </p:cNvGraphicFramePr>
          <p:nvPr/>
        </p:nvGraphicFramePr>
        <p:xfrm>
          <a:off x="5832475" y="5114925"/>
          <a:ext cx="284163" cy="387350"/>
        </p:xfrm>
        <a:graphic>
          <a:graphicData uri="http://schemas.openxmlformats.org/presentationml/2006/ole">
            <mc:AlternateContent xmlns:mc="http://schemas.openxmlformats.org/markup-compatibility/2006">
              <mc:Choice xmlns:v="urn:schemas-microsoft-com:vml" Requires="v">
                <p:oleObj name="Equation" r:id="rId8" imgW="101556" imgH="139639" progId="">
                  <p:embed/>
                </p:oleObj>
              </mc:Choice>
              <mc:Fallback>
                <p:oleObj name="Equation" r:id="rId8" imgW="101556" imgH="139639" progId="">
                  <p:embed/>
                  <p:pic>
                    <p:nvPicPr>
                      <p:cNvPr id="7173"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32475" y="5114925"/>
                        <a:ext cx="284163"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p:cNvSpPr/>
          <p:nvPr/>
        </p:nvSpPr>
        <p:spPr>
          <a:xfrm>
            <a:off x="533400" y="4953000"/>
            <a:ext cx="8305800" cy="461665"/>
          </a:xfrm>
          <a:prstGeom prst="rect">
            <a:avLst/>
          </a:prstGeom>
        </p:spPr>
        <p:txBody>
          <a:bodyPr wrap="square">
            <a:spAutoFit/>
          </a:bodyPr>
          <a:lstStyle/>
          <a:p>
            <a:pPr>
              <a:buNone/>
            </a:pPr>
            <a:r>
              <a:rPr lang="en-US" altLang="en-US" sz="2400" dirty="0">
                <a:latin typeface="Times New Roman" pitchFamily="18" charset="0"/>
                <a:cs typeface="Times New Roman" pitchFamily="18" charset="0"/>
                <a:sym typeface="Symbol" panose="05050102010706020507" pitchFamily="18" charset="2"/>
              </a:rPr>
              <a:t>By substituting the above in Eqn.1 for magnitude condition </a:t>
            </a:r>
          </a:p>
        </p:txBody>
      </p:sp>
      <p:sp>
        <p:nvSpPr>
          <p:cNvPr id="10" name="Title 1"/>
          <p:cNvSpPr>
            <a:spLocks noGrp="1"/>
          </p:cNvSpPr>
          <p:nvPr>
            <p:ph type="title"/>
          </p:nvPr>
        </p:nvSpPr>
        <p:spPr>
          <a:xfrm>
            <a:off x="457200" y="274638"/>
            <a:ext cx="8229600" cy="1143000"/>
          </a:xfrm>
        </p:spPr>
        <p:txBody>
          <a:bodyPr/>
          <a:lstStyle/>
          <a:p>
            <a:r>
              <a:rPr lang="en-US" dirty="0"/>
              <a:t>Analysis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blinds(horizontal)">
                                      <p:cBhvr>
                                        <p:cTn id="7" dur="500"/>
                                        <p:tgtEl>
                                          <p:spTgt spid="717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170"/>
                                        </p:tgtEl>
                                        <p:attrNameLst>
                                          <p:attrName>style.visibility</p:attrName>
                                        </p:attrNameLst>
                                      </p:cBhvr>
                                      <p:to>
                                        <p:strVal val="visible"/>
                                      </p:to>
                                    </p:set>
                                    <p:animEffect transition="in" filter="blinds(horizontal)">
                                      <p:cBhvr>
                                        <p:cTn id="17" dur="500"/>
                                        <p:tgtEl>
                                          <p:spTgt spid="717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172"/>
                                        </p:tgtEl>
                                        <p:attrNameLst>
                                          <p:attrName>style.visibility</p:attrName>
                                        </p:attrNameLst>
                                      </p:cBhvr>
                                      <p:to>
                                        <p:strVal val="visible"/>
                                      </p:to>
                                    </p:set>
                                    <p:animEffect transition="in" filter="blinds(horizontal)">
                                      <p:cBhvr>
                                        <p:cTn id="27" dur="500"/>
                                        <p:tgtEl>
                                          <p:spTgt spid="7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Procedure</a:t>
            </a:r>
          </a:p>
        </p:txBody>
      </p:sp>
      <p:sp>
        <p:nvSpPr>
          <p:cNvPr id="3" name="Content Placeholder 2"/>
          <p:cNvSpPr>
            <a:spLocks noGrp="1"/>
          </p:cNvSpPr>
          <p:nvPr>
            <p:ph idx="1"/>
          </p:nvPr>
        </p:nvSpPr>
        <p:spPr>
          <a:xfrm>
            <a:off x="457200" y="1371600"/>
            <a:ext cx="8229600" cy="3048000"/>
          </a:xfrm>
        </p:spPr>
        <p:txBody>
          <a:bodyPr>
            <a:normAutofit/>
          </a:bodyPr>
          <a:lstStyle/>
          <a:p>
            <a:pPr>
              <a:lnSpc>
                <a:spcPct val="150000"/>
              </a:lnSpc>
            </a:pPr>
            <a:r>
              <a:rPr lang="en-US" sz="2800" dirty="0"/>
              <a:t>Choose C</a:t>
            </a:r>
          </a:p>
          <a:p>
            <a:pPr>
              <a:lnSpc>
                <a:spcPct val="150000"/>
              </a:lnSpc>
            </a:pPr>
            <a:r>
              <a:rPr lang="en-US" sz="2800" dirty="0"/>
              <a:t>Obtain suitable </a:t>
            </a:r>
            <a:r>
              <a:rPr lang="en-US" sz="2800" dirty="0">
                <a:solidFill>
                  <a:srgbClr val="FF0000"/>
                </a:solidFill>
              </a:rPr>
              <a:t>R </a:t>
            </a:r>
            <a:r>
              <a:rPr lang="en-US" sz="2800" dirty="0"/>
              <a:t> depending on </a:t>
            </a:r>
            <a:r>
              <a:rPr lang="en-US" sz="2800" dirty="0">
                <a:solidFill>
                  <a:srgbClr val="FF0000"/>
                </a:solidFill>
              </a:rPr>
              <a:t>f</a:t>
            </a:r>
            <a:r>
              <a:rPr lang="en-US" sz="2800" baseline="-25000" dirty="0">
                <a:solidFill>
                  <a:srgbClr val="FF0000"/>
                </a:solidFill>
              </a:rPr>
              <a:t>0.</a:t>
            </a:r>
          </a:p>
          <a:p>
            <a:pPr>
              <a:lnSpc>
                <a:spcPct val="150000"/>
              </a:lnSpc>
            </a:pPr>
            <a:r>
              <a:rPr lang="en-US" sz="2800" dirty="0">
                <a:solidFill>
                  <a:srgbClr val="FF0000"/>
                </a:solidFill>
              </a:rPr>
              <a:t>Choose suitable R</a:t>
            </a:r>
            <a:r>
              <a:rPr lang="en-US" sz="2800" baseline="-25000" dirty="0">
                <a:solidFill>
                  <a:srgbClr val="FF0000"/>
                </a:solidFill>
              </a:rPr>
              <a:t>1</a:t>
            </a:r>
            <a:r>
              <a:rPr lang="en-US" sz="2800" dirty="0">
                <a:solidFill>
                  <a:srgbClr val="FF0000"/>
                </a:solidFill>
              </a:rPr>
              <a:t> </a:t>
            </a:r>
          </a:p>
          <a:p>
            <a:pPr>
              <a:lnSpc>
                <a:spcPct val="150000"/>
              </a:lnSpc>
            </a:pPr>
            <a:r>
              <a:rPr lang="en-US" sz="2800" dirty="0">
                <a:solidFill>
                  <a:srgbClr val="FF0000"/>
                </a:solidFill>
              </a:rPr>
              <a:t>Obtain R</a:t>
            </a:r>
            <a:r>
              <a:rPr lang="en-US" sz="2800" baseline="-25000" dirty="0">
                <a:solidFill>
                  <a:srgbClr val="FF0000"/>
                </a:solidFill>
              </a:rPr>
              <a:t>2</a:t>
            </a:r>
            <a:r>
              <a:rPr lang="en-US" sz="2800" dirty="0">
                <a:solidFill>
                  <a:srgbClr val="FF0000"/>
                </a:solidFill>
              </a:rPr>
              <a:t>=2 R</a:t>
            </a:r>
            <a:r>
              <a:rPr lang="en-US" sz="2800" baseline="-25000" dirty="0">
                <a:solidFill>
                  <a:srgbClr val="FF0000"/>
                </a:solidFill>
              </a:rPr>
              <a:t>1</a:t>
            </a:r>
            <a:r>
              <a:rPr lang="en-US" sz="2800" dirty="0"/>
              <a:t> </a:t>
            </a:r>
          </a:p>
        </p:txBody>
      </p:sp>
      <p:sp>
        <p:nvSpPr>
          <p:cNvPr id="4" name="Rectangle 3"/>
          <p:cNvSpPr/>
          <p:nvPr/>
        </p:nvSpPr>
        <p:spPr>
          <a:xfrm>
            <a:off x="0" y="4419600"/>
            <a:ext cx="9144000" cy="1384995"/>
          </a:xfrm>
          <a:prstGeom prst="rect">
            <a:avLst/>
          </a:prstGeom>
        </p:spPr>
        <p:txBody>
          <a:bodyPr wrap="square">
            <a:spAutoFit/>
          </a:bodyPr>
          <a:lstStyle/>
          <a:p>
            <a:pPr algn="just">
              <a:lnSpc>
                <a:spcPct val="150000"/>
              </a:lnSpc>
            </a:pPr>
            <a:r>
              <a:rPr lang="en-US" sz="2800" dirty="0">
                <a:solidFill>
                  <a:srgbClr val="00B050"/>
                </a:solidFill>
                <a:effectLst>
                  <a:outerShdw blurRad="38100" dist="38100" dir="2700000" algn="tl">
                    <a:srgbClr val="000000">
                      <a:alpha val="43137"/>
                    </a:srgbClr>
                  </a:outerShdw>
                </a:effectLst>
                <a:latin typeface="Times New Roman" pitchFamily="18" charset="0"/>
                <a:cs typeface="Times New Roman" pitchFamily="18" charset="0"/>
              </a:rPr>
              <a:t>Design a Wien bridge oscillator at 1 kHz and test the circuit using </a:t>
            </a:r>
            <a:r>
              <a:rPr lang="en-US" sz="2800"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My </a:t>
            </a:r>
            <a:r>
              <a:rPr lang="en-US" sz="2800"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Daq</a:t>
            </a:r>
            <a:r>
              <a:rPr lang="en-US" sz="2800"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800"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800"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Multisim</a:t>
            </a:r>
            <a:r>
              <a:rPr lang="en-US"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a:t>
            </a:r>
          </a:p>
        </p:txBody>
      </p:sp>
      <p:sp>
        <p:nvSpPr>
          <p:cNvPr id="5" name="Rectangle 4"/>
          <p:cNvSpPr/>
          <p:nvPr/>
        </p:nvSpPr>
        <p:spPr>
          <a:xfrm>
            <a:off x="0" y="5791200"/>
            <a:ext cx="9144000" cy="738664"/>
          </a:xfrm>
          <a:prstGeom prst="rect">
            <a:avLst/>
          </a:prstGeom>
        </p:spPr>
        <p:txBody>
          <a:bodyPr wrap="square">
            <a:spAutoFit/>
          </a:bodyPr>
          <a:lstStyle/>
          <a:p>
            <a:pPr algn="just">
              <a:lnSpc>
                <a:spcPct val="150000"/>
              </a:lnSpc>
            </a:pPr>
            <a:r>
              <a:rPr lang="en-US"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C=0.01µF, R=15.915 k </a:t>
            </a:r>
            <a:r>
              <a:rPr lang="el-GR"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Ω</a:t>
            </a:r>
            <a:r>
              <a:rPr lang="en-US"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R</a:t>
            </a:r>
            <a:r>
              <a:rPr lang="en-US" sz="2800" baseline="-250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1</a:t>
            </a:r>
            <a:r>
              <a:rPr lang="en-US"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=10k</a:t>
            </a:r>
            <a:r>
              <a:rPr lang="el-GR"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Ω</a:t>
            </a:r>
            <a:r>
              <a:rPr lang="en-US"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R</a:t>
            </a:r>
            <a:r>
              <a:rPr lang="en-US" sz="2800" baseline="-250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2</a:t>
            </a:r>
            <a:r>
              <a:rPr lang="en-US"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=20k</a:t>
            </a:r>
            <a:r>
              <a:rPr lang="el-GR"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Ω</a:t>
            </a:r>
            <a:r>
              <a:rPr lang="en-US"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Gain Stabilization</a:t>
            </a:r>
          </a:p>
        </p:txBody>
      </p:sp>
      <p:pic>
        <p:nvPicPr>
          <p:cNvPr id="4" name="Picture 2"/>
          <p:cNvPicPr>
            <a:picLocks noChangeAspect="1" noChangeArrowheads="1"/>
          </p:cNvPicPr>
          <p:nvPr/>
        </p:nvPicPr>
        <p:blipFill>
          <a:blip r:embed="rId2" cstate="print"/>
          <a:srcRect/>
          <a:stretch>
            <a:fillRect/>
          </a:stretch>
        </p:blipFill>
        <p:spPr bwMode="auto">
          <a:xfrm>
            <a:off x="2286000" y="1295400"/>
            <a:ext cx="4524375" cy="4928788"/>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rgbClr val="FF0000"/>
                </a:solidFill>
                <a:latin typeface="Algerian" pitchFamily="82" charset="0"/>
              </a:rPr>
              <a:t>Give it a Thought!!!</a:t>
            </a:r>
          </a:p>
        </p:txBody>
      </p:sp>
      <p:sp>
        <p:nvSpPr>
          <p:cNvPr id="3" name="Content Placeholder 2"/>
          <p:cNvSpPr>
            <a:spLocks noGrp="1"/>
          </p:cNvSpPr>
          <p:nvPr>
            <p:ph idx="1"/>
          </p:nvPr>
        </p:nvSpPr>
        <p:spPr/>
        <p:txBody>
          <a:bodyPr/>
          <a:lstStyle/>
          <a:p>
            <a:pPr algn="just"/>
            <a:r>
              <a:rPr lang="en-US" sz="3600" dirty="0">
                <a:solidFill>
                  <a:srgbClr val="0070C0"/>
                </a:solidFill>
                <a:effectLst>
                  <a:outerShdw blurRad="38100" dist="38100" dir="2700000" algn="tl">
                    <a:srgbClr val="000000">
                      <a:alpha val="43137"/>
                    </a:srgbClr>
                  </a:outerShdw>
                </a:effectLst>
              </a:rPr>
              <a:t>How can you obtain a square wave of same frequency from the above circuits?</a:t>
            </a:r>
          </a:p>
          <a:p>
            <a:endParaRPr lang="en-US" sz="3600" dirty="0"/>
          </a:p>
          <a:p>
            <a:r>
              <a:rPr lang="en-US" sz="3600" dirty="0">
                <a:solidFill>
                  <a:srgbClr val="FF0000"/>
                </a:solidFill>
                <a:effectLst>
                  <a:outerShdw blurRad="38100" dist="38100" dir="2700000" algn="tl">
                    <a:srgbClr val="000000">
                      <a:alpha val="43137"/>
                    </a:srgbClr>
                  </a:outerShdw>
                </a:effectLst>
              </a:rPr>
              <a:t>Design a circuit to obtain triangular wave using the above circuits.</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rgbClr val="FF0000"/>
                </a:solidFill>
                <a:latin typeface="Algerian" pitchFamily="82" charset="0"/>
              </a:rPr>
              <a:t>Phase Shift Oscillator</a:t>
            </a:r>
          </a:p>
        </p:txBody>
      </p:sp>
      <p:sp>
        <p:nvSpPr>
          <p:cNvPr id="5" name="Rectangle 4"/>
          <p:cNvSpPr/>
          <p:nvPr/>
        </p:nvSpPr>
        <p:spPr>
          <a:xfrm>
            <a:off x="0" y="4876800"/>
            <a:ext cx="9144000" cy="830997"/>
          </a:xfrm>
          <a:prstGeom prst="rect">
            <a:avLst/>
          </a:prstGeom>
        </p:spPr>
        <p:txBody>
          <a:bodyPr wrap="square">
            <a:spAutoFit/>
          </a:bodyPr>
          <a:lstStyle/>
          <a:p>
            <a:pPr algn="just"/>
            <a:r>
              <a:rPr lang="en-US" altLang="en-US" sz="2400" dirty="0">
                <a:latin typeface="Times New Roman" pitchFamily="18" charset="0"/>
                <a:cs typeface="Times New Roman" pitchFamily="18" charset="0"/>
              </a:rPr>
              <a:t>The phase shift oscillator utilizes </a:t>
            </a:r>
            <a:r>
              <a:rPr lang="en-US" altLang="en-US" sz="2400" b="1" dirty="0">
                <a:solidFill>
                  <a:srgbClr val="FF0000"/>
                </a:solidFill>
                <a:latin typeface="Times New Roman" pitchFamily="18" charset="0"/>
                <a:cs typeface="Times New Roman" pitchFamily="18" charset="0"/>
              </a:rPr>
              <a:t>three RC circuits</a:t>
            </a:r>
            <a:r>
              <a:rPr lang="en-US" altLang="en-US" sz="2400" dirty="0">
                <a:latin typeface="Times New Roman" pitchFamily="18" charset="0"/>
                <a:cs typeface="Times New Roman" pitchFamily="18" charset="0"/>
              </a:rPr>
              <a:t> to provide 180º phase shift </a:t>
            </a:r>
            <a:endParaRPr lang="en-US" sz="2400" dirty="0">
              <a:latin typeface="Times New Roman" pitchFamily="18" charset="0"/>
              <a:cs typeface="Times New Roman" pitchFamily="18" charset="0"/>
            </a:endParaRPr>
          </a:p>
        </p:txBody>
      </p:sp>
      <p:grpSp>
        <p:nvGrpSpPr>
          <p:cNvPr id="3" name="Group 8"/>
          <p:cNvGrpSpPr/>
          <p:nvPr/>
        </p:nvGrpSpPr>
        <p:grpSpPr>
          <a:xfrm>
            <a:off x="1219200" y="1447800"/>
            <a:ext cx="5849938" cy="2962275"/>
            <a:chOff x="1219200" y="1447800"/>
            <a:chExt cx="5849938" cy="2962275"/>
          </a:xfrm>
        </p:grpSpPr>
        <p:pic>
          <p:nvPicPr>
            <p:cNvPr id="10"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6400" y="1447800"/>
              <a:ext cx="5392738" cy="29622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cxnSp>
          <p:nvCxnSpPr>
            <p:cNvPr id="11" name="Straight Arrow Connector 10"/>
            <p:cNvCxnSpPr/>
            <p:nvPr/>
          </p:nvCxnSpPr>
          <p:spPr>
            <a:xfrm>
              <a:off x="1447800" y="2590800"/>
              <a:ext cx="0" cy="1524000"/>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219200" y="3200400"/>
              <a:ext cx="609600" cy="461665"/>
            </a:xfrm>
            <a:prstGeom prst="rect">
              <a:avLst/>
            </a:prstGeom>
            <a:solidFill>
              <a:schemeClr val="bg1">
                <a:alpha val="99000"/>
              </a:schemeClr>
            </a:solidFill>
          </p:spPr>
          <p:txBody>
            <a:bodyPr wrap="square" rtlCol="0">
              <a:spAutoFit/>
            </a:bodyPr>
            <a:lstStyle/>
            <a:p>
              <a:r>
                <a:rPr lang="en-US" sz="2400" b="1" dirty="0" err="1">
                  <a:latin typeface="Times New Roman" pitchFamily="18" charset="0"/>
                  <a:cs typeface="Times New Roman" pitchFamily="18" charset="0"/>
                </a:rPr>
                <a:t>V</a:t>
              </a:r>
              <a:r>
                <a:rPr lang="en-US" sz="2400" b="1" baseline="-25000" dirty="0" err="1">
                  <a:latin typeface="Times New Roman" pitchFamily="18" charset="0"/>
                  <a:cs typeface="Times New Roman" pitchFamily="18" charset="0"/>
                </a:rPr>
                <a:t>f</a:t>
              </a:r>
              <a:endParaRPr lang="en-US" sz="2400" b="1" baseline="-25000" dirty="0">
                <a:latin typeface="Times New Roman" pitchFamily="18" charset="0"/>
                <a:cs typeface="Times New Roman" pitchFamily="18" charset="0"/>
              </a:endParaRPr>
            </a:p>
          </p:txBody>
        </p:sp>
      </p:grpSp>
      <p:pic>
        <p:nvPicPr>
          <p:cNvPr id="14"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r="53371" b="74277"/>
          <a:stretch>
            <a:fillRect/>
          </a:stretch>
        </p:blipFill>
        <p:spPr bwMode="auto">
          <a:xfrm>
            <a:off x="228600" y="1447800"/>
            <a:ext cx="1905000" cy="76200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5"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l="9891" t="61735" r="80218" b="17687"/>
          <a:stretch>
            <a:fillRect/>
          </a:stretch>
        </p:blipFill>
        <p:spPr bwMode="auto">
          <a:xfrm>
            <a:off x="152400" y="2133600"/>
            <a:ext cx="533400" cy="609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6" name="TextBox 15"/>
          <p:cNvSpPr txBox="1"/>
          <p:nvPr/>
        </p:nvSpPr>
        <p:spPr>
          <a:xfrm>
            <a:off x="1295400" y="1524000"/>
            <a:ext cx="152400" cy="369332"/>
          </a:xfrm>
          <a:prstGeom prst="rect">
            <a:avLst/>
          </a:prstGeom>
          <a:solidFill>
            <a:schemeClr val="bg1"/>
          </a:solidFill>
        </p:spPr>
        <p:txBody>
          <a:bodyPr wrap="square" rtlCol="0">
            <a:spAutoFit/>
          </a:bodyPr>
          <a:lstStyle/>
          <a:p>
            <a:r>
              <a:rPr lang="en-US" dirty="0" err="1"/>
              <a:t>i</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l="50833" t="3659" r="3333"/>
          <a:stretch>
            <a:fillRect/>
          </a:stretch>
        </p:blipFill>
        <p:spPr bwMode="auto">
          <a:xfrm>
            <a:off x="152400" y="838200"/>
            <a:ext cx="8839200" cy="5486400"/>
          </a:xfrm>
          <a:prstGeom prst="rect">
            <a:avLst/>
          </a:prstGeom>
          <a:noFill/>
          <a:ln w="9525">
            <a:noFill/>
            <a:miter lim="800000"/>
            <a:headEnd/>
            <a:tailEnd/>
          </a:ln>
        </p:spPr>
      </p:pic>
    </p:spTree>
    <p:extLst>
      <p:ext uri="{BB962C8B-B14F-4D97-AF65-F5344CB8AC3E}">
        <p14:creationId xmlns:p14="http://schemas.microsoft.com/office/powerpoint/2010/main" val="224750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lstStyle/>
          <a:p>
            <a:r>
              <a:rPr lang="en-US" dirty="0"/>
              <a:t>Working of Phase Shift Oscillator</a:t>
            </a:r>
          </a:p>
        </p:txBody>
      </p:sp>
      <p:sp>
        <p:nvSpPr>
          <p:cNvPr id="3" name="Content Placeholder 2"/>
          <p:cNvSpPr>
            <a:spLocks noGrp="1"/>
          </p:cNvSpPr>
          <p:nvPr>
            <p:ph idx="1"/>
          </p:nvPr>
        </p:nvSpPr>
        <p:spPr/>
        <p:txBody>
          <a:bodyPr/>
          <a:lstStyle/>
          <a:p>
            <a:endParaRPr lang="en-US"/>
          </a:p>
        </p:txBody>
      </p:sp>
      <p:pic>
        <p:nvPicPr>
          <p:cNvPr id="7" name="Picture 6" descr="osc18.gif"/>
          <p:cNvPicPr>
            <a:picLocks noChangeAspect="1"/>
          </p:cNvPicPr>
          <p:nvPr/>
        </p:nvPicPr>
        <p:blipFill>
          <a:blip r:embed="rId2" cstate="print">
            <a:lum contrast="31000"/>
          </a:blip>
          <a:stretch>
            <a:fillRect/>
          </a:stretch>
        </p:blipFill>
        <p:spPr>
          <a:xfrm>
            <a:off x="212627" y="1295400"/>
            <a:ext cx="8931373" cy="4495800"/>
          </a:xfrm>
          <a:prstGeom prst="rect">
            <a:avLst/>
          </a:prstGeom>
          <a:solidFill>
            <a:schemeClr val="bg1"/>
          </a:solid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Analysis</a:t>
            </a:r>
          </a:p>
        </p:txBody>
      </p:sp>
      <p:graphicFrame>
        <p:nvGraphicFramePr>
          <p:cNvPr id="4" name="Object 3"/>
          <p:cNvGraphicFramePr>
            <a:graphicFrameLocks noChangeAspect="1"/>
          </p:cNvGraphicFramePr>
          <p:nvPr/>
        </p:nvGraphicFramePr>
        <p:xfrm>
          <a:off x="914400" y="990600"/>
          <a:ext cx="6019800" cy="2057400"/>
        </p:xfrm>
        <a:graphic>
          <a:graphicData uri="http://schemas.openxmlformats.org/presentationml/2006/ole">
            <mc:AlternateContent xmlns:mc="http://schemas.openxmlformats.org/markup-compatibility/2006">
              <mc:Choice xmlns:v="urn:schemas-microsoft-com:vml" Requires="v">
                <p:oleObj name="Equation" r:id="rId2" imgW="2374900" imgH="889000" progId="">
                  <p:embed/>
                </p:oleObj>
              </mc:Choice>
              <mc:Fallback>
                <p:oleObj name="Equation" r:id="rId2" imgW="2374900" imgH="889000" progId="">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990600"/>
                        <a:ext cx="6019800" cy="205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5" name="Object 3"/>
          <p:cNvGraphicFramePr>
            <a:graphicFrameLocks noChangeAspect="1"/>
          </p:cNvGraphicFramePr>
          <p:nvPr/>
        </p:nvGraphicFramePr>
        <p:xfrm>
          <a:off x="838200" y="3200400"/>
          <a:ext cx="6477000" cy="1569170"/>
        </p:xfrm>
        <a:graphic>
          <a:graphicData uri="http://schemas.openxmlformats.org/presentationml/2006/ole">
            <mc:AlternateContent xmlns:mc="http://schemas.openxmlformats.org/markup-compatibility/2006">
              <mc:Choice xmlns:v="urn:schemas-microsoft-com:vml" Requires="v">
                <p:oleObj name="Equation" r:id="rId4" imgW="2463800" imgH="596900" progId="">
                  <p:embed/>
                </p:oleObj>
              </mc:Choice>
              <mc:Fallback>
                <p:oleObj name="Equation" r:id="rId4" imgW="2463800" imgH="596900" progId="">
                  <p:embed/>
                  <p:pic>
                    <p:nvPicPr>
                      <p:cNvPr id="819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3200400"/>
                        <a:ext cx="6477000" cy="1569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6" name="Object 4"/>
          <p:cNvGraphicFramePr>
            <a:graphicFrameLocks noChangeAspect="1"/>
          </p:cNvGraphicFramePr>
          <p:nvPr/>
        </p:nvGraphicFramePr>
        <p:xfrm>
          <a:off x="838200" y="4800600"/>
          <a:ext cx="7086600" cy="1797399"/>
        </p:xfrm>
        <a:graphic>
          <a:graphicData uri="http://schemas.openxmlformats.org/presentationml/2006/ole">
            <mc:AlternateContent xmlns:mc="http://schemas.openxmlformats.org/markup-compatibility/2006">
              <mc:Choice xmlns:v="urn:schemas-microsoft-com:vml" Requires="v">
                <p:oleObj name="Equation" r:id="rId6" imgW="2311400" imgH="673100" progId="">
                  <p:embed/>
                </p:oleObj>
              </mc:Choice>
              <mc:Fallback>
                <p:oleObj name="Equation" r:id="rId6" imgW="2311400" imgH="673100" progId="">
                  <p:embed/>
                  <p:pic>
                    <p:nvPicPr>
                      <p:cNvPr id="819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4800600"/>
                        <a:ext cx="7086600" cy="1797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195"/>
                                        </p:tgtEl>
                                        <p:attrNameLst>
                                          <p:attrName>style.visibility</p:attrName>
                                        </p:attrNameLst>
                                      </p:cBhvr>
                                      <p:to>
                                        <p:strVal val="visible"/>
                                      </p:to>
                                    </p:set>
                                    <p:animEffect transition="in" filter="blinds(horizontal)">
                                      <p:cBhvr>
                                        <p:cTn id="12" dur="500"/>
                                        <p:tgtEl>
                                          <p:spTgt spid="819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196"/>
                                        </p:tgtEl>
                                        <p:attrNameLst>
                                          <p:attrName>style.visibility</p:attrName>
                                        </p:attrNameLst>
                                      </p:cBhvr>
                                      <p:to>
                                        <p:strVal val="visible"/>
                                      </p:to>
                                    </p:set>
                                    <p:animEffect transition="in" filter="blinds(horizontal)">
                                      <p:cBhvr>
                                        <p:cTn id="17"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Procedure</a:t>
            </a:r>
          </a:p>
        </p:txBody>
      </p:sp>
      <p:sp>
        <p:nvSpPr>
          <p:cNvPr id="3" name="Content Placeholder 2"/>
          <p:cNvSpPr>
            <a:spLocks noGrp="1"/>
          </p:cNvSpPr>
          <p:nvPr>
            <p:ph idx="1"/>
          </p:nvPr>
        </p:nvSpPr>
        <p:spPr>
          <a:xfrm>
            <a:off x="457200" y="1143000"/>
            <a:ext cx="8229600" cy="4267200"/>
          </a:xfrm>
        </p:spPr>
        <p:txBody>
          <a:bodyPr/>
          <a:lstStyle/>
          <a:p>
            <a:r>
              <a:rPr lang="en-US" sz="2800" dirty="0"/>
              <a:t>Choose a suitable ‘C’</a:t>
            </a:r>
          </a:p>
          <a:p>
            <a:endParaRPr lang="en-US" sz="2800" dirty="0"/>
          </a:p>
          <a:p>
            <a:r>
              <a:rPr lang="en-US" sz="2800" dirty="0"/>
              <a:t>Obtain ‘R’ from given</a:t>
            </a:r>
          </a:p>
          <a:p>
            <a:endParaRPr lang="en-US" sz="2800" dirty="0"/>
          </a:p>
          <a:p>
            <a:r>
              <a:rPr lang="en-US" sz="2800" dirty="0"/>
              <a:t>Choose a suitable R</a:t>
            </a:r>
            <a:r>
              <a:rPr lang="en-US" sz="2800" baseline="-25000" dirty="0"/>
              <a:t>1</a:t>
            </a:r>
            <a:r>
              <a:rPr lang="en-US" sz="2800" dirty="0"/>
              <a:t>= 10 R  (To prevent loading)</a:t>
            </a:r>
          </a:p>
          <a:p>
            <a:endParaRPr lang="en-US" sz="2800" dirty="0"/>
          </a:p>
          <a:p>
            <a:r>
              <a:rPr lang="en-US" sz="2800" dirty="0"/>
              <a:t>Obtain  </a:t>
            </a:r>
            <a:r>
              <a:rPr lang="en-US" sz="2800" dirty="0" err="1"/>
              <a:t>R</a:t>
            </a:r>
            <a:r>
              <a:rPr lang="en-US" sz="2800" baseline="-25000" dirty="0" err="1"/>
              <a:t>i</a:t>
            </a:r>
            <a:r>
              <a:rPr lang="en-US" sz="2800" dirty="0"/>
              <a:t> from </a:t>
            </a:r>
          </a:p>
          <a:p>
            <a:endParaRPr lang="en-US" sz="2800" dirty="0"/>
          </a:p>
          <a:p>
            <a:endParaRPr lang="en-US" dirty="0"/>
          </a:p>
        </p:txBody>
      </p:sp>
      <p:graphicFrame>
        <p:nvGraphicFramePr>
          <p:cNvPr id="9218" name="Object 2"/>
          <p:cNvGraphicFramePr>
            <a:graphicFrameLocks noChangeAspect="1"/>
          </p:cNvGraphicFramePr>
          <p:nvPr/>
        </p:nvGraphicFramePr>
        <p:xfrm>
          <a:off x="4343400" y="1752600"/>
          <a:ext cx="3141406" cy="1371600"/>
        </p:xfrm>
        <a:graphic>
          <a:graphicData uri="http://schemas.openxmlformats.org/presentationml/2006/ole">
            <mc:AlternateContent xmlns:mc="http://schemas.openxmlformats.org/markup-compatibility/2006">
              <mc:Choice xmlns:v="urn:schemas-microsoft-com:vml" Requires="v">
                <p:oleObj name="Equation" r:id="rId2" imgW="901309" imgH="393529" progId="">
                  <p:embed/>
                </p:oleObj>
              </mc:Choice>
              <mc:Fallback>
                <p:oleObj name="Equation" r:id="rId2" imgW="901309" imgH="393529" progId="">
                  <p:embed/>
                  <p:pic>
                    <p:nvPicPr>
                      <p:cNvPr id="921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752600"/>
                        <a:ext cx="3141406"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19" name="Object 3"/>
          <p:cNvGraphicFramePr>
            <a:graphicFrameLocks noChangeAspect="1"/>
          </p:cNvGraphicFramePr>
          <p:nvPr/>
        </p:nvGraphicFramePr>
        <p:xfrm>
          <a:off x="3152775" y="3962400"/>
          <a:ext cx="2306638" cy="895350"/>
        </p:xfrm>
        <a:graphic>
          <a:graphicData uri="http://schemas.openxmlformats.org/presentationml/2006/ole">
            <mc:AlternateContent xmlns:mc="http://schemas.openxmlformats.org/markup-compatibility/2006">
              <mc:Choice xmlns:v="urn:schemas-microsoft-com:vml" Requires="v">
                <p:oleObj name="Equation" r:id="rId4" imgW="583947" imgH="241195" progId="">
                  <p:embed/>
                </p:oleObj>
              </mc:Choice>
              <mc:Fallback>
                <p:oleObj name="Equation" r:id="rId4" imgW="583947" imgH="241195" progId="">
                  <p:embed/>
                  <p:pic>
                    <p:nvPicPr>
                      <p:cNvPr id="921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775" y="3962400"/>
                        <a:ext cx="2306638"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Rectangle 10"/>
          <p:cNvSpPr/>
          <p:nvPr/>
        </p:nvSpPr>
        <p:spPr>
          <a:xfrm>
            <a:off x="0" y="4724400"/>
            <a:ext cx="9144000" cy="1200329"/>
          </a:xfrm>
          <a:prstGeom prst="rect">
            <a:avLst/>
          </a:prstGeom>
        </p:spPr>
        <p:txBody>
          <a:bodyPr wrap="square">
            <a:spAutoFit/>
          </a:bodyPr>
          <a:lstStyle/>
          <a:p>
            <a:pPr algn="just">
              <a:tabLst>
                <a:tab pos="284163" algn="l"/>
              </a:tabLst>
            </a:pPr>
            <a:r>
              <a:rPr lang="en-US" sz="2400" dirty="0">
                <a:solidFill>
                  <a:srgbClr val="00B050"/>
                </a:solidFill>
                <a:effectLst>
                  <a:outerShdw blurRad="38100" dist="38100" dir="2700000" algn="tl">
                    <a:srgbClr val="000000">
                      <a:alpha val="43137"/>
                    </a:srgbClr>
                  </a:outerShdw>
                </a:effectLst>
                <a:latin typeface="Times New Roman" pitchFamily="18" charset="0"/>
                <a:cs typeface="Times New Roman" pitchFamily="18" charset="0"/>
              </a:rPr>
              <a:t>1. Design a R-C Phase shift oscillator at 400 Hz and test the circuit using 	</a:t>
            </a:r>
            <a:r>
              <a:rPr lang="en-US" sz="2400"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My </a:t>
            </a:r>
            <a:r>
              <a:rPr lang="en-US" sz="2400"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Daq</a:t>
            </a:r>
            <a:r>
              <a:rPr lang="en-US" sz="2400"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400"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400"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Multisim</a:t>
            </a:r>
            <a:r>
              <a:rPr lang="en-US" sz="24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a:t>
            </a:r>
          </a:p>
          <a:p>
            <a:pPr algn="just"/>
            <a:r>
              <a:rPr lang="en-US" sz="24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2. Verify the phase difference between various stages</a:t>
            </a:r>
          </a:p>
        </p:txBody>
      </p:sp>
      <p:sp>
        <p:nvSpPr>
          <p:cNvPr id="7" name="Rectangle 6"/>
          <p:cNvSpPr/>
          <p:nvPr/>
        </p:nvSpPr>
        <p:spPr>
          <a:xfrm>
            <a:off x="0" y="5815793"/>
            <a:ext cx="9144000" cy="738664"/>
          </a:xfrm>
          <a:prstGeom prst="rect">
            <a:avLst/>
          </a:prstGeom>
        </p:spPr>
        <p:txBody>
          <a:bodyPr wrap="square">
            <a:spAutoFit/>
          </a:bodyPr>
          <a:lstStyle/>
          <a:p>
            <a:pPr algn="just">
              <a:lnSpc>
                <a:spcPct val="150000"/>
              </a:lnSpc>
            </a:pPr>
            <a:r>
              <a:rPr lang="en-US"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C=0.1µF, R=1.624 k </a:t>
            </a:r>
            <a:r>
              <a:rPr lang="el-GR"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Ω</a:t>
            </a:r>
            <a:r>
              <a:rPr lang="en-US"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R</a:t>
            </a:r>
            <a:r>
              <a:rPr lang="en-US" sz="2800" baseline="-250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1</a:t>
            </a:r>
            <a:r>
              <a:rPr lang="en-US"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16.24 k</a:t>
            </a:r>
            <a:r>
              <a:rPr lang="el-GR"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Ω</a:t>
            </a:r>
            <a:r>
              <a:rPr lang="en-US"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R</a:t>
            </a:r>
            <a:r>
              <a:rPr lang="en-US" sz="2800" baseline="-250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F</a:t>
            </a:r>
            <a:r>
              <a:rPr lang="en-US"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=470.96 k</a:t>
            </a:r>
            <a:r>
              <a:rPr lang="el-GR"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Ω</a:t>
            </a:r>
            <a:r>
              <a:rPr lang="en-US" sz="2800"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7" grpId="0"/>
      <p:bldP spid="7"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rgbClr val="FF0000"/>
                </a:solidFill>
                <a:latin typeface="Algerian" pitchFamily="82" charset="0"/>
              </a:rPr>
              <a:t>Quiz</a:t>
            </a:r>
          </a:p>
        </p:txBody>
      </p:sp>
      <p:sp>
        <p:nvSpPr>
          <p:cNvPr id="3" name="Content Placeholder 2"/>
          <p:cNvSpPr>
            <a:spLocks noGrp="1"/>
          </p:cNvSpPr>
          <p:nvPr>
            <p:ph idx="1"/>
          </p:nvPr>
        </p:nvSpPr>
        <p:spPr/>
        <p:txBody>
          <a:bodyPr>
            <a:normAutofit fontScale="85000" lnSpcReduction="20000"/>
          </a:bodyPr>
          <a:lstStyle/>
          <a:p>
            <a:pPr algn="just"/>
            <a:r>
              <a:rPr lang="en-US" sz="2800" dirty="0">
                <a:solidFill>
                  <a:srgbClr val="FF0000"/>
                </a:solidFill>
              </a:rPr>
              <a:t>What happens if your interchange capacitor and resistors in   R-C phase shifting network?</a:t>
            </a:r>
          </a:p>
          <a:p>
            <a:pPr algn="just"/>
            <a:endParaRPr lang="en-US" sz="2800" dirty="0">
              <a:solidFill>
                <a:srgbClr val="FF0000"/>
              </a:solidFill>
            </a:endParaRPr>
          </a:p>
          <a:p>
            <a:pPr algn="just"/>
            <a:r>
              <a:rPr lang="en-US" sz="2800" dirty="0">
                <a:solidFill>
                  <a:srgbClr val="FF0000"/>
                </a:solidFill>
              </a:rPr>
              <a:t>Minimum How many RC networks are to be used to produce the phase shift of 180 degrees?</a:t>
            </a:r>
          </a:p>
          <a:p>
            <a:pPr algn="just"/>
            <a:endParaRPr lang="en-US" sz="2800" dirty="0">
              <a:solidFill>
                <a:srgbClr val="FF0000"/>
              </a:solidFill>
            </a:endParaRPr>
          </a:p>
          <a:p>
            <a:pPr algn="just"/>
            <a:r>
              <a:rPr lang="en-US" sz="2800" dirty="0">
                <a:solidFill>
                  <a:srgbClr val="0070C0"/>
                </a:solidFill>
              </a:rPr>
              <a:t>What is the phase shift to be obtained by each stage of a four stage R-C Phase shift oscillator?</a:t>
            </a:r>
          </a:p>
          <a:p>
            <a:pPr algn="just"/>
            <a:endParaRPr lang="en-US" sz="2800" dirty="0">
              <a:solidFill>
                <a:srgbClr val="FF0000"/>
              </a:solidFill>
            </a:endParaRPr>
          </a:p>
          <a:p>
            <a:pPr algn="just"/>
            <a:r>
              <a:rPr lang="en-US" sz="2800" dirty="0">
                <a:solidFill>
                  <a:srgbClr val="FF0000"/>
                </a:solidFill>
              </a:rPr>
              <a:t>What are the de-merits of this oscillator.</a:t>
            </a:r>
          </a:p>
          <a:p>
            <a:pPr algn="just"/>
            <a:endParaRPr lang="en-US" sz="2800" dirty="0">
              <a:solidFill>
                <a:srgbClr val="FF0000"/>
              </a:solidFill>
            </a:endParaRPr>
          </a:p>
          <a:p>
            <a:pPr algn="just"/>
            <a:r>
              <a:rPr lang="en-US" sz="2800" dirty="0">
                <a:solidFill>
                  <a:srgbClr val="0070C0"/>
                </a:solidFill>
              </a:rPr>
              <a:t>Write a note on applications of Wien bridge and R-C Phase shift oscillators.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Gain stabilization</a:t>
            </a:r>
          </a:p>
        </p:txBody>
      </p:sp>
      <p:pic>
        <p:nvPicPr>
          <p:cNvPr id="35842" name="Picture 2"/>
          <p:cNvPicPr>
            <a:picLocks noChangeAspect="1" noChangeArrowheads="1"/>
          </p:cNvPicPr>
          <p:nvPr/>
        </p:nvPicPr>
        <p:blipFill>
          <a:blip r:embed="rId2" cstate="print"/>
          <a:srcRect/>
          <a:stretch>
            <a:fillRect/>
          </a:stretch>
        </p:blipFill>
        <p:spPr bwMode="auto">
          <a:xfrm>
            <a:off x="838200" y="1600200"/>
            <a:ext cx="8077200" cy="4777906"/>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a:t>LC Oscillators</a:t>
            </a:r>
          </a:p>
        </p:txBody>
      </p:sp>
      <p:sp>
        <p:nvSpPr>
          <p:cNvPr id="56323" name="Content Placeholder 2"/>
          <p:cNvSpPr>
            <a:spLocks noGrp="1"/>
          </p:cNvSpPr>
          <p:nvPr>
            <p:ph idx="1"/>
          </p:nvPr>
        </p:nvSpPr>
        <p:spPr/>
        <p:txBody>
          <a:bodyPr/>
          <a:lstStyle/>
          <a:p>
            <a:r>
              <a:rPr lang="en-US" b="0">
                <a:solidFill>
                  <a:schemeClr val="tx1"/>
                </a:solidFill>
              </a:rPr>
              <a:t> Use transistors and LC tuned circuits or crystals in their feedback network.</a:t>
            </a:r>
          </a:p>
          <a:p>
            <a:r>
              <a:rPr lang="en-US" b="0">
                <a:solidFill>
                  <a:schemeClr val="tx1"/>
                </a:solidFill>
              </a:rPr>
              <a:t> For hundreds of kHz to hundreds of MHz frequency range.</a:t>
            </a:r>
          </a:p>
          <a:p>
            <a:r>
              <a:rPr lang="en-US" b="0">
                <a:solidFill>
                  <a:schemeClr val="tx1"/>
                </a:solidFill>
              </a:rPr>
              <a:t> Examine Colpitts, Hartley and crystal oscillator.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Colpitt’s</a:t>
            </a:r>
            <a:r>
              <a:rPr lang="en-US" dirty="0"/>
              <a:t> Oscillator</a:t>
            </a:r>
            <a:br>
              <a:rPr lang="en-US" dirty="0"/>
            </a:br>
            <a:r>
              <a:rPr lang="en-US" sz="2700" dirty="0">
                <a:solidFill>
                  <a:srgbClr val="0070C0"/>
                </a:solidFill>
              </a:rPr>
              <a:t>(100 kHz  to 100 MHz)</a:t>
            </a:r>
          </a:p>
        </p:txBody>
      </p:sp>
      <p:pic>
        <p:nvPicPr>
          <p:cNvPr id="36867" name="Picture 3"/>
          <p:cNvPicPr>
            <a:picLocks noChangeAspect="1" noChangeArrowheads="1"/>
          </p:cNvPicPr>
          <p:nvPr/>
        </p:nvPicPr>
        <p:blipFill>
          <a:blip r:embed="rId2" cstate="print"/>
          <a:srcRect r="66019"/>
          <a:stretch>
            <a:fillRect/>
          </a:stretch>
        </p:blipFill>
        <p:spPr bwMode="auto">
          <a:xfrm>
            <a:off x="1371600" y="1371600"/>
            <a:ext cx="6400800" cy="4468001"/>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a:t>
            </a:r>
          </a:p>
        </p:txBody>
      </p:sp>
      <p:pic>
        <p:nvPicPr>
          <p:cNvPr id="37890" name="Picture 2"/>
          <p:cNvPicPr>
            <a:picLocks noChangeAspect="1" noChangeArrowheads="1"/>
          </p:cNvPicPr>
          <p:nvPr/>
        </p:nvPicPr>
        <p:blipFill>
          <a:blip r:embed="rId2" cstate="print"/>
          <a:srcRect l="33039" r="41615"/>
          <a:stretch>
            <a:fillRect/>
          </a:stretch>
        </p:blipFill>
        <p:spPr bwMode="auto">
          <a:xfrm>
            <a:off x="228599" y="1219200"/>
            <a:ext cx="3844413" cy="2590800"/>
          </a:xfrm>
          <a:prstGeom prst="rect">
            <a:avLst/>
          </a:prstGeom>
          <a:noFill/>
          <a:ln w="9525">
            <a:noFill/>
            <a:miter lim="800000"/>
            <a:headEnd/>
            <a:tailEnd/>
          </a:ln>
        </p:spPr>
      </p:pic>
      <p:pic>
        <p:nvPicPr>
          <p:cNvPr id="37892" name="Picture 4"/>
          <p:cNvPicPr>
            <a:picLocks noChangeAspect="1" noChangeArrowheads="1"/>
          </p:cNvPicPr>
          <p:nvPr/>
        </p:nvPicPr>
        <p:blipFill>
          <a:blip r:embed="rId3" cstate="print">
            <a:lum contrast="69000"/>
          </a:blip>
          <a:srcRect/>
          <a:stretch>
            <a:fillRect/>
          </a:stretch>
        </p:blipFill>
        <p:spPr bwMode="auto">
          <a:xfrm>
            <a:off x="838200" y="5181600"/>
            <a:ext cx="8049986" cy="914400"/>
          </a:xfrm>
          <a:prstGeom prst="rect">
            <a:avLst/>
          </a:prstGeom>
          <a:noFill/>
          <a:ln w="9525">
            <a:noFill/>
            <a:miter lim="800000"/>
            <a:headEnd/>
            <a:tailEnd/>
          </a:ln>
        </p:spPr>
      </p:pic>
      <p:pic>
        <p:nvPicPr>
          <p:cNvPr id="37893" name="Picture 5"/>
          <p:cNvPicPr>
            <a:picLocks noChangeAspect="1" noChangeArrowheads="1"/>
          </p:cNvPicPr>
          <p:nvPr/>
        </p:nvPicPr>
        <p:blipFill>
          <a:blip r:embed="rId4" cstate="print"/>
          <a:srcRect/>
          <a:stretch>
            <a:fillRect/>
          </a:stretch>
        </p:blipFill>
        <p:spPr bwMode="auto">
          <a:xfrm>
            <a:off x="762000" y="4114800"/>
            <a:ext cx="7735614" cy="990600"/>
          </a:xfrm>
          <a:prstGeom prst="rect">
            <a:avLst/>
          </a:prstGeom>
          <a:noFill/>
          <a:ln w="9525">
            <a:noFill/>
            <a:miter lim="800000"/>
            <a:headEnd/>
            <a:tailEnd/>
          </a:ln>
        </p:spPr>
      </p:pic>
      <p:grpSp>
        <p:nvGrpSpPr>
          <p:cNvPr id="3" name="Group 9"/>
          <p:cNvGrpSpPr/>
          <p:nvPr/>
        </p:nvGrpSpPr>
        <p:grpSpPr>
          <a:xfrm>
            <a:off x="4495800" y="1219200"/>
            <a:ext cx="4419600" cy="2743200"/>
            <a:chOff x="4495800" y="914400"/>
            <a:chExt cx="4419600" cy="2743200"/>
          </a:xfrm>
        </p:grpSpPr>
        <p:pic>
          <p:nvPicPr>
            <p:cNvPr id="37891" name="Picture 3"/>
            <p:cNvPicPr>
              <a:picLocks noChangeAspect="1" noChangeArrowheads="1"/>
            </p:cNvPicPr>
            <p:nvPr/>
          </p:nvPicPr>
          <p:blipFill>
            <a:blip r:embed="rId2" cstate="print"/>
            <a:srcRect l="59423" t="40769" r="6655"/>
            <a:stretch>
              <a:fillRect/>
            </a:stretch>
          </p:blipFill>
          <p:spPr bwMode="auto">
            <a:xfrm>
              <a:off x="4495800" y="914400"/>
              <a:ext cx="4419600" cy="2743200"/>
            </a:xfrm>
            <a:prstGeom prst="rect">
              <a:avLst/>
            </a:prstGeom>
            <a:noFill/>
            <a:ln w="9525">
              <a:noFill/>
              <a:miter lim="800000"/>
              <a:headEnd/>
              <a:tailEnd/>
            </a:ln>
          </p:spPr>
        </p:pic>
        <p:pic>
          <p:nvPicPr>
            <p:cNvPr id="37895" name="Picture 7"/>
            <p:cNvPicPr>
              <a:picLocks noChangeAspect="1" noChangeArrowheads="1"/>
            </p:cNvPicPr>
            <p:nvPr/>
          </p:nvPicPr>
          <p:blipFill>
            <a:blip r:embed="rId5" cstate="print"/>
            <a:srcRect/>
            <a:stretch>
              <a:fillRect/>
            </a:stretch>
          </p:blipFill>
          <p:spPr bwMode="auto">
            <a:xfrm>
              <a:off x="6096000" y="3124200"/>
              <a:ext cx="2064026" cy="533400"/>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893"/>
                                        </p:tgtEl>
                                        <p:attrNameLst>
                                          <p:attrName>style.visibility</p:attrName>
                                        </p:attrNameLst>
                                      </p:cBhvr>
                                      <p:to>
                                        <p:strVal val="visible"/>
                                      </p:to>
                                    </p:set>
                                    <p:animEffect transition="in" filter="blinds(horizontal)">
                                      <p:cBhvr>
                                        <p:cTn id="12" dur="500"/>
                                        <p:tgtEl>
                                          <p:spTgt spid="3789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892"/>
                                        </p:tgtEl>
                                        <p:attrNameLst>
                                          <p:attrName>style.visibility</p:attrName>
                                        </p:attrNameLst>
                                      </p:cBhvr>
                                      <p:to>
                                        <p:strVal val="visible"/>
                                      </p:to>
                                    </p:set>
                                    <p:animEffect transition="in" filter="blinds(horizontal)">
                                      <p:cBhvr>
                                        <p:cTn id="17" dur="500"/>
                                        <p:tgtEl>
                                          <p:spTgt spid="37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3400" y="4114800"/>
            <a:ext cx="914400" cy="533400"/>
          </a:xfrm>
        </p:spPr>
        <p:txBody>
          <a:bodyPr>
            <a:normAutofit/>
          </a:bodyPr>
          <a:lstStyle/>
          <a:p>
            <a:r>
              <a:rPr lang="en-US" sz="2400" dirty="0"/>
              <a:t>If </a:t>
            </a:r>
          </a:p>
        </p:txBody>
      </p:sp>
      <p:pic>
        <p:nvPicPr>
          <p:cNvPr id="4" name="Picture 6"/>
          <p:cNvPicPr>
            <a:picLocks noChangeAspect="1" noChangeArrowheads="1"/>
          </p:cNvPicPr>
          <p:nvPr/>
        </p:nvPicPr>
        <p:blipFill>
          <a:blip r:embed="rId2" cstate="print"/>
          <a:srcRect/>
          <a:stretch>
            <a:fillRect/>
          </a:stretch>
        </p:blipFill>
        <p:spPr bwMode="auto">
          <a:xfrm>
            <a:off x="914400" y="381000"/>
            <a:ext cx="8229600" cy="1171575"/>
          </a:xfrm>
          <a:prstGeom prst="rect">
            <a:avLst/>
          </a:prstGeom>
          <a:noFill/>
          <a:ln w="9525">
            <a:noFill/>
            <a:miter lim="800000"/>
            <a:headEnd/>
            <a:tailEnd/>
          </a:ln>
        </p:spPr>
      </p:pic>
      <p:pic>
        <p:nvPicPr>
          <p:cNvPr id="38915" name="Picture 3"/>
          <p:cNvPicPr>
            <a:picLocks noChangeAspect="1" noChangeArrowheads="1"/>
          </p:cNvPicPr>
          <p:nvPr/>
        </p:nvPicPr>
        <p:blipFill>
          <a:blip r:embed="rId3" cstate="print"/>
          <a:srcRect/>
          <a:stretch>
            <a:fillRect/>
          </a:stretch>
        </p:blipFill>
        <p:spPr bwMode="auto">
          <a:xfrm>
            <a:off x="457200" y="3200400"/>
            <a:ext cx="7680960" cy="685800"/>
          </a:xfrm>
          <a:prstGeom prst="rect">
            <a:avLst/>
          </a:prstGeom>
          <a:noFill/>
          <a:ln w="9525">
            <a:noFill/>
            <a:miter lim="800000"/>
            <a:headEnd/>
            <a:tailEnd/>
          </a:ln>
        </p:spPr>
      </p:pic>
      <p:pic>
        <p:nvPicPr>
          <p:cNvPr id="38916" name="Picture 4"/>
          <p:cNvPicPr>
            <a:picLocks noChangeAspect="1" noChangeArrowheads="1"/>
          </p:cNvPicPr>
          <p:nvPr/>
        </p:nvPicPr>
        <p:blipFill>
          <a:blip r:embed="rId4" cstate="print"/>
          <a:srcRect/>
          <a:stretch>
            <a:fillRect/>
          </a:stretch>
        </p:blipFill>
        <p:spPr bwMode="auto">
          <a:xfrm>
            <a:off x="228600" y="3962400"/>
            <a:ext cx="3810000" cy="990600"/>
          </a:xfrm>
          <a:prstGeom prst="rect">
            <a:avLst/>
          </a:prstGeom>
          <a:noFill/>
          <a:ln w="9525">
            <a:noFill/>
            <a:miter lim="800000"/>
            <a:headEnd/>
            <a:tailEnd/>
          </a:ln>
        </p:spPr>
      </p:pic>
      <p:pic>
        <p:nvPicPr>
          <p:cNvPr id="38917" name="Picture 5"/>
          <p:cNvPicPr>
            <a:picLocks noChangeAspect="1" noChangeArrowheads="1"/>
          </p:cNvPicPr>
          <p:nvPr/>
        </p:nvPicPr>
        <p:blipFill>
          <a:blip r:embed="rId5" cstate="print"/>
          <a:srcRect/>
          <a:stretch>
            <a:fillRect/>
          </a:stretch>
        </p:blipFill>
        <p:spPr bwMode="auto">
          <a:xfrm>
            <a:off x="5257800" y="4038600"/>
            <a:ext cx="1743075" cy="647700"/>
          </a:xfrm>
          <a:prstGeom prst="rect">
            <a:avLst/>
          </a:prstGeom>
          <a:noFill/>
          <a:ln w="9525">
            <a:noFill/>
            <a:miter lim="800000"/>
            <a:headEnd/>
            <a:tailEnd/>
          </a:ln>
        </p:spPr>
      </p:pic>
      <p:grpSp>
        <p:nvGrpSpPr>
          <p:cNvPr id="3" name="Group 13"/>
          <p:cNvGrpSpPr/>
          <p:nvPr/>
        </p:nvGrpSpPr>
        <p:grpSpPr>
          <a:xfrm>
            <a:off x="0" y="1676400"/>
            <a:ext cx="8839200" cy="1143000"/>
            <a:chOff x="0" y="1676400"/>
            <a:chExt cx="8839200" cy="1143000"/>
          </a:xfrm>
        </p:grpSpPr>
        <p:pic>
          <p:nvPicPr>
            <p:cNvPr id="38914" name="Picture 2"/>
            <p:cNvPicPr>
              <a:picLocks noChangeAspect="1" noChangeArrowheads="1"/>
            </p:cNvPicPr>
            <p:nvPr/>
          </p:nvPicPr>
          <p:blipFill>
            <a:blip r:embed="rId6" cstate="print"/>
            <a:srcRect/>
            <a:stretch>
              <a:fillRect/>
            </a:stretch>
          </p:blipFill>
          <p:spPr bwMode="auto">
            <a:xfrm>
              <a:off x="0" y="1676400"/>
              <a:ext cx="8839200" cy="1143000"/>
            </a:xfrm>
            <a:prstGeom prst="rect">
              <a:avLst/>
            </a:prstGeom>
            <a:noFill/>
            <a:ln w="9525">
              <a:noFill/>
              <a:miter lim="800000"/>
              <a:headEnd/>
              <a:tailEnd/>
            </a:ln>
          </p:spPr>
        </p:pic>
        <p:sp>
          <p:nvSpPr>
            <p:cNvPr id="12" name="Title 1"/>
            <p:cNvSpPr txBox="1">
              <a:spLocks/>
            </p:cNvSpPr>
            <p:nvPr/>
          </p:nvSpPr>
          <p:spPr>
            <a:xfrm>
              <a:off x="7924800" y="1676400"/>
              <a:ext cx="914400" cy="533400"/>
            </a:xfrm>
            <a:prstGeom prst="rect">
              <a:avLst/>
            </a:prstGeom>
          </p:spPr>
          <p:txBody>
            <a:bodyPr vert="horz" lIns="91440" tIns="45720" rIns="91440" bIns="45720" rtlCol="0" anchor="ctr">
              <a:normAutofit fontScale="850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solidFill>
                    <a:srgbClr val="C00000"/>
                  </a:solidFill>
                  <a:effectLst>
                    <a:outerShdw blurRad="38100" dist="38100" dir="2700000" algn="tl">
                      <a:srgbClr val="000000">
                        <a:alpha val="43137"/>
                      </a:srgbClr>
                    </a:outerShdw>
                  </a:effectLst>
                  <a:latin typeface="Times New Roman" pitchFamily="18" charset="0"/>
                  <a:ea typeface="+mj-ea"/>
                  <a:cs typeface="Times New Roman" pitchFamily="18" charset="0"/>
                </a:rPr>
                <a:t>…….</a:t>
              </a:r>
              <a:r>
                <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Times New Roman" pitchFamily="18" charset="0"/>
                  <a:ea typeface="+mj-ea"/>
                  <a:cs typeface="Times New Roman" pitchFamily="18" charset="0"/>
                </a:rPr>
                <a:t>1 </a:t>
              </a:r>
            </a:p>
          </p:txBody>
        </p:sp>
      </p:grpSp>
      <p:sp>
        <p:nvSpPr>
          <p:cNvPr id="13" name="Title 1"/>
          <p:cNvSpPr txBox="1">
            <a:spLocks/>
          </p:cNvSpPr>
          <p:nvPr/>
        </p:nvSpPr>
        <p:spPr>
          <a:xfrm>
            <a:off x="0" y="2667000"/>
            <a:ext cx="42672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solidFill>
                  <a:srgbClr val="C00000"/>
                </a:solidFill>
                <a:effectLst>
                  <a:outerShdw blurRad="38100" dist="38100" dir="2700000" algn="tl">
                    <a:srgbClr val="000000">
                      <a:alpha val="43137"/>
                    </a:srgbClr>
                  </a:outerShdw>
                </a:effectLst>
                <a:latin typeface="Times New Roman" pitchFamily="18" charset="0"/>
                <a:ea typeface="+mj-ea"/>
                <a:cs typeface="Times New Roman" pitchFamily="18" charset="0"/>
              </a:rPr>
              <a:t>Equating Imaginary part to zero </a:t>
            </a:r>
            <a:endPar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Times New Roman" pitchFamily="18" charset="0"/>
              <a:ea typeface="+mj-ea"/>
              <a:cs typeface="Times New Roman" pitchFamily="18" charset="0"/>
            </a:endParaRPr>
          </a:p>
        </p:txBody>
      </p:sp>
      <p:graphicFrame>
        <p:nvGraphicFramePr>
          <p:cNvPr id="38919" name="Object 7"/>
          <p:cNvGraphicFramePr>
            <a:graphicFrameLocks noChangeAspect="1"/>
          </p:cNvGraphicFramePr>
          <p:nvPr/>
        </p:nvGraphicFramePr>
        <p:xfrm>
          <a:off x="4953000" y="4953000"/>
          <a:ext cx="2424113" cy="1143000"/>
        </p:xfrm>
        <a:graphic>
          <a:graphicData uri="http://schemas.openxmlformats.org/presentationml/2006/ole">
            <mc:AlternateContent xmlns:mc="http://schemas.openxmlformats.org/markup-compatibility/2006">
              <mc:Choice xmlns:v="urn:schemas-microsoft-com:vml" Requires="v">
                <p:oleObj name="Equation" r:id="rId7" imgW="889000" imgH="419100" progId="">
                  <p:embed/>
                </p:oleObj>
              </mc:Choice>
              <mc:Fallback>
                <p:oleObj name="Equation" r:id="rId7" imgW="889000" imgH="419100" progId="">
                  <p:embed/>
                  <p:pic>
                    <p:nvPicPr>
                      <p:cNvPr id="38919"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0" y="4953000"/>
                        <a:ext cx="2424113"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915"/>
                                        </p:tgtEl>
                                        <p:attrNameLst>
                                          <p:attrName>style.visibility</p:attrName>
                                        </p:attrNameLst>
                                      </p:cBhvr>
                                      <p:to>
                                        <p:strVal val="visible"/>
                                      </p:to>
                                    </p:set>
                                    <p:animEffect transition="in" filter="blinds(horizontal)">
                                      <p:cBhvr>
                                        <p:cTn id="22" dur="500"/>
                                        <p:tgtEl>
                                          <p:spTgt spid="3891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8916"/>
                                        </p:tgtEl>
                                        <p:attrNameLst>
                                          <p:attrName>style.visibility</p:attrName>
                                        </p:attrNameLst>
                                      </p:cBhvr>
                                      <p:to>
                                        <p:strVal val="visible"/>
                                      </p:to>
                                    </p:set>
                                    <p:animEffect transition="in" filter="blinds(horizontal)">
                                      <p:cBhvr>
                                        <p:cTn id="27" dur="500"/>
                                        <p:tgtEl>
                                          <p:spTgt spid="3891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8917"/>
                                        </p:tgtEl>
                                        <p:attrNameLst>
                                          <p:attrName>style.visibility</p:attrName>
                                        </p:attrNameLst>
                                      </p:cBhvr>
                                      <p:to>
                                        <p:strVal val="visible"/>
                                      </p:to>
                                    </p:set>
                                    <p:animEffect transition="in" filter="blinds(horizontal)">
                                      <p:cBhvr>
                                        <p:cTn id="32" dur="500"/>
                                        <p:tgtEl>
                                          <p:spTgt spid="3891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8919"/>
                                        </p:tgtEl>
                                        <p:attrNameLst>
                                          <p:attrName>style.visibility</p:attrName>
                                        </p:attrNameLst>
                                      </p:cBhvr>
                                      <p:to>
                                        <p:strVal val="visible"/>
                                      </p:to>
                                    </p:set>
                                    <p:animEffect transition="in" filter="blinds(horizontal)">
                                      <p:cBhvr>
                                        <p:cTn id="37" dur="500"/>
                                        <p:tgtEl>
                                          <p:spTgt spid="38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990600" y="1066800"/>
            <a:ext cx="42672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solidFill>
                  <a:srgbClr val="C00000"/>
                </a:solidFill>
                <a:effectLst>
                  <a:outerShdw blurRad="38100" dist="38100" dir="2700000" algn="tl">
                    <a:srgbClr val="000000">
                      <a:alpha val="43137"/>
                    </a:srgbClr>
                  </a:outerShdw>
                </a:effectLst>
                <a:latin typeface="Times New Roman" pitchFamily="18" charset="0"/>
                <a:ea typeface="+mj-ea"/>
                <a:cs typeface="Times New Roman" pitchFamily="18" charset="0"/>
              </a:rPr>
              <a:t>Equating Real part to zero </a:t>
            </a:r>
            <a:endPar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Times New Roman" pitchFamily="18" charset="0"/>
              <a:ea typeface="+mj-ea"/>
              <a:cs typeface="Times New Roman" pitchFamily="18" charset="0"/>
            </a:endParaRPr>
          </a:p>
        </p:txBody>
      </p:sp>
      <p:pic>
        <p:nvPicPr>
          <p:cNvPr id="39938" name="Picture 2"/>
          <p:cNvPicPr>
            <a:picLocks noChangeAspect="1" noChangeArrowheads="1"/>
          </p:cNvPicPr>
          <p:nvPr/>
        </p:nvPicPr>
        <p:blipFill>
          <a:blip r:embed="rId2" cstate="print"/>
          <a:srcRect/>
          <a:stretch>
            <a:fillRect/>
          </a:stretch>
        </p:blipFill>
        <p:spPr bwMode="auto">
          <a:xfrm>
            <a:off x="914400" y="1905000"/>
            <a:ext cx="7784757" cy="685800"/>
          </a:xfrm>
          <a:prstGeom prst="rect">
            <a:avLst/>
          </a:prstGeom>
          <a:noFill/>
          <a:ln w="9525">
            <a:noFill/>
            <a:miter lim="800000"/>
            <a:headEnd/>
            <a:tailEnd/>
          </a:ln>
        </p:spPr>
      </p:pic>
      <p:pic>
        <p:nvPicPr>
          <p:cNvPr id="39939" name="Picture 3"/>
          <p:cNvPicPr>
            <a:picLocks noChangeAspect="1" noChangeArrowheads="1"/>
          </p:cNvPicPr>
          <p:nvPr/>
        </p:nvPicPr>
        <p:blipFill>
          <a:blip r:embed="rId3" cstate="print"/>
          <a:srcRect/>
          <a:stretch>
            <a:fillRect/>
          </a:stretch>
        </p:blipFill>
        <p:spPr bwMode="auto">
          <a:xfrm>
            <a:off x="1219200" y="2667000"/>
            <a:ext cx="5608074" cy="990600"/>
          </a:xfrm>
          <a:prstGeom prst="rect">
            <a:avLst/>
          </a:prstGeom>
          <a:noFill/>
          <a:ln w="9525">
            <a:noFill/>
            <a:miter lim="800000"/>
            <a:headEnd/>
            <a:tailEnd/>
          </a:ln>
        </p:spPr>
      </p:pic>
      <p:pic>
        <p:nvPicPr>
          <p:cNvPr id="39940" name="Picture 4"/>
          <p:cNvPicPr>
            <a:picLocks noChangeAspect="1" noChangeArrowheads="1"/>
          </p:cNvPicPr>
          <p:nvPr/>
        </p:nvPicPr>
        <p:blipFill>
          <a:blip r:embed="rId4" cstate="print"/>
          <a:srcRect/>
          <a:stretch>
            <a:fillRect/>
          </a:stretch>
        </p:blipFill>
        <p:spPr bwMode="auto">
          <a:xfrm>
            <a:off x="1371600" y="4572000"/>
            <a:ext cx="2071688" cy="828675"/>
          </a:xfrm>
          <a:prstGeom prst="rect">
            <a:avLst/>
          </a:prstGeom>
          <a:noFill/>
          <a:ln w="9525">
            <a:noFill/>
            <a:miter lim="800000"/>
            <a:headEnd/>
            <a:tailEnd/>
          </a:ln>
        </p:spPr>
      </p:pic>
      <p:sp>
        <p:nvSpPr>
          <p:cNvPr id="9" name="Title 1"/>
          <p:cNvSpPr txBox="1">
            <a:spLocks/>
          </p:cNvSpPr>
          <p:nvPr/>
        </p:nvSpPr>
        <p:spPr>
          <a:xfrm>
            <a:off x="381000" y="3657600"/>
            <a:ext cx="42672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solidFill>
                  <a:srgbClr val="C00000"/>
                </a:solidFill>
                <a:effectLst>
                  <a:outerShdw blurRad="38100" dist="38100" dir="2700000" algn="tl">
                    <a:srgbClr val="000000">
                      <a:alpha val="43137"/>
                    </a:srgbClr>
                  </a:outerShdw>
                </a:effectLst>
                <a:latin typeface="Times New Roman" pitchFamily="18" charset="0"/>
                <a:ea typeface="+mj-ea"/>
                <a:cs typeface="Times New Roman" pitchFamily="18" charset="0"/>
              </a:rPr>
              <a:t>For large R</a:t>
            </a:r>
            <a:r>
              <a:rPr lang="en-US" sz="2400" baseline="-25000" dirty="0">
                <a:solidFill>
                  <a:srgbClr val="C00000"/>
                </a:solidFill>
                <a:effectLst>
                  <a:outerShdw blurRad="38100" dist="38100" dir="2700000" algn="tl">
                    <a:srgbClr val="000000">
                      <a:alpha val="43137"/>
                    </a:srgbClr>
                  </a:outerShdw>
                </a:effectLst>
                <a:latin typeface="Times New Roman" pitchFamily="18" charset="0"/>
                <a:ea typeface="+mj-ea"/>
                <a:cs typeface="Times New Roman" pitchFamily="18" charset="0"/>
              </a:rPr>
              <a:t>L</a:t>
            </a:r>
            <a:endParaRPr kumimoji="0" lang="en-US" sz="2400" b="0" i="0" u="none" strike="noStrike" kern="1200" cap="none" spc="0" normalizeH="0" baseline="-25000" noProof="0" dirty="0">
              <a:ln>
                <a:noFill/>
              </a:ln>
              <a:solidFill>
                <a:srgbClr val="C00000"/>
              </a:solidFill>
              <a:effectLst>
                <a:outerShdw blurRad="38100" dist="38100" dir="2700000" algn="tl">
                  <a:srgbClr val="000000">
                    <a:alpha val="43137"/>
                  </a:srgbClr>
                </a:outerShdw>
              </a:effectLst>
              <a:uLnTx/>
              <a:uFillTx/>
              <a:latin typeface="Times New Roman" pitchFamily="18" charset="0"/>
              <a:ea typeface="+mj-ea"/>
              <a:cs typeface="Times New Roman" pitchFamily="18" charset="0"/>
            </a:endParaRPr>
          </a:p>
        </p:txBody>
      </p:sp>
      <p:pic>
        <p:nvPicPr>
          <p:cNvPr id="39941" name="Picture 5"/>
          <p:cNvPicPr>
            <a:picLocks noChangeAspect="1" noChangeArrowheads="1"/>
          </p:cNvPicPr>
          <p:nvPr/>
        </p:nvPicPr>
        <p:blipFill>
          <a:blip r:embed="rId5" cstate="print"/>
          <a:srcRect/>
          <a:stretch>
            <a:fillRect/>
          </a:stretch>
        </p:blipFill>
        <p:spPr bwMode="auto">
          <a:xfrm>
            <a:off x="4800600" y="4648200"/>
            <a:ext cx="1600200" cy="88432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938"/>
                                        </p:tgtEl>
                                        <p:attrNameLst>
                                          <p:attrName>style.visibility</p:attrName>
                                        </p:attrNameLst>
                                      </p:cBhvr>
                                      <p:to>
                                        <p:strVal val="visible"/>
                                      </p:to>
                                    </p:set>
                                    <p:animEffect transition="in" filter="blinds(horizontal)">
                                      <p:cBhvr>
                                        <p:cTn id="12" dur="500"/>
                                        <p:tgtEl>
                                          <p:spTgt spid="399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939"/>
                                        </p:tgtEl>
                                        <p:attrNameLst>
                                          <p:attrName>style.visibility</p:attrName>
                                        </p:attrNameLst>
                                      </p:cBhvr>
                                      <p:to>
                                        <p:strVal val="visible"/>
                                      </p:to>
                                    </p:set>
                                    <p:animEffect transition="in" filter="blinds(horizontal)">
                                      <p:cBhvr>
                                        <p:cTn id="17" dur="500"/>
                                        <p:tgtEl>
                                          <p:spTgt spid="3993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9940"/>
                                        </p:tgtEl>
                                        <p:attrNameLst>
                                          <p:attrName>style.visibility</p:attrName>
                                        </p:attrNameLst>
                                      </p:cBhvr>
                                      <p:to>
                                        <p:strVal val="visible"/>
                                      </p:to>
                                    </p:set>
                                    <p:animEffect transition="in" filter="blinds(horizontal)">
                                      <p:cBhvr>
                                        <p:cTn id="27" dur="500"/>
                                        <p:tgtEl>
                                          <p:spTgt spid="3994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9941"/>
                                        </p:tgtEl>
                                        <p:attrNameLst>
                                          <p:attrName>style.visibility</p:attrName>
                                        </p:attrNameLst>
                                      </p:cBhvr>
                                      <p:to>
                                        <p:strVal val="visible"/>
                                      </p:to>
                                    </p:set>
                                    <p:animEffect transition="in" filter="blinds(horizontal)">
                                      <p:cBhvr>
                                        <p:cTn id="32" dur="500"/>
                                        <p:tgtEl>
                                          <p:spTgt spid="39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Procedure</a:t>
            </a:r>
          </a:p>
        </p:txBody>
      </p:sp>
      <p:sp>
        <p:nvSpPr>
          <p:cNvPr id="3" name="Content Placeholder 2"/>
          <p:cNvSpPr>
            <a:spLocks noGrp="1"/>
          </p:cNvSpPr>
          <p:nvPr>
            <p:ph idx="1"/>
          </p:nvPr>
        </p:nvSpPr>
        <p:spPr>
          <a:xfrm>
            <a:off x="0" y="1066800"/>
            <a:ext cx="8686800" cy="4525963"/>
          </a:xfrm>
        </p:spPr>
        <p:txBody>
          <a:bodyPr>
            <a:normAutofit fontScale="92500" lnSpcReduction="10000"/>
          </a:bodyPr>
          <a:lstStyle/>
          <a:p>
            <a:pPr>
              <a:lnSpc>
                <a:spcPct val="150000"/>
              </a:lnSpc>
            </a:pPr>
            <a:r>
              <a:rPr lang="en-US" sz="2800" dirty="0"/>
              <a:t>Choose suitable values for C</a:t>
            </a:r>
            <a:r>
              <a:rPr lang="en-US" sz="2800" baseline="-25000" dirty="0"/>
              <a:t>1</a:t>
            </a:r>
            <a:r>
              <a:rPr lang="en-US" sz="2800" dirty="0"/>
              <a:t> and C</a:t>
            </a:r>
            <a:r>
              <a:rPr lang="en-US" sz="2800" baseline="-25000" dirty="0"/>
              <a:t>2</a:t>
            </a:r>
          </a:p>
          <a:p>
            <a:pPr>
              <a:lnSpc>
                <a:spcPct val="150000"/>
              </a:lnSpc>
            </a:pPr>
            <a:endParaRPr lang="en-US" sz="2800" dirty="0"/>
          </a:p>
          <a:p>
            <a:pPr>
              <a:lnSpc>
                <a:spcPct val="150000"/>
              </a:lnSpc>
            </a:pPr>
            <a:r>
              <a:rPr lang="en-US" sz="2800" dirty="0"/>
              <a:t>Calculate ‘L’ value from</a:t>
            </a:r>
          </a:p>
          <a:p>
            <a:pPr>
              <a:lnSpc>
                <a:spcPct val="150000"/>
              </a:lnSpc>
            </a:pPr>
            <a:endParaRPr lang="en-US" sz="2800" dirty="0"/>
          </a:p>
          <a:p>
            <a:pPr>
              <a:lnSpc>
                <a:spcPct val="150000"/>
              </a:lnSpc>
            </a:pPr>
            <a:r>
              <a:rPr lang="en-US" sz="2800" dirty="0"/>
              <a:t>Choose  R</a:t>
            </a:r>
            <a:r>
              <a:rPr lang="en-US" sz="2800" baseline="-25000" dirty="0"/>
              <a:t>L</a:t>
            </a:r>
            <a:r>
              <a:rPr lang="en-US" sz="2800" dirty="0"/>
              <a:t>  and obtain</a:t>
            </a:r>
          </a:p>
          <a:p>
            <a:pPr>
              <a:lnSpc>
                <a:spcPct val="150000"/>
              </a:lnSpc>
            </a:pPr>
            <a:endParaRPr lang="en-US" sz="2800" dirty="0"/>
          </a:p>
          <a:p>
            <a:pPr>
              <a:lnSpc>
                <a:spcPct val="150000"/>
              </a:lnSpc>
            </a:pPr>
            <a:r>
              <a:rPr lang="en-US" sz="2800" dirty="0"/>
              <a:t>Calculate</a:t>
            </a:r>
          </a:p>
        </p:txBody>
      </p:sp>
      <p:graphicFrame>
        <p:nvGraphicFramePr>
          <p:cNvPr id="5" name="Object 4"/>
          <p:cNvGraphicFramePr>
            <a:graphicFrameLocks noChangeAspect="1"/>
          </p:cNvGraphicFramePr>
          <p:nvPr/>
        </p:nvGraphicFramePr>
        <p:xfrm>
          <a:off x="3657600" y="2133600"/>
          <a:ext cx="4848225" cy="1143000"/>
        </p:xfrm>
        <a:graphic>
          <a:graphicData uri="http://schemas.openxmlformats.org/presentationml/2006/ole">
            <mc:AlternateContent xmlns:mc="http://schemas.openxmlformats.org/markup-compatibility/2006">
              <mc:Choice xmlns:v="urn:schemas-microsoft-com:vml" Requires="v">
                <p:oleObj name="Equation" r:id="rId2" imgW="1778000" imgH="419100" progId="">
                  <p:embed/>
                </p:oleObj>
              </mc:Choice>
              <mc:Fallback>
                <p:oleObj name="Equation" r:id="rId2" imgW="1778000" imgH="419100" progId="">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2133600"/>
                        <a:ext cx="4848225"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4" name="Object 4"/>
          <p:cNvGraphicFramePr>
            <a:graphicFrameLocks noChangeAspect="1"/>
          </p:cNvGraphicFramePr>
          <p:nvPr/>
        </p:nvGraphicFramePr>
        <p:xfrm>
          <a:off x="3581400" y="3733800"/>
          <a:ext cx="1419225" cy="485775"/>
        </p:xfrm>
        <a:graphic>
          <a:graphicData uri="http://schemas.openxmlformats.org/presentationml/2006/ole">
            <mc:AlternateContent xmlns:mc="http://schemas.openxmlformats.org/markup-compatibility/2006">
              <mc:Choice xmlns:v="urn:schemas-microsoft-com:vml" Requires="v">
                <p:oleObj name="Equation" r:id="rId4" imgW="520248" imgH="177646" progId="">
                  <p:embed/>
                </p:oleObj>
              </mc:Choice>
              <mc:Fallback>
                <p:oleObj name="Equation" r:id="rId4" imgW="520248" imgH="177646" progId="">
                  <p:embed/>
                  <p:pic>
                    <p:nvPicPr>
                      <p:cNvPr id="4096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3733800"/>
                        <a:ext cx="1419225"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6" name="Object 6"/>
          <p:cNvGraphicFramePr>
            <a:graphicFrameLocks noChangeAspect="1"/>
          </p:cNvGraphicFramePr>
          <p:nvPr/>
        </p:nvGraphicFramePr>
        <p:xfrm>
          <a:off x="1828800" y="4800600"/>
          <a:ext cx="1176338" cy="866775"/>
        </p:xfrm>
        <a:graphic>
          <a:graphicData uri="http://schemas.openxmlformats.org/presentationml/2006/ole">
            <mc:AlternateContent xmlns:mc="http://schemas.openxmlformats.org/markup-compatibility/2006">
              <mc:Choice xmlns:v="urn:schemas-microsoft-com:vml" Requires="v">
                <p:oleObj name="Equation" r:id="rId6" imgW="431425" imgH="317225" progId="">
                  <p:embed/>
                </p:oleObj>
              </mc:Choice>
              <mc:Fallback>
                <p:oleObj name="Equation" r:id="rId6" imgW="431425" imgH="317225" progId="">
                  <p:embed/>
                  <p:pic>
                    <p:nvPicPr>
                      <p:cNvPr id="4096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8800" y="4800600"/>
                        <a:ext cx="1176338"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0" y="5562600"/>
            <a:ext cx="9144000" cy="954107"/>
          </a:xfrm>
          <a:prstGeom prst="rect">
            <a:avLst/>
          </a:prstGeom>
          <a:noFill/>
        </p:spPr>
        <p:txBody>
          <a:bodyPr wrap="square" rtlCol="0">
            <a:spAutoFit/>
          </a:bodyPr>
          <a:lstStyle/>
          <a:p>
            <a:pPr algn="just"/>
            <a:r>
              <a:rPr lang="en-US" sz="28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Design a Colpitt’s oscillator at frequency of 150kHz and verify it using </a:t>
            </a:r>
            <a:r>
              <a:rPr lang="en-US" sz="2800" dirty="0" err="1">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Multisim</a:t>
            </a:r>
            <a:r>
              <a:rPr lang="en-US" sz="28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800" dirty="0" err="1">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MyDaq</a:t>
            </a:r>
            <a:r>
              <a:rPr lang="en-US" sz="28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linds(horizontal)">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Hartley Oscillator</a:t>
            </a:r>
            <a:br>
              <a:rPr lang="en-US" dirty="0"/>
            </a:br>
            <a:r>
              <a:rPr lang="en-US" sz="2700" dirty="0">
                <a:solidFill>
                  <a:srgbClr val="0070C0"/>
                </a:solidFill>
              </a:rPr>
              <a:t>(20KHz to 30MHz)</a:t>
            </a:r>
          </a:p>
        </p:txBody>
      </p:sp>
      <p:sp>
        <p:nvSpPr>
          <p:cNvPr id="3" name="Content Placeholder 2"/>
          <p:cNvSpPr>
            <a:spLocks noGrp="1"/>
          </p:cNvSpPr>
          <p:nvPr>
            <p:ph idx="1"/>
          </p:nvPr>
        </p:nvSpPr>
        <p:spPr/>
        <p:txBody>
          <a:bodyPr/>
          <a:lstStyle/>
          <a:p>
            <a:r>
              <a:rPr lang="en-US" dirty="0"/>
              <a:t>Suitable for oscillations in RF (Radio-Frequency) range, up to 30MHZ</a:t>
            </a:r>
          </a:p>
          <a:p>
            <a:r>
              <a:rPr lang="en-US" dirty="0"/>
              <a:t>Used as radio receivers</a:t>
            </a:r>
          </a:p>
        </p:txBody>
      </p:sp>
      <p:pic>
        <p:nvPicPr>
          <p:cNvPr id="41986" name="Picture 2"/>
          <p:cNvPicPr>
            <a:picLocks noChangeAspect="1" noChangeArrowheads="1"/>
          </p:cNvPicPr>
          <p:nvPr/>
        </p:nvPicPr>
        <p:blipFill>
          <a:blip r:embed="rId2" cstate="print"/>
          <a:srcRect r="52310"/>
          <a:stretch>
            <a:fillRect/>
          </a:stretch>
        </p:blipFill>
        <p:spPr bwMode="auto">
          <a:xfrm>
            <a:off x="2362200" y="3212306"/>
            <a:ext cx="3581400" cy="307776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blinds(horizontal)">
                                      <p:cBhvr>
                                        <p:cTn id="7" dur="500"/>
                                        <p:tgtEl>
                                          <p:spTgt spid="41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cstate="print"/>
          <a:srcRect l="48808" t="41608" b="4866"/>
          <a:stretch>
            <a:fillRect/>
          </a:stretch>
        </p:blipFill>
        <p:spPr bwMode="auto">
          <a:xfrm>
            <a:off x="1905000" y="152400"/>
            <a:ext cx="4724400" cy="2514600"/>
          </a:xfrm>
          <a:prstGeom prst="rect">
            <a:avLst/>
          </a:prstGeom>
          <a:noFill/>
          <a:ln w="9525">
            <a:noFill/>
            <a:miter lim="800000"/>
            <a:headEnd/>
            <a:tailEnd/>
          </a:ln>
        </p:spPr>
      </p:pic>
      <p:pic>
        <p:nvPicPr>
          <p:cNvPr id="43010" name="Picture 2"/>
          <p:cNvPicPr>
            <a:picLocks noChangeAspect="1" noChangeArrowheads="1"/>
          </p:cNvPicPr>
          <p:nvPr/>
        </p:nvPicPr>
        <p:blipFill>
          <a:blip r:embed="rId3" cstate="print"/>
          <a:srcRect b="50000"/>
          <a:stretch>
            <a:fillRect/>
          </a:stretch>
        </p:blipFill>
        <p:spPr bwMode="auto">
          <a:xfrm>
            <a:off x="762000" y="3352800"/>
            <a:ext cx="8050591" cy="914400"/>
          </a:xfrm>
          <a:prstGeom prst="rect">
            <a:avLst/>
          </a:prstGeom>
          <a:noFill/>
          <a:ln w="9525">
            <a:noFill/>
            <a:miter lim="800000"/>
            <a:headEnd/>
            <a:tailEnd/>
          </a:ln>
        </p:spPr>
      </p:pic>
      <p:pic>
        <p:nvPicPr>
          <p:cNvPr id="43011" name="Picture 3"/>
          <p:cNvPicPr>
            <a:picLocks noGrp="1" noChangeAspect="1" noChangeArrowheads="1"/>
          </p:cNvPicPr>
          <p:nvPr>
            <p:ph idx="1"/>
          </p:nvPr>
        </p:nvPicPr>
        <p:blipFill>
          <a:blip r:embed="rId3" cstate="print"/>
          <a:srcRect l="10012" t="51918" r="5339"/>
          <a:stretch>
            <a:fillRect/>
          </a:stretch>
        </p:blipFill>
        <p:spPr bwMode="auto">
          <a:xfrm>
            <a:off x="1447800" y="2514600"/>
            <a:ext cx="7086600" cy="914400"/>
          </a:xfrm>
          <a:prstGeom prst="rect">
            <a:avLst/>
          </a:prstGeom>
          <a:noFill/>
          <a:ln w="9525">
            <a:noFill/>
            <a:miter lim="800000"/>
            <a:headEnd/>
            <a:tailEnd/>
          </a:ln>
        </p:spPr>
      </p:pic>
      <p:pic>
        <p:nvPicPr>
          <p:cNvPr id="43012" name="Picture 4"/>
          <p:cNvPicPr>
            <a:picLocks noChangeAspect="1" noChangeArrowheads="1"/>
          </p:cNvPicPr>
          <p:nvPr/>
        </p:nvPicPr>
        <p:blipFill>
          <a:blip r:embed="rId4" cstate="print"/>
          <a:srcRect/>
          <a:stretch>
            <a:fillRect/>
          </a:stretch>
        </p:blipFill>
        <p:spPr bwMode="auto">
          <a:xfrm>
            <a:off x="1066800" y="4495800"/>
            <a:ext cx="7536426" cy="914400"/>
          </a:xfrm>
          <a:prstGeom prst="rect">
            <a:avLst/>
          </a:prstGeom>
          <a:noFill/>
          <a:ln w="9525">
            <a:noFill/>
            <a:miter lim="800000"/>
            <a:headEnd/>
            <a:tailEnd/>
          </a:ln>
        </p:spPr>
      </p:pic>
      <p:pic>
        <p:nvPicPr>
          <p:cNvPr id="43013" name="Picture 5"/>
          <p:cNvPicPr>
            <a:picLocks noChangeAspect="1" noChangeArrowheads="1"/>
          </p:cNvPicPr>
          <p:nvPr/>
        </p:nvPicPr>
        <p:blipFill>
          <a:blip r:embed="rId5" cstate="print"/>
          <a:srcRect/>
          <a:stretch>
            <a:fillRect/>
          </a:stretch>
        </p:blipFill>
        <p:spPr bwMode="auto">
          <a:xfrm>
            <a:off x="304800" y="5334000"/>
            <a:ext cx="8077200" cy="1219200"/>
          </a:xfrm>
          <a:prstGeom prst="rect">
            <a:avLst/>
          </a:prstGeom>
          <a:noFill/>
          <a:ln w="9525">
            <a:noFill/>
            <a:miter lim="800000"/>
            <a:headEnd/>
            <a:tailEnd/>
          </a:ln>
        </p:spPr>
      </p:pic>
      <p:sp>
        <p:nvSpPr>
          <p:cNvPr id="10" name="Title 1"/>
          <p:cNvSpPr txBox="1">
            <a:spLocks/>
          </p:cNvSpPr>
          <p:nvPr/>
        </p:nvSpPr>
        <p:spPr>
          <a:xfrm>
            <a:off x="0" y="4114800"/>
            <a:ext cx="42672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solidFill>
                  <a:srgbClr val="C00000"/>
                </a:solidFill>
                <a:effectLst>
                  <a:outerShdw blurRad="38100" dist="38100" dir="2700000" algn="tl">
                    <a:srgbClr val="000000">
                      <a:alpha val="43137"/>
                    </a:srgbClr>
                  </a:outerShdw>
                </a:effectLst>
                <a:latin typeface="Times New Roman" pitchFamily="18" charset="0"/>
                <a:ea typeface="+mj-ea"/>
                <a:cs typeface="Times New Roman" pitchFamily="18" charset="0"/>
              </a:rPr>
              <a:t>Equating Real part to zero </a:t>
            </a:r>
            <a:endPar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011"/>
                                        </p:tgtEl>
                                        <p:attrNameLst>
                                          <p:attrName>style.visibility</p:attrName>
                                        </p:attrNameLst>
                                      </p:cBhvr>
                                      <p:to>
                                        <p:strVal val="visible"/>
                                      </p:to>
                                    </p:set>
                                    <p:animEffect transition="in" filter="blinds(horizontal)">
                                      <p:cBhvr>
                                        <p:cTn id="12" dur="500"/>
                                        <p:tgtEl>
                                          <p:spTgt spid="430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3010"/>
                                        </p:tgtEl>
                                        <p:attrNameLst>
                                          <p:attrName>style.visibility</p:attrName>
                                        </p:attrNameLst>
                                      </p:cBhvr>
                                      <p:to>
                                        <p:strVal val="visible"/>
                                      </p:to>
                                    </p:set>
                                    <p:animEffect transition="in" filter="blinds(horizontal)">
                                      <p:cBhvr>
                                        <p:cTn id="17" dur="500"/>
                                        <p:tgtEl>
                                          <p:spTgt spid="430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3012"/>
                                        </p:tgtEl>
                                        <p:attrNameLst>
                                          <p:attrName>style.visibility</p:attrName>
                                        </p:attrNameLst>
                                      </p:cBhvr>
                                      <p:to>
                                        <p:strVal val="visible"/>
                                      </p:to>
                                    </p:set>
                                    <p:animEffect transition="in" filter="blinds(horizontal)">
                                      <p:cBhvr>
                                        <p:cTn id="22" dur="500"/>
                                        <p:tgtEl>
                                          <p:spTgt spid="430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3013"/>
                                        </p:tgtEl>
                                        <p:attrNameLst>
                                          <p:attrName>style.visibility</p:attrName>
                                        </p:attrNameLst>
                                      </p:cBhvr>
                                      <p:to>
                                        <p:strVal val="visible"/>
                                      </p:to>
                                    </p:set>
                                    <p:animEffect transition="in" filter="blinds(horizontal)">
                                      <p:cBhvr>
                                        <p:cTn id="27" dur="500"/>
                                        <p:tgtEl>
                                          <p:spTgt spid="430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cstate="print"/>
          <a:srcRect/>
          <a:stretch>
            <a:fillRect/>
          </a:stretch>
        </p:blipFill>
        <p:spPr bwMode="auto">
          <a:xfrm>
            <a:off x="1371600" y="457200"/>
            <a:ext cx="5357611" cy="1219200"/>
          </a:xfrm>
          <a:prstGeom prst="rect">
            <a:avLst/>
          </a:prstGeom>
          <a:noFill/>
          <a:ln w="9525">
            <a:noFill/>
            <a:miter lim="800000"/>
            <a:headEnd/>
            <a:tailEnd/>
          </a:ln>
        </p:spPr>
      </p:pic>
      <p:pic>
        <p:nvPicPr>
          <p:cNvPr id="44035" name="Picture 3"/>
          <p:cNvPicPr>
            <a:picLocks noChangeAspect="1" noChangeArrowheads="1"/>
          </p:cNvPicPr>
          <p:nvPr/>
        </p:nvPicPr>
        <p:blipFill>
          <a:blip r:embed="rId3" cstate="print">
            <a:duotone>
              <a:prstClr val="black"/>
              <a:schemeClr val="accent5">
                <a:tint val="45000"/>
                <a:satMod val="400000"/>
              </a:schemeClr>
            </a:duotone>
          </a:blip>
          <a:srcRect/>
          <a:stretch>
            <a:fillRect/>
          </a:stretch>
        </p:blipFill>
        <p:spPr bwMode="auto">
          <a:xfrm>
            <a:off x="3581400" y="2590800"/>
            <a:ext cx="3810000" cy="1328257"/>
          </a:xfrm>
          <a:prstGeom prst="rect">
            <a:avLst/>
          </a:prstGeom>
          <a:noFill/>
          <a:ln w="9525">
            <a:noFill/>
            <a:miter lim="800000"/>
            <a:headEnd/>
            <a:tailEnd/>
          </a:ln>
        </p:spPr>
      </p:pic>
      <p:pic>
        <p:nvPicPr>
          <p:cNvPr id="44036" name="Picture 4"/>
          <p:cNvPicPr>
            <a:picLocks noChangeAspect="1" noChangeArrowheads="1"/>
          </p:cNvPicPr>
          <p:nvPr/>
        </p:nvPicPr>
        <p:blipFill>
          <a:blip r:embed="rId4" cstate="print"/>
          <a:srcRect/>
          <a:stretch>
            <a:fillRect/>
          </a:stretch>
        </p:blipFill>
        <p:spPr bwMode="auto">
          <a:xfrm>
            <a:off x="381000" y="1905000"/>
            <a:ext cx="3962400" cy="533400"/>
          </a:xfrm>
          <a:prstGeom prst="rect">
            <a:avLst/>
          </a:prstGeom>
          <a:noFill/>
          <a:ln w="9525">
            <a:noFill/>
            <a:miter lim="800000"/>
            <a:headEnd/>
            <a:tailEnd/>
          </a:ln>
        </p:spPr>
      </p:pic>
      <p:sp>
        <p:nvSpPr>
          <p:cNvPr id="8" name="Title 1"/>
          <p:cNvSpPr txBox="1">
            <a:spLocks/>
          </p:cNvSpPr>
          <p:nvPr/>
        </p:nvSpPr>
        <p:spPr>
          <a:xfrm>
            <a:off x="0" y="3962400"/>
            <a:ext cx="4267200" cy="5334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solidFill>
                  <a:srgbClr val="C00000"/>
                </a:solidFill>
                <a:effectLst>
                  <a:outerShdw blurRad="38100" dist="38100" dir="2700000" algn="tl">
                    <a:srgbClr val="000000">
                      <a:alpha val="43137"/>
                    </a:srgbClr>
                  </a:outerShdw>
                </a:effectLst>
                <a:latin typeface="Times New Roman" pitchFamily="18" charset="0"/>
                <a:ea typeface="+mj-ea"/>
                <a:cs typeface="Times New Roman" pitchFamily="18" charset="0"/>
              </a:rPr>
              <a:t>Equating Imaginary part to zero </a:t>
            </a:r>
            <a:endParaRPr kumimoji="0" lang="en-US" sz="2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Times New Roman" pitchFamily="18" charset="0"/>
              <a:ea typeface="+mj-ea"/>
              <a:cs typeface="Times New Roman" pitchFamily="18" charset="0"/>
            </a:endParaRPr>
          </a:p>
        </p:txBody>
      </p:sp>
      <p:pic>
        <p:nvPicPr>
          <p:cNvPr id="44037" name="Picture 5"/>
          <p:cNvPicPr>
            <a:picLocks noChangeAspect="1" noChangeArrowheads="1"/>
          </p:cNvPicPr>
          <p:nvPr/>
        </p:nvPicPr>
        <p:blipFill>
          <a:blip r:embed="rId5" cstate="print"/>
          <a:srcRect/>
          <a:stretch>
            <a:fillRect/>
          </a:stretch>
        </p:blipFill>
        <p:spPr bwMode="auto">
          <a:xfrm>
            <a:off x="744682" y="4572000"/>
            <a:ext cx="8399318" cy="762000"/>
          </a:xfrm>
          <a:prstGeom prst="rect">
            <a:avLst/>
          </a:prstGeom>
          <a:noFill/>
          <a:ln w="9525">
            <a:noFill/>
            <a:miter lim="800000"/>
            <a:headEnd/>
            <a:tailEnd/>
          </a:ln>
        </p:spPr>
      </p:pic>
      <p:pic>
        <p:nvPicPr>
          <p:cNvPr id="44038" name="Picture 6"/>
          <p:cNvPicPr>
            <a:picLocks noChangeAspect="1" noChangeArrowheads="1"/>
          </p:cNvPicPr>
          <p:nvPr/>
        </p:nvPicPr>
        <p:blipFill>
          <a:blip r:embed="rId6" cstate="print"/>
          <a:srcRect/>
          <a:stretch>
            <a:fillRect/>
          </a:stretch>
        </p:blipFill>
        <p:spPr bwMode="auto">
          <a:xfrm>
            <a:off x="685799" y="5334000"/>
            <a:ext cx="3254829" cy="990600"/>
          </a:xfrm>
          <a:prstGeom prst="rect">
            <a:avLst/>
          </a:prstGeom>
          <a:noFill/>
          <a:ln w="9525">
            <a:noFill/>
            <a:miter lim="800000"/>
            <a:headEnd/>
            <a:tailEnd/>
          </a:ln>
        </p:spPr>
      </p:pic>
      <p:pic>
        <p:nvPicPr>
          <p:cNvPr id="44039" name="Picture 7"/>
          <p:cNvPicPr>
            <a:picLocks noChangeAspect="1" noChangeArrowheads="1"/>
          </p:cNvPicPr>
          <p:nvPr/>
        </p:nvPicPr>
        <p:blipFill>
          <a:blip r:embed="rId7" cstate="print">
            <a:duotone>
              <a:prstClr val="black"/>
              <a:schemeClr val="accent2">
                <a:tint val="45000"/>
                <a:satMod val="400000"/>
              </a:schemeClr>
            </a:duotone>
          </a:blip>
          <a:srcRect/>
          <a:stretch>
            <a:fillRect/>
          </a:stretch>
        </p:blipFill>
        <p:spPr bwMode="auto">
          <a:xfrm>
            <a:off x="4114800" y="5410200"/>
            <a:ext cx="2326724" cy="366712"/>
          </a:xfrm>
          <a:prstGeom prst="rect">
            <a:avLst/>
          </a:prstGeom>
          <a:noFill/>
          <a:ln w="9525">
            <a:noFill/>
            <a:miter lim="800000"/>
            <a:headEnd/>
            <a:tailEnd/>
          </a:ln>
        </p:spPr>
      </p:pic>
      <p:pic>
        <p:nvPicPr>
          <p:cNvPr id="44040" name="Picture 8"/>
          <p:cNvPicPr>
            <a:picLocks noChangeAspect="1" noChangeArrowheads="1"/>
          </p:cNvPicPr>
          <p:nvPr/>
        </p:nvPicPr>
        <p:blipFill>
          <a:blip r:embed="rId8" cstate="print"/>
          <a:srcRect r="23288" b="26316"/>
          <a:stretch>
            <a:fillRect/>
          </a:stretch>
        </p:blipFill>
        <p:spPr bwMode="auto">
          <a:xfrm>
            <a:off x="6553200" y="5181600"/>
            <a:ext cx="2286000" cy="1143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034"/>
                                        </p:tgtEl>
                                        <p:attrNameLst>
                                          <p:attrName>style.visibility</p:attrName>
                                        </p:attrNameLst>
                                      </p:cBhvr>
                                      <p:to>
                                        <p:strVal val="visible"/>
                                      </p:to>
                                    </p:set>
                                    <p:animEffect transition="in" filter="blinds(horizontal)">
                                      <p:cBhvr>
                                        <p:cTn id="7" dur="500"/>
                                        <p:tgtEl>
                                          <p:spTgt spid="4403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4036"/>
                                        </p:tgtEl>
                                        <p:attrNameLst>
                                          <p:attrName>style.visibility</p:attrName>
                                        </p:attrNameLst>
                                      </p:cBhvr>
                                      <p:to>
                                        <p:strVal val="visible"/>
                                      </p:to>
                                    </p:set>
                                    <p:animEffect transition="in" filter="blinds(horizontal)">
                                      <p:cBhvr>
                                        <p:cTn id="12" dur="500"/>
                                        <p:tgtEl>
                                          <p:spTgt spid="4403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4035"/>
                                        </p:tgtEl>
                                        <p:attrNameLst>
                                          <p:attrName>style.visibility</p:attrName>
                                        </p:attrNameLst>
                                      </p:cBhvr>
                                      <p:to>
                                        <p:strVal val="visible"/>
                                      </p:to>
                                    </p:set>
                                    <p:animEffect transition="in" filter="blinds(horizontal)">
                                      <p:cBhvr>
                                        <p:cTn id="17" dur="500"/>
                                        <p:tgtEl>
                                          <p:spTgt spid="4403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4037"/>
                                        </p:tgtEl>
                                        <p:attrNameLst>
                                          <p:attrName>style.visibility</p:attrName>
                                        </p:attrNameLst>
                                      </p:cBhvr>
                                      <p:to>
                                        <p:strVal val="visible"/>
                                      </p:to>
                                    </p:set>
                                    <p:animEffect transition="in" filter="blinds(horizontal)">
                                      <p:cBhvr>
                                        <p:cTn id="27" dur="500"/>
                                        <p:tgtEl>
                                          <p:spTgt spid="4403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4038"/>
                                        </p:tgtEl>
                                        <p:attrNameLst>
                                          <p:attrName>style.visibility</p:attrName>
                                        </p:attrNameLst>
                                      </p:cBhvr>
                                      <p:to>
                                        <p:strVal val="visible"/>
                                      </p:to>
                                    </p:set>
                                    <p:animEffect transition="in" filter="blinds(horizontal)">
                                      <p:cBhvr>
                                        <p:cTn id="32" dur="500"/>
                                        <p:tgtEl>
                                          <p:spTgt spid="44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Procedure</a:t>
            </a:r>
          </a:p>
        </p:txBody>
      </p:sp>
      <p:sp>
        <p:nvSpPr>
          <p:cNvPr id="3" name="Content Placeholder 2"/>
          <p:cNvSpPr>
            <a:spLocks noGrp="1"/>
          </p:cNvSpPr>
          <p:nvPr>
            <p:ph idx="1"/>
          </p:nvPr>
        </p:nvSpPr>
        <p:spPr>
          <a:xfrm>
            <a:off x="0" y="1524000"/>
            <a:ext cx="9144000" cy="3810000"/>
          </a:xfrm>
        </p:spPr>
        <p:txBody>
          <a:bodyPr>
            <a:normAutofit/>
          </a:bodyPr>
          <a:lstStyle/>
          <a:p>
            <a:pPr>
              <a:lnSpc>
                <a:spcPct val="150000"/>
              </a:lnSpc>
            </a:pPr>
            <a:r>
              <a:rPr lang="en-US" sz="2800" dirty="0"/>
              <a:t>Choose suitable values for L</a:t>
            </a:r>
            <a:r>
              <a:rPr lang="en-US" sz="2800" baseline="-25000" dirty="0"/>
              <a:t>1</a:t>
            </a:r>
            <a:r>
              <a:rPr lang="en-US" sz="2800" dirty="0"/>
              <a:t> and L</a:t>
            </a:r>
            <a:r>
              <a:rPr lang="en-US" sz="2800" baseline="-25000" dirty="0"/>
              <a:t>2</a:t>
            </a:r>
          </a:p>
          <a:p>
            <a:pPr>
              <a:lnSpc>
                <a:spcPct val="150000"/>
              </a:lnSpc>
            </a:pPr>
            <a:r>
              <a:rPr lang="en-US" sz="2800" dirty="0"/>
              <a:t>Calculate ‘C’ value from</a:t>
            </a:r>
          </a:p>
          <a:p>
            <a:pPr>
              <a:lnSpc>
                <a:spcPct val="150000"/>
              </a:lnSpc>
            </a:pPr>
            <a:r>
              <a:rPr lang="en-US" sz="2800" dirty="0"/>
              <a:t>Obtain                     ; </a:t>
            </a:r>
            <a:r>
              <a:rPr lang="en-US" sz="2800" dirty="0">
                <a:solidFill>
                  <a:srgbClr val="0070C0"/>
                </a:solidFill>
              </a:rPr>
              <a:t>Assume g</a:t>
            </a:r>
            <a:r>
              <a:rPr lang="en-US" sz="2800" baseline="-25000" dirty="0">
                <a:solidFill>
                  <a:srgbClr val="0070C0"/>
                </a:solidFill>
              </a:rPr>
              <a:t>m</a:t>
            </a:r>
            <a:r>
              <a:rPr lang="en-US" sz="2800" dirty="0">
                <a:solidFill>
                  <a:srgbClr val="0070C0"/>
                </a:solidFill>
              </a:rPr>
              <a:t>=3mA/V</a:t>
            </a:r>
          </a:p>
          <a:p>
            <a:pPr>
              <a:lnSpc>
                <a:spcPct val="150000"/>
              </a:lnSpc>
            </a:pPr>
            <a:r>
              <a:rPr lang="en-US" sz="2800" dirty="0"/>
              <a:t>Calculate</a:t>
            </a:r>
          </a:p>
          <a:p>
            <a:pPr>
              <a:lnSpc>
                <a:spcPct val="150000"/>
              </a:lnSpc>
            </a:pPr>
            <a:r>
              <a:rPr lang="en-US" sz="2800" dirty="0"/>
              <a:t>Calculate</a:t>
            </a:r>
          </a:p>
        </p:txBody>
      </p:sp>
      <p:graphicFrame>
        <p:nvGraphicFramePr>
          <p:cNvPr id="5" name="Object 4"/>
          <p:cNvGraphicFramePr>
            <a:graphicFrameLocks noChangeAspect="1"/>
          </p:cNvGraphicFramePr>
          <p:nvPr/>
        </p:nvGraphicFramePr>
        <p:xfrm>
          <a:off x="3962400" y="2057400"/>
          <a:ext cx="5181600" cy="931863"/>
        </p:xfrm>
        <a:graphic>
          <a:graphicData uri="http://schemas.openxmlformats.org/presentationml/2006/ole">
            <mc:AlternateContent xmlns:mc="http://schemas.openxmlformats.org/markup-compatibility/2006">
              <mc:Choice xmlns:v="urn:schemas-microsoft-com:vml" Requires="v">
                <p:oleObj name="Equation" r:id="rId2" imgW="2324100" imgH="431800" progId="">
                  <p:embed/>
                </p:oleObj>
              </mc:Choice>
              <mc:Fallback>
                <p:oleObj name="Equation" r:id="rId2" imgW="2324100" imgH="431800" progId="">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2057400"/>
                        <a:ext cx="5181600" cy="931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4" name="Object 4"/>
          <p:cNvGraphicFramePr>
            <a:graphicFrameLocks noChangeAspect="1"/>
          </p:cNvGraphicFramePr>
          <p:nvPr/>
        </p:nvGraphicFramePr>
        <p:xfrm>
          <a:off x="1752600" y="2895600"/>
          <a:ext cx="1489075" cy="936625"/>
        </p:xfrm>
        <a:graphic>
          <a:graphicData uri="http://schemas.openxmlformats.org/presentationml/2006/ole">
            <mc:AlternateContent xmlns:mc="http://schemas.openxmlformats.org/markup-compatibility/2006">
              <mc:Choice xmlns:v="urn:schemas-microsoft-com:vml" Requires="v">
                <p:oleObj name="Equation" r:id="rId4" imgW="545863" imgH="342751" progId="">
                  <p:embed/>
                </p:oleObj>
              </mc:Choice>
              <mc:Fallback>
                <p:oleObj name="Equation" r:id="rId4" imgW="545863" imgH="342751" progId="">
                  <p:embed/>
                  <p:pic>
                    <p:nvPicPr>
                      <p:cNvPr id="4096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2895600"/>
                        <a:ext cx="1489075"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6" name="Object 6"/>
          <p:cNvGraphicFramePr>
            <a:graphicFrameLocks noChangeAspect="1"/>
          </p:cNvGraphicFramePr>
          <p:nvPr/>
        </p:nvGraphicFramePr>
        <p:xfrm>
          <a:off x="1981200" y="3733800"/>
          <a:ext cx="1176338" cy="866775"/>
        </p:xfrm>
        <a:graphic>
          <a:graphicData uri="http://schemas.openxmlformats.org/presentationml/2006/ole">
            <mc:AlternateContent xmlns:mc="http://schemas.openxmlformats.org/markup-compatibility/2006">
              <mc:Choice xmlns:v="urn:schemas-microsoft-com:vml" Requires="v">
                <p:oleObj name="Equation" r:id="rId6" imgW="431425" imgH="317225" progId="">
                  <p:embed/>
                </p:oleObj>
              </mc:Choice>
              <mc:Fallback>
                <p:oleObj name="Equation" r:id="rId6" imgW="431425" imgH="317225" progId="">
                  <p:embed/>
                  <p:pic>
                    <p:nvPicPr>
                      <p:cNvPr id="4096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1200" y="3733800"/>
                        <a:ext cx="1176338"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0" y="5562600"/>
            <a:ext cx="9144000" cy="954107"/>
          </a:xfrm>
          <a:prstGeom prst="rect">
            <a:avLst/>
          </a:prstGeom>
          <a:noFill/>
        </p:spPr>
        <p:txBody>
          <a:bodyPr wrap="square" rtlCol="0">
            <a:spAutoFit/>
          </a:bodyPr>
          <a:lstStyle/>
          <a:p>
            <a:pPr algn="just"/>
            <a:r>
              <a:rPr lang="en-US" sz="28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Design a Hartley oscillator at frequency of 5 MHz and verify it using </a:t>
            </a:r>
            <a:r>
              <a:rPr lang="en-US" sz="2800" dirty="0" err="1">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Multisim</a:t>
            </a:r>
            <a:r>
              <a:rPr lang="en-US" sz="28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800" dirty="0" err="1">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MyDaq</a:t>
            </a:r>
            <a:r>
              <a:rPr lang="en-US" sz="28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a:t>
            </a:r>
          </a:p>
        </p:txBody>
      </p:sp>
      <p:graphicFrame>
        <p:nvGraphicFramePr>
          <p:cNvPr id="45061" name="Object 5"/>
          <p:cNvGraphicFramePr>
            <a:graphicFrameLocks noChangeAspect="1"/>
          </p:cNvGraphicFramePr>
          <p:nvPr/>
        </p:nvGraphicFramePr>
        <p:xfrm>
          <a:off x="2057400" y="4495800"/>
          <a:ext cx="1246188" cy="866775"/>
        </p:xfrm>
        <a:graphic>
          <a:graphicData uri="http://schemas.openxmlformats.org/presentationml/2006/ole">
            <mc:AlternateContent xmlns:mc="http://schemas.openxmlformats.org/markup-compatibility/2006">
              <mc:Choice xmlns:v="urn:schemas-microsoft-com:vml" Requires="v">
                <p:oleObj name="Equation" r:id="rId8" imgW="457002" imgH="317362" progId="">
                  <p:embed/>
                </p:oleObj>
              </mc:Choice>
              <mc:Fallback>
                <p:oleObj name="Equation" r:id="rId8" imgW="457002" imgH="317362" progId="">
                  <p:embed/>
                  <p:pic>
                    <p:nvPicPr>
                      <p:cNvPr id="45061"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7400" y="4495800"/>
                        <a:ext cx="1246188"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linds(horizontal)">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457200" y="76200"/>
            <a:ext cx="8229600" cy="1143000"/>
          </a:xfrm>
        </p:spPr>
        <p:txBody>
          <a:bodyPr/>
          <a:lstStyle/>
          <a:p>
            <a:r>
              <a:rPr lang="en-US" dirty="0"/>
              <a:t>Crystal Oscillator</a:t>
            </a:r>
          </a:p>
        </p:txBody>
      </p:sp>
      <p:sp>
        <p:nvSpPr>
          <p:cNvPr id="3" name="Content Placeholder 2"/>
          <p:cNvSpPr>
            <a:spLocks noGrp="1"/>
          </p:cNvSpPr>
          <p:nvPr>
            <p:ph idx="1"/>
          </p:nvPr>
        </p:nvSpPr>
        <p:spPr>
          <a:xfrm>
            <a:off x="457200" y="990600"/>
            <a:ext cx="8229600" cy="4525963"/>
          </a:xfrm>
        </p:spPr>
        <p:txBody>
          <a:bodyPr/>
          <a:lstStyle/>
          <a:p>
            <a:pPr>
              <a:spcBef>
                <a:spcPct val="50000"/>
              </a:spcBef>
              <a:defRPr/>
            </a:pPr>
            <a:r>
              <a:rPr lang="en-US" sz="2400" b="0" dirty="0"/>
              <a:t> </a:t>
            </a:r>
            <a:r>
              <a:rPr lang="en-US" sz="2400" b="0" dirty="0">
                <a:solidFill>
                  <a:schemeClr val="tx1"/>
                </a:solidFill>
              </a:rPr>
              <a:t>Most communications and digital applications require the use of oscillators with </a:t>
            </a:r>
            <a:r>
              <a:rPr lang="en-US" sz="2400" b="0" dirty="0">
                <a:solidFill>
                  <a:srgbClr val="0000FF"/>
                </a:solidFill>
                <a:effectLst>
                  <a:outerShdw blurRad="38100" dist="38100" dir="2700000" algn="tl">
                    <a:srgbClr val="C0C0C0"/>
                  </a:outerShdw>
                </a:effectLst>
              </a:rPr>
              <a:t>extremely stable output</a:t>
            </a:r>
            <a:r>
              <a:rPr lang="en-US" sz="2400" b="0" dirty="0">
                <a:solidFill>
                  <a:schemeClr val="tx2"/>
                </a:solidFill>
              </a:rPr>
              <a:t>.</a:t>
            </a:r>
            <a:r>
              <a:rPr lang="en-US" sz="2400" b="0" dirty="0"/>
              <a:t> </a:t>
            </a:r>
            <a:r>
              <a:rPr lang="en-US" sz="2400" b="0" dirty="0">
                <a:solidFill>
                  <a:schemeClr val="tx1"/>
                </a:solidFill>
              </a:rPr>
              <a:t>Crystal oscillators are invented to overcome the </a:t>
            </a:r>
            <a:r>
              <a:rPr lang="en-US" sz="2400" b="0" dirty="0">
                <a:solidFill>
                  <a:srgbClr val="0000FF"/>
                </a:solidFill>
                <a:effectLst>
                  <a:outerShdw blurRad="38100" dist="38100" dir="2700000" algn="tl">
                    <a:srgbClr val="C0C0C0"/>
                  </a:outerShdw>
                </a:effectLst>
              </a:rPr>
              <a:t>output fluctuation</a:t>
            </a:r>
            <a:r>
              <a:rPr lang="en-US" sz="2400" b="0" dirty="0">
                <a:solidFill>
                  <a:schemeClr val="tx2"/>
                </a:solidFill>
              </a:rPr>
              <a:t> </a:t>
            </a:r>
            <a:r>
              <a:rPr lang="en-US" sz="2400" b="0" dirty="0">
                <a:solidFill>
                  <a:schemeClr val="tx1"/>
                </a:solidFill>
              </a:rPr>
              <a:t>experienced by conventional oscillators. </a:t>
            </a:r>
          </a:p>
          <a:p>
            <a:pPr>
              <a:spcBef>
                <a:spcPct val="50000"/>
              </a:spcBef>
              <a:defRPr/>
            </a:pPr>
            <a:r>
              <a:rPr lang="en-US" sz="2400" b="0" dirty="0">
                <a:solidFill>
                  <a:schemeClr val="tx1"/>
                </a:solidFill>
              </a:rPr>
              <a:t>Crystals used in electronic applications consist of a quartz wafer held between two metal plates and housed in a </a:t>
            </a:r>
            <a:r>
              <a:rPr lang="en-US" sz="2400" b="0" dirty="0" err="1">
                <a:solidFill>
                  <a:schemeClr val="tx1"/>
                </a:solidFill>
              </a:rPr>
              <a:t>a</a:t>
            </a:r>
            <a:r>
              <a:rPr lang="en-US" sz="2400" b="0" dirty="0">
                <a:solidFill>
                  <a:schemeClr val="tx1"/>
                </a:solidFill>
              </a:rPr>
              <a:t> package as shown in Fig. 9 (a) and (b).</a:t>
            </a:r>
          </a:p>
        </p:txBody>
      </p:sp>
      <p:pic>
        <p:nvPicPr>
          <p:cNvPr id="59396" name="Picture 5" descr="fg16_02500"/>
          <p:cNvPicPr>
            <a:picLocks noChangeAspect="1" noChangeArrowheads="1"/>
          </p:cNvPicPr>
          <p:nvPr/>
        </p:nvPicPr>
        <p:blipFill>
          <a:blip r:embed="rId2"/>
          <a:srcRect t="3716" b="5768"/>
          <a:stretch>
            <a:fillRect/>
          </a:stretch>
        </p:blipFill>
        <p:spPr bwMode="auto">
          <a:xfrm>
            <a:off x="1524000" y="4038600"/>
            <a:ext cx="6624638" cy="259080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US"/>
              <a:t>Crystal Oscillator</a:t>
            </a:r>
          </a:p>
        </p:txBody>
      </p:sp>
      <p:sp>
        <p:nvSpPr>
          <p:cNvPr id="3" name="Content Placeholder 2"/>
          <p:cNvSpPr>
            <a:spLocks noGrp="1"/>
          </p:cNvSpPr>
          <p:nvPr>
            <p:ph idx="1"/>
          </p:nvPr>
        </p:nvSpPr>
        <p:spPr/>
        <p:txBody>
          <a:bodyPr>
            <a:normAutofit fontScale="92500" lnSpcReduction="20000"/>
          </a:bodyPr>
          <a:lstStyle/>
          <a:p>
            <a:pPr algn="just">
              <a:defRPr/>
            </a:pPr>
            <a:r>
              <a:rPr lang="en-US" b="0" dirty="0"/>
              <a:t> </a:t>
            </a:r>
            <a:r>
              <a:rPr lang="en-US" b="0" dirty="0">
                <a:solidFill>
                  <a:schemeClr val="tx1"/>
                </a:solidFill>
              </a:rPr>
              <a:t>Piezoelectric Effect </a:t>
            </a:r>
          </a:p>
          <a:p>
            <a:pPr lvl="1" algn="just">
              <a:defRPr/>
            </a:pPr>
            <a:r>
              <a:rPr lang="en-US" dirty="0">
                <a:solidFill>
                  <a:schemeClr val="tx1"/>
                </a:solidFill>
              </a:rPr>
              <a:t>The quartz crystal is made of silicon oxide (SiO</a:t>
            </a:r>
            <a:r>
              <a:rPr lang="en-US" baseline="-25000" dirty="0">
                <a:solidFill>
                  <a:schemeClr val="tx1"/>
                </a:solidFill>
              </a:rPr>
              <a:t>2</a:t>
            </a:r>
            <a:r>
              <a:rPr lang="en-US" dirty="0">
                <a:solidFill>
                  <a:schemeClr val="tx1"/>
                </a:solidFill>
              </a:rPr>
              <a:t>) and exhibits a property called the </a:t>
            </a:r>
            <a:r>
              <a:rPr lang="en-US" i="1" dirty="0">
                <a:solidFill>
                  <a:srgbClr val="FF0000"/>
                </a:solidFill>
                <a:effectLst>
                  <a:outerShdw blurRad="38100" dist="38100" dir="2700000" algn="tl">
                    <a:srgbClr val="C0C0C0"/>
                  </a:outerShdw>
                </a:effectLst>
              </a:rPr>
              <a:t>piezoelectric</a:t>
            </a:r>
          </a:p>
          <a:p>
            <a:pPr lvl="1" algn="just">
              <a:spcBef>
                <a:spcPct val="50000"/>
              </a:spcBef>
              <a:defRPr/>
            </a:pPr>
            <a:r>
              <a:rPr lang="en-US" dirty="0">
                <a:solidFill>
                  <a:schemeClr val="tx1"/>
                </a:solidFill>
              </a:rPr>
              <a:t>When a changing an alternating voltage is applied across the crystal, it vibrates at the frequency of the applied voltage. In the other word, the frequency of the applied ac voltage is equal to the natural resonant frequency of the crystal. </a:t>
            </a:r>
          </a:p>
          <a:p>
            <a:pPr lvl="1" algn="just">
              <a:spcBef>
                <a:spcPct val="50000"/>
              </a:spcBef>
              <a:defRPr/>
            </a:pPr>
            <a:r>
              <a:rPr lang="en-US" dirty="0">
                <a:solidFill>
                  <a:schemeClr val="tx1"/>
                </a:solidFill>
              </a:rPr>
              <a:t>The thinner the crystal, higher its frequency of vibration. This phenomenon is called piezoelectric effect.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How the modern world keeps track of time - An introduction to crystal oscillators">
            <a:hlinkClick r:id="" action="ppaction://media"/>
            <a:extLst>
              <a:ext uri="{FF2B5EF4-FFF2-40B4-BE49-F238E27FC236}">
                <a16:creationId xmlns:a16="http://schemas.microsoft.com/office/drawing/2014/main" id="{BD32D4E0-45CF-F7E9-42FD-48A2C8DC32DE}"/>
              </a:ext>
            </a:extLst>
          </p:cNvPr>
          <p:cNvPicPr>
            <a:picLocks noRot="1" noChangeAspect="1"/>
          </p:cNvPicPr>
          <p:nvPr>
            <a:videoFile r:link="rId1"/>
          </p:nvPr>
        </p:nvPicPr>
        <p:blipFill>
          <a:blip r:embed="rId3"/>
          <a:stretch>
            <a:fillRect/>
          </a:stretch>
        </p:blipFill>
        <p:spPr>
          <a:xfrm>
            <a:off x="152400" y="381000"/>
            <a:ext cx="8766371" cy="4953000"/>
          </a:xfrm>
          <a:prstGeom prst="rect">
            <a:avLst/>
          </a:prstGeom>
        </p:spPr>
      </p:pic>
      <p:sp>
        <p:nvSpPr>
          <p:cNvPr id="6" name="TextBox 5">
            <a:extLst>
              <a:ext uri="{FF2B5EF4-FFF2-40B4-BE49-F238E27FC236}">
                <a16:creationId xmlns:a16="http://schemas.microsoft.com/office/drawing/2014/main" id="{DE125AC9-3F22-8762-A830-C6576E1C513D}"/>
              </a:ext>
            </a:extLst>
          </p:cNvPr>
          <p:cNvSpPr txBox="1"/>
          <p:nvPr/>
        </p:nvSpPr>
        <p:spPr>
          <a:xfrm>
            <a:off x="1257300" y="6172200"/>
            <a:ext cx="6629400" cy="369332"/>
          </a:xfrm>
          <a:prstGeom prst="rect">
            <a:avLst/>
          </a:prstGeom>
          <a:noFill/>
        </p:spPr>
        <p:txBody>
          <a:bodyPr wrap="square">
            <a:spAutoFit/>
          </a:bodyPr>
          <a:lstStyle/>
          <a:p>
            <a:pPr algn="ctr"/>
            <a:r>
              <a:rPr lang="en-US" dirty="0"/>
              <a:t>https://www.youtube.com/watch?v=fPKdDCiJDok</a:t>
            </a:r>
          </a:p>
        </p:txBody>
      </p:sp>
    </p:spTree>
    <p:extLst>
      <p:ext uri="{BB962C8B-B14F-4D97-AF65-F5344CB8AC3E}">
        <p14:creationId xmlns:p14="http://schemas.microsoft.com/office/powerpoint/2010/main" val="291640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19" descr="fg14_03200"/>
          <p:cNvPicPr>
            <a:picLocks noChangeAspect="1" noChangeArrowheads="1"/>
          </p:cNvPicPr>
          <p:nvPr/>
        </p:nvPicPr>
        <p:blipFill>
          <a:blip r:embed="rId2"/>
          <a:srcRect l="4364" t="2744" r="3999" b="4053"/>
          <a:stretch>
            <a:fillRect/>
          </a:stretch>
        </p:blipFill>
        <p:spPr bwMode="auto">
          <a:xfrm>
            <a:off x="5943600" y="3640138"/>
            <a:ext cx="2819400" cy="2836862"/>
          </a:xfrm>
          <a:prstGeom prst="rect">
            <a:avLst/>
          </a:prstGeom>
          <a:noFill/>
          <a:ln w="9525">
            <a:noFill/>
            <a:miter lim="800000"/>
            <a:headEnd/>
            <a:tailEnd/>
          </a:ln>
        </p:spPr>
      </p:pic>
      <p:sp>
        <p:nvSpPr>
          <p:cNvPr id="61443" name="Title 1"/>
          <p:cNvSpPr>
            <a:spLocks noGrp="1"/>
          </p:cNvSpPr>
          <p:nvPr>
            <p:ph type="title"/>
          </p:nvPr>
        </p:nvSpPr>
        <p:spPr/>
        <p:txBody>
          <a:bodyPr/>
          <a:lstStyle/>
          <a:p>
            <a:r>
              <a:rPr lang="en-US"/>
              <a:t>Crystal Oscillator</a:t>
            </a:r>
          </a:p>
        </p:txBody>
      </p:sp>
      <p:sp>
        <p:nvSpPr>
          <p:cNvPr id="61444" name="Content Placeholder 3"/>
          <p:cNvSpPr>
            <a:spLocks noGrp="1"/>
          </p:cNvSpPr>
          <p:nvPr>
            <p:ph sz="half" idx="1"/>
          </p:nvPr>
        </p:nvSpPr>
        <p:spPr>
          <a:xfrm>
            <a:off x="457200" y="1066800"/>
            <a:ext cx="5105400" cy="5059363"/>
          </a:xfrm>
        </p:spPr>
        <p:txBody>
          <a:bodyPr/>
          <a:lstStyle/>
          <a:p>
            <a:pPr algn="just"/>
            <a:r>
              <a:rPr lang="en-US" b="0" dirty="0">
                <a:solidFill>
                  <a:schemeClr val="tx1"/>
                </a:solidFill>
              </a:rPr>
              <a:t> Characteristic of Quartz Crystal</a:t>
            </a:r>
          </a:p>
          <a:p>
            <a:pPr lvl="1" algn="just">
              <a:spcBef>
                <a:spcPct val="50000"/>
              </a:spcBef>
            </a:pPr>
            <a:r>
              <a:rPr lang="en-US" sz="2000" dirty="0">
                <a:solidFill>
                  <a:schemeClr val="tx1"/>
                </a:solidFill>
              </a:rPr>
              <a:t>The crystal can have two resonant frequencies;</a:t>
            </a:r>
          </a:p>
          <a:p>
            <a:pPr lvl="1" algn="just">
              <a:spcBef>
                <a:spcPct val="50000"/>
              </a:spcBef>
            </a:pPr>
            <a:r>
              <a:rPr lang="en-US" sz="2000" dirty="0">
                <a:solidFill>
                  <a:schemeClr val="tx1"/>
                </a:solidFill>
              </a:rPr>
              <a:t>One is the series resonance frequency f</a:t>
            </a:r>
            <a:r>
              <a:rPr lang="en-US" sz="2000" baseline="-25000" dirty="0">
                <a:solidFill>
                  <a:schemeClr val="tx1"/>
                </a:solidFill>
              </a:rPr>
              <a:t>1</a:t>
            </a:r>
            <a:r>
              <a:rPr lang="en-US" sz="2000" dirty="0">
                <a:solidFill>
                  <a:schemeClr val="tx1"/>
                </a:solidFill>
              </a:rPr>
              <a:t> which occurs when X</a:t>
            </a:r>
            <a:r>
              <a:rPr lang="en-US" sz="2000" baseline="-25000" dirty="0">
                <a:solidFill>
                  <a:schemeClr val="tx1"/>
                </a:solidFill>
              </a:rPr>
              <a:t>L</a:t>
            </a:r>
            <a:r>
              <a:rPr lang="en-US" sz="2000" dirty="0">
                <a:solidFill>
                  <a:schemeClr val="tx1"/>
                </a:solidFill>
              </a:rPr>
              <a:t> = X</a:t>
            </a:r>
            <a:r>
              <a:rPr lang="en-US" sz="2000" baseline="-25000" dirty="0">
                <a:solidFill>
                  <a:schemeClr val="tx1"/>
                </a:solidFill>
              </a:rPr>
              <a:t>C</a:t>
            </a:r>
            <a:r>
              <a:rPr lang="en-US" sz="2000" dirty="0">
                <a:solidFill>
                  <a:schemeClr val="tx1"/>
                </a:solidFill>
              </a:rPr>
              <a:t>. At this frequency, crystal offers a very low impedance to the external circuit where Z = R. </a:t>
            </a:r>
          </a:p>
          <a:p>
            <a:pPr lvl="1" algn="just">
              <a:spcBef>
                <a:spcPct val="50000"/>
              </a:spcBef>
            </a:pPr>
            <a:r>
              <a:rPr lang="en-US" sz="2000" dirty="0">
                <a:solidFill>
                  <a:schemeClr val="tx1"/>
                </a:solidFill>
              </a:rPr>
              <a:t>The other is the parallel resonance (or </a:t>
            </a:r>
            <a:r>
              <a:rPr lang="en-US" sz="2000" dirty="0" err="1">
                <a:solidFill>
                  <a:schemeClr val="tx1"/>
                </a:solidFill>
              </a:rPr>
              <a:t>antiresonance</a:t>
            </a:r>
            <a:r>
              <a:rPr lang="en-US" sz="2000" dirty="0">
                <a:solidFill>
                  <a:schemeClr val="tx1"/>
                </a:solidFill>
              </a:rPr>
              <a:t>) frequency f</a:t>
            </a:r>
            <a:r>
              <a:rPr lang="en-US" sz="2000" baseline="-25000" dirty="0">
                <a:solidFill>
                  <a:schemeClr val="tx1"/>
                </a:solidFill>
              </a:rPr>
              <a:t>2</a:t>
            </a:r>
            <a:r>
              <a:rPr lang="en-US" sz="2000" dirty="0">
                <a:solidFill>
                  <a:schemeClr val="tx1"/>
                </a:solidFill>
              </a:rPr>
              <a:t> which occurs when reactance of the series leg equals the reactance of C</a:t>
            </a:r>
            <a:r>
              <a:rPr lang="en-US" sz="2000" baseline="-25000" dirty="0">
                <a:solidFill>
                  <a:schemeClr val="tx1"/>
                </a:solidFill>
              </a:rPr>
              <a:t>M</a:t>
            </a:r>
            <a:r>
              <a:rPr lang="en-US" sz="2000" dirty="0">
                <a:solidFill>
                  <a:schemeClr val="tx1"/>
                </a:solidFill>
              </a:rPr>
              <a:t>. At this frequency, crystal offers a very high impedance to the external circuit</a:t>
            </a:r>
          </a:p>
        </p:txBody>
      </p:sp>
      <p:grpSp>
        <p:nvGrpSpPr>
          <p:cNvPr id="2" name="Group 26"/>
          <p:cNvGrpSpPr>
            <a:grpSpLocks/>
          </p:cNvGrpSpPr>
          <p:nvPr/>
        </p:nvGrpSpPr>
        <p:grpSpPr bwMode="auto">
          <a:xfrm>
            <a:off x="6416675" y="1030288"/>
            <a:ext cx="1812925" cy="3313112"/>
            <a:chOff x="4513" y="164"/>
            <a:chExt cx="1187" cy="2359"/>
          </a:xfrm>
        </p:grpSpPr>
        <p:pic>
          <p:nvPicPr>
            <p:cNvPr id="61446" name="Picture 27"/>
            <p:cNvPicPr>
              <a:picLocks noChangeAspect="1" noChangeArrowheads="1"/>
            </p:cNvPicPr>
            <p:nvPr/>
          </p:nvPicPr>
          <p:blipFill>
            <a:blip r:embed="rId3"/>
            <a:srcRect/>
            <a:stretch>
              <a:fillRect/>
            </a:stretch>
          </p:blipFill>
          <p:spPr bwMode="auto">
            <a:xfrm>
              <a:off x="4513" y="164"/>
              <a:ext cx="1187" cy="2359"/>
            </a:xfrm>
            <a:prstGeom prst="rect">
              <a:avLst/>
            </a:prstGeom>
            <a:noFill/>
            <a:ln w="9525">
              <a:noFill/>
              <a:miter lim="800000"/>
              <a:headEnd/>
              <a:tailEnd/>
            </a:ln>
          </p:spPr>
        </p:pic>
        <p:sp>
          <p:nvSpPr>
            <p:cNvPr id="61447" name="Text Box 28"/>
            <p:cNvSpPr txBox="1">
              <a:spLocks noChangeArrowheads="1"/>
            </p:cNvSpPr>
            <p:nvPr/>
          </p:nvSpPr>
          <p:spPr bwMode="auto">
            <a:xfrm>
              <a:off x="4649" y="799"/>
              <a:ext cx="318" cy="283"/>
            </a:xfrm>
            <a:prstGeom prst="rect">
              <a:avLst/>
            </a:prstGeom>
            <a:noFill/>
            <a:ln w="9525">
              <a:noFill/>
              <a:miter lim="800000"/>
              <a:headEnd/>
              <a:tailEnd/>
            </a:ln>
          </p:spPr>
          <p:txBody>
            <a:bodyPr>
              <a:spAutoFit/>
            </a:bodyPr>
            <a:lstStyle/>
            <a:p>
              <a:pPr algn="ctr">
                <a:spcBef>
                  <a:spcPct val="50000"/>
                </a:spcBef>
              </a:pPr>
              <a:r>
                <a:rPr lang="en-US" sz="2000" b="1">
                  <a:solidFill>
                    <a:srgbClr val="FF3399"/>
                  </a:solidFill>
                </a:rPr>
                <a:t>R</a:t>
              </a:r>
            </a:p>
          </p:txBody>
        </p:sp>
        <p:sp>
          <p:nvSpPr>
            <p:cNvPr id="61448" name="Text Box 29"/>
            <p:cNvSpPr txBox="1">
              <a:spLocks noChangeArrowheads="1"/>
            </p:cNvSpPr>
            <p:nvPr/>
          </p:nvSpPr>
          <p:spPr bwMode="auto">
            <a:xfrm>
              <a:off x="4640" y="1281"/>
              <a:ext cx="318" cy="282"/>
            </a:xfrm>
            <a:prstGeom prst="rect">
              <a:avLst/>
            </a:prstGeom>
            <a:noFill/>
            <a:ln w="9525">
              <a:noFill/>
              <a:miter lim="800000"/>
              <a:headEnd/>
              <a:tailEnd/>
            </a:ln>
          </p:spPr>
          <p:txBody>
            <a:bodyPr>
              <a:spAutoFit/>
            </a:bodyPr>
            <a:lstStyle/>
            <a:p>
              <a:pPr algn="ctr">
                <a:spcBef>
                  <a:spcPct val="50000"/>
                </a:spcBef>
              </a:pPr>
              <a:r>
                <a:rPr lang="en-US" sz="2000" b="1">
                  <a:solidFill>
                    <a:srgbClr val="00CC00"/>
                  </a:solidFill>
                </a:rPr>
                <a:t>L</a:t>
              </a:r>
            </a:p>
          </p:txBody>
        </p:sp>
        <p:sp>
          <p:nvSpPr>
            <p:cNvPr id="61449" name="Text Box 30"/>
            <p:cNvSpPr txBox="1">
              <a:spLocks noChangeArrowheads="1"/>
            </p:cNvSpPr>
            <p:nvPr/>
          </p:nvSpPr>
          <p:spPr bwMode="auto">
            <a:xfrm>
              <a:off x="4640" y="1720"/>
              <a:ext cx="318" cy="283"/>
            </a:xfrm>
            <a:prstGeom prst="rect">
              <a:avLst/>
            </a:prstGeom>
            <a:noFill/>
            <a:ln w="9525">
              <a:noFill/>
              <a:miter lim="800000"/>
              <a:headEnd/>
              <a:tailEnd/>
            </a:ln>
          </p:spPr>
          <p:txBody>
            <a:bodyPr>
              <a:spAutoFit/>
            </a:bodyPr>
            <a:lstStyle/>
            <a:p>
              <a:pPr algn="ctr">
                <a:spcBef>
                  <a:spcPct val="50000"/>
                </a:spcBef>
              </a:pPr>
              <a:r>
                <a:rPr lang="en-US" sz="2000" b="1">
                  <a:solidFill>
                    <a:srgbClr val="FF9900"/>
                  </a:solidFill>
                </a:rPr>
                <a:t>C</a:t>
              </a:r>
            </a:p>
          </p:txBody>
        </p:sp>
        <p:sp>
          <p:nvSpPr>
            <p:cNvPr id="61450" name="Text Box 31"/>
            <p:cNvSpPr txBox="1">
              <a:spLocks noChangeArrowheads="1"/>
            </p:cNvSpPr>
            <p:nvPr/>
          </p:nvSpPr>
          <p:spPr bwMode="auto">
            <a:xfrm>
              <a:off x="5141" y="1202"/>
              <a:ext cx="408" cy="282"/>
            </a:xfrm>
            <a:prstGeom prst="rect">
              <a:avLst/>
            </a:prstGeom>
            <a:noFill/>
            <a:ln w="9525">
              <a:noFill/>
              <a:miter lim="800000"/>
              <a:headEnd/>
              <a:tailEnd/>
            </a:ln>
          </p:spPr>
          <p:txBody>
            <a:bodyPr>
              <a:spAutoFit/>
            </a:bodyPr>
            <a:lstStyle/>
            <a:p>
              <a:pPr algn="ctr">
                <a:spcBef>
                  <a:spcPct val="50000"/>
                </a:spcBef>
              </a:pPr>
              <a:r>
                <a:rPr lang="en-US" sz="2000" b="1">
                  <a:solidFill>
                    <a:srgbClr val="00CCFF"/>
                  </a:solidFill>
                </a:rPr>
                <a:t>C</a:t>
              </a:r>
              <a:r>
                <a:rPr lang="en-US" sz="2000" b="1" baseline="-25000">
                  <a:solidFill>
                    <a:srgbClr val="00CCFF"/>
                  </a:solidFill>
                </a:rPr>
                <a:t>M</a:t>
              </a:r>
              <a:endParaRPr lang="en-US" sz="2000" b="1">
                <a:solidFill>
                  <a:srgbClr val="00CCFF"/>
                </a:solidFill>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457200" y="228600"/>
            <a:ext cx="8229600" cy="1143000"/>
          </a:xfrm>
        </p:spPr>
        <p:txBody>
          <a:bodyPr/>
          <a:lstStyle/>
          <a:p>
            <a:r>
              <a:rPr lang="en-US" dirty="0"/>
              <a:t>Crystal Oscillator</a:t>
            </a:r>
          </a:p>
        </p:txBody>
      </p:sp>
      <p:sp>
        <p:nvSpPr>
          <p:cNvPr id="62467" name="Content Placeholder 4"/>
          <p:cNvSpPr>
            <a:spLocks noGrp="1"/>
          </p:cNvSpPr>
          <p:nvPr>
            <p:ph idx="1"/>
          </p:nvPr>
        </p:nvSpPr>
        <p:spPr>
          <a:xfrm>
            <a:off x="457200" y="1219200"/>
            <a:ext cx="8229600" cy="2057400"/>
          </a:xfrm>
        </p:spPr>
        <p:txBody>
          <a:bodyPr/>
          <a:lstStyle/>
          <a:p>
            <a:r>
              <a:rPr lang="en-US" b="0" dirty="0">
                <a:solidFill>
                  <a:schemeClr val="tx1"/>
                </a:solidFill>
              </a:rPr>
              <a:t> The crystal is connected as a series element in the feedback path from collector to the base so that it is excited in the series-resonance mode</a:t>
            </a:r>
          </a:p>
        </p:txBody>
      </p:sp>
      <p:grpSp>
        <p:nvGrpSpPr>
          <p:cNvPr id="2" name="Group 9"/>
          <p:cNvGrpSpPr>
            <a:grpSpLocks/>
          </p:cNvGrpSpPr>
          <p:nvPr/>
        </p:nvGrpSpPr>
        <p:grpSpPr bwMode="auto">
          <a:xfrm>
            <a:off x="1060450" y="3238500"/>
            <a:ext cx="7473950" cy="3314700"/>
            <a:chOff x="838200" y="2362200"/>
            <a:chExt cx="7473950" cy="3886200"/>
          </a:xfrm>
        </p:grpSpPr>
        <p:pic>
          <p:nvPicPr>
            <p:cNvPr id="62469" name="Picture 4" descr="fg14_03300"/>
            <p:cNvPicPr>
              <a:picLocks noChangeAspect="1" noChangeArrowheads="1"/>
            </p:cNvPicPr>
            <p:nvPr/>
          </p:nvPicPr>
          <p:blipFill>
            <a:blip r:embed="rId2"/>
            <a:srcRect t="3587" b="4933"/>
            <a:stretch>
              <a:fillRect/>
            </a:stretch>
          </p:blipFill>
          <p:spPr bwMode="auto">
            <a:xfrm>
              <a:off x="838200" y="2362200"/>
              <a:ext cx="7473950" cy="3886200"/>
            </a:xfrm>
            <a:prstGeom prst="rect">
              <a:avLst/>
            </a:prstGeom>
            <a:noFill/>
            <a:ln w="9525">
              <a:noFill/>
              <a:miter lim="800000"/>
              <a:headEnd/>
              <a:tailEnd/>
            </a:ln>
          </p:spPr>
        </p:pic>
        <p:sp>
          <p:nvSpPr>
            <p:cNvPr id="62470" name="Text Box 6"/>
            <p:cNvSpPr txBox="1">
              <a:spLocks noChangeArrowheads="1"/>
            </p:cNvSpPr>
            <p:nvPr/>
          </p:nvSpPr>
          <p:spPr bwMode="auto">
            <a:xfrm>
              <a:off x="2740282" y="4646077"/>
              <a:ext cx="652691" cy="366464"/>
            </a:xfrm>
            <a:prstGeom prst="rect">
              <a:avLst/>
            </a:prstGeom>
            <a:noFill/>
            <a:ln w="9525">
              <a:noFill/>
              <a:miter lim="800000"/>
              <a:headEnd/>
              <a:tailEnd/>
            </a:ln>
          </p:spPr>
          <p:txBody>
            <a:bodyPr>
              <a:spAutoFit/>
            </a:bodyPr>
            <a:lstStyle/>
            <a:p>
              <a:pPr algn="ctr">
                <a:spcBef>
                  <a:spcPct val="50000"/>
                </a:spcBef>
              </a:pPr>
              <a:r>
                <a:rPr lang="en-US" b="1">
                  <a:solidFill>
                    <a:srgbClr val="FF0000"/>
                  </a:solidFill>
                </a:rPr>
                <a:t>BJT</a:t>
              </a:r>
            </a:p>
          </p:txBody>
        </p:sp>
        <p:sp>
          <p:nvSpPr>
            <p:cNvPr id="62471" name="Text Box 7"/>
            <p:cNvSpPr txBox="1">
              <a:spLocks noChangeArrowheads="1"/>
            </p:cNvSpPr>
            <p:nvPr/>
          </p:nvSpPr>
          <p:spPr bwMode="auto">
            <a:xfrm>
              <a:off x="6296487" y="5095900"/>
              <a:ext cx="652691" cy="366464"/>
            </a:xfrm>
            <a:prstGeom prst="rect">
              <a:avLst/>
            </a:prstGeom>
            <a:noFill/>
            <a:ln w="9525">
              <a:noFill/>
              <a:miter lim="800000"/>
              <a:headEnd/>
              <a:tailEnd/>
            </a:ln>
          </p:spPr>
          <p:txBody>
            <a:bodyPr>
              <a:spAutoFit/>
            </a:bodyPr>
            <a:lstStyle/>
            <a:p>
              <a:pPr algn="ctr">
                <a:spcBef>
                  <a:spcPct val="50000"/>
                </a:spcBef>
              </a:pPr>
              <a:r>
                <a:rPr lang="en-US" b="1">
                  <a:solidFill>
                    <a:srgbClr val="FF0000"/>
                  </a:solidFill>
                </a:rPr>
                <a:t>FET</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itle 1"/>
          <p:cNvSpPr>
            <a:spLocks noGrp="1"/>
          </p:cNvSpPr>
          <p:nvPr>
            <p:ph type="title"/>
          </p:nvPr>
        </p:nvSpPr>
        <p:spPr/>
        <p:txBody>
          <a:bodyPr/>
          <a:lstStyle/>
          <a:p>
            <a:r>
              <a:rPr lang="en-US"/>
              <a:t>Crystal Oscillator</a:t>
            </a:r>
          </a:p>
        </p:txBody>
      </p:sp>
      <p:sp>
        <p:nvSpPr>
          <p:cNvPr id="33796" name="Content Placeholder 2"/>
          <p:cNvSpPr>
            <a:spLocks noGrp="1"/>
          </p:cNvSpPr>
          <p:nvPr>
            <p:ph idx="1"/>
          </p:nvPr>
        </p:nvSpPr>
        <p:spPr/>
        <p:txBody>
          <a:bodyPr>
            <a:normAutofit lnSpcReduction="10000"/>
          </a:bodyPr>
          <a:lstStyle/>
          <a:p>
            <a:pPr algn="just">
              <a:spcBef>
                <a:spcPct val="50000"/>
              </a:spcBef>
            </a:pPr>
            <a:r>
              <a:rPr lang="en-US" sz="2200" b="0" dirty="0">
                <a:solidFill>
                  <a:schemeClr val="tx1"/>
                </a:solidFill>
              </a:rPr>
              <a:t> Since, in series resonance, crystal impedance is the smallest that causes the crystal provides the largest positive feedback.</a:t>
            </a:r>
          </a:p>
          <a:p>
            <a:pPr algn="just">
              <a:spcBef>
                <a:spcPct val="50000"/>
              </a:spcBef>
            </a:pPr>
            <a:r>
              <a:rPr lang="en-US" sz="2200" b="0" dirty="0">
                <a:solidFill>
                  <a:schemeClr val="tx1"/>
                </a:solidFill>
              </a:rPr>
              <a:t>Resistors R</a:t>
            </a:r>
            <a:r>
              <a:rPr lang="en-US" sz="2200" b="0" baseline="-25000" dirty="0">
                <a:solidFill>
                  <a:schemeClr val="tx1"/>
                </a:solidFill>
              </a:rPr>
              <a:t>1</a:t>
            </a:r>
            <a:r>
              <a:rPr lang="en-US" sz="2200" b="0" dirty="0">
                <a:solidFill>
                  <a:schemeClr val="tx1"/>
                </a:solidFill>
              </a:rPr>
              <a:t>, R</a:t>
            </a:r>
            <a:r>
              <a:rPr lang="en-US" sz="2200" b="0" baseline="-25000" dirty="0">
                <a:solidFill>
                  <a:schemeClr val="tx1"/>
                </a:solidFill>
              </a:rPr>
              <a:t>2</a:t>
            </a:r>
            <a:r>
              <a:rPr lang="en-US" sz="2200" b="0" dirty="0">
                <a:solidFill>
                  <a:schemeClr val="tx1"/>
                </a:solidFill>
              </a:rPr>
              <a:t>, and R</a:t>
            </a:r>
            <a:r>
              <a:rPr lang="en-US" sz="2200" b="0" baseline="-25000" dirty="0">
                <a:solidFill>
                  <a:schemeClr val="tx1"/>
                </a:solidFill>
              </a:rPr>
              <a:t>E </a:t>
            </a:r>
            <a:r>
              <a:rPr lang="en-US" sz="2200" b="0" dirty="0">
                <a:solidFill>
                  <a:schemeClr val="tx1"/>
                </a:solidFill>
              </a:rPr>
              <a:t>provide a voltage-divider stabilized dc bias circuit. Capacitor C</a:t>
            </a:r>
            <a:r>
              <a:rPr lang="en-US" sz="2200" b="0" baseline="-25000" dirty="0">
                <a:solidFill>
                  <a:schemeClr val="tx1"/>
                </a:solidFill>
              </a:rPr>
              <a:t>E</a:t>
            </a:r>
            <a:r>
              <a:rPr lang="en-US" sz="2200" b="0" dirty="0">
                <a:solidFill>
                  <a:schemeClr val="tx1"/>
                </a:solidFill>
              </a:rPr>
              <a:t> provides ac bypass of the emitter resistor, R</a:t>
            </a:r>
            <a:r>
              <a:rPr lang="en-US" sz="2200" b="0" baseline="-25000" dirty="0">
                <a:solidFill>
                  <a:schemeClr val="tx1"/>
                </a:solidFill>
              </a:rPr>
              <a:t>E</a:t>
            </a:r>
            <a:r>
              <a:rPr lang="en-US" sz="2200" b="0" dirty="0">
                <a:solidFill>
                  <a:schemeClr val="tx1"/>
                </a:solidFill>
              </a:rPr>
              <a:t> to avoid degeneration. </a:t>
            </a:r>
          </a:p>
          <a:p>
            <a:pPr algn="just">
              <a:spcBef>
                <a:spcPct val="50000"/>
              </a:spcBef>
            </a:pPr>
            <a:r>
              <a:rPr lang="en-US" sz="2200" b="0" dirty="0">
                <a:solidFill>
                  <a:schemeClr val="tx1"/>
                </a:solidFill>
              </a:rPr>
              <a:t>The RFC coil provides dc collector load and also prevents any ac signal from entering the dc supply. </a:t>
            </a:r>
          </a:p>
          <a:p>
            <a:pPr algn="just">
              <a:spcBef>
                <a:spcPct val="50000"/>
              </a:spcBef>
            </a:pPr>
            <a:r>
              <a:rPr lang="en-US" sz="2200" b="0" dirty="0">
                <a:solidFill>
                  <a:schemeClr val="tx1"/>
                </a:solidFill>
              </a:rPr>
              <a:t>The coupling capacitor C</a:t>
            </a:r>
            <a:r>
              <a:rPr lang="en-US" sz="2200" b="0" baseline="-25000" dirty="0">
                <a:solidFill>
                  <a:schemeClr val="tx1"/>
                </a:solidFill>
              </a:rPr>
              <a:t>C</a:t>
            </a:r>
            <a:r>
              <a:rPr lang="en-US" sz="2200" b="0" dirty="0">
                <a:solidFill>
                  <a:schemeClr val="tx1"/>
                </a:solidFill>
              </a:rPr>
              <a:t> has negligible reactance at circuit operating frequency but blocks any dc flow between collector and base.</a:t>
            </a:r>
          </a:p>
          <a:p>
            <a:pPr algn="just">
              <a:spcBef>
                <a:spcPct val="50000"/>
              </a:spcBef>
            </a:pPr>
            <a:r>
              <a:rPr lang="en-US" sz="2200" b="0" dirty="0">
                <a:solidFill>
                  <a:schemeClr val="tx1"/>
                </a:solidFill>
              </a:rPr>
              <a:t>The oscillation frequency equals the series-resonance frequency of the crystal and is given by: </a:t>
            </a:r>
          </a:p>
          <a:p>
            <a:pPr algn="just"/>
            <a:endParaRPr lang="en-US" sz="2200" b="0" dirty="0">
              <a:solidFill>
                <a:schemeClr val="tx1"/>
              </a:solidFill>
            </a:endParaRPr>
          </a:p>
        </p:txBody>
      </p:sp>
      <p:graphicFrame>
        <p:nvGraphicFramePr>
          <p:cNvPr id="33794" name="Object 2"/>
          <p:cNvGraphicFramePr>
            <a:graphicFrameLocks noGrp="1" noChangeAspect="1"/>
          </p:cNvGraphicFramePr>
          <p:nvPr/>
        </p:nvGraphicFramePr>
        <p:xfrm>
          <a:off x="4114800" y="5638800"/>
          <a:ext cx="2057400" cy="1001713"/>
        </p:xfrm>
        <a:graphic>
          <a:graphicData uri="http://schemas.openxmlformats.org/presentationml/2006/ole">
            <mc:AlternateContent xmlns:mc="http://schemas.openxmlformats.org/markup-compatibility/2006">
              <mc:Choice xmlns:v="urn:schemas-microsoft-com:vml" Requires="v">
                <p:oleObj name="Equation" r:id="rId2" imgW="939600" imgH="457200" progId="Equation.3">
                  <p:embed/>
                </p:oleObj>
              </mc:Choice>
              <mc:Fallback>
                <p:oleObj name="Equation" r:id="rId2" imgW="939600" imgH="457200" progId="Equation.3">
                  <p:embed/>
                  <p:pic>
                    <p:nvPicPr>
                      <p:cNvPr id="33794" name="Object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5638800"/>
                        <a:ext cx="2057400" cy="1001713"/>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533400" y="381000"/>
          <a:ext cx="8077201" cy="6185106"/>
        </p:xfrm>
        <a:graphic>
          <a:graphicData uri="http://schemas.openxmlformats.org/drawingml/2006/table">
            <a:tbl>
              <a:tblPr firstRow="1" bandRow="1">
                <a:tableStyleId>{93296810-A885-4BE3-A3E7-6D5BEEA58F35}</a:tableStyleId>
              </a:tblPr>
              <a:tblGrid>
                <a:gridCol w="1766888">
                  <a:extLst>
                    <a:ext uri="{9D8B030D-6E8A-4147-A177-3AD203B41FA5}">
                      <a16:colId xmlns:a16="http://schemas.microsoft.com/office/drawing/2014/main" val="20000"/>
                    </a:ext>
                  </a:extLst>
                </a:gridCol>
                <a:gridCol w="2195512">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1">
                  <a:extLst>
                    <a:ext uri="{9D8B030D-6E8A-4147-A177-3AD203B41FA5}">
                      <a16:colId xmlns:a16="http://schemas.microsoft.com/office/drawing/2014/main" val="20003"/>
                    </a:ext>
                  </a:extLst>
                </a:gridCol>
              </a:tblGrid>
              <a:tr h="359307">
                <a:tc rowSpan="2">
                  <a:txBody>
                    <a:bodyPr/>
                    <a:lstStyle/>
                    <a:p>
                      <a:pPr algn="ctr"/>
                      <a:r>
                        <a:rPr lang="en-US" b="1" dirty="0"/>
                        <a:t>Oscillator</a:t>
                      </a:r>
                    </a:p>
                  </a:txBody>
                  <a:tcPr/>
                </a:tc>
                <a:tc gridSpan="3">
                  <a:txBody>
                    <a:bodyPr/>
                    <a:lstStyle/>
                    <a:p>
                      <a:pPr algn="ctr"/>
                      <a:r>
                        <a:rPr lang="en-US" b="1" dirty="0"/>
                        <a:t>Frequency of Oscillations</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59307">
                <a:tc vMerge="1">
                  <a:txBody>
                    <a:bodyPr/>
                    <a:lstStyle/>
                    <a:p>
                      <a:endParaRPr lang="en-US"/>
                    </a:p>
                  </a:txBody>
                  <a:tcPr/>
                </a:tc>
                <a:tc>
                  <a:txBody>
                    <a:bodyPr/>
                    <a:lstStyle/>
                    <a:p>
                      <a:pPr algn="ctr"/>
                      <a:r>
                        <a:rPr lang="en-US" b="1" dirty="0"/>
                        <a:t>Using BJT</a:t>
                      </a:r>
                    </a:p>
                  </a:txBody>
                  <a:tcPr/>
                </a:tc>
                <a:tc>
                  <a:txBody>
                    <a:bodyPr/>
                    <a:lstStyle/>
                    <a:p>
                      <a:pPr algn="ctr"/>
                      <a:r>
                        <a:rPr lang="en-US" b="1" dirty="0"/>
                        <a:t>Using FET</a:t>
                      </a:r>
                    </a:p>
                  </a:txBody>
                  <a:tcPr/>
                </a:tc>
                <a:tc>
                  <a:txBody>
                    <a:bodyPr/>
                    <a:lstStyle/>
                    <a:p>
                      <a:pPr algn="ctr"/>
                      <a:r>
                        <a:rPr lang="en-US" b="1" dirty="0"/>
                        <a:t>Using OPAMP</a:t>
                      </a:r>
                    </a:p>
                  </a:txBody>
                  <a:tcPr/>
                </a:tc>
                <a:extLst>
                  <a:ext uri="{0D108BD9-81ED-4DB2-BD59-A6C34878D82A}">
                    <a16:rowId xmlns:a16="http://schemas.microsoft.com/office/drawing/2014/main" val="10001"/>
                  </a:ext>
                </a:extLst>
              </a:tr>
              <a:tr h="954870">
                <a:tc>
                  <a:txBody>
                    <a:bodyPr/>
                    <a:lstStyle/>
                    <a:p>
                      <a:pPr algn="ctr"/>
                      <a:r>
                        <a:rPr lang="en-US" b="1" dirty="0"/>
                        <a:t>RC Phase Shift Oscillator</a:t>
                      </a:r>
                    </a:p>
                  </a:txBody>
                  <a:tcPr/>
                </a:tc>
                <a:tc>
                  <a:txBody>
                    <a:bodyPr/>
                    <a:lstStyle/>
                    <a:p>
                      <a:endParaRPr lang="en-US" b="1" dirty="0"/>
                    </a:p>
                  </a:txBody>
                  <a:tcPr/>
                </a:tc>
                <a:tc>
                  <a:txBody>
                    <a:bodyPr/>
                    <a:lstStyle/>
                    <a:p>
                      <a:endParaRPr lang="en-US"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r h="984402">
                <a:tc>
                  <a:txBody>
                    <a:bodyPr/>
                    <a:lstStyle/>
                    <a:p>
                      <a:pPr algn="ctr"/>
                      <a:r>
                        <a:rPr lang="en-US" b="1" dirty="0"/>
                        <a:t>Wien</a:t>
                      </a:r>
                      <a:r>
                        <a:rPr lang="en-US" b="1" baseline="0" dirty="0"/>
                        <a:t> Bridge Oscillator</a:t>
                      </a:r>
                      <a:endParaRPr lang="en-US" b="1" dirty="0"/>
                    </a:p>
                  </a:txBody>
                  <a:tcPr/>
                </a:tc>
                <a:tc>
                  <a:txBody>
                    <a:bodyPr/>
                    <a:lstStyle/>
                    <a:p>
                      <a:endParaRPr lang="en-US" b="1" dirty="0"/>
                    </a:p>
                  </a:txBody>
                  <a:tcPr/>
                </a:tc>
                <a:tc>
                  <a:txBody>
                    <a:bodyPr/>
                    <a:lstStyle/>
                    <a:p>
                      <a:endParaRPr lang="en-US" b="1" dirty="0"/>
                    </a:p>
                  </a:txBody>
                  <a:tcPr/>
                </a:tc>
                <a:tc>
                  <a:txBody>
                    <a:bodyPr/>
                    <a:lstStyle/>
                    <a:p>
                      <a:endParaRPr lang="en-US" b="1" dirty="0"/>
                    </a:p>
                  </a:txBody>
                  <a:tcPr/>
                </a:tc>
                <a:extLst>
                  <a:ext uri="{0D108BD9-81ED-4DB2-BD59-A6C34878D82A}">
                    <a16:rowId xmlns:a16="http://schemas.microsoft.com/office/drawing/2014/main" val="10003"/>
                  </a:ext>
                </a:extLst>
              </a:tr>
              <a:tr h="1077920">
                <a:tc>
                  <a:txBody>
                    <a:bodyPr/>
                    <a:lstStyle/>
                    <a:p>
                      <a:pPr algn="ctr"/>
                      <a:r>
                        <a:rPr lang="en-US" b="1" dirty="0"/>
                        <a:t>Hartley Oscillator</a:t>
                      </a:r>
                    </a:p>
                  </a:txBody>
                  <a:tcPr/>
                </a:tc>
                <a:tc>
                  <a:txBody>
                    <a:bodyPr/>
                    <a:lstStyle/>
                    <a:p>
                      <a:endParaRPr lang="en-US" b="1" dirty="0"/>
                    </a:p>
                  </a:txBody>
                  <a:tcPr/>
                </a:tc>
                <a:tc>
                  <a:txBody>
                    <a:bodyPr/>
                    <a:lstStyle/>
                    <a:p>
                      <a:endParaRPr lang="en-US" b="1" dirty="0"/>
                    </a:p>
                  </a:txBody>
                  <a:tcPr/>
                </a:tc>
                <a:tc>
                  <a:txBody>
                    <a:bodyPr/>
                    <a:lstStyle/>
                    <a:p>
                      <a:endParaRPr lang="en-US" b="1" dirty="0"/>
                    </a:p>
                  </a:txBody>
                  <a:tcPr/>
                </a:tc>
                <a:extLst>
                  <a:ext uri="{0D108BD9-81ED-4DB2-BD59-A6C34878D82A}">
                    <a16:rowId xmlns:a16="http://schemas.microsoft.com/office/drawing/2014/main" val="10004"/>
                  </a:ext>
                </a:extLst>
              </a:tr>
              <a:tr h="1196048">
                <a:tc>
                  <a:txBody>
                    <a:bodyPr/>
                    <a:lstStyle/>
                    <a:p>
                      <a:pPr algn="ctr"/>
                      <a:r>
                        <a:rPr lang="en-US" b="1" dirty="0" err="1"/>
                        <a:t>Collpitt’s</a:t>
                      </a:r>
                      <a:r>
                        <a:rPr lang="en-US" b="1" dirty="0"/>
                        <a:t> Oscillator</a:t>
                      </a:r>
                    </a:p>
                  </a:txBody>
                  <a:tcPr/>
                </a:tc>
                <a:tc>
                  <a:txBody>
                    <a:bodyPr/>
                    <a:lstStyle/>
                    <a:p>
                      <a:endParaRPr lang="en-US" b="1"/>
                    </a:p>
                  </a:txBody>
                  <a:tcPr/>
                </a:tc>
                <a:tc>
                  <a:txBody>
                    <a:bodyPr/>
                    <a:lstStyle/>
                    <a:p>
                      <a:endParaRPr lang="en-US" b="1" dirty="0"/>
                    </a:p>
                  </a:txBody>
                  <a:tcPr/>
                </a:tc>
                <a:tc>
                  <a:txBody>
                    <a:bodyPr/>
                    <a:lstStyle/>
                    <a:p>
                      <a:endParaRPr lang="en-US" b="1" dirty="0"/>
                    </a:p>
                  </a:txBody>
                  <a:tcPr/>
                </a:tc>
                <a:extLst>
                  <a:ext uri="{0D108BD9-81ED-4DB2-BD59-A6C34878D82A}">
                    <a16:rowId xmlns:a16="http://schemas.microsoft.com/office/drawing/2014/main" val="10005"/>
                  </a:ext>
                </a:extLst>
              </a:tr>
              <a:tr h="1240346">
                <a:tc>
                  <a:txBody>
                    <a:bodyPr/>
                    <a:lstStyle/>
                    <a:p>
                      <a:pPr algn="ctr"/>
                      <a:r>
                        <a:rPr lang="en-US" b="1" dirty="0"/>
                        <a:t>Crystal Oscillator</a:t>
                      </a:r>
                    </a:p>
                  </a:txBody>
                  <a:tcPr/>
                </a:tc>
                <a:tc>
                  <a:txBody>
                    <a:bodyPr/>
                    <a:lstStyle/>
                    <a:p>
                      <a:endParaRPr lang="en-US" b="1" dirty="0"/>
                    </a:p>
                  </a:txBody>
                  <a:tcPr/>
                </a:tc>
                <a:tc>
                  <a:txBody>
                    <a:bodyPr/>
                    <a:lstStyle/>
                    <a:p>
                      <a:endParaRPr lang="en-US" b="1" dirty="0"/>
                    </a:p>
                  </a:txBody>
                  <a:tcPr/>
                </a:tc>
                <a:tc>
                  <a:txBody>
                    <a:bodyPr/>
                    <a:lstStyle/>
                    <a:p>
                      <a:endParaRPr lang="en-US" b="1" dirty="0"/>
                    </a:p>
                  </a:txBody>
                  <a:tcPr/>
                </a:tc>
                <a:extLst>
                  <a:ext uri="{0D108BD9-81ED-4DB2-BD59-A6C34878D82A}">
                    <a16:rowId xmlns:a16="http://schemas.microsoft.com/office/drawing/2014/main" val="10006"/>
                  </a:ext>
                </a:extLst>
              </a:tr>
            </a:tbl>
          </a:graphicData>
        </a:graphic>
      </p:graphicFrame>
      <p:grpSp>
        <p:nvGrpSpPr>
          <p:cNvPr id="39" name="Group 38"/>
          <p:cNvGrpSpPr/>
          <p:nvPr/>
        </p:nvGrpSpPr>
        <p:grpSpPr>
          <a:xfrm>
            <a:off x="0" y="0"/>
            <a:ext cx="9144000" cy="6324600"/>
            <a:chOff x="0" y="0"/>
            <a:chExt cx="9144000" cy="6324600"/>
          </a:xfrm>
        </p:grpSpPr>
        <p:sp>
          <p:nvSpPr>
            <p:cNvPr id="5734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734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7347"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010400" y="1295400"/>
              <a:ext cx="1500554" cy="609600"/>
            </a:xfrm>
            <a:prstGeom prst="rect">
              <a:avLst/>
            </a:prstGeom>
            <a:noFill/>
          </p:spPr>
        </p:pic>
        <p:pic>
          <p:nvPicPr>
            <p:cNvPr id="10"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4953000" y="1295400"/>
              <a:ext cx="1500554" cy="609600"/>
            </a:xfrm>
            <a:prstGeom prst="rect">
              <a:avLst/>
            </a:prstGeom>
            <a:noFill/>
          </p:spPr>
        </p:pic>
        <p:pic>
          <p:nvPicPr>
            <p:cNvPr id="57350" name="Picture 6"/>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514600" y="1143000"/>
              <a:ext cx="1905000" cy="585000"/>
            </a:xfrm>
            <a:prstGeom prst="rect">
              <a:avLst/>
            </a:prstGeom>
            <a:noFill/>
          </p:spPr>
        </p:pic>
        <p:pic>
          <p:nvPicPr>
            <p:cNvPr id="57349"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590800" y="1752600"/>
              <a:ext cx="1442357" cy="381000"/>
            </a:xfrm>
            <a:prstGeom prst="rect">
              <a:avLst/>
            </a:prstGeom>
            <a:noFill/>
          </p:spPr>
        </p:pic>
        <p:sp>
          <p:nvSpPr>
            <p:cNvPr id="57351"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7352" name="Rectangle 8"/>
            <p:cNvSpPr>
              <a:spLocks noChangeArrowheads="1"/>
            </p:cNvSpPr>
            <p:nvPr/>
          </p:nvSpPr>
          <p:spPr bwMode="auto">
            <a:xfrm>
              <a:off x="0" y="8286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735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7353" name="Picture 9"/>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2590800" y="2209800"/>
              <a:ext cx="1538868" cy="685800"/>
            </a:xfrm>
            <a:prstGeom prst="rect">
              <a:avLst/>
            </a:prstGeom>
            <a:noFill/>
          </p:spPr>
        </p:pic>
        <p:pic>
          <p:nvPicPr>
            <p:cNvPr id="17" name="Picture 9"/>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4953000" y="2209800"/>
              <a:ext cx="1538868" cy="685800"/>
            </a:xfrm>
            <a:prstGeom prst="rect">
              <a:avLst/>
            </a:prstGeom>
            <a:noFill/>
          </p:spPr>
        </p:pic>
        <p:pic>
          <p:nvPicPr>
            <p:cNvPr id="18" name="Picture 9"/>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7010400" y="2209800"/>
              <a:ext cx="1538868" cy="685800"/>
            </a:xfrm>
            <a:prstGeom prst="rect">
              <a:avLst/>
            </a:prstGeom>
            <a:noFill/>
          </p:spPr>
        </p:pic>
        <p:pic>
          <p:nvPicPr>
            <p:cNvPr id="57356" name="Picture 12"/>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2743200" y="3124200"/>
              <a:ext cx="1447800" cy="669413"/>
            </a:xfrm>
            <a:prstGeom prst="rect">
              <a:avLst/>
            </a:prstGeom>
            <a:noFill/>
          </p:spPr>
        </p:pic>
        <p:pic>
          <p:nvPicPr>
            <p:cNvPr id="57355" name="Picture 11"/>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2514600" y="3733800"/>
              <a:ext cx="1844040" cy="304800"/>
            </a:xfrm>
            <a:prstGeom prst="rect">
              <a:avLst/>
            </a:prstGeom>
            <a:noFill/>
          </p:spPr>
        </p:pic>
        <p:sp>
          <p:nvSpPr>
            <p:cNvPr id="57357"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7358" name="Rectangle 14"/>
            <p:cNvSpPr>
              <a:spLocks noChangeArrowheads="1"/>
            </p:cNvSpPr>
            <p:nvPr/>
          </p:nvSpPr>
          <p:spPr bwMode="auto">
            <a:xfrm>
              <a:off x="0" y="86677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3" name="Picture 11"/>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6705600" y="3810000"/>
              <a:ext cx="1844040" cy="304800"/>
            </a:xfrm>
            <a:prstGeom prst="rect">
              <a:avLst/>
            </a:prstGeom>
            <a:noFill/>
          </p:spPr>
        </p:pic>
        <p:pic>
          <p:nvPicPr>
            <p:cNvPr id="24" name="Picture 11"/>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4648200" y="3810000"/>
              <a:ext cx="1844040" cy="304800"/>
            </a:xfrm>
            <a:prstGeom prst="rect">
              <a:avLst/>
            </a:prstGeom>
            <a:noFill/>
          </p:spPr>
        </p:pic>
        <p:pic>
          <p:nvPicPr>
            <p:cNvPr id="25" name="Picture 12"/>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6858000" y="3124200"/>
              <a:ext cx="1447800" cy="669413"/>
            </a:xfrm>
            <a:prstGeom prst="rect">
              <a:avLst/>
            </a:prstGeom>
            <a:noFill/>
          </p:spPr>
        </p:pic>
        <p:pic>
          <p:nvPicPr>
            <p:cNvPr id="26" name="Picture 12"/>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4724400" y="3124200"/>
              <a:ext cx="1447800" cy="669413"/>
            </a:xfrm>
            <a:prstGeom prst="rect">
              <a:avLst/>
            </a:prstGeom>
            <a:noFill/>
          </p:spPr>
        </p:pic>
        <p:pic>
          <p:nvPicPr>
            <p:cNvPr id="57360" name="Picture 16"/>
            <p:cNvPicPr>
              <a:picLocks noChangeAspect="1" noChangeArrowheads="1"/>
            </p:cNvPicPr>
            <p:nvPr/>
          </p:nvPicPr>
          <p:blipFill>
            <a:blip r:embed="rId8">
              <a:clrChange>
                <a:clrFrom>
                  <a:srgbClr val="FFFFFF"/>
                </a:clrFrom>
                <a:clrTo>
                  <a:srgbClr val="FFFFFF">
                    <a:alpha val="0"/>
                  </a:srgbClr>
                </a:clrTo>
              </a:clrChange>
            </a:blip>
            <a:srcRect/>
            <a:stretch>
              <a:fillRect/>
            </a:stretch>
          </p:blipFill>
          <p:spPr bwMode="auto">
            <a:xfrm>
              <a:off x="2743200" y="4267200"/>
              <a:ext cx="1219200" cy="576105"/>
            </a:xfrm>
            <a:prstGeom prst="rect">
              <a:avLst/>
            </a:prstGeom>
            <a:noFill/>
          </p:spPr>
        </p:pic>
        <p:pic>
          <p:nvPicPr>
            <p:cNvPr id="57359" name="Picture 15"/>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2362200" y="4876800"/>
              <a:ext cx="1929581" cy="381000"/>
            </a:xfrm>
            <a:prstGeom prst="rect">
              <a:avLst/>
            </a:prstGeom>
            <a:noFill/>
          </p:spPr>
        </p:pic>
        <p:sp>
          <p:nvSpPr>
            <p:cNvPr id="57361" name="Rectangle 1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7362" name="Rectangle 18"/>
            <p:cNvSpPr>
              <a:spLocks noChangeArrowheads="1"/>
            </p:cNvSpPr>
            <p:nvPr/>
          </p:nvSpPr>
          <p:spPr bwMode="auto">
            <a:xfrm>
              <a:off x="0" y="86677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1" name="Picture 16"/>
            <p:cNvPicPr>
              <a:picLocks noChangeAspect="1" noChangeArrowheads="1"/>
            </p:cNvPicPr>
            <p:nvPr/>
          </p:nvPicPr>
          <p:blipFill>
            <a:blip r:embed="rId8">
              <a:clrChange>
                <a:clrFrom>
                  <a:srgbClr val="FFFFFF"/>
                </a:clrFrom>
                <a:clrTo>
                  <a:srgbClr val="FFFFFF">
                    <a:alpha val="0"/>
                  </a:srgbClr>
                </a:clrTo>
              </a:clrChange>
            </a:blip>
            <a:srcRect/>
            <a:stretch>
              <a:fillRect/>
            </a:stretch>
          </p:blipFill>
          <p:spPr bwMode="auto">
            <a:xfrm>
              <a:off x="4876800" y="4267200"/>
              <a:ext cx="1219200" cy="576105"/>
            </a:xfrm>
            <a:prstGeom prst="rect">
              <a:avLst/>
            </a:prstGeom>
            <a:noFill/>
          </p:spPr>
        </p:pic>
        <p:pic>
          <p:nvPicPr>
            <p:cNvPr id="32" name="Picture 16"/>
            <p:cNvPicPr>
              <a:picLocks noChangeAspect="1" noChangeArrowheads="1"/>
            </p:cNvPicPr>
            <p:nvPr/>
          </p:nvPicPr>
          <p:blipFill>
            <a:blip r:embed="rId8">
              <a:clrChange>
                <a:clrFrom>
                  <a:srgbClr val="FFFFFF"/>
                </a:clrFrom>
                <a:clrTo>
                  <a:srgbClr val="FFFFFF">
                    <a:alpha val="0"/>
                  </a:srgbClr>
                </a:clrTo>
              </a:clrChange>
            </a:blip>
            <a:srcRect/>
            <a:stretch>
              <a:fillRect/>
            </a:stretch>
          </p:blipFill>
          <p:spPr bwMode="auto">
            <a:xfrm>
              <a:off x="6934200" y="4191000"/>
              <a:ext cx="1219200" cy="576105"/>
            </a:xfrm>
            <a:prstGeom prst="rect">
              <a:avLst/>
            </a:prstGeom>
            <a:noFill/>
          </p:spPr>
        </p:pic>
        <p:pic>
          <p:nvPicPr>
            <p:cNvPr id="33" name="Picture 15"/>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4572000" y="4953000"/>
              <a:ext cx="1929581" cy="381000"/>
            </a:xfrm>
            <a:prstGeom prst="rect">
              <a:avLst/>
            </a:prstGeom>
            <a:noFill/>
          </p:spPr>
        </p:pic>
        <p:pic>
          <p:nvPicPr>
            <p:cNvPr id="34" name="Picture 15"/>
            <p:cNvPicPr>
              <a:picLocks noChangeAspect="1" noChangeArrowheads="1"/>
            </p:cNvPicPr>
            <p:nvPr/>
          </p:nvPicPr>
          <p:blipFill>
            <a:blip r:embed="rId9">
              <a:clrChange>
                <a:clrFrom>
                  <a:srgbClr val="FFFFFF"/>
                </a:clrFrom>
                <a:clrTo>
                  <a:srgbClr val="FFFFFF">
                    <a:alpha val="0"/>
                  </a:srgbClr>
                </a:clrTo>
              </a:clrChange>
            </a:blip>
            <a:srcRect/>
            <a:stretch>
              <a:fillRect/>
            </a:stretch>
          </p:blipFill>
          <p:spPr bwMode="auto">
            <a:xfrm>
              <a:off x="6629400" y="4953000"/>
              <a:ext cx="1929581" cy="381000"/>
            </a:xfrm>
            <a:prstGeom prst="rect">
              <a:avLst/>
            </a:prstGeom>
            <a:noFill/>
          </p:spPr>
        </p:pic>
        <p:sp>
          <p:nvSpPr>
            <p:cNvPr id="57364"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7363" name="Picture 19"/>
            <p:cNvPicPr>
              <a:picLocks noChangeAspect="1" noChangeArrowheads="1"/>
            </p:cNvPicPr>
            <p:nvPr/>
          </p:nvPicPr>
          <p:blipFill>
            <a:blip r:embed="rId10">
              <a:clrChange>
                <a:clrFrom>
                  <a:srgbClr val="FFFFFF"/>
                </a:clrFrom>
                <a:clrTo>
                  <a:srgbClr val="FFFFFF">
                    <a:alpha val="0"/>
                  </a:srgbClr>
                </a:clrTo>
              </a:clrChange>
            </a:blip>
            <a:srcRect/>
            <a:stretch>
              <a:fillRect/>
            </a:stretch>
          </p:blipFill>
          <p:spPr bwMode="auto">
            <a:xfrm>
              <a:off x="2667000" y="5562600"/>
              <a:ext cx="1389185" cy="685800"/>
            </a:xfrm>
            <a:prstGeom prst="rect">
              <a:avLst/>
            </a:prstGeom>
            <a:noFill/>
          </p:spPr>
        </p:pic>
        <p:pic>
          <p:nvPicPr>
            <p:cNvPr id="37" name="Picture 19"/>
            <p:cNvPicPr>
              <a:picLocks noChangeAspect="1" noChangeArrowheads="1"/>
            </p:cNvPicPr>
            <p:nvPr/>
          </p:nvPicPr>
          <p:blipFill>
            <a:blip r:embed="rId10">
              <a:clrChange>
                <a:clrFrom>
                  <a:srgbClr val="FFFFFF"/>
                </a:clrFrom>
                <a:clrTo>
                  <a:srgbClr val="FFFFFF">
                    <a:alpha val="0"/>
                  </a:srgbClr>
                </a:clrTo>
              </a:clrChange>
            </a:blip>
            <a:srcRect/>
            <a:stretch>
              <a:fillRect/>
            </a:stretch>
          </p:blipFill>
          <p:spPr bwMode="auto">
            <a:xfrm>
              <a:off x="4800600" y="5562600"/>
              <a:ext cx="1389185" cy="685800"/>
            </a:xfrm>
            <a:prstGeom prst="rect">
              <a:avLst/>
            </a:prstGeom>
            <a:noFill/>
          </p:spPr>
        </p:pic>
        <p:pic>
          <p:nvPicPr>
            <p:cNvPr id="38" name="Picture 19"/>
            <p:cNvPicPr>
              <a:picLocks noChangeAspect="1" noChangeArrowheads="1"/>
            </p:cNvPicPr>
            <p:nvPr/>
          </p:nvPicPr>
          <p:blipFill>
            <a:blip r:embed="rId10">
              <a:clrChange>
                <a:clrFrom>
                  <a:srgbClr val="FFFFFF"/>
                </a:clrFrom>
                <a:clrTo>
                  <a:srgbClr val="FFFFFF">
                    <a:alpha val="0"/>
                  </a:srgbClr>
                </a:clrTo>
              </a:clrChange>
            </a:blip>
            <a:srcRect/>
            <a:stretch>
              <a:fillRect/>
            </a:stretch>
          </p:blipFill>
          <p:spPr bwMode="auto">
            <a:xfrm>
              <a:off x="6858000" y="5638800"/>
              <a:ext cx="1389185" cy="685800"/>
            </a:xfrm>
            <a:prstGeom prst="rect">
              <a:avLst/>
            </a:prstGeom>
            <a:no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dissolve">
                                      <p:cBhvr>
                                        <p:cTn id="1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996</TotalTime>
  <Words>1444</Words>
  <Application>Microsoft Office PowerPoint</Application>
  <PresentationFormat>On-screen Show (4:3)</PresentationFormat>
  <Paragraphs>195</Paragraphs>
  <Slides>44</Slides>
  <Notes>0</Notes>
  <HiddenSlides>0</HiddenSlides>
  <MMClips>3</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4" baseType="lpstr">
      <vt:lpstr>新細明體</vt:lpstr>
      <vt:lpstr>Algerian</vt:lpstr>
      <vt:lpstr>Arial</vt:lpstr>
      <vt:lpstr>Calibri</vt:lpstr>
      <vt:lpstr>Corbel</vt:lpstr>
      <vt:lpstr>Symbol</vt:lpstr>
      <vt:lpstr>Times New Roman</vt:lpstr>
      <vt:lpstr>Wingdings</vt:lpstr>
      <vt:lpstr>Office Theme</vt:lpstr>
      <vt:lpstr>Equation</vt:lpstr>
      <vt:lpstr>Oscillators</vt:lpstr>
      <vt:lpstr>Objectives</vt:lpstr>
      <vt:lpstr>OSCILLATOR</vt:lpstr>
      <vt:lpstr>PowerPoint Presentation</vt:lpstr>
      <vt:lpstr>Application of Oscillators</vt:lpstr>
      <vt:lpstr>PowerPoint Presentation</vt:lpstr>
      <vt:lpstr>How does the oscillation get started?</vt:lpstr>
      <vt:lpstr>Amplifier Vs Oscillator</vt:lpstr>
      <vt:lpstr>How to generate +ve feedback? </vt:lpstr>
      <vt:lpstr>Barkhausen Criterion</vt:lpstr>
      <vt:lpstr>Condition for Stability</vt:lpstr>
      <vt:lpstr>PowerPoint Presentation</vt:lpstr>
      <vt:lpstr>Classification</vt:lpstr>
      <vt:lpstr>R C Oscillators</vt:lpstr>
      <vt:lpstr>Wien Bridge oscillator</vt:lpstr>
      <vt:lpstr>Wien Bridge oscillator (20 Hz to 20 kHz)</vt:lpstr>
      <vt:lpstr>Analysis</vt:lpstr>
      <vt:lpstr>Design Procedure</vt:lpstr>
      <vt:lpstr>Gain Stabilization</vt:lpstr>
      <vt:lpstr>Give it a Thought!!!</vt:lpstr>
      <vt:lpstr>Phase Shift Oscillator</vt:lpstr>
      <vt:lpstr>PowerPoint Presentation</vt:lpstr>
      <vt:lpstr>Working of Phase Shift Oscillator</vt:lpstr>
      <vt:lpstr>Analysis</vt:lpstr>
      <vt:lpstr>Design Procedure</vt:lpstr>
      <vt:lpstr>Quiz</vt:lpstr>
      <vt:lpstr>Gain stabilization</vt:lpstr>
      <vt:lpstr>LC Oscillators</vt:lpstr>
      <vt:lpstr>Colpitt’s Oscillator (100 kHz  to 100 MHz)</vt:lpstr>
      <vt:lpstr>Analysis</vt:lpstr>
      <vt:lpstr>If </vt:lpstr>
      <vt:lpstr>PowerPoint Presentation</vt:lpstr>
      <vt:lpstr>Design Procedure</vt:lpstr>
      <vt:lpstr>Hartley Oscillator (20KHz to 30MHz)</vt:lpstr>
      <vt:lpstr>PowerPoint Presentation</vt:lpstr>
      <vt:lpstr>PowerPoint Presentation</vt:lpstr>
      <vt:lpstr>Design Procedure</vt:lpstr>
      <vt:lpstr>Crystal Oscillator</vt:lpstr>
      <vt:lpstr>Crystal Oscillator</vt:lpstr>
      <vt:lpstr>PowerPoint Presentation</vt:lpstr>
      <vt:lpstr>Crystal Oscillator</vt:lpstr>
      <vt:lpstr>Crystal Oscillator</vt:lpstr>
      <vt:lpstr>Crystal Oscillator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Oscillators</dc:title>
  <dc:creator>MyLaptop</dc:creator>
  <cp:lastModifiedBy>Srither SR</cp:lastModifiedBy>
  <cp:revision>14</cp:revision>
  <dcterms:created xsi:type="dcterms:W3CDTF">2006-08-16T00:00:00Z</dcterms:created>
  <dcterms:modified xsi:type="dcterms:W3CDTF">2025-10-30T00:00:53Z</dcterms:modified>
</cp:coreProperties>
</file>